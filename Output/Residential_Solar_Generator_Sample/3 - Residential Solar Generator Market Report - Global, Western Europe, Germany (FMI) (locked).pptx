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00.xml" ContentType="application/vnd.openxmlformats-officedocument.drawingml.chart+xml"/>
  <Override PartName="/ppt/charts/chart101.xml" ContentType="application/vnd.openxmlformats-officedocument.drawingml.chart+xml"/>
  <Override PartName="/ppt/charts/chart102.xml" ContentType="application/vnd.openxmlformats-officedocument.drawingml.chart+xml"/>
  <Override PartName="/ppt/charts/chart103.xml" ContentType="application/vnd.openxmlformats-officedocument.drawingml.chart+xml"/>
  <Override PartName="/ppt/charts/chart104.xml" ContentType="application/vnd.openxmlformats-officedocument.drawingml.chart+xml"/>
  <Override PartName="/ppt/charts/chart105.xml" ContentType="application/vnd.openxmlformats-officedocument.drawingml.chart+xml"/>
  <Override PartName="/ppt/charts/chart106.xml" ContentType="application/vnd.openxmlformats-officedocument.drawingml.chart+xml"/>
  <Override PartName="/ppt/charts/chart107.xml" ContentType="application/vnd.openxmlformats-officedocument.drawingml.chart+xml"/>
  <Override PartName="/ppt/charts/chart108.xml" ContentType="application/vnd.openxmlformats-officedocument.drawingml.chart+xml"/>
  <Override PartName="/ppt/charts/chart109.xml" ContentType="application/vnd.openxmlformats-officedocument.drawingml.chart+xml"/>
  <Override PartName="/ppt/charts/chart11.xml" ContentType="application/vnd.openxmlformats-officedocument.drawingml.chart+xml"/>
  <Override PartName="/ppt/charts/chart110.xml" ContentType="application/vnd.openxmlformats-officedocument.drawingml.chart+xml"/>
  <Override PartName="/ppt/charts/chart111.xml" ContentType="application/vnd.openxmlformats-officedocument.drawingml.chart+xml"/>
  <Override PartName="/ppt/charts/chart112.xml" ContentType="application/vnd.openxmlformats-officedocument.drawingml.chart+xml"/>
  <Override PartName="/ppt/charts/chart113.xml" ContentType="application/vnd.openxmlformats-officedocument.drawingml.chart+xml"/>
  <Override PartName="/ppt/charts/chart114.xml" ContentType="application/vnd.openxmlformats-officedocument.drawingml.chart+xml"/>
  <Override PartName="/ppt/charts/chart115.xml" ContentType="application/vnd.openxmlformats-officedocument.drawingml.chart+xml"/>
  <Override PartName="/ppt/charts/chart116.xml" ContentType="application/vnd.openxmlformats-officedocument.drawingml.chart+xml"/>
  <Override PartName="/ppt/charts/chart117.xml" ContentType="application/vnd.openxmlformats-officedocument.drawingml.chart+xml"/>
  <Override PartName="/ppt/charts/chart118.xml" ContentType="application/vnd.openxmlformats-officedocument.drawingml.chart+xml"/>
  <Override PartName="/ppt/charts/chart119.xml" ContentType="application/vnd.openxmlformats-officedocument.drawingml.chart+xml"/>
  <Override PartName="/ppt/charts/chart12.xml" ContentType="application/vnd.openxmlformats-officedocument.drawingml.chart+xml"/>
  <Override PartName="/ppt/charts/chart120.xml" ContentType="application/vnd.openxmlformats-officedocument.drawingml.chart+xml"/>
  <Override PartName="/ppt/charts/chart121.xml" ContentType="application/vnd.openxmlformats-officedocument.drawingml.chart+xml"/>
  <Override PartName="/ppt/charts/chart122.xml" ContentType="application/vnd.openxmlformats-officedocument.drawingml.chart+xml"/>
  <Override PartName="/ppt/charts/chart123.xml" ContentType="application/vnd.openxmlformats-officedocument.drawingml.chart+xml"/>
  <Override PartName="/ppt/charts/chart124.xml" ContentType="application/vnd.openxmlformats-officedocument.drawingml.chart+xml"/>
  <Override PartName="/ppt/charts/chart125.xml" ContentType="application/vnd.openxmlformats-officedocument.drawingml.chart+xml"/>
  <Override PartName="/ppt/charts/chart126.xml" ContentType="application/vnd.openxmlformats-officedocument.drawingml.chart+xml"/>
  <Override PartName="/ppt/charts/chart127.xml" ContentType="application/vnd.openxmlformats-officedocument.drawingml.chart+xml"/>
  <Override PartName="/ppt/charts/chart128.xml" ContentType="application/vnd.openxmlformats-officedocument.drawingml.chart+xml"/>
  <Override PartName="/ppt/charts/chart129.xml" ContentType="application/vnd.openxmlformats-officedocument.drawingml.chart+xml"/>
  <Override PartName="/ppt/charts/chart13.xml" ContentType="application/vnd.openxmlformats-officedocument.drawingml.chart+xml"/>
  <Override PartName="/ppt/charts/chart130.xml" ContentType="application/vnd.openxmlformats-officedocument.drawingml.chart+xml"/>
  <Override PartName="/ppt/charts/chart131.xml" ContentType="application/vnd.openxmlformats-officedocument.drawingml.chart+xml"/>
  <Override PartName="/ppt/charts/chart132.xml" ContentType="application/vnd.openxmlformats-officedocument.drawingml.chart+xml"/>
  <Override PartName="/ppt/charts/chart133.xml" ContentType="application/vnd.openxmlformats-officedocument.drawingml.chart+xml"/>
  <Override PartName="/ppt/charts/chart134.xml" ContentType="application/vnd.openxmlformats-officedocument.drawingml.chart+xml"/>
  <Override PartName="/ppt/charts/chart135.xml" ContentType="application/vnd.openxmlformats-officedocument.drawingml.chart+xml"/>
  <Override PartName="/ppt/charts/chart136.xml" ContentType="application/vnd.openxmlformats-officedocument.drawingml.chart+xml"/>
  <Override PartName="/ppt/charts/chart137.xml" ContentType="application/vnd.openxmlformats-officedocument.drawingml.chart+xml"/>
  <Override PartName="/ppt/charts/chart138.xml" ContentType="application/vnd.openxmlformats-officedocument.drawingml.chart+xml"/>
  <Override PartName="/ppt/charts/chart139.xml" ContentType="application/vnd.openxmlformats-officedocument.drawingml.chart+xml"/>
  <Override PartName="/ppt/charts/chart14.xml" ContentType="application/vnd.openxmlformats-officedocument.drawingml.chart+xml"/>
  <Override PartName="/ppt/charts/chart140.xml" ContentType="application/vnd.openxmlformats-officedocument.drawingml.chart+xml"/>
  <Override PartName="/ppt/charts/chart141.xml" ContentType="application/vnd.openxmlformats-officedocument.drawingml.chart+xml"/>
  <Override PartName="/ppt/charts/chart142.xml" ContentType="application/vnd.openxmlformats-officedocument.drawingml.chart+xml"/>
  <Override PartName="/ppt/charts/chart143.xml" ContentType="application/vnd.openxmlformats-officedocument.drawingml.chart+xml"/>
  <Override PartName="/ppt/charts/chart144.xml" ContentType="application/vnd.openxmlformats-officedocument.drawingml.chart+xml"/>
  <Override PartName="/ppt/charts/chart145.xml" ContentType="application/vnd.openxmlformats-officedocument.drawingml.chart+xml"/>
  <Override PartName="/ppt/charts/chart146.xml" ContentType="application/vnd.openxmlformats-officedocument.drawingml.chart+xml"/>
  <Override PartName="/ppt/charts/chart147.xml" ContentType="application/vnd.openxmlformats-officedocument.drawingml.chart+xml"/>
  <Override PartName="/ppt/charts/chart148.xml" ContentType="application/vnd.openxmlformats-officedocument.drawingml.chart+xml"/>
  <Override PartName="/ppt/charts/chart149.xml" ContentType="application/vnd.openxmlformats-officedocument.drawingml.chart+xml"/>
  <Override PartName="/ppt/charts/chart15.xml" ContentType="application/vnd.openxmlformats-officedocument.drawingml.chart+xml"/>
  <Override PartName="/ppt/charts/chart150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.xml" ContentType="application/vnd.openxmlformats-officedocument.drawingml.chart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charts/chart97.xml" ContentType="application/vnd.openxmlformats-officedocument.drawingml.chart+xml"/>
  <Override PartName="/ppt/charts/chart98.xml" ContentType="application/vnd.openxmlformats-officedocument.drawingml.chart+xml"/>
  <Override PartName="/ppt/charts/chart9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526" r:id="rId278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35" r:id="rId287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1" r:id="rId43"/>
    <p:sldId id="292" r:id="rId44"/>
    <p:sldId id="295" r:id="rId47"/>
    <p:sldId id="296" r:id="rId48"/>
    <p:sldId id="297" r:id="rId49"/>
    <p:sldId id="298" r:id="rId50"/>
    <p:sldId id="299" r:id="rId51"/>
    <p:sldId id="301" r:id="rId53"/>
    <p:sldId id="302" r:id="rId54"/>
    <p:sldId id="305" r:id="rId57"/>
    <p:sldId id="306" r:id="rId58"/>
    <p:sldId id="307" r:id="rId59"/>
    <p:sldId id="308" r:id="rId60"/>
    <p:sldId id="310" r:id="rId62"/>
    <p:sldId id="311" r:id="rId63"/>
    <p:sldId id="314" r:id="rId66"/>
    <p:sldId id="315" r:id="rId67"/>
    <p:sldId id="316" r:id="rId68"/>
    <p:sldId id="317" r:id="rId69"/>
    <p:sldId id="319" r:id="rId71"/>
    <p:sldId id="320" r:id="rId72"/>
    <p:sldId id="323" r:id="rId75"/>
    <p:sldId id="324" r:id="rId76"/>
    <p:sldId id="325" r:id="rId77"/>
    <p:sldId id="326" r:id="rId78"/>
    <p:sldId id="328" r:id="rId80"/>
    <p:sldId id="329" r:id="rId81"/>
    <p:sldId id="332" r:id="rId84"/>
    <p:sldId id="333" r:id="rId85"/>
    <p:sldId id="334" r:id="rId86"/>
    <p:sldId id="335" r:id="rId87"/>
    <p:sldId id="336" r:id="rId88"/>
    <p:sldId id="338" r:id="rId90"/>
    <p:sldId id="339" r:id="rId91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8" r:id="rId120"/>
    <p:sldId id="369" r:id="rId121"/>
    <p:sldId id="372" r:id="rId124"/>
    <p:sldId id="373" r:id="rId125"/>
    <p:sldId id="374" r:id="rId126"/>
    <p:sldId id="375" r:id="rId127"/>
    <p:sldId id="376" r:id="rId128"/>
    <p:sldId id="378" r:id="rId130"/>
    <p:sldId id="379" r:id="rId131"/>
    <p:sldId id="382" r:id="rId134"/>
    <p:sldId id="383" r:id="rId135"/>
    <p:sldId id="384" r:id="rId136"/>
    <p:sldId id="385" r:id="rId137"/>
    <p:sldId id="387" r:id="rId139"/>
    <p:sldId id="388" r:id="rId140"/>
    <p:sldId id="391" r:id="rId143"/>
    <p:sldId id="392" r:id="rId144"/>
    <p:sldId id="393" r:id="rId145"/>
    <p:sldId id="394" r:id="rId146"/>
    <p:sldId id="396" r:id="rId148"/>
    <p:sldId id="397" r:id="rId149"/>
    <p:sldId id="400" r:id="rId152"/>
    <p:sldId id="401" r:id="rId153"/>
    <p:sldId id="402" r:id="rId154"/>
    <p:sldId id="403" r:id="rId155"/>
    <p:sldId id="405" r:id="rId157"/>
    <p:sldId id="406" r:id="rId158"/>
    <p:sldId id="409" r:id="rId161"/>
    <p:sldId id="410" r:id="rId162"/>
    <p:sldId id="411" r:id="rId163"/>
    <p:sldId id="412" r:id="rId164"/>
    <p:sldId id="413" r:id="rId165"/>
    <p:sldId id="415" r:id="rId167"/>
    <p:sldId id="416" r:id="rId168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9" r:id="rId181"/>
    <p:sldId id="430" r:id="rId182"/>
    <p:sldId id="431" r:id="rId183"/>
    <p:sldId id="433" r:id="rId185"/>
    <p:sldId id="434" r:id="rId186"/>
    <p:sldId id="435" r:id="rId187"/>
    <p:sldId id="437" r:id="rId189"/>
    <p:sldId id="438" r:id="rId190"/>
    <p:sldId id="439" r:id="rId191"/>
    <p:sldId id="441" r:id="rId193"/>
    <p:sldId id="442" r:id="rId194"/>
    <p:sldId id="443" r:id="rId195"/>
    <p:sldId id="445" r:id="rId197"/>
    <p:sldId id="446" r:id="rId198"/>
    <p:sldId id="447" r:id="rId199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536" r:id="rId20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33.xml"/><Relationship Id="rId18" Type="http://schemas.openxmlformats.org/officeDocument/2006/relationships/slide" Target="slides/slide34.xml"/><Relationship Id="rId19" Type="http://schemas.openxmlformats.org/officeDocument/2006/relationships/slide" Target="slides/slide35.xml"/><Relationship Id="rId20" Type="http://schemas.openxmlformats.org/officeDocument/2006/relationships/slide" Target="slides/slide36.xml"/><Relationship Id="rId21" Type="http://schemas.openxmlformats.org/officeDocument/2006/relationships/slide" Target="slides/slide37.xml"/><Relationship Id="rId22" Type="http://schemas.openxmlformats.org/officeDocument/2006/relationships/slide" Target="slides/slide38.xml"/><Relationship Id="rId23" Type="http://schemas.openxmlformats.org/officeDocument/2006/relationships/slide" Target="slides/slide39.xml"/><Relationship Id="rId24" Type="http://schemas.openxmlformats.org/officeDocument/2006/relationships/slide" Target="slides/slide40.xml"/><Relationship Id="rId25" Type="http://schemas.openxmlformats.org/officeDocument/2006/relationships/slide" Target="slides/slide41.xml"/><Relationship Id="rId26" Type="http://schemas.openxmlformats.org/officeDocument/2006/relationships/slide" Target="slides/slide42.xml"/><Relationship Id="rId27" Type="http://schemas.openxmlformats.org/officeDocument/2006/relationships/slide" Target="slides/slide43.xml"/><Relationship Id="rId28" Type="http://schemas.openxmlformats.org/officeDocument/2006/relationships/slide" Target="slides/slide44.xml"/><Relationship Id="rId29" Type="http://schemas.openxmlformats.org/officeDocument/2006/relationships/slide" Target="slides/slide45.xml"/><Relationship Id="rId30" Type="http://schemas.openxmlformats.org/officeDocument/2006/relationships/slide" Target="slides/slide46.xml"/><Relationship Id="rId31" Type="http://schemas.openxmlformats.org/officeDocument/2006/relationships/slide" Target="slides/slide47.xml"/><Relationship Id="rId32" Type="http://schemas.openxmlformats.org/officeDocument/2006/relationships/slide" Target="slides/slide48.xml"/><Relationship Id="rId33" Type="http://schemas.openxmlformats.org/officeDocument/2006/relationships/slide" Target="slides/slide49.xml"/><Relationship Id="rId34" Type="http://schemas.openxmlformats.org/officeDocument/2006/relationships/slide" Target="slides/slide50.xml"/><Relationship Id="rId35" Type="http://schemas.openxmlformats.org/officeDocument/2006/relationships/slide" Target="slides/slide51.xml"/><Relationship Id="rId36" Type="http://schemas.openxmlformats.org/officeDocument/2006/relationships/slide" Target="slides/slide52.xml"/><Relationship Id="rId37" Type="http://schemas.openxmlformats.org/officeDocument/2006/relationships/slide" Target="slides/slide53.xml"/><Relationship Id="rId38" Type="http://schemas.openxmlformats.org/officeDocument/2006/relationships/slide" Target="slides/slide54.xml"/><Relationship Id="rId39" Type="http://schemas.openxmlformats.org/officeDocument/2006/relationships/slide" Target="slides/slide55.xml"/><Relationship Id="rId40" Type="http://schemas.openxmlformats.org/officeDocument/2006/relationships/slide" Target="slides/slide56.xml"/><Relationship Id="rId41" Type="http://schemas.openxmlformats.org/officeDocument/2006/relationships/slide" Target="slides/slide57.xml"/><Relationship Id="rId43" Type="http://schemas.openxmlformats.org/officeDocument/2006/relationships/slide" Target="slides/slide58.xml"/><Relationship Id="rId44" Type="http://schemas.openxmlformats.org/officeDocument/2006/relationships/slide" Target="slides/slide59.xml"/><Relationship Id="rId47" Type="http://schemas.openxmlformats.org/officeDocument/2006/relationships/slide" Target="slides/slide60.xml"/><Relationship Id="rId48" Type="http://schemas.openxmlformats.org/officeDocument/2006/relationships/slide" Target="slides/slide61.xml"/><Relationship Id="rId49" Type="http://schemas.openxmlformats.org/officeDocument/2006/relationships/slide" Target="slides/slide62.xml"/><Relationship Id="rId50" Type="http://schemas.openxmlformats.org/officeDocument/2006/relationships/slide" Target="slides/slide63.xml"/><Relationship Id="rId51" Type="http://schemas.openxmlformats.org/officeDocument/2006/relationships/slide" Target="slides/slide64.xml"/><Relationship Id="rId53" Type="http://schemas.openxmlformats.org/officeDocument/2006/relationships/slide" Target="slides/slide65.xml"/><Relationship Id="rId54" Type="http://schemas.openxmlformats.org/officeDocument/2006/relationships/slide" Target="slides/slide66.xml"/><Relationship Id="rId57" Type="http://schemas.openxmlformats.org/officeDocument/2006/relationships/slide" Target="slides/slide67.xml"/><Relationship Id="rId58" Type="http://schemas.openxmlformats.org/officeDocument/2006/relationships/slide" Target="slides/slide68.xml"/><Relationship Id="rId59" Type="http://schemas.openxmlformats.org/officeDocument/2006/relationships/slide" Target="slides/slide69.xml"/><Relationship Id="rId60" Type="http://schemas.openxmlformats.org/officeDocument/2006/relationships/slide" Target="slides/slide70.xml"/><Relationship Id="rId62" Type="http://schemas.openxmlformats.org/officeDocument/2006/relationships/slide" Target="slides/slide71.xml"/><Relationship Id="rId63" Type="http://schemas.openxmlformats.org/officeDocument/2006/relationships/slide" Target="slides/slide72.xml"/><Relationship Id="rId66" Type="http://schemas.openxmlformats.org/officeDocument/2006/relationships/slide" Target="slides/slide73.xml"/><Relationship Id="rId67" Type="http://schemas.openxmlformats.org/officeDocument/2006/relationships/slide" Target="slides/slide74.xml"/><Relationship Id="rId68" Type="http://schemas.openxmlformats.org/officeDocument/2006/relationships/slide" Target="slides/slide75.xml"/><Relationship Id="rId69" Type="http://schemas.openxmlformats.org/officeDocument/2006/relationships/slide" Target="slides/slide76.xml"/><Relationship Id="rId71" Type="http://schemas.openxmlformats.org/officeDocument/2006/relationships/slide" Target="slides/slide77.xml"/><Relationship Id="rId72" Type="http://schemas.openxmlformats.org/officeDocument/2006/relationships/slide" Target="slides/slide78.xml"/><Relationship Id="rId75" Type="http://schemas.openxmlformats.org/officeDocument/2006/relationships/slide" Target="slides/slide79.xml"/><Relationship Id="rId76" Type="http://schemas.openxmlformats.org/officeDocument/2006/relationships/slide" Target="slides/slide80.xml"/><Relationship Id="rId77" Type="http://schemas.openxmlformats.org/officeDocument/2006/relationships/slide" Target="slides/slide81.xml"/><Relationship Id="rId78" Type="http://schemas.openxmlformats.org/officeDocument/2006/relationships/slide" Target="slides/slide82.xml"/><Relationship Id="rId80" Type="http://schemas.openxmlformats.org/officeDocument/2006/relationships/slide" Target="slides/slide83.xml"/><Relationship Id="rId81" Type="http://schemas.openxmlformats.org/officeDocument/2006/relationships/slide" Target="slides/slide84.xml"/><Relationship Id="rId84" Type="http://schemas.openxmlformats.org/officeDocument/2006/relationships/slide" Target="slides/slide85.xml"/><Relationship Id="rId85" Type="http://schemas.openxmlformats.org/officeDocument/2006/relationships/slide" Target="slides/slide86.xml"/><Relationship Id="rId86" Type="http://schemas.openxmlformats.org/officeDocument/2006/relationships/slide" Target="slides/slide87.xml"/><Relationship Id="rId87" Type="http://schemas.openxmlformats.org/officeDocument/2006/relationships/slide" Target="slides/slide88.xml"/><Relationship Id="rId88" Type="http://schemas.openxmlformats.org/officeDocument/2006/relationships/slide" Target="slides/slide89.xml"/><Relationship Id="rId90" Type="http://schemas.openxmlformats.org/officeDocument/2006/relationships/slide" Target="slides/slide90.xml"/><Relationship Id="rId91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9" Type="http://schemas.openxmlformats.org/officeDocument/2006/relationships/slide" Target="slides/slide130.xml"/><Relationship Id="rId140" Type="http://schemas.openxmlformats.org/officeDocument/2006/relationships/slide" Target="slides/slide131.xml"/><Relationship Id="rId143" Type="http://schemas.openxmlformats.org/officeDocument/2006/relationships/slide" Target="slides/slide132.xml"/><Relationship Id="rId144" Type="http://schemas.openxmlformats.org/officeDocument/2006/relationships/slide" Target="slides/slide133.xml"/><Relationship Id="rId145" Type="http://schemas.openxmlformats.org/officeDocument/2006/relationships/slide" Target="slides/slide134.xml"/><Relationship Id="rId146" Type="http://schemas.openxmlformats.org/officeDocument/2006/relationships/slide" Target="slides/slide135.xml"/><Relationship Id="rId148" Type="http://schemas.openxmlformats.org/officeDocument/2006/relationships/slide" Target="slides/slide136.xml"/><Relationship Id="rId149" Type="http://schemas.openxmlformats.org/officeDocument/2006/relationships/slide" Target="slides/slide137.xml"/><Relationship Id="rId152" Type="http://schemas.openxmlformats.org/officeDocument/2006/relationships/slide" Target="slides/slide138.xml"/><Relationship Id="rId153" Type="http://schemas.openxmlformats.org/officeDocument/2006/relationships/slide" Target="slides/slide139.xml"/><Relationship Id="rId154" Type="http://schemas.openxmlformats.org/officeDocument/2006/relationships/slide" Target="slides/slide140.xml"/><Relationship Id="rId155" Type="http://schemas.openxmlformats.org/officeDocument/2006/relationships/slide" Target="slides/slide141.xml"/><Relationship Id="rId157" Type="http://schemas.openxmlformats.org/officeDocument/2006/relationships/slide" Target="slides/slide142.xml"/><Relationship Id="rId158" Type="http://schemas.openxmlformats.org/officeDocument/2006/relationships/slide" Target="slides/slide143.xml"/><Relationship Id="rId161" Type="http://schemas.openxmlformats.org/officeDocument/2006/relationships/slide" Target="slides/slide144.xml"/><Relationship Id="rId162" Type="http://schemas.openxmlformats.org/officeDocument/2006/relationships/slide" Target="slides/slide145.xml"/><Relationship Id="rId163" Type="http://schemas.openxmlformats.org/officeDocument/2006/relationships/slide" Target="slides/slide146.xml"/><Relationship Id="rId164" Type="http://schemas.openxmlformats.org/officeDocument/2006/relationships/slide" Target="slides/slide147.xml"/><Relationship Id="rId165" Type="http://schemas.openxmlformats.org/officeDocument/2006/relationships/slide" Target="slides/slide148.xml"/><Relationship Id="rId167" Type="http://schemas.openxmlformats.org/officeDocument/2006/relationships/slide" Target="slides/slide149.xml"/><Relationship Id="rId168" Type="http://schemas.openxmlformats.org/officeDocument/2006/relationships/slide" Target="slides/slide150.xml"/><Relationship Id="rId171" Type="http://schemas.openxmlformats.org/officeDocument/2006/relationships/slide" Target="slides/slide151.xml"/><Relationship Id="rId172" Type="http://schemas.openxmlformats.org/officeDocument/2006/relationships/slide" Target="slides/slide152.xml"/><Relationship Id="rId173" Type="http://schemas.openxmlformats.org/officeDocument/2006/relationships/slide" Target="slides/slide153.xml"/><Relationship Id="rId174" Type="http://schemas.openxmlformats.org/officeDocument/2006/relationships/slide" Target="slides/slide154.xml"/><Relationship Id="rId175" Type="http://schemas.openxmlformats.org/officeDocument/2006/relationships/slide" Target="slides/slide155.xml"/><Relationship Id="rId176" Type="http://schemas.openxmlformats.org/officeDocument/2006/relationships/slide" Target="slides/slide156.xml"/><Relationship Id="rId177" Type="http://schemas.openxmlformats.org/officeDocument/2006/relationships/slide" Target="slides/slide157.xml"/><Relationship Id="rId178" Type="http://schemas.openxmlformats.org/officeDocument/2006/relationships/slide" Target="slides/slide158.xml"/><Relationship Id="rId179" Type="http://schemas.openxmlformats.org/officeDocument/2006/relationships/slide" Target="slides/slide159.xml"/><Relationship Id="rId181" Type="http://schemas.openxmlformats.org/officeDocument/2006/relationships/slide" Target="slides/slide160.xml"/><Relationship Id="rId182" Type="http://schemas.openxmlformats.org/officeDocument/2006/relationships/slide" Target="slides/slide161.xml"/><Relationship Id="rId183" Type="http://schemas.openxmlformats.org/officeDocument/2006/relationships/slide" Target="slides/slide162.xml"/><Relationship Id="rId185" Type="http://schemas.openxmlformats.org/officeDocument/2006/relationships/slide" Target="slides/slide163.xml"/><Relationship Id="rId186" Type="http://schemas.openxmlformats.org/officeDocument/2006/relationships/slide" Target="slides/slide164.xml"/><Relationship Id="rId187" Type="http://schemas.openxmlformats.org/officeDocument/2006/relationships/slide" Target="slides/slide165.xml"/><Relationship Id="rId189" Type="http://schemas.openxmlformats.org/officeDocument/2006/relationships/slide" Target="slides/slide166.xml"/><Relationship Id="rId190" Type="http://schemas.openxmlformats.org/officeDocument/2006/relationships/slide" Target="slides/slide167.xml"/><Relationship Id="rId191" Type="http://schemas.openxmlformats.org/officeDocument/2006/relationships/slide" Target="slides/slide168.xml"/><Relationship Id="rId193" Type="http://schemas.openxmlformats.org/officeDocument/2006/relationships/slide" Target="slides/slide169.xml"/><Relationship Id="rId194" Type="http://schemas.openxmlformats.org/officeDocument/2006/relationships/slide" Target="slides/slide170.xml"/><Relationship Id="rId195" Type="http://schemas.openxmlformats.org/officeDocument/2006/relationships/slide" Target="slides/slide171.xml"/><Relationship Id="rId197" Type="http://schemas.openxmlformats.org/officeDocument/2006/relationships/slide" Target="slides/slide172.xml"/><Relationship Id="rId198" Type="http://schemas.openxmlformats.org/officeDocument/2006/relationships/slide" Target="slides/slide173.xml"/><Relationship Id="rId199" Type="http://schemas.openxmlformats.org/officeDocument/2006/relationships/slide" Target="slides/slide174.xml"/><Relationship Id="rId200" Type="http://schemas.openxmlformats.org/officeDocument/2006/relationships/slide" Target="slides/slide229.xml"/><Relationship Id="rId201" Type="http://schemas.openxmlformats.org/officeDocument/2006/relationships/slide" Target="slides/slide175.xml"/><Relationship Id="rId202" Type="http://schemas.openxmlformats.org/officeDocument/2006/relationships/slide" Target="slides/slide176.xml"/><Relationship Id="rId203" Type="http://schemas.openxmlformats.org/officeDocument/2006/relationships/slide" Target="slides/slide177.xml"/><Relationship Id="rId204" Type="http://schemas.openxmlformats.org/officeDocument/2006/relationships/slide" Target="slides/slide178.xml"/><Relationship Id="rId205" Type="http://schemas.openxmlformats.org/officeDocument/2006/relationships/slide" Target="slides/slide179.xml"/><Relationship Id="rId206" Type="http://schemas.openxmlformats.org/officeDocument/2006/relationships/slide" Target="slides/slide180.xml"/><Relationship Id="rId207" Type="http://schemas.openxmlformats.org/officeDocument/2006/relationships/slide" Target="slides/slide181.xml"/><Relationship Id="rId208" Type="http://schemas.openxmlformats.org/officeDocument/2006/relationships/slide" Target="slides/slide182.xml"/><Relationship Id="rId209" Type="http://schemas.openxmlformats.org/officeDocument/2006/relationships/slide" Target="slides/slide183.xml"/><Relationship Id="rId210" Type="http://schemas.openxmlformats.org/officeDocument/2006/relationships/slide" Target="slides/slide184.xml"/><Relationship Id="rId211" Type="http://schemas.openxmlformats.org/officeDocument/2006/relationships/slide" Target="slides/slide185.xml"/><Relationship Id="rId212" Type="http://schemas.openxmlformats.org/officeDocument/2006/relationships/slide" Target="slides/slide186.xml"/><Relationship Id="rId213" Type="http://schemas.openxmlformats.org/officeDocument/2006/relationships/slide" Target="slides/slide187.xml"/><Relationship Id="rId214" Type="http://schemas.openxmlformats.org/officeDocument/2006/relationships/slide" Target="slides/slide188.xml"/><Relationship Id="rId215" Type="http://schemas.openxmlformats.org/officeDocument/2006/relationships/slide" Target="slides/slide189.xml"/><Relationship Id="rId216" Type="http://schemas.openxmlformats.org/officeDocument/2006/relationships/slide" Target="slides/slide190.xml"/><Relationship Id="rId217" Type="http://schemas.openxmlformats.org/officeDocument/2006/relationships/slide" Target="slides/slide191.xml"/><Relationship Id="rId218" Type="http://schemas.openxmlformats.org/officeDocument/2006/relationships/slide" Target="slides/slide192.xml"/><Relationship Id="rId219" Type="http://schemas.openxmlformats.org/officeDocument/2006/relationships/slide" Target="slides/slide193.xml"/><Relationship Id="rId220" Type="http://schemas.openxmlformats.org/officeDocument/2006/relationships/slide" Target="slides/slide194.xml"/><Relationship Id="rId221" Type="http://schemas.openxmlformats.org/officeDocument/2006/relationships/slide" Target="slides/slide195.xml"/><Relationship Id="rId222" Type="http://schemas.openxmlformats.org/officeDocument/2006/relationships/slide" Target="slides/slide196.xml"/><Relationship Id="rId223" Type="http://schemas.openxmlformats.org/officeDocument/2006/relationships/slide" Target="slides/slide197.xml"/><Relationship Id="rId224" Type="http://schemas.openxmlformats.org/officeDocument/2006/relationships/slide" Target="slides/slide198.xml"/><Relationship Id="rId225" Type="http://schemas.openxmlformats.org/officeDocument/2006/relationships/slide" Target="slides/slide199.xml"/><Relationship Id="rId226" Type="http://schemas.openxmlformats.org/officeDocument/2006/relationships/slide" Target="slides/slide200.xml"/><Relationship Id="rId227" Type="http://schemas.openxmlformats.org/officeDocument/2006/relationships/slide" Target="slides/slide201.xml"/><Relationship Id="rId228" Type="http://schemas.openxmlformats.org/officeDocument/2006/relationships/slide" Target="slides/slide202.xml"/><Relationship Id="rId229" Type="http://schemas.openxmlformats.org/officeDocument/2006/relationships/slide" Target="slides/slide215.xml"/><Relationship Id="rId230" Type="http://schemas.openxmlformats.org/officeDocument/2006/relationships/slide" Target="slides/slide216.xml"/><Relationship Id="rId231" Type="http://schemas.openxmlformats.org/officeDocument/2006/relationships/slide" Target="slides/slide217.xml"/><Relationship Id="rId232" Type="http://schemas.openxmlformats.org/officeDocument/2006/relationships/slide" Target="slides/slide218.xml"/><Relationship Id="rId233" Type="http://schemas.openxmlformats.org/officeDocument/2006/relationships/slide" Target="slides/slide219.xml"/><Relationship Id="rId234" Type="http://schemas.openxmlformats.org/officeDocument/2006/relationships/slide" Target="slides/slide220.xml"/><Relationship Id="rId235" Type="http://schemas.openxmlformats.org/officeDocument/2006/relationships/slide" Target="slides/slide221.xml"/><Relationship Id="rId236" Type="http://schemas.openxmlformats.org/officeDocument/2006/relationships/slide" Target="slides/slide222.xml"/><Relationship Id="rId237" Type="http://schemas.openxmlformats.org/officeDocument/2006/relationships/slide" Target="slides/slide223.xml"/><Relationship Id="rId238" Type="http://schemas.openxmlformats.org/officeDocument/2006/relationships/slide" Target="slides/slide224.xml"/><Relationship Id="rId239" Type="http://schemas.openxmlformats.org/officeDocument/2006/relationships/slide" Target="slides/slide225.xml"/><Relationship Id="rId240" Type="http://schemas.openxmlformats.org/officeDocument/2006/relationships/slide" Target="slides/slide226.xml"/><Relationship Id="rId241" Type="http://schemas.openxmlformats.org/officeDocument/2006/relationships/slide" Target="slides/slide227.xml"/><Relationship Id="rId242" Type="http://schemas.openxmlformats.org/officeDocument/2006/relationships/slide" Target="slides/slide228.xml"/><Relationship Id="rId243" Type="http://schemas.openxmlformats.org/officeDocument/2006/relationships/slide" Target="slides/slide203.xml"/><Relationship Id="rId244" Type="http://schemas.openxmlformats.org/officeDocument/2006/relationships/slide" Target="slides/slide204.xml"/><Relationship Id="rId245" Type="http://schemas.openxmlformats.org/officeDocument/2006/relationships/slide" Target="slides/slide205.xml"/><Relationship Id="rId246" Type="http://schemas.openxmlformats.org/officeDocument/2006/relationships/slide" Target="slides/slide206.xml"/><Relationship Id="rId247" Type="http://schemas.openxmlformats.org/officeDocument/2006/relationships/slide" Target="slides/slide207.xml"/><Relationship Id="rId248" Type="http://schemas.openxmlformats.org/officeDocument/2006/relationships/slide" Target="slides/slide208.xml"/><Relationship Id="rId249" Type="http://schemas.openxmlformats.org/officeDocument/2006/relationships/slide" Target="slides/slide209.xml"/><Relationship Id="rId250" Type="http://schemas.openxmlformats.org/officeDocument/2006/relationships/slide" Target="slides/slide210.xml"/><Relationship Id="rId251" Type="http://schemas.openxmlformats.org/officeDocument/2006/relationships/slide" Target="slides/slide211.xml"/><Relationship Id="rId252" Type="http://schemas.openxmlformats.org/officeDocument/2006/relationships/slide" Target="slides/slide212.xml"/><Relationship Id="rId253" Type="http://schemas.openxmlformats.org/officeDocument/2006/relationships/slide" Target="slides/slide213.xml"/><Relationship Id="rId254" Type="http://schemas.openxmlformats.org/officeDocument/2006/relationships/slide" Target="slides/slide214.xml"/><Relationship Id="rId265" Type="http://schemas.openxmlformats.org/officeDocument/2006/relationships/slide" Target="slides/slide11.xml"/><Relationship Id="rId266" Type="http://schemas.openxmlformats.org/officeDocument/2006/relationships/slide" Target="slides/slide12.xml"/><Relationship Id="rId267" Type="http://schemas.openxmlformats.org/officeDocument/2006/relationships/slide" Target="slides/slide13.xml"/><Relationship Id="rId268" Type="http://schemas.openxmlformats.org/officeDocument/2006/relationships/slide" Target="slides/slide14.xml"/><Relationship Id="rId269" Type="http://schemas.openxmlformats.org/officeDocument/2006/relationships/slide" Target="slides/slide15.xml"/><Relationship Id="rId270" Type="http://schemas.openxmlformats.org/officeDocument/2006/relationships/slide" Target="slides/slide16.xml"/><Relationship Id="rId271" Type="http://schemas.openxmlformats.org/officeDocument/2006/relationships/slide" Target="slides/slide17.xml"/><Relationship Id="rId272" Type="http://schemas.openxmlformats.org/officeDocument/2006/relationships/slide" Target="slides/slide18.xml"/><Relationship Id="rId273" Type="http://schemas.openxmlformats.org/officeDocument/2006/relationships/slide" Target="slides/slide19.xml"/><Relationship Id="rId274" Type="http://schemas.openxmlformats.org/officeDocument/2006/relationships/slide" Target="slides/slide20.xml"/><Relationship Id="rId275" Type="http://schemas.openxmlformats.org/officeDocument/2006/relationships/slide" Target="slides/slide21.xml"/><Relationship Id="rId276" Type="http://schemas.openxmlformats.org/officeDocument/2006/relationships/slide" Target="slides/slide22.xml"/><Relationship Id="rId277" Type="http://schemas.openxmlformats.org/officeDocument/2006/relationships/slide" Target="slides/slide23.xml"/><Relationship Id="rId278" Type="http://schemas.openxmlformats.org/officeDocument/2006/relationships/slide" Target="slides/slide10.xml"/><Relationship Id="rId279" Type="http://schemas.openxmlformats.org/officeDocument/2006/relationships/slide" Target="slides/slide25.xml"/><Relationship Id="rId280" Type="http://schemas.openxmlformats.org/officeDocument/2006/relationships/slide" Target="slides/slide26.xml"/><Relationship Id="rId281" Type="http://schemas.openxmlformats.org/officeDocument/2006/relationships/slide" Target="slides/slide27.xml"/><Relationship Id="rId282" Type="http://schemas.openxmlformats.org/officeDocument/2006/relationships/slide" Target="slides/slide28.xml"/><Relationship Id="rId283" Type="http://schemas.openxmlformats.org/officeDocument/2006/relationships/slide" Target="slides/slide29.xml"/><Relationship Id="rId284" Type="http://schemas.openxmlformats.org/officeDocument/2006/relationships/slide" Target="slides/slide30.xml"/><Relationship Id="rId285" Type="http://schemas.openxmlformats.org/officeDocument/2006/relationships/slide" Target="slides/slide31.xml"/><Relationship Id="rId286" Type="http://schemas.openxmlformats.org/officeDocument/2006/relationships/slide" Target="slides/slide32.xml"/><Relationship Id="rId287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2" Type="http://schemas.openxmlformats.org/officeDocument/2006/relationships/image" Target="../media/image3.png"/></Relationships>
</file>

<file path=ppt/charts/_rels/chart3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/Relationships>
</file>

<file path=ppt/charts/_rels/chart5.xml.rels><?xml version='1.0' encoding='UTF-8' standalone='yes'?>
<Relationships xmlns="http://schemas.openxmlformats.org/package/2006/relationships"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charts/_rels/chart6.xml.rels><?xml version='1.0' encoding='UTF-8' standalone='yes'?>
<Relationships xmlns="http://schemas.openxmlformats.org/package/2006/relationships"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/Relationships>
</file>

<file path=ppt/charts/_rels/chart7.xml.rels><?xml version='1.0' encoding='UTF-8' standalone='yes'?>
<Relationships xmlns="http://schemas.openxmlformats.org/package/2006/relationships"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charts/_rels/chart8.xml.rels><?xml version='1.0' encoding='UTF-8' standalone='yes'?>
<Relationships xmlns="http://schemas.openxmlformats.org/package/2006/relationships"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charts/_rels/chart9.xml.rels><?xml version='1.0' encoding='UTF-8' standalone='yes'?>
<Relationships xmlns="http://schemas.openxmlformats.org/package/2006/relationships"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charts/_rels/chart11.xml.rels><?xml version='1.0' encoding='UTF-8' standalone='yes'?>
<Relationships xmlns="http://schemas.openxmlformats.org/package/2006/relationships"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87.png"/><Relationship Id="rId13" Type="http://schemas.openxmlformats.org/officeDocument/2006/relationships/image" Target="../media/image88.png"/><Relationship Id="rId14" Type="http://schemas.openxmlformats.org/officeDocument/2006/relationships/image" Target="../media/image89.png"/><Relationship Id="rId15" Type="http://schemas.openxmlformats.org/officeDocument/2006/relationships/image" Target="../media/image90.png"/></Relationships>
</file>

<file path=ppt/charts/_rels/chart12.xml.rels><?xml version='1.0' encoding='UTF-8' standalone='yes'?>
<Relationships xmlns="http://schemas.openxmlformats.org/package/2006/relationships"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/Relationships>
</file>

<file path=ppt/charts/_rels/chart13.xml.rels><?xml version='1.0' encoding='UTF-8' standalone='yes'?>
<Relationships xmlns="http://schemas.openxmlformats.org/package/2006/relationships"><Relationship Id="rId2" Type="http://schemas.openxmlformats.org/officeDocument/2006/relationships/image" Target="../media/image111.png"/></Relationships>
</file>

<file path=ppt/charts/_rels/chart14.xml.rels><?xml version='1.0' encoding='UTF-8' standalone='yes'?>
<Relationships xmlns="http://schemas.openxmlformats.org/package/2006/relationships"><Relationship Id="rId2" Type="http://schemas.openxmlformats.org/officeDocument/2006/relationships/image" Target="../media/image112.png"/></Relationships>
</file>

<file path=ppt/charts/_rels/chart15.xml.rels><?xml version='1.0' encoding='UTF-8' standalone='yes'?>
<Relationships xmlns="http://schemas.openxmlformats.org/package/2006/relationships"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Relationship Id="rId10" Type="http://schemas.openxmlformats.org/officeDocument/2006/relationships/image" Target="../media/image130.png"/><Relationship Id="rId11" Type="http://schemas.openxmlformats.org/officeDocument/2006/relationships/image" Target="../media/image131.png"/><Relationship Id="rId12" Type="http://schemas.openxmlformats.org/officeDocument/2006/relationships/image" Target="../media/image132.png"/><Relationship Id="rId13" Type="http://schemas.openxmlformats.org/officeDocument/2006/relationships/image" Target="../media/image133.png"/><Relationship Id="rId14" Type="http://schemas.openxmlformats.org/officeDocument/2006/relationships/image" Target="../media/image134.png"/><Relationship Id="rId15" Type="http://schemas.openxmlformats.org/officeDocument/2006/relationships/image" Target="../media/image135.png"/><Relationship Id="rId16" Type="http://schemas.openxmlformats.org/officeDocument/2006/relationships/image" Target="../media/image136.png"/><Relationship Id="rId17" Type="http://schemas.openxmlformats.org/officeDocument/2006/relationships/image" Target="../media/image137.png"/><Relationship Id="rId18" Type="http://schemas.openxmlformats.org/officeDocument/2006/relationships/image" Target="../media/image138.png"/><Relationship Id="rId19" Type="http://schemas.openxmlformats.org/officeDocument/2006/relationships/image" Target="../media/image139.png"/><Relationship Id="rId20" Type="http://schemas.openxmlformats.org/officeDocument/2006/relationships/image" Target="../media/image140.png"/></Relationships>
</file>

<file path=ppt/charts/_rels/chart20.xml.rels><?xml version='1.0' encoding='UTF-8' standalone='yes'?>
<Relationships xmlns="http://schemas.openxmlformats.org/package/2006/relationships"><Relationship Id="rId2" Type="http://schemas.openxmlformats.org/officeDocument/2006/relationships/image" Target="../media/image14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image" Target="../media/image148.png"/><Relationship Id="rId10" Type="http://schemas.openxmlformats.org/officeDocument/2006/relationships/image" Target="../media/image149.png"/></Relationships>
</file>

<file path=ppt/charts/_rels/chart21.xml.rels><?xml version='1.0' encoding='UTF-8' standalone='yes'?>
<Relationships xmlns="http://schemas.openxmlformats.org/package/2006/relationships"><Relationship Id="rId2" Type="http://schemas.openxmlformats.org/officeDocument/2006/relationships/image" Target="../media/image167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Relationship Id="rId14" Type="http://schemas.openxmlformats.org/officeDocument/2006/relationships/image" Target="../media/image179.png"/><Relationship Id="rId15" Type="http://schemas.openxmlformats.org/officeDocument/2006/relationships/image" Target="../media/image180.png"/><Relationship Id="rId16" Type="http://schemas.openxmlformats.org/officeDocument/2006/relationships/image" Target="../media/image181.png"/><Relationship Id="rId17" Type="http://schemas.openxmlformats.org/officeDocument/2006/relationships/image" Target="../media/image182.png"/><Relationship Id="rId18" Type="http://schemas.openxmlformats.org/officeDocument/2006/relationships/image" Target="../media/image183.png"/><Relationship Id="rId19" Type="http://schemas.openxmlformats.org/officeDocument/2006/relationships/image" Target="../media/image184.png"/><Relationship Id="rId20" Type="http://schemas.openxmlformats.org/officeDocument/2006/relationships/image" Target="../media/image185.png"/><Relationship Id="rId21" Type="http://schemas.openxmlformats.org/officeDocument/2006/relationships/image" Target="../media/image186.png"/><Relationship Id="rId22" Type="http://schemas.openxmlformats.org/officeDocument/2006/relationships/image" Target="../media/image187.png"/><Relationship Id="rId23" Type="http://schemas.openxmlformats.org/officeDocument/2006/relationships/image" Target="../media/image188.png"/><Relationship Id="rId24" Type="http://schemas.openxmlformats.org/officeDocument/2006/relationships/image" Target="../media/image189.png"/><Relationship Id="rId25" Type="http://schemas.openxmlformats.org/officeDocument/2006/relationships/image" Target="../media/image190.png"/><Relationship Id="rId26" Type="http://schemas.openxmlformats.org/officeDocument/2006/relationships/image" Target="../media/image191.png"/><Relationship Id="rId27" Type="http://schemas.openxmlformats.org/officeDocument/2006/relationships/image" Target="../media/image192.png"/><Relationship Id="rId28" Type="http://schemas.openxmlformats.org/officeDocument/2006/relationships/image" Target="../media/image193.png"/><Relationship Id="rId29" Type="http://schemas.openxmlformats.org/officeDocument/2006/relationships/image" Target="../media/image194.png"/><Relationship Id="rId30" Type="http://schemas.openxmlformats.org/officeDocument/2006/relationships/image" Target="../media/image195.png"/><Relationship Id="rId31" Type="http://schemas.openxmlformats.org/officeDocument/2006/relationships/image" Target="../media/image196.png"/><Relationship Id="rId32" Type="http://schemas.openxmlformats.org/officeDocument/2006/relationships/image" Target="../media/image197.png"/></Relationships>
</file>

<file path=ppt/charts/_rels/chart28.xml.rels><?xml version='1.0' encoding='UTF-8' standalone='yes'?>
<Relationships xmlns="http://schemas.openxmlformats.org/package/2006/relationships"><Relationship Id="rId2" Type="http://schemas.openxmlformats.org/officeDocument/2006/relationships/image" Target="../media/image198.png"/><Relationship Id="rId3" Type="http://schemas.openxmlformats.org/officeDocument/2006/relationships/image" Target="../media/image199.png"/><Relationship Id="rId4" Type="http://schemas.openxmlformats.org/officeDocument/2006/relationships/image" Target="../media/image200.png"/><Relationship Id="rId5" Type="http://schemas.openxmlformats.org/officeDocument/2006/relationships/image" Target="../media/image201.png"/><Relationship Id="rId6" Type="http://schemas.openxmlformats.org/officeDocument/2006/relationships/image" Target="../media/image202.png"/><Relationship Id="rId7" Type="http://schemas.openxmlformats.org/officeDocument/2006/relationships/image" Target="../media/image203.png"/><Relationship Id="rId8" Type="http://schemas.openxmlformats.org/officeDocument/2006/relationships/image" Target="../media/image204.png"/><Relationship Id="rId9" Type="http://schemas.openxmlformats.org/officeDocument/2006/relationships/image" Target="../media/image205.png"/><Relationship Id="rId10" Type="http://schemas.openxmlformats.org/officeDocument/2006/relationships/image" Target="../media/image206.png"/><Relationship Id="rId11" Type="http://schemas.openxmlformats.org/officeDocument/2006/relationships/image" Target="../media/image207.png"/><Relationship Id="rId12" Type="http://schemas.openxmlformats.org/officeDocument/2006/relationships/image" Target="../media/image208.png"/><Relationship Id="rId13" Type="http://schemas.openxmlformats.org/officeDocument/2006/relationships/image" Target="../media/image209.png"/><Relationship Id="rId14" Type="http://schemas.openxmlformats.org/officeDocument/2006/relationships/image" Target="../media/image210.png"/></Relationships>
</file>

<file path=ppt/charts/_rels/chart29.xml.rels><?xml version='1.0' encoding='UTF-8' standalone='yes'?>
<Relationships xmlns="http://schemas.openxmlformats.org/package/2006/relationships"><Relationship Id="rId2" Type="http://schemas.openxmlformats.org/officeDocument/2006/relationships/image" Target="../media/image222.png"/><Relationship Id="rId3" Type="http://schemas.openxmlformats.org/officeDocument/2006/relationships/image" Target="../media/image223.png"/><Relationship Id="rId4" Type="http://schemas.openxmlformats.org/officeDocument/2006/relationships/image" Target="../media/image224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227.png"/><Relationship Id="rId8" Type="http://schemas.openxmlformats.org/officeDocument/2006/relationships/image" Target="../media/image228.png"/><Relationship Id="rId9" Type="http://schemas.openxmlformats.org/officeDocument/2006/relationships/image" Target="../media/image229.png"/><Relationship Id="rId10" Type="http://schemas.openxmlformats.org/officeDocument/2006/relationships/image" Target="../media/image230.png"/><Relationship Id="rId11" Type="http://schemas.openxmlformats.org/officeDocument/2006/relationships/image" Target="../media/image231.png"/><Relationship Id="rId12" Type="http://schemas.openxmlformats.org/officeDocument/2006/relationships/image" Target="../media/image232.png"/><Relationship Id="rId13" Type="http://schemas.openxmlformats.org/officeDocument/2006/relationships/image" Target="../media/image233.png"/><Relationship Id="rId14" Type="http://schemas.openxmlformats.org/officeDocument/2006/relationships/image" Target="../media/image234.png"/><Relationship Id="rId15" Type="http://schemas.openxmlformats.org/officeDocument/2006/relationships/image" Target="../media/image235.png"/><Relationship Id="rId16" Type="http://schemas.openxmlformats.org/officeDocument/2006/relationships/image" Target="../media/image236.png"/><Relationship Id="rId17" Type="http://schemas.openxmlformats.org/officeDocument/2006/relationships/image" Target="../media/image237.png"/><Relationship Id="rId18" Type="http://schemas.openxmlformats.org/officeDocument/2006/relationships/image" Target="../media/image238.png"/><Relationship Id="rId19" Type="http://schemas.openxmlformats.org/officeDocument/2006/relationships/image" Target="../media/image239.png"/><Relationship Id="rId20" Type="http://schemas.openxmlformats.org/officeDocument/2006/relationships/image" Target="../media/image240.png"/><Relationship Id="rId21" Type="http://schemas.openxmlformats.org/officeDocument/2006/relationships/image" Target="../media/image241.png"/><Relationship Id="rId22" Type="http://schemas.openxmlformats.org/officeDocument/2006/relationships/image" Target="../media/image242.png"/><Relationship Id="rId23" Type="http://schemas.openxmlformats.org/officeDocument/2006/relationships/image" Target="../media/image243.png"/><Relationship Id="rId24" Type="http://schemas.openxmlformats.org/officeDocument/2006/relationships/image" Target="../media/image244.png"/><Relationship Id="rId25" Type="http://schemas.openxmlformats.org/officeDocument/2006/relationships/image" Target="../media/image245.png"/><Relationship Id="rId26" Type="http://schemas.openxmlformats.org/officeDocument/2006/relationships/image" Target="../media/image246.png"/><Relationship Id="rId27" Type="http://schemas.openxmlformats.org/officeDocument/2006/relationships/image" Target="../media/image247.png"/><Relationship Id="rId28" Type="http://schemas.openxmlformats.org/officeDocument/2006/relationships/image" Target="../media/image248.png"/><Relationship Id="rId29" Type="http://schemas.openxmlformats.org/officeDocument/2006/relationships/image" Target="../media/image249.png"/></Relationships>
</file>

<file path=ppt/charts/_rels/chart35.xml.rels><?xml version='1.0' encoding='UTF-8' standalone='yes'?>
<Relationships xmlns="http://schemas.openxmlformats.org/package/2006/relationships"><Relationship Id="rId2" Type="http://schemas.openxmlformats.org/officeDocument/2006/relationships/image" Target="../media/image250.png"/><Relationship Id="rId3" Type="http://schemas.openxmlformats.org/officeDocument/2006/relationships/image" Target="../media/image25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Relationship Id="rId6" Type="http://schemas.openxmlformats.org/officeDocument/2006/relationships/image" Target="../media/image254.png"/><Relationship Id="rId7" Type="http://schemas.openxmlformats.org/officeDocument/2006/relationships/image" Target="../media/image255.png"/><Relationship Id="rId8" Type="http://schemas.openxmlformats.org/officeDocument/2006/relationships/image" Target="../media/image256.png"/><Relationship Id="rId9" Type="http://schemas.openxmlformats.org/officeDocument/2006/relationships/image" Target="../media/image257.png"/><Relationship Id="rId10" Type="http://schemas.openxmlformats.org/officeDocument/2006/relationships/image" Target="../media/image258.png"/><Relationship Id="rId11" Type="http://schemas.openxmlformats.org/officeDocument/2006/relationships/image" Target="../media/image259.png"/><Relationship Id="rId12" Type="http://schemas.openxmlformats.org/officeDocument/2006/relationships/image" Target="../media/image260.png"/></Relationships>
</file>

<file path=ppt/charts/_rels/chart36.xml.rels><?xml version='1.0' encoding='UTF-8' standalone='yes'?>
<Relationships xmlns="http://schemas.openxmlformats.org/package/2006/relationships"><Relationship Id="rId2" Type="http://schemas.openxmlformats.org/officeDocument/2006/relationships/image" Target="../media/image267.png"/><Relationship Id="rId3" Type="http://schemas.openxmlformats.org/officeDocument/2006/relationships/image" Target="../media/image268.png"/><Relationship Id="rId4" Type="http://schemas.openxmlformats.org/officeDocument/2006/relationships/image" Target="../media/image269.png"/><Relationship Id="rId5" Type="http://schemas.openxmlformats.org/officeDocument/2006/relationships/image" Target="../media/image270.png"/><Relationship Id="rId6" Type="http://schemas.openxmlformats.org/officeDocument/2006/relationships/image" Target="../media/image271.png"/><Relationship Id="rId7" Type="http://schemas.openxmlformats.org/officeDocument/2006/relationships/image" Target="../media/image272.png"/><Relationship Id="rId8" Type="http://schemas.openxmlformats.org/officeDocument/2006/relationships/image" Target="../media/image273.png"/><Relationship Id="rId9" Type="http://schemas.openxmlformats.org/officeDocument/2006/relationships/image" Target="../media/image274.png"/><Relationship Id="rId10" Type="http://schemas.openxmlformats.org/officeDocument/2006/relationships/image" Target="../media/image275.png"/><Relationship Id="rId11" Type="http://schemas.openxmlformats.org/officeDocument/2006/relationships/image" Target="../media/image276.png"/><Relationship Id="rId12" Type="http://schemas.openxmlformats.org/officeDocument/2006/relationships/image" Target="../media/image277.png"/><Relationship Id="rId13" Type="http://schemas.openxmlformats.org/officeDocument/2006/relationships/image" Target="../media/image278.png"/><Relationship Id="rId14" Type="http://schemas.openxmlformats.org/officeDocument/2006/relationships/image" Target="../media/image279.png"/><Relationship Id="rId15" Type="http://schemas.openxmlformats.org/officeDocument/2006/relationships/image" Target="../media/image280.png"/></Relationships>
</file>

<file path=ppt/charts/_rels/chart40.xml.rels><?xml version='1.0' encoding='UTF-8' standalone='yes'?>
<Relationships xmlns="http://schemas.openxmlformats.org/package/2006/relationships"><Relationship Id="rId2" Type="http://schemas.openxmlformats.org/officeDocument/2006/relationships/image" Target="../media/image281.png"/><Relationship Id="rId3" Type="http://schemas.openxmlformats.org/officeDocument/2006/relationships/image" Target="../media/image282.png"/><Relationship Id="rId4" Type="http://schemas.openxmlformats.org/officeDocument/2006/relationships/image" Target="../media/image283.png"/><Relationship Id="rId5" Type="http://schemas.openxmlformats.org/officeDocument/2006/relationships/image" Target="../media/image284.png"/><Relationship Id="rId6" Type="http://schemas.openxmlformats.org/officeDocument/2006/relationships/image" Target="../media/image285.png"/><Relationship Id="rId7" Type="http://schemas.openxmlformats.org/officeDocument/2006/relationships/image" Target="../media/image286.png"/></Relationships>
</file>

<file path=ppt/charts/_rels/chart41.xml.rels><?xml version='1.0' encoding='UTF-8' standalone='yes'?>
<Relationships xmlns="http://schemas.openxmlformats.org/package/2006/relationships"><Relationship Id="rId2" Type="http://schemas.openxmlformats.org/officeDocument/2006/relationships/image" Target="../media/image299.png"/><Relationship Id="rId3" Type="http://schemas.openxmlformats.org/officeDocument/2006/relationships/image" Target="../media/image300.png"/><Relationship Id="rId4" Type="http://schemas.openxmlformats.org/officeDocument/2006/relationships/image" Target="../media/image301.png"/><Relationship Id="rId5" Type="http://schemas.openxmlformats.org/officeDocument/2006/relationships/image" Target="../media/image302.png"/><Relationship Id="rId6" Type="http://schemas.openxmlformats.org/officeDocument/2006/relationships/image" Target="../media/image303.png"/><Relationship Id="rId7" Type="http://schemas.openxmlformats.org/officeDocument/2006/relationships/image" Target="../media/image304.png"/><Relationship Id="rId8" Type="http://schemas.openxmlformats.org/officeDocument/2006/relationships/image" Target="../media/image305.png"/><Relationship Id="rId9" Type="http://schemas.openxmlformats.org/officeDocument/2006/relationships/image" Target="../media/image306.png"/><Relationship Id="rId10" Type="http://schemas.openxmlformats.org/officeDocument/2006/relationships/image" Target="../media/image307.png"/><Relationship Id="rId11" Type="http://schemas.openxmlformats.org/officeDocument/2006/relationships/image" Target="../media/image308.png"/><Relationship Id="rId12" Type="http://schemas.openxmlformats.org/officeDocument/2006/relationships/image" Target="../media/image309.png"/><Relationship Id="rId13" Type="http://schemas.openxmlformats.org/officeDocument/2006/relationships/image" Target="../media/image310.png"/><Relationship Id="rId14" Type="http://schemas.openxmlformats.org/officeDocument/2006/relationships/image" Target="../media/image311.png"/><Relationship Id="rId15" Type="http://schemas.openxmlformats.org/officeDocument/2006/relationships/image" Target="../media/image312.png"/><Relationship Id="rId16" Type="http://schemas.openxmlformats.org/officeDocument/2006/relationships/image" Target="../media/image313.png"/><Relationship Id="rId17" Type="http://schemas.openxmlformats.org/officeDocument/2006/relationships/image" Target="../media/image314.png"/><Relationship Id="rId18" Type="http://schemas.openxmlformats.org/officeDocument/2006/relationships/image" Target="../media/image315.png"/><Relationship Id="rId19" Type="http://schemas.openxmlformats.org/officeDocument/2006/relationships/image" Target="../media/image316.png"/><Relationship Id="rId20" Type="http://schemas.openxmlformats.org/officeDocument/2006/relationships/image" Target="../media/image317.png"/><Relationship Id="rId21" Type="http://schemas.openxmlformats.org/officeDocument/2006/relationships/image" Target="../media/image318.png"/><Relationship Id="rId22" Type="http://schemas.openxmlformats.org/officeDocument/2006/relationships/image" Target="../media/image319.png"/><Relationship Id="rId23" Type="http://schemas.openxmlformats.org/officeDocument/2006/relationships/image" Target="../media/image320.png"/><Relationship Id="rId24" Type="http://schemas.openxmlformats.org/officeDocument/2006/relationships/image" Target="../media/image321.png"/></Relationships>
</file>

<file path=ppt/charts/_rels/chart47.xml.rels><?xml version='1.0' encoding='UTF-8' standalone='yes'?>
<Relationships xmlns="http://schemas.openxmlformats.org/package/2006/relationships"><Relationship Id="rId2" Type="http://schemas.openxmlformats.org/officeDocument/2006/relationships/image" Target="../media/image322.png"/><Relationship Id="rId3" Type="http://schemas.openxmlformats.org/officeDocument/2006/relationships/image" Target="../media/image323.png"/><Relationship Id="rId4" Type="http://schemas.openxmlformats.org/officeDocument/2006/relationships/image" Target="../media/image324.png"/><Relationship Id="rId5" Type="http://schemas.openxmlformats.org/officeDocument/2006/relationships/image" Target="../media/image325.png"/><Relationship Id="rId6" Type="http://schemas.openxmlformats.org/officeDocument/2006/relationships/image" Target="../media/image326.png"/><Relationship Id="rId7" Type="http://schemas.openxmlformats.org/officeDocument/2006/relationships/image" Target="../media/image327.png"/><Relationship Id="rId8" Type="http://schemas.openxmlformats.org/officeDocument/2006/relationships/image" Target="../media/image328.png"/><Relationship Id="rId9" Type="http://schemas.openxmlformats.org/officeDocument/2006/relationships/image" Target="../media/image329.png"/><Relationship Id="rId10" Type="http://schemas.openxmlformats.org/officeDocument/2006/relationships/image" Target="../media/image330.png"/><Relationship Id="rId11" Type="http://schemas.openxmlformats.org/officeDocument/2006/relationships/image" Target="../media/image331.png"/><Relationship Id="rId12" Type="http://schemas.openxmlformats.org/officeDocument/2006/relationships/image" Target="../media/image332.png"/><Relationship Id="rId13" Type="http://schemas.openxmlformats.org/officeDocument/2006/relationships/image" Target="../media/image333.png"/></Relationships>
</file>

<file path=ppt/charts/_rels/chart48.xml.rels><?xml version='1.0' encoding='UTF-8' standalone='yes'?>
<Relationships xmlns="http://schemas.openxmlformats.org/package/2006/relationships"><Relationship Id="rId2" Type="http://schemas.openxmlformats.org/officeDocument/2006/relationships/image" Target="../media/image348.png"/><Relationship Id="rId3" Type="http://schemas.openxmlformats.org/officeDocument/2006/relationships/image" Target="../media/image349.png"/><Relationship Id="rId4" Type="http://schemas.openxmlformats.org/officeDocument/2006/relationships/image" Target="../media/image350.png"/><Relationship Id="rId5" Type="http://schemas.openxmlformats.org/officeDocument/2006/relationships/image" Target="../media/image351.png"/><Relationship Id="rId6" Type="http://schemas.openxmlformats.org/officeDocument/2006/relationships/image" Target="../media/image352.png"/><Relationship Id="rId7" Type="http://schemas.openxmlformats.org/officeDocument/2006/relationships/image" Target="../media/image353.png"/><Relationship Id="rId8" Type="http://schemas.openxmlformats.org/officeDocument/2006/relationships/image" Target="../media/image354.png"/><Relationship Id="rId9" Type="http://schemas.openxmlformats.org/officeDocument/2006/relationships/image" Target="../media/image355.png"/><Relationship Id="rId10" Type="http://schemas.openxmlformats.org/officeDocument/2006/relationships/image" Target="../media/image356.png"/><Relationship Id="rId11" Type="http://schemas.openxmlformats.org/officeDocument/2006/relationships/image" Target="../media/image357.png"/><Relationship Id="rId12" Type="http://schemas.openxmlformats.org/officeDocument/2006/relationships/image" Target="../media/image358.png"/><Relationship Id="rId13" Type="http://schemas.openxmlformats.org/officeDocument/2006/relationships/image" Target="../media/image359.png"/><Relationship Id="rId14" Type="http://schemas.openxmlformats.org/officeDocument/2006/relationships/image" Target="../media/image360.png"/><Relationship Id="rId15" Type="http://schemas.openxmlformats.org/officeDocument/2006/relationships/image" Target="../media/image361.png"/><Relationship Id="rId16" Type="http://schemas.openxmlformats.org/officeDocument/2006/relationships/image" Target="../media/image362.png"/><Relationship Id="rId17" Type="http://schemas.openxmlformats.org/officeDocument/2006/relationships/image" Target="../media/image363.png"/><Relationship Id="rId18" Type="http://schemas.openxmlformats.org/officeDocument/2006/relationships/image" Target="../media/image364.png"/><Relationship Id="rId19" Type="http://schemas.openxmlformats.org/officeDocument/2006/relationships/image" Target="../media/image365.png"/><Relationship Id="rId20" Type="http://schemas.openxmlformats.org/officeDocument/2006/relationships/image" Target="../media/image366.png"/><Relationship Id="rId21" Type="http://schemas.openxmlformats.org/officeDocument/2006/relationships/image" Target="../media/image367.png"/><Relationship Id="rId22" Type="http://schemas.openxmlformats.org/officeDocument/2006/relationships/image" Target="../media/image368.png"/><Relationship Id="rId23" Type="http://schemas.openxmlformats.org/officeDocument/2006/relationships/image" Target="../media/image369.png"/><Relationship Id="rId24" Type="http://schemas.openxmlformats.org/officeDocument/2006/relationships/image" Target="../media/image370.png"/><Relationship Id="rId25" Type="http://schemas.openxmlformats.org/officeDocument/2006/relationships/image" Target="../media/image371.png"/><Relationship Id="rId26" Type="http://schemas.openxmlformats.org/officeDocument/2006/relationships/image" Target="../media/image372.png"/><Relationship Id="rId27" Type="http://schemas.openxmlformats.org/officeDocument/2006/relationships/image" Target="../media/image373.png"/><Relationship Id="rId28" Type="http://schemas.openxmlformats.org/officeDocument/2006/relationships/image" Target="../media/image374.png"/><Relationship Id="rId29" Type="http://schemas.openxmlformats.org/officeDocument/2006/relationships/image" Target="../media/image375.png"/><Relationship Id="rId30" Type="http://schemas.openxmlformats.org/officeDocument/2006/relationships/image" Target="../media/image376.png"/><Relationship Id="rId31" Type="http://schemas.openxmlformats.org/officeDocument/2006/relationships/image" Target="../media/image377.png"/><Relationship Id="rId32" Type="http://schemas.openxmlformats.org/officeDocument/2006/relationships/image" Target="../media/image378.png"/></Relationships>
</file>

<file path=ppt/charts/_rels/chart55.xml.rels><?xml version='1.0' encoding='UTF-8' standalone='yes'?>
<Relationships xmlns="http://schemas.openxmlformats.org/package/2006/relationships"><Relationship Id="rId2" Type="http://schemas.openxmlformats.org/officeDocument/2006/relationships/image" Target="../media/image379.png"/><Relationship Id="rId3" Type="http://schemas.openxmlformats.org/officeDocument/2006/relationships/image" Target="../media/image380.png"/><Relationship Id="rId4" Type="http://schemas.openxmlformats.org/officeDocument/2006/relationships/image" Target="../media/image381.png"/><Relationship Id="rId5" Type="http://schemas.openxmlformats.org/officeDocument/2006/relationships/image" Target="../media/image382.png"/><Relationship Id="rId6" Type="http://schemas.openxmlformats.org/officeDocument/2006/relationships/image" Target="../media/image383.png"/><Relationship Id="rId7" Type="http://schemas.openxmlformats.org/officeDocument/2006/relationships/image" Target="../media/image384.png"/><Relationship Id="rId8" Type="http://schemas.openxmlformats.org/officeDocument/2006/relationships/image" Target="../media/image385.png"/><Relationship Id="rId9" Type="http://schemas.openxmlformats.org/officeDocument/2006/relationships/image" Target="../media/image386.png"/><Relationship Id="rId10" Type="http://schemas.openxmlformats.org/officeDocument/2006/relationships/image" Target="../media/image387.png"/><Relationship Id="rId11" Type="http://schemas.openxmlformats.org/officeDocument/2006/relationships/image" Target="../media/image388.png"/><Relationship Id="rId12" Type="http://schemas.openxmlformats.org/officeDocument/2006/relationships/image" Target="../media/image389.png"/><Relationship Id="rId13" Type="http://schemas.openxmlformats.org/officeDocument/2006/relationships/image" Target="../media/image390.png"/><Relationship Id="rId14" Type="http://schemas.openxmlformats.org/officeDocument/2006/relationships/image" Target="../media/image391.png"/><Relationship Id="rId15" Type="http://schemas.openxmlformats.org/officeDocument/2006/relationships/image" Target="../media/image392.png"/><Relationship Id="rId16" Type="http://schemas.openxmlformats.org/officeDocument/2006/relationships/image" Target="../media/image393.png"/></Relationships>
</file>

<file path=ppt/charts/_rels/chart56.xml.rels><?xml version='1.0' encoding='UTF-8' standalone='yes'?>
<Relationships xmlns="http://schemas.openxmlformats.org/package/2006/relationships"><Relationship Id="rId2" Type="http://schemas.openxmlformats.org/officeDocument/2006/relationships/image" Target="../media/image394.png"/></Relationships>
</file>

<file path=ppt/charts/_rels/chart58.xml.rels><?xml version='1.0' encoding='UTF-8' standalone='yes'?>
<Relationships xmlns="http://schemas.openxmlformats.org/package/2006/relationships"><Relationship Id="rId2" Type="http://schemas.openxmlformats.org/officeDocument/2006/relationships/image" Target="../media/image395.png"/></Relationships>
</file>

<file path=ppt/charts/_rels/chart60.xml.rels><?xml version='1.0' encoding='UTF-8' standalone='yes'?>
<Relationships xmlns="http://schemas.openxmlformats.org/package/2006/relationships"><Relationship Id="rId2" Type="http://schemas.openxmlformats.org/officeDocument/2006/relationships/image" Target="../media/image396.png"/><Relationship Id="rId3" Type="http://schemas.openxmlformats.org/officeDocument/2006/relationships/image" Target="../media/image397.png"/><Relationship Id="rId4" Type="http://schemas.openxmlformats.org/officeDocument/2006/relationships/image" Target="../media/image398.png"/><Relationship Id="rId5" Type="http://schemas.openxmlformats.org/officeDocument/2006/relationships/image" Target="../media/image399.png"/><Relationship Id="rId6" Type="http://schemas.openxmlformats.org/officeDocument/2006/relationships/image" Target="../media/image400.png"/><Relationship Id="rId7" Type="http://schemas.openxmlformats.org/officeDocument/2006/relationships/image" Target="../media/image401.png"/><Relationship Id="rId8" Type="http://schemas.openxmlformats.org/officeDocument/2006/relationships/image" Target="../media/image402.png"/><Relationship Id="rId9" Type="http://schemas.openxmlformats.org/officeDocument/2006/relationships/image" Target="../media/image403.png"/><Relationship Id="rId10" Type="http://schemas.openxmlformats.org/officeDocument/2006/relationships/image" Target="../media/image404.png"/><Relationship Id="rId11" Type="http://schemas.openxmlformats.org/officeDocument/2006/relationships/image" Target="../media/image405.png"/></Relationships>
</file>

<file path=ppt/charts/_rels/chart61.xml.rels><?xml version='1.0' encoding='UTF-8' standalone='yes'?>
<Relationships xmlns="http://schemas.openxmlformats.org/package/2006/relationships"><Relationship Id="rId2" Type="http://schemas.openxmlformats.org/officeDocument/2006/relationships/image" Target="../media/image406.png"/><Relationship Id="rId3" Type="http://schemas.openxmlformats.org/officeDocument/2006/relationships/image" Target="../media/image407.png"/><Relationship Id="rId4" Type="http://schemas.openxmlformats.org/officeDocument/2006/relationships/image" Target="../media/image408.png"/><Relationship Id="rId5" Type="http://schemas.openxmlformats.org/officeDocument/2006/relationships/image" Target="../media/image409.png"/><Relationship Id="rId6" Type="http://schemas.openxmlformats.org/officeDocument/2006/relationships/image" Target="../media/image410.png"/><Relationship Id="rId7" Type="http://schemas.openxmlformats.org/officeDocument/2006/relationships/image" Target="../media/image411.png"/><Relationship Id="rId8" Type="http://schemas.openxmlformats.org/officeDocument/2006/relationships/image" Target="../media/image412.png"/><Relationship Id="rId9" Type="http://schemas.openxmlformats.org/officeDocument/2006/relationships/image" Target="../media/image413.png"/><Relationship Id="rId10" Type="http://schemas.openxmlformats.org/officeDocument/2006/relationships/image" Target="../media/image414.png"/><Relationship Id="rId11" Type="http://schemas.openxmlformats.org/officeDocument/2006/relationships/image" Target="../media/image415.png"/><Relationship Id="rId12" Type="http://schemas.openxmlformats.org/officeDocument/2006/relationships/image" Target="../media/image416.png"/><Relationship Id="rId13" Type="http://schemas.openxmlformats.org/officeDocument/2006/relationships/image" Target="../media/image417.png"/><Relationship Id="rId14" Type="http://schemas.openxmlformats.org/officeDocument/2006/relationships/image" Target="../media/image418.png"/><Relationship Id="rId15" Type="http://schemas.openxmlformats.org/officeDocument/2006/relationships/image" Target="../media/image419.png"/><Relationship Id="rId16" Type="http://schemas.openxmlformats.org/officeDocument/2006/relationships/image" Target="../media/image420.png"/><Relationship Id="rId17" Type="http://schemas.openxmlformats.org/officeDocument/2006/relationships/image" Target="../media/image421.png"/><Relationship Id="rId18" Type="http://schemas.openxmlformats.org/officeDocument/2006/relationships/image" Target="../media/image422.png"/><Relationship Id="rId19" Type="http://schemas.openxmlformats.org/officeDocument/2006/relationships/image" Target="../media/image423.png"/><Relationship Id="rId20" Type="http://schemas.openxmlformats.org/officeDocument/2006/relationships/image" Target="../media/image424.png"/><Relationship Id="rId21" Type="http://schemas.openxmlformats.org/officeDocument/2006/relationships/image" Target="../media/image425.png"/><Relationship Id="rId22" Type="http://schemas.openxmlformats.org/officeDocument/2006/relationships/image" Target="../media/image426.png"/><Relationship Id="rId23" Type="http://schemas.openxmlformats.org/officeDocument/2006/relationships/image" Target="../media/image427.png"/></Relationships>
</file>

<file path=ppt/charts/_rels/chart62.xml.rels><?xml version='1.0' encoding='UTF-8' standalone='yes'?>
<Relationships xmlns="http://schemas.openxmlformats.org/package/2006/relationships"><Relationship Id="rId2" Type="http://schemas.openxmlformats.org/officeDocument/2006/relationships/image" Target="../media/image428.png"/><Relationship Id="rId3" Type="http://schemas.openxmlformats.org/officeDocument/2006/relationships/image" Target="../media/image429.png"/><Relationship Id="rId4" Type="http://schemas.openxmlformats.org/officeDocument/2006/relationships/image" Target="../media/image430.png"/><Relationship Id="rId5" Type="http://schemas.openxmlformats.org/officeDocument/2006/relationships/image" Target="../media/image431.png"/><Relationship Id="rId6" Type="http://schemas.openxmlformats.org/officeDocument/2006/relationships/image" Target="../media/image432.png"/></Relationships>
</file>

<file path=ppt/charts/_rels/chart63.xml.rels><?xml version='1.0' encoding='UTF-8' standalone='yes'?>
<Relationships xmlns="http://schemas.openxmlformats.org/package/2006/relationships"><Relationship Id="rId2" Type="http://schemas.openxmlformats.org/officeDocument/2006/relationships/image" Target="../media/image433.png"/><Relationship Id="rId3" Type="http://schemas.openxmlformats.org/officeDocument/2006/relationships/image" Target="../media/image434.png"/><Relationship Id="rId4" Type="http://schemas.openxmlformats.org/officeDocument/2006/relationships/image" Target="../media/image435.png"/><Relationship Id="rId5" Type="http://schemas.openxmlformats.org/officeDocument/2006/relationships/image" Target="../media/image436.png"/><Relationship Id="rId6" Type="http://schemas.openxmlformats.org/officeDocument/2006/relationships/image" Target="../media/image437.png"/></Relationships>
</file>

<file path=ppt/charts/_rels/chart64.xml.rels><?xml version='1.0' encoding='UTF-8' standalone='yes'?>
<Relationships xmlns="http://schemas.openxmlformats.org/package/2006/relationships"><Relationship Id="rId2" Type="http://schemas.openxmlformats.org/officeDocument/2006/relationships/image" Target="../media/image438.png"/><Relationship Id="rId3" Type="http://schemas.openxmlformats.org/officeDocument/2006/relationships/image" Target="../media/image439.png"/><Relationship Id="rId4" Type="http://schemas.openxmlformats.org/officeDocument/2006/relationships/image" Target="../media/image440.png"/></Relationships>
</file>

<file path=ppt/charts/_rels/chart66.xml.rels><?xml version='1.0' encoding='UTF-8' standalone='yes'?>
<Relationships xmlns="http://schemas.openxmlformats.org/package/2006/relationships"><Relationship Id="rId2" Type="http://schemas.openxmlformats.org/officeDocument/2006/relationships/image" Target="../media/image441.png"/><Relationship Id="rId3" Type="http://schemas.openxmlformats.org/officeDocument/2006/relationships/image" Target="../media/image442.png"/><Relationship Id="rId4" Type="http://schemas.openxmlformats.org/officeDocument/2006/relationships/image" Target="../media/image443.png"/><Relationship Id="rId5" Type="http://schemas.openxmlformats.org/officeDocument/2006/relationships/image" Target="../media/image444.png"/><Relationship Id="rId6" Type="http://schemas.openxmlformats.org/officeDocument/2006/relationships/image" Target="../media/image445.png"/><Relationship Id="rId7" Type="http://schemas.openxmlformats.org/officeDocument/2006/relationships/image" Target="../media/image446.png"/><Relationship Id="rId8" Type="http://schemas.openxmlformats.org/officeDocument/2006/relationships/image" Target="../media/image447.png"/><Relationship Id="rId9" Type="http://schemas.openxmlformats.org/officeDocument/2006/relationships/image" Target="../media/image448.png"/><Relationship Id="rId10" Type="http://schemas.openxmlformats.org/officeDocument/2006/relationships/image" Target="../media/image449.png"/><Relationship Id="rId11" Type="http://schemas.openxmlformats.org/officeDocument/2006/relationships/image" Target="../media/image450.png"/><Relationship Id="rId12" Type="http://schemas.openxmlformats.org/officeDocument/2006/relationships/image" Target="../media/image451.png"/><Relationship Id="rId13" Type="http://schemas.openxmlformats.org/officeDocument/2006/relationships/image" Target="../media/image452.png"/><Relationship Id="rId14" Type="http://schemas.openxmlformats.org/officeDocument/2006/relationships/image" Target="../media/image453.png"/><Relationship Id="rId15" Type="http://schemas.openxmlformats.org/officeDocument/2006/relationships/image" Target="../media/image454.png"/><Relationship Id="rId16" Type="http://schemas.openxmlformats.org/officeDocument/2006/relationships/image" Target="../media/image455.png"/></Relationships>
</file>

<file path=ppt/charts/_rels/chart67.xml.rels><?xml version='1.0' encoding='UTF-8' standalone='yes'?>
<Relationships xmlns="http://schemas.openxmlformats.org/package/2006/relationships"><Relationship Id="rId2" Type="http://schemas.openxmlformats.org/officeDocument/2006/relationships/image" Target="../media/image456.png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Relationship Id="rId13" Type="http://schemas.openxmlformats.org/officeDocument/2006/relationships/image" Target="../media/image467.png"/><Relationship Id="rId14" Type="http://schemas.openxmlformats.org/officeDocument/2006/relationships/image" Target="../media/image468.png"/><Relationship Id="rId15" Type="http://schemas.openxmlformats.org/officeDocument/2006/relationships/image" Target="../media/image469.png"/></Relationships>
</file>

<file path=ppt/charts/_rels/chart70.xml.rels><?xml version='1.0' encoding='UTF-8' standalone='yes'?>
<Relationships xmlns="http://schemas.openxmlformats.org/package/2006/relationships"><Relationship Id="rId2" Type="http://schemas.openxmlformats.org/officeDocument/2006/relationships/image" Target="../media/image476.png"/><Relationship Id="rId3" Type="http://schemas.openxmlformats.org/officeDocument/2006/relationships/image" Target="../media/image477.png"/><Relationship Id="rId4" Type="http://schemas.openxmlformats.org/officeDocument/2006/relationships/image" Target="../media/image478.png"/><Relationship Id="rId5" Type="http://schemas.openxmlformats.org/officeDocument/2006/relationships/image" Target="../media/image479.png"/><Relationship Id="rId6" Type="http://schemas.openxmlformats.org/officeDocument/2006/relationships/image" Target="../media/image480.png"/><Relationship Id="rId7" Type="http://schemas.openxmlformats.org/officeDocument/2006/relationships/image" Target="../media/image481.png"/><Relationship Id="rId8" Type="http://schemas.openxmlformats.org/officeDocument/2006/relationships/image" Target="../media/image482.png"/><Relationship Id="rId9" Type="http://schemas.openxmlformats.org/officeDocument/2006/relationships/image" Target="../media/image483.png"/><Relationship Id="rId10" Type="http://schemas.openxmlformats.org/officeDocument/2006/relationships/image" Target="../media/image484.png"/><Relationship Id="rId11" Type="http://schemas.openxmlformats.org/officeDocument/2006/relationships/image" Target="../media/image485.png"/><Relationship Id="rId12" Type="http://schemas.openxmlformats.org/officeDocument/2006/relationships/image" Target="../media/image486.png"/><Relationship Id="rId13" Type="http://schemas.openxmlformats.org/officeDocument/2006/relationships/image" Target="../media/image487.png"/><Relationship Id="rId14" Type="http://schemas.openxmlformats.org/officeDocument/2006/relationships/image" Target="../media/image488.png"/><Relationship Id="rId15" Type="http://schemas.openxmlformats.org/officeDocument/2006/relationships/image" Target="../media/image489.png"/><Relationship Id="rId16" Type="http://schemas.openxmlformats.org/officeDocument/2006/relationships/image" Target="../media/image490.png"/><Relationship Id="rId17" Type="http://schemas.openxmlformats.org/officeDocument/2006/relationships/image" Target="../media/image491.png"/><Relationship Id="rId18" Type="http://schemas.openxmlformats.org/officeDocument/2006/relationships/image" Target="../media/image492.png"/><Relationship Id="rId19" Type="http://schemas.openxmlformats.org/officeDocument/2006/relationships/image" Target="../media/image493.png"/><Relationship Id="rId20" Type="http://schemas.openxmlformats.org/officeDocument/2006/relationships/image" Target="../media/image494.png"/><Relationship Id="rId21" Type="http://schemas.openxmlformats.org/officeDocument/2006/relationships/image" Target="../media/image495.png"/><Relationship Id="rId22" Type="http://schemas.openxmlformats.org/officeDocument/2006/relationships/image" Target="../media/image496.png"/><Relationship Id="rId23" Type="http://schemas.openxmlformats.org/officeDocument/2006/relationships/image" Target="../media/image497.png"/><Relationship Id="rId24" Type="http://schemas.openxmlformats.org/officeDocument/2006/relationships/image" Target="../media/image498.png"/><Relationship Id="rId25" Type="http://schemas.openxmlformats.org/officeDocument/2006/relationships/image" Target="../media/image499.png"/></Relationships>
</file>

<file path=ppt/charts/_rels/chart75.xml.rels><?xml version='1.0' encoding='UTF-8' standalone='yes'?>
<Relationships xmlns="http://schemas.openxmlformats.org/package/2006/relationships"><Relationship Id="rId2" Type="http://schemas.openxmlformats.org/officeDocument/2006/relationships/image" Target="../media/image500.png"/><Relationship Id="rId3" Type="http://schemas.openxmlformats.org/officeDocument/2006/relationships/image" Target="../media/image501.png"/><Relationship Id="rId4" Type="http://schemas.openxmlformats.org/officeDocument/2006/relationships/image" Target="../media/image502.png"/><Relationship Id="rId5" Type="http://schemas.openxmlformats.org/officeDocument/2006/relationships/image" Target="../media/image503.png"/><Relationship Id="rId6" Type="http://schemas.openxmlformats.org/officeDocument/2006/relationships/image" Target="../media/image504.png"/><Relationship Id="rId7" Type="http://schemas.openxmlformats.org/officeDocument/2006/relationships/image" Target="../media/image505.png"/><Relationship Id="rId8" Type="http://schemas.openxmlformats.org/officeDocument/2006/relationships/image" Target="../media/image506.png"/><Relationship Id="rId9" Type="http://schemas.openxmlformats.org/officeDocument/2006/relationships/image" Target="../media/image507.png"/><Relationship Id="rId10" Type="http://schemas.openxmlformats.org/officeDocument/2006/relationships/image" Target="../media/image508.png"/></Relationships>
</file>

<file path=ppt/charts/_rels/chart76.xml.rels><?xml version='1.0' encoding='UTF-8' standalone='yes'?>
<Relationships xmlns="http://schemas.openxmlformats.org/package/2006/relationships"><Relationship Id="rId2" Type="http://schemas.openxmlformats.org/officeDocument/2006/relationships/image" Target="../media/image521.png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Relationship Id="rId25" Type="http://schemas.openxmlformats.org/officeDocument/2006/relationships/image" Target="../media/image544.png"/><Relationship Id="rId26" Type="http://schemas.openxmlformats.org/officeDocument/2006/relationships/image" Target="../media/image545.png"/><Relationship Id="rId27" Type="http://schemas.openxmlformats.org/officeDocument/2006/relationships/image" Target="../media/image546.png"/><Relationship Id="rId28" Type="http://schemas.openxmlformats.org/officeDocument/2006/relationships/image" Target="../media/image547.png"/><Relationship Id="rId29" Type="http://schemas.openxmlformats.org/officeDocument/2006/relationships/image" Target="../media/image548.png"/><Relationship Id="rId30" Type="http://schemas.openxmlformats.org/officeDocument/2006/relationships/image" Target="../media/image549.png"/><Relationship Id="rId31" Type="http://schemas.openxmlformats.org/officeDocument/2006/relationships/image" Target="../media/image550.png"/><Relationship Id="rId32" Type="http://schemas.openxmlformats.org/officeDocument/2006/relationships/image" Target="../media/image551.png"/><Relationship Id="rId33" Type="http://schemas.openxmlformats.org/officeDocument/2006/relationships/image" Target="../media/image552.png"/><Relationship Id="rId34" Type="http://schemas.openxmlformats.org/officeDocument/2006/relationships/image" Target="../media/image553.png"/><Relationship Id="rId35" Type="http://schemas.openxmlformats.org/officeDocument/2006/relationships/image" Target="../media/image554.png"/><Relationship Id="rId36" Type="http://schemas.openxmlformats.org/officeDocument/2006/relationships/image" Target="../media/image555.png"/><Relationship Id="rId37" Type="http://schemas.openxmlformats.org/officeDocument/2006/relationships/image" Target="../media/image556.png"/><Relationship Id="rId38" Type="http://schemas.openxmlformats.org/officeDocument/2006/relationships/image" Target="../media/image557.png"/></Relationships>
</file>

<file path=ppt/charts/_rels/chart83.xml.rels><?xml version='1.0' encoding='UTF-8' standalone='yes'?>
<Relationships xmlns="http://schemas.openxmlformats.org/package/2006/relationships"><Relationship Id="rId2" Type="http://schemas.openxmlformats.org/officeDocument/2006/relationships/image" Target="../media/image558.png"/><Relationship Id="rId3" Type="http://schemas.openxmlformats.org/officeDocument/2006/relationships/image" Target="../media/image559.png"/><Relationship Id="rId4" Type="http://schemas.openxmlformats.org/officeDocument/2006/relationships/image" Target="../media/image560.png"/><Relationship Id="rId5" Type="http://schemas.openxmlformats.org/officeDocument/2006/relationships/image" Target="../media/image561.png"/><Relationship Id="rId6" Type="http://schemas.openxmlformats.org/officeDocument/2006/relationships/image" Target="../media/image562.png"/><Relationship Id="rId7" Type="http://schemas.openxmlformats.org/officeDocument/2006/relationships/image" Target="../media/image563.png"/><Relationship Id="rId8" Type="http://schemas.openxmlformats.org/officeDocument/2006/relationships/image" Target="../media/image564.png"/><Relationship Id="rId9" Type="http://schemas.openxmlformats.org/officeDocument/2006/relationships/image" Target="../media/image565.png"/><Relationship Id="rId10" Type="http://schemas.openxmlformats.org/officeDocument/2006/relationships/image" Target="../media/image566.png"/><Relationship Id="rId11" Type="http://schemas.openxmlformats.org/officeDocument/2006/relationships/image" Target="../media/image567.png"/><Relationship Id="rId12" Type="http://schemas.openxmlformats.org/officeDocument/2006/relationships/image" Target="../media/image568.png"/><Relationship Id="rId13" Type="http://schemas.openxmlformats.org/officeDocument/2006/relationships/image" Target="../media/image569.png"/><Relationship Id="rId14" Type="http://schemas.openxmlformats.org/officeDocument/2006/relationships/image" Target="../media/image570.png"/><Relationship Id="rId15" Type="http://schemas.openxmlformats.org/officeDocument/2006/relationships/image" Target="../media/image571.png"/><Relationship Id="rId16" Type="http://schemas.openxmlformats.org/officeDocument/2006/relationships/image" Target="../media/image572.png"/></Relationships>
</file>

<file path=ppt/charts/_rels/chart84.xml.rels><?xml version='1.0' encoding='UTF-8' standalone='yes'?>
<Relationships xmlns="http://schemas.openxmlformats.org/package/2006/relationships"><Relationship Id="rId2" Type="http://schemas.openxmlformats.org/officeDocument/2006/relationships/image" Target="../media/image583.png"/><Relationship Id="rId3" Type="http://schemas.openxmlformats.org/officeDocument/2006/relationships/image" Target="../media/image584.png"/><Relationship Id="rId4" Type="http://schemas.openxmlformats.org/officeDocument/2006/relationships/image" Target="../media/image585.png"/><Relationship Id="rId5" Type="http://schemas.openxmlformats.org/officeDocument/2006/relationships/image" Target="../media/image586.png"/><Relationship Id="rId6" Type="http://schemas.openxmlformats.org/officeDocument/2006/relationships/image" Target="../media/image587.png"/><Relationship Id="rId7" Type="http://schemas.openxmlformats.org/officeDocument/2006/relationships/image" Target="../media/image588.png"/><Relationship Id="rId8" Type="http://schemas.openxmlformats.org/officeDocument/2006/relationships/image" Target="../media/image589.png"/><Relationship Id="rId9" Type="http://schemas.openxmlformats.org/officeDocument/2006/relationships/image" Target="../media/image590.png"/><Relationship Id="rId10" Type="http://schemas.openxmlformats.org/officeDocument/2006/relationships/image" Target="../media/image591.png"/><Relationship Id="rId11" Type="http://schemas.openxmlformats.org/officeDocument/2006/relationships/image" Target="../media/image592.png"/><Relationship Id="rId12" Type="http://schemas.openxmlformats.org/officeDocument/2006/relationships/image" Target="../media/image593.png"/><Relationship Id="rId13" Type="http://schemas.openxmlformats.org/officeDocument/2006/relationships/image" Target="../media/image594.png"/><Relationship Id="rId14" Type="http://schemas.openxmlformats.org/officeDocument/2006/relationships/image" Target="../media/image595.png"/><Relationship Id="rId15" Type="http://schemas.openxmlformats.org/officeDocument/2006/relationships/image" Target="../media/image596.png"/><Relationship Id="rId16" Type="http://schemas.openxmlformats.org/officeDocument/2006/relationships/image" Target="../media/image597.png"/><Relationship Id="rId17" Type="http://schemas.openxmlformats.org/officeDocument/2006/relationships/image" Target="../media/image598.png"/><Relationship Id="rId18" Type="http://schemas.openxmlformats.org/officeDocument/2006/relationships/image" Target="../media/image599.png"/><Relationship Id="rId19" Type="http://schemas.openxmlformats.org/officeDocument/2006/relationships/image" Target="../media/image600.png"/><Relationship Id="rId20" Type="http://schemas.openxmlformats.org/officeDocument/2006/relationships/image" Target="../media/image601.png"/><Relationship Id="rId21" Type="http://schemas.openxmlformats.org/officeDocument/2006/relationships/image" Target="../media/image602.png"/><Relationship Id="rId22" Type="http://schemas.openxmlformats.org/officeDocument/2006/relationships/image" Target="../media/image603.png"/><Relationship Id="rId23" Type="http://schemas.openxmlformats.org/officeDocument/2006/relationships/image" Target="../media/image604.png"/><Relationship Id="rId24" Type="http://schemas.openxmlformats.org/officeDocument/2006/relationships/image" Target="../media/image605.png"/><Relationship Id="rId25" Type="http://schemas.openxmlformats.org/officeDocument/2006/relationships/image" Target="../media/image606.png"/><Relationship Id="rId26" Type="http://schemas.openxmlformats.org/officeDocument/2006/relationships/image" Target="../media/image607.png"/><Relationship Id="rId27" Type="http://schemas.openxmlformats.org/officeDocument/2006/relationships/image" Target="../media/image608.png"/><Relationship Id="rId28" Type="http://schemas.openxmlformats.org/officeDocument/2006/relationships/image" Target="../media/image609.png"/><Relationship Id="rId29" Type="http://schemas.openxmlformats.org/officeDocument/2006/relationships/image" Target="../media/image610.png"/><Relationship Id="rId30" Type="http://schemas.openxmlformats.org/officeDocument/2006/relationships/image" Target="../media/image611.png"/><Relationship Id="rId31" Type="http://schemas.openxmlformats.org/officeDocument/2006/relationships/image" Target="../media/image612.png"/><Relationship Id="rId32" Type="http://schemas.openxmlformats.org/officeDocument/2006/relationships/image" Target="../media/image613.png"/><Relationship Id="rId33" Type="http://schemas.openxmlformats.org/officeDocument/2006/relationships/image" Target="../media/image614.png"/></Relationships>
</file>

<file path=ppt/charts/_rels/chart90.xml.rels><?xml version='1.0' encoding='UTF-8' standalone='yes'?>
<Relationships xmlns="http://schemas.openxmlformats.org/package/2006/relationships"><Relationship Id="rId2" Type="http://schemas.openxmlformats.org/officeDocument/2006/relationships/image" Target="../media/image615.png"/><Relationship Id="rId3" Type="http://schemas.openxmlformats.org/officeDocument/2006/relationships/image" Target="../media/image616.png"/><Relationship Id="rId4" Type="http://schemas.openxmlformats.org/officeDocument/2006/relationships/image" Target="../media/image617.png"/><Relationship Id="rId5" Type="http://schemas.openxmlformats.org/officeDocument/2006/relationships/image" Target="../media/image618.png"/><Relationship Id="rId6" Type="http://schemas.openxmlformats.org/officeDocument/2006/relationships/image" Target="../media/image619.png"/><Relationship Id="rId7" Type="http://schemas.openxmlformats.org/officeDocument/2006/relationships/image" Target="../media/image620.png"/><Relationship Id="rId8" Type="http://schemas.openxmlformats.org/officeDocument/2006/relationships/image" Target="../media/image621.png"/><Relationship Id="rId9" Type="http://schemas.openxmlformats.org/officeDocument/2006/relationships/image" Target="../media/image622.png"/><Relationship Id="rId10" Type="http://schemas.openxmlformats.org/officeDocument/2006/relationships/image" Target="../media/image623.png"/><Relationship Id="rId11" Type="http://schemas.openxmlformats.org/officeDocument/2006/relationships/image" Target="../media/image624.png"/><Relationship Id="rId12" Type="http://schemas.openxmlformats.org/officeDocument/2006/relationships/image" Target="../media/image625.png"/><Relationship Id="rId13" Type="http://schemas.openxmlformats.org/officeDocument/2006/relationships/image" Target="../media/image626.png"/></Relationships>
</file>

<file path=ppt/charts/_rels/chart91.xml.rels><?xml version='1.0' encoding='UTF-8' standalone='yes'?>
<Relationships xmlns="http://schemas.openxmlformats.org/package/2006/relationships"><Relationship Id="rId2" Type="http://schemas.openxmlformats.org/officeDocument/2006/relationships/image" Target="../media/image632.png"/><Relationship Id="rId3" Type="http://schemas.openxmlformats.org/officeDocument/2006/relationships/image" Target="../media/image633.png"/><Relationship Id="rId4" Type="http://schemas.openxmlformats.org/officeDocument/2006/relationships/image" Target="../media/image634.png"/><Relationship Id="rId5" Type="http://schemas.openxmlformats.org/officeDocument/2006/relationships/image" Target="../media/image635.png"/><Relationship Id="rId6" Type="http://schemas.openxmlformats.org/officeDocument/2006/relationships/image" Target="../media/image636.png"/><Relationship Id="rId7" Type="http://schemas.openxmlformats.org/officeDocument/2006/relationships/image" Target="../media/image637.png"/><Relationship Id="rId8" Type="http://schemas.openxmlformats.org/officeDocument/2006/relationships/image" Target="../media/image638.png"/><Relationship Id="rId9" Type="http://schemas.openxmlformats.org/officeDocument/2006/relationships/image" Target="../media/image639.png"/><Relationship Id="rId10" Type="http://schemas.openxmlformats.org/officeDocument/2006/relationships/image" Target="../media/image640.png"/><Relationship Id="rId11" Type="http://schemas.openxmlformats.org/officeDocument/2006/relationships/image" Target="../media/image641.png"/><Relationship Id="rId12" Type="http://schemas.openxmlformats.org/officeDocument/2006/relationships/image" Target="../media/image642.png"/><Relationship Id="rId13" Type="http://schemas.openxmlformats.org/officeDocument/2006/relationships/image" Target="../media/image643.png"/><Relationship Id="rId14" Type="http://schemas.openxmlformats.org/officeDocument/2006/relationships/image" Target="../media/image644.png"/><Relationship Id="rId15" Type="http://schemas.openxmlformats.org/officeDocument/2006/relationships/image" Target="../media/image645.png"/><Relationship Id="rId16" Type="http://schemas.openxmlformats.org/officeDocument/2006/relationships/image" Target="../media/image646.png"/><Relationship Id="rId17" Type="http://schemas.openxmlformats.org/officeDocument/2006/relationships/image" Target="../media/image647.png"/></Relationships>
</file>

<file path=ppt/charts/_rels/chart95.xml.rels><?xml version='1.0' encoding='UTF-8' standalone='yes'?>
<Relationships xmlns="http://schemas.openxmlformats.org/package/2006/relationships"><Relationship Id="rId2" Type="http://schemas.openxmlformats.org/officeDocument/2006/relationships/image" Target="../media/image648.png"/><Relationship Id="rId3" Type="http://schemas.openxmlformats.org/officeDocument/2006/relationships/image" Target="../media/image649.png"/><Relationship Id="rId4" Type="http://schemas.openxmlformats.org/officeDocument/2006/relationships/image" Target="../media/image650.png"/><Relationship Id="rId5" Type="http://schemas.openxmlformats.org/officeDocument/2006/relationships/image" Target="../media/image651.png"/><Relationship Id="rId6" Type="http://schemas.openxmlformats.org/officeDocument/2006/relationships/image" Target="../media/image652.png"/><Relationship Id="rId7" Type="http://schemas.openxmlformats.org/officeDocument/2006/relationships/image" Target="../media/image653.png"/></Relationships>
</file>

<file path=ppt/charts/_rels/chart96.xml.rels><?xml version='1.0' encoding='UTF-8' standalone='yes'?>
<Relationships xmlns="http://schemas.openxmlformats.org/package/2006/relationships"><Relationship Id="rId2" Type="http://schemas.openxmlformats.org/officeDocument/2006/relationships/image" Target="../media/image663.png"/><Relationship Id="rId3" Type="http://schemas.openxmlformats.org/officeDocument/2006/relationships/image" Target="../media/image664.png"/><Relationship Id="rId4" Type="http://schemas.openxmlformats.org/officeDocument/2006/relationships/image" Target="../media/image665.png"/><Relationship Id="rId5" Type="http://schemas.openxmlformats.org/officeDocument/2006/relationships/image" Target="../media/image666.png"/><Relationship Id="rId6" Type="http://schemas.openxmlformats.org/officeDocument/2006/relationships/image" Target="../media/image667.png"/><Relationship Id="rId7" Type="http://schemas.openxmlformats.org/officeDocument/2006/relationships/image" Target="../media/image668.png"/><Relationship Id="rId8" Type="http://schemas.openxmlformats.org/officeDocument/2006/relationships/image" Target="../media/image669.png"/><Relationship Id="rId9" Type="http://schemas.openxmlformats.org/officeDocument/2006/relationships/image" Target="../media/image670.png"/><Relationship Id="rId10" Type="http://schemas.openxmlformats.org/officeDocument/2006/relationships/image" Target="../media/image671.png"/><Relationship Id="rId11" Type="http://schemas.openxmlformats.org/officeDocument/2006/relationships/image" Target="../media/image672.png"/><Relationship Id="rId12" Type="http://schemas.openxmlformats.org/officeDocument/2006/relationships/image" Target="../media/image673.png"/><Relationship Id="rId13" Type="http://schemas.openxmlformats.org/officeDocument/2006/relationships/image" Target="../media/image674.png"/><Relationship Id="rId14" Type="http://schemas.openxmlformats.org/officeDocument/2006/relationships/image" Target="../media/image675.png"/><Relationship Id="rId15" Type="http://schemas.openxmlformats.org/officeDocument/2006/relationships/image" Target="../media/image676.png"/><Relationship Id="rId16" Type="http://schemas.openxmlformats.org/officeDocument/2006/relationships/image" Target="../media/image677.png"/><Relationship Id="rId17" Type="http://schemas.openxmlformats.org/officeDocument/2006/relationships/image" Target="../media/image678.png"/><Relationship Id="rId18" Type="http://schemas.openxmlformats.org/officeDocument/2006/relationships/image" Target="../media/image679.png"/><Relationship Id="rId19" Type="http://schemas.openxmlformats.org/officeDocument/2006/relationships/image" Target="../media/image680.png"/><Relationship Id="rId20" Type="http://schemas.openxmlformats.org/officeDocument/2006/relationships/image" Target="../media/image681.png"/><Relationship Id="rId21" Type="http://schemas.openxmlformats.org/officeDocument/2006/relationships/image" Target="../media/image682.png"/><Relationship Id="rId22" Type="http://schemas.openxmlformats.org/officeDocument/2006/relationships/image" Target="../media/image683.png"/><Relationship Id="rId23" Type="http://schemas.openxmlformats.org/officeDocument/2006/relationships/image" Target="../media/image684.png"/><Relationship Id="rId24" Type="http://schemas.openxmlformats.org/officeDocument/2006/relationships/image" Target="../media/image685.png"/><Relationship Id="rId25" Type="http://schemas.openxmlformats.org/officeDocument/2006/relationships/image" Target="../media/image686.png"/><Relationship Id="rId26" Type="http://schemas.openxmlformats.org/officeDocument/2006/relationships/image" Target="../media/image687.png"/><Relationship Id="rId27" Type="http://schemas.openxmlformats.org/officeDocument/2006/relationships/image" Target="../media/image688.png"/><Relationship Id="rId28" Type="http://schemas.openxmlformats.org/officeDocument/2006/relationships/image" Target="../media/image689.png"/><Relationship Id="rId29" Type="http://schemas.openxmlformats.org/officeDocument/2006/relationships/image" Target="../media/image690.png"/><Relationship Id="rId30" Type="http://schemas.openxmlformats.org/officeDocument/2006/relationships/image" Target="../media/image691.png"/><Relationship Id="rId31" Type="http://schemas.openxmlformats.org/officeDocument/2006/relationships/image" Target="../media/image692.png"/><Relationship Id="rId32" Type="http://schemas.openxmlformats.org/officeDocument/2006/relationships/image" Target="../media/image693.png"/></Relationships>
</file>

<file path=ppt/charts/_rels/chart102.xml.rels><?xml version='1.0' encoding='UTF-8' standalone='yes'?>
<Relationships xmlns="http://schemas.openxmlformats.org/package/2006/relationships"><Relationship Id="rId2" Type="http://schemas.openxmlformats.org/officeDocument/2006/relationships/image" Target="../media/image694.png"/><Relationship Id="rId3" Type="http://schemas.openxmlformats.org/officeDocument/2006/relationships/image" Target="../media/image695.png"/><Relationship Id="rId4" Type="http://schemas.openxmlformats.org/officeDocument/2006/relationships/image" Target="../media/image696.png"/><Relationship Id="rId5" Type="http://schemas.openxmlformats.org/officeDocument/2006/relationships/image" Target="../media/image697.png"/><Relationship Id="rId6" Type="http://schemas.openxmlformats.org/officeDocument/2006/relationships/image" Target="../media/image698.png"/><Relationship Id="rId7" Type="http://schemas.openxmlformats.org/officeDocument/2006/relationships/image" Target="../media/image699.png"/><Relationship Id="rId8" Type="http://schemas.openxmlformats.org/officeDocument/2006/relationships/image" Target="../media/image700.png"/><Relationship Id="rId9" Type="http://schemas.openxmlformats.org/officeDocument/2006/relationships/image" Target="../media/image701.png"/><Relationship Id="rId10" Type="http://schemas.openxmlformats.org/officeDocument/2006/relationships/image" Target="../media/image702.png"/><Relationship Id="rId11" Type="http://schemas.openxmlformats.org/officeDocument/2006/relationships/image" Target="../media/image703.png"/><Relationship Id="rId12" Type="http://schemas.openxmlformats.org/officeDocument/2006/relationships/image" Target="../media/image704.png"/><Relationship Id="rId13" Type="http://schemas.openxmlformats.org/officeDocument/2006/relationships/image" Target="../media/image705.png"/></Relationships>
</file>

<file path=ppt/charts/_rels/chart103.xml.rels><?xml version='1.0' encoding='UTF-8' standalone='yes'?>
<Relationships xmlns="http://schemas.openxmlformats.org/package/2006/relationships"><Relationship Id="rId2" Type="http://schemas.openxmlformats.org/officeDocument/2006/relationships/image" Target="../media/image716.png"/><Relationship Id="rId3" Type="http://schemas.openxmlformats.org/officeDocument/2006/relationships/image" Target="../media/image717.png"/><Relationship Id="rId4" Type="http://schemas.openxmlformats.org/officeDocument/2006/relationships/image" Target="../media/image718.png"/><Relationship Id="rId5" Type="http://schemas.openxmlformats.org/officeDocument/2006/relationships/image" Target="../media/image719.png"/><Relationship Id="rId6" Type="http://schemas.openxmlformats.org/officeDocument/2006/relationships/image" Target="../media/image720.png"/><Relationship Id="rId7" Type="http://schemas.openxmlformats.org/officeDocument/2006/relationships/image" Target="../media/image721.png"/><Relationship Id="rId8" Type="http://schemas.openxmlformats.org/officeDocument/2006/relationships/image" Target="../media/image722.png"/><Relationship Id="rId9" Type="http://schemas.openxmlformats.org/officeDocument/2006/relationships/image" Target="../media/image723.png"/><Relationship Id="rId10" Type="http://schemas.openxmlformats.org/officeDocument/2006/relationships/image" Target="../media/image724.png"/><Relationship Id="rId11" Type="http://schemas.openxmlformats.org/officeDocument/2006/relationships/image" Target="../media/image725.png"/><Relationship Id="rId12" Type="http://schemas.openxmlformats.org/officeDocument/2006/relationships/image" Target="../media/image726.png"/><Relationship Id="rId13" Type="http://schemas.openxmlformats.org/officeDocument/2006/relationships/image" Target="../media/image727.png"/><Relationship Id="rId14" Type="http://schemas.openxmlformats.org/officeDocument/2006/relationships/image" Target="../media/image728.png"/><Relationship Id="rId15" Type="http://schemas.openxmlformats.org/officeDocument/2006/relationships/image" Target="../media/image729.png"/><Relationship Id="rId16" Type="http://schemas.openxmlformats.org/officeDocument/2006/relationships/image" Target="../media/image730.png"/><Relationship Id="rId17" Type="http://schemas.openxmlformats.org/officeDocument/2006/relationships/image" Target="../media/image731.png"/><Relationship Id="rId18" Type="http://schemas.openxmlformats.org/officeDocument/2006/relationships/image" Target="../media/image732.png"/><Relationship Id="rId19" Type="http://schemas.openxmlformats.org/officeDocument/2006/relationships/image" Target="../media/image733.png"/><Relationship Id="rId20" Type="http://schemas.openxmlformats.org/officeDocument/2006/relationships/image" Target="../media/image734.png"/><Relationship Id="rId21" Type="http://schemas.openxmlformats.org/officeDocument/2006/relationships/image" Target="../media/image735.png"/><Relationship Id="rId22" Type="http://schemas.openxmlformats.org/officeDocument/2006/relationships/image" Target="../media/image736.png"/><Relationship Id="rId23" Type="http://schemas.openxmlformats.org/officeDocument/2006/relationships/image" Target="../media/image737.png"/><Relationship Id="rId24" Type="http://schemas.openxmlformats.org/officeDocument/2006/relationships/image" Target="../media/image738.png"/><Relationship Id="rId25" Type="http://schemas.openxmlformats.org/officeDocument/2006/relationships/image" Target="../media/image739.png"/><Relationship Id="rId26" Type="http://schemas.openxmlformats.org/officeDocument/2006/relationships/image" Target="../media/image740.png"/><Relationship Id="rId27" Type="http://schemas.openxmlformats.org/officeDocument/2006/relationships/image" Target="../media/image741.png"/><Relationship Id="rId28" Type="http://schemas.openxmlformats.org/officeDocument/2006/relationships/image" Target="../media/image742.png"/><Relationship Id="rId29" Type="http://schemas.openxmlformats.org/officeDocument/2006/relationships/image" Target="../media/image743.png"/><Relationship Id="rId30" Type="http://schemas.openxmlformats.org/officeDocument/2006/relationships/image" Target="../media/image744.png"/><Relationship Id="rId31" Type="http://schemas.openxmlformats.org/officeDocument/2006/relationships/image" Target="../media/image745.png"/><Relationship Id="rId32" Type="http://schemas.openxmlformats.org/officeDocument/2006/relationships/image" Target="../media/image746.png"/><Relationship Id="rId33" Type="http://schemas.openxmlformats.org/officeDocument/2006/relationships/image" Target="../media/image747.png"/><Relationship Id="rId34" Type="http://schemas.openxmlformats.org/officeDocument/2006/relationships/image" Target="../media/image748.png"/><Relationship Id="rId35" Type="http://schemas.openxmlformats.org/officeDocument/2006/relationships/image" Target="../media/image749.png"/><Relationship Id="rId36" Type="http://schemas.openxmlformats.org/officeDocument/2006/relationships/image" Target="../media/image750.png"/></Relationships>
</file>

<file path=ppt/charts/_rels/chart110.xml.rels><?xml version='1.0' encoding='UTF-8' standalone='yes'?>
<Relationships xmlns="http://schemas.openxmlformats.org/package/2006/relationships"><Relationship Id="rId2" Type="http://schemas.openxmlformats.org/officeDocument/2006/relationships/image" Target="../media/image751.png"/><Relationship Id="rId3" Type="http://schemas.openxmlformats.org/officeDocument/2006/relationships/image" Target="../media/image752.png"/><Relationship Id="rId4" Type="http://schemas.openxmlformats.org/officeDocument/2006/relationships/image" Target="../media/image753.png"/><Relationship Id="rId5" Type="http://schemas.openxmlformats.org/officeDocument/2006/relationships/image" Target="../media/image754.png"/><Relationship Id="rId6" Type="http://schemas.openxmlformats.org/officeDocument/2006/relationships/image" Target="../media/image755.png"/><Relationship Id="rId7" Type="http://schemas.openxmlformats.org/officeDocument/2006/relationships/image" Target="../media/image756.png"/><Relationship Id="rId8" Type="http://schemas.openxmlformats.org/officeDocument/2006/relationships/image" Target="../media/image757.png"/><Relationship Id="rId9" Type="http://schemas.openxmlformats.org/officeDocument/2006/relationships/image" Target="../media/image758.png"/><Relationship Id="rId10" Type="http://schemas.openxmlformats.org/officeDocument/2006/relationships/image" Target="../media/image759.png"/><Relationship Id="rId11" Type="http://schemas.openxmlformats.org/officeDocument/2006/relationships/image" Target="../media/image760.png"/><Relationship Id="rId12" Type="http://schemas.openxmlformats.org/officeDocument/2006/relationships/image" Target="../media/image761.png"/><Relationship Id="rId13" Type="http://schemas.openxmlformats.org/officeDocument/2006/relationships/image" Target="../media/image762.png"/><Relationship Id="rId14" Type="http://schemas.openxmlformats.org/officeDocument/2006/relationships/image" Target="../media/image763.png"/><Relationship Id="rId15" Type="http://schemas.openxmlformats.org/officeDocument/2006/relationships/image" Target="../media/image764.png"/></Relationships>
</file>

<file path=ppt/charts/_rels/chart140.xml.rels><?xml version='1.0' encoding='UTF-8' standalone='yes'?>
<Relationships xmlns="http://schemas.openxmlformats.org/package/2006/relationships"><Relationship Id="rId2" Type="http://schemas.openxmlformats.org/officeDocument/2006/relationships/image" Target="../media/image765.png"/><Relationship Id="rId3" Type="http://schemas.openxmlformats.org/officeDocument/2006/relationships/image" Target="../media/image766.png"/><Relationship Id="rId4" Type="http://schemas.openxmlformats.org/officeDocument/2006/relationships/image" Target="../media/image767.png"/><Relationship Id="rId5" Type="http://schemas.openxmlformats.org/officeDocument/2006/relationships/image" Target="../media/image768.png"/><Relationship Id="rId6" Type="http://schemas.openxmlformats.org/officeDocument/2006/relationships/image" Target="../media/image769.png"/><Relationship Id="rId7" Type="http://schemas.openxmlformats.org/officeDocument/2006/relationships/image" Target="../media/image770.png"/><Relationship Id="rId8" Type="http://schemas.openxmlformats.org/officeDocument/2006/relationships/image" Target="../media/image771.png"/><Relationship Id="rId9" Type="http://schemas.openxmlformats.org/officeDocument/2006/relationships/image" Target="../media/image772.png"/><Relationship Id="rId10" Type="http://schemas.openxmlformats.org/officeDocument/2006/relationships/image" Target="../media/image773.png"/><Relationship Id="rId11" Type="http://schemas.openxmlformats.org/officeDocument/2006/relationships/image" Target="../media/image774.png"/></Relationships>
</file>

<file path=ppt/charts/_rels/chart141.xml.rels><?xml version='1.0' encoding='UTF-8' standalone='yes'?>
<Relationships xmlns="http://schemas.openxmlformats.org/package/2006/relationships"><Relationship Id="rId2" Type="http://schemas.openxmlformats.org/officeDocument/2006/relationships/image" Target="../media/image775.png"/><Relationship Id="rId3" Type="http://schemas.openxmlformats.org/officeDocument/2006/relationships/image" Target="../media/image776.png"/><Relationship Id="rId4" Type="http://schemas.openxmlformats.org/officeDocument/2006/relationships/image" Target="../media/image777.png"/><Relationship Id="rId5" Type="http://schemas.openxmlformats.org/officeDocument/2006/relationships/image" Target="../media/image778.png"/><Relationship Id="rId6" Type="http://schemas.openxmlformats.org/officeDocument/2006/relationships/image" Target="../media/image779.png"/><Relationship Id="rId7" Type="http://schemas.openxmlformats.org/officeDocument/2006/relationships/image" Target="../media/image780.png"/><Relationship Id="rId8" Type="http://schemas.openxmlformats.org/officeDocument/2006/relationships/image" Target="../media/image781.png"/><Relationship Id="rId9" Type="http://schemas.openxmlformats.org/officeDocument/2006/relationships/image" Target="../media/image782.png"/><Relationship Id="rId10" Type="http://schemas.openxmlformats.org/officeDocument/2006/relationships/image" Target="../media/image783.png"/><Relationship Id="rId11" Type="http://schemas.openxmlformats.org/officeDocument/2006/relationships/image" Target="../media/image784.png"/><Relationship Id="rId12" Type="http://schemas.openxmlformats.org/officeDocument/2006/relationships/image" Target="../media/image785.png"/></Relationships>
</file>

<file path=ppt/charts/_rels/chart142.xml.rels><?xml version='1.0' encoding='UTF-8' standalone='yes'?>
<Relationships xmlns="http://schemas.openxmlformats.org/package/2006/relationships"><Relationship Id="rId2" Type="http://schemas.openxmlformats.org/officeDocument/2006/relationships/image" Target="../media/image786.png"/><Relationship Id="rId3" Type="http://schemas.openxmlformats.org/officeDocument/2006/relationships/image" Target="../media/image787.png"/><Relationship Id="rId4" Type="http://schemas.openxmlformats.org/officeDocument/2006/relationships/image" Target="../media/image788.png"/><Relationship Id="rId5" Type="http://schemas.openxmlformats.org/officeDocument/2006/relationships/image" Target="../media/image789.png"/><Relationship Id="rId6" Type="http://schemas.openxmlformats.org/officeDocument/2006/relationships/image" Target="../media/image790.png"/><Relationship Id="rId7" Type="http://schemas.openxmlformats.org/officeDocument/2006/relationships/image" Target="../media/image791.png"/><Relationship Id="rId8" Type="http://schemas.openxmlformats.org/officeDocument/2006/relationships/image" Target="../media/image792.png"/><Relationship Id="rId9" Type="http://schemas.openxmlformats.org/officeDocument/2006/relationships/image" Target="../media/image793.png"/><Relationship Id="rId10" Type="http://schemas.openxmlformats.org/officeDocument/2006/relationships/image" Target="../media/image794.png"/><Relationship Id="rId11" Type="http://schemas.openxmlformats.org/officeDocument/2006/relationships/image" Target="../media/image795.png"/></Relationships>
</file>

<file path=ppt/charts/_rels/chart143.xml.rels><?xml version='1.0' encoding='UTF-8' standalone='yes'?>
<Relationships xmlns="http://schemas.openxmlformats.org/package/2006/relationships"><Relationship Id="rId2" Type="http://schemas.openxmlformats.org/officeDocument/2006/relationships/image" Target="../media/image796.png"/><Relationship Id="rId3" Type="http://schemas.openxmlformats.org/officeDocument/2006/relationships/image" Target="../media/image797.png"/><Relationship Id="rId4" Type="http://schemas.openxmlformats.org/officeDocument/2006/relationships/image" Target="../media/image798.png"/><Relationship Id="rId5" Type="http://schemas.openxmlformats.org/officeDocument/2006/relationships/image" Target="../media/image799.png"/><Relationship Id="rId6" Type="http://schemas.openxmlformats.org/officeDocument/2006/relationships/image" Target="../media/image800.png"/><Relationship Id="rId7" Type="http://schemas.openxmlformats.org/officeDocument/2006/relationships/image" Target="../media/image801.png"/><Relationship Id="rId8" Type="http://schemas.openxmlformats.org/officeDocument/2006/relationships/image" Target="../media/image802.png"/><Relationship Id="rId9" Type="http://schemas.openxmlformats.org/officeDocument/2006/relationships/image" Target="../media/image803.png"/><Relationship Id="rId10" Type="http://schemas.openxmlformats.org/officeDocument/2006/relationships/image" Target="../media/image804.png"/><Relationship Id="rId11" Type="http://schemas.openxmlformats.org/officeDocument/2006/relationships/image" Target="../media/image805.png"/><Relationship Id="rId12" Type="http://schemas.openxmlformats.org/officeDocument/2006/relationships/image" Target="../media/image806.png"/></Relationships>
</file>

<file path=ppt/charts/_rels/chart144.xml.rels><?xml version='1.0' encoding='UTF-8' standalone='yes'?>
<Relationships xmlns="http://schemas.openxmlformats.org/package/2006/relationships"><Relationship Id="rId2" Type="http://schemas.openxmlformats.org/officeDocument/2006/relationships/image" Target="../media/image807.png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Relationship Id="rId9" Type="http://schemas.openxmlformats.org/officeDocument/2006/relationships/image" Target="../media/image814.png"/><Relationship Id="rId10" Type="http://schemas.openxmlformats.org/officeDocument/2006/relationships/image" Target="../media/image815.png"/><Relationship Id="rId11" Type="http://schemas.openxmlformats.org/officeDocument/2006/relationships/image" Target="../media/image816.png"/></Relationships>
</file>

<file path=ppt/charts/_rels/chart145.xml.rels><?xml version='1.0' encoding='UTF-8' standalone='yes'?>
<Relationships xmlns="http://schemas.openxmlformats.org/package/2006/relationships"><Relationship Id="rId2" Type="http://schemas.openxmlformats.org/officeDocument/2006/relationships/image" Target="../media/image817.png"/><Relationship Id="rId3" Type="http://schemas.openxmlformats.org/officeDocument/2006/relationships/image" Target="../media/image818.png"/><Relationship Id="rId4" Type="http://schemas.openxmlformats.org/officeDocument/2006/relationships/image" Target="../media/image819.png"/><Relationship Id="rId5" Type="http://schemas.openxmlformats.org/officeDocument/2006/relationships/image" Target="../media/image820.png"/><Relationship Id="rId6" Type="http://schemas.openxmlformats.org/officeDocument/2006/relationships/image" Target="../media/image821.png"/><Relationship Id="rId7" Type="http://schemas.openxmlformats.org/officeDocument/2006/relationships/image" Target="../media/image822.png"/><Relationship Id="rId8" Type="http://schemas.openxmlformats.org/officeDocument/2006/relationships/image" Target="../media/image823.png"/><Relationship Id="rId9" Type="http://schemas.openxmlformats.org/officeDocument/2006/relationships/image" Target="../media/image824.png"/><Relationship Id="rId10" Type="http://schemas.openxmlformats.org/officeDocument/2006/relationships/image" Target="../media/image825.png"/><Relationship Id="rId11" Type="http://schemas.openxmlformats.org/officeDocument/2006/relationships/image" Target="../media/image826.png"/><Relationship Id="rId12" Type="http://schemas.openxmlformats.org/officeDocument/2006/relationships/image" Target="../media/image827.png"/></Relationships>
</file>

<file path=ppt/charts/_rels/chart146.xml.rels><?xml version='1.0' encoding='UTF-8' standalone='yes'?>
<Relationships xmlns="http://schemas.openxmlformats.org/package/2006/relationships"><Relationship Id="rId2" Type="http://schemas.openxmlformats.org/officeDocument/2006/relationships/image" Target="../media/image828.png"/><Relationship Id="rId3" Type="http://schemas.openxmlformats.org/officeDocument/2006/relationships/image" Target="../media/image829.png"/><Relationship Id="rId4" Type="http://schemas.openxmlformats.org/officeDocument/2006/relationships/image" Target="../media/image830.png"/><Relationship Id="rId5" Type="http://schemas.openxmlformats.org/officeDocument/2006/relationships/image" Target="../media/image831.png"/><Relationship Id="rId6" Type="http://schemas.openxmlformats.org/officeDocument/2006/relationships/image" Target="../media/image832.png"/><Relationship Id="rId7" Type="http://schemas.openxmlformats.org/officeDocument/2006/relationships/image" Target="../media/image833.png"/><Relationship Id="rId8" Type="http://schemas.openxmlformats.org/officeDocument/2006/relationships/image" Target="../media/image834.png"/><Relationship Id="rId9" Type="http://schemas.openxmlformats.org/officeDocument/2006/relationships/image" Target="../media/image835.png"/><Relationship Id="rId10" Type="http://schemas.openxmlformats.org/officeDocument/2006/relationships/image" Target="../media/image836.png"/></Relationships>
</file>

<file path=ppt/charts/_rels/chart147.xml.rels><?xml version='1.0' encoding='UTF-8' standalone='yes'?>
<Relationships xmlns="http://schemas.openxmlformats.org/package/2006/relationships"><Relationship Id="rId2" Type="http://schemas.openxmlformats.org/officeDocument/2006/relationships/image" Target="../media/image837.png"/><Relationship Id="rId3" Type="http://schemas.openxmlformats.org/officeDocument/2006/relationships/image" Target="../media/image838.png"/><Relationship Id="rId4" Type="http://schemas.openxmlformats.org/officeDocument/2006/relationships/image" Target="../media/image839.png"/><Relationship Id="rId5" Type="http://schemas.openxmlformats.org/officeDocument/2006/relationships/image" Target="../media/image840.png"/></Relationships>
</file>

<file path=ppt/charts/_rels/chart148.xml.rels><?xml version='1.0' encoding='UTF-8' standalone='yes'?>
<Relationships xmlns="http://schemas.openxmlformats.org/package/2006/relationships"><Relationship Id="rId2" Type="http://schemas.openxmlformats.org/officeDocument/2006/relationships/image" Target="../media/image841.png"/><Relationship Id="rId3" Type="http://schemas.openxmlformats.org/officeDocument/2006/relationships/image" Target="../media/image842.png"/><Relationship Id="rId4" Type="http://schemas.openxmlformats.org/officeDocument/2006/relationships/image" Target="../media/image843.png"/><Relationship Id="rId5" Type="http://schemas.openxmlformats.org/officeDocument/2006/relationships/image" Target="../media/image844.png"/><Relationship Id="rId6" Type="http://schemas.openxmlformats.org/officeDocument/2006/relationships/image" Target="../media/image845.png"/></Relationships>
</file>

<file path=ppt/charts/_rels/chart149.xml.rels><?xml version='1.0' encoding='UTF-8' standalone='yes'?>
<Relationships xmlns="http://schemas.openxmlformats.org/package/2006/relationships"><Relationship Id="rId2" Type="http://schemas.openxmlformats.org/officeDocument/2006/relationships/image" Target="../media/image846.png"/><Relationship Id="rId3" Type="http://schemas.openxmlformats.org/officeDocument/2006/relationships/image" Target="../media/image847.png"/><Relationship Id="rId4" Type="http://schemas.openxmlformats.org/officeDocument/2006/relationships/image" Target="../media/image848.png"/></Relationships>
</file>

<file path=ppt/charts/_rels/chart150.xml.rels><?xml version='1.0' encoding='UTF-8' standalone='yes'?>
<Relationships xmlns="http://schemas.openxmlformats.org/package/2006/relationships"><Relationship Id="rId2" Type="http://schemas.openxmlformats.org/officeDocument/2006/relationships/image" Target="../media/image849.png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Relationship Id="rId7" Type="http://schemas.openxmlformats.org/officeDocument/2006/relationships/image" Target="../media/image854.png"/><Relationship Id="rId8" Type="http://schemas.openxmlformats.org/officeDocument/2006/relationships/image" Target="../media/image855.png"/><Relationship Id="rId9" Type="http://schemas.openxmlformats.org/officeDocument/2006/relationships/image" Target="../media/image856.png"/><Relationship Id="rId10" Type="http://schemas.openxmlformats.org/officeDocument/2006/relationships/image" Target="../media/image857.png"/><Relationship Id="rId11" Type="http://schemas.openxmlformats.org/officeDocument/2006/relationships/image" Target="../media/image858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3.6198398995503034</c:v>
                </c:pt>
                <c:pt idx="1">
                  <c:v>4.553107255971756</c:v>
                </c:pt>
                <c:pt idx="2">
                  <c:v>4.241087899563123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6.010101577882717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2225502.348</c:v>
                </c:pt>
                <c:pt idx="2">
                  <c:v>0.0</c:v>
                </c:pt>
                <c:pt idx="3">
                  <c:v>2658536.587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E72AE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,,&quot;M&quot;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2225502.348</c:v>
                </c:pt>
                <c:pt idx="1">
                  <c:v>433034.2389999996</c:v>
                </c:pt>
                <c:pt idx="2">
                  <c:v>2658536.587</c:v>
                </c:pt>
                <c:pt idx="3">
                  <c:v>1491119.3060000003</c:v>
                </c:pt>
                <c:pt idx="4">
                  <c:v>4149655.893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,,&quot;M&quot;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4.126859335369337</c:v>
                </c:pt>
                <c:pt idx="1">
                  <c:v>4.9939469101035305</c:v>
                </c:pt>
                <c:pt idx="2">
                  <c:v>4.704118403200064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6.59200992133666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8904.563</c:v>
                </c:pt>
                <c:pt idx="2">
                  <c:v>0.0</c:v>
                </c:pt>
                <c:pt idx="3">
                  <c:v>10899.999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E72AE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8904.563</c:v>
                </c:pt>
                <c:pt idx="1">
                  <c:v>1995.4359999999997</c:v>
                </c:pt>
                <c:pt idx="2">
                  <c:v>10899.999</c:v>
                </c:pt>
                <c:pt idx="3">
                  <c:v>6844.718000000001</c:v>
                </c:pt>
                <c:pt idx="4">
                  <c:v>17744.717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MM&quot;;&quot;MMMMMMM&quot;;&quot;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&quot;;&quot;MMMMMMM&quot;;&quot;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&quot;;&quot;MMMMMMMM&quot;;&quot;M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&quot;;&quot;MMMMMMMM&quot;;&quot;MMM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8904.563</c:v>
                </c:pt>
                <c:pt idx="1">
                  <c:v>9270.468</c:v>
                </c:pt>
                <c:pt idx="2">
                  <c:v>9652.224</c:v>
                </c:pt>
                <c:pt idx="3">
                  <c:v>10050.559000000001</c:v>
                </c:pt>
                <c:pt idx="4">
                  <c:v>10466.22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(Units)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MMM&quot;;&quot;MMMMMMMMMMM&quot;;&quot;MMMMMM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MMM&quot;;&quot;MMMMMMMMMMM&quot;;&quot;MMMMMM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MMM&quot;;&quot;MMMMMMMMMMM&quot;;&quot;MMMMMM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MMM&quot;;&quot;MMMMMMMMMMM&quot;;&quot;MMMMMM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MMM&quot;;&quot;MMMMMMMMMMM&quot;;&quot;MMMMMM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,,&quot;M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2225502.348</c:v>
                </c:pt>
                <c:pt idx="1">
                  <c:v>2305239.7980000004</c:v>
                </c:pt>
                <c:pt idx="2">
                  <c:v>2388259.938</c:v>
                </c:pt>
                <c:pt idx="3">
                  <c:v>2474711.164</c:v>
                </c:pt>
                <c:pt idx="4">
                  <c:v>2564749.029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350"/>
          <c:min val="0"/>
        </c:scaling>
        <c:delete val="0"/>
        <c:axPos val="l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3507556"/>
          <c:min val="0"/>
        </c:scaling>
        <c:delete val="0"/>
        <c:axPos val="r"/>
        <c:numFmt formatCode="#,##0,,&quot;M&quot;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MMM&quot;;&quot;MMMMMMMM&quot;;&quot;M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&quot;;&quot;MMMMMMMM&quot;;&quot;M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&quot;;&quot;MMMMMMMM&quot;;&quot;M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&quot;;&quot;MMMMMMMM&quot;;&quot;M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&quot;;&quot;MMMMMMMM&quot;;&quot;MMM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MMM&quot;;&quot;MMMMMMMM&quot;;&quot;MMM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MMM&quot;;&quot;MMMMMMMM&quot;;&quot;MMM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MMM&quot;;&quot;MMMMMMMM&quot;;&quot;MMM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MMM&quot;;&quot;MMMMMMMM&quot;;&quot;MMM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MMM&quot;;&quot;MMMMMMMM&quot;;&quot;MMM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MMM&quot;;&quot;MMMMMMMM&quot;;&quot;MMMM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10899.999</c:v>
                </c:pt>
                <c:pt idx="1">
                  <c:v>11439.934</c:v>
                </c:pt>
                <c:pt idx="2">
                  <c:v>12007.632</c:v>
                </c:pt>
                <c:pt idx="3">
                  <c:v>12604.572</c:v>
                </c:pt>
                <c:pt idx="4">
                  <c:v>13232.323</c:v>
                </c:pt>
                <c:pt idx="5">
                  <c:v>13892.524</c:v>
                </c:pt>
                <c:pt idx="6">
                  <c:v>14586.923</c:v>
                </c:pt>
                <c:pt idx="7">
                  <c:v>15317.345000000001</c:v>
                </c:pt>
                <c:pt idx="8">
                  <c:v>16085.737000000001</c:v>
                </c:pt>
                <c:pt idx="9">
                  <c:v>16894.14</c:v>
                </c:pt>
                <c:pt idx="10">
                  <c:v>17744.717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(Units)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MMM&quot;;&quot;MMMMMMMMMMM&quot;;&quot;MMMMMMM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MMM&quot;;&quot;MMMMMMMMMMM&quot;;&quot;MMMMMMM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MMM&quot;;&quot;MMMMMMMMMMM&quot;;&quot;MMMMMMM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MMM&quot;;&quot;MMMMMMMMMMM&quot;;&quot;MMMMMMM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MMM&quot;;&quot;MMMMMMMMMMM&quot;;&quot;MMMMMMM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MMMMMM&quot;;&quot;MMMMMMMMMMM&quot;;&quot;MMMMMMM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MMMMMM&quot;;&quot;MMMMMMMMMMM&quot;;&quot;MMMMMMM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MMMMMM&quot;;&quot;MMMMMMMMMMM&quot;;&quot;MMMMMMM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MMMMMM&quot;;&quot;MMMMMMMMMMM&quot;;&quot;MMMMMMM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MMMMMM&quot;;&quot;MMMMMMMMMMM&quot;;&quot;MMMMMMM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MMMMMM&quot;;&quot;MMMMMMMMMMM&quot;;&quot;MMMMMMM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,,&quot;M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2658536.587</c:v>
                </c:pt>
                <c:pt idx="1">
                  <c:v>2777384.4790000003</c:v>
                </c:pt>
                <c:pt idx="2">
                  <c:v>2902057.076</c:v>
                </c:pt>
                <c:pt idx="3">
                  <c:v>3032860.343</c:v>
                </c:pt>
                <c:pt idx="4">
                  <c:v>3170117.193</c:v>
                </c:pt>
                <c:pt idx="5">
                  <c:v>3314168.417</c:v>
                </c:pt>
                <c:pt idx="6">
                  <c:v>3465373.738</c:v>
                </c:pt>
                <c:pt idx="7">
                  <c:v>3624112.9009999996</c:v>
                </c:pt>
                <c:pt idx="8">
                  <c:v>3790786.8150000004</c:v>
                </c:pt>
                <c:pt idx="9">
                  <c:v>3965818.808</c:v>
                </c:pt>
                <c:pt idx="10">
                  <c:v>4149655.893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939"/>
          <c:min val="0"/>
        </c:scaling>
        <c:delete val="0"/>
        <c:axPos val="l"/>
        <c:numFmt formatCode="#,##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5803428"/>
          <c:min val="0"/>
        </c:scaling>
        <c:delete val="0"/>
        <c:axPos val="r"/>
        <c:numFmt formatCode="#,##0,,&quot;M&quot;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&quot;;&quot;MMMMM&quot;;&quot;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&quot;;&quot;MMMMM&quot;;&quot;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&quot;;&quot;MMMMM&quot;;&quot;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&quot;;&quot;MMMMM&quot;;&quot;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9"/>
                <c:pt idx="0">
                  <c:v>Turkiye</c:v>
                </c:pt>
                <c:pt idx="1">
                  <c:v>Hungary</c:v>
                </c:pt>
                <c:pt idx="2">
                  <c:v>Russia</c:v>
                </c:pt>
                <c:pt idx="3">
                  <c:v>Brazil</c:v>
                </c:pt>
                <c:pt idx="4">
                  <c:v>Poland</c:v>
                </c:pt>
                <c:pt idx="5">
                  <c:v>France</c:v>
                </c:pt>
                <c:pt idx="6">
                  <c:v>Chile</c:v>
                </c:pt>
                <c:pt idx="7">
                  <c:v>Germany</c:v>
                </c:pt>
                <c:pt idx="8">
                  <c:v>India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110.06599292276161</c:v>
                </c:pt>
                <c:pt idx="1">
                  <c:v>116.34082488153128</c:v>
                </c:pt>
                <c:pt idx="2">
                  <c:v>118.36155088916583</c:v>
                </c:pt>
                <c:pt idx="3">
                  <c:v>118.5729789167459</c:v>
                </c:pt>
                <c:pt idx="4">
                  <c:v>119.26787899803611</c:v>
                </c:pt>
                <c:pt idx="5">
                  <c:v>122.98526572334856</c:v>
                </c:pt>
                <c:pt idx="6">
                  <c:v>126.79162205238082</c:v>
                </c:pt>
                <c:pt idx="7">
                  <c:v>131.054746758804</c:v>
                </c:pt>
                <c:pt idx="8">
                  <c:v>135.42999057944166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Japan</c:v>
                </c:pt>
                <c:pt idx="1">
                  <c:v>Russia</c:v>
                </c:pt>
                <c:pt idx="2">
                  <c:v>Mexico</c:v>
                </c:pt>
                <c:pt idx="3">
                  <c:v>Brazil</c:v>
                </c:pt>
                <c:pt idx="4">
                  <c:v>China</c:v>
                </c:pt>
                <c:pt idx="5">
                  <c:v>Canada</c:v>
                </c:pt>
                <c:pt idx="6">
                  <c:v>India</c:v>
                </c:pt>
                <c:pt idx="7">
                  <c:v>U.S.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3.6518378112874785</c:v>
                </c:pt>
                <c:pt idx="1">
                  <c:v>4.5035018243264355</c:v>
                </c:pt>
                <c:pt idx="2">
                  <c:v>6.55236636483782</c:v>
                </c:pt>
                <c:pt idx="3">
                  <c:v>7.401985005079828</c:v>
                </c:pt>
                <c:pt idx="4">
                  <c:v>9.179384746018755</c:v>
                </c:pt>
                <c:pt idx="5">
                  <c:v>9.191306347463838</c:v>
                </c:pt>
                <c:pt idx="6">
                  <c:v>11.485513354969475</c:v>
                </c:pt>
                <c:pt idx="7">
                  <c:v>16.577600421229924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MMM&quot;;&quot;MMMMMMM&quot;;&quot;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MMM&quot;;&quot;MMMMMMM&quot;;&quot;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Portable Integrated Solar Generators</c:v>
                </c:pt>
                <c:pt idx="1">
                  <c:v>Portable Modular Solar Generators</c:v>
                </c:pt>
                <c:pt idx="2">
                  <c:v>Fixed Residential Solar Power Generator Systems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5311.178</c:v>
                </c:pt>
                <c:pt idx="1">
                  <c:v>8200.073</c:v>
                </c:pt>
                <c:pt idx="2">
                  <c:v>4233.466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Optimistic Scenario</c:v>
                </c:pt>
              </c:strCache>
            </c:strRef>
          </c:tx>
          <c:spPr>
            <a:ln w="28575">
              <a:solidFill>
                <a:srgbClr val="2E5F8A"/>
              </a:solidFill>
            </a:ln>
          </c:spPr>
          <c:marker>
            <c:symbol val="circle"/>
            <c:size val="6"/>
            <c:spPr>
              <a:solidFill>
                <a:srgbClr val="2E5F8A"/>
              </a:solidFill>
              <a:ln>
                <a:solidFill>
                  <a:srgbClr val="2E5F8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0.06455960295002278</c:v>
                </c:pt>
                <c:pt idx="1">
                  <c:v>0.0655835951562981</c:v>
                </c:pt>
                <c:pt idx="2">
                  <c:v>0.06561965121989934</c:v>
                </c:pt>
                <c:pt idx="3">
                  <c:v>0.06428557686665333</c:v>
                </c:pt>
                <c:pt idx="4">
                  <c:v>0.062367394283067173</c:v>
                </c:pt>
                <c:pt idx="5">
                  <c:v>0.06119917782238689</c:v>
                </c:pt>
                <c:pt idx="6">
                  <c:v>0.06068718171924923</c:v>
                </c:pt>
                <c:pt idx="7">
                  <c:v>0.05896370187910979</c:v>
                </c:pt>
                <c:pt idx="8">
                  <c:v>0.05931705130240198</c:v>
                </c:pt>
                <c:pt idx="9">
                  <c:v>0.057629627525863786</c:v>
                </c:pt>
                <c:pt idx="10">
                  <c:v>0.055841246771242116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Likely Scenario</c:v>
                </c:pt>
              </c:strCache>
            </c:strRef>
          </c:tx>
          <c:spPr>
            <a:ln w="28575">
              <a:solidFill>
                <a:srgbClr val="8B1A1A"/>
              </a:solidFill>
            </a:ln>
          </c:spPr>
          <c:marker>
            <c:symbol val="circle"/>
            <c:size val="6"/>
            <c:spPr>
              <a:solidFill>
                <a:srgbClr val="8B1A1A"/>
              </a:solidFill>
              <a:ln>
                <a:solidFill>
                  <a:srgbClr val="8B1A1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0.04355106512244842</c:v>
                </c:pt>
                <c:pt idx="1">
                  <c:v>0.044688455257950975</c:v>
                </c:pt>
                <c:pt idx="2">
                  <c:v>0.04601351476581145</c:v>
                </c:pt>
                <c:pt idx="3">
                  <c:v>0.04734426122434943</c:v>
                </c:pt>
                <c:pt idx="4">
                  <c:v>0.04961904149535454</c:v>
                </c:pt>
                <c:pt idx="5">
                  <c:v>0.052081491138717566</c:v>
                </c:pt>
                <c:pt idx="6">
                  <c:v>0.05321888127422012</c:v>
                </c:pt>
                <c:pt idx="7">
                  <c:v>0.052650186206468844</c:v>
                </c:pt>
                <c:pt idx="8">
                  <c:v>0.0517402740980668</c:v>
                </c:pt>
                <c:pt idx="9">
                  <c:v>0.05062563176527429</c:v>
                </c:pt>
                <c:pt idx="10">
                  <c:v>0.04932900701080139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strCache>
                <c:ptCount val="1"/>
                <c:pt idx="0">
                  <c:v>Conservative Scenario</c:v>
                </c:pt>
              </c:strCache>
            </c:strRef>
          </c:tx>
          <c:spPr>
            <a:ln w="28575">
              <a:solidFill>
                <a:srgbClr val="A08000"/>
              </a:solidFill>
            </a:ln>
          </c:spPr>
          <c:marker>
            <c:symbol val="circle"/>
            <c:size val="6"/>
            <c:spPr>
              <a:solidFill>
                <a:srgbClr val="A08000"/>
              </a:solidFill>
              <a:ln>
                <a:solidFill>
                  <a:srgbClr val="A08000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0.03599985878995993</c:v>
                </c:pt>
                <c:pt idx="1">
                  <c:v>0.037249858789959935</c:v>
                </c:pt>
                <c:pt idx="2">
                  <c:v>0.03744985878995993</c:v>
                </c:pt>
                <c:pt idx="3">
                  <c:v>0.036619858789959936</c:v>
                </c:pt>
                <c:pt idx="4">
                  <c:v>0.035639858789959934</c:v>
                </c:pt>
                <c:pt idx="5">
                  <c:v>0.036959858789959936</c:v>
                </c:pt>
                <c:pt idx="6">
                  <c:v>0.03836985878995994</c:v>
                </c:pt>
                <c:pt idx="7">
                  <c:v>0.038479858789959936</c:v>
                </c:pt>
                <c:pt idx="8">
                  <c:v>0.037659858789959935</c:v>
                </c:pt>
                <c:pt idx="9">
                  <c:v>0.03626985878995993</c:v>
                </c:pt>
                <c:pt idx="10">
                  <c:v>0.034919858789959936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2140495176"/>
        <c:scaling>
          <c:min val="0.0"/>
        </c:scaling>
        <c:delete val="0"/>
        <c:axPos val="l"/>
        <c:numFmt formatCode="0.00%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21.93168165716126</c:v>
                </c:pt>
                <c:pt idx="1">
                  <c:v>25.520202115708297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27.99086394517993</c:v>
                </c:pt>
                <c:pt idx="1">
                  <c:v>23.517177668784594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21.255378871338436</c:v>
                </c:pt>
                <c:pt idx="1">
                  <c:v>21.738692297877236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9.48547133912361</c:v>
                </c:pt>
                <c:pt idx="1">
                  <c:v>10.083008345482588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8.761792150577614</c:v>
                </c:pt>
                <c:pt idx="1">
                  <c:v>8.687066669988099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6.7517964160333</c:v>
                </c:pt>
                <c:pt idx="1">
                  <c:v>6.741032322026322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3.823015620585853</c:v>
                </c:pt>
                <c:pt idx="1">
                  <c:v>3.7128205801328593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39.60093023861745</c:v>
                </c:pt>
                <c:pt idx="1">
                  <c:v>36.79292828395065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14.400340770673465</c:v>
                </c:pt>
                <c:pt idx="1">
                  <c:v>15.899413893160427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15.600359229390756</c:v>
                </c:pt>
                <c:pt idx="1">
                  <c:v>15.307603947698913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9.600230238553232</c:v>
                </c:pt>
                <c:pt idx="1">
                  <c:v>10.450130030250694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8.400202605523175</c:v>
                </c:pt>
                <c:pt idx="1">
                  <c:v>8.340510586897496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7.373092419549764</c:v>
                </c:pt>
                <c:pt idx="1">
                  <c:v>7.89159951099812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5.024844497692156</c:v>
                </c:pt>
                <c:pt idx="1">
                  <c:v>5.317813747043697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675781.745</c:v>
                </c:pt>
                <c:pt idx="1">
                  <c:v>688909.276</c:v>
                </c:pt>
                <c:pt idx="2">
                  <c:v>702303.837</c:v>
                </c:pt>
                <c:pt idx="3">
                  <c:v>715971.13</c:v>
                </c:pt>
                <c:pt idx="4">
                  <c:v>729916.983</c:v>
                </c:pt>
                <c:pt idx="5">
                  <c:v>744147.359</c:v>
                </c:pt>
                <c:pt idx="6">
                  <c:v>764537.754</c:v>
                </c:pt>
                <c:pt idx="7">
                  <c:v>785500.335</c:v>
                </c:pt>
                <c:pt idx="8">
                  <c:v>807051.572</c:v>
                </c:pt>
                <c:pt idx="9">
                  <c:v>829208.418</c:v>
                </c:pt>
                <c:pt idx="10">
                  <c:v>851988.334</c:v>
                </c:pt>
                <c:pt idx="11">
                  <c:v>875409.291</c:v>
                </c:pt>
                <c:pt idx="12">
                  <c:v>899489.792</c:v>
                </c:pt>
                <c:pt idx="13">
                  <c:v>924248.892</c:v>
                </c:pt>
                <c:pt idx="14">
                  <c:v>949706.211</c:v>
                </c:pt>
                <c:pt idx="15">
                  <c:v>975881.949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465061.54</c:v>
                </c:pt>
                <c:pt idx="1">
                  <c:v>483517.996</c:v>
                </c:pt>
                <c:pt idx="2">
                  <c:v>502717.377</c:v>
                </c:pt>
                <c:pt idx="3">
                  <c:v>522689.949</c:v>
                </c:pt>
                <c:pt idx="4">
                  <c:v>543467.228</c:v>
                </c:pt>
                <c:pt idx="5">
                  <c:v>565082.024</c:v>
                </c:pt>
                <c:pt idx="6">
                  <c:v>592087.691</c:v>
                </c:pt>
                <c:pt idx="7">
                  <c:v>620396.463</c:v>
                </c:pt>
                <c:pt idx="8">
                  <c:v>650071.749</c:v>
                </c:pt>
                <c:pt idx="9">
                  <c:v>681180.074</c:v>
                </c:pt>
                <c:pt idx="10">
                  <c:v>713791.217</c:v>
                </c:pt>
                <c:pt idx="11">
                  <c:v>747978.386</c:v>
                </c:pt>
                <c:pt idx="12">
                  <c:v>783818.378</c:v>
                </c:pt>
                <c:pt idx="13">
                  <c:v>821391.76</c:v>
                </c:pt>
                <c:pt idx="14">
                  <c:v>860783.052</c:v>
                </c:pt>
                <c:pt idx="15">
                  <c:v>902080.926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450410.342</c:v>
                </c:pt>
                <c:pt idx="1">
                  <c:v>474211.194</c:v>
                </c:pt>
                <c:pt idx="2">
                  <c:v>499303.191</c:v>
                </c:pt>
                <c:pt idx="3">
                  <c:v>525757.868</c:v>
                </c:pt>
                <c:pt idx="4">
                  <c:v>553650.791</c:v>
                </c:pt>
                <c:pt idx="5">
                  <c:v>583061.781</c:v>
                </c:pt>
                <c:pt idx="6">
                  <c:v>618743.574</c:v>
                </c:pt>
                <c:pt idx="7">
                  <c:v>656650.801</c:v>
                </c:pt>
                <c:pt idx="8">
                  <c:v>696924.458</c:v>
                </c:pt>
                <c:pt idx="9">
                  <c:v>739714.596</c:v>
                </c:pt>
                <c:pt idx="10">
                  <c:v>785180.898</c:v>
                </c:pt>
                <c:pt idx="11">
                  <c:v>833493.309</c:v>
                </c:pt>
                <c:pt idx="12">
                  <c:v>884832.697</c:v>
                </c:pt>
                <c:pt idx="13">
                  <c:v>939391.571</c:v>
                </c:pt>
                <c:pt idx="14">
                  <c:v>997374.83</c:v>
                </c:pt>
                <c:pt idx="15">
                  <c:v>1059000.571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203541.364</c:v>
                </c:pt>
                <c:pt idx="1">
                  <c:v>212440.846</c:v>
                </c:pt>
                <c:pt idx="2">
                  <c:v>221735.753</c:v>
                </c:pt>
                <c:pt idx="3">
                  <c:v>231443.848</c:v>
                </c:pt>
                <c:pt idx="4">
                  <c:v>241583.704</c:v>
                </c:pt>
                <c:pt idx="5">
                  <c:v>252174.726</c:v>
                </c:pt>
                <c:pt idx="6">
                  <c:v>265241.576</c:v>
                </c:pt>
                <c:pt idx="7">
                  <c:v>278992.875</c:v>
                </c:pt>
                <c:pt idx="8">
                  <c:v>293464.761</c:v>
                </c:pt>
                <c:pt idx="9">
                  <c:v>308695.293</c:v>
                </c:pt>
                <c:pt idx="10">
                  <c:v>324724.552</c:v>
                </c:pt>
                <c:pt idx="11">
                  <c:v>341594.745</c:v>
                </c:pt>
                <c:pt idx="12">
                  <c:v>359350.328</c:v>
                </c:pt>
                <c:pt idx="13">
                  <c:v>378038.115</c:v>
                </c:pt>
                <c:pt idx="14">
                  <c:v>397707.414</c:v>
                </c:pt>
                <c:pt idx="15">
                  <c:v>418410.15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195003.22</c:v>
                </c:pt>
                <c:pt idx="1">
                  <c:v>202035.576</c:v>
                </c:pt>
                <c:pt idx="2">
                  <c:v>209334.161</c:v>
                </c:pt>
                <c:pt idx="3">
                  <c:v>216909.569</c:v>
                </c:pt>
                <c:pt idx="4">
                  <c:v>224772.832</c:v>
                </c:pt>
                <c:pt idx="5">
                  <c:v>232935.45</c:v>
                </c:pt>
                <c:pt idx="6">
                  <c:v>243264.779</c:v>
                </c:pt>
                <c:pt idx="7">
                  <c:v>254067.702</c:v>
                </c:pt>
                <c:pt idx="8">
                  <c:v>265366.689</c:v>
                </c:pt>
                <c:pt idx="9">
                  <c:v>277185.318</c:v>
                </c:pt>
                <c:pt idx="10">
                  <c:v>289548.32</c:v>
                </c:pt>
                <c:pt idx="11">
                  <c:v>302481.647</c:v>
                </c:pt>
                <c:pt idx="12">
                  <c:v>316012.53</c:v>
                </c:pt>
                <c:pt idx="13">
                  <c:v>330169.541</c:v>
                </c:pt>
                <c:pt idx="14">
                  <c:v>344982.666</c:v>
                </c:pt>
                <c:pt idx="15">
                  <c:v>360483.374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149560.806</c:v>
                </c:pt>
                <c:pt idx="1">
                  <c:v>155107.299</c:v>
                </c:pt>
                <c:pt idx="2">
                  <c:v>160865.955</c:v>
                </c:pt>
                <c:pt idx="3">
                  <c:v>166845.02</c:v>
                </c:pt>
                <c:pt idx="4">
                  <c:v>173053.059</c:v>
                </c:pt>
                <c:pt idx="5">
                  <c:v>179498.978</c:v>
                </c:pt>
                <c:pt idx="6">
                  <c:v>187612.16</c:v>
                </c:pt>
                <c:pt idx="7">
                  <c:v>196099.234</c:v>
                </c:pt>
                <c:pt idx="8">
                  <c:v>204977.63</c:v>
                </c:pt>
                <c:pt idx="9">
                  <c:v>214265.599</c:v>
                </c:pt>
                <c:pt idx="10">
                  <c:v>223982.247</c:v>
                </c:pt>
                <c:pt idx="11">
                  <c:v>234147.578</c:v>
                </c:pt>
                <c:pt idx="12">
                  <c:v>244782.537</c:v>
                </c:pt>
                <c:pt idx="13">
                  <c:v>255909.049</c:v>
                </c:pt>
                <c:pt idx="14">
                  <c:v>267550.073</c:v>
                </c:pt>
                <c:pt idx="15">
                  <c:v>279729.645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layout>
                <c:manualLayout>
                  <c:x val="0"/>
                  <c:y val="-0.0830"/>
                </c:manualLayout>
              </c:layout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6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7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8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9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86143.331</c:v>
                </c:pt>
                <c:pt idx="1">
                  <c:v>89017.611</c:v>
                </c:pt>
                <c:pt idx="2">
                  <c:v>91999.664</c:v>
                </c:pt>
                <c:pt idx="3">
                  <c:v>95093.78</c:v>
                </c:pt>
                <c:pt idx="4">
                  <c:v>98304.432</c:v>
                </c:pt>
                <c:pt idx="5">
                  <c:v>101636.269</c:v>
                </c:pt>
                <c:pt idx="6">
                  <c:v>105896.945</c:v>
                </c:pt>
                <c:pt idx="7">
                  <c:v>110349.666</c:v>
                </c:pt>
                <c:pt idx="8">
                  <c:v>115003.484</c:v>
                </c:pt>
                <c:pt idx="9">
                  <c:v>119867.895</c:v>
                </c:pt>
                <c:pt idx="10">
                  <c:v>124952.849</c:v>
                </c:pt>
                <c:pt idx="11">
                  <c:v>130268.782</c:v>
                </c:pt>
                <c:pt idx="12">
                  <c:v>135826.639</c:v>
                </c:pt>
                <c:pt idx="13">
                  <c:v>141637.887</c:v>
                </c:pt>
                <c:pt idx="14">
                  <c:v>147714.562</c:v>
                </c:pt>
                <c:pt idx="15">
                  <c:v>154069.278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,,&quot;M&quot;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3650.6</c:v>
                </c:pt>
                <c:pt idx="1">
                  <c:v>3774.844</c:v>
                </c:pt>
                <c:pt idx="2">
                  <c:v>3903.403</c:v>
                </c:pt>
                <c:pt idx="3">
                  <c:v>4036.426</c:v>
                </c:pt>
                <c:pt idx="4">
                  <c:v>4174.07</c:v>
                </c:pt>
                <c:pt idx="5">
                  <c:v>4316.501</c:v>
                </c:pt>
                <c:pt idx="6">
                  <c:v>4498.421</c:v>
                </c:pt>
                <c:pt idx="7">
                  <c:v>4688.108</c:v>
                </c:pt>
                <c:pt idx="8">
                  <c:v>4885.898</c:v>
                </c:pt>
                <c:pt idx="9">
                  <c:v>5092.141</c:v>
                </c:pt>
                <c:pt idx="10">
                  <c:v>5307.203</c:v>
                </c:pt>
                <c:pt idx="11">
                  <c:v>5531.469</c:v>
                </c:pt>
                <c:pt idx="12">
                  <c:v>5765.335</c:v>
                </c:pt>
                <c:pt idx="13">
                  <c:v>6009.219</c:v>
                </c:pt>
                <c:pt idx="14">
                  <c:v>6263.557</c:v>
                </c:pt>
                <c:pt idx="15">
                  <c:v>6528.801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East Asia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1398.599</c:v>
                </c:pt>
                <c:pt idx="1">
                  <c:v>1454.306</c:v>
                </c:pt>
                <c:pt idx="2">
                  <c:v>1512.252</c:v>
                </c:pt>
                <c:pt idx="3">
                  <c:v>1572.527</c:v>
                </c:pt>
                <c:pt idx="4">
                  <c:v>1635.222</c:v>
                </c:pt>
                <c:pt idx="5">
                  <c:v>1700.439</c:v>
                </c:pt>
                <c:pt idx="6">
                  <c:v>1781.884</c:v>
                </c:pt>
                <c:pt idx="7">
                  <c:v>1867.25</c:v>
                </c:pt>
                <c:pt idx="8">
                  <c:v>1956.73</c:v>
                </c:pt>
                <c:pt idx="9">
                  <c:v>2050.524</c:v>
                </c:pt>
                <c:pt idx="10">
                  <c:v>2148.839</c:v>
                </c:pt>
                <c:pt idx="11">
                  <c:v>2251.894</c:v>
                </c:pt>
                <c:pt idx="12">
                  <c:v>2359.921</c:v>
                </c:pt>
                <c:pt idx="13">
                  <c:v>2473.158</c:v>
                </c:pt>
                <c:pt idx="14">
                  <c:v>2591.86</c:v>
                </c:pt>
                <c:pt idx="15">
                  <c:v>2716.291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South Asia &amp; Pacific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1219.484</c:v>
                </c:pt>
                <c:pt idx="1">
                  <c:v>1282.422</c:v>
                </c:pt>
                <c:pt idx="2">
                  <c:v>1348.718</c:v>
                </c:pt>
                <c:pt idx="3">
                  <c:v>1418.554</c:v>
                </c:pt>
                <c:pt idx="4">
                  <c:v>1492.127</c:v>
                </c:pt>
                <c:pt idx="5">
                  <c:v>1569.637</c:v>
                </c:pt>
                <c:pt idx="6">
                  <c:v>1663.861</c:v>
                </c:pt>
                <c:pt idx="7">
                  <c:v>1763.876</c:v>
                </c:pt>
                <c:pt idx="8">
                  <c:v>1870.046</c:v>
                </c:pt>
                <c:pt idx="9">
                  <c:v>1982.757</c:v>
                </c:pt>
                <c:pt idx="10">
                  <c:v>2102.419</c:v>
                </c:pt>
                <c:pt idx="11">
                  <c:v>2229.471</c:v>
                </c:pt>
                <c:pt idx="12">
                  <c:v>2364.372</c:v>
                </c:pt>
                <c:pt idx="13">
                  <c:v>2507.624</c:v>
                </c:pt>
                <c:pt idx="14">
                  <c:v>2659.748</c:v>
                </c:pt>
                <c:pt idx="15">
                  <c:v>2821.306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817.319</c:v>
                </c:pt>
                <c:pt idx="1">
                  <c:v>858.676</c:v>
                </c:pt>
                <c:pt idx="2">
                  <c:v>902.151</c:v>
                </c:pt>
                <c:pt idx="3">
                  <c:v>947.857</c:v>
                </c:pt>
                <c:pt idx="4">
                  <c:v>995.908</c:v>
                </c:pt>
                <c:pt idx="5">
                  <c:v>1046.425</c:v>
                </c:pt>
                <c:pt idx="6">
                  <c:v>1107.907</c:v>
                </c:pt>
                <c:pt idx="7">
                  <c:v>1173.034</c:v>
                </c:pt>
                <c:pt idx="8">
                  <c:v>1242.024</c:v>
                </c:pt>
                <c:pt idx="9">
                  <c:v>1315.108</c:v>
                </c:pt>
                <c:pt idx="10">
                  <c:v>1392.529</c:v>
                </c:pt>
                <c:pt idx="11">
                  <c:v>1474.549</c:v>
                </c:pt>
                <c:pt idx="12">
                  <c:v>1561.44</c:v>
                </c:pt>
                <c:pt idx="13">
                  <c:v>1653.494</c:v>
                </c:pt>
                <c:pt idx="14">
                  <c:v>1751.02</c:v>
                </c:pt>
                <c:pt idx="15">
                  <c:v>1854.346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Middle East &amp; Africa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749.887</c:v>
                </c:pt>
                <c:pt idx="1">
                  <c:v>780.353</c:v>
                </c:pt>
                <c:pt idx="2">
                  <c:v>812.102</c:v>
                </c:pt>
                <c:pt idx="3">
                  <c:v>845.191</c:v>
                </c:pt>
                <c:pt idx="4">
                  <c:v>879.677</c:v>
                </c:pt>
                <c:pt idx="5">
                  <c:v>915.622</c:v>
                </c:pt>
                <c:pt idx="6">
                  <c:v>960.414</c:v>
                </c:pt>
                <c:pt idx="7">
                  <c:v>1007.457</c:v>
                </c:pt>
                <c:pt idx="8">
                  <c:v>1056.861</c:v>
                </c:pt>
                <c:pt idx="9">
                  <c:v>1108.752</c:v>
                </c:pt>
                <c:pt idx="10">
                  <c:v>1163.258</c:v>
                </c:pt>
                <c:pt idx="11">
                  <c:v>1220.515</c:v>
                </c:pt>
                <c:pt idx="12">
                  <c:v>1280.664</c:v>
                </c:pt>
                <c:pt idx="13">
                  <c:v>1343.852</c:v>
                </c:pt>
                <c:pt idx="14">
                  <c:v>1410.243</c:v>
                </c:pt>
                <c:pt idx="15">
                  <c:v>1480.0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Eastern Europe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633.212</c:v>
                </c:pt>
                <c:pt idx="1">
                  <c:v>664.083</c:v>
                </c:pt>
                <c:pt idx="2">
                  <c:v>696.485</c:v>
                </c:pt>
                <c:pt idx="3">
                  <c:v>730.495</c:v>
                </c:pt>
                <c:pt idx="4">
                  <c:v>766.195</c:v>
                </c:pt>
                <c:pt idx="5">
                  <c:v>803.667</c:v>
                </c:pt>
                <c:pt idx="6">
                  <c:v>849.431</c:v>
                </c:pt>
                <c:pt idx="7">
                  <c:v>897.831</c:v>
                </c:pt>
                <c:pt idx="8">
                  <c:v>949.021</c:v>
                </c:pt>
                <c:pt idx="9">
                  <c:v>1003.164</c:v>
                </c:pt>
                <c:pt idx="10">
                  <c:v>1060.428</c:v>
                </c:pt>
                <c:pt idx="11">
                  <c:v>1120.998</c:v>
                </c:pt>
                <c:pt idx="12">
                  <c:v>1185.064</c:v>
                </c:pt>
                <c:pt idx="13">
                  <c:v>1252.833</c:v>
                </c:pt>
                <c:pt idx="14">
                  <c:v>1324.515</c:v>
                </c:pt>
                <c:pt idx="15">
                  <c:v>1400.342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Western Europe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layout>
                <c:manualLayout>
                  <c:x val="0"/>
                  <c:y val="-0.0830"/>
                </c:manualLayout>
              </c:layout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6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7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8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9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3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4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layout>
                <c:manualLayout>
                  <c:x val="0"/>
                  <c:y val="-0.0830"/>
                </c:manualLayout>
              </c:layout>
              <c:idx val="15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435.462</c:v>
                </c:pt>
                <c:pt idx="1">
                  <c:v>455.784</c:v>
                </c:pt>
                <c:pt idx="2">
                  <c:v>477.113</c:v>
                </c:pt>
                <c:pt idx="3">
                  <c:v>499.509</c:v>
                </c:pt>
                <c:pt idx="4">
                  <c:v>523.021</c:v>
                </c:pt>
                <c:pt idx="5">
                  <c:v>547.708</c:v>
                </c:pt>
                <c:pt idx="6">
                  <c:v>578.016</c:v>
                </c:pt>
                <c:pt idx="7">
                  <c:v>610.076</c:v>
                </c:pt>
                <c:pt idx="8">
                  <c:v>643.992</c:v>
                </c:pt>
                <c:pt idx="9">
                  <c:v>679.877</c:v>
                </c:pt>
                <c:pt idx="10">
                  <c:v>717.848</c:v>
                </c:pt>
                <c:pt idx="11">
                  <c:v>758.027</c:v>
                </c:pt>
                <c:pt idx="12">
                  <c:v>800.549</c:v>
                </c:pt>
                <c:pt idx="13">
                  <c:v>845.557</c:v>
                </c:pt>
                <c:pt idx="14">
                  <c:v>893.197</c:v>
                </c:pt>
                <c:pt idx="15">
                  <c:v>943.631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Portable Integrated Solar Generators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29.74446579224294</c:v>
                </c:pt>
                <c:pt idx="1">
                  <c:v>26.449824400039418</c:v>
                </c:pt>
                <c:pt idx="2">
                  <c:v>26.38</c:v>
                </c:pt>
                <c:pt idx="3">
                  <c:v>30.877139433525347</c:v>
                </c:pt>
                <c:pt idx="4">
                  <c:v>28.197457488906746</c:v>
                </c:pt>
                <c:pt idx="5">
                  <c:v>25.572234986208514</c:v>
                </c:pt>
                <c:pt idx="6">
                  <c:v>33.84577045616799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Portable Modular Solar Generators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49.14876683788473</c:v>
                </c:pt>
                <c:pt idx="1">
                  <c:v>45.76203527424015</c:v>
                </c:pt>
                <c:pt idx="2">
                  <c:v>47.182094594594595</c:v>
                </c:pt>
                <c:pt idx="3">
                  <c:v>46.981739114491035</c:v>
                </c:pt>
                <c:pt idx="4">
                  <c:v>43.913152162268325</c:v>
                </c:pt>
                <c:pt idx="5">
                  <c:v>53.18132807997431</c:v>
                </c:pt>
                <c:pt idx="6">
                  <c:v>43.38850272814258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Fixed Residential Solar Power Generator Systems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21.106767369872333</c:v>
                </c:pt>
                <c:pt idx="1">
                  <c:v>27.788140325720427</c:v>
                </c:pt>
                <c:pt idx="2">
                  <c:v>26.437905405405402</c:v>
                </c:pt>
                <c:pt idx="3">
                  <c:v>22.141121451983608</c:v>
                </c:pt>
                <c:pt idx="4">
                  <c:v>27.88939034882492</c:v>
                </c:pt>
                <c:pt idx="5">
                  <c:v>21.246436933817176</c:v>
                </c:pt>
                <c:pt idx="6">
                  <c:v>22.765726815689437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Portable Integrated Solar Generators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67.99458248559272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104.68019308992598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5311.178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Portable Modular Solar Generators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142.98678004120762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113.2317902047514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8200.073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Fixed Residential Solar Power Generator Systems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71.37735599953795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82.08801670532263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4233.466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70.0"/>
          <c:min val="4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130.0"/>
          <c:min val="7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3803.38</c:v>
                </c:pt>
                <c:pt idx="2">
                  <c:v>4084.811</c:v>
                </c:pt>
                <c:pt idx="3">
                  <c:v>4378.652</c:v>
                </c:pt>
                <c:pt idx="4">
                  <c:v>4683.018</c:v>
                </c:pt>
                <c:pt idx="5">
                  <c:v>4995.168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3803.38</c:v>
                </c:pt>
                <c:pt idx="1">
                  <c:v>281.43100000000004</c:v>
                </c:pt>
                <c:pt idx="2">
                  <c:v>293.8409999999999</c:v>
                </c:pt>
                <c:pt idx="3">
                  <c:v>304.366</c:v>
                </c:pt>
                <c:pt idx="4">
                  <c:v>312.14999999999964</c:v>
                </c:pt>
                <c:pt idx="5">
                  <c:v>316.0100000000002</c:v>
                </c:pt>
                <c:pt idx="6">
                  <c:v>5311.178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4114.088</c:v>
                </c:pt>
                <c:pt idx="2">
                  <c:v>4709.864</c:v>
                </c:pt>
                <c:pt idx="3">
                  <c:v>5398.829</c:v>
                </c:pt>
                <c:pt idx="4">
                  <c:v>6196.939</c:v>
                </c:pt>
                <c:pt idx="5">
                  <c:v>7123.135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4114.088</c:v>
                </c:pt>
                <c:pt idx="1">
                  <c:v>595.7759999999998</c:v>
                </c:pt>
                <c:pt idx="2">
                  <c:v>688.9650000000001</c:v>
                </c:pt>
                <c:pt idx="3">
                  <c:v>798.1100000000006</c:v>
                </c:pt>
                <c:pt idx="4">
                  <c:v>926.1959999999999</c:v>
                </c:pt>
                <c:pt idx="5">
                  <c:v>1076.938</c:v>
                </c:pt>
                <c:pt idx="6">
                  <c:v>8200.073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2982.531</c:v>
                </c:pt>
                <c:pt idx="2">
                  <c:v>3212.957</c:v>
                </c:pt>
                <c:pt idx="3">
                  <c:v>3454.842</c:v>
                </c:pt>
                <c:pt idx="4">
                  <c:v>3706.966</c:v>
                </c:pt>
                <c:pt idx="5">
                  <c:v>3967.434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2982.531</c:v>
                </c:pt>
                <c:pt idx="1">
                  <c:v>230.42599999999993</c:v>
                </c:pt>
                <c:pt idx="2">
                  <c:v>241.88500000000022</c:v>
                </c:pt>
                <c:pt idx="3">
                  <c:v>252.1239999999998</c:v>
                </c:pt>
                <c:pt idx="4">
                  <c:v>260.4680000000003</c:v>
                </c:pt>
                <c:pt idx="5">
                  <c:v>266.03200000000015</c:v>
                </c:pt>
                <c:pt idx="6">
                  <c:v>4233.466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Modular Solar Generators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34.41190769271889</c:v>
                </c:pt>
                <c:pt idx="1">
                  <c:v>37.743930068250464</c:v>
                </c:pt>
                <c:pt idx="2">
                  <c:v>46.211348425562385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Integrated Solar Generators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36.87945158004947</c:v>
                </c:pt>
                <c:pt idx="1">
                  <c:v>34.89339769664199</c:v>
                </c:pt>
                <c:pt idx="2">
                  <c:v>29.93103806614667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Fixed Residential Solar Power Generator Systems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28.708640727231643</c:v>
                </c:pt>
                <c:pt idx="1">
                  <c:v>27.362672235107542</c:v>
                </c:pt>
                <c:pt idx="2">
                  <c:v>23.85761350829095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Up to 1 kWh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33.23926407674186</c:v>
                </c:pt>
                <c:pt idx="1">
                  <c:v>27.951600394760707</c:v>
                </c:pt>
                <c:pt idx="2">
                  <c:v>31.81743243243243</c:v>
                </c:pt>
                <c:pt idx="3">
                  <c:v>31.77039236474746</c:v>
                </c:pt>
                <c:pt idx="4">
                  <c:v>31.602983627306504</c:v>
                </c:pt>
                <c:pt idx="5">
                  <c:v>34.0423548526817</c:v>
                </c:pt>
                <c:pt idx="6">
                  <c:v>26.422768897382536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Above 1–3 kWh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17.985420148341884</c:v>
                </c:pt>
                <c:pt idx="1">
                  <c:v>20.802703910901766</c:v>
                </c:pt>
                <c:pt idx="2">
                  <c:v>18.991824324324323</c:v>
                </c:pt>
                <c:pt idx="3">
                  <c:v>18.336437752177858</c:v>
                </c:pt>
                <c:pt idx="4">
                  <c:v>19.61656538272225</c:v>
                </c:pt>
                <c:pt idx="5">
                  <c:v>16.410485073224955</c:v>
                </c:pt>
                <c:pt idx="6">
                  <c:v>20.547157127319394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Above 3–10 kWh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15.722671256031227</c:v>
                </c:pt>
                <c:pt idx="1">
                  <c:v>18.26782314606003</c:v>
                </c:pt>
                <c:pt idx="2">
                  <c:v>16.062229729729726</c:v>
                </c:pt>
                <c:pt idx="3">
                  <c:v>17.73574079486784</c:v>
                </c:pt>
                <c:pt idx="4">
                  <c:v>16.245277107644213</c:v>
                </c:pt>
                <c:pt idx="5">
                  <c:v>17.56140595880064</c:v>
                </c:pt>
                <c:pt idx="6">
                  <c:v>18.974923573256408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Above 10–20 kWh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22.73653578570437</c:v>
                </c:pt>
                <c:pt idx="1">
                  <c:v>24.48444737071372</c:v>
                </c:pt>
                <c:pt idx="2">
                  <c:v>22.232094594594592</c:v>
                </c:pt>
                <c:pt idx="3">
                  <c:v>21.577688306281566</c:v>
                </c:pt>
                <c:pt idx="4">
                  <c:v>21.886572535858644</c:v>
                </c:pt>
                <c:pt idx="5">
                  <c:v>22.8722088281101</c:v>
                </c:pt>
                <c:pt idx="6">
                  <c:v>24.163073740492322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Above 20 kWh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10.316108733180661</c:v>
                </c:pt>
                <c:pt idx="1">
                  <c:v>8.493425177563765</c:v>
                </c:pt>
                <c:pt idx="2">
                  <c:v>10.896418918918917</c:v>
                </c:pt>
                <c:pt idx="3">
                  <c:v>10.579740781925272</c:v>
                </c:pt>
                <c:pt idx="4">
                  <c:v>10.648601346468404</c:v>
                </c:pt>
                <c:pt idx="5">
                  <c:v>9.113545287182601</c:v>
                </c:pt>
                <c:pt idx="6">
                  <c:v>9.892076661549341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Up to 1 kWh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99.77106092621788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149.75859172097174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5309.063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Above 1–3 kWh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83.16386147390726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104.41771600162531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3419.441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Above 3–10 kWh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66.42164655468653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104.14280771952365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3146.344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Above 10–20 kWh</c:v>
                </c:pt>
              </c:strCache>
            </c:strRef>
          </c:tx>
          <c:spPr>
            <a:solidFill>
              <a:srgbClr val="40315E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136.98005940264926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97.13505478303254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4103.932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strCache>
                <c:ptCount val="1"/>
                <c:pt idx="0">
                  <c:v>Above 20 kWh</c:v>
                </c:pt>
              </c:strCache>
            </c:strRef>
          </c:tx>
          <c:spPr>
            <a:solidFill>
              <a:srgbClr val="A35313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123.39955016134387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44.545829774846766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1765.937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60.0"/>
          <c:min val="4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0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3264.737</c:v>
                </c:pt>
                <c:pt idx="2">
                  <c:v>3595.842</c:v>
                </c:pt>
                <c:pt idx="3">
                  <c:v>3961.798</c:v>
                </c:pt>
                <c:pt idx="4">
                  <c:v>4366.428</c:v>
                </c:pt>
                <c:pt idx="5">
                  <c:v>4813.939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3264.737</c:v>
                </c:pt>
                <c:pt idx="1">
                  <c:v>331.105</c:v>
                </c:pt>
                <c:pt idx="2">
                  <c:v>365.9559999999997</c:v>
                </c:pt>
                <c:pt idx="3">
                  <c:v>404.6300000000001</c:v>
                </c:pt>
                <c:pt idx="4">
                  <c:v>447.5110000000004</c:v>
                </c:pt>
                <c:pt idx="5">
                  <c:v>495.1239999999998</c:v>
                </c:pt>
                <c:pt idx="6">
                  <c:v>5309.063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2276.306</c:v>
                </c:pt>
                <c:pt idx="2">
                  <c:v>2469.781</c:v>
                </c:pt>
                <c:pt idx="3">
                  <c:v>2679.496</c:v>
                </c:pt>
                <c:pt idx="4">
                  <c:v>2906.739</c:v>
                </c:pt>
                <c:pt idx="5">
                  <c:v>3152.896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2276.306</c:v>
                </c:pt>
                <c:pt idx="1">
                  <c:v>193.4749999999999</c:v>
                </c:pt>
                <c:pt idx="2">
                  <c:v>209.71500000000015</c:v>
                </c:pt>
                <c:pt idx="3">
                  <c:v>227.24299999999994</c:v>
                </c:pt>
                <c:pt idx="4">
                  <c:v>246.15700000000015</c:v>
                </c:pt>
                <c:pt idx="5">
                  <c:v>266.5449999999996</c:v>
                </c:pt>
                <c:pt idx="6">
                  <c:v>3419.441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2270.313</c:v>
                </c:pt>
                <c:pt idx="2">
                  <c:v>2428.932</c:v>
                </c:pt>
                <c:pt idx="3">
                  <c:v>2595.994</c:v>
                </c:pt>
                <c:pt idx="4">
                  <c:v>2771.412</c:v>
                </c:pt>
                <c:pt idx="5">
                  <c:v>2954.99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2270.313</c:v>
                </c:pt>
                <c:pt idx="1">
                  <c:v>158.6189999999997</c:v>
                </c:pt>
                <c:pt idx="2">
                  <c:v>167.06200000000035</c:v>
                </c:pt>
                <c:pt idx="3">
                  <c:v>175.41799999999967</c:v>
                </c:pt>
                <c:pt idx="4">
                  <c:v>183.57799999999997</c:v>
                </c:pt>
                <c:pt idx="5">
                  <c:v>191.35400000000027</c:v>
                </c:pt>
                <c:pt idx="6">
                  <c:v>3146.344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2117.544</c:v>
                </c:pt>
                <c:pt idx="2">
                  <c:v>2418.966</c:v>
                </c:pt>
                <c:pt idx="3">
                  <c:v>2762.135</c:v>
                </c:pt>
                <c:pt idx="4">
                  <c:v>3152.817</c:v>
                </c:pt>
                <c:pt idx="5">
                  <c:v>3597.588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2117.544</c:v>
                </c:pt>
                <c:pt idx="1">
                  <c:v>301.422</c:v>
                </c:pt>
                <c:pt idx="2">
                  <c:v>343.1690000000003</c:v>
                </c:pt>
                <c:pt idx="3">
                  <c:v>390.6819999999998</c:v>
                </c:pt>
                <c:pt idx="4">
                  <c:v>444.7710000000002</c:v>
                </c:pt>
                <c:pt idx="5">
                  <c:v>506.3439999999996</c:v>
                </c:pt>
                <c:pt idx="6">
                  <c:v>4103.932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971.099</c:v>
                </c:pt>
                <c:pt idx="2">
                  <c:v>1094.111</c:v>
                </c:pt>
                <c:pt idx="3">
                  <c:v>1232.9</c:v>
                </c:pt>
                <c:pt idx="4">
                  <c:v>1389.527</c:v>
                </c:pt>
                <c:pt idx="5">
                  <c:v>1566.324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971.099</c:v>
                </c:pt>
                <c:pt idx="1">
                  <c:v>123.01200000000006</c:v>
                </c:pt>
                <c:pt idx="2">
                  <c:v>138.789</c:v>
                </c:pt>
                <c:pt idx="3">
                  <c:v>156.62699999999995</c:v>
                </c:pt>
                <c:pt idx="4">
                  <c:v>176.79700000000003</c:v>
                </c:pt>
                <c:pt idx="5">
                  <c:v>199.61299999999983</c:v>
                </c:pt>
                <c:pt idx="6">
                  <c:v>1765.937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Up to 1 kWh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29.962739328139964</c:v>
                </c:pt>
                <c:pt idx="1">
                  <c:v>29.951718344194344</c:v>
                </c:pt>
                <c:pt idx="2">
                  <c:v>29.919119025679585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10–20 kWh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17.67662264841071</c:v>
                </c:pt>
                <c:pt idx="1">
                  <c:v>19.42701095660651</c:v>
                </c:pt>
                <c:pt idx="2">
                  <c:v>23.12762722561312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1–3 kWh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21.656144158899206</c:v>
                </c:pt>
                <c:pt idx="1">
                  <c:v>20.883543200325065</c:v>
                </c:pt>
                <c:pt idx="2">
                  <c:v>19.270191798494164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3–10 kWh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22.28974066442115</c:v>
                </c:pt>
                <c:pt idx="1">
                  <c:v>20.82856154390473</c:v>
                </c:pt>
                <c:pt idx="2">
                  <c:v>17.731159082446904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20 kWh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8.414753200128967</c:v>
                </c:pt>
                <c:pt idx="1">
                  <c:v>8.909165954969355</c:v>
                </c:pt>
                <c:pt idx="2">
                  <c:v>9.95190286776622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Lithium Iron Phosphate (LFP)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39.80994689661531</c:v>
                </c:pt>
                <c:pt idx="1">
                  <c:v>37.58603255490445</c:v>
                </c:pt>
                <c:pt idx="2">
                  <c:v>43.64344594594595</c:v>
                </c:pt>
                <c:pt idx="3">
                  <c:v>41.571368018697704</c:v>
                </c:pt>
                <c:pt idx="4">
                  <c:v>39.60978407689014</c:v>
                </c:pt>
                <c:pt idx="5">
                  <c:v>38.479484323926584</c:v>
                </c:pt>
                <c:pt idx="6">
                  <c:v>35.44286309231971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Nickel-Based Lithium-Ion Batteries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9.797155879787756</c:v>
                </c:pt>
                <c:pt idx="1">
                  <c:v>11.10678677066031</c:v>
                </c:pt>
                <c:pt idx="2">
                  <c:v>10.117972972972973</c:v>
                </c:pt>
                <c:pt idx="3">
                  <c:v>10.027416674126622</c:v>
                </c:pt>
                <c:pt idx="4">
                  <c:v>9.740451225586657</c:v>
                </c:pt>
                <c:pt idx="5">
                  <c:v>9.58307960923062</c:v>
                </c:pt>
                <c:pt idx="6">
                  <c:v>11.846646880491532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Lead-Acid Batteries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19.457711753852937</c:v>
                </c:pt>
                <c:pt idx="1">
                  <c:v>21.25123719777026</c:v>
                </c:pt>
                <c:pt idx="2">
                  <c:v>19.41722972972973</c:v>
                </c:pt>
                <c:pt idx="3">
                  <c:v>18.648299723999727</c:v>
                </c:pt>
                <c:pt idx="4">
                  <c:v>20.274742286448692</c:v>
                </c:pt>
                <c:pt idx="5">
                  <c:v>20.90368786654124</c:v>
                </c:pt>
                <c:pt idx="6">
                  <c:v>23.915677625953062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Other Battery Technologies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30.935185469744</c:v>
                </c:pt>
                <c:pt idx="1">
                  <c:v>30.055943476664993</c:v>
                </c:pt>
                <c:pt idx="2">
                  <c:v>26.821351351351353</c:v>
                </c:pt>
                <c:pt idx="3">
                  <c:v>29.75291558317596</c:v>
                </c:pt>
                <c:pt idx="4">
                  <c:v>30.375022411074514</c:v>
                </c:pt>
                <c:pt idx="5">
                  <c:v>31.03374820030157</c:v>
                </c:pt>
                <c:pt idx="6">
                  <c:v>28.794812401235692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Lithium Iron Phosphate (LFP)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55.29207963449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189.88291650301989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6794.327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Nickel-Based Lithium-Ion Batteries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89.63840189685352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44.8108297991587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1892.062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Lead-Acid Batteries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148.67557365012948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68.42694205751762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3816.263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Other Battery Technologies</c:v>
                </c:pt>
              </c:strCache>
            </c:strRef>
          </c:tx>
          <c:spPr>
            <a:solidFill>
              <a:srgbClr val="40315E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142.17714428060418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96.87931164030381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5242.065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80.0"/>
          <c:min val="3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5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5174.309</c:v>
                </c:pt>
                <c:pt idx="2">
                  <c:v>5476.594</c:v>
                </c:pt>
                <c:pt idx="3">
                  <c:v>5790.573</c:v>
                </c:pt>
                <c:pt idx="4">
                  <c:v>6115.553</c:v>
                </c:pt>
                <c:pt idx="5">
                  <c:v>6450.572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5174.309</c:v>
                </c:pt>
                <c:pt idx="1">
                  <c:v>302.28499999999985</c:v>
                </c:pt>
                <c:pt idx="2">
                  <c:v>313.97900000000027</c:v>
                </c:pt>
                <c:pt idx="3">
                  <c:v>324.97999999999956</c:v>
                </c:pt>
                <c:pt idx="4">
                  <c:v>335.01900000000023</c:v>
                </c:pt>
                <c:pt idx="5">
                  <c:v>343.7550000000001</c:v>
                </c:pt>
                <c:pt idx="6">
                  <c:v>6794.327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1221.095</c:v>
                </c:pt>
                <c:pt idx="2">
                  <c:v>1331.88</c:v>
                </c:pt>
                <c:pt idx="3">
                  <c:v>1453.251</c:v>
                </c:pt>
                <c:pt idx="4">
                  <c:v>1586.275</c:v>
                </c:pt>
                <c:pt idx="5">
                  <c:v>1732.114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1221.095</c:v>
                </c:pt>
                <c:pt idx="1">
                  <c:v>110.78500000000008</c:v>
                </c:pt>
                <c:pt idx="2">
                  <c:v>121.37099999999987</c:v>
                </c:pt>
                <c:pt idx="3">
                  <c:v>133.02400000000011</c:v>
                </c:pt>
                <c:pt idx="4">
                  <c:v>145.83899999999994</c:v>
                </c:pt>
                <c:pt idx="5">
                  <c:v>159.94799999999987</c:v>
                </c:pt>
                <c:pt idx="6">
                  <c:v>1892.062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1864.634</c:v>
                </c:pt>
                <c:pt idx="2">
                  <c:v>2161.896</c:v>
                </c:pt>
                <c:pt idx="3">
                  <c:v>2499.96</c:v>
                </c:pt>
                <c:pt idx="4">
                  <c:v>2884.197</c:v>
                </c:pt>
                <c:pt idx="5">
                  <c:v>3320.677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1864.634</c:v>
                </c:pt>
                <c:pt idx="1">
                  <c:v>297.26200000000017</c:v>
                </c:pt>
                <c:pt idx="2">
                  <c:v>338.06399999999985</c:v>
                </c:pt>
                <c:pt idx="3">
                  <c:v>384.2370000000001</c:v>
                </c:pt>
                <c:pt idx="4">
                  <c:v>436.48</c:v>
                </c:pt>
                <c:pt idx="5">
                  <c:v>495.5859999999998</c:v>
                </c:pt>
                <c:pt idx="6">
                  <c:v>3816.263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2639.961</c:v>
                </c:pt>
                <c:pt idx="2">
                  <c:v>3037.262</c:v>
                </c:pt>
                <c:pt idx="3">
                  <c:v>3488.539</c:v>
                </c:pt>
                <c:pt idx="4">
                  <c:v>4000.898</c:v>
                </c:pt>
                <c:pt idx="5">
                  <c:v>4582.374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2639.961</c:v>
                </c:pt>
                <c:pt idx="1">
                  <c:v>397.3010000000004</c:v>
                </c:pt>
                <c:pt idx="2">
                  <c:v>451.27700000000004</c:v>
                </c:pt>
                <c:pt idx="3">
                  <c:v>512.3589999999999</c:v>
                </c:pt>
                <c:pt idx="4">
                  <c:v>581.4759999999997</c:v>
                </c:pt>
                <c:pt idx="5">
                  <c:v>659.6909999999998</c:v>
                </c:pt>
                <c:pt idx="6">
                  <c:v>5242.065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Lithium Iron Phosphate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52.18424531332981</c:v>
                </c:pt>
                <c:pt idx="1">
                  <c:v>47.47072912575497</c:v>
                </c:pt>
                <c:pt idx="2">
                  <c:v>38.289294779961836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Other Battery Technologies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21.50855690503846</c:v>
                </c:pt>
                <c:pt idx="1">
                  <c:v>24.219827910075953</c:v>
                </c:pt>
                <c:pt idx="2">
                  <c:v>29.541553128178936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Lead-Acid Batteries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14.82109790227774</c:v>
                </c:pt>
                <c:pt idx="1">
                  <c:v>17.106735514379405</c:v>
                </c:pt>
                <c:pt idx="2">
                  <c:v>21.506474293165677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Nickel-Based Lithium-Ion Batteries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11.48609987935399</c:v>
                </c:pt>
                <c:pt idx="1">
                  <c:v>11.202707449789674</c:v>
                </c:pt>
                <c:pt idx="2">
                  <c:v>10.662677798693549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Fixed Grid-Connected Systems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44.56275811201624</c:v>
                </c:pt>
                <c:pt idx="1">
                  <c:v>42.7409875587535</c:v>
                </c:pt>
                <c:pt idx="2">
                  <c:v>39.70608108108108</c:v>
                </c:pt>
                <c:pt idx="3">
                  <c:v>39.64502848982875</c:v>
                </c:pt>
                <c:pt idx="4">
                  <c:v>44.39918256180946</c:v>
                </c:pt>
                <c:pt idx="5">
                  <c:v>41.70820180441257</c:v>
                </c:pt>
                <c:pt idx="6">
                  <c:v>43.28019800266542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Fixed Off-Grid Systems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55.43724188798376</c:v>
                </c:pt>
                <c:pt idx="1">
                  <c:v>57.25901244124649</c:v>
                </c:pt>
                <c:pt idx="2">
                  <c:v>60.29391891891892</c:v>
                </c:pt>
                <c:pt idx="3">
                  <c:v>60.35497151017124</c:v>
                </c:pt>
                <c:pt idx="4">
                  <c:v>55.60081743819053</c:v>
                </c:pt>
                <c:pt idx="5">
                  <c:v>58.29179819558744</c:v>
                </c:pt>
                <c:pt idx="6">
                  <c:v>56.719801997334585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Fixed Grid-Connected Systems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62.30893063131351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101.97314697001349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7550.239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Fixed Off-Grid Systems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133.6603155065151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98.02685302998651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10194.478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60.0"/>
          <c:min val="4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120.0"/>
          <c:min val="8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5557.536</c:v>
                </c:pt>
                <c:pt idx="2">
                  <c:v>5930.607</c:v>
                </c:pt>
                <c:pt idx="3">
                  <c:v>6318.477</c:v>
                </c:pt>
                <c:pt idx="4">
                  <c:v>6719.438</c:v>
                </c:pt>
                <c:pt idx="5">
                  <c:v>7131.092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5557.536</c:v>
                </c:pt>
                <c:pt idx="1">
                  <c:v>373.0709999999999</c:v>
                </c:pt>
                <c:pt idx="2">
                  <c:v>387.8699999999999</c:v>
                </c:pt>
                <c:pt idx="3">
                  <c:v>400.96100000000024</c:v>
                </c:pt>
                <c:pt idx="4">
                  <c:v>411.65399999999954</c:v>
                </c:pt>
                <c:pt idx="5">
                  <c:v>419.14699999999993</c:v>
                </c:pt>
                <c:pt idx="6">
                  <c:v>7550.239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5342.463</c:v>
                </c:pt>
                <c:pt idx="2">
                  <c:v>6077.025</c:v>
                </c:pt>
                <c:pt idx="3">
                  <c:v>6913.846</c:v>
                </c:pt>
                <c:pt idx="4">
                  <c:v>7867.485</c:v>
                </c:pt>
                <c:pt idx="5">
                  <c:v>8954.645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5342.463</c:v>
                </c:pt>
                <c:pt idx="1">
                  <c:v>734.5619999999999</c:v>
                </c:pt>
                <c:pt idx="2">
                  <c:v>836.8209999999999</c:v>
                </c:pt>
                <c:pt idx="3">
                  <c:v>953.6390000000001</c:v>
                </c:pt>
                <c:pt idx="4">
                  <c:v>1087.1600000000008</c:v>
                </c:pt>
                <c:pt idx="5">
                  <c:v>1239.8329999999987</c:v>
                </c:pt>
                <c:pt idx="6">
                  <c:v>10194.478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Off-Grid Systems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45.20255513942683</c:v>
                </c:pt>
                <c:pt idx="1">
                  <c:v>49.013426514993256</c:v>
                </c:pt>
                <c:pt idx="2">
                  <c:v>57.45077816682003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Grid-Connected Systems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54.797444860573165</c:v>
                </c:pt>
                <c:pt idx="1">
                  <c:v>50.986573485006744</c:v>
                </c:pt>
                <c:pt idx="2">
                  <c:v>42.54922183317999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Emergency Power Backup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27.494751656102867</c:v>
                </c:pt>
                <c:pt idx="1">
                  <c:v>30.778481256721573</c:v>
                </c:pt>
                <c:pt idx="2">
                  <c:v>26.800337837837834</c:v>
                </c:pt>
                <c:pt idx="3">
                  <c:v>31.966849768058385</c:v>
                </c:pt>
                <c:pt idx="4">
                  <c:v>31.123138132107353</c:v>
                </c:pt>
                <c:pt idx="5">
                  <c:v>27.20155133828092</c:v>
                </c:pt>
                <c:pt idx="6">
                  <c:v>25.539406086967574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Residential Solar Self-Consumption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26.816096546213508</c:v>
                </c:pt>
                <c:pt idx="1">
                  <c:v>27.01661451274046</c:v>
                </c:pt>
                <c:pt idx="2">
                  <c:v>26.637837837837843</c:v>
                </c:pt>
                <c:pt idx="3">
                  <c:v>24.64993048762205</c:v>
                </c:pt>
                <c:pt idx="4">
                  <c:v>26.912469982045373</c:v>
                </c:pt>
                <c:pt idx="5">
                  <c:v>26.88035257430424</c:v>
                </c:pt>
                <c:pt idx="6">
                  <c:v>25.89556642942556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Primary Off-Grid Household Power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10.946545842601612</c:v>
                </c:pt>
                <c:pt idx="1">
                  <c:v>10.166516465263488</c:v>
                </c:pt>
                <c:pt idx="2">
                  <c:v>11.355202702702702</c:v>
                </c:pt>
                <c:pt idx="3">
                  <c:v>11.481460309996084</c:v>
                </c:pt>
                <c:pt idx="4">
                  <c:v>10.863674031979638</c:v>
                </c:pt>
                <c:pt idx="5">
                  <c:v>11.787945015535358</c:v>
                </c:pt>
                <c:pt idx="6">
                  <c:v>11.937092277739819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Supplemental Household Power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34.74260595508202</c:v>
                </c:pt>
                <c:pt idx="1">
                  <c:v>32.038387765274486</c:v>
                </c:pt>
                <c:pt idx="2">
                  <c:v>35.20662162162162</c:v>
                </c:pt>
                <c:pt idx="3">
                  <c:v>31.901759434323473</c:v>
                </c:pt>
                <c:pt idx="4">
                  <c:v>31.10071785386765</c:v>
                </c:pt>
                <c:pt idx="5">
                  <c:v>34.130151071879475</c:v>
                </c:pt>
                <c:pt idx="6">
                  <c:v>36.627935205867054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Emergency Power Backup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107.87513932283441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107.707606211707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4960.125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Residential Solar Self-Consumption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41.18738887635341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139.59025133855516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4662.773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Primary Off-Grid Household Power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139.5434271721027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38.0485906466597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2033.636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Supplemental Household Power</c:v>
                </c:pt>
              </c:strCache>
            </c:strRef>
          </c:tx>
          <c:spPr>
            <a:solidFill>
              <a:srgbClr val="40315E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138.14590907944657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114.65355180307814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6088.183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70.0"/>
          <c:min val="1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17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2935.032</c:v>
                </c:pt>
                <c:pt idx="2">
                  <c:v>3258.924</c:v>
                </c:pt>
                <c:pt idx="3">
                  <c:v>3618.994</c:v>
                </c:pt>
                <c:pt idx="4">
                  <c:v>4019.376</c:v>
                </c:pt>
                <c:pt idx="5">
                  <c:v>4464.695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2935.032</c:v>
                </c:pt>
                <c:pt idx="1">
                  <c:v>323.8919999999998</c:v>
                </c:pt>
                <c:pt idx="2">
                  <c:v>360.07000000000016</c:v>
                </c:pt>
                <c:pt idx="3">
                  <c:v>400.38200000000006</c:v>
                </c:pt>
                <c:pt idx="4">
                  <c:v>445.3189999999995</c:v>
                </c:pt>
                <c:pt idx="5">
                  <c:v>495.4300000000003</c:v>
                </c:pt>
                <c:pt idx="6">
                  <c:v>4960.125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3803.834</c:v>
                </c:pt>
                <c:pt idx="2">
                  <c:v>3971.399</c:v>
                </c:pt>
                <c:pt idx="3">
                  <c:v>4142.025</c:v>
                </c:pt>
                <c:pt idx="4">
                  <c:v>4314.868</c:v>
                </c:pt>
                <c:pt idx="5">
                  <c:v>4488.874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3803.834</c:v>
                </c:pt>
                <c:pt idx="1">
                  <c:v>167.56500000000005</c:v>
                </c:pt>
                <c:pt idx="2">
                  <c:v>170.62599999999975</c:v>
                </c:pt>
                <c:pt idx="3">
                  <c:v>172.84300000000076</c:v>
                </c:pt>
                <c:pt idx="4">
                  <c:v>174.0059999999994</c:v>
                </c:pt>
                <c:pt idx="5">
                  <c:v>173.89900000000034</c:v>
                </c:pt>
                <c:pt idx="6">
                  <c:v>4662.773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1036.824</c:v>
                </c:pt>
                <c:pt idx="2">
                  <c:v>1191.825</c:v>
                </c:pt>
                <c:pt idx="3">
                  <c:v>1366.445</c:v>
                </c:pt>
                <c:pt idx="4">
                  <c:v>1563.099</c:v>
                </c:pt>
                <c:pt idx="5">
                  <c:v>1784.485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1036.824</c:v>
                </c:pt>
                <c:pt idx="1">
                  <c:v>155.00099999999998</c:v>
                </c:pt>
                <c:pt idx="2">
                  <c:v>174.6199999999999</c:v>
                </c:pt>
                <c:pt idx="3">
                  <c:v>196.654</c:v>
                </c:pt>
                <c:pt idx="4">
                  <c:v>221.38599999999997</c:v>
                </c:pt>
                <c:pt idx="5">
                  <c:v>249.15100000000007</c:v>
                </c:pt>
                <c:pt idx="6">
                  <c:v>2033.636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3124.309</c:v>
                </c:pt>
                <c:pt idx="2">
                  <c:v>3585.484</c:v>
                </c:pt>
                <c:pt idx="3">
                  <c:v>4104.859</c:v>
                </c:pt>
                <c:pt idx="4">
                  <c:v>4689.58</c:v>
                </c:pt>
                <c:pt idx="5">
                  <c:v>5347.683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3124.309</c:v>
                </c:pt>
                <c:pt idx="1">
                  <c:v>461.1749999999997</c:v>
                </c:pt>
                <c:pt idx="2">
                  <c:v>519.3750000000005</c:v>
                </c:pt>
                <c:pt idx="3">
                  <c:v>584.7209999999995</c:v>
                </c:pt>
                <c:pt idx="4">
                  <c:v>658.1030000000001</c:v>
                </c:pt>
                <c:pt idx="5">
                  <c:v>740.5</c:v>
                </c:pt>
                <c:pt idx="6">
                  <c:v>6088.183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Supplemental Household Power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25.506170263493</c:v>
                </c:pt>
                <c:pt idx="1">
                  <c:v>28.663387950769536</c:v>
                </c:pt>
                <c:pt idx="2">
                  <c:v>34.30983430166849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Emergency Power Backup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26.372501379348996</c:v>
                </c:pt>
                <c:pt idx="1">
                  <c:v>26.92690155292675</c:v>
                </c:pt>
                <c:pt idx="2">
                  <c:v>27.952685861374967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Residential Solar Self-Consumption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39.700634382619334</c:v>
                </c:pt>
                <c:pt idx="1">
                  <c:v>34.89756283463879</c:v>
                </c:pt>
                <c:pt idx="2">
                  <c:v>26.27696457486473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Primary Off-Grid Household Power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8.420693974538672</c:v>
                </c:pt>
                <c:pt idx="1">
                  <c:v>9.512147661664924</c:v>
                </c:pt>
                <c:pt idx="2">
                  <c:v>11.46051526209181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Manufacturer-Direct Sales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7.12365320766274</c:v>
                </c:pt>
                <c:pt idx="1">
                  <c:v>6.276038282076807</c:v>
                </c:pt>
                <c:pt idx="2">
                  <c:v>8.30364864864865</c:v>
                </c:pt>
                <c:pt idx="3">
                  <c:v>6.613328904098803</c:v>
                </c:pt>
                <c:pt idx="4">
                  <c:v>7.6644218163665085</c:v>
                </c:pt>
                <c:pt idx="5">
                  <c:v>8.206483096835298</c:v>
                </c:pt>
                <c:pt idx="6">
                  <c:v>7.356343071262243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Third-Party E-Commerce Marketplaces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19.233259611013203</c:v>
                </c:pt>
                <c:pt idx="1">
                  <c:v>23.936724028844385</c:v>
                </c:pt>
                <c:pt idx="2">
                  <c:v>20.05331081081081</c:v>
                </c:pt>
                <c:pt idx="3">
                  <c:v>24.835170998292657</c:v>
                </c:pt>
                <c:pt idx="4">
                  <c:v>22.25564197650399</c:v>
                </c:pt>
                <c:pt idx="5">
                  <c:v>20.671348659096182</c:v>
                </c:pt>
                <c:pt idx="6">
                  <c:v>17.79410951566758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Specialist Solar and Electrical Channels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32.55213107666026</c:v>
                </c:pt>
                <c:pt idx="1">
                  <c:v>33.08713157214452</c:v>
                </c:pt>
                <c:pt idx="2">
                  <c:v>27.902229729729726</c:v>
                </c:pt>
                <c:pt idx="3">
                  <c:v>32.56075187694206</c:v>
                </c:pt>
                <c:pt idx="4">
                  <c:v>30.111501308217715</c:v>
                </c:pt>
                <c:pt idx="5">
                  <c:v>28.42814639744856</c:v>
                </c:pt>
                <c:pt idx="6">
                  <c:v>30.797523159305978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General Retail Channels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36.25919453684756</c:v>
                </c:pt>
                <c:pt idx="1">
                  <c:v>31.510231072123812</c:v>
                </c:pt>
                <c:pt idx="2">
                  <c:v>37.10925675675675</c:v>
                </c:pt>
                <c:pt idx="3">
                  <c:v>30.74954727974175</c:v>
                </c:pt>
                <c:pt idx="4">
                  <c:v>34.521264474240795</c:v>
                </c:pt>
                <c:pt idx="5">
                  <c:v>36.12351868248251</c:v>
                </c:pt>
                <c:pt idx="6">
                  <c:v>38.48420253581018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Other Resellers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Western Europe</c:v>
                </c:pt>
                <c:pt idx="1">
                  <c:v>Eastern 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  <c:pt idx="6">
                  <c:v>North America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4.8317615678162324</c:v>
                </c:pt>
                <c:pt idx="1">
                  <c:v>5.189875044810482</c:v>
                </c:pt>
                <c:pt idx="2">
                  <c:v>6.631554054054055</c:v>
                </c:pt>
                <c:pt idx="3">
                  <c:v>5.241200940924725</c:v>
                </c:pt>
                <c:pt idx="4">
                  <c:v>5.447170424670995</c:v>
                </c:pt>
                <c:pt idx="5">
                  <c:v>6.5705031641374605</c:v>
                </c:pt>
                <c:pt idx="6">
                  <c:v>5.567821717954033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Manufacturer-Direct Sales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164.881037460372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27.45908508798945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1320.634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Third-Party E-Commerce Marketplaces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135.84056823491065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86.22142992857154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3623.478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Specialist Solar and Electrical Channels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64.61819578530715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180.90180558732158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5417.917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General Retail Channels</c:v>
                </c:pt>
              </c:strCache>
            </c:strRef>
          </c:tx>
          <c:spPr>
            <a:solidFill>
              <a:srgbClr val="40315E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105.26172690760849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175.1205665248226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6372.234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strCache>
                <c:ptCount val="1"/>
                <c:pt idx="0">
                  <c:v>Other Resellers</c:v>
                </c:pt>
              </c:strCache>
            </c:strRef>
          </c:tx>
          <c:spPr>
            <a:solidFill>
              <a:srgbClr val="A35313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86.9776256834085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30.29711287129475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1010.454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90.0"/>
          <c:min val="3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2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598.608</c:v>
                </c:pt>
                <c:pt idx="2">
                  <c:v>702.792</c:v>
                </c:pt>
                <c:pt idx="3">
                  <c:v>824.061</c:v>
                </c:pt>
                <c:pt idx="4">
                  <c:v>965.194</c:v>
                </c:pt>
                <c:pt idx="5">
                  <c:v>1129.456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598.608</c:v>
                </c:pt>
                <c:pt idx="1">
                  <c:v>104.18400000000008</c:v>
                </c:pt>
                <c:pt idx="2">
                  <c:v>121.269</c:v>
                </c:pt>
                <c:pt idx="3">
                  <c:v>141.13299999999992</c:v>
                </c:pt>
                <c:pt idx="4">
                  <c:v>164.26199999999994</c:v>
                </c:pt>
                <c:pt idx="5">
                  <c:v>191.1780000000001</c:v>
                </c:pt>
                <c:pt idx="6">
                  <c:v>1320.634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1879.627</c:v>
                </c:pt>
                <c:pt idx="2">
                  <c:v>2140.931</c:v>
                </c:pt>
                <c:pt idx="3">
                  <c:v>2439.864</c:v>
                </c:pt>
                <c:pt idx="4">
                  <c:v>2782.066</c:v>
                </c:pt>
                <c:pt idx="5">
                  <c:v>3174.081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1879.627</c:v>
                </c:pt>
                <c:pt idx="1">
                  <c:v>261.3040000000001</c:v>
                </c:pt>
                <c:pt idx="2">
                  <c:v>298.933</c:v>
                </c:pt>
                <c:pt idx="3">
                  <c:v>342.20199999999977</c:v>
                </c:pt>
                <c:pt idx="4">
                  <c:v>392.0150000000003</c:v>
                </c:pt>
                <c:pt idx="5">
                  <c:v>449.39699999999993</c:v>
                </c:pt>
                <c:pt idx="6">
                  <c:v>3623.478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3943.659</c:v>
                </c:pt>
                <c:pt idx="2">
                  <c:v>4219.029</c:v>
                </c:pt>
                <c:pt idx="3">
                  <c:v>4505.838</c:v>
                </c:pt>
                <c:pt idx="4">
                  <c:v>4802.711</c:v>
                </c:pt>
                <c:pt idx="5">
                  <c:v>5107.641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3943.659</c:v>
                </c:pt>
                <c:pt idx="1">
                  <c:v>275.37000000000035</c:v>
                </c:pt>
                <c:pt idx="2">
                  <c:v>286.8089999999993</c:v>
                </c:pt>
                <c:pt idx="3">
                  <c:v>296.8730000000005</c:v>
                </c:pt>
                <c:pt idx="4">
                  <c:v>304.9299999999994</c:v>
                </c:pt>
                <c:pt idx="5">
                  <c:v>310.27600000000075</c:v>
                </c:pt>
                <c:pt idx="6">
                  <c:v>5417.917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3817.628</c:v>
                </c:pt>
                <c:pt idx="2">
                  <c:v>4225.265</c:v>
                </c:pt>
                <c:pt idx="3">
                  <c:v>4678.751</c:v>
                </c:pt>
                <c:pt idx="4">
                  <c:v>5183.524</c:v>
                </c:pt>
                <c:pt idx="5">
                  <c:v>5745.716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3817.628</c:v>
                </c:pt>
                <c:pt idx="1">
                  <c:v>407.63700000000017</c:v>
                </c:pt>
                <c:pt idx="2">
                  <c:v>453.4859999999999</c:v>
                </c:pt>
                <c:pt idx="3">
                  <c:v>504.77300000000014</c:v>
                </c:pt>
                <c:pt idx="4">
                  <c:v>562.192</c:v>
                </c:pt>
                <c:pt idx="5">
                  <c:v>626.518</c:v>
                </c:pt>
                <c:pt idx="6">
                  <c:v>6372.234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660.477</c:v>
                </c:pt>
                <c:pt idx="2">
                  <c:v>719.615</c:v>
                </c:pt>
                <c:pt idx="3">
                  <c:v>783.809</c:v>
                </c:pt>
                <c:pt idx="4">
                  <c:v>853.428</c:v>
                </c:pt>
                <c:pt idx="5">
                  <c:v>928.843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660.477</c:v>
                </c:pt>
                <c:pt idx="1">
                  <c:v>59.138000000000034</c:v>
                </c:pt>
                <c:pt idx="2">
                  <c:v>64.19399999999996</c:v>
                </c:pt>
                <c:pt idx="3">
                  <c:v>69.61900000000003</c:v>
                </c:pt>
                <c:pt idx="4">
                  <c:v>75.41499999999996</c:v>
                </c:pt>
                <c:pt idx="5">
                  <c:v>81.61099999999999</c:v>
                </c:pt>
                <c:pt idx="6">
                  <c:v>1010.454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General Retail Channels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34.63917319693285</c:v>
                </c:pt>
                <c:pt idx="1">
                  <c:v>35.02411330496453</c:v>
                </c:pt>
                <c:pt idx="2">
                  <c:v>35.910598067019045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Specialist Solar and Electrical Channels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38.62932970433249</c:v>
                </c:pt>
                <c:pt idx="1">
                  <c:v>36.18036111746433</c:v>
                </c:pt>
                <c:pt idx="2">
                  <c:v>30.5325635793459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Third-Party E-Commerce Marketplaces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15.874434264769647</c:v>
                </c:pt>
                <c:pt idx="1">
                  <c:v>17.24428598571431</c:v>
                </c:pt>
                <c:pt idx="2">
                  <c:v>20.420038257020384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Manufacturer-Direct Sales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4.644102130559355</c:v>
                </c:pt>
                <c:pt idx="1">
                  <c:v>5.491817017597891</c:v>
                </c:pt>
                <c:pt idx="2">
                  <c:v>7.442406661092425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Other Resellers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6.212960703405658</c:v>
                </c:pt>
                <c:pt idx="1">
                  <c:v>6.059422574258952</c:v>
                </c:pt>
                <c:pt idx="2">
                  <c:v>5.694393435522246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3.3630725471938794</c:v>
                </c:pt>
                <c:pt idx="1">
                  <c:v>4.247760334819195</c:v>
                </c:pt>
                <c:pt idx="2">
                  <c:v>3.952026249019247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5.607043641961337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86143.331</c:v>
                </c:pt>
                <c:pt idx="2">
                  <c:v>0.0</c:v>
                </c:pt>
                <c:pt idx="3">
                  <c:v>101636.269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E72AE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86143.331</c:v>
                </c:pt>
                <c:pt idx="1">
                  <c:v>15492.937999999995</c:v>
                </c:pt>
                <c:pt idx="2">
                  <c:v>101636.269</c:v>
                </c:pt>
                <c:pt idx="3">
                  <c:v>52433.00899999999</c:v>
                </c:pt>
                <c:pt idx="4">
                  <c:v>154069.278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03E58"/>
            </a:solidFill>
            <a:ln>
              <a:noFill/>
            </a:ln>
          </c:spPr>
          <c:dLbls>
            <c:dLbl>
              <c:idx val="0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&quot;;&quot;M&quot;;&quot;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2021–2026</c:v>
                </c:pt>
                <c:pt idx="1">
                  <c:v>2026–2036</c:v>
                </c:pt>
                <c:pt idx="2">
                  <c:v>2021–2036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4.6935109436657685</c:v>
                </c:pt>
                <c:pt idx="1">
                  <c:v>5.590613092955543</c:v>
                </c:pt>
                <c:pt idx="2">
                  <c:v>5.290728154682811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7.379609282701317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435.462</c:v>
                </c:pt>
                <c:pt idx="2">
                  <c:v>0.0</c:v>
                </c:pt>
                <c:pt idx="3">
                  <c:v>547.708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E72AE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2021–2026</c:v>
                </c:pt>
                <c:pt idx="2">
                  <c:v>2026</c:v>
                </c:pt>
                <c:pt idx="3">
                  <c:v>2026–2036</c:v>
                </c:pt>
                <c:pt idx="4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435.462</c:v>
                </c:pt>
                <c:pt idx="1">
                  <c:v>112.24599999999998</c:v>
                </c:pt>
                <c:pt idx="2">
                  <c:v>547.708</c:v>
                </c:pt>
                <c:pt idx="3">
                  <c:v>395.923</c:v>
                </c:pt>
                <c:pt idx="4">
                  <c:v>943.631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435.462</c:v>
                </c:pt>
                <c:pt idx="1">
                  <c:v>455.784</c:v>
                </c:pt>
                <c:pt idx="2">
                  <c:v>477.113</c:v>
                </c:pt>
                <c:pt idx="3">
                  <c:v>499.509</c:v>
                </c:pt>
                <c:pt idx="4">
                  <c:v>523.021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(Units)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&quot;;&quot;MMMMMMMM&quot;;&quot;MMM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&quot;;&quot;MMMMMMMM&quot;;&quot;MMM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&quot;;&quot;MMMMMMMM&quot;;&quot;MMM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&quot;;&quot;MMMMMMMM&quot;;&quot;MMM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&quot;;&quot;MMMMMMMM&quot;;&quot;MMM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86143.331</c:v>
                </c:pt>
                <c:pt idx="1">
                  <c:v>89017.611</c:v>
                </c:pt>
                <c:pt idx="2">
                  <c:v>91999.664</c:v>
                </c:pt>
                <c:pt idx="3">
                  <c:v>95093.78</c:v>
                </c:pt>
                <c:pt idx="4">
                  <c:v>98304.432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17"/>
          <c:min val="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138736"/>
          <c:min val="0"/>
        </c:scaling>
        <c:delete val="0"/>
        <c:axPos val="r"/>
        <c:numFmt formatCode="#,##0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&quot;;&quot;MMMMM&quot;;&quot;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&quot;;&quot;MMMMM&quot;;&quot;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&quot;;&quot;MMMMM&quot;;&quot;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&quot;;&quot;MMMMM&quot;;&quot;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&quot;;&quot;MMMMM&quot;;&quot;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&quot;;&quot;MMMMM&quot;;&quot;M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547.708</c:v>
                </c:pt>
                <c:pt idx="1">
                  <c:v>578.0160000000001</c:v>
                </c:pt>
                <c:pt idx="2">
                  <c:v>610.0759999999999</c:v>
                </c:pt>
                <c:pt idx="3">
                  <c:v>643.9920000000001</c:v>
                </c:pt>
                <c:pt idx="4">
                  <c:v>679.8770000000001</c:v>
                </c:pt>
                <c:pt idx="5">
                  <c:v>717.848</c:v>
                </c:pt>
                <c:pt idx="6">
                  <c:v>758.027</c:v>
                </c:pt>
                <c:pt idx="7">
                  <c:v>800.549</c:v>
                </c:pt>
                <c:pt idx="8">
                  <c:v>845.557</c:v>
                </c:pt>
                <c:pt idx="9">
                  <c:v>893.197</c:v>
                </c:pt>
                <c:pt idx="10">
                  <c:v>943.631</c:v>
                </c:pt>
              </c:numCache>
            </c:numRef>
          </c:val>
        </c:ser>
        <c:gapWidth val="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strCache>
                <c:ptCount val="1"/>
                <c:pt idx="0">
                  <c:v>Volume (Units)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numFmt formatCode="&quot;MMMMMMMMM&quot;;&quot;MMMMMMMMM&quot;;&quot;MMMMM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MM&quot;;&quot;MMMMMMMMM&quot;;&quot;MMMMM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MM&quot;;&quot;MMMMMMMMM&quot;;&quot;MMMMM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MM&quot;;&quot;MMMMMMMMM&quot;;&quot;MMMMM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MMMM&quot;;&quot;MMMMMMMMM&quot;;&quot;MMMMM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MMMMM&quot;;&quot;MMMMMMMMM&quot;;&quot;MMMMM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MMMMM&quot;;&quot;MMMMMMMMM&quot;;&quot;MMMMM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MMMMM&quot;;&quot;MMMMMMMMM&quot;;&quot;MMMMM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MMMMMMMMM&quot;;&quot;MMMMMMMMM&quot;;&quot;MMMMM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MMMMMMMMM&quot;;&quot;MMMMMMMMM&quot;;&quot;MMMMM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MMMMMMMMM&quot;;&quot;MMMMMMMMM&quot;;&quot;MMMMM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101636.269</c:v>
                </c:pt>
                <c:pt idx="1">
                  <c:v>105896.945</c:v>
                </c:pt>
                <c:pt idx="2">
                  <c:v>110349.666</c:v>
                </c:pt>
                <c:pt idx="3">
                  <c:v>115003.484</c:v>
                </c:pt>
                <c:pt idx="4">
                  <c:v>119867.89499999999</c:v>
                </c:pt>
                <c:pt idx="5">
                  <c:v>124952.84899999999</c:v>
                </c:pt>
                <c:pt idx="6">
                  <c:v>130268.782</c:v>
                </c:pt>
                <c:pt idx="7">
                  <c:v>135826.639</c:v>
                </c:pt>
                <c:pt idx="8">
                  <c:v>141637.887</c:v>
                </c:pt>
                <c:pt idx="9">
                  <c:v>147714.562</c:v>
                </c:pt>
                <c:pt idx="10">
                  <c:v>154069.278</c:v>
                </c:pt>
              </c:numCache>
            </c:numRef>
          </c:val>
        </c:ser>
        <c:gapWidth val="219"/>
        <c:axId val="90210001"/>
        <c:axId val="90210002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13"/>
          <c:min val="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210001"/>
        <c:scaling>
          <c:orientation val="minMax"/>
        </c:scaling>
        <c:delete val="1"/>
        <c:axPos val="b"/>
        <c:crossAx val="90210002"/>
        <c:crosses val="autoZero"/>
      </c:catAx>
      <c:valAx>
        <c:axId val="90210002"/>
        <c:scaling>
          <c:orientation val="minMax"/>
          <c:max val="234802"/>
          <c:min val="0"/>
        </c:scaling>
        <c:delete val="0"/>
        <c:axPos val="r"/>
        <c:numFmt formatCode="#,##0" sourceLinked="0"/>
        <c:majorTickMark val="none"/>
        <c:minorTickMark val="none"/>
        <c:tickLblPos val="none"/>
        <c:spPr>
          <a:ln>
            <a:noFill/>
          </a:ln>
        </c:spPr>
        <c:crossAx val="90210001"/>
        <c:crosses val="max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Italy</c:v>
                </c:pt>
                <c:pt idx="1">
                  <c:v>U.K.</c:v>
                </c:pt>
                <c:pt idx="2">
                  <c:v>Spain</c:v>
                </c:pt>
                <c:pt idx="3">
                  <c:v>France</c:v>
                </c:pt>
                <c:pt idx="4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65.78603178155589</c:v>
                </c:pt>
                <c:pt idx="1">
                  <c:v>69.3361528417407</c:v>
                </c:pt>
                <c:pt idx="2">
                  <c:v>102.20039095731232</c:v>
                </c:pt>
                <c:pt idx="3">
                  <c:v>109.85948723965151</c:v>
                </c:pt>
                <c:pt idx="4">
                  <c:v>117.0677413636813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U.K.</c:v>
                </c:pt>
                <c:pt idx="1">
                  <c:v>Spain</c:v>
                </c:pt>
                <c:pt idx="2">
                  <c:v>Italy</c:v>
                </c:pt>
                <c:pt idx="3">
                  <c:v>France</c:v>
                </c:pt>
                <c:pt idx="4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5.466466964536032</c:v>
                </c:pt>
                <c:pt idx="1">
                  <c:v>6.791219504802702</c:v>
                </c:pt>
                <c:pt idx="2">
                  <c:v>11.404490267046876</c:v>
                </c:pt>
                <c:pt idx="3">
                  <c:v>13.402606062289887</c:v>
                </c:pt>
                <c:pt idx="4">
                  <c:v>51.48905216418345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Portable Integrated Solar Generators</c:v>
                </c:pt>
                <c:pt idx="1">
                  <c:v>Portable Modular Solar Generators</c:v>
                </c:pt>
                <c:pt idx="2">
                  <c:v>Fixed Residential Solar Power Generator Systems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280.678</c:v>
                </c:pt>
                <c:pt idx="1">
                  <c:v>463.783</c:v>
                </c:pt>
                <c:pt idx="2">
                  <c:v>199.17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Optimistic Scenario</c:v>
                </c:pt>
              </c:strCache>
            </c:strRef>
          </c:tx>
          <c:spPr>
            <a:ln w="28575">
              <a:solidFill>
                <a:srgbClr val="2E5F8A"/>
              </a:solidFill>
            </a:ln>
          </c:spPr>
          <c:marker>
            <c:symbol val="circle"/>
            <c:size val="6"/>
            <c:spPr>
              <a:solidFill>
                <a:srgbClr val="2E5F8A"/>
              </a:solidFill>
              <a:ln>
                <a:solidFill>
                  <a:srgbClr val="2E5F8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0.07151033034694987</c:v>
                </c:pt>
                <c:pt idx="1">
                  <c:v>0.07515061236991702</c:v>
                </c:pt>
                <c:pt idx="2">
                  <c:v>0.07518756954781516</c:v>
                </c:pt>
                <c:pt idx="3">
                  <c:v>0.07403265773849817</c:v>
                </c:pt>
                <c:pt idx="4">
                  <c:v>0.07072499031661432</c:v>
                </c:pt>
                <c:pt idx="5">
                  <c:v>0.0688678921272326</c:v>
                </c:pt>
                <c:pt idx="6">
                  <c:v>0.06613306096276998</c:v>
                </c:pt>
                <c:pt idx="7">
                  <c:v>0.06535696022690897</c:v>
                </c:pt>
                <c:pt idx="8">
                  <c:v>0.06397106605572858</c:v>
                </c:pt>
                <c:pt idx="9">
                  <c:v>0.06416509123969384</c:v>
                </c:pt>
                <c:pt idx="10">
                  <c:v>0.06277919706851345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Likely Scenario</c:v>
                </c:pt>
              </c:strCache>
            </c:strRef>
          </c:tx>
          <c:spPr>
            <a:ln w="28575">
              <a:solidFill>
                <a:srgbClr val="8B1A1A"/>
              </a:solidFill>
            </a:ln>
          </c:spPr>
          <c:marker>
            <c:symbol val="circle"/>
            <c:size val="6"/>
            <c:spPr>
              <a:solidFill>
                <a:srgbClr val="8B1A1A"/>
              </a:solidFill>
              <a:ln>
                <a:solidFill>
                  <a:srgbClr val="8B1A1A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0.06140826562309911</c:v>
                </c:pt>
                <c:pt idx="1">
                  <c:v>0.060377709543935086</c:v>
                </c:pt>
                <c:pt idx="2">
                  <c:v>0.05872012838046042</c:v>
                </c:pt>
                <c:pt idx="3">
                  <c:v>0.057559200749112985</c:v>
                </c:pt>
                <c:pt idx="4">
                  <c:v>0.0562368607198242</c:v>
                </c:pt>
                <c:pt idx="5">
                  <c:v>0.054995226889506095</c:v>
                </c:pt>
                <c:pt idx="6">
                  <c:v>0.0535487234771855</c:v>
                </c:pt>
                <c:pt idx="7">
                  <c:v>0.05182906062219493</c:v>
                </c:pt>
                <c:pt idx="8">
                  <c:v>0.05113995384636838</c:v>
                </c:pt>
                <c:pt idx="9">
                  <c:v>0.05057501045357364</c:v>
                </c:pt>
                <c:pt idx="10">
                  <c:v>0.04991694452350504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strCache>
                <c:ptCount val="1"/>
                <c:pt idx="0">
                  <c:v>Conservative Scenario</c:v>
                </c:pt>
              </c:strCache>
            </c:strRef>
          </c:tx>
          <c:spPr>
            <a:ln w="28575">
              <a:solidFill>
                <a:srgbClr val="A08000"/>
              </a:solidFill>
            </a:ln>
          </c:spPr>
          <c:marker>
            <c:symbol val="circle"/>
            <c:size val="6"/>
            <c:spPr>
              <a:solidFill>
                <a:srgbClr val="A08000"/>
              </a:solidFill>
              <a:ln>
                <a:solidFill>
                  <a:srgbClr val="A08000"/>
                </a:solidFill>
              </a:ln>
            </c:spPr>
          </c:marker>
          <c:cat>
            <c:strRe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0.03964455777934563</c:v>
                </c:pt>
                <c:pt idx="1">
                  <c:v>0.0371955723979182</c:v>
                </c:pt>
                <c:pt idx="2">
                  <c:v>0.0350527101891692</c:v>
                </c:pt>
                <c:pt idx="3">
                  <c:v>0.03566495653452606</c:v>
                </c:pt>
                <c:pt idx="4">
                  <c:v>0.03995068095202406</c:v>
                </c:pt>
                <c:pt idx="5">
                  <c:v>0.0436241590241652</c:v>
                </c:pt>
                <c:pt idx="6">
                  <c:v>0.04668539075094948</c:v>
                </c:pt>
                <c:pt idx="7">
                  <c:v>0.04729763709630634</c:v>
                </c:pt>
                <c:pt idx="8">
                  <c:v>0.044848651714878916</c:v>
                </c:pt>
                <c:pt idx="9">
                  <c:v>0.04301191267880834</c:v>
                </c:pt>
                <c:pt idx="10">
                  <c:v>0.041787419988094626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2140495176"/>
        <c:scaling>
          <c:min val="0.0"/>
        </c:scaling>
        <c:delete val="0"/>
        <c:axPos val="l"/>
        <c:numFmt formatCode="0.00%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41.501029519294924</c:v>
                </c:pt>
                <c:pt idx="1">
                  <c:v>45.12787617528785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18.903852127826532</c:v>
                </c:pt>
                <c:pt idx="1">
                  <c:v>15.624414102855729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11.976426446744124</c:v>
                </c:pt>
                <c:pt idx="1">
                  <c:v>12.794665007776567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8.698892715158602</c:v>
                </c:pt>
                <c:pt idx="1">
                  <c:v>7.517746010336987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6.6158243175967035</c:v>
                </c:pt>
                <c:pt idx="1">
                  <c:v>6.81722348306195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5.369650080327132</c:v>
                </c:pt>
                <c:pt idx="1">
                  <c:v>5.138590965552522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4.842641360634755</c:v>
                </c:pt>
                <c:pt idx="1">
                  <c:v>4.883558940283994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A86F0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2.0916834324172213</c:v>
                </c:pt>
                <c:pt idx="1">
                  <c:v>2.095925314844404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42.054160245970486</c:v>
                </c:pt>
                <c:pt idx="1">
                  <c:v>46.01279525577265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18.950608718514246</c:v>
                </c:pt>
                <c:pt idx="1">
                  <c:v>15.784453880807222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11.8882689316205</c:v>
                </c:pt>
                <c:pt idx="1">
                  <c:v>12.523645365614314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8.539586787120145</c:v>
                </c:pt>
                <c:pt idx="1">
                  <c:v>7.250185718782025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6.606805085921696</c:v>
                </c:pt>
                <c:pt idx="1">
                  <c:v>6.68418057482215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5.3572341466620905</c:v>
                </c:pt>
                <c:pt idx="1">
                  <c:v>5.159114102864361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4.4868798702958514</c:v>
                </c:pt>
                <c:pt idx="1">
                  <c:v>4.483108333660086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A86F00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2026</c:v>
                </c:pt>
                <c:pt idx="1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2.1164562138949954</c:v>
                </c:pt>
                <c:pt idx="1">
                  <c:v>2.102516767677196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34115.135</c:v>
                </c:pt>
                <c:pt idx="1">
                  <c:v>35594.196</c:v>
                </c:pt>
                <c:pt idx="2">
                  <c:v>37137.382</c:v>
                </c:pt>
                <c:pt idx="3">
                  <c:v>38747.473</c:v>
                </c:pt>
                <c:pt idx="4">
                  <c:v>40427.37</c:v>
                </c:pt>
                <c:pt idx="5">
                  <c:v>42180.098</c:v>
                </c:pt>
                <c:pt idx="6">
                  <c:v>44341.759</c:v>
                </c:pt>
                <c:pt idx="7">
                  <c:v>46614.202</c:v>
                </c:pt>
                <c:pt idx="8">
                  <c:v>49003.104</c:v>
                </c:pt>
                <c:pt idx="9">
                  <c:v>51514.433</c:v>
                </c:pt>
                <c:pt idx="10">
                  <c:v>54154.464</c:v>
                </c:pt>
                <c:pt idx="11">
                  <c:v>56929.792</c:v>
                </c:pt>
                <c:pt idx="12">
                  <c:v>59847.351</c:v>
                </c:pt>
                <c:pt idx="13">
                  <c:v>62914.43</c:v>
                </c:pt>
                <c:pt idx="14">
                  <c:v>66138.692</c:v>
                </c:pt>
                <c:pt idx="15">
                  <c:v>69528.193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17842.642</c:v>
                </c:pt>
                <c:pt idx="1">
                  <c:v>18108.694</c:v>
                </c:pt>
                <c:pt idx="2">
                  <c:v>18378.713</c:v>
                </c:pt>
                <c:pt idx="3">
                  <c:v>18652.759</c:v>
                </c:pt>
                <c:pt idx="4">
                  <c:v>18930.891</c:v>
                </c:pt>
                <c:pt idx="5">
                  <c:v>19213.17</c:v>
                </c:pt>
                <c:pt idx="6">
                  <c:v>19651.291</c:v>
                </c:pt>
                <c:pt idx="7">
                  <c:v>20099.404</c:v>
                </c:pt>
                <c:pt idx="8">
                  <c:v>20557.734</c:v>
                </c:pt>
                <c:pt idx="9">
                  <c:v>21026.516</c:v>
                </c:pt>
                <c:pt idx="10">
                  <c:v>21505.988</c:v>
                </c:pt>
                <c:pt idx="11">
                  <c:v>21996.393</c:v>
                </c:pt>
                <c:pt idx="12">
                  <c:v>22497.982</c:v>
                </c:pt>
                <c:pt idx="13">
                  <c:v>23011.007</c:v>
                </c:pt>
                <c:pt idx="14">
                  <c:v>23535.732</c:v>
                </c:pt>
                <c:pt idx="15">
                  <c:v>24072.422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9933.906</c:v>
                </c:pt>
                <c:pt idx="1">
                  <c:v>10345.97</c:v>
                </c:pt>
                <c:pt idx="2">
                  <c:v>10775.128</c:v>
                </c:pt>
                <c:pt idx="3">
                  <c:v>11222.086</c:v>
                </c:pt>
                <c:pt idx="4">
                  <c:v>11687.585</c:v>
                </c:pt>
                <c:pt idx="5">
                  <c:v>12172.393</c:v>
                </c:pt>
                <c:pt idx="6">
                  <c:v>12773.587</c:v>
                </c:pt>
                <c:pt idx="7">
                  <c:v>13404.474</c:v>
                </c:pt>
                <c:pt idx="8">
                  <c:v>14066.52</c:v>
                </c:pt>
                <c:pt idx="9">
                  <c:v>14761.265</c:v>
                </c:pt>
                <c:pt idx="10">
                  <c:v>15490.323</c:v>
                </c:pt>
                <c:pt idx="11">
                  <c:v>16255.389</c:v>
                </c:pt>
                <c:pt idx="12">
                  <c:v>17058.242</c:v>
                </c:pt>
                <c:pt idx="13">
                  <c:v>17900.747</c:v>
                </c:pt>
                <c:pt idx="14">
                  <c:v>18784.864</c:v>
                </c:pt>
                <c:pt idx="15">
                  <c:v>19712.648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8028.889</c:v>
                </c:pt>
                <c:pt idx="1">
                  <c:v>8185.155</c:v>
                </c:pt>
                <c:pt idx="2">
                  <c:v>8344.462</c:v>
                </c:pt>
                <c:pt idx="3">
                  <c:v>8506.87</c:v>
                </c:pt>
                <c:pt idx="4">
                  <c:v>8672.439</c:v>
                </c:pt>
                <c:pt idx="5">
                  <c:v>8841.23</c:v>
                </c:pt>
                <c:pt idx="6">
                  <c:v>9083.261</c:v>
                </c:pt>
                <c:pt idx="7">
                  <c:v>9331.918</c:v>
                </c:pt>
                <c:pt idx="8">
                  <c:v>9587.381</c:v>
                </c:pt>
                <c:pt idx="9">
                  <c:v>9849.838</c:v>
                </c:pt>
                <c:pt idx="10">
                  <c:v>10119.48</c:v>
                </c:pt>
                <c:pt idx="11">
                  <c:v>10396.503</c:v>
                </c:pt>
                <c:pt idx="12">
                  <c:v>10681.11</c:v>
                </c:pt>
                <c:pt idx="13">
                  <c:v>10973.508</c:v>
                </c:pt>
                <c:pt idx="14">
                  <c:v>11273.911</c:v>
                </c:pt>
                <c:pt idx="15">
                  <c:v>11582.537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5588.338</c:v>
                </c:pt>
                <c:pt idx="1">
                  <c:v>5798.994</c:v>
                </c:pt>
                <c:pt idx="2">
                  <c:v>6017.591</c:v>
                </c:pt>
                <c:pt idx="3">
                  <c:v>6244.428</c:v>
                </c:pt>
                <c:pt idx="4">
                  <c:v>6479.816</c:v>
                </c:pt>
                <c:pt idx="5">
                  <c:v>6724.077</c:v>
                </c:pt>
                <c:pt idx="6">
                  <c:v>7030.752</c:v>
                </c:pt>
                <c:pt idx="7">
                  <c:v>7351.414</c:v>
                </c:pt>
                <c:pt idx="8">
                  <c:v>7686.7</c:v>
                </c:pt>
                <c:pt idx="9">
                  <c:v>8037.279</c:v>
                </c:pt>
                <c:pt idx="10">
                  <c:v>8403.847</c:v>
                </c:pt>
                <c:pt idx="11">
                  <c:v>8787.133</c:v>
                </c:pt>
                <c:pt idx="12">
                  <c:v>9187.901</c:v>
                </c:pt>
                <c:pt idx="13">
                  <c:v>9606.947</c:v>
                </c:pt>
                <c:pt idx="14">
                  <c:v>10045.105</c:v>
                </c:pt>
                <c:pt idx="15">
                  <c:v>10503.247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4707.488</c:v>
                </c:pt>
                <c:pt idx="1">
                  <c:v>4848.756</c:v>
                </c:pt>
                <c:pt idx="2">
                  <c:v>4994.263</c:v>
                </c:pt>
                <c:pt idx="3">
                  <c:v>5144.137</c:v>
                </c:pt>
                <c:pt idx="4">
                  <c:v>5298.508</c:v>
                </c:pt>
                <c:pt idx="5">
                  <c:v>5457.512</c:v>
                </c:pt>
                <c:pt idx="6">
                  <c:v>5664.365</c:v>
                </c:pt>
                <c:pt idx="7">
                  <c:v>5879.058</c:v>
                </c:pt>
                <c:pt idx="8">
                  <c:v>6101.889</c:v>
                </c:pt>
                <c:pt idx="9">
                  <c:v>6333.166</c:v>
                </c:pt>
                <c:pt idx="10">
                  <c:v>6573.208</c:v>
                </c:pt>
                <c:pt idx="11">
                  <c:v>6822.349</c:v>
                </c:pt>
                <c:pt idx="12">
                  <c:v>7080.933</c:v>
                </c:pt>
                <c:pt idx="13">
                  <c:v>7349.318</c:v>
                </c:pt>
                <c:pt idx="14">
                  <c:v>7627.875</c:v>
                </c:pt>
                <c:pt idx="15">
                  <c:v>7916.99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4135.103</c:v>
                </c:pt>
                <c:pt idx="1">
                  <c:v>4281.69</c:v>
                </c:pt>
                <c:pt idx="2">
                  <c:v>4433.474</c:v>
                </c:pt>
                <c:pt idx="3">
                  <c:v>4590.639</c:v>
                </c:pt>
                <c:pt idx="4">
                  <c:v>4753.375</c:v>
                </c:pt>
                <c:pt idx="5">
                  <c:v>4921.88</c:v>
                </c:pt>
                <c:pt idx="6">
                  <c:v>5135.268</c:v>
                </c:pt>
                <c:pt idx="7">
                  <c:v>5357.908</c:v>
                </c:pt>
                <c:pt idx="8">
                  <c:v>5590.201</c:v>
                </c:pt>
                <c:pt idx="9">
                  <c:v>5832.565</c:v>
                </c:pt>
                <c:pt idx="10">
                  <c:v>6085.436</c:v>
                </c:pt>
                <c:pt idx="11">
                  <c:v>6349.271</c:v>
                </c:pt>
                <c:pt idx="12">
                  <c:v>6624.544</c:v>
                </c:pt>
                <c:pt idx="13">
                  <c:v>6911.752</c:v>
                </c:pt>
                <c:pt idx="14">
                  <c:v>7211.412</c:v>
                </c:pt>
                <c:pt idx="15">
                  <c:v>7524.064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A86F0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1791.83</c:v>
                </c:pt>
                <c:pt idx="1">
                  <c:v>1854.156</c:v>
                </c:pt>
                <c:pt idx="2">
                  <c:v>1918.651</c:v>
                </c:pt>
                <c:pt idx="3">
                  <c:v>1985.388</c:v>
                </c:pt>
                <c:pt idx="4">
                  <c:v>2054.448</c:v>
                </c:pt>
                <c:pt idx="5">
                  <c:v>2125.909</c:v>
                </c:pt>
                <c:pt idx="6">
                  <c:v>2216.662</c:v>
                </c:pt>
                <c:pt idx="7">
                  <c:v>2311.288</c:v>
                </c:pt>
                <c:pt idx="8">
                  <c:v>2409.955</c:v>
                </c:pt>
                <c:pt idx="9">
                  <c:v>2512.833</c:v>
                </c:pt>
                <c:pt idx="10">
                  <c:v>2620.103</c:v>
                </c:pt>
                <c:pt idx="11">
                  <c:v>2731.952</c:v>
                </c:pt>
                <c:pt idx="12">
                  <c:v>2848.576</c:v>
                </c:pt>
                <c:pt idx="13">
                  <c:v>2970.178</c:v>
                </c:pt>
                <c:pt idx="14">
                  <c:v>3096.971</c:v>
                </c:pt>
                <c:pt idx="15">
                  <c:v>3229.177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174.206</c:v>
                </c:pt>
                <c:pt idx="1">
                  <c:v>184.214</c:v>
                </c:pt>
                <c:pt idx="2">
                  <c:v>194.796</c:v>
                </c:pt>
                <c:pt idx="3">
                  <c:v>205.987</c:v>
                </c:pt>
                <c:pt idx="4">
                  <c:v>217.821</c:v>
                </c:pt>
                <c:pt idx="5">
                  <c:v>230.334</c:v>
                </c:pt>
                <c:pt idx="6">
                  <c:v>245.409</c:v>
                </c:pt>
                <c:pt idx="7">
                  <c:v>261.47</c:v>
                </c:pt>
                <c:pt idx="8">
                  <c:v>278.583</c:v>
                </c:pt>
                <c:pt idx="9">
                  <c:v>296.816</c:v>
                </c:pt>
                <c:pt idx="10">
                  <c:v>316.242</c:v>
                </c:pt>
                <c:pt idx="11">
                  <c:v>336.939</c:v>
                </c:pt>
                <c:pt idx="12">
                  <c:v>358.991</c:v>
                </c:pt>
                <c:pt idx="13">
                  <c:v>382.487</c:v>
                </c:pt>
                <c:pt idx="14">
                  <c:v>407.52</c:v>
                </c:pt>
                <c:pt idx="15">
                  <c:v>434.191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Italy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90.067</c:v>
                </c:pt>
                <c:pt idx="1">
                  <c:v>92.659</c:v>
                </c:pt>
                <c:pt idx="2">
                  <c:v>95.325</c:v>
                </c:pt>
                <c:pt idx="3">
                  <c:v>98.069</c:v>
                </c:pt>
                <c:pt idx="4">
                  <c:v>100.891</c:v>
                </c:pt>
                <c:pt idx="5">
                  <c:v>103.794</c:v>
                </c:pt>
                <c:pt idx="6">
                  <c:v>107.612</c:v>
                </c:pt>
                <c:pt idx="7">
                  <c:v>111.569</c:v>
                </c:pt>
                <c:pt idx="8">
                  <c:v>115.673</c:v>
                </c:pt>
                <c:pt idx="9">
                  <c:v>119.927</c:v>
                </c:pt>
                <c:pt idx="10">
                  <c:v>124.338</c:v>
                </c:pt>
                <c:pt idx="11">
                  <c:v>128.911</c:v>
                </c:pt>
                <c:pt idx="12">
                  <c:v>133.652</c:v>
                </c:pt>
                <c:pt idx="13">
                  <c:v>138.567</c:v>
                </c:pt>
                <c:pt idx="14">
                  <c:v>143.663</c:v>
                </c:pt>
                <c:pt idx="15">
                  <c:v>148.947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50.195</c:v>
                </c:pt>
                <c:pt idx="1">
                  <c:v>52.877</c:v>
                </c:pt>
                <c:pt idx="2">
                  <c:v>55.701</c:v>
                </c:pt>
                <c:pt idx="3">
                  <c:v>58.677</c:v>
                </c:pt>
                <c:pt idx="4">
                  <c:v>61.811</c:v>
                </c:pt>
                <c:pt idx="5">
                  <c:v>65.113</c:v>
                </c:pt>
                <c:pt idx="6">
                  <c:v>69.112</c:v>
                </c:pt>
                <c:pt idx="7">
                  <c:v>73.357</c:v>
                </c:pt>
                <c:pt idx="8">
                  <c:v>77.862</c:v>
                </c:pt>
                <c:pt idx="9">
                  <c:v>82.645</c:v>
                </c:pt>
                <c:pt idx="10">
                  <c:v>87.721</c:v>
                </c:pt>
                <c:pt idx="11">
                  <c:v>93.108</c:v>
                </c:pt>
                <c:pt idx="12">
                  <c:v>98.827</c:v>
                </c:pt>
                <c:pt idx="13">
                  <c:v>104.897</c:v>
                </c:pt>
                <c:pt idx="14">
                  <c:v>111.339</c:v>
                </c:pt>
                <c:pt idx="15">
                  <c:v>118.177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U.K.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40.197</c:v>
                </c:pt>
                <c:pt idx="1">
                  <c:v>41.434</c:v>
                </c:pt>
                <c:pt idx="2">
                  <c:v>42.708</c:v>
                </c:pt>
                <c:pt idx="3">
                  <c:v>44.022</c:v>
                </c:pt>
                <c:pt idx="4">
                  <c:v>45.376</c:v>
                </c:pt>
                <c:pt idx="5">
                  <c:v>46.772</c:v>
                </c:pt>
                <c:pt idx="6">
                  <c:v>48.585</c:v>
                </c:pt>
                <c:pt idx="7">
                  <c:v>50.469</c:v>
                </c:pt>
                <c:pt idx="8">
                  <c:v>52.425</c:v>
                </c:pt>
                <c:pt idx="9">
                  <c:v>54.457</c:v>
                </c:pt>
                <c:pt idx="10">
                  <c:v>56.568</c:v>
                </c:pt>
                <c:pt idx="11">
                  <c:v>58.761</c:v>
                </c:pt>
                <c:pt idx="12">
                  <c:v>61.038</c:v>
                </c:pt>
                <c:pt idx="13">
                  <c:v>63.404</c:v>
                </c:pt>
                <c:pt idx="14">
                  <c:v>65.862</c:v>
                </c:pt>
                <c:pt idx="15">
                  <c:v>68.415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28.47</c:v>
                </c:pt>
                <c:pt idx="1">
                  <c:v>29.869</c:v>
                </c:pt>
                <c:pt idx="2">
                  <c:v>31.336</c:v>
                </c:pt>
                <c:pt idx="3">
                  <c:v>32.876</c:v>
                </c:pt>
                <c:pt idx="4">
                  <c:v>34.491</c:v>
                </c:pt>
                <c:pt idx="5">
                  <c:v>36.186</c:v>
                </c:pt>
                <c:pt idx="6">
                  <c:v>38.254</c:v>
                </c:pt>
                <c:pt idx="7">
                  <c:v>40.439</c:v>
                </c:pt>
                <c:pt idx="8">
                  <c:v>42.75</c:v>
                </c:pt>
                <c:pt idx="9">
                  <c:v>45.192</c:v>
                </c:pt>
                <c:pt idx="10">
                  <c:v>47.775</c:v>
                </c:pt>
                <c:pt idx="11">
                  <c:v>50.504</c:v>
                </c:pt>
                <c:pt idx="12">
                  <c:v>53.39</c:v>
                </c:pt>
                <c:pt idx="13">
                  <c:v>56.44</c:v>
                </c:pt>
                <c:pt idx="14">
                  <c:v>59.665</c:v>
                </c:pt>
                <c:pt idx="15">
                  <c:v>63.074</c:v>
                </c:pt>
              </c:numCache>
            </c:numRef>
          </c:val>
        </c:ser>
        <c:ser>
          <c:idx val="5"/>
          <c:order val="5"/>
          <c:tx>
            <c:strRef>
              <c:strCache>
                <c:ptCount val="1"/>
                <c:pt idx="0">
                  <c:v>BENELUX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23.665</c:v>
                </c:pt>
                <c:pt idx="1">
                  <c:v>24.705</c:v>
                </c:pt>
                <c:pt idx="2">
                  <c:v>25.791</c:v>
                </c:pt>
                <c:pt idx="3">
                  <c:v>26.924</c:v>
                </c:pt>
                <c:pt idx="4">
                  <c:v>28.107</c:v>
                </c:pt>
                <c:pt idx="5">
                  <c:v>29.342</c:v>
                </c:pt>
                <c:pt idx="6">
                  <c:v>30.865</c:v>
                </c:pt>
                <c:pt idx="7">
                  <c:v>32.469</c:v>
                </c:pt>
                <c:pt idx="8">
                  <c:v>34.155</c:v>
                </c:pt>
                <c:pt idx="9">
                  <c:v>35.929</c:v>
                </c:pt>
                <c:pt idx="10">
                  <c:v>37.795</c:v>
                </c:pt>
                <c:pt idx="11">
                  <c:v>39.758</c:v>
                </c:pt>
                <c:pt idx="12">
                  <c:v>41.822</c:v>
                </c:pt>
                <c:pt idx="13">
                  <c:v>43.994</c:v>
                </c:pt>
                <c:pt idx="14">
                  <c:v>46.279</c:v>
                </c:pt>
                <c:pt idx="15">
                  <c:v>48.683</c:v>
                </c:pt>
              </c:numCache>
            </c:numRef>
          </c:val>
        </c:ser>
        <c:ser>
          <c:idx val="6"/>
          <c:order val="6"/>
          <c:tx>
            <c:strRef>
              <c:strCache>
                <c:ptCount val="1"/>
                <c:pt idx="0">
                  <c:v>Nordic Countries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19.457</c:v>
                </c:pt>
                <c:pt idx="1">
                  <c:v>20.387</c:v>
                </c:pt>
                <c:pt idx="2">
                  <c:v>21.362</c:v>
                </c:pt>
                <c:pt idx="3">
                  <c:v>22.383</c:v>
                </c:pt>
                <c:pt idx="4">
                  <c:v>23.454</c:v>
                </c:pt>
                <c:pt idx="5">
                  <c:v>24.575</c:v>
                </c:pt>
                <c:pt idx="6">
                  <c:v>25.947</c:v>
                </c:pt>
                <c:pt idx="7">
                  <c:v>27.395</c:v>
                </c:pt>
                <c:pt idx="8">
                  <c:v>28.924</c:v>
                </c:pt>
                <c:pt idx="9">
                  <c:v>30.539</c:v>
                </c:pt>
                <c:pt idx="10">
                  <c:v>32.243</c:v>
                </c:pt>
                <c:pt idx="11">
                  <c:v>34.043</c:v>
                </c:pt>
                <c:pt idx="12">
                  <c:v>35.943</c:v>
                </c:pt>
                <c:pt idx="13">
                  <c:v>37.949</c:v>
                </c:pt>
                <c:pt idx="14">
                  <c:v>40.067</c:v>
                </c:pt>
                <c:pt idx="15">
                  <c:v>42.304</c:v>
                </c:pt>
              </c:numCache>
            </c:numRef>
          </c:val>
        </c:ser>
        <c:ser>
          <c:idx val="7"/>
          <c:order val="7"/>
          <c:tx>
            <c:strRef>
              <c:strCache>
                <c:ptCount val="1"/>
                <c:pt idx="0">
                  <c:v>Rest of Western Europe</c:v>
                </c:pt>
              </c:strCache>
            </c:strRef>
          </c:tx>
          <c:spPr>
            <a:solidFill>
              <a:srgbClr val="A86F00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9.205</c:v>
                </c:pt>
                <c:pt idx="1">
                  <c:v>9.639</c:v>
                </c:pt>
                <c:pt idx="2">
                  <c:v>10.094</c:v>
                </c:pt>
                <c:pt idx="3">
                  <c:v>10.571</c:v>
                </c:pt>
                <c:pt idx="4">
                  <c:v>11.07</c:v>
                </c:pt>
                <c:pt idx="5">
                  <c:v>11.592</c:v>
                </c:pt>
                <c:pt idx="6">
                  <c:v>12.232</c:v>
                </c:pt>
                <c:pt idx="7">
                  <c:v>12.908</c:v>
                </c:pt>
                <c:pt idx="8">
                  <c:v>13.62</c:v>
                </c:pt>
                <c:pt idx="9">
                  <c:v>14.372</c:v>
                </c:pt>
                <c:pt idx="10">
                  <c:v>15.166</c:v>
                </c:pt>
                <c:pt idx="11">
                  <c:v>16.003</c:v>
                </c:pt>
                <c:pt idx="12">
                  <c:v>16.886</c:v>
                </c:pt>
                <c:pt idx="13">
                  <c:v>17.819</c:v>
                </c:pt>
                <c:pt idx="14">
                  <c:v>18.802</c:v>
                </c:pt>
                <c:pt idx="15">
                  <c:v>19.84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Portable Integrated Solar Generators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23.88608870967742</c:v>
                </c:pt>
                <c:pt idx="1">
                  <c:v>31.004160363086232</c:v>
                </c:pt>
                <c:pt idx="2">
                  <c:v>33.601051701826094</c:v>
                </c:pt>
                <c:pt idx="3">
                  <c:v>23.586580841551193</c:v>
                </c:pt>
                <c:pt idx="4">
                  <c:v>28.378279617043052</c:v>
                </c:pt>
                <c:pt idx="5">
                  <c:v>31.634751262936106</c:v>
                </c:pt>
                <c:pt idx="6">
                  <c:v>35.12390313332931</c:v>
                </c:pt>
                <c:pt idx="7">
                  <c:v>28.20694118487025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Portable Modular Solar Generators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53.135080645161295</c:v>
                </c:pt>
                <c:pt idx="1">
                  <c:v>43.63653555219364</c:v>
                </c:pt>
                <c:pt idx="2">
                  <c:v>39.327896801758314</c:v>
                </c:pt>
                <c:pt idx="3">
                  <c:v>51.2461553096363</c:v>
                </c:pt>
                <c:pt idx="4">
                  <c:v>52.085069063801804</c:v>
                </c:pt>
                <c:pt idx="5">
                  <c:v>50.0918114353893</c:v>
                </c:pt>
                <c:pt idx="6">
                  <c:v>46.14997280912003</c:v>
                </c:pt>
                <c:pt idx="7">
                  <c:v>50.609524379823625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Fixed Residential Solar Power Generator Systems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22.978830645161292</c:v>
                </c:pt>
                <c:pt idx="1">
                  <c:v>25.35930408472012</c:v>
                </c:pt>
                <c:pt idx="2">
                  <c:v>27.07105149641558</c:v>
                </c:pt>
                <c:pt idx="3">
                  <c:v>25.167263848812503</c:v>
                </c:pt>
                <c:pt idx="4">
                  <c:v>19.53665131915516</c:v>
                </c:pt>
                <c:pt idx="5">
                  <c:v>18.27343730167461</c:v>
                </c:pt>
                <c:pt idx="6">
                  <c:v>18.72612405755067</c:v>
                </c:pt>
                <c:pt idx="7">
                  <c:v>21.18353443530612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Portable Integrated Solar Generators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69.39703604155383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105.06857668684775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280.678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Portable Modular Solar Generators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136.73742891061198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121.61023757184486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463.783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Fixed Residential Solar Power Generator Systems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72.50532938994287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73.32118574130742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199.17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60.0"/>
          <c:min val="5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140.0"/>
          <c:min val="6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191.823</c:v>
                </c:pt>
                <c:pt idx="2">
                  <c:v>207.939</c:v>
                </c:pt>
                <c:pt idx="3">
                  <c:v>224.992</c:v>
                </c:pt>
                <c:pt idx="4">
                  <c:v>242.894</c:v>
                </c:pt>
                <c:pt idx="5">
                  <c:v>261.522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191.823</c:v>
                </c:pt>
                <c:pt idx="1">
                  <c:v>16.115999999999985</c:v>
                </c:pt>
                <c:pt idx="2">
                  <c:v>17.052999999999997</c:v>
                </c:pt>
                <c:pt idx="3">
                  <c:v>17.902000000000015</c:v>
                </c:pt>
                <c:pt idx="4">
                  <c:v>18.627999999999986</c:v>
                </c:pt>
                <c:pt idx="5">
                  <c:v>19.156000000000006</c:v>
                </c:pt>
                <c:pt idx="6">
                  <c:v>280.678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222.023</c:v>
                </c:pt>
                <c:pt idx="2">
                  <c:v>256.568</c:v>
                </c:pt>
                <c:pt idx="3">
                  <c:v>296.872</c:v>
                </c:pt>
                <c:pt idx="4">
                  <c:v>343.981</c:v>
                </c:pt>
                <c:pt idx="5">
                  <c:v>399.122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222.023</c:v>
                </c:pt>
                <c:pt idx="1">
                  <c:v>34.54499999999999</c:v>
                </c:pt>
                <c:pt idx="2">
                  <c:v>40.30400000000003</c:v>
                </c:pt>
                <c:pt idx="3">
                  <c:v>47.10899999999998</c:v>
                </c:pt>
                <c:pt idx="4">
                  <c:v>55.14100000000002</c:v>
                </c:pt>
                <c:pt idx="5">
                  <c:v>64.661</c:v>
                </c:pt>
                <c:pt idx="6">
                  <c:v>463.783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133.862</c:v>
                </c:pt>
                <c:pt idx="2">
                  <c:v>145.569</c:v>
                </c:pt>
                <c:pt idx="3">
                  <c:v>158.013</c:v>
                </c:pt>
                <c:pt idx="4">
                  <c:v>171.152</c:v>
                </c:pt>
                <c:pt idx="5">
                  <c:v>184.913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133.862</c:v>
                </c:pt>
                <c:pt idx="1">
                  <c:v>11.706999999999994</c:v>
                </c:pt>
                <c:pt idx="2">
                  <c:v>12.444000000000017</c:v>
                </c:pt>
                <c:pt idx="3">
                  <c:v>13.138999999999982</c:v>
                </c:pt>
                <c:pt idx="4">
                  <c:v>13.761000000000024</c:v>
                </c:pt>
                <c:pt idx="5">
                  <c:v>14.256999999999977</c:v>
                </c:pt>
                <c:pt idx="6">
                  <c:v>199.17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Modular Solar Generators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37.09898911960171</c:v>
                </c:pt>
                <c:pt idx="1">
                  <c:v>40.536745857281616</c:v>
                </c:pt>
                <c:pt idx="2">
                  <c:v>49.14876683788473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Integrated Solar Generators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37.16604433911569</c:v>
                </c:pt>
                <c:pt idx="1">
                  <c:v>35.02285889561592</c:v>
                </c:pt>
                <c:pt idx="2">
                  <c:v>29.74446579224294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Fixed Residential Solar Power Generator Systems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25.734966541282596</c:v>
                </c:pt>
                <c:pt idx="1">
                  <c:v>24.44039524710247</c:v>
                </c:pt>
                <c:pt idx="2">
                  <c:v>21.106767369872333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Up to 1 kWh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31.794354838709673</c:v>
                </c:pt>
                <c:pt idx="1">
                  <c:v>35.49546142208774</c:v>
                </c:pt>
                <c:pt idx="2">
                  <c:v>31.78933097795945</c:v>
                </c:pt>
                <c:pt idx="3">
                  <c:v>32.31283888765577</c:v>
                </c:pt>
                <c:pt idx="4">
                  <c:v>23.408609223123587</c:v>
                </c:pt>
                <c:pt idx="5">
                  <c:v>34.6928759403268</c:v>
                </c:pt>
                <c:pt idx="6">
                  <c:v>36.33440082713986</c:v>
                </c:pt>
                <c:pt idx="7">
                  <c:v>33.474208355309074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Above 1–3 kWh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18.865927419354836</c:v>
                </c:pt>
                <c:pt idx="1">
                  <c:v>14.50926626323752</c:v>
                </c:pt>
                <c:pt idx="2">
                  <c:v>18.513649528582874</c:v>
                </c:pt>
                <c:pt idx="3">
                  <c:v>18.620984874908835</c:v>
                </c:pt>
                <c:pt idx="4">
                  <c:v>23.19666739750055</c:v>
                </c:pt>
                <c:pt idx="5">
                  <c:v>17.390016669910388</c:v>
                </c:pt>
                <c:pt idx="6">
                  <c:v>16.32258454349534</c:v>
                </c:pt>
                <c:pt idx="7">
                  <c:v>18.043672024523765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Above 3–10 kWh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15.645161290322578</c:v>
                </c:pt>
                <c:pt idx="1">
                  <c:v>16.38142965204236</c:v>
                </c:pt>
                <c:pt idx="2">
                  <c:v>18.137748289957482</c:v>
                </c:pt>
                <c:pt idx="3">
                  <c:v>15.025208485271268</c:v>
                </c:pt>
                <c:pt idx="4">
                  <c:v>20.33326024994519</c:v>
                </c:pt>
                <c:pt idx="5">
                  <c:v>16.414361508584584</c:v>
                </c:pt>
                <c:pt idx="6">
                  <c:v>14.237950411891479</c:v>
                </c:pt>
                <c:pt idx="7">
                  <c:v>15.08713907013273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Above 10–20 kWh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24.576612903225804</c:v>
                </c:pt>
                <c:pt idx="1">
                  <c:v>25.439674735249625</c:v>
                </c:pt>
                <c:pt idx="2">
                  <c:v>24.162438633609266</c:v>
                </c:pt>
                <c:pt idx="3">
                  <c:v>22.28334971620636</c:v>
                </c:pt>
                <c:pt idx="4">
                  <c:v>20.086238398012135</c:v>
                </c:pt>
                <c:pt idx="5">
                  <c:v>22.487455257791282</c:v>
                </c:pt>
                <c:pt idx="6">
                  <c:v>24.5818982591123</c:v>
                </c:pt>
                <c:pt idx="7">
                  <c:v>22.147395961685064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Above 20 kWh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3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3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3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3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3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3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9.117943548387094</c:v>
                </c:pt>
                <c:pt idx="1">
                  <c:v>8.174167927382753</c:v>
                </c:pt>
                <c:pt idx="2">
                  <c:v>7.396832569890926</c:v>
                </c:pt>
                <c:pt idx="3">
                  <c:v>11.757618035957766</c:v>
                </c:pt>
                <c:pt idx="4">
                  <c:v>12.97522473141855</c:v>
                </c:pt>
                <c:pt idx="5">
                  <c:v>9.015290623386955</c:v>
                </c:pt>
                <c:pt idx="6">
                  <c:v>8.523165958361027</c:v>
                </c:pt>
                <c:pt idx="7">
                  <c:v>11.247584588349365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Up to 1 kWh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98.02583814904668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167.9435027423371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313.656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Above 1–3 kWh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85.39536567624096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97.18590928012735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169.716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Above 3–10 kWh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68.67291673543357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92.92542741752902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148.364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Above 10–20 kWh</c:v>
                </c:pt>
              </c:strCache>
            </c:strRef>
          </c:tx>
          <c:spPr>
            <a:solidFill>
              <a:srgbClr val="40315E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132.38337658488715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95.90968180125175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214.549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strCache>
                <c:ptCount val="1"/>
                <c:pt idx="0">
                  <c:v>Above 20 kWh</c:v>
                </c:pt>
              </c:strCache>
            </c:strRef>
          </c:tx>
          <c:spPr>
            <a:solidFill>
              <a:srgbClr val="A35313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121.60335390968386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46.03547875875465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97.346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50.0"/>
          <c:min val="5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0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183.968</c:v>
                </c:pt>
                <c:pt idx="2">
                  <c:v>204.505</c:v>
                </c:pt>
                <c:pt idx="3">
                  <c:v>227.437</c:v>
                </c:pt>
                <c:pt idx="4">
                  <c:v>253.047</c:v>
                </c:pt>
                <c:pt idx="5">
                  <c:v>281.666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183.968</c:v>
                </c:pt>
                <c:pt idx="1">
                  <c:v>20.537000000000006</c:v>
                </c:pt>
                <c:pt idx="2">
                  <c:v>22.932000000000016</c:v>
                </c:pt>
                <c:pt idx="3">
                  <c:v>25.609999999999985</c:v>
                </c:pt>
                <c:pt idx="4">
                  <c:v>28.619</c:v>
                </c:pt>
                <c:pt idx="5">
                  <c:v>31.99000000000001</c:v>
                </c:pt>
                <c:pt idx="6">
                  <c:v>313.656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106.459</c:v>
                </c:pt>
                <c:pt idx="2">
                  <c:v>116.858</c:v>
                </c:pt>
                <c:pt idx="3">
                  <c:v>128.28</c:v>
                </c:pt>
                <c:pt idx="4">
                  <c:v>140.828</c:v>
                </c:pt>
                <c:pt idx="5">
                  <c:v>154.599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106.459</c:v>
                </c:pt>
                <c:pt idx="1">
                  <c:v>10.399000000000001</c:v>
                </c:pt>
                <c:pt idx="2">
                  <c:v>11.421999999999997</c:v>
                </c:pt>
                <c:pt idx="3">
                  <c:v>12.548000000000002</c:v>
                </c:pt>
                <c:pt idx="4">
                  <c:v>13.770999999999987</c:v>
                </c:pt>
                <c:pt idx="5">
                  <c:v>15.117000000000019</c:v>
                </c:pt>
                <c:pt idx="6">
                  <c:v>169.716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101.792</c:v>
                </c:pt>
                <c:pt idx="2">
                  <c:v>109.982</c:v>
                </c:pt>
                <c:pt idx="3">
                  <c:v>118.725</c:v>
                </c:pt>
                <c:pt idx="4">
                  <c:v>128.032</c:v>
                </c:pt>
                <c:pt idx="5">
                  <c:v>137.914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101.792</c:v>
                </c:pt>
                <c:pt idx="1">
                  <c:v>8.189999999999998</c:v>
                </c:pt>
                <c:pt idx="2">
                  <c:v>8.742999999999995</c:v>
                </c:pt>
                <c:pt idx="3">
                  <c:v>9.307000000000016</c:v>
                </c:pt>
                <c:pt idx="4">
                  <c:v>9.881999999999977</c:v>
                </c:pt>
                <c:pt idx="5">
                  <c:v>10.450000000000017</c:v>
                </c:pt>
                <c:pt idx="6">
                  <c:v>148.364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105.061</c:v>
                </c:pt>
                <c:pt idx="2">
                  <c:v>121.249</c:v>
                </c:pt>
                <c:pt idx="3">
                  <c:v>139.89</c:v>
                </c:pt>
                <c:pt idx="4">
                  <c:v>161.358</c:v>
                </c:pt>
                <c:pt idx="5">
                  <c:v>186.08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105.061</c:v>
                </c:pt>
                <c:pt idx="1">
                  <c:v>16.187999999999988</c:v>
                </c:pt>
                <c:pt idx="2">
                  <c:v>18.64099999999999</c:v>
                </c:pt>
                <c:pt idx="3">
                  <c:v>21.468000000000018</c:v>
                </c:pt>
                <c:pt idx="4">
                  <c:v>24.72200000000001</c:v>
                </c:pt>
                <c:pt idx="5">
                  <c:v>28.468999999999994</c:v>
                </c:pt>
                <c:pt idx="6">
                  <c:v>214.549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50.428</c:v>
                </c:pt>
                <c:pt idx="2">
                  <c:v>57.482</c:v>
                </c:pt>
                <c:pt idx="3">
                  <c:v>65.545</c:v>
                </c:pt>
                <c:pt idx="4">
                  <c:v>74.762</c:v>
                </c:pt>
                <c:pt idx="5">
                  <c:v>85.298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50.428</c:v>
                </c:pt>
                <c:pt idx="1">
                  <c:v>7.054000000000002</c:v>
                </c:pt>
                <c:pt idx="2">
                  <c:v>8.063000000000002</c:v>
                </c:pt>
                <c:pt idx="3">
                  <c:v>9.216999999999999</c:v>
                </c:pt>
                <c:pt idx="4">
                  <c:v>10.536000000000001</c:v>
                </c:pt>
                <c:pt idx="5">
                  <c:v>12.048000000000002</c:v>
                </c:pt>
                <c:pt idx="6">
                  <c:v>97.346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Up to 1 kWh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33.75426558459751</c:v>
                </c:pt>
                <c:pt idx="1">
                  <c:v>33.58870054846743</c:v>
                </c:pt>
                <c:pt idx="2">
                  <c:v>33.23926407674186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10–20 kWh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17.48924131152661</c:v>
                </c:pt>
                <c:pt idx="1">
                  <c:v>19.181936360250354</c:v>
                </c:pt>
                <c:pt idx="2">
                  <c:v>22.73653578570437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1–3 kWh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20.126440424193156</c:v>
                </c:pt>
                <c:pt idx="1">
                  <c:v>19.437181856025475</c:v>
                </c:pt>
                <c:pt idx="2">
                  <c:v>17.985420148341884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3–10 kWh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19.947779599597666</c:v>
                </c:pt>
                <c:pt idx="1">
                  <c:v>18.58508548350581</c:v>
                </c:pt>
                <c:pt idx="2">
                  <c:v>15.722671256031223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20 kWh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8.682273080085059</c:v>
                </c:pt>
                <c:pt idx="1">
                  <c:v>9.207095751750934</c:v>
                </c:pt>
                <c:pt idx="2">
                  <c:v>10.31610873318066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Lithium Iron Phosphate (LFP)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37.983870967741936</c:v>
                </c:pt>
                <c:pt idx="1">
                  <c:v>35.117246596066565</c:v>
                </c:pt>
                <c:pt idx="2">
                  <c:v>33.073146683647266</c:v>
                </c:pt>
                <c:pt idx="3">
                  <c:v>40.14015283635095</c:v>
                </c:pt>
                <c:pt idx="4">
                  <c:v>39.55857633559892</c:v>
                </c:pt>
                <c:pt idx="5">
                  <c:v>38.917048156578694</c:v>
                </c:pt>
                <c:pt idx="6">
                  <c:v>43.10459425164656</c:v>
                </c:pt>
                <c:pt idx="7">
                  <c:v>40.21041431075264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Nickel-Based Lithium-Ion Batteries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&quot;;&quot;MMM&quot;;&quot;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12.620967741935484</c:v>
                </c:pt>
                <c:pt idx="1">
                  <c:v>14.126323751891073</c:v>
                </c:pt>
                <c:pt idx="2">
                  <c:v>12.150031838629504</c:v>
                </c:pt>
                <c:pt idx="3">
                  <c:v>8.540761645051841</c:v>
                </c:pt>
                <c:pt idx="4">
                  <c:v>8.113717751954983</c:v>
                </c:pt>
                <c:pt idx="5">
                  <c:v>11.492930096380855</c:v>
                </c:pt>
                <c:pt idx="6">
                  <c:v>9.793416450146696</c:v>
                </c:pt>
                <c:pt idx="7">
                  <c:v>8.970015500090973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Lead-Acid Batteries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22.510080645161292</c:v>
                </c:pt>
                <c:pt idx="1">
                  <c:v>18.823279122541603</c:v>
                </c:pt>
                <c:pt idx="2">
                  <c:v>21.270258611835757</c:v>
                </c:pt>
                <c:pt idx="3">
                  <c:v>22.013825030916063</c:v>
                </c:pt>
                <c:pt idx="4">
                  <c:v>23.890959584886357</c:v>
                </c:pt>
                <c:pt idx="5">
                  <c:v>20.735845384465676</c:v>
                </c:pt>
                <c:pt idx="6">
                  <c:v>15.599508550021149</c:v>
                </c:pt>
                <c:pt idx="7">
                  <c:v>19.082615715203676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Other Battery Technologies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3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26.885080645161292</c:v>
                </c:pt>
                <c:pt idx="1">
                  <c:v>31.933150529500754</c:v>
                </c:pt>
                <c:pt idx="2">
                  <c:v>33.50656286588748</c:v>
                </c:pt>
                <c:pt idx="3">
                  <c:v>29.30526048768114</c:v>
                </c:pt>
                <c:pt idx="4">
                  <c:v>28.436746327559746</c:v>
                </c:pt>
                <c:pt idx="5">
                  <c:v>28.85417636257478</c:v>
                </c:pt>
                <c:pt idx="6">
                  <c:v>31.502480748185597</c:v>
                </c:pt>
                <c:pt idx="7">
                  <c:v>31.736954473952707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Lithium Iron Phosphate (LFP)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59.9070032784231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197.3489523614773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375.659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Nickel-Based Lithium-Ion Batteries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92.69518553305755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40.73703506247855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92.449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Lead-Acid Batteries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147.14677022202252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60.823650558326705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183.609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Other Battery Technologies</c:v>
                </c:pt>
              </c:strCache>
            </c:strRef>
          </c:tx>
          <c:spPr>
            <a:solidFill>
              <a:srgbClr val="40315E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138.57343213863945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101.09036201771747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291.914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70.0"/>
          <c:min val="3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5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270.224</c:v>
                </c:pt>
                <c:pt idx="2">
                  <c:v>289.253</c:v>
                </c:pt>
                <c:pt idx="3">
                  <c:v>309.329</c:v>
                </c:pt>
                <c:pt idx="4">
                  <c:v>330.438</c:v>
                </c:pt>
                <c:pt idx="5">
                  <c:v>352.563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270.224</c:v>
                </c:pt>
                <c:pt idx="1">
                  <c:v>19.028999999999996</c:v>
                </c:pt>
                <c:pt idx="2">
                  <c:v>20.076000000000022</c:v>
                </c:pt>
                <c:pt idx="3">
                  <c:v>21.10899999999998</c:v>
                </c:pt>
                <c:pt idx="4">
                  <c:v>22.125</c:v>
                </c:pt>
                <c:pt idx="5">
                  <c:v>23.096000000000004</c:v>
                </c:pt>
                <c:pt idx="6">
                  <c:v>375.659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55.78</c:v>
                </c:pt>
                <c:pt idx="2">
                  <c:v>61.659</c:v>
                </c:pt>
                <c:pt idx="3">
                  <c:v>68.187</c:v>
                </c:pt>
                <c:pt idx="4">
                  <c:v>75.44</c:v>
                </c:pt>
                <c:pt idx="5">
                  <c:v>83.496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55.78</c:v>
                </c:pt>
                <c:pt idx="1">
                  <c:v>5.878999999999998</c:v>
                </c:pt>
                <c:pt idx="2">
                  <c:v>6.527999999999999</c:v>
                </c:pt>
                <c:pt idx="3">
                  <c:v>7.253</c:v>
                </c:pt>
                <c:pt idx="4">
                  <c:v>8.055999999999997</c:v>
                </c:pt>
                <c:pt idx="5">
                  <c:v>8.953000000000003</c:v>
                </c:pt>
                <c:pt idx="6">
                  <c:v>92.449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83.284</c:v>
                </c:pt>
                <c:pt idx="2">
                  <c:v>98.004</c:v>
                </c:pt>
                <c:pt idx="3">
                  <c:v>115.025</c:v>
                </c:pt>
                <c:pt idx="4">
                  <c:v>134.694</c:v>
                </c:pt>
                <c:pt idx="5">
                  <c:v>157.404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83.284</c:v>
                </c:pt>
                <c:pt idx="1">
                  <c:v>14.719999999999999</c:v>
                </c:pt>
                <c:pt idx="2">
                  <c:v>17.021</c:v>
                </c:pt>
                <c:pt idx="3">
                  <c:v>19.668999999999983</c:v>
                </c:pt>
                <c:pt idx="4">
                  <c:v>22.710000000000008</c:v>
                </c:pt>
                <c:pt idx="5">
                  <c:v>26.205000000000013</c:v>
                </c:pt>
                <c:pt idx="6">
                  <c:v>183.609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138.42</c:v>
                </c:pt>
                <c:pt idx="2">
                  <c:v>161.16</c:v>
                </c:pt>
                <c:pt idx="3">
                  <c:v>187.336</c:v>
                </c:pt>
                <c:pt idx="4">
                  <c:v>217.455</c:v>
                </c:pt>
                <c:pt idx="5">
                  <c:v>252.094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138.42</c:v>
                </c:pt>
                <c:pt idx="1">
                  <c:v>22.74000000000001</c:v>
                </c:pt>
                <c:pt idx="2">
                  <c:v>26.176000000000016</c:v>
                </c:pt>
                <c:pt idx="3">
                  <c:v>30.119</c:v>
                </c:pt>
                <c:pt idx="4">
                  <c:v>34.63899999999998</c:v>
                </c:pt>
                <c:pt idx="5">
                  <c:v>39.81999999999999</c:v>
                </c:pt>
                <c:pt idx="6">
                  <c:v>291.914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Lithium Iron Phosphate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54.191180860786936</c:v>
                </c:pt>
                <c:pt idx="1">
                  <c:v>49.337238090369326</c:v>
                </c:pt>
                <c:pt idx="2">
                  <c:v>39.80994689661531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Other Battery Technologies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22.389094800464793</c:v>
                </c:pt>
                <c:pt idx="1">
                  <c:v>25.272590504429367</c:v>
                </c:pt>
                <c:pt idx="2">
                  <c:v>30.935185469744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Lead-Acid Batteries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13.043158760121434</c:v>
                </c:pt>
                <c:pt idx="1">
                  <c:v>15.205912639581676</c:v>
                </c:pt>
                <c:pt idx="2">
                  <c:v>19.457711753852937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Nickel-Based Lithium-Ion Batteries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10.376565578626838</c:v>
                </c:pt>
                <c:pt idx="1">
                  <c:v>10.184258765619637</c:v>
                </c:pt>
                <c:pt idx="2">
                  <c:v>9.797155879787756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Fixed Grid-Connected Systems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39.76310483870968</c:v>
                </c:pt>
                <c:pt idx="1">
                  <c:v>45.32195537065052</c:v>
                </c:pt>
                <c:pt idx="2">
                  <c:v>51.97913029188834</c:v>
                </c:pt>
                <c:pt idx="3">
                  <c:v>51.26676602086439</c:v>
                </c:pt>
                <c:pt idx="4">
                  <c:v>43.253672440254334</c:v>
                </c:pt>
                <c:pt idx="5">
                  <c:v>40.567115428552086</c:v>
                </c:pt>
                <c:pt idx="6">
                  <c:v>49.543797458156256</c:v>
                </c:pt>
                <c:pt idx="7">
                  <c:v>42.48775308562361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Fixed Off-Grid Systems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60.23689516129033</c:v>
                </c:pt>
                <c:pt idx="1">
                  <c:v>54.678044629349465</c:v>
                </c:pt>
                <c:pt idx="2">
                  <c:v>48.02086970811166</c:v>
                </c:pt>
                <c:pt idx="3">
                  <c:v>48.73323397913562</c:v>
                </c:pt>
                <c:pt idx="4">
                  <c:v>56.74632755974568</c:v>
                </c:pt>
                <c:pt idx="5">
                  <c:v>59.43288457144791</c:v>
                </c:pt>
                <c:pt idx="6">
                  <c:v>50.456202541843744</c:v>
                </c:pt>
                <c:pt idx="7">
                  <c:v>57.512246914376384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Fixed Grid-Connected Systems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66.63417587473133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106.51478525053494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420.508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Fixed Off-Grid Systems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132.4969891333685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93.48521474946504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523.123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50.0"/>
          <c:min val="5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120.0"/>
          <c:min val="8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291.695</c:v>
                </c:pt>
                <c:pt idx="2">
                  <c:v>314.913</c:v>
                </c:pt>
                <c:pt idx="3">
                  <c:v>339.473</c:v>
                </c:pt>
                <c:pt idx="4">
                  <c:v>365.328</c:v>
                </c:pt>
                <c:pt idx="5">
                  <c:v>392.386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291.695</c:v>
                </c:pt>
                <c:pt idx="1">
                  <c:v>23.218000000000018</c:v>
                </c:pt>
                <c:pt idx="2">
                  <c:v>24.560000000000002</c:v>
                </c:pt>
                <c:pt idx="3">
                  <c:v>25.85499999999996</c:v>
                </c:pt>
                <c:pt idx="4">
                  <c:v>27.05800000000005</c:v>
                </c:pt>
                <c:pt idx="5">
                  <c:v>28.121999999999957</c:v>
                </c:pt>
                <c:pt idx="6">
                  <c:v>420.508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256.013</c:v>
                </c:pt>
                <c:pt idx="2">
                  <c:v>295.163</c:v>
                </c:pt>
                <c:pt idx="3">
                  <c:v>340.404</c:v>
                </c:pt>
                <c:pt idx="4">
                  <c:v>392.699</c:v>
                </c:pt>
                <c:pt idx="5">
                  <c:v>453.171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256.013</c:v>
                </c:pt>
                <c:pt idx="1">
                  <c:v>39.150000000000034</c:v>
                </c:pt>
                <c:pt idx="2">
                  <c:v>45.240999999999985</c:v>
                </c:pt>
                <c:pt idx="3">
                  <c:v>52.295000000000016</c:v>
                </c:pt>
                <c:pt idx="4">
                  <c:v>60.47199999999998</c:v>
                </c:pt>
                <c:pt idx="5">
                  <c:v>69.95200000000006</c:v>
                </c:pt>
                <c:pt idx="6">
                  <c:v>523.123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Off-Grid Systems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42.84185531688184</c:v>
                </c:pt>
                <c:pt idx="1">
                  <c:v>46.74260737473252</c:v>
                </c:pt>
                <c:pt idx="2">
                  <c:v>55.43724188798376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Grid-Connected Systems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57.15814468311816</c:v>
                </c:pt>
                <c:pt idx="1">
                  <c:v>53.25739262526747</c:v>
                </c:pt>
                <c:pt idx="2">
                  <c:v>44.56275811201624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Emergency Power Backup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25.524193548387096</c:v>
                </c:pt>
                <c:pt idx="1">
                  <c:v>22.822900907715578</c:v>
                </c:pt>
                <c:pt idx="2">
                  <c:v>31.573649939403897</c:v>
                </c:pt>
                <c:pt idx="3">
                  <c:v>29.270380822525922</c:v>
                </c:pt>
                <c:pt idx="4">
                  <c:v>27.074471972520648</c:v>
                </c:pt>
                <c:pt idx="5">
                  <c:v>29.471893854134056</c:v>
                </c:pt>
                <c:pt idx="6">
                  <c:v>23.80309774617817</c:v>
                </c:pt>
                <c:pt idx="7">
                  <c:v>28.11919178426084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Residential Solar Self-Consumption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29.868951612903228</c:v>
                </c:pt>
                <c:pt idx="1">
                  <c:v>29.82933055975794</c:v>
                </c:pt>
                <c:pt idx="2">
                  <c:v>26.85331635273093</c:v>
                </c:pt>
                <c:pt idx="3">
                  <c:v>32.64895202460602</c:v>
                </c:pt>
                <c:pt idx="4">
                  <c:v>21.955711466783605</c:v>
                </c:pt>
                <c:pt idx="5">
                  <c:v>26.316457517114163</c:v>
                </c:pt>
                <c:pt idx="6">
                  <c:v>21.576131107038073</c:v>
                </c:pt>
                <c:pt idx="7">
                  <c:v>28.23089377716258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Primary Off-Grid Household Power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13.775201612903226</c:v>
                </c:pt>
                <c:pt idx="1">
                  <c:v>13.126418305597578</c:v>
                </c:pt>
                <c:pt idx="2">
                  <c:v>10.143171127498302</c:v>
                </c:pt>
                <c:pt idx="3">
                  <c:v>8.807115451691663</c:v>
                </c:pt>
                <c:pt idx="4">
                  <c:v>13.852225389169043</c:v>
                </c:pt>
                <c:pt idx="5">
                  <c:v>9.899557443495773</c:v>
                </c:pt>
                <c:pt idx="6">
                  <c:v>12.841480526630278</c:v>
                </c:pt>
                <c:pt idx="7">
                  <c:v>10.182845798277716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Supplemental Household Power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30.83165322580645</c:v>
                </c:pt>
                <c:pt idx="1">
                  <c:v>34.22135022692889</c:v>
                </c:pt>
                <c:pt idx="2">
                  <c:v>31.42986258036686</c:v>
                </c:pt>
                <c:pt idx="3">
                  <c:v>29.27355170117639</c:v>
                </c:pt>
                <c:pt idx="4">
                  <c:v>37.11759117152671</c:v>
                </c:pt>
                <c:pt idx="5">
                  <c:v>34.312091185256016</c:v>
                </c:pt>
                <c:pt idx="6">
                  <c:v>41.779290620153475</c:v>
                </c:pt>
                <c:pt idx="7">
                  <c:v>33.467068640298855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Emergency Power Backup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107.494241352346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105.70888137474714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259.449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Residential Solar Self-Consumption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49.43363704271938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140.7063617840163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253.045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Primary Off-Grid Household Power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133.57547333008907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36.712262738539515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103.295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Supplemental Household Power</c:v>
                </c:pt>
              </c:strCache>
            </c:strRef>
          </c:tx>
          <c:spPr>
            <a:solidFill>
              <a:srgbClr val="40315E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132.9931275045961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116.87249410269706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327.842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60.0"/>
          <c:min val="2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17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144.744</c:v>
                </c:pt>
                <c:pt idx="2">
                  <c:v>162.545</c:v>
                </c:pt>
                <c:pt idx="3">
                  <c:v>182.605</c:v>
                </c:pt>
                <c:pt idx="4">
                  <c:v>205.214</c:v>
                </c:pt>
                <c:pt idx="5">
                  <c:v>230.703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144.744</c:v>
                </c:pt>
                <c:pt idx="1">
                  <c:v>17.800999999999988</c:v>
                </c:pt>
                <c:pt idx="2">
                  <c:v>20.060000000000002</c:v>
                </c:pt>
                <c:pt idx="3">
                  <c:v>22.60900000000001</c:v>
                </c:pt>
                <c:pt idx="4">
                  <c:v>25.489000000000004</c:v>
                </c:pt>
                <c:pt idx="5">
                  <c:v>28.74600000000001</c:v>
                </c:pt>
                <c:pt idx="6">
                  <c:v>259.449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192.665</c:v>
                </c:pt>
                <c:pt idx="2">
                  <c:v>203.869</c:v>
                </c:pt>
                <c:pt idx="3">
                  <c:v>215.55</c:v>
                </c:pt>
                <c:pt idx="4">
                  <c:v>227.669</c:v>
                </c:pt>
                <c:pt idx="5">
                  <c:v>240.187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192.665</c:v>
                </c:pt>
                <c:pt idx="1">
                  <c:v>11.204000000000008</c:v>
                </c:pt>
                <c:pt idx="2">
                  <c:v>11.681000000000012</c:v>
                </c:pt>
                <c:pt idx="3">
                  <c:v>12.119</c:v>
                </c:pt>
                <c:pt idx="4">
                  <c:v>12.518</c:v>
                </c:pt>
                <c:pt idx="5">
                  <c:v>12.857999999999976</c:v>
                </c:pt>
                <c:pt idx="6">
                  <c:v>253.045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50.269</c:v>
                </c:pt>
                <c:pt idx="2">
                  <c:v>58.285</c:v>
                </c:pt>
                <c:pt idx="3">
                  <c:v>67.425</c:v>
                </c:pt>
                <c:pt idx="4">
                  <c:v>77.853</c:v>
                </c:pt>
                <c:pt idx="5">
                  <c:v>89.743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50.269</c:v>
                </c:pt>
                <c:pt idx="1">
                  <c:v>8.015999999999998</c:v>
                </c:pt>
                <c:pt idx="2">
                  <c:v>9.14</c:v>
                </c:pt>
                <c:pt idx="3">
                  <c:v>10.427999999999997</c:v>
                </c:pt>
                <c:pt idx="4">
                  <c:v>11.89</c:v>
                </c:pt>
                <c:pt idx="5">
                  <c:v>13.552000000000007</c:v>
                </c:pt>
                <c:pt idx="6">
                  <c:v>103.295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160.03</c:v>
                </c:pt>
                <c:pt idx="2">
                  <c:v>185.377</c:v>
                </c:pt>
                <c:pt idx="3">
                  <c:v>214.297</c:v>
                </c:pt>
                <c:pt idx="4">
                  <c:v>247.291</c:v>
                </c:pt>
                <c:pt idx="5">
                  <c:v>284.924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160.03</c:v>
                </c:pt>
                <c:pt idx="1">
                  <c:v>25.34700000000001</c:v>
                </c:pt>
                <c:pt idx="2">
                  <c:v>28.919999999999987</c:v>
                </c:pt>
                <c:pt idx="3">
                  <c:v>32.994</c:v>
                </c:pt>
                <c:pt idx="4">
                  <c:v>37.63299999999998</c:v>
                </c:pt>
                <c:pt idx="5">
                  <c:v>42.918000000000006</c:v>
                </c:pt>
                <c:pt idx="6">
                  <c:v>327.842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Supplemental Household Power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26.138216423017397</c:v>
                </c:pt>
                <c:pt idx="1">
                  <c:v>29.218123525674265</c:v>
                </c:pt>
                <c:pt idx="2">
                  <c:v>34.74260595508202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Emergency Power Backup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25.881018320771965</c:v>
                </c:pt>
                <c:pt idx="1">
                  <c:v>26.427220343686784</c:v>
                </c:pt>
                <c:pt idx="2">
                  <c:v>27.494751656102867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Residential Solar Self-Consumption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39.79704314038883</c:v>
                </c:pt>
                <c:pt idx="1">
                  <c:v>35.17659044600408</c:v>
                </c:pt>
                <c:pt idx="2">
                  <c:v>26.816096546213508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Primary Off-Grid Household Power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8.183722115821817</c:v>
                </c:pt>
                <c:pt idx="1">
                  <c:v>9.178065684634879</c:v>
                </c:pt>
                <c:pt idx="2">
                  <c:v>10.946545842601612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Manufacturer-Direct Sales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5.19657258064516</c:v>
                </c:pt>
                <c:pt idx="1">
                  <c:v>6.112897125567322</c:v>
                </c:pt>
                <c:pt idx="2">
                  <c:v>6.671733459318449</c:v>
                </c:pt>
                <c:pt idx="3">
                  <c:v>6.520911944699878</c:v>
                </c:pt>
                <c:pt idx="4">
                  <c:v>6.7353650515237895</c:v>
                </c:pt>
                <c:pt idx="5">
                  <c:v>7.44899599752913</c:v>
                </c:pt>
                <c:pt idx="6">
                  <c:v>7.122667794584651</c:v>
                </c:pt>
                <c:pt idx="7">
                  <c:v>7.421388283036729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Third-Party E-Commerce Marketplaces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17.963709677419352</c:v>
                </c:pt>
                <c:pt idx="1">
                  <c:v>21.4660552193646</c:v>
                </c:pt>
                <c:pt idx="2">
                  <c:v>20.902573793726763</c:v>
                </c:pt>
                <c:pt idx="3">
                  <c:v>18.36097282556997</c:v>
                </c:pt>
                <c:pt idx="4">
                  <c:v>22.356208433822992</c:v>
                </c:pt>
                <c:pt idx="5">
                  <c:v>23.87435795459353</c:v>
                </c:pt>
                <c:pt idx="6">
                  <c:v>21.275352977904895</c:v>
                </c:pt>
                <c:pt idx="7">
                  <c:v>16.557459735462047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Specialist Solar and Electrical Channels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1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1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1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2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33.98689516129032</c:v>
                </c:pt>
                <c:pt idx="1">
                  <c:v>26.106278366111958</c:v>
                </c:pt>
                <c:pt idx="2">
                  <c:v>28.78417517408541</c:v>
                </c:pt>
                <c:pt idx="3">
                  <c:v>33.357643402986966</c:v>
                </c:pt>
                <c:pt idx="4">
                  <c:v>34.7599210699408</c:v>
                </c:pt>
                <c:pt idx="5">
                  <c:v>26.50515751796035</c:v>
                </c:pt>
                <c:pt idx="6">
                  <c:v>35.868463278884434</c:v>
                </c:pt>
                <c:pt idx="7">
                  <c:v>33.58038282691258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General Retail Channels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2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2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&quot;;&quot;MMMM&quot;;&quot;MMMM&quot;" sourceLinked="0"/>
              <c:spPr>
                <a:blipFill>
                  <a:blip r:embed="rId2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&quot;;&quot;MMMM&quot;;&quot;MMMM&quot;" sourceLinked="0"/>
              <c:spPr>
                <a:blipFill>
                  <a:blip r:embed="rId2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M&quot;;&quot;MMMM&quot;;&quot;MMMM&quot;" sourceLinked="0"/>
              <c:spPr>
                <a:blipFill>
                  <a:blip r:embed="rId2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M&quot;;&quot;MMMM&quot;;&quot;MMMM&quot;" sourceLinked="0"/>
              <c:spPr>
                <a:blipFill>
                  <a:blip r:embed="rId2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M&quot;;&quot;MMMM&quot;;&quot;MMMM&quot;" sourceLinked="0"/>
              <c:spPr>
                <a:blipFill>
                  <a:blip r:embed="rId3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36.72379032258063</c:v>
                </c:pt>
                <c:pt idx="1">
                  <c:v>41.16159228441755</c:v>
                </c:pt>
                <c:pt idx="2">
                  <c:v>38.0214859396504</c:v>
                </c:pt>
                <c:pt idx="3">
                  <c:v>35.92446967054571</c:v>
                </c:pt>
                <c:pt idx="4">
                  <c:v>29.834100708908874</c:v>
                </c:pt>
                <c:pt idx="5">
                  <c:v>37.4150638449106</c:v>
                </c:pt>
                <c:pt idx="6">
                  <c:v>30.866012742787703</c:v>
                </c:pt>
                <c:pt idx="7">
                  <c:v>38.15924328233427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Other Resellers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3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&quot;;&quot;MMM&quot;;&quot;MMM&quot;" sourceLinked="0"/>
              <c:spPr>
                <a:blipFill>
                  <a:blip r:embed="rId3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&quot;;&quot;MMM&quot;;&quot;MMM&quot;" sourceLinked="0"/>
              <c:spPr>
                <a:blipFill>
                  <a:blip r:embed="rId3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MMM&quot;;&quot;MMM&quot;;&quot;MMM&quot;" sourceLinked="0"/>
              <c:spPr>
                <a:blipFill>
                  <a:blip r:embed="rId3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MMM&quot;;&quot;MMM&quot;;&quot;MMM&quot;" sourceLinked="0"/>
              <c:spPr>
                <a:blipFill>
                  <a:blip r:embed="rId3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MMM&quot;;&quot;MMM&quot;;&quot;MMM&quot;" sourceLinked="0"/>
              <c:spPr>
                <a:blipFill>
                  <a:blip r:embed="rId3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8"/>
                <c:pt idx="0">
                  <c:v>Rest of Western Europe</c:v>
                </c:pt>
                <c:pt idx="1">
                  <c:v>Nordic Countries</c:v>
                </c:pt>
                <c:pt idx="2">
                  <c:v>BENELUX</c:v>
                </c:pt>
                <c:pt idx="3">
                  <c:v>Spain</c:v>
                </c:pt>
                <c:pt idx="4">
                  <c:v>U.K.</c:v>
                </c:pt>
                <c:pt idx="5">
                  <c:v>France</c:v>
                </c:pt>
                <c:pt idx="6">
                  <c:v>Italy</c:v>
                </c:pt>
                <c:pt idx="7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6.129032258064515</c:v>
                </c:pt>
                <c:pt idx="1">
                  <c:v>5.153177004538579</c:v>
                </c:pt>
                <c:pt idx="2">
                  <c:v>5.620031633218988</c:v>
                </c:pt>
                <c:pt idx="3">
                  <c:v>5.836002156197483</c:v>
                </c:pt>
                <c:pt idx="4">
                  <c:v>6.314404735803553</c:v>
                </c:pt>
                <c:pt idx="5">
                  <c:v>4.7564246850063885</c:v>
                </c:pt>
                <c:pt idx="6">
                  <c:v>4.867503205838318</c:v>
                </c:pt>
                <c:pt idx="7">
                  <c:v>4.281525872254377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Manufacturer-Direct Sales</c:v>
                </c:pt>
              </c:strCache>
            </c:strRef>
          </c:tx>
          <c:spPr>
            <a:solidFill>
              <a:srgbClr val="3D85C6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161.0244899053005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25.916181615021145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67.221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strCache>
                <c:ptCount val="1"/>
                <c:pt idx="0">
                  <c:v>Third-Party E-Commerce Marketplaces</c:v>
                </c:pt>
              </c:strCache>
            </c:strRef>
          </c:tx>
          <c:spPr>
            <a:solidFill>
              <a:srgbClr val="9E7E0A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129.87255476073318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82.19982180285847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181.491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strCache>
                <c:ptCount val="1"/>
                <c:pt idx="0">
                  <c:v>Specialist Solar and Electrical Channels</c:v>
                </c:pt>
              </c:strCache>
            </c:strRef>
          </c:tx>
          <c:spPr>
            <a:solidFill>
              <a:srgbClr val="008189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69.17300584445806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191.87505020923558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307.172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strCache>
                <c:ptCount val="1"/>
                <c:pt idx="0">
                  <c:v>General Retail Channels</c:v>
                </c:pt>
              </c:strCache>
            </c:strRef>
          </c:tx>
          <c:spPr>
            <a:solidFill>
              <a:srgbClr val="40315E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107.64106005051666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174.12197740401817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342.153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strCache>
                <c:ptCount val="1"/>
                <c:pt idx="0">
                  <c:v>Other Resellers</c:v>
                </c:pt>
              </c:strCache>
            </c:strRef>
          </c:tx>
          <c:spPr>
            <a:solidFill>
              <a:srgbClr val="A35313"/>
            </a:solidFill>
          </c:spPr>
          <c:invertIfNegative val="0"/>
          <c:xVal>
            <c:numRef>
              <c:numCache>
                <c:formatCode>General</c:formatCode>
                <c:ptCount val="1"/>
                <c:pt idx="0">
                  <c:v>86.99573059871014</c:v>
                </c:pt>
              </c:numCache>
            </c:numRef>
          </c:xVal>
          <c:yVal>
            <c:numRef>
              <c:numCache>
                <c:formatCode>General</c:formatCode>
                <c:ptCount val="1"/>
                <c:pt idx="0">
                  <c:v>25.88696896886662</c:v>
                </c:pt>
              </c:numCache>
            </c:numRef>
          </c:yVal>
          <c:bubbleSize>
            <c:numRef>
              <c:numCache>
                <c:formatCode>General</c:formatCode>
                <c:ptCount val="1"/>
                <c:pt idx="0">
                  <c:v>45.594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5"/>
        <c:showNegBubbles val="0"/>
        <c:axId val="-2115720072"/>
        <c:axId val="-2115723560"/>
      </c:bubbleChart>
      <c:valAx>
        <c:axId val="-2115720072"/>
        <c:scaling>
          <c:orientation val="minMax"/>
          <c:max val="190.0"/>
          <c:min val="4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CAGR Index (100 = segment average growth)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5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C7A89"/>
                    </a:solidFill>
                    <a:latin typeface="Calibri"/>
                  </a:rPr>
                  <a:t>Market Share Index (100 = equal share)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57200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28.389</c:v>
                </c:pt>
                <c:pt idx="2">
                  <c:v>33.789</c:v>
                </c:pt>
                <c:pt idx="3">
                  <c:v>40.179</c:v>
                </c:pt>
                <c:pt idx="4">
                  <c:v>47.731</c:v>
                </c:pt>
                <c:pt idx="5">
                  <c:v>56.662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28.389</c:v>
                </c:pt>
                <c:pt idx="1">
                  <c:v>5.400000000000002</c:v>
                </c:pt>
                <c:pt idx="2">
                  <c:v>6.390000000000001</c:v>
                </c:pt>
                <c:pt idx="3">
                  <c:v>7.552</c:v>
                </c:pt>
                <c:pt idx="4">
                  <c:v>8.930999999999997</c:v>
                </c:pt>
                <c:pt idx="5">
                  <c:v>10.559000000000005</c:v>
                </c:pt>
                <c:pt idx="6">
                  <c:v>67.221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90.043</c:v>
                </c:pt>
                <c:pt idx="2">
                  <c:v>103.435</c:v>
                </c:pt>
                <c:pt idx="3">
                  <c:v>118.909</c:v>
                </c:pt>
                <c:pt idx="4">
                  <c:v>136.801</c:v>
                </c:pt>
                <c:pt idx="5">
                  <c:v>157.507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90.043</c:v>
                </c:pt>
                <c:pt idx="1">
                  <c:v>13.391999999999996</c:v>
                </c:pt>
                <c:pt idx="2">
                  <c:v>15.474000000000004</c:v>
                </c:pt>
                <c:pt idx="3">
                  <c:v>17.89199999999998</c:v>
                </c:pt>
                <c:pt idx="4">
                  <c:v>20.706000000000017</c:v>
                </c:pt>
                <c:pt idx="5">
                  <c:v>23.98400000000001</c:v>
                </c:pt>
                <c:pt idx="6">
                  <c:v>181.491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210.183</c:v>
                </c:pt>
                <c:pt idx="2">
                  <c:v>227.558</c:v>
                </c:pt>
                <c:pt idx="3">
                  <c:v>245.992</c:v>
                </c:pt>
                <c:pt idx="4">
                  <c:v>265.463</c:v>
                </c:pt>
                <c:pt idx="5">
                  <c:v>285.894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210.183</c:v>
                </c:pt>
                <c:pt idx="1">
                  <c:v>17.375</c:v>
                </c:pt>
                <c:pt idx="2">
                  <c:v>18.433999999999997</c:v>
                </c:pt>
                <c:pt idx="3">
                  <c:v>19.471000000000032</c:v>
                </c:pt>
                <c:pt idx="4">
                  <c:v>20.430999999999983</c:v>
                </c:pt>
                <c:pt idx="5">
                  <c:v>21.27800000000002</c:v>
                </c:pt>
                <c:pt idx="6">
                  <c:v>307.172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190.736</c:v>
                </c:pt>
                <c:pt idx="2">
                  <c:v>214.101</c:v>
                </c:pt>
                <c:pt idx="3">
                  <c:v>240.49</c:v>
                </c:pt>
                <c:pt idx="4">
                  <c:v>270.305</c:v>
                </c:pt>
                <c:pt idx="5">
                  <c:v>304.015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190.736</c:v>
                </c:pt>
                <c:pt idx="1">
                  <c:v>23.36500000000001</c:v>
                </c:pt>
                <c:pt idx="2">
                  <c:v>26.38900000000001</c:v>
                </c:pt>
                <c:pt idx="3">
                  <c:v>29.814999999999998</c:v>
                </c:pt>
                <c:pt idx="4">
                  <c:v>33.70999999999998</c:v>
                </c:pt>
                <c:pt idx="5">
                  <c:v>38.138000000000034</c:v>
                </c:pt>
                <c:pt idx="6">
                  <c:v>342.153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28.357</c:v>
                </c:pt>
                <c:pt idx="2">
                  <c:v>31.193</c:v>
                </c:pt>
                <c:pt idx="3">
                  <c:v>34.307</c:v>
                </c:pt>
                <c:pt idx="4">
                  <c:v>37.727</c:v>
                </c:pt>
                <c:pt idx="5">
                  <c:v>41.479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28.357</c:v>
                </c:pt>
                <c:pt idx="1">
                  <c:v>2.836000000000002</c:v>
                </c:pt>
                <c:pt idx="2">
                  <c:v>3.1140000000000008</c:v>
                </c:pt>
                <c:pt idx="3">
                  <c:v>3.4199999999999946</c:v>
                </c:pt>
                <c:pt idx="4">
                  <c:v>3.7520000000000024</c:v>
                </c:pt>
                <c:pt idx="5">
                  <c:v>4.115000000000002</c:v>
                </c:pt>
                <c:pt idx="6">
                  <c:v>45.594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varyColors val="0"/>
        <c:ser>
          <c:idx val="0"/>
          <c:order val="0"/>
          <c:tx>
            <c:strRef>
              <c:strCache>
                <c:ptCount val="1"/>
                <c:pt idx="0">
                  <c:v>General Retail Channels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34.178183170977036</c:v>
                </c:pt>
                <c:pt idx="1">
                  <c:v>34.82439548080364</c:v>
                </c:pt>
                <c:pt idx="2">
                  <c:v>36.25919453684756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Specialist Solar and Electrical Channels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40.90115785074243</c:v>
                </c:pt>
                <c:pt idx="1">
                  <c:v>38.37501004184712</c:v>
                </c:pt>
                <c:pt idx="2">
                  <c:v>32.55213107666026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Third-Party E-Commerce Marketplaces</c:v>
                </c:pt>
              </c:strCache>
            </c:strRef>
          </c:tx>
          <c:spPr>
            <a:solidFill>
              <a:srgbClr val="008189"/>
            </a:solidFill>
            <a:ln>
              <a:noFill/>
            </a:ln>
          </c:spPr>
          <c:dLbls>
            <c:dLbl>
              <c:idx val="0"/>
              <c:numFmt formatCode="&quot;MMMM&quot;;&quot;MMMM&quot;;&quot;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&quot;;&quot;MMMM&quot;;&quot;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15.236002222926453</c:v>
                </c:pt>
                <c:pt idx="1">
                  <c:v>16.439964360571693</c:v>
                </c:pt>
                <c:pt idx="2">
                  <c:v>19.233259611013203</c:v>
                </c:pt>
              </c:numCache>
            </c:numRef>
          </c:val>
        </c:ser>
        <c:ser>
          <c:idx val="3"/>
          <c:order val="3"/>
          <c:tx>
            <c:strRef>
              <c:strCache>
                <c:ptCount val="1"/>
                <c:pt idx="0">
                  <c:v>Manufacturer-Direct Sales</c:v>
                </c:pt>
              </c:strCache>
            </c:strRef>
          </c:tx>
          <c:spPr>
            <a:solidFill>
              <a:srgbClr val="40315E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4.353766803992082</c:v>
                </c:pt>
                <c:pt idx="1">
                  <c:v>5.183236323004229</c:v>
                </c:pt>
                <c:pt idx="2">
                  <c:v>7.12365320766274</c:v>
                </c:pt>
              </c:numCache>
            </c:numRef>
          </c:val>
        </c:ser>
        <c:ser>
          <c:idx val="4"/>
          <c:order val="4"/>
          <c:tx>
            <c:strRef>
              <c:strCache>
                <c:ptCount val="1"/>
                <c:pt idx="0">
                  <c:v>Other Resellers</c:v>
                </c:pt>
              </c:strCache>
            </c:strRef>
          </c:tx>
          <c:spPr>
            <a:solidFill>
              <a:srgbClr val="A35313"/>
            </a:solidFill>
            <a:ln>
              <a:noFill/>
            </a:ln>
          </c:spPr>
          <c:dLbls>
            <c:dLbl>
              <c:idx val="0"/>
              <c:numFmt formatCode="&quot;MMM&quot;;&quot;MMM&quot;;&quot;MMM&quot;" sourceLinked="0"/>
              <c:spPr>
                <a:blipFill>
                  <a:blip r:embed="rId1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&quot;;&quot;MMM&quot;;&quot;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&quot;;&quot;MMM&quot;;&quot;MMM&quot;" sourceLinked="0"/>
              <c:spPr>
                <a:blipFill>
                  <a:blip r:embed="rId1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2021</c:v>
                </c:pt>
                <c:pt idx="1">
                  <c:v>2026</c:v>
                </c:pt>
                <c:pt idx="2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5.330889951362002</c:v>
                </c:pt>
                <c:pt idx="1">
                  <c:v>5.177393793773325</c:v>
                </c:pt>
                <c:pt idx="2">
                  <c:v>4.8317615678162324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Volume (Units)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  <c:numFmt formatCode="&quot;&quot;" sourceLinked="0"/>
            </c:dLbl>
            <c:dLbl>
              <c:idx val="2"/>
              <c:delete val="1"/>
              <c:numFmt formatCode="&quot;&quot;" sourceLinked="0"/>
            </c:dLbl>
            <c:dLbl>
              <c:idx val="3"/>
              <c:delete val="1"/>
              <c:numFmt formatCode="&quot;&quot;" sourceLinked="0"/>
            </c:dLbl>
            <c:dLbl>
              <c:idx val="4"/>
              <c:delete val="1"/>
              <c:numFmt formatCode="&quot;&quot;" sourceLinked="0"/>
            </c:dLbl>
            <c:dLbl>
              <c:idx val="5"/>
              <c:delete val="1"/>
              <c:numFmt formatCode="&quot;&quot;" sourceLinked="0"/>
            </c:dLbl>
            <c:dLbl>
              <c:idx val="6"/>
              <c:delete val="1"/>
              <c:numFmt formatCode="&quot;&quot;" sourceLinked="0"/>
            </c:dLbl>
            <c:dLbl>
              <c:idx val="7"/>
              <c:delete val="1"/>
              <c:numFmt formatCode="&quot;&quot;" sourceLinked="0"/>
            </c:dLbl>
            <c:dLbl>
              <c:idx val="8"/>
              <c:delete val="1"/>
              <c:numFmt formatCode="&quot;&quot;" sourceLinked="0"/>
            </c:dLbl>
            <c:dLbl>
              <c:idx val="9"/>
              <c:delete val="1"/>
              <c:numFmt formatCode="&quot;&quot;" sourceLinked="0"/>
            </c:dLbl>
            <c:dLbl>
              <c:idx val="10"/>
              <c:delete val="1"/>
              <c:numFmt formatCode="&quot;&quot;" sourceLinked="0"/>
            </c:dLbl>
            <c:dLbl>
              <c:idx val="11"/>
              <c:delete val="1"/>
              <c:numFmt formatCode="&quot;&quot;" sourceLinked="0"/>
            </c:dLbl>
            <c:dLbl>
              <c:idx val="12"/>
              <c:delete val="1"/>
              <c:numFmt formatCode="&quot;&quot;" sourceLinked="0"/>
            </c:dLbl>
            <c:dLbl>
              <c:idx val="13"/>
              <c:delete val="1"/>
              <c:numFmt formatCode="&quot;&quot;" sourceLinked="0"/>
            </c:dLbl>
            <c:dLbl>
              <c:idx val="14"/>
              <c:delete val="1"/>
              <c:numFmt formatCode="&quot;&quot;" sourceLinked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34115.134999999995</c:v>
                </c:pt>
                <c:pt idx="1">
                  <c:v>35594.195999999996</c:v>
                </c:pt>
                <c:pt idx="2">
                  <c:v>37137.382000000005</c:v>
                </c:pt>
                <c:pt idx="3">
                  <c:v>38747.473</c:v>
                </c:pt>
                <c:pt idx="4">
                  <c:v>40427.37</c:v>
                </c:pt>
                <c:pt idx="5">
                  <c:v>42180.098</c:v>
                </c:pt>
                <c:pt idx="6">
                  <c:v>44341.759</c:v>
                </c:pt>
                <c:pt idx="7">
                  <c:v>46614.202000000005</c:v>
                </c:pt>
                <c:pt idx="8">
                  <c:v>49003.104</c:v>
                </c:pt>
                <c:pt idx="9">
                  <c:v>51514.433000000005</c:v>
                </c:pt>
                <c:pt idx="10">
                  <c:v>54154.46399999999</c:v>
                </c:pt>
                <c:pt idx="11">
                  <c:v>56929.791999999994</c:v>
                </c:pt>
                <c:pt idx="12">
                  <c:v>59847.350999999995</c:v>
                </c:pt>
                <c:pt idx="13">
                  <c:v>62914.43</c:v>
                </c:pt>
                <c:pt idx="14">
                  <c:v>66138.692</c:v>
                </c:pt>
                <c:pt idx="15">
                  <c:v>69528.193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3D85C6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Global</c:v>
                </c:pt>
                <c:pt idx="1">
                  <c:v>Western Europe</c:v>
                </c:pt>
                <c:pt idx="2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0.045531072559717556</c:v>
                </c:pt>
                <c:pt idx="1">
                  <c:v>0.04247760334819195</c:v>
                </c:pt>
                <c:pt idx="2">
                  <c:v>0.051248370933512755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0.06918530076024222"/>
          <c:min val="0.0"/>
        </c:scaling>
        <c:delete/>
        <c:axPos val="b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0.0</c:v>
                </c:pt>
                <c:pt idx="1">
                  <c:v>42180.098</c:v>
                </c:pt>
                <c:pt idx="2">
                  <c:v>44341.759</c:v>
                </c:pt>
                <c:pt idx="3">
                  <c:v>46614.202000000005</c:v>
                </c:pt>
                <c:pt idx="4">
                  <c:v>49003.104</c:v>
                </c:pt>
                <c:pt idx="5">
                  <c:v>51514.433000000005</c:v>
                </c:pt>
                <c:pt idx="6">
                  <c:v>54154.46399999999</c:v>
                </c:pt>
                <c:pt idx="7">
                  <c:v>56929.791999999994</c:v>
                </c:pt>
                <c:pt idx="8">
                  <c:v>59847.350999999995</c:v>
                </c:pt>
                <c:pt idx="9">
                  <c:v>62914.43</c:v>
                </c:pt>
                <c:pt idx="10">
                  <c:v>66138.692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08189"/>
              </a:solidFill>
            </c:spPr>
          </c:dPt>
          <c:dPt>
            <c:idx val="7"/>
            <c:spPr>
              <a:solidFill>
                <a:srgbClr val="008189"/>
              </a:solidFill>
            </c:spPr>
          </c:dPt>
          <c:dPt>
            <c:idx val="8"/>
            <c:spPr>
              <a:solidFill>
                <a:srgbClr val="008189"/>
              </a:solidFill>
            </c:spPr>
          </c:dPt>
          <c:dPt>
            <c:idx val="9"/>
            <c:spPr>
              <a:solidFill>
                <a:srgbClr val="008189"/>
              </a:solidFill>
            </c:spPr>
          </c:dPt>
          <c:dPt>
            <c:idx val="10"/>
            <c:spPr>
              <a:solidFill>
                <a:srgbClr val="008189"/>
              </a:solidFill>
            </c:spPr>
          </c:dPt>
          <c:dPt>
            <c:idx val="11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42180.098</c:v>
                </c:pt>
                <c:pt idx="1">
                  <c:v>2161.661</c:v>
                </c:pt>
                <c:pt idx="2">
                  <c:v>2272.4430000000066</c:v>
                </c:pt>
                <c:pt idx="3">
                  <c:v>2388.9019999999946</c:v>
                </c:pt>
                <c:pt idx="4">
                  <c:v>2511.329000000005</c:v>
                </c:pt>
                <c:pt idx="5">
                  <c:v>2640.030999999988</c:v>
                </c:pt>
                <c:pt idx="6">
                  <c:v>2775.3280000000013</c:v>
                </c:pt>
                <c:pt idx="7">
                  <c:v>2917.559000000001</c:v>
                </c:pt>
                <c:pt idx="8">
                  <c:v>3067.079000000005</c:v>
                </c:pt>
                <c:pt idx="9">
                  <c:v>3224.261999999995</c:v>
                </c:pt>
                <c:pt idx="10">
                  <c:v>3389.501000000004</c:v>
                </c:pt>
                <c:pt idx="11">
                  <c:v>69528.193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41.501029519294924</c:v>
                </c:pt>
                <c:pt idx="1">
                  <c:v>1.5865908412265908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Rest of the market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58.498970480705076</c:v>
                </c:pt>
                <c:pt idx="1">
                  <c:v>98.4134091587734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Value (US$ Mn)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  <c:numFmt formatCode="&quot;&quot;" sourceLinked="0"/>
            </c:dLbl>
            <c:dLbl>
              <c:idx val="2"/>
              <c:delete val="1"/>
              <c:numFmt formatCode="&quot;&quot;" sourceLinked="0"/>
            </c:dLbl>
            <c:dLbl>
              <c:idx val="3"/>
              <c:delete val="1"/>
              <c:numFmt formatCode="&quot;&quot;" sourceLinked="0"/>
            </c:dLbl>
            <c:dLbl>
              <c:idx val="4"/>
              <c:delete val="1"/>
              <c:numFmt formatCode="&quot;&quot;" sourceLinked="0"/>
            </c:dLbl>
            <c:dLbl>
              <c:idx val="5"/>
              <c:delete val="1"/>
              <c:numFmt formatCode="&quot;&quot;" sourceLinked="0"/>
            </c:dLbl>
            <c:dLbl>
              <c:idx val="6"/>
              <c:delete val="1"/>
              <c:numFmt formatCode="&quot;&quot;" sourceLinked="0"/>
            </c:dLbl>
            <c:dLbl>
              <c:idx val="7"/>
              <c:delete val="1"/>
              <c:numFmt formatCode="&quot;&quot;" sourceLinked="0"/>
            </c:dLbl>
            <c:dLbl>
              <c:idx val="8"/>
              <c:delete val="1"/>
              <c:numFmt formatCode="&quot;&quot;" sourceLinked="0"/>
            </c:dLbl>
            <c:dLbl>
              <c:idx val="9"/>
              <c:delete val="1"/>
              <c:numFmt formatCode="&quot;&quot;" sourceLinked="0"/>
            </c:dLbl>
            <c:dLbl>
              <c:idx val="10"/>
              <c:delete val="1"/>
              <c:numFmt formatCode="&quot;&quot;" sourceLinked="0"/>
            </c:dLbl>
            <c:dLbl>
              <c:idx val="11"/>
              <c:delete val="1"/>
              <c:numFmt formatCode="&quot;&quot;" sourceLinked="0"/>
            </c:dLbl>
            <c:dLbl>
              <c:idx val="12"/>
              <c:delete val="1"/>
              <c:numFmt formatCode="&quot;&quot;" sourceLinked="0"/>
            </c:dLbl>
            <c:dLbl>
              <c:idx val="13"/>
              <c:delete val="1"/>
              <c:numFmt formatCode="&quot;&quot;" sourceLinked="0"/>
            </c:dLbl>
            <c:dLbl>
              <c:idx val="14"/>
              <c:delete val="1"/>
              <c:numFmt formatCode="&quot;&quot;" sourceLinked="0"/>
            </c:dLbl>
            <c:dLbl>
              <c:idx val="1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solidFill>
                      <a:srgbClr val="6C7A89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174.20600000000002</c:v>
                </c:pt>
                <c:pt idx="1">
                  <c:v>184.214</c:v>
                </c:pt>
                <c:pt idx="2">
                  <c:v>194.796</c:v>
                </c:pt>
                <c:pt idx="3">
                  <c:v>205.98699999999997</c:v>
                </c:pt>
                <c:pt idx="4">
                  <c:v>217.821</c:v>
                </c:pt>
                <c:pt idx="5">
                  <c:v>230.334</c:v>
                </c:pt>
                <c:pt idx="6">
                  <c:v>245.409</c:v>
                </c:pt>
                <c:pt idx="7">
                  <c:v>261.47</c:v>
                </c:pt>
                <c:pt idx="8">
                  <c:v>278.58299999999997</c:v>
                </c:pt>
                <c:pt idx="9">
                  <c:v>296.81600000000003</c:v>
                </c:pt>
                <c:pt idx="10">
                  <c:v>316.242</c:v>
                </c:pt>
                <c:pt idx="11">
                  <c:v>336.939</c:v>
                </c:pt>
                <c:pt idx="12">
                  <c:v>358.99100000000004</c:v>
                </c:pt>
                <c:pt idx="13">
                  <c:v>382.48699999999997</c:v>
                </c:pt>
                <c:pt idx="14">
                  <c:v>407.52</c:v>
                </c:pt>
                <c:pt idx="15">
                  <c:v>434.19100000000003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3D85C6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 rot="0" vert="horz"/>
              <a:lstStyle/>
              <a:p>
                <a:pPr>
                  <a:defRPr sz="1100">
                    <a:solidFill>
                      <a:srgbClr val="2E2E2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Global</c:v>
                </c:pt>
                <c:pt idx="1">
                  <c:v>Western Europe</c:v>
                </c:pt>
                <c:pt idx="2">
                  <c:v>Germany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0.049939469101035305</c:v>
                </c:pt>
                <c:pt idx="1">
                  <c:v>0.05590613092955543</c:v>
                </c:pt>
                <c:pt idx="2">
                  <c:v>0.06544804476305299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0.08835486043012154"/>
          <c:min val="0.0"/>
        </c:scaling>
        <c:delete/>
        <c:axPos val="b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0.0</c:v>
                </c:pt>
                <c:pt idx="1">
                  <c:v>230.334</c:v>
                </c:pt>
                <c:pt idx="2">
                  <c:v>245.409</c:v>
                </c:pt>
                <c:pt idx="3">
                  <c:v>261.47</c:v>
                </c:pt>
                <c:pt idx="4">
                  <c:v>278.58299999999997</c:v>
                </c:pt>
                <c:pt idx="5">
                  <c:v>296.81600000000003</c:v>
                </c:pt>
                <c:pt idx="6">
                  <c:v>316.242</c:v>
                </c:pt>
                <c:pt idx="7">
                  <c:v>336.939</c:v>
                </c:pt>
                <c:pt idx="8">
                  <c:v>358.99100000000004</c:v>
                </c:pt>
                <c:pt idx="9">
                  <c:v>382.48699999999997</c:v>
                </c:pt>
                <c:pt idx="10">
                  <c:v>407.52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08189"/>
              </a:solidFill>
            </c:spPr>
          </c:dPt>
          <c:dPt>
            <c:idx val="7"/>
            <c:spPr>
              <a:solidFill>
                <a:srgbClr val="008189"/>
              </a:solidFill>
            </c:spPr>
          </c:dPt>
          <c:dPt>
            <c:idx val="8"/>
            <c:spPr>
              <a:solidFill>
                <a:srgbClr val="008189"/>
              </a:solidFill>
            </c:spPr>
          </c:dPt>
          <c:dPt>
            <c:idx val="9"/>
            <c:spPr>
              <a:solidFill>
                <a:srgbClr val="008189"/>
              </a:solidFill>
            </c:spPr>
          </c:dPt>
          <c:dPt>
            <c:idx val="10"/>
            <c:spPr>
              <a:solidFill>
                <a:srgbClr val="008189"/>
              </a:solidFill>
            </c:spPr>
          </c:dPt>
          <c:dPt>
            <c:idx val="11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2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230.334</c:v>
                </c:pt>
                <c:pt idx="1">
                  <c:v>15.074999999999989</c:v>
                </c:pt>
                <c:pt idx="2">
                  <c:v>16.061000000000035</c:v>
                </c:pt>
                <c:pt idx="3">
                  <c:v>17.112999999999943</c:v>
                </c:pt>
                <c:pt idx="4">
                  <c:v>18.23300000000006</c:v>
                </c:pt>
                <c:pt idx="5">
                  <c:v>19.425999999999988</c:v>
                </c:pt>
                <c:pt idx="6">
                  <c:v>20.697000000000003</c:v>
                </c:pt>
                <c:pt idx="7">
                  <c:v>22.05200000000002</c:v>
                </c:pt>
                <c:pt idx="8">
                  <c:v>23.495999999999924</c:v>
                </c:pt>
                <c:pt idx="9">
                  <c:v>25.033000000000015</c:v>
                </c:pt>
                <c:pt idx="10">
                  <c:v>26.67100000000005</c:v>
                </c:pt>
                <c:pt idx="11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42.054160245970486</c:v>
                </c:pt>
                <c:pt idx="1">
                  <c:v>2.1131561571702897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Rest of the market</c:v>
                </c:pt>
              </c:strCache>
            </c:strRef>
          </c:tx>
          <c:spPr>
            <a:solidFill>
              <a:srgbClr val="9E7E0A"/>
            </a:solidFill>
            <a:ln>
              <a:noFill/>
            </a:ln>
          </c:spPr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2"/>
                <c:pt idx="0">
                  <c:v>Share of Western Europe</c:v>
                </c:pt>
                <c:pt idx="1">
                  <c:v>Share of Global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57.945839754029514</c:v>
                </c:pt>
                <c:pt idx="1">
                  <c:v>97.8868438428297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9EC6DE"/>
              </a:solidFill>
            </c:spPr>
          </c:dPt>
          <c:dPt>
            <c:idx val="3"/>
            <c:spPr>
              <a:solidFill>
                <a:srgbClr val="569CC6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 </c:v>
                </c:pt>
                <c:pt idx="1">
                  <c:v>  </c:v>
                </c:pt>
                <c:pt idx="2">
                  <c:v>Fixed Residential Sol…</c:v>
                </c:pt>
                <c:pt idx="3">
                  <c:v>Integrated Solar Gene…</c:v>
                </c:pt>
                <c:pt idx="4">
                  <c:v>Modular Solar Generat…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2">
                  <c:v>57.023</c:v>
                </c:pt>
                <c:pt idx="3">
                  <c:v>76.435</c:v>
                </c:pt>
                <c:pt idx="4">
                  <c:v>96.876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29.81384000000003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9DABB6"/>
              </a:solidFill>
            </c:spPr>
          </c:dPt>
          <c:dPt>
            <c:idx val="1"/>
            <c:spPr>
              <a:solidFill>
                <a:srgbClr val="788C9B"/>
              </a:solidFill>
            </c:spPr>
          </c:dPt>
          <c:dPt>
            <c:idx val="2"/>
            <c:spPr>
              <a:solidFill>
                <a:srgbClr val="546C80"/>
              </a:solidFill>
            </c:spPr>
          </c:dPt>
          <c:dPt>
            <c:idx val="3"/>
            <c:spPr>
              <a:solidFill>
                <a:srgbClr val="2F4D65"/>
              </a:solidFill>
            </c:spPr>
          </c:dPt>
          <c:dPt>
            <c:idx val="4"/>
            <c:spPr>
              <a:solidFill>
                <a:srgbClr val="0B2E4A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 kWh</c:v>
                </c:pt>
                <c:pt idx="1">
                  <c:v>3–10 kWh</c:v>
                </c:pt>
                <c:pt idx="2">
                  <c:v>10–20 kWh</c:v>
                </c:pt>
                <c:pt idx="3">
                  <c:v>1–3 kWh</c:v>
                </c:pt>
                <c:pt idx="4">
                  <c:v>Up to 1 kWh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23.286</c:v>
                </c:pt>
                <c:pt idx="1">
                  <c:v>41.043</c:v>
                </c:pt>
                <c:pt idx="2">
                  <c:v>42.978</c:v>
                </c:pt>
                <c:pt idx="3">
                  <c:v>44.943</c:v>
                </c:pt>
                <c:pt idx="4">
                  <c:v>78.084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04.63256000000001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C5B1E6"/>
              </a:solidFill>
            </c:spPr>
          </c:dPt>
          <c:dPt>
            <c:idx val="2"/>
            <c:spPr>
              <a:solidFill>
                <a:srgbClr val="A88ADA"/>
              </a:solidFill>
            </c:spPr>
          </c:dPt>
          <c:dPt>
            <c:idx val="3"/>
            <c:spPr>
              <a:solidFill>
                <a:srgbClr val="8B63CE"/>
              </a:solidFill>
            </c:spPr>
          </c:dPt>
          <c:dPt>
            <c:idx val="4"/>
            <c:spPr>
              <a:solidFill>
                <a:srgbClr val="6F3CC2"/>
              </a:solidFill>
            </c:spPr>
          </c:dPt>
          <c:dLbls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 </c:v>
                </c:pt>
                <c:pt idx="1">
                  <c:v>Nickel-Based Lithium-…</c:v>
                </c:pt>
                <c:pt idx="2">
                  <c:v>Lead-Acid Batteries</c:v>
                </c:pt>
                <c:pt idx="3">
                  <c:v>Other Battery Technol…</c:v>
                </c:pt>
                <c:pt idx="4">
                  <c:v>Lithium Iron Phosphate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1">
                  <c:v>21.461</c:v>
                </c:pt>
                <c:pt idx="2">
                  <c:v>34.43</c:v>
                </c:pt>
                <c:pt idx="3">
                  <c:v>59.789</c:v>
                </c:pt>
                <c:pt idx="4">
                  <c:v>114.654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53.63636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FFFFFF"/>
              </a:solidFill>
            </c:spPr>
          </c:dPt>
          <c:dPt>
            <c:idx val="2"/>
            <c:spPr>
              <a:solidFill>
                <a:srgbClr val="FFFFFF"/>
              </a:solidFill>
            </c:spPr>
          </c:dPt>
          <c:dPt>
            <c:idx val="3"/>
            <c:spPr>
              <a:solidFill>
                <a:srgbClr val="DABAA0"/>
              </a:solidFill>
            </c:spPr>
          </c:dPt>
          <c:dPt>
            <c:idx val="4"/>
            <c:spPr>
              <a:solidFill>
                <a:srgbClr val="A35313"/>
              </a:solidFill>
            </c:spPr>
          </c:dPt>
          <c:dLbls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 </c:v>
                </c:pt>
                <c:pt idx="1">
                  <c:v>  </c:v>
                </c:pt>
                <c:pt idx="2">
                  <c:v>   </c:v>
                </c:pt>
                <c:pt idx="3">
                  <c:v>Off-Grid Systems</c:v>
                </c:pt>
                <c:pt idx="4">
                  <c:v>Grid-Connected Systems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3">
                  <c:v>112.996</c:v>
                </c:pt>
                <c:pt idx="4">
                  <c:v>117.338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57.23292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FFFFFF"/>
              </a:solidFill>
            </c:spPr>
          </c:dPt>
          <c:dPt>
            <c:idx val="1"/>
            <c:spPr>
              <a:solidFill>
                <a:srgbClr val="DCC599"/>
              </a:solidFill>
            </c:spPr>
          </c:dPt>
          <c:dPt>
            <c:idx val="2"/>
            <c:spPr>
              <a:solidFill>
                <a:srgbClr val="CAA865"/>
              </a:solidFill>
            </c:spPr>
          </c:dPt>
          <c:dPt>
            <c:idx val="3"/>
            <c:spPr>
              <a:solidFill>
                <a:srgbClr val="B98B32"/>
              </a:solidFill>
            </c:spPr>
          </c:dPt>
          <c:dPt>
            <c:idx val="4"/>
            <c:spPr>
              <a:solidFill>
                <a:srgbClr val="A86F00"/>
              </a:solidFill>
            </c:spPr>
          </c:dPt>
          <c:dLbls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 </c:v>
                </c:pt>
                <c:pt idx="1">
                  <c:v>Primary Off-Grid Hous…</c:v>
                </c:pt>
                <c:pt idx="2">
                  <c:v>Emergency Power Backup</c:v>
                </c:pt>
                <c:pt idx="3">
                  <c:v>Supplemental Househol…</c:v>
                </c:pt>
                <c:pt idx="4">
                  <c:v>Residential Solar Sel…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1">
                  <c:v>19.196</c:v>
                </c:pt>
                <c:pt idx="2">
                  <c:v>62.052</c:v>
                </c:pt>
                <c:pt idx="3">
                  <c:v>63.519</c:v>
                </c:pt>
                <c:pt idx="4">
                  <c:v>85.567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14.65978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3D85C6"/>
            </a:solidFill>
            <a:ln>
              <a:noFill/>
            </a:ln>
          </c:spPr>
          <c:dPt>
            <c:idx val="0"/>
            <c:spPr>
              <a:solidFill>
                <a:srgbClr val="E59999"/>
              </a:solidFill>
            </c:spPr>
          </c:dPt>
          <c:dPt>
            <c:idx val="1"/>
            <c:spPr>
              <a:solidFill>
                <a:srgbClr val="DC7272"/>
              </a:solidFill>
            </c:spPr>
          </c:dPt>
          <c:dPt>
            <c:idx val="2"/>
            <c:spPr>
              <a:solidFill>
                <a:srgbClr val="D24C4C"/>
              </a:solidFill>
            </c:spPr>
          </c:dPt>
          <c:dPt>
            <c:idx val="3"/>
            <c:spPr>
              <a:solidFill>
                <a:srgbClr val="C92626"/>
              </a:solidFill>
            </c:spPr>
          </c:dPt>
          <c:dPt>
            <c:idx val="4"/>
            <c:spPr>
              <a:solidFill>
                <a:srgbClr val="C00000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Other Resellers</c:v>
                </c:pt>
                <c:pt idx="1">
                  <c:v>Manufacturer-Direct S…</c:v>
                </c:pt>
                <c:pt idx="2">
                  <c:v>Third-Party E-Commerc…</c:v>
                </c:pt>
                <c:pt idx="3">
                  <c:v>General Retail Channe…</c:v>
                </c:pt>
                <c:pt idx="4">
                  <c:v>Specialist Solar and…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10.429</c:v>
                </c:pt>
                <c:pt idx="1">
                  <c:v>12.42</c:v>
                </c:pt>
                <c:pt idx="2">
                  <c:v>32.129</c:v>
                </c:pt>
                <c:pt idx="3">
                  <c:v>84.822</c:v>
                </c:pt>
                <c:pt idx="4">
                  <c:v>90.534</c:v>
                </c:pt>
              </c:numCache>
            </c:numRef>
          </c:val>
        </c:ser>
        <c:dLbls>
          <c:numFmt formatCode="0.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21.31556000000002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2026</c:v>
                </c:pt>
                <c:pt idx="1">
                  <c:v>Portable Integrated Solar Generators</c:v>
                </c:pt>
                <c:pt idx="2">
                  <c:v>Portable Modular Solar Generators</c:v>
                </c:pt>
                <c:pt idx="3">
                  <c:v>Fixed Residential Solar Power Generator Systems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230.334</c:v>
                </c:pt>
                <c:pt idx="2">
                  <c:v>276.371</c:v>
                </c:pt>
                <c:pt idx="3">
                  <c:v>399.23699999999997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2026</c:v>
                </c:pt>
                <c:pt idx="1">
                  <c:v>Portable Integrated Solar Generators</c:v>
                </c:pt>
                <c:pt idx="2">
                  <c:v>Portable Modular Solar Generators</c:v>
                </c:pt>
                <c:pt idx="3">
                  <c:v>Fixed Residential Solar Power Generator Systems</c:v>
                </c:pt>
                <c:pt idx="4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230.334</c:v>
                </c:pt>
                <c:pt idx="1">
                  <c:v>46.03699999999999</c:v>
                </c:pt>
                <c:pt idx="2">
                  <c:v>122.86599999999999</c:v>
                </c:pt>
                <c:pt idx="3">
                  <c:v>34.954</c:v>
                </c:pt>
                <c:pt idx="4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Portable Integrated Solar Generators</c:v>
                </c:pt>
                <c:pt idx="1">
                  <c:v>Portable Modular Solar Generators</c:v>
                </c:pt>
                <c:pt idx="2">
                  <c:v>Fixed Residential Solar Power Generator Systems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46.03699999999999</c:v>
                </c:pt>
                <c:pt idx="2">
                  <c:v>168.90299999999996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Portable Integrated Solar Generators</c:v>
                </c:pt>
                <c:pt idx="1">
                  <c:v>Portable Modular Solar Generators</c:v>
                </c:pt>
                <c:pt idx="2">
                  <c:v>Fixed Residential Solar Power Generator Systems</c:v>
                </c:pt>
                <c:pt idx="3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46.03699999999999</c:v>
                </c:pt>
                <c:pt idx="1">
                  <c:v>122.86599999999999</c:v>
                </c:pt>
                <c:pt idx="2">
                  <c:v>34.954</c:v>
                </c:pt>
                <c:pt idx="3">
                  <c:v>203.85699999999997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Up to 1 kWh</c:v>
                </c:pt>
                <c:pt idx="2">
                  <c:v>Above 1–3 kWh</c:v>
                </c:pt>
                <c:pt idx="3">
                  <c:v>Above 3–10 kWh</c:v>
                </c:pt>
                <c:pt idx="4">
                  <c:v>Above 10–20 kWh</c:v>
                </c:pt>
                <c:pt idx="5">
                  <c:v>Above 20 kWh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230.334</c:v>
                </c:pt>
                <c:pt idx="2">
                  <c:v>297.592</c:v>
                </c:pt>
                <c:pt idx="3">
                  <c:v>330.993</c:v>
                </c:pt>
                <c:pt idx="4">
                  <c:v>355.457</c:v>
                </c:pt>
                <c:pt idx="5">
                  <c:v>408.641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Up to 1 kWh</c:v>
                </c:pt>
                <c:pt idx="2">
                  <c:v>Above 1–3 kWh</c:v>
                </c:pt>
                <c:pt idx="3">
                  <c:v>Above 3–10 kWh</c:v>
                </c:pt>
                <c:pt idx="4">
                  <c:v>Above 10–20 kWh</c:v>
                </c:pt>
                <c:pt idx="5">
                  <c:v>Above 20 kWh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230.334</c:v>
                </c:pt>
                <c:pt idx="1">
                  <c:v>67.25800000000001</c:v>
                </c:pt>
                <c:pt idx="2">
                  <c:v>33.400999999999996</c:v>
                </c:pt>
                <c:pt idx="3">
                  <c:v>24.464000000000006</c:v>
                </c:pt>
                <c:pt idx="4">
                  <c:v>53.184000000000005</c:v>
                </c:pt>
                <c:pt idx="5">
                  <c:v>25.549999999999997</c:v>
                </c:pt>
                <c:pt idx="6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Up to 1 kWh</c:v>
                </c:pt>
                <c:pt idx="1">
                  <c:v>Above 1–3 kWh</c:v>
                </c:pt>
                <c:pt idx="2">
                  <c:v>Above 3–10 kWh</c:v>
                </c:pt>
                <c:pt idx="3">
                  <c:v>Above 10–20 kWh</c:v>
                </c:pt>
                <c:pt idx="4">
                  <c:v>Above 20 kWh</c:v>
                </c:pt>
                <c:pt idx="5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67.25800000000001</c:v>
                </c:pt>
                <c:pt idx="2">
                  <c:v>100.659</c:v>
                </c:pt>
                <c:pt idx="3">
                  <c:v>125.12300000000002</c:v>
                </c:pt>
                <c:pt idx="4">
                  <c:v>178.30700000000002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Up to 1 kWh</c:v>
                </c:pt>
                <c:pt idx="1">
                  <c:v>Above 1–3 kWh</c:v>
                </c:pt>
                <c:pt idx="2">
                  <c:v>Above 3–10 kWh</c:v>
                </c:pt>
                <c:pt idx="3">
                  <c:v>Above 10–20 kWh</c:v>
                </c:pt>
                <c:pt idx="4">
                  <c:v>Above 20 kWh</c:v>
                </c:pt>
                <c:pt idx="5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67.25800000000001</c:v>
                </c:pt>
                <c:pt idx="1">
                  <c:v>33.400999999999996</c:v>
                </c:pt>
                <c:pt idx="2">
                  <c:v>24.464000000000006</c:v>
                </c:pt>
                <c:pt idx="3">
                  <c:v>53.184000000000005</c:v>
                </c:pt>
                <c:pt idx="4">
                  <c:v>25.549999999999997</c:v>
                </c:pt>
                <c:pt idx="5">
                  <c:v>203.85700000000003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2026</c:v>
                </c:pt>
                <c:pt idx="1">
                  <c:v>Lithium Iron Phosphate (LFP)</c:v>
                </c:pt>
                <c:pt idx="2">
                  <c:v>Nickel-Based Lithium-Ion Batteries</c:v>
                </c:pt>
                <c:pt idx="3">
                  <c:v>Lead-Acid Batteries</c:v>
                </c:pt>
                <c:pt idx="4">
                  <c:v>Other Battery Technologies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230.334</c:v>
                </c:pt>
                <c:pt idx="2">
                  <c:v>290.27</c:v>
                </c:pt>
                <c:pt idx="3">
                  <c:v>307.756</c:v>
                </c:pt>
                <c:pt idx="4">
                  <c:v>356.181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2026</c:v>
                </c:pt>
                <c:pt idx="1">
                  <c:v>Lithium Iron Phosphate (LFP)</c:v>
                </c:pt>
                <c:pt idx="2">
                  <c:v>Nickel-Based Lithium-Ion Batteries</c:v>
                </c:pt>
                <c:pt idx="3">
                  <c:v>Lead-Acid Batteries</c:v>
                </c:pt>
                <c:pt idx="4">
                  <c:v>Other Battery Technologies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230.334</c:v>
                </c:pt>
                <c:pt idx="1">
                  <c:v>59.93600000000001</c:v>
                </c:pt>
                <c:pt idx="2">
                  <c:v>17.486000000000004</c:v>
                </c:pt>
                <c:pt idx="3">
                  <c:v>48.425000000000004</c:v>
                </c:pt>
                <c:pt idx="4">
                  <c:v>78.01</c:v>
                </c:pt>
                <c:pt idx="5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Lithium Iron Phosphate (LFP)</c:v>
                </c:pt>
                <c:pt idx="1">
                  <c:v>Nickel-Based Lithium-Ion Batteries</c:v>
                </c:pt>
                <c:pt idx="2">
                  <c:v>Lead-Acid Batteries</c:v>
                </c:pt>
                <c:pt idx="3">
                  <c:v>Other Battery Technologies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59.93600000000001</c:v>
                </c:pt>
                <c:pt idx="2">
                  <c:v>77.42200000000001</c:v>
                </c:pt>
                <c:pt idx="3">
                  <c:v>125.84700000000001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Lithium Iron Phosphate (LFP)</c:v>
                </c:pt>
                <c:pt idx="1">
                  <c:v>Nickel-Based Lithium-Ion Batteries</c:v>
                </c:pt>
                <c:pt idx="2">
                  <c:v>Lead-Acid Batteries</c:v>
                </c:pt>
                <c:pt idx="3">
                  <c:v>Other Battery Technologies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59.93600000000001</c:v>
                </c:pt>
                <c:pt idx="1">
                  <c:v>17.486000000000004</c:v>
                </c:pt>
                <c:pt idx="2">
                  <c:v>48.425000000000004</c:v>
                </c:pt>
                <c:pt idx="3">
                  <c:v>78.01</c:v>
                </c:pt>
                <c:pt idx="4">
                  <c:v>203.85700000000003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4"/>
                <c:pt idx="0">
                  <c:v>2026</c:v>
                </c:pt>
                <c:pt idx="1">
                  <c:v>Fixed Grid-Connected Systems</c:v>
                </c:pt>
                <c:pt idx="2">
                  <c:v>Fixed Off-Grid Systems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0.0</c:v>
                </c:pt>
                <c:pt idx="1">
                  <c:v>230.334</c:v>
                </c:pt>
                <c:pt idx="2">
                  <c:v>297.47400000000005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2026</c:v>
                </c:pt>
                <c:pt idx="1">
                  <c:v>Fixed Grid-Connected Systems</c:v>
                </c:pt>
                <c:pt idx="2">
                  <c:v>Fixed Off-Grid Systems</c:v>
                </c:pt>
                <c:pt idx="3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230.334</c:v>
                </c:pt>
                <c:pt idx="1">
                  <c:v>67.14000000000001</c:v>
                </c:pt>
                <c:pt idx="2">
                  <c:v>136.71699999999998</c:v>
                </c:pt>
                <c:pt idx="3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3"/>
                <c:pt idx="0">
                  <c:v>Fixed Grid-Connected Systems</c:v>
                </c:pt>
                <c:pt idx="1">
                  <c:v>Fixed Off-Grid Systems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0.0</c:v>
                </c:pt>
                <c:pt idx="1">
                  <c:v>67.14000000000001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Fixed Grid-Connected Systems</c:v>
                </c:pt>
                <c:pt idx="1">
                  <c:v>Fixed Off-Grid Systems</c:v>
                </c:pt>
                <c:pt idx="2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67.14000000000001</c:v>
                </c:pt>
                <c:pt idx="1">
                  <c:v>136.71699999999998</c:v>
                </c:pt>
                <c:pt idx="2">
                  <c:v>203.857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2026</c:v>
                </c:pt>
                <c:pt idx="1">
                  <c:v>Emergency Power Backup</c:v>
                </c:pt>
                <c:pt idx="2">
                  <c:v>Residential Solar Self-Consumption</c:v>
                </c:pt>
                <c:pt idx="3">
                  <c:v>Primary Off-Grid Household Power</c:v>
                </c:pt>
                <c:pt idx="4">
                  <c:v>Supplemental Household Power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230.334</c:v>
                </c:pt>
                <c:pt idx="2">
                  <c:v>290.373</c:v>
                </c:pt>
                <c:pt idx="3">
                  <c:v>327.382</c:v>
                </c:pt>
                <c:pt idx="4">
                  <c:v>352.399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2026</c:v>
                </c:pt>
                <c:pt idx="1">
                  <c:v>Emergency Power Backup</c:v>
                </c:pt>
                <c:pt idx="2">
                  <c:v>Residential Solar Self-Consumption</c:v>
                </c:pt>
                <c:pt idx="3">
                  <c:v>Primary Off-Grid Household Power</c:v>
                </c:pt>
                <c:pt idx="4">
                  <c:v>Supplemental Household Power</c:v>
                </c:pt>
                <c:pt idx="5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230.334</c:v>
                </c:pt>
                <c:pt idx="1">
                  <c:v>60.038999999999994</c:v>
                </c:pt>
                <c:pt idx="2">
                  <c:v>37.009</c:v>
                </c:pt>
                <c:pt idx="3">
                  <c:v>25.017</c:v>
                </c:pt>
                <c:pt idx="4">
                  <c:v>81.792</c:v>
                </c:pt>
                <c:pt idx="5">
                  <c:v>434.19100000000003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5"/>
                <c:pt idx="0">
                  <c:v>Emergency Power Backup</c:v>
                </c:pt>
                <c:pt idx="1">
                  <c:v>Residential Solar Self-Consumption</c:v>
                </c:pt>
                <c:pt idx="2">
                  <c:v>Primary Off-Grid Household Power</c:v>
                </c:pt>
                <c:pt idx="3">
                  <c:v>Supplemental Household Power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0.0</c:v>
                </c:pt>
                <c:pt idx="1">
                  <c:v>60.038999999999994</c:v>
                </c:pt>
                <c:pt idx="2">
                  <c:v>97.048</c:v>
                </c:pt>
                <c:pt idx="3">
                  <c:v>122.065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Emergency Power Backup</c:v>
                </c:pt>
                <c:pt idx="1">
                  <c:v>Residential Solar Self-Consumption</c:v>
                </c:pt>
                <c:pt idx="2">
                  <c:v>Primary Off-Grid Household Power</c:v>
                </c:pt>
                <c:pt idx="3">
                  <c:v>Supplemental Household Power</c:v>
                </c:pt>
                <c:pt idx="4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60.038999999999994</c:v>
                </c:pt>
                <c:pt idx="1">
                  <c:v>37.009</c:v>
                </c:pt>
                <c:pt idx="2">
                  <c:v>25.017</c:v>
                </c:pt>
                <c:pt idx="3">
                  <c:v>81.792</c:v>
                </c:pt>
                <c:pt idx="4">
                  <c:v>203.857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7"/>
                <c:pt idx="0">
                  <c:v>2026</c:v>
                </c:pt>
                <c:pt idx="1">
                  <c:v>Manufacturer-Direct Sales</c:v>
                </c:pt>
                <c:pt idx="2">
                  <c:v>Third-Party E-Commerce Marketplaces</c:v>
                </c:pt>
                <c:pt idx="3">
                  <c:v>Specialist Solar and Electrical Channels</c:v>
                </c:pt>
                <c:pt idx="4">
                  <c:v>General Retail Channels</c:v>
                </c:pt>
                <c:pt idx="5">
                  <c:v>Other Resellers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0.0</c:v>
                </c:pt>
                <c:pt idx="1">
                  <c:v>230.334</c:v>
                </c:pt>
                <c:pt idx="2">
                  <c:v>250.137</c:v>
                </c:pt>
                <c:pt idx="3">
                  <c:v>289.899</c:v>
                </c:pt>
                <c:pt idx="4">
                  <c:v>345.168</c:v>
                </c:pt>
                <c:pt idx="5">
                  <c:v>426.03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E72AE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08189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7"/>
                <c:pt idx="0">
                  <c:v>2026</c:v>
                </c:pt>
                <c:pt idx="1">
                  <c:v>Manufacturer-Direct Sales</c:v>
                </c:pt>
                <c:pt idx="2">
                  <c:v>Third-Party E-Commerce Marketplaces</c:v>
                </c:pt>
                <c:pt idx="3">
                  <c:v>Specialist Solar and Electrical Channels</c:v>
                </c:pt>
                <c:pt idx="4">
                  <c:v>General Retail Channels</c:v>
                </c:pt>
                <c:pt idx="5">
                  <c:v>Other Resellers</c:v>
                </c:pt>
                <c:pt idx="6">
                  <c:v>2036 Total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230.334</c:v>
                </c:pt>
                <c:pt idx="1">
                  <c:v>19.802999999999997</c:v>
                </c:pt>
                <c:pt idx="2">
                  <c:v>39.76200000000001</c:v>
                </c:pt>
                <c:pt idx="3">
                  <c:v>55.26899999999999</c:v>
                </c:pt>
                <c:pt idx="4">
                  <c:v>80.862</c:v>
                </c:pt>
                <c:pt idx="5">
                  <c:v>8.161</c:v>
                </c:pt>
                <c:pt idx="6">
                  <c:v>434.191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strCache>
                <c:ptCount val="6"/>
                <c:pt idx="0">
                  <c:v>Manufacturer-Direct Sales</c:v>
                </c:pt>
                <c:pt idx="1">
                  <c:v>Third-Party E-Commerce Marketplaces</c:v>
                </c:pt>
                <c:pt idx="2">
                  <c:v>Specialist Solar and Electrical Channels</c:v>
                </c:pt>
                <c:pt idx="3">
                  <c:v>General Retail Channels</c:v>
                </c:pt>
                <c:pt idx="4">
                  <c:v>Other Resellers</c:v>
                </c:pt>
                <c:pt idx="5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0.0</c:v>
                </c:pt>
                <c:pt idx="1">
                  <c:v>19.802999999999997</c:v>
                </c:pt>
                <c:pt idx="2">
                  <c:v>59.565000000000005</c:v>
                </c:pt>
                <c:pt idx="3">
                  <c:v>114.834</c:v>
                </c:pt>
                <c:pt idx="4">
                  <c:v>195.696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value</c:v>
                </c:pt>
              </c:strCache>
            </c:strRef>
          </c:tx>
          <c:spPr/>
          <c:dPt>
            <c:idx val="0"/>
            <c:spPr>
              <a:solidFill>
                <a:srgbClr val="008189"/>
              </a:solidFill>
            </c:spPr>
          </c:dPt>
          <c:dPt>
            <c:idx val="1"/>
            <c:spPr>
              <a:solidFill>
                <a:srgbClr val="008189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008189"/>
              </a:solidFill>
            </c:spPr>
          </c:dPt>
          <c:dPt>
            <c:idx val="4"/>
            <c:spPr>
              <a:solidFill>
                <a:srgbClr val="008189"/>
              </a:solidFill>
            </c:spPr>
          </c:dPt>
          <c:dPt>
            <c:idx val="5"/>
            <c:spPr>
              <a:solidFill>
                <a:srgbClr val="0E72AE"/>
              </a:solidFill>
            </c:spPr>
          </c:dPt>
          <c:dLbls>
            <c:dLbl>
              <c:idx val="0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&quot;&quot;" sourceLinked="0"/>
              <c:txPr>
                <a:bodyPr/>
                <a:lstStyle/>
                <a:p>
                  <a:pPr>
                    <a:defRPr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6"/>
                <c:pt idx="0">
                  <c:v>Manufacturer-Direct Sales</c:v>
                </c:pt>
                <c:pt idx="1">
                  <c:v>Third-Party E-Commerce Marketplaces</c:v>
                </c:pt>
                <c:pt idx="2">
                  <c:v>Specialist Solar and Electrical Channels</c:v>
                </c:pt>
                <c:pt idx="3">
                  <c:v>General Retail Channels</c:v>
                </c:pt>
                <c:pt idx="4">
                  <c:v>Other Resellers</c:v>
                </c:pt>
                <c:pt idx="5">
                  <c:v>Total Absolute $ Opportunity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19.802999999999997</c:v>
                </c:pt>
                <c:pt idx="1">
                  <c:v>39.76200000000001</c:v>
                </c:pt>
                <c:pt idx="2">
                  <c:v>55.26899999999999</c:v>
                </c:pt>
                <c:pt idx="3">
                  <c:v>80.862</c:v>
                </c:pt>
                <c:pt idx="4">
                  <c:v>8.161</c:v>
                </c:pt>
                <c:pt idx="5">
                  <c:v>203.857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Portable Modular Solar Generators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4423.0</c:v>
                </c:pt>
                <c:pt idx="1">
                  <c:v>4433.0</c:v>
                </c:pt>
                <c:pt idx="2">
                  <c:v>4445.0</c:v>
                </c:pt>
                <c:pt idx="3">
                  <c:v>4459.0</c:v>
                </c:pt>
                <c:pt idx="4">
                  <c:v>4479.0</c:v>
                </c:pt>
                <c:pt idx="5">
                  <c:v>4501.0</c:v>
                </c:pt>
                <c:pt idx="6">
                  <c:v>4517.0</c:v>
                </c:pt>
                <c:pt idx="7">
                  <c:v>4533.0</c:v>
                </c:pt>
                <c:pt idx="8">
                  <c:v>4547.0</c:v>
                </c:pt>
                <c:pt idx="9">
                  <c:v>4561.0</c:v>
                </c:pt>
                <c:pt idx="10">
                  <c:v>4573.0</c:v>
                </c:pt>
                <c:pt idx="11">
                  <c:v>4584.0</c:v>
                </c:pt>
                <c:pt idx="12">
                  <c:v>4595.0</c:v>
                </c:pt>
                <c:pt idx="13">
                  <c:v>4605.0</c:v>
                </c:pt>
                <c:pt idx="14">
                  <c:v>4614.0</c:v>
                </c:pt>
                <c:pt idx="15">
                  <c:v>4622.0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Fixed Residential Solar Power Generator Systems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3834.0</c:v>
                </c:pt>
                <c:pt idx="1">
                  <c:v>3840.0</c:v>
                </c:pt>
                <c:pt idx="2">
                  <c:v>3849.0</c:v>
                </c:pt>
                <c:pt idx="3">
                  <c:v>3865.0</c:v>
                </c:pt>
                <c:pt idx="4">
                  <c:v>3883.0</c:v>
                </c:pt>
                <c:pt idx="5">
                  <c:v>3908.0</c:v>
                </c:pt>
                <c:pt idx="6">
                  <c:v>3910.0</c:v>
                </c:pt>
                <c:pt idx="7">
                  <c:v>3914.0</c:v>
                </c:pt>
                <c:pt idx="8">
                  <c:v>3921.0</c:v>
                </c:pt>
                <c:pt idx="9">
                  <c:v>3929.0</c:v>
                </c:pt>
                <c:pt idx="10">
                  <c:v>3940.0</c:v>
                </c:pt>
                <c:pt idx="11">
                  <c:v>3954.0</c:v>
                </c:pt>
                <c:pt idx="12">
                  <c:v>3970.0</c:v>
                </c:pt>
                <c:pt idx="13">
                  <c:v>3988.0</c:v>
                </c:pt>
                <c:pt idx="14">
                  <c:v>4007.0</c:v>
                </c:pt>
                <c:pt idx="15">
                  <c:v>4028.0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strCache>
                <c:ptCount val="1"/>
                <c:pt idx="0">
                  <c:v>Portable Integrated Solar Generators</c:v>
                </c:pt>
              </c:strCache>
            </c:strRef>
          </c:tx>
          <c:spPr>
            <a:ln w="25400">
              <a:solidFill>
                <a:srgbClr val="7030A0"/>
              </a:solidFill>
            </a:ln>
          </c:spPr>
          <c:marker>
            <c:symbol val="none"/>
          </c:marker>
          <c:cat>
            <c:strRe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numCache>
                <c:formatCode>General</c:formatCode>
                <c:ptCount val="16"/>
                <c:pt idx="0">
                  <c:v>3792.0</c:v>
                </c:pt>
                <c:pt idx="1">
                  <c:v>3797.0</c:v>
                </c:pt>
                <c:pt idx="2">
                  <c:v>3805.0</c:v>
                </c:pt>
                <c:pt idx="3">
                  <c:v>3822.0</c:v>
                </c:pt>
                <c:pt idx="4">
                  <c:v>3846.0</c:v>
                </c:pt>
                <c:pt idx="5">
                  <c:v>3875.0</c:v>
                </c:pt>
                <c:pt idx="6">
                  <c:v>3882.0</c:v>
                </c:pt>
                <c:pt idx="7">
                  <c:v>3889.0</c:v>
                </c:pt>
                <c:pt idx="8">
                  <c:v>3898.0</c:v>
                </c:pt>
                <c:pt idx="9">
                  <c:v>3908.0</c:v>
                </c:pt>
                <c:pt idx="10">
                  <c:v>3921.0</c:v>
                </c:pt>
                <c:pt idx="11">
                  <c:v>3936.0</c:v>
                </c:pt>
                <c:pt idx="12">
                  <c:v>3953.0</c:v>
                </c:pt>
                <c:pt idx="13">
                  <c:v>3971.0</c:v>
                </c:pt>
                <c:pt idx="14">
                  <c:v>3990.0</c:v>
                </c:pt>
                <c:pt idx="15">
                  <c:v>4010.0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00.0"/>
          <c:min val="35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</c:chartSpace>
</file>

<file path=ppt/charts/chart1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5B7DB1"/>
              </a:solidFill>
            </c:spPr>
          </c:dPt>
          <c:dPt>
            <c:idx val="2"/>
            <c:spPr>
              <a:solidFill>
                <a:srgbClr val="C55A11"/>
              </a:solidFill>
            </c:spPr>
          </c:dPt>
          <c:cat>
            <c:strRef>
              <c:strCache>
                <c:ptCount val="3"/>
                <c:pt idx="0">
                  <c:v>Portable Integrated Solar Generators</c:v>
                </c:pt>
                <c:pt idx="1">
                  <c:v>Fixed Residential Solar Power Generator Systems</c:v>
                </c:pt>
                <c:pt idx="2">
                  <c:v>Portable Modular Solar Generators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94.5</c:v>
                </c:pt>
                <c:pt idx="1">
                  <c:v>95.3</c:v>
                </c:pt>
                <c:pt idx="2">
                  <c:v>109.8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12.0"/>
          <c:min val="92.0"/>
        </c:scaling>
        <c:delete/>
        <c:axPos val="b"/>
        <c:majorTickMark val="out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</c:chartSpace>
</file>

<file path=ppt/charts/chart1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strCache>
                <c:ptCount val="7"/>
                <c:pt idx="0">
                  <c:v>North America</c:v>
                </c:pt>
                <c:pt idx="1">
                  <c:v>Western Europe</c:v>
                </c:pt>
                <c:pt idx="2">
                  <c:v>Eastern Europe</c:v>
                </c:pt>
                <c:pt idx="3">
                  <c:v>Latin America</c:v>
                </c:pt>
                <c:pt idx="4">
                  <c:v>Middle East &amp; Africa</c:v>
                </c:pt>
                <c:pt idx="5">
                  <c:v>East Asia</c:v>
                </c:pt>
                <c:pt idx="6">
                  <c:v>South Asia &amp; Pacific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130.7</c:v>
                </c:pt>
                <c:pt idx="1">
                  <c:v>120.5</c:v>
                </c:pt>
                <c:pt idx="2">
                  <c:v>100.3</c:v>
                </c:pt>
                <c:pt idx="3">
                  <c:v>93.0</c:v>
                </c:pt>
                <c:pt idx="4">
                  <c:v>88.0</c:v>
                </c:pt>
                <c:pt idx="5">
                  <c:v>67.9</c:v>
                </c:pt>
                <c:pt idx="6">
                  <c:v>59.7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Pt>
            <c:idx val="4"/>
            <c:spPr>
              <a:solidFill>
                <a:srgbClr val="5B7DB1"/>
              </a:solidFill>
            </c:spPr>
          </c:dPt>
          <c:dPt>
            <c:idx val="5"/>
            <c:spPr>
              <a:solidFill>
                <a:srgbClr val="5B7DB1"/>
              </a:solidFill>
            </c:spPr>
          </c:dPt>
          <c:dPt>
            <c:idx val="6"/>
            <c:spPr>
              <a:solidFill>
                <a:srgbClr val="5B7DB1"/>
              </a:solidFill>
            </c:spPr>
          </c:dPt>
          <c:cat>
            <c:strRef>
              <c:strCache>
                <c:ptCount val="7"/>
                <c:pt idx="0">
                  <c:v>North America</c:v>
                </c:pt>
                <c:pt idx="1">
                  <c:v>Western Europe</c:v>
                </c:pt>
                <c:pt idx="2">
                  <c:v>Eastern Europe</c:v>
                </c:pt>
                <c:pt idx="3">
                  <c:v>Latin America</c:v>
                </c:pt>
                <c:pt idx="4">
                  <c:v>Middle East &amp; Africa</c:v>
                </c:pt>
                <c:pt idx="5">
                  <c:v>East Asia</c:v>
                </c:pt>
                <c:pt idx="6">
                  <c:v>South Asia &amp; Pacific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28.4</c:v>
                </c:pt>
                <c:pt idx="1">
                  <c:v>26.0</c:v>
                </c:pt>
                <c:pt idx="2">
                  <c:v>21.4</c:v>
                </c:pt>
                <c:pt idx="3">
                  <c:v>20.2</c:v>
                </c:pt>
                <c:pt idx="4">
                  <c:v>18.8</c:v>
                </c:pt>
                <c:pt idx="5">
                  <c:v>14.8</c:v>
                </c:pt>
                <c:pt idx="6">
                  <c:v>12.9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60.0"/>
          <c:min val="55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</c:chartSpace>
</file>

<file path=ppt/charts/chart1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40315E"/>
              </a:solidFill>
            </c:spPr>
          </c:dPt>
          <c:dPt>
            <c:idx val="4"/>
            <c:spPr>
              <a:solidFill>
                <a:srgbClr val="A35313"/>
              </a:solidFill>
            </c:spPr>
          </c:dPt>
          <c:dPt>
            <c:idx val="5"/>
            <c:spPr>
              <a:solidFill>
                <a:srgbClr val="808080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Pt>
            <c:idx val="7"/>
            <c:spPr>
              <a:solidFill>
                <a:srgbClr val="A86F00"/>
              </a:solidFill>
            </c:spPr>
          </c:dPt>
          <c:dPt>
            <c:idx val="8"/>
            <c:spPr>
              <a:solidFill>
                <a:srgbClr val="0B2E4A"/>
              </a:solidFill>
            </c:spPr>
          </c:dPt>
          <c:dPt>
            <c:idx val="9"/>
            <c:spPr>
              <a:solidFill>
                <a:srgbClr val="6C7A89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Jackery</c:v>
                </c:pt>
                <c:pt idx="1">
                  <c:v>EcoFlow</c:v>
                </c:pt>
                <c:pt idx="2">
                  <c:v>BLUETTI</c:v>
                </c:pt>
                <c:pt idx="3">
                  <c:v>PECRON</c:v>
                </c:pt>
                <c:pt idx="4">
                  <c:v>Goal Zero</c:v>
                </c:pt>
                <c:pt idx="5">
                  <c:v>Zendure</c:v>
                </c:pt>
                <c:pt idx="6">
                  <c:v>Dabbsson</c:v>
                </c:pt>
                <c:pt idx="7">
                  <c:v>OUPES</c:v>
                </c:pt>
                <c:pt idx="8">
                  <c:v>VTOMAN</c:v>
                </c:pt>
                <c:pt idx="9">
                  <c:v>Powerenz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15.401240790072531</c:v>
                </c:pt>
                <c:pt idx="1">
                  <c:v>13.483170759180721</c:v>
                </c:pt>
                <c:pt idx="2">
                  <c:v>9.299352883645389</c:v>
                </c:pt>
                <c:pt idx="3">
                  <c:v>6.532876475193234</c:v>
                </c:pt>
                <c:pt idx="4">
                  <c:v>6.473319829711895</c:v>
                </c:pt>
                <c:pt idx="5">
                  <c:v>6.433244680872182</c:v>
                </c:pt>
                <c:pt idx="6">
                  <c:v>5.1503700280767655</c:v>
                </c:pt>
                <c:pt idx="7">
                  <c:v>3.1015192989370006</c:v>
                </c:pt>
                <c:pt idx="8">
                  <c:v>2.164598136819089</c:v>
                </c:pt>
                <c:pt idx="9">
                  <c:v>2.136096181068746</c:v>
                </c:pt>
                <c:pt idx="10">
                  <c:v>29.824210936422443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40315E"/>
              </a:solidFill>
            </c:spPr>
          </c:dPt>
          <c:dPt>
            <c:idx val="4"/>
            <c:spPr>
              <a:solidFill>
                <a:srgbClr val="A35313"/>
              </a:solidFill>
            </c:spPr>
          </c:dPt>
          <c:dPt>
            <c:idx val="5"/>
            <c:spPr>
              <a:solidFill>
                <a:srgbClr val="808080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Pt>
            <c:idx val="7"/>
            <c:spPr>
              <a:solidFill>
                <a:srgbClr val="A86F00"/>
              </a:solidFill>
            </c:spPr>
          </c:dPt>
          <c:dPt>
            <c:idx val="8"/>
            <c:spPr>
              <a:solidFill>
                <a:srgbClr val="0B2E4A"/>
              </a:solidFill>
            </c:spPr>
          </c:dPt>
          <c:dPt>
            <c:idx val="9"/>
            <c:spPr>
              <a:solidFill>
                <a:srgbClr val="6C7A89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Jackery</c:v>
                </c:pt>
                <c:pt idx="1">
                  <c:v>EcoFlow</c:v>
                </c:pt>
                <c:pt idx="2">
                  <c:v>BLUETTI</c:v>
                </c:pt>
                <c:pt idx="3">
                  <c:v>PECRON</c:v>
                </c:pt>
                <c:pt idx="4">
                  <c:v>Goal Zero</c:v>
                </c:pt>
                <c:pt idx="5">
                  <c:v>Zendure</c:v>
                </c:pt>
                <c:pt idx="6">
                  <c:v>Dabbsson</c:v>
                </c:pt>
                <c:pt idx="7">
                  <c:v>OUPES</c:v>
                </c:pt>
                <c:pt idx="8">
                  <c:v>VTOMAN</c:v>
                </c:pt>
                <c:pt idx="9">
                  <c:v>Powerenz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11.693602256562977</c:v>
                </c:pt>
                <c:pt idx="1">
                  <c:v>9.98907014549872</c:v>
                </c:pt>
                <c:pt idx="2">
                  <c:v>11.264513875278551</c:v>
                </c:pt>
                <c:pt idx="3">
                  <c:v>11.542462021743303</c:v>
                </c:pt>
                <c:pt idx="4">
                  <c:v>9.170712625473369</c:v>
                </c:pt>
                <c:pt idx="5">
                  <c:v>5.69371565484273</c:v>
                </c:pt>
                <c:pt idx="6">
                  <c:v>3.7515880157620747</c:v>
                </c:pt>
                <c:pt idx="7">
                  <c:v>3.240076671241286</c:v>
                </c:pt>
                <c:pt idx="8">
                  <c:v>3.3901784262482124</c:v>
                </c:pt>
                <c:pt idx="9">
                  <c:v>3.0300946920704144</c:v>
                </c:pt>
                <c:pt idx="10">
                  <c:v>27.23398561527836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40315E"/>
              </a:solidFill>
            </c:spPr>
          </c:dPt>
          <c:dPt>
            <c:idx val="4"/>
            <c:spPr>
              <a:solidFill>
                <a:srgbClr val="A35313"/>
              </a:solidFill>
            </c:spPr>
          </c:dPt>
          <c:dPt>
            <c:idx val="5"/>
            <c:spPr>
              <a:solidFill>
                <a:srgbClr val="808080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Pt>
            <c:idx val="7"/>
            <c:spPr>
              <a:solidFill>
                <a:srgbClr val="A86F00"/>
              </a:solidFill>
            </c:spPr>
          </c:dPt>
          <c:dPt>
            <c:idx val="8"/>
            <c:spPr>
              <a:solidFill>
                <a:srgbClr val="0B2E4A"/>
              </a:solidFill>
            </c:spPr>
          </c:dPt>
          <c:dPt>
            <c:idx val="9"/>
            <c:spPr>
              <a:solidFill>
                <a:srgbClr val="6C7A89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Jackery</c:v>
                </c:pt>
                <c:pt idx="1">
                  <c:v>EcoFlow</c:v>
                </c:pt>
                <c:pt idx="2">
                  <c:v>BLUETTI</c:v>
                </c:pt>
                <c:pt idx="3">
                  <c:v>PECRON</c:v>
                </c:pt>
                <c:pt idx="4">
                  <c:v>Goal Zero</c:v>
                </c:pt>
                <c:pt idx="5">
                  <c:v>Zendure</c:v>
                </c:pt>
                <c:pt idx="6">
                  <c:v>Dabbsson</c:v>
                </c:pt>
                <c:pt idx="7">
                  <c:v>OUPES</c:v>
                </c:pt>
                <c:pt idx="8">
                  <c:v>VTOMAN</c:v>
                </c:pt>
                <c:pt idx="9">
                  <c:v>Powerenz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12.127056022733685</c:v>
                </c:pt>
                <c:pt idx="1">
                  <c:v>13.515963661294228</c:v>
                </c:pt>
                <c:pt idx="2">
                  <c:v>13.672509787055716</c:v>
                </c:pt>
                <c:pt idx="3">
                  <c:v>10.747277583816313</c:v>
                </c:pt>
                <c:pt idx="4">
                  <c:v>6.853819923875349</c:v>
                </c:pt>
                <c:pt idx="5">
                  <c:v>4.527540451517601</c:v>
                </c:pt>
                <c:pt idx="6">
                  <c:v>4.351504519294602</c:v>
                </c:pt>
                <c:pt idx="7">
                  <c:v>4.386878793633664</c:v>
                </c:pt>
                <c:pt idx="8">
                  <c:v>3.8343075690671227</c:v>
                </c:pt>
                <c:pt idx="9">
                  <c:v>2.614124464284719</c:v>
                </c:pt>
                <c:pt idx="10">
                  <c:v>23.369017223427004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40315E"/>
              </a:solidFill>
            </c:spPr>
          </c:dPt>
          <c:dPt>
            <c:idx val="4"/>
            <c:spPr>
              <a:solidFill>
                <a:srgbClr val="A35313"/>
              </a:solidFill>
            </c:spPr>
          </c:dPt>
          <c:dPt>
            <c:idx val="5"/>
            <c:spPr>
              <a:solidFill>
                <a:srgbClr val="808080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Pt>
            <c:idx val="7"/>
            <c:spPr>
              <a:solidFill>
                <a:srgbClr val="A86F00"/>
              </a:solidFill>
            </c:spPr>
          </c:dPt>
          <c:dPt>
            <c:idx val="8"/>
            <c:spPr>
              <a:solidFill>
                <a:srgbClr val="0B2E4A"/>
              </a:solidFill>
            </c:spPr>
          </c:dPt>
          <c:dPt>
            <c:idx val="9"/>
            <c:spPr>
              <a:solidFill>
                <a:srgbClr val="6C7A89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Jackery</c:v>
                </c:pt>
                <c:pt idx="1">
                  <c:v>EcoFlow</c:v>
                </c:pt>
                <c:pt idx="2">
                  <c:v>BLUETTI</c:v>
                </c:pt>
                <c:pt idx="3">
                  <c:v>PECRON</c:v>
                </c:pt>
                <c:pt idx="4">
                  <c:v>Goal Zero</c:v>
                </c:pt>
                <c:pt idx="5">
                  <c:v>Zendure</c:v>
                </c:pt>
                <c:pt idx="6">
                  <c:v>Dabbsson</c:v>
                </c:pt>
                <c:pt idx="7">
                  <c:v>OUPES</c:v>
                </c:pt>
                <c:pt idx="8">
                  <c:v>VTOMAN</c:v>
                </c:pt>
                <c:pt idx="9">
                  <c:v>Powerenz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16.616982878130067</c:v>
                </c:pt>
                <c:pt idx="1">
                  <c:v>15.838373751146182</c:v>
                </c:pt>
                <c:pt idx="2">
                  <c:v>12.226323321243273</c:v>
                </c:pt>
                <c:pt idx="3">
                  <c:v>7.956018792951128</c:v>
                </c:pt>
                <c:pt idx="4">
                  <c:v>5.814138033935409</c:v>
                </c:pt>
                <c:pt idx="5">
                  <c:v>5.618762435113717</c:v>
                </c:pt>
                <c:pt idx="6">
                  <c:v>5.851259038190952</c:v>
                </c:pt>
                <c:pt idx="7">
                  <c:v>4.767350351372047</c:v>
                </c:pt>
                <c:pt idx="8">
                  <c:v>3.1905899020099833</c:v>
                </c:pt>
                <c:pt idx="9">
                  <c:v>1.9266097914653117</c:v>
                </c:pt>
                <c:pt idx="10">
                  <c:v>20.193591704441936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40315E"/>
              </a:solidFill>
            </c:spPr>
          </c:dPt>
          <c:dPt>
            <c:idx val="4"/>
            <c:spPr>
              <a:solidFill>
                <a:srgbClr val="A35313"/>
              </a:solidFill>
            </c:spPr>
          </c:dPt>
          <c:dPt>
            <c:idx val="5"/>
            <c:spPr>
              <a:solidFill>
                <a:srgbClr val="808080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Pt>
            <c:idx val="7"/>
            <c:spPr>
              <a:solidFill>
                <a:srgbClr val="A86F00"/>
              </a:solidFill>
            </c:spPr>
          </c:dPt>
          <c:dPt>
            <c:idx val="8"/>
            <c:spPr>
              <a:solidFill>
                <a:srgbClr val="0B2E4A"/>
              </a:solidFill>
            </c:spPr>
          </c:dPt>
          <c:dPt>
            <c:idx val="9"/>
            <c:spPr>
              <a:solidFill>
                <a:srgbClr val="6C7A89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Jackery</c:v>
                </c:pt>
                <c:pt idx="1">
                  <c:v>EcoFlow</c:v>
                </c:pt>
                <c:pt idx="2">
                  <c:v>BLUETTI</c:v>
                </c:pt>
                <c:pt idx="3">
                  <c:v>PECRON</c:v>
                </c:pt>
                <c:pt idx="4">
                  <c:v>Goal Zero</c:v>
                </c:pt>
                <c:pt idx="5">
                  <c:v>Zendure</c:v>
                </c:pt>
                <c:pt idx="6">
                  <c:v>Dabbsson</c:v>
                </c:pt>
                <c:pt idx="7">
                  <c:v>OUPES</c:v>
                </c:pt>
                <c:pt idx="8">
                  <c:v>VTOMAN</c:v>
                </c:pt>
                <c:pt idx="9">
                  <c:v>Powerenz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17.074931814674855</c:v>
                </c:pt>
                <c:pt idx="1">
                  <c:v>12.550885260107192</c:v>
                </c:pt>
                <c:pt idx="2">
                  <c:v>8.380043562697718</c:v>
                </c:pt>
                <c:pt idx="3">
                  <c:v>7.444952014860334</c:v>
                </c:pt>
                <c:pt idx="4">
                  <c:v>8.04660708305492</c:v>
                </c:pt>
                <c:pt idx="5">
                  <c:v>6.919214229256515</c:v>
                </c:pt>
                <c:pt idx="6">
                  <c:v>4.691071174682332</c:v>
                </c:pt>
                <c:pt idx="7">
                  <c:v>2.86510879859984</c:v>
                </c:pt>
                <c:pt idx="8">
                  <c:v>2.560369933335589</c:v>
                </c:pt>
                <c:pt idx="9">
                  <c:v>2.6169804142295043</c:v>
                </c:pt>
                <c:pt idx="10">
                  <c:v>26.849835714501204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40315E"/>
              </a:solidFill>
            </c:spPr>
          </c:dPt>
          <c:dPt>
            <c:idx val="4"/>
            <c:spPr>
              <a:solidFill>
                <a:srgbClr val="A35313"/>
              </a:solidFill>
            </c:spPr>
          </c:dPt>
          <c:dPt>
            <c:idx val="5"/>
            <c:spPr>
              <a:solidFill>
                <a:srgbClr val="808080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Pt>
            <c:idx val="7"/>
            <c:spPr>
              <a:solidFill>
                <a:srgbClr val="A86F00"/>
              </a:solidFill>
            </c:spPr>
          </c:dPt>
          <c:dPt>
            <c:idx val="8"/>
            <c:spPr>
              <a:solidFill>
                <a:srgbClr val="0B2E4A"/>
              </a:solidFill>
            </c:spPr>
          </c:dPt>
          <c:dPt>
            <c:idx val="9"/>
            <c:spPr>
              <a:solidFill>
                <a:srgbClr val="6C7A89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Jackery</c:v>
                </c:pt>
                <c:pt idx="1">
                  <c:v>EcoFlow</c:v>
                </c:pt>
                <c:pt idx="2">
                  <c:v>BLUETTI</c:v>
                </c:pt>
                <c:pt idx="3">
                  <c:v>PECRON</c:v>
                </c:pt>
                <c:pt idx="4">
                  <c:v>Goal Zero</c:v>
                </c:pt>
                <c:pt idx="5">
                  <c:v>Zendure</c:v>
                </c:pt>
                <c:pt idx="6">
                  <c:v>Dabbsson</c:v>
                </c:pt>
                <c:pt idx="7">
                  <c:v>OUPES</c:v>
                </c:pt>
                <c:pt idx="8">
                  <c:v>VTOMAN</c:v>
                </c:pt>
                <c:pt idx="9">
                  <c:v>Powerenz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13.257277768762723</c:v>
                </c:pt>
                <c:pt idx="1">
                  <c:v>11.068290254169384</c:v>
                </c:pt>
                <c:pt idx="2">
                  <c:v>12.589358575079316</c:v>
                </c:pt>
                <c:pt idx="3">
                  <c:v>12.215437450069626</c:v>
                </c:pt>
                <c:pt idx="4">
                  <c:v>8.651701491037262</c:v>
                </c:pt>
                <c:pt idx="5">
                  <c:v>5.225916176548457</c:v>
                </c:pt>
                <c:pt idx="6">
                  <c:v>4.4928995088464045</c:v>
                </c:pt>
                <c:pt idx="7">
                  <c:v>4.585103214436975</c:v>
                </c:pt>
                <c:pt idx="8">
                  <c:v>3.999752878424063</c:v>
                </c:pt>
                <c:pt idx="9">
                  <c:v>2.5965461190797754</c:v>
                </c:pt>
                <c:pt idx="10">
                  <c:v>21.317716563546018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Pt>
            <c:idx val="3"/>
            <c:spPr>
              <a:solidFill>
                <a:srgbClr val="40315E"/>
              </a:solidFill>
            </c:spPr>
          </c:dPt>
          <c:dPt>
            <c:idx val="4"/>
            <c:spPr>
              <a:solidFill>
                <a:srgbClr val="A35313"/>
              </a:solidFill>
            </c:spPr>
          </c:dPt>
          <c:dPt>
            <c:idx val="5"/>
            <c:spPr>
              <a:solidFill>
                <a:srgbClr val="808080"/>
              </a:solidFill>
            </c:spPr>
          </c:dPt>
          <c:dPt>
            <c:idx val="6"/>
            <c:spPr>
              <a:solidFill>
                <a:srgbClr val="0E72AE"/>
              </a:solidFill>
            </c:spPr>
          </c:dPt>
          <c:dPt>
            <c:idx val="7"/>
            <c:spPr>
              <a:solidFill>
                <a:srgbClr val="A86F00"/>
              </a:solidFill>
            </c:spPr>
          </c:dPt>
          <c:dPt>
            <c:idx val="8"/>
            <c:spPr>
              <a:solidFill>
                <a:srgbClr val="0B2E4A"/>
              </a:solidFill>
            </c:spPr>
          </c:dPt>
          <c:dPt>
            <c:idx val="9"/>
            <c:spPr>
              <a:solidFill>
                <a:srgbClr val="6C7A89"/>
              </a:solidFill>
            </c:spPr>
          </c:dPt>
          <c:dPt>
            <c:idx val="10"/>
            <c:spPr>
              <a:solidFill>
                <a:srgbClr val="B9B3AC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.0350"/>
                  <c:y val="0.0000"/>
                </c:manualLayout>
              </c:layout>
              <c:numFmt formatCode="&quot;MMM&quot;;&quot;MMM&quot;;&quot;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0.0350"/>
                  <c:y val="0.0000"/>
                </c:manualLayout>
              </c:layout>
              <c:numFmt formatCode="&quot;MMMM&quot;;&quot;MMMM&quot;;&quot;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11"/>
                <c:pt idx="0">
                  <c:v>Jackery</c:v>
                </c:pt>
                <c:pt idx="1">
                  <c:v>EcoFlow</c:v>
                </c:pt>
                <c:pt idx="2">
                  <c:v>BLUETTI</c:v>
                </c:pt>
                <c:pt idx="3">
                  <c:v>PECRON</c:v>
                </c:pt>
                <c:pt idx="4">
                  <c:v>Goal Zero</c:v>
                </c:pt>
                <c:pt idx="5">
                  <c:v>Zendure</c:v>
                </c:pt>
                <c:pt idx="6">
                  <c:v>Dabbsson</c:v>
                </c:pt>
                <c:pt idx="7">
                  <c:v>OUPES</c:v>
                </c:pt>
                <c:pt idx="8">
                  <c:v>VTOMAN</c:v>
                </c:pt>
                <c:pt idx="9">
                  <c:v>Powerenz</c:v>
                </c:pt>
                <c:pt idx="10">
                  <c:v>Others</c:v>
                </c:pt>
              </c:strCache>
            </c:strRef>
          </c:cat>
          <c:val>
            <c:numRef>
              <c:numCache>
                <c:formatCode>General</c:formatCode>
                <c:ptCount val="11"/>
                <c:pt idx="0">
                  <c:v>15.570454803610694</c:v>
                </c:pt>
                <c:pt idx="1">
                  <c:v>10.546713911504883</c:v>
                </c:pt>
                <c:pt idx="2">
                  <c:v>10.489494550876001</c:v>
                </c:pt>
                <c:pt idx="3">
                  <c:v>11.523850319189417</c:v>
                </c:pt>
                <c:pt idx="4">
                  <c:v>9.716274527037694</c:v>
                </c:pt>
                <c:pt idx="5">
                  <c:v>6.041847824962319</c:v>
                </c:pt>
                <c:pt idx="6">
                  <c:v>4.100995695833606</c:v>
                </c:pt>
                <c:pt idx="7">
                  <c:v>3.8524851858046234</c:v>
                </c:pt>
                <c:pt idx="8">
                  <c:v>3.889793811996375</c:v>
                </c:pt>
                <c:pt idx="9">
                  <c:v>2.9792010725276863</c:v>
                </c:pt>
                <c:pt idx="10">
                  <c:v>21.288888296656708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1668A8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&quot;;&quot;MMMMMMM&quot;;&quot;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4"/>
                <c:pt idx="0">
                  <c:v>Emergency Power Backup</c:v>
                </c:pt>
                <c:pt idx="1">
                  <c:v>Residential Solar Self-Consumption</c:v>
                </c:pt>
                <c:pt idx="2">
                  <c:v>Primary Off-Grid Household Power</c:v>
                </c:pt>
                <c:pt idx="3">
                  <c:v>Supplemental Household Power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763.4935546779672</c:v>
                </c:pt>
                <c:pt idx="1">
                  <c:v>424.75852365506705</c:v>
                </c:pt>
                <c:pt idx="2">
                  <c:v>534.6500644677277</c:v>
                </c:pt>
                <c:pt idx="3">
                  <c:v>1010.004449886173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333.2058738497485"/>
          <c:min val="0.0"/>
        </c:scaling>
        <c:delete val="0"/>
        <c:axPos val="l"/>
        <c:numFmt formatCode="#,##0" sourceLinked="0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0E3A5F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North America</c:v>
                </c:pt>
                <c:pt idx="1">
                  <c:v>South Asia &amp; Pacific</c:v>
                </c:pt>
                <c:pt idx="2">
                  <c:v>East Asia</c:v>
                </c:pt>
                <c:pt idx="3">
                  <c:v>Latin America</c:v>
                </c:pt>
                <c:pt idx="4">
                  <c:v>Rest of the World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907.2739073781455</c:v>
                </c:pt>
                <c:pt idx="1">
                  <c:v>552.2556073911977</c:v>
                </c:pt>
                <c:pt idx="2">
                  <c:v>297.81543941292296</c:v>
                </c:pt>
                <c:pt idx="3">
                  <c:v>336.508649912355</c:v>
                </c:pt>
                <c:pt idx="4">
                  <c:v>639.0529885923137</c:v>
                </c:pt>
              </c:numCache>
            </c:numRef>
          </c:val>
        </c:ser>
        <c:dLbls>
          <c:numFmt formatCode="#,##0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197.6015577391522"/>
          <c:min val="0.0"/>
        </c:scaling>
        <c:delete val="0"/>
        <c:axPos val="l"/>
        <c:majorTickMark val="out"/>
        <c:minorTickMark val="none"/>
        <c:tickLblPos val="none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1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"/>
          <c:y val="0.04"/>
          <c:w val="0.68"/>
          <c:h val="0.92"/>
        </c:manualLayout>
      </c:layout>
      <c:doughnutChart>
        <c:varyColors val="0"/>
        <c:ser>
          <c:idx val="0"/>
          <c:order val="0"/>
          <c:tx>
            <c:strRef>
              <c:strCache>
                <c:ptCount val="1"/>
                <c:pt idx="0">
                  <c:v>Share</c:v>
                </c:pt>
              </c:strCache>
            </c:strRef>
          </c:tx>
          <c:spPr/>
          <c:dPt>
            <c:idx val="0"/>
            <c:spPr>
              <a:solidFill>
                <a:srgbClr val="3D85C6"/>
              </a:solidFill>
            </c:spPr>
          </c:dPt>
          <c:dPt>
            <c:idx val="1"/>
            <c:spPr>
              <a:solidFill>
                <a:srgbClr val="9E7E0A"/>
              </a:solidFill>
            </c:spPr>
          </c:dPt>
          <c:dPt>
            <c:idx val="2"/>
            <c:spPr>
              <a:solidFill>
                <a:srgbClr val="008189"/>
              </a:solidFill>
            </c:spPr>
          </c:dPt>
          <c:dLbls>
            <c:dLbl>
              <c:idx val="0"/>
              <c:layout>
                <c:manualLayout>
                  <c:x val="0.0350"/>
                  <c:y val="0.0000"/>
                </c:manualLayout>
              </c:layout>
              <c:numFmt formatCode="&quot;MMMMM&quot;;&quot;MMMMM&quot;;&quot;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350"/>
                  <c:y val="0.0000"/>
                </c:manualLayout>
              </c:layout>
              <c:numFmt formatCode="&quot;MMMMM&quot;;&quot;MMMMM&quot;;&quot;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350"/>
                  <c:y val="0.0000"/>
                </c:manualLayout>
              </c:layout>
              <c:numFmt formatCode="&quot;MMMMMMM&quot;;&quot;MMMMMMM&quot;;&quot;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3"/>
                <c:pt idx="0">
                  <c:v>Portable Modular Solar Generators</c:v>
                </c:pt>
                <c:pt idx="1">
                  <c:v>Portable Integrated Solar Generators</c:v>
                </c:pt>
                <c:pt idx="2">
                  <c:v>Fixed Residential Solar Power Generator Systems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548.4937303166611</c:v>
                </c:pt>
                <c:pt idx="1">
                  <c:v>762.533760754951</c:v>
                </c:pt>
                <c:pt idx="2">
                  <c:v>1421.8791016153227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</c:chartSpace>
</file>

<file path=ppt/charts/chart1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SAM</c:v>
                </c:pt>
              </c:strCache>
            </c:strRef>
          </c:tx>
          <c:spPr>
            <a:solidFill>
              <a:srgbClr val="69B1E0"/>
            </a:solidFill>
            <a:ln>
              <a:noFill/>
            </a:ln>
          </c:spPr>
          <c:dLbls>
            <c:dLbl>
              <c:idx val="0"/>
              <c:numFmt formatCode="&quot;MMMMMMM&quot;;&quot;MMMMMMM&quot;;&quot;MMMMMMM&quot;" sourceLinked="0"/>
              <c:spPr>
                <a:blipFill>
                  <a:blip r:embed="rId2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MM&quot;;&quot;MMMMMMM&quot;;&quot;MMMMMMM&quot;" sourceLinked="0"/>
              <c:spPr>
                <a:blipFill>
                  <a:blip r:embed="rId3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MM&quot;;&quot;MMMMMMM&quot;;&quot;MMMMMMM&quot;" sourceLinked="0"/>
              <c:spPr>
                <a:blipFill>
                  <a:blip r:embed="rId4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MM&quot;;&quot;MMMMMMM&quot;;&quot;MMMMMMM&quot;" sourceLinked="0"/>
              <c:spPr>
                <a:blipFill>
                  <a:blip r:embed="rId5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6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North America</c:v>
                </c:pt>
                <c:pt idx="1">
                  <c:v>South Asia &amp; Pacific</c:v>
                </c:pt>
                <c:pt idx="2">
                  <c:v>East Asia</c:v>
                </c:pt>
                <c:pt idx="3">
                  <c:v>Latin America</c:v>
                </c:pt>
                <c:pt idx="4">
                  <c:v>Rest of the World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2768.1758520000003</c:v>
                </c:pt>
                <c:pt idx="1">
                  <c:v>2488.319464247069</c:v>
                </c:pt>
                <c:pt idx="2">
                  <c:v>1818.5074304918792</c:v>
                </c:pt>
                <c:pt idx="3">
                  <c:v>1165.038742407389</c:v>
                </c:pt>
                <c:pt idx="4">
                  <c:v>924.2987374890702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SOM</c:v>
                </c:pt>
              </c:strCache>
            </c:strRef>
          </c:tx>
          <c:spPr>
            <a:solidFill>
              <a:srgbClr val="0E72AE"/>
            </a:solidFill>
            <a:ln>
              <a:noFill/>
            </a:ln>
          </c:spPr>
          <c:dLbls>
            <c:dLbl>
              <c:idx val="0"/>
              <c:numFmt formatCode="&quot;MMMMM&quot;;&quot;MMMMM&quot;;&quot;MMMMM&quot;" sourceLinked="0"/>
              <c:spPr>
                <a:blipFill>
                  <a:blip r:embed="rId7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MMMMM&quot;;&quot;MMMMM&quot;;&quot;MMMMM&quot;" sourceLinked="0"/>
              <c:spPr>
                <a:blipFill>
                  <a:blip r:embed="rId8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MMMMM&quot;;&quot;MMMMM&quot;;&quot;MMMMM&quot;" sourceLinked="0"/>
              <c:spPr>
                <a:blipFill>
                  <a:blip r:embed="rId9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MMMMM&quot;;&quot;MMMMM&quot;;&quot;MMMMM&quot;" sourceLinked="0"/>
              <c:spPr>
                <a:blipFill>
                  <a:blip r:embed="rId10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MMMMM&quot;;&quot;MMMMM&quot;;&quot;MMMMM&quot;" sourceLinked="0"/>
              <c:spPr>
                <a:blipFill>
                  <a:blip r:embed="rId11"/>
                  <a:stretch>
                    <a:fillRect/>
                  </a:stretch>
                </a:blipFill>
              </c:spPr>
              <c:txPr>
                <a:bodyPr/>
                <a:lstStyle/>
                <a:p>
                  <a:pPr>
                    <a:defRPr>
                      <a:solidFill>
                        <a:srgbClr val="FFFFFF">
                          <a:alpha val="0"/>
                        </a:srgbClr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 rot="0" vert="horz"/>
              <a:lstStyle/>
              <a:p>
                <a:pPr>
                  <a:defRPr sz="1100"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strCache>
                <c:ptCount val="5"/>
                <c:pt idx="0">
                  <c:v>North America</c:v>
                </c:pt>
                <c:pt idx="1">
                  <c:v>South Asia &amp; Pacific</c:v>
                </c:pt>
                <c:pt idx="2">
                  <c:v>East Asia</c:v>
                </c:pt>
                <c:pt idx="3">
                  <c:v>Latin America</c:v>
                </c:pt>
                <c:pt idx="4">
                  <c:v>Rest of the World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907.2739073781455</c:v>
                </c:pt>
                <c:pt idx="1">
                  <c:v>552.2556073911977</c:v>
                </c:pt>
                <c:pt idx="2">
                  <c:v>297.81543941292296</c:v>
                </c:pt>
                <c:pt idx="3">
                  <c:v>336.508649912355</c:v>
                </c:pt>
                <c:pt idx="4">
                  <c:v>639.0529885923137</c:v>
                </c:pt>
              </c:numCache>
            </c:numRef>
          </c:val>
        </c:ser>
        <c:dLbls>
          <c:numFmt formatCode="0.0&quot;%&quot;" sourceLinked="0"/>
          <c:txPr>
            <a:bodyPr rot="0" vert="horz"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3543.2650905600003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Signals Market Signals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Overview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Taxonomy Geographic 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Taxonomy Market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Taxonomy Company 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Market Outlook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Global Overview Volume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Global Overview Pricing &amp; Price 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Global Overview Value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Global Overview Market Volume &amp;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Global Overview Country Outlook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Global Overview Country Outlook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Global Overview Market Overview (1/4)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Global Overview Supply Side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Global Overview Analysis and 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Global Overview Scenario Outlook (4/4)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Region Global Residential Solar Generator – Regional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Region Market Analysis By Region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Region Market Analysis By Region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Region Volume Share Analysis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Region Value Share Analysis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Region Market Trends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Region Top Countries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Type By Type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Type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Type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Type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Type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By Rated Energy Storage Capacity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Absolute $ Analysis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Absolute $ Analysis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Battery Technology By Battery Technology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Battery Technology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Battery Technology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Battery Technology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Battery Technology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Grid Connectivity By Grid Connectivity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Grid Connectivity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Grid Connectivity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Grid Connectivity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Grid Connectivity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Primary Application By Primary Application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Primary Application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Primary Application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Primary Application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Primary Application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By Distribution Channel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Absolute $ Analysis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Absolute $ Analysis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Western Europe Market Outlook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Western Europe Overview Volume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Western Europe Overview Pricing &amp; Price 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Western Europe Overview Value Market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Western Europe Overview Market Volume &amp;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Western Europe Overview Country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Western Europe Overview Market Overview (1/4)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Western Europe Overview Supply Side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Western Europe Overview Analysis and 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Western Europe Overview Scenario Outlook (4/4)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Country Western Europe Residential Solar Generator – Country Outlook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Country Western Europe Residential Solar Generator – Country Outlook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Country Market Analysis By Country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Country Market Analysis By Country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Country Volume Share Analysis By Country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Country Value Share Analysis By Country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Country Market Trends By Country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By Country Top Countries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Type By Type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Type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Type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Type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Type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By Rated Energy Storage Capacity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Absolute $ Analysis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Absolute $ Analysis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Rated Energy Storage Capacity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Battery Technology By Battery Technology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Battery Technology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Battery Technology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Battery Technology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Battery Technology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Grid Connectivity By Grid Connectivity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Grid Connectivity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Grid Connectivity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Grid Connectivity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Grid Connectivity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Primary Application By Primary Application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Primary Application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Primary Application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Primary Application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Primary Application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By Distribution Channel Segment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Market Structure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Absolute $ Analysis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Absolute $ Analysis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Market Value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Distribution Channel Value &amp; Share Shift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Country Market Outlook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Overview Volume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Overview Value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Overview Key Segments (Value)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Type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Type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Rated Energy Storage Capacity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Rated Energy Storage Capacity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Battery Technology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Battery Technology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Grid Connectivity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Grid Connectivity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Primary Application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Primary Application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Distribution Channel Segmental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Country Distribution Channel Table (Volume &amp; Value)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Pricing Assessment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Pricing Product Pricing &amp; Regional Price Index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Pricing Global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Pricing Global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Pricing Price Positioning &amp; Key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Pricing Key Pricing Drivers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Pricing Factors Impacting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Pricing Regional Price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Pricing Global Pricing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Pricing Price Forecast &amp;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Pricing Competitor Pricing Strategies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Supply Chain Analysis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Supply Chain Analysis Value Chain &amp; Stakeholder Mapping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Supply Chain Analysis Operating Margin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Supply Chain Analysis Buyers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Dynamics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Dynamics Market Dynamics &amp; Forces Market Dynamics by Geography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Dynamics Market Dynamics &amp; Forces Market Dynamics by Geography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Dynamics Market Dynamics &amp; Forces Driving Factors Supply Side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Dynamics Market Dynamics &amp; Forces Driving Factors Demand Side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Dynamics Market Dynamics &amp; Forces Market Restraints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Dynamics Market Dynamics &amp; Forces Market Opportunities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Dynamics Market Dynamics &amp; Forces Recent Developments &amp;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Market Dynamics Market Dynamics &amp; Forces Five Forces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Competition Assessment (section breaker)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Competitive Landscape at a Glance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Segment Leadership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Value Chain Positioning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Player Landscape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Corporate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Offering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Execution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Success Factors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Strategic Activity Tracker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Strategic Activity by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Industry Structure Landscape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Industry Structure Landscape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Competitive Landscape Competitive Dashboard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Market Share by Leading Players Advice for Vendors &amp; Suppliers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Market Share by Leading Players Company Value 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Market Share by Leading Players Company Share by Product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Market Share by Leading Players Company Share by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Market Share by Leading Players Who Shaped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Company Profiles &amp; Strategic Benchmarking Jackery Snapshot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Company Profiles &amp; Strategic Benchmarking Jackery Penetration &amp; Win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Company Profiles &amp; Strategic Benchmarking Jackery SWOT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Company Profiles &amp; Strategic Benchmarking Jackery Key Financials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Competitor Company Profiles &amp; Strategic Benchmarking Jackery Strategy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(1/13)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(2/13)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(3/13)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(4/13)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(5/13)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(6/13)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(7/13)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(8/13)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(9/13)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(10/13)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(11/13)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(12/13)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Table of Contents  (13/13)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List of Figures  (1/4)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List of Figures  (2/4)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List of Figures  (3/4)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List of Figures  (4/4)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List of Tables  (1/4)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List of Tables  (2/4)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List of Tables  (3/4)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Residential Solar Generator Market List of Tables  (4/4)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9.jpg"/><Relationship Id="rId3" Type="http://schemas.openxmlformats.org/officeDocument/2006/relationships/image" Target="../media/image860.png"/><Relationship Id="rId4" Type="http://schemas.openxmlformats.org/officeDocument/2006/relationships/image" Target="../media/image861.png"/><Relationship Id="rId5" Type="http://schemas.openxmlformats.org/officeDocument/2006/relationships/image" Target="../media/image86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10.xml"/><Relationship Id="rId7" Type="http://schemas.openxmlformats.org/officeDocument/2006/relationships/slide" Target="slide24.xml"/><Relationship Id="rId8" Type="http://schemas.openxmlformats.org/officeDocument/2006/relationships/slide" Target="slide33.xml"/><Relationship Id="rId9" Type="http://schemas.openxmlformats.org/officeDocument/2006/relationships/slide" Target="slide34.xml"/><Relationship Id="rId10" Type="http://schemas.openxmlformats.org/officeDocument/2006/relationships/slide" Target="slide45.xml"/><Relationship Id="rId11" Type="http://schemas.openxmlformats.org/officeDocument/2006/relationships/slide" Target="slide53.xml"/><Relationship Id="rId12" Type="http://schemas.openxmlformats.org/officeDocument/2006/relationships/slide" Target="slide92.xml"/><Relationship Id="rId13" Type="http://schemas.openxmlformats.org/officeDocument/2006/relationships/slide" Target="slide93.xml"/><Relationship Id="rId14" Type="http://schemas.openxmlformats.org/officeDocument/2006/relationships/slide" Target="slide103.xml"/><Relationship Id="rId15" Type="http://schemas.openxmlformats.org/officeDocument/2006/relationships/slide" Target="slide112.xml"/><Relationship Id="rId16" Type="http://schemas.openxmlformats.org/officeDocument/2006/relationships/slide" Target="slide151.xml"/><Relationship Id="rId17" Type="http://schemas.openxmlformats.org/officeDocument/2006/relationships/slide" Target="slide152.xml"/><Relationship Id="rId18" Type="http://schemas.openxmlformats.org/officeDocument/2006/relationships/slide" Target="slide156.xml"/><Relationship Id="rId19" Type="http://schemas.openxmlformats.org/officeDocument/2006/relationships/slide" Target="slide175.xml"/><Relationship Id="rId20" Type="http://schemas.openxmlformats.org/officeDocument/2006/relationships/slide" Target="slide176.xml"/><Relationship Id="rId21" Type="http://schemas.openxmlformats.org/officeDocument/2006/relationships/slide" Target="slide188.xml"/><Relationship Id="rId22" Type="http://schemas.openxmlformats.org/officeDocument/2006/relationships/slide" Target="slide192.xml"/><Relationship Id="rId23" Type="http://schemas.openxmlformats.org/officeDocument/2006/relationships/slide" Target="slide193.xml"/><Relationship Id="rId24" Type="http://schemas.openxmlformats.org/officeDocument/2006/relationships/slide" Target="slide202.xml"/><Relationship Id="rId25" Type="http://schemas.openxmlformats.org/officeDocument/2006/relationships/slide" Target="slide215.xml"/><Relationship Id="rId26" Type="http://schemas.openxmlformats.org/officeDocument/2006/relationships/slide" Target="slide203.xml"/><Relationship Id="rId27" Type="http://schemas.openxmlformats.org/officeDocument/2006/relationships/slide" Target="slide20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10.xml"/><Relationship Id="rId6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Relationship Id="rId15" Type="http://schemas.openxmlformats.org/officeDocument/2006/relationships/image" Target="../media/image67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70.png"/><Relationship Id="rId19" Type="http://schemas.openxmlformats.org/officeDocument/2006/relationships/image" Target="../media/image71.png"/><Relationship Id="rId20" Type="http://schemas.openxmlformats.org/officeDocument/2006/relationships/image" Target="../media/image72.png"/><Relationship Id="rId21" Type="http://schemas.openxmlformats.org/officeDocument/2006/relationships/image" Target="../media/image73.png"/><Relationship Id="rId22" Type="http://schemas.openxmlformats.org/officeDocument/2006/relationships/image" Target="../media/image74.png"/><Relationship Id="rId23" Type="http://schemas.openxmlformats.org/officeDocument/2006/relationships/image" Target="../media/image75.png"/><Relationship Id="rId24" Type="http://schemas.openxmlformats.org/officeDocument/2006/relationships/image" Target="../media/image76.png"/><Relationship Id="rId25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2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2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2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notesSlide" Target="../notesSlides/notesSlide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Relationship Id="rId10" Type="http://schemas.openxmlformats.org/officeDocument/2006/relationships/image" Target="../media/image119.png"/><Relationship Id="rId11" Type="http://schemas.openxmlformats.org/officeDocument/2006/relationships/image" Target="../media/image120.png"/><Relationship Id="rId12" Type="http://schemas.openxmlformats.org/officeDocument/2006/relationships/image" Target="../media/image121.png"/><Relationship Id="rId13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Relationship Id="rId4" Type="http://schemas.openxmlformats.org/officeDocument/2006/relationships/chart" Target="../charts/chart16.xml"/><Relationship Id="rId5" Type="http://schemas.openxmlformats.org/officeDocument/2006/relationships/notesSlide" Target="../notesSlides/notesSlide25.xml"/><Relationship Id="rId6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7.xml"/><Relationship Id="rId4" Type="http://schemas.openxmlformats.org/officeDocument/2006/relationships/chart" Target="../charts/chart18.xml"/><Relationship Id="rId5" Type="http://schemas.openxmlformats.org/officeDocument/2006/relationships/chart" Target="../charts/chart19.xml"/><Relationship Id="rId6" Type="http://schemas.openxmlformats.org/officeDocument/2006/relationships/notesSlide" Target="../notesSlides/notesSlide26.xml"/><Relationship Id="rId7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0.xml"/><Relationship Id="rId4" Type="http://schemas.openxmlformats.org/officeDocument/2006/relationships/notesSlide" Target="../notesSlides/notesSlide29.xml"/><Relationship Id="rId5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10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58.png"/><Relationship Id="rId11" Type="http://schemas.openxmlformats.org/officeDocument/2006/relationships/image" Target="../media/image155.png"/><Relationship Id="rId12" Type="http://schemas.openxmlformats.org/officeDocument/2006/relationships/image" Target="../media/image156.png"/><Relationship Id="rId13" Type="http://schemas.openxmlformats.org/officeDocument/2006/relationships/image" Target="../media/image157.png"/><Relationship Id="rId14" Type="http://schemas.openxmlformats.org/officeDocument/2006/relationships/image" Target="../media/image158.png"/><Relationship Id="rId15" Type="http://schemas.openxmlformats.org/officeDocument/2006/relationships/image" Target="../media/image159.png"/><Relationship Id="rId16" Type="http://schemas.openxmlformats.org/officeDocument/2006/relationships/image" Target="../media/image160.png"/><Relationship Id="rId17" Type="http://schemas.openxmlformats.org/officeDocument/2006/relationships/image" Target="../media/image161.png"/><Relationship Id="rId18" Type="http://schemas.openxmlformats.org/officeDocument/2006/relationships/image" Target="../media/image162.png"/><Relationship Id="rId19" Type="http://schemas.openxmlformats.org/officeDocument/2006/relationships/image" Target="../media/image163.png"/><Relationship Id="rId20" Type="http://schemas.openxmlformats.org/officeDocument/2006/relationships/image" Target="../media/image164.png"/><Relationship Id="rId21" Type="http://schemas.openxmlformats.org/officeDocument/2006/relationships/image" Target="../media/image165.png"/><Relationship Id="rId22" Type="http://schemas.openxmlformats.org/officeDocument/2006/relationships/image" Target="../media/image166.png"/><Relationship Id="rId23" Type="http://schemas.openxmlformats.org/officeDocument/2006/relationships/image" Target="../media/image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notesSlide" Target="../notesSlides/notesSlide33.xml"/><Relationship Id="rId6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chart" Target="../charts/chart25.xml"/><Relationship Id="rId6" Type="http://schemas.openxmlformats.org/officeDocument/2006/relationships/chart" Target="../charts/chart26.xml"/><Relationship Id="rId7" Type="http://schemas.openxmlformats.org/officeDocument/2006/relationships/notesSlide" Target="../notesSlides/notesSlide34.xml"/><Relationship Id="rId8" Type="http://schemas.openxmlformats.org/officeDocument/2006/relationships/image" Target="../media/image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7.xml"/><Relationship Id="rId4" Type="http://schemas.openxmlformats.org/officeDocument/2006/relationships/notesSlide" Target="../notesSlides/notesSlide35.xml"/><Relationship Id="rId5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Relationship Id="rId4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8.xml"/><Relationship Id="rId4" Type="http://schemas.openxmlformats.org/officeDocument/2006/relationships/notesSlide" Target="../notesSlides/notesSlide38.xml"/><Relationship Id="rId5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Relationship Id="rId4" Type="http://schemas.openxmlformats.org/officeDocument/2006/relationships/image" Target="../media/image211.png"/><Relationship Id="rId5" Type="http://schemas.openxmlformats.org/officeDocument/2006/relationships/image" Target="../media/image212.png"/><Relationship Id="rId6" Type="http://schemas.openxmlformats.org/officeDocument/2006/relationships/image" Target="../media/image213.png"/><Relationship Id="rId7" Type="http://schemas.openxmlformats.org/officeDocument/2006/relationships/image" Target="../media/image214.png"/><Relationship Id="rId8" Type="http://schemas.openxmlformats.org/officeDocument/2006/relationships/image" Target="../media/image215.png"/><Relationship Id="rId9" Type="http://schemas.openxmlformats.org/officeDocument/2006/relationships/image" Target="../media/image115.png"/><Relationship Id="rId10" Type="http://schemas.openxmlformats.org/officeDocument/2006/relationships/image" Target="../media/image216.png"/><Relationship Id="rId11" Type="http://schemas.openxmlformats.org/officeDocument/2006/relationships/image" Target="../media/image217.png"/><Relationship Id="rId12" Type="http://schemas.openxmlformats.org/officeDocument/2006/relationships/image" Target="../media/image218.png"/><Relationship Id="rId13" Type="http://schemas.openxmlformats.org/officeDocument/2006/relationships/image" Target="../media/image219.png"/><Relationship Id="rId14" Type="http://schemas.openxmlformats.org/officeDocument/2006/relationships/image" Target="../media/image220.png"/><Relationship Id="rId15" Type="http://schemas.openxmlformats.org/officeDocument/2006/relationships/image" Target="../media/image221.png"/><Relationship Id="rId16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9.xml"/><Relationship Id="rId4" Type="http://schemas.openxmlformats.org/officeDocument/2006/relationships/chart" Target="../charts/chart30.xml"/><Relationship Id="rId5" Type="http://schemas.openxmlformats.org/officeDocument/2006/relationships/notesSlide" Target="../notesSlides/notesSlide42.xml"/><Relationship Id="rId6" Type="http://schemas.openxmlformats.org/officeDocument/2006/relationships/image" Target="../media/image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1.xml"/><Relationship Id="rId4" Type="http://schemas.openxmlformats.org/officeDocument/2006/relationships/chart" Target="../charts/chart32.xml"/><Relationship Id="rId5" Type="http://schemas.openxmlformats.org/officeDocument/2006/relationships/chart" Target="../charts/chart33.xml"/><Relationship Id="rId6" Type="http://schemas.openxmlformats.org/officeDocument/2006/relationships/chart" Target="../charts/chart34.xml"/><Relationship Id="rId7" Type="http://schemas.openxmlformats.org/officeDocument/2006/relationships/notesSlide" Target="../notesSlides/notesSlide43.xml"/><Relationship Id="rId8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Relationship Id="rId4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5.xml"/><Relationship Id="rId4" Type="http://schemas.openxmlformats.org/officeDocument/2006/relationships/notesSlide" Target="../notesSlides/notesSlide46.xml"/><Relationship Id="rId5" Type="http://schemas.openxmlformats.org/officeDocument/2006/relationships/image" Target="../media/image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Relationship Id="rId4" Type="http://schemas.openxmlformats.org/officeDocument/2006/relationships/image" Target="../media/image261.png"/><Relationship Id="rId5" Type="http://schemas.openxmlformats.org/officeDocument/2006/relationships/image" Target="../media/image262.png"/><Relationship Id="rId6" Type="http://schemas.openxmlformats.org/officeDocument/2006/relationships/image" Target="../media/image263.png"/><Relationship Id="rId7" Type="http://schemas.openxmlformats.org/officeDocument/2006/relationships/image" Target="../media/image264.png"/><Relationship Id="rId8" Type="http://schemas.openxmlformats.org/officeDocument/2006/relationships/image" Target="../media/image265.png"/><Relationship Id="rId9" Type="http://schemas.openxmlformats.org/officeDocument/2006/relationships/image" Target="../media/image266.png"/><Relationship Id="rId10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6.xml"/><Relationship Id="rId4" Type="http://schemas.openxmlformats.org/officeDocument/2006/relationships/chart" Target="../charts/chart37.xml"/><Relationship Id="rId5" Type="http://schemas.openxmlformats.org/officeDocument/2006/relationships/notesSlide" Target="../notesSlides/notesSlide50.xml"/><Relationship Id="rId6" Type="http://schemas.openxmlformats.org/officeDocument/2006/relationships/image" Target="../media/image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notesSlide" Target="../notesSlides/notesSlide51.xml"/><Relationship Id="rId6" Type="http://schemas.openxmlformats.org/officeDocument/2006/relationships/image" Target="../media/image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3.xml"/><Relationship Id="rId4" Type="http://schemas.openxmlformats.org/officeDocument/2006/relationships/image" Target="../media/image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0.xml"/><Relationship Id="rId4" Type="http://schemas.openxmlformats.org/officeDocument/2006/relationships/notesSlide" Target="../notesSlides/notesSlide54.xml"/><Relationship Id="rId5" Type="http://schemas.openxmlformats.org/officeDocument/2006/relationships/image" Target="../media/image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7.xml"/><Relationship Id="rId4" Type="http://schemas.openxmlformats.org/officeDocument/2006/relationships/image" Target="../media/image287.png"/><Relationship Id="rId5" Type="http://schemas.openxmlformats.org/officeDocument/2006/relationships/image" Target="../media/image288.png"/><Relationship Id="rId6" Type="http://schemas.openxmlformats.org/officeDocument/2006/relationships/image" Target="../media/image289.png"/><Relationship Id="rId7" Type="http://schemas.openxmlformats.org/officeDocument/2006/relationships/image" Target="../media/image290.png"/><Relationship Id="rId8" Type="http://schemas.openxmlformats.org/officeDocument/2006/relationships/image" Target="../media/image291.png"/><Relationship Id="rId9" Type="http://schemas.openxmlformats.org/officeDocument/2006/relationships/image" Target="../media/image292.png"/><Relationship Id="rId10" Type="http://schemas.openxmlformats.org/officeDocument/2006/relationships/image" Target="../media/image293.png"/><Relationship Id="rId11" Type="http://schemas.openxmlformats.org/officeDocument/2006/relationships/image" Target="../media/image294.png"/><Relationship Id="rId12" Type="http://schemas.openxmlformats.org/officeDocument/2006/relationships/image" Target="../media/image295.png"/><Relationship Id="rId13" Type="http://schemas.openxmlformats.org/officeDocument/2006/relationships/image" Target="../media/image296.png"/><Relationship Id="rId14" Type="http://schemas.openxmlformats.org/officeDocument/2006/relationships/image" Target="../media/image297.png"/><Relationship Id="rId15" Type="http://schemas.openxmlformats.org/officeDocument/2006/relationships/image" Target="../media/image298.png"/><Relationship Id="rId16" Type="http://schemas.openxmlformats.org/officeDocument/2006/relationships/image" Target="../media/image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1.xml"/><Relationship Id="rId4" Type="http://schemas.openxmlformats.org/officeDocument/2006/relationships/chart" Target="../charts/chart42.xml"/><Relationship Id="rId5" Type="http://schemas.openxmlformats.org/officeDocument/2006/relationships/notesSlide" Target="../notesSlides/notesSlide58.xml"/><Relationship Id="rId6" Type="http://schemas.openxmlformats.org/officeDocument/2006/relationships/image" Target="../media/image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3.xml"/><Relationship Id="rId4" Type="http://schemas.openxmlformats.org/officeDocument/2006/relationships/chart" Target="../charts/chart44.xml"/><Relationship Id="rId5" Type="http://schemas.openxmlformats.org/officeDocument/2006/relationships/chart" Target="../charts/chart45.xml"/><Relationship Id="rId6" Type="http://schemas.openxmlformats.org/officeDocument/2006/relationships/chart" Target="../charts/chart46.xml"/><Relationship Id="rId7" Type="http://schemas.openxmlformats.org/officeDocument/2006/relationships/notesSlide" Target="../notesSlides/notesSlide59.xml"/><Relationship Id="rId8" Type="http://schemas.openxmlformats.org/officeDocument/2006/relationships/image" Target="../media/image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1.xml"/><Relationship Id="rId4" Type="http://schemas.openxmlformats.org/officeDocument/2006/relationships/image" Target="../media/image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7.xml"/><Relationship Id="rId4" Type="http://schemas.openxmlformats.org/officeDocument/2006/relationships/notesSlide" Target="../notesSlides/notesSlide62.xml"/><Relationship Id="rId5" Type="http://schemas.openxmlformats.org/officeDocument/2006/relationships/image" Target="../media/image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5.xml"/><Relationship Id="rId4" Type="http://schemas.openxmlformats.org/officeDocument/2006/relationships/image" Target="../media/image334.png"/><Relationship Id="rId5" Type="http://schemas.openxmlformats.org/officeDocument/2006/relationships/image" Target="../media/image335.png"/><Relationship Id="rId6" Type="http://schemas.openxmlformats.org/officeDocument/2006/relationships/image" Target="../media/image336.png"/><Relationship Id="rId7" Type="http://schemas.openxmlformats.org/officeDocument/2006/relationships/image" Target="../media/image337.png"/><Relationship Id="rId8" Type="http://schemas.openxmlformats.org/officeDocument/2006/relationships/image" Target="../media/image338.png"/><Relationship Id="rId9" Type="http://schemas.openxmlformats.org/officeDocument/2006/relationships/image" Target="../media/image339.png"/><Relationship Id="rId10" Type="http://schemas.openxmlformats.org/officeDocument/2006/relationships/image" Target="../media/image340.png"/><Relationship Id="rId11" Type="http://schemas.openxmlformats.org/officeDocument/2006/relationships/image" Target="../media/image341.png"/><Relationship Id="rId12" Type="http://schemas.openxmlformats.org/officeDocument/2006/relationships/image" Target="../media/image162.png"/><Relationship Id="rId13" Type="http://schemas.openxmlformats.org/officeDocument/2006/relationships/image" Target="../media/image342.png"/><Relationship Id="rId14" Type="http://schemas.openxmlformats.org/officeDocument/2006/relationships/image" Target="../media/image343.png"/><Relationship Id="rId15" Type="http://schemas.openxmlformats.org/officeDocument/2006/relationships/image" Target="../media/image344.png"/><Relationship Id="rId16" Type="http://schemas.openxmlformats.org/officeDocument/2006/relationships/image" Target="../media/image345.png"/><Relationship Id="rId17" Type="http://schemas.openxmlformats.org/officeDocument/2006/relationships/image" Target="../media/image346.png"/><Relationship Id="rId18" Type="http://schemas.openxmlformats.org/officeDocument/2006/relationships/image" Target="../media/image347.png"/><Relationship Id="rId19" Type="http://schemas.openxmlformats.org/officeDocument/2006/relationships/image" Target="../media/image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8.xml"/><Relationship Id="rId4" Type="http://schemas.openxmlformats.org/officeDocument/2006/relationships/chart" Target="../charts/chart49.xml"/><Relationship Id="rId5" Type="http://schemas.openxmlformats.org/officeDocument/2006/relationships/notesSlide" Target="../notesSlides/notesSlide66.xml"/><Relationship Id="rId6" Type="http://schemas.openxmlformats.org/officeDocument/2006/relationships/image" Target="../media/image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0.xml"/><Relationship Id="rId4" Type="http://schemas.openxmlformats.org/officeDocument/2006/relationships/chart" Target="../charts/chart51.xml"/><Relationship Id="rId5" Type="http://schemas.openxmlformats.org/officeDocument/2006/relationships/chart" Target="../charts/chart52.xml"/><Relationship Id="rId6" Type="http://schemas.openxmlformats.org/officeDocument/2006/relationships/chart" Target="../charts/chart53.xml"/><Relationship Id="rId7" Type="http://schemas.openxmlformats.org/officeDocument/2006/relationships/notesSlide" Target="../notesSlides/notesSlide67.xml"/><Relationship Id="rId8" Type="http://schemas.openxmlformats.org/officeDocument/2006/relationships/image" Target="../media/image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4.xml"/><Relationship Id="rId4" Type="http://schemas.openxmlformats.org/officeDocument/2006/relationships/notesSlide" Target="../notesSlides/notesSlide68.xml"/><Relationship Id="rId5" Type="http://schemas.openxmlformats.org/officeDocument/2006/relationships/image" Target="../media/image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0.xml"/><Relationship Id="rId4" Type="http://schemas.openxmlformats.org/officeDocument/2006/relationships/image" Target="../media/image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5.xml"/><Relationship Id="rId4" Type="http://schemas.openxmlformats.org/officeDocument/2006/relationships/notesSlide" Target="../notesSlides/notesSlide71.xml"/><Relationship Id="rId5" Type="http://schemas.openxmlformats.org/officeDocument/2006/relationships/image" Target="../media/image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6.xml"/><Relationship Id="rId4" Type="http://schemas.openxmlformats.org/officeDocument/2006/relationships/chart" Target="../charts/chart57.xml"/><Relationship Id="rId5" Type="http://schemas.openxmlformats.org/officeDocument/2006/relationships/notesSlide" Target="../notesSlides/notesSlide75.xml"/><Relationship Id="rId6" Type="http://schemas.openxmlformats.org/officeDocument/2006/relationships/image" Target="../media/image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6.xml"/><Relationship Id="rId4" Type="http://schemas.openxmlformats.org/officeDocument/2006/relationships/image" Target="../media/image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8.xml"/><Relationship Id="rId4" Type="http://schemas.openxmlformats.org/officeDocument/2006/relationships/chart" Target="../charts/chart59.xml"/><Relationship Id="rId5" Type="http://schemas.openxmlformats.org/officeDocument/2006/relationships/notesSlide" Target="../notesSlides/notesSlide77.xml"/><Relationship Id="rId6" Type="http://schemas.openxmlformats.org/officeDocument/2006/relationships/image" Target="../media/image2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0.xml"/><Relationship Id="rId4" Type="http://schemas.openxmlformats.org/officeDocument/2006/relationships/chart" Target="../charts/chart61.xml"/><Relationship Id="rId5" Type="http://schemas.openxmlformats.org/officeDocument/2006/relationships/notesSlide" Target="../notesSlides/notesSlide78.xml"/><Relationship Id="rId6" Type="http://schemas.openxmlformats.org/officeDocument/2006/relationships/image" Target="../media/image2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2.xml"/><Relationship Id="rId4" Type="http://schemas.openxmlformats.org/officeDocument/2006/relationships/chart" Target="../charts/chart63.xml"/><Relationship Id="rId5" Type="http://schemas.openxmlformats.org/officeDocument/2006/relationships/notesSlide" Target="../notesSlides/notesSlide79.xml"/><Relationship Id="rId6" Type="http://schemas.openxmlformats.org/officeDocument/2006/relationships/image" Target="../media/image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0.xml"/><Relationship Id="rId4" Type="http://schemas.openxmlformats.org/officeDocument/2006/relationships/image" Target="../media/image2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4.xml"/><Relationship Id="rId4" Type="http://schemas.openxmlformats.org/officeDocument/2006/relationships/notesSlide" Target="../notesSlides/notesSlide81.xml"/><Relationship Id="rId5" Type="http://schemas.openxmlformats.org/officeDocument/2006/relationships/image" Target="../media/image2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2.xml"/><Relationship Id="rId4" Type="http://schemas.openxmlformats.org/officeDocument/2006/relationships/image" Target="../media/image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5.xml"/><Relationship Id="rId4" Type="http://schemas.openxmlformats.org/officeDocument/2006/relationships/notesSlide" Target="../notesSlides/notesSlide83.xml"/><Relationship Id="rId5" Type="http://schemas.openxmlformats.org/officeDocument/2006/relationships/image" Target="../media/image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4.xml"/><Relationship Id="rId4" Type="http://schemas.openxmlformats.org/officeDocument/2006/relationships/image" Target="../media/image2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5.xml"/><Relationship Id="rId4" Type="http://schemas.openxmlformats.org/officeDocument/2006/relationships/image" Target="../media/image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6.xml"/><Relationship Id="rId4" Type="http://schemas.openxmlformats.org/officeDocument/2006/relationships/notesSlide" Target="../notesSlides/notesSlide86.xml"/><Relationship Id="rId5" Type="http://schemas.openxmlformats.org/officeDocument/2006/relationships/image" Target="../media/image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7.xml"/><Relationship Id="rId4" Type="http://schemas.openxmlformats.org/officeDocument/2006/relationships/notesSlide" Target="../notesSlides/notesSlide87.xml"/><Relationship Id="rId5" Type="http://schemas.openxmlformats.org/officeDocument/2006/relationships/image" Target="../media/image2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8.xml"/><Relationship Id="rId4" Type="http://schemas.openxmlformats.org/officeDocument/2006/relationships/image" Target="../media/image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9.xml"/><Relationship Id="rId4" Type="http://schemas.openxmlformats.org/officeDocument/2006/relationships/image" Target="../media/image2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8.xml"/><Relationship Id="rId4" Type="http://schemas.openxmlformats.org/officeDocument/2006/relationships/chart" Target="../charts/chart69.xml"/><Relationship Id="rId5" Type="http://schemas.openxmlformats.org/officeDocument/2006/relationships/notesSlide" Target="../notesSlides/notesSlide90.xml"/><Relationship Id="rId6" Type="http://schemas.openxmlformats.org/officeDocument/2006/relationships/image" Target="../media/image2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1.xml"/><Relationship Id="rId4" Type="http://schemas.openxmlformats.org/officeDocument/2006/relationships/image" Target="../media/image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2.xml"/><Relationship Id="rId4" Type="http://schemas.openxmlformats.org/officeDocument/2006/relationships/image" Target="../media/image470.png"/><Relationship Id="rId5" Type="http://schemas.openxmlformats.org/officeDocument/2006/relationships/image" Target="../media/image439.png"/><Relationship Id="rId6" Type="http://schemas.openxmlformats.org/officeDocument/2006/relationships/image" Target="../media/image471.png"/><Relationship Id="rId7" Type="http://schemas.openxmlformats.org/officeDocument/2006/relationships/image" Target="../media/image472.png"/><Relationship Id="rId8" Type="http://schemas.openxmlformats.org/officeDocument/2006/relationships/image" Target="../media/image438.png"/><Relationship Id="rId9" Type="http://schemas.openxmlformats.org/officeDocument/2006/relationships/image" Target="../media/image473.png"/><Relationship Id="rId10" Type="http://schemas.openxmlformats.org/officeDocument/2006/relationships/image" Target="../media/image474.png"/><Relationship Id="rId11" Type="http://schemas.openxmlformats.org/officeDocument/2006/relationships/image" Target="../media/image440.png"/><Relationship Id="rId12" Type="http://schemas.openxmlformats.org/officeDocument/2006/relationships/image" Target="../media/image475.png"/><Relationship Id="rId13" Type="http://schemas.openxmlformats.org/officeDocument/2006/relationships/image" Target="../media/image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0.xml"/><Relationship Id="rId4" Type="http://schemas.openxmlformats.org/officeDocument/2006/relationships/chart" Target="../charts/chart71.xml"/><Relationship Id="rId5" Type="http://schemas.openxmlformats.org/officeDocument/2006/relationships/notesSlide" Target="../notesSlides/notesSlide93.xml"/><Relationship Id="rId6" Type="http://schemas.openxmlformats.org/officeDocument/2006/relationships/image" Target="../media/image2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2.xml"/><Relationship Id="rId4" Type="http://schemas.openxmlformats.org/officeDocument/2006/relationships/chart" Target="../charts/chart73.xml"/><Relationship Id="rId5" Type="http://schemas.openxmlformats.org/officeDocument/2006/relationships/chart" Target="../charts/chart74.xml"/><Relationship Id="rId6" Type="http://schemas.openxmlformats.org/officeDocument/2006/relationships/notesSlide" Target="../notesSlides/notesSlide94.xml"/><Relationship Id="rId7" Type="http://schemas.openxmlformats.org/officeDocument/2006/relationships/image" Target="../media/image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6.xml"/><Relationship Id="rId4" Type="http://schemas.openxmlformats.org/officeDocument/2006/relationships/image" Target="../media/image2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5.xml"/><Relationship Id="rId4" Type="http://schemas.openxmlformats.org/officeDocument/2006/relationships/notesSlide" Target="../notesSlides/notesSlide97.xml"/><Relationship Id="rId5" Type="http://schemas.openxmlformats.org/officeDocument/2006/relationships/image" Target="../media/image2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0.xml"/><Relationship Id="rId4" Type="http://schemas.openxmlformats.org/officeDocument/2006/relationships/image" Target="../media/image509.png"/><Relationship Id="rId5" Type="http://schemas.openxmlformats.org/officeDocument/2006/relationships/image" Target="../media/image510.png"/><Relationship Id="rId6" Type="http://schemas.openxmlformats.org/officeDocument/2006/relationships/image" Target="../media/image511.png"/><Relationship Id="rId7" Type="http://schemas.openxmlformats.org/officeDocument/2006/relationships/image" Target="../media/image152.png"/><Relationship Id="rId8" Type="http://schemas.openxmlformats.org/officeDocument/2006/relationships/image" Target="../media/image512.png"/><Relationship Id="rId9" Type="http://schemas.openxmlformats.org/officeDocument/2006/relationships/image" Target="../media/image513.png"/><Relationship Id="rId10" Type="http://schemas.openxmlformats.org/officeDocument/2006/relationships/image" Target="../media/image61.png"/><Relationship Id="rId11" Type="http://schemas.openxmlformats.org/officeDocument/2006/relationships/image" Target="../media/image159.png"/><Relationship Id="rId12" Type="http://schemas.openxmlformats.org/officeDocument/2006/relationships/image" Target="../media/image514.png"/><Relationship Id="rId13" Type="http://schemas.openxmlformats.org/officeDocument/2006/relationships/image" Target="../media/image515.png"/><Relationship Id="rId14" Type="http://schemas.openxmlformats.org/officeDocument/2006/relationships/image" Target="../media/image218.png"/><Relationship Id="rId15" Type="http://schemas.openxmlformats.org/officeDocument/2006/relationships/image" Target="../media/image155.png"/><Relationship Id="rId16" Type="http://schemas.openxmlformats.org/officeDocument/2006/relationships/image" Target="../media/image516.png"/><Relationship Id="rId17" Type="http://schemas.openxmlformats.org/officeDocument/2006/relationships/image" Target="../media/image517.png"/><Relationship Id="rId18" Type="http://schemas.openxmlformats.org/officeDocument/2006/relationships/image" Target="../media/image518.png"/><Relationship Id="rId19" Type="http://schemas.openxmlformats.org/officeDocument/2006/relationships/image" Target="../media/image163.png"/><Relationship Id="rId20" Type="http://schemas.openxmlformats.org/officeDocument/2006/relationships/image" Target="../media/image519.png"/><Relationship Id="rId21" Type="http://schemas.openxmlformats.org/officeDocument/2006/relationships/image" Target="../media/image520.png"/><Relationship Id="rId22" Type="http://schemas.openxmlformats.org/officeDocument/2006/relationships/image" Target="../media/image162.png"/><Relationship Id="rId23" Type="http://schemas.openxmlformats.org/officeDocument/2006/relationships/image" Target="../media/image2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6.xml"/><Relationship Id="rId4" Type="http://schemas.openxmlformats.org/officeDocument/2006/relationships/chart" Target="../charts/chart77.xml"/><Relationship Id="rId5" Type="http://schemas.openxmlformats.org/officeDocument/2006/relationships/notesSlide" Target="../notesSlides/notesSlide101.xml"/><Relationship Id="rId6" Type="http://schemas.openxmlformats.org/officeDocument/2006/relationships/image" Target="../media/image2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8.xml"/><Relationship Id="rId4" Type="http://schemas.openxmlformats.org/officeDocument/2006/relationships/chart" Target="../charts/chart79.xml"/><Relationship Id="rId5" Type="http://schemas.openxmlformats.org/officeDocument/2006/relationships/chart" Target="../charts/chart80.xml"/><Relationship Id="rId6" Type="http://schemas.openxmlformats.org/officeDocument/2006/relationships/chart" Target="../charts/chart81.xml"/><Relationship Id="rId7" Type="http://schemas.openxmlformats.org/officeDocument/2006/relationships/notesSlide" Target="../notesSlides/notesSlide102.xml"/><Relationship Id="rId8" Type="http://schemas.openxmlformats.org/officeDocument/2006/relationships/image" Target="../media/image2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2.xml"/><Relationship Id="rId4" Type="http://schemas.openxmlformats.org/officeDocument/2006/relationships/notesSlide" Target="../notesSlides/notesSlide103.xml"/><Relationship Id="rId5" Type="http://schemas.openxmlformats.org/officeDocument/2006/relationships/image" Target="../media/image2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5.xml"/><Relationship Id="rId4" Type="http://schemas.openxmlformats.org/officeDocument/2006/relationships/image" Target="../media/image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3.xml"/><Relationship Id="rId4" Type="http://schemas.openxmlformats.org/officeDocument/2006/relationships/notesSlide" Target="../notesSlides/notesSlide106.xml"/><Relationship Id="rId5" Type="http://schemas.openxmlformats.org/officeDocument/2006/relationships/image" Target="../media/image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9.xml"/><Relationship Id="rId4" Type="http://schemas.openxmlformats.org/officeDocument/2006/relationships/image" Target="../media/image573.png"/><Relationship Id="rId5" Type="http://schemas.openxmlformats.org/officeDocument/2006/relationships/image" Target="../media/image574.png"/><Relationship Id="rId6" Type="http://schemas.openxmlformats.org/officeDocument/2006/relationships/image" Target="../media/image158.png"/><Relationship Id="rId7" Type="http://schemas.openxmlformats.org/officeDocument/2006/relationships/image" Target="../media/image575.png"/><Relationship Id="rId8" Type="http://schemas.openxmlformats.org/officeDocument/2006/relationships/image" Target="../media/image576.png"/><Relationship Id="rId9" Type="http://schemas.openxmlformats.org/officeDocument/2006/relationships/image" Target="../media/image577.png"/><Relationship Id="rId10" Type="http://schemas.openxmlformats.org/officeDocument/2006/relationships/image" Target="../media/image578.png"/><Relationship Id="rId11" Type="http://schemas.openxmlformats.org/officeDocument/2006/relationships/image" Target="../media/image579.png"/><Relationship Id="rId12" Type="http://schemas.openxmlformats.org/officeDocument/2006/relationships/image" Target="../media/image347.png"/><Relationship Id="rId13" Type="http://schemas.openxmlformats.org/officeDocument/2006/relationships/image" Target="../media/image580.png"/><Relationship Id="rId14" Type="http://schemas.openxmlformats.org/officeDocument/2006/relationships/image" Target="../media/image581.png"/><Relationship Id="rId15" Type="http://schemas.openxmlformats.org/officeDocument/2006/relationships/image" Target="../media/image582.png"/><Relationship Id="rId16" Type="http://schemas.openxmlformats.org/officeDocument/2006/relationships/image" Target="../media/image2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4.xml"/><Relationship Id="rId4" Type="http://schemas.openxmlformats.org/officeDocument/2006/relationships/chart" Target="../charts/chart85.xml"/><Relationship Id="rId5" Type="http://schemas.openxmlformats.org/officeDocument/2006/relationships/notesSlide" Target="../notesSlides/notesSlide110.xml"/><Relationship Id="rId6" Type="http://schemas.openxmlformats.org/officeDocument/2006/relationships/image" Target="../media/image2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6.xml"/><Relationship Id="rId4" Type="http://schemas.openxmlformats.org/officeDocument/2006/relationships/chart" Target="../charts/chart87.xml"/><Relationship Id="rId5" Type="http://schemas.openxmlformats.org/officeDocument/2006/relationships/chart" Target="../charts/chart88.xml"/><Relationship Id="rId6" Type="http://schemas.openxmlformats.org/officeDocument/2006/relationships/chart" Target="../charts/chart89.xml"/><Relationship Id="rId7" Type="http://schemas.openxmlformats.org/officeDocument/2006/relationships/notesSlide" Target="../notesSlides/notesSlide111.xml"/><Relationship Id="rId8" Type="http://schemas.openxmlformats.org/officeDocument/2006/relationships/image" Target="../media/image2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3.xml"/><Relationship Id="rId4" Type="http://schemas.openxmlformats.org/officeDocument/2006/relationships/image" Target="../media/image2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0.xml"/><Relationship Id="rId4" Type="http://schemas.openxmlformats.org/officeDocument/2006/relationships/notesSlide" Target="../notesSlides/notesSlide114.xml"/><Relationship Id="rId5" Type="http://schemas.openxmlformats.org/officeDocument/2006/relationships/image" Target="../media/image2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7.xml"/><Relationship Id="rId4" Type="http://schemas.openxmlformats.org/officeDocument/2006/relationships/image" Target="../media/image627.png"/><Relationship Id="rId5" Type="http://schemas.openxmlformats.org/officeDocument/2006/relationships/image" Target="../media/image628.png"/><Relationship Id="rId6" Type="http://schemas.openxmlformats.org/officeDocument/2006/relationships/image" Target="../media/image629.png"/><Relationship Id="rId7" Type="http://schemas.openxmlformats.org/officeDocument/2006/relationships/image" Target="../media/image630.png"/><Relationship Id="rId8" Type="http://schemas.openxmlformats.org/officeDocument/2006/relationships/image" Target="../media/image631.png"/><Relationship Id="rId9" Type="http://schemas.openxmlformats.org/officeDocument/2006/relationships/image" Target="../media/image218.png"/><Relationship Id="rId10" Type="http://schemas.openxmlformats.org/officeDocument/2006/relationships/image" Target="../media/image2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1.xml"/><Relationship Id="rId4" Type="http://schemas.openxmlformats.org/officeDocument/2006/relationships/chart" Target="../charts/chart92.xml"/><Relationship Id="rId5" Type="http://schemas.openxmlformats.org/officeDocument/2006/relationships/notesSlide" Target="../notesSlides/notesSlide118.xml"/><Relationship Id="rId6" Type="http://schemas.openxmlformats.org/officeDocument/2006/relationships/image" Target="../media/image2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3.xml"/><Relationship Id="rId4" Type="http://schemas.openxmlformats.org/officeDocument/2006/relationships/chart" Target="../charts/chart94.xml"/><Relationship Id="rId5" Type="http://schemas.openxmlformats.org/officeDocument/2006/relationships/notesSlide" Target="../notesSlides/notesSlide119.xml"/><Relationship Id="rId6" Type="http://schemas.openxmlformats.org/officeDocument/2006/relationships/image" Target="../media/image2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1.xml"/><Relationship Id="rId4" Type="http://schemas.openxmlformats.org/officeDocument/2006/relationships/image" Target="../media/image2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5.xml"/><Relationship Id="rId4" Type="http://schemas.openxmlformats.org/officeDocument/2006/relationships/notesSlide" Target="../notesSlides/notesSlide122.xml"/><Relationship Id="rId5" Type="http://schemas.openxmlformats.org/officeDocument/2006/relationships/image" Target="../media/image2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5.xml"/><Relationship Id="rId4" Type="http://schemas.openxmlformats.org/officeDocument/2006/relationships/image" Target="../media/image654.png"/><Relationship Id="rId5" Type="http://schemas.openxmlformats.org/officeDocument/2006/relationships/image" Target="../media/image655.png"/><Relationship Id="rId6" Type="http://schemas.openxmlformats.org/officeDocument/2006/relationships/image" Target="../media/image213.png"/><Relationship Id="rId7" Type="http://schemas.openxmlformats.org/officeDocument/2006/relationships/image" Target="../media/image656.png"/><Relationship Id="rId8" Type="http://schemas.openxmlformats.org/officeDocument/2006/relationships/image" Target="../media/image657.png"/><Relationship Id="rId9" Type="http://schemas.openxmlformats.org/officeDocument/2006/relationships/image" Target="../media/image218.png"/><Relationship Id="rId10" Type="http://schemas.openxmlformats.org/officeDocument/2006/relationships/image" Target="../media/image658.png"/><Relationship Id="rId11" Type="http://schemas.openxmlformats.org/officeDocument/2006/relationships/image" Target="../media/image659.png"/><Relationship Id="rId12" Type="http://schemas.openxmlformats.org/officeDocument/2006/relationships/image" Target="../media/image64.png"/><Relationship Id="rId13" Type="http://schemas.openxmlformats.org/officeDocument/2006/relationships/image" Target="../media/image660.png"/><Relationship Id="rId14" Type="http://schemas.openxmlformats.org/officeDocument/2006/relationships/image" Target="../media/image661.png"/><Relationship Id="rId15" Type="http://schemas.openxmlformats.org/officeDocument/2006/relationships/image" Target="../media/image662.png"/><Relationship Id="rId16" Type="http://schemas.openxmlformats.org/officeDocument/2006/relationships/image" Target="../media/image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6.xml"/><Relationship Id="rId4" Type="http://schemas.openxmlformats.org/officeDocument/2006/relationships/chart" Target="../charts/chart97.xml"/><Relationship Id="rId5" Type="http://schemas.openxmlformats.org/officeDocument/2006/relationships/notesSlide" Target="../notesSlides/notesSlide126.xml"/><Relationship Id="rId6" Type="http://schemas.openxmlformats.org/officeDocument/2006/relationships/image" Target="../media/image2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8.xml"/><Relationship Id="rId4" Type="http://schemas.openxmlformats.org/officeDocument/2006/relationships/chart" Target="../charts/chart99.xml"/><Relationship Id="rId5" Type="http://schemas.openxmlformats.org/officeDocument/2006/relationships/chart" Target="../charts/chart100.xml"/><Relationship Id="rId6" Type="http://schemas.openxmlformats.org/officeDocument/2006/relationships/chart" Target="../charts/chart101.xml"/><Relationship Id="rId7" Type="http://schemas.openxmlformats.org/officeDocument/2006/relationships/notesSlide" Target="../notesSlides/notesSlide127.xml"/><Relationship Id="rId8" Type="http://schemas.openxmlformats.org/officeDocument/2006/relationships/image" Target="../media/image2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9.xml"/><Relationship Id="rId4" Type="http://schemas.openxmlformats.org/officeDocument/2006/relationships/image" Target="../media/image2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2.xml"/><Relationship Id="rId4" Type="http://schemas.openxmlformats.org/officeDocument/2006/relationships/notesSlide" Target="../notesSlides/notesSlide130.xml"/><Relationship Id="rId5" Type="http://schemas.openxmlformats.org/officeDocument/2006/relationships/image" Target="../media/image2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3.xml"/><Relationship Id="rId4" Type="http://schemas.openxmlformats.org/officeDocument/2006/relationships/image" Target="../media/image706.png"/><Relationship Id="rId5" Type="http://schemas.openxmlformats.org/officeDocument/2006/relationships/image" Target="../media/image707.png"/><Relationship Id="rId6" Type="http://schemas.openxmlformats.org/officeDocument/2006/relationships/image" Target="../media/image473.png"/><Relationship Id="rId7" Type="http://schemas.openxmlformats.org/officeDocument/2006/relationships/image" Target="../media/image708.png"/><Relationship Id="rId8" Type="http://schemas.openxmlformats.org/officeDocument/2006/relationships/image" Target="../media/image709.png"/><Relationship Id="rId9" Type="http://schemas.openxmlformats.org/officeDocument/2006/relationships/image" Target="../media/image64.png"/><Relationship Id="rId10" Type="http://schemas.openxmlformats.org/officeDocument/2006/relationships/image" Target="../media/image710.png"/><Relationship Id="rId11" Type="http://schemas.openxmlformats.org/officeDocument/2006/relationships/image" Target="../media/image711.png"/><Relationship Id="rId12" Type="http://schemas.openxmlformats.org/officeDocument/2006/relationships/image" Target="../media/image712.png"/><Relationship Id="rId13" Type="http://schemas.openxmlformats.org/officeDocument/2006/relationships/image" Target="../media/image366.png"/><Relationship Id="rId14" Type="http://schemas.openxmlformats.org/officeDocument/2006/relationships/image" Target="../media/image713.png"/><Relationship Id="rId15" Type="http://schemas.openxmlformats.org/officeDocument/2006/relationships/image" Target="../media/image714.png"/><Relationship Id="rId16" Type="http://schemas.openxmlformats.org/officeDocument/2006/relationships/image" Target="../media/image715.png"/><Relationship Id="rId17" Type="http://schemas.openxmlformats.org/officeDocument/2006/relationships/image" Target="../media/image70.png"/><Relationship Id="rId18" Type="http://schemas.openxmlformats.org/officeDocument/2006/relationships/image" Target="../media/image2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3.xml"/><Relationship Id="rId4" Type="http://schemas.openxmlformats.org/officeDocument/2006/relationships/chart" Target="../charts/chart104.xml"/><Relationship Id="rId5" Type="http://schemas.openxmlformats.org/officeDocument/2006/relationships/notesSlide" Target="../notesSlides/notesSlide134.xml"/><Relationship Id="rId6" Type="http://schemas.openxmlformats.org/officeDocument/2006/relationships/image" Target="../media/image2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5.xml"/><Relationship Id="rId4" Type="http://schemas.openxmlformats.org/officeDocument/2006/relationships/chart" Target="../charts/chart106.xml"/><Relationship Id="rId5" Type="http://schemas.openxmlformats.org/officeDocument/2006/relationships/chart" Target="../charts/chart107.xml"/><Relationship Id="rId6" Type="http://schemas.openxmlformats.org/officeDocument/2006/relationships/chart" Target="../charts/chart108.xml"/><Relationship Id="rId7" Type="http://schemas.openxmlformats.org/officeDocument/2006/relationships/notesSlide" Target="../notesSlides/notesSlide135.xml"/><Relationship Id="rId8" Type="http://schemas.openxmlformats.org/officeDocument/2006/relationships/image" Target="../media/image2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9.xml"/><Relationship Id="rId4" Type="http://schemas.openxmlformats.org/officeDocument/2006/relationships/notesSlide" Target="../notesSlides/notesSlide136.xml"/><Relationship Id="rId5" Type="http://schemas.openxmlformats.org/officeDocument/2006/relationships/image" Target="../media/image2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8.xml"/><Relationship Id="rId4" Type="http://schemas.openxmlformats.org/officeDocument/2006/relationships/image" Target="../media/image2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0.xml"/><Relationship Id="rId4" Type="http://schemas.openxmlformats.org/officeDocument/2006/relationships/notesSlide" Target="../notesSlides/notesSlide139.xml"/><Relationship Id="rId5" Type="http://schemas.openxmlformats.org/officeDocument/2006/relationships/image" Target="../media/image2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1.xml"/><Relationship Id="rId4" Type="http://schemas.openxmlformats.org/officeDocument/2006/relationships/chart" Target="../charts/chart112.xml"/><Relationship Id="rId5" Type="http://schemas.openxmlformats.org/officeDocument/2006/relationships/chart" Target="../charts/chart113.xml"/><Relationship Id="rId6" Type="http://schemas.openxmlformats.org/officeDocument/2006/relationships/chart" Target="../charts/chart114.xml"/><Relationship Id="rId7" Type="http://schemas.openxmlformats.org/officeDocument/2006/relationships/notesSlide" Target="../notesSlides/notesSlide143.xml"/><Relationship Id="rId8" Type="http://schemas.openxmlformats.org/officeDocument/2006/relationships/image" Target="../media/image2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5.xml"/><Relationship Id="rId4" Type="http://schemas.openxmlformats.org/officeDocument/2006/relationships/chart" Target="../charts/chart116.xml"/><Relationship Id="rId5" Type="http://schemas.openxmlformats.org/officeDocument/2006/relationships/chart" Target="../charts/chart117.xml"/><Relationship Id="rId6" Type="http://schemas.openxmlformats.org/officeDocument/2006/relationships/chart" Target="../charts/chart118.xml"/><Relationship Id="rId7" Type="http://schemas.openxmlformats.org/officeDocument/2006/relationships/notesSlide" Target="../notesSlides/notesSlide144.xml"/><Relationship Id="rId8" Type="http://schemas.openxmlformats.org/officeDocument/2006/relationships/image" Target="../media/image2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9.xml"/><Relationship Id="rId4" Type="http://schemas.openxmlformats.org/officeDocument/2006/relationships/chart" Target="../charts/chart120.xml"/><Relationship Id="rId5" Type="http://schemas.openxmlformats.org/officeDocument/2006/relationships/chart" Target="../charts/chart121.xml"/><Relationship Id="rId6" Type="http://schemas.openxmlformats.org/officeDocument/2006/relationships/chart" Target="../charts/chart122.xml"/><Relationship Id="rId7" Type="http://schemas.openxmlformats.org/officeDocument/2006/relationships/chart" Target="../charts/chart123.xml"/><Relationship Id="rId8" Type="http://schemas.openxmlformats.org/officeDocument/2006/relationships/chart" Target="../charts/chart124.xml"/><Relationship Id="rId9" Type="http://schemas.openxmlformats.org/officeDocument/2006/relationships/notesSlide" Target="../notesSlides/notesSlide145.xml"/><Relationship Id="rId10" Type="http://schemas.openxmlformats.org/officeDocument/2006/relationships/image" Target="../media/image2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25.xml"/><Relationship Id="rId4" Type="http://schemas.openxmlformats.org/officeDocument/2006/relationships/chart" Target="../charts/chart126.xml"/><Relationship Id="rId5" Type="http://schemas.openxmlformats.org/officeDocument/2006/relationships/notesSlide" Target="../notesSlides/notesSlide146.xml"/><Relationship Id="rId6" Type="http://schemas.openxmlformats.org/officeDocument/2006/relationships/image" Target="../media/image2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7.xml"/><Relationship Id="rId4" Type="http://schemas.openxmlformats.org/officeDocument/2006/relationships/image" Target="../media/image2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27.xml"/><Relationship Id="rId4" Type="http://schemas.openxmlformats.org/officeDocument/2006/relationships/chart" Target="../charts/chart128.xml"/><Relationship Id="rId5" Type="http://schemas.openxmlformats.org/officeDocument/2006/relationships/notesSlide" Target="../notesSlides/notesSlide149.xml"/><Relationship Id="rId6" Type="http://schemas.openxmlformats.org/officeDocument/2006/relationships/image" Target="../media/image2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0.xml"/><Relationship Id="rId4" Type="http://schemas.openxmlformats.org/officeDocument/2006/relationships/image" Target="../media/image2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29.xml"/><Relationship Id="rId4" Type="http://schemas.openxmlformats.org/officeDocument/2006/relationships/chart" Target="../charts/chart130.xml"/><Relationship Id="rId5" Type="http://schemas.openxmlformats.org/officeDocument/2006/relationships/notesSlide" Target="../notesSlides/notesSlide152.xml"/><Relationship Id="rId6" Type="http://schemas.openxmlformats.org/officeDocument/2006/relationships/image" Target="../media/image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3.xml"/><Relationship Id="rId4" Type="http://schemas.openxmlformats.org/officeDocument/2006/relationships/image" Target="../media/image2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1.xml"/><Relationship Id="rId4" Type="http://schemas.openxmlformats.org/officeDocument/2006/relationships/chart" Target="../charts/chart132.xml"/><Relationship Id="rId5" Type="http://schemas.openxmlformats.org/officeDocument/2006/relationships/notesSlide" Target="../notesSlides/notesSlide155.xml"/><Relationship Id="rId6" Type="http://schemas.openxmlformats.org/officeDocument/2006/relationships/image" Target="../media/image2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6.xml"/><Relationship Id="rId4" Type="http://schemas.openxmlformats.org/officeDocument/2006/relationships/image" Target="../media/image2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3.xml"/><Relationship Id="rId4" Type="http://schemas.openxmlformats.org/officeDocument/2006/relationships/chart" Target="../charts/chart134.xml"/><Relationship Id="rId5" Type="http://schemas.openxmlformats.org/officeDocument/2006/relationships/notesSlide" Target="../notesSlides/notesSlide158.xml"/><Relationship Id="rId6" Type="http://schemas.openxmlformats.org/officeDocument/2006/relationships/image" Target="../media/image2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9.xml"/><Relationship Id="rId4" Type="http://schemas.openxmlformats.org/officeDocument/2006/relationships/image" Target="../media/image2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5.xml"/><Relationship Id="rId4" Type="http://schemas.openxmlformats.org/officeDocument/2006/relationships/chart" Target="../charts/chart136.xml"/><Relationship Id="rId5" Type="http://schemas.openxmlformats.org/officeDocument/2006/relationships/notesSlide" Target="../notesSlides/notesSlide161.xml"/><Relationship Id="rId6" Type="http://schemas.openxmlformats.org/officeDocument/2006/relationships/image" Target="../media/image2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2.xml"/><Relationship Id="rId4" Type="http://schemas.openxmlformats.org/officeDocument/2006/relationships/image" Target="../media/image2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4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5.xml"/><Relationship Id="rId4" Type="http://schemas.openxmlformats.org/officeDocument/2006/relationships/image" Target="../media/image2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7.xml"/><Relationship Id="rId4" Type="http://schemas.openxmlformats.org/officeDocument/2006/relationships/chart" Target="../charts/chart138.xml"/><Relationship Id="rId5" Type="http://schemas.openxmlformats.org/officeDocument/2006/relationships/notesSlide" Target="../notesSlides/notesSlide166.xml"/><Relationship Id="rId6" Type="http://schemas.openxmlformats.org/officeDocument/2006/relationships/image" Target="../media/image2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9.xml"/><Relationship Id="rId4" Type="http://schemas.openxmlformats.org/officeDocument/2006/relationships/notesSlide" Target="../notesSlides/notesSlide167.xml"/><Relationship Id="rId5" Type="http://schemas.openxmlformats.org/officeDocument/2006/relationships/image" Target="../media/image2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8.xml"/><Relationship Id="rId4" Type="http://schemas.openxmlformats.org/officeDocument/2006/relationships/image" Target="../media/image2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9.xml"/><Relationship Id="rId4" Type="http://schemas.openxmlformats.org/officeDocument/2006/relationships/image" Target="../media/image2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0.xml"/><Relationship Id="rId4" Type="http://schemas.openxmlformats.org/officeDocument/2006/relationships/image" Target="../media/image2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1.xml"/><Relationship Id="rId4" Type="http://schemas.openxmlformats.org/officeDocument/2006/relationships/image" Target="../media/image2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2.xml"/><Relationship Id="rId4" Type="http://schemas.openxmlformats.org/officeDocument/2006/relationships/image" Target="../media/image2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3.xml"/><Relationship Id="rId4" Type="http://schemas.openxmlformats.org/officeDocument/2006/relationships/image" Target="../media/image2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4.xml"/><Relationship Id="rId4" Type="http://schemas.openxmlformats.org/officeDocument/2006/relationships/image" Target="../media/image2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5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6.xml"/><Relationship Id="rId4" Type="http://schemas.openxmlformats.org/officeDocument/2006/relationships/image" Target="../media/image2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7.xml"/><Relationship Id="rId4" Type="http://schemas.openxmlformats.org/officeDocument/2006/relationships/image" Target="../media/image2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8.xml"/><Relationship Id="rId4" Type="http://schemas.openxmlformats.org/officeDocument/2006/relationships/image" Target="../media/image2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9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0.xml"/><Relationship Id="rId4" Type="http://schemas.openxmlformats.org/officeDocument/2006/relationships/image" Target="../media/image2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1.xml"/><Relationship Id="rId4" Type="http://schemas.openxmlformats.org/officeDocument/2006/relationships/image" Target="../media/image2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2.xml"/><Relationship Id="rId4" Type="http://schemas.openxmlformats.org/officeDocument/2006/relationships/image" Target="../media/image2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3.xml"/><Relationship Id="rId4" Type="http://schemas.openxmlformats.org/officeDocument/2006/relationships/image" Target="../media/image2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4.xml"/><Relationship Id="rId4" Type="http://schemas.openxmlformats.org/officeDocument/2006/relationships/image" Target="../media/image2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5.xml"/><Relationship Id="rId4" Type="http://schemas.openxmlformats.org/officeDocument/2006/relationships/image" Target="../media/image2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6.xml"/><Relationship Id="rId4" Type="http://schemas.openxmlformats.org/officeDocument/2006/relationships/image" Target="../media/image2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7.xml"/><Relationship Id="rId4" Type="http://schemas.openxmlformats.org/officeDocument/2006/relationships/image" Target="../media/image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8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2.xml"/><Relationship Id="rId4" Type="http://schemas.openxmlformats.org/officeDocument/2006/relationships/image" Target="../media/image2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40.xml"/><Relationship Id="rId4" Type="http://schemas.openxmlformats.org/officeDocument/2006/relationships/notesSlide" Target="../notesSlides/notesSlide203.xml"/><Relationship Id="rId5" Type="http://schemas.openxmlformats.org/officeDocument/2006/relationships/image" Target="../media/image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41.xml"/><Relationship Id="rId4" Type="http://schemas.openxmlformats.org/officeDocument/2006/relationships/chart" Target="../charts/chart142.xml"/><Relationship Id="rId5" Type="http://schemas.openxmlformats.org/officeDocument/2006/relationships/chart" Target="../charts/chart143.xml"/><Relationship Id="rId6" Type="http://schemas.openxmlformats.org/officeDocument/2006/relationships/notesSlide" Target="../notesSlides/notesSlide204.xml"/><Relationship Id="rId7" Type="http://schemas.openxmlformats.org/officeDocument/2006/relationships/image" Target="../media/image2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44.xml"/><Relationship Id="rId4" Type="http://schemas.openxmlformats.org/officeDocument/2006/relationships/chart" Target="../charts/chart145.xml"/><Relationship Id="rId5" Type="http://schemas.openxmlformats.org/officeDocument/2006/relationships/chart" Target="../charts/chart146.xml"/><Relationship Id="rId6" Type="http://schemas.openxmlformats.org/officeDocument/2006/relationships/notesSlide" Target="../notesSlides/notesSlide205.xml"/><Relationship Id="rId7" Type="http://schemas.openxmlformats.org/officeDocument/2006/relationships/image" Target="../media/image2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6.xml"/><Relationship Id="rId4" Type="http://schemas.openxmlformats.org/officeDocument/2006/relationships/image" Target="../media/image2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47.xml"/><Relationship Id="rId4" Type="http://schemas.openxmlformats.org/officeDocument/2006/relationships/chart" Target="../charts/chart148.xml"/><Relationship Id="rId5" Type="http://schemas.openxmlformats.org/officeDocument/2006/relationships/chart" Target="../charts/chart149.xml"/><Relationship Id="rId6" Type="http://schemas.openxmlformats.org/officeDocument/2006/relationships/notesSlide" Target="../notesSlides/notesSlide207.xml"/><Relationship Id="rId7" Type="http://schemas.openxmlformats.org/officeDocument/2006/relationships/image" Target="../media/image2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0.xml"/><Relationship Id="rId4" Type="http://schemas.openxmlformats.org/officeDocument/2006/relationships/notesSlide" Target="../notesSlides/notesSlide208.xml"/><Relationship Id="rId5" Type="http://schemas.openxmlformats.org/officeDocument/2006/relationships/image" Target="../media/image2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9.xml"/><Relationship Id="rId4" Type="http://schemas.openxmlformats.org/officeDocument/2006/relationships/image" Target="../media/image2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0.xml"/><Relationship Id="rId4" Type="http://schemas.openxmlformats.org/officeDocument/2006/relationships/image" Target="../media/image2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1.xml"/><Relationship Id="rId4" Type="http://schemas.openxmlformats.org/officeDocument/2006/relationships/image" Target="../media/image2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9.xml"/><Relationship Id="rId4" Type="http://schemas.openxmlformats.org/officeDocument/2006/relationships/image" Target="../media/image2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0.xml"/><Relationship Id="rId4" Type="http://schemas.openxmlformats.org/officeDocument/2006/relationships/image" Target="../media/image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1.xml"/><Relationship Id="rId4" Type="http://schemas.openxmlformats.org/officeDocument/2006/relationships/image" Target="../media/image2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2.xml"/><Relationship Id="rId4" Type="http://schemas.openxmlformats.org/officeDocument/2006/relationships/image" Target="../media/image2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3.xml"/><Relationship Id="rId4" Type="http://schemas.openxmlformats.org/officeDocument/2006/relationships/image" Target="../media/image2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4.xml"/><Relationship Id="rId4" Type="http://schemas.openxmlformats.org/officeDocument/2006/relationships/image" Target="../media/image2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5.xml"/><Relationship Id="rId4" Type="http://schemas.openxmlformats.org/officeDocument/2006/relationships/image" Target="../media/image2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6.xml"/><Relationship Id="rId4" Type="http://schemas.openxmlformats.org/officeDocument/2006/relationships/image" Target="../media/image2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7.xml"/><Relationship Id="rId4" Type="http://schemas.openxmlformats.org/officeDocument/2006/relationships/image" Target="../media/image2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8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9.xml"/><Relationship Id="rId4" Type="http://schemas.openxmlformats.org/officeDocument/2006/relationships/image" Target="../media/image2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0.xml"/><Relationship Id="rId4" Type="http://schemas.openxmlformats.org/officeDocument/2006/relationships/image" Target="../media/image2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1.xml"/><Relationship Id="rId4" Type="http://schemas.openxmlformats.org/officeDocument/2006/relationships/image" Target="../media/image2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3.png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5"/>
          <p:cNvSpPr txBox="1"/>
          <p:nvPr userDrawn="1"/>
        </p:nvSpPr>
        <p:spPr>
          <a:xfrm>
            <a:off x="0" y="2"/>
            <a:ext cx="12192000" cy="682462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IN" sz="1902" dirty="0"/>
          </a:p>
        </p:txBody>
      </p:sp>
      <p:pic>
        <p:nvPicPr>
          <p:cNvPr id="4" name="Picture 7"/>
          <p:cNvPicPr>
            <a:picLocks noChangeAspect="1"/>
          </p:cNvPicPr>
          <p:nvPr userDrawn="1"/>
        </p:nvPicPr>
        <p:blipFill>
          <a:blip r:embed="rId2" cstate="print">
            <a:duotone>
              <a:srgbClr val="F8F8F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56"/>
            <a:ext cx="12192000" cy="684794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34"/>
          <p:cNvSpPr/>
          <p:nvPr userDrawn="1"/>
        </p:nvSpPr>
        <p:spPr>
          <a:xfrm>
            <a:off x="743259" y="10058"/>
            <a:ext cx="5906925" cy="6858001"/>
          </a:xfrm>
          <a:prstGeom prst="rect">
            <a:avLst/>
          </a:prstGeom>
          <a:solidFill>
            <a:srgbClr val="0070C0">
              <a:alpha val="81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rgbClr val="2A5F8F">
              <a:shade val="50000"/>
            </a:srgbClr>
          </a:lnRef>
          <a:fillRef idx="1">
            <a:srgbClr val="2A5F8F"/>
          </a:fillRef>
          <a:effectRef idx="0">
            <a:srgbClr val="2A5F8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6" name="TextBox 9"/>
          <p:cNvSpPr txBox="1"/>
          <p:nvPr userDrawn="1"/>
        </p:nvSpPr>
        <p:spPr>
          <a:xfrm>
            <a:off x="829068" y="6616282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</a:rPr>
              <a:t>Source@ Future Market Insights, 2026</a:t>
            </a:r>
            <a:endParaRPr lang="en-IN" sz="900" dirty="0">
              <a:solidFill>
                <a:srgbClr val="FFFFFF"/>
              </a:solidFill>
            </a:endParaRPr>
          </a:p>
        </p:txBody>
      </p:sp>
      <p:sp>
        <p:nvSpPr>
          <p:cNvPr id="7" name="Rectangle 11"/>
          <p:cNvSpPr/>
          <p:nvPr userDrawn="1"/>
        </p:nvSpPr>
        <p:spPr>
          <a:xfrm>
            <a:off x="371630" y="5918917"/>
            <a:ext cx="11448743" cy="584895"/>
          </a:xfrm>
          <a:prstGeom prst="rect">
            <a:avLst/>
          </a:prstGeom>
          <a:solidFill>
            <a:srgbClr val="FCD15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rgbClr val="2A5F8F">
              <a:shade val="50000"/>
            </a:srgbClr>
          </a:lnRef>
          <a:fillRef idx="1">
            <a:srgbClr val="2A5F8F"/>
          </a:fillRef>
          <a:effectRef idx="0">
            <a:srgbClr val="2A5F8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8" name="Rectangle 12"/>
          <p:cNvSpPr/>
          <p:nvPr userDrawn="1"/>
        </p:nvSpPr>
        <p:spPr>
          <a:xfrm>
            <a:off x="371630" y="6559883"/>
            <a:ext cx="11448743" cy="575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rgbClr val="2A5F8F">
              <a:shade val="50000"/>
            </a:srgbClr>
          </a:lnRef>
          <a:fillRef idx="1">
            <a:srgbClr val="2A5F8F"/>
          </a:fillRef>
          <a:effectRef idx="0">
            <a:srgbClr val="2A5F8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9" name="Text Placeholder 4"/>
          <p:cNvSpPr txBox="1">
            <a:spLocks/>
          </p:cNvSpPr>
          <p:nvPr/>
        </p:nvSpPr>
        <p:spPr bwMode="gray">
          <a:xfrm>
            <a:off x="934546" y="262851"/>
            <a:ext cx="5623008" cy="3800000"/>
          </a:xfrm>
          <a:prstGeom prst="rect">
            <a:avLst/>
          </a:prstGeom>
        </p:spPr>
        <p:txBody>
          <a:bodyPr vert="horz" lIns="0" tIns="77372" rIns="77372" bIns="77372" rtlCol="0">
            <a:noAutofit/>
          </a:bodyPr>
          <a:lstStyle>
            <a:lvl1pPr marL="0" indent="0" algn="l" defTabSz="792505" rtl="0" eaLnBrk="1" latinLnBrk="0" hangingPunct="1">
              <a:lnSpc>
                <a:spcPct val="90000"/>
              </a:lnSpc>
              <a:spcBef>
                <a:spcPts val="867"/>
              </a:spcBef>
              <a:buFont typeface="Wingdings" panose="05000000000000000000" pitchFamily="2" charset="2"/>
              <a:buNone/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196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SzPct val="80000"/>
              <a:buFont typeface="Wingdings" panose="05000000000000000000" pitchFamily="2" charset="2"/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91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Wingdings" panose="05000000000000000000" pitchFamily="2" charset="2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87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SzPct val="80000"/>
              <a:buFont typeface="Wingdings" panose="05000000000000000000" pitchFamily="2" charset="2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83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78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74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70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65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6000" dirty="0">
                <a:solidFill>
                  <a:srgbClr val="FFFFFF"/>
                </a:solidFill>
                <a:latin typeface="Bell MT" panose="02020503060305020303" pitchFamily="18" charset="0"/>
              </a:rPr>
              <a:t>Residential Solar Generator Market</a:t>
            </a:r>
            <a:endParaRPr lang="en-US" sz="1600" dirty="0">
              <a:solidFill>
                <a:srgbClr val="FFFFFF"/>
              </a:solidFill>
              <a:latin typeface="Bell MT" panose="02020503060305020303" pitchFamily="18" charset="0"/>
            </a:endParaRPr>
          </a:p>
        </p:txBody>
      </p:sp>
      <p:sp>
        <p:nvSpPr>
          <p:cNvPr id="9" name="Front Page Subtitle"/>
          <p:cNvSpPr txBox="1">
            <a:spLocks/>
          </p:cNvSpPr>
          <p:nvPr/>
        </p:nvSpPr>
        <p:spPr bwMode="gray">
          <a:xfrm>
            <a:off x="934546" y="4150000"/>
            <a:ext cx="5623008" cy="1650000"/>
          </a:xfrm>
          <a:prstGeom prst="rect">
            <a:avLst/>
          </a:prstGeom>
        </p:spPr>
        <p:txBody>
          <a:bodyPr vert="horz" lIns="0" tIns="77372" rIns="77372" bIns="77372" rtlCol="0" anchor="b">
            <a:noAutofit/>
          </a:bodyPr>
          <a:lstStyle>
            <a:lvl1pPr marL="0" indent="0" algn="l" defTabSz="792505" rtl="0" eaLnBrk="1" latinLnBrk="0" hangingPunct="1">
              <a:lnSpc>
                <a:spcPct val="90000"/>
              </a:lnSpc>
              <a:spcBef>
                <a:spcPts val="867"/>
              </a:spcBef>
              <a:buFont typeface="Wingdings" panose="05000000000000000000" pitchFamily="2" charset="2"/>
              <a:buNone/>
              <a:defRPr sz="1800"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196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SzPct val="80000"/>
              <a:buFont typeface="Wingdings" panose="05000000000000000000" pitchFamily="2" charset="2"/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391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Wingdings" panose="05000000000000000000" pitchFamily="2" charset="2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587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SzPct val="80000"/>
              <a:buFont typeface="Wingdings" panose="05000000000000000000" pitchFamily="2" charset="2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783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5978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174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370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565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  <a:latin typeface="Bell MT" panose="02020503060305020303" pitchFamily="18" charset="0"/>
              </a:rPr>
              <a:t>Global Industry Analysis 2021 – 2025 and Opportunity Assessment 2026 – 2036</a:t>
            </a:r>
          </a:p>
        </p:txBody>
      </p:sp>
      <p:grpSp>
        <p:nvGrpSpPr>
          <p:cNvPr id="10" name="Group 8"/>
          <p:cNvGrpSpPr/>
          <p:nvPr/>
        </p:nvGrpSpPr>
        <p:grpSpPr>
          <a:xfrm>
            <a:off x="9124182" y="262851"/>
            <a:ext cx="2864618" cy="709680"/>
            <a:chOff x="201497" y="6393289"/>
            <a:chExt cx="1281818" cy="338050"/>
          </a:xfrm>
        </p:grpSpPr>
        <p:pic>
          <p:nvPicPr>
            <p:cNvPr id="11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497" y="6393289"/>
              <a:ext cx="537551" cy="338050"/>
            </a:xfrm>
            <a:prstGeom prst="rect">
              <a:avLst/>
            </a:prstGeom>
          </p:spPr>
        </p:pic>
        <p:pic>
          <p:nvPicPr>
            <p:cNvPr id="12" name="Picture 7" descr="C:\Users\Nandini\Desktop\ESOMAR_corporate2020_RGB.png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199" y="6426912"/>
              <a:ext cx="722116" cy="2708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Rectangle 3"/>
          <p:cNvSpPr/>
          <p:nvPr/>
        </p:nvSpPr>
        <p:spPr>
          <a:xfrm>
            <a:off x="934546" y="6015689"/>
            <a:ext cx="25517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Bell MT" panose="02020503060305020303" pitchFamily="18" charset="0"/>
              </a:rPr>
              <a:t>Sample Report</a:t>
            </a:r>
            <a:r>
              <a:rPr lang="en-US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Bell MT" panose="02020503060305020303" pitchFamily="18" charset="0"/>
              </a:rPr>
              <a:t>| </a:t>
            </a:r>
            <a:r>
              <a:rPr lang="en-US" sz="2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Bell MT" panose="02020503060305020303" pitchFamily="18" charset="0"/>
              </a:rPr>
              <a:t>2026</a:t>
            </a:r>
          </a:p>
        </p:txBody>
      </p:sp>
      <p:pic>
        <p:nvPicPr>
          <p:cNvPr id="14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94959869-610E-9143-54C1-1302C085AC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778" y="4755786"/>
            <a:ext cx="5493222" cy="11667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Storyline of the report by section · click a section card to jump to it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314325" y="113503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1. Market Signals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42875" y="1559435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0E8E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Market Overview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314325" y="1983833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2. Market Taxonomy</a:t>
            </a:r>
          </a:p>
        </p:txBody>
      </p:sp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314325" y="2408231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3. Table of Contents</a:t>
            </a:r>
          </a:p>
        </p:txBody>
      </p:sp>
      <p:sp>
        <p:nvSpPr>
          <p:cNvPr id="14" name="Rounded Rectangle 13">
            <a:hlinkClick action="ppaction://hlinksldjump" r:id="rId7"/>
          </p:cNvPr>
          <p:cNvSpPr/>
          <p:nvPr/>
        </p:nvSpPr>
        <p:spPr>
          <a:xfrm>
            <a:off x="314325" y="2832629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4. List of Figures, List of Tables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142875" y="3257027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0E8E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Market Outlook</a:t>
            </a:r>
          </a:p>
        </p:txBody>
      </p:sp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314325" y="3681425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5. Residential Solar Generator Market Global Overview</a:t>
            </a:r>
          </a:p>
        </p:txBody>
      </p:sp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314325" y="4105823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6. Global Market Analysis By Region</a:t>
            </a:r>
          </a:p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314325" y="4530221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7. Global Market Analysis By Segments</a:t>
            </a:r>
          </a:p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142875" y="4954619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0E8E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Market Outlook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314325" y="537901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8. Western Europe Overview</a:t>
            </a:r>
          </a:p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314325" y="5803415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9. Western Europe Market Analysis By Country</a:t>
            </a:r>
          </a:p>
        </p:txBody>
      </p:sp>
      <p:sp>
        <p:nvSpPr>
          <p:cNvPr id="22" name="Rounded Rectangle 21">
            <a:hlinkClick action="ppaction://hlinksldjump" r:id="rId15"/>
          </p:cNvPr>
          <p:cNvSpPr/>
          <p:nvPr/>
        </p:nvSpPr>
        <p:spPr>
          <a:xfrm>
            <a:off x="314325" y="6227813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10. Western Europe Market Analysis By Segments</a:t>
            </a:r>
          </a:p>
        </p:txBody>
      </p:sp>
      <p:sp>
        <p:nvSpPr>
          <p:cNvPr id="23" name="Rounded Rectangle 22">
            <a:hlinkClick action="ppaction://hlinksldjump" r:id="rId16"/>
          </p:cNvPr>
          <p:cNvSpPr/>
          <p:nvPr/>
        </p:nvSpPr>
        <p:spPr>
          <a:xfrm>
            <a:off x="6219825" y="1135037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0E8E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Country Market Outlook</a:t>
            </a:r>
          </a:p>
        </p:txBody>
      </p:sp>
      <p:sp>
        <p:nvSpPr>
          <p:cNvPr id="24" name="Rounded Rectangle 23">
            <a:hlinkClick action="ppaction://hlinksldjump" r:id="rId17"/>
          </p:cNvPr>
          <p:cNvSpPr/>
          <p:nvPr/>
        </p:nvSpPr>
        <p:spPr>
          <a:xfrm>
            <a:off x="6391275" y="1559435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11. Residential Solar Generator Market Overview (Volume &amp; Value)</a:t>
            </a:r>
          </a:p>
        </p:txBody>
      </p:sp>
      <p:sp>
        <p:nvSpPr>
          <p:cNvPr id="25" name="Rounded Rectangle 24">
            <a:hlinkClick action="ppaction://hlinksldjump" r:id="rId18"/>
          </p:cNvPr>
          <p:cNvSpPr/>
          <p:nvPr/>
        </p:nvSpPr>
        <p:spPr>
          <a:xfrm>
            <a:off x="6391275" y="1983833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12. Segment Overview (Volume &amp; Value)</a:t>
            </a:r>
          </a:p>
        </p:txBody>
      </p:sp>
      <p:sp>
        <p:nvSpPr>
          <p:cNvPr id="26" name="Rounded Rectangle 25">
            <a:hlinkClick action="ppaction://hlinksldjump" r:id="rId19"/>
          </p:cNvPr>
          <p:cNvSpPr/>
          <p:nvPr/>
        </p:nvSpPr>
        <p:spPr>
          <a:xfrm>
            <a:off x="6219825" y="2408231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0E8E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Pricing Assessment</a:t>
            </a:r>
          </a:p>
        </p:txBody>
      </p:sp>
      <p:sp>
        <p:nvSpPr>
          <p:cNvPr id="27" name="Rounded Rectangle 26">
            <a:hlinkClick action="ppaction://hlinksldjump" r:id="rId20"/>
          </p:cNvPr>
          <p:cNvSpPr/>
          <p:nvPr/>
        </p:nvSpPr>
        <p:spPr>
          <a:xfrm>
            <a:off x="6391275" y="2832629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13. Residential Solar Generator Market Pricing Analysis</a:t>
            </a:r>
          </a:p>
        </p:txBody>
      </p:sp>
      <p:sp>
        <p:nvSpPr>
          <p:cNvPr id="28" name="Rounded Rectangle 27">
            <a:hlinkClick action="ppaction://hlinksldjump" r:id="rId21"/>
          </p:cNvPr>
          <p:cNvSpPr/>
          <p:nvPr/>
        </p:nvSpPr>
        <p:spPr>
          <a:xfrm>
            <a:off x="6391275" y="325702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14. Supply Chain Analysis</a:t>
            </a:r>
          </a:p>
        </p:txBody>
      </p:sp>
      <p:sp>
        <p:nvSpPr>
          <p:cNvPr id="29" name="Rounded Rectangle 28">
            <a:hlinkClick action="ppaction://hlinksldjump" r:id="rId22"/>
          </p:cNvPr>
          <p:cNvSpPr/>
          <p:nvPr/>
        </p:nvSpPr>
        <p:spPr>
          <a:xfrm>
            <a:off x="6219825" y="3681425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0E8E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Market Dynamics</a:t>
            </a:r>
          </a:p>
        </p:txBody>
      </p:sp>
      <p:sp>
        <p:nvSpPr>
          <p:cNvPr id="30" name="Rounded Rectangle 29">
            <a:hlinkClick action="ppaction://hlinksldjump" r:id="rId23"/>
          </p:cNvPr>
          <p:cNvSpPr/>
          <p:nvPr/>
        </p:nvSpPr>
        <p:spPr>
          <a:xfrm>
            <a:off x="6391275" y="4105823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15. Market Dynamics &amp; Forces</a:t>
            </a:r>
          </a:p>
        </p:txBody>
      </p:sp>
      <p:sp>
        <p:nvSpPr>
          <p:cNvPr id="31" name="Rounded Rectangle 30">
            <a:hlinkClick action="ppaction://hlinksldjump" r:id="rId24"/>
          </p:cNvPr>
          <p:cNvSpPr/>
          <p:nvPr/>
        </p:nvSpPr>
        <p:spPr>
          <a:xfrm>
            <a:off x="6219825" y="4530221"/>
            <a:ext cx="5829300" cy="310313"/>
          </a:xfrm>
          <a:prstGeom prst="roundRect">
            <a:avLst>
              <a:gd name="adj" fmla="val 23529"/>
            </a:avLst>
          </a:prstGeom>
          <a:solidFill>
            <a:srgbClr val="E0E8E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Competition Assessment</a:t>
            </a:r>
          </a:p>
        </p:txBody>
      </p:sp>
      <p:sp>
        <p:nvSpPr>
          <p:cNvPr id="32" name="Rounded Rectangle 31">
            <a:hlinkClick action="ppaction://hlinksldjump" r:id="rId25"/>
          </p:cNvPr>
          <p:cNvSpPr/>
          <p:nvPr/>
        </p:nvSpPr>
        <p:spPr>
          <a:xfrm>
            <a:off x="6391275" y="5803415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18. Competitive Landscape</a:t>
            </a:r>
          </a:p>
        </p:txBody>
      </p:sp>
      <p:sp>
        <p:nvSpPr>
          <p:cNvPr id="33" name="Rounded Rectangle 32">
            <a:hlinkClick action="ppaction://hlinksldjump" r:id="rId26"/>
          </p:cNvPr>
          <p:cNvSpPr/>
          <p:nvPr/>
        </p:nvSpPr>
        <p:spPr>
          <a:xfrm>
            <a:off x="6391275" y="4954619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16. Market Share by Leading Players</a:t>
            </a:r>
          </a:p>
        </p:txBody>
      </p:sp>
      <p:sp>
        <p:nvSpPr>
          <p:cNvPr id="34" name="Rounded Rectangle 33">
            <a:hlinkClick action="ppaction://hlinksldjump" r:id="rId27"/>
          </p:cNvPr>
          <p:cNvSpPr/>
          <p:nvPr/>
        </p:nvSpPr>
        <p:spPr>
          <a:xfrm>
            <a:off x="6391275" y="5379017"/>
            <a:ext cx="5657850" cy="328567"/>
          </a:xfrm>
          <a:prstGeom prst="roundRect">
            <a:avLst>
              <a:gd name="adj" fmla="val 22222"/>
            </a:avLst>
          </a:prstGeom>
          <a:solidFill>
            <a:srgbClr val="E0E8EF"/>
          </a:solidFill>
          <a:ln w="635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l"/>
            <a:r>
              <a:rPr sz="1200" b="0">
                <a:solidFill>
                  <a:srgbClr val="0B2E4A"/>
                </a:solidFill>
                <a:latin typeface="Calibri"/>
              </a:rPr>
              <a:t>17. Company Profiles &amp; Strategic Benchmarking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1464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4893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Market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5125"/>
            <a:ext cx="84582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Signals Reshaping Residential Solar Generator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Signals reshaping Residential Solar Generator demand, the evidence behind each and what it implies for the global market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42875" y="1062022"/>
          <a:ext cx="11906250" cy="5549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1875"/>
                <a:gridCol w="5000625"/>
                <a:gridCol w="3333750"/>
              </a:tblGrid>
              <a:tr h="3468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QUESTIONS WE'RE HEARING</a:t>
                      </a:r>
                    </a:p>
                  </a:txBody>
                  <a:tcPr marL="70000" marR="70000" marT="45000" marB="450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WHAT WE'RE OBSERVING</a:t>
                      </a:r>
                    </a:p>
                  </a:txBody>
                  <a:tcPr marL="70000" marR="70000" marT="45000" marB="450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SELECT DATA POINTS</a:t>
                      </a:r>
                    </a:p>
                  </a:txBody>
                  <a:tcPr marL="70000" marR="70000" marT="45000" marB="45000" anchor="ctr">
                    <a:solidFill>
                      <a:srgbClr val="EAF1F8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How fast is Residential Solar Generator demand set to grow through 2036?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/>
                        <a:t> 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Which type categories are buyers prioritising?</a:t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Where is incremental demand concentrating?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Which regions will drive the next wave of Residential Solar Generator demand?</a:t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6F9FC"/>
                    </a:solidFill>
                  </a:tcPr>
                </a:tc>
              </a:tr>
              <a:tr h="10404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Where should suppliers focus investment?</a:t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0000" marR="70000"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4750" y="1761432"/>
            <a:ext cx="16898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Global demand expands at a</a:t>
            </a:r>
          </a:p>
        </p:txBody>
      </p:sp>
      <p:pic>
        <p:nvPicPr>
          <p:cNvPr id="13" name="Picture 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645" y="1751653"/>
            <a:ext cx="128699" cy="187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90141" y="1761432"/>
            <a:ext cx="270810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 (2026–2036), accelerating from</a:t>
            </a:r>
          </a:p>
        </p:txBody>
      </p:sp>
      <p:pic>
        <p:nvPicPr>
          <p:cNvPr id="15" name="Picture 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302" y="1751653"/>
            <a:ext cx="128699" cy="1871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84750" y="1929072"/>
            <a:ext cx="11378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across 2021–2025.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4228" y="1689042"/>
            <a:ext cx="330041" cy="4800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84750" y="2801893"/>
            <a:ext cx="28835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Portable Modular Solar Generators leads Type, at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371" y="2792114"/>
            <a:ext cx="128699" cy="187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83867" y="2801893"/>
            <a:ext cx="17515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value, within a mix 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4750" y="2969533"/>
            <a:ext cx="12611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3 tracked categories.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5375" y="2801893"/>
            <a:ext cx="24732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Lead: Portable Modular Solar Generators ·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627" y="2792114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374123" y="2801893"/>
            <a:ext cx="389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5375" y="2969533"/>
            <a:ext cx="4445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(2036)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4750" y="3842354"/>
            <a:ext cx="48606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Primary Off-Grid Household Power is the fastest-growing part of Primary Application,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4750" y="4009994"/>
            <a:ext cx="2884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at a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280" y="4000215"/>
            <a:ext cx="128699" cy="1871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188775" y="4009994"/>
            <a:ext cx="25370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 outpacing the wider market.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5375" y="3842354"/>
            <a:ext cx="2592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Fastest: Primary Off-Grid Household Power ·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6076" y="3832575"/>
            <a:ext cx="128699" cy="1871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785375" y="4009994"/>
            <a:ext cx="5023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F-CAGR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4750" y="4882815"/>
            <a:ext cx="26734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North America is the largest regional market (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275" y="4873036"/>
            <a:ext cx="128699" cy="18719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73771" y="4882815"/>
            <a:ext cx="20167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value), while South Asia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4750" y="5050455"/>
            <a:ext cx="13741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Pacific grows fastest at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56" y="5040676"/>
            <a:ext cx="128699" cy="18719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274452" y="5050455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5375" y="4882815"/>
            <a:ext cx="14641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Largest: North America (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622" y="4873036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365118" y="4882815"/>
            <a:ext cx="14139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 · Fastest: South Asia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5375" y="5050455"/>
            <a:ext cx="5146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Pacific (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099" y="5040676"/>
            <a:ext cx="128699" cy="18719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415594" y="5050455"/>
            <a:ext cx="1184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4750" y="5923276"/>
            <a:ext cx="9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 incremental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79" y="5913497"/>
            <a:ext cx="128699" cy="18719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846075" y="5923276"/>
            <a:ext cx="31250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of demand is added between 2026 and 2036,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4750" y="6090916"/>
            <a:ext cx="33244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front-loaded in the leading categories and regions above.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5375" y="6007096"/>
            <a:ext cx="8579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$ opportunity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346" y="5997317"/>
            <a:ext cx="128699" cy="18719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758842" y="6007096"/>
            <a:ext cx="13457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(2026–2036) ·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672" y="5997317"/>
            <a:ext cx="128699" cy="1871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1220167" y="6007096"/>
            <a:ext cx="5283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 2031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MI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9064" y="525547"/>
            <a:ext cx="1340395" cy="82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003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6" name="FMI Breaker Title"/>
          <p:cNvSpPr txBox="1"/>
          <p:nvPr/>
        </p:nvSpPr>
        <p:spPr>
          <a:xfrm>
            <a:off x="914400" y="33051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10025"/>
            <a:ext cx="71247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Taxonomy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Table of Contents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List of Figures, List of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Market Taxonomy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Geographic Coverage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Segments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Taxonomy Regions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Geographic scope of the study: the global market broken into 7 regions and the countries assessed under each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682648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42975" y="1846931"/>
            <a:ext cx="10296525" cy="0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2975" y="1846931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57475" y="1846931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71975" y="1846931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6475" y="1846931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10500" y="1846931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525000" y="1846931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239500" y="1846931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9650" y="2294147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9650" y="2759616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9650" y="3279846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24150" y="2294147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24150" y="2759616"/>
            <a:ext cx="0" cy="209918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24150" y="3270720"/>
            <a:ext cx="0" cy="209918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8650" y="2294147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38650" y="2759616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38650" y="3279846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53150" y="2294147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53150" y="2759616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53150" y="3279846"/>
            <a:ext cx="0" cy="209918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53150" y="3964360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77175" y="2294147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77175" y="2759616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77175" y="3279846"/>
            <a:ext cx="0" cy="228171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77175" y="3809204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77175" y="4329434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877175" y="4849664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77175" y="5369895"/>
            <a:ext cx="0" cy="228171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77175" y="5899252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91675" y="2294147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591675" y="2759616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91675" y="3279846"/>
            <a:ext cx="0" cy="209918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591675" y="3790950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591675" y="4484591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306175" y="2294147"/>
            <a:ext cx="0" cy="164283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306175" y="2933026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306175" y="3453257"/>
            <a:ext cx="0" cy="228171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306175" y="3982614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306175" y="4502844"/>
            <a:ext cx="0" cy="228171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306175" y="5032201"/>
            <a:ext cx="0" cy="219044"/>
          </a:xfrm>
          <a:prstGeom prst="line">
            <a:avLst/>
          </a:prstGeom>
          <a:ln w="15875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4667250" y="1080276"/>
            <a:ext cx="2857500" cy="602372"/>
          </a:xfrm>
          <a:prstGeom prst="roundRect">
            <a:avLst>
              <a:gd name="adj" fmla="val 10606"/>
            </a:avLst>
          </a:prstGeom>
          <a:solidFill>
            <a:srgbClr val="0B2E4A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2875" y="201121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0E72AE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North America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6225" y="245843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6225" y="297866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Canada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6225" y="3498891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Mexico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57375" y="201121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0E72AE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Latin America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990725" y="245843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Brazil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990725" y="2969534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Chile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990725" y="3480637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Rest of Latin America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571875" y="201121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0E72AE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 Asia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705225" y="245843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China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705225" y="297866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Japan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705225" y="3498891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South Korea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86375" y="201121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0E72AE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South Asia &amp; Pacific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19725" y="245843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India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19725" y="297866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ASEAN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19725" y="3489764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Australia &amp; New Zealand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19725" y="4183405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Rest of South Asia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10400" y="201121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0E72AE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Western Europe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43750" y="245843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Germany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43750" y="297866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Italy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143750" y="350801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France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43750" y="402824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U.K.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143750" y="454847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Spain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143750" y="5068709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BENELUX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43750" y="5598066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Nordic Countries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143750" y="6118296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Rest of Western Europe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24900" y="201121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0E72AE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Eastern Europe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58250" y="245843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Russia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858250" y="2978660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Hungary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858250" y="3489764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Poland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858250" y="4009994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Balkan &amp; Baltic Countries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858250" y="4703635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Rest of Eastern Europe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439400" y="2011214"/>
            <a:ext cx="1600200" cy="282932"/>
          </a:xfrm>
          <a:prstGeom prst="roundRect">
            <a:avLst>
              <a:gd name="adj" fmla="val 22580"/>
            </a:avLst>
          </a:prstGeom>
          <a:solidFill>
            <a:srgbClr val="0E72AE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Middle East &amp; Africa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572750" y="2458430"/>
            <a:ext cx="1466850" cy="474596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Kingdom of Saudi Arabia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572750" y="3152071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Other GCC Countries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72750" y="368142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Turkiye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572750" y="4201658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South Africa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572750" y="4731015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Other African Union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572750" y="5251246"/>
            <a:ext cx="1466850" cy="301186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525" bIns="9525" lIns="28575" rIns="28575"/>
          <a:lstStyle/>
          <a:p>
            <a:pPr algn="l"/>
            <a:r>
              <a:rPr sz="1100" b="0">
                <a:solidFill>
                  <a:srgbClr val="0B2E4A"/>
                </a:solidFill>
                <a:latin typeface="Calibri"/>
              </a:rPr>
              <a:t>Rest of MEA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Taxonomy 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Segmentation framework of the study: 6 axes and the sub-segments sized under 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2875" y="1028700"/>
            <a:ext cx="2876550" cy="937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2875" y="1028700"/>
            <a:ext cx="2876550" cy="22860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0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0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525" y="125730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Portable Integrated Solar Generators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2400" y="143446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0025" y="143446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525" y="143446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Portable Modular Solar Generators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2400" y="161163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0025" y="161163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525" y="1611630"/>
            <a:ext cx="2590800" cy="35433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Fixed Residential Solar Power Generator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2875" y="2080260"/>
            <a:ext cx="2876550" cy="11144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2875" y="2080260"/>
            <a:ext cx="2876550" cy="22860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075" y="208026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Distribution Channel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25" y="230886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525" y="230886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Manufacturer-Direct Sales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2400" y="248602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00025" y="248602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525" y="248602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Third-Party E-Commerce Marketplaces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2400" y="266319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0025" y="266319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525" y="266319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Specialist Solar and Electrical Channels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52400" y="284035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00025" y="284035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525" y="284035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General Retail Channels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2400" y="301752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00025" y="301752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0525" y="301752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Other Resellers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2775" y="1028700"/>
            <a:ext cx="2876550" cy="11144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52775" y="1028700"/>
            <a:ext cx="2876550" cy="22860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289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Rated Energy Storage Capacity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99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0425" y="125730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Up to 1 kWh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162300" y="143446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209925" y="143446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00425" y="143446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Above 1–3 kWh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162300" y="161163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9925" y="161163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00425" y="161163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Above 3–10 kWh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162300" y="178879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209925" y="178879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00425" y="178879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Above 10–20 kWh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162300" y="196596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209925" y="196596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00425" y="196596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Above 20 kWh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62675" y="1028700"/>
            <a:ext cx="2876550" cy="937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62675" y="1028700"/>
            <a:ext cx="2876550" cy="22860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388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Battery Technology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98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0325" y="125730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Lithium Iron Phosphate (LFP)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172200" y="143446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219825" y="143446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10325" y="143446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Nickel-Based Lithium-Ion Batteries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172200" y="161163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9825" y="161163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161163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Lead-Acid Batteries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172200" y="178879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219825" y="178879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10325" y="178879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Other Battery Technologies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72575" y="1028700"/>
            <a:ext cx="287655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172575" y="1028700"/>
            <a:ext cx="2876550" cy="22860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48775" y="102870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Grid Connectivity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29725" y="125730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20225" y="125730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Fixed Grid-Connected Systems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182100" y="143446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229725" y="143446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20225" y="143446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Fixed Off-Grid Systems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72575" y="1725930"/>
            <a:ext cx="2876550" cy="937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172575" y="1725930"/>
            <a:ext cx="2876550" cy="22860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48775" y="1725930"/>
            <a:ext cx="27241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By Primary Application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29725" y="195453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20225" y="195453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Emergency Power Backup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182100" y="213169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229725" y="213169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20225" y="213169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Residential Solar Self-Consumption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182100" y="2308860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229725" y="2308860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20225" y="2308860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Primary Off-Grid Household Power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182100" y="2486025"/>
            <a:ext cx="285750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229725" y="2486025"/>
            <a:ext cx="190500" cy="177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20225" y="2486025"/>
            <a:ext cx="2590800" cy="17716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Supplemental Household Power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Company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Companies profiled and benchmarked across the competition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" y="1007261"/>
            <a:ext cx="1190625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Companies covered in this study of the Residential Solar Generator Market profiled and benchmarked in the Competition Assessment section.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875" y="1846931"/>
            <a:ext cx="5857875" cy="407057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2875" y="1846931"/>
            <a:ext cx="5857875" cy="273805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875" y="1910819"/>
            <a:ext cx="5857875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List Companies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375" y="2120737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2120737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Jackery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2595333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52400" y="2595333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3375" y="2595333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2595333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EcoFlow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2400" y="3069929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3375" y="3069929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025" y="3069929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BLUETTI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2400" y="3544525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52400" y="3544525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3375" y="3544525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025" y="3544525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PECRON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2400" y="4019121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33375" y="4019121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025" y="4019121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Goal Zero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2400" y="4493717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52400" y="4493717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3375" y="4493717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025" y="4493717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Zendure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52400" y="4968314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3375" y="4968314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025" y="4968314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Dabbsson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2400" y="5442910"/>
            <a:ext cx="5838825" cy="465469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52400" y="5442910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33375" y="5442910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025" y="5442910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OUPES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1250" y="1846931"/>
            <a:ext cx="5857875" cy="407057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1250" y="1846931"/>
            <a:ext cx="5857875" cy="273805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1250" y="1910819"/>
            <a:ext cx="5857875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List Companies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1750" y="2120737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2120737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VTOMAN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00775" y="2595333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6200775" y="2595333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381750" y="2595333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2595333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Powerenz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200775" y="3069929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381750" y="3069929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3069929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Renogy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00775" y="3544525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6200775" y="3544525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381750" y="3544525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3544525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ACOPOWER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200775" y="4019121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381750" y="4019121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4019121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GROWATT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00775" y="4493717"/>
            <a:ext cx="5838825" cy="47459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6200775" y="4493717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381750" y="4493717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29400" y="4493717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Lion Energy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200775" y="4968314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381750" y="4968314"/>
            <a:ext cx="190500" cy="474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29400" y="4968314"/>
            <a:ext cx="53244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Yoshino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00775" y="5442910"/>
            <a:ext cx="5838825" cy="465469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6200775" y="5442910"/>
            <a:ext cx="5838825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42875" y="6337341"/>
            <a:ext cx="1190625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B06A2C"/>
                </a:solidFill>
                <a:latin typeface="Calibri"/>
              </a:rPr>
              <a:t>Note: the list of companies is indicative and can be customised on request.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3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1464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4893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Table of 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5125"/>
            <a:ext cx="84582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The full contents of this study, as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(1/13)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Executive Summary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Market Outlook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Demand Side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Supply Side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Technology Roadmap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Analysis and Recommendations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Market Overview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Coverage / Taxonomy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Definition / Scope / Limitations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3.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Key Market Trends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Rising Demand for Residential Energy Independence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Increasing Adoption of Solar Generators for Emergency Power Backup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Growing Preference for Solar-Based Alternatives to Conventional Fuel Generators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Expansion of Residential Solar Power in Off-Grid and Remote Areas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Rising Integration of Residential Solar Generation with Battery Storage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Increasing Focus on Electricity Bill Optimization and Self-Consumption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Expansion of Direct-to-Consumer and E-Commerce Distribution Channels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Growing Importance of Residential Energy Resilience Amid Grid Disruptions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Increasing Role of Electricity Tariffs and Net Metering Policies in Purchasing Decisions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3.10.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Growing Demand for Reliable Backup Power in Disaster-Prone Regions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4.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Key Success Factors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Adoption / Usage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USPs / Features and Performance Differentiation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Competitiveness and Total Cost of Ownership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Battery Reliability, Safety, and Operational Lifespan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Solar Charging Efficiency and Residential Backup Capability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Compatibility and Expandability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Distribution Network and After-Sales Service Capabilities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Strategic Promotional and Brand Positioning Strategies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Warranty Coverage and Customer Support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4.10.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Regulatory Compliance and Product Certification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5.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Solar Generator Market Demand Outlook, 2021–2036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5.1.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Volume (Units) Analysis,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5.2.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Current and Future Market Volume (Units) Projections,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5.3.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Y-o-Y Growth Trend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6.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Solar Generator Market - Pricing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Regional Pricing Analysis by Product Type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Portable Integrated Solar Generators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Portable Modular Solar Generators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Fixed Residential Solar Power Generator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Regional Price Variations Across North America, Europe, Asia-Pacific, Latin America, and the Middle East &amp; Africa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Average Selling Price Benchmark by Product Category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Average Selling Price by Product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Average Selling Price by Energy Storage Capacity (kWh)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Average Selling Price by Rated Continuous AC Output (kW)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Price Benchmarking of Leading Manufacturers and Product Models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Battery Technology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Lithium Iron Phosphate (LFP) Battery-Based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Nickel-Based Lithium-Ion Battery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Lead-Acid Battery-Based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Other Battery Technology-Based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Configuration and Feature-Based 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Base Unit Pricing Versus Expandable Battery Configurations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Solar Panel Bundles Versus Power Station-Only Pricing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Inverter Capacity, Charging Speed, and Power Output-Based Price Differentiation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Smart Monitoring, Connectivity, and Energy Management Features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Battery Lifespan, Warranty, and Safety Feature-Driven Price Premiums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Residential Solar Generator Price Breakdown and Cost Structure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(2/13)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Battery Cells and Battery Management System Costs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Inverter, Power Electronics, and Solar Charge Controller Costs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Solar Modules and Supporting Hardware Costs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Enclosure, Cooling, Cabling, and Protection Component Costs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Manufacturing, Assembly, Logistics, and Distribution Costs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Equipment Pricing Versus Complete System and Installation Costs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6.6.1.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Standalone Solar Generator Pricing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6.6.2.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Solar Generator and Solar Panel Bundle Pricing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6.6.3.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Expandable Battery and Accessory Costs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6.6.4.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Fixed-System Installation, Electrical Integration, and Commissioning Costs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6.6.5.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Total Installed Cost of Fixed Residential Solar Power Generator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Distribution Channel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6.7.1.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Manufacturer-Direct Sales Pricing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6.7.2.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Third-Party E-Commerce Marketplace Pricing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6.7.3.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Specialist Solar Distributors and Installer Pricing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6.7.4.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General Retailer and Authorized Dealer Pricing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6.7.5.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Discounts, Promotional Offers, and Channel Margins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Pricing and Brand Positioning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6.8.1.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Price Positioning of Leading Global Manufacturers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6.8.2.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Premium, Mid-Range, and Value-Oriented Product Categories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6.8.3.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Price-to-Capacity and Price-to-Output Comparisons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6.8.4.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Competitive Benchmarking Against Conventional Backup Generators and Alternative Residential Backup Solutions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Pricing Trends and Key Price Influencing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6.9.1.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Historical Changes in Battery and Power Electronics Costs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6.9.2.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Raw Material and Battery Cell Price Fluctuations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6.9.3.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Manufacturing Scale, Automation, and Technology Improvements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6.9.4.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Freight Costs, Currency Movements, Tariffs, and Import Duties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6.9.5.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Inflation and Regional Supply-Demand Conditions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Total Cost of Ownership and Lifecycle Cost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6.10.1.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Initial Purchase and Installation Expenditure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6.10.2.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Cost per kWh of Nominal and Usable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6.10.3.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Battery Replacement, Maintenance, and Warranty-Related Costs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6.10.4.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Lifecycle Electricity Cost and Solar Self-Consumption Economics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6.10.5.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Payback Period and Potential Savings Versus Alternative Power Sources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Models, Financing, and Incentive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Upfront Purchase Versus Financing Options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Loans, Leases, and Payment Plans for Fixed Residential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Government Rebates, Tax Credits, and Applicable Subsidies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Net Metering and Electricity Tariff Impacts on Customer Economics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6.11.5.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Effect of Incentives on Effective Purchase Price and Payback Period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6.12.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Future Pricing Outlook and Forecast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Expected Direction of Residential Solar Generator Prices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Anticipated Battery and Power Electronics Cost Developments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Potential Effects of Technology Innovation and Manufacturing Expansion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Regional Pricing Outlook and Emerging Market Affordability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6.12.5.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Expected Changes in Price Competition and Product Value Proposition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7.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Solar Generator Market Demand (US$ Mn) Outlook, 2021–2036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7.1.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Value (US$ Mn) Analysis,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7.2.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Current and Future Market Value (US$ Mn) Projections,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7.2.1.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Y-o-Y Growth Trend Analysis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7.2.2.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Absolute $ Opportunity Analysis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8.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Market Background &amp; Foundation Data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Macro-Economic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Global GDP Growth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Regional GDP growth (Asia Pacific, North America, Europe, Middle East &amp; Africa, Latin America)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Link between GDP growth and household investment in energy assets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Global Energy &amp; Power Sector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8.1.2.1.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Electricity demand growth and the residential share of consumption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(3/13)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8.1.2.2.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Grid reliability, outages and the push for backup power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8.1.2.3.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Shift from fossil fuels to renewables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Construction Industry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8.1.3.1.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New housing starts and rooftop-ready housing stock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8.1.3.2.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Solar-ready building codes and green building certifications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8.1.3.3.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Renovation and retrofit activity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Global Electricity Tariff &amp; Inflation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8.1.4.1.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Retail electricity price trends by region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8.1.4.2.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Inflation and its effect on equipment and installation costs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8.1.4.3.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Net metering, feed-in tariffs and export compensation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8.1.5.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Global Interest Rate &amp; Consumer Financing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8.1.5.1.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Home loan, solar loan and lease or PPA availability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8.1.5.2.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Interest rate trends and their effect on payback periods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8.1.5.3.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Green financing schemes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8.1.6.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Global Solar PV &amp; Battery Supply Chain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8.1.6.1.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Polysilicon, cell and module price trends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8.1.6.2.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Lithium-ion battery cost trends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8.1.6.3.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Trade policy, tariffs and local-manufacturing incentives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8.1.7.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Global Policy, Subsidy &amp; Regulatory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8.1.7.1.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Tax credits, capital subsidies and rebates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8.1.7.2.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Net-zero targets and rooftop solar mandates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8.1.7.3.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Interconnection and permitting rules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Forecast Factors - Relevance &amp;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Top Companies Historical Growth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Revenue growth of leading panel, inverter, storage and installer companies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Shipment trends for residential solar systems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Urban Population Growth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8.2.2.1.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Urbanisation and growth in single-family homes and housing societies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8.2.2.2.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Rooftop availability and ownership rates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Residential Electricity Consumption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8.2.3.1.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Per-household consumption trends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8.2.3.2.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Effect of air conditioning, EVs and heat pumps on demand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Per Capita Income &amp; Disposable Spending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8.2.4.1.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Income growth among middle and high-income households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8.2.4.2.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Affordability and payback period for a typical system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8.2.5.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Solar Installed Cost &amp; Technology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8.2.5.1.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Cost per watt trends (module, inverter, battery, balance of system)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8.2.5.2.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Efficiency gains (TOPCon, HJT, perovskite tandem)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8.2.5.3.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Growth of solar-plus-storage and hybrid systems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8.2.6.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Residential Solar Adoption &amp; Penetration Outlook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8.2.6.1.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Share of homes with solar by region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8.2.6.2.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Rooftop installation capacity additions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8.2.7.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Business &amp; Policy Climate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8.2.7.1.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Stability of incentives and regulation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8.2.7.2.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Utility and grid-operator stance on distributed solar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Value Chain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Components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Devices &amp;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Software &amp; Controls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Installation &amp; Services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8.3.5.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End Use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8.4.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Dynamics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Drivers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Restraints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8.4.3.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Opportunity Analysis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9.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Solar Generator Market Outlook, 2021–2036, by Type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Type,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Type,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(4/13)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9.3.1.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Portable Integrated Solar Generators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9.3.2.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Portable Modular Solar Generators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9.3.3.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 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Fixed Residential Solar Power Generator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9.4.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Type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10.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Solar Generator Market Outlook, 2021–2036, by Rated Energy Storage Capacity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Rated Energy Storage Capacity,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Rated Energy Storage Capacity,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10.3.1.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Up to 1 kWh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10.3.2.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Above 1–3 kWh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10.3.3.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Above 3–10 kWh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10.3.4.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Above 10–20 kWh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10.3.5.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Above 20 kWh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10.4.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Rated Energy Storage Capacity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11.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Solar Generator Market Outlook, 2021–2036, by Battery Technology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Battery Technology,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Battery Technology,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Lithium Iron Phosphate (LFP)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Nickel-Based Lithium-Ion Batteries (NMC, NCA, and Others)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Lead-Acid Batteries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11.3.4.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Other Battery Technologies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11.4.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Battery Technology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12.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Solar Generator Market Outlook, 2021–2036, by Grid Connectivity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Grid Connectivity,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Grid Connectivity,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Fixed Grid-Connected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12.3.2.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Fixed Off-Grid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12.4.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Grid Connectivity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13.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Solar Generator Market Outlook, 2021–2036, by Primary Application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Primary Application,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Primary Application,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Emergency Power Backup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Residential Solar Self-Consumption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Primary Off-Grid Household Power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13.3.4.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Supplemental Household Power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13.4.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Primary Application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14.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Solar Generator Market Outlook, 2021–2036, by Distribution Channel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 / Key Findings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Distribution Channel,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Distribution Channel,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Manufacturer-Direct Sales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Third-Party E-Commerce Marketplaces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Specialist Solar and Electrical Channels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General Retail Channels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14.3.5.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Other Resellers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14.4.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Distribution Channel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(5/13)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15.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Global Residential Solar Generator Market Outlook, 2021–2036, by Region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Analysis By Region,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Analysis and Forecast By Region,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15.3.5.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Middle East and Africa (MEA)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15.3.6.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15.3.7.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South Asia and Pacific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15.4.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 By Region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16.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North America Residential Solar Generator Market Outlook, 2021–2036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16.4.1.3.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16.4.7.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16.5.7.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Regional Pricing Analysis by Product Type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Average Selling Price Benchmark by Product Category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Battery Technology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Configuration and Feature-Based 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Residential Solar Generator Price Breakdown and Cost Structure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Equipment Pricing Versus Complete System and Installation Costs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Distribution Channel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Pricing and Brand Positioning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Pricing Trends and Key Price Influencing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Total Cost of Ownership and Lifecycle Cost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Models, Financing, and Incentive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Future Pricing Outlook and Forecast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16.19.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16.20.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17.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Latin America Residential Solar Generator Market Outlook, 2021–2036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Argentina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(6/13)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17.4.1.3.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Latin America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17.4.7.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17.5.7.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Regional Pricing Analysis by Product Type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Average Selling Price Benchmark by Product Category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Battery Technology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Configuration and Feature-Based 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Residential Solar Generator Price Breakdown and Cost Structure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Equipment Pricing Versus Complete System and Installation Costs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Distribution Channel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Pricing and Brand Positioning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Pricing Trends and Key Price Influencing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Total Cost of Ownership and Lifecycle Cost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Models, Financing, and Incentive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Future Pricing Outlook and Forecast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17.19.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17.20.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18.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Western Europe Residential Solar Generator Market Outlook, 2021–2036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18.4.1.6.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18.4.1.7.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Nordic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18.4.1.8.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Western Europe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18.4.7.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18.5.7.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(7/13)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Regional Pricing Analysis by Product Type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Average Selling Price Benchmark by Product Category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Battery Technology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Configuration and Feature-Based 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Residential Solar Generator Price Breakdown and Cost Structure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Equipment Pricing Versus Complete System and Installation Costs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Distribution Channel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Pricing and Brand Positioning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Pricing Trends and Key Price Influencing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Total Cost of Ownership and Lifecycle Cost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Models, Financing, and Incentive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Future Pricing Outlook and Forecast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18.19.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18.20.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19.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Eastern Europe Residential Solar Generator Market Outlook, 2021–2036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Hungary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Poland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Balkan &amp; Baltics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19.4.1.5.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Eastern Europe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19.4.7.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19.5.7.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Regional Pricing Analysis by Product Type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Average Selling Price Benchmark by Product Category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Battery Technology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Configuration and Feature-Based 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Residential Solar Generator Price Breakdown and Cost Structure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Equipment Pricing Versus Complete System and Installation Costs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Distribution Channel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Pricing and Brand Positioning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Pricing Trends and Key Price Influencing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Total Cost of Ownership and Lifecycle Cost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Models, Financing, and Incentive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Future Pricing Outlook and Forecast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19.19.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19.20.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20.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South Asia and Pacific Residential Solar Generator Market Outlook, 2021–2036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(8/13)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ASEAN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Oceania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20.4.1.4.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South Asia &amp; Pacific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20.4.7.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20.5.7.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Regional Pricing Analysis by Product Type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Average Selling Price Benchmark by Product Category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Battery Technology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Configuration and Feature-Based 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Residential Solar Generator Price Breakdown and Cost Structure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Equipment Pricing Versus Complete System and Installation Costs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Distribution Channel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Pricing and Brand Positioning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Pricing Trends and Key Price Influencing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Total Cost of Ownership and Lifecycle Cost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Models, Financing, and Incentive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Future Pricing Outlook and Forecast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20.19.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20.20.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21.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East Asia Residential Solar Generator Market Outlook, 2021–2036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21.4.1.1.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21.4.1.2.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21.4.1.3.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South Korea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21.4.7.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21.5.7.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(9/13)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Regional Pricing Analysis by Product Type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Average Selling Price Benchmark by Product Category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Battery Technology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Configuration and Feature-Based 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Residential Solar Generator Price Breakdown and Cost Structure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Equipment Pricing Versus Complete System and Installation Costs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Distribution Channel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Pricing and Brand Positioning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Pricing Trends and Key Price Influencing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Total Cost of Ownership and Lifecycle Cost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Models, Financing, and Incentive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Future Pricing Outlook and Forecast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21.19.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21.20.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22.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Middle East and Africa Residential Solar Generator Market Outlook, 2021–2036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Market Size (US$ Mn) and Volume Trend Analysis By Market Taxonomy, 2021–2025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Size (US$ Mn) and Volume Forecast By Market Taxonomy, 2026–2036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22.4.1.1.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GCC Countries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22.4.1.2.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Turkiye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22.4.1.3.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Northern Africa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22.4.1.4.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South Africa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22.4.1.5.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Rest of Middle East and Africa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22.4.6.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22.4.7.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Attractiveness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Country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22.5.6.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22.5.7.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Trends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Regional Pricing Analysis by Product Type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Global Average Selling Price Benchmark by Product Category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Battery Technology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Product Configuration and Feature-Based Pricing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Residential Solar Generator Price Breakdown and Cost Structure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Equipment Pricing Versus Complete System and Installation Costs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Analysis by Distribution Channel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Pricing and Brand Positioning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Historical Pricing Trends and Key Price Influencing Factors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Total Cost of Ownership and Lifecycle Cost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Pricing Models, Financing, and Incentive Impact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Future Pricing Outlook and Forecast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22.19.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Key Market Participants - Intensity Mapping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22.20.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Drivers and Restraints - Impact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23.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Country Wise Residential Solar Generator Market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Introduction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Market Value Proportion Analysis, By Key Countries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Global Vs. Country Growth Comparison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U.S.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(10/13)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23.2.6.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Canada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23.3.5.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23.3.6.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Mexico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23.4.6.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Brazil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23.5.6.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Germany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23.6.6.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Italy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23.7.1.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23.7.2.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23.7.3.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23.7.4.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23.7.5.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23.7.6.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France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23.8.1.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23.8.2.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23.8.3.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23.8.4.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23.8.5.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23.8.6.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U.K.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23.9.1.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23.9.2.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23.9.3.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23.9.4.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23.9.5.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23.9.6.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23.10.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Spain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23.10.1.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23.10.2.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23.10.3.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23.10.4.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(11/13)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23.10.5.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23.10.6.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Russia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23.11.5.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23.11.6.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China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23.12.3.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23.12.4.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23.12.5.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23.12.6.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Japan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23.13.5.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23.13.6.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S. Korea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23.14.5.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23.14.6.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India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23.15.6.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ASEAN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23.16.1.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23.16.2.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23.16.3.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23.16.4.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23.16.5.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23.16.6.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Australia and New Zealand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23.17.1.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23.17.2.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23.17.3.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23.17.4.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23.17.5.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23.17.6.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23.18.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Turkey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23.18.1.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23.18.2.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23.18.3.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23.18.4.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23.18.5.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23.18.6.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23.19.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South Africa Residential Solar Generator Market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23.19.1.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(12/13)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23.19.2.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Rated Energy Storage Capacity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23.19.3.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Battery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23.19.4.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Grid Connectivity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23.19.5.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Primary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23.19.6.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By Distribution Channel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24.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Market Structure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24.1.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Analysis by Tier of Companies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24.2.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Share Analysis of Top Players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24.3.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Market Presence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25.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Competition Analysis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25.1.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Ecosystem by Type of Producer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25.1.1.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Global Portable Power Station Pure-Plays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Jackery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EcoFlow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BLUETTI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PECRON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Goal Zero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25.1.1.6.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Zendure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25.1.2.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E-Commerce-Led Value-Segment Brands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25.1.2.1.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Dabbsson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25.1.2.2.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OUPES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25.1.2.3.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VTOMAN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25.1.2.4.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Powerenz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25.1.3.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Solar &amp; Inverter Technology Specialists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25.1.3.1.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Renogy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25.1.3.2.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ACOPOWER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25.1.3.3.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GROWATT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25.1.4.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Regional &amp; Resilience-Focused Specialists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25.1.4.1.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Lion Energy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25.1.4.2.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Yoshino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25.2.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Category-wise Value Contribution to the Market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25.2.1.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Value Contribution by Producer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25.2.1.1.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Market Value Contribution by category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25.2.1.2.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Market Value Contribution by category [USD Mn]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25.2.2.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Volume Contribution by Producer Type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25.2.2.1.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Shipment Volume Contribution by category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25.2.2.2.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Shipment Volume by category [Thousand Units]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25.2.2.3.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Installed Storage Capacity Shipped by category [GWh]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25.3.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Company-level Market Share Analysis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25.3.1.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Overall Company Share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Company-wise Market Share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Company-wise Revenue Contribution, solar generator segment [USD Mn]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Company-wise Sales Volume [Thousand Units]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25.3.2.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Value Share vs Volume Share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25.3.2.1.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Value Share [%] vs Volume Share [%] by company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25.3.2.2.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Average Selling Price by company [USD/Unit] and [USD/kWh]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25.3.3.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Geographic Revenue Mix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25.3.3.1.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Revenue split by North America, Europe, Asia Pacific, Middle East &amp; Africa and Latin America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25.3.3.2.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Global vs Regional Share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25.3.4.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Channel &amp; Positioning Mix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25.3.4.1.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Direct-to-Consumer (own website and app) vs Marketplace vs Retail/Distributor-Led Sales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25.3.4.2.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Branded vs OEM/Private-Label Sales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25.3.4.3.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Premium vs Value Segment Exposure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25.3.4.4.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Solar-Panel-Bundled vs Standalone Power Station Sales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25.4.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Cross-Category Competitive Benchmarking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25.4.1.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Scale &amp; Share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Revenue Scale [USD Mn] vs Market Share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Table of Contents (13/13)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25.4.2.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Product &amp; Technology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25.4.2.1.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Product Breadth (capacity range [Wh], output range [W])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25.4.2.2.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Battery Chemistry Mix (LiFePO4 vs NMC)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25.4.2.3.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Solar Input Capability [W], Fast-Charging and Expandability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25.4.2.4.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Smart Features (app, home integration, grid-tied and whole-home backup)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25.4.3.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Market Access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25.4.3.1.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Geographic Reach [No. of Countries]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25.4.3.2.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Distribution Strength (marketplaces, big-box retail, installer network)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25.4.3.3.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Direct Sales vs Distributor-Led Sales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25.4.4.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Operations &amp; Customer Support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25.4.4.1.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Manufacturing Footprint (own plants, contract manufacturing, locations)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25.4.4.2.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Supply Reliability and Lead Time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25.4.4.3.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Warranty Terms [Years] and Service Network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25.4.4.4.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Pricing Positioning [USD/Wh]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25.5.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Positioning Matrix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25.5.1.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Scale vs Specialisation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25.5.1.1.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Revenue [USD Mn] vs solar generator share of revenue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25.5.2.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Value Share vs Volume Share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25.5.2.1.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Value Share [%] vs Volume Share [%]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25.5.3.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Product Breadth vs Technology Differentiation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25.5.4.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Premium Positioning vs Cost Competitiveness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25.5.4.1.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Pricing [USD/Wh]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25.5.5.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Direct Customer Access vs Marketplace/Channel Dependence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25.5.6.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Global Reach vs Regional Strength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25.6.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Competitive White Space and Market Entry Opportunities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25.6.1.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Underserved Competitor Categories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25.6.2.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Low-Competition Regions and Countries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25.6.3.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High-Value Product Niches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25.6.4.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Underpenetrated Application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25.6.5.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Import-Dependent Markets and Supply Gaps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25.6.6.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Distribution Gaps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25.6.7.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Local Assembly and Manufacturing Opportunities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25.6.8.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Partnership, Acquisition and Potential Entry Targets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25.7.</a:t>
                      </a:r>
                      <a:r>
                        <a:rPr sz="700" b="0" i="0">
                          <a:solidFill>
                            <a:srgbClr val="0070C0"/>
                          </a:solidFill>
                          <a:latin typeface="Times New Roman"/>
                        </a:rPr>
                        <a:t>  </a:t>
                      </a:r>
                      <a:r>
                        <a:rPr sz="1100" b="0" i="0">
                          <a:solidFill>
                            <a:srgbClr val="0070C0"/>
                          </a:solidFill>
                          <a:latin typeface="Calibri"/>
                        </a:rPr>
                        <a:t>Competition Deep Dive</a:t>
                      </a:r>
                      <a:endParaRPr sz="1100"/>
                    </a:p>
                  </a:txBody>
                  <a:tcPr marL="4286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ACOPOWER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25.7.1.1.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Overview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25.7.1.2.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Product Portfolio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25.7.1.3.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Profitability by Market Segments (Product/Channel/Region)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25.7.1.4.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Sales Footprint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25.7.1.5.</a:t>
                      </a:r>
                      <a:r>
                        <a:rPr sz="700" b="0" i="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1">
                          <a:solidFill>
                            <a:srgbClr val="000000"/>
                          </a:solidFill>
                          <a:latin typeface="Calibri"/>
                        </a:rPr>
                        <a:t>Strategy Overview</a:t>
                      </a:r>
                      <a:endParaRPr sz="1100"/>
                    </a:p>
                  </a:txBody>
                  <a:tcPr marL="102870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Jackery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GROWATT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Goal Zero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Lion Energy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Generac Power Systems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Anker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25.7.8.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EcoFlow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25.7.9.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Powerenz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25.7.10.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Renogy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25.7.11.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BLUETTI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25.7.12.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PECRON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25.7.13.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Dabbsson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25.7.14.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OUPES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25.7.15.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VTOMAN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25.7.16.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Zendure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25.7.17.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Yoshino</a:t>
                      </a:r>
                      <a:endParaRPr sz="1100"/>
                    </a:p>
                  </a:txBody>
                  <a:tcPr marL="771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26.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Assumptions and Acronyms Used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27.</a:t>
                      </a:r>
                      <a:r>
                        <a:rPr sz="700" b="1" i="0">
                          <a:solidFill>
                            <a:srgbClr val="000000"/>
                          </a:solidFill>
                          <a:latin typeface="Times New Roman"/>
                        </a:rPr>
                        <a:t>    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Research Methodology</a:t>
                      </a:r>
                      <a:endParaRPr sz="1100"/>
                    </a:p>
                  </a:txBody>
                  <a:tcPr marL="171450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4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9495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2924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List of Figures, List of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8275"/>
            <a:ext cx="8458200" cy="882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Every figure in the full study, by analysis block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Every table in the full study, by analysis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(1/4)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1: Global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2: Global Market Value Snapshot,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3: Global Market Taxonomy by Segment,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4: Global Market Share by Type,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5: Global Market Share by Rated Energy Storage Capacity,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6: Global Market Share by Battery Technology,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7: Global Market Share by Grid Connectivity,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8: Global Market Share by Primary Application,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9: Global Market Share by Distribution Channel,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10: Global Market Historical Value, US$ Mn, 2021–2025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11: Global Market Forecast Value,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12: Global Market YoY Growth,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13: Global Market Volume and YoY Growth, Units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14: Global Market Volume vs Value CAGR Comparison,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15: Global Market Average Selling Price,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16: Global Market Absolute $ Opportunity,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17: Global Market Incremental Opportunity by Year,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18: Global Market Historical vs Forecast CAGR,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19: Global Market Value by Scenario (Optimistic, Likely, Pessimistic),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20: Global Market Size Evolution Index, 2025=100,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21: Global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22: Global Market Value by Rated Energy Storage Capacity,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23: Global Market Value by Battery Technology,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24: Global Market Value by Grid Connectivity,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25: Global Market Value by Primary Application,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26: Global Market Value by Distribution Channel,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27: Global Market Share by Type,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28: Global Market Share by Rated Energy Storage Capacity,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29: Global Market Share by Battery Technology,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30: Global Market Share by Grid Connectivity,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31: Global Market Share by Primary Application,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1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32: Global Market Share by Distribution Channel,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33: Global Market Absolute $ Opportunity by Type,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285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34: Global Market Absolute $ Opportunity by Rated Energy Storage Capacity,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35: Global Market Absolute $ Opportunity by Battery Technology,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36: Global Market Absolute $ Opportunity by Grid Connectivity,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37: Global Market Absolute $ Opportunity by Primary Application,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38: Global Market Absolute $ Opportunity by Distribution Channel,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39: Global Market BPS Share Change by Type,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40: Global Market BPS Share Change by Rated Energy Storage Capacity,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41: Global Market BPS Share Change by Battery Technology,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42: Global Market BPS Share Change by Grid Connectivity,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43: Global Market BPS Share Change by Primary Application,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44: Global Market BPS Share Change by Distribution Channel,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45: Global Market YoY Growth by Type,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46: Global Market YoY Growth by Rated Energy Storage Capacity,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47: Global Market YoY Growth by Battery Technology,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48: Global Market YoY Growth by Grid Connectivity,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49: Global Market YoY Growth by Primary Application,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50: Global Market YoY Growth by Distribution Channel,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51: Global Market Attractiveness by Type,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52: Global Market Attractiveness by Rated Energy Storage Capacity,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53: Global Market Attractiveness by Battery Technology,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54: Global Market Attractiveness by Grid Connectivity,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55: Global Market Attractiveness by Primary Application,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56: Global Market Attractiveness by Distribution Channel,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57: Global Market Volume by Type,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58: Global Market Volume by Rated Energy Storage Capacity,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59: Global Market Volume by Battery Technology,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60: Global Market Volume by Grid Connectivity,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61: Global Market Volume by Primary Application,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(2/4)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62: Global Market Volume by Distribution Channel,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63: Global Market Average Selling Price by Type,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64: Type × Rated Energy Storage Capacity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65: Type × Battery Technology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66: Type × Grid Connectivity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67: Type × Primary Application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68: Type × Distribution Channel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69: Rated Energy Storage Capacity × Battery Technology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70: Rated Energy Storage Capacity × Grid Connectivity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71: Rated Energy Storage Capacity × Primary Application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72: Rated Energy Storage Capacity × Distribution Channel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73: Battery Technology × Grid Connectivity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74: Battery Technology × Primary Application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75: Battery Technology × Distribution Channel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76: Grid Connectivity × Primary Application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77: Grid Connectivity × Distribution Channel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78: Primary Application × Distribution Channel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79: Region × Type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80: Region × Rated Energy Storage Capacity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81: Region × Battery Technology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82: Region × Grid Connectivity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83: Region × Primary Application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84: Region × Distribution Channel Opportunity Matrix,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85: Global Market Value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86: Global Market Share by Region,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87: Global Market CAGR by Region,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88: Global Market Absolute $ Opportunity by Region,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89: Global Market Attractiveness by Region,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90: Global Market BPS Share Change by Region,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91: North America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92: Latin America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93: East Asia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94: South Asia &amp; Pacific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95: Western Europe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96: Eastern Europe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97: Middle East &amp; Africa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98: North America Market Share of Global Market,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99: Latin America Market Share of Global Market,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100: East Asia Market Share of Global Market,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101: South Asia &amp; Pacific Market Share of Global Market,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102: Western Europe Market Share of Global Market,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103: Eastern Europe Market Share of Global Market,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104: Middle East &amp; Africa Market Share of Global Market,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105: North America Market Value by Country,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106: Latin America Market Value by Country,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107: East Asia Market Value by Country,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108: South Asia &amp; Pacific Market Value by Country,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109: Western Europe Market Value by Country,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110: Eastern Europe Market Value by Country,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111: Middle East &amp; Africa Market Value by Country,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112: U.S.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113: U.S. Market Value by Type,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114: U.S. Market Value by Primary Application,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115: U.S. Market Share within North America,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116: U.S. Market Value by Rated Energy Storage Capacity,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117: U.S. Market Value by Battery Technology,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118: U.S. Market Value by Grid Connectivity,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119: U.S. Market Value by Distribution Channel,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120: Canada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121: Canada Market Value by Type,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122: Canada Market Value by Primary Application,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123: Canada Market Share within North America,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(3/4)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1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124: Canada Market Value by Rated Energy Storage Capacity,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125: Canada Market Value by Battery Technology,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126: Canada Market Value by Grid Connectivity,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127: Canada Market Value by Distribution Channel,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128: India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129: India Market Value by Type,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130: India Market Value by Primary Application,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131: India Market Share within South Asia &amp; Pacific,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132: India Market Value by Rated Energy Storage Capacity,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133: India Market Value by Battery Technology,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134: India Market Value by Grid Connectivity,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135: India Market Value by Distribution Channel,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136: China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137: China Market Value by Type,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138: Brazil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139: Brazil Market Value by Type,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140: Mexico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141: Mexico Market Value by Type,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142: Kingdom of Saudi Arabia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143: Kingdom of Saudi Arabia Market Value by Type,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144: Russia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145: Russia Market Value by Type,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146: Japan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147: Japan Market Value by Type, US$ Mn,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148: Global Market Average Selling Price Trend,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149: Global Market Average Selling Price by Region, US$/Units,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150: Global Market Average Selling Price by Type, US$/Units,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285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151: Global Market Average Selling Price by Rated Energy Storage Capacity, US$/Units,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152: Global Market Average Selling Price by Battery Technology, US$/Units,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82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153: Global Market Average Selling Price by Grid Connectivity, US$/Units,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7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154: Global Market Average Selling Price by Primary Application, US$/Units,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155: Global Market Average Selling Price by Distribution Channel, US$/Units,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156: Global Market Value Chain Structure,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157: Global Market Margin Distribution across the Value Chain,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158: Global Market Cost Structure Breakdown,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159: Global Market Pricing Pressure Assessment by Type,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160: Global Market Import and Export Share by Region, %, 2025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161: Global Market Trade Balance by Leading Country, US$ Mn, 2025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162: Company Market Share in the Global Market,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163: Competitive Positioning of Leading Residential Solar Generator Manufacturers,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164: Company Revenue from the Global Market, US$ Mn,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165: Global Market Concentration by Company Tier,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166: Global Market Competitive Intensity Assessment,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167: Company Market Share in the North America Market,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168: Company Market Share in the Latin America Market,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169: Company Market Share in the East Asia Market,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170: Company Market Share in the South Asia &amp; Pacific Market,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171: Company Market Share in the Western Europe Market,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172: Company Market Share in the Eastern Europe Market,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173: Company Market Share in the Middle East &amp; Africa Market,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174: Jackery: Revenue from the Global Market and Share, US$ Mn and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175: EcoFlow: Revenue from the Global Market and Share, US$ Mn and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176: BLUETTI: Revenue from the Global Market and Share, US$ Mn and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177: PECRON: Revenue from the Global Market and Share, US$ Mn and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178: Goal Zero: Revenue from the Global Market and Share, US$ Mn and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179: Zendure: Revenue from the Global Market and Share, US$ Mn and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180: Dabbsson: Revenue from the Global Market and Share, US$ Mn and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181: OUPES: Revenue from the Global Market and Share, US$ Mn and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182: VTOMAN: Revenue from the Global Market and Share, US$ Mn and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183: Powerenz: Revenue from the Global Market and Share, US$ Mn and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960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184: Global Market Strategic Developments by Type, %, 2025–2026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Figures (4/4)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266700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185: Global Market Value Forecast by Scenario,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186: Global Market YoY Growth by Scenario,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187: Global Market Key Trends Impact Assessment,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188: Global Market Drivers, Restraints and Opportunities Impact,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189: Global Market Opportunity Map by Region and Type,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190: Global Market Technology Adoption Roadmap,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191: Global Market Emerging Opportunity Pockets by Type,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192: Global Market Risk and Sensitivity Analysis,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193: Global Market Regulatory Landscape Timeline,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194: Global Market Investment Hotspots by Region,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195: Global Market Innovation Pipeline Assessment,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196: Global Market White-Space Opportunity Assessment,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197: Global Market Customer Purchase Criteria Assessment,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198: Global Market Go-to-Market Priority by Region,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199: Global Market Unmet Needs Analysis by Type,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Figure 200: Global Market Right-to-Win Assessment,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(1/4)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793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1: Global Market Snapshot: Value, Volume and CAGR, US$ Mn, 2025–2036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2: Global Market Taxonomy by Segment,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3: Global Market Scope: Inclusions and Exclusions by Segment,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4: Global Market Key Demand Drivers and Impact Rating,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5: Global Market Key Restraints and Impact Rating,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6: Global Market Analyst Recommendations by Segment,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7: Global Market Key Market Signals and Data Points,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8: Global Market Value and YoY Growth, US$ Mn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9: Global Market Historical Value Analysis, US$ Mn, 2021–2025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10: Global Market Forecast Value Analysis,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11: Global Market Volume and YoY Growth, Units and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12: Global Market Volume Forecast, Units,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13: Global Market Average Selling Price,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14: Global Market Average Selling Price YoY Change,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15: Global Market CAGR and Absolute $ Opportunity,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16: Global Market Absolute $ Opportunity by Year,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17: Global Market Value by Scenario (Optimistic, Likely, Pessimistic),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18: Global Market Scenario CAGR Comparison,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19: Global Market Historical vs Forecast Growth Comparison,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20: Global Market Five-Year Block Value Summary,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21: Global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22: Global Market Value by Rated Energy Storage Capacity,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23: Global Market Value by Battery Technology,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24: Global Market Value by Grid Connectivity,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25: Global Market Value by Primary Application,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26: Global Market Value by Distribution Channel,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27: Global Market CAGR and Absolute $ Opportunity by Type,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3289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28: Global Market CAGR and Absolute $ Opportunity by Rated Energy Storage Capacity,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3289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29: Global Market CAGR and Absolute $ Opportunity by Battery Technology,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79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334153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30: Global Market CAGR and Absolute $ Opportunity by Grid Connectivity,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153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31: Global Market CAGR and Absolute $ Opportunity by Primary Application,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153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32: Global Market CAGR and Absolute $ Opportunity by Distribution Channel,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33: Global Market Share and BPS Change by Type, %, 2025,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153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34: Global Market Share and BPS Change by Rated Energy Storage Capacity, %, 2025,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35: Global Market Share and BPS Change by Battery Technology, %, 2025,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36: Global Market Share and BPS Change by Grid Connectivity, %, 2025,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37: Global Market Share and BPS Change by Primary Application, %, 2025,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38: Global Market Share and BPS Change by Distribution Channel, %, 2025,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39: Global Market YoY Growth by Type,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40: Global Market YoY Growth by Rated Energy Storage Capacity,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41: Global Market YoY Growth by Battery Technology,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42: Global Market YoY Growth by Grid Connectivity,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43: Global Market YoY Growth by Primary Application,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44: Global Market YoY Growth by Distribution Channel,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45: Global Market Volume by Type,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46: Global Market Volume by Rated Energy Storage Capacity,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47: Global Market Volume by Battery Technology,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48: Global Market Volume by Grid Connectivity,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49: Global Market Volume by Primary Application,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50: Global Market Volume by Distribution Channel,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51: Global Market Average Selling Price by Type,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52: Global Market Average Selling Price by Rated Energy Storage Capacity,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53: Global Market Average Selling Price by Battery Technology,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54: Global Market Average Selling Price by Grid Connectivity,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55: Global Market Average Selling Price by Primary Application,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56: Global Market Average Selling Price by Distribution Channel,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(2/4)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4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57: Global Market Attractiveness Index by Type,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58: Global Market Attractiveness Index by Rated Energy Storage Capacity,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59: Global Market Attractiveness Index by Battery Technology,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60: Global Market Attractiveness Index by Grid Connectivity,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61: Global Market Attractiveness Index by Primary Application,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62: Global Market Attractiveness Index by Distribution Channel,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63: Global Market Value of Portable Integrated Solar Generators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64: Global Market Value of Up to 1 kWh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65: Global Market Value of Lithium Iron Phosphate (LFP)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66: Global Market Value of Fixed Grid-Connected Systems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67: Global Market Value of Emergency Power Backup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68: Global Market Value of Manufacturer-Direct Sales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69: Global Market Value of Portable Modular Solar Generators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70: Global Market Value of Above 1–3 kWh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71: Global Market Value of Nickel-Based Lithium-Ion Batteries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72: Global Market Value of Fixed Off-Grid Systems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73: Global Market Value of Residential Solar Self-Consumption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4535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74: Global Market Value of Third-Party E-Commerce Marketplaces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4535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75: Global Market Value of Fixed Residential Solar Power Generator Systems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76: Global Market Value by Type and Rated Energy Storage Capacity,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77: Global Market Value by Type and Battery Technology,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78: Global Market Value by Type and Grid Connectivity,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79: Global Market Value by Type and Primary Application,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6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80: Global Market Value by Type and Distribution Channel,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4535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81: Global Market Value by Rated Energy Storage Capacity and Battery Technology,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4535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82: Global Market Value by Rated Energy Storage Capacity and Grid Connectivity,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79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334153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83: Global Market Value by Rated Energy Storage Capacity and Primary Application,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153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84: Global Market Value by Rated Energy Storage Capacity and Distribution Channel,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85: Global Market Value by Battery Technology and Grid Connectivity,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86: Global Market Value by Battery Technology and Primary Application,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87: Global Market Value by Battery Technology and Distribution Channel,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88: Global Market Value by Grid Connectivity and Primary Application,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89: Global Market Value by Grid Connectivity and Distribution Channel,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90: Global Market Value by Primary Application and Distribution Channel,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91: Global Market Value by Region and Type,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92: Global Market Value by Region and Rated Energy Storage Capacity,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93: Global Market Value by Region and Battery Technology,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94: Global Market Value by Region and Grid Connectivity,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95: Global Market Value by Region and Primary Application,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96: Global Market Value by Region and Distribution Channel,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97: Global Market CAGR by Type and Rated Energy Storage Capacity,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98: Global Market CAGR by Type and Battery Technology,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99: Global Market CAGR by Type and Grid Connectivity,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100: Global Market CAGR by Type and Primary Application,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101: Global Market CAGR by Type and Distribution Channel,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153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102: Global Market CAGR by Rated Energy Storage Capacity and Battery Technology,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103: Global Market CAGR by Rated Energy Storage Capacity and Grid Connectivity,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153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104: Global Market CAGR by Rated Energy Storage Capacity and Primary Application, %,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105: Global Market Value by Region,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106: Global Market CAGR and Absolute $ Opportunity by Region,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107: Global Market Share and BPS Change by Region, %,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108: Global Market Volume by Region, 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48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109: North America Market Value by Country,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(3/4)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803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110: Latin America Market Value by Country,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111: East Asia Market Value by Country,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112: South Asia &amp; Pacific Market Value by Country,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113: Western Europe Market Value by Country,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114: Eastern Europe Market Value by Country,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115: Middle East &amp; Africa Market Value by Country,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587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116: North America Market CAGR and Absolute $ Opportunity by Country,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117: Latin America Market CAGR and Absolute $ Opportunity by Country,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118: East Asia Market CAGR and Absolute $ Opportunity by Country,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587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119: South Asia &amp; Pacific Market CAGR and Absolute $ Opportunity by Country,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587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120: Western Europe Market CAGR and Absolute $ Opportunity by Country,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587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121: Eastern Europe Market CAGR and Absolute $ Opportunity by Country,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4587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122: Middle East &amp; Africa Market CAGR and Absolute $ Opportunity by Country, %,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123: North America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124: Latin America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125: East Asia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126: South Asia &amp; Pacific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127: Western Europe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128: Eastern Europe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129: Middle East &amp; Africa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130: U.S.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131: U.S. Market Historical and Forecast Growth,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132: U.S. Market Value by Primary Application,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133: U.S. Market Share within North America, %, 2025,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134: U.S. Market Value by Rated Energy Storage Capacity,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7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135: U.S. Market Value by Battery Technology,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5257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136: U.S. Market Value by Grid Connectivity,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137: U.S. Market Value by Distribution Channel,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138: Canada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139: Canada Market Historical and Forecast Growth,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140: Canada Market Value by Primary Application,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141: Canada Market Share within North America, %, 2025,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142: Canada Market Value by Rated Energy Storage Capacity,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143: Canada Market Value by Battery Technology,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144: Canada Market Value by Grid Connectivity,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145: Canada Market Value by Distribution Channel,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146: India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147: India Market Historical and Forecast Growth,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148: India Market Value by Primary Application,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149: India Market Share within South Asia &amp; Pacific, %, 2025, 2026 and 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150: India Market Value by Rated Energy Storage Capacity,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151: India Market Value by Battery Technology,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152: India Market Value by Grid Connectivity,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153: India Market Value by Distribution Channel,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154: China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155: China Market Historical and Forecast Growth,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156: China Market Value by Primary Application,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157: Brazil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158: Brazil Market Historical and Forecast Growth,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159: Mexico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160: Mexico Market Historical and Forecast Growth,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161: Kingdom of Saudi Arabia Market Value by Type, US$ Mn,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162: Kingdom of Saudi Arabia Market Historical and Forecast Growth, %,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163: Market Product Price Comparison by Company and Type, US$/Units,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164: Global Market Average Selling Price by Region,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52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165: Global Market Average Selling Price by Type,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76200"/>
            <a:ext cx="10506075" cy="7620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List of Tables (4/4)</a:t>
            </a:r>
          </a:p>
        </p:txBody>
      </p:sp>
      <p:graphicFrame>
        <p:nvGraphicFramePr>
          <p:cNvPr id="9" name="FMI Contents Table"/>
          <p:cNvGraphicFramePr>
            <a:graphicFrameLocks noGrp="1"/>
          </p:cNvGraphicFramePr>
          <p:nvPr/>
        </p:nvGraphicFramePr>
        <p:xfrm>
          <a:off x="142875" y="981075"/>
          <a:ext cx="5876925" cy="5257793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333289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166: Global Market Average Selling Price by Rated Energy Storage Capacity,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167: Global Market Average Selling Price by Battery Technology,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168: Global Market Average Selling Price by Grid Connectivity,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169: Global Market Average Selling Price by Primary Application,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170: Global Market Average Selling Price by Distribution Channel, US$/Units, 2021–2036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171: Supplier-to-Customer Relationship Mapping in U.S.,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172: Global Market Value Chain Participants by Stage,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173: Global Market Margin Analysis by Value Chain Stage,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174: Global Market Cost Structure by Component,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175: Global Market Import Value by Leading Country, US$ Mn, 2021–2025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176: Global Market Export Value by Leading Country, US$ Mn, 2021–2025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177: Global Market Trade Flow Matrix by Region, US$ Mn, 2025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178: Global Market Pricing Factors and Impact Rating,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333289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179: Leading Residential Solar Generator Manufacturers: Product Portfolio and Geographic Presence,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180: Company Revenue from the Global Market, US$ Mn, 2025–2026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181: Company Market Share in the Global Market by Region, %,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182: Global Market Competitive Benchmarking Matrix,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183: Global Market Mergers, Acquisitions and Partnerships, 2021–2026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184: Jackery: Company Overview, Products and Strategy,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185: EcoFlow: Company Overview, Products and Strategy,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186: BLUETTI: Company Overview, Products and Strategy,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187: PECRON: Company Overview, Products and Strategy,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188: Goal Zero: Company Overview, Products and Strategy,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189: Zendure: Company Overview, Products and Strategy,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190: Dabbsson: Company Overview, Products and Strategy,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191: OUPES: Company Overview, Products and Strategy,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192: VTOMAN: Company Overview, Products and Strategy,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193: Powerenz: Company Overview, Products and Strategy,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7004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194: Global Market Value by Scenario and Region,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0" name="FMI Contents Table"/>
          <p:cNvGraphicFramePr>
            <a:graphicFrameLocks noGrp="1"/>
          </p:cNvGraphicFramePr>
          <p:nvPr/>
        </p:nvGraphicFramePr>
        <p:xfrm>
          <a:off x="6172200" y="981075"/>
          <a:ext cx="5876925" cy="100012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876925"/>
              </a:tblGrid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195: Global Market Key Trends and Impact Rating,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196: Global Market Opportunity Assessment by Type, US$ Mn,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197: Global Market Scenario Assumptions,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198: Global Market Client Opportunity Prioritisation by Type,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199: Global Market Customer Purchase Criteria by Type, 2026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  <a:tr h="1666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Table 200: Global Market Strategic Recommendations and Action Plan, 2026–2036</a:t>
                      </a:r>
                      <a:endParaRPr sz="105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MI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9064" y="525547"/>
            <a:ext cx="1340395" cy="82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7360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6" name="FMI Breaker Title"/>
          <p:cNvSpPr txBox="1"/>
          <p:nvPr/>
        </p:nvSpPr>
        <p:spPr>
          <a:xfrm>
            <a:off x="914400" y="247840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Global Market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83255"/>
            <a:ext cx="7124700" cy="2929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Global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Global Market Analysis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Global Market Analysis By Segments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Type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Rated Energy Storage Capacity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Battery Technology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Grid Connectivity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Primary Application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Distribution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5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Global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Pricing &amp; Price Index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Volume &amp; Value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Country Outlook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Summary, By Volume (Units)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global market volume growth, incremental opportunity and the geographies driving it,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(UNITS)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(UNITS)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(Units)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915275" y="1627887"/>
            <a:ext cx="41338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8625" y="2037462"/>
            <a:ext cx="38671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15275" y="4037375"/>
            <a:ext cx="413385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8625" y="412310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Growth Drivers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8625" y="4361225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8625" y="4446950"/>
            <a:ext cx="3867150" cy="20332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48625" y="2046987"/>
            <a:ext cx="37343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Global residential solar generator market is projected to register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157" y="2204848"/>
            <a:ext cx="128699" cy="1871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02653" y="2214627"/>
            <a:ext cx="33149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increase in volume by the end of forecast period, 2036.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8625" y="2382267"/>
            <a:ext cx="33703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Global residential solar generator market volume stood at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7013" y="2372488"/>
            <a:ext cx="128699" cy="18719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48625" y="2549907"/>
            <a:ext cx="22450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Units in 2025 and is expected to reach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773" y="2540128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409269" y="2549907"/>
            <a:ext cx="13837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Units by 2036 end, at 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8625" y="2717547"/>
            <a:ext cx="5433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of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981" y="2707768"/>
            <a:ext cx="128699" cy="18719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707477" y="271754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8625" y="2935479"/>
            <a:ext cx="36783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Value is projected to grow faster than volume over the forecast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8625" y="3103119"/>
            <a:ext cx="30497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period, owing to an increase in average selling price.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8625" y="4456475"/>
            <a:ext cx="28688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'South Asia &amp; Pacific' leads regional growth at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6614" y="4446251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041723" y="44564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8625" y="4684312"/>
            <a:ext cx="379676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'Portable Modular Solar Generators'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8625" y="4859572"/>
            <a:ext cx="8073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within Type.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8625" y="5087410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8625" y="5315248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54" name="lockshield_16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ockshield_19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Pricing &amp; Regional Price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average price by sub-segment and price variation by region, highlighting where pricing power sits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52895"/>
            <a:ext cx="7696200" cy="2665040"/>
          </a:xfrm>
          <a:prstGeom prst="roundRect">
            <a:avLst>
              <a:gd name="adj" fmla="val 28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11004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by Type  ·  range across 2021–2036 (US$/Units)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7225" y="333693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7225" y="2865938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7225" y="2394940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7225" y="1923943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7225" y="145294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7225" y="1452945"/>
            <a:ext cx="0" cy="188399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8650" y="333693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8650" y="286593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8650" y="239494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28650" y="192394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8650" y="145294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MI Scale tick"/>
          <p:cNvSpPr txBox="1"/>
          <p:nvPr/>
        </p:nvSpPr>
        <p:spPr>
          <a:xfrm>
            <a:off x="219075" y="327026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4" name="FMI Scale tick"/>
          <p:cNvSpPr txBox="1"/>
          <p:nvPr/>
        </p:nvSpPr>
        <p:spPr>
          <a:xfrm>
            <a:off x="219075" y="2328265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5" name="FMI Scale tick"/>
          <p:cNvSpPr txBox="1"/>
          <p:nvPr/>
        </p:nvSpPr>
        <p:spPr>
          <a:xfrm>
            <a:off x="219075" y="138627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825625" y="2738937"/>
            <a:ext cx="0" cy="380615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94180" y="3119552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94180" y="2738937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606550" y="2817702"/>
            <a:ext cx="438150" cy="191212"/>
          </a:xfrm>
          <a:prstGeom prst="rect">
            <a:avLst/>
          </a:prstGeom>
          <a:solidFill>
            <a:srgbClr val="CFE7F5"/>
          </a:solidFill>
          <a:ln w="15875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606550" y="2908017"/>
            <a:ext cx="438150" cy="0"/>
          </a:xfrm>
          <a:prstGeom prst="line">
            <a:avLst/>
          </a:prstGeom>
          <a:ln w="2540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7225" y="2586537"/>
            <a:ext cx="23368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162425" y="1670329"/>
            <a:ext cx="0" cy="346983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030980" y="2017312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30980" y="1670329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943350" y="1738836"/>
            <a:ext cx="438150" cy="174313"/>
          </a:xfrm>
          <a:prstGeom prst="rect">
            <a:avLst/>
          </a:prstGeom>
          <a:solidFill>
            <a:srgbClr val="CFE7F5"/>
          </a:solidFill>
          <a:ln w="15875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943350" y="1820073"/>
            <a:ext cx="438150" cy="0"/>
          </a:xfrm>
          <a:prstGeom prst="line">
            <a:avLst/>
          </a:prstGeom>
          <a:ln w="2540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94025" y="1517929"/>
            <a:ext cx="23368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499225" y="2707835"/>
            <a:ext cx="0" cy="338901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67780" y="3046736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367780" y="2707835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280150" y="2777987"/>
            <a:ext cx="438150" cy="170276"/>
          </a:xfrm>
          <a:prstGeom prst="rect">
            <a:avLst/>
          </a:prstGeom>
          <a:solidFill>
            <a:srgbClr val="CFE7F5"/>
          </a:solidFill>
          <a:ln w="15875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6280150" y="2858416"/>
            <a:ext cx="438150" cy="0"/>
          </a:xfrm>
          <a:prstGeom prst="line">
            <a:avLst/>
          </a:prstGeom>
          <a:ln w="2540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330825" y="2555435"/>
            <a:ext cx="23368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225" y="3365510"/>
            <a:ext cx="23368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Integrated Solar Gene…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4025" y="3365510"/>
            <a:ext cx="23368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Modular Solar Generat…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0825" y="3365510"/>
            <a:ext cx="23368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Fixed Residential Sol…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2875" y="3772696"/>
            <a:ext cx="7696200" cy="2783689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8125" y="3829846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Region vs Global  ·  2026–2036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19125" y="4317081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19125" y="472842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19125" y="513977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19125" y="555112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19125" y="5962471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19125" y="4317081"/>
            <a:ext cx="0" cy="164539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90550" y="4317081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90550" y="472842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90550" y="513977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90550" y="555112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90550" y="5962471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MI Scale tick"/>
          <p:cNvSpPr txBox="1"/>
          <p:nvPr/>
        </p:nvSpPr>
        <p:spPr>
          <a:xfrm>
            <a:off x="219075" y="4250406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+56%</a:t>
            </a:r>
          </a:p>
        </p:txBody>
      </p:sp>
      <p:sp>
        <p:nvSpPr>
          <p:cNvPr id="61" name="FMI Scale tick"/>
          <p:cNvSpPr txBox="1"/>
          <p:nvPr/>
        </p:nvSpPr>
        <p:spPr>
          <a:xfrm>
            <a:off x="219075" y="466175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+28%</a:t>
            </a:r>
          </a:p>
        </p:txBody>
      </p:sp>
      <p:sp>
        <p:nvSpPr>
          <p:cNvPr id="62" name="FMI Scale tick"/>
          <p:cNvSpPr txBox="1"/>
          <p:nvPr/>
        </p:nvSpPr>
        <p:spPr>
          <a:xfrm>
            <a:off x="107156" y="5073101"/>
            <a:ext cx="473869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1">
                <a:solidFill>
                  <a:srgbClr val="6C7A89"/>
                </a:solidFill>
                <a:latin typeface="Calibri"/>
              </a:rPr>
              <a:t>Global</a:t>
            </a:r>
          </a:p>
        </p:txBody>
      </p:sp>
      <p:sp>
        <p:nvSpPr>
          <p:cNvPr id="63" name="FMI Scale tick"/>
          <p:cNvSpPr txBox="1"/>
          <p:nvPr/>
        </p:nvSpPr>
        <p:spPr>
          <a:xfrm>
            <a:off x="219075" y="5484448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-28%</a:t>
            </a:r>
          </a:p>
        </p:txBody>
      </p:sp>
      <p:sp>
        <p:nvSpPr>
          <p:cNvPr id="64" name="FMI Scale tick"/>
          <p:cNvSpPr txBox="1"/>
          <p:nvPr/>
        </p:nvSpPr>
        <p:spPr>
          <a:xfrm>
            <a:off x="219075" y="5895796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-56%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9125" y="5139776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893989" y="4423458"/>
            <a:ext cx="457200" cy="716318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MI Data Label"/>
          <p:cNvSpPr txBox="1"/>
          <p:nvPr/>
        </p:nvSpPr>
        <p:spPr>
          <a:xfrm>
            <a:off x="619125" y="4280583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00918" y="5103163"/>
            <a:ext cx="457200" cy="3661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MI Data Label"/>
          <p:cNvSpPr txBox="1"/>
          <p:nvPr/>
        </p:nvSpPr>
        <p:spPr>
          <a:xfrm>
            <a:off x="1626054" y="4960288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07846" y="5139776"/>
            <a:ext cx="457200" cy="412685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MI Data Label"/>
          <p:cNvSpPr txBox="1"/>
          <p:nvPr/>
        </p:nvSpPr>
        <p:spPr>
          <a:xfrm>
            <a:off x="2632982" y="5561985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14775" y="5139776"/>
            <a:ext cx="457200" cy="528830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MI Data Label"/>
          <p:cNvSpPr txBox="1"/>
          <p:nvPr/>
        </p:nvSpPr>
        <p:spPr>
          <a:xfrm>
            <a:off x="3639911" y="5678131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21704" y="4590074"/>
            <a:ext cx="457200" cy="54970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MI Data Label"/>
          <p:cNvSpPr txBox="1"/>
          <p:nvPr/>
        </p:nvSpPr>
        <p:spPr>
          <a:xfrm>
            <a:off x="4646839" y="4447199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28632" y="4944313"/>
            <a:ext cx="457200" cy="195463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MI Data Label"/>
          <p:cNvSpPr txBox="1"/>
          <p:nvPr/>
        </p:nvSpPr>
        <p:spPr>
          <a:xfrm>
            <a:off x="5653768" y="4801438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35561" y="5139776"/>
            <a:ext cx="457200" cy="60032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MI Data Label"/>
          <p:cNvSpPr txBox="1"/>
          <p:nvPr/>
        </p:nvSpPr>
        <p:spPr>
          <a:xfrm>
            <a:off x="6660696" y="5209333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9125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26054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32982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39911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46839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53768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60696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915275" y="1052895"/>
            <a:ext cx="4133850" cy="5503490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48625" y="113862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48625" y="1376745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48625" y="1462470"/>
            <a:ext cx="3867150" cy="50177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275" y="2559613"/>
            <a:ext cx="128699" cy="187198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075" y="1491005"/>
            <a:ext cx="128699" cy="187198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875" y="2528511"/>
            <a:ext cx="128699" cy="187198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40" y="4253659"/>
            <a:ext cx="128699" cy="187198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168" y="4933363"/>
            <a:ext cx="128699" cy="187198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097" y="5535060"/>
            <a:ext cx="128699" cy="187198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026" y="5651206"/>
            <a:ext cx="128699" cy="187198"/>
          </a:xfrm>
          <a:prstGeom prst="rect">
            <a:avLst/>
          </a:prstGeom>
        </p:spPr>
      </p:pic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954" y="4420275"/>
            <a:ext cx="128699" cy="187198"/>
          </a:xfrm>
          <a:prstGeom prst="rect">
            <a:avLst/>
          </a:prstGeom>
        </p:spPr>
      </p:pic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883" y="4774514"/>
            <a:ext cx="128699" cy="187198"/>
          </a:xfrm>
          <a:prstGeom prst="rect">
            <a:avLst/>
          </a:prstGeom>
        </p:spPr>
      </p:pic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811" y="5182408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48625" y="1471995"/>
            <a:ext cx="35266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Portable modular solar generators segment is expected to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48625" y="1647255"/>
            <a:ext cx="26272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command the highest average price of US$</a:t>
            </a:r>
          </a:p>
        </p:txBody>
      </p:sp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004" y="1637031"/>
            <a:ext cx="134549" cy="195707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0800113" y="1647255"/>
            <a:ext cx="7066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Unit in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48625" y="1822515"/>
            <a:ext cx="35491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 Average selling price of residential solar generator is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8625" y="1997775"/>
            <a:ext cx="10939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estimated at US$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1764" y="1987551"/>
            <a:ext cx="134549" cy="195707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9266874" y="1997775"/>
            <a:ext cx="21819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Unit in 2025 and is projected to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48625" y="2173035"/>
            <a:ext cx="17937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remain broadly stable at US$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1492" y="2162811"/>
            <a:ext cx="134549" cy="19570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66601" y="2173035"/>
            <a:ext cx="110568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Unit by 2036.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8625" y="2400873"/>
            <a:ext cx="37830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is the highest-priced region, while South Asia &amp;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8625" y="2576133"/>
            <a:ext cx="38215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Pacific is the most price-competitive market. Against the global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048625" y="2751393"/>
            <a:ext cx="5269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price of</a:t>
            </a:r>
          </a:p>
        </p:txBody>
      </p:sp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680" y="2741169"/>
            <a:ext cx="134549" cy="195707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8699789" y="2751393"/>
            <a:ext cx="30765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US$/Units, 4 of 7 regions price above and 3 below.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48625" y="2979230"/>
            <a:ext cx="21080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'North America' is the dearest at +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842" y="2969007"/>
            <a:ext cx="134549" cy="195707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0280951" y="2979230"/>
            <a:ext cx="15994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versus Global, 'South Asia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48625" y="3154490"/>
            <a:ext cx="16536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&amp; Pacific' the cheapest at -</a:t>
            </a:r>
          </a:p>
        </p:txBody>
      </p:sp>
      <p:pic>
        <p:nvPicPr>
          <p:cNvPr id="122" name="Picture 1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433" y="3144267"/>
            <a:ext cx="134549" cy="195707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9826542" y="3154490"/>
            <a:ext cx="17021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pointing to premiumisation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48625" y="3329750"/>
            <a:ext cx="23656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headroom in the lower-priced regions.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Summary, By Value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global market value growth, incremental opportunity and the geographies driving it,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(US$ Mn)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915275" y="1627887"/>
            <a:ext cx="41338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8625" y="2037462"/>
            <a:ext cx="38671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15275" y="4037375"/>
            <a:ext cx="413385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8625" y="412310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Growth Drivers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8625" y="4361225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8625" y="4446950"/>
            <a:ext cx="3867150" cy="20332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48625" y="2046987"/>
            <a:ext cx="35126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Residential solar generator market is projected to register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0432" y="2036763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685542" y="2046987"/>
            <a:ext cx="1520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8625" y="2222247"/>
            <a:ext cx="35719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increase in its revenue by the end of forecast period, 2036.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8625" y="2397507"/>
            <a:ext cx="35668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residential solar generator market is expected to be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8625" y="2572767"/>
            <a:ext cx="8920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valued at US$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805" y="2562543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064914" y="2572767"/>
            <a:ext cx="10797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by 2036 end.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8625" y="2800604"/>
            <a:ext cx="38124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It is projected to create overall incremental opportunity of US$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4545" y="2965641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09654" y="2975864"/>
            <a:ext cx="145568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from 2025 to 2036.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8625" y="4456475"/>
            <a:ext cx="28688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'South Asia &amp; Pacific' leads regional growth at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6614" y="4446251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041723" y="44564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8625" y="4684312"/>
            <a:ext cx="379676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'Portable Modular Solar Generators'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8625" y="4859572"/>
            <a:ext cx="8073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within Type.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8625" y="5087410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8625" y="5315248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52" name="lockshield_16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ockshield_19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Volume &amp; Value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and value growth of the global market and the incremental $ opportunity it creates,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4695825" cy="257175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Market, 2021–2025 (Historical)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4505325" cy="22288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991100" y="981075"/>
            <a:ext cx="7048500" cy="257175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6350" y="10382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Market, 2026–2036 (Forecast)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086350" y="1266825"/>
          <a:ext cx="6858000" cy="22288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686175"/>
            <a:ext cx="2514600" cy="73342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9875" y="3686175"/>
            <a:ext cx="2514600" cy="73342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76875" y="3686175"/>
            <a:ext cx="3200400" cy="73342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2026–2031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9675" y="3686175"/>
            <a:ext cx="3200400" cy="73342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875" y="4552950"/>
            <a:ext cx="11906250" cy="20574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225" y="46386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Volume &amp; Value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225" y="48768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225" y="4962525"/>
            <a:ext cx="11639550" cy="1571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894" y="2050946"/>
            <a:ext cx="205327" cy="298657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0846" y="2011501"/>
            <a:ext cx="259564" cy="377547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594" y="402240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8594" y="4022407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494" y="402240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294" y="4022407"/>
            <a:ext cx="157162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76225" y="4972050"/>
            <a:ext cx="35126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Residential solar generator market is projected to register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8032" y="4961826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13142" y="4972050"/>
            <a:ext cx="77854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its revenue by the end of forecast period, 2036. Global residential solar generator market is expected to be valued 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225" y="5147310"/>
            <a:ext cx="3112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28" y="5137086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1737" y="5147310"/>
            <a:ext cx="10797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by 2036 end.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6225" y="5375147"/>
            <a:ext cx="38124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It is projected to create overall incremental opportunity of US$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7834" y="5364924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212943" y="5375147"/>
            <a:ext cx="531317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from 2025 to 2036. Global residential solar generator market is projected to register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5274" y="5364924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50383" y="5375147"/>
            <a:ext cx="21217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volume by the end of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225" y="5550407"/>
            <a:ext cx="13835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period, 2036.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5778245"/>
            <a:ext cx="35200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residential solar generator market volume stood at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5449" y="5768022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920558" y="5778245"/>
            <a:ext cx="2343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Units in 2025 and is expected to reach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395" y="5768022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388505" y="5778245"/>
            <a:ext cx="19645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Units by 2036 end, at a CAGR of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222" y="5768022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477331" y="5778245"/>
            <a:ext cx="31640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 Value is projected to grow faster than volume over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225" y="5953505"/>
            <a:ext cx="393283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forecast period, owing to an increase in average selling price.</a:t>
            </a:r>
          </a:p>
        </p:txBody>
      </p:sp>
      <p:sp>
        <p:nvSpPr>
          <p:cNvPr id="51" name="lockshield_12"/>
          <p:cNvSpPr/>
          <p:nvPr/>
        </p:nvSpPr>
        <p:spPr>
          <a:xfrm>
            <a:off x="238125" y="1266825"/>
            <a:ext cx="4505325" cy="22288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ockshield_15"/>
          <p:cNvSpPr/>
          <p:nvPr/>
        </p:nvSpPr>
        <p:spPr>
          <a:xfrm>
            <a:off x="5086350" y="1266825"/>
            <a:ext cx="6858000" cy="22288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Summary Country Indices (Value)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outlook ranking 2036 market size, growth and absolute-growth indices to highlight the strongest markets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3933825" cy="2445995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CAGR Index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93011"/>
          <a:ext cx="3743325" cy="210309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489764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2400" y="3565964"/>
          <a:ext cx="3927746" cy="21320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0293"/>
                <a:gridCol w="1068161"/>
                <a:gridCol w="1068161"/>
                <a:gridCol w="108113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771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19075" y="5707558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1007261"/>
            <a:ext cx="3933825" cy="4928498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0050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2036 Market By Country (US$ Mn)  ·  Top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0050" y="1293011"/>
            <a:ext cx="2523950" cy="1794080"/>
          </a:xfrm>
          <a:prstGeom prst="rect">
            <a:avLst/>
          </a:prstGeom>
          <a:solidFill>
            <a:srgbClr val="3D85C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U.S.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4000" y="1293011"/>
            <a:ext cx="1219375" cy="1794080"/>
          </a:xfrm>
          <a:prstGeom prst="rect">
            <a:avLst/>
          </a:prstGeom>
          <a:solidFill>
            <a:srgbClr val="9E7E0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Canada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0050" y="3087091"/>
            <a:ext cx="1452626" cy="1407612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0050" y="4494703"/>
            <a:ext cx="1452626" cy="1383906"/>
          </a:xfrm>
          <a:prstGeom prst="rect">
            <a:avLst/>
          </a:prstGeom>
          <a:solidFill>
            <a:srgbClr val="40315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China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2676" y="3087091"/>
            <a:ext cx="1148173" cy="1260029"/>
          </a:xfrm>
          <a:prstGeom prst="rect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Brazil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0849" y="3087091"/>
            <a:ext cx="1142526" cy="1260029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Mexico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2676" y="4347120"/>
            <a:ext cx="1182618" cy="786238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Kingdom of Saudi Arabia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2676" y="5133358"/>
            <a:ext cx="1182618" cy="745251"/>
          </a:xfrm>
          <a:prstGeom prst="rect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Russia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5295" y="4347120"/>
            <a:ext cx="1108080" cy="780138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Japan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5295" y="5127258"/>
            <a:ext cx="1108080" cy="751351"/>
          </a:xfrm>
          <a:prstGeom prst="rect">
            <a:avLst/>
          </a:prstGeom>
          <a:solidFill>
            <a:srgbClr val="6C7A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ASEAN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6725" y="1007261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197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Absolute Index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181975" y="1293011"/>
          <a:ext cx="3743325" cy="209396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8086725" y="3471510"/>
            <a:ext cx="3933825" cy="2464249"/>
          </a:xfrm>
          <a:prstGeom prst="roundRect">
            <a:avLst>
              <a:gd name="adj" fmla="val 309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8096250" y="3547710"/>
          <a:ext cx="3928892" cy="21594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0421"/>
                <a:gridCol w="1088118"/>
                <a:gridCol w="1088118"/>
                <a:gridCol w="110223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Absolute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826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162925" y="5716684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2875" y="6027028"/>
            <a:ext cx="10858500" cy="602372"/>
          </a:xfrm>
          <a:prstGeom prst="roundRect">
            <a:avLst>
              <a:gd name="adj" fmla="val 126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017" y="2125483"/>
            <a:ext cx="183356" cy="266700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6294" y="4499083"/>
            <a:ext cx="351971" cy="511958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399" y="2190051"/>
            <a:ext cx="115252" cy="167639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061" y="2190051"/>
            <a:ext cx="115252" cy="167639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737" y="3790897"/>
            <a:ext cx="115252" cy="167639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737" y="5186656"/>
            <a:ext cx="115252" cy="167639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136" y="3717105"/>
            <a:ext cx="115252" cy="167639"/>
          </a:xfrm>
          <a:prstGeom prst="rect">
            <a:avLst/>
          </a:prstGeom>
        </p:spPr>
      </p:pic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486" y="3717105"/>
            <a:ext cx="115252" cy="167639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359" y="4740239"/>
            <a:ext cx="115252" cy="167639"/>
          </a:xfrm>
          <a:prstGeom prst="rect">
            <a:avLst/>
          </a:prstGeom>
        </p:spPr>
      </p:pic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359" y="5505983"/>
            <a:ext cx="115252" cy="167639"/>
          </a:xfrm>
          <a:prstGeom prst="rect">
            <a:avLst/>
          </a:prstGeom>
        </p:spPr>
      </p:pic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709" y="4737189"/>
            <a:ext cx="115252" cy="167639"/>
          </a:xfrm>
          <a:prstGeom prst="rect">
            <a:avLst/>
          </a:prstGeom>
        </p:spPr>
      </p:pic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709" y="5502933"/>
            <a:ext cx="115252" cy="167639"/>
          </a:xfrm>
          <a:prstGeom prst="rect">
            <a:avLst/>
          </a:prstGeom>
        </p:spPr>
      </p:pic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1867" y="2120920"/>
            <a:ext cx="183356" cy="266700"/>
          </a:xfrm>
          <a:prstGeom prst="rect">
            <a:avLst/>
          </a:prstGeom>
        </p:spPr>
      </p:pic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5439" y="4490163"/>
            <a:ext cx="357960" cy="52066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57175" y="6160574"/>
            <a:ext cx="38350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U.S. residential solar generator market is projected to register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0229" y="6150795"/>
            <a:ext cx="128699" cy="18719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207725" y="6160574"/>
            <a:ext cx="41989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Canada in 2036. India posts the highest CAGR Index (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4747" y="6150795"/>
            <a:ext cx="128699" cy="18719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522243" y="6160574"/>
            <a:ext cx="789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growing at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0274" y="6150795"/>
            <a:ext cx="128699" cy="18719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427770" y="6160574"/>
            <a:ext cx="10800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 global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7175" y="6328214"/>
            <a:ext cx="35801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benchmark, while U.S. offers the largest absolute opportunity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5386" y="6318435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952882" y="6328214"/>
            <a:ext cx="33119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of incremental market between 2026 and 2036 (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880" y="6318435"/>
            <a:ext cx="128699" cy="18719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380376" y="6328214"/>
            <a:ext cx="14835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global increment).</a:t>
            </a:r>
          </a:p>
        </p:txBody>
      </p:sp>
      <p:sp>
        <p:nvSpPr>
          <p:cNvPr id="62" name="lockshield_12"/>
          <p:cNvSpPr/>
          <p:nvPr/>
        </p:nvSpPr>
        <p:spPr>
          <a:xfrm>
            <a:off x="238125" y="1293011"/>
            <a:ext cx="3743325" cy="210309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ockshield_30"/>
          <p:cNvSpPr/>
          <p:nvPr/>
        </p:nvSpPr>
        <p:spPr>
          <a:xfrm>
            <a:off x="8181975" y="1293011"/>
            <a:ext cx="3743325" cy="209396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Summary Country Indices (Value)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outlook ranking 2036 market size, growth and absolute-growth indices to highlight the strongest markets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2400" y="1057275"/>
          <a:ext cx="11887200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7762"/>
                <a:gridCol w="3323146"/>
                <a:gridCol w="3323146"/>
                <a:gridCol w="332314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Hungary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ASEAN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Turkiye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19075" y="25527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2905125"/>
            <a:ext cx="1190625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2400" y="2981325"/>
          <a:ext cx="11887199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52787"/>
                <a:gridCol w="2644804"/>
                <a:gridCol w="2644804"/>
                <a:gridCol w="264480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Absolute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ASEAN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Kingdom of Saudi Arabia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19075" y="4476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190" y="1656588"/>
            <a:ext cx="366712" cy="533400"/>
          </a:xfrm>
          <a:prstGeom prst="rect">
            <a:avLst/>
          </a:prstGeom>
        </p:spPr>
      </p:pic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702" y="3580638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Overview (1/4)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market size, competitive landscape and the drivers, restraints and trends shaping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" y="10668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Market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225" y="13049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1390650"/>
            <a:ext cx="11639550" cy="1200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2800350"/>
            <a:ext cx="119062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28860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Competitive Landscape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1242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209925"/>
            <a:ext cx="11639550" cy="10858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4505325"/>
            <a:ext cx="3943350" cy="2124075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4591050"/>
            <a:ext cx="3676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Drivers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225" y="4829175"/>
            <a:ext cx="3676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225" y="4914900"/>
            <a:ext cx="3676650" cy="1638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8625" y="4505325"/>
            <a:ext cx="3819525" cy="2124075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1975" y="45910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Restraints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1975" y="4829175"/>
            <a:ext cx="35528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1975" y="4914900"/>
            <a:ext cx="3552825" cy="1638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10550" y="4505325"/>
            <a:ext cx="3819525" cy="2124075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3900" y="45910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Trends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43900" y="4829175"/>
            <a:ext cx="35528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3900" y="4914900"/>
            <a:ext cx="3552825" cy="1638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Mix shifting toward 'Portable Modular Solar Generators' and higher-growth tiers.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South Asia &amp; Pacific outpacing the global average.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Demand broadening across 3 type categories.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1400175"/>
            <a:ext cx="38680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residential solar generator market is expected to witness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459" y="1389951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268568" y="1400175"/>
            <a:ext cx="57567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revenue by 2036 end. Global residential solar generator market accounted for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468" y="1389951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149577" y="1400175"/>
            <a:ext cx="129794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 2025, which 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225" y="1575435"/>
            <a:ext cx="17375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increase to US$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897" y="156521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138006" y="1575435"/>
            <a:ext cx="15275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 2036 at a CAGR of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714" y="1565211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789824" y="1575435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225" y="1803273"/>
            <a:ext cx="114478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global residential solar generator market has been analysed on the basis of type, rated energy storage capacity, battery technology and grid connectivity across the globe. North America 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225" y="1978533"/>
            <a:ext cx="92231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remain the largest market for residential solar generator, while demand in South Asia &amp; Pacific is projected to increase at the highest CAGR of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512" y="1968309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623622" y="1978533"/>
            <a:ext cx="19608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throughout the forecast period.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6225" y="3219450"/>
            <a:ext cx="58782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market is consolidated: the leading type category 'Portable Modular Solar Generators' holds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43" y="3209226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278752" y="3219450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6225" y="3447287"/>
            <a:ext cx="44086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spans 7 regions and 6 segmentation lenses (3 type categories).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3675125"/>
            <a:ext cx="29509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North America is the largest regional market at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367" y="3664902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351477" y="3675125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225" y="4924425"/>
            <a:ext cx="36576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Accelerating uptake of 'Portable Modular Solar Generators'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5099685"/>
            <a:ext cx="12041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93" y="5089461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20902" y="5099685"/>
            <a:ext cx="4909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225" y="5327522"/>
            <a:ext cx="28770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Fast-growing demand in South Asia &amp; Pacific (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424" y="5317299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277533" y="5327522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6225" y="5555360"/>
            <a:ext cx="35223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Momentum in Primary Off-Grid Household Power within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6225" y="5730620"/>
            <a:ext cx="13107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primary application (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157" y="5720397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711267" y="573062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1975" y="4924425"/>
            <a:ext cx="300518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Slower momentum in 'Portable Integrated Solar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1975" y="5099685"/>
            <a:ext cx="85522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Generators' (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357" y="5089461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351466" y="5099685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1975" y="5327522"/>
            <a:ext cx="32641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Maturing demand in established categories caps the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1975" y="5502782"/>
            <a:ext cx="562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blended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401" y="5492559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058510" y="5502782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71975" y="5730620"/>
            <a:ext cx="29529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Value concentration in 'Portable Modular Solar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71975" y="5905880"/>
            <a:ext cx="27136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Generators' raises barriers for new entrants.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Supply Side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recent developments, investments and R&amp;D activity shaping the supply side of the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173355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Recent Developments &amp; Key Industry Activities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1390650"/>
            <a:ext cx="5610225" cy="12477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Capacity and product development are concentrating in 'Portable Modular Solar Generators' and South Asia &amp; Pacific.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Portfolio expansion tracks the shift toward higher-growth type categories.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Commercial focus is intensifying across North America and South Asia &amp; Pacific.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981075"/>
            <a:ext cx="5876925" cy="173355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5550" y="1390650"/>
            <a:ext cx="5610225" cy="12477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2847975"/>
            <a:ext cx="587692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29337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Strategic Acquisitions &amp; New Investments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225" y="31718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225" y="3257550"/>
            <a:ext cx="5610225" cy="9429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847975"/>
            <a:ext cx="587692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5550" y="29337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Substantial Investment in R&amp;D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5550" y="31718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5550" y="3257550"/>
            <a:ext cx="5610225" cy="9429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2875" y="4410075"/>
            <a:ext cx="119062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" y="4467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structure type share (2036)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238125" y="4695825"/>
          <a:ext cx="11715750" cy="18669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892075" y="5514975"/>
            <a:ext cx="89312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964" y="5349744"/>
            <a:ext cx="366052" cy="5324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5550" y="1400175"/>
            <a:ext cx="6841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2026 size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714" y="1390396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05210" y="1400175"/>
            <a:ext cx="8783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Mn; 2036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645" y="1390396"/>
            <a:ext cx="128699" cy="1871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099141" y="1400175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5550" y="1618107"/>
            <a:ext cx="991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Forecast CAGR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444" y="1608328"/>
            <a:ext cx="128699" cy="18719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12940" y="1618107"/>
            <a:ext cx="8330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(2026–2036).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5550" y="1836039"/>
            <a:ext cx="30374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category 'Portable Modular Solar Generators'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1059" y="1826260"/>
            <a:ext cx="128699" cy="18719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458555" y="1836039"/>
            <a:ext cx="5430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5550" y="2053970"/>
            <a:ext cx="16862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region North America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898" y="2044192"/>
            <a:ext cx="128699" cy="1871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07394" y="2053970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5550" y="2271903"/>
            <a:ext cx="15547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Incremental opportunity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384" y="2262124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975880" y="2271903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3267075"/>
            <a:ext cx="53389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Investment is flowing toward the fastest-growing tier 'Portable Modular Solar Generators' (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3237" y="3257296"/>
            <a:ext cx="128699" cy="18719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730733" y="3267075"/>
            <a:ext cx="13666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225" y="3485007"/>
            <a:ext cx="13517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South Asia &amp; Pacific (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057" y="3475228"/>
            <a:ext cx="128699" cy="18719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743553" y="3485007"/>
            <a:ext cx="21875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 is a priority region for new capacity.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6225" y="3702939"/>
            <a:ext cx="39176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Scale players anchor around 'Portable Modular Solar Generators' (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1953" y="3693160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309449" y="3702939"/>
            <a:ext cx="4669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5550" y="3267075"/>
            <a:ext cx="54167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R&amp;D aligns with the migration to 'Portable Modular Solar Generators' and adjacent premium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5550" y="3434715"/>
            <a:ext cx="3635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tiers.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5550" y="3652647"/>
            <a:ext cx="39258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Development spend targets type categories gaining share to 2036.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5550" y="3870579"/>
            <a:ext cx="15943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Innovation underpins the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947" y="3860800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015443" y="3870579"/>
            <a:ext cx="9244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CAGR.</a:t>
            </a:r>
          </a:p>
        </p:txBody>
      </p:sp>
      <p:sp>
        <p:nvSpPr>
          <p:cNvPr id="64" name="lockshield_28"/>
          <p:cNvSpPr/>
          <p:nvPr/>
        </p:nvSpPr>
        <p:spPr>
          <a:xfrm>
            <a:off x="238125" y="4695825"/>
            <a:ext cx="11715750" cy="18669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Analysis and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the market approach, differentiating strategy and FMI's analysis and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Overall Market 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1390650"/>
            <a:ext cx="5610225" cy="1200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981075"/>
            <a:ext cx="5876925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Differentiating Strategy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5550" y="1390650"/>
            <a:ext cx="5610225" cy="1200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Differentiate through the high-growth 'Portable Modular Solar Generators' tier and Primary Off-Grid Household Power within primary application.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2800350"/>
            <a:ext cx="5876925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288607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Market Segment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225" y="3124200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225" y="3209925"/>
            <a:ext cx="5610225" cy="1200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800350"/>
            <a:ext cx="5876925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5550" y="288607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Market Region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5550" y="3124200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5550" y="3209925"/>
            <a:ext cx="5610225" cy="1200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2875" y="4619625"/>
            <a:ext cx="11906250" cy="200025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225" y="47053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Fact.MR Analysis &amp; Recommendation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6225" y="49434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225" y="5029200"/>
            <a:ext cx="11639550" cy="15144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1400175"/>
            <a:ext cx="52926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Balance scale in 'Portable Modular Solar Generators' with targeted growth in 'Portable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1575435"/>
            <a:ext cx="24714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Modular Solar Generators', pursuing the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855" y="1565211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71965" y="1575435"/>
            <a:ext cx="15518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trajectory to 2036.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225" y="3219450"/>
            <a:ext cx="29535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Prioritise 'Portable Modular Solar Generators' (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935" y="3209226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354044" y="3219450"/>
            <a:ext cx="23402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'Portable Modular Solar Generators'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225" y="3394710"/>
            <a:ext cx="5465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anchors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62" y="3384486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47071" y="3394710"/>
            <a:ext cx="5865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value.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5550" y="3219450"/>
            <a:ext cx="17206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 with North America (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392" y="3209226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50501" y="3219450"/>
            <a:ext cx="25028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capture upside in South Asia &amp; Pacific (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2510" y="3209226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777620" y="321945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5038725"/>
            <a:ext cx="21069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Residential Solar Generator adds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301" y="5028501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07410" y="5038725"/>
            <a:ext cx="18151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of demand to 2036 a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672" y="5028501"/>
            <a:ext cx="134549" cy="1957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446781" y="5038725"/>
            <a:ext cx="8227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× expansion.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6225" y="5266563"/>
            <a:ext cx="6265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Concentrate resources on the leading segment/region while seeding the fastest-growing pockets early.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225" y="5494400"/>
            <a:ext cx="54449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Defend share in 'Portable Modular Solar Generators' as the value anchor of the portfolio.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Scenario Outlook (4/4)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Scenario outlook comparing optimistic, likely and conservative outcomes for 2036 and the CAGR behind 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3943350" cy="69532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8625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0550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18669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Residential Solar Generator Market Value (US$ Mn) Scenario Forecast, 2025 &amp; 2036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8125" y="4305300"/>
            <a:ext cx="568642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06342" y="3474956"/>
            <a:ext cx="635826" cy="830344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3936" y="3068660"/>
            <a:ext cx="635826" cy="123664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5725" y="2897512"/>
            <a:ext cx="635826" cy="14077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07515" y="2705100"/>
            <a:ext cx="635826" cy="16002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456468" y="2935310"/>
            <a:ext cx="1568418" cy="0"/>
          </a:xfrm>
          <a:prstGeom prst="line">
            <a:avLst/>
          </a:prstGeom>
          <a:ln w="15875">
            <a:solidFill>
              <a:srgbClr val="92D05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570768" y="2830535"/>
            <a:ext cx="1358868" cy="209550"/>
          </a:xfrm>
          <a:prstGeom prst="round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56468" y="2678135"/>
            <a:ext cx="2550207" cy="0"/>
          </a:xfrm>
          <a:prstGeom prst="line">
            <a:avLst/>
          </a:prstGeom>
          <a:ln w="15875">
            <a:solidFill>
              <a:srgbClr val="0078D4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570768" y="2573360"/>
            <a:ext cx="1358868" cy="20955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56468" y="2420960"/>
            <a:ext cx="3531997" cy="0"/>
          </a:xfrm>
          <a:prstGeom prst="line">
            <a:avLst/>
          </a:prstGeom>
          <a:ln w="15875">
            <a:solidFill>
              <a:srgbClr val="80808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570768" y="2316185"/>
            <a:ext cx="1358868" cy="209550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255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2638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2036</a:t>
            </a:r>
          </a:p>
        </p:txBody>
      </p:sp>
      <p:sp>
        <p:nvSpPr>
          <p:cNvPr id="28" name="Oval 27"/>
          <p:cNvSpPr/>
          <p:nvPr/>
        </p:nvSpPr>
        <p:spPr>
          <a:xfrm>
            <a:off x="304800" y="4572000"/>
            <a:ext cx="133350" cy="133350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77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Conservative Scenario</a:t>
            </a:r>
          </a:p>
        </p:txBody>
      </p:sp>
      <p:sp>
        <p:nvSpPr>
          <p:cNvPr id="30" name="Oval 29"/>
          <p:cNvSpPr/>
          <p:nvPr/>
        </p:nvSpPr>
        <p:spPr>
          <a:xfrm>
            <a:off x="2200275" y="4572000"/>
            <a:ext cx="133350" cy="13335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0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Likely Scenario</a:t>
            </a:r>
          </a:p>
        </p:txBody>
      </p:sp>
      <p:sp>
        <p:nvSpPr>
          <p:cNvPr id="32" name="Oval 31"/>
          <p:cNvSpPr/>
          <p:nvPr/>
        </p:nvSpPr>
        <p:spPr>
          <a:xfrm>
            <a:off x="4095750" y="4572000"/>
            <a:ext cx="133350" cy="13335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672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Optimistic Scenario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7450" y="18669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Residential Solar Generator Market Attractiveness Analysis By Region, 2026–2036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267450" y="2266950"/>
          <a:ext cx="5686425" cy="24955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142875" y="4953000"/>
            <a:ext cx="119062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6225" y="50387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Scenario Assumptions &amp; Outlook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6225" y="527685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225" y="5362575"/>
            <a:ext cx="11639550" cy="1190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969" y="1214437"/>
            <a:ext cx="157162" cy="228600"/>
          </a:xfrm>
          <a:prstGeom prst="rect">
            <a:avLst/>
          </a:prstGeom>
        </p:spPr>
      </p:pic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806" y="1214437"/>
            <a:ext cx="157162" cy="228600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1731" y="1214437"/>
            <a:ext cx="157162" cy="228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637332" y="1028326"/>
            <a:ext cx="1030634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OPTIMISTIC (2036)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6321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575" y="1473019"/>
            <a:ext cx="113255" cy="1647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807156" y="1028326"/>
            <a:ext cx="75866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LIKELY (2036)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0158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12" y="1473019"/>
            <a:ext cx="113255" cy="16473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548094" y="1028326"/>
            <a:ext cx="1220636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CONSERVATIVE (2036)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12083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337" y="1473019"/>
            <a:ext cx="113255" cy="16473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032418" y="2864901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856686"/>
            <a:ext cx="108107" cy="15724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032418" y="2607726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599511"/>
            <a:ext cx="108107" cy="15724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032418" y="2350551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342336"/>
            <a:ext cx="108107" cy="15724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76225" y="5372100"/>
            <a:ext cx="8081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Optimistic: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40" y="5361876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208649" y="5372100"/>
            <a:ext cx="12038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by 2036 at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612" y="5361876"/>
            <a:ext cx="134549" cy="19570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36721" y="5372100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6225" y="5599938"/>
            <a:ext cx="14482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Likely (base forecast):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650" y="5589714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848759" y="5599938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966" y="5589714"/>
            <a:ext cx="134549" cy="19570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671076" y="5599938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6225" y="5827775"/>
            <a:ext cx="9696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Conservative: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994" y="5817552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370103" y="5827775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310" y="5817552"/>
            <a:ext cx="134549" cy="19570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192420" y="58277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6225" y="6055613"/>
            <a:ext cx="36601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Scenarios flex the base forecast's year-on-year growth by ±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509" y="6045390"/>
            <a:ext cx="134549" cy="19570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060618" y="6055613"/>
            <a:ext cx="1900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across the 2026–2036 horizon.</a:t>
            </a:r>
          </a:p>
        </p:txBody>
      </p:sp>
      <p:sp>
        <p:nvSpPr>
          <p:cNvPr id="78" name="lockshield_36"/>
          <p:cNvSpPr/>
          <p:nvPr/>
        </p:nvSpPr>
        <p:spPr>
          <a:xfrm>
            <a:off x="6267450" y="2266950"/>
            <a:ext cx="5686425" cy="2495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6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Global Market Analysis By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Residential Solar Generator – Regional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Analysis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Share Analysis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Share Analysis By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– Regional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analysis of size, growth and share across 7 regions, highlighting where value concentrates,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By Region view breaks the Global market down geographically. Each region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1330779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North America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2370364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1979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1979" y="1992961"/>
            <a:ext cx="1330779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0079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 Asia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1979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3311979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3311979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3815443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7057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7057" y="1992961"/>
            <a:ext cx="1330779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5157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7057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4757057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757057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5260521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2136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2136" y="1992961"/>
            <a:ext cx="1330779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0236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Latin America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02136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6202136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6202136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6705600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47214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47214" y="1992961"/>
            <a:ext cx="1330779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5314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Middle East &amp; Africa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47214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7647214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7647214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8150679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92293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92293" y="1992961"/>
            <a:ext cx="1330779" cy="21904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30393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Eastern Europe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92293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9092293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9092293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/>
            </a:r>
          </a:p>
        </p:txBody>
      </p:sp>
      <p:sp>
        <p:nvSpPr>
          <p:cNvPr id="60" name="Oval 59"/>
          <p:cNvSpPr/>
          <p:nvPr/>
        </p:nvSpPr>
        <p:spPr>
          <a:xfrm>
            <a:off x="9595757" y="1445350"/>
            <a:ext cx="323850" cy="310313"/>
          </a:xfrm>
          <a:prstGeom prst="ellipse">
            <a:avLst/>
          </a:prstGeom>
          <a:solidFill>
            <a:srgbClr val="A35313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37371" y="1773916"/>
            <a:ext cx="1330779" cy="438089"/>
          </a:xfrm>
          <a:prstGeom prst="roundRect">
            <a:avLst>
              <a:gd name="adj" fmla="val 18000"/>
            </a:avLst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537371" y="1992961"/>
            <a:ext cx="1330779" cy="219044"/>
          </a:xfrm>
          <a:prstGeom prst="rect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75471" y="1773916"/>
            <a:ext cx="1254579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Western Europe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37371" y="22302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10537371" y="2723109"/>
            <a:ext cx="1330779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10537371" y="3215959"/>
            <a:ext cx="1330779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67" name="Oval 66"/>
          <p:cNvSpPr/>
          <p:nvPr/>
        </p:nvSpPr>
        <p:spPr>
          <a:xfrm>
            <a:off x="11040836" y="1445350"/>
            <a:ext cx="323850" cy="310313"/>
          </a:xfrm>
          <a:prstGeom prst="ellipse">
            <a:avLst/>
          </a:prstGeom>
          <a:solidFill>
            <a:srgbClr val="6C7A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Region Insights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35313"/>
                </a:solidFill>
                <a:latin typeface="Calibri"/>
              </a:rPr>
              <a:t/>
            </a:r>
            <a:r>
              <a:rPr sz="1100" b="1">
                <a:solidFill>
                  <a:srgbClr val="A35313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Region Overview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By Region split shows where market value concentrates and where growth is fastest.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demand and access dynamics are rebalancing the geographic mix through 2036.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84" name="Picture 83" descr="4_317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425" y="2286582"/>
            <a:ext cx="1195728" cy="361950"/>
          </a:xfrm>
          <a:prstGeom prst="rect">
            <a:avLst/>
          </a:prstGeom>
        </p:spPr>
      </p:pic>
      <p:pic>
        <p:nvPicPr>
          <p:cNvPr id="85" name="Picture 84" descr="6_529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425" y="2779432"/>
            <a:ext cx="1195728" cy="361950"/>
          </a:xfrm>
          <a:prstGeom prst="rect">
            <a:avLst/>
          </a:prstGeom>
        </p:spPr>
      </p:pic>
      <p:pic>
        <p:nvPicPr>
          <p:cNvPr id="86" name="Picture 85" descr="4_2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1071" y="3272281"/>
            <a:ext cx="982436" cy="361950"/>
          </a:xfrm>
          <a:prstGeom prst="rect">
            <a:avLst/>
          </a:prstGeom>
        </p:spPr>
      </p:pic>
      <p:pic>
        <p:nvPicPr>
          <p:cNvPr id="87" name="Picture 86" descr="1_700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9504" y="2286582"/>
            <a:ext cx="1195728" cy="361950"/>
          </a:xfrm>
          <a:prstGeom prst="rect">
            <a:avLst/>
          </a:prstGeom>
        </p:spPr>
      </p:pic>
      <p:pic>
        <p:nvPicPr>
          <p:cNvPr id="88" name="Picture 87" descr="2_716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9504" y="2779432"/>
            <a:ext cx="1195728" cy="361950"/>
          </a:xfrm>
          <a:prstGeom prst="rect">
            <a:avLst/>
          </a:prstGeom>
        </p:spPr>
      </p:pic>
      <p:pic>
        <p:nvPicPr>
          <p:cNvPr id="89" name="Picture 88" descr="4_8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6150" y="3272281"/>
            <a:ext cx="982436" cy="361950"/>
          </a:xfrm>
          <a:prstGeom prst="rect">
            <a:avLst/>
          </a:prstGeom>
        </p:spPr>
      </p:pic>
      <p:pic>
        <p:nvPicPr>
          <p:cNvPr id="90" name="Picture 89" descr="1_570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4582" y="2286582"/>
            <a:ext cx="1195728" cy="361950"/>
          </a:xfrm>
          <a:prstGeom prst="rect">
            <a:avLst/>
          </a:prstGeom>
        </p:spPr>
      </p:pic>
      <p:pic>
        <p:nvPicPr>
          <p:cNvPr id="91" name="Picture 90" descr="2_821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4582" y="2779432"/>
            <a:ext cx="1195728" cy="361950"/>
          </a:xfrm>
          <a:prstGeom prst="rect">
            <a:avLst/>
          </a:prstGeom>
        </p:spPr>
      </p:pic>
      <p:pic>
        <p:nvPicPr>
          <p:cNvPr id="92" name="Picture 91" descr="6_0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1228" y="3272281"/>
            <a:ext cx="982436" cy="361950"/>
          </a:xfrm>
          <a:prstGeom prst="rect">
            <a:avLst/>
          </a:prstGeom>
        </p:spPr>
      </p:pic>
      <p:pic>
        <p:nvPicPr>
          <p:cNvPr id="93" name="Picture 92" descr="1_046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9661" y="2286582"/>
            <a:ext cx="1195728" cy="361950"/>
          </a:xfrm>
          <a:prstGeom prst="rect">
            <a:avLst/>
          </a:prstGeom>
        </p:spPr>
      </p:pic>
      <p:pic>
        <p:nvPicPr>
          <p:cNvPr id="94" name="Picture 93" descr="1_854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9661" y="2779432"/>
            <a:ext cx="1195728" cy="361950"/>
          </a:xfrm>
          <a:prstGeom prst="rect">
            <a:avLst/>
          </a:prstGeom>
        </p:spPr>
      </p:pic>
      <p:pic>
        <p:nvPicPr>
          <p:cNvPr id="95" name="Picture 94" descr="5_9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6307" y="3272281"/>
            <a:ext cx="982436" cy="361950"/>
          </a:xfrm>
          <a:prstGeom prst="rect">
            <a:avLst/>
          </a:prstGeom>
        </p:spPr>
      </p:pic>
      <p:pic>
        <p:nvPicPr>
          <p:cNvPr id="96" name="Picture 95" descr="915_6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4739" y="2286582"/>
            <a:ext cx="1195728" cy="361950"/>
          </a:xfrm>
          <a:prstGeom prst="rect">
            <a:avLst/>
          </a:prstGeom>
        </p:spPr>
      </p:pic>
      <p:pic>
        <p:nvPicPr>
          <p:cNvPr id="97" name="Picture 96" descr="1_480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4739" y="2779432"/>
            <a:ext cx="1195728" cy="361950"/>
          </a:xfrm>
          <a:prstGeom prst="rect">
            <a:avLst/>
          </a:prstGeom>
        </p:spPr>
      </p:pic>
      <p:pic>
        <p:nvPicPr>
          <p:cNvPr id="98" name="Picture 97" descr="4_9__605E5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21385" y="3272281"/>
            <a:ext cx="982436" cy="361950"/>
          </a:xfrm>
          <a:prstGeom prst="rect">
            <a:avLst/>
          </a:prstGeom>
        </p:spPr>
      </p:pic>
      <p:pic>
        <p:nvPicPr>
          <p:cNvPr id="99" name="Picture 98" descr="803_7_605E5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59818" y="2286582"/>
            <a:ext cx="1195728" cy="361950"/>
          </a:xfrm>
          <a:prstGeom prst="rect">
            <a:avLst/>
          </a:prstGeom>
        </p:spPr>
      </p:pic>
      <p:pic>
        <p:nvPicPr>
          <p:cNvPr id="100" name="Picture 99" descr="1_400_605E5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59818" y="2779432"/>
            <a:ext cx="1195728" cy="361950"/>
          </a:xfrm>
          <a:prstGeom prst="rect">
            <a:avLst/>
          </a:prstGeom>
        </p:spPr>
      </p:pic>
      <p:pic>
        <p:nvPicPr>
          <p:cNvPr id="101" name="Picture 100" descr="5_7__605E5C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66464" y="3272281"/>
            <a:ext cx="982436" cy="361950"/>
          </a:xfrm>
          <a:prstGeom prst="rect">
            <a:avLst/>
          </a:prstGeom>
        </p:spPr>
      </p:pic>
      <p:pic>
        <p:nvPicPr>
          <p:cNvPr id="102" name="Picture 101" descr="547_7_605E5C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04896" y="2286582"/>
            <a:ext cx="1195728" cy="361950"/>
          </a:xfrm>
          <a:prstGeom prst="rect">
            <a:avLst/>
          </a:prstGeom>
        </p:spPr>
      </p:pic>
      <p:pic>
        <p:nvPicPr>
          <p:cNvPr id="103" name="Picture 102" descr="943_6_605E5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04896" y="2779432"/>
            <a:ext cx="1195728" cy="361950"/>
          </a:xfrm>
          <a:prstGeom prst="rect">
            <a:avLst/>
          </a:prstGeom>
        </p:spPr>
      </p:pic>
      <p:pic>
        <p:nvPicPr>
          <p:cNvPr id="104" name="Picture 103" descr="5_6__605E5C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1542" y="3272281"/>
            <a:ext cx="982436" cy="361950"/>
          </a:xfrm>
          <a:prstGeom prst="rect">
            <a:avLst/>
          </a:prstGeom>
        </p:spPr>
      </p:pic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38944" y="2827057"/>
            <a:ext cx="183356" cy="266700"/>
          </a:xfrm>
          <a:prstGeom prst="rect">
            <a:avLst/>
          </a:prstGeom>
        </p:spPr>
      </p:pic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84023" y="2827057"/>
            <a:ext cx="183356" cy="266700"/>
          </a:xfrm>
          <a:prstGeom prst="rect">
            <a:avLst/>
          </a:prstGeom>
        </p:spPr>
      </p:pic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29101" y="2827057"/>
            <a:ext cx="183356" cy="266700"/>
          </a:xfrm>
          <a:prstGeom prst="rect">
            <a:avLst/>
          </a:prstGeom>
        </p:spPr>
      </p:pic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74180" y="2827057"/>
            <a:ext cx="183356" cy="266700"/>
          </a:xfrm>
          <a:prstGeom prst="rect">
            <a:avLst/>
          </a:prstGeom>
        </p:spPr>
      </p:pic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19258" y="2827057"/>
            <a:ext cx="183356" cy="266700"/>
          </a:xfrm>
          <a:prstGeom prst="rect">
            <a:avLst/>
          </a:prstGeom>
        </p:spPr>
      </p:pic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64337" y="2827057"/>
            <a:ext cx="183356" cy="266700"/>
          </a:xfrm>
          <a:prstGeom prst="rect">
            <a:avLst/>
          </a:prstGeom>
        </p:spPr>
      </p:pic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09415" y="2827057"/>
            <a:ext cx="183356" cy="26670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485775" y="4229437"/>
            <a:ext cx="288329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North America residential solar generator market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5775" y="4397077"/>
            <a:ext cx="13629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is projected to register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96794" y="4387298"/>
            <a:ext cx="128699" cy="18719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964290" y="4397077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5775" y="4564717"/>
            <a:ext cx="27528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South Asia &amp; Pacific in 2036. Among residential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5775" y="4732357"/>
            <a:ext cx="28164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solar generator by region, South Asia &amp; Pacific is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5775" y="4899997"/>
            <a:ext cx="2381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15059" y="4890217"/>
            <a:ext cx="128699" cy="18719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2982555" y="4899997"/>
            <a:ext cx="331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5775" y="5067637"/>
            <a:ext cx="119789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5775" y="528556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terms of value share by region, North America is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5775" y="5453209"/>
            <a:ext cx="23888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losing</a:t>
            </a:r>
          </a:p>
        </p:txBody>
      </p:sp>
      <p:pic>
        <p:nvPicPr>
          <p:cNvPr id="124" name="Picture 12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22716" y="5443430"/>
            <a:ext cx="128699" cy="187198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2990212" y="5453209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5775" y="5620849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76057" y="5611070"/>
            <a:ext cx="128699" cy="18719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1743553" y="5620849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38575" y="4229437"/>
            <a:ext cx="10633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North America:</a:t>
            </a:r>
          </a:p>
        </p:txBody>
      </p:sp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50003" y="4219658"/>
            <a:ext cx="128699" cy="187198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5017499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76949" y="4219658"/>
            <a:ext cx="128699" cy="18719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6044445" y="4229437"/>
            <a:ext cx="1419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market.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38575" y="4447369"/>
            <a:ext cx="7321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East Asia:</a:t>
            </a:r>
          </a:p>
        </p:txBody>
      </p:sp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18727" y="4437590"/>
            <a:ext cx="128699" cy="187198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4686223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7" name="Picture 13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45673" y="4437590"/>
            <a:ext cx="128699" cy="187198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5713169" y="444736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38575" y="4665301"/>
            <a:ext cx="13501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South Asia &amp; Pacific:</a:t>
            </a:r>
          </a:p>
        </p:txBody>
      </p:sp>
      <p:pic>
        <p:nvPicPr>
          <p:cNvPr id="140" name="Picture 139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36770" y="4655522"/>
            <a:ext cx="128699" cy="187198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5304266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2" name="Picture 14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63716" y="4655522"/>
            <a:ext cx="128699" cy="18719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6331212" y="4665301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38575" y="4883233"/>
            <a:ext cx="10082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Latin America:</a:t>
            </a:r>
          </a:p>
        </p:txBody>
      </p:sp>
      <p:pic>
        <p:nvPicPr>
          <p:cNvPr id="145" name="Picture 144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94887" y="4873454"/>
            <a:ext cx="128699" cy="187198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4962383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21833" y="4873454"/>
            <a:ext cx="128699" cy="187198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5989329" y="4883233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838575" y="5101165"/>
            <a:ext cx="13869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Middle East &amp; Africa:</a:t>
            </a:r>
          </a:p>
        </p:txBody>
      </p:sp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73571" y="5091385"/>
            <a:ext cx="128699" cy="187198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5341067" y="5101165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00517" y="5091385"/>
            <a:ext cx="128699" cy="18719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6368013" y="5101165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838575" y="5319097"/>
            <a:ext cx="10966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Eastern Europe:</a:t>
            </a:r>
          </a:p>
        </p:txBody>
      </p:sp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83257" y="5309317"/>
            <a:ext cx="128699" cy="187198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5050753" y="531909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10203" y="5309317"/>
            <a:ext cx="128699" cy="18719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6077699" y="5319097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838575" y="5537029"/>
            <a:ext cx="11556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Western Europe:</a:t>
            </a:r>
          </a:p>
        </p:txBody>
      </p:sp>
      <p:pic>
        <p:nvPicPr>
          <p:cNvPr id="160" name="Picture 159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42227" y="5527249"/>
            <a:ext cx="128699" cy="187198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5109723" y="553702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62" name="Picture 161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69173" y="5527249"/>
            <a:ext cx="128699" cy="187198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6136669" y="553702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524875" y="5842641"/>
            <a:ext cx="30816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Global market is projected to grow at a CAGR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524875" y="6017901"/>
            <a:ext cx="2008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of</a:t>
            </a:r>
          </a:p>
        </p:txBody>
      </p:sp>
      <p:pic>
        <p:nvPicPr>
          <p:cNvPr id="166" name="Picture 165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74884" y="6007677"/>
            <a:ext cx="134549" cy="195707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8849994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Analysis, By Region Volume (Units)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share by region in 2026 and 2036, highlighting share gains and losses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Region, 2026 &amp; 2036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(2026→2036)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551045" y="1530164"/>
            <a:ext cx="85725" cy="85725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4712970" y="1525402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4855845" y="1449202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305550" y="151111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551045" y="1721842"/>
            <a:ext cx="85725" cy="8572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4712970" y="1717080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4855845" y="1640880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305550" y="170279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551045" y="2004726"/>
            <a:ext cx="85725" cy="85725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4712970" y="1999964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4855845" y="1923764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305550" y="198567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551045" y="2348887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4712970" y="234412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4855845" y="226792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305550" y="2329837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1" name="FMI Legend Chip"/>
          <p:cNvSpPr/>
          <p:nvPr/>
        </p:nvSpPr>
        <p:spPr>
          <a:xfrm>
            <a:off x="4551045" y="2932358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4712970" y="292759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PS Name 5"/>
          <p:cNvSpPr txBox="1"/>
          <p:nvPr/>
        </p:nvSpPr>
        <p:spPr>
          <a:xfrm>
            <a:off x="4855845" y="285139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34" name="BPS Value 5"/>
          <p:cNvSpPr txBox="1"/>
          <p:nvPr/>
        </p:nvSpPr>
        <p:spPr>
          <a:xfrm>
            <a:off x="6305550" y="291330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5" name="FMI Legend Chip"/>
          <p:cNvSpPr/>
          <p:nvPr/>
        </p:nvSpPr>
        <p:spPr>
          <a:xfrm>
            <a:off x="4551045" y="3762153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4712970" y="3757390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PS Name 6"/>
          <p:cNvSpPr txBox="1"/>
          <p:nvPr/>
        </p:nvSpPr>
        <p:spPr>
          <a:xfrm>
            <a:off x="4855845" y="3681190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38" name="BPS Value 6"/>
          <p:cNvSpPr txBox="1"/>
          <p:nvPr/>
        </p:nvSpPr>
        <p:spPr>
          <a:xfrm>
            <a:off x="6305550" y="374310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9" name="FMI Legend Chip"/>
          <p:cNvSpPr/>
          <p:nvPr/>
        </p:nvSpPr>
        <p:spPr>
          <a:xfrm>
            <a:off x="4551045" y="4661284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4712970" y="465652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PS Name 7"/>
          <p:cNvSpPr txBox="1"/>
          <p:nvPr/>
        </p:nvSpPr>
        <p:spPr>
          <a:xfrm>
            <a:off x="4855845" y="458032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42" name="BPS Value 7"/>
          <p:cNvSpPr txBox="1"/>
          <p:nvPr/>
        </p:nvSpPr>
        <p:spPr>
          <a:xfrm>
            <a:off x="6305550" y="464223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Regional Highlights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(UNITS)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(UNITS)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863" y="3121818"/>
            <a:ext cx="343793" cy="500062"/>
          </a:xfrm>
          <a:prstGeom prst="rect">
            <a:avLst/>
          </a:prstGeom>
        </p:spPr>
      </p:pic>
      <p:pic>
        <p:nvPicPr>
          <p:cNvPr id="52" name="Picture 51" descr="2_658_537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10" y="5897562"/>
            <a:ext cx="2740473" cy="482599"/>
          </a:xfrm>
          <a:prstGeom prst="rect">
            <a:avLst/>
          </a:prstGeom>
        </p:spPr>
      </p:pic>
      <p:pic>
        <p:nvPicPr>
          <p:cNvPr id="53" name="Picture 52" descr="4_149_656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8148" y="5897562"/>
            <a:ext cx="2740473" cy="482599"/>
          </a:xfrm>
          <a:prstGeom prst="rect">
            <a:avLst/>
          </a:prstGeom>
        </p:spPr>
      </p:pic>
      <p:pic>
        <p:nvPicPr>
          <p:cNvPr id="54" name="Picture 53" descr="4_6_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5355" y="5897562"/>
            <a:ext cx="1309912" cy="482599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657" y="5893409"/>
            <a:ext cx="337498" cy="49090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239000" y="1400175"/>
            <a:ext cx="46482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South Asia &amp; Pacific residential solar generator market is projected to register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920" y="1565211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400029" y="1575435"/>
            <a:ext cx="41995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volume than North America in 2036. Among residential solar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39000" y="1750695"/>
            <a:ext cx="45407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generator by region, South Asia &amp; Pacific is expected to witness the highest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9000" y="1925955"/>
            <a:ext cx="5645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of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690" y="1915731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927800" y="192595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9000" y="2153793"/>
            <a:ext cx="42526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region, South Asia &amp; Pacific is expected 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39000" y="2329053"/>
            <a:ext cx="1837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dominate the market, gaining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226" y="2318829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200335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5478" y="2318829"/>
            <a:ext cx="134549" cy="19570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770588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39000" y="2504313"/>
            <a:ext cx="20835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is expected to lose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685" y="2494089"/>
            <a:ext cx="134549" cy="195707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446794" y="2504313"/>
            <a:ext cx="19263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39000" y="2679573"/>
            <a:ext cx="75510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account for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3258" y="2669349"/>
            <a:ext cx="134549" cy="19570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118367" y="267957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75" name="lockshield_12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Analysis, By Region Value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value share by region in 2026 and 2036, highlighting share gains and losses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Region, 2026 &amp; 2036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(2026→2036)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551045" y="1559593"/>
            <a:ext cx="85725" cy="85725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4712970" y="155483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4855845" y="1478630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305550" y="154054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551045" y="1801796"/>
            <a:ext cx="85725" cy="8572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4712970" y="1797033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4855845" y="1720833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305550" y="178274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551045" y="2099422"/>
            <a:ext cx="85725" cy="85725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4712970" y="209465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4855845" y="201845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305550" y="208037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551045" y="2443960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4712970" y="243919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4855845" y="2362997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305550" y="242491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1" name="FMI Legend Chip"/>
          <p:cNvSpPr/>
          <p:nvPr/>
        </p:nvSpPr>
        <p:spPr>
          <a:xfrm>
            <a:off x="4551045" y="2916244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4712970" y="291148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PS Name 5"/>
          <p:cNvSpPr txBox="1"/>
          <p:nvPr/>
        </p:nvSpPr>
        <p:spPr>
          <a:xfrm>
            <a:off x="4855845" y="283528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34" name="BPS Value 5"/>
          <p:cNvSpPr txBox="1"/>
          <p:nvPr/>
        </p:nvSpPr>
        <p:spPr>
          <a:xfrm>
            <a:off x="6305550" y="289719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5" name="FMI Legend Chip"/>
          <p:cNvSpPr/>
          <p:nvPr/>
        </p:nvSpPr>
        <p:spPr>
          <a:xfrm>
            <a:off x="4551045" y="3488444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4712970" y="3483682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PS Name 6"/>
          <p:cNvSpPr txBox="1"/>
          <p:nvPr/>
        </p:nvSpPr>
        <p:spPr>
          <a:xfrm>
            <a:off x="4855845" y="3407482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8" name="BPS Value 6"/>
          <p:cNvSpPr txBox="1"/>
          <p:nvPr/>
        </p:nvSpPr>
        <p:spPr>
          <a:xfrm>
            <a:off x="6305550" y="346939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9" name="FMI Legend Chip"/>
          <p:cNvSpPr/>
          <p:nvPr/>
        </p:nvSpPr>
        <p:spPr>
          <a:xfrm>
            <a:off x="4551045" y="4454591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10800000">
            <a:off x="4712970" y="444982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PS Name 7"/>
          <p:cNvSpPr txBox="1"/>
          <p:nvPr/>
        </p:nvSpPr>
        <p:spPr>
          <a:xfrm>
            <a:off x="4855845" y="437362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42" name="BPS Value 7"/>
          <p:cNvSpPr txBox="1"/>
          <p:nvPr/>
        </p:nvSpPr>
        <p:spPr>
          <a:xfrm>
            <a:off x="6305550" y="443554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Regional Highlights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863" y="3121818"/>
            <a:ext cx="343793" cy="500062"/>
          </a:xfrm>
          <a:prstGeom prst="rect">
            <a:avLst/>
          </a:prstGeom>
        </p:spPr>
      </p:pic>
      <p:pic>
        <p:nvPicPr>
          <p:cNvPr id="52" name="Picture 51" descr="10_900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203" y="5897562"/>
            <a:ext cx="1878689" cy="482599"/>
          </a:xfrm>
          <a:prstGeom prst="rect">
            <a:avLst/>
          </a:prstGeom>
        </p:spPr>
      </p:pic>
      <p:pic>
        <p:nvPicPr>
          <p:cNvPr id="53" name="Picture 52" descr="17_745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9041" y="5897562"/>
            <a:ext cx="1878689" cy="482599"/>
          </a:xfrm>
          <a:prstGeom prst="rect">
            <a:avLst/>
          </a:prstGeom>
        </p:spPr>
      </p:pic>
      <p:pic>
        <p:nvPicPr>
          <p:cNvPr id="54" name="Picture 53" descr="5_0_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5355" y="5897562"/>
            <a:ext cx="1309912" cy="482599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657" y="5893409"/>
            <a:ext cx="337498" cy="49090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239000" y="1400175"/>
            <a:ext cx="43892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residential solar generator market is projected to register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920" y="1565211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400029" y="1575435"/>
            <a:ext cx="43755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South Asia &amp; Pacific in 2036. Among residential solar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39000" y="1750695"/>
            <a:ext cx="45407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generator by region, South Asia &amp; Pacific is expected to witness the highest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9000" y="1925955"/>
            <a:ext cx="5645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of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690" y="1915731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927800" y="192595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9000" y="2153793"/>
            <a:ext cx="46482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region, North America is expected to dominate the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39000" y="2329053"/>
            <a:ext cx="9185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market, losing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6708" y="2318829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281817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961" y="2318829"/>
            <a:ext cx="134549" cy="19570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852070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69" name="lockshield_12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Share Analysis, By Region Volume (Units)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share by region, 2021–2036, highlighting the geographies gaining and ceding ground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3267075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 Size, By Region (Units)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92680" cy="28003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8836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632064"/>
                <a:gridCol w="390820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43976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</a:t>
                      </a:r>
                      <a:endParaRPr sz="1100"/>
                    </a:p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Pacific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5F8FA"/>
                    </a:solidFill>
                  </a:tcPr>
                </a:tc>
              </a:tr>
              <a:tr h="43976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</a:t>
                      </a:r>
                      <a:endParaRPr sz="1100"/>
                    </a:p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Africa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FFFFFF"/>
                    </a:solidFill>
                  </a:tcPr>
                </a:tc>
              </a:tr>
              <a:tr h="24698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19050" marR="14288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40481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381500"/>
            <a:ext cx="1190625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4672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Volume Share Read-out, By Region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70535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791075"/>
            <a:ext cx="11639550" cy="1762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244" y="2591179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4800600"/>
            <a:ext cx="46890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South Asia &amp; Pacific residential solar generator market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419" y="4790376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89529" y="4800600"/>
            <a:ext cx="67756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volume than North America in 2036. Among residential solar generator by region, South Asia &amp; Pacific 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4975860"/>
            <a:ext cx="24860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386" y="4965636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886495" y="497586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5203697"/>
            <a:ext cx="60465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region, South Asia &amp; Pacific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943" y="519347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47052" y="520369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195" y="519347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17304" y="5203697"/>
            <a:ext cx="29866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North America is expected to lose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104" y="5193474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28213" y="5203697"/>
            <a:ext cx="2984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225" y="5378957"/>
            <a:ext cx="23830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427" y="5368734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83536" y="537895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Share Analysis, By Region Value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and share by region, 2021–2036, highlighting the geographies gaining and ceding ground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268605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 Size, By Region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195" cy="2219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5375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  <a:gridCol w="61246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6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34671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800475"/>
            <a:ext cx="11906250" cy="2828925"/>
          </a:xfrm>
          <a:prstGeom prst="roundRect">
            <a:avLst>
              <a:gd name="adj" fmla="val 269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38862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Value Share Read-out, By Region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1243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210050"/>
            <a:ext cx="11639550" cy="2343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995" y="2204276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4219575"/>
            <a:ext cx="43892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residential solar generator market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618" y="420935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89727" y="4219575"/>
            <a:ext cx="69516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South Asia &amp; Pacific in 2036. Among residential solar generator by region, South Asia &amp; Pacific 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4394835"/>
            <a:ext cx="24860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386" y="438461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886495" y="439483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4622672"/>
            <a:ext cx="55416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region, North America is expected to dominate the market, losing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043" y="461244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2153" y="462267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296" y="461244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12405" y="462267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Trends, By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how regional volume and value shares shift over 2021–2036, highlighting who gains ground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Volume By Region (Units)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9448800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763125" y="1304925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MI Dense Legend"/>
          <p:cNvSpPr txBox="1"/>
          <p:nvPr/>
        </p:nvSpPr>
        <p:spPr>
          <a:xfrm>
            <a:off x="9839325" y="1362075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5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5" name="FMI Dense Legend"/>
          <p:cNvSpPr txBox="1"/>
          <p:nvPr/>
        </p:nvSpPr>
        <p:spPr>
          <a:xfrm>
            <a:off x="9839325" y="1533525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008189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South Asia &amp; Pacific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3D85C6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North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9E7E0A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 Asia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0315E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Latin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A35313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Middle East &amp; Africa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80808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Eastern Europe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E72AE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Western Europe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By Region (US$ Mn)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152900"/>
          <a:ext cx="9448800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9763125" y="4191000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MI Dense Legend"/>
          <p:cNvSpPr txBox="1"/>
          <p:nvPr/>
        </p:nvSpPr>
        <p:spPr>
          <a:xfrm>
            <a:off x="9839325" y="4248150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50" b="1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1" name="FMI Dense Legend"/>
          <p:cNvSpPr txBox="1"/>
          <p:nvPr/>
        </p:nvSpPr>
        <p:spPr>
          <a:xfrm>
            <a:off x="9839325" y="4419600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3D85C6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North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89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South Asia &amp; Pacific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9E7E0A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 Asia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0315E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Latin America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A35313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Middle East &amp; Africa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80808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Eastern Europe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E72AE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Western Europe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765" y="1407795"/>
            <a:ext cx="452511" cy="1123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1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0765" y="4293870"/>
            <a:ext cx="452511" cy="1123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1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25" name="lockshield_12"/>
          <p:cNvSpPr/>
          <p:nvPr/>
        </p:nvSpPr>
        <p:spPr>
          <a:xfrm>
            <a:off x="238125" y="1266825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kshield_18"/>
          <p:cNvSpPr/>
          <p:nvPr/>
        </p:nvSpPr>
        <p:spPr>
          <a:xfrm>
            <a:off x="238125" y="4152900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Top 10 Countries (2036)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hierarchy of the global market in 2036, highlighting the leading countries within each region by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market by country  ·  2036 (US$ Mn)  ·  tile size = market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8125" y="1266825"/>
            <a:ext cx="3090574" cy="5305425"/>
          </a:xfrm>
          <a:prstGeom prst="rect">
            <a:avLst/>
          </a:prstGeom>
          <a:solidFill>
            <a:srgbClr val="3D85C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U.S.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8699" y="1266825"/>
            <a:ext cx="2888699" cy="2742291"/>
          </a:xfrm>
          <a:prstGeom prst="rect">
            <a:avLst/>
          </a:prstGeom>
          <a:solidFill>
            <a:srgbClr val="9E7E0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Canada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8699" y="4009116"/>
            <a:ext cx="2888699" cy="2563134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398" y="1266825"/>
            <a:ext cx="2359499" cy="3085160"/>
          </a:xfrm>
          <a:prstGeom prst="rect">
            <a:avLst/>
          </a:prstGeom>
          <a:solidFill>
            <a:srgbClr val="40315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China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398" y="4351985"/>
            <a:ext cx="2359499" cy="2220265"/>
          </a:xfrm>
          <a:prstGeom prst="rect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Brazil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76896" y="1266825"/>
            <a:ext cx="2051777" cy="2540699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Mexico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28673" y="1266825"/>
            <a:ext cx="1325202" cy="2540699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Kingdom of Saudi Arabia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76896" y="3807524"/>
            <a:ext cx="2286546" cy="1395738"/>
          </a:xfrm>
          <a:prstGeom prst="rect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Russia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6896" y="5203263"/>
            <a:ext cx="2286546" cy="1368987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Japan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63442" y="3807524"/>
            <a:ext cx="1090433" cy="2764726"/>
          </a:xfrm>
          <a:prstGeom prst="rect">
            <a:avLst/>
          </a:prstGeom>
          <a:solidFill>
            <a:srgbClr val="6C7A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ASEAN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973" y="3919537"/>
            <a:ext cx="308877" cy="449275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610" y="2637970"/>
            <a:ext cx="308877" cy="449275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610" y="5290683"/>
            <a:ext cx="308877" cy="449275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709" y="2809405"/>
            <a:ext cx="308877" cy="449275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709" y="5462117"/>
            <a:ext cx="308877" cy="449275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346" y="2537174"/>
            <a:ext cx="308877" cy="449275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6835" y="2537174"/>
            <a:ext cx="308877" cy="449275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730" y="4505393"/>
            <a:ext cx="308877" cy="449275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730" y="5887756"/>
            <a:ext cx="308877" cy="449275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4220" y="5189887"/>
            <a:ext cx="308877" cy="4492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1621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5050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Global Market Analysis By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90875"/>
            <a:ext cx="8458200" cy="2457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Type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Rated Energy Storage Capacity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Battery Technology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Grid Connectivity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Primary Application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Distribution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7.1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Type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Type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3 sub-segments of Type,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Type segment categorizes the market by type.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3257550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3257550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318135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Modular Solar Generators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325755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3333750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8750" y="1773916"/>
            <a:ext cx="3257550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38750" y="1992961"/>
            <a:ext cx="3257550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6850" y="1773916"/>
            <a:ext cx="318135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Integrated Solar Generators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8750" y="22302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238750" y="2723109"/>
            <a:ext cx="325755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5238750" y="32159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6705600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10600" y="1773916"/>
            <a:ext cx="3257550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10600" y="1992961"/>
            <a:ext cx="3257550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8700" y="1773916"/>
            <a:ext cx="318135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Fixed Residential Solar Power Gen…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0600" y="22302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8610600" y="2723109"/>
            <a:ext cx="325755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8610600" y="32159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10077450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Type split shows how demand is distributed across type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56" name="Picture 55" descr="4_114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811" y="2286582"/>
            <a:ext cx="1195728" cy="361950"/>
          </a:xfrm>
          <a:prstGeom prst="rect">
            <a:avLst/>
          </a:prstGeom>
        </p:spPr>
      </p:pic>
      <p:pic>
        <p:nvPicPr>
          <p:cNvPr id="57" name="Picture 56" descr="8_200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811" y="2779432"/>
            <a:ext cx="1195728" cy="361950"/>
          </a:xfrm>
          <a:prstGeom prst="rect">
            <a:avLst/>
          </a:prstGeom>
        </p:spPr>
      </p:pic>
      <p:pic>
        <p:nvPicPr>
          <p:cNvPr id="58" name="Picture 57" descr="7_1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4457" y="3272281"/>
            <a:ext cx="982436" cy="361950"/>
          </a:xfrm>
          <a:prstGeom prst="rect">
            <a:avLst/>
          </a:prstGeom>
        </p:spPr>
      </p:pic>
      <p:pic>
        <p:nvPicPr>
          <p:cNvPr id="59" name="Picture 58" descr="3_803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9661" y="2286582"/>
            <a:ext cx="1195728" cy="361950"/>
          </a:xfrm>
          <a:prstGeom prst="rect">
            <a:avLst/>
          </a:prstGeom>
        </p:spPr>
      </p:pic>
      <p:pic>
        <p:nvPicPr>
          <p:cNvPr id="60" name="Picture 59" descr="5_311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9661" y="2779432"/>
            <a:ext cx="1195728" cy="361950"/>
          </a:xfrm>
          <a:prstGeom prst="rect">
            <a:avLst/>
          </a:prstGeom>
        </p:spPr>
      </p:pic>
      <p:pic>
        <p:nvPicPr>
          <p:cNvPr id="61" name="Picture 60" descr="3_4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6307" y="3272281"/>
            <a:ext cx="982436" cy="361950"/>
          </a:xfrm>
          <a:prstGeom prst="rect">
            <a:avLst/>
          </a:prstGeom>
        </p:spPr>
      </p:pic>
      <p:pic>
        <p:nvPicPr>
          <p:cNvPr id="62" name="Picture 61" descr="2_983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1511" y="2286582"/>
            <a:ext cx="1195728" cy="361950"/>
          </a:xfrm>
          <a:prstGeom prst="rect">
            <a:avLst/>
          </a:prstGeom>
        </p:spPr>
      </p:pic>
      <p:pic>
        <p:nvPicPr>
          <p:cNvPr id="63" name="Picture 62" descr="4_233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1511" y="2779432"/>
            <a:ext cx="1195728" cy="361950"/>
          </a:xfrm>
          <a:prstGeom prst="rect">
            <a:avLst/>
          </a:prstGeom>
        </p:spPr>
      </p:pic>
      <p:pic>
        <p:nvPicPr>
          <p:cNvPr id="64" name="Picture 63" descr="3_6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48157" y="3272281"/>
            <a:ext cx="982436" cy="361950"/>
          </a:xfrm>
          <a:prstGeom prst="rect">
            <a:avLst/>
          </a:prstGeom>
        </p:spPr>
      </p:pic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2330" y="2827057"/>
            <a:ext cx="183356" cy="266700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4180" y="2827057"/>
            <a:ext cx="183356" cy="266700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6030" y="2827057"/>
            <a:ext cx="183356" cy="2667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85775" y="4229437"/>
            <a:ext cx="290250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Among residential solar generator by type, portable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5775" y="4390371"/>
            <a:ext cx="27497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modular solar generators segment is expected 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5775" y="4551305"/>
            <a:ext cx="161113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witness the highest CAGR of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43993" y="4541917"/>
            <a:ext cx="123551" cy="17971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204789" y="4551305"/>
            <a:ext cx="100791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5775" y="4712240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period. In terms of value share by type, the portable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5775" y="4873174"/>
            <a:ext cx="27497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modular solar generators segment is expected to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5775" y="5034109"/>
            <a:ext cx="169314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dominate the market, gaining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25996" y="5024721"/>
            <a:ext cx="123551" cy="17971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286792" y="5034109"/>
            <a:ext cx="51573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5775" y="5195043"/>
            <a:ext cx="8641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6964" y="5185655"/>
            <a:ext cx="123551" cy="17971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457760" y="5195043"/>
            <a:ext cx="87510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5775" y="5404258"/>
            <a:ext cx="25667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Portable modular solar generators segment 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5775" y="5565192"/>
            <a:ext cx="119781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0672" y="5555804"/>
            <a:ext cx="123551" cy="17971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791468" y="5565192"/>
            <a:ext cx="112866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5775" y="5726126"/>
            <a:ext cx="269478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portable integrated solar generators segment in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5775" y="5887061"/>
            <a:ext cx="38240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38575" y="4229437"/>
            <a:ext cx="22221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Portable Modular Solar Generators: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8804" y="4219658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176299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5750" y="4219658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203246" y="4229437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38575" y="4397077"/>
            <a:ext cx="11525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leads the segment.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38575" y="4615009"/>
            <a:ext cx="23307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Portable Integrated Solar Generators: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17399" y="4605230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284894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4345" y="4605230"/>
            <a:ext cx="128699" cy="18719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7311840" y="4615009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38575" y="4782649"/>
            <a:ext cx="9094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serves a niche.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38575" y="5000581"/>
            <a:ext cx="3083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08189"/>
                </a:solidFill>
                <a:latin typeface="Calibri"/>
              </a:rPr>
              <a:t>● Fixed Residential Solar Power Generator Systems: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70469" y="4990801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7037965" y="5000581"/>
            <a:ext cx="8573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08189"/>
                </a:solidFill>
                <a:latin typeface="Calibri"/>
              </a:rPr>
              <a:t>of 2026 value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38575" y="5168221"/>
            <a:ext cx="1135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08189"/>
                </a:solidFill>
                <a:latin typeface="Calibri"/>
              </a:rPr>
              <a:t>·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00207" y="5158441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4067703" y="5168221"/>
            <a:ext cx="12846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08189"/>
                </a:solidFill>
                <a:latin typeface="Calibri"/>
              </a:rPr>
              <a:t>CAGR serves a niche.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Type segment is projected to grow at a CAGR of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10795" y="6007677"/>
            <a:ext cx="134549" cy="195707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8685904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Type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Type mix within each region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Type mix within each region (share of 2036 value) · row label = region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Type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266825"/>
          <a:ext cx="5210175" cy="3981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694045"/>
            <a:ext cx="115125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Portable modular solar generators followed by portable integrated solar generators are expected to be the two most attractive type segments in the global residential solar generator market in terms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861685"/>
            <a:ext cx="75081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value over the forecast period. Portable modular solar generators and portable integrated solar generators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340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80836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8730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86226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5199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62695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0590" y="585190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468085" y="5861685"/>
            <a:ext cx="7935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029325"/>
            <a:ext cx="18573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 segment average of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601" y="6019545"/>
            <a:ext cx="128699" cy="18719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30097" y="6029325"/>
            <a:ext cx="93951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fixed residential solar power generator systems segment is expected to be less attractive as compared to other segments over the forecast period, owing to 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175" y="6196965"/>
            <a:ext cx="67902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lower CAGR and incremental opportunity. Bubbles right of the CAGR-Index line grow faster than the segment average.</a:t>
            </a:r>
          </a:p>
        </p:txBody>
      </p:sp>
      <p:sp>
        <p:nvSpPr>
          <p:cNvPr id="33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ockshield_15"/>
          <p:cNvSpPr/>
          <p:nvPr/>
        </p:nvSpPr>
        <p:spPr>
          <a:xfrm>
            <a:off x="6734175" y="1266825"/>
            <a:ext cx="5210175" cy="39814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Type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Portable Integrated Solar Generators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Portable Modular Solar Generators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Fixed Residential Solar Power Generator Systems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0" y="395287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Summary of Global Absolute $ Opportunity Analysis, By 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5550" y="4191000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5550" y="4276725"/>
            <a:ext cx="5610225" cy="2266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05550" y="4286250"/>
            <a:ext cx="55439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2036, portable modular solar generators segment is anticipated to witness an increase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470" y="4451286"/>
            <a:ext cx="134549" cy="1957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66579" y="4461510"/>
            <a:ext cx="53799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 terms of value as compared to 2026. The portable modular solar generators segment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50" y="4636770"/>
            <a:ext cx="34091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is expected to create an incremental opportunity of US$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3810" y="4626546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838919" y="4636770"/>
            <a:ext cx="18122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5550" y="4812029"/>
            <a:ext cx="26238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solar generator market from 2026 to 2036.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5550" y="5039867"/>
            <a:ext cx="52384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portable integrated solar generators segment is expected to create an incremental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5550" y="5215127"/>
            <a:ext cx="1208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opportunity of US$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3647" y="5204904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38756" y="5215127"/>
            <a:ext cx="40263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 from 2026 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5390387"/>
            <a:ext cx="551456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 The fixed residential solar power generator systems segment is expected to create 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5550" y="5565647"/>
            <a:ext cx="19568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incremental opportunity of US$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582" y="5555424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86692" y="5565647"/>
            <a:ext cx="32151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5550" y="5740907"/>
            <a:ext cx="12209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from 2026 to 2036.</a:t>
            </a:r>
          </a:p>
        </p:txBody>
      </p:sp>
      <p:sp>
        <p:nvSpPr>
          <p:cNvPr id="43" name="lockshield_12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ockshield_15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ockshield_18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Type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Type,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Type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204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7622"/>
                <a:gridCol w="495334"/>
                <a:gridCol w="495334"/>
                <a:gridCol w="495334"/>
                <a:gridCol w="517768"/>
                <a:gridCol w="517768"/>
                <a:gridCol w="517768"/>
                <a:gridCol w="517768"/>
                <a:gridCol w="517768"/>
                <a:gridCol w="517768"/>
                <a:gridCol w="517768"/>
                <a:gridCol w="517768"/>
                <a:gridCol w="517768"/>
                <a:gridCol w="517768"/>
                <a:gridCol w="517768"/>
                <a:gridCol w="517768"/>
                <a:gridCol w="517768"/>
                <a:gridCol w="56259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Portable Integrated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Portable Modular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Residential Solar Power Generator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2819400"/>
            <a:ext cx="1190625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29051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Value Analysis, By 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14325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228975"/>
            <a:ext cx="11639550" cy="33242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123" y="1713738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3238500"/>
            <a:ext cx="40429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Portable modular solar generators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319" y="3228276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43429" y="3238500"/>
            <a:ext cx="704466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portable integrated solar generators segment in 2036. Among residential solar generator by type,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413760"/>
            <a:ext cx="52324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portable modular solar generators 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10" y="3403536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32919" y="341376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3641597"/>
            <a:ext cx="74571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type, the portable modular solar generators segment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523" y="363137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57633" y="364159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776" y="363137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427885" y="3641597"/>
            <a:ext cx="17400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portable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3816857"/>
            <a:ext cx="33800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integrated solar generators segment is expected to lose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389" y="380663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780498" y="381685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003" y="3806634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43112" y="381685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Type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Type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09700"/>
          <a:ext cx="4614672" cy="51625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419225"/>
            <a:ext cx="2595753" cy="17792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3932301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2071729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090922" y="2066966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1990766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Fixed Residential Solar Power Generator Systems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205267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3345706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5090922" y="334094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326474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Integrated Solar Generators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332665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928997" y="5149128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5090922" y="514436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5233797" y="5068165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Modular Solar Generators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896100" y="513007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Read-out, By Type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751325"/>
            <a:ext cx="275034" cy="4000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829550" y="1400175"/>
            <a:ext cx="40107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type, portable modular solar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9550" y="1575435"/>
            <a:ext cx="383582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generators segment is expected to witness the highest CAGR of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4532" y="1565211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29550" y="1750695"/>
            <a:ext cx="36840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 In terms of value share by type, 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9550" y="1925955"/>
            <a:ext cx="4057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portable modular solar generators segment is expected to dominate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9550" y="2101215"/>
            <a:ext cx="12314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market, gaining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182" y="2090991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85291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0434" y="2090991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755543" y="210121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9550" y="2329053"/>
            <a:ext cx="39003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portable integrated solar generators segment is expected 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550" y="2504313"/>
            <a:ext cx="3166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lose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372" y="2494089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270482" y="250431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986" y="2494089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033096" y="2504313"/>
            <a:ext cx="5796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9550" y="2679573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50" name="lockshield_12"/>
          <p:cNvSpPr/>
          <p:nvPr/>
        </p:nvSpPr>
        <p:spPr>
          <a:xfrm>
            <a:off x="238125" y="1409700"/>
            <a:ext cx="4614672" cy="5162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7.2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Rated Energy Storage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Rated Energy Storage Capacity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Rated Energy Storage Capacity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5 sub-segments of Rated Energy Storage Capacity,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Rated Energy Storage Capacity segment categorizes the market by rated energy storage capacity.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1908810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Up to 1 kWh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2659380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9001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90010" y="1992961"/>
            <a:ext cx="1908810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2811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389001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389001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389001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4682490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1312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3120" y="1992961"/>
            <a:ext cx="1908810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5122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91312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91312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591312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6705600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3623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36230" y="1992961"/>
            <a:ext cx="1908810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433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793623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793623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793623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8728710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5934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59340" y="1992961"/>
            <a:ext cx="1908810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9744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995934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995934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995934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10751820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Rated Energy Storage Capacity split shows how demand is distributed across rated energy storage capacity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70" name="Picture 69" descr="3_265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441" y="2286582"/>
            <a:ext cx="1195728" cy="361950"/>
          </a:xfrm>
          <a:prstGeom prst="rect">
            <a:avLst/>
          </a:prstGeom>
        </p:spPr>
      </p:pic>
      <p:pic>
        <p:nvPicPr>
          <p:cNvPr id="71" name="Picture 70" descr="5_309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3441" y="2779432"/>
            <a:ext cx="1195728" cy="361950"/>
          </a:xfrm>
          <a:prstGeom prst="rect">
            <a:avLst/>
          </a:prstGeom>
        </p:spPr>
      </p:pic>
      <p:pic>
        <p:nvPicPr>
          <p:cNvPr id="72" name="Picture 71" descr="5_0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0087" y="3272281"/>
            <a:ext cx="982436" cy="361950"/>
          </a:xfrm>
          <a:prstGeom prst="rect">
            <a:avLst/>
          </a:prstGeom>
        </p:spPr>
      </p:pic>
      <p:pic>
        <p:nvPicPr>
          <p:cNvPr id="73" name="Picture 72" descr="1_3_kWh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7197" y="1860245"/>
            <a:ext cx="1194430" cy="265429"/>
          </a:xfrm>
          <a:prstGeom prst="rect">
            <a:avLst/>
          </a:prstGeom>
        </p:spPr>
      </p:pic>
      <p:pic>
        <p:nvPicPr>
          <p:cNvPr id="74" name="Picture 73" descr="2_276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6551" y="2286582"/>
            <a:ext cx="1195728" cy="361950"/>
          </a:xfrm>
          <a:prstGeom prst="rect">
            <a:avLst/>
          </a:prstGeom>
        </p:spPr>
      </p:pic>
      <p:pic>
        <p:nvPicPr>
          <p:cNvPr id="75" name="Picture 74" descr="3_419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6551" y="2779432"/>
            <a:ext cx="1195728" cy="361950"/>
          </a:xfrm>
          <a:prstGeom prst="rect">
            <a:avLst/>
          </a:prstGeom>
        </p:spPr>
      </p:pic>
      <p:pic>
        <p:nvPicPr>
          <p:cNvPr id="76" name="Picture 75" descr="4_2_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3197" y="3272281"/>
            <a:ext cx="982436" cy="361950"/>
          </a:xfrm>
          <a:prstGeom prst="rect">
            <a:avLst/>
          </a:prstGeom>
        </p:spPr>
      </p:pic>
      <p:pic>
        <p:nvPicPr>
          <p:cNvPr id="77" name="Picture 76" descr="3_10_kWh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2100" y="1860245"/>
            <a:ext cx="1350844" cy="265429"/>
          </a:xfrm>
          <a:prstGeom prst="rect">
            <a:avLst/>
          </a:prstGeom>
        </p:spPr>
      </p:pic>
      <p:pic>
        <p:nvPicPr>
          <p:cNvPr id="78" name="Picture 77" descr="2_270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9661" y="2286582"/>
            <a:ext cx="1195728" cy="361950"/>
          </a:xfrm>
          <a:prstGeom prst="rect">
            <a:avLst/>
          </a:prstGeom>
        </p:spPr>
      </p:pic>
      <p:pic>
        <p:nvPicPr>
          <p:cNvPr id="79" name="Picture 78" descr="3_146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9661" y="2779432"/>
            <a:ext cx="1195728" cy="361950"/>
          </a:xfrm>
          <a:prstGeom prst="rect">
            <a:avLst/>
          </a:prstGeom>
        </p:spPr>
      </p:pic>
      <p:pic>
        <p:nvPicPr>
          <p:cNvPr id="80" name="Picture 79" descr="3_3_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6307" y="3272281"/>
            <a:ext cx="982436" cy="361950"/>
          </a:xfrm>
          <a:prstGeom prst="rect">
            <a:avLst/>
          </a:prstGeom>
        </p:spPr>
      </p:pic>
      <p:pic>
        <p:nvPicPr>
          <p:cNvPr id="81" name="Picture 80" descr="10_20_kWh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37003" y="1860245"/>
            <a:ext cx="1507258" cy="265429"/>
          </a:xfrm>
          <a:prstGeom prst="rect">
            <a:avLst/>
          </a:prstGeom>
        </p:spPr>
      </p:pic>
      <p:pic>
        <p:nvPicPr>
          <p:cNvPr id="82" name="Picture 81" descr="2_118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2771" y="2286582"/>
            <a:ext cx="1195728" cy="361950"/>
          </a:xfrm>
          <a:prstGeom prst="rect">
            <a:avLst/>
          </a:prstGeom>
        </p:spPr>
      </p:pic>
      <p:pic>
        <p:nvPicPr>
          <p:cNvPr id="83" name="Picture 82" descr="4_104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92771" y="2779432"/>
            <a:ext cx="1195728" cy="361950"/>
          </a:xfrm>
          <a:prstGeom prst="rect">
            <a:avLst/>
          </a:prstGeom>
        </p:spPr>
      </p:pic>
      <p:pic>
        <p:nvPicPr>
          <p:cNvPr id="84" name="Picture 83" descr="6_8__605E5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99417" y="3272281"/>
            <a:ext cx="982436" cy="361950"/>
          </a:xfrm>
          <a:prstGeom prst="rect">
            <a:avLst/>
          </a:prstGeom>
        </p:spPr>
      </p:pic>
      <p:pic>
        <p:nvPicPr>
          <p:cNvPr id="85" name="Picture 84" descr="20_kWh_605E5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97104" y="1860245"/>
            <a:ext cx="1033277" cy="265429"/>
          </a:xfrm>
          <a:prstGeom prst="rect">
            <a:avLst/>
          </a:prstGeom>
        </p:spPr>
      </p:pic>
      <p:pic>
        <p:nvPicPr>
          <p:cNvPr id="86" name="Picture 85" descr="971_1_605E5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15881" y="2286582"/>
            <a:ext cx="1195728" cy="361950"/>
          </a:xfrm>
          <a:prstGeom prst="rect">
            <a:avLst/>
          </a:prstGeom>
        </p:spPr>
      </p:pic>
      <p:pic>
        <p:nvPicPr>
          <p:cNvPr id="87" name="Picture 86" descr="1_766_605E5C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15881" y="2779432"/>
            <a:ext cx="1195728" cy="361950"/>
          </a:xfrm>
          <a:prstGeom prst="rect">
            <a:avLst/>
          </a:prstGeom>
        </p:spPr>
      </p:pic>
      <p:pic>
        <p:nvPicPr>
          <p:cNvPr id="88" name="Picture 87" descr="6_2__605E5C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22527" y="3272281"/>
            <a:ext cx="982436" cy="361950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27960" y="2827057"/>
            <a:ext cx="183356" cy="266700"/>
          </a:xfrm>
          <a:prstGeom prst="rect">
            <a:avLst/>
          </a:prstGeom>
        </p:spPr>
      </p:pic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51070" y="2598885"/>
            <a:ext cx="183356" cy="266700"/>
          </a:xfrm>
          <a:prstGeom prst="rect">
            <a:avLst/>
          </a:prstGeom>
        </p:spPr>
      </p:pic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74180" y="2598885"/>
            <a:ext cx="183356" cy="266700"/>
          </a:xfrm>
          <a:prstGeom prst="rect">
            <a:avLst/>
          </a:prstGeom>
        </p:spPr>
      </p:pic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06302" y="1872486"/>
            <a:ext cx="165652" cy="240948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97290" y="2827057"/>
            <a:ext cx="183356" cy="266700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20400" y="2598885"/>
            <a:ext cx="183356" cy="26670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485775" y="422943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residential solar generator by rated energy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5775" y="4397077"/>
            <a:ext cx="268329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storage capacity, above 10-20 kwh segment is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5775" y="4564717"/>
            <a:ext cx="2381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15059" y="4554938"/>
            <a:ext cx="128699" cy="18719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2982555" y="4564717"/>
            <a:ext cx="331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5775" y="4732357"/>
            <a:ext cx="26991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In terms of value share by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5775" y="4899997"/>
            <a:ext cx="271958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rated energy storage capacity, the up to 1 kwh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5775" y="5067637"/>
            <a:ext cx="26669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is expected to dominate the market,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5775" y="5235277"/>
            <a:ext cx="23588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maintaining its share and accounting for</a:t>
            </a:r>
          </a:p>
        </p:txBody>
      </p:sp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92702" y="5225498"/>
            <a:ext cx="128699" cy="18719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2960198" y="5235277"/>
            <a:ext cx="389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5775" y="5402917"/>
            <a:ext cx="5635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 2036.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5775" y="5620849"/>
            <a:ext cx="26041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Up to 1 kwh segment is projected to register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37996" y="5611070"/>
            <a:ext cx="128699" cy="18719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205492" y="5620849"/>
            <a:ext cx="1487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5775" y="5788489"/>
            <a:ext cx="27335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higher value than above 10-20 kwh segment in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5775" y="5956129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38575" y="4229437"/>
            <a:ext cx="9405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Up to 1 kWh:</a:t>
            </a:r>
          </a:p>
        </p:txBody>
      </p:sp>
      <p:pic>
        <p:nvPicPr>
          <p:cNvPr id="113" name="Picture 112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27220" y="4219658"/>
            <a:ext cx="128699" cy="18719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4894716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54166" y="4219658"/>
            <a:ext cx="128699" cy="18719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5921662" y="4229437"/>
            <a:ext cx="15034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segment.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38575" y="4447369"/>
            <a:ext cx="11261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Above 1–3 kWh:</a:t>
            </a:r>
          </a:p>
        </p:txBody>
      </p:sp>
      <p:pic>
        <p:nvPicPr>
          <p:cNvPr id="118" name="Picture 117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12759" y="4437590"/>
            <a:ext cx="128699" cy="187198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5080255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0" name="Picture 119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39705" y="4437590"/>
            <a:ext cx="128699" cy="18719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6107201" y="444736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838575" y="4665301"/>
            <a:ext cx="11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Above 3–10 kWh: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83700" y="4655522"/>
            <a:ext cx="128699" cy="187198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5151196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0646" y="4655522"/>
            <a:ext cx="128699" cy="187198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6178142" y="4665301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38575" y="4883233"/>
            <a:ext cx="12680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Above 10–20 kWh:</a:t>
            </a:r>
          </a:p>
        </p:txBody>
      </p:sp>
      <p:pic>
        <p:nvPicPr>
          <p:cNvPr id="128" name="Picture 127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54642" y="4873454"/>
            <a:ext cx="128699" cy="187198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5222138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81588" y="4873454"/>
            <a:ext cx="128699" cy="187198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6249084" y="4883233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838575" y="5101165"/>
            <a:ext cx="10565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Above 20 kWh:</a:t>
            </a:r>
          </a:p>
        </p:txBody>
      </p:sp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43182" y="5091385"/>
            <a:ext cx="128699" cy="187198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5010678" y="5101165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70128" y="5091385"/>
            <a:ext cx="128699" cy="187198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6037624" y="5101165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24875" y="5856661"/>
            <a:ext cx="3162300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The Rated Energy Storage Capacity segment is projected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24875" y="6017901"/>
            <a:ext cx="1239018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to grow at a CAGR of</a:t>
            </a:r>
          </a:p>
        </p:txBody>
      </p:sp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11019" y="6008495"/>
            <a:ext cx="123784" cy="18005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9872119" y="6017901"/>
            <a:ext cx="1140105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Rated Energy Storage Capacity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Rated Energy Storage Capacity mix within each region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Rated Energy Storage Capacity mix within each region (share of 2036 value) · row label = region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Rated Energy Storage Capacity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694045"/>
            <a:ext cx="114290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Up to 1 kwh followed by above 10-20 kwh are expected to be the two most attractive rated energy storage capacity segments in the global residential solar generator market in terms of value over 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861685"/>
            <a:ext cx="437850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period. Up to 1 kWh and above 10–20 kWh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3732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51228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9123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56618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5592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33088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982" y="585190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38478" y="586168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2882" y="5851905"/>
            <a:ext cx="128699" cy="18719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60378" y="5861685"/>
            <a:ext cx="11744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above 20 kwh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175" y="6029325"/>
            <a:ext cx="1154902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is expected to be less attractive as compared to other segments over the forecast period, owing to its lower CAGR and incremental opportunity. Bubbles right of the CAGR-Index line grow faster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175" y="6196965"/>
            <a:ext cx="15987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than the segment average.</a:t>
            </a:r>
          </a:p>
        </p:txBody>
      </p:sp>
      <p:sp>
        <p:nvSpPr>
          <p:cNvPr id="33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ockshield_15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Rated Energy Storage Capacity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Rated Energy Storage Capacity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Up to 1 kWh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Above 1–3 kWh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Above 3–10 kWh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7450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Above 10–20 kWh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67450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4151" y="2237234"/>
            <a:ext cx="263506" cy="383281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4151" y="5123309"/>
            <a:ext cx="263506" cy="383281"/>
          </a:xfrm>
          <a:prstGeom prst="rect">
            <a:avLst/>
          </a:prstGeom>
        </p:spPr>
      </p:pic>
      <p:sp>
        <p:nvSpPr>
          <p:cNvPr id="27" name="lockshield_12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5"/>
          <p:cNvSpPr/>
          <p:nvPr/>
        </p:nvSpPr>
        <p:spPr>
          <a:xfrm>
            <a:off x="6267450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ockshield_18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21"/>
          <p:cNvSpPr/>
          <p:nvPr/>
        </p:nvSpPr>
        <p:spPr>
          <a:xfrm>
            <a:off x="6267450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Rated Energy Storage Capacity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Rated Energy Storage Capacity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Above 20 kWh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5686425" cy="53054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066800"/>
            <a:ext cx="5610225" cy="40762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Summary of Global Absolute $ Opportunity Analysis, By Rated Energy Storage Capacity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5550" y="150299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1588720"/>
            <a:ext cx="5610225" cy="496448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4059" y="3583939"/>
            <a:ext cx="402511" cy="5854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5550" y="1598245"/>
            <a:ext cx="420180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2036, up to 1 kwh segment is anticipated to witness an increase of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508" y="1588021"/>
            <a:ext cx="134549" cy="1957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31618" y="1598245"/>
            <a:ext cx="11818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 terms of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1773505"/>
            <a:ext cx="51249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as compared to 2026. The up to 1 kWh segment is expected to create an incremental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1948765"/>
            <a:ext cx="1208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opportunity of US$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47" y="193854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38756" y="1948765"/>
            <a:ext cx="40263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 from 2026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5550" y="2124025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5550" y="2351863"/>
            <a:ext cx="531403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above 10–20 kWh segment is expected to create an incremental opportunity of US$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470" y="2516899"/>
            <a:ext cx="134549" cy="1957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66579" y="2527123"/>
            <a:ext cx="52963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 from 2026 to 2036. The above 1–3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50" y="2702383"/>
            <a:ext cx="4262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kWh segment is expected to create an incremental opportunity of US$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7005" y="2692159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692114" y="2702383"/>
            <a:ext cx="1152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5550" y="2877643"/>
            <a:ext cx="32838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residential solar generator market from 2026 to 2036.</a:t>
            </a:r>
          </a:p>
        </p:txBody>
      </p:sp>
      <p:sp>
        <p:nvSpPr>
          <p:cNvPr id="34" name="lockshield_12"/>
          <p:cNvSpPr/>
          <p:nvPr/>
        </p:nvSpPr>
        <p:spPr>
          <a:xfrm>
            <a:off x="238125" y="1266825"/>
            <a:ext cx="5686425" cy="53054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Rated Energy Storage Capacity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Rated Energy Storage Capacity,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Rated Energy Storage Capacity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206" cy="1724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9008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Rated Energy Storage Capacity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1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1–3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3–10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10–20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20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9718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305175"/>
            <a:ext cx="11906250" cy="3324225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33909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Value Analysis, By Rated Energy Storage 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6290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714750"/>
            <a:ext cx="11639550" cy="28384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816" y="1956627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3724275"/>
            <a:ext cx="27190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Up to 1 kwh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456" y="371405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19565" y="3724275"/>
            <a:ext cx="84484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above 10-20 kwh segment in 2036. Among residential solar generator by rated energy storage capacity, above 10-20 kwh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899535"/>
            <a:ext cx="3156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018" y="388931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57127" y="389953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4127372"/>
            <a:ext cx="95703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rated energy storage capacity, the up to 1 kwh segment is expected to dominate the market, maintaining its share and accounting for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684" y="411714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70793" y="4127372"/>
            <a:ext cx="15954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above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4302632"/>
            <a:ext cx="23066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3-10 kwh segment is expected to lose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979" y="4292409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707088" y="4302632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593" y="4292409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69702" y="430263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Rated Energy Storage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Rated Energy Storage Capacity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Rated Energy Storage Capacity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1898776"/>
            <a:ext cx="85725" cy="85725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5090922" y="1894013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181781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20 kWh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187972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2531663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5090922" y="252690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245070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3–10 kWh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251261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928997" y="3377585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5090922" y="3372822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5233797" y="3296622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1–3 kWh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896100" y="3358535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928997" y="4346880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5090922" y="434211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5233797" y="426591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10–20 kWh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896100" y="432783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1" name="FMI Legend Chip"/>
          <p:cNvSpPr/>
          <p:nvPr/>
        </p:nvSpPr>
        <p:spPr>
          <a:xfrm>
            <a:off x="4928997" y="5559629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5090922" y="555486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PS Name 5"/>
          <p:cNvSpPr txBox="1"/>
          <p:nvPr/>
        </p:nvSpPr>
        <p:spPr>
          <a:xfrm>
            <a:off x="5233797" y="547866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Up to 1 kWh</a:t>
            </a:r>
          </a:p>
        </p:txBody>
      </p:sp>
      <p:sp>
        <p:nvSpPr>
          <p:cNvPr id="34" name="BPS Value 5"/>
          <p:cNvSpPr txBox="1"/>
          <p:nvPr/>
        </p:nvSpPr>
        <p:spPr>
          <a:xfrm>
            <a:off x="6896100" y="554057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Read-out, By Rated Energy Storage Capacity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829550" y="1400175"/>
            <a:ext cx="4057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rated energy storage capacity,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550" y="1575435"/>
            <a:ext cx="40526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above 10-20 kwh segment is expected to witness the highest CAGR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9550" y="1750695"/>
            <a:ext cx="1977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6422" y="1740471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51531" y="1750695"/>
            <a:ext cx="34707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 In terms of value share by rated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9550" y="1925955"/>
            <a:ext cx="38960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energy storage capacity, the up to 1 kwh segment is expected 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9550" y="2101215"/>
            <a:ext cx="37953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dominate the market, maintaining its share and accounting for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4044" y="2090991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829550" y="227647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29550" y="2504313"/>
            <a:ext cx="29558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above 3-10 kwh segment is expected to lose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542" y="2494089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909651" y="2504313"/>
            <a:ext cx="8298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9550" y="2679573"/>
            <a:ext cx="18516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 to account for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324" y="2669349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805433" y="267957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6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7.3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Battery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Battery Technology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Battery Technology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4 sub-segments of Battery Technology,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Battery Technology segment categorizes the market by battery technology.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Lithium Iron Phosphate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Other Battery Technologies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Lead-Acid Batteries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Nickel-Based Lithium-Ion Batteries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Battery Technology split shows how demand is distributed across battery technology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63" name="Picture 62" descr="5_174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330" y="2286582"/>
            <a:ext cx="1195728" cy="361950"/>
          </a:xfrm>
          <a:prstGeom prst="rect">
            <a:avLst/>
          </a:prstGeom>
        </p:spPr>
      </p:pic>
      <p:pic>
        <p:nvPicPr>
          <p:cNvPr id="64" name="Picture 63" descr="6_794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330" y="2779432"/>
            <a:ext cx="1195728" cy="361950"/>
          </a:xfrm>
          <a:prstGeom prst="rect">
            <a:avLst/>
          </a:prstGeom>
        </p:spPr>
      </p:pic>
      <p:pic>
        <p:nvPicPr>
          <p:cNvPr id="65" name="Picture 64" descr="2_8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976" y="3272281"/>
            <a:ext cx="982436" cy="361950"/>
          </a:xfrm>
          <a:prstGeom prst="rect">
            <a:avLst/>
          </a:prstGeom>
        </p:spPr>
      </p:pic>
      <p:pic>
        <p:nvPicPr>
          <p:cNvPr id="66" name="Picture 65" descr="2_640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218" y="2286582"/>
            <a:ext cx="1195728" cy="361950"/>
          </a:xfrm>
          <a:prstGeom prst="rect">
            <a:avLst/>
          </a:prstGeom>
        </p:spPr>
      </p:pic>
      <p:pic>
        <p:nvPicPr>
          <p:cNvPr id="67" name="Picture 66" descr="5_242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218" y="2779432"/>
            <a:ext cx="1195728" cy="361950"/>
          </a:xfrm>
          <a:prstGeom prst="rect">
            <a:avLst/>
          </a:prstGeom>
        </p:spPr>
      </p:pic>
      <p:pic>
        <p:nvPicPr>
          <p:cNvPr id="68" name="Picture 67" descr="7_1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864" y="3272281"/>
            <a:ext cx="982436" cy="361950"/>
          </a:xfrm>
          <a:prstGeom prst="rect">
            <a:avLst/>
          </a:prstGeom>
        </p:spPr>
      </p:pic>
      <p:pic>
        <p:nvPicPr>
          <p:cNvPr id="69" name="Picture 68" descr="1_865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105" y="2286582"/>
            <a:ext cx="1195728" cy="361950"/>
          </a:xfrm>
          <a:prstGeom prst="rect">
            <a:avLst/>
          </a:prstGeom>
        </p:spPr>
      </p:pic>
      <p:pic>
        <p:nvPicPr>
          <p:cNvPr id="70" name="Picture 69" descr="3_816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105" y="2779432"/>
            <a:ext cx="1195728" cy="361950"/>
          </a:xfrm>
          <a:prstGeom prst="rect">
            <a:avLst/>
          </a:prstGeom>
        </p:spPr>
      </p:pic>
      <p:pic>
        <p:nvPicPr>
          <p:cNvPr id="71" name="Picture 70" descr="7_4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0751" y="3272281"/>
            <a:ext cx="982436" cy="361950"/>
          </a:xfrm>
          <a:prstGeom prst="rect">
            <a:avLst/>
          </a:prstGeom>
        </p:spPr>
      </p:pic>
      <p:pic>
        <p:nvPicPr>
          <p:cNvPr id="72" name="Picture 71" descr="1_221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62992" y="2286582"/>
            <a:ext cx="1195728" cy="361950"/>
          </a:xfrm>
          <a:prstGeom prst="rect">
            <a:avLst/>
          </a:prstGeom>
        </p:spPr>
      </p:pic>
      <p:pic>
        <p:nvPicPr>
          <p:cNvPr id="73" name="Picture 72" descr="1_892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2992" y="2779432"/>
            <a:ext cx="1195728" cy="361950"/>
          </a:xfrm>
          <a:prstGeom prst="rect">
            <a:avLst/>
          </a:prstGeom>
        </p:spPr>
      </p:pic>
      <p:pic>
        <p:nvPicPr>
          <p:cNvPr id="74" name="Picture 73" descr="4_5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9638" y="3272281"/>
            <a:ext cx="982436" cy="361950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0848" y="2827057"/>
            <a:ext cx="183356" cy="266700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9737" y="2827057"/>
            <a:ext cx="183356" cy="266700"/>
          </a:xfrm>
          <a:prstGeom prst="rect">
            <a:avLst/>
          </a:prstGeom>
        </p:spPr>
      </p:pic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8624" y="2827057"/>
            <a:ext cx="183356" cy="266700"/>
          </a:xfrm>
          <a:prstGeom prst="rect">
            <a:avLst/>
          </a:prstGeom>
        </p:spPr>
      </p:pic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7511" y="2827057"/>
            <a:ext cx="183356" cy="2667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85775" y="4229437"/>
            <a:ext cx="26314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residential solar generator by battery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5775" y="4397077"/>
            <a:ext cx="24723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technology, lead-acid batteries segment is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5775" y="4564717"/>
            <a:ext cx="2381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15059" y="4554938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982555" y="4564717"/>
            <a:ext cx="331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5775" y="4732357"/>
            <a:ext cx="26991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In terms of value share by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5775" y="4899997"/>
            <a:ext cx="27414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battery technology, the lithium iron phosphate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5775" y="506763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(LFP) segment is expected to dominate the market,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5775" y="5235277"/>
            <a:ext cx="40798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losing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814" y="5225498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09309" y="5235277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43794" y="5225498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2511290" y="5235277"/>
            <a:ext cx="5577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5775" y="5402917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5775" y="562084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Lithium iron phosphate (LFP) segment is projected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775" y="5788489"/>
            <a:ext cx="6647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 register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8567" y="5778710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266063" y="5788489"/>
            <a:ext cx="19640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other battery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5775" y="5956129"/>
            <a:ext cx="18112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technologies segment in 2036.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38575" y="4229437"/>
            <a:ext cx="18677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Lithium Iron Phosphate (LFP):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54369" y="421965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5821865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81316" y="4219658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6848811" y="4229437"/>
            <a:ext cx="9452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38575" y="4397077"/>
            <a:ext cx="6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38575" y="4615009"/>
            <a:ext cx="17880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Other Battery Technologies: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74697" y="4605230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742193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1643" y="4605230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6769139" y="4615009"/>
            <a:ext cx="885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8575" y="4782649"/>
            <a:ext cx="4191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niche.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38575" y="5000581"/>
            <a:ext cx="13296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Lead-Acid Batteries: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6306" y="4990801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5283802" y="500058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3" name="Picture 11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3252" y="4990801"/>
            <a:ext cx="128699" cy="18719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6310748" y="5000581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38575" y="5218513"/>
            <a:ext cx="21883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Nickel-Based Lithium-Ion Batteries:</a:t>
            </a:r>
          </a:p>
        </p:txBody>
      </p:sp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74970" y="5208733"/>
            <a:ext cx="128699" cy="18719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6142466" y="521851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8" name="Picture 11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01916" y="5208733"/>
            <a:ext cx="128699" cy="187198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7169412" y="5218513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38575" y="5386153"/>
            <a:ext cx="9094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serves a niche.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24875" y="5842641"/>
            <a:ext cx="29749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Battery Technology segment is projected to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24875" y="6017901"/>
            <a:ext cx="117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grow at a CAGR of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51852" y="6007677"/>
            <a:ext cx="134549" cy="195707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826962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Battery Technology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Battery Technology mix within each region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Battery Technology mix within each region (share of 2036 value) · row label = region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Battery Technology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694045"/>
            <a:ext cx="114696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Lithium iron phosphate (LFP) followed by other battery technologies are expected to be the two most attractive battery technology segments in the global residential solar generator market in terms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861685"/>
            <a:ext cx="66399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value over the forecast period. Lithium iron phosphate (LFP) and other battery technologies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126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12622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516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18012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6986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94482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2376" y="585190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99872" y="5861685"/>
            <a:ext cx="14532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029325"/>
            <a:ext cx="11976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average of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846" y="6019545"/>
            <a:ext cx="128699" cy="18719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0342" y="6029325"/>
            <a:ext cx="102731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nickel-based lithium-ion batteries segment is expected to be less attractive as compared to other segments over the forecast period, owing to its lower CAGR and incremental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175" y="6196965"/>
            <a:ext cx="51228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opportunity. Bubbles right of the CAGR-Index line grow faster than the segment average.</a:t>
            </a:r>
          </a:p>
        </p:txBody>
      </p:sp>
      <p:sp>
        <p:nvSpPr>
          <p:cNvPr id="33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ockshield_15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Battery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Battery Technology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Lithium Iron Phosphate (LFP)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Nickel-Based Lithium-Ion Batteries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Lead-Acid Batteries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152900"/>
          <a:ext cx="5686425" cy="240982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Other Battery Technologies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4826" y="5123309"/>
            <a:ext cx="263506" cy="383281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7" name="lockshield_12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5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ockshield_18"/>
          <p:cNvSpPr/>
          <p:nvPr/>
        </p:nvSpPr>
        <p:spPr>
          <a:xfrm>
            <a:off x="238125" y="4152900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21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Battery Technology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Battery Technology,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Battery Technology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196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5531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Battery Technology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Lithium Iron Phosphate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Nickel-Based Lithium-Ion Batteries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Lead-Acid Batteries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Battery Technologies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067050"/>
            <a:ext cx="11906250" cy="35623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31527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Value Analysis, By Battery 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3909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476625"/>
            <a:ext cx="11639550" cy="30765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073" y="1837563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3486150"/>
            <a:ext cx="37120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Lithium iron phosphate (LFP)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425" y="3475926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2534" y="3486150"/>
            <a:ext cx="73307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other battery technologies segment in 2036. Among residential solar generator by battery technology,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661410"/>
            <a:ext cx="42948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lead-acid batteries 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181" y="3651186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95290" y="36614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3889247"/>
            <a:ext cx="78790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battery technology, the lithium iron phosphate (LFP) segment is expected to dominate the market, losing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414" y="38790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79523" y="38892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666" y="387902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49776" y="388924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Battery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Battery Technology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Battery Technology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1915026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090922" y="191026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183406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Nickel-Based Lithium-Ion Batteries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189597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2650474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5090922" y="264571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256951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Lead-Acid Batteries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2631424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928997" y="3817529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5090922" y="3812766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5233797" y="3736566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Other Battery Technologies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896100" y="379847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928997" y="5368271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5090922" y="536350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5233797" y="528730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Lithium Iron Phosphate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896100" y="534922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Read-out, By Battery Technology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29550" y="1400175"/>
            <a:ext cx="4050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battery technology, lead-acid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9550" y="1575435"/>
            <a:ext cx="37217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batteries segment is expected to witness the highest CAGR of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431" y="1565211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829550" y="175069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9550" y="1978533"/>
            <a:ext cx="37662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battery technology, the lithium iron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550" y="2153793"/>
            <a:ext cx="3775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phosphate (LFP) segment is expected to dominate the market,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9550" y="2329053"/>
            <a:ext cx="42306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losing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772" y="2318829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376881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2025" y="2318829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947134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8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7.4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Grid Connectivity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Grid Connectivity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Grid Connectivity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2 sub-segments of Grid Connectivity,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Grid Connectivity segment categorizes the market by grid connectivity.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494347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Grid-Connected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24675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4675" y="1992961"/>
            <a:ext cx="494347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2775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Off-Grid Systems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24675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6924675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6924675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Grid Connectivity split shows how demand is distributed across grid connectivity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49" name="Picture 48" descr="5_558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50" name="Picture 49" descr="7_550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773" y="2779432"/>
            <a:ext cx="1195728" cy="361950"/>
          </a:xfrm>
          <a:prstGeom prst="rect">
            <a:avLst/>
          </a:prstGeom>
        </p:spPr>
      </p:pic>
      <p:pic>
        <p:nvPicPr>
          <p:cNvPr id="51" name="Picture 50" descr="3_1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52" name="Picture 51" descr="5_342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8548" y="2286582"/>
            <a:ext cx="1195728" cy="361950"/>
          </a:xfrm>
          <a:prstGeom prst="rect">
            <a:avLst/>
          </a:prstGeom>
        </p:spPr>
      </p:pic>
      <p:pic>
        <p:nvPicPr>
          <p:cNvPr id="53" name="Picture 52" descr="10_194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1902" y="2779432"/>
            <a:ext cx="1409020" cy="361950"/>
          </a:xfrm>
          <a:prstGeom prst="rect">
            <a:avLst/>
          </a:prstGeom>
        </p:spPr>
      </p:pic>
      <p:pic>
        <p:nvPicPr>
          <p:cNvPr id="54" name="Picture 53" descr="6_7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493" y="2805915"/>
            <a:ext cx="212425" cy="308982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268" y="2805915"/>
            <a:ext cx="212425" cy="30898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85775" y="4229437"/>
            <a:ext cx="24358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residential solar generator by grid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5775" y="4397077"/>
            <a:ext cx="26958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connectivity, fixed off-grid systems segment 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5775" y="4564717"/>
            <a:ext cx="2381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5059" y="4554938"/>
            <a:ext cx="128699" cy="18719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982555" y="4564717"/>
            <a:ext cx="331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" y="473235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In terms of value share by grid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5775" y="489999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connectivity, the fixed off-grid systems segment 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5775" y="5067637"/>
            <a:ext cx="24666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gaining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0479" y="5057858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3067974" y="5067637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5775" y="5235277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6057" y="5225498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743553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5775" y="5453209"/>
            <a:ext cx="26898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Fixed off-grid systems segment is projected 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5775" y="5620849"/>
            <a:ext cx="512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register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316" y="5611070"/>
            <a:ext cx="128699" cy="18719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113812" y="5620849"/>
            <a:ext cx="14824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fixed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5775" y="5788489"/>
            <a:ext cx="24352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grid-connected systems segment in 2036.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38575" y="4229437"/>
            <a:ext cx="19564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Fixed Grid-Connected Systems: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3046" y="4219658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910542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9992" y="4219658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937488" y="4229437"/>
            <a:ext cx="723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38575" y="4397077"/>
            <a:ext cx="82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38575" y="4615009"/>
            <a:ext cx="15204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Fixed Off-Grid Systems: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7029" y="4605230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474525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3975" y="4605230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501471" y="4615009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Grid Connectivity segment is projected to grow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4875" y="6017901"/>
            <a:ext cx="8360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at a CAGR of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0118" y="6007677"/>
            <a:ext cx="134549" cy="195707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485227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Grid Connectivity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Grid Connectivity mix within each region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Grid Connectivity mix within each region (share of 2036 value) · row label = region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Grid Connectivity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777865"/>
            <a:ext cx="11677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Fixed off-grid systems followed by fixed grid-connected systems are expected to be the two most attractive grid connectivity segments in the global residential solar generator market in terms of value 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945505"/>
            <a:ext cx="58415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Fixed Off-Grid systems and fixed Grid-Connected systems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763" y="593572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14258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153" y="593572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19649" y="594550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8622" y="5935726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96118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4012" y="5935726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01508" y="594550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707" y="6103366"/>
            <a:ext cx="128699" cy="18719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11203" y="6113145"/>
            <a:ext cx="44437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Bubbles right of the CAGR-Index line grow faster than the segment average.</a:t>
            </a:r>
          </a:p>
        </p:txBody>
      </p:sp>
      <p:sp>
        <p:nvSpPr>
          <p:cNvPr id="31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ockshield_15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Grid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Grid Connectivity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Fixed Grid-Connected Systems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Fixed Off-Grid Systems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556" y="3674659"/>
            <a:ext cx="395643" cy="575481"/>
          </a:xfrm>
          <a:prstGeom prst="rect">
            <a:avLst/>
          </a:prstGeom>
        </p:spPr>
      </p:pic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881" y="3674659"/>
            <a:ext cx="395643" cy="575481"/>
          </a:xfrm>
          <a:prstGeom prst="rect">
            <a:avLst/>
          </a:prstGeom>
        </p:spPr>
      </p:pic>
      <p:sp>
        <p:nvSpPr>
          <p:cNvPr id="19" name="lockshield_12"/>
          <p:cNvSpPr/>
          <p:nvPr/>
        </p:nvSpPr>
        <p:spPr>
          <a:xfrm>
            <a:off x="238125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ockshield_15"/>
          <p:cNvSpPr/>
          <p:nvPr/>
        </p:nvSpPr>
        <p:spPr>
          <a:xfrm>
            <a:off x="6267450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Grid Connectivity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Grid Connectivity,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Grid Connectivity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192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47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Grid Connectivity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Grid-Connected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Off-Grid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2571750"/>
            <a:ext cx="11906250" cy="405765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26574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Value Analysis, By Grid Connectivity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28956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2981325"/>
            <a:ext cx="11639550" cy="3571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677" y="1589913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2990850"/>
            <a:ext cx="32978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Fixed off-grid systems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236" y="2980626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98345" y="2990850"/>
            <a:ext cx="81380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fixed grid-connected systems segment in 2036. Among residential solar generator by grid connectivity, fixed off-grid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166110"/>
            <a:ext cx="366553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systems 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911" y="3155886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66020" y="31661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3393947"/>
            <a:ext cx="741150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grid connectivity, the fixed off-grid systems segment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883" y="33837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11992" y="33939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135" y="338372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82244" y="3393947"/>
            <a:ext cx="15241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fixed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3569207"/>
            <a:ext cx="316806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grid-connected systems segment is expected to lose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446" y="35589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568555" y="35692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059" y="3558984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31169" y="35692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Grid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Grid Connectivity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Grid Connectivity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2644013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090922" y="2639250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2563050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Grid-Connected Systems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262496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4930203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5090922" y="492544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484924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Off-Grid Systems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491115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Read-out, By Grid Connectivity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829550" y="1400175"/>
            <a:ext cx="36612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grid connectivity, fixed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9550" y="1575435"/>
            <a:ext cx="398501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off-grid systems segment is expected to witness the highest CAGR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550" y="1750695"/>
            <a:ext cx="1977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6422" y="1740471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151531" y="1750695"/>
            <a:ext cx="33814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 In terms of value share by grid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9550" y="1925955"/>
            <a:ext cx="37847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connectivity, the fixed off-grid systems segment is expected 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9550" y="2101215"/>
            <a:ext cx="1837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dominate the market, gaining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5776" y="2090991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790885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6028" y="2090991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29550" y="227647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550" y="2504313"/>
            <a:ext cx="37459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fixed grid-connected systems segment is expected to lose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695" y="249408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29550" y="267957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7054" y="2669349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92163" y="267957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5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7.5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Primary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Primary Application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Primary Application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4 sub-segments of Primary Application,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Primary Application segment categorizes the market by primary application.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Residential Solar Self-Consumption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Supplemental Household Power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Emergency Power Backup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Primary Off-Grid Household Power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Primary Application split shows how demand is distributed across primary application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63" name="Picture 62" descr="3_804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330" y="2286582"/>
            <a:ext cx="1195728" cy="361950"/>
          </a:xfrm>
          <a:prstGeom prst="rect">
            <a:avLst/>
          </a:prstGeom>
        </p:spPr>
      </p:pic>
      <p:pic>
        <p:nvPicPr>
          <p:cNvPr id="64" name="Picture 63" descr="4_663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330" y="2779432"/>
            <a:ext cx="1195728" cy="361950"/>
          </a:xfrm>
          <a:prstGeom prst="rect">
            <a:avLst/>
          </a:prstGeom>
        </p:spPr>
      </p:pic>
      <p:pic>
        <p:nvPicPr>
          <p:cNvPr id="65" name="Picture 64" descr="2_1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976" y="3272281"/>
            <a:ext cx="982436" cy="361950"/>
          </a:xfrm>
          <a:prstGeom prst="rect">
            <a:avLst/>
          </a:prstGeom>
        </p:spPr>
      </p:pic>
      <p:pic>
        <p:nvPicPr>
          <p:cNvPr id="66" name="Picture 65" descr="3_124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218" y="2286582"/>
            <a:ext cx="1195728" cy="361950"/>
          </a:xfrm>
          <a:prstGeom prst="rect">
            <a:avLst/>
          </a:prstGeom>
        </p:spPr>
      </p:pic>
      <p:pic>
        <p:nvPicPr>
          <p:cNvPr id="67" name="Picture 66" descr="6_088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218" y="2779432"/>
            <a:ext cx="1195728" cy="361950"/>
          </a:xfrm>
          <a:prstGeom prst="rect">
            <a:avLst/>
          </a:prstGeom>
        </p:spPr>
      </p:pic>
      <p:pic>
        <p:nvPicPr>
          <p:cNvPr id="68" name="Picture 67" descr="6_9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864" y="3272281"/>
            <a:ext cx="982436" cy="361950"/>
          </a:xfrm>
          <a:prstGeom prst="rect">
            <a:avLst/>
          </a:prstGeom>
        </p:spPr>
      </p:pic>
      <p:pic>
        <p:nvPicPr>
          <p:cNvPr id="69" name="Picture 68" descr="2_935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105" y="2286582"/>
            <a:ext cx="1195728" cy="361950"/>
          </a:xfrm>
          <a:prstGeom prst="rect">
            <a:avLst/>
          </a:prstGeom>
        </p:spPr>
      </p:pic>
      <p:pic>
        <p:nvPicPr>
          <p:cNvPr id="70" name="Picture 69" descr="4_960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105" y="2779432"/>
            <a:ext cx="1195728" cy="361950"/>
          </a:xfrm>
          <a:prstGeom prst="rect">
            <a:avLst/>
          </a:prstGeom>
        </p:spPr>
      </p:pic>
      <p:pic>
        <p:nvPicPr>
          <p:cNvPr id="71" name="Picture 70" descr="5_4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0751" y="3272281"/>
            <a:ext cx="982436" cy="361950"/>
          </a:xfrm>
          <a:prstGeom prst="rect">
            <a:avLst/>
          </a:prstGeom>
        </p:spPr>
      </p:pic>
      <p:pic>
        <p:nvPicPr>
          <p:cNvPr id="72" name="Picture 71" descr="1_037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62992" y="2286582"/>
            <a:ext cx="1195728" cy="361950"/>
          </a:xfrm>
          <a:prstGeom prst="rect">
            <a:avLst/>
          </a:prstGeom>
        </p:spPr>
      </p:pic>
      <p:pic>
        <p:nvPicPr>
          <p:cNvPr id="73" name="Picture 72" descr="2_034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2992" y="2779432"/>
            <a:ext cx="1195728" cy="361950"/>
          </a:xfrm>
          <a:prstGeom prst="rect">
            <a:avLst/>
          </a:prstGeom>
        </p:spPr>
      </p:pic>
      <p:pic>
        <p:nvPicPr>
          <p:cNvPr id="74" name="Picture 73" descr="7_0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9638" y="3272281"/>
            <a:ext cx="982436" cy="361950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0848" y="2827057"/>
            <a:ext cx="183356" cy="266700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9737" y="2827057"/>
            <a:ext cx="183356" cy="266700"/>
          </a:xfrm>
          <a:prstGeom prst="rect">
            <a:avLst/>
          </a:prstGeom>
        </p:spPr>
      </p:pic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8624" y="2827057"/>
            <a:ext cx="183356" cy="266700"/>
          </a:xfrm>
          <a:prstGeom prst="rect">
            <a:avLst/>
          </a:prstGeom>
        </p:spPr>
      </p:pic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7511" y="2827057"/>
            <a:ext cx="183356" cy="2667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85775" y="4229437"/>
            <a:ext cx="2660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residential solar generator by primary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5775" y="4397077"/>
            <a:ext cx="26974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application, primary off-grid household power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5775" y="4564717"/>
            <a:ext cx="28748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is expected to witness the highest CAGR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5775" y="4732357"/>
            <a:ext cx="1924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261" y="4722578"/>
            <a:ext cx="128699" cy="18719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93757" y="4732357"/>
            <a:ext cx="24726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 In terms of value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5775" y="4899997"/>
            <a:ext cx="27616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primary application, the supplemental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5775" y="5067637"/>
            <a:ext cx="24180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household power segment is expected 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5775" y="5235277"/>
            <a:ext cx="17605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dominate the market, gaining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94339" y="5225498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361835" y="5235277"/>
            <a:ext cx="5340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5775" y="5402917"/>
            <a:ext cx="8969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30764" y="5393138"/>
            <a:ext cx="128699" cy="18719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498259" y="540291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5775" y="5620849"/>
            <a:ext cx="25302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Supplemental household power segment 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775" y="5788489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8376" y="5778710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845872" y="5788489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5775" y="5956129"/>
            <a:ext cx="25564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emergency power backup segment in 2036.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38575" y="4229437"/>
            <a:ext cx="221726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Residential Solar Self-Consumption: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03892" y="421965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6171388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0838" y="4219658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7198334" y="4229437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38575" y="4397077"/>
            <a:ext cx="11525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leads the segment.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38575" y="4615009"/>
            <a:ext cx="20546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Supplemental Household Power: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41273" y="4605230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6008769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68219" y="4605230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7035715" y="4615009"/>
            <a:ext cx="7872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8575" y="4782649"/>
            <a:ext cx="5176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niche.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38575" y="5000581"/>
            <a:ext cx="16991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Emergency Power Backup: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5747" y="4990801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5653243" y="500058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3" name="Picture 11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2693" y="4990801"/>
            <a:ext cx="128699" cy="18719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6680189" y="5000581"/>
            <a:ext cx="885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38575" y="5168221"/>
            <a:ext cx="4191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niche.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838575" y="5386153"/>
            <a:ext cx="22066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Primary Off-Grid Household Power:</a:t>
            </a:r>
          </a:p>
        </p:txBody>
      </p:sp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93251" y="5376373"/>
            <a:ext cx="128699" cy="18719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6160747" y="538615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0197" y="5376373"/>
            <a:ext cx="128699" cy="18719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7187693" y="5386153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38575" y="5553793"/>
            <a:ext cx="8677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grows fastest.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24875" y="5842641"/>
            <a:ext cx="300119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Primary Application segment is projected to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24875" y="6017901"/>
            <a:ext cx="117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grow at a CAGR of</a:t>
            </a:r>
          </a:p>
        </p:txBody>
      </p:sp>
      <p:pic>
        <p:nvPicPr>
          <p:cNvPr id="124" name="Picture 123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51852" y="6007677"/>
            <a:ext cx="134549" cy="195707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9826962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Primary Application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Primary Application mix within each region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Primary Application mix within each region (share of 2036 value) · row label = region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Primary Application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694045"/>
            <a:ext cx="116279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Supplemental household power followed by emergency power backup are expected to be the two most attractive primary application segments in the global residential solar generator market in terms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861685"/>
            <a:ext cx="6769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value over the forecast period. Supplemental household power and emergency power backup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5004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42499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394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47890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6863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324359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2253" y="585190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29749" y="5861685"/>
            <a:ext cx="14532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029325"/>
            <a:ext cx="11976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average of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846" y="6019545"/>
            <a:ext cx="128699" cy="18719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0342" y="6029325"/>
            <a:ext cx="102906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primary off-grid household power segment is expected to be less attractive as compared to other segments over the forecast period, owing to its lower CAGR and incremental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175" y="6196965"/>
            <a:ext cx="51228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opportunity. Bubbles right of the CAGR-Index line grow faster than the segment average.</a:t>
            </a:r>
          </a:p>
        </p:txBody>
      </p:sp>
      <p:sp>
        <p:nvSpPr>
          <p:cNvPr id="33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ockshield_15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Primary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Primary Application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Emergency Power Backup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Residential Solar Self-Consumption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Primary Off-Grid Household Power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Supplemental Household Power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7" name="lockshield_12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5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ockshield_18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21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Primary Application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Primary Application,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Primary Application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196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4040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Primary Application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Emergency Power Backup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Residential Solar Self-Consumption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Primary Off-Grid Household Power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Supplemental Household Power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067050"/>
            <a:ext cx="11906250" cy="35623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31527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Value Analysis, By Primary Application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3909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476625"/>
            <a:ext cx="11639550" cy="30765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327" y="1837563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3486150"/>
            <a:ext cx="38963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Supplemental household power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699" y="3475926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96808" y="3486150"/>
            <a:ext cx="73119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emergency power backup segment in 2036. Among residential solar generator by primary application,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661410"/>
            <a:ext cx="52016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primary off-grid household power 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003" y="3651186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02112" y="36614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3889247"/>
            <a:ext cx="81919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primary application, the supplemental household power segment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337" y="38790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92447" y="38892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7590" y="387902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162699" y="3889247"/>
            <a:ext cx="1200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4064507"/>
            <a:ext cx="37725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residential solar self-consumption segment is expected to lose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899" y="40542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73008" y="40645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512" y="4054284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35622" y="40645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Primary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Primary Application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Primary Application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1933266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5090922" y="1928503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185230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Primary Off-Grid Household Power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191421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2796016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5090922" y="2791254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2715054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Residential Solar Self-Consumption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277696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928997" y="4035810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5090922" y="403104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5233797" y="395484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Emergency Power Backup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896100" y="401676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928997" y="5459249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5090922" y="545448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5233797" y="537828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Supplemental Household Power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896100" y="544019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Read-out, By Primary Application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29550" y="1400175"/>
            <a:ext cx="40050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primary application, primary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9550" y="1575435"/>
            <a:ext cx="37140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off-grid household power segment is expected to witness the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1750695"/>
            <a:ext cx="10323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highest CAGR of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1057" y="1740471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86166" y="1750695"/>
            <a:ext cx="25815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 In terms of value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550" y="1925955"/>
            <a:ext cx="39562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primary application, the supplemental household power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9550" y="2101215"/>
            <a:ext cx="32459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dominate the market, gaining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4645" y="2090991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199754" y="2101215"/>
            <a:ext cx="5548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9550" y="2276475"/>
            <a:ext cx="9342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947" y="2266251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88056" y="227647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9550" y="2504313"/>
            <a:ext cx="40263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residential solar self-consumption segment is expected to lose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470" y="2669349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90579" y="267957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084" y="2669349"/>
            <a:ext cx="134549" cy="1957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753193" y="267957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4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7.6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Distribution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Distribution Channel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Distribution Channel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5 sub-segments of Distribution Channel,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Distribution Channel segment categorizes the market by distribution channel.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1908810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Specialist Solar and Electrical C…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2659380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9001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90010" y="1992961"/>
            <a:ext cx="1908810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2811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General Retail Channels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9001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389001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389001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4682490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1312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3120" y="1992961"/>
            <a:ext cx="1908810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5122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Third-Party E-Commerce Marketplac…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1312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91312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591312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6705600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3623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36230" y="1992961"/>
            <a:ext cx="1908810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433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Other Resellers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3623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793623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793623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8728710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5934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59340" y="1992961"/>
            <a:ext cx="1908810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9744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Manufacturer-Direct Sales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5934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995934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995934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10751820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Distribution Channel split shows how demand is distributed across distribution channel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70" name="Picture 69" descr="3_944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441" y="2286582"/>
            <a:ext cx="1195728" cy="361950"/>
          </a:xfrm>
          <a:prstGeom prst="rect">
            <a:avLst/>
          </a:prstGeom>
        </p:spPr>
      </p:pic>
      <p:pic>
        <p:nvPicPr>
          <p:cNvPr id="71" name="Picture 70" descr="5_418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3441" y="2779432"/>
            <a:ext cx="1195728" cy="361950"/>
          </a:xfrm>
          <a:prstGeom prst="rect">
            <a:avLst/>
          </a:prstGeom>
        </p:spPr>
      </p:pic>
      <p:pic>
        <p:nvPicPr>
          <p:cNvPr id="72" name="Picture 71" descr="3_2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0087" y="3272281"/>
            <a:ext cx="982436" cy="361950"/>
          </a:xfrm>
          <a:prstGeom prst="rect">
            <a:avLst/>
          </a:prstGeom>
        </p:spPr>
      </p:pic>
      <p:pic>
        <p:nvPicPr>
          <p:cNvPr id="73" name="Picture 72" descr="3_818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6551" y="2286582"/>
            <a:ext cx="1195728" cy="361950"/>
          </a:xfrm>
          <a:prstGeom prst="rect">
            <a:avLst/>
          </a:prstGeom>
        </p:spPr>
      </p:pic>
      <p:pic>
        <p:nvPicPr>
          <p:cNvPr id="74" name="Picture 73" descr="6_372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6551" y="2779432"/>
            <a:ext cx="1195728" cy="361950"/>
          </a:xfrm>
          <a:prstGeom prst="rect">
            <a:avLst/>
          </a:prstGeom>
        </p:spPr>
      </p:pic>
      <p:pic>
        <p:nvPicPr>
          <p:cNvPr id="75" name="Picture 74" descr="5_3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3197" y="3272281"/>
            <a:ext cx="982436" cy="361950"/>
          </a:xfrm>
          <a:prstGeom prst="rect">
            <a:avLst/>
          </a:prstGeom>
        </p:spPr>
      </p:pic>
      <p:pic>
        <p:nvPicPr>
          <p:cNvPr id="76" name="Picture 75" descr="1_880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9661" y="2286582"/>
            <a:ext cx="1195728" cy="361950"/>
          </a:xfrm>
          <a:prstGeom prst="rect">
            <a:avLst/>
          </a:prstGeom>
        </p:spPr>
      </p:pic>
      <p:pic>
        <p:nvPicPr>
          <p:cNvPr id="77" name="Picture 76" descr="3_623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9661" y="2779432"/>
            <a:ext cx="1195728" cy="361950"/>
          </a:xfrm>
          <a:prstGeom prst="rect">
            <a:avLst/>
          </a:prstGeom>
        </p:spPr>
      </p:pic>
      <p:pic>
        <p:nvPicPr>
          <p:cNvPr id="78" name="Picture 77" descr="6_8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6307" y="3272281"/>
            <a:ext cx="982436" cy="361950"/>
          </a:xfrm>
          <a:prstGeom prst="rect">
            <a:avLst/>
          </a:prstGeom>
        </p:spPr>
      </p:pic>
      <p:pic>
        <p:nvPicPr>
          <p:cNvPr id="79" name="Picture 78" descr="660_5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2771" y="2286582"/>
            <a:ext cx="1195728" cy="361950"/>
          </a:xfrm>
          <a:prstGeom prst="rect">
            <a:avLst/>
          </a:prstGeom>
        </p:spPr>
      </p:pic>
      <p:pic>
        <p:nvPicPr>
          <p:cNvPr id="80" name="Picture 79" descr="1_010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2771" y="2779432"/>
            <a:ext cx="1195728" cy="361950"/>
          </a:xfrm>
          <a:prstGeom prst="rect">
            <a:avLst/>
          </a:prstGeom>
        </p:spPr>
      </p:pic>
      <p:pic>
        <p:nvPicPr>
          <p:cNvPr id="81" name="Picture 80" descr="4_3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9417" y="3272281"/>
            <a:ext cx="982436" cy="361950"/>
          </a:xfrm>
          <a:prstGeom prst="rect">
            <a:avLst/>
          </a:prstGeom>
        </p:spPr>
      </p:pic>
      <p:pic>
        <p:nvPicPr>
          <p:cNvPr id="82" name="Picture 81" descr="598_6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15881" y="2286582"/>
            <a:ext cx="1195728" cy="361950"/>
          </a:xfrm>
          <a:prstGeom prst="rect">
            <a:avLst/>
          </a:prstGeom>
        </p:spPr>
      </p:pic>
      <p:pic>
        <p:nvPicPr>
          <p:cNvPr id="83" name="Picture 82" descr="1_321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15881" y="2779432"/>
            <a:ext cx="1195728" cy="361950"/>
          </a:xfrm>
          <a:prstGeom prst="rect">
            <a:avLst/>
          </a:prstGeom>
        </p:spPr>
      </p:pic>
      <p:pic>
        <p:nvPicPr>
          <p:cNvPr id="84" name="Picture 83" descr="8_2__605E5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22527" y="3272281"/>
            <a:ext cx="982436" cy="361950"/>
          </a:xfrm>
          <a:prstGeom prst="rect">
            <a:avLst/>
          </a:prstGeom>
        </p:spPr>
      </p:pic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27960" y="2827057"/>
            <a:ext cx="183356" cy="266700"/>
          </a:xfrm>
          <a:prstGeom prst="rect">
            <a:avLst/>
          </a:prstGeom>
        </p:spPr>
      </p:pic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51070" y="2827057"/>
            <a:ext cx="183356" cy="266700"/>
          </a:xfrm>
          <a:prstGeom prst="rect">
            <a:avLst/>
          </a:prstGeom>
        </p:spPr>
      </p:pic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74180" y="2827057"/>
            <a:ext cx="183356" cy="266700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97290" y="2827057"/>
            <a:ext cx="183356" cy="266700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0" y="2827057"/>
            <a:ext cx="183356" cy="2667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85775" y="4229437"/>
            <a:ext cx="28767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residential solar generator by distribution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5775" y="4397077"/>
            <a:ext cx="26961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channel, manufacturer-direct sales segment is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5775" y="4564717"/>
            <a:ext cx="2381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15059" y="4554938"/>
            <a:ext cx="128699" cy="18719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2982555" y="4564717"/>
            <a:ext cx="331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5775" y="4732357"/>
            <a:ext cx="26991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In terms of value share by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5775" y="4899997"/>
            <a:ext cx="27938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distribution channel, the general retail channels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5775" y="5067637"/>
            <a:ext cx="26669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is expected to dominate the market,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5775" y="5235277"/>
            <a:ext cx="4857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gaining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9576" y="522549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087072" y="5235277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21557" y="5225498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2589053" y="5235277"/>
            <a:ext cx="5577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5775" y="5402917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5775" y="5620849"/>
            <a:ext cx="27607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General retail channels segment is projected to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5775" y="5788489"/>
            <a:ext cx="512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register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6316" y="5778710"/>
            <a:ext cx="128699" cy="18719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1113812" y="5788489"/>
            <a:ext cx="22789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specialist solar and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5775" y="5956129"/>
            <a:ext cx="213813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electrical channels segment in 2036.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8575" y="4229437"/>
            <a:ext cx="24199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Specialist Solar and Electrical Channels: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06621" y="4219658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6374117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3567" y="4219658"/>
            <a:ext cx="128699" cy="18719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401063" y="4229437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38575" y="4397077"/>
            <a:ext cx="11525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leads the segment.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38575" y="4615009"/>
            <a:ext cx="15828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General Retail Channels:</a:t>
            </a:r>
          </a:p>
        </p:txBody>
      </p:sp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69512" y="4605230"/>
            <a:ext cx="128699" cy="18719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5537008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8" name="Picture 117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6458" y="4605230"/>
            <a:ext cx="128699" cy="187198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6563954" y="461500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38575" y="4832941"/>
            <a:ext cx="243060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Third-Party E-Commerce Marketplaces: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7232" y="4823162"/>
            <a:ext cx="128699" cy="187198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6384728" y="483294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44178" y="4823162"/>
            <a:ext cx="128699" cy="187198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7411674" y="4832941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38575" y="5000581"/>
            <a:ext cx="9094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serves a niche.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38575" y="5218513"/>
            <a:ext cx="10993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Other Resellers: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86019" y="5208733"/>
            <a:ext cx="128699" cy="18719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5053515" y="521851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12966" y="5208733"/>
            <a:ext cx="128699" cy="187198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6080461" y="5218513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38575" y="5436445"/>
            <a:ext cx="17234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Manufacturer-Direct Sales: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10031" y="5426665"/>
            <a:ext cx="128699" cy="18719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5677527" y="5436445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4" name="Picture 133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36977" y="5426665"/>
            <a:ext cx="128699" cy="187198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6704473" y="5436445"/>
            <a:ext cx="7697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38575" y="5604085"/>
            <a:ext cx="4933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fastest.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24875" y="5842641"/>
            <a:ext cx="30488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Distribution Channel segment is projected to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24875" y="6017901"/>
            <a:ext cx="117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grow at a CAGR of</a:t>
            </a:r>
          </a:p>
        </p:txBody>
      </p:sp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51852" y="6007677"/>
            <a:ext cx="134549" cy="195707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9826962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Structure &amp; Attractiveness, By Distribution Channel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Distribution Channel mix within each region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Distribution Channel mix within each region (share of 2036 value) · row label = region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Distribution Channel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694045"/>
            <a:ext cx="11677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General retail channels followed by specialist solar and electrical channels are expected to be the two most attractive distribution channel segments in the global residential solar generator market in terms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861685"/>
            <a:ext cx="71042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value over the forecast period. General retail channels and specialist solar and electrical channels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520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77015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4910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82406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379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58875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6769" y="585190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64265" y="5861685"/>
            <a:ext cx="14532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029325"/>
            <a:ext cx="11976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average of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846" y="6019545"/>
            <a:ext cx="128699" cy="18719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0342" y="6029325"/>
            <a:ext cx="99362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other resellers segment is expected to be less attractive as compared to other segments over the forecast period, owing to its lower CAGR and incremental opportunity.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175" y="6196965"/>
            <a:ext cx="43768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Bubbles right of the CAGR-Index line grow faster than the segment average.</a:t>
            </a:r>
          </a:p>
        </p:txBody>
      </p:sp>
      <p:sp>
        <p:nvSpPr>
          <p:cNvPr id="33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ockshield_15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Distribution Channel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Distribution Channel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Manufacturer-Direct Sales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Third-Party E-Commerce Marketplaces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Specialist Solar and Electrical Channels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General Retail Channels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7" name="lockshield_12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5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ockshield_18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21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Absolute $ Opportunity Analysis, By Distribution Channel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Distribution Channel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Incremental $ Opportunity (US$ Mn), 2026-2036, By Other Resellers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5686425" cy="53054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066800"/>
            <a:ext cx="5610225" cy="40762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Summary of Global Absolute $ Opportunity Analysis, By Distribution 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5550" y="150299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1588720"/>
            <a:ext cx="5610225" cy="496448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4059" y="3583939"/>
            <a:ext cx="402511" cy="5854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5550" y="1598245"/>
            <a:ext cx="48484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2036, general retail channels segment is anticipated to witness an increase of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179" y="1588021"/>
            <a:ext cx="134549" cy="1957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78288" y="1598245"/>
            <a:ext cx="2955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1773505"/>
            <a:ext cx="52940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terms of value as compared to 2026. The general retail channels segment is expected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1948765"/>
            <a:ext cx="25470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create an incremental opportunity of US$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773" y="193854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76882" y="1948765"/>
            <a:ext cx="27561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5550" y="2124025"/>
            <a:ext cx="16798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from 2026 to 2036.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5550" y="2351863"/>
            <a:ext cx="53699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Third-Party E-Commerce marketplaces segment is expected to create an incremental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5550" y="2527123"/>
            <a:ext cx="1208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opportunity of US$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47" y="251689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38756" y="2527123"/>
            <a:ext cx="40263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 from 2026 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2702383"/>
            <a:ext cx="49511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 The specialist solar and electrical channels segment is expected to create 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5550" y="2877643"/>
            <a:ext cx="19568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incremental opportunity of US$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582" y="2867419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86692" y="2877643"/>
            <a:ext cx="32151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5550" y="3052903"/>
            <a:ext cx="12209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from 2026 to 2036.</a:t>
            </a:r>
          </a:p>
        </p:txBody>
      </p:sp>
      <p:sp>
        <p:nvSpPr>
          <p:cNvPr id="36" name="lockshield_12"/>
          <p:cNvSpPr/>
          <p:nvPr/>
        </p:nvSpPr>
        <p:spPr>
          <a:xfrm>
            <a:off x="238125" y="1266825"/>
            <a:ext cx="5686425" cy="53054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Analysis, By Distribution Channel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Distribution Channel,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Value, By Distribution Channel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205" cy="1724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7466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 Channel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Manufacturer-Direct Sales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Third-Party E-Commerce Marketplaces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Specialist Solar and Electrical Channels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General Retail Channels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Resellers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9718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305175"/>
            <a:ext cx="11906250" cy="3324225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33909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Value Analysis, By Distribution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6290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714750"/>
            <a:ext cx="11639550" cy="28384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045" y="1956627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3724275"/>
            <a:ext cx="33720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General retail channels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7402" y="371405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772511" y="3724275"/>
            <a:ext cx="806673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specialist solar and electrical channels segment in 2036. Among residential solar generator by distribution channel,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899535"/>
            <a:ext cx="47201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manufacturer-direct sales 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494" y="388931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20603" y="389953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4127372"/>
            <a:ext cx="76896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distribution channel, the general retail channels segment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005" y="411714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90114" y="412737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258" y="411714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60367" y="4127372"/>
            <a:ext cx="17785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specialist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4302632"/>
            <a:ext cx="34356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solar and electrical channels segment is expected to lose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014" y="4292409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836123" y="4302632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27" y="4292409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98737" y="430263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Market Value &amp; Share Shift, By Distribution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Distribution Channel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Composition, By Distribution Channel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1801441"/>
            <a:ext cx="85725" cy="85725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090922" y="179667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172047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Other Resellers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178239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2101773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5090922" y="209701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202081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Manufacturer-Direct Sales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208272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928997" y="2738762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5090922" y="273400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5233797" y="2657800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Third-Party E-Commerce Marketplaces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896100" y="271971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928997" y="3903636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5090922" y="389887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5233797" y="382267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Specialist Solar and Electrical Channels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896100" y="388458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1" name="FMI Legend Chip"/>
          <p:cNvSpPr/>
          <p:nvPr/>
        </p:nvSpPr>
        <p:spPr>
          <a:xfrm>
            <a:off x="4928997" y="5422653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5090922" y="541789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PS Name 5"/>
          <p:cNvSpPr txBox="1"/>
          <p:nvPr/>
        </p:nvSpPr>
        <p:spPr>
          <a:xfrm>
            <a:off x="5233797" y="5341690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General Retail Channels</a:t>
            </a:r>
          </a:p>
        </p:txBody>
      </p:sp>
      <p:sp>
        <p:nvSpPr>
          <p:cNvPr id="34" name="BPS Value 5"/>
          <p:cNvSpPr txBox="1"/>
          <p:nvPr/>
        </p:nvSpPr>
        <p:spPr>
          <a:xfrm>
            <a:off x="6896100" y="540360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Global Read-out, By Distribution Channel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829550" y="1400175"/>
            <a:ext cx="35420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distribution channel,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550" y="1575435"/>
            <a:ext cx="37308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manufacturer-direct sales segment is expected to witness 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9550" y="1750695"/>
            <a:ext cx="10323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highest CAGR of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1057" y="1740471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86166" y="1750695"/>
            <a:ext cx="25815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 In terms of 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9550" y="1925955"/>
            <a:ext cx="4057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distribution channel, the general retail channels segment 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9550" y="2101215"/>
            <a:ext cx="25753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dominate the market, gaining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4013" y="2090991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29122" y="2101215"/>
            <a:ext cx="12403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29550" y="2276475"/>
            <a:ext cx="2487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482" y="2266251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202591" y="227647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9550" y="2504313"/>
            <a:ext cx="39944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specialist solar and electrical channels segment is expected 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29550" y="2679573"/>
            <a:ext cx="3166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lose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372" y="2669349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270482" y="267957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986" y="2669349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1033096" y="2679573"/>
            <a:ext cx="5796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29550" y="2854832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60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MI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9064" y="525547"/>
            <a:ext cx="1340395" cy="82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94500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6" name="FMI Breaker Title"/>
          <p:cNvSpPr txBox="1"/>
          <p:nvPr/>
        </p:nvSpPr>
        <p:spPr>
          <a:xfrm>
            <a:off x="914400" y="2249805"/>
            <a:ext cx="7239000" cy="9715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Western Europe Market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11855"/>
            <a:ext cx="7124700" cy="2929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Western Europe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Western Europe Market Analysis By Country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Western Europe Market Analysis By Segments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Type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Rated Energy Storage Capacity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Battery Technology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Grid Connectivity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Primary Application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By Distribution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8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Western Europe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Pricing &amp; Price Index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Market Summary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Volume &amp; Value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Country Outlook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Summary, By Volume (Units)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Western Europe market volume growth, incremental opportunity and the geographies driving it,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(UNITS)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(UNITS)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(Units)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915275" y="1627887"/>
            <a:ext cx="41338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8625" y="2037462"/>
            <a:ext cx="38671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15275" y="4037375"/>
            <a:ext cx="413385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8625" y="412310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Growth Drivers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8625" y="4361225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8625" y="4446950"/>
            <a:ext cx="3867150" cy="20332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48625" y="2046987"/>
            <a:ext cx="38259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Western Europe residential solar generator market is projected 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2214627"/>
            <a:ext cx="512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register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9166" y="2204848"/>
            <a:ext cx="128699" cy="187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76662" y="2214627"/>
            <a:ext cx="29643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increase in volume by the end of forecast period,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8625" y="2382267"/>
            <a:ext cx="37812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 Western Europe residential solar generator market volume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8625" y="2549907"/>
            <a:ext cx="5438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stood at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544" y="2540128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708039" y="2549907"/>
            <a:ext cx="22450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Units in 2025 and is expected to reach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1188" y="2540128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068684" y="2549907"/>
            <a:ext cx="5414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Units 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8625" y="2717547"/>
            <a:ext cx="13855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 end, at a CAGR of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274" y="2707768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549770" y="271754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8625" y="2935479"/>
            <a:ext cx="36783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Value is projected to grow faster than volume over the forecast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8625" y="3103119"/>
            <a:ext cx="30497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period, owing to an increase in average selling price.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8625" y="4456475"/>
            <a:ext cx="224270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'Germany' leads regional growth at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0482" y="4446251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415591" y="44564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8625" y="4684312"/>
            <a:ext cx="379676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'Portable Modular Solar Generators'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8625" y="4859572"/>
            <a:ext cx="8073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within Type.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8625" y="5087410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8625" y="5315248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56" name="lockshield_16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ockshield_19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Pricing &amp; Regional Price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average price by sub-segment and price variation by country, highlighting where pricing power sits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52895"/>
            <a:ext cx="7696200" cy="2665040"/>
          </a:xfrm>
          <a:prstGeom prst="roundRect">
            <a:avLst>
              <a:gd name="adj" fmla="val 28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11004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by Type  ·  range across 2021–2036 (US$/Units)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7225" y="333693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7225" y="2865938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7225" y="2394940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7225" y="1923943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7225" y="1452945"/>
            <a:ext cx="70104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7225" y="1452945"/>
            <a:ext cx="0" cy="188399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8650" y="333693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8650" y="286593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8650" y="239494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28650" y="192394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8650" y="145294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MI Scale tick"/>
          <p:cNvSpPr txBox="1"/>
          <p:nvPr/>
        </p:nvSpPr>
        <p:spPr>
          <a:xfrm>
            <a:off x="219075" y="327026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4" name="FMI Scale tick"/>
          <p:cNvSpPr txBox="1"/>
          <p:nvPr/>
        </p:nvSpPr>
        <p:spPr>
          <a:xfrm>
            <a:off x="219075" y="2328265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25" name="FMI Scale tick"/>
          <p:cNvSpPr txBox="1"/>
          <p:nvPr/>
        </p:nvSpPr>
        <p:spPr>
          <a:xfrm>
            <a:off x="219075" y="1386270"/>
            <a:ext cx="38100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825625" y="2507281"/>
            <a:ext cx="0" cy="612271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94180" y="3119552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94180" y="2507281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606550" y="2666724"/>
            <a:ext cx="438150" cy="306463"/>
          </a:xfrm>
          <a:prstGeom prst="rect">
            <a:avLst/>
          </a:prstGeom>
          <a:solidFill>
            <a:srgbClr val="CFE7F5"/>
          </a:solidFill>
          <a:ln w="15875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606550" y="2822189"/>
            <a:ext cx="438150" cy="0"/>
          </a:xfrm>
          <a:prstGeom prst="line">
            <a:avLst/>
          </a:prstGeom>
          <a:ln w="2540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7225" y="2354881"/>
            <a:ext cx="23368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162425" y="1670329"/>
            <a:ext cx="0" cy="741232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030980" y="2411561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30980" y="1670329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943350" y="1863469"/>
            <a:ext cx="438150" cy="371077"/>
          </a:xfrm>
          <a:prstGeom prst="rect">
            <a:avLst/>
          </a:prstGeom>
          <a:solidFill>
            <a:srgbClr val="CFE7F5"/>
          </a:solidFill>
          <a:ln w="15875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943350" y="2051742"/>
            <a:ext cx="438150" cy="0"/>
          </a:xfrm>
          <a:prstGeom prst="line">
            <a:avLst/>
          </a:prstGeom>
          <a:ln w="2540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94025" y="1517929"/>
            <a:ext cx="23368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499225" y="2316286"/>
            <a:ext cx="0" cy="640808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67780" y="2957094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367780" y="2316286"/>
            <a:ext cx="262890" cy="0"/>
          </a:xfrm>
          <a:prstGeom prst="line">
            <a:avLst/>
          </a:prstGeom>
          <a:ln w="17780">
            <a:solidFill>
              <a:srgbClr val="8FB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280150" y="2483311"/>
            <a:ext cx="438150" cy="320768"/>
          </a:xfrm>
          <a:prstGeom prst="rect">
            <a:avLst/>
          </a:prstGeom>
          <a:solidFill>
            <a:srgbClr val="CFE7F5"/>
          </a:solidFill>
          <a:ln w="15875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6280150" y="2646009"/>
            <a:ext cx="438150" cy="0"/>
          </a:xfrm>
          <a:prstGeom prst="line">
            <a:avLst/>
          </a:prstGeom>
          <a:ln w="2540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330825" y="2163886"/>
            <a:ext cx="23368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225" y="3365510"/>
            <a:ext cx="23368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Integrated Solar Gene…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4025" y="3365510"/>
            <a:ext cx="23368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Modular Solar Generat…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0825" y="3365510"/>
            <a:ext cx="23368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Fixed Residential Sol…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2875" y="3772696"/>
            <a:ext cx="7696200" cy="2783689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8125" y="3829846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Country vs Western Europe  ·  2026–2036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19125" y="4302062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19125" y="4679009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19125" y="505595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19125" y="543290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19125" y="5809850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19125" y="4302062"/>
            <a:ext cx="0" cy="1507788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90550" y="4302062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90550" y="4679009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90550" y="505595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90550" y="543290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90550" y="580985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MI Scale tick"/>
          <p:cNvSpPr txBox="1"/>
          <p:nvPr/>
        </p:nvSpPr>
        <p:spPr>
          <a:xfrm>
            <a:off x="138112" y="4235387"/>
            <a:ext cx="442912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+9.0%</a:t>
            </a:r>
          </a:p>
        </p:txBody>
      </p:sp>
      <p:sp>
        <p:nvSpPr>
          <p:cNvPr id="61" name="FMI Scale tick"/>
          <p:cNvSpPr txBox="1"/>
          <p:nvPr/>
        </p:nvSpPr>
        <p:spPr>
          <a:xfrm>
            <a:off x="138112" y="4612334"/>
            <a:ext cx="442912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+4.5%</a:t>
            </a:r>
          </a:p>
        </p:txBody>
      </p:sp>
      <p:sp>
        <p:nvSpPr>
          <p:cNvPr id="62" name="FMI Scale tick"/>
          <p:cNvSpPr txBox="1"/>
          <p:nvPr/>
        </p:nvSpPr>
        <p:spPr>
          <a:xfrm>
            <a:off x="219075" y="4989281"/>
            <a:ext cx="361950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1">
                <a:solidFill>
                  <a:srgbClr val="6C7A89"/>
                </a:solidFill>
                <a:latin typeface="Calibri"/>
              </a:rPr>
              <a:t>Western Europe</a:t>
            </a:r>
          </a:p>
        </p:txBody>
      </p:sp>
      <p:sp>
        <p:nvSpPr>
          <p:cNvPr id="63" name="FMI Scale tick"/>
          <p:cNvSpPr txBox="1"/>
          <p:nvPr/>
        </p:nvSpPr>
        <p:spPr>
          <a:xfrm>
            <a:off x="164306" y="5366228"/>
            <a:ext cx="416719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-4.5%</a:t>
            </a:r>
          </a:p>
        </p:txBody>
      </p:sp>
      <p:sp>
        <p:nvSpPr>
          <p:cNvPr id="64" name="FMI Scale tick"/>
          <p:cNvSpPr txBox="1"/>
          <p:nvPr/>
        </p:nvSpPr>
        <p:spPr>
          <a:xfrm>
            <a:off x="164306" y="5743175"/>
            <a:ext cx="416719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-9.0%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9125" y="5055956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831056" y="4905697"/>
            <a:ext cx="457200" cy="150259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MI Data Label"/>
          <p:cNvSpPr txBox="1"/>
          <p:nvPr/>
        </p:nvSpPr>
        <p:spPr>
          <a:xfrm>
            <a:off x="619125" y="4762822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12119" y="5020705"/>
            <a:ext cx="457200" cy="3525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MI Data Label"/>
          <p:cNvSpPr txBox="1"/>
          <p:nvPr/>
        </p:nvSpPr>
        <p:spPr>
          <a:xfrm>
            <a:off x="1500188" y="4877830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93181" y="5055956"/>
            <a:ext cx="457200" cy="119722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MI Data Label"/>
          <p:cNvSpPr txBox="1"/>
          <p:nvPr/>
        </p:nvSpPr>
        <p:spPr>
          <a:xfrm>
            <a:off x="2381250" y="5185203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74244" y="5055956"/>
            <a:ext cx="457200" cy="246658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MI Data Label"/>
          <p:cNvSpPr txBox="1"/>
          <p:nvPr/>
        </p:nvSpPr>
        <p:spPr>
          <a:xfrm>
            <a:off x="3262312" y="5312139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55306" y="5055956"/>
            <a:ext cx="457200" cy="93114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MI Data Label"/>
          <p:cNvSpPr txBox="1"/>
          <p:nvPr/>
        </p:nvSpPr>
        <p:spPr>
          <a:xfrm>
            <a:off x="4143375" y="5158594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6" name="FMI Data Label"/>
          <p:cNvSpPr txBox="1"/>
          <p:nvPr/>
        </p:nvSpPr>
        <p:spPr>
          <a:xfrm>
            <a:off x="5024438" y="4908073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17431" y="5055956"/>
            <a:ext cx="457200" cy="654229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MI Data Label"/>
          <p:cNvSpPr txBox="1"/>
          <p:nvPr/>
        </p:nvSpPr>
        <p:spPr>
          <a:xfrm>
            <a:off x="5905500" y="5719710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98494" y="4996748"/>
            <a:ext cx="457200" cy="5920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MI Data Label"/>
          <p:cNvSpPr txBox="1"/>
          <p:nvPr/>
        </p:nvSpPr>
        <p:spPr>
          <a:xfrm>
            <a:off x="6786562" y="4853873"/>
            <a:ext cx="881062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9125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Germany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00188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Italy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81250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France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62312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U.K.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43375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Spain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4438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BENELUX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5500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Nordic Countries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86562" y="5967740"/>
            <a:ext cx="881062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Rest of Western Europe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915275" y="1052895"/>
            <a:ext cx="4133850" cy="5503490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48625" y="1138620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48625" y="1376745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48625" y="1462470"/>
            <a:ext cx="3867150" cy="50177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275" y="2327957"/>
            <a:ext cx="128699" cy="187198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075" y="1491005"/>
            <a:ext cx="128699" cy="187198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875" y="2136962"/>
            <a:ext cx="128699" cy="187198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06" y="4735898"/>
            <a:ext cx="128699" cy="187198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369" y="4850906"/>
            <a:ext cx="128699" cy="187198"/>
          </a:xfrm>
          <a:prstGeom prst="rect">
            <a:avLst/>
          </a:prstGeom>
        </p:spPr>
      </p:pic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431" y="5158279"/>
            <a:ext cx="128699" cy="187198"/>
          </a:xfrm>
          <a:prstGeom prst="rect">
            <a:avLst/>
          </a:prstGeom>
        </p:spPr>
      </p:pic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493" y="5285215"/>
            <a:ext cx="128699" cy="187198"/>
          </a:xfrm>
          <a:prstGeom prst="rect">
            <a:avLst/>
          </a:prstGeom>
        </p:spPr>
      </p:pic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556" y="5131670"/>
            <a:ext cx="128699" cy="187198"/>
          </a:xfrm>
          <a:prstGeom prst="rect">
            <a:avLst/>
          </a:prstGeom>
        </p:spPr>
      </p:pic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19" y="4881148"/>
            <a:ext cx="128699" cy="187198"/>
          </a:xfrm>
          <a:prstGeom prst="rect">
            <a:avLst/>
          </a:prstGeom>
        </p:spPr>
      </p:pic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681" y="5692785"/>
            <a:ext cx="128699" cy="187198"/>
          </a:xfrm>
          <a:prstGeom prst="rect">
            <a:avLst/>
          </a:prstGeom>
        </p:spPr>
      </p:pic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43" y="4826949"/>
            <a:ext cx="128699" cy="18719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048625" y="1471995"/>
            <a:ext cx="35266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Portable modular solar generators segment is expected to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48625" y="1647255"/>
            <a:ext cx="26272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command the highest average price of US$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004" y="1637031"/>
            <a:ext cx="134549" cy="195707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10800113" y="1647255"/>
            <a:ext cx="7066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Unit in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48625" y="1822515"/>
            <a:ext cx="35491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 Average selling price of residential solar generator is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48625" y="1997775"/>
            <a:ext cx="10939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estimated at US$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1764" y="1987551"/>
            <a:ext cx="134549" cy="19570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266874" y="1997775"/>
            <a:ext cx="21819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Unit in 2025 and is projected to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48625" y="2173035"/>
            <a:ext cx="99928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increase to US$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060" y="2162811"/>
            <a:ext cx="134549" cy="195707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9172169" y="2173035"/>
            <a:ext cx="110568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Unit by 2036.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48625" y="2400873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is the highest-priced country, while Nordic Countries is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48625" y="2576133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most price-competitive market. Against the Western Europe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48625" y="2751393"/>
            <a:ext cx="5269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price of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680" y="2741169"/>
            <a:ext cx="134549" cy="195707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8699789" y="2751393"/>
            <a:ext cx="27610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US$/Units, 4 of 8 countries price above and 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48625" y="2926653"/>
            <a:ext cx="4775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below.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48625" y="3154490"/>
            <a:ext cx="17817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'Germany' is the dearest at +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512" y="3144267"/>
            <a:ext cx="134549" cy="195707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954621" y="3154490"/>
            <a:ext cx="149448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versus Western Europe,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048625" y="3329750"/>
            <a:ext cx="21719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'Nordic Countries' the cheapest at -</a:t>
            </a:r>
          </a:p>
        </p:txBody>
      </p:sp>
      <p:pic>
        <p:nvPicPr>
          <p:cNvPr id="126" name="Picture 1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9739" y="3319527"/>
            <a:ext cx="134549" cy="195707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0344848" y="3329750"/>
            <a:ext cx="7277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pointing to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48625" y="3505010"/>
            <a:ext cx="34590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premiumisation headroom in the lower-priced countries.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Summary, By Value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Western Europe market value growth, incremental opportunity and the geographies driving it,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32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1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3050" y="1025515"/>
            <a:ext cx="2876550" cy="511104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1627887"/>
            <a:ext cx="769620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685037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(2021–2036)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1913637"/>
          <a:ext cx="7505700" cy="20118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42875" y="4037375"/>
            <a:ext cx="7696200" cy="251901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125" y="4094525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Incremental Market Addition (US$ Mn)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38125" y="4323125"/>
          <a:ext cx="7505700" cy="217611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915275" y="1627887"/>
            <a:ext cx="4133850" cy="3051231"/>
          </a:xfrm>
          <a:prstGeom prst="roundRect">
            <a:avLst>
              <a:gd name="adj" fmla="val 249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8625" y="1713612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8625" y="1951737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8625" y="2037462"/>
            <a:ext cx="3867150" cy="256545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15275" y="4733879"/>
            <a:ext cx="4133850" cy="1822506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8625" y="4819604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Growth Drivers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8625" y="5057729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8625" y="5143454"/>
            <a:ext cx="3867150" cy="1336731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2569" y="1250587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944" y="1250587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844" y="1250587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744" y="1250587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062" y="5157531"/>
            <a:ext cx="289830" cy="4215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48625" y="2046987"/>
            <a:ext cx="35948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Residential solar generator market value in Western Europe 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2214627"/>
            <a:ext cx="12565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increase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232" y="2204848"/>
            <a:ext cx="128699" cy="187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420728" y="2214627"/>
            <a:ext cx="23062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between 2025 and 2036. In 2025, the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8625" y="2382267"/>
            <a:ext cx="38481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residential solar generator market in Western Europe was valued 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8625" y="2549907"/>
            <a:ext cx="3010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706" y="2540128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65202" y="2549907"/>
            <a:ext cx="23258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and is estimated to account for US$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9114" y="2540128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906610" y="2549907"/>
            <a:ext cx="9070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the 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8625" y="2717547"/>
            <a:ext cx="23924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2026, reflecting a Y-o-Y growth rate of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9113" y="2707768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556609" y="271754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8625" y="2935479"/>
            <a:ext cx="3583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market in Western Europe is expected to account for US$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157" y="3093340"/>
            <a:ext cx="128699" cy="18719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202653" y="3103119"/>
            <a:ext cx="14955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2036 at a CAGR of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261" y="3093340"/>
            <a:ext cx="128699" cy="18719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813757" y="3103119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8625" y="3270759"/>
            <a:ext cx="38175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Western Europe is expected to create an incremental opportunity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8625" y="3438399"/>
            <a:ext cx="4489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US$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591" y="3428620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613087" y="3438399"/>
            <a:ext cx="30786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for the overall residential solar generator market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8625" y="3606039"/>
            <a:ext cx="117115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from 2025 to 2036.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8625" y="3823971"/>
            <a:ext cx="28371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Absolute $ value for 2026 is estimated to be US$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3861" y="3814192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1001357" y="3823971"/>
            <a:ext cx="3043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8625" y="5152979"/>
            <a:ext cx="224270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'Germany' leads regional growth at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0482" y="5142755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415591" y="5152979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8625" y="5380816"/>
            <a:ext cx="379676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concentrates in 'Portable Modular Solar Generators'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8625" y="5556076"/>
            <a:ext cx="8073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within Type.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8625" y="5783914"/>
            <a:ext cx="32912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Product innovation and premiumisation lifting value.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8625" y="6011752"/>
            <a:ext cx="27413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Expanding end-use applications and access.</a:t>
            </a:r>
          </a:p>
        </p:txBody>
      </p:sp>
      <p:sp>
        <p:nvSpPr>
          <p:cNvPr id="67" name="lockshield_16"/>
          <p:cNvSpPr/>
          <p:nvPr/>
        </p:nvSpPr>
        <p:spPr>
          <a:xfrm>
            <a:off x="238125" y="1913637"/>
            <a:ext cx="7505700" cy="201182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ockshield_19"/>
          <p:cNvSpPr/>
          <p:nvPr/>
        </p:nvSpPr>
        <p:spPr>
          <a:xfrm>
            <a:off x="238125" y="4323125"/>
            <a:ext cx="7505700" cy="21761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Volume &amp; Value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and value growth of the Western Europe market and the incremental $ opportunity it creates,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4695825" cy="2524125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Market, 2021–2025 (Historical)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4505325" cy="21812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991100" y="981075"/>
            <a:ext cx="7048500" cy="2524125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6350" y="10382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Market, 2026–2036 (Forecast)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086350" y="1266825"/>
          <a:ext cx="6858000" cy="21812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63855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2021–2025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9875" y="363855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VALUE CAGR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76875" y="363855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2026–2031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9675" y="363855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INCREMENTAL $ OPPORTUNITY 2026–2036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875" y="4457700"/>
            <a:ext cx="11906250" cy="2152650"/>
          </a:xfrm>
          <a:prstGeom prst="roundRect">
            <a:avLst>
              <a:gd name="adj" fmla="val 353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225" y="45434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Volume &amp; Value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225" y="478155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225" y="4867275"/>
            <a:ext cx="11639550" cy="1666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5356" y="2029222"/>
            <a:ext cx="202455" cy="29448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694" y="1990329"/>
            <a:ext cx="255933" cy="372266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594" y="3950970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8594" y="3950970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494" y="3950970"/>
            <a:ext cx="157162" cy="228600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294" y="3950970"/>
            <a:ext cx="157162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76225" y="4876800"/>
            <a:ext cx="48069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Residential solar generator market value in Western Europe is expected to increase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1176" y="4867021"/>
            <a:ext cx="128699" cy="18719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198672" y="4876800"/>
            <a:ext cx="64393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between 2025 and 2036. In 2025, the residential solar generator market in Western Europe was valued at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757" y="5034660"/>
            <a:ext cx="128699" cy="18719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30253" y="5044440"/>
            <a:ext cx="23258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and is estimated to account for US$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4166" y="5034660"/>
            <a:ext cx="128699" cy="187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871661" y="5044440"/>
            <a:ext cx="32549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the end of 2026, reflecting a Y-o-Y growth rate of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634" y="5034660"/>
            <a:ext cx="128699" cy="18719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242130" y="5044440"/>
            <a:ext cx="36502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market in Western Europe is expected to account for US$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0464" y="5034660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007960" y="5044440"/>
            <a:ext cx="14955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2036 at a CAGR of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757" y="5202301"/>
            <a:ext cx="128699" cy="1871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30253" y="5212080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225" y="5430012"/>
            <a:ext cx="422190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Western Europe is expected to create an incremental opportunity of US$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6183" y="5420233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613679" y="5430012"/>
            <a:ext cx="6997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for the overall residential solar generator market from 2025 to 2036. Absolute $ value for 2026 is estimated to be US$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757" y="5587873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30253" y="5597652"/>
            <a:ext cx="45536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Mn. Western Europe residential solar generator market is projected to register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999" y="5587873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099494" y="5597652"/>
            <a:ext cx="33149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increase in volume by the end of forecast period, 2036.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6225" y="5815584"/>
            <a:ext cx="39299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Western Europe residential solar generator market volume stood at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4232" y="5805805"/>
            <a:ext cx="128699" cy="1871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321727" y="5815584"/>
            <a:ext cx="22450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Units in 2025 and is expected to reach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876" y="5805805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682372" y="5815584"/>
            <a:ext cx="18824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Units by 2036 end, at a CAGR of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884" y="5805805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680380" y="5815584"/>
            <a:ext cx="27430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Value is projected to grow faster than volume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6225" y="5983224"/>
            <a:ext cx="40519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period, owing to an increase in average selling price.</a:t>
            </a:r>
          </a:p>
        </p:txBody>
      </p:sp>
      <p:sp>
        <p:nvSpPr>
          <p:cNvPr id="59" name="lockshield_12"/>
          <p:cNvSpPr/>
          <p:nvPr/>
        </p:nvSpPr>
        <p:spPr>
          <a:xfrm>
            <a:off x="238125" y="1266825"/>
            <a:ext cx="4505325" cy="21812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ockshield_15"/>
          <p:cNvSpPr/>
          <p:nvPr/>
        </p:nvSpPr>
        <p:spPr>
          <a:xfrm>
            <a:off x="5086350" y="1266825"/>
            <a:ext cx="6858000" cy="21812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Summary Country Indices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outlook ranking 2036 market size, growth and absolute-growth indices to highlight the strongest markets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3933825" cy="2445995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CAGR Index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93011"/>
          <a:ext cx="3743325" cy="210309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42875" y="3489764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2400" y="3565964"/>
          <a:ext cx="3914775" cy="2132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2905"/>
                <a:gridCol w="896654"/>
                <a:gridCol w="611961"/>
                <a:gridCol w="117325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694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19075" y="5707558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1007261"/>
            <a:ext cx="3933825" cy="4928498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0050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2036 Market By Country (US$ Mn)  ·  Top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0050" y="1293011"/>
            <a:ext cx="3743325" cy="2155277"/>
          </a:xfrm>
          <a:prstGeom prst="rect">
            <a:avLst/>
          </a:prstGeom>
          <a:solidFill>
            <a:srgbClr val="3D85C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Germany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0050" y="3448288"/>
            <a:ext cx="2042345" cy="1355135"/>
          </a:xfrm>
          <a:prstGeom prst="rect">
            <a:avLst/>
          </a:prstGeom>
          <a:solidFill>
            <a:srgbClr val="9E7E0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Italy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0050" y="4803423"/>
            <a:ext cx="2042345" cy="1075186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France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2395" y="3448288"/>
            <a:ext cx="885037" cy="1436382"/>
          </a:xfrm>
          <a:prstGeom prst="rect">
            <a:avLst/>
          </a:prstGeom>
          <a:solidFill>
            <a:srgbClr val="40315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U.K.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7431" y="3448288"/>
            <a:ext cx="815944" cy="1436382"/>
          </a:xfrm>
          <a:prstGeom prst="rect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Spain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2395" y="4884670"/>
            <a:ext cx="910117" cy="993939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BENELUX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2512" y="4884670"/>
            <a:ext cx="790863" cy="993939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Nordic Countries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6725" y="1007261"/>
            <a:ext cx="3933825" cy="243686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1975" y="1064411"/>
            <a:ext cx="3743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Top 10 Countries By Absolute Index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181975" y="1293011"/>
          <a:ext cx="3743325" cy="209396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8086725" y="3471510"/>
            <a:ext cx="3933825" cy="2464249"/>
          </a:xfrm>
          <a:prstGeom prst="roundRect">
            <a:avLst>
              <a:gd name="adj" fmla="val 309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096250" y="3547710"/>
          <a:ext cx="3914775" cy="215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636"/>
                <a:gridCol w="1058879"/>
                <a:gridCol w="579068"/>
                <a:gridCol w="111019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Absolute Index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$ Opp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733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162925" y="5716684"/>
            <a:ext cx="37814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875" y="6027028"/>
            <a:ext cx="10858500" cy="602372"/>
          </a:xfrm>
          <a:prstGeom prst="roundRect">
            <a:avLst>
              <a:gd name="adj" fmla="val 126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017" y="2125483"/>
            <a:ext cx="183356" cy="26670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219" y="4515030"/>
            <a:ext cx="330041" cy="480060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086" y="2370649"/>
            <a:ext cx="115252" cy="167639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596" y="4125855"/>
            <a:ext cx="115252" cy="167639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596" y="5341016"/>
            <a:ext cx="115252" cy="167639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7287" y="4166479"/>
            <a:ext cx="115252" cy="167639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777" y="4166479"/>
            <a:ext cx="115252" cy="167639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827" y="5381639"/>
            <a:ext cx="115252" cy="167639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317" y="5381639"/>
            <a:ext cx="115252" cy="167639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1867" y="2120920"/>
            <a:ext cx="183356" cy="266700"/>
          </a:xfrm>
          <a:prstGeom prst="rect">
            <a:avLst/>
          </a:prstGeom>
        </p:spPr>
      </p:pic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8934" y="4510468"/>
            <a:ext cx="330041" cy="48006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57175" y="6160574"/>
            <a:ext cx="38895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residential solar generator market is projected to register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4800" y="6150795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62295" y="6160574"/>
            <a:ext cx="42622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Italy in 2036. Germany posts the highest CAGR Index (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619" y="6150795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40114" y="6160574"/>
            <a:ext cx="789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growing at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8146" y="6150795"/>
            <a:ext cx="128699" cy="18719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545641" y="6160574"/>
            <a:ext cx="7043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the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175" y="6328214"/>
            <a:ext cx="48352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Western Europe benchmark, while Germany offers the largest absolute opportunity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503" y="6318435"/>
            <a:ext cx="128699" cy="1871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207999" y="6328214"/>
            <a:ext cx="33119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of incremental market between 2026 and 2036 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997" y="6318435"/>
            <a:ext cx="128699" cy="18719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635493" y="6328214"/>
            <a:ext cx="20655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Western Europe increment).</a:t>
            </a:r>
          </a:p>
        </p:txBody>
      </p:sp>
      <p:sp>
        <p:nvSpPr>
          <p:cNvPr id="56" name="lockshield_12"/>
          <p:cNvSpPr/>
          <p:nvPr/>
        </p:nvSpPr>
        <p:spPr>
          <a:xfrm>
            <a:off x="238125" y="1293011"/>
            <a:ext cx="3743325" cy="210309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ockshield_27"/>
          <p:cNvSpPr/>
          <p:nvPr/>
        </p:nvSpPr>
        <p:spPr>
          <a:xfrm>
            <a:off x="8181975" y="1293011"/>
            <a:ext cx="3743325" cy="209396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Market Overview (1/4)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market size, competitive landscape and the drivers, restraints and trends shaping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" y="10668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Market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225" y="13049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1390650"/>
            <a:ext cx="11639550" cy="1200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2800350"/>
            <a:ext cx="119062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28860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Competitive Landscape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1242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209925"/>
            <a:ext cx="11639550" cy="10858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4505325"/>
            <a:ext cx="3943350" cy="2124075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4591050"/>
            <a:ext cx="3676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Drivers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225" y="4829175"/>
            <a:ext cx="3676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225" y="4914900"/>
            <a:ext cx="3676650" cy="1638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8625" y="4505325"/>
            <a:ext cx="3819525" cy="2124075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1975" y="45910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Restraints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1975" y="4829175"/>
            <a:ext cx="35528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1975" y="4914900"/>
            <a:ext cx="3552825" cy="1638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10550" y="4505325"/>
            <a:ext cx="3819525" cy="2124075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3900" y="4591050"/>
            <a:ext cx="35528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Trends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43900" y="4829175"/>
            <a:ext cx="35528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3900" y="4914900"/>
            <a:ext cx="3552825" cy="16383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Mix shifting toward 'Portable Modular Solar Generators' and higher-growth tiers.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Germany outpacing the Western Europe average.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Demand broadening across 3 type categories.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1400175"/>
            <a:ext cx="38680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Global residential solar generator market is expected to witness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459" y="1389951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268568" y="1400175"/>
            <a:ext cx="57567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increase in revenue by 2036 end. Global residential solar generator market accounted for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468" y="1389951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149577" y="1400175"/>
            <a:ext cx="129794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 2025, which 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225" y="1575435"/>
            <a:ext cx="17375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increase to US$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897" y="1565211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138006" y="1575435"/>
            <a:ext cx="15275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in 2036 at a CAGR of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714" y="1565211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789824" y="1575435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225" y="1803273"/>
            <a:ext cx="1112151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global residential solar generator market has been analysed on the basis of type, rated energy storage capacity, battery technology and grid connectivity across the globe. Germany 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225" y="1978533"/>
            <a:ext cx="85970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remain the largest market for residential solar generator, while demand in Germany is projected to increase at the highest CAGR of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2380" y="1968309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997489" y="1978533"/>
            <a:ext cx="19608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throughout the forecast period.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6225" y="3219450"/>
            <a:ext cx="58782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market is consolidated: the leading type category 'Portable Modular Solar Generators' holds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43" y="3209226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278752" y="3219450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6225" y="3447287"/>
            <a:ext cx="452758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Demand spans 8 countries and 6 segmentation lenses (3 type categories).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3675125"/>
            <a:ext cx="25998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Germany is the largest country market at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220" y="3664902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000329" y="3675125"/>
            <a:ext cx="916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2036 value.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225" y="4924425"/>
            <a:ext cx="36576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Accelerating uptake of 'Portable Modular Solar Generators'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225" y="5099685"/>
            <a:ext cx="12041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93" y="5089461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20902" y="5099685"/>
            <a:ext cx="4909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225" y="5327522"/>
            <a:ext cx="22509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Fast-growing demand in Germany (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292" y="5317299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651401" y="5327522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6225" y="5555360"/>
            <a:ext cx="35223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Momentum in Primary Off-Grid Household Power within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6225" y="5730620"/>
            <a:ext cx="13107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primary application (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157" y="5720397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711267" y="573062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1975" y="4924425"/>
            <a:ext cx="300518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Slower momentum in 'Portable Integrated Solar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1975" y="5099685"/>
            <a:ext cx="85522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Generators' (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357" y="5089461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351466" y="5099685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1975" y="5327522"/>
            <a:ext cx="32641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Maturing demand in established categories caps the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1975" y="5502782"/>
            <a:ext cx="5622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blended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401" y="5492559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058510" y="5502782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71975" y="5730620"/>
            <a:ext cx="29529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Value concentration in 'Portable Modular Solar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71975" y="5905880"/>
            <a:ext cx="27136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Generators' raises barriers for new entrants.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Supply Side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recent developments, investments and R&amp;D activity shaping the supply side of the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173355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Recent Developments &amp; Key Industry Activities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1390650"/>
            <a:ext cx="5610225" cy="12477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Capacity and product development are concentrating in 'Portable Modular Solar Generators' and Germany.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Portfolio expansion tracks the shift toward higher-growth type categories.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Commercial focus is intensifying across Germany and Germany.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981075"/>
            <a:ext cx="5876925" cy="173355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5550" y="1390650"/>
            <a:ext cx="5610225" cy="12477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2847975"/>
            <a:ext cx="587692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29337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Strategic Acquisitions &amp; New Investments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225" y="31718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225" y="3257550"/>
            <a:ext cx="5610225" cy="9429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847975"/>
            <a:ext cx="587692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5550" y="29337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Substantial Investment in R&amp;D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5550" y="31718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5550" y="3257550"/>
            <a:ext cx="5610225" cy="9429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2875" y="4410075"/>
            <a:ext cx="119062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" y="4467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structure type share (2036)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238125" y="4695825"/>
          <a:ext cx="11715750" cy="18669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892075" y="5514975"/>
            <a:ext cx="89312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964" y="5349744"/>
            <a:ext cx="366052" cy="5324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5550" y="1400175"/>
            <a:ext cx="6841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2026 size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714" y="1390396"/>
            <a:ext cx="128699" cy="187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05210" y="1400175"/>
            <a:ext cx="8783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Mn; 2036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645" y="1390396"/>
            <a:ext cx="128699" cy="1871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099141" y="1400175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5550" y="1618107"/>
            <a:ext cx="991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Forecast CAGR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444" y="1608328"/>
            <a:ext cx="128699" cy="18719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12940" y="1618107"/>
            <a:ext cx="8330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(2026–2036).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5550" y="1836039"/>
            <a:ext cx="30374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category 'Portable Modular Solar Generators'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1059" y="1826260"/>
            <a:ext cx="128699" cy="18719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458555" y="1836039"/>
            <a:ext cx="5430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5550" y="2053970"/>
            <a:ext cx="14494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Lead country Germany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063" y="2044192"/>
            <a:ext cx="128699" cy="1871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870559" y="2053970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5550" y="2271903"/>
            <a:ext cx="15547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Incremental opportunity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384" y="2262124"/>
            <a:ext cx="128699" cy="18719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975880" y="2271903"/>
            <a:ext cx="5607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3267075"/>
            <a:ext cx="53389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Investment is flowing toward the fastest-growing tier 'Portable Modular Solar Generators' (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3237" y="3257296"/>
            <a:ext cx="128699" cy="18719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730733" y="3267075"/>
            <a:ext cx="13666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225" y="3485007"/>
            <a:ext cx="7528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Germany (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148" y="3475228"/>
            <a:ext cx="128699" cy="18719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44644" y="3485007"/>
            <a:ext cx="22628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 is a priority country for new capacity.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6225" y="3702939"/>
            <a:ext cx="39176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Scale players anchor around 'Portable Modular Solar Generators' (</a:t>
            </a:r>
          </a:p>
        </p:txBody>
      </p:sp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1953" y="3693160"/>
            <a:ext cx="128699" cy="18719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309449" y="3702939"/>
            <a:ext cx="4669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5550" y="3267075"/>
            <a:ext cx="541672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R&amp;D aligns with the migration to 'Portable Modular Solar Generators' and adjacent premium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5550" y="3434715"/>
            <a:ext cx="3635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tiers.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5550" y="3652647"/>
            <a:ext cx="39258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Development spend targets type categories gaining share to 2036.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5550" y="3870579"/>
            <a:ext cx="15943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Innovation underpins the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947" y="3860800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015443" y="3870579"/>
            <a:ext cx="9244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CAGR.</a:t>
            </a:r>
          </a:p>
        </p:txBody>
      </p:sp>
      <p:sp>
        <p:nvSpPr>
          <p:cNvPr id="64" name="lockshield_28"/>
          <p:cNvSpPr/>
          <p:nvPr/>
        </p:nvSpPr>
        <p:spPr>
          <a:xfrm>
            <a:off x="238125" y="4695825"/>
            <a:ext cx="11715750" cy="18669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Analysis and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Executive summary of the market approach, differentiating strategy and FMI's analysis and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Overall Market 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225" y="13049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1390650"/>
            <a:ext cx="5610225" cy="1200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981075"/>
            <a:ext cx="5876925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5550" y="1066800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Differentiating Strategy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5550" y="130492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5550" y="1390650"/>
            <a:ext cx="5610225" cy="1200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Differentiate through the high-growth 'Portable Modular Solar Generators' tier and Primary Off-Grid Household Power within primary application.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875" y="2800350"/>
            <a:ext cx="5876925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288607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Market Segment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225" y="3124200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225" y="3209925"/>
            <a:ext cx="5610225" cy="1200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800350"/>
            <a:ext cx="5876925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5550" y="288607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Market Country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5550" y="3124200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5550" y="3209925"/>
            <a:ext cx="5610225" cy="12001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2875" y="4619625"/>
            <a:ext cx="11906250" cy="200025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225" y="47053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Fact.MR Analysis &amp; Recommendation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6225" y="49434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225" y="5029200"/>
            <a:ext cx="11639550" cy="15144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1400175"/>
            <a:ext cx="52926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Balance scale in 'Portable Modular Solar Generators' with targeted growth in 'Portable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1575435"/>
            <a:ext cx="24714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Modular Solar Generators', pursuing the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855" y="1565211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71965" y="1575435"/>
            <a:ext cx="15518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trajectory to 2036.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225" y="3219450"/>
            <a:ext cx="29535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Prioritise 'Portable Modular Solar Generators' (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935" y="3209226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354044" y="3219450"/>
            <a:ext cx="23402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'Portable Modular Solar Generators'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225" y="3394710"/>
            <a:ext cx="5465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anchors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62" y="3384486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47071" y="3394710"/>
            <a:ext cx="5865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value.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5550" y="3219450"/>
            <a:ext cx="13943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 with Germany (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062" y="3209226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24171" y="3219450"/>
            <a:ext cx="18767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capture upside in Germany (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48" y="3209226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825157" y="3219450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5038725"/>
            <a:ext cx="210692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Residential Solar Generator adds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301" y="5028501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07410" y="5038725"/>
            <a:ext cx="18151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of demand to 2036 a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672" y="5028501"/>
            <a:ext cx="134549" cy="1957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446781" y="5038725"/>
            <a:ext cx="8227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× expansion.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6225" y="5266563"/>
            <a:ext cx="63443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Concentrate resources on the leading segment/country while seeding the fastest-growing pockets early.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225" y="5494400"/>
            <a:ext cx="54449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Defend share in 'Portable Modular Solar Generators' as the value anchor of the portfolio.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Scenario Outlook (4/4)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Scenario outlook comparing optimistic, likely and conservative outcomes for 2036 and the CAGR behind 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3943350" cy="69532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8625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0550" y="981075"/>
            <a:ext cx="3819525" cy="69532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5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" y="18669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Residential Solar Generator Market Value (US$ Mn) Scenario Forecast, 2025 &amp; 2036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8125" y="4305300"/>
            <a:ext cx="568642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06342" y="3536317"/>
            <a:ext cx="635826" cy="768983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3936" y="3104671"/>
            <a:ext cx="635826" cy="1200629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5725" y="2917907"/>
            <a:ext cx="635826" cy="1387393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07515" y="2705100"/>
            <a:ext cx="635826" cy="16002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456468" y="2971321"/>
            <a:ext cx="1568418" cy="0"/>
          </a:xfrm>
          <a:prstGeom prst="line">
            <a:avLst/>
          </a:prstGeom>
          <a:ln w="15875">
            <a:solidFill>
              <a:srgbClr val="92D05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570768" y="2866546"/>
            <a:ext cx="1358868" cy="209550"/>
          </a:xfrm>
          <a:prstGeom prst="round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56468" y="2714146"/>
            <a:ext cx="2550207" cy="0"/>
          </a:xfrm>
          <a:prstGeom prst="line">
            <a:avLst/>
          </a:prstGeom>
          <a:ln w="15875">
            <a:solidFill>
              <a:srgbClr val="0078D4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570768" y="2609371"/>
            <a:ext cx="1358868" cy="20955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56468" y="2456971"/>
            <a:ext cx="3531997" cy="0"/>
          </a:xfrm>
          <a:prstGeom prst="line">
            <a:avLst/>
          </a:prstGeom>
          <a:ln w="15875">
            <a:solidFill>
              <a:srgbClr val="80808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570768" y="2352196"/>
            <a:ext cx="1358868" cy="209550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255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2638" y="4333875"/>
            <a:ext cx="762000" cy="1809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2036</a:t>
            </a:r>
          </a:p>
        </p:txBody>
      </p:sp>
      <p:sp>
        <p:nvSpPr>
          <p:cNvPr id="28" name="Oval 27"/>
          <p:cNvSpPr/>
          <p:nvPr/>
        </p:nvSpPr>
        <p:spPr>
          <a:xfrm>
            <a:off x="304800" y="4572000"/>
            <a:ext cx="133350" cy="133350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77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Conservative Scenario</a:t>
            </a:r>
          </a:p>
        </p:txBody>
      </p:sp>
      <p:sp>
        <p:nvSpPr>
          <p:cNvPr id="30" name="Oval 29"/>
          <p:cNvSpPr/>
          <p:nvPr/>
        </p:nvSpPr>
        <p:spPr>
          <a:xfrm>
            <a:off x="2200275" y="4572000"/>
            <a:ext cx="133350" cy="13335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0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Likely Scenario</a:t>
            </a:r>
          </a:p>
        </p:txBody>
      </p:sp>
      <p:sp>
        <p:nvSpPr>
          <p:cNvPr id="32" name="Oval 31"/>
          <p:cNvSpPr/>
          <p:nvPr/>
        </p:nvSpPr>
        <p:spPr>
          <a:xfrm>
            <a:off x="4095750" y="4572000"/>
            <a:ext cx="133350" cy="13335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6725" y="4543425"/>
            <a:ext cx="1647825" cy="190500"/>
          </a:xfrm>
          <a:prstGeom prst="rect">
            <a:avLst/>
          </a:prstGeom>
          <a:noFill/>
        </p:spPr>
        <p:txBody>
          <a:bodyPr wrap="non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Optimistic Scenario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809750"/>
            <a:ext cx="5876925" cy="300990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7450" y="18669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Residential Solar Generator Market Attractiveness Analysis By Region, 2026–2036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267450" y="2266950"/>
          <a:ext cx="5686425" cy="24955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142875" y="4953000"/>
            <a:ext cx="119062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6225" y="50387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Scenario Assumptions &amp; Outlook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6225" y="527685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225" y="5362575"/>
            <a:ext cx="11639550" cy="11906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969" y="1214437"/>
            <a:ext cx="157162" cy="228600"/>
          </a:xfrm>
          <a:prstGeom prst="rect">
            <a:avLst/>
          </a:prstGeom>
        </p:spPr>
      </p:pic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806" y="1214437"/>
            <a:ext cx="157162" cy="228600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1731" y="1214437"/>
            <a:ext cx="157162" cy="228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637332" y="1028326"/>
            <a:ext cx="1030634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OPTIMISTIC (2036)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6321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575" y="1473019"/>
            <a:ext cx="113255" cy="1647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807156" y="1028326"/>
            <a:ext cx="75866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LIKELY (2036)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0158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12" y="1473019"/>
            <a:ext cx="113255" cy="16473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548094" y="1028326"/>
            <a:ext cx="1220636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1">
                <a:solidFill>
                  <a:srgbClr val="6C7A89"/>
                </a:solidFill>
                <a:latin typeface="Calibri"/>
              </a:rPr>
              <a:t>CONSERVATIVE (2036)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12083" y="1481625"/>
            <a:ext cx="357112" cy="166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 b="0">
                <a:solidFill>
                  <a:srgbClr val="6C7A89"/>
                </a:solidFill>
                <a:latin typeface="Calibri"/>
              </a:rPr>
              <a:t>CAGR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337" y="1473019"/>
            <a:ext cx="113255" cy="16473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032418" y="2900912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892697"/>
            <a:ext cx="108107" cy="15724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032418" y="2643737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635522"/>
            <a:ext cx="108107" cy="15724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032418" y="2386562"/>
            <a:ext cx="382383" cy="159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23" b="1">
                <a:solidFill>
                  <a:srgbClr val="FFFFFF"/>
                </a:solidFill>
                <a:latin typeface="Calibri"/>
              </a:rPr>
              <a:t>CAGR: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973" y="2378347"/>
            <a:ext cx="108107" cy="15724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76225" y="5372100"/>
            <a:ext cx="8081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Optimistic: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40" y="5361876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208649" y="5372100"/>
            <a:ext cx="12038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by 2036 at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612" y="5361876"/>
            <a:ext cx="134549" cy="19570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36721" y="5372100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6225" y="5599938"/>
            <a:ext cx="14482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Likely (base forecast):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650" y="5589714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848759" y="5599938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966" y="5589714"/>
            <a:ext cx="134549" cy="19570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671076" y="5599938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6225" y="5827775"/>
            <a:ext cx="9696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Conservative: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994" y="5817552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370103" y="5827775"/>
            <a:ext cx="6980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 Mn at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310" y="5817552"/>
            <a:ext cx="134549" cy="19570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192420" y="582777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6225" y="6055613"/>
            <a:ext cx="36601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Scenarios flex the base forecast's year-on-year growth by ±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509" y="6045390"/>
            <a:ext cx="134549" cy="19570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060618" y="6055613"/>
            <a:ext cx="190068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across the 2026–2036 horizon.</a:t>
            </a:r>
          </a:p>
        </p:txBody>
      </p:sp>
      <p:sp>
        <p:nvSpPr>
          <p:cNvPr id="78" name="lockshield_36"/>
          <p:cNvSpPr/>
          <p:nvPr/>
        </p:nvSpPr>
        <p:spPr>
          <a:xfrm>
            <a:off x="6267450" y="2266950"/>
            <a:ext cx="5686425" cy="2495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9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558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8987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Western Europe Market Analysis By Country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575"/>
            <a:ext cx="8458200" cy="167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Western Europe Residential Solar Generator – Country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Analysis By Country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Share Analysis By Country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Share Analysis By Country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– Country Outlook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analysis of size, growth and share across 8 countries, highlighting where value concentrates,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By Country view breaks the Western Europe market down geographically. Each country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Country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Germany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5" name="Oval 24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Italy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32" name="Oval 31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>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>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> </a:t>
            </a:r>
          </a:p>
        </p:txBody>
      </p:sp>
      <p:sp>
        <p:nvSpPr>
          <p:cNvPr id="39" name="Oval 38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U.K.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6" name="Oval 45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Country Insights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Country Overview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By Country split shows where market value concentrates and where growth is fastest.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demand and access dynamics are rebalancing the geographic mix through 2036.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339922"/>
            <a:ext cx="175498" cy="255270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832772"/>
            <a:ext cx="175498" cy="255270"/>
          </a:xfrm>
          <a:prstGeom prst="rect">
            <a:avLst/>
          </a:prstGeom>
        </p:spPr>
      </p:pic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3325622"/>
            <a:ext cx="175498" cy="255270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339922"/>
            <a:ext cx="175498" cy="255270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832772"/>
            <a:ext cx="175498" cy="255270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3325622"/>
            <a:ext cx="175498" cy="255270"/>
          </a:xfrm>
          <a:prstGeom prst="rect">
            <a:avLst/>
          </a:prstGeom>
        </p:spPr>
      </p:pic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339922"/>
            <a:ext cx="175498" cy="255270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832772"/>
            <a:ext cx="175498" cy="255270"/>
          </a:xfrm>
          <a:prstGeom prst="rect">
            <a:avLst/>
          </a:prstGeom>
        </p:spPr>
      </p:pic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3325622"/>
            <a:ext cx="175498" cy="255270"/>
          </a:xfrm>
          <a:prstGeom prst="rect">
            <a:avLst/>
          </a:prstGeom>
        </p:spPr>
      </p:pic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339922"/>
            <a:ext cx="175498" cy="255270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832772"/>
            <a:ext cx="175498" cy="255270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3325622"/>
            <a:ext cx="175498" cy="25527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85775" y="4229437"/>
            <a:ext cx="26895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residential solar generator market 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5775" y="4397077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376" y="4387298"/>
            <a:ext cx="128699" cy="18719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845872" y="4397077"/>
            <a:ext cx="14486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Italy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5775" y="4564717"/>
            <a:ext cx="267183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2036. Among residential solar generator by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5775" y="4732357"/>
            <a:ext cx="26120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country, Germany is expected to witness the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5775" y="4899997"/>
            <a:ext cx="9907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highest CAGR of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607" y="4890217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592103" y="4899997"/>
            <a:ext cx="1484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5775" y="5117929"/>
            <a:ext cx="27228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 terms of value share by country, Germany is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5775" y="5285569"/>
            <a:ext cx="24666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gaining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479" y="5275790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3067974" y="5285569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5775" y="5453209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057" y="5443430"/>
            <a:ext cx="128699" cy="18719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743553" y="5453209"/>
            <a:ext cx="13029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 Italy 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5775" y="5620849"/>
            <a:ext cx="101235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lose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180" y="5611070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613676" y="5620849"/>
            <a:ext cx="169366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over the forecast period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775" y="5788489"/>
            <a:ext cx="8778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 account for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664" y="5778710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479160" y="5788489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38575" y="4229437"/>
            <a:ext cx="7512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Germany:</a:t>
            </a:r>
          </a:p>
        </p:txBody>
      </p:sp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861" y="4219658"/>
            <a:ext cx="128699" cy="18719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705357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807" y="4219658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5732303" y="4229437"/>
            <a:ext cx="14194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market.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38575" y="4447369"/>
            <a:ext cx="4740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Italy: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644" y="4437590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4428139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590" y="4437590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455086" y="444736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38575" y="4665301"/>
            <a:ext cx="6115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France: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161" y="4655522"/>
            <a:ext cx="128699" cy="18719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565657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107" y="4655522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592603" y="4665301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38575" y="4883233"/>
            <a:ext cx="4622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U.K.:</a:t>
            </a:r>
          </a:p>
        </p:txBody>
      </p:sp>
      <p:pic>
        <p:nvPicPr>
          <p:cNvPr id="113" name="Picture 1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911" y="4873454"/>
            <a:ext cx="128699" cy="18719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4416407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857" y="4873454"/>
            <a:ext cx="128699" cy="18719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5443353" y="4883233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Western Europe market is projected to grow at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24875" y="6017901"/>
            <a:ext cx="6800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a CAGR of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4084" y="6007677"/>
            <a:ext cx="134549" cy="195707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9329193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– Country Outlook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analysis of size, growth and share across 8 countries, highlighting where value concentrates,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By Country view breaks the Western Europe market down geographically. Each country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Country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25" name="Oval 24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BENELUX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32" name="Oval 31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A35313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Nordic Countries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>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>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C7A89"/>
                </a:solidFill>
                <a:latin typeface="Calibri"/>
              </a:rPr>
              <a:t> </a:t>
            </a:r>
          </a:p>
        </p:txBody>
      </p:sp>
      <p:sp>
        <p:nvSpPr>
          <p:cNvPr id="39" name="Oval 38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6C7A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Rest of Western Europe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46" name="Oval 45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3850" y="3854838"/>
            <a:ext cx="115443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946106"/>
            <a:ext cx="112776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Country Insights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46897"/>
            <a:ext cx="112776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219912"/>
            <a:ext cx="112776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35313"/>
                </a:solidFill>
                <a:latin typeface="Calibri"/>
              </a:rPr>
              <a:t/>
            </a:r>
            <a:r>
              <a:rPr sz="1100" b="1">
                <a:solidFill>
                  <a:srgbClr val="A35313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339922"/>
            <a:ext cx="175498" cy="255270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2832772"/>
            <a:ext cx="175498" cy="255270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444" y="3325622"/>
            <a:ext cx="175498" cy="255270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339922"/>
            <a:ext cx="175498" cy="255270"/>
          </a:xfrm>
          <a:prstGeom prst="rect">
            <a:avLst/>
          </a:prstGeom>
        </p:spPr>
      </p:pic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2832772"/>
            <a:ext cx="175498" cy="255270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33" y="3325622"/>
            <a:ext cx="175498" cy="255270"/>
          </a:xfrm>
          <a:prstGeom prst="rect">
            <a:avLst/>
          </a:prstGeom>
        </p:spPr>
      </p:pic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339922"/>
            <a:ext cx="175498" cy="255270"/>
          </a:xfrm>
          <a:prstGeom prst="rect">
            <a:avLst/>
          </a:prstGeom>
        </p:spPr>
      </p:pic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2832772"/>
            <a:ext cx="175498" cy="255270"/>
          </a:xfrm>
          <a:prstGeom prst="rect">
            <a:avLst/>
          </a:prstGeom>
        </p:spPr>
      </p:pic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20" y="3325622"/>
            <a:ext cx="175498" cy="255270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339922"/>
            <a:ext cx="175498" cy="255270"/>
          </a:xfrm>
          <a:prstGeom prst="rect">
            <a:avLst/>
          </a:prstGeom>
        </p:spPr>
      </p:pic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2832772"/>
            <a:ext cx="175498" cy="255270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106" y="3325622"/>
            <a:ext cx="175498" cy="25527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85775" y="4229437"/>
            <a:ext cx="5395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Spain: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28" y="4219658"/>
            <a:ext cx="128699" cy="18719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140824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74" y="4219658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167770" y="4229437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5775" y="4447369"/>
            <a:ext cx="7533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BENELUX: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197" y="4437590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354693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143" y="4437590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381639" y="4447369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5775" y="4665301"/>
            <a:ext cx="118588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Nordic Countries: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713" y="4655522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787209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659" y="4655522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2814155" y="4665301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5775" y="4883233"/>
            <a:ext cx="15820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Rest of Western Europe: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894" y="4873454"/>
            <a:ext cx="128699" cy="18719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2183390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840" y="4873454"/>
            <a:ext cx="128699" cy="18719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3210336" y="4883233"/>
            <a:ext cx="141561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 smaller market.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Analysis, By Country Volume (Units)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volume share by country in 2026 and 2036, highlighting share gains and losses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Country, 2026 &amp; 2036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(2026→2036)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551045" y="1500518"/>
            <a:ext cx="85725" cy="85725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4712970" y="149575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4855845" y="141955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Rest of Western Europe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305550" y="148146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551045" y="1628491"/>
            <a:ext cx="85725" cy="85725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4712970" y="162372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4855845" y="1547528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Nordic Countries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305550" y="160944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551045" y="1812253"/>
            <a:ext cx="85725" cy="8572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4712970" y="180749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4855845" y="173129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BENELUX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305550" y="179320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551045" y="2031471"/>
            <a:ext cx="85725" cy="85725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4712970" y="202670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4855845" y="1950508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Spain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305550" y="201242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1" name="FMI Legend Chip"/>
          <p:cNvSpPr/>
          <p:nvPr/>
        </p:nvSpPr>
        <p:spPr>
          <a:xfrm>
            <a:off x="4551045" y="2294311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4712970" y="228954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PS Name 5"/>
          <p:cNvSpPr txBox="1"/>
          <p:nvPr/>
        </p:nvSpPr>
        <p:spPr>
          <a:xfrm>
            <a:off x="4855845" y="221334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U.K.</a:t>
            </a:r>
          </a:p>
        </p:txBody>
      </p:sp>
      <p:sp>
        <p:nvSpPr>
          <p:cNvPr id="34" name="BPS Value 5"/>
          <p:cNvSpPr txBox="1"/>
          <p:nvPr/>
        </p:nvSpPr>
        <p:spPr>
          <a:xfrm>
            <a:off x="6305550" y="227526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5" name="FMI Legend Chip"/>
          <p:cNvSpPr/>
          <p:nvPr/>
        </p:nvSpPr>
        <p:spPr>
          <a:xfrm>
            <a:off x="4551045" y="2666752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4712970" y="266198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PS Name 6"/>
          <p:cNvSpPr txBox="1"/>
          <p:nvPr/>
        </p:nvSpPr>
        <p:spPr>
          <a:xfrm>
            <a:off x="4855845" y="258578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France</a:t>
            </a:r>
          </a:p>
        </p:txBody>
      </p:sp>
      <p:sp>
        <p:nvSpPr>
          <p:cNvPr id="38" name="BPS Value 6"/>
          <p:cNvSpPr txBox="1"/>
          <p:nvPr/>
        </p:nvSpPr>
        <p:spPr>
          <a:xfrm>
            <a:off x="6305550" y="264770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9" name="FMI Legend Chip"/>
          <p:cNvSpPr/>
          <p:nvPr/>
        </p:nvSpPr>
        <p:spPr>
          <a:xfrm>
            <a:off x="4551045" y="3187833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10800000">
            <a:off x="4712970" y="318307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PS Name 7"/>
          <p:cNvSpPr txBox="1"/>
          <p:nvPr/>
        </p:nvSpPr>
        <p:spPr>
          <a:xfrm>
            <a:off x="4855845" y="310687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Italy</a:t>
            </a:r>
          </a:p>
        </p:txBody>
      </p:sp>
      <p:sp>
        <p:nvSpPr>
          <p:cNvPr id="42" name="BPS Value 7"/>
          <p:cNvSpPr txBox="1"/>
          <p:nvPr/>
        </p:nvSpPr>
        <p:spPr>
          <a:xfrm>
            <a:off x="6305550" y="316878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43" name="FMI Legend Chip"/>
          <p:cNvSpPr/>
          <p:nvPr/>
        </p:nvSpPr>
        <p:spPr>
          <a:xfrm>
            <a:off x="4551045" y="4301765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4712970" y="4297002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PS Name 8"/>
          <p:cNvSpPr txBox="1"/>
          <p:nvPr/>
        </p:nvSpPr>
        <p:spPr>
          <a:xfrm>
            <a:off x="4855845" y="4220802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Germany</a:t>
            </a:r>
          </a:p>
        </p:txBody>
      </p:sp>
      <p:sp>
        <p:nvSpPr>
          <p:cNvPr id="46" name="BPS Value 8"/>
          <p:cNvSpPr txBox="1"/>
          <p:nvPr/>
        </p:nvSpPr>
        <p:spPr>
          <a:xfrm>
            <a:off x="6305550" y="4282715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Regional Highlights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(UNITS)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(UNITS)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867" y="3171825"/>
            <a:ext cx="275034" cy="400050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775" y="6070282"/>
            <a:ext cx="209550" cy="304800"/>
          </a:xfrm>
          <a:prstGeom prst="rect">
            <a:avLst/>
          </a:prstGeom>
        </p:spPr>
      </p:pic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612" y="6070282"/>
            <a:ext cx="209550" cy="304800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537" y="6070282"/>
            <a:ext cx="209550" cy="3048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239000" y="1400175"/>
            <a:ext cx="40629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residential solar generator market is projected to register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1062" y="1389951"/>
            <a:ext cx="134549" cy="19570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426171" y="1400175"/>
            <a:ext cx="1520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39000" y="1575435"/>
            <a:ext cx="42725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higher volume than Italy in 2036. Among residential solar generator by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9000" y="1750695"/>
            <a:ext cx="37165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country, Germany is expected to witness the highest CAGR of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4746" y="1740471"/>
            <a:ext cx="134549" cy="19570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1079855" y="1750695"/>
            <a:ext cx="574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39000" y="1925955"/>
            <a:ext cx="10172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9000" y="2153793"/>
            <a:ext cx="45424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country, Germany is expected to dominate the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39000" y="2329053"/>
            <a:ext cx="9998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market, gaining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006" y="2318829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363115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8258" y="2318829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933367" y="2329053"/>
            <a:ext cx="13587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39000" y="2504313"/>
            <a:ext cx="10549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lose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060" y="2494089"/>
            <a:ext cx="134549" cy="19570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418169" y="250431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673" y="2494089"/>
            <a:ext cx="134549" cy="19570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1180783" y="2504313"/>
            <a:ext cx="4036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39000" y="2679573"/>
            <a:ext cx="5856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2036.</a:t>
            </a:r>
          </a:p>
        </p:txBody>
      </p:sp>
      <p:sp>
        <p:nvSpPr>
          <p:cNvPr id="79" name="lockshield_12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Analysis, By Country Value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value share by country in 2026 and 2036, highlighting share gains and losses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810375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6198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Share and BPS Assessment By Country, 2026 &amp; 2036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09700"/>
          <a:ext cx="4236720" cy="40481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74845" y="1419225"/>
            <a:ext cx="2383155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(2026→2036)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489835" y="3352800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551045" y="1500638"/>
            <a:ext cx="85725" cy="85725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4712970" y="1495876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4855845" y="1419676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Rest of Western Europe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305550" y="148158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551045" y="1624463"/>
            <a:ext cx="85725" cy="85725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4712970" y="161970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4855845" y="1543501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Nordic Countries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305550" y="160541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551045" y="1798186"/>
            <a:ext cx="85725" cy="8572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4712970" y="1793424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4855845" y="1717224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BENELUX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305550" y="177913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551045" y="2015340"/>
            <a:ext cx="85725" cy="85725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4712970" y="201057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4855845" y="1934378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Spain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305550" y="199629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1" name="FMI Legend Chip"/>
          <p:cNvSpPr/>
          <p:nvPr/>
        </p:nvSpPr>
        <p:spPr>
          <a:xfrm>
            <a:off x="4551045" y="2270836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4712970" y="226607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PS Name 5"/>
          <p:cNvSpPr txBox="1"/>
          <p:nvPr/>
        </p:nvSpPr>
        <p:spPr>
          <a:xfrm>
            <a:off x="4855845" y="2189873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U.K.</a:t>
            </a:r>
          </a:p>
        </p:txBody>
      </p:sp>
      <p:sp>
        <p:nvSpPr>
          <p:cNvPr id="34" name="BPS Value 5"/>
          <p:cNvSpPr txBox="1"/>
          <p:nvPr/>
        </p:nvSpPr>
        <p:spPr>
          <a:xfrm>
            <a:off x="6305550" y="225178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5" name="FMI Legend Chip"/>
          <p:cNvSpPr/>
          <p:nvPr/>
        </p:nvSpPr>
        <p:spPr>
          <a:xfrm>
            <a:off x="4551045" y="2633401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4712970" y="262863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PS Name 6"/>
          <p:cNvSpPr txBox="1"/>
          <p:nvPr/>
        </p:nvSpPr>
        <p:spPr>
          <a:xfrm>
            <a:off x="4855845" y="2552439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France</a:t>
            </a:r>
          </a:p>
        </p:txBody>
      </p:sp>
      <p:sp>
        <p:nvSpPr>
          <p:cNvPr id="38" name="BPS Value 6"/>
          <p:cNvSpPr txBox="1"/>
          <p:nvPr/>
        </p:nvSpPr>
        <p:spPr>
          <a:xfrm>
            <a:off x="6305550" y="261435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9" name="FMI Legend Chip"/>
          <p:cNvSpPr/>
          <p:nvPr/>
        </p:nvSpPr>
        <p:spPr>
          <a:xfrm>
            <a:off x="4551045" y="3152448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10800000">
            <a:off x="4712970" y="3147685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PS Name 7"/>
          <p:cNvSpPr txBox="1"/>
          <p:nvPr/>
        </p:nvSpPr>
        <p:spPr>
          <a:xfrm>
            <a:off x="4855845" y="3071485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Italy</a:t>
            </a:r>
          </a:p>
        </p:txBody>
      </p:sp>
      <p:sp>
        <p:nvSpPr>
          <p:cNvPr id="42" name="BPS Value 7"/>
          <p:cNvSpPr txBox="1"/>
          <p:nvPr/>
        </p:nvSpPr>
        <p:spPr>
          <a:xfrm>
            <a:off x="6305550" y="313339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43" name="FMI Legend Chip"/>
          <p:cNvSpPr/>
          <p:nvPr/>
        </p:nvSpPr>
        <p:spPr>
          <a:xfrm>
            <a:off x="4551045" y="4285539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4712970" y="4280777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PS Name 8"/>
          <p:cNvSpPr txBox="1"/>
          <p:nvPr/>
        </p:nvSpPr>
        <p:spPr>
          <a:xfrm>
            <a:off x="4855845" y="4204577"/>
            <a:ext cx="1316355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Germany</a:t>
            </a:r>
          </a:p>
        </p:txBody>
      </p:sp>
      <p:sp>
        <p:nvSpPr>
          <p:cNvPr id="46" name="BPS Value 8"/>
          <p:cNvSpPr txBox="1"/>
          <p:nvPr/>
        </p:nvSpPr>
        <p:spPr>
          <a:xfrm>
            <a:off x="6305550" y="426648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05650" y="981075"/>
            <a:ext cx="4933950" cy="453390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39000" y="1066800"/>
            <a:ext cx="46672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Regional Highlights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39000" y="1304925"/>
            <a:ext cx="46672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9000" y="1390650"/>
            <a:ext cx="4667250" cy="40481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2875" y="5648325"/>
            <a:ext cx="3943350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38625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TOTAL (US$ MN)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10550" y="5648325"/>
            <a:ext cx="3819525" cy="981075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CAGR (2026–2036)</a:t>
            </a:r>
          </a:p>
          <a:p>
            <a:pPr algn="ctr">
              <a:lnSpc>
                <a:spcPct val="95000"/>
              </a:lnSpc>
            </a:pPr>
            <a:r>
              <a:rPr sz="20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867" y="3171825"/>
            <a:ext cx="275034" cy="400050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775" y="6070282"/>
            <a:ext cx="209550" cy="304800"/>
          </a:xfrm>
          <a:prstGeom prst="rect">
            <a:avLst/>
          </a:prstGeom>
        </p:spPr>
      </p:pic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612" y="6070282"/>
            <a:ext cx="209550" cy="304800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537" y="6070282"/>
            <a:ext cx="209550" cy="3048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239000" y="1400175"/>
            <a:ext cx="40629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residential solar generator market is projected to register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1062" y="1389951"/>
            <a:ext cx="134549" cy="19570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426171" y="1400175"/>
            <a:ext cx="1520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39000" y="1575435"/>
            <a:ext cx="46482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higher value than Italy in 2036. Among residential solar generator by country,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9000" y="1750695"/>
            <a:ext cx="31883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is expected to witness the highest CAGR of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6456" y="1740471"/>
            <a:ext cx="134549" cy="19570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551565" y="1750695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39000" y="1925955"/>
            <a:ext cx="500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9000" y="2153793"/>
            <a:ext cx="44186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country, Germany is expected to dominate the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39000" y="2329053"/>
            <a:ext cx="99985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market, gaining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006" y="2318829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363115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8258" y="2318829"/>
            <a:ext cx="134549" cy="19570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933367" y="2329053"/>
            <a:ext cx="13587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39000" y="2504313"/>
            <a:ext cx="10549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lose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060" y="2494089"/>
            <a:ext cx="134549" cy="19570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418169" y="250431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673" y="2494089"/>
            <a:ext cx="134549" cy="19570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1180783" y="2504313"/>
            <a:ext cx="4036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39000" y="2679573"/>
            <a:ext cx="5856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2036.</a:t>
            </a:r>
          </a:p>
        </p:txBody>
      </p:sp>
      <p:sp>
        <p:nvSpPr>
          <p:cNvPr id="79" name="lockshield_12"/>
          <p:cNvSpPr/>
          <p:nvPr/>
        </p:nvSpPr>
        <p:spPr>
          <a:xfrm>
            <a:off x="238125" y="1409700"/>
            <a:ext cx="4236720" cy="40481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Share Analysis, By Country Volume (Units)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volume and share by country, 2021–2036, highlighting the geographies gaining and ceding ground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29337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 Size, By Country (Units)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207" cy="2466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3775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  <a:gridCol w="605496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3714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048125"/>
            <a:ext cx="11906250" cy="2581275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1338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Volume Share Read-out, By Country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3719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457700"/>
            <a:ext cx="11639550" cy="20955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201" y="2328100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4467225"/>
            <a:ext cx="40629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residential solar generator market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87" y="445700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63396" y="4467225"/>
            <a:ext cx="706577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volume than Italy in 2036. Among residential solar generator by country, Germany is expected to witness the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4642485"/>
            <a:ext cx="10323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732" y="463226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32841" y="464248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4870322"/>
            <a:ext cx="549916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volume share by country, Germany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540" y="486009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99650" y="487032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793" y="486009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69902" y="4870322"/>
            <a:ext cx="23704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 expected to lose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553" y="4860099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964663" y="4870322"/>
            <a:ext cx="13461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225" y="5045582"/>
            <a:ext cx="13353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689" y="5035359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735798" y="504558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Share Analysis, By Country Value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and share by country, 2021–2036, highlighting the geographies gaining and ceding ground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29337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 Size, By Country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194" cy="2466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726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  <a:gridCol w="60120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BENELUX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 Countries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7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37147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048125"/>
            <a:ext cx="11906250" cy="2581275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1338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Value Share Read-out, By Country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3719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457700"/>
            <a:ext cx="11639550" cy="20955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670" y="2328100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4467225"/>
            <a:ext cx="40629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Germany residential solar generator market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87" y="445700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63396" y="4467225"/>
            <a:ext cx="74097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Italy in 2036. Among residential solar generator by country, Germany is expected to witness the highest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4642485"/>
            <a:ext cx="5645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15" y="463226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65025" y="464248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4870322"/>
            <a:ext cx="53753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country, Germany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40" y="486009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75850" y="487032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993" y="486009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46102" y="4870322"/>
            <a:ext cx="23704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Italy is expected to lose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753" y="4860099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840862" y="4870322"/>
            <a:ext cx="17671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225" y="5045582"/>
            <a:ext cx="9142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654" y="5035359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14764" y="504558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Trends, By Country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how country volume and value shares shift over 2021–2036, highlighting who gains ground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Volume By Country (Units)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9448800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763125" y="1304925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MI Dense Legend"/>
          <p:cNvSpPr txBox="1"/>
          <p:nvPr/>
        </p:nvSpPr>
        <p:spPr>
          <a:xfrm>
            <a:off x="9839325" y="1362075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15" name="FMI Dense Legend"/>
          <p:cNvSpPr txBox="1"/>
          <p:nvPr/>
        </p:nvSpPr>
        <p:spPr>
          <a:xfrm>
            <a:off x="9839325" y="1533525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3D85C6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Germany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9E7E0A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Italy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89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France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0315E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U.K.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A35313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Spain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80808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BENELUX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E72AE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Nordic Countries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A86F0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Rest of Western Europe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By Country (US$ Mn)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152900"/>
          <a:ext cx="9448800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9763125" y="4191000"/>
            <a:ext cx="2190750" cy="23336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MI Dense Legend"/>
          <p:cNvSpPr txBox="1"/>
          <p:nvPr/>
        </p:nvSpPr>
        <p:spPr>
          <a:xfrm>
            <a:off x="9839325" y="4248150"/>
            <a:ext cx="20574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C7A89"/>
                </a:solidFill>
                <a:latin typeface="Calibri"/>
              </a:rPr>
              <a:t>By segment</a:t>
            </a:r>
          </a:p>
        </p:txBody>
      </p:sp>
      <p:sp>
        <p:nvSpPr>
          <p:cNvPr id="21" name="FMI Dense Legend"/>
          <p:cNvSpPr txBox="1"/>
          <p:nvPr/>
        </p:nvSpPr>
        <p:spPr>
          <a:xfrm>
            <a:off x="9839325" y="4419600"/>
            <a:ext cx="2057400" cy="204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00">
                <a:solidFill>
                  <a:srgbClr val="3D85C6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Germany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9E7E0A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Italy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08189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France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0315E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U.K.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A35313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Spain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80808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BENELUX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0E72AE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Nordic Countries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A86F00"/>
                </a:solidFill>
                <a:latin typeface="Calibri"/>
              </a:rPr>
              <a:t>■  </a:t>
            </a:r>
            <a:r>
              <a:rPr sz="750">
                <a:solidFill>
                  <a:srgbClr val="2E2E2E"/>
                </a:solidFill>
                <a:latin typeface="Calibri"/>
              </a:rPr>
              <a:t>   Rest of Western Europe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434" y="2176405"/>
            <a:ext cx="347145" cy="504938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434" y="5062480"/>
            <a:ext cx="347145" cy="504938"/>
          </a:xfrm>
          <a:prstGeom prst="rect">
            <a:avLst/>
          </a:prstGeom>
        </p:spPr>
      </p:pic>
      <p:sp>
        <p:nvSpPr>
          <p:cNvPr id="25" name="lockshield_12"/>
          <p:cNvSpPr/>
          <p:nvPr/>
        </p:nvSpPr>
        <p:spPr>
          <a:xfrm>
            <a:off x="238125" y="1266825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ckshield_18"/>
          <p:cNvSpPr/>
          <p:nvPr/>
        </p:nvSpPr>
        <p:spPr>
          <a:xfrm>
            <a:off x="238125" y="4152900"/>
            <a:ext cx="9448800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Residential Solar Generator Market Top 7 Countries (2036)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hierarchy of the Western Europe market in 2036, highlighting the leading countries within each region by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market by country  ·  2036 (US$ Mn)  ·  tile size = market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8125" y="1266825"/>
            <a:ext cx="5506520" cy="5305425"/>
          </a:xfrm>
          <a:prstGeom prst="rect">
            <a:avLst/>
          </a:prstGeom>
          <a:solidFill>
            <a:srgbClr val="3D85C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Germany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44645" y="1266825"/>
            <a:ext cx="3387734" cy="2958278"/>
          </a:xfrm>
          <a:prstGeom prst="rect">
            <a:avLst/>
          </a:prstGeom>
          <a:solidFill>
            <a:srgbClr val="9E7E0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Italy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4645" y="4225103"/>
            <a:ext cx="3387734" cy="2347147"/>
          </a:xfrm>
          <a:prstGeom prst="rect">
            <a:avLst/>
          </a:prstGeom>
          <a:solidFill>
            <a:srgbClr val="0081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France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2378" y="1266825"/>
            <a:ext cx="2821497" cy="1631505"/>
          </a:xfrm>
          <a:prstGeom prst="rect">
            <a:avLst/>
          </a:prstGeom>
          <a:solidFill>
            <a:srgbClr val="40315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U.K.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32378" y="2898330"/>
            <a:ext cx="2821497" cy="1504137"/>
          </a:xfrm>
          <a:prstGeom prst="rect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Spain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2378" y="4402467"/>
            <a:ext cx="1509654" cy="2169783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BENELUX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42033" y="4402467"/>
            <a:ext cx="1311842" cy="2169783"/>
          </a:xfrm>
          <a:prstGeom prst="rect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Nordic Countries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759" y="3919537"/>
            <a:ext cx="115252" cy="167639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886" y="2745964"/>
            <a:ext cx="115252" cy="167639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886" y="5398676"/>
            <a:ext cx="115252" cy="167639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500" y="2082577"/>
            <a:ext cx="115252" cy="167639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500" y="3650398"/>
            <a:ext cx="115252" cy="167639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579" y="5487358"/>
            <a:ext cx="115252" cy="167639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327" y="5487358"/>
            <a:ext cx="115252" cy="167639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1621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5050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Western Europe Market Analysis By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90875"/>
            <a:ext cx="8458200" cy="2457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Type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Rated Energy Storage Capacity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Battery Technology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Grid Connectivity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Primary Application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Distribution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10.1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Type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Type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3 sub-segments of Type,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Type segment categorizes the market by type.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3257550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3257550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318135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Modular Solar Generators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325755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3333750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8750" y="1773916"/>
            <a:ext cx="3257550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38750" y="1992961"/>
            <a:ext cx="3257550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6850" y="1773916"/>
            <a:ext cx="318135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Integrated Solar Generators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8750" y="22302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238750" y="2723109"/>
            <a:ext cx="325755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5238750" y="32159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6705600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10600" y="1773916"/>
            <a:ext cx="3257550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10600" y="1992961"/>
            <a:ext cx="3257550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8700" y="1773916"/>
            <a:ext cx="318135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Fixed Residential Solar Power Gen…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0600" y="22302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8610600" y="2723109"/>
            <a:ext cx="325755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8610600" y="3215959"/>
            <a:ext cx="325755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10077450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Type split shows how demand is distributed across type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56" name="Picture 55" descr="222_0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811" y="2286582"/>
            <a:ext cx="1195728" cy="361950"/>
          </a:xfrm>
          <a:prstGeom prst="rect">
            <a:avLst/>
          </a:prstGeom>
        </p:spPr>
      </p:pic>
      <p:pic>
        <p:nvPicPr>
          <p:cNvPr id="57" name="Picture 56" descr="463_8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811" y="2779432"/>
            <a:ext cx="1195728" cy="361950"/>
          </a:xfrm>
          <a:prstGeom prst="rect">
            <a:avLst/>
          </a:prstGeom>
        </p:spPr>
      </p:pic>
      <p:pic>
        <p:nvPicPr>
          <p:cNvPr id="58" name="Picture 57" descr="7_6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4457" y="3272281"/>
            <a:ext cx="982436" cy="361950"/>
          </a:xfrm>
          <a:prstGeom prst="rect">
            <a:avLst/>
          </a:prstGeom>
        </p:spPr>
      </p:pic>
      <p:pic>
        <p:nvPicPr>
          <p:cNvPr id="59" name="Picture 58" descr="191_8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9661" y="2286582"/>
            <a:ext cx="1195728" cy="361950"/>
          </a:xfrm>
          <a:prstGeom prst="rect">
            <a:avLst/>
          </a:prstGeom>
        </p:spPr>
      </p:pic>
      <p:pic>
        <p:nvPicPr>
          <p:cNvPr id="60" name="Picture 59" descr="280_7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9661" y="2779432"/>
            <a:ext cx="1195728" cy="361950"/>
          </a:xfrm>
          <a:prstGeom prst="rect">
            <a:avLst/>
          </a:prstGeom>
        </p:spPr>
      </p:pic>
      <p:pic>
        <p:nvPicPr>
          <p:cNvPr id="61" name="Picture 60" descr="3_9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6307" y="3272281"/>
            <a:ext cx="982436" cy="361950"/>
          </a:xfrm>
          <a:prstGeom prst="rect">
            <a:avLst/>
          </a:prstGeom>
        </p:spPr>
      </p:pic>
      <p:pic>
        <p:nvPicPr>
          <p:cNvPr id="62" name="Picture 61" descr="133_9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1511" y="2286582"/>
            <a:ext cx="1195728" cy="361950"/>
          </a:xfrm>
          <a:prstGeom prst="rect">
            <a:avLst/>
          </a:prstGeom>
        </p:spPr>
      </p:pic>
      <p:pic>
        <p:nvPicPr>
          <p:cNvPr id="63" name="Picture 62" descr="199_2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1511" y="2779432"/>
            <a:ext cx="1195728" cy="361950"/>
          </a:xfrm>
          <a:prstGeom prst="rect">
            <a:avLst/>
          </a:prstGeom>
        </p:spPr>
      </p:pic>
      <p:pic>
        <p:nvPicPr>
          <p:cNvPr id="64" name="Picture 63" descr="4_1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48157" y="3272281"/>
            <a:ext cx="982436" cy="361950"/>
          </a:xfrm>
          <a:prstGeom prst="rect">
            <a:avLst/>
          </a:prstGeom>
        </p:spPr>
      </p:pic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2330" y="2827057"/>
            <a:ext cx="183356" cy="266700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4180" y="2827057"/>
            <a:ext cx="183356" cy="266700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6030" y="2827057"/>
            <a:ext cx="183356" cy="2667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85775" y="4229437"/>
            <a:ext cx="290250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Among residential solar generator by type, portable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5775" y="4390371"/>
            <a:ext cx="27497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modular solar generators segment is expected 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5775" y="4551305"/>
            <a:ext cx="161113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witness the highest CAGR of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43993" y="4541917"/>
            <a:ext cx="123551" cy="17971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204789" y="4551305"/>
            <a:ext cx="100791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over the forecast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5775" y="4712240"/>
            <a:ext cx="29146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period. In terms of value share by type, the portable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5775" y="4873174"/>
            <a:ext cx="27497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modular solar generators segment is expected to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5775" y="5034109"/>
            <a:ext cx="169314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dominate the market, gaining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25996" y="5024721"/>
            <a:ext cx="123551" cy="17971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286792" y="5034109"/>
            <a:ext cx="51573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5775" y="5195043"/>
            <a:ext cx="8641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6964" y="5185655"/>
            <a:ext cx="123551" cy="17971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457760" y="5195043"/>
            <a:ext cx="87510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5775" y="5404258"/>
            <a:ext cx="25667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Portable modular solar generators segment 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5775" y="5565192"/>
            <a:ext cx="119781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0672" y="5555804"/>
            <a:ext cx="123551" cy="17971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791468" y="5565192"/>
            <a:ext cx="112866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5775" y="5726126"/>
            <a:ext cx="269478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portable integrated solar generators segment in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5775" y="5887061"/>
            <a:ext cx="38240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38575" y="4229437"/>
            <a:ext cx="22221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Portable Modular Solar Generators: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8804" y="4219658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176299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5750" y="4219658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203246" y="4229437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38575" y="4397077"/>
            <a:ext cx="11525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leads the segment.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38575" y="4615009"/>
            <a:ext cx="23307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Portable Integrated Solar Generators: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17399" y="4605230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284894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4345" y="4605230"/>
            <a:ext cx="128699" cy="18719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7311840" y="4615009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38575" y="4782649"/>
            <a:ext cx="9094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serves a niche.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38575" y="5000581"/>
            <a:ext cx="3083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08189"/>
                </a:solidFill>
                <a:latin typeface="Calibri"/>
              </a:rPr>
              <a:t>● Fixed Residential Solar Power Generator Systems: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70469" y="4990801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7037965" y="5000581"/>
            <a:ext cx="8573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08189"/>
                </a:solidFill>
                <a:latin typeface="Calibri"/>
              </a:rPr>
              <a:t>of 2026 value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38575" y="5168221"/>
            <a:ext cx="1135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08189"/>
                </a:solidFill>
                <a:latin typeface="Calibri"/>
              </a:rPr>
              <a:t>·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00207" y="5158441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4067703" y="5168221"/>
            <a:ext cx="12846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08189"/>
                </a:solidFill>
                <a:latin typeface="Calibri"/>
              </a:rPr>
              <a:t>CAGR serves a niche.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Type segment is projected to grow at a CAGR of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10795" y="6007677"/>
            <a:ext cx="134549" cy="195707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8685904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Type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Type mix within each country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Type mix within each country (share of 2036 value) · row label = country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Type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266825"/>
          <a:ext cx="5210175" cy="3981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694045"/>
            <a:ext cx="1158344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Portable modular solar generators followed by portable integrated solar generators are expected to be the two most attractive type segments in the Western Europe residential solar generator market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861685"/>
            <a:ext cx="801916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terms of value over the forecast period. Portable modular solar generators and portable integrated solar generators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4391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91887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9781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97277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6250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73746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1641" y="585190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7175" y="602932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579" y="6019545"/>
            <a:ext cx="128699" cy="18719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979074" y="6029325"/>
            <a:ext cx="87010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fixed residential solar power generator systems segment is expected to be less attractive as compared to other segments over the forecast period,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175" y="6196965"/>
            <a:ext cx="748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owing to its lower CAGR and incremental opportunity. Bubbles right of the CAGR-Index line grow faster than the segment average.</a:t>
            </a:r>
          </a:p>
        </p:txBody>
      </p:sp>
      <p:sp>
        <p:nvSpPr>
          <p:cNvPr id="32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ockshield_15"/>
          <p:cNvSpPr/>
          <p:nvPr/>
        </p:nvSpPr>
        <p:spPr>
          <a:xfrm>
            <a:off x="6734175" y="1266825"/>
            <a:ext cx="5210175" cy="39814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Type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Portable Integrated Solar Generators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Portable Modular Solar Generators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Fixed Residential Solar Power Generator Systems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0" y="3952875"/>
            <a:ext cx="56102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Summary of Western Europe Absolute $ Opportunity Analysis, By 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5550" y="4191000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5550" y="4276725"/>
            <a:ext cx="5610225" cy="2266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05550" y="4286250"/>
            <a:ext cx="55439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2036, portable modular solar generators segment is anticipated to witness an increase of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470" y="4451286"/>
            <a:ext cx="134549" cy="1957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66579" y="4461510"/>
            <a:ext cx="53799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 terms of value as compared to 2026. The portable modular solar generators segment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50" y="4636770"/>
            <a:ext cx="34091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is expected to create an incremental opportunity of US$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3810" y="4626546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838919" y="4636770"/>
            <a:ext cx="18122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5550" y="4812029"/>
            <a:ext cx="26238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solar generator market from 2026 to 2036.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5550" y="5039867"/>
            <a:ext cx="52384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portable integrated solar generators segment is expected to create an incremental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5550" y="5215127"/>
            <a:ext cx="1208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opportunity of US$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3647" y="5204904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38756" y="5215127"/>
            <a:ext cx="40263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 from 2026 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5390387"/>
            <a:ext cx="551456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 The fixed residential solar power generator systems segment is expected to create 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5550" y="5565647"/>
            <a:ext cx="19568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incremental opportunity of US$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582" y="5555424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86692" y="5565647"/>
            <a:ext cx="32151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5550" y="5740907"/>
            <a:ext cx="12209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from 2026 to 2036.</a:t>
            </a:r>
          </a:p>
        </p:txBody>
      </p:sp>
      <p:sp>
        <p:nvSpPr>
          <p:cNvPr id="43" name="lockshield_12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ockshield_15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ockshield_18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Type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Type,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Type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201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3625"/>
                <a:gridCol w="518606"/>
                <a:gridCol w="518606"/>
                <a:gridCol w="518606"/>
                <a:gridCol w="518606"/>
                <a:gridCol w="518606"/>
                <a:gridCol w="500338"/>
                <a:gridCol w="495118"/>
                <a:gridCol w="495118"/>
                <a:gridCol w="495118"/>
                <a:gridCol w="495118"/>
                <a:gridCol w="495118"/>
                <a:gridCol w="495118"/>
                <a:gridCol w="495118"/>
                <a:gridCol w="495118"/>
                <a:gridCol w="495118"/>
                <a:gridCol w="495118"/>
                <a:gridCol w="58902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Portable Integrated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Portable Modular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Residential Solar Power Generator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2819400"/>
            <a:ext cx="1190625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29051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Value Analysis, By 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14325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228975"/>
            <a:ext cx="11639550" cy="33242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122" y="1713738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3238500"/>
            <a:ext cx="40429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Portable modular solar generators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319" y="3228276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43429" y="3238500"/>
            <a:ext cx="704466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portable integrated solar generators segment in 2036. Among residential solar generator by type,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413760"/>
            <a:ext cx="52324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portable modular solar generators 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10" y="3403536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32919" y="341376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3641597"/>
            <a:ext cx="74571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type, the portable modular solar generators segment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523" y="363137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57633" y="364159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776" y="363137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427885" y="3641597"/>
            <a:ext cx="17400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portable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3816857"/>
            <a:ext cx="33800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integrated solar generators segment is expected to lose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389" y="380663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780498" y="381685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003" y="3806634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43112" y="381685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Type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Type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2153797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090922" y="2149035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2072835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Fixed Residential Solar Power Generator Systems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2134747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3316353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5090922" y="3311591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323539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Integrated Solar Generators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329730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928997" y="5120003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5090922" y="511524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5233797" y="503904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Modular Solar Generators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896100" y="510095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Read-out, By Type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829550" y="1400175"/>
            <a:ext cx="40107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type, portable modular solar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9550" y="1575435"/>
            <a:ext cx="383582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generators segment is expected to witness the highest CAGR of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4532" y="1565211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29550" y="1750695"/>
            <a:ext cx="36840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 In terms of value share by type, 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9550" y="1925955"/>
            <a:ext cx="4057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portable modular solar generators segment is expected to dominate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9550" y="2101215"/>
            <a:ext cx="12314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market, gaining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182" y="2090991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85291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0434" y="2090991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755543" y="210121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9550" y="2329053"/>
            <a:ext cx="39003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portable integrated solar generators segment is expected 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550" y="2504313"/>
            <a:ext cx="3166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lose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372" y="2494089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270482" y="250431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986" y="2494089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033096" y="2504313"/>
            <a:ext cx="5796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9550" y="2679573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50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10.2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Rated Energy Storage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Rated Energy Storage Capacity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Rated Energy Storage Capacity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5 sub-segments of Rated Energy Storage Capacity,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Rated Energy Storage Capacity segment categorizes the market by rated energy storage capacity.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1908810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Up to 1 kWh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2659380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9001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90010" y="1992961"/>
            <a:ext cx="1908810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2811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389001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389001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389001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4682490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1312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3120" y="1992961"/>
            <a:ext cx="1908810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5122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91312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91312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591312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6705600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3623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36230" y="1992961"/>
            <a:ext cx="1908810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433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793623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793623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793623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8728710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5934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59340" y="1992961"/>
            <a:ext cx="1908810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9744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995934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995934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995934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10751820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Rated Energy Storage Capacity split shows how demand is distributed across rated energy storage capacity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70" name="Picture 69" descr="184_0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441" y="2286582"/>
            <a:ext cx="1195728" cy="361950"/>
          </a:xfrm>
          <a:prstGeom prst="rect">
            <a:avLst/>
          </a:prstGeom>
        </p:spPr>
      </p:pic>
      <p:pic>
        <p:nvPicPr>
          <p:cNvPr id="71" name="Picture 70" descr="313_7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3441" y="2779432"/>
            <a:ext cx="1195728" cy="361950"/>
          </a:xfrm>
          <a:prstGeom prst="rect">
            <a:avLst/>
          </a:prstGeom>
        </p:spPr>
      </p:pic>
      <p:pic>
        <p:nvPicPr>
          <p:cNvPr id="72" name="Picture 71" descr="5_5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0087" y="3272281"/>
            <a:ext cx="982436" cy="361950"/>
          </a:xfrm>
          <a:prstGeom prst="rect">
            <a:avLst/>
          </a:prstGeom>
        </p:spPr>
      </p:pic>
      <p:pic>
        <p:nvPicPr>
          <p:cNvPr id="73" name="Picture 72" descr="1_3_kWh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7197" y="1860245"/>
            <a:ext cx="1194430" cy="265429"/>
          </a:xfrm>
          <a:prstGeom prst="rect">
            <a:avLst/>
          </a:prstGeom>
        </p:spPr>
      </p:pic>
      <p:pic>
        <p:nvPicPr>
          <p:cNvPr id="74" name="Picture 73" descr="106_5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6551" y="2286582"/>
            <a:ext cx="1195728" cy="361950"/>
          </a:xfrm>
          <a:prstGeom prst="rect">
            <a:avLst/>
          </a:prstGeom>
        </p:spPr>
      </p:pic>
      <p:pic>
        <p:nvPicPr>
          <p:cNvPr id="75" name="Picture 74" descr="169_7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6551" y="2779432"/>
            <a:ext cx="1195728" cy="361950"/>
          </a:xfrm>
          <a:prstGeom prst="rect">
            <a:avLst/>
          </a:prstGeom>
        </p:spPr>
      </p:pic>
      <p:pic>
        <p:nvPicPr>
          <p:cNvPr id="76" name="Picture 75" descr="4_8_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3197" y="3272281"/>
            <a:ext cx="982436" cy="361950"/>
          </a:xfrm>
          <a:prstGeom prst="rect">
            <a:avLst/>
          </a:prstGeom>
        </p:spPr>
      </p:pic>
      <p:pic>
        <p:nvPicPr>
          <p:cNvPr id="77" name="Picture 76" descr="10_20_kWh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3893" y="1860245"/>
            <a:ext cx="1507258" cy="265429"/>
          </a:xfrm>
          <a:prstGeom prst="rect">
            <a:avLst/>
          </a:prstGeom>
        </p:spPr>
      </p:pic>
      <p:pic>
        <p:nvPicPr>
          <p:cNvPr id="78" name="Picture 77" descr="105_1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9661" y="2286582"/>
            <a:ext cx="1195728" cy="361950"/>
          </a:xfrm>
          <a:prstGeom prst="rect">
            <a:avLst/>
          </a:prstGeom>
        </p:spPr>
      </p:pic>
      <p:pic>
        <p:nvPicPr>
          <p:cNvPr id="79" name="Picture 78" descr="214_5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9661" y="2779432"/>
            <a:ext cx="1195728" cy="361950"/>
          </a:xfrm>
          <a:prstGeom prst="rect">
            <a:avLst/>
          </a:prstGeom>
        </p:spPr>
      </p:pic>
      <p:pic>
        <p:nvPicPr>
          <p:cNvPr id="80" name="Picture 79" descr="7_4_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6307" y="3272281"/>
            <a:ext cx="982436" cy="361950"/>
          </a:xfrm>
          <a:prstGeom prst="rect">
            <a:avLst/>
          </a:prstGeom>
        </p:spPr>
      </p:pic>
      <p:pic>
        <p:nvPicPr>
          <p:cNvPr id="81" name="Picture 80" descr="3_10_kWh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5210" y="1860245"/>
            <a:ext cx="1350844" cy="265429"/>
          </a:xfrm>
          <a:prstGeom prst="rect">
            <a:avLst/>
          </a:prstGeom>
        </p:spPr>
      </p:pic>
      <p:pic>
        <p:nvPicPr>
          <p:cNvPr id="82" name="Picture 81" descr="101_8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2771" y="2286582"/>
            <a:ext cx="1195728" cy="361950"/>
          </a:xfrm>
          <a:prstGeom prst="rect">
            <a:avLst/>
          </a:prstGeom>
        </p:spPr>
      </p:pic>
      <p:pic>
        <p:nvPicPr>
          <p:cNvPr id="83" name="Picture 82" descr="148_4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92771" y="2779432"/>
            <a:ext cx="1195728" cy="361950"/>
          </a:xfrm>
          <a:prstGeom prst="rect">
            <a:avLst/>
          </a:prstGeom>
        </p:spPr>
      </p:pic>
      <p:pic>
        <p:nvPicPr>
          <p:cNvPr id="84" name="Picture 83" descr="3_8__605E5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99417" y="3272281"/>
            <a:ext cx="982436" cy="361950"/>
          </a:xfrm>
          <a:prstGeom prst="rect">
            <a:avLst/>
          </a:prstGeom>
        </p:spPr>
      </p:pic>
      <p:pic>
        <p:nvPicPr>
          <p:cNvPr id="85" name="Picture 84" descr="20_kWh_605E5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97104" y="1860245"/>
            <a:ext cx="1033277" cy="265429"/>
          </a:xfrm>
          <a:prstGeom prst="rect">
            <a:avLst/>
          </a:prstGeom>
        </p:spPr>
      </p:pic>
      <p:pic>
        <p:nvPicPr>
          <p:cNvPr id="86" name="Picture 85" descr="50_4_605E5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22527" y="2286582"/>
            <a:ext cx="982436" cy="361950"/>
          </a:xfrm>
          <a:prstGeom prst="rect">
            <a:avLst/>
          </a:prstGeom>
        </p:spPr>
      </p:pic>
      <p:pic>
        <p:nvPicPr>
          <p:cNvPr id="87" name="Picture 86" descr="97_3_605E5C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22527" y="2779432"/>
            <a:ext cx="982436" cy="361950"/>
          </a:xfrm>
          <a:prstGeom prst="rect">
            <a:avLst/>
          </a:prstGeom>
        </p:spPr>
      </p:pic>
      <p:pic>
        <p:nvPicPr>
          <p:cNvPr id="88" name="Picture 87" descr="6_8__605E5C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22527" y="3272281"/>
            <a:ext cx="982436" cy="361950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27960" y="2827057"/>
            <a:ext cx="183356" cy="266700"/>
          </a:xfrm>
          <a:prstGeom prst="rect">
            <a:avLst/>
          </a:prstGeom>
        </p:spPr>
      </p:pic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51070" y="2598885"/>
            <a:ext cx="183356" cy="266700"/>
          </a:xfrm>
          <a:prstGeom prst="rect">
            <a:avLst/>
          </a:prstGeom>
        </p:spPr>
      </p:pic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74180" y="2598885"/>
            <a:ext cx="183356" cy="266700"/>
          </a:xfrm>
          <a:prstGeom prst="rect">
            <a:avLst/>
          </a:prstGeom>
        </p:spPr>
      </p:pic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06302" y="1872486"/>
            <a:ext cx="165652" cy="240948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97290" y="2827057"/>
            <a:ext cx="183356" cy="266700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20400" y="2598885"/>
            <a:ext cx="183356" cy="26670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485775" y="422943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residential solar generator by rated energy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5775" y="4397077"/>
            <a:ext cx="268329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storage capacity, above 10-20 kwh segment is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5775" y="4564717"/>
            <a:ext cx="2381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15059" y="4554938"/>
            <a:ext cx="128699" cy="18719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2982555" y="4564717"/>
            <a:ext cx="331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5775" y="4732357"/>
            <a:ext cx="26991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In terms of value share by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5775" y="4899997"/>
            <a:ext cx="271958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rated energy storage capacity, the up to 1 kwh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5775" y="5067637"/>
            <a:ext cx="26669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is expected to dominate the market,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5775" y="5235277"/>
            <a:ext cx="40798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losing</a:t>
            </a:r>
          </a:p>
        </p:txBody>
      </p:sp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1814" y="5225498"/>
            <a:ext cx="128699" cy="18719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009309" y="5235277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43794" y="5225498"/>
            <a:ext cx="128699" cy="18719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2511290" y="5235277"/>
            <a:ext cx="5577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5775" y="5402917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5775" y="5620849"/>
            <a:ext cx="26041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Up to 1 kwh segment is projected to register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37996" y="5611070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3205492" y="5620849"/>
            <a:ext cx="1487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5775" y="5788489"/>
            <a:ext cx="27335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higher value than above 10-20 kwh segment in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5775" y="5956129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38575" y="4229437"/>
            <a:ext cx="9405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Up to 1 kWh: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27220" y="4219658"/>
            <a:ext cx="128699" cy="18719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4894716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54166" y="4219658"/>
            <a:ext cx="128699" cy="18719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5921662" y="4229437"/>
            <a:ext cx="15034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 segment.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838575" y="4447369"/>
            <a:ext cx="11261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Above 1–3 kWh:</a:t>
            </a:r>
          </a:p>
        </p:txBody>
      </p:sp>
      <p:pic>
        <p:nvPicPr>
          <p:cNvPr id="120" name="Picture 119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12759" y="4437590"/>
            <a:ext cx="128699" cy="18719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5080255" y="444736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2" name="Picture 121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39705" y="4437590"/>
            <a:ext cx="128699" cy="187198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6107201" y="444736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38575" y="4665301"/>
            <a:ext cx="12680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Above 10–20 kWh:</a:t>
            </a:r>
          </a:p>
        </p:txBody>
      </p:sp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54642" y="4655522"/>
            <a:ext cx="128699" cy="187198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222138" y="466530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81588" y="4655522"/>
            <a:ext cx="128699" cy="18719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6249084" y="4665301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38575" y="4883233"/>
            <a:ext cx="11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Above 3–10 kWh:</a:t>
            </a:r>
          </a:p>
        </p:txBody>
      </p:sp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83700" y="4873454"/>
            <a:ext cx="128699" cy="187198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5151196" y="488323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0646" y="4873454"/>
            <a:ext cx="128699" cy="18719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6178142" y="4883233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38575" y="5101165"/>
            <a:ext cx="10565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Above 20 kWh:</a:t>
            </a:r>
          </a:p>
        </p:txBody>
      </p:sp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43182" y="5091385"/>
            <a:ext cx="128699" cy="187198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5010678" y="5101165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7" name="Picture 136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70128" y="5091385"/>
            <a:ext cx="128699" cy="187198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6037624" y="5101165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524875" y="5856661"/>
            <a:ext cx="3162300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The Rated Energy Storage Capacity segment is projected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24875" y="6017901"/>
            <a:ext cx="1239018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to grow at a CAGR of</a:t>
            </a:r>
          </a:p>
        </p:txBody>
      </p:sp>
      <p:pic>
        <p:nvPicPr>
          <p:cNvPr id="141" name="Picture 140" descr="lo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11019" y="6008495"/>
            <a:ext cx="123784" cy="180050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9872119" y="6017901"/>
            <a:ext cx="1140105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Rated Energy Storage Capacity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Rated Energy Storage Capacity mix within each country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Rated Energy Storage Capacity mix within each country (share of 2036 value) · row label = country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Rated Energy Storage Capacity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694045"/>
            <a:ext cx="115026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Up to 1 kwh followed by above 10-20 kwh are expected to be the two most attractive rated energy storage capacity segments in the Western Europe residential solar generator market in terms of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861685"/>
            <a:ext cx="488682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 Up to 1 kWh and above 10–20 kWh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055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59551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7445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4941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3914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41410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9305" y="585190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46800" y="586168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205" y="5851905"/>
            <a:ext cx="128699" cy="18719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68700" y="5861685"/>
            <a:ext cx="7324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above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175" y="6029325"/>
            <a:ext cx="11677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3-10 kwh segment is expected to be less attractive as compared to other segments over the forecast period, owing to its lower CAGR and incremental opportunity. Bubbles right of the CAGR-Index line grow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175" y="6196965"/>
            <a:ext cx="19596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faster than the segment average.</a:t>
            </a:r>
          </a:p>
        </p:txBody>
      </p:sp>
      <p:sp>
        <p:nvSpPr>
          <p:cNvPr id="33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ockshield_15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Rated Energy Storage Capacity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Rated Energy Storage Capacity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Up to 1 kWh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Above 1–3 kWh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Above 3–10 kWh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Above 10–20 kWh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7" name="lockshield_12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5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ockshield_18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21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Rated Energy Storage Capacity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Rated Energy Storage Capacity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Above 20 kWh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066800"/>
            <a:ext cx="5610225" cy="40762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Summary of Western Europe Absolute $ Opportunity Analysis, By Rated Energy Storage Capacity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5550" y="150299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1588720"/>
            <a:ext cx="5610225" cy="496448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556" y="3674659"/>
            <a:ext cx="395643" cy="5754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5550" y="1598245"/>
            <a:ext cx="420180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2036, up to 1 kwh segment is anticipated to witness an increase of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508" y="1588021"/>
            <a:ext cx="134549" cy="1957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31618" y="1598245"/>
            <a:ext cx="11818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 terms of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1773505"/>
            <a:ext cx="51249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as compared to 2026. The up to 1 kWh segment is expected to create an incremental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1948765"/>
            <a:ext cx="1208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opportunity of US$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47" y="193854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38756" y="1948765"/>
            <a:ext cx="40263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 from 2026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5550" y="2124025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5550" y="2351863"/>
            <a:ext cx="531403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above 10–20 kWh segment is expected to create an incremental opportunity of US$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470" y="2516899"/>
            <a:ext cx="134549" cy="1957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66579" y="2527123"/>
            <a:ext cx="52963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 from 2026 to 2036. The above 1–3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50" y="2702383"/>
            <a:ext cx="4262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kWh segment is expected to create an incremental opportunity of US$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7005" y="2692159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692114" y="2702383"/>
            <a:ext cx="11521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5550" y="2877643"/>
            <a:ext cx="32838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residential solar generator market from 2026 to 2036.</a:t>
            </a:r>
          </a:p>
        </p:txBody>
      </p:sp>
      <p:sp>
        <p:nvSpPr>
          <p:cNvPr id="34" name="lockshield_12"/>
          <p:cNvSpPr/>
          <p:nvPr/>
        </p:nvSpPr>
        <p:spPr>
          <a:xfrm>
            <a:off x="238125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Rated Energy Storage Capacity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Rated Energy Storage Capacity,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Rated Energy Storage Capacity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206" cy="1724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9008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Rated Energy Storage Capacity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1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1–3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3–10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10–20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20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9718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305175"/>
            <a:ext cx="11906250" cy="3324225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33909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Value Analysis, By Rated Energy Storage 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6290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714750"/>
            <a:ext cx="11639550" cy="28384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816" y="1956627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3724275"/>
            <a:ext cx="27190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Up to 1 kwh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456" y="371405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19565" y="3724275"/>
            <a:ext cx="84484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above 10-20 kwh segment in 2036. Among residential solar generator by rated energy storage capacity, above 10-20 kwh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899535"/>
            <a:ext cx="315663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018" y="388931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57127" y="389953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4127372"/>
            <a:ext cx="75307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rated energy storage capacity, the up to 1 kwh segment is expected to dominate the market, losing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119" y="411714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31228" y="412737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371" y="411714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01481" y="4127372"/>
            <a:ext cx="21765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above 3-10 kwh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4302632"/>
            <a:ext cx="17255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lose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917" y="4292409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126026" y="4302632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530" y="4292409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888640" y="430263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Rated Energy Storage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Rated Energy Storage Capacity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Rated Energy Storage Capacity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1907102"/>
            <a:ext cx="85725" cy="85725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5090922" y="190234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1826140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20 kWh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1888052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2502399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5090922" y="2497636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2421436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3–10 kWh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2483349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928997" y="3273030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5090922" y="326826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5233797" y="319206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1–3 kWh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896100" y="325398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928997" y="4204011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5090922" y="4199249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5233797" y="412304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10–20 kWh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896100" y="418496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1" name="FMI Legend Chip"/>
          <p:cNvSpPr/>
          <p:nvPr/>
        </p:nvSpPr>
        <p:spPr>
          <a:xfrm>
            <a:off x="4928997" y="5483725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5090922" y="5478962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PS Name 5"/>
          <p:cNvSpPr txBox="1"/>
          <p:nvPr/>
        </p:nvSpPr>
        <p:spPr>
          <a:xfrm>
            <a:off x="5233797" y="5402762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Up to 1 kWh</a:t>
            </a:r>
          </a:p>
        </p:txBody>
      </p:sp>
      <p:sp>
        <p:nvSpPr>
          <p:cNvPr id="34" name="BPS Value 5"/>
          <p:cNvSpPr txBox="1"/>
          <p:nvPr/>
        </p:nvSpPr>
        <p:spPr>
          <a:xfrm>
            <a:off x="6896100" y="5464675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9550" y="1066800"/>
            <a:ext cx="4076700" cy="40762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Read-out, By Rated Energy Storage Capacity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29550" y="150299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29550" y="1588720"/>
            <a:ext cx="4076700" cy="496448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829550" y="1598245"/>
            <a:ext cx="4057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rated energy storage capacity,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550" y="1773505"/>
            <a:ext cx="40526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above 10-20 kwh segment is expected to witness the highest CAGR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9550" y="1948765"/>
            <a:ext cx="1977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6422" y="1938541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51531" y="1948765"/>
            <a:ext cx="34707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 In terms of value share by rated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9550" y="2124025"/>
            <a:ext cx="38960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energy storage capacity, the up to 1 kwh segment is expected 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9550" y="2299285"/>
            <a:ext cx="17557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dominate the market, losing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478" y="2289061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709588" y="229928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4731" y="2289061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279840" y="2299285"/>
            <a:ext cx="4036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29550" y="2474545"/>
            <a:ext cx="5856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9550" y="2702382"/>
            <a:ext cx="29558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above 3-10 kwh segment is expected to lose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542" y="2692159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909651" y="2702382"/>
            <a:ext cx="8298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29550" y="2877642"/>
            <a:ext cx="18516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forecast period to account for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324" y="2867419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805433" y="287764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9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10.3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Battery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Battery Technology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Battery Technology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4 sub-segments of Battery Technology,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Battery Technology segment categorizes the market by battery technology.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Lithium Iron Phosphate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Other Battery Technologies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Lead-Acid Batteries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Nickel-Based Lithium-Ion Batteries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Battery Technology split shows how demand is distributed across battery technology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63" name="Picture 62" descr="270_2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330" y="2286582"/>
            <a:ext cx="1195728" cy="361950"/>
          </a:xfrm>
          <a:prstGeom prst="rect">
            <a:avLst/>
          </a:prstGeom>
        </p:spPr>
      </p:pic>
      <p:pic>
        <p:nvPicPr>
          <p:cNvPr id="64" name="Picture 63" descr="375_7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330" y="2779432"/>
            <a:ext cx="1195728" cy="361950"/>
          </a:xfrm>
          <a:prstGeom prst="rect">
            <a:avLst/>
          </a:prstGeom>
        </p:spPr>
      </p:pic>
      <p:pic>
        <p:nvPicPr>
          <p:cNvPr id="65" name="Picture 64" descr="3_3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976" y="3272281"/>
            <a:ext cx="982436" cy="361950"/>
          </a:xfrm>
          <a:prstGeom prst="rect">
            <a:avLst/>
          </a:prstGeom>
        </p:spPr>
      </p:pic>
      <p:pic>
        <p:nvPicPr>
          <p:cNvPr id="66" name="Picture 65" descr="138_4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218" y="2286582"/>
            <a:ext cx="1195728" cy="361950"/>
          </a:xfrm>
          <a:prstGeom prst="rect">
            <a:avLst/>
          </a:prstGeom>
        </p:spPr>
      </p:pic>
      <p:pic>
        <p:nvPicPr>
          <p:cNvPr id="67" name="Picture 66" descr="291_9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218" y="2779432"/>
            <a:ext cx="1195728" cy="361950"/>
          </a:xfrm>
          <a:prstGeom prst="rect">
            <a:avLst/>
          </a:prstGeom>
        </p:spPr>
      </p:pic>
      <p:pic>
        <p:nvPicPr>
          <p:cNvPr id="68" name="Picture 67" descr="7_7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864" y="3272281"/>
            <a:ext cx="982436" cy="361950"/>
          </a:xfrm>
          <a:prstGeom prst="rect">
            <a:avLst/>
          </a:prstGeom>
        </p:spPr>
      </p:pic>
      <p:pic>
        <p:nvPicPr>
          <p:cNvPr id="69" name="Picture 68" descr="83_3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0751" y="2286582"/>
            <a:ext cx="982436" cy="361950"/>
          </a:xfrm>
          <a:prstGeom prst="rect">
            <a:avLst/>
          </a:prstGeom>
        </p:spPr>
      </p:pic>
      <p:pic>
        <p:nvPicPr>
          <p:cNvPr id="70" name="Picture 69" descr="183_6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105" y="2779432"/>
            <a:ext cx="1195728" cy="361950"/>
          </a:xfrm>
          <a:prstGeom prst="rect">
            <a:avLst/>
          </a:prstGeom>
        </p:spPr>
      </p:pic>
      <p:pic>
        <p:nvPicPr>
          <p:cNvPr id="71" name="Picture 70" descr="8_2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0751" y="3272281"/>
            <a:ext cx="982436" cy="361950"/>
          </a:xfrm>
          <a:prstGeom prst="rect">
            <a:avLst/>
          </a:prstGeom>
        </p:spPr>
      </p:pic>
      <p:pic>
        <p:nvPicPr>
          <p:cNvPr id="72" name="Picture 71" descr="55_8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9638" y="2286582"/>
            <a:ext cx="982436" cy="361950"/>
          </a:xfrm>
          <a:prstGeom prst="rect">
            <a:avLst/>
          </a:prstGeom>
        </p:spPr>
      </p:pic>
      <p:pic>
        <p:nvPicPr>
          <p:cNvPr id="73" name="Picture 72" descr="92_4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69638" y="2779432"/>
            <a:ext cx="982436" cy="361950"/>
          </a:xfrm>
          <a:prstGeom prst="rect">
            <a:avLst/>
          </a:prstGeom>
        </p:spPr>
      </p:pic>
      <p:pic>
        <p:nvPicPr>
          <p:cNvPr id="74" name="Picture 73" descr="5_2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9638" y="3272281"/>
            <a:ext cx="982436" cy="361950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0848" y="2827057"/>
            <a:ext cx="183356" cy="266700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9737" y="2827057"/>
            <a:ext cx="183356" cy="266700"/>
          </a:xfrm>
          <a:prstGeom prst="rect">
            <a:avLst/>
          </a:prstGeom>
        </p:spPr>
      </p:pic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8624" y="2827057"/>
            <a:ext cx="183356" cy="266700"/>
          </a:xfrm>
          <a:prstGeom prst="rect">
            <a:avLst/>
          </a:prstGeom>
        </p:spPr>
      </p:pic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7511" y="2827057"/>
            <a:ext cx="183356" cy="2667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85775" y="4229437"/>
            <a:ext cx="263145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residential solar generator by battery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5775" y="4397077"/>
            <a:ext cx="24723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technology, lead-acid batteries segment is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5775" y="4564717"/>
            <a:ext cx="2381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15059" y="4554938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982555" y="4564717"/>
            <a:ext cx="331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5775" y="4732357"/>
            <a:ext cx="26991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In terms of value share by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5775" y="4899997"/>
            <a:ext cx="27414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battery technology, the lithium iron phosphate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5775" y="506763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(LFP) segment is expected to dominate the market,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5775" y="5235277"/>
            <a:ext cx="40798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losing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814" y="5225498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09309" y="5235277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43794" y="5225498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2511290" y="5235277"/>
            <a:ext cx="5577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5775" y="5402917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5775" y="5620849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Lithium iron phosphate (LFP) segment is projected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775" y="5788489"/>
            <a:ext cx="6647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 register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8567" y="5778710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266063" y="5788489"/>
            <a:ext cx="19640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other battery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5775" y="5956129"/>
            <a:ext cx="18112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technologies segment in 2036.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38575" y="4229437"/>
            <a:ext cx="18677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Lithium Iron Phosphate (LFP):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54369" y="421965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5821865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81316" y="4219658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6848811" y="4229437"/>
            <a:ext cx="9452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 the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38575" y="4397077"/>
            <a:ext cx="6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38575" y="4615009"/>
            <a:ext cx="17880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Other Battery Technologies: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74697" y="4605230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742193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1643" y="4605230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6769139" y="4615009"/>
            <a:ext cx="885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8575" y="4782649"/>
            <a:ext cx="4191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niche.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38575" y="5000581"/>
            <a:ext cx="13296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Lead-Acid Batteries: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6306" y="4990801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5283802" y="500058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3" name="Picture 11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3252" y="4990801"/>
            <a:ext cx="128699" cy="18719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6310748" y="5000581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38575" y="5218513"/>
            <a:ext cx="21883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Nickel-Based Lithium-Ion Batteries:</a:t>
            </a:r>
          </a:p>
        </p:txBody>
      </p:sp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74970" y="5208733"/>
            <a:ext cx="128699" cy="18719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6142466" y="521851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8" name="Picture 11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01916" y="5208733"/>
            <a:ext cx="128699" cy="187198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7169412" y="5218513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38575" y="5386153"/>
            <a:ext cx="9094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serves a niche.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24875" y="5842641"/>
            <a:ext cx="29749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Battery Technology segment is projected to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24875" y="6017901"/>
            <a:ext cx="117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grow at a CAGR of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51852" y="6007677"/>
            <a:ext cx="134549" cy="195707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826962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Battery Technology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Battery Technology mix within each country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Battery Technology mix within each country (share of 2036 value) · row label = country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Battery Technology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694045"/>
            <a:ext cx="115406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Lithium iron phosphate (LFP) followed by other battery technologies are expected to be the two most attractive battery technology segments in the Western Europe residential solar generator market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861685"/>
            <a:ext cx="71509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terms of value over the forecast period. Lithium iron phosphate (LFP) and other battery technologies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177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23673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567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29063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8037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05533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3427" y="585190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110923" y="5861685"/>
            <a:ext cx="14532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029325"/>
            <a:ext cx="11976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average of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846" y="6019545"/>
            <a:ext cx="128699" cy="18719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0342" y="6029325"/>
            <a:ext cx="102731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nickel-based lithium-ion batteries segment is expected to be less attractive as compared to other segments over the forecast period, owing to its lower CAGR and incremental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175" y="6196965"/>
            <a:ext cx="51228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opportunity. Bubbles right of the CAGR-Index line grow faster than the segment average.</a:t>
            </a:r>
          </a:p>
        </p:txBody>
      </p:sp>
      <p:sp>
        <p:nvSpPr>
          <p:cNvPr id="33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ockshield_15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Battery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Battery Technology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Lithium Iron Phosphate (LFP)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Nickel-Based Lithium-Ion Batteries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Lead-Acid Batteries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Other Battery Technologies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7" name="lockshield_12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5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ockshield_18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21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Battery Technology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Battery Technology,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Battery Technology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196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5531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Battery Technology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Lithium Iron Phosphate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Nickel-Based Lithium-Ion Batteries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Lead-Acid Batteries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Battery Technologies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067050"/>
            <a:ext cx="11906250" cy="35623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31527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Value Analysis, By Battery 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3909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476625"/>
            <a:ext cx="11639550" cy="30765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073" y="1837563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3486150"/>
            <a:ext cx="37120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Lithium iron phosphate (LFP)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425" y="3475926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2534" y="3486150"/>
            <a:ext cx="733077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other battery technologies segment in 2036. Among residential solar generator by battery technology,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661410"/>
            <a:ext cx="42948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lead-acid batteries 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181" y="3651186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95290" y="36614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3889247"/>
            <a:ext cx="78790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battery technology, the lithium iron phosphate (LFP) segment is expected to dominate the market, losing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414" y="38790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79523" y="38892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666" y="387902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49776" y="388924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Battery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Battery Technology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Battery Technology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1895238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090922" y="1890476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1814276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Nickel-Based Lithium-Ion Batteries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187618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2564060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5090922" y="255929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2483098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Lead-Acid Batteries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254501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928997" y="3716138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5090922" y="3711375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5233797" y="3635175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Other Battery Technologies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896100" y="3697088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928997" y="5333506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5090922" y="5328744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5233797" y="5252544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Lithium Iron Phosphate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896100" y="531445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Read-out, By Battery Technology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29550" y="1400175"/>
            <a:ext cx="4050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battery technology, lead-acid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9550" y="1575435"/>
            <a:ext cx="37217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batteries segment is expected to witness the highest CAGR of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431" y="1565211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829550" y="175069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9550" y="1978533"/>
            <a:ext cx="37662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battery technology, the lithium iron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550" y="2153793"/>
            <a:ext cx="3775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phosphate (LFP) segment is expected to dominate the market,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9550" y="2329053"/>
            <a:ext cx="42306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losing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772" y="2318829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376881" y="2329053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2025" y="2318829"/>
            <a:ext cx="134549" cy="19570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947134" y="232905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8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10.4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Grid Connectivity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Grid Connectivity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Grid Connectivity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2 sub-segments of Grid Connectivity,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Grid Connectivity segment categorizes the market by grid connectivity.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4943475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Grid-Connected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4176712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24675" y="1773916"/>
            <a:ext cx="4943475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4675" y="1992961"/>
            <a:ext cx="4943475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2775" y="1773916"/>
            <a:ext cx="4867275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Off-Grid Systems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24675" y="22302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6924675" y="2723109"/>
            <a:ext cx="4943475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6924675" y="3215959"/>
            <a:ext cx="4943475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9234488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Grid Connectivity split shows how demand is distributed across grid connectivity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49" name="Picture 48" descr="291_7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773" y="2286582"/>
            <a:ext cx="1195728" cy="361950"/>
          </a:xfrm>
          <a:prstGeom prst="rect">
            <a:avLst/>
          </a:prstGeom>
        </p:spPr>
      </p:pic>
      <p:pic>
        <p:nvPicPr>
          <p:cNvPr id="50" name="Picture 49" descr="420_5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773" y="2779432"/>
            <a:ext cx="1195728" cy="361950"/>
          </a:xfrm>
          <a:prstGeom prst="rect">
            <a:avLst/>
          </a:prstGeom>
        </p:spPr>
      </p:pic>
      <p:pic>
        <p:nvPicPr>
          <p:cNvPr id="51" name="Picture 50" descr="3_7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19" y="3272281"/>
            <a:ext cx="982436" cy="361950"/>
          </a:xfrm>
          <a:prstGeom prst="rect">
            <a:avLst/>
          </a:prstGeom>
        </p:spPr>
      </p:pic>
      <p:pic>
        <p:nvPicPr>
          <p:cNvPr id="52" name="Picture 51" descr="256_0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8548" y="2286582"/>
            <a:ext cx="1195728" cy="361950"/>
          </a:xfrm>
          <a:prstGeom prst="rect">
            <a:avLst/>
          </a:prstGeom>
        </p:spPr>
      </p:pic>
      <p:pic>
        <p:nvPicPr>
          <p:cNvPr id="53" name="Picture 52" descr="523_1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548" y="2779432"/>
            <a:ext cx="1195728" cy="361950"/>
          </a:xfrm>
          <a:prstGeom prst="rect">
            <a:avLst/>
          </a:prstGeom>
        </p:spPr>
      </p:pic>
      <p:pic>
        <p:nvPicPr>
          <p:cNvPr id="54" name="Picture 53" descr="7_4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194" y="3272281"/>
            <a:ext cx="982436" cy="361950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0493" y="2805915"/>
            <a:ext cx="212425" cy="308982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268" y="2805915"/>
            <a:ext cx="212425" cy="30898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85775" y="4229437"/>
            <a:ext cx="24358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residential solar generator by grid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5775" y="4397077"/>
            <a:ext cx="26958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connectivity, fixed off-grid systems segment 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5775" y="4564717"/>
            <a:ext cx="2381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5059" y="4554938"/>
            <a:ext cx="128699" cy="18719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982555" y="4564717"/>
            <a:ext cx="331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" y="473235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In terms of value share by grid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5775" y="4899997"/>
            <a:ext cx="2914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connectivity, the fixed off-grid systems segment 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5775" y="5067637"/>
            <a:ext cx="24666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dominate the market, gaining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0479" y="5057858"/>
            <a:ext cx="128699" cy="18719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3067974" y="5067637"/>
            <a:ext cx="2887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5775" y="5235277"/>
            <a:ext cx="114223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accounting for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6057" y="5225498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743553" y="523527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5775" y="5453209"/>
            <a:ext cx="26898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Fixed off-grid systems segment is projected 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5775" y="5620849"/>
            <a:ext cx="512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register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316" y="5611070"/>
            <a:ext cx="128699" cy="18719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113812" y="5620849"/>
            <a:ext cx="14824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fixed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5775" y="5788489"/>
            <a:ext cx="24352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grid-connected systems segment in 2036.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38575" y="4229437"/>
            <a:ext cx="19564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Fixed Grid-Connected Systems: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3046" y="4219658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910542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9992" y="4219658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937488" y="4229437"/>
            <a:ext cx="7236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leads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38575" y="4397077"/>
            <a:ext cx="824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38575" y="4615009"/>
            <a:ext cx="15204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Fixed Off-Grid Systems: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7029" y="4605230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474525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3975" y="4605230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501471" y="4615009"/>
            <a:ext cx="12186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 fastest.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24875" y="5842641"/>
            <a:ext cx="31623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Grid Connectivity segment is projected to grow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4875" y="6017901"/>
            <a:ext cx="8360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at a CAGR of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0118" y="6007677"/>
            <a:ext cx="134549" cy="195707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485227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Grid Connectivity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Grid Connectivity mix within each country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Grid Connectivity mix within each country (share of 2036 value) · row label = country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Grid Connectivity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777865"/>
            <a:ext cx="116642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Fixed off-grid systems followed by fixed grid-connected systems are expected to be the two most attractive grid connectivity segments in the Western Europe residential solar generator market in terms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945505"/>
            <a:ext cx="646500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value over the forecast period. Fixed Off-Grid systems and fixed Grid-Connected systems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0228" y="5935726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37724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619" y="5935726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43114" y="594550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2088" y="5935726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19584" y="594550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7478" y="5935726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24974" y="5945505"/>
            <a:ext cx="19763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113145"/>
            <a:ext cx="6745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average of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790" y="6103366"/>
            <a:ext cx="128699" cy="18719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47285" y="6113145"/>
            <a:ext cx="44437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Bubbles right of the CAGR-Index line grow faster than the segment average.</a:t>
            </a:r>
          </a:p>
        </p:txBody>
      </p:sp>
      <p:sp>
        <p:nvSpPr>
          <p:cNvPr id="32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ockshield_15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Grid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Grid Connectivity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Fixed Grid-Connected Systems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Fixed Off-Grid Systems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556" y="3674659"/>
            <a:ext cx="395643" cy="575481"/>
          </a:xfrm>
          <a:prstGeom prst="rect">
            <a:avLst/>
          </a:prstGeom>
        </p:spPr>
      </p:pic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881" y="3674659"/>
            <a:ext cx="395643" cy="575481"/>
          </a:xfrm>
          <a:prstGeom prst="rect">
            <a:avLst/>
          </a:prstGeom>
        </p:spPr>
      </p:pic>
      <p:sp>
        <p:nvSpPr>
          <p:cNvPr id="19" name="lockshield_12"/>
          <p:cNvSpPr/>
          <p:nvPr/>
        </p:nvSpPr>
        <p:spPr>
          <a:xfrm>
            <a:off x="238125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ockshield_15"/>
          <p:cNvSpPr/>
          <p:nvPr/>
        </p:nvSpPr>
        <p:spPr>
          <a:xfrm>
            <a:off x="6267450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Grid Connectivity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Grid Connectivity,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Grid Connectivity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192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47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Grid Connectivity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Grid-Connected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Off-Grid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2571750"/>
            <a:ext cx="11906250" cy="405765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26574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Value Analysis, By Grid Connectivity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28956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2981325"/>
            <a:ext cx="11639550" cy="3571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677" y="1589913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2990850"/>
            <a:ext cx="32978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Fixed off-grid systems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236" y="2980626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98345" y="2990850"/>
            <a:ext cx="813804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fixed grid-connected systems segment in 2036. Among residential solar generator by grid connectivity, fixed off-grid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166110"/>
            <a:ext cx="366553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systems 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911" y="3155886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66020" y="31661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3393947"/>
            <a:ext cx="741150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grid connectivity, the fixed off-grid systems segment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883" y="33837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11992" y="33939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135" y="338372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82244" y="3393947"/>
            <a:ext cx="15241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fixed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3569207"/>
            <a:ext cx="316806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grid-connected systems segment is expected to lose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446" y="35589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568555" y="35692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059" y="3558984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31169" y="35692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Grid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Grid Connectivity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Grid Connectivity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2690046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090922" y="2685284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2609084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Grid-Connected Systems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2670996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4976237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5090922" y="4971474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4895274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Off-Grid Systems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4957187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Read-out, By Grid Connectivity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829550" y="1400175"/>
            <a:ext cx="366127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grid connectivity, fixed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9550" y="1575435"/>
            <a:ext cx="398501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off-grid systems segment is expected to witness the highest CAGR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550" y="1750695"/>
            <a:ext cx="1977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6422" y="1740471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151531" y="1750695"/>
            <a:ext cx="33814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 In terms of value share by grid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9550" y="1925955"/>
            <a:ext cx="378478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connectivity, the fixed off-grid systems segment is expected 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9550" y="2101215"/>
            <a:ext cx="1837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dominate the market, gaining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5776" y="2090991"/>
            <a:ext cx="134549" cy="195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790885" y="2101215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6028" y="2090991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29550" y="227647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550" y="2504313"/>
            <a:ext cx="37459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fixed grid-connected systems segment is expected to lose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695" y="2494089"/>
            <a:ext cx="134549" cy="19570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29550" y="267957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7054" y="2669349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92163" y="267957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5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10.5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Primary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Primary Application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Primary Application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4 sub-segments of Primary Application,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Primary Application segment categorizes the market by primary application.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2414588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Residential Solar Self-Consumption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2912269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5788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95788" y="1992961"/>
            <a:ext cx="2414588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3888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Supplemental Household Power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5788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395788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395788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5441156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24675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4675" y="1992961"/>
            <a:ext cx="2414588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2775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Emergency Power Backup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24675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6924675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6924675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7970044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53562" y="1773916"/>
            <a:ext cx="2414588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53562" y="1992961"/>
            <a:ext cx="2414588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1662" y="1773916"/>
            <a:ext cx="2338388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Primary Off-Grid Household Power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53562" y="22302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9453562" y="2723109"/>
            <a:ext cx="2414588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9453562" y="3215959"/>
            <a:ext cx="2414588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10498931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Primary Application split shows how demand is distributed across primary application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63" name="Picture 62" descr="192_7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330" y="2286582"/>
            <a:ext cx="1195728" cy="361950"/>
          </a:xfrm>
          <a:prstGeom prst="rect">
            <a:avLst/>
          </a:prstGeom>
        </p:spPr>
      </p:pic>
      <p:pic>
        <p:nvPicPr>
          <p:cNvPr id="64" name="Picture 63" descr="253_0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330" y="2779432"/>
            <a:ext cx="1195728" cy="361950"/>
          </a:xfrm>
          <a:prstGeom prst="rect">
            <a:avLst/>
          </a:prstGeom>
        </p:spPr>
      </p:pic>
      <p:pic>
        <p:nvPicPr>
          <p:cNvPr id="65" name="Picture 64" descr="2_8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976" y="3272281"/>
            <a:ext cx="982436" cy="361950"/>
          </a:xfrm>
          <a:prstGeom prst="rect">
            <a:avLst/>
          </a:prstGeom>
        </p:spPr>
      </p:pic>
      <p:pic>
        <p:nvPicPr>
          <p:cNvPr id="66" name="Picture 65" descr="160_0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218" y="2286582"/>
            <a:ext cx="1195728" cy="361950"/>
          </a:xfrm>
          <a:prstGeom prst="rect">
            <a:avLst/>
          </a:prstGeom>
        </p:spPr>
      </p:pic>
      <p:pic>
        <p:nvPicPr>
          <p:cNvPr id="67" name="Picture 66" descr="327_8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218" y="2779432"/>
            <a:ext cx="1195728" cy="361950"/>
          </a:xfrm>
          <a:prstGeom prst="rect">
            <a:avLst/>
          </a:prstGeom>
        </p:spPr>
      </p:pic>
      <p:pic>
        <p:nvPicPr>
          <p:cNvPr id="68" name="Picture 67" descr="7_4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864" y="3272281"/>
            <a:ext cx="982436" cy="361950"/>
          </a:xfrm>
          <a:prstGeom prst="rect">
            <a:avLst/>
          </a:prstGeom>
        </p:spPr>
      </p:pic>
      <p:pic>
        <p:nvPicPr>
          <p:cNvPr id="69" name="Picture 68" descr="144_7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105" y="2286582"/>
            <a:ext cx="1195728" cy="361950"/>
          </a:xfrm>
          <a:prstGeom prst="rect">
            <a:avLst/>
          </a:prstGeom>
        </p:spPr>
      </p:pic>
      <p:pic>
        <p:nvPicPr>
          <p:cNvPr id="70" name="Picture 69" descr="259_4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105" y="2779432"/>
            <a:ext cx="1195728" cy="361950"/>
          </a:xfrm>
          <a:prstGeom prst="rect">
            <a:avLst/>
          </a:prstGeom>
        </p:spPr>
      </p:pic>
      <p:pic>
        <p:nvPicPr>
          <p:cNvPr id="71" name="Picture 70" descr="6_0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0751" y="3272281"/>
            <a:ext cx="982436" cy="361950"/>
          </a:xfrm>
          <a:prstGeom prst="rect">
            <a:avLst/>
          </a:prstGeom>
        </p:spPr>
      </p:pic>
      <p:pic>
        <p:nvPicPr>
          <p:cNvPr id="72" name="Picture 71" descr="50_3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9638" y="2286582"/>
            <a:ext cx="982436" cy="361950"/>
          </a:xfrm>
          <a:prstGeom prst="rect">
            <a:avLst/>
          </a:prstGeom>
        </p:spPr>
      </p:pic>
      <p:pic>
        <p:nvPicPr>
          <p:cNvPr id="73" name="Picture 72" descr="103_3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2992" y="2779432"/>
            <a:ext cx="1195728" cy="361950"/>
          </a:xfrm>
          <a:prstGeom prst="rect">
            <a:avLst/>
          </a:prstGeom>
        </p:spPr>
      </p:pic>
      <p:pic>
        <p:nvPicPr>
          <p:cNvPr id="74" name="Picture 73" descr="7_5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9638" y="3272281"/>
            <a:ext cx="982436" cy="361950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0848" y="2827057"/>
            <a:ext cx="183356" cy="266700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9737" y="2827057"/>
            <a:ext cx="183356" cy="266700"/>
          </a:xfrm>
          <a:prstGeom prst="rect">
            <a:avLst/>
          </a:prstGeom>
        </p:spPr>
      </p:pic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8624" y="2827057"/>
            <a:ext cx="183356" cy="266700"/>
          </a:xfrm>
          <a:prstGeom prst="rect">
            <a:avLst/>
          </a:prstGeom>
        </p:spPr>
      </p:pic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7511" y="2827057"/>
            <a:ext cx="183356" cy="2667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85775" y="4229437"/>
            <a:ext cx="2660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residential solar generator by primary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5775" y="4397077"/>
            <a:ext cx="26974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application, primary off-grid household power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5775" y="4564717"/>
            <a:ext cx="28748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is expected to witness the highest CAGR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5775" y="4732357"/>
            <a:ext cx="1924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261" y="4722578"/>
            <a:ext cx="128699" cy="18719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93757" y="4732357"/>
            <a:ext cx="24726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 forecast period. In terms of value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5775" y="4899997"/>
            <a:ext cx="276160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primary application, the supplemental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5775" y="5067637"/>
            <a:ext cx="24180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household power segment is expected 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5775" y="5235277"/>
            <a:ext cx="17605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dominate the market, gaining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94339" y="5225498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361835" y="5235277"/>
            <a:ext cx="5340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5775" y="5402917"/>
            <a:ext cx="8969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30764" y="5393138"/>
            <a:ext cx="128699" cy="18719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498259" y="5402917"/>
            <a:ext cx="908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5775" y="5620849"/>
            <a:ext cx="25302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Supplemental household power segment 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775" y="5788489"/>
            <a:ext cx="12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projected to register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8376" y="5778710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845872" y="5788489"/>
            <a:ext cx="11725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5775" y="5956129"/>
            <a:ext cx="25564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emergency power backup segment in 2036.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38575" y="4229437"/>
            <a:ext cx="221726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Residential Solar Self-Consumption: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03892" y="421965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6171388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0838" y="4219658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7198334" y="4229437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38575" y="4397077"/>
            <a:ext cx="11525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leads the segment.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38575" y="4615009"/>
            <a:ext cx="20546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Supplemental Household Power: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41273" y="4605230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6008769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68219" y="4605230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7035715" y="4615009"/>
            <a:ext cx="7872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8575" y="4782649"/>
            <a:ext cx="5176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niche.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38575" y="5000581"/>
            <a:ext cx="16991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Emergency Power Backup: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5747" y="4990801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5653243" y="500058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3" name="Picture 112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2693" y="4990801"/>
            <a:ext cx="128699" cy="18719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6680189" y="5000581"/>
            <a:ext cx="8857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38575" y="5168221"/>
            <a:ext cx="4191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niche.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838575" y="5386153"/>
            <a:ext cx="22066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Primary Off-Grid Household Power:</a:t>
            </a:r>
          </a:p>
        </p:txBody>
      </p:sp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93251" y="5376373"/>
            <a:ext cx="128699" cy="18719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6160747" y="538615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0197" y="5376373"/>
            <a:ext cx="128699" cy="18719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7187693" y="5386153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38575" y="5553793"/>
            <a:ext cx="8677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grows fastest.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24875" y="5842641"/>
            <a:ext cx="300119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Primary Application segment is projected to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24875" y="6017901"/>
            <a:ext cx="117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grow at a CAGR of</a:t>
            </a:r>
          </a:p>
        </p:txBody>
      </p:sp>
      <p:pic>
        <p:nvPicPr>
          <p:cNvPr id="124" name="Picture 123" descr="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51852" y="6007677"/>
            <a:ext cx="134549" cy="195707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9826962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Primary Application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Primary Application mix within each country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Primary Application mix within each country (share of 2036 value) · row label = country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Primary Application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694045"/>
            <a:ext cx="116776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Supplemental household power followed by emergency power backup are expected to be the two most attractive primary application segments in the Western Europe residential solar generator market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861685"/>
            <a:ext cx="728082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terms of value over the forecast period. Supplemental household power and emergency power backup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055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53550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445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58941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7914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35410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3304" y="585190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40800" y="5861685"/>
            <a:ext cx="12317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" y="6029325"/>
            <a:ext cx="14191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segment average of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4401" y="6019545"/>
            <a:ext cx="128699" cy="18719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791897" y="6029325"/>
            <a:ext cx="95752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primary off-grid household power segment is expected to be less attractive as compared to other segments over the forecast period, owing to its lower CAGR 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175" y="6196965"/>
            <a:ext cx="58382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incremental opportunity. Bubbles right of the CAGR-Index line grow faster than the segment average.</a:t>
            </a:r>
          </a:p>
        </p:txBody>
      </p:sp>
      <p:sp>
        <p:nvSpPr>
          <p:cNvPr id="33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ockshield_15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Primary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Primary Application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Emergency Power Backup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Residential Solar Self-Consumption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Primary Off-Grid Household Power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Supplemental Household Power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7" name="lockshield_12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5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ockshield_18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21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Primary Application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Primary Application,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Primary Application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196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4040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Primary Application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Emergency Power Backup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Residential Solar Self-Consumption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Primary Off-Grid Household Power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Supplemental Household Power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067050"/>
            <a:ext cx="11906250" cy="35623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31527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Value Analysis, By Primary Application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3909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476625"/>
            <a:ext cx="11639550" cy="30765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327" y="1837563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3486150"/>
            <a:ext cx="38963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Supplemental household power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699" y="3475926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96808" y="3486150"/>
            <a:ext cx="73119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emergency power backup segment in 2036. Among residential solar generator by primary application,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661410"/>
            <a:ext cx="52016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primary off-grid household power 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003" y="3651186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02112" y="3661410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3889247"/>
            <a:ext cx="81919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primary application, the supplemental household power segment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337" y="387902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92447" y="3889247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7590" y="3879024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162699" y="3889247"/>
            <a:ext cx="1200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4064507"/>
            <a:ext cx="377252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residential solar self-consumption segment is expected to lose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899" y="4054284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73008" y="4064507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512" y="4054284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35622" y="4064507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Primary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Primary Application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Primary Application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1921515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5090922" y="1916753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184055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Primary Off-Grid Household Power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1902465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2784841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5090922" y="2780079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2703879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Residential Solar Self-Consumption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276579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928997" y="4026491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5090922" y="4021728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5233797" y="3945528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Emergency Power Backup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896100" y="4007441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928997" y="5449355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5090922" y="5444593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5233797" y="536839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Supplemental Household Power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896100" y="5430305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Read-out, By Primary Application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29550" y="1400175"/>
            <a:ext cx="40050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primary application, primary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9550" y="1575435"/>
            <a:ext cx="37140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off-grid household power segment is expected to witness the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9550" y="1750695"/>
            <a:ext cx="10323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highest CAGR of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1057" y="1740471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86166" y="1750695"/>
            <a:ext cx="25815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 In terms of value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550" y="1925955"/>
            <a:ext cx="39562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primary application, the supplemental household power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9550" y="2101215"/>
            <a:ext cx="324594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segment is expected to dominate the market, gaining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4645" y="2090991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199754" y="2101215"/>
            <a:ext cx="55485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9550" y="2276475"/>
            <a:ext cx="9342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accounting for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947" y="2266251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88056" y="227647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9550" y="2504313"/>
            <a:ext cx="40263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residential solar self-consumption segment is expected to lose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470" y="2669349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90579" y="267957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084" y="2669349"/>
            <a:ext cx="134549" cy="1957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753193" y="2679573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4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10.6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Distribution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By Distribution Channel Segment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Structure &amp; Attractiveness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Absolute $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Value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By Distribution Channel Segment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Segment analysis of market size, growth and share across 5 sub-segments of Distribution Channel, 2026–2036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1007261"/>
            <a:ext cx="11544300" cy="31031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The Distribution Channel segment categorizes the market by distribution channel. Each sub-category is evaluated on market size, growth outlook and adoption trends across the forecast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" y="1773916"/>
            <a:ext cx="1428750" cy="438089"/>
          </a:xfrm>
          <a:prstGeom prst="rect">
            <a:avLst/>
          </a:prstGeom>
          <a:solidFill>
            <a:srgbClr val="EEF3F7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575" y="1773916"/>
            <a:ext cx="129540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Sub-Segment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850" y="22302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575" y="22302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2026 Value (US$ Mn)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850" y="272310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75" y="272310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2036 Value (US$ 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" y="3215959"/>
            <a:ext cx="1428750" cy="474596"/>
          </a:xfrm>
          <a:prstGeom prst="rect">
            <a:avLst/>
          </a:prstGeom>
          <a:solidFill>
            <a:srgbClr val="F7FAFC"/>
          </a:solidFill>
          <a:ln w="6350">
            <a:solidFill>
              <a:srgbClr val="E1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215959"/>
            <a:ext cx="12954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CAGR (2026–2036)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690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6900" y="1992961"/>
            <a:ext cx="1908810" cy="21904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Specialist Solar and Electrical C…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690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86690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86690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2659380" y="1445350"/>
            <a:ext cx="323850" cy="310313"/>
          </a:xfrm>
          <a:prstGeom prst="ellipse">
            <a:avLst/>
          </a:prstGeom>
          <a:solidFill>
            <a:srgbClr val="0B2E4A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9001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90010" y="1992961"/>
            <a:ext cx="1908810" cy="21904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2811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General Retail Channels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9001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389001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389001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4682490" y="1445350"/>
            <a:ext cx="323850" cy="310313"/>
          </a:xfrm>
          <a:prstGeom prst="ellipse">
            <a:avLst/>
          </a:prstGeom>
          <a:solidFill>
            <a:srgbClr val="0E72AE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1312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3120" y="1992961"/>
            <a:ext cx="1908810" cy="2190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5122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Third-Party E-Commerce Marketplac…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1312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91312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591312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008189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6705600" y="1445350"/>
            <a:ext cx="323850" cy="310313"/>
          </a:xfrm>
          <a:prstGeom prst="ellipse">
            <a:avLst/>
          </a:prstGeom>
          <a:solidFill>
            <a:srgbClr val="008189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3623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36230" y="1992961"/>
            <a:ext cx="1908810" cy="21904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433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Manufacturer-Direct Sales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3623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793623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793623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6F3CC2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8728710" y="1445350"/>
            <a:ext cx="323850" cy="310313"/>
          </a:xfrm>
          <a:prstGeom prst="ellipse">
            <a:avLst/>
          </a:prstGeom>
          <a:solidFill>
            <a:srgbClr val="6F3CC2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59340" y="1773916"/>
            <a:ext cx="1908810" cy="438089"/>
          </a:xfrm>
          <a:prstGeom prst="roundRect">
            <a:avLst>
              <a:gd name="adj" fmla="val 18000"/>
            </a:avLst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59340" y="1992961"/>
            <a:ext cx="1908810" cy="21904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97440" y="1773916"/>
            <a:ext cx="1832610" cy="43808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Other Resellers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59340" y="22302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9959340" y="2723109"/>
            <a:ext cx="1908810" cy="474596"/>
          </a:xfrm>
          <a:prstGeom prst="rect">
            <a:avLst/>
          </a:prstGeom>
          <a:solidFill>
            <a:srgbClr val="F5F8FB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9959340" y="3215959"/>
            <a:ext cx="1908810" cy="47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6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500" b="1">
                <a:solidFill>
                  <a:srgbClr val="A86F00"/>
                </a:solidFill>
                <a:latin typeface="Calibri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10751820" y="1445350"/>
            <a:ext cx="323850" cy="310313"/>
          </a:xfrm>
          <a:prstGeom prst="ellipse">
            <a:avLst/>
          </a:prstGeom>
          <a:solidFill>
            <a:srgbClr val="A86F00"/>
          </a:solidFill>
          <a:ln w="31750">
            <a:solidFill>
              <a:srgbClr val="EA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3850" y="3854838"/>
            <a:ext cx="323850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946106"/>
            <a:ext cx="297180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Key Highlights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146897"/>
            <a:ext cx="29718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219912"/>
            <a:ext cx="297180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76650" y="3854838"/>
            <a:ext cx="4476750" cy="25737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10000" y="3946106"/>
            <a:ext cx="42100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Sub-Segment Insights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10000" y="4146897"/>
            <a:ext cx="42100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10000" y="4219912"/>
            <a:ext cx="42100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B2E4A"/>
                </a:solidFill>
                <a:latin typeface="Calibri"/>
              </a:rPr>
              <a:t/>
            </a:r>
            <a:r>
              <a:rPr sz="1100" b="1">
                <a:solidFill>
                  <a:srgbClr val="0B2E4A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1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08189"/>
                </a:solidFill>
                <a:latin typeface="Calibri"/>
              </a:rPr>
              <a:t/>
            </a:r>
            <a:r>
              <a:rPr sz="1100" b="1">
                <a:solidFill>
                  <a:srgbClr val="008189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F3CC2"/>
                </a:solidFill>
                <a:latin typeface="Calibri"/>
              </a:rPr>
              <a:t/>
            </a:r>
            <a:r>
              <a:rPr sz="1100" b="1">
                <a:solidFill>
                  <a:srgbClr val="6F3CC2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6F00"/>
                </a:solidFill>
                <a:latin typeface="Calibri"/>
              </a:rPr>
              <a:t/>
            </a:r>
            <a:r>
              <a:rPr sz="1100" b="1">
                <a:solidFill>
                  <a:srgbClr val="A86F00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67700" y="3854838"/>
            <a:ext cx="3600450" cy="2573771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9525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01050" y="3946106"/>
            <a:ext cx="33337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250" b="1">
                <a:solidFill>
                  <a:srgbClr val="0B2E4A"/>
                </a:solidFill>
                <a:latin typeface="Calibri"/>
              </a:rPr>
              <a:t>Segment Overview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01050" y="4146897"/>
            <a:ext cx="333375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01050" y="4219912"/>
            <a:ext cx="3333750" cy="2117429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The Distribution Channel split shows how demand is distributed across distribution channel types and where growth concentrates.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08189"/>
                </a:solidFill>
                <a:latin typeface="Calibri"/>
              </a:rPr>
              <a:t>✓  </a:t>
            </a:r>
            <a:r>
              <a:rPr sz="1100" b="0">
                <a:solidFill>
                  <a:srgbClr val="2E2E2E"/>
                </a:solidFill>
                <a:latin typeface="Calibri"/>
              </a:rPr>
              <a:t>Shifting preferences and product innovation are reshaping the mix through 2036.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01050" y="5753223"/>
            <a:ext cx="3333750" cy="529357"/>
          </a:xfrm>
          <a:prstGeom prst="rect">
            <a:avLst/>
          </a:prstGeom>
          <a:solidFill>
            <a:srgbClr val="FFFFFF"/>
          </a:solidFill>
          <a:ln w="6350">
            <a:solidFill>
              <a:srgbClr val="CF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96300" y="5789730"/>
            <a:ext cx="3219450" cy="45634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3850" y="6446863"/>
            <a:ext cx="3429000" cy="164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70" name="Picture 69" descr="210_2_605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441" y="2286582"/>
            <a:ext cx="1195728" cy="361950"/>
          </a:xfrm>
          <a:prstGeom prst="rect">
            <a:avLst/>
          </a:prstGeom>
        </p:spPr>
      </p:pic>
      <p:pic>
        <p:nvPicPr>
          <p:cNvPr id="71" name="Picture 70" descr="307_2_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3441" y="2779432"/>
            <a:ext cx="1195728" cy="361950"/>
          </a:xfrm>
          <a:prstGeom prst="rect">
            <a:avLst/>
          </a:prstGeom>
        </p:spPr>
      </p:pic>
      <p:pic>
        <p:nvPicPr>
          <p:cNvPr id="72" name="Picture 71" descr="3_9__605E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0087" y="3272281"/>
            <a:ext cx="982436" cy="361950"/>
          </a:xfrm>
          <a:prstGeom prst="rect">
            <a:avLst/>
          </a:prstGeom>
        </p:spPr>
      </p:pic>
      <p:pic>
        <p:nvPicPr>
          <p:cNvPr id="73" name="Picture 72" descr="190_7_605E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6551" y="2286582"/>
            <a:ext cx="1195728" cy="361950"/>
          </a:xfrm>
          <a:prstGeom prst="rect">
            <a:avLst/>
          </a:prstGeom>
        </p:spPr>
      </p:pic>
      <p:pic>
        <p:nvPicPr>
          <p:cNvPr id="74" name="Picture 73" descr="342_2_605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6551" y="2779432"/>
            <a:ext cx="1195728" cy="361950"/>
          </a:xfrm>
          <a:prstGeom prst="rect">
            <a:avLst/>
          </a:prstGeom>
        </p:spPr>
      </p:pic>
      <p:pic>
        <p:nvPicPr>
          <p:cNvPr id="75" name="Picture 74" descr="6_0__605E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3197" y="3272281"/>
            <a:ext cx="982436" cy="361950"/>
          </a:xfrm>
          <a:prstGeom prst="rect">
            <a:avLst/>
          </a:prstGeom>
        </p:spPr>
      </p:pic>
      <p:pic>
        <p:nvPicPr>
          <p:cNvPr id="76" name="Picture 75" descr="90_0_605E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6307" y="2286582"/>
            <a:ext cx="982436" cy="361950"/>
          </a:xfrm>
          <a:prstGeom prst="rect">
            <a:avLst/>
          </a:prstGeom>
        </p:spPr>
      </p:pic>
      <p:pic>
        <p:nvPicPr>
          <p:cNvPr id="77" name="Picture 76" descr="181_5_605E5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9661" y="2779432"/>
            <a:ext cx="1195728" cy="361950"/>
          </a:xfrm>
          <a:prstGeom prst="rect">
            <a:avLst/>
          </a:prstGeom>
        </p:spPr>
      </p:pic>
      <p:pic>
        <p:nvPicPr>
          <p:cNvPr id="78" name="Picture 77" descr="7_3__605E5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6307" y="3272281"/>
            <a:ext cx="982436" cy="361950"/>
          </a:xfrm>
          <a:prstGeom prst="rect">
            <a:avLst/>
          </a:prstGeom>
        </p:spPr>
      </p:pic>
      <p:pic>
        <p:nvPicPr>
          <p:cNvPr id="79" name="Picture 78" descr="28_4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99417" y="2286582"/>
            <a:ext cx="982436" cy="361950"/>
          </a:xfrm>
          <a:prstGeom prst="rect">
            <a:avLst/>
          </a:prstGeom>
        </p:spPr>
      </p:pic>
      <p:pic>
        <p:nvPicPr>
          <p:cNvPr id="80" name="Picture 79" descr="67_2_605E5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99417" y="2779432"/>
            <a:ext cx="982436" cy="361950"/>
          </a:xfrm>
          <a:prstGeom prst="rect">
            <a:avLst/>
          </a:prstGeom>
        </p:spPr>
      </p:pic>
      <p:pic>
        <p:nvPicPr>
          <p:cNvPr id="81" name="Picture 80" descr="9_0__605E5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9417" y="3272281"/>
            <a:ext cx="982436" cy="361950"/>
          </a:xfrm>
          <a:prstGeom prst="rect">
            <a:avLst/>
          </a:prstGeom>
        </p:spPr>
      </p:pic>
      <p:pic>
        <p:nvPicPr>
          <p:cNvPr id="82" name="Picture 81" descr="28_4_605E5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22527" y="2286582"/>
            <a:ext cx="982436" cy="361950"/>
          </a:xfrm>
          <a:prstGeom prst="rect">
            <a:avLst/>
          </a:prstGeom>
        </p:spPr>
      </p:pic>
      <p:pic>
        <p:nvPicPr>
          <p:cNvPr id="83" name="Picture 82" descr="45_6_605E5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2527" y="2779432"/>
            <a:ext cx="982436" cy="361950"/>
          </a:xfrm>
          <a:prstGeom prst="rect">
            <a:avLst/>
          </a:prstGeom>
        </p:spPr>
      </p:pic>
      <p:pic>
        <p:nvPicPr>
          <p:cNvPr id="84" name="Picture 83" descr="4_9__605E5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22527" y="3272281"/>
            <a:ext cx="982436" cy="361950"/>
          </a:xfrm>
          <a:prstGeom prst="rect">
            <a:avLst/>
          </a:prstGeom>
        </p:spPr>
      </p:pic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27960" y="2827057"/>
            <a:ext cx="183356" cy="266700"/>
          </a:xfrm>
          <a:prstGeom prst="rect">
            <a:avLst/>
          </a:prstGeom>
        </p:spPr>
      </p:pic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1070" y="2827057"/>
            <a:ext cx="183356" cy="266700"/>
          </a:xfrm>
          <a:prstGeom prst="rect">
            <a:avLst/>
          </a:prstGeom>
        </p:spPr>
      </p:pic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74180" y="2827057"/>
            <a:ext cx="183356" cy="266700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97290" y="2827057"/>
            <a:ext cx="183356" cy="266700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20400" y="2827057"/>
            <a:ext cx="183356" cy="2667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85775" y="4229437"/>
            <a:ext cx="28767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Among residential solar generator by distribution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5775" y="4397077"/>
            <a:ext cx="26961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channel, manufacturer-direct sales segment is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5775" y="4564717"/>
            <a:ext cx="238123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expected to witness the highest CAGR of</a:t>
            </a:r>
          </a:p>
        </p:txBody>
      </p:sp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15059" y="4554938"/>
            <a:ext cx="128699" cy="18719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2982555" y="4564717"/>
            <a:ext cx="3313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5775" y="4732357"/>
            <a:ext cx="26991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period. In terms of value share by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5775" y="4899997"/>
            <a:ext cx="27938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distribution channel, the general retail channels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5775" y="5067637"/>
            <a:ext cx="26669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segment is expected to dominate the market,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5775" y="5235277"/>
            <a:ext cx="4857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gaining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9576" y="522549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087072" y="5235277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21557" y="5225498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2589053" y="5235277"/>
            <a:ext cx="5577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5775" y="5402917"/>
            <a:ext cx="395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5775" y="5620849"/>
            <a:ext cx="27607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General retail channels segment is projected to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5775" y="5788489"/>
            <a:ext cx="512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register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316" y="5778710"/>
            <a:ext cx="128699" cy="18719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1113812" y="5788489"/>
            <a:ext cx="22789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higher value than specialist solar and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5775" y="5956129"/>
            <a:ext cx="213813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electrical channels segment in 2036.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8575" y="4229437"/>
            <a:ext cx="24199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Specialist Solar and Electrical Channels: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06621" y="4219658"/>
            <a:ext cx="128699" cy="18719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6374117" y="4229437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33567" y="4219658"/>
            <a:ext cx="128699" cy="18719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401063" y="4229437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38575" y="4397077"/>
            <a:ext cx="11525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leads the segment.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38575" y="4615009"/>
            <a:ext cx="15828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General Retail Channels:</a:t>
            </a:r>
          </a:p>
        </p:txBody>
      </p:sp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69512" y="4605230"/>
            <a:ext cx="128699" cy="18719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5537008" y="4615009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18" name="Picture 117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96458" y="4605230"/>
            <a:ext cx="128699" cy="187198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6563954" y="4615009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38575" y="4832941"/>
            <a:ext cx="243060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Third-Party E-Commerce Marketplaces: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7232" y="4823162"/>
            <a:ext cx="128699" cy="187198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6384728" y="4832941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44178" y="4823162"/>
            <a:ext cx="128699" cy="187198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7411674" y="4832941"/>
            <a:ext cx="395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38575" y="5000581"/>
            <a:ext cx="9094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serves a niche.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38575" y="5218513"/>
            <a:ext cx="17234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Manufacturer-Direct Sales:</a:t>
            </a:r>
          </a:p>
        </p:txBody>
      </p:sp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10031" y="5208733"/>
            <a:ext cx="128699" cy="18719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5677527" y="5218513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36977" y="5208733"/>
            <a:ext cx="128699" cy="187198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6704473" y="5218513"/>
            <a:ext cx="7697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grows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38575" y="5386153"/>
            <a:ext cx="4933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fastest.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838575" y="5604085"/>
            <a:ext cx="10993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● Other Resellers:</a:t>
            </a:r>
          </a:p>
        </p:txBody>
      </p:sp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86019" y="5594305"/>
            <a:ext cx="128699" cy="187198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5053515" y="5604085"/>
            <a:ext cx="911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2026 value ·</a:t>
            </a:r>
          </a:p>
        </p:txBody>
      </p:sp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12966" y="5594305"/>
            <a:ext cx="128699" cy="187198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6080461" y="5604085"/>
            <a:ext cx="1260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serves a niche.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24875" y="5842641"/>
            <a:ext cx="304883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The Distribution Channel segment is projected to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24875" y="6017901"/>
            <a:ext cx="11778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grow at a CAGR of</a:t>
            </a:r>
          </a:p>
        </p:txBody>
      </p:sp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51852" y="6007677"/>
            <a:ext cx="134549" cy="195707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9826962" y="6017901"/>
            <a:ext cx="12326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B2E4A"/>
                </a:solidFill>
                <a:latin typeface="Calibri"/>
              </a:rPr>
              <a:t>from 2026 to 2036.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Structure &amp; Attractiveness, By Distribution Channel (Value)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Distribution Channel mix within each country and the attractiveness of each sub-segment on growth and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6343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615315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Distribution Channel mix within each country (share of 2036 value) · row label = country size (US$ Mn), largest first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615315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38925" y="981075"/>
            <a:ext cx="5400675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4175" y="1038225"/>
            <a:ext cx="521017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Market Attractiveness, By Distribution Channel · Bubble size represents 2036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734175" y="1438275"/>
          <a:ext cx="5210175" cy="381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5438775"/>
            <a:ext cx="1190625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684" y="3024134"/>
            <a:ext cx="320946" cy="4668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" y="5694045"/>
            <a:ext cx="113430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General retail channels followed by specialist solar and electrical channels are expected to be the two most attractive distribution channel segments in the Western Europe residential solar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5861685"/>
            <a:ext cx="80437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in terms of value over the forecast period. General retail channels and specialist solar and electrical channels exhibit a CAGR index of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8948" y="5851905"/>
            <a:ext cx="128699" cy="187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16443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4338" y="5851905"/>
            <a:ext cx="128699" cy="187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21834" y="5861685"/>
            <a:ext cx="16609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a market share index of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0807" y="5851905"/>
            <a:ext cx="128699" cy="1871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98303" y="5861685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6197" y="5851905"/>
            <a:ext cx="128699" cy="1871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7175" y="6029325"/>
            <a:ext cx="26063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respectively, against the segment average of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579" y="6019545"/>
            <a:ext cx="128699" cy="18719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979074" y="6029325"/>
            <a:ext cx="84748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The other resellers segment is expected to be less attractive as compared to other segments over the forecast period, owing to its lower CAGR 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175" y="6196965"/>
            <a:ext cx="58382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incremental opportunity. Bubbles right of the CAGR-Index line grow faster than the segment average.</a:t>
            </a:r>
          </a:p>
        </p:txBody>
      </p:sp>
      <p:sp>
        <p:nvSpPr>
          <p:cNvPr id="32" name="lockshield_12"/>
          <p:cNvSpPr/>
          <p:nvPr/>
        </p:nvSpPr>
        <p:spPr>
          <a:xfrm>
            <a:off x="238125" y="1438275"/>
            <a:ext cx="615315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ockshield_15"/>
          <p:cNvSpPr/>
          <p:nvPr/>
        </p:nvSpPr>
        <p:spPr>
          <a:xfrm>
            <a:off x="6734175" y="1438275"/>
            <a:ext cx="5210175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Distribution Channel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Distribution Channel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Manufacturer-Direct Sales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Third-Party E-Commerce Marketplaces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67450" y="1438275"/>
          <a:ext cx="5686425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2875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Specialist Solar and Electrical Channels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2200" y="3867150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7450" y="3924300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General Retail Channels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67450" y="4324350"/>
          <a:ext cx="5686425" cy="22383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2330679"/>
            <a:ext cx="252890" cy="367840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2330679"/>
            <a:ext cx="252890" cy="36784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230" y="5216754"/>
            <a:ext cx="252890" cy="36784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9555" y="5216754"/>
            <a:ext cx="252890" cy="367840"/>
          </a:xfrm>
          <a:prstGeom prst="rect">
            <a:avLst/>
          </a:prstGeom>
        </p:spPr>
      </p:pic>
      <p:sp>
        <p:nvSpPr>
          <p:cNvPr id="27" name="lockshield_12"/>
          <p:cNvSpPr/>
          <p:nvPr/>
        </p:nvSpPr>
        <p:spPr>
          <a:xfrm>
            <a:off x="238125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ckshield_15"/>
          <p:cNvSpPr/>
          <p:nvPr/>
        </p:nvSpPr>
        <p:spPr>
          <a:xfrm>
            <a:off x="6267450" y="1438275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ockshield_18"/>
          <p:cNvSpPr/>
          <p:nvPr/>
        </p:nvSpPr>
        <p:spPr>
          <a:xfrm>
            <a:off x="238125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21"/>
          <p:cNvSpPr/>
          <p:nvPr/>
        </p:nvSpPr>
        <p:spPr>
          <a:xfrm>
            <a:off x="6267450" y="4324350"/>
            <a:ext cx="5686425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Absolute $ Opportunity Analysis, By Distribution Channel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build-up by Distribution Channel and the absolute $ opportunity each sub-segment adds,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Incremental $ Opportunity (US$ Mn), 2026-2036, By Other Resellers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438275"/>
          <a:ext cx="5686425" cy="5133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1066800"/>
            <a:ext cx="5610225" cy="40762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Summary of Western Europe Absolute $ Opportunity Analysis, By Distribution 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5550" y="1502995"/>
            <a:ext cx="561022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1588720"/>
            <a:ext cx="5610225" cy="496448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556" y="3674659"/>
            <a:ext cx="395643" cy="5754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5550" y="1598245"/>
            <a:ext cx="48484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By 2036, general retail channels segment is anticipated to witness an increase of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179" y="1588021"/>
            <a:ext cx="134549" cy="1957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78288" y="1598245"/>
            <a:ext cx="2955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1773505"/>
            <a:ext cx="52940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terms of value as compared to 2026. The general retail channels segment is expected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1948765"/>
            <a:ext cx="25470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create an incremental opportunity of US$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773" y="193854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76882" y="1948765"/>
            <a:ext cx="27561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5550" y="2124025"/>
            <a:ext cx="16798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from 2026 to 2036.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5550" y="2351863"/>
            <a:ext cx="53325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specialist solar and electrical channels segment is expected to create an incremental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5550" y="2527123"/>
            <a:ext cx="12089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opportunity of US$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47" y="251689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38756" y="2527123"/>
            <a:ext cx="402639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 from 2026 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2702383"/>
            <a:ext cx="49885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 The Third-Party E-Commerce marketplaces segment is expected to create 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5550" y="2877643"/>
            <a:ext cx="19568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incremental opportunity of US$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582" y="2867419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86692" y="2877643"/>
            <a:ext cx="32151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Mn for the overall residential solar generator market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5550" y="3052903"/>
            <a:ext cx="12209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from 2026 to 2036.</a:t>
            </a:r>
          </a:p>
        </p:txBody>
      </p:sp>
      <p:sp>
        <p:nvSpPr>
          <p:cNvPr id="36" name="lockshield_12"/>
          <p:cNvSpPr/>
          <p:nvPr/>
        </p:nvSpPr>
        <p:spPr>
          <a:xfrm>
            <a:off x="238125" y="1438275"/>
            <a:ext cx="5686425" cy="5133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Analysis, By Distribution Channel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by Distribution Channel, 2021–2036, highlighting the sub-segments driving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Value, By Distribution Channel (US$ Mn)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205" cy="1724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7466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 Channel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Manufacturer-Direct Sales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Third-Party E-Commerce Marketplaces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Specialist Solar and Electrical Channels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General Retail Channels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Resellers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9718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3305175"/>
            <a:ext cx="11906250" cy="3324225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33909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Value Analysis, By Distribution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36290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3714750"/>
            <a:ext cx="11639550" cy="28384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045" y="1956627"/>
            <a:ext cx="366712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3724275"/>
            <a:ext cx="33720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General retail channels segment is projected to register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7402" y="371405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772511" y="3724275"/>
            <a:ext cx="806673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higher value than specialist solar and electrical channels segment in 2036. Among residential solar generator by distribution channel,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225" y="3899535"/>
            <a:ext cx="47201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manufacturer-direct sales segment is expected to witness the highest CAGR of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494" y="3889311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20603" y="3899535"/>
            <a:ext cx="15486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4127372"/>
            <a:ext cx="76896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 terms of value share by distribution channel, the general retail channels segment is expected to dominate the market, gaining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005" y="4117149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90114" y="4127372"/>
            <a:ext cx="144598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 for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258" y="4117149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60367" y="4127372"/>
            <a:ext cx="17785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 The specialist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4302632"/>
            <a:ext cx="34356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solar and electrical channels segment is expected to lose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014" y="4292409"/>
            <a:ext cx="134549" cy="1957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836123" y="4302632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27" y="4292409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98737" y="4302632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Western Europe Market Value &amp; Share Shift, By Distribution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Value composition by Distribution Channel in 2021, 2026 and 2036, highlighting share shifts in basis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7400925" cy="5648325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7210425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Western Europe Value Composition, By Distribution Channel ·  2021 / 2026 / 2036 (US$ Mn)  ·  right axis = BPS share shift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581150"/>
          <a:ext cx="4614672" cy="4991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52797" y="1590675"/>
            <a:ext cx="2595753" cy="17106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0E72AE"/>
                </a:solidFill>
                <a:latin typeface="Calibri"/>
              </a:rPr>
              <a:t>BPS Δ  (2021→2036)</a:t>
            </a:r>
          </a:p>
        </p:txBody>
      </p:sp>
      <p:sp>
        <p:nvSpPr>
          <p:cNvPr id="14" name="FMI Lock Anchor"/>
          <p:cNvSpPr txBox="1"/>
          <p:nvPr/>
        </p:nvSpPr>
        <p:spPr>
          <a:xfrm>
            <a:off x="2678811" y="4014597"/>
            <a:ext cx="381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FMI Legend Chip"/>
          <p:cNvSpPr/>
          <p:nvPr/>
        </p:nvSpPr>
        <p:spPr>
          <a:xfrm>
            <a:off x="4928997" y="1781720"/>
            <a:ext cx="85725" cy="85725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090922" y="1776957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PS Name 1"/>
          <p:cNvSpPr txBox="1"/>
          <p:nvPr/>
        </p:nvSpPr>
        <p:spPr>
          <a:xfrm>
            <a:off x="5233797" y="1700757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Other Resellers</a:t>
            </a:r>
          </a:p>
        </p:txBody>
      </p:sp>
      <p:sp>
        <p:nvSpPr>
          <p:cNvPr id="18" name="BPS Value 1"/>
          <p:cNvSpPr txBox="1"/>
          <p:nvPr/>
        </p:nvSpPr>
        <p:spPr>
          <a:xfrm>
            <a:off x="6896100" y="1762670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19" name="FMI Legend Chip"/>
          <p:cNvSpPr/>
          <p:nvPr/>
        </p:nvSpPr>
        <p:spPr>
          <a:xfrm>
            <a:off x="4928997" y="2055043"/>
            <a:ext cx="85725" cy="8572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5090922" y="205028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PS Name 2"/>
          <p:cNvSpPr txBox="1"/>
          <p:nvPr/>
        </p:nvSpPr>
        <p:spPr>
          <a:xfrm>
            <a:off x="5233797" y="197408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Manufacturer-Direct Sales</a:t>
            </a:r>
          </a:p>
        </p:txBody>
      </p:sp>
      <p:sp>
        <p:nvSpPr>
          <p:cNvPr id="22" name="BPS Value 2"/>
          <p:cNvSpPr txBox="1"/>
          <p:nvPr/>
        </p:nvSpPr>
        <p:spPr>
          <a:xfrm>
            <a:off x="6896100" y="203599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3" name="FMI Legend Chip"/>
          <p:cNvSpPr/>
          <p:nvPr/>
        </p:nvSpPr>
        <p:spPr>
          <a:xfrm>
            <a:off x="4928997" y="2657613"/>
            <a:ext cx="85725" cy="8572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5090922" y="2652850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PS Name 3"/>
          <p:cNvSpPr txBox="1"/>
          <p:nvPr/>
        </p:nvSpPr>
        <p:spPr>
          <a:xfrm>
            <a:off x="5233797" y="2576650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Third-Party E-Commerce Marketplaces</a:t>
            </a:r>
          </a:p>
        </p:txBody>
      </p:sp>
      <p:sp>
        <p:nvSpPr>
          <p:cNvPr id="26" name="BPS Value 3"/>
          <p:cNvSpPr txBox="1"/>
          <p:nvPr/>
        </p:nvSpPr>
        <p:spPr>
          <a:xfrm>
            <a:off x="6896100" y="263856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27" name="FMI Legend Chip"/>
          <p:cNvSpPr/>
          <p:nvPr/>
        </p:nvSpPr>
        <p:spPr>
          <a:xfrm>
            <a:off x="4928997" y="3841525"/>
            <a:ext cx="85725" cy="8572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5090922" y="3836763"/>
            <a:ext cx="95250" cy="95250"/>
          </a:xfrm>
          <a:prstGeom prst="triangle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PS Name 4"/>
          <p:cNvSpPr txBox="1"/>
          <p:nvPr/>
        </p:nvSpPr>
        <p:spPr>
          <a:xfrm>
            <a:off x="5233797" y="3760563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Specialist Solar and Electrical Channels</a:t>
            </a:r>
          </a:p>
        </p:txBody>
      </p:sp>
      <p:sp>
        <p:nvSpPr>
          <p:cNvPr id="30" name="BPS Value 4"/>
          <p:cNvSpPr txBox="1"/>
          <p:nvPr/>
        </p:nvSpPr>
        <p:spPr>
          <a:xfrm>
            <a:off x="6896100" y="3822475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E44D3A"/>
                </a:solidFill>
                <a:latin typeface="Calibri"/>
              </a:rPr>
              <a:t>XX</a:t>
            </a:r>
          </a:p>
        </p:txBody>
      </p:sp>
      <p:sp>
        <p:nvSpPr>
          <p:cNvPr id="31" name="FMI Legend Chip"/>
          <p:cNvSpPr/>
          <p:nvPr/>
        </p:nvSpPr>
        <p:spPr>
          <a:xfrm>
            <a:off x="4928997" y="5414683"/>
            <a:ext cx="85725" cy="85725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5090922" y="5409921"/>
            <a:ext cx="95250" cy="95250"/>
          </a:xfrm>
          <a:prstGeom prst="triangl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PS Name 5"/>
          <p:cNvSpPr txBox="1"/>
          <p:nvPr/>
        </p:nvSpPr>
        <p:spPr>
          <a:xfrm>
            <a:off x="5233797" y="5333721"/>
            <a:ext cx="1528953" cy="247650"/>
          </a:xfrm>
          <a:prstGeom prst="rect">
            <a:avLst/>
          </a:prstGeom>
          <a:noFill/>
        </p:spPr>
        <p:txBody>
          <a:bodyPr wrap="square" lIns="19050" rIns="19050" tIns="0" bIns="0" anchor="ctr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alibri"/>
              </a:rPr>
              <a:t>General Retail Channels</a:t>
            </a:r>
          </a:p>
        </p:txBody>
      </p:sp>
      <p:sp>
        <p:nvSpPr>
          <p:cNvPr id="34" name="BPS Value 5"/>
          <p:cNvSpPr txBox="1"/>
          <p:nvPr/>
        </p:nvSpPr>
        <p:spPr>
          <a:xfrm>
            <a:off x="6896100" y="5395633"/>
            <a:ext cx="5143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7D32"/>
                </a:solidFill>
                <a:latin typeface="Calibri"/>
              </a:rPr>
              <a:t>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6200" y="981075"/>
            <a:ext cx="4343400" cy="564832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9550" y="1066800"/>
            <a:ext cx="4076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Western Europe Read-out, By Distribution Channel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29550" y="1304925"/>
            <a:ext cx="40767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29550" y="1390650"/>
            <a:ext cx="4076700" cy="5162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843" y="3833622"/>
            <a:ext cx="275034" cy="4000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829550" y="1400175"/>
            <a:ext cx="35420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Among residential solar generator by distribution channel,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550" y="1575435"/>
            <a:ext cx="37308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manufacturer-direct sales segment is expected to witness 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9550" y="1750695"/>
            <a:ext cx="10323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highest CAGR of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1057" y="1740471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86166" y="1750695"/>
            <a:ext cx="25815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over the forecast period. In terms of 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9550" y="1925955"/>
            <a:ext cx="4057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distribution channel, the general retail channels segment 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9550" y="2101215"/>
            <a:ext cx="25753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expected to dominate the market, gaining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4013" y="2090991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29122" y="2101215"/>
            <a:ext cx="124032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and accounting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29550" y="2276475"/>
            <a:ext cx="2487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for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482" y="2266251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202591" y="2276475"/>
            <a:ext cx="94622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 2036.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9550" y="2504313"/>
            <a:ext cx="39944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specialist solar and electrical channels segment is expected 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29550" y="2679573"/>
            <a:ext cx="3166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lose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372" y="2669349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270482" y="2679573"/>
            <a:ext cx="26383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BPS over the forecast period to account for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986" y="2669349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1033096" y="2679573"/>
            <a:ext cx="5796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by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29550" y="2854832"/>
            <a:ext cx="409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</a:t>
            </a:r>
          </a:p>
        </p:txBody>
      </p:sp>
      <p:sp>
        <p:nvSpPr>
          <p:cNvPr id="60" name="lockshield_12"/>
          <p:cNvSpPr/>
          <p:nvPr/>
        </p:nvSpPr>
        <p:spPr>
          <a:xfrm>
            <a:off x="238125" y="1581150"/>
            <a:ext cx="4614672" cy="499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MI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9064" y="525547"/>
            <a:ext cx="1340395" cy="82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7045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6" name="FMI Breaker Title"/>
          <p:cNvSpPr txBox="1"/>
          <p:nvPr/>
        </p:nvSpPr>
        <p:spPr>
          <a:xfrm>
            <a:off x="914400" y="267525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Country Market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0105"/>
            <a:ext cx="7124700" cy="2536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Overview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Segment Overview (Volume &amp; Value)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Type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Rated Energy Storage Capacity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Battery Technology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Grid Connectivity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Primary Application</a:t>
            </a:r>
          </a:p>
          <a:p>
            <a:pPr marL="685800" indent="-323850">
              <a:lnSpc>
                <a:spcPct val="100000"/>
              </a:lnSpc>
              <a:spcAft>
                <a:spcPts val="560"/>
              </a:spcAft>
            </a:pPr>
            <a:r>
              <a:rPr sz="1400" b="0">
                <a:solidFill>
                  <a:srgbClr val="FFD447"/>
                </a:solidFill>
                <a:latin typeface="Calibri"/>
              </a:rPr>
              <a:t>›	</a:t>
            </a:r>
            <a:r>
              <a:rPr sz="1400" b="0">
                <a:solidFill>
                  <a:srgbClr val="FFD447"/>
                </a:solidFill>
                <a:latin typeface="Calibri"/>
              </a:rPr>
              <a:t>Distribution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11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Overview (Volume &amp;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Volume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Overview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Segments (Value)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Volume Overview (Units)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the Germany market in volume: size, growth, YoY momentum and gap to the Global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2025 MARKET SIZE (UNITS)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estimate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27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(UNITS)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forecast horizon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26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H-CAGR (2021–2025)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25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F-CAGR (2026–2036)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1819275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8764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Volume (Units), 2021–2036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2105025"/>
          <a:ext cx="4505325" cy="14382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991100" y="1819275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6350" y="18764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Comparison &amp; Growth Deviation from Regional Benchmark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086350" y="2105025"/>
          <a:ext cx="2880360" cy="14382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042910" y="2124075"/>
            <a:ext cx="3901440" cy="7048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2200" b="1">
                <a:solidFill>
                  <a:srgbClr val="008189"/>
                </a:solidFill>
                <a:latin typeface="Calibri"/>
              </a:rPr>
              <a:t> </a:t>
            </a:r>
          </a:p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vs Western Europe benchmark</a:t>
            </a:r>
          </a:p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▲ above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2910" y="2867025"/>
            <a:ext cx="3901440" cy="6381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2875" y="3733800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125" y="3790950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Forecast Build-up 2026–2036 (Units)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238125" y="4019550"/>
          <a:ext cx="4505325" cy="14382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4991100" y="3733800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6350" y="3790950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Market Share, 2026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5086350" y="4019550"/>
          <a:ext cx="6858000" cy="14382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142875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3044" y="1219200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944" y="1219200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2844" y="1303020"/>
            <a:ext cx="157162" cy="22860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2744" y="1303020"/>
            <a:ext cx="157162" cy="228600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2661285"/>
            <a:ext cx="165021" cy="240030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365" y="2599095"/>
            <a:ext cx="191595" cy="278683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8378" y="2141220"/>
            <a:ext cx="230504" cy="335279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4575810"/>
            <a:ext cx="165021" cy="240030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708" y="4462938"/>
            <a:ext cx="261282" cy="38004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071485" y="2876550"/>
            <a:ext cx="3305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Germany's residential solar generator market expands at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4934" y="2866771"/>
            <a:ext cx="128699" cy="18719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071485" y="3044190"/>
            <a:ext cx="38278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through 2036, outpacing the Western Europe benchmark of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8017" y="3202051"/>
            <a:ext cx="128699" cy="18719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25513" y="3211830"/>
            <a:ext cx="212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6463" y="3202051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553959" y="3211830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175" y="5966460"/>
            <a:ext cx="9367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holds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000" y="5956680"/>
            <a:ext cx="128699" cy="18719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09496" y="5966460"/>
            <a:ext cx="10350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global and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2548" y="5956680"/>
            <a:ext cx="128699" cy="18719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460044" y="5966460"/>
            <a:ext cx="29059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Western Europe residential solar generator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175" y="6134100"/>
            <a:ext cx="27083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in 2026; by 2036 those shares move to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625" y="6124320"/>
            <a:ext cx="128699" cy="18719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081121" y="6134100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015" y="6124320"/>
            <a:ext cx="128699" cy="18719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486511" y="6134100"/>
            <a:ext cx="7937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86500" y="5966460"/>
            <a:ext cx="1586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forecast build-up adds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1530" y="5956680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989026" y="5966460"/>
            <a:ext cx="35236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Units between 2026 and 2036 the Germany market grows to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0757" y="5956680"/>
            <a:ext cx="128699" cy="18719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628253" y="5966460"/>
            <a:ext cx="1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86500" y="6134100"/>
            <a:ext cx="17556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its 2026 size over the decade.</a:t>
            </a:r>
          </a:p>
        </p:txBody>
      </p:sp>
      <p:sp>
        <p:nvSpPr>
          <p:cNvPr id="63" name="lockshield_16"/>
          <p:cNvSpPr/>
          <p:nvPr/>
        </p:nvSpPr>
        <p:spPr>
          <a:xfrm>
            <a:off x="238125" y="2105025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ockshield_19"/>
          <p:cNvSpPr/>
          <p:nvPr/>
        </p:nvSpPr>
        <p:spPr>
          <a:xfrm>
            <a:off x="5086350" y="2105025"/>
            <a:ext cx="288036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ockshield_24"/>
          <p:cNvSpPr/>
          <p:nvPr/>
        </p:nvSpPr>
        <p:spPr>
          <a:xfrm>
            <a:off x="238125" y="4019550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ockshield_27"/>
          <p:cNvSpPr/>
          <p:nvPr/>
        </p:nvSpPr>
        <p:spPr>
          <a:xfrm>
            <a:off x="5086350" y="4019550"/>
            <a:ext cx="685800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Value Overview (US$ 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the Germany market in value: size, growth, YoY momentum and gap to the Global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2025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estimate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27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2036 MARKET SIZE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forecast horizon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26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H-CAGR (2021–2025)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2575" y="981075"/>
            <a:ext cx="2857500" cy="704850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F-CAGR (2026–2036)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1819275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876425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 (US$ Mn), 2021–2036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38125" y="2105025"/>
          <a:ext cx="4505325" cy="14382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991100" y="1819275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6350" y="1876425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CAGR Comparison &amp; Growth Deviation from Regional Benchmark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086350" y="2105025"/>
          <a:ext cx="2880360" cy="14382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042910" y="2124075"/>
            <a:ext cx="3901440" cy="7048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2200" b="1">
                <a:solidFill>
                  <a:srgbClr val="008189"/>
                </a:solidFill>
                <a:latin typeface="Calibri"/>
              </a:rPr>
              <a:t> </a:t>
            </a:r>
          </a:p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vs Western Europe benchmark</a:t>
            </a:r>
          </a:p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▲ above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2910" y="2867025"/>
            <a:ext cx="3901440" cy="6381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2875" y="3733800"/>
            <a:ext cx="4695825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125" y="3790950"/>
            <a:ext cx="45053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Forecast Build-up 2026–2036 (US$ Mn)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238125" y="4019550"/>
          <a:ext cx="4505325" cy="14382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4991100" y="3733800"/>
            <a:ext cx="7048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6350" y="3790950"/>
            <a:ext cx="6858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Market Share, 2026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5086350" y="4019550"/>
          <a:ext cx="6858000" cy="1438275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142875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648325"/>
            <a:ext cx="587692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3044" y="1219200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944" y="1219200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2844" y="1303020"/>
            <a:ext cx="157162" cy="22860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2744" y="1303020"/>
            <a:ext cx="157162" cy="228600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2661285"/>
            <a:ext cx="165021" cy="240030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365" y="2599095"/>
            <a:ext cx="191595" cy="278683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8378" y="2141220"/>
            <a:ext cx="230504" cy="335279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414" y="4575810"/>
            <a:ext cx="165021" cy="240030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708" y="4462938"/>
            <a:ext cx="261282" cy="38004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071485" y="2876550"/>
            <a:ext cx="3305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Germany's residential solar generator market expands at</a:t>
            </a:r>
          </a:p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4934" y="2866771"/>
            <a:ext cx="128699" cy="18719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071485" y="3044190"/>
            <a:ext cx="38278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through 2036, outpacing the Western Europe benchmark of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8017" y="3202051"/>
            <a:ext cx="128699" cy="18719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25513" y="3211830"/>
            <a:ext cx="2128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by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6463" y="3202051"/>
            <a:ext cx="128699" cy="18719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553959" y="3211830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175" y="5966460"/>
            <a:ext cx="9367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Germany holds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000" y="5956680"/>
            <a:ext cx="128699" cy="18719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09496" y="5966460"/>
            <a:ext cx="10350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global and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2548" y="5956680"/>
            <a:ext cx="128699" cy="18719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460044" y="5966460"/>
            <a:ext cx="29059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the Western Europe residential solar generator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175" y="6134100"/>
            <a:ext cx="27083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in 2026; by 2036 those shares move to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625" y="6124320"/>
            <a:ext cx="128699" cy="18719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081121" y="6134100"/>
            <a:ext cx="2898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015" y="6124320"/>
            <a:ext cx="128699" cy="18719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486511" y="6134100"/>
            <a:ext cx="7937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respectively.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86500" y="5882640"/>
            <a:ext cx="31790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market in Germany is expected to account for US$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3619" y="5872860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581115" y="5882640"/>
            <a:ext cx="14955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by 2036 at a CAGR of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4723" y="5872860"/>
            <a:ext cx="128699" cy="18719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192219" y="5882640"/>
            <a:ext cx="5528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 the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86500" y="6050280"/>
            <a:ext cx="474932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 period. Germany is expected to create an incremental opportunity of US$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3880" y="6040501"/>
            <a:ext cx="128699" cy="18719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1151376" y="6050280"/>
            <a:ext cx="68738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Mn for the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86500" y="6217920"/>
            <a:ext cx="35624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overall residential solar generator market from 2025 to 2036.</a:t>
            </a:r>
          </a:p>
        </p:txBody>
      </p:sp>
      <p:sp>
        <p:nvSpPr>
          <p:cNvPr id="66" name="lockshield_16"/>
          <p:cNvSpPr/>
          <p:nvPr/>
        </p:nvSpPr>
        <p:spPr>
          <a:xfrm>
            <a:off x="238125" y="2105025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ockshield_19"/>
          <p:cNvSpPr/>
          <p:nvPr/>
        </p:nvSpPr>
        <p:spPr>
          <a:xfrm>
            <a:off x="5086350" y="2105025"/>
            <a:ext cx="288036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ockshield_24"/>
          <p:cNvSpPr/>
          <p:nvPr/>
        </p:nvSpPr>
        <p:spPr>
          <a:xfrm>
            <a:off x="238125" y="4019550"/>
            <a:ext cx="4505325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ockshield_27"/>
          <p:cNvSpPr/>
          <p:nvPr/>
        </p:nvSpPr>
        <p:spPr>
          <a:xfrm>
            <a:off x="5086350" y="4019550"/>
            <a:ext cx="6858000" cy="14382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Key Segments Overview, By Value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Germany's key segments by value, highlighting the leading sub-segment of every segmentation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285750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Type  (US$ Mn)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2667000" cy="13525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152775" y="981075"/>
            <a:ext cx="285750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8025" y="1038225"/>
            <a:ext cx="2667000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Rated Energy Storage Capacity  (US$ Mn)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248025" y="1438275"/>
          <a:ext cx="2667000" cy="11811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62675" y="981075"/>
            <a:ext cx="285750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79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Battery Technology  (US$ Mn)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57925" y="1266825"/>
          <a:ext cx="2667000" cy="135255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9172575" y="981075"/>
            <a:ext cx="285750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7825" y="1038225"/>
            <a:ext cx="2667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Grid Connectivity  (US$ Mn)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9267825" y="1266825"/>
          <a:ext cx="2667000" cy="135255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142875" y="2809875"/>
            <a:ext cx="293370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125" y="2867025"/>
            <a:ext cx="27432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Primary Application  (US$ Mn)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238125" y="3095625"/>
          <a:ext cx="2743200" cy="135255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228975" y="2809875"/>
            <a:ext cx="293370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4225" y="2867025"/>
            <a:ext cx="27432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By Distribution Channel  (US$ Mn)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324225" y="3095625"/>
          <a:ext cx="2743200" cy="135255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142875" y="4638675"/>
            <a:ext cx="11906250" cy="1981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225" y="47244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276225" y="49625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225" y="5048250"/>
            <a:ext cx="11639550" cy="14954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11655" y="1724025"/>
            <a:ext cx="183356" cy="26670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1555" y="1809750"/>
            <a:ext cx="183356" cy="266700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1455" y="1724025"/>
            <a:ext cx="183356" cy="266700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41355" y="1724025"/>
            <a:ext cx="183356" cy="266700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9755" y="3552825"/>
            <a:ext cx="183356" cy="266700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5855" y="3552825"/>
            <a:ext cx="183356" cy="2667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76225" y="4733925"/>
            <a:ext cx="146803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0B2E4A"/>
                </a:solidFill>
                <a:latin typeface="Calibri"/>
              </a:rPr>
              <a:t>Key Takeaways · 2026 Total: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8698" y="4725603"/>
            <a:ext cx="109510" cy="15928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831222" y="4733925"/>
            <a:ext cx="46508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0B2E4A"/>
                </a:solidFill>
                <a:latin typeface="Calibri"/>
              </a:rPr>
              <a:t>US$ Mn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225" y="5057775"/>
            <a:ext cx="307248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▪ By Type, 'Portable Modular Solar Generators' leads at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5789" y="5048387"/>
            <a:ext cx="123551" cy="17971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456585" y="5057775"/>
            <a:ext cx="5785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82262" y="5048387"/>
            <a:ext cx="123551" cy="17971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143058" y="5057775"/>
            <a:ext cx="31372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share), ahead of 'Portable Integrated Solar Generators' (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7341" y="5048387"/>
            <a:ext cx="123551" cy="17971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88137" y="5057775"/>
            <a:ext cx="5820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225" y="5266989"/>
            <a:ext cx="324483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▪ By Rated Energy Storage Capacity, 'Up to 1 kWh' leads at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8144" y="5257601"/>
            <a:ext cx="123551" cy="17971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628939" y="5266989"/>
            <a:ext cx="5785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4617" y="5257601"/>
            <a:ext cx="123551" cy="17971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315413" y="5266989"/>
            <a:ext cx="198074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share), ahead of 'Above 1–3 kWh' (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3242" y="5257601"/>
            <a:ext cx="123551" cy="17971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04038" y="5266989"/>
            <a:ext cx="5820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225" y="5476204"/>
            <a:ext cx="352720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▪ By Battery Technology, 'Lithium Iron Phosphate (LFP)' leads at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0512" y="5466816"/>
            <a:ext cx="123551" cy="17971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911308" y="5476204"/>
            <a:ext cx="5785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6986" y="5466816"/>
            <a:ext cx="123551" cy="17971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597782" y="5476204"/>
            <a:ext cx="261620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share), ahead of 'Other Battery Technologies' (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1071" y="5466816"/>
            <a:ext cx="123551" cy="17971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321867" y="5476204"/>
            <a:ext cx="5820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6225" y="5685419"/>
            <a:ext cx="349708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▪ By Grid Connectivity, 'Fixed Grid-Connected Systems' leads at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0389" y="5676031"/>
            <a:ext cx="123551" cy="17971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81185" y="5685419"/>
            <a:ext cx="5785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06863" y="5676031"/>
            <a:ext cx="123551" cy="17971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567659" y="5685419"/>
            <a:ext cx="235924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share), ahead of 'Fixed Off-Grid Systems' (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3988" y="5676031"/>
            <a:ext cx="123551" cy="17971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034784" y="5685419"/>
            <a:ext cx="5820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6225" y="5894633"/>
            <a:ext cx="387925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▪ By Primary Application, 'Residential Solar Self-Consumption' leads at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2556" y="5885246"/>
            <a:ext cx="123551" cy="17971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263352" y="5894633"/>
            <a:ext cx="5785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9030" y="5885246"/>
            <a:ext cx="123551" cy="17971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949826" y="5894633"/>
            <a:ext cx="287212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share), ahead of 'Supplemental Household Power' (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9028" y="5885246"/>
            <a:ext cx="123551" cy="17971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7929824" y="5894633"/>
            <a:ext cx="5820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6225" y="6103848"/>
            <a:ext cx="412075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▪ By Distribution Channel, 'Specialist Solar and Electrical Channels' leads at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4063" y="6094460"/>
            <a:ext cx="123551" cy="17971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504858" y="6103848"/>
            <a:ext cx="57859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(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0536" y="6094460"/>
            <a:ext cx="123551" cy="17971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91332" y="6103848"/>
            <a:ext cx="241923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share), ahead of 'General Retail Channels' (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7645" y="6094460"/>
            <a:ext cx="123551" cy="17971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7718441" y="6103848"/>
            <a:ext cx="5820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Mn).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6225" y="6313063"/>
            <a:ext cx="641377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▪ Use the Country slicer in the top band to switch country the selection stays synced across every page of the report.</a:t>
            </a:r>
          </a:p>
        </p:txBody>
      </p:sp>
      <p:sp>
        <p:nvSpPr>
          <p:cNvPr id="85" name="lockshield_12"/>
          <p:cNvSpPr/>
          <p:nvPr/>
        </p:nvSpPr>
        <p:spPr>
          <a:xfrm>
            <a:off x="238125" y="1266825"/>
            <a:ext cx="2667000" cy="1352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ockshield_15"/>
          <p:cNvSpPr/>
          <p:nvPr/>
        </p:nvSpPr>
        <p:spPr>
          <a:xfrm>
            <a:off x="3248025" y="1438275"/>
            <a:ext cx="2667000" cy="11811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ockshield_18"/>
          <p:cNvSpPr/>
          <p:nvPr/>
        </p:nvSpPr>
        <p:spPr>
          <a:xfrm>
            <a:off x="6257925" y="1266825"/>
            <a:ext cx="2667000" cy="1352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ockshield_21"/>
          <p:cNvSpPr/>
          <p:nvPr/>
        </p:nvSpPr>
        <p:spPr>
          <a:xfrm>
            <a:off x="9267825" y="1266825"/>
            <a:ext cx="2667000" cy="1352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lockshield_24"/>
          <p:cNvSpPr/>
          <p:nvPr/>
        </p:nvSpPr>
        <p:spPr>
          <a:xfrm>
            <a:off x="238125" y="3095625"/>
            <a:ext cx="2743200" cy="1352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ockshield_27"/>
          <p:cNvSpPr/>
          <p:nvPr/>
        </p:nvSpPr>
        <p:spPr>
          <a:xfrm>
            <a:off x="3324225" y="3095625"/>
            <a:ext cx="2743200" cy="13525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1621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5050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Segment Overview (Volume &amp;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90875"/>
            <a:ext cx="8458200" cy="2457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Type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Rated Energy Storage Capacity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Battery Technology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Grid Connectivity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Primary Application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Distribution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12.1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Segmental Analysis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Type: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Type (US$ Mn)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Type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81725" y="1238250"/>
          <a:ext cx="585787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7811"/>
                <a:gridCol w="693764"/>
                <a:gridCol w="693764"/>
                <a:gridCol w="887742"/>
                <a:gridCol w="524795"/>
              </a:tblGrid>
              <a:tr h="43891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1569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Portable Integrated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1569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Portable Modular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1569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Residential Solar Power Generator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Type (US$ Mn), between 2026–2036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1547" y="2360675"/>
            <a:ext cx="330041" cy="48006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9" name="lockshield_12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19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Tables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Type, 2021–2036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Type (US$ Mn)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52400" y="1238250"/>
          <a:ext cx="11887201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3625"/>
                <a:gridCol w="518606"/>
                <a:gridCol w="518606"/>
                <a:gridCol w="518606"/>
                <a:gridCol w="518606"/>
                <a:gridCol w="518606"/>
                <a:gridCol w="500338"/>
                <a:gridCol w="495118"/>
                <a:gridCol w="495118"/>
                <a:gridCol w="495118"/>
                <a:gridCol w="495118"/>
                <a:gridCol w="495118"/>
                <a:gridCol w="495118"/>
                <a:gridCol w="495118"/>
                <a:gridCol w="495118"/>
                <a:gridCol w="495118"/>
                <a:gridCol w="495118"/>
                <a:gridCol w="58902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Portable Integrated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Portable Modular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Residential Solar Power Generator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03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122" y="171373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12.2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Rated Energy Storage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Segmental Analysis Rated Energy Storage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Rated Energy Storage Capacity: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Rated Energy Storage Capacity (US$ Mn)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Rated Energy Storage Capacity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81725" y="1238250"/>
          <a:ext cx="5867272" cy="22860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7571"/>
                <a:gridCol w="970076"/>
                <a:gridCol w="970076"/>
                <a:gridCol w="970076"/>
                <a:gridCol w="97947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Rated Energy Storage Capacity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40797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1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0797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1–3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40797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3–10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0797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10–20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40797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20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125" y="3924300"/>
            <a:ext cx="11520309" cy="3810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Rated Energy Storage Capacity (US$ Mn), between 2026–2036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38125" y="4324350"/>
          <a:ext cx="11520309" cy="22383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965" y="2237613"/>
            <a:ext cx="366712" cy="5334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555" y="5216754"/>
            <a:ext cx="252890" cy="367840"/>
          </a:xfrm>
          <a:prstGeom prst="rect">
            <a:avLst/>
          </a:prstGeom>
        </p:spPr>
      </p:pic>
      <p:sp>
        <p:nvSpPr>
          <p:cNvPr id="29" name="lockshield_12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19"/>
          <p:cNvSpPr/>
          <p:nvPr/>
        </p:nvSpPr>
        <p:spPr>
          <a:xfrm>
            <a:off x="238125" y="4324350"/>
            <a:ext cx="11520309" cy="22383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Tables Rated Energy Storage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Rated Energy Storage Capacity, 2021–2036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981075"/>
            <a:ext cx="11906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Rated Energy Storage Capacity (US$ Mn)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52400" y="1238250"/>
          <a:ext cx="11887206" cy="1724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9008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  <a:gridCol w="57989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Rated Energy Storage Capacity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1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1–3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3–10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10–20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Above 20 kWh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19075" y="29718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816" y="1956627"/>
            <a:ext cx="366712" cy="533399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12.3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Battery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Segmental Analysis Battery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Battery Technology: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Battery Technology (US$ Mn)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Battery Technology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81725" y="1238250"/>
          <a:ext cx="5857876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7520"/>
                <a:gridCol w="862380"/>
                <a:gridCol w="862380"/>
                <a:gridCol w="1089093"/>
                <a:gridCol w="616503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Battery Technology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Lithium Iron Phosphate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Nickel-Based Lithium-Ion Batteries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Lead-Acid Batteries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Battery Technologies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Battery Technology (US$ Mn), between 2026–2036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7733" y="2237612"/>
            <a:ext cx="366712" cy="5334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9" name="lockshield_12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19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Tables Battery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Battery Technology, 2021–2036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Battery Technology (US$ Mn)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52400" y="1238250"/>
          <a:ext cx="11887196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5531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  <a:gridCol w="56774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Battery Technology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Lithium Iron Phosphate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Nickel-Based Lithium-Ion Batteries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Lead-Acid Batteries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Battery Technologies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073" y="1837563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12.4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Grid Connectivity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Segmental Analysis Grid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Grid Connectivity: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Grid Connectivity (US$ Mn)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Grid Connectivity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81725" y="1238250"/>
          <a:ext cx="5860611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7636"/>
                <a:gridCol w="977560"/>
                <a:gridCol w="977560"/>
                <a:gridCol w="977560"/>
                <a:gridCol w="98029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Grid Connectivity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Grid-Connected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1993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Off-Grid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Grid Connectivity (US$ Mn), between 2026–2036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2321" y="2237613"/>
            <a:ext cx="366712" cy="5334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9" name="lockshield_12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19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Tables Grid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Grid Connectivity, 2021–2036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981075"/>
            <a:ext cx="11906250" cy="1457325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Grid Connectivity (US$ Mn)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52400" y="1238250"/>
          <a:ext cx="11887192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47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  <a:gridCol w="580144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Grid Connectivity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Grid-Connected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Off-Grid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815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19075" y="2238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677" y="1589912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12.5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Primary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Segmental Analysis Primary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Primary Application: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Primary Application (US$ Mn)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Primary Application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81725" y="1238250"/>
          <a:ext cx="5857874" cy="228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9768"/>
                <a:gridCol w="856786"/>
                <a:gridCol w="856786"/>
                <a:gridCol w="1082029"/>
                <a:gridCol w="61250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Primary Application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Emergency Power Backup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Residential Solar Self-Consumption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Primary Off-Grid Household Power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0996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Supplemental Household Power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Primary Application (US$ Mn), between 2026–2036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8855" y="2237612"/>
            <a:ext cx="366712" cy="5334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9" name="lockshield_12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19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Tables Primary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Primary Application, 2021–2036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981075"/>
            <a:ext cx="119062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Primary Application (US$ Mn)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52400" y="1238250"/>
          <a:ext cx="11887196" cy="1485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4040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  <a:gridCol w="56606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Primary Application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Emergency Power Backup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Residential Solar Self-Consumption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Primary Off-Grid Household Power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Supplemental Household Power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95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19075" y="27336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327" y="1837563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12.6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Distribution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Segmental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Table (Volume &amp; Value)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Segmental Analysis Distribution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Germany segmental analysis by Distribution Channel: growth contribution, share variance and absolute $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Growth Contribution 2026 → 2036, By Distribution Channel (US$ Mn)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8125" y="1266825"/>
          <a:ext cx="5686425" cy="2409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981075"/>
            <a:ext cx="58769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038225"/>
            <a:ext cx="568642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Value Shares &amp; Variance, By Distribution Channel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81725" y="1238250"/>
          <a:ext cx="5857876" cy="22860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1785"/>
                <a:gridCol w="823598"/>
                <a:gridCol w="823598"/>
                <a:gridCol w="1040116"/>
                <a:gridCol w="58877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 Channel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Share 2036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Variance (BPS)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40797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Manufacturer-Direct Sales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0797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Third-Party E-Commerce Marketplaces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40797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Specialist Solar and Electrical Channels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0797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General Retail Channels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40797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Resellers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48400" y="3533775"/>
            <a:ext cx="5724525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" y="3867150"/>
            <a:ext cx="11906250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125" y="3924300"/>
            <a:ext cx="11520309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Absolute $ Opportunity, By Distribution Channel (US$ Mn), between 2026–2036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38125" y="4152900"/>
          <a:ext cx="11520309" cy="24098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6" y="2237234"/>
            <a:ext cx="263506" cy="383281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4865" y="2237613"/>
            <a:ext cx="366712" cy="5334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247" y="5123309"/>
            <a:ext cx="263506" cy="383281"/>
          </a:xfrm>
          <a:prstGeom prst="rect">
            <a:avLst/>
          </a:prstGeom>
        </p:spPr>
      </p:pic>
      <p:sp>
        <p:nvSpPr>
          <p:cNvPr id="29" name="lockshield_12"/>
          <p:cNvSpPr/>
          <p:nvPr/>
        </p:nvSpPr>
        <p:spPr>
          <a:xfrm>
            <a:off x="238125" y="1266825"/>
            <a:ext cx="5686425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ockshield_19"/>
          <p:cNvSpPr/>
          <p:nvPr/>
        </p:nvSpPr>
        <p:spPr>
          <a:xfrm>
            <a:off x="238125" y="4152900"/>
            <a:ext cx="11520309" cy="240982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Germany Residential Solar Generator Market Tables Distribution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Year-by-year value of the Germany market by Distribution Channel, 2021–2036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981075"/>
            <a:ext cx="11906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Germany Value, By Distribution Channel (US$ Mn)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52400" y="1238250"/>
          <a:ext cx="11887205" cy="1724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7466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  <a:gridCol w="55586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 Channel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2025A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2027F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2031F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2033F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2035F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F-CAGR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Manufacturer-Direct Sales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Third-Party E-Commerce Marketplaces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Specialist Solar and Electrical Channels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General Retail Channels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Other Resellers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3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19075" y="29718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045" y="195662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MI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9064" y="525547"/>
            <a:ext cx="1340395" cy="82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940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6" name="FMI Breaker Title"/>
          <p:cNvSpPr txBox="1"/>
          <p:nvPr/>
        </p:nvSpPr>
        <p:spPr>
          <a:xfrm>
            <a:off x="914400" y="36988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Pricing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03725"/>
            <a:ext cx="71247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13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Pricing &amp; Regional Price Index Trends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 &amp; Key Findings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Pricing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Factors Impacting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Product Pricing &amp; Regional Price Index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range by sub-segment and indexed regional price movement, highlighting dispersion and structural shifts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average USD pricing by product type and indexed regional price movement with base-year inflation adjustments.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Pricing by Product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19" y="3471051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3667.8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9" y="2561000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4207.1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19" y="1650949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4746.3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5625" y="2960007"/>
            <a:ext cx="0" cy="367707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06550" y="2960007"/>
            <a:ext cx="438150" cy="367707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" y="2807607"/>
            <a:ext cx="23368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3566301"/>
            <a:ext cx="23368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Integrated Solar Gene…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62425" y="1927636"/>
            <a:ext cx="0" cy="335217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943350" y="1927636"/>
            <a:ext cx="438150" cy="335217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4025" y="1775236"/>
            <a:ext cx="23368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4025" y="3566301"/>
            <a:ext cx="23368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Modular Solar Generat…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99225" y="2929959"/>
            <a:ext cx="0" cy="327408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280150" y="2929959"/>
            <a:ext cx="438150" cy="327408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0825" y="2777559"/>
            <a:ext cx="23368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825" y="3566301"/>
            <a:ext cx="23368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Fixed Residential Sol…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2875" y="3991741"/>
            <a:ext cx="7696200" cy="256464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8125" y="4048891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Region vs Global Price Trend (2026–2036)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9125" y="4518482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9125" y="4883890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9125" y="561470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19125" y="5980114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9125" y="4518482"/>
            <a:ext cx="0" cy="1461632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90550" y="4518482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0550" y="488389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0550" y="524929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90550" y="561470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0550" y="5980114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MI Scale tick"/>
          <p:cNvSpPr txBox="1"/>
          <p:nvPr/>
        </p:nvSpPr>
        <p:spPr>
          <a:xfrm>
            <a:off x="219075" y="4451807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+13%</a:t>
            </a:r>
          </a:p>
        </p:txBody>
      </p:sp>
      <p:sp>
        <p:nvSpPr>
          <p:cNvPr id="42" name="FMI Scale tick"/>
          <p:cNvSpPr txBox="1"/>
          <p:nvPr/>
        </p:nvSpPr>
        <p:spPr>
          <a:xfrm>
            <a:off x="219075" y="4817215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+6%</a:t>
            </a:r>
          </a:p>
        </p:txBody>
      </p:sp>
      <p:sp>
        <p:nvSpPr>
          <p:cNvPr id="43" name="FMI Scale tick"/>
          <p:cNvSpPr txBox="1"/>
          <p:nvPr/>
        </p:nvSpPr>
        <p:spPr>
          <a:xfrm>
            <a:off x="219075" y="518262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4" name="FMI Scale tick"/>
          <p:cNvSpPr txBox="1"/>
          <p:nvPr/>
        </p:nvSpPr>
        <p:spPr>
          <a:xfrm>
            <a:off x="219075" y="5548031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-6%</a:t>
            </a:r>
          </a:p>
        </p:txBody>
      </p:sp>
      <p:sp>
        <p:nvSpPr>
          <p:cNvPr id="45" name="FMI Scale tick"/>
          <p:cNvSpPr txBox="1"/>
          <p:nvPr/>
        </p:nvSpPr>
        <p:spPr>
          <a:xfrm>
            <a:off x="219075" y="5913439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-13%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93989" y="4614107"/>
            <a:ext cx="457200" cy="63519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MI Data Label"/>
          <p:cNvSpPr txBox="1"/>
          <p:nvPr/>
        </p:nvSpPr>
        <p:spPr>
          <a:xfrm>
            <a:off x="619125" y="4471232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00918" y="5105130"/>
            <a:ext cx="457200" cy="14416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MI Data Label"/>
          <p:cNvSpPr txBox="1"/>
          <p:nvPr/>
        </p:nvSpPr>
        <p:spPr>
          <a:xfrm>
            <a:off x="1626054" y="4962255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07846" y="5249298"/>
            <a:ext cx="457200" cy="243560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MI Data Label"/>
          <p:cNvSpPr txBox="1"/>
          <p:nvPr/>
        </p:nvSpPr>
        <p:spPr>
          <a:xfrm>
            <a:off x="2632982" y="5502383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4775" y="5249298"/>
            <a:ext cx="457200" cy="307007"/>
          </a:xfrm>
          <a:prstGeom prst="rect">
            <a:avLst/>
          </a:prstGeom>
          <a:solidFill>
            <a:srgbClr val="E4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MI Data Label"/>
          <p:cNvSpPr txBox="1"/>
          <p:nvPr/>
        </p:nvSpPr>
        <p:spPr>
          <a:xfrm>
            <a:off x="3639911" y="5565830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21704" y="4710856"/>
            <a:ext cx="457200" cy="53844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MI Data Label"/>
          <p:cNvSpPr txBox="1"/>
          <p:nvPr/>
        </p:nvSpPr>
        <p:spPr>
          <a:xfrm>
            <a:off x="4646839" y="4567981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28632" y="4816972"/>
            <a:ext cx="457200" cy="432326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MI Data Label"/>
          <p:cNvSpPr txBox="1"/>
          <p:nvPr/>
        </p:nvSpPr>
        <p:spPr>
          <a:xfrm>
            <a:off x="5653768" y="4674097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9" name="FMI Data Label"/>
          <p:cNvSpPr txBox="1"/>
          <p:nvPr/>
        </p:nvSpPr>
        <p:spPr>
          <a:xfrm>
            <a:off x="6660696" y="5097812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125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26054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32982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39911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46839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53768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0696" y="613538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275" y="2780683"/>
            <a:ext cx="128699" cy="187198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075" y="1748312"/>
            <a:ext cx="128699" cy="187198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875" y="2750635"/>
            <a:ext cx="128699" cy="187198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40" y="4444308"/>
            <a:ext cx="128699" cy="187198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168" y="4935330"/>
            <a:ext cx="128699" cy="187198"/>
          </a:xfrm>
          <a:prstGeom prst="rect">
            <a:avLst/>
          </a:prstGeom>
        </p:spPr>
      </p:pic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097" y="5475459"/>
            <a:ext cx="128699" cy="187198"/>
          </a:xfrm>
          <a:prstGeom prst="rect">
            <a:avLst/>
          </a:prstGeom>
        </p:spPr>
      </p:pic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026" y="5538906"/>
            <a:ext cx="128699" cy="187198"/>
          </a:xfrm>
          <a:prstGeom prst="rect">
            <a:avLst/>
          </a:prstGeom>
        </p:spPr>
      </p:pic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954" y="4541057"/>
            <a:ext cx="128699" cy="187198"/>
          </a:xfrm>
          <a:prstGeom prst="rect">
            <a:avLst/>
          </a:prstGeom>
        </p:spPr>
      </p:pic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883" y="4647173"/>
            <a:ext cx="128699" cy="187198"/>
          </a:xfrm>
          <a:prstGeom prst="rect">
            <a:avLst/>
          </a:prstGeom>
        </p:spPr>
      </p:pic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811" y="5070888"/>
            <a:ext cx="128699" cy="18719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048625" y="1736673"/>
            <a:ext cx="36504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chart shows global average pricing of key type types in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48625" y="1911934"/>
            <a:ext cx="36266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USD, harmonised across regions. Each candlestick spans the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48625" y="2087194"/>
            <a:ext cx="36464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minimum-to-maximum observed price within the base year,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48625" y="2262454"/>
            <a:ext cx="340625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giving a clear read of price range and market dispersion.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8625" y="2490292"/>
            <a:ext cx="379305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Wider bodies mark a larger gap between opening and closing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48625" y="2665551"/>
            <a:ext cx="3672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price levels 'Portable Integrated Solar Generators' shows the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8625" y="2840811"/>
            <a:ext cx="120666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most movement (+</a:t>
            </a:r>
          </a:p>
        </p:txBody>
      </p:sp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440" y="2830588"/>
            <a:ext cx="134549" cy="195707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379549" y="2840811"/>
            <a:ext cx="18228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and 'Portable Modular Solar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48625" y="3016071"/>
            <a:ext cx="14750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Generators' the least (+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864" y="3005848"/>
            <a:ext cx="134549" cy="19570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9647973" y="3016071"/>
            <a:ext cx="19611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variability stakeholders should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48625" y="3191331"/>
            <a:ext cx="291618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monitor when planning procurement or pricing.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48625" y="3419169"/>
            <a:ext cx="37186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The lower chart indexes region-level price movement to the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8625" y="3594429"/>
            <a:ext cx="37166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base year, applied consistently across the horizon to strip out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48625" y="3769689"/>
            <a:ext cx="36932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year-on-year inflationary volatility and reveal structural price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48625" y="3944949"/>
            <a:ext cx="4310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shifts.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8625" y="4172787"/>
            <a:ext cx="23402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Region price indices diverge by up to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8039" y="4162564"/>
            <a:ext cx="134549" cy="195707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0513148" y="4172787"/>
            <a:ext cx="11875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between 2026 and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48625" y="4348047"/>
            <a:ext cx="38481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2036: higher-priced regions start higher and grow steadily, while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48625" y="4523307"/>
            <a:ext cx="34547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lower-priced regions start lower and converge, reflecting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48625" y="4698567"/>
            <a:ext cx="109084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catch-up growth.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Pricing Assessment: By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Average price (US$/Units) by type, 2021 to 2036, with 2026 price index and growth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62179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Type, 2021 to 2036 (US$/Units)</a:t>
            </a:r>
          </a:p>
        </p:txBody>
      </p:sp>
      <p:graphicFrame>
        <p:nvGraphicFramePr>
          <p:cNvPr id="13" name="FMI Price Chart"/>
          <p:cNvGraphicFramePr>
            <a:graphicFrameLocks noGrp="1"/>
          </p:cNvGraphicFramePr>
          <p:nvPr/>
        </p:nvGraphicFramePr>
        <p:xfrm>
          <a:off x="347472" y="1831467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1593723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29715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575435"/>
            <a:ext cx="48463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/>
            </a:r>
          </a:p>
        </p:txBody>
      </p:sp>
      <p:graphicFrame>
        <p:nvGraphicFramePr>
          <p:cNvPr id="17" name="FMI Open Chart"/>
          <p:cNvGraphicFramePr>
            <a:graphicFrameLocks noGrp="1"/>
          </p:cNvGraphicFramePr>
          <p:nvPr/>
        </p:nvGraphicFramePr>
        <p:xfrm>
          <a:off x="6903720" y="1785747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0" y="3203067"/>
          <a:ext cx="5056632" cy="1847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36941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Portable Modular Solar Generators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Fixed Residential Solar Power Generator Systems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Portable Integrated Solar Generators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Global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Average price = market value (US$) / market volume (Units). 2021 to 2025 historical, 2026 to 2036 forecast.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3571" y="4071291"/>
            <a:ext cx="330041" cy="4800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1480" y="1110615"/>
            <a:ext cx="5650259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Portable Modular Solar Generators command the highest 2026 price point at US$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4200" y="1099058"/>
            <a:ext cx="152098" cy="2212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12150" y="1110615"/>
            <a:ext cx="668883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/Units, a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3494" y="1099058"/>
            <a:ext cx="152098" cy="22123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31444" y="1110615"/>
            <a:ext cx="3671639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premium over Portable Integrated Solar Generators.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1602867"/>
            <a:ext cx="2164334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2026 Price Index vs Global Average (=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620" y="1593461"/>
            <a:ext cx="123784" cy="1800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267721" y="1602867"/>
            <a:ext cx="118189" cy="180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7" b="1">
                <a:solidFill>
                  <a:srgbClr val="0B2E4A"/>
                </a:solidFill>
                <a:latin typeface="Calibri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76" y="5530976"/>
            <a:ext cx="3054436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Portable Modular Solar Generators sit at the top of 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76" y="5690996"/>
            <a:ext cx="179490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2026 price ladder at an index of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8430" y="5681662"/>
            <a:ext cx="122849" cy="17868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708313" y="5690996"/>
            <a:ext cx="92500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, while Portable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76" y="5851016"/>
            <a:ext cx="2050665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Integrated Solar Generators trade at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191" y="5841682"/>
            <a:ext cx="122849" cy="17868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964074" y="5851016"/>
            <a:ext cx="808322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, which keeps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576" y="6011036"/>
            <a:ext cx="150294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the full type spread within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6467" y="6001702"/>
            <a:ext cx="122849" cy="17868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416349" y="6011036"/>
            <a:ext cx="109797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32401" y="5530976"/>
            <a:ext cx="2955726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Portable Integrated Solar Generators post the fastest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32401" y="5690996"/>
            <a:ext cx="999492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price growth at a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8842" y="5681662"/>
            <a:ext cx="122849" cy="17868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38725" y="5690996"/>
            <a:ext cx="1760248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CAGR between 2026 and 2036,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32401" y="5851016"/>
            <a:ext cx="897656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compared with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007" y="5841682"/>
            <a:ext cx="122849" cy="1786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736889" y="5851016"/>
            <a:ext cx="1524558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for Portable Modular Solar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32401" y="6011036"/>
            <a:ext cx="721072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Generators.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58225" y="5530976"/>
            <a:ext cx="223584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The Global average price rises from US$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1019" y="5521642"/>
            <a:ext cx="122849" cy="17868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1000901" y="5530976"/>
            <a:ext cx="542143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/Units 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58225" y="5690996"/>
            <a:ext cx="73722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2026 to US$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2394" y="5681662"/>
            <a:ext cx="122849" cy="17868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502276" y="5690996"/>
            <a:ext cx="227022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/Units in 2036, and the gap between the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58225" y="5851016"/>
            <a:ext cx="2419722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highest and lowest priced type moves from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4896" y="5841682"/>
            <a:ext cx="122849" cy="17868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1184778" y="5851016"/>
            <a:ext cx="478073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in 2021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58225" y="6011036"/>
            <a:ext cx="191318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to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492" y="6001702"/>
            <a:ext cx="122849" cy="178689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956375" y="6011036"/>
            <a:ext cx="51167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in 2036.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8190" y="3048804"/>
            <a:ext cx="454926" cy="661711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3270" y="2219134"/>
            <a:ext cx="256698" cy="373379"/>
          </a:xfrm>
          <a:prstGeom prst="rect">
            <a:avLst/>
          </a:prstGeom>
        </p:spPr>
      </p:pic>
      <p:sp>
        <p:nvSpPr>
          <p:cNvPr id="74" name="lockshield_13"/>
          <p:cNvSpPr/>
          <p:nvPr/>
        </p:nvSpPr>
        <p:spPr>
          <a:xfrm>
            <a:off x="347472" y="1831467"/>
            <a:ext cx="6309360" cy="318211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ockshield_17"/>
          <p:cNvSpPr/>
          <p:nvPr/>
        </p:nvSpPr>
        <p:spPr>
          <a:xfrm>
            <a:off x="6903720" y="1785747"/>
            <a:ext cx="4965192" cy="132588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Pricing Assessment: Region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 average price and price range across types, 2026 (US$/Units)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731520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Range Across Types by Region (US$/Units), Ranked by Average</a:t>
            </a:r>
          </a:p>
        </p:txBody>
      </p:sp>
      <p:graphicFrame>
        <p:nvGraphicFramePr>
          <p:cNvPr id="13" name="FMI Open Chart"/>
          <p:cNvGraphicFramePr>
            <a:graphicFrameLocks noGrp="1"/>
          </p:cNvGraphicFramePr>
          <p:nvPr/>
        </p:nvGraphicFramePr>
        <p:xfrm>
          <a:off x="347472" y="2014347"/>
          <a:ext cx="7406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1804035"/>
            <a:ext cx="7223760" cy="2190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529715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575435"/>
            <a:ext cx="374904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and Discount Markets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0" y="1868043"/>
          <a:ext cx="3776472" cy="3090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86384"/>
                <a:gridCol w="658368"/>
                <a:gridCol w="914400"/>
              </a:tblGrid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Avg. 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North America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Western Europe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Eastern Europe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Middle East &amp; Africa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East Asia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South Asia &amp; Pacific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 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Region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Growth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Mix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Range = lowest to highest type price in each region; ranked by average price. Other geographies grouped as 'Other' are excluded from the ranking.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494" y="3375398"/>
            <a:ext cx="355774" cy="51748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1480" y="1110615"/>
            <a:ext cx="3985393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North America is the most premium Global region at US$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334" y="1099058"/>
            <a:ext cx="152098" cy="22123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47284" y="1110615"/>
            <a:ext cx="1209005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/Units in 2026, +</a:t>
            </a:r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750" y="1099058"/>
            <a:ext cx="152098" cy="22123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906700" y="1110615"/>
            <a:ext cx="5071119" cy="2171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above the global average, while South Asia &amp; Pacific is the lowest priced.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1831467"/>
            <a:ext cx="4603985" cy="1485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Calibri"/>
              </a:rPr>
              <a:t>Bar spans the lowest to highest type price in each region, read on the price index axis (Global average =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005" y="1823910"/>
            <a:ext cx="99449" cy="14465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87434" y="1831467"/>
            <a:ext cx="2037010" cy="1485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Calibri"/>
              </a:rPr>
              <a:t>). Teal = above Global average, blue = below.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76" y="5530976"/>
            <a:ext cx="277832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Average prices across the ranked regions differ by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850" y="5521642"/>
            <a:ext cx="122849" cy="17868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91732" y="5530976"/>
            <a:ext cx="176993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76" y="5690996"/>
            <a:ext cx="91953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2026, from US$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060" y="5681662"/>
            <a:ext cx="122849" cy="17868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832943" y="5690996"/>
            <a:ext cx="2032173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/Units in South Asia &amp; Pacific to US$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21" y="5841682"/>
            <a:ext cx="122849" cy="17868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53604" y="5851016"/>
            <a:ext cx="1401886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/Units in North America.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32401" y="5530976"/>
            <a:ext cx="3098192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North America records the fastest average price growth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32401" y="5690996"/>
            <a:ext cx="278829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at a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179" y="5681662"/>
            <a:ext cx="122849" cy="17868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118062" y="5690996"/>
            <a:ext cx="2178529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CAGR between 2026 and 2036, against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541" y="5681662"/>
            <a:ext cx="122849" cy="17868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03423" y="5690996"/>
            <a:ext cx="23377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for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32401" y="5851016"/>
            <a:ext cx="1062781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Global as a whole.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58225" y="5530976"/>
            <a:ext cx="3143250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East Asia shows the widest gap between its cheapest and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8225" y="5690996"/>
            <a:ext cx="1331044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most expensive type at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6218" y="5681662"/>
            <a:ext cx="122849" cy="17868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096100" y="5690996"/>
            <a:ext cx="1600348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, so product mix shifts move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58225" y="5851016"/>
            <a:ext cx="1513619" cy="179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1F1F"/>
                </a:solidFill>
                <a:latin typeface="Calibri"/>
              </a:rPr>
              <a:t>its average price the most.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21" y="3129375"/>
            <a:ext cx="482444" cy="701737"/>
          </a:xfrm>
          <a:prstGeom prst="rect">
            <a:avLst/>
          </a:prstGeom>
        </p:spPr>
      </p:pic>
      <p:sp>
        <p:nvSpPr>
          <p:cNvPr id="62" name="lockshield_13"/>
          <p:cNvSpPr/>
          <p:nvPr/>
        </p:nvSpPr>
        <p:spPr>
          <a:xfrm>
            <a:off x="347472" y="2014347"/>
            <a:ext cx="7406640" cy="301752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Price Positioning &amp; 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positioning of each region on a common axis with FMI's key findings on where premiums and discounts 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Average selling price and price range by region on a shared price scale (US$/Units).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&amp; Range by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20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44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1,876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1175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6410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2,919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6143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1378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3,963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1111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6346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5,006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6079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1314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6,049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104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628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7,093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" y="2151696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North America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472" y="2076093"/>
            <a:ext cx="1394585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53137" y="2175509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2772191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Latin America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83936" y="2696587"/>
            <a:ext cx="993045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27005" y="2796003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" y="3392685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East Asia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49583" y="3317082"/>
            <a:ext cx="727767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669236" y="3416498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125" y="4013180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45494" y="3937576"/>
            <a:ext cx="631323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44041" y="4036992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8125" y="4633674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Western Europe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1502" y="4558070"/>
            <a:ext cx="1275885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92234" y="465748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8125" y="5254169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Eastern Europe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40266" y="5178565"/>
            <a:ext cx="1053232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13664" y="5277981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8125" y="5874663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Middle East &amp; 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34569" y="5799059"/>
            <a:ext cx="924534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749911" y="589847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362075" y="1727149"/>
            <a:ext cx="114300" cy="1143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95425" y="1717624"/>
            <a:ext cx="838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Average Price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90775" y="1736674"/>
            <a:ext cx="190500" cy="114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19375" y="1717624"/>
            <a:ext cx="8001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Price Range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15275" y="1317574"/>
            <a:ext cx="413385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Findings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8625" y="1727149"/>
            <a:ext cx="3867150" cy="343877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15275" y="5351641"/>
            <a:ext cx="4133850" cy="1204744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the above information is indicative in nature and does not constitute any form of analysis.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8625" y="1736673"/>
            <a:ext cx="352663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Portable modular solar generators segment is expected 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8625" y="1911934"/>
            <a:ext cx="26272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command the highest average price of US$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004" y="1901710"/>
            <a:ext cx="134549" cy="19570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800113" y="1911934"/>
            <a:ext cx="7066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Unit 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8625" y="2087194"/>
            <a:ext cx="35491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2036. Average selling price of residential solar generator 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8625" y="2262454"/>
            <a:ext cx="10939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estimated at US$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1764" y="2252230"/>
            <a:ext cx="134549" cy="19570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266874" y="2262454"/>
            <a:ext cx="21819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Unit in 2025 and is projected 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8625" y="2437714"/>
            <a:ext cx="17937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remain broadly stable at US$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1492" y="2427490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966601" y="2437714"/>
            <a:ext cx="110568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per Unit by 2036.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8625" y="2665551"/>
            <a:ext cx="37830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North America is the highest-priced region, while South Asia &amp;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8625" y="2840811"/>
            <a:ext cx="37873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Pacific is the most price-competitive market. The orange dot 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8625" y="3016071"/>
            <a:ext cx="351750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each region's average selling price; the blue band is its full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8625" y="3191331"/>
            <a:ext cx="331839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low-to-high price range, all derived as Value ÷ Volume.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8625" y="3419169"/>
            <a:ext cx="369179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Narrow bands point to commoditised, price-led competition;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8625" y="3594429"/>
            <a:ext cx="381217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wider bands flag premiumisation headroom to trade buyers up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8625" y="3769689"/>
            <a:ext cx="55827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mix.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Key Pricing Drivers Influencing Residential Solar Generator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input costs, market conditions and competitive forces shaping pricing strategies and profitability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input costs, market conditions, and competitive forces shaping pricing strategies and profitability across the value 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54081"/>
            <a:ext cx="693420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411231"/>
            <a:ext cx="6743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Impacting Factors</a:t>
            </a:r>
          </a:p>
        </p:txBody>
      </p:sp>
      <p:sp>
        <p:nvSpPr>
          <p:cNvPr id="13" name="Freeform 12"/>
          <p:cNvSpPr/>
          <p:nvPr/>
        </p:nvSpPr>
        <p:spPr>
          <a:xfrm>
            <a:off x="3248025" y="3705225"/>
            <a:ext cx="723900" cy="752475"/>
          </a:xfrm>
          <a:custGeom>
            <a:avLst/>
            <a:gdLst/>
            <a:ahLst/>
            <a:cxnLst/>
            <a:rect l="l" t="t" r="r" b="b"/>
            <a:pathLst>
              <a:path w="76" h="79">
                <a:moveTo>
                  <a:pt x="38" y="0"/>
                </a:moveTo>
                <a:lnTo>
                  <a:pt x="61" y="7"/>
                </a:lnTo>
                <a:lnTo>
                  <a:pt x="76" y="27"/>
                </a:lnTo>
                <a:lnTo>
                  <a:pt x="76" y="51"/>
                </a:lnTo>
                <a:lnTo>
                  <a:pt x="61" y="71"/>
                </a:lnTo>
                <a:lnTo>
                  <a:pt x="38" y="79"/>
                </a:lnTo>
                <a:lnTo>
                  <a:pt x="15" y="71"/>
                </a:lnTo>
                <a:lnTo>
                  <a:pt x="0" y="51"/>
                </a:lnTo>
                <a:lnTo>
                  <a:pt x="0" y="27"/>
                </a:lnTo>
                <a:lnTo>
                  <a:pt x="15" y="7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895600" y="3324225"/>
            <a:ext cx="1428750" cy="150495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75" y="0"/>
                </a:moveTo>
                <a:lnTo>
                  <a:pt x="122" y="15"/>
                </a:lnTo>
                <a:lnTo>
                  <a:pt x="150" y="55"/>
                </a:lnTo>
                <a:lnTo>
                  <a:pt x="150" y="104"/>
                </a:lnTo>
                <a:lnTo>
                  <a:pt x="122" y="143"/>
                </a:lnTo>
                <a:lnTo>
                  <a:pt x="75" y="158"/>
                </a:lnTo>
                <a:lnTo>
                  <a:pt x="28" y="143"/>
                </a:lnTo>
                <a:lnTo>
                  <a:pt x="0" y="104"/>
                </a:lnTo>
                <a:lnTo>
                  <a:pt x="0" y="55"/>
                </a:lnTo>
                <a:lnTo>
                  <a:pt x="28" y="15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533650" y="2943225"/>
            <a:ext cx="2152650" cy="2266950"/>
          </a:xfrm>
          <a:custGeom>
            <a:avLst/>
            <a:gdLst/>
            <a:ahLst/>
            <a:cxnLst/>
            <a:rect l="l" t="t" r="r" b="b"/>
            <a:pathLst>
              <a:path w="226" h="238">
                <a:moveTo>
                  <a:pt x="113" y="0"/>
                </a:moveTo>
                <a:lnTo>
                  <a:pt x="183" y="23"/>
                </a:lnTo>
                <a:lnTo>
                  <a:pt x="226" y="82"/>
                </a:lnTo>
                <a:lnTo>
                  <a:pt x="226" y="156"/>
                </a:lnTo>
                <a:lnTo>
                  <a:pt x="183" y="215"/>
                </a:lnTo>
                <a:lnTo>
                  <a:pt x="113" y="238"/>
                </a:lnTo>
                <a:lnTo>
                  <a:pt x="43" y="215"/>
                </a:lnTo>
                <a:lnTo>
                  <a:pt x="0" y="156"/>
                </a:lnTo>
                <a:lnTo>
                  <a:pt x="0" y="82"/>
                </a:lnTo>
                <a:lnTo>
                  <a:pt x="43" y="23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171700" y="2571750"/>
            <a:ext cx="2876550" cy="3019425"/>
          </a:xfrm>
          <a:custGeom>
            <a:avLst/>
            <a:gdLst/>
            <a:ahLst/>
            <a:cxnLst/>
            <a:rect l="l" t="t" r="r" b="b"/>
            <a:pathLst>
              <a:path w="302" h="317">
                <a:moveTo>
                  <a:pt x="151" y="0"/>
                </a:moveTo>
                <a:lnTo>
                  <a:pt x="244" y="30"/>
                </a:lnTo>
                <a:lnTo>
                  <a:pt x="302" y="109"/>
                </a:lnTo>
                <a:lnTo>
                  <a:pt x="302" y="207"/>
                </a:lnTo>
                <a:lnTo>
                  <a:pt x="244" y="286"/>
                </a:lnTo>
                <a:lnTo>
                  <a:pt x="151" y="317"/>
                </a:lnTo>
                <a:lnTo>
                  <a:pt x="58" y="286"/>
                </a:lnTo>
                <a:lnTo>
                  <a:pt x="0" y="207"/>
                </a:lnTo>
                <a:lnTo>
                  <a:pt x="0" y="109"/>
                </a:lnTo>
                <a:lnTo>
                  <a:pt x="58" y="30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819275" y="2190750"/>
            <a:ext cx="3581400" cy="3771900"/>
          </a:xfrm>
          <a:custGeom>
            <a:avLst/>
            <a:gdLst/>
            <a:ahLst/>
            <a:cxnLst/>
            <a:rect l="l" t="t" r="r" b="b"/>
            <a:pathLst>
              <a:path w="376" h="396">
                <a:moveTo>
                  <a:pt x="188" y="0"/>
                </a:moveTo>
                <a:lnTo>
                  <a:pt x="304" y="38"/>
                </a:lnTo>
                <a:lnTo>
                  <a:pt x="376" y="137"/>
                </a:lnTo>
                <a:lnTo>
                  <a:pt x="376" y="259"/>
                </a:lnTo>
                <a:lnTo>
                  <a:pt x="304" y="358"/>
                </a:lnTo>
                <a:lnTo>
                  <a:pt x="188" y="396"/>
                </a:lnTo>
                <a:lnTo>
                  <a:pt x="72" y="358"/>
                </a:lnTo>
                <a:lnTo>
                  <a:pt x="0" y="259"/>
                </a:lnTo>
                <a:lnTo>
                  <a:pt x="0" y="137"/>
                </a:lnTo>
                <a:lnTo>
                  <a:pt x="72" y="38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3609975" y="2192281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609975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609975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09975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9975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09975" y="4078660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501189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815922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815922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501189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447925" y="2381250"/>
            <a:ext cx="2505075" cy="3209925"/>
          </a:xfrm>
          <a:custGeom>
            <a:avLst/>
            <a:gdLst/>
            <a:ahLst/>
            <a:cxnLst/>
            <a:rect l="l" t="t" r="r" b="b"/>
            <a:pathLst>
              <a:path w="263" h="337">
                <a:moveTo>
                  <a:pt x="122" y="0"/>
                </a:moveTo>
                <a:lnTo>
                  <a:pt x="203" y="66"/>
                </a:lnTo>
                <a:lnTo>
                  <a:pt x="244" y="138"/>
                </a:lnTo>
                <a:lnTo>
                  <a:pt x="263" y="224"/>
                </a:lnTo>
                <a:lnTo>
                  <a:pt x="221" y="314"/>
                </a:lnTo>
                <a:lnTo>
                  <a:pt x="122" y="337"/>
                </a:lnTo>
                <a:lnTo>
                  <a:pt x="52" y="274"/>
                </a:lnTo>
                <a:lnTo>
                  <a:pt x="18" y="212"/>
                </a:lnTo>
                <a:lnTo>
                  <a:pt x="0" y="138"/>
                </a:lnTo>
                <a:lnTo>
                  <a:pt x="70" y="106"/>
                </a:lnTo>
                <a:close/>
              </a:path>
            </a:pathLst>
          </a:custGeom>
          <a:solidFill>
            <a:srgbClr val="2B5F8E">
              <a:alpha val="62000"/>
            </a:srgbClr>
          </a:solidFill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76638" y="234758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52787" y="2977044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42772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22177" y="4482515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19105" y="5342518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76638" y="5554426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11366" y="496099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589908" y="436593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410503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077684" y="335857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8550" y="3634709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8550" y="3257434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8550" y="2880158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8550" y="2502882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8550" y="2125606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52750" y="1839856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4706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46097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46097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84706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52750" y="6031714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20794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9403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9403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20794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53275" y="1354081"/>
            <a:ext cx="4895850" cy="3393718"/>
          </a:xfrm>
          <a:prstGeom prst="roundRect">
            <a:avLst>
              <a:gd name="adj" fmla="val 224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86625" y="1439806"/>
            <a:ext cx="4629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86625" y="1677931"/>
            <a:ext cx="4629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86625" y="1763656"/>
            <a:ext cx="4629150" cy="2907943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Pricing across the Residential Solar Generator Market is shaped by a mix of input costs, operational efficiency and market dynamics with raw-material and input costs carrying the single heaviest weight on selling prices today.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Raw-material and input costs and demand and broader market conditions are the dominant cost pressures; as they fluctuate they feed directly into prices and squeeze margins along the value chain.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intensity and supply-chain and logistics conditions are the next most influential forces helping offset cost inflation and setting how aggressively players can price without ceding share.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strength, competitive intensity and supply-chain reliability together define the ceiling on pricing power across the Residential Solar Generator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Regulatory, currency and brand factors add second-order effects while aftermarket and service costs exert the least pressure collectively creating a pricing balance that must be monitored to stay competitive and profitable.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53275" y="4857321"/>
            <a:ext cx="4895850" cy="177165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86625" y="4943046"/>
            <a:ext cx="4629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Highest-Impact Drivers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86625" y="5181171"/>
            <a:ext cx="4629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86625" y="5266896"/>
            <a:ext cx="4629150" cy="1285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41146" y="1898910"/>
            <a:ext cx="6598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Input Cost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027" y="1889132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267058" y="2322667"/>
            <a:ext cx="1115044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Labor &amp; Production Costs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363" y="2315626"/>
            <a:ext cx="92663" cy="13478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035718" y="3370632"/>
            <a:ext cx="1100506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Technology &amp; Innovation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486" y="3363591"/>
            <a:ext cx="92663" cy="13478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024921" y="4662634"/>
            <a:ext cx="1115939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0">
                <a:solidFill>
                  <a:srgbClr val="2E2E2E"/>
                </a:solidFill>
                <a:latin typeface="Calibri"/>
              </a:rPr>
              <a:t>Supply Chain &amp; Logistics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091" y="4655202"/>
            <a:ext cx="97811" cy="14227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232042" y="5653601"/>
            <a:ext cx="1238538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Demand &amp; Market Conditions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363" y="5767261"/>
            <a:ext cx="92663" cy="13478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3049408" y="6110885"/>
            <a:ext cx="1080271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0">
                <a:solidFill>
                  <a:srgbClr val="2E2E2E"/>
                </a:solidFill>
                <a:latin typeface="Calibri"/>
              </a:rPr>
              <a:t>Competitive Landscape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911" y="6103453"/>
            <a:ext cx="97811" cy="14227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859088" y="5653601"/>
            <a:ext cx="1114061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Regulatory &amp; Compliance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13046" y="5774302"/>
            <a:ext cx="295245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Costs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552" y="5767261"/>
            <a:ext cx="92663" cy="13478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049566" y="4605637"/>
            <a:ext cx="1195711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Currency &amp; Trade Dynamics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060" y="4719297"/>
            <a:ext cx="92663" cy="13478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32227" y="3370632"/>
            <a:ext cx="1134100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Brand &amp; Value Perception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588" y="3363591"/>
            <a:ext cx="92663" cy="13478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803098" y="2262317"/>
            <a:ext cx="1203570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0">
                <a:solidFill>
                  <a:srgbClr val="2E2E2E"/>
                </a:solidFill>
                <a:latin typeface="Calibri"/>
              </a:rPr>
              <a:t>Aftermarket &amp; Service Costs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6451" y="2375977"/>
            <a:ext cx="92663" cy="13478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286625" y="5276421"/>
            <a:ext cx="74086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Input Cost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543" y="5266641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143038" y="5276421"/>
            <a:ext cx="174414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dominant cost pressure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86625" y="5494353"/>
            <a:ext cx="18513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Demand &amp; Market Conditions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048" y="5484573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253544" y="5494353"/>
            <a:ext cx="15272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major cost pressure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86625" y="5712285"/>
            <a:ext cx="14783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Competitive Landscape</a:t>
            </a:r>
          </a:p>
        </p:txBody>
      </p:sp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060" y="5702505"/>
            <a:ext cx="128699" cy="18719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880556" y="5712285"/>
            <a:ext cx="13302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key pricing lever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86625" y="5930217"/>
            <a:ext cx="15253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Supply Chain &amp; Logistics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91" y="5920437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927487" y="5930217"/>
            <a:ext cx="13302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key pricing lever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86625" y="6148149"/>
            <a:ext cx="16000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Labor &amp; Production Costs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752" y="6138369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9002248" y="6148149"/>
            <a:ext cx="13875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 10 · supporting factor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Factors Impacting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Factors affecting the pricing decision of the product: category, price impact, direction of pressure and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The cost, demand, efficiency and regulatory forces shaping and impacting achievable selling prices grouped by category, with each factor's direction, impact and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286125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390650"/>
          <a:ext cx="11887199" cy="2981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1515"/>
                <a:gridCol w="2697613"/>
                <a:gridCol w="1098187"/>
                <a:gridCol w="1211368"/>
                <a:gridCol w="1098187"/>
                <a:gridCol w="322032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Impact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Score (0–10)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How It Shapes Price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Raw-material and input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Labour and production expenses.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Supply-chain and logistics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and broader market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intensity.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strength and value perception.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Technology and process innovation.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Aftermarket and service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 and compliance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7352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Currency and trade dynamics.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43815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752975"/>
            <a:ext cx="11906250" cy="17907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8387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the Factors Imply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50768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5162550"/>
            <a:ext cx="11639550" cy="13049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155" y="2764346"/>
            <a:ext cx="330041" cy="4800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6225" y="5172075"/>
            <a:ext cx="542556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Input Cost and Demand &amp; Market Conditions carry the heaviest weight on selling prices (</a:t>
            </a:r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45" y="5161851"/>
            <a:ext cx="134549" cy="1957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26054" y="5172075"/>
            <a:ext cx="2995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</a:t>
            </a:r>
          </a:p>
        </p:txBody>
      </p:sp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762" y="5161851"/>
            <a:ext cx="134549" cy="1957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49871" y="5172075"/>
            <a:ext cx="3951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/ 10).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225" y="5399913"/>
            <a:ext cx="83334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8 of 10 factors exert upward pressure on price; the rest pull prices down chiefly Technology &amp; Innovation and the Competitive Landscape.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5627750"/>
            <a:ext cx="805361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Cost-side factors set the price floor; demand, brand and competitive forces determine how much of that cost can be passed through.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225" y="5855588"/>
            <a:ext cx="70483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Aftermarket &amp; Service Costs exerts the least pressure a second-order effect to monitor rather than actively manage.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Regional Price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price assessment across the value chain (US$/Units) and price trajectory to 2036.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590550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(US$/Units)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5886452" cy="2271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904"/>
                <a:gridCol w="1128887"/>
                <a:gridCol w="1128887"/>
                <a:gridCol w="1128887"/>
                <a:gridCol w="1128887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855604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775" y="1317574"/>
            <a:ext cx="584835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6025" y="1374724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(US$/Units)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0300" y="1574749"/>
          <a:ext cx="5829299" cy="2271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8759"/>
                <a:gridCol w="947635"/>
                <a:gridCol w="947635"/>
                <a:gridCol w="947635"/>
                <a:gridCol w="94763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8931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76975" y="3855604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4201658"/>
            <a:ext cx="119062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287383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This Section Covers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4525508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4611233"/>
            <a:ext cx="116395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Manufacturer-level pricing ex-works / producer price benchmarked for each geography.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Distribution &amp; channel pricing logistics and channel margin layered onto the producer price.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Retail / end-market pricing the average price paid by the end customer across geographies.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Value-chain margin build-up cumulative margin from manufacturer to retail, by geography (prices derived as Value ÷ Volume).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387" y="2566777"/>
            <a:ext cx="366712" cy="53340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639" y="2566777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Global Pricing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price range by region and sub-segment against the weighted average price of each region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Development-stage price assumptions and manufacturer benchmarking price range by type type and region (US$/Units).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000375"/>
          </a:xfrm>
          <a:prstGeom prst="roundRect">
            <a:avLst>
              <a:gd name="adj" fmla="val 253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16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Benchmarking by Region &amp; Type (US$/Units)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1625"/>
          <a:ext cx="11887200" cy="25336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3525"/>
                <a:gridCol w="2800973"/>
                <a:gridCol w="2665307"/>
                <a:gridCol w="3676905"/>
                <a:gridCol w="114049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Portable Integrated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Portable Modular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Fixed Residential Solar Power Generator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Weighted Avg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Western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Eastern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2678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41148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457700"/>
            <a:ext cx="11906250" cy="2085975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45434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Benchmarking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78155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867275"/>
            <a:ext cx="11639550" cy="16002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072" y="2694812"/>
            <a:ext cx="366712" cy="533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76225" y="4876800"/>
            <a:ext cx="464168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On a weighted-average basis 'North America' is the highest-priced region (~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067" y="4866576"/>
            <a:ext cx="134549" cy="1957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42176" y="4876800"/>
            <a:ext cx="370462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US$/Units) and 'South Asia &amp; Pacific' the most competitive (~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960" y="4866576"/>
            <a:ext cx="134549" cy="1957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71069" y="4876800"/>
            <a:ext cx="7590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US$/Units).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5104638"/>
            <a:ext cx="542727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Price ranges are benchmarked per type type at 2026, derived as Value ÷ Volume with a ±</a:t>
            </a:r>
          </a:p>
        </p:txBody>
      </p:sp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656" y="5094414"/>
            <a:ext cx="134549" cy="1957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27766" y="5104638"/>
            <a:ext cx="145511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observed trading band.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225" y="5332475"/>
            <a:ext cx="214086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Cross-region price dispersion of ~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246" y="5322252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541355" y="5332475"/>
            <a:ext cx="362704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× reflects differences in mix, logistics and channel structure.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5560313"/>
            <a:ext cx="569170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Benchmarks support price-corridor setting and margin-defence decisions across geographies.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Price Forecast &amp;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forecast by sub-segment, 2026–2036, with the factors and dynamics shaping the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Forward price trajectory to 2036 by type type and the structural factors shaping it (US$/Units).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Forecast to 2036 by Type (US$/Units)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11887199" cy="15046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31407"/>
                <a:gridCol w="1292632"/>
                <a:gridCol w="1292632"/>
                <a:gridCol w="1292632"/>
                <a:gridCol w="1292632"/>
                <a:gridCol w="1292632"/>
                <a:gridCol w="1292632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4195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Integrated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195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Modular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4195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Residential Solar Power…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088948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398495"/>
            <a:ext cx="590550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Factors Impacting Pricing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655670"/>
          <a:ext cx="5886449" cy="2714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491"/>
                <a:gridCol w="1509479"/>
                <a:gridCol w="1509479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Pricing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Impact (H/M/L)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379820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775" y="3398495"/>
            <a:ext cx="584835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4125" y="3484220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Pricing Dynamics &amp; Outlook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4125" y="3722345"/>
            <a:ext cx="5581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4125" y="3808070"/>
            <a:ext cx="5581650" cy="26721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012" y="2183449"/>
            <a:ext cx="366712" cy="533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34125" y="3817595"/>
            <a:ext cx="28382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Average type price is projected to rise from ~</a:t>
            </a:r>
          </a:p>
        </p:txBody>
      </p:sp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552" y="3807371"/>
            <a:ext cx="134549" cy="1957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96661" y="3817595"/>
            <a:ext cx="3081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to ~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927" y="3807371"/>
            <a:ext cx="134549" cy="1957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729036" y="3817595"/>
            <a:ext cx="13926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US$/Units by 2036 a +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0837" y="3807371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245946" y="3817595"/>
            <a:ext cx="44672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CAGR.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4125" y="4045432"/>
            <a:ext cx="488957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'Integrated Solar Generators' shows the strongest forecast price appreciation (+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2853" y="4035209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347962" y="4045432"/>
            <a:ext cx="42021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4220692"/>
            <a:ext cx="79446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the horizon.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4125" y="4448530"/>
            <a:ext cx="524243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Upward pressure is led by input cost and demand &amp; market conditions; efficiency 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4125" y="4623790"/>
            <a:ext cx="25670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competitive intensity work the other way.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4125" y="4851628"/>
            <a:ext cx="520363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Net outlook: modest, structural price appreciation mix and geography will determine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4125" y="5026888"/>
            <a:ext cx="101611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realised pricing.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Competitor Pricing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how leading players position price: tier, price position versus peers and strategy focus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769620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Competitor pricing strategies how leading players position price and the levers they use to sustain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393774"/>
          <a:ext cx="7677150" cy="36197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9789"/>
                <a:gridCol w="670734"/>
                <a:gridCol w="1410079"/>
                <a:gridCol w="1320007"/>
                <a:gridCol w="3226541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Company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Tier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Position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ASP vs Peers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Strategy Focus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Jackery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Premium, brand-led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EcoFlow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Value-based premium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BLUETTI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Premium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Innovation-led price leadership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PECRON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 pricing with mix upsell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Goal Zero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Penetration &amp; share-led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6227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Zendure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Tier 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Parity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/ discount-led pricing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5023044"/>
            <a:ext cx="75438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5351641"/>
            <a:ext cx="7696200" cy="365074"/>
          </a:xfrm>
          <a:prstGeom prst="roundRect">
            <a:avLst>
              <a:gd name="adj" fmla="val 2087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competitor figures are indicative derived from market modelling and expert validation, not company disclosures.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Competitive Pricing Themes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Tier 1 players anchor premium pricing, defending ASP through brand, product development and certification rather than discounting.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Mid-tier players price at or just below parity, using launches and expansion to win share in fast-growing segments.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Emerging players compete on value pricing, trading margin for access and volume in price-sensitive regions.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Across tiers, R&amp;D investment and selective M&amp;A are the primary levers to move up the price ladder over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984" y="3086680"/>
            <a:ext cx="330041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MI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9064" y="525547"/>
            <a:ext cx="1340395" cy="82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940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6" name="FMI Breaker Title"/>
          <p:cNvSpPr txBox="1"/>
          <p:nvPr/>
        </p:nvSpPr>
        <p:spPr>
          <a:xfrm>
            <a:off x="914400" y="36988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Supply Chain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03725"/>
            <a:ext cx="71247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Supply Chain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14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Supply Chain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Value Chain &amp; Stakeholder Mapping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Operating Margin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Buyers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Value Chain &amp; Stakeholder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Mapping of the value chain stages, the stakeholders at each stage and the value added along the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970754"/>
            <a:ext cx="10668000" cy="164283"/>
          </a:xfrm>
          <a:prstGeom prst="rect">
            <a:avLst/>
          </a:prstGeom>
          <a:noFill/>
        </p:spPr>
        <p:txBody>
          <a:bodyPr wrap="square" lIns="0" rIns="19050" tIns="0" bIns="0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End-to-end value chain with the key stakeholders at each stage and their indicative contribution to value addition.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85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171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457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743950" y="2020341"/>
            <a:ext cx="1562100" cy="164283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B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Raw Material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Suppliers</a:t>
            </a:r>
          </a:p>
        </p:txBody>
      </p:sp>
      <p:sp>
        <p:nvSpPr>
          <p:cNvPr id="16" name="Oval 15"/>
          <p:cNvSpPr/>
          <p:nvPr/>
        </p:nvSpPr>
        <p:spPr>
          <a:xfrm>
            <a:off x="1076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3950" y="1719155"/>
            <a:ext cx="800100" cy="76665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09712" y="2084229"/>
            <a:ext cx="28575" cy="1551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9500000">
            <a:off x="1381125" y="2020341"/>
            <a:ext cx="142875" cy="821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2100000">
            <a:off x="1524000" y="2020341"/>
            <a:ext cx="142875" cy="821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05646"/>
            <a:ext cx="2133600" cy="4563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Raw Material Suppliers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Growers and primary producers supply core inputs; some forward-integrate into small-scale processing.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5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Manufacturers</a:t>
            </a:r>
          </a:p>
        </p:txBody>
      </p:sp>
      <p:sp>
        <p:nvSpPr>
          <p:cNvPr id="28" name="Oval 27"/>
          <p:cNvSpPr/>
          <p:nvPr/>
        </p:nvSpPr>
        <p:spPr>
          <a:xfrm>
            <a:off x="3362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09950" y="1719155"/>
            <a:ext cx="800100" cy="766655"/>
          </a:xfrm>
          <a:prstGeom prst="ellipse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38550" y="2084229"/>
            <a:ext cx="342900" cy="1642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67125" y="1983834"/>
            <a:ext cx="66675" cy="1095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71900" y="2020341"/>
            <a:ext cx="66675" cy="730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76675" y="1992961"/>
            <a:ext cx="66675" cy="1003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86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0" y="2905646"/>
            <a:ext cx="2133600" cy="4563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28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Manufacturers / Processors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28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28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Convert inputs into finished and semi-finished product the single largest value-addition stage.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1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Distributors</a:t>
            </a:r>
          </a:p>
        </p:txBody>
      </p:sp>
      <p:sp>
        <p:nvSpPr>
          <p:cNvPr id="41" name="Oval 40"/>
          <p:cNvSpPr/>
          <p:nvPr/>
        </p:nvSpPr>
        <p:spPr>
          <a:xfrm>
            <a:off x="5648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95950" y="1719155"/>
            <a:ext cx="800100" cy="766655"/>
          </a:xfrm>
          <a:prstGeom prst="ellipse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15025" y="2002088"/>
            <a:ext cx="209550" cy="1642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34100" y="2075102"/>
            <a:ext cx="123825" cy="912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72175" y="2148117"/>
            <a:ext cx="85725" cy="82142"/>
          </a:xfrm>
          <a:prstGeom prst="ellipse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53150" y="2148117"/>
            <a:ext cx="85725" cy="82142"/>
          </a:xfrm>
          <a:prstGeom prst="ellipse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572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2905646"/>
            <a:ext cx="2133600" cy="4563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14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Distributors &amp; Wholesalers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14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14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Move product to market, hold inventory and provide logistics, reach and credit to downstream channels.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7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Retailers</a:t>
            </a:r>
          </a:p>
        </p:txBody>
      </p:sp>
      <p:sp>
        <p:nvSpPr>
          <p:cNvPr id="54" name="Oval 53"/>
          <p:cNvSpPr/>
          <p:nvPr/>
        </p:nvSpPr>
        <p:spPr>
          <a:xfrm>
            <a:off x="7934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81950" y="1719155"/>
            <a:ext cx="800100" cy="766655"/>
          </a:xfrm>
          <a:prstGeom prst="ellipse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8201025" y="1965580"/>
            <a:ext cx="361950" cy="10952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39125" y="2065976"/>
            <a:ext cx="285750" cy="1825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43900" y="2138990"/>
            <a:ext cx="76200" cy="109522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858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15200" y="2905646"/>
            <a:ext cx="2133600" cy="45634"/>
          </a:xfrm>
          <a:prstGeom prst="rect">
            <a:avLst/>
          </a:prstGeom>
          <a:solidFill>
            <a:srgbClr val="6F3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00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Retailers &amp; Channels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00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0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Sell to end customers across offline and online channels, capturing point-of-sale margin and brand visibility.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63100" y="1262813"/>
            <a:ext cx="2209800" cy="346820"/>
          </a:xfrm>
          <a:prstGeom prst="rect">
            <a:avLst/>
          </a:prstGeom>
          <a:noFill/>
        </p:spPr>
        <p:txBody>
          <a:bodyPr wrap="square" lIns="28575" rIns="28575" tIns="9525" bIns="9525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End Users</a:t>
            </a:r>
          </a:p>
        </p:txBody>
      </p:sp>
      <p:sp>
        <p:nvSpPr>
          <p:cNvPr id="66" name="Oval 65"/>
          <p:cNvSpPr/>
          <p:nvPr/>
        </p:nvSpPr>
        <p:spPr>
          <a:xfrm>
            <a:off x="10220325" y="1673521"/>
            <a:ext cx="895350" cy="857924"/>
          </a:xfrm>
          <a:prstGeom prst="ellipse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267950" y="1719155"/>
            <a:ext cx="800100" cy="766655"/>
          </a:xfrm>
          <a:prstGeom prst="ellipse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01325" y="1956453"/>
            <a:ext cx="133350" cy="1277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0544175" y="2111610"/>
            <a:ext cx="247650" cy="127776"/>
          </a:xfrm>
          <a:custGeom>
            <a:avLst/>
            <a:gdLst/>
            <a:ahLst/>
            <a:cxnLst/>
            <a:rect l="l" t="t" r="r" b="b"/>
            <a:pathLst>
              <a:path w="26" h="14">
                <a:moveTo>
                  <a:pt x="0" y="14"/>
                </a:moveTo>
                <a:lnTo>
                  <a:pt x="4" y="0"/>
                </a:lnTo>
                <a:lnTo>
                  <a:pt x="22" y="0"/>
                </a:lnTo>
                <a:lnTo>
                  <a:pt x="26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144125" y="2595333"/>
            <a:ext cx="1047750" cy="219044"/>
          </a:xfrm>
          <a:prstGeom prst="roundRect">
            <a:avLst>
              <a:gd name="adj" fmla="val 50000"/>
            </a:avLst>
          </a:prstGeom>
          <a:solidFill>
            <a:srgbClr val="F0E8F6"/>
          </a:solidFill>
          <a:ln w="9525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01200" y="2905646"/>
            <a:ext cx="2133600" cy="22817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01200" y="2905646"/>
            <a:ext cx="2133600" cy="4563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86925" y="3015168"/>
            <a:ext cx="1962150" cy="219044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B2E4A"/>
                </a:solidFill>
                <a:latin typeface="Calibri"/>
              </a:rPr>
              <a:t>End Users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86925" y="3234212"/>
            <a:ext cx="1962150" cy="182537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Base Year: 2026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86925" y="3453257"/>
            <a:ext cx="1962150" cy="1642833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Consumers and downstream industries; large end users sometimes backward-integrate to secure supply and cost.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1000" y="5315134"/>
            <a:ext cx="11430000" cy="120474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4350" y="5397275"/>
            <a:ext cx="11163300" cy="200791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Value-Added Read-out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4350" y="5625447"/>
            <a:ext cx="11163300" cy="18254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4350" y="5707588"/>
            <a:ext cx="11163300" cy="7392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650" y="2611256"/>
            <a:ext cx="128699" cy="187198"/>
          </a:xfrm>
          <a:prstGeom prst="rect">
            <a:avLst/>
          </a:prstGeom>
        </p:spPr>
      </p:pic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650" y="2611256"/>
            <a:ext cx="128699" cy="187198"/>
          </a:xfrm>
          <a:prstGeom prst="rect">
            <a:avLst/>
          </a:prstGeom>
        </p:spPr>
      </p:pic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650" y="2611256"/>
            <a:ext cx="128699" cy="187198"/>
          </a:xfrm>
          <a:prstGeom prst="rect">
            <a:avLst/>
          </a:prstGeom>
        </p:spPr>
      </p:pic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650" y="2611256"/>
            <a:ext cx="128699" cy="187198"/>
          </a:xfrm>
          <a:prstGeom prst="rect">
            <a:avLst/>
          </a:prstGeom>
        </p:spPr>
      </p:pic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650" y="2611256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14350" y="5717113"/>
            <a:ext cx="6875879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The Residential Solar Generator Market value chain runs from raw-material suppliers through manufacturers, distributors and retailers to end users.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4350" y="5891458"/>
            <a:ext cx="3108563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'Manufacturers / Processors' captures the largest value addition (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14" y="5883635"/>
            <a:ext cx="102959" cy="14975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3700111" y="5891458"/>
            <a:ext cx="2123678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), reflecting processing and scale advantages.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4350" y="6065804"/>
            <a:ext cx="5690369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Forward and backward integration is common some suppliers process, and some large end users produce their own input.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4350" y="6240149"/>
            <a:ext cx="3730228" cy="15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79" b="0">
                <a:solidFill>
                  <a:srgbClr val="2E2E2E"/>
                </a:solidFill>
                <a:latin typeface="Calibri"/>
              </a:rPr>
              <a:t>▪ Percentages show each stage's indicative share of value added along the chain.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Industry-Wide Operating Margin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Operating margin by region and value chain node, highlighting where value concentrates along the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3667125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Residential Solar Generator Market Operating Margin by Region &amp; Node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202" cy="32004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8402"/>
                <a:gridCol w="2669700"/>
                <a:gridCol w="2669700"/>
                <a:gridCol w="2669700"/>
                <a:gridCol w="266970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Node of Supply Chain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Operating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Comparison to Parent Market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Notes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 Material Suppliers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Commodity-linked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Highest margins (value-add + scale)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Volume-led, thin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Channel-dependent PoS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 Material Suppliers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Commodity-linked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Highest margins (value-add + scale)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Volume-led, thin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Channel-dependent PoS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 Material Suppliers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Commodity-linked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Highest margins (value-add + scale)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Volume-led, thin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190">
                <a:tc>
                  <a:txBody>
                    <a:bodyPr wrap="none"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Channel-dependent PoS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44481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781550"/>
            <a:ext cx="11906250" cy="1847850"/>
          </a:xfrm>
          <a:prstGeom prst="roundRect">
            <a:avLst>
              <a:gd name="adj" fmla="val 412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8672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How to Read This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51054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5191125"/>
            <a:ext cx="11639550" cy="13620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Node of Supply Chain: each major stage, from raw-material suppliers through to retailers.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Operating Margin: the indicative margin earned at each node, by region.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Comparison to Parent Market: margin versus the parent / associated market (e.g. the broader food or pharmaceutical value chain).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Margins are broken down by both region and node to surface where value concentrates along the chain.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512" y="2694815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Buyers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Assessment of buyers and end users by volume, average price and revenue, highlighting purchasing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Residential Solar Generator Market Buyers / End-User Assessment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8498" cy="2714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0164"/>
                <a:gridCol w="1464422"/>
                <a:gridCol w="1368694"/>
                <a:gridCol w="1113419"/>
                <a:gridCol w="1581423"/>
                <a:gridCol w="1262330"/>
                <a:gridCol w="1512245"/>
                <a:gridCol w="1331466"/>
                <a:gridCol w="1484335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Company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Country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Buyer 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Buyer / End-User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Procurement Vol.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Avg Price (US$/Units)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Revenue (US$ Mn)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Key Selection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Jackery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Industrial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Price &amp; reliability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EcoFlow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Quality &amp; compliance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BLUETTI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B2C / 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Lead time &amp; service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PECRON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Others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Contract / OEM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Capacity &amp; scale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Goal Zero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Chile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Industrial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&amp; support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Zendure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Rest of 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Price &amp; reliability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Dabbsson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Retailer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B2C / 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Quality &amp; compliance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OUPES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Others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Contract / OEM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Lead time &amp; service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VTOMAN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South Korea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Industrial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Capacity &amp; scale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685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Powerenz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Distributor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B2B / Institutional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&amp; support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39624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295775"/>
            <a:ext cx="11906250" cy="2333625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3815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Notes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6196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705350"/>
            <a:ext cx="11639550" cy="18478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This is a representative subset the full assessment lists 20–30 active participants (with brands, specifications, procurement strategies and SWOT). Note: value-chain economics are indicative derived from market modelling and expert validation, not company disclosures.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754" y="2451926"/>
            <a:ext cx="36671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MI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9064" y="525547"/>
            <a:ext cx="1340395" cy="82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940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6" name="FMI Breaker Title"/>
          <p:cNvSpPr txBox="1"/>
          <p:nvPr/>
        </p:nvSpPr>
        <p:spPr>
          <a:xfrm>
            <a:off x="914400" y="36988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Market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03725"/>
            <a:ext cx="7124700" cy="48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Dynamics &amp; Forces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15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Market Dynamics &amp; Forces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Restraints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Opportunities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Recent Developments &amp; Milestones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Five Forces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Dynamics by Region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the growth driver, restraint and opportunity shaping each region of the global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975" y="876300"/>
            <a:ext cx="8572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1">
                <a:solidFill>
                  <a:srgbClr val="2E2E2E"/>
                </a:solidFill>
                <a:latin typeface="Calibri"/>
              </a:rPr>
              <a:t>Demand Dynamics by Region  ·  ranked by 2036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875" y="1123950"/>
            <a:ext cx="11906250" cy="266700"/>
          </a:xfrm>
          <a:prstGeom prst="rect">
            <a:avLst/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025" y="1123950"/>
            <a:ext cx="14287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4025" y="1123950"/>
            <a:ext cx="37147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Growth 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4025" y="1123950"/>
            <a:ext cx="27622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1123950"/>
            <a:ext cx="361950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Priority Opportunities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2875" y="1390650"/>
            <a:ext cx="11906250" cy="733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0025" y="1390650"/>
            <a:ext cx="1428750" cy="73342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24025" y="1419225"/>
            <a:ext cx="3676650" cy="6762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025" y="1419225"/>
            <a:ext cx="2724150" cy="6762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1419225"/>
            <a:ext cx="3581400" cy="6762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42875" y="2124075"/>
            <a:ext cx="11906250" cy="733425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0025" y="2124075"/>
            <a:ext cx="1428750" cy="73342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4025" y="2152650"/>
            <a:ext cx="3676650" cy="6762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4025" y="2152650"/>
            <a:ext cx="2724150" cy="6762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Competitive intensity at scale.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1525" y="2152650"/>
            <a:ext cx="3581400" cy="6762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42875" y="2857500"/>
            <a:ext cx="11906250" cy="733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025" y="2857500"/>
            <a:ext cx="1428750" cy="73342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24025" y="2886075"/>
            <a:ext cx="3676650" cy="6762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4025" y="2886075"/>
            <a:ext cx="2724150" cy="6762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1525" y="2886075"/>
            <a:ext cx="3581400" cy="6762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42875" y="3590925"/>
            <a:ext cx="11906250" cy="5334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0025" y="3590925"/>
            <a:ext cx="1428750" cy="5334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4025" y="3619500"/>
            <a:ext cx="367665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4025" y="3619500"/>
            <a:ext cx="272415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1525" y="3619500"/>
            <a:ext cx="358140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142875" y="4124325"/>
            <a:ext cx="1190625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0025" y="4124325"/>
            <a:ext cx="1428750" cy="5334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24025" y="4152900"/>
            <a:ext cx="367665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4025" y="4152900"/>
            <a:ext cx="272415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1525" y="4152900"/>
            <a:ext cx="358140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142875" y="4657725"/>
            <a:ext cx="11906250" cy="5334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0025" y="4657725"/>
            <a:ext cx="1428750" cy="5334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Eastern Europe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24025" y="4686300"/>
            <a:ext cx="367665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4025" y="4686300"/>
            <a:ext cx="272415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1525" y="4686300"/>
            <a:ext cx="358140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142875" y="5191125"/>
            <a:ext cx="1190625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0025" y="5191125"/>
            <a:ext cx="1428750" cy="5334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Western Europe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24025" y="5219700"/>
            <a:ext cx="367665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34025" y="5219700"/>
            <a:ext cx="272415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1525" y="5219700"/>
            <a:ext cx="3581400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42875" y="5724525"/>
            <a:ext cx="11906250" cy="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00025" y="5743575"/>
            <a:ext cx="381000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52600" y="1589722"/>
            <a:ext cx="7381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base (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789" y="1579943"/>
            <a:ext cx="128699" cy="18719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606285" y="1589722"/>
            <a:ext cx="1556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Installed demand (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756" y="1579943"/>
            <a:ext cx="128699" cy="18719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278252" y="1589722"/>
            <a:ext cx="9880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CAGR), Portable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52600" y="1757362"/>
            <a:ext cx="34333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Modular Solar Generators demand, Accelerating vs history.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62600" y="1589722"/>
            <a:ext cx="12871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Trails market pace by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66" y="1579943"/>
            <a:ext cx="128699" cy="18719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965262" y="1589722"/>
            <a:ext cx="6892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BPS, Rising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62600" y="1757362"/>
            <a:ext cx="7474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realisation (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066" y="1747583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425562" y="1757362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20100" y="1589722"/>
            <a:ext cx="24663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Portable Modular Solar Generators (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4531" y="1579943"/>
            <a:ext cx="128699" cy="18719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1002027" y="1589722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95" y="1579943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1270991" y="1589722"/>
            <a:ext cx="5255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20100" y="1757362"/>
            <a:ext cx="7023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headroom.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52600" y="2323147"/>
            <a:ext cx="7381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base (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789" y="2313368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606285" y="2323147"/>
            <a:ext cx="16835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Above-market pace (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905" y="2313368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405401" y="2323147"/>
            <a:ext cx="6688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Portable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52600" y="2490787"/>
            <a:ext cx="34333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Modular Solar Generators demand, Accelerating vs history.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20100" y="2323147"/>
            <a:ext cx="24663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Portable Modular Solar Generators (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4531" y="2313368"/>
            <a:ext cx="128699" cy="18719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1002027" y="2323147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95" y="2313368"/>
            <a:ext cx="128699" cy="18719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1270991" y="2323147"/>
            <a:ext cx="5255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0100" y="2490787"/>
            <a:ext cx="7023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headroom.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52600" y="3056572"/>
            <a:ext cx="73813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base (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789" y="3046793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606285" y="3056572"/>
            <a:ext cx="15564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share), Installed demand (</a:t>
            </a:r>
          </a:p>
        </p:txBody>
      </p:sp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756" y="3046793"/>
            <a:ext cx="128699" cy="18719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278252" y="3056572"/>
            <a:ext cx="98805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CAGR), Portable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52600" y="3224212"/>
            <a:ext cx="34333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Modular Solar Generators demand, Accelerating vs history.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62600" y="3140392"/>
            <a:ext cx="12871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Trails market pace by</a:t>
            </a:r>
          </a:p>
        </p:txBody>
      </p:sp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66" y="3130613"/>
            <a:ext cx="128699" cy="18719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965262" y="3140392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20100" y="3056572"/>
            <a:ext cx="24663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Portable Modular Solar Generators (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4531" y="3046793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1002027" y="3056572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95" y="3046793"/>
            <a:ext cx="128699" cy="18719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1270991" y="3056572"/>
            <a:ext cx="5255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20100" y="3224212"/>
            <a:ext cx="7023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headroom.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52600" y="3689985"/>
            <a:ext cx="12614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Above-market pace (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118" y="3680206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3129614" y="3689985"/>
            <a:ext cx="217770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Portable Modular Solar Generators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52600" y="3857625"/>
            <a:ext cx="192449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demand, Accelerating vs history.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62600" y="3773805"/>
            <a:ext cx="11130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Rising realisation (</a:t>
            </a:r>
          </a:p>
        </p:txBody>
      </p:sp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87" y="3764026"/>
            <a:ext cx="128699" cy="18719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6791183" y="3773805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20100" y="3689985"/>
            <a:ext cx="24663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Portable Modular Solar Generators (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4531" y="3680206"/>
            <a:ext cx="128699" cy="187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11002027" y="3689985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95" y="3680206"/>
            <a:ext cx="128699" cy="187198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1270991" y="3689985"/>
            <a:ext cx="5255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20100" y="3857625"/>
            <a:ext cx="7023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headroom.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752600" y="4223385"/>
            <a:ext cx="11343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Installed demand (</a:t>
            </a:r>
          </a:p>
        </p:txBody>
      </p:sp>
      <p:pic>
        <p:nvPicPr>
          <p:cNvPr id="113" name="Picture 1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969" y="4213606"/>
            <a:ext cx="128699" cy="18719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3002465" y="4223385"/>
            <a:ext cx="18248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CAGR), Portable Modular Solar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752600" y="4391025"/>
            <a:ext cx="25965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Generators demand, Accelerating vs history.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62600" y="4307205"/>
            <a:ext cx="12871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Trails market pace by</a:t>
            </a:r>
          </a:p>
        </p:txBody>
      </p:sp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66" y="4297426"/>
            <a:ext cx="128699" cy="18719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6965262" y="4307205"/>
            <a:ext cx="3239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20100" y="4223385"/>
            <a:ext cx="24663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Portable Modular Solar Generators (</a:t>
            </a:r>
          </a:p>
        </p:txBody>
      </p:sp>
      <p:pic>
        <p:nvPicPr>
          <p:cNvPr id="120" name="Picture 1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4531" y="4213606"/>
            <a:ext cx="128699" cy="18719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1002027" y="4223385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22" name="Picture 1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95" y="4213606"/>
            <a:ext cx="128699" cy="187198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11270991" y="4223385"/>
            <a:ext cx="5255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20100" y="4391025"/>
            <a:ext cx="7023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headroom.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752600" y="4756785"/>
            <a:ext cx="12614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Above-market pace (</a:t>
            </a:r>
          </a:p>
        </p:txBody>
      </p:sp>
      <p:pic>
        <p:nvPicPr>
          <p:cNvPr id="126" name="Picture 1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118" y="4747006"/>
            <a:ext cx="128699" cy="187198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3129614" y="4756785"/>
            <a:ext cx="217770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Portable Modular Solar Generators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752600" y="4924425"/>
            <a:ext cx="192449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demand, Accelerating vs history.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562600" y="4840605"/>
            <a:ext cx="11130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Rising realisation (</a:t>
            </a:r>
          </a:p>
        </p:txBody>
      </p:sp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87" y="4830826"/>
            <a:ext cx="128699" cy="187198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6791183" y="4840605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420100" y="4756785"/>
            <a:ext cx="24663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Portable Modular Solar Generators (</a:t>
            </a:r>
          </a:p>
        </p:txBody>
      </p:sp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4531" y="4747006"/>
            <a:ext cx="128699" cy="187198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11002027" y="4756785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95" y="4747006"/>
            <a:ext cx="128699" cy="187198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11270991" y="4756785"/>
            <a:ext cx="5255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420100" y="4924425"/>
            <a:ext cx="7023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headroom.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52600" y="5290185"/>
            <a:ext cx="12614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Above-market pace (</a:t>
            </a:r>
          </a:p>
        </p:txBody>
      </p:sp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118" y="5280405"/>
            <a:ext cx="128699" cy="187198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3129614" y="5290185"/>
            <a:ext cx="217770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 Portable Modular Solar Generators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752600" y="5457825"/>
            <a:ext cx="192449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demand, Accelerating vs history.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562600" y="5374005"/>
            <a:ext cx="20118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Sub-scale base, Rising realisation (</a:t>
            </a:r>
          </a:p>
        </p:txBody>
      </p:sp>
      <p:pic>
        <p:nvPicPr>
          <p:cNvPr id="143" name="Picture 1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460" y="5364226"/>
            <a:ext cx="128699" cy="187198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7689956" y="5374005"/>
            <a:ext cx="1536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20100" y="5290185"/>
            <a:ext cx="24663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Scale Portable Modular Solar Generators (</a:t>
            </a:r>
          </a:p>
        </p:txBody>
      </p:sp>
      <p:pic>
        <p:nvPicPr>
          <p:cNvPr id="146" name="Picture 1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4531" y="5280405"/>
            <a:ext cx="128699" cy="187198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11002027" y="5290185"/>
            <a:ext cx="1534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),</a:t>
            </a:r>
          </a:p>
        </p:txBody>
      </p:sp>
      <p:pic>
        <p:nvPicPr>
          <p:cNvPr id="148" name="Picture 1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95" y="5280405"/>
            <a:ext cx="128699" cy="187198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1270991" y="5290185"/>
            <a:ext cx="5255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420100" y="5457825"/>
            <a:ext cx="7023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headroom.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Dynamics by Region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the growth driver, restraint and opportunity shaping each region of the global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876300"/>
            <a:ext cx="11906250" cy="1038225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12700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" y="914400"/>
            <a:ext cx="38100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Calibri"/>
              </a:rPr>
              <a:t>KEY TAKEAWAY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6225" y="1162050"/>
            <a:ext cx="11639550" cy="0"/>
          </a:xfrm>
          <a:prstGeom prst="line">
            <a:avLst/>
          </a:prstGeom>
          <a:ln w="15875">
            <a:solidFill>
              <a:srgbClr val="0B2E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6225" y="1219200"/>
            <a:ext cx="11525250" cy="61912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" y="1277302"/>
            <a:ext cx="44690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North America, South Asia &amp; Pacific, East Asia anchor scale with a combined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927" y="1267523"/>
            <a:ext cx="128699" cy="18719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89423" y="1277302"/>
            <a:ext cx="46229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Global value in 2036, while 'South Asia &amp; Pacific' offers the steepest upside at</a:t>
            </a:r>
          </a:p>
        </p:txBody>
      </p:sp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473" y="1267523"/>
            <a:ext cx="128699" cy="18719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27969" y="1277302"/>
            <a:ext cx="18197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against a market pace of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2" y="1435163"/>
            <a:ext cx="128699" cy="18719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8828" y="1444942"/>
            <a:ext cx="110088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 4 of 7 regions grow at or above that pace, so entry logic has to differ by region scale defence in the leaders, mix and premiumisation in the mid-tier, and availability-led expansion in the fastest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" y="1612582"/>
            <a:ext cx="5326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movers.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Global Driving Factors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economic and supply-side factors scored by their impact on the global market</a:t>
            </a:r>
          </a:p>
        </p:txBody>
      </p:sp>
      <p:sp>
        <p:nvSpPr>
          <p:cNvPr id="10" name="Oval 9"/>
          <p:cNvSpPr/>
          <p:nvPr/>
        </p:nvSpPr>
        <p:spPr>
          <a:xfrm>
            <a:off x="2381250" y="1609633"/>
            <a:ext cx="4762500" cy="4563424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19375" y="1837804"/>
            <a:ext cx="4286250" cy="4107082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57500" y="2065976"/>
            <a:ext cx="3810000" cy="3650740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5625" y="2294147"/>
            <a:ext cx="3333750" cy="3194397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33750" y="2522318"/>
            <a:ext cx="2857500" cy="2738055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1875" y="2750489"/>
            <a:ext cx="2381250" cy="2281712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10000" y="2978660"/>
            <a:ext cx="1905000" cy="1825370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48125" y="3206832"/>
            <a:ext cx="1428750" cy="1369027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86250" y="3435003"/>
            <a:ext cx="952500" cy="912685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4375" y="3663174"/>
            <a:ext cx="476250" cy="456342"/>
          </a:xfrm>
          <a:prstGeom prst="ellipse">
            <a:avLst/>
          </a:prstGeom>
          <a:solidFill>
            <a:srgbClr val="DCE7F3"/>
          </a:solidFill>
          <a:ln w="12700">
            <a:solidFill>
              <a:srgbClr val="B9C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4762500" y="1609633"/>
            <a:ext cx="0" cy="228171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3729314" y="1835594"/>
            <a:ext cx="1033186" cy="205575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900764" y="2468721"/>
            <a:ext cx="1861736" cy="1422624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440953" y="3383617"/>
            <a:ext cx="2321547" cy="507729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440953" y="3891345"/>
            <a:ext cx="2321547" cy="507729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00764" y="3891345"/>
            <a:ext cx="1861736" cy="1422624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729314" y="3891345"/>
            <a:ext cx="1033186" cy="205575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62500" y="3891345"/>
            <a:ext cx="0" cy="2281712"/>
          </a:xfrm>
          <a:prstGeom prst="line">
            <a:avLst/>
          </a:prstGeom>
          <a:ln w="9525">
            <a:solidFill>
              <a:srgbClr val="B9CD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438400" y="2595333"/>
            <a:ext cx="2324100" cy="2254332"/>
          </a:xfrm>
          <a:custGeom>
            <a:avLst/>
            <a:gdLst/>
            <a:ahLst/>
            <a:cxnLst/>
            <a:rect l="l" t="t" r="r" b="b"/>
            <a:pathLst>
              <a:path w="244" h="247">
                <a:moveTo>
                  <a:pt x="244" y="0"/>
                </a:moveTo>
                <a:lnTo>
                  <a:pt x="182" y="14"/>
                </a:lnTo>
                <a:lnTo>
                  <a:pt x="107" y="33"/>
                </a:lnTo>
                <a:lnTo>
                  <a:pt x="65" y="101"/>
                </a:lnTo>
                <a:lnTo>
                  <a:pt x="0" y="198"/>
                </a:lnTo>
                <a:lnTo>
                  <a:pt x="112" y="247"/>
                </a:lnTo>
                <a:lnTo>
                  <a:pt x="203" y="226"/>
                </a:lnTo>
                <a:lnTo>
                  <a:pt x="244" y="231"/>
                </a:lnTo>
              </a:path>
            </a:pathLst>
          </a:custGeom>
          <a:noFill/>
          <a:ln w="31750">
            <a:solidFill>
              <a:srgbClr val="0F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14875" y="1563999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00300" y="128106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3681689" y="1789960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85456" y="151968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3" name="Oval 32"/>
          <p:cNvSpPr/>
          <p:nvPr/>
        </p:nvSpPr>
        <p:spPr>
          <a:xfrm>
            <a:off x="2853139" y="2423087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0507" y="2270405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5" name="Oval 34"/>
          <p:cNvSpPr/>
          <p:nvPr/>
        </p:nvSpPr>
        <p:spPr>
          <a:xfrm>
            <a:off x="2393328" y="3337982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46" y="3236535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2393328" y="4353440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946" y="4308858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2853139" y="5268335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0507" y="527498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3681689" y="5901463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5456" y="602571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4714875" y="6127423"/>
            <a:ext cx="95250" cy="91268"/>
          </a:xfrm>
          <a:prstGeom prst="ellipse">
            <a:avLst/>
          </a:prstGeom>
          <a:solidFill>
            <a:srgbClr val="2F6DA8"/>
          </a:solidFill>
          <a:ln w="12700">
            <a:solidFill>
              <a:srgbClr val="2F6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00300" y="6264326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4762500" y="970754"/>
            <a:ext cx="7429500" cy="56403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MI Scale 0"/>
          <p:cNvSpPr txBox="1"/>
          <p:nvPr/>
        </p:nvSpPr>
        <p:spPr>
          <a:xfrm>
            <a:off x="4286250" y="381833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7" name="FMI Scale 1"/>
          <p:cNvSpPr txBox="1"/>
          <p:nvPr/>
        </p:nvSpPr>
        <p:spPr>
          <a:xfrm>
            <a:off x="4286250" y="3590159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10%</a:t>
            </a:r>
          </a:p>
        </p:txBody>
      </p:sp>
      <p:sp>
        <p:nvSpPr>
          <p:cNvPr id="48" name="FMI Scale 2"/>
          <p:cNvSpPr txBox="1"/>
          <p:nvPr/>
        </p:nvSpPr>
        <p:spPr>
          <a:xfrm>
            <a:off x="4286250" y="336198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20%</a:t>
            </a:r>
          </a:p>
        </p:txBody>
      </p:sp>
      <p:sp>
        <p:nvSpPr>
          <p:cNvPr id="49" name="FMI Scale 3"/>
          <p:cNvSpPr txBox="1"/>
          <p:nvPr/>
        </p:nvSpPr>
        <p:spPr>
          <a:xfrm>
            <a:off x="4286250" y="3133817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30%</a:t>
            </a:r>
          </a:p>
        </p:txBody>
      </p:sp>
      <p:sp>
        <p:nvSpPr>
          <p:cNvPr id="50" name="FMI Scale 4"/>
          <p:cNvSpPr txBox="1"/>
          <p:nvPr/>
        </p:nvSpPr>
        <p:spPr>
          <a:xfrm>
            <a:off x="4286250" y="2905646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40%</a:t>
            </a:r>
          </a:p>
        </p:txBody>
      </p:sp>
      <p:sp>
        <p:nvSpPr>
          <p:cNvPr id="51" name="FMI Scale 5"/>
          <p:cNvSpPr txBox="1"/>
          <p:nvPr/>
        </p:nvSpPr>
        <p:spPr>
          <a:xfrm>
            <a:off x="4286250" y="2677474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50%</a:t>
            </a:r>
          </a:p>
        </p:txBody>
      </p:sp>
      <p:sp>
        <p:nvSpPr>
          <p:cNvPr id="52" name="FMI Scale 6"/>
          <p:cNvSpPr txBox="1"/>
          <p:nvPr/>
        </p:nvSpPr>
        <p:spPr>
          <a:xfrm>
            <a:off x="4286250" y="2449303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60%</a:t>
            </a:r>
          </a:p>
        </p:txBody>
      </p:sp>
      <p:sp>
        <p:nvSpPr>
          <p:cNvPr id="53" name="FMI Scale 7"/>
          <p:cNvSpPr txBox="1"/>
          <p:nvPr/>
        </p:nvSpPr>
        <p:spPr>
          <a:xfrm>
            <a:off x="4286250" y="2221132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70%</a:t>
            </a:r>
          </a:p>
        </p:txBody>
      </p:sp>
      <p:sp>
        <p:nvSpPr>
          <p:cNvPr id="54" name="FMI Scale 8"/>
          <p:cNvSpPr txBox="1"/>
          <p:nvPr/>
        </p:nvSpPr>
        <p:spPr>
          <a:xfrm>
            <a:off x="4286250" y="199296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80%</a:t>
            </a:r>
          </a:p>
        </p:txBody>
      </p:sp>
      <p:sp>
        <p:nvSpPr>
          <p:cNvPr id="55" name="FMI Scale 9"/>
          <p:cNvSpPr txBox="1"/>
          <p:nvPr/>
        </p:nvSpPr>
        <p:spPr>
          <a:xfrm>
            <a:off x="4286250" y="1764790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90%</a:t>
            </a:r>
          </a:p>
        </p:txBody>
      </p:sp>
      <p:sp>
        <p:nvSpPr>
          <p:cNvPr id="56" name="FMI Scale 10"/>
          <p:cNvSpPr txBox="1"/>
          <p:nvPr/>
        </p:nvSpPr>
        <p:spPr>
          <a:xfrm>
            <a:off x="4286250" y="153661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100%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762500" y="1025515"/>
            <a:ext cx="0" cy="5549124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2050" y="1080276"/>
            <a:ext cx="7077075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Calibri"/>
              </a:rPr>
              <a:t>Economic and Supply-side Factors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72050" y="1335828"/>
            <a:ext cx="7077075" cy="0"/>
          </a:xfrm>
          <a:prstGeom prst="line">
            <a:avLst/>
          </a:prstGeom>
          <a:ln w="31750">
            <a:solidFill>
              <a:srgbClr val="1F6F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972050" y="1427096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72050" y="1883439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2050" y="2339781"/>
            <a:ext cx="70770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72050" y="2613586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▪  Portfolio breadth spans 3 type lines and 4 primary application routes, giving producers focused reformulation and channel latitude.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2050" y="3069929"/>
            <a:ext cx="70770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72050" y="3343734"/>
            <a:ext cx="70770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▪  Note: the dynamics framing is indicative factors, impact ratings and narrative are generated from the loaded dataset's own values.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6991" y="1322601"/>
            <a:ext cx="112522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Production Scale-up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330" y="1313604"/>
            <a:ext cx="118403" cy="17222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482772" y="1561215"/>
            <a:ext cx="1094602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Input Cost Pressure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486" y="1552218"/>
            <a:ext cx="118403" cy="17222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943191" y="2311939"/>
            <a:ext cx="759234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Capacity Add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537" y="2302942"/>
            <a:ext cx="118403" cy="17222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14573" y="3278069"/>
            <a:ext cx="1202291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Supply Concentration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976" y="3269072"/>
            <a:ext cx="118403" cy="17222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148118" y="4350392"/>
            <a:ext cx="106874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Geographic Spread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976" y="4341395"/>
            <a:ext cx="118403" cy="17222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722039" y="5316521"/>
            <a:ext cx="98038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Portfolio Breadth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537" y="5307524"/>
            <a:ext cx="118403" cy="17222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2838472" y="6067245"/>
            <a:ext cx="738901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Route Depth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486" y="6058248"/>
            <a:ext cx="118403" cy="17222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616852" y="6305860"/>
            <a:ext cx="975365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Value Realisation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330" y="6296863"/>
            <a:ext cx="118403" cy="17222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000625" y="1496754"/>
            <a:ext cx="32104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Supply-side conditions are led by Geographic Spread (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122" y="1486975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326618" y="1496754"/>
            <a:ext cx="16789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Supply Concentration (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599" y="1486975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0121095" y="1496754"/>
            <a:ext cx="11973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Capacity Add (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6494" y="1486975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1433990" y="1496754"/>
            <a:ext cx="4931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 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0625" y="1664394"/>
            <a:ext cx="286256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0-10 scale scored from the global dataset itself.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00625" y="1953097"/>
            <a:ext cx="12459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Volume expands at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91" y="1943318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6362087" y="1953097"/>
            <a:ext cx="30027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(2026–2036) while average realisation moves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927" y="1943318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9480423" y="1953097"/>
            <a:ext cx="23465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 the balance of those two sets the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00625" y="2120737"/>
            <a:ext cx="15714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cost-pass-through picture.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00625" y="2401990"/>
            <a:ext cx="275150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Supply is concentrated: 'North America' holds</a:t>
            </a:r>
          </a:p>
        </p:txBody>
      </p:sp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186" y="2392211"/>
            <a:ext cx="128699" cy="18719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867681" y="2401990"/>
            <a:ext cx="18213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 across 7 regions.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00625" y="3132138"/>
            <a:ext cx="29315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Capacity added between 2026 and 2036 is worth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268" y="3122359"/>
            <a:ext cx="128699" cy="18719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47764" y="3132138"/>
            <a:ext cx="6590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Mn, a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826" y="3122359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822322" y="3132138"/>
            <a:ext cx="18019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× expansion on the 2026 base.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Global Driving Factors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demand-side factors scored by their impact on the global market</a:t>
            </a:r>
          </a:p>
        </p:txBody>
      </p:sp>
      <p:sp>
        <p:nvSpPr>
          <p:cNvPr id="10" name="Oval 9"/>
          <p:cNvSpPr/>
          <p:nvPr/>
        </p:nvSpPr>
        <p:spPr>
          <a:xfrm>
            <a:off x="5048250" y="1609633"/>
            <a:ext cx="4762500" cy="4563424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86375" y="1837804"/>
            <a:ext cx="4286250" cy="4107082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24500" y="2065976"/>
            <a:ext cx="3810000" cy="3650740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2625" y="2294147"/>
            <a:ext cx="3333750" cy="3194397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00750" y="2522318"/>
            <a:ext cx="2857500" cy="2738055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8875" y="2750489"/>
            <a:ext cx="2381250" cy="2281712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7000" y="2978660"/>
            <a:ext cx="1905000" cy="1825370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15125" y="3206832"/>
            <a:ext cx="1428750" cy="1369027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53250" y="3435003"/>
            <a:ext cx="952500" cy="912685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91375" y="3663174"/>
            <a:ext cx="476250" cy="456342"/>
          </a:xfrm>
          <a:prstGeom prst="ellipse">
            <a:avLst/>
          </a:prstGeom>
          <a:solidFill>
            <a:srgbClr val="E2F0CF"/>
          </a:solidFill>
          <a:ln w="12700">
            <a:solidFill>
              <a:srgbClr val="C5D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7429500" y="1609633"/>
            <a:ext cx="0" cy="228171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429500" y="1835594"/>
            <a:ext cx="1033186" cy="205575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429500" y="2468721"/>
            <a:ext cx="1861736" cy="1422624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29500" y="3383617"/>
            <a:ext cx="2321547" cy="507729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29500" y="3891345"/>
            <a:ext cx="2321547" cy="507729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3891345"/>
            <a:ext cx="1861736" cy="1422624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3891345"/>
            <a:ext cx="1033186" cy="205575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29500" y="3891345"/>
            <a:ext cx="0" cy="2281712"/>
          </a:xfrm>
          <a:prstGeom prst="line">
            <a:avLst/>
          </a:prstGeom>
          <a:ln w="9525">
            <a:solidFill>
              <a:srgbClr val="C5DF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7429500" y="2713982"/>
            <a:ext cx="1524000" cy="2947972"/>
          </a:xfrm>
          <a:custGeom>
            <a:avLst/>
            <a:gdLst/>
            <a:ahLst/>
            <a:cxnLst/>
            <a:rect l="l" t="t" r="r" b="b"/>
            <a:pathLst>
              <a:path w="160" h="323">
                <a:moveTo>
                  <a:pt x="0" y="4"/>
                </a:moveTo>
                <a:lnTo>
                  <a:pt x="62" y="0"/>
                </a:lnTo>
                <a:lnTo>
                  <a:pt x="73" y="71"/>
                </a:lnTo>
                <a:lnTo>
                  <a:pt x="103" y="105"/>
                </a:lnTo>
                <a:lnTo>
                  <a:pt x="160" y="166"/>
                </a:lnTo>
                <a:lnTo>
                  <a:pt x="101" y="209"/>
                </a:lnTo>
                <a:lnTo>
                  <a:pt x="75" y="284"/>
                </a:lnTo>
                <a:lnTo>
                  <a:pt x="0" y="323"/>
                </a:lnTo>
              </a:path>
            </a:pathLst>
          </a:custGeom>
          <a:noFill/>
          <a:ln w="31750">
            <a:solidFill>
              <a:srgbClr val="0F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81875" y="1563999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5700" y="128106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8415061" y="1789960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0544" y="151968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3" name="Oval 32"/>
          <p:cNvSpPr/>
          <p:nvPr/>
        </p:nvSpPr>
        <p:spPr>
          <a:xfrm>
            <a:off x="9243611" y="2423087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5493" y="2270405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5" name="Oval 34"/>
          <p:cNvSpPr/>
          <p:nvPr/>
        </p:nvSpPr>
        <p:spPr>
          <a:xfrm>
            <a:off x="9703422" y="3337982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81054" y="3236535"/>
            <a:ext cx="2168071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9703422" y="4353440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81054" y="4308858"/>
            <a:ext cx="2168071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9243611" y="5268335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95493" y="5274987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8415061" y="5901463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20544" y="6025711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7381875" y="6127423"/>
            <a:ext cx="95250" cy="91268"/>
          </a:xfrm>
          <a:prstGeom prst="ellipse">
            <a:avLst/>
          </a:prstGeom>
          <a:solidFill>
            <a:srgbClr val="8CC152"/>
          </a:solidFill>
          <a:ln w="12700">
            <a:solidFill>
              <a:srgbClr val="8CC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05700" y="6264326"/>
            <a:ext cx="2286000" cy="23729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970754"/>
            <a:ext cx="7429500" cy="56403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MI Scale 0"/>
          <p:cNvSpPr txBox="1"/>
          <p:nvPr/>
        </p:nvSpPr>
        <p:spPr>
          <a:xfrm>
            <a:off x="7486650" y="381833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7" name="FMI Scale 1"/>
          <p:cNvSpPr txBox="1"/>
          <p:nvPr/>
        </p:nvSpPr>
        <p:spPr>
          <a:xfrm>
            <a:off x="7486650" y="3590159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10%</a:t>
            </a:r>
          </a:p>
        </p:txBody>
      </p:sp>
      <p:sp>
        <p:nvSpPr>
          <p:cNvPr id="48" name="FMI Scale 2"/>
          <p:cNvSpPr txBox="1"/>
          <p:nvPr/>
        </p:nvSpPr>
        <p:spPr>
          <a:xfrm>
            <a:off x="7486650" y="336198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20%</a:t>
            </a:r>
          </a:p>
        </p:txBody>
      </p:sp>
      <p:sp>
        <p:nvSpPr>
          <p:cNvPr id="49" name="FMI Scale 3"/>
          <p:cNvSpPr txBox="1"/>
          <p:nvPr/>
        </p:nvSpPr>
        <p:spPr>
          <a:xfrm>
            <a:off x="7486650" y="3133817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30%</a:t>
            </a:r>
          </a:p>
        </p:txBody>
      </p:sp>
      <p:sp>
        <p:nvSpPr>
          <p:cNvPr id="50" name="FMI Scale 4"/>
          <p:cNvSpPr txBox="1"/>
          <p:nvPr/>
        </p:nvSpPr>
        <p:spPr>
          <a:xfrm>
            <a:off x="7486650" y="2905646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40%</a:t>
            </a:r>
          </a:p>
        </p:txBody>
      </p:sp>
      <p:sp>
        <p:nvSpPr>
          <p:cNvPr id="51" name="FMI Scale 5"/>
          <p:cNvSpPr txBox="1"/>
          <p:nvPr/>
        </p:nvSpPr>
        <p:spPr>
          <a:xfrm>
            <a:off x="7486650" y="2677474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50%</a:t>
            </a:r>
          </a:p>
        </p:txBody>
      </p:sp>
      <p:sp>
        <p:nvSpPr>
          <p:cNvPr id="52" name="FMI Scale 6"/>
          <p:cNvSpPr txBox="1"/>
          <p:nvPr/>
        </p:nvSpPr>
        <p:spPr>
          <a:xfrm>
            <a:off x="7486650" y="2449303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60%</a:t>
            </a:r>
          </a:p>
        </p:txBody>
      </p:sp>
      <p:sp>
        <p:nvSpPr>
          <p:cNvPr id="53" name="FMI Scale 7"/>
          <p:cNvSpPr txBox="1"/>
          <p:nvPr/>
        </p:nvSpPr>
        <p:spPr>
          <a:xfrm>
            <a:off x="7486650" y="2221132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70%</a:t>
            </a:r>
          </a:p>
        </p:txBody>
      </p:sp>
      <p:sp>
        <p:nvSpPr>
          <p:cNvPr id="54" name="FMI Scale 8"/>
          <p:cNvSpPr txBox="1"/>
          <p:nvPr/>
        </p:nvSpPr>
        <p:spPr>
          <a:xfrm>
            <a:off x="7486650" y="1992961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80%</a:t>
            </a:r>
          </a:p>
        </p:txBody>
      </p:sp>
      <p:sp>
        <p:nvSpPr>
          <p:cNvPr id="55" name="FMI Scale 9"/>
          <p:cNvSpPr txBox="1"/>
          <p:nvPr/>
        </p:nvSpPr>
        <p:spPr>
          <a:xfrm>
            <a:off x="7486650" y="1764790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90%</a:t>
            </a:r>
          </a:p>
        </p:txBody>
      </p:sp>
      <p:sp>
        <p:nvSpPr>
          <p:cNvPr id="56" name="FMI Scale 10"/>
          <p:cNvSpPr txBox="1"/>
          <p:nvPr/>
        </p:nvSpPr>
        <p:spPr>
          <a:xfrm>
            <a:off x="7486650" y="1536618"/>
            <a:ext cx="419100" cy="146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100%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429500" y="1025515"/>
            <a:ext cx="0" cy="5549124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80975" y="1080276"/>
            <a:ext cx="7038975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Calibri"/>
              </a:rPr>
              <a:t>Demand-side Factors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80975" y="1335828"/>
            <a:ext cx="7038975" cy="0"/>
          </a:xfrm>
          <a:prstGeom prst="line">
            <a:avLst/>
          </a:prstGeom>
          <a:ln w="31750">
            <a:solidFill>
              <a:srgbClr val="1F6F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80975" y="1427096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0975" y="1883439"/>
            <a:ext cx="70389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0975" y="2157244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" y="2613586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0975" y="3069929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0975" y="3526271"/>
            <a:ext cx="7038975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▪  Note: the dynamics framing is indicative factors, impact ratings and narrative are generated from the loaded dataset's own values.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4275" y="1322601"/>
            <a:ext cx="943988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Demand Growth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374" y="1313604"/>
            <a:ext cx="118403" cy="17222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549119" y="1561215"/>
            <a:ext cx="903573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Premiumisation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803" y="1552218"/>
            <a:ext cx="118403" cy="17222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424068" y="2311939"/>
            <a:ext cx="765761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App. Breadth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940" y="2302942"/>
            <a:ext cx="118403" cy="17222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909628" y="3278069"/>
            <a:ext cx="791114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Emerging Pull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855" y="3269072"/>
            <a:ext cx="118403" cy="17222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909628" y="4350392"/>
            <a:ext cx="1135267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Volume Momentum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08" y="4341395"/>
            <a:ext cx="118403" cy="17222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424068" y="5316521"/>
            <a:ext cx="1032097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Category Maturity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2276" y="5307524"/>
            <a:ext cx="118403" cy="17222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549119" y="6067245"/>
            <a:ext cx="911857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Adoption Depth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087" y="6058248"/>
            <a:ext cx="118403" cy="17222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534275" y="6305860"/>
            <a:ext cx="955786" cy="1732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1" b="0">
                <a:solidFill>
                  <a:srgbClr val="2E2E2E"/>
                </a:solidFill>
                <a:latin typeface="Calibri"/>
              </a:rPr>
              <a:t>Consumer Reach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172" y="6296863"/>
            <a:ext cx="118403" cy="17222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09550" y="1496754"/>
            <a:ext cx="31886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Demand-side conditions are led by Consumer Reach (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219" y="1486975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513715" y="1496754"/>
            <a:ext cx="13632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Adoption Depth (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007" y="1486975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4992503" y="1496754"/>
            <a:ext cx="160607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/10), Volume Momentum (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633" y="1486975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714129" y="1496754"/>
            <a:ext cx="3143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/10)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9550" y="1664394"/>
            <a:ext cx="30412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on a 0-10 scale scored from the global dataset itself.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9550" y="1945648"/>
            <a:ext cx="9984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Value grows at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039" y="1935869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323535" y="1945648"/>
            <a:ext cx="10832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volume at</a:t>
            </a:r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882" y="1935869"/>
            <a:ext cx="128699" cy="18719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2522378" y="1945648"/>
            <a:ext cx="22300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premiumising market through 2036.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9550" y="2226902"/>
            <a:ext cx="26232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'Portable Modular Solar Generators' carries</a:t>
            </a:r>
          </a:p>
        </p:txBody>
      </p:sp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870" y="2217123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2948366" y="2226902"/>
            <a:ext cx="409994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type demand while 'Portable Modular Solar Generators' compounds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9550" y="2394542"/>
            <a:ext cx="6036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fastest at</a:t>
            </a:r>
          </a:p>
        </p:txBody>
      </p:sp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23" y="2384763"/>
            <a:ext cx="128699" cy="18719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28719" y="2394542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9550" y="2767064"/>
            <a:ext cx="24767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Pull is strongest in 'South Asia &amp; Pacific' (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49" y="2757285"/>
            <a:ext cx="128699" cy="18719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2801845" y="2767064"/>
            <a:ext cx="5315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CAGR, +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469" y="2757285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3448965" y="2767064"/>
            <a:ext cx="35225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versus the market), with 4 of 7 regions at or above pace.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9550" y="3139587"/>
            <a:ext cx="53847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Reach runs through 4 primary application routes, led by 'Supplemental Household Power' at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401" y="3129808"/>
            <a:ext cx="128699" cy="18719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709897" y="3139587"/>
            <a:ext cx="10802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with 'Primary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09550" y="3307227"/>
            <a:ext cx="26587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Off-Grid Household Power' growing fastest at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41" y="3297448"/>
            <a:ext cx="128699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2983837" y="330722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Restraints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the key restraints on the global market and the likelihood of their impact across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25515"/>
            <a:ext cx="2038350" cy="255552"/>
          </a:xfrm>
          <a:prstGeom prst="roundRect">
            <a:avLst>
              <a:gd name="adj" fmla="val 1869"/>
            </a:avLst>
          </a:prstGeom>
          <a:solidFill>
            <a:srgbClr val="C0603A"/>
          </a:solidFill>
          <a:ln w="12700">
            <a:solidFill>
              <a:srgbClr val="C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" y="1025515"/>
            <a:ext cx="20383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Market Restraints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875" y="1390589"/>
            <a:ext cx="9496425" cy="255552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139058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Portable Integrated Solar Generators Lags the Category and Dilutes Blended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925" y="1700902"/>
            <a:ext cx="9439275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0" y="139058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660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9660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solidFill>
            <a:srgbClr val="F2C94C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2875" y="3088183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42875" y="3142944"/>
            <a:ext cx="9496425" cy="255552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225" y="3142944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Uneven Region Performance Caps the Blended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925" y="3453257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0750" y="3142944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075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9660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075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9660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solidFill>
            <a:srgbClr val="FBF0C4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2875" y="4840538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42875" y="4895299"/>
            <a:ext cx="9496425" cy="255552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6225" y="489529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Concentration Risk Limits Pricing and Sourcing Flexibility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1925" y="5205612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10750" y="489529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1075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660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1075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660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solidFill>
            <a:srgbClr val="C99A0A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0500" y="1753513"/>
            <a:ext cx="303309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'Portable Integrated Solar Generators' grows at only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643" y="1743734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339139" y="1753513"/>
            <a:ext cx="15795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against the market's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786" y="1743734"/>
            <a:ext cx="128699" cy="18719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034282" y="1753513"/>
            <a:ext cx="2841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, a -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446" y="1743734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433942" y="1753513"/>
            <a:ext cx="36478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gap, and 'Portable Integrated Solar Generators' surrenders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821" y="1743734"/>
            <a:ext cx="128699" cy="18719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90500" y="1921153"/>
            <a:ext cx="938212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of type share between 2026 and 2036. Because these lines still carry meaningful volume, the drag is absorbed by the whole category: blended growth sits below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500" y="2088793"/>
            <a:ext cx="93092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what the leading lines achieve on their own. Rationalising or repositioning the lagging end of a 3-line portfolio is therefore a precondition for realising the headline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0500" y="2256433"/>
            <a:ext cx="5736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forecast.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0500" y="3498419"/>
            <a:ext cx="17315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'North America' grows at just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142" y="3488640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037637" y="3498419"/>
            <a:ext cx="46990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-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597" y="3488640"/>
            <a:ext cx="128699" cy="18719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2623093" y="3498419"/>
            <a:ext cx="66169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against the market and 3 of 7 regions sit below the market pace altogether. Demand is therefore not uniformly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0500" y="3666059"/>
            <a:ext cx="86180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available: suppliers carrying a broad geographic footprint fund presence in slow regions out of returns earned in the fast ones. With 'North America' at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642" y="3656280"/>
            <a:ext cx="128699" cy="18719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924138" y="3666059"/>
            <a:ext cx="5640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value,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0500" y="3833699"/>
            <a:ext cx="51703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shortfall in a single leading region is difficult to offset elsewhere in the forecast window.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0500" y="5250774"/>
            <a:ext cx="33375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The market is concentrated: 'North America' accounts for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146" y="5240995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643642" y="5250774"/>
            <a:ext cx="24770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 and the leading type line for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714" y="5240995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236210" y="5250774"/>
            <a:ext cx="24450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its segment. Average realisation moves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320" y="5240995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796816" y="5250774"/>
            <a:ext cx="45819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year,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0500" y="5418414"/>
            <a:ext cx="934305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so cost movements cannot be passed on evenly across 7 regions. The practical constraint is the same in either case commercial terms set for the market as a whole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0500" y="5586054"/>
            <a:ext cx="55599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underserve part of it, and margin is lost in the mismatch rather than in the headline growth rate.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the key opportunities in the global market and the likelihood of their impact across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25515"/>
            <a:ext cx="2038350" cy="255552"/>
          </a:xfrm>
          <a:prstGeom prst="roundRect">
            <a:avLst>
              <a:gd name="adj" fmla="val 1869"/>
            </a:avLst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" y="1025515"/>
            <a:ext cx="2038350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Market Opportunities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875" y="1390589"/>
            <a:ext cx="9496425" cy="25555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225" y="139058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U.S. Carries the Largest Absolute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925" y="1700902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0" y="139058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solidFill>
            <a:srgbClr val="FBF0C4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075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6600" y="177391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96600" y="193820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1075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96600" y="229414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96600" y="245843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Low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2875" y="3088183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42875" y="3142944"/>
            <a:ext cx="9496425" cy="25555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225" y="3142944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France Offers Under-penetrated, Above-pace Headroom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925" y="3453257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0750" y="3142944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075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solidFill>
            <a:srgbClr val="F2C94C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075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96600" y="3526271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96600" y="369055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075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075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96600" y="4046502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96600" y="4210785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B5613"/>
                </a:solidFill>
                <a:latin typeface="Calibri"/>
              </a:rPr>
              <a:t>Medium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2875" y="4840538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42875" y="4895299"/>
            <a:ext cx="9496425" cy="255552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6225" y="4895299"/>
            <a:ext cx="926782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Primary Off-Grid Household Power Opens the Fastest Route to Market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1925" y="5205612"/>
            <a:ext cx="9439275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10750" y="4895299"/>
            <a:ext cx="2238375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Likelihood of impact on timeline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1075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2021–22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solidFill>
            <a:srgbClr val="C99A0A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1075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6600" y="5278626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2023–25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96600" y="544291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1075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2026–28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1075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6600" y="5798857"/>
            <a:ext cx="990600" cy="15515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2029–36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solidFill>
            <a:srgbClr val="FFFFFF"/>
          </a:solidFill>
          <a:ln w="15875">
            <a:solidFill>
              <a:srgbClr val="A8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96600" y="5963140"/>
            <a:ext cx="990600" cy="3103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4A3A05"/>
                </a:solidFill>
                <a:latin typeface="Calibri"/>
              </a:rPr>
              <a:t>High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0500" y="1746064"/>
            <a:ext cx="6620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'U.S.' adds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63" y="1736285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68059" y="1746064"/>
            <a:ext cx="84330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between 2026 and 2036 the single largest absolute increment of any geography in the dataset. Capturing it is a question of scale execution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0500" y="1913704"/>
            <a:ext cx="37692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rather than market creation: demand already exists and grows at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797" y="1903925"/>
            <a:ext cx="128699" cy="18719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075293" y="1913704"/>
            <a:ext cx="54025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at the market level. Prioritising supply, channel coverage and service levels there converts the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0500" y="2081344"/>
            <a:ext cx="11752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largest share of the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797" y="2071565"/>
            <a:ext cx="128699" cy="18719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481293" y="2081344"/>
            <a:ext cx="33064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the whole market adds over the forecast period.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500" y="3498419"/>
            <a:ext cx="136324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'France' compounds at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792" y="3488640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669288" y="3498419"/>
            <a:ext cx="76022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from a below-median base one of 6 geographies in the dataset combining above-median growth with below-median size. That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0500" y="3666059"/>
            <a:ext cx="47591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profile is where share is cheapest to buy: competitive intensity is lower than in the</a:t>
            </a:r>
          </a:p>
        </p:txBody>
      </p:sp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702" y="3656280"/>
            <a:ext cx="128699" cy="18719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065198" y="3666059"/>
            <a:ext cx="20759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-share leaders, while growth runs +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179" y="3656280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256675" y="3666059"/>
            <a:ext cx="18251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ahead of the market. Early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0500" y="3833699"/>
            <a:ext cx="45566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distribution and reference accounts established here compound through 2036.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0500" y="5250774"/>
            <a:ext cx="26347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'Primary Off-Grid Household Power' grows at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280" y="5240995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940776" y="5250774"/>
            <a:ext cx="34333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CAGR, the fastest of 4 primary application routes, and adds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176" y="5240995"/>
            <a:ext cx="128699" cy="18719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489672" y="5250774"/>
            <a:ext cx="22693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over the forecast period while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0500" y="5418414"/>
            <a:ext cx="260444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'Supplemental Household Power' still carries</a:t>
            </a:r>
          </a:p>
        </p:txBody>
      </p:sp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994" y="5408635"/>
            <a:ext cx="128699" cy="18719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2910489" y="5418414"/>
            <a:ext cx="62431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demand today. Pairing the incumbent route for volume with the fastest route for growth and leading with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0500" y="5586054"/>
            <a:ext cx="22759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'Portable Modular Solar Generators' at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480" y="5576275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2581976" y="5586054"/>
            <a:ext cx="313759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is the highest-yield combination the dataset supports.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Residential Solar Generator Market Recent Developments &amp;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Recent developments and milestones shaping the global market, by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2875" y="1025515"/>
            <a:ext cx="11906250" cy="292059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" y="1025515"/>
            <a:ext cx="1428750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1025515"/>
            <a:ext cx="10239375" cy="292059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Recent Development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2875" y="1317574"/>
            <a:ext cx="11906250" cy="1296013"/>
          </a:xfrm>
          <a:prstGeom prst="rect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" y="1317574"/>
            <a:ext cx="1428750" cy="129601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2025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71625" y="1317574"/>
            <a:ext cx="0" cy="1296013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714500" y="1668957"/>
            <a:ext cx="102108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" y="2613586"/>
            <a:ext cx="11906250" cy="985700"/>
          </a:xfrm>
          <a:prstGeom prst="rect">
            <a:avLst/>
          </a:prstGeom>
          <a:solidFill>
            <a:srgbClr val="F5F8FA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2875" y="26135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2026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71625" y="26135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14500" y="2905646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42875" y="3599286"/>
            <a:ext cx="11906250" cy="9857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2875" y="35992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2035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71625" y="35992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14500" y="3891345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42875" y="4584986"/>
            <a:ext cx="11906250" cy="985700"/>
          </a:xfrm>
          <a:prstGeom prst="rect">
            <a:avLst/>
          </a:prstGeom>
          <a:solidFill>
            <a:srgbClr val="F5F8FA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" y="45849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2031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71625" y="45849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14500" y="4877045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42875" y="5570686"/>
            <a:ext cx="11906250" cy="9857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875" y="5570686"/>
            <a:ext cx="1428750" cy="985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250" b="1">
                <a:solidFill>
                  <a:srgbClr val="0B2E4A"/>
                </a:solidFill>
                <a:latin typeface="Calibri"/>
              </a:rPr>
              <a:t>2036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71625" y="5570686"/>
            <a:ext cx="0" cy="985700"/>
          </a:xfrm>
          <a:prstGeom prst="line">
            <a:avLst/>
          </a:prstGeom>
          <a:ln w="12700">
            <a:solidFill>
              <a:srgbClr val="69B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714500" y="5862745"/>
            <a:ext cx="102108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3075" y="1797939"/>
            <a:ext cx="351658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Strongest historical expansion on record: Global value rose +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711" y="1788160"/>
            <a:ext cx="128699" cy="1871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75207" y="1797939"/>
            <a:ext cx="93595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year on year to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214" y="1788160"/>
            <a:ext cx="128699" cy="18719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710" y="1797939"/>
            <a:ext cx="50306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Mn, the steepest single-year move of the 2021–2025 period. Demand for 'Portable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43075" y="1965579"/>
            <a:ext cx="15842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Modular Solar Generators'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377" y="1955800"/>
            <a:ext cx="128699" cy="18719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442873" y="1965579"/>
            <a:ext cx="698998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type value by 2036 set the pace, and the 4 primary application routes tracked here all carried volume through the year.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43075" y="2945502"/>
            <a:ext cx="334046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Base year for the forecast: the global market is estimated at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621" y="2936114"/>
            <a:ext cx="123551" cy="17971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191417" y="2945502"/>
            <a:ext cx="182568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Mn, having compounded at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179" y="2936114"/>
            <a:ext cx="123551" cy="17971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124975" y="2945502"/>
            <a:ext cx="231078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across 2021–2025. 'North America' holds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846" y="2936114"/>
            <a:ext cx="123551" cy="17971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543642" y="2945502"/>
            <a:ext cx="189666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of value across 7 regions, and the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43075" y="3106436"/>
            <a:ext cx="369224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forecast is built from 6 segment breakdowns covering 3 type lines.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43075" y="3931201"/>
            <a:ext cx="108937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The market passes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530" y="3921813"/>
            <a:ext cx="123551" cy="17971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940326" y="3931201"/>
            <a:ext cx="294520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one and a half times the 2026 base reaching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609" y="3921813"/>
            <a:ext cx="123551" cy="17971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993405" y="3931201"/>
            <a:ext cx="431015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Mn. Growth by this point is led by 'Portable Modular Solar Generators' at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645" y="3921813"/>
            <a:ext cx="123551" cy="17971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411440" y="3931201"/>
            <a:ext cx="1157985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 and by 'South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43075" y="4092135"/>
            <a:ext cx="181022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Asia &amp; Pacific' among regions at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382" y="4082747"/>
            <a:ext cx="123551" cy="17971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661178" y="4092135"/>
            <a:ext cx="317806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, with 4 of 7 regions running at or above the market rate.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43075" y="4916901"/>
            <a:ext cx="219029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Mid-horizon checkpoint: value reaches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454" y="4907513"/>
            <a:ext cx="123551" cy="17971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041250" y="4916901"/>
            <a:ext cx="54113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Mn,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470" y="4907513"/>
            <a:ext cx="123551" cy="17971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690266" y="4916901"/>
            <a:ext cx="258133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× the 2026 base. Average realisation stands at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681" y="4907513"/>
            <a:ext cx="123551" cy="17971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379477" y="4916901"/>
            <a:ext cx="184506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US$/Units, and mix has moved +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623" y="4907513"/>
            <a:ext cx="123551" cy="17971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332419" y="4916901"/>
            <a:ext cx="2031563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toward 'Portable Modular Solar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43075" y="5077835"/>
            <a:ext cx="362807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Generators' while 'Portable Integrated Solar Generators' gives up</a:t>
            </a:r>
          </a:p>
        </p:txBody>
      </p:sp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229" y="5068447"/>
            <a:ext cx="123551" cy="17971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479025" y="5077835"/>
            <a:ext cx="31403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43075" y="5902601"/>
            <a:ext cx="254414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Forecast outcome: the global market reaches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303" y="5893213"/>
            <a:ext cx="123551" cy="17971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395098" y="5902601"/>
            <a:ext cx="63569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Mn, a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879" y="5893213"/>
            <a:ext cx="123551" cy="17971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138675" y="5902601"/>
            <a:ext cx="143775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× expansion on 2026 and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507" y="5893213"/>
            <a:ext cx="123551" cy="17971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684303" y="5902601"/>
            <a:ext cx="179922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US$ Mn of incremental value at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610" y="5893213"/>
            <a:ext cx="123551" cy="17971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591406" y="5902601"/>
            <a:ext cx="1678717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CAGR. Volume compounds at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204" y="5893213"/>
            <a:ext cx="123551" cy="17971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378000" y="5902601"/>
            <a:ext cx="854678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over the same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43075" y="6063535"/>
            <a:ext cx="156505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window, leaving realisation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09" y="6054147"/>
            <a:ext cx="123551" cy="17971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416005" y="6063535"/>
            <a:ext cx="4255412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a year the gap between the two is the premiumisation the forecast assumes.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Porter's Five Forces Analysis Global Residential Solar Generator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supplier power, buyer power, competition, substitutes and entry barriers shaping the market's profitability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" y="989007"/>
            <a:ext cx="11906250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876300" y="1427096"/>
            <a:ext cx="914400" cy="876177"/>
          </a:xfrm>
          <a:prstGeom prst="ellipse">
            <a:avLst/>
          </a:prstGeom>
          <a:solidFill>
            <a:srgbClr val="F2D24B"/>
          </a:solidFill>
          <a:ln w="12700">
            <a:solidFill>
              <a:srgbClr val="F2D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50" y="1664394"/>
            <a:ext cx="571500" cy="401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400" b="1">
                <a:solidFill>
                  <a:srgbClr val="8A6A00"/>
                </a:solidFill>
                <a:latin typeface="Calibri"/>
              </a:rPr>
              <a:t>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07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Bargaining Power of Suppliers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50" y="2796123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650" y="3663174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650" y="4530225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▸  Buyers can rebalance across 3 type lines, which caps supplier leverage in commodity grades.</a:t>
            </a:r>
          </a:p>
        </p:txBody>
      </p:sp>
      <p:sp>
        <p:nvSpPr>
          <p:cNvPr id="17" name="Oval 16"/>
          <p:cNvSpPr/>
          <p:nvPr/>
        </p:nvSpPr>
        <p:spPr>
          <a:xfrm>
            <a:off x="3257550" y="1427096"/>
            <a:ext cx="914400" cy="876177"/>
          </a:xfrm>
          <a:prstGeom prst="ellipse">
            <a:avLst/>
          </a:prstGeom>
          <a:solidFill>
            <a:srgbClr val="D9D9D9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476625" y="1710028"/>
            <a:ext cx="152400" cy="209918"/>
          </a:xfrm>
          <a:custGeom>
            <a:avLst/>
            <a:gdLst/>
            <a:ahLst/>
            <a:cxnLst/>
            <a:rect l="l" t="t" r="r" b="b"/>
            <a:pathLst>
              <a:path w="16" h="23">
                <a:moveTo>
                  <a:pt x="0" y="0"/>
                </a:moveTo>
                <a:lnTo>
                  <a:pt x="8" y="0"/>
                </a:lnTo>
                <a:lnTo>
                  <a:pt x="16" y="23"/>
                </a:lnTo>
              </a:path>
            </a:pathLst>
          </a:custGeom>
          <a:noFill/>
          <a:ln w="431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609975" y="1783043"/>
            <a:ext cx="342900" cy="155156"/>
          </a:xfrm>
          <a:custGeom>
            <a:avLst/>
            <a:gdLst/>
            <a:ahLst/>
            <a:cxnLst/>
            <a:rect l="l" t="t" r="r" b="b"/>
            <a:pathLst>
              <a:path w="36" h="17">
                <a:moveTo>
                  <a:pt x="0" y="0"/>
                </a:moveTo>
                <a:lnTo>
                  <a:pt x="36" y="0"/>
                </a:lnTo>
                <a:lnTo>
                  <a:pt x="31" y="17"/>
                </a:lnTo>
                <a:lnTo>
                  <a:pt x="5" y="17"/>
                </a:lnTo>
                <a:close/>
              </a:path>
            </a:pathLst>
          </a:cu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48075" y="1983834"/>
            <a:ext cx="76200" cy="7301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29050" y="1983834"/>
            <a:ext cx="76200" cy="7301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032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Bargaining Power of Buyers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8900" y="2796123"/>
            <a:ext cx="2171700" cy="11499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8900" y="4037375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8900" y="4721889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▸  Switching is easiest where 3 comparable type lines compete for the same demand.</a:t>
            </a:r>
          </a:p>
        </p:txBody>
      </p:sp>
      <p:sp>
        <p:nvSpPr>
          <p:cNvPr id="26" name="Oval 25"/>
          <p:cNvSpPr/>
          <p:nvPr/>
        </p:nvSpPr>
        <p:spPr>
          <a:xfrm>
            <a:off x="5638800" y="1427096"/>
            <a:ext cx="914400" cy="876177"/>
          </a:xfrm>
          <a:prstGeom prst="ellipse">
            <a:avLst/>
          </a:prstGeom>
          <a:solidFill>
            <a:srgbClr val="E88A8A"/>
          </a:solidFill>
          <a:ln w="12700">
            <a:solidFill>
              <a:srgbClr val="E8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76925" y="1655267"/>
            <a:ext cx="438150" cy="419835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0" y="1719155"/>
            <a:ext cx="304800" cy="292059"/>
          </a:xfrm>
          <a:prstGeom prst="ellipse">
            <a:avLst/>
          </a:prstGeom>
          <a:solidFill>
            <a:srgbClr val="E88A8A"/>
          </a:solidFill>
          <a:ln w="12700">
            <a:solidFill>
              <a:srgbClr val="E8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10275" y="1783043"/>
            <a:ext cx="171450" cy="164283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62662" y="1833240"/>
            <a:ext cx="66675" cy="63888"/>
          </a:xfrm>
          <a:prstGeom prst="ellipse">
            <a:avLst/>
          </a:prstGeom>
          <a:solidFill>
            <a:srgbClr val="E88A8A"/>
          </a:solidFill>
          <a:ln w="12700">
            <a:solidFill>
              <a:srgbClr val="E8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6134100" y="1627887"/>
            <a:ext cx="209550" cy="200791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22" y="0"/>
                </a:lnTo>
              </a:path>
            </a:pathLst>
          </a:custGeom>
          <a:noFill/>
          <a:ln w="38100">
            <a:solidFill>
              <a:srgbClr val="B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267450" y="1591379"/>
            <a:ext cx="114300" cy="109522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close/>
              </a:path>
            </a:pathLst>
          </a:custGeom>
          <a:solidFill>
            <a:srgbClr val="B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157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Intensity of Competition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150" y="2796123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150" y="3480637"/>
            <a:ext cx="2171700" cy="96744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150" y="4539352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8020050" y="1427096"/>
            <a:ext cx="914400" cy="876177"/>
          </a:xfrm>
          <a:prstGeom prst="ellipse">
            <a:avLst/>
          </a:prstGeom>
          <a:solidFill>
            <a:srgbClr val="C9C0E0"/>
          </a:solidFill>
          <a:ln w="12700">
            <a:solidFill>
              <a:srgbClr val="C9C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82000" y="1637014"/>
            <a:ext cx="190500" cy="182537"/>
          </a:xfrm>
          <a:prstGeom prst="roundRect">
            <a:avLst>
              <a:gd name="adj" fmla="val 15000"/>
            </a:avLst>
          </a:prstGeom>
          <a:solidFill>
            <a:srgbClr val="C9C0E0"/>
          </a:solidFill>
          <a:ln w="27940">
            <a:solidFill>
              <a:srgbClr val="4A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48650" y="1874312"/>
            <a:ext cx="190500" cy="182537"/>
          </a:xfrm>
          <a:prstGeom prst="roundRect">
            <a:avLst>
              <a:gd name="adj" fmla="val 15000"/>
            </a:avLst>
          </a:prstGeom>
          <a:solidFill>
            <a:srgbClr val="C9C0E0"/>
          </a:solidFill>
          <a:ln w="27940">
            <a:solidFill>
              <a:srgbClr val="4A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515350" y="1874312"/>
            <a:ext cx="190500" cy="182537"/>
          </a:xfrm>
          <a:prstGeom prst="roundRect">
            <a:avLst>
              <a:gd name="adj" fmla="val 15000"/>
            </a:avLst>
          </a:prstGeom>
          <a:solidFill>
            <a:srgbClr val="C9C0E0"/>
          </a:solidFill>
          <a:ln w="27940">
            <a:solidFill>
              <a:srgbClr val="4A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282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Threat of Substitutes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91400" y="2796123"/>
            <a:ext cx="2171700" cy="134164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1400" y="4229039"/>
            <a:ext cx="2171700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91400" y="4721889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5" name="Oval 44"/>
          <p:cNvSpPr/>
          <p:nvPr/>
        </p:nvSpPr>
        <p:spPr>
          <a:xfrm>
            <a:off x="10401300" y="1427096"/>
            <a:ext cx="914400" cy="876177"/>
          </a:xfrm>
          <a:prstGeom prst="ellipse">
            <a:avLst/>
          </a:prstGeom>
          <a:solidFill>
            <a:srgbClr val="BFDCEA"/>
          </a:solidFill>
          <a:ln w="12700">
            <a:solidFill>
              <a:srgbClr val="B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10850" y="1700902"/>
            <a:ext cx="114300" cy="109522"/>
          </a:xfrm>
          <a:prstGeom prst="ellipse">
            <a:avLst/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0563225" y="1837804"/>
            <a:ext cx="209550" cy="182537"/>
          </a:xfrm>
          <a:custGeom>
            <a:avLst/>
            <a:gdLst/>
            <a:ahLst/>
            <a:cxnLst/>
            <a:rect l="l" t="t" r="r" b="b"/>
            <a:pathLst>
              <a:path w="22" h="20">
                <a:moveTo>
                  <a:pt x="0" y="20"/>
                </a:moveTo>
                <a:lnTo>
                  <a:pt x="3" y="0"/>
                </a:lnTo>
                <a:lnTo>
                  <a:pt x="19" y="0"/>
                </a:lnTo>
                <a:lnTo>
                  <a:pt x="22" y="20"/>
                </a:lnTo>
                <a:close/>
              </a:path>
            </a:pathLst>
          </a:cu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991850" y="1700902"/>
            <a:ext cx="114300" cy="109522"/>
          </a:xfrm>
          <a:prstGeom prst="ellipse">
            <a:avLst/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0944225" y="1837804"/>
            <a:ext cx="209550" cy="182537"/>
          </a:xfrm>
          <a:custGeom>
            <a:avLst/>
            <a:gdLst/>
            <a:ahLst/>
            <a:cxnLst/>
            <a:rect l="l" t="t" r="r" b="b"/>
            <a:pathLst>
              <a:path w="22" h="20">
                <a:moveTo>
                  <a:pt x="0" y="20"/>
                </a:moveTo>
                <a:lnTo>
                  <a:pt x="3" y="0"/>
                </a:lnTo>
                <a:lnTo>
                  <a:pt x="19" y="0"/>
                </a:lnTo>
                <a:lnTo>
                  <a:pt x="22" y="20"/>
                </a:lnTo>
                <a:close/>
              </a:path>
            </a:pathLst>
          </a:cu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82300" y="1609633"/>
            <a:ext cx="152400" cy="146030"/>
          </a:xfrm>
          <a:prstGeom prst="ellipse">
            <a:avLst/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0715625" y="1783043"/>
            <a:ext cx="285750" cy="255552"/>
          </a:xfrm>
          <a:custGeom>
            <a:avLst/>
            <a:gdLst/>
            <a:ahLst/>
            <a:cxnLst/>
            <a:rect l="l" t="t" r="r" b="b"/>
            <a:pathLst>
              <a:path w="30" h="28">
                <a:moveTo>
                  <a:pt x="0" y="28"/>
                </a:moveTo>
                <a:lnTo>
                  <a:pt x="4" y="0"/>
                </a:lnTo>
                <a:lnTo>
                  <a:pt x="26" y="0"/>
                </a:lnTo>
                <a:lnTo>
                  <a:pt x="30" y="28"/>
                </a:lnTo>
                <a:close/>
              </a:path>
            </a:pathLst>
          </a:cu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44075" y="2376288"/>
            <a:ext cx="2228850" cy="36507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2E2E2E"/>
                </a:solidFill>
                <a:latin typeface="Calibri"/>
              </a:rPr>
              <a:t>Threat of New Entrants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72650" y="2796123"/>
            <a:ext cx="2171700" cy="77578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72650" y="3663174"/>
            <a:ext cx="2171700" cy="59324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72650" y="4347688"/>
            <a:ext cx="2171700" cy="96744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1450" y="1069470"/>
            <a:ext cx="98753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C7A89"/>
                </a:solidFill>
                <a:latin typeface="Calibri"/>
              </a:rPr>
              <a:t>Supplier power, buyer power, competitive intensity, substitution and entry barriers scored from the global dataset 3 type lines, 4 primary application routes and 7 regions at</a:t>
            </a:r>
          </a:p>
        </p:txBody>
      </p:sp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892" y="1059691"/>
            <a:ext cx="128699" cy="18719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162388" y="1069470"/>
            <a:ext cx="4306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C7A89"/>
                </a:solidFill>
                <a:latin typeface="Calibri"/>
              </a:rPr>
              <a:t>CAGR.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6225" y="2848734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 'North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6225" y="3016374"/>
            <a:ext cx="10710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America' supplies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293" y="3006595"/>
            <a:ext cx="128699" cy="1871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462789" y="3016374"/>
            <a:ext cx="8445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2036 value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6225" y="3184014"/>
            <a:ext cx="18420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across 7 regions, concentrating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6225" y="3351654"/>
            <a:ext cx="117360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upstream leverage.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6225" y="3799605"/>
            <a:ext cx="167616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Average realisation moves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439" y="3789826"/>
            <a:ext cx="128699" cy="18719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2067935" y="3799605"/>
            <a:ext cx="14304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6225" y="3967245"/>
            <a:ext cx="20311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year (2026–2036), indicating input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6225" y="4134885"/>
            <a:ext cx="187429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costs are being passed through.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7475" y="2952014"/>
            <a:ext cx="17463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57475" y="3119654"/>
            <a:ext cx="20219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Demand routes through 4 primary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57475" y="3287294"/>
            <a:ext cx="16159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application channels led by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57475" y="3454934"/>
            <a:ext cx="21083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'Supplemental Household Power' at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4007" y="3612795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811503" y="3622574"/>
            <a:ext cx="155396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, giving large buyers scale.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57475" y="4082537"/>
            <a:ext cx="20620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Price sensitivity tracks realisation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57475" y="4250177"/>
            <a:ext cx="4958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moving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372" y="4240398"/>
            <a:ext cx="128699" cy="18719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3268868" y="4250177"/>
            <a:ext cx="13165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 against volume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57475" y="4417817"/>
            <a:ext cx="6325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growth of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070" y="4408038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405566" y="4417817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38725" y="2841285"/>
            <a:ext cx="199871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moderate. 3 type lines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38725" y="3008925"/>
            <a:ext cx="19506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compete inside the segment; the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38725" y="3176565"/>
            <a:ext cx="7755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leader holds</a:t>
            </a:r>
          </a:p>
        </p:txBody>
      </p:sp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295" y="3166786"/>
            <a:ext cx="128699" cy="18719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929790" y="3176565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38725" y="3629080"/>
            <a:ext cx="193404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Growth is unevenly distributed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38725" y="3796720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'Portable Modular Solar Generators'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38725" y="3964360"/>
            <a:ext cx="1899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at</a:t>
            </a:r>
          </a:p>
        </p:txBody>
      </p:sp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755" y="3954581"/>
            <a:ext cx="128699" cy="18719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344251" y="3964360"/>
            <a:ext cx="165710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against 'Portable Integrated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38725" y="4132000"/>
            <a:ext cx="121017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Solar Generators' at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947" y="4122221"/>
            <a:ext cx="128699" cy="1871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364443" y="4132000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38725" y="4584514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4 of 7 regions grow at or above the</a:t>
            </a:r>
          </a:p>
        </p:txBody>
      </p:sp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257" y="4742375"/>
            <a:ext cx="128699" cy="18719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5192753" y="4752154"/>
            <a:ext cx="164318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pace, keeping share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38725" y="4919794"/>
            <a:ext cx="678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contested.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19975" y="2964026"/>
            <a:ext cx="17463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19975" y="3131666"/>
            <a:ext cx="153622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'Portable Integrated Solar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19975" y="3299306"/>
            <a:ext cx="10636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Generators' loses</a:t>
            </a:r>
          </a:p>
        </p:txBody>
      </p:sp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1676" y="3289527"/>
            <a:ext cx="128699" cy="18719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599172" y="3299306"/>
            <a:ext cx="78152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 of share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19975" y="3466946"/>
            <a:ext cx="15798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to 'Portable Modular Solar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19975" y="3634586"/>
            <a:ext cx="89093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Generators' (+</a:t>
            </a:r>
          </a:p>
        </p:txBody>
      </p:sp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961" y="3624807"/>
            <a:ext cx="128699" cy="18719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426457" y="3634586"/>
            <a:ext cx="81480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BPS) by 2036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19975" y="3802226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substitution is visible inside the mix.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19975" y="4268895"/>
            <a:ext cx="1550384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▸ The slowest line grows at</a:t>
            </a:r>
          </a:p>
        </p:txBody>
      </p:sp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440" y="4259507"/>
            <a:ext cx="123551" cy="17971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9078236" y="4268895"/>
            <a:ext cx="181236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, -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555" y="4259507"/>
            <a:ext cx="123551" cy="17971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7419975" y="4429829"/>
            <a:ext cx="1368861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0">
                <a:solidFill>
                  <a:srgbClr val="2E2E2E"/>
                </a:solidFill>
                <a:latin typeface="Calibri"/>
              </a:rPr>
              <a:t>BPS against the market.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19975" y="4767051"/>
            <a:ext cx="12543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Realisation moving</a:t>
            </a:r>
          </a:p>
        </p:txBody>
      </p:sp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399" y="4757272"/>
            <a:ext cx="128699" cy="18719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8789895" y="4767051"/>
            <a:ext cx="42326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 year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19975" y="4934691"/>
            <a:ext cx="19113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widens the price gap substitutes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19975" y="5102331"/>
            <a:ext cx="71876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must close.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01225" y="2848734"/>
            <a:ext cx="19891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Assessed moderate to high. The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801225" y="3016374"/>
            <a:ext cx="100334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market grows at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2626" y="3006595"/>
            <a:ext cx="128699" cy="187198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0920122" y="3016374"/>
            <a:ext cx="9405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CAGR and adds</a:t>
            </a:r>
          </a:p>
        </p:txBody>
      </p:sp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757" y="3174235"/>
            <a:ext cx="128699" cy="187198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9955253" y="3184014"/>
            <a:ext cx="16298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US$ Mn by 2036, attracting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801225" y="3351654"/>
            <a:ext cx="4134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entry.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801225" y="3708336"/>
            <a:ext cx="197142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Demand spreads over 7 regions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801225" y="3875976"/>
            <a:ext cx="149311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with no single one above</a:t>
            </a:r>
          </a:p>
        </p:txBody>
      </p:sp>
      <p:pic>
        <p:nvPicPr>
          <p:cNvPr id="130" name="Picture 1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394" y="3866197"/>
            <a:ext cx="128699" cy="187198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11409890" y="3875976"/>
            <a:ext cx="27101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, so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801225" y="4043616"/>
            <a:ext cx="149857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regional entry is feasible.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801225" y="4496131"/>
            <a:ext cx="211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▸ Incumbent scale in 'North America'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801225" y="4663771"/>
            <a:ext cx="16729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and 'Portable Modular Solar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801225" y="4831411"/>
            <a:ext cx="82135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Generators' (</a:t>
            </a:r>
          </a:p>
        </p:txBody>
      </p:sp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634" y="4821632"/>
            <a:ext cx="128699" cy="187198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10738130" y="4831411"/>
            <a:ext cx="7577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of segment)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801225" y="4999051"/>
            <a:ext cx="17335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remains the principal barrier.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MI Section Break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63"/>
              </a:gs>
              <a:gs pos="100000">
                <a:srgbClr val="0F3F8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9064" y="525547"/>
            <a:ext cx="1340395" cy="82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00375"/>
            <a:ext cx="72390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0">
                <a:solidFill>
                  <a:srgbClr val="8FC8F2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6" name="FMI Breaker Title"/>
          <p:cNvSpPr txBox="1"/>
          <p:nvPr/>
        </p:nvSpPr>
        <p:spPr>
          <a:xfrm>
            <a:off x="914400" y="3305175"/>
            <a:ext cx="72390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 cap="all" spc="400">
                <a:solidFill>
                  <a:srgbClr val="FFFFFF"/>
                </a:solidFill>
                <a:latin typeface="Calibri"/>
              </a:rPr>
              <a:t>Competition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10025"/>
            <a:ext cx="71247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Competitive Landscape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Market Share by Leading Players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FFD447"/>
                </a:solidFill>
                <a:latin typeface="Calibri"/>
              </a:rPr>
              <a:t>➤	</a:t>
            </a:r>
            <a:r>
              <a:rPr sz="2000" b="0">
                <a:solidFill>
                  <a:srgbClr val="FFD447"/>
                </a:solidFill>
                <a:latin typeface="Calibri"/>
              </a:rPr>
              <a:t>Company Profiles &amp; Strategic Benchmarking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34175"/>
            <a:ext cx="8020050" cy="123825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r"/>
            <a:r>
              <a:rPr sz="700" b="0">
                <a:solidFill>
                  <a:srgbClr val="C9DCEE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16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Market Share by Leading Players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Advice for Vendors &amp; Suppliers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Value Share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Share by Product Type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Company Share by Region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Who Shaped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Advice for Market Vendors / Suppliers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Strategic advice for vendors and suppliers on pricing, product, geography, channel and competitive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Strategic advice for vendors and suppliers where to compete, how to price, and which risks to manage across the Residential Solar Generator Market.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54081"/>
            <a:ext cx="5857875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225" y="1439806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Pricing &amp; Margin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225" y="1677931"/>
            <a:ext cx="559117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225" y="1763656"/>
            <a:ext cx="5591175" cy="2115377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250" y="1354081"/>
            <a:ext cx="5857875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600" y="1439806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Product &amp; Innovation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600" y="1677931"/>
            <a:ext cx="559117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600" y="1763656"/>
            <a:ext cx="5591175" cy="2115377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4046502"/>
            <a:ext cx="5857875" cy="2509883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132227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Geographic &amp; Channel Expansion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4370352"/>
            <a:ext cx="559117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4456077"/>
            <a:ext cx="5591175" cy="202410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Expand selectively into under-penetrated regions where the leaders are thin, rather than head-on in saturated markets.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Balance retail, hospital/clinic and online channels online is the fastest-shifting route to end customers.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Build reliable distribution and logistics partnerships to convert demand into fulfilled volume.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1250" y="4046502"/>
            <a:ext cx="5857875" cy="2509883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600" y="4132227"/>
            <a:ext cx="5591175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Competitive &amp; Risk Positioning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4600" y="4370352"/>
            <a:ext cx="5591175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600" y="4456077"/>
            <a:ext cx="5591175" cy="202410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225" y="1773181"/>
            <a:ext cx="323538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Hold price discipline: with the top three players at ~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65" y="1762957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35875" y="1773181"/>
            <a:ext cx="18598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share, avoid value-destructive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1948441"/>
            <a:ext cx="36467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discounting compete on mix and service, not headline price.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2176279"/>
            <a:ext cx="557212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Premiumise toward higher-value formulations (e.g. 'Portable Modular Solar Generators') 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225" y="2351539"/>
            <a:ext cx="34193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lift blended ASP and defend margin as input costs move.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225" y="2579377"/>
            <a:ext cx="48162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Set transparent, corridor-based regional pricing to limit grey-market arbitrage.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600" y="1773181"/>
            <a:ext cx="549545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Prioritise R&amp;D in the fastest-growing formulations a differentiated portfolio is the clearest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4600" y="1948441"/>
            <a:ext cx="16605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route to out-growing the ~</a:t>
            </a:r>
          </a:p>
        </p:txBody>
      </p:sp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254" y="1938217"/>
            <a:ext cx="134549" cy="195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109363" y="1948441"/>
            <a:ext cx="9057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market CAGR.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4600" y="2176279"/>
            <a:ext cx="53839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Pursue certification and clinical validation to build switching costs and support premium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4600" y="2351539"/>
            <a:ext cx="77307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positioning.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4600" y="2579377"/>
            <a:ext cx="393140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Localise formats and pack sizes to each channel and geography.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4600" y="4465602"/>
            <a:ext cx="26825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Benchmark relentlessly against 'Jackery' (~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318" y="4455378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31428" y="4465602"/>
            <a:ext cx="22195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share) match on service and lead 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600" y="4640861"/>
            <a:ext cx="156037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innovation to take share.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4600" y="4868699"/>
            <a:ext cx="545551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Diversify the customer base to cut dependence on a few large accounts and single-region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4600" y="5043959"/>
            <a:ext cx="6604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exposure.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4600" y="5271797"/>
            <a:ext cx="523016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Stress-test for regulatory, currency and supply shocks; keep flexible capacity and dual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4600" y="5447057"/>
            <a:ext cx="6159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sourcing.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Company Value Share (Global)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value share by company in the global market, 2025, highlighting leadership and the long tail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Target market value share by key companies leadership, concentration and how the competitive mix shifts by region.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54081"/>
            <a:ext cx="754380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411231"/>
            <a:ext cx="73533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Global Value Share by Key Company (US$ Mn, 2026)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639831"/>
          <a:ext cx="7353300" cy="487765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049780" y="3878635"/>
            <a:ext cx="152400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  <a:p>
            <a:pPr algn="ctr"/>
            <a:r>
              <a:rPr sz="13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0975" y="1354081"/>
            <a:ext cx="4248150" cy="5220558"/>
          </a:xfrm>
          <a:prstGeom prst="roundRect">
            <a:avLst>
              <a:gd name="adj" fmla="val 179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4325" y="1439806"/>
            <a:ext cx="39814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34325" y="1677931"/>
            <a:ext cx="39814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4325" y="1763656"/>
            <a:ext cx="3981450" cy="4734783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173" y="3678610"/>
            <a:ext cx="523875" cy="76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634865" y="3914616"/>
            <a:ext cx="430029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2E2E2E"/>
                </a:solidFill>
                <a:latin typeface="Calibri"/>
              </a:rPr>
              <a:t>100% =</a:t>
            </a:r>
          </a:p>
        </p:txBody>
      </p:sp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344" y="4091735"/>
            <a:ext cx="109510" cy="1592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82868" y="4100056"/>
            <a:ext cx="465087" cy="161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35" b="1">
                <a:solidFill>
                  <a:srgbClr val="2E2E2E"/>
                </a:solidFill>
                <a:latin typeface="Calibri"/>
              </a:rPr>
              <a:t>US$ 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4325" y="1773181"/>
            <a:ext cx="383898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Jackery accounted for the largest share of the global residential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4325" y="1948441"/>
            <a:ext cx="35845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solar generator market in 2026. The global residential solar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4325" y="2123701"/>
            <a:ext cx="359680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generator market is fragmented, with the top three players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4325" y="2298961"/>
            <a:ext cx="174465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accounting for an estimated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29" y="2288737"/>
            <a:ext cx="134549" cy="1957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03238" y="2298961"/>
            <a:ext cx="17589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of the market in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4325" y="2526799"/>
            <a:ext cx="21828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Jackery accounted for an estimated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6279" y="2516575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41388" y="2526799"/>
            <a:ext cx="12853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share of the market,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4325" y="2702058"/>
            <a:ext cx="159429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followed by EcoFlow with</a:t>
            </a:r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7769" y="2691835"/>
            <a:ext cx="134549" cy="195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52878" y="2702058"/>
            <a:ext cx="17642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 Key players are focusing 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4325" y="2877318"/>
            <a:ext cx="338143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product innovation, geographic expansion and strategic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4325" y="3052578"/>
            <a:ext cx="299377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partnerships to strengthen their market position.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4325" y="3280416"/>
            <a:ext cx="36478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Regional share differs from the global picture use the region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4325" y="3455676"/>
            <a:ext cx="34447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selector to see how leadership shifts across geographies.</a:t>
            </a:r>
          </a:p>
        </p:txBody>
      </p:sp>
      <p:sp>
        <p:nvSpPr>
          <p:cNvPr id="40" name="lockshield_13"/>
          <p:cNvSpPr/>
          <p:nvPr/>
        </p:nvSpPr>
        <p:spPr>
          <a:xfrm>
            <a:off x="238125" y="1639831"/>
            <a:ext cx="7353300" cy="4877658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Company Share by Product Type (Top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company value share within each leading type, highlighting where leadership differs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Company value share within each of the leading product types where each player concentrates, and how leadership varies by formulation.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Portable Modular Solar Generators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12432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957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Portable Integrated Solar Generators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21957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8105775" y="1299320"/>
            <a:ext cx="39433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1025" y="1356470"/>
            <a:ext cx="3752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Fixed Residential Solar Power Generator Systems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201025" y="1585070"/>
          <a:ext cx="3752850" cy="2869751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142875" y="4603240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225" y="468896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Company Share Key Takeaways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225" y="492709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225" y="5012815"/>
            <a:ext cx="11639550" cy="1485624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011" y="2619895"/>
            <a:ext cx="523875" cy="7620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461" y="2619895"/>
            <a:ext cx="523875" cy="7620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916" y="2619895"/>
            <a:ext cx="523875" cy="762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76225" y="5022340"/>
            <a:ext cx="34165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Portable Modular Solar Generators: 'Jackery' leads at ~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1902" y="5012116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17011" y="5022340"/>
            <a:ext cx="14091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'PECRON' (~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330" y="5012116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350439" y="5022340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5108" y="5012116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60218" y="5022340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5673" y="5012116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90783" y="5022340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6225" y="5250177"/>
            <a:ext cx="358078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Portable Integrated Solar Generators: 'BLUETTI' leads at ~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6159" y="5239954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981268" y="5250177"/>
            <a:ext cx="14063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'EcoFlow' (~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6730" y="5239954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11839" y="5250177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6509" y="5239954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21618" y="5250177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4" y="5239954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752183" y="5250177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5478015"/>
            <a:ext cx="424518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Fixed Residential Solar Power Generator Systems: 'Jackery' leads at ~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564" y="5467792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645674" y="5478015"/>
            <a:ext cx="14063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'EcoFlow' (~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1135" y="5467792"/>
            <a:ext cx="134549" cy="1957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176245" y="5478015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0914" y="5467792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686023" y="5478015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1479" y="5467792"/>
            <a:ext cx="134549" cy="19570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416588" y="5478015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6225" y="5705853"/>
            <a:ext cx="890851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Leadership shifts across formulations a strong position in one product type does not carry over to the others, so product-level targeting is essential.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225" y="5933691"/>
            <a:ext cx="72189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Note: competitor figures are indicative derived from market modelling and expert validation, not company disclosures.</a:t>
            </a:r>
          </a:p>
        </p:txBody>
      </p:sp>
      <p:sp>
        <p:nvSpPr>
          <p:cNvPr id="57" name="lockshield_13"/>
          <p:cNvSpPr/>
          <p:nvPr/>
        </p:nvSpPr>
        <p:spPr>
          <a:xfrm>
            <a:off x="23812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ockshield_16"/>
          <p:cNvSpPr/>
          <p:nvPr/>
        </p:nvSpPr>
        <p:spPr>
          <a:xfrm>
            <a:off x="421957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ockshield_19"/>
          <p:cNvSpPr/>
          <p:nvPr/>
        </p:nvSpPr>
        <p:spPr>
          <a:xfrm>
            <a:off x="8201025" y="1585070"/>
            <a:ext cx="37528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Company Share by Region (Top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Company value share within the largest regions, highlighting where leadership shifts across geographies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Company value share within each of the largest regions where each player concentrates, and how leadership varies by geography.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124325" y="1299320"/>
            <a:ext cx="38290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9575" y="1356470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219575" y="1585070"/>
          <a:ext cx="3638550" cy="286975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8105775" y="1299320"/>
            <a:ext cx="3943350" cy="3212651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1025" y="1356470"/>
            <a:ext cx="3752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201025" y="1585070"/>
          <a:ext cx="3752850" cy="2869751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142875" y="4603240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225" y="468896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Company Share Key Takeaways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225" y="492709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225" y="5012815"/>
            <a:ext cx="11639550" cy="1485624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011" y="2619895"/>
            <a:ext cx="523875" cy="7620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461" y="2619895"/>
            <a:ext cx="523875" cy="7620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916" y="2619895"/>
            <a:ext cx="523875" cy="762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76225" y="5022340"/>
            <a:ext cx="220504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North America: 'Jackery' leads at ~</a:t>
            </a:r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0428" y="5012116"/>
            <a:ext cx="134549" cy="1957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05538" y="5022340"/>
            <a:ext cx="140630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'EcoFlow' (~</a:t>
            </a:r>
          </a:p>
        </p:txBody>
      </p:sp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0999" y="5012116"/>
            <a:ext cx="134549" cy="1957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36109" y="5022340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0778" y="5012116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45887" y="5022340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1343" y="5012116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76452" y="5022340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6225" y="5250177"/>
            <a:ext cx="250485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South Asia &amp; Pacific: 'Jackery' leads at ~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0230" y="5239954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905339" y="5250177"/>
            <a:ext cx="139944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'BLUETTI' (~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3937" y="5239954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429047" y="5250177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3716" y="5239954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938825" y="5250177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4281" y="5239954"/>
            <a:ext cx="134549" cy="1957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669390" y="5250177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25" y="5478015"/>
            <a:ext cx="185871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East Asia: 'Jackery' leads at ~</a:t>
            </a:r>
          </a:p>
        </p:txBody>
      </p:sp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4094" y="5467792"/>
            <a:ext cx="134549" cy="1957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259204" y="5478015"/>
            <a:ext cx="14091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, ahead of 'PECRON' (~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7522" y="5467792"/>
            <a:ext cx="134549" cy="1957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792632" y="5478015"/>
            <a:ext cx="13855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); the top three hold ~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301" y="5467792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302410" y="5478015"/>
            <a:ext cx="16063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and a long tail ('Others') ~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7866" y="5467792"/>
            <a:ext cx="134549" cy="19570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032975" y="5478015"/>
            <a:ext cx="112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6225" y="5705853"/>
            <a:ext cx="970580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Leadership is not uniform across geographies a strong position in one region does not carry over to the others, so region-level go-to-market planning is essential.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225" y="5933691"/>
            <a:ext cx="721895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Note: competitor figures are indicative derived from market modelling and expert validation, not company disclosures.</a:t>
            </a:r>
          </a:p>
        </p:txBody>
      </p:sp>
      <p:sp>
        <p:nvSpPr>
          <p:cNvPr id="57" name="lockshield_13"/>
          <p:cNvSpPr/>
          <p:nvPr/>
        </p:nvSpPr>
        <p:spPr>
          <a:xfrm>
            <a:off x="23812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ockshield_16"/>
          <p:cNvSpPr/>
          <p:nvPr/>
        </p:nvSpPr>
        <p:spPr>
          <a:xfrm>
            <a:off x="4219575" y="1585070"/>
            <a:ext cx="36385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ockshield_19"/>
          <p:cNvSpPr/>
          <p:nvPr/>
        </p:nvSpPr>
        <p:spPr>
          <a:xfrm>
            <a:off x="8201025" y="1585070"/>
            <a:ext cx="3752850" cy="28697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Who Shaped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Ranking of the players that shaped growth, by value share, growth role and signature 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" y="970754"/>
            <a:ext cx="1190625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A framework to identify the companies that most influenced annual Residential Solar Generator Market growth, ranked by growth-shaping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9500" y="1189798"/>
            <a:ext cx="4953000" cy="419835"/>
          </a:xfrm>
          <a:prstGeom prst="roundRect">
            <a:avLst>
              <a:gd name="adj" fmla="val 1538"/>
            </a:avLst>
          </a:prstGeom>
          <a:solidFill>
            <a:srgbClr val="F4F8FB"/>
          </a:solidFill>
          <a:ln w="12700">
            <a:solidFill>
              <a:srgbClr val="CF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3800" y="1226305"/>
            <a:ext cx="47244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RANKED BY GROWTH-SHAPING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800" y="1399716"/>
            <a:ext cx="47244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Ranked by overall contribution to category growth, not share alone.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8625" y="1399716"/>
            <a:ext cx="3019425" cy="0"/>
          </a:xfrm>
          <a:prstGeom prst="line">
            <a:avLst/>
          </a:prstGeom>
          <a:ln w="12700">
            <a:solidFill>
              <a:srgbClr val="C4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43950" y="1399716"/>
            <a:ext cx="3019425" cy="0"/>
          </a:xfrm>
          <a:prstGeom prst="line">
            <a:avLst/>
          </a:prstGeom>
          <a:ln w="12700">
            <a:solidFill>
              <a:srgbClr val="C4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23875" y="1792170"/>
            <a:ext cx="11106150" cy="0"/>
          </a:xfrm>
          <a:prstGeom prst="line">
            <a:avLst/>
          </a:prstGeom>
          <a:ln w="25400">
            <a:solidFill>
              <a:srgbClr val="0B2E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11630025" y="1728282"/>
            <a:ext cx="171450" cy="127776"/>
          </a:xfrm>
          <a:custGeom>
            <a:avLst/>
            <a:gdLst/>
            <a:ahLst/>
            <a:cxnLst/>
            <a:rect l="l" t="t" r="r" b="b"/>
            <a:pathLst>
              <a:path w="18" h="14">
                <a:moveTo>
                  <a:pt x="0" y="0"/>
                </a:moveTo>
                <a:lnTo>
                  <a:pt x="18" y="7"/>
                </a:lnTo>
                <a:lnTo>
                  <a:pt x="0" y="14"/>
                </a:lnTo>
                <a:close/>
              </a:path>
            </a:pathLst>
          </a:cu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2525" y="1655267"/>
            <a:ext cx="285750" cy="273805"/>
          </a:xfrm>
          <a:prstGeom prst="ellipse">
            <a:avLst/>
          </a:prstGeom>
          <a:solidFill>
            <a:srgbClr val="0E72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5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8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28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0E72AE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1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71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8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Jackery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6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81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81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6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6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Market leader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81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81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6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6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Expanded reach across its core segment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81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381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6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86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New launch</a:t>
            </a:r>
          </a:p>
        </p:txBody>
      </p:sp>
      <p:sp>
        <p:nvSpPr>
          <p:cNvPr id="39" name="Oval 38"/>
          <p:cNvSpPr/>
          <p:nvPr/>
        </p:nvSpPr>
        <p:spPr>
          <a:xfrm>
            <a:off x="3552825" y="1655267"/>
            <a:ext cx="285750" cy="273805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528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431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5431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A35313"/>
          </a:solidFill>
          <a:ln w="1270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6574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74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41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EcoFlow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384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289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6384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6384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289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289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A35313"/>
                </a:solidFill>
                <a:latin typeface="Calibri"/>
              </a:rPr>
              <a:t>Portfolio expander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6384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6384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289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289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Drove new customer adoption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6384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6384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289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289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Channel expansion</a:t>
            </a:r>
          </a:p>
        </p:txBody>
      </p:sp>
      <p:sp>
        <p:nvSpPr>
          <p:cNvPr id="60" name="Oval 59"/>
          <p:cNvSpPr/>
          <p:nvPr/>
        </p:nvSpPr>
        <p:spPr>
          <a:xfrm>
            <a:off x="5953125" y="1655267"/>
            <a:ext cx="285750" cy="273805"/>
          </a:xfrm>
          <a:prstGeom prst="ellipse">
            <a:avLst/>
          </a:prstGeom>
          <a:solidFill>
            <a:srgbClr val="69B1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531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434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9434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69B1E0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0577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577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244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BLUETTI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387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292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0387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0387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292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292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69B1E0"/>
                </a:solidFill>
                <a:latin typeface="Calibri"/>
              </a:rPr>
              <a:t>Access builder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0387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0387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292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292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Won through wider channel availability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0387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0387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292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292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Pricing strategy</a:t>
            </a:r>
          </a:p>
        </p:txBody>
      </p:sp>
      <p:sp>
        <p:nvSpPr>
          <p:cNvPr id="81" name="Oval 80"/>
          <p:cNvSpPr/>
          <p:nvPr/>
        </p:nvSpPr>
        <p:spPr>
          <a:xfrm>
            <a:off x="8353425" y="1655267"/>
            <a:ext cx="285750" cy="273805"/>
          </a:xfrm>
          <a:prstGeom prst="ellipse">
            <a:avLst/>
          </a:prstGeom>
          <a:solidFill>
            <a:srgbClr val="6F3CC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534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437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3437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6F3CC2"/>
          </a:solidFill>
          <a:ln w="1270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4580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580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💎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247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PECRON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390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295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4390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4390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295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295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6F3CC2"/>
                </a:solidFill>
                <a:latin typeface="Calibri"/>
              </a:rPr>
              <a:t>Premiumiser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4390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74390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295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295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Supported premium SKU growth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74390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4390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295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295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Portfolio/brand investment</a:t>
            </a:r>
          </a:p>
        </p:txBody>
      </p:sp>
      <p:sp>
        <p:nvSpPr>
          <p:cNvPr id="102" name="Oval 101"/>
          <p:cNvSpPr/>
          <p:nvPr/>
        </p:nvSpPr>
        <p:spPr>
          <a:xfrm>
            <a:off x="10753725" y="1655267"/>
            <a:ext cx="285750" cy="273805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753725" y="1710028"/>
            <a:ext cx="2857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744075" y="1992961"/>
            <a:ext cx="2305050" cy="2135683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2032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744075" y="1992961"/>
            <a:ext cx="2305050" cy="310313"/>
          </a:xfrm>
          <a:prstGeom prst="roundRect">
            <a:avLst>
              <a:gd name="adj" fmla="val 3719"/>
            </a:avLst>
          </a:prstGeom>
          <a:solidFill>
            <a:srgbClr val="A86F00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858375" y="2038595"/>
            <a:ext cx="228600" cy="2190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858375" y="2065976"/>
            <a:ext cx="22860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⚡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25075" y="2065976"/>
            <a:ext cx="1828800" cy="17341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Goal Zero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39325" y="2376288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29825" y="2376288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/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9839325" y="2595333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9839325" y="272310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👤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029825" y="2640967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Growth role: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29825" y="2805250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A86F00"/>
                </a:solidFill>
                <a:latin typeface="Calibri"/>
              </a:rPr>
              <a:t>Disruptor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9839325" y="3015168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9839325" y="3124690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🎯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29825" y="306080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Why it shaped growth: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029825" y="3225085"/>
            <a:ext cx="1924050" cy="383328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Strengthened end-user and specifier pull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9839325" y="3654047"/>
            <a:ext cx="2114550" cy="0"/>
          </a:xfrm>
          <a:prstGeom prst="line">
            <a:avLst/>
          </a:prstGeom>
          <a:ln w="12700">
            <a:solidFill>
              <a:srgbClr val="E4EAE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9839325" y="376356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🚀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29825" y="3699682"/>
            <a:ext cx="19240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Signature move: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29825" y="3863965"/>
            <a:ext cx="192405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Partnership / acquisition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42875" y="4238166"/>
            <a:ext cx="7886700" cy="2391234"/>
          </a:xfrm>
          <a:prstGeom prst="roundRect">
            <a:avLst>
              <a:gd name="adj" fmla="val 1086"/>
            </a:avLst>
          </a:prstGeom>
          <a:solidFill>
            <a:srgbClr val="F7FAFC"/>
          </a:solidFill>
          <a:ln w="12700">
            <a:solidFill>
              <a:srgbClr val="DC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42875" y="4311180"/>
            <a:ext cx="7886700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HOW TO DECIDE WHO SHAPED GROWTH</a:t>
            </a:r>
          </a:p>
        </p:txBody>
      </p:sp>
      <p:sp>
        <p:nvSpPr>
          <p:cNvPr id="125" name="Oval 124"/>
          <p:cNvSpPr/>
          <p:nvPr/>
        </p:nvSpPr>
        <p:spPr>
          <a:xfrm>
            <a:off x="81534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534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📊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622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E72AE"/>
                </a:solidFill>
                <a:latin typeface="Calibri"/>
              </a:rPr>
              <a:t>1. SHARE GAIN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622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Company gained value or volume share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2006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0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2006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72AE"/>
                </a:solidFill>
                <a:latin typeface="Calibri"/>
              </a:rPr>
              <a:t> 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5450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32" name="Oval 131"/>
          <p:cNvSpPr/>
          <p:nvPr/>
        </p:nvSpPr>
        <p:spPr>
          <a:xfrm>
            <a:off x="235077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35077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🏪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81165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A35313"/>
                </a:solidFill>
                <a:latin typeface="Calibri"/>
              </a:rPr>
              <a:t>2. DISTRIBUTION EXPANSION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1165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Expanded channel, retail or e-commerce reach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05549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A35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05549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A35313"/>
                </a:solidFill>
                <a:latin typeface="Calibri"/>
              </a:rPr>
              <a:t> 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8993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39" name="Oval 138"/>
          <p:cNvSpPr/>
          <p:nvPr/>
        </p:nvSpPr>
        <p:spPr>
          <a:xfrm>
            <a:off x="388620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88620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💡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4708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9B1E0"/>
                </a:solidFill>
                <a:latin typeface="Calibri"/>
              </a:rPr>
              <a:t>3. INNOVATION / LAUNCHES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34708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New SKUs, pack sizes or product improvements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59092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59092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9B1E0"/>
                </a:solidFill>
                <a:latin typeface="Calibri"/>
              </a:rPr>
              <a:t> 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82536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46" name="Oval 145"/>
          <p:cNvSpPr/>
          <p:nvPr/>
        </p:nvSpPr>
        <p:spPr>
          <a:xfrm>
            <a:off x="542163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42163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🤝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8251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F3CC2"/>
                </a:solidFill>
                <a:latin typeface="Calibri"/>
              </a:rPr>
              <a:t>4. BUYER INFLUENCE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88251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Stronger specifier, channel or end-user pull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12635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6F3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12635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6F3CC2"/>
                </a:solidFill>
                <a:latin typeface="Calibri"/>
              </a:rPr>
              <a:t> 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60795" y="4648874"/>
            <a:ext cx="571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C7A89"/>
                </a:solidFill>
                <a:latin typeface="Calibri"/>
              </a:rPr>
              <a:t>+</a:t>
            </a:r>
          </a:p>
        </p:txBody>
      </p:sp>
      <p:sp>
        <p:nvSpPr>
          <p:cNvPr id="153" name="Oval 152"/>
          <p:cNvSpPr/>
          <p:nvPr/>
        </p:nvSpPr>
        <p:spPr>
          <a:xfrm>
            <a:off x="6957060" y="4539352"/>
            <a:ext cx="400050" cy="383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957060" y="4630620"/>
            <a:ext cx="400050" cy="200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2E2E2E"/>
                </a:solidFill>
                <a:latin typeface="Calibri"/>
              </a:rPr>
              <a:t>💲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17945" y="4968314"/>
            <a:ext cx="1478280" cy="34682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A86F00"/>
                </a:solidFill>
                <a:latin typeface="Calibri"/>
              </a:rPr>
              <a:t>5. BRAND / PRICING POWER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417945" y="5333387"/>
            <a:ext cx="1478280" cy="60237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Premiumisation, positioning or pricing execution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661785" y="6027028"/>
            <a:ext cx="990600" cy="23729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661785" y="6036155"/>
            <a:ext cx="990600" cy="219044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A86F00"/>
                </a:solidFill>
                <a:latin typeface="Calibri"/>
              </a:rPr>
              <a:t> 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191500" y="4238166"/>
            <a:ext cx="3857625" cy="2391234"/>
          </a:xfrm>
          <a:prstGeom prst="roundRect">
            <a:avLst>
              <a:gd name="adj" fmla="val 2222"/>
            </a:avLst>
          </a:prstGeom>
          <a:solidFill>
            <a:srgbClr val="F4FAF9"/>
          </a:solidFill>
          <a:ln w="12700">
            <a:solidFill>
              <a:srgbClr val="CF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191500" y="4311180"/>
            <a:ext cx="38576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6F63"/>
                </a:solidFill>
                <a:latin typeface="Calibri"/>
              </a:rPr>
              <a:t>BEST WAY TO USE THIS SLIDE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8343900" y="4548478"/>
            <a:ext cx="3552825" cy="0"/>
          </a:xfrm>
          <a:prstGeom prst="line">
            <a:avLst/>
          </a:prstGeom>
          <a:ln w="12700">
            <a:solidFill>
              <a:srgbClr val="CFE3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8372475" y="4721889"/>
            <a:ext cx="285750" cy="2738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372475" y="4767523"/>
            <a:ext cx="285750" cy="1825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E2E2E"/>
                </a:solidFill>
                <a:latin typeface="Calibri"/>
              </a:rPr>
              <a:t>📈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743950" y="4694508"/>
            <a:ext cx="3152775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Rank companies by impact on category growth</a:t>
            </a:r>
          </a:p>
        </p:txBody>
      </p:sp>
      <p:sp>
        <p:nvSpPr>
          <p:cNvPr id="165" name="Oval 164"/>
          <p:cNvSpPr/>
          <p:nvPr/>
        </p:nvSpPr>
        <p:spPr>
          <a:xfrm>
            <a:off x="8372475" y="5360768"/>
            <a:ext cx="285750" cy="2738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372475" y="5406402"/>
            <a:ext cx="285750" cy="1825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E2E2E"/>
                </a:solidFill>
                <a:latin typeface="Calibri"/>
              </a:rPr>
              <a:t>📄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43950" y="5333387"/>
            <a:ext cx="3152775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Mention the one move that explains their impact</a:t>
            </a:r>
          </a:p>
        </p:txBody>
      </p:sp>
      <p:sp>
        <p:nvSpPr>
          <p:cNvPr id="168" name="Oval 167"/>
          <p:cNvSpPr/>
          <p:nvPr/>
        </p:nvSpPr>
        <p:spPr>
          <a:xfrm>
            <a:off x="8372475" y="5999647"/>
            <a:ext cx="285750" cy="2738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372475" y="6045282"/>
            <a:ext cx="285750" cy="1825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E2E2E"/>
                </a:solidFill>
                <a:latin typeface="Calibri"/>
              </a:rPr>
              <a:t>🚫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743950" y="5972267"/>
            <a:ext cx="3152775" cy="401581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Do not rely on market share alone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72" name="Picture 1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15" y="6052078"/>
            <a:ext cx="128699" cy="187198"/>
          </a:xfrm>
          <a:prstGeom prst="rect">
            <a:avLst/>
          </a:prstGeom>
        </p:spPr>
      </p:pic>
      <p:pic>
        <p:nvPicPr>
          <p:cNvPr id="173" name="Picture 1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445" y="6052078"/>
            <a:ext cx="128699" cy="187198"/>
          </a:xfrm>
          <a:prstGeom prst="rect">
            <a:avLst/>
          </a:prstGeom>
        </p:spPr>
      </p:pic>
      <p:pic>
        <p:nvPicPr>
          <p:cNvPr id="174" name="Picture 1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875" y="6052078"/>
            <a:ext cx="128699" cy="187198"/>
          </a:xfrm>
          <a:prstGeom prst="rect">
            <a:avLst/>
          </a:prstGeom>
        </p:spPr>
      </p:pic>
      <p:pic>
        <p:nvPicPr>
          <p:cNvPr id="175" name="Picture 1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305" y="6052078"/>
            <a:ext cx="128699" cy="187198"/>
          </a:xfrm>
          <a:prstGeom prst="rect">
            <a:avLst/>
          </a:prstGeom>
        </p:spPr>
      </p:pic>
      <p:pic>
        <p:nvPicPr>
          <p:cNvPr id="176" name="Picture 1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735" y="6052078"/>
            <a:ext cx="128699" cy="187198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4572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78" name="Picture 1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083" y="2391038"/>
            <a:ext cx="92663" cy="134782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28575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80" name="Picture 1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383" y="2391038"/>
            <a:ext cx="92663" cy="134782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52578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82" name="Picture 1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683" y="2391038"/>
            <a:ext cx="92663" cy="134782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76581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84" name="Picture 1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983" y="2391038"/>
            <a:ext cx="92663" cy="134782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10058400" y="2398079"/>
            <a:ext cx="595622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2E2E2E"/>
                </a:solidFill>
                <a:latin typeface="Calibri"/>
              </a:rPr>
              <a:t>Value share:</a:t>
            </a:r>
          </a:p>
        </p:txBody>
      </p:sp>
      <p:pic>
        <p:nvPicPr>
          <p:cNvPr id="186" name="Picture 1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5283" y="2391038"/>
            <a:ext cx="92663" cy="134782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17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590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7019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Company Profiles &amp; Strategic Benchmarking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7725"/>
            <a:ext cx="8458200" cy="2063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Jackery Snapshot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Jackery Penetration &amp; Win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Jackery SWOT Analysis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Jackery Key Financials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Jackery Strategy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Jackery Executive Market Snapshot (1/5)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Overview of total market, addressable opportunity and share of market by end-market, region and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Executive snapshot and strategic positioning Jackery: market, addressable opportunity and SOM splits by end-market, region and 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TAM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Total market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3175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SAM (US$ MN)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Addressable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0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/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3300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BOOK-TO-BILL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Order momentum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3125" y="1335828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EBITDA MARGIN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Profitability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75" y="2065976"/>
            <a:ext cx="3829050" cy="2610279"/>
          </a:xfrm>
          <a:prstGeom prst="roundRect">
            <a:avLst>
              <a:gd name="adj" fmla="val 29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125" y="2123126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by End-Market (US$ Mn)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38125" y="2351726"/>
          <a:ext cx="3638550" cy="22673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124325" y="2065976"/>
            <a:ext cx="3829050" cy="2610279"/>
          </a:xfrm>
          <a:prstGeom prst="roundRect">
            <a:avLst>
              <a:gd name="adj" fmla="val 29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9575" y="2123126"/>
            <a:ext cx="3638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by Region (US$ Mn)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219575" y="2351726"/>
          <a:ext cx="3638550" cy="226737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105775" y="2065976"/>
            <a:ext cx="3943350" cy="2610279"/>
          </a:xfrm>
          <a:prstGeom prst="roundRect">
            <a:avLst>
              <a:gd name="adj" fmla="val 291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1025" y="2123126"/>
            <a:ext cx="3752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by Product Line (US$ Mn)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8201025" y="2351726"/>
          <a:ext cx="3752850" cy="2267379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142875" y="4785777"/>
            <a:ext cx="11906250" cy="1807116"/>
          </a:xfrm>
          <a:prstGeom prst="roundRect">
            <a:avLst>
              <a:gd name="adj" fmla="val 421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225" y="4871502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6225" y="5109627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225" y="5195352"/>
            <a:ext cx="11639550" cy="1321341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531" y="1522714"/>
            <a:ext cx="157162" cy="228600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831" y="1522714"/>
            <a:ext cx="157162" cy="228600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956" y="1522714"/>
            <a:ext cx="157162" cy="228600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2781" y="1522714"/>
            <a:ext cx="157162" cy="228600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4623" y="3299104"/>
            <a:ext cx="197242" cy="286897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073" y="3299104"/>
            <a:ext cx="197242" cy="286897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8088" y="3145920"/>
            <a:ext cx="444576" cy="64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758516" y="1377568"/>
            <a:ext cx="741641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1">
                <a:solidFill>
                  <a:srgbClr val="6C7A89"/>
                </a:solidFill>
                <a:latin typeface="Calibri"/>
              </a:rPr>
              <a:t>SOM (US$ MN)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7010" y="1533061"/>
            <a:ext cx="133378" cy="194005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05" y="1761621"/>
            <a:ext cx="97811" cy="14227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993102" y="1769053"/>
            <a:ext cx="389531" cy="146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5" b="0">
                <a:solidFill>
                  <a:srgbClr val="6C7A89"/>
                </a:solidFill>
                <a:latin typeface="Calibri"/>
              </a:rPr>
              <a:t>of SAM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225" y="5204877"/>
            <a:ext cx="22689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Market Position: Jackery captures ~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4325" y="5194653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669434" y="5204877"/>
            <a:ext cx="512690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of a US$ Mn SAM, with its strongest end-market in 'Supplemental Household Power'.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225" y="5432715"/>
            <a:ext cx="735844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Geographic Balance: 'North America' is the largest SOM region; 'Rest of the World' shows the highest SAM penetration (~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825" y="5422491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758935" y="5432715"/>
            <a:ext cx="15721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5660552"/>
            <a:ext cx="13917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Growth Trajectory: a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7169" y="5650329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792279" y="5660552"/>
            <a:ext cx="112907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book-to-bill and ~</a:t>
            </a:r>
          </a:p>
        </p:txBody>
      </p:sp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505" y="5650329"/>
            <a:ext cx="134549" cy="19570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045614" y="5660552"/>
            <a:ext cx="450359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EBITDA margin point to a path to capture more of the addressable market.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225" y="5888390"/>
            <a:ext cx="13535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Competitive Edge: ~</a:t>
            </a:r>
          </a:p>
        </p:txBody>
      </p:sp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8914" y="5878167"/>
            <a:ext cx="134549" cy="19570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754024" y="5888390"/>
            <a:ext cx="10725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win rate with a +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5769" y="5878167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950879" y="5888390"/>
            <a:ext cx="113705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ASP premium and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7092" y="5878167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212201" y="5888390"/>
            <a:ext cx="12591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x pipeline coverage.</a:t>
            </a:r>
          </a:p>
        </p:txBody>
      </p:sp>
      <p:sp>
        <p:nvSpPr>
          <p:cNvPr id="59" name="lockshield_18"/>
          <p:cNvSpPr/>
          <p:nvPr/>
        </p:nvSpPr>
        <p:spPr>
          <a:xfrm>
            <a:off x="238125" y="2351726"/>
            <a:ext cx="3638550" cy="226737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ockshield_21"/>
          <p:cNvSpPr/>
          <p:nvPr/>
        </p:nvSpPr>
        <p:spPr>
          <a:xfrm>
            <a:off x="4219575" y="2351726"/>
            <a:ext cx="3638550" cy="226737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ockshield_24"/>
          <p:cNvSpPr/>
          <p:nvPr/>
        </p:nvSpPr>
        <p:spPr>
          <a:xfrm>
            <a:off x="8201025" y="2351726"/>
            <a:ext cx="3752850" cy="226737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Jackery Regional Penetration &amp; Win Position (2/5)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penetration and competitive positioning highlighting growth potential, win rates and sales efficiency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penetration and competitive positioning Jackery: SOM vs SAM by region, win position, TAM/SAM/SOM and go-to-market benchmarks.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299320"/>
            <a:ext cx="5905500" cy="226345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56470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SOM vs SAM Penetration by Region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8125" y="1585070"/>
          <a:ext cx="5715000" cy="192055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162675" y="1299320"/>
            <a:ext cx="5886450" cy="226345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7925" y="1356470"/>
            <a:ext cx="5695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Competitive Win Position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1775" y="3219879"/>
            <a:ext cx="5257800" cy="0"/>
          </a:xfrm>
          <a:prstGeom prst="line">
            <a:avLst/>
          </a:prstGeom>
          <a:ln w="12700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1775" y="1680320"/>
            <a:ext cx="0" cy="1539559"/>
          </a:xfrm>
          <a:prstGeom prst="line">
            <a:avLst/>
          </a:prstGeom>
          <a:ln w="12700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67475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9704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1932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4161" y="3238929"/>
            <a:ext cx="228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353229"/>
            <a:ext cx="52578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Win Rate %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029325" y="2373900"/>
            <a:ext cx="571500" cy="1524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ASP vs Peer</a:t>
            </a:r>
          </a:p>
        </p:txBody>
      </p:sp>
      <p:sp>
        <p:nvSpPr>
          <p:cNvPr id="24" name="Oval 23"/>
          <p:cNvSpPr/>
          <p:nvPr/>
        </p:nvSpPr>
        <p:spPr>
          <a:xfrm>
            <a:off x="7359287" y="1979874"/>
            <a:ext cx="247650" cy="247650"/>
          </a:xfrm>
          <a:prstGeom prst="ellipse">
            <a:avLst/>
          </a:prstGeom>
          <a:solidFill>
            <a:srgbClr val="29ABE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5037" y="2017974"/>
            <a:ext cx="14287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Jackery</a:t>
            </a:r>
          </a:p>
        </p:txBody>
      </p:sp>
      <p:sp>
        <p:nvSpPr>
          <p:cNvPr id="26" name="Oval 25"/>
          <p:cNvSpPr/>
          <p:nvPr/>
        </p:nvSpPr>
        <p:spPr>
          <a:xfrm>
            <a:off x="9283609" y="1912810"/>
            <a:ext cx="304800" cy="304800"/>
          </a:xfrm>
          <a:prstGeom prst="ellipse">
            <a:avLst/>
          </a:prstGeom>
          <a:solidFill>
            <a:srgbClr val="8C8C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6509" y="1979485"/>
            <a:ext cx="14287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Industry Avg.</a:t>
            </a:r>
          </a:p>
        </p:txBody>
      </p:sp>
      <p:sp>
        <p:nvSpPr>
          <p:cNvPr id="28" name="Oval 27"/>
          <p:cNvSpPr/>
          <p:nvPr/>
        </p:nvSpPr>
        <p:spPr>
          <a:xfrm>
            <a:off x="10513967" y="2711164"/>
            <a:ext cx="247650" cy="247650"/>
          </a:xfrm>
          <a:prstGeom prst="ellipse">
            <a:avLst/>
          </a:prstGeom>
          <a:solidFill>
            <a:srgbClr val="0E72A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6100" y="2749264"/>
            <a:ext cx="14287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Market Leader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2875" y="3635794"/>
            <a:ext cx="5905500" cy="1661086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" y="369294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TAM · SAM · SOM (US$ Mn)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125" y="3921544"/>
            <a:ext cx="5715000" cy="363195"/>
          </a:xfrm>
          <a:prstGeom prst="rect">
            <a:avLst/>
          </a:prstGeom>
          <a:solidFill>
            <a:srgbClr val="0A2E4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57150" tIns="19050" bIns="1905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238125" y="4399039"/>
            <a:ext cx="4400550" cy="363195"/>
          </a:xfrm>
          <a:prstGeom prst="rect">
            <a:avLst/>
          </a:prstGeom>
          <a:solidFill>
            <a:srgbClr val="1668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57150" tIns="19050" bIns="1905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238125" y="4876535"/>
            <a:ext cx="3086100" cy="363195"/>
          </a:xfrm>
          <a:prstGeom prst="rect">
            <a:avLst/>
          </a:prstGeom>
          <a:solidFill>
            <a:srgbClr val="29ABE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57150" tIns="19050" bIns="19050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2675" y="3635794"/>
            <a:ext cx="5886450" cy="1661086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7925" y="3692944"/>
            <a:ext cx="5695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Go-to-Market Benchmarks (Target vs Actual)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91775" y="3940594"/>
            <a:ext cx="95250" cy="95250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06075" y="3912019"/>
            <a:ext cx="5715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Target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34725" y="3940594"/>
            <a:ext cx="95250" cy="95250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49025" y="3912019"/>
            <a:ext cx="5715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Actual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6975" y="4153941"/>
            <a:ext cx="10668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Conversion (%)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81875" y="4164998"/>
            <a:ext cx="1597914" cy="93719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81875" y="4277766"/>
            <a:ext cx="3018282" cy="93719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6975" y="4466337"/>
            <a:ext cx="10668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Sales Cycle (Days)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81875" y="4477393"/>
            <a:ext cx="3817239" cy="93719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81875" y="4590162"/>
            <a:ext cx="2219325" cy="93719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6975" y="4778732"/>
            <a:ext cx="10668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Pipeline Coverage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81875" y="4789789"/>
            <a:ext cx="2130552" cy="93719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81875" y="4902557"/>
            <a:ext cx="3906012" cy="93719"/>
          </a:xfrm>
          <a:prstGeom prst="rect">
            <a:avLst/>
          </a:pr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42875" y="5369895"/>
            <a:ext cx="11906250" cy="1259505"/>
          </a:xfrm>
          <a:prstGeom prst="roundRect">
            <a:avLst>
              <a:gd name="adj" fmla="val 60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6225" y="545562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6225" y="569374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6225" y="5779470"/>
            <a:ext cx="11639550" cy="77373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425" y="2314517"/>
            <a:ext cx="199521" cy="29021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52425" y="4015511"/>
            <a:ext cx="87120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TAM · 100% ·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781" y="4005288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347890" y="4015511"/>
            <a:ext cx="5540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US$ Mn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425" y="4493006"/>
            <a:ext cx="43362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SAM ·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02" y="4482783"/>
            <a:ext cx="134549" cy="19570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10311" y="4493006"/>
            <a:ext cx="5947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of TAM ·</a:t>
            </a:r>
          </a:p>
        </p:txBody>
      </p:sp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4256" y="4482783"/>
            <a:ext cx="134549" cy="19570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629366" y="4493006"/>
            <a:ext cx="5540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US$ Mn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425" y="4970502"/>
            <a:ext cx="443892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SOM ·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71" y="4960279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20580" y="4970502"/>
            <a:ext cx="591368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of SAM ·</a:t>
            </a:r>
          </a:p>
        </p:txBody>
      </p:sp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1102" y="4960279"/>
            <a:ext cx="134549" cy="19570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636212" y="4970502"/>
            <a:ext cx="55400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US$ Mn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6225" y="5788995"/>
            <a:ext cx="7663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Regional Opportunity: 'Rest of the World' shows the highest SAM penetration; lower-penetration regions are the growth headroom.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6225" y="6006927"/>
            <a:ext cx="129799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Competitive Edge: ~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276" y="5997147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689771" y="6006927"/>
            <a:ext cx="10292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win rate with a +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93" y="5997147"/>
            <a:ext cx="128699" cy="18719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834589" y="6006927"/>
            <a:ext cx="231140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ASP premium signals value recognition;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041" y="5997147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261537" y="6006927"/>
            <a:ext cx="22516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pipeline coverage underpins growth.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6225" y="6224859"/>
            <a:ext cx="26150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▪ Sales Efficiency: a ~95-day sales cycle and ~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9292" y="6215079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006787" y="6224859"/>
            <a:ext cx="23845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conversion support faster share capture.</a:t>
            </a:r>
          </a:p>
        </p:txBody>
      </p:sp>
      <p:sp>
        <p:nvSpPr>
          <p:cNvPr id="80" name="lockshield_13"/>
          <p:cNvSpPr/>
          <p:nvPr/>
        </p:nvSpPr>
        <p:spPr>
          <a:xfrm>
            <a:off x="238125" y="1585070"/>
            <a:ext cx="5715000" cy="1920559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Jackery SWOT Analysis (3/5)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SWOT assessment of Jackery: strengths, weaknesses, opportunities and threats shaping its competitive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" y="1007261"/>
            <a:ext cx="11906250" cy="164283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50" b="0">
                <a:solidFill>
                  <a:srgbClr val="2E2E2E"/>
                </a:solidFill>
                <a:latin typeface="Calibri"/>
              </a:rPr>
              <a:t>SWOT assessment Jackery: strengths, weaknesses, opportunities and threats (indicative).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10000" y="3891345"/>
            <a:ext cx="4572000" cy="0"/>
          </a:xfrm>
          <a:prstGeom prst="line">
            <a:avLst/>
          </a:prstGeom>
          <a:ln w="17780">
            <a:solidFill>
              <a:srgbClr val="B9C4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1919946"/>
            <a:ext cx="0" cy="3942799"/>
          </a:xfrm>
          <a:prstGeom prst="line">
            <a:avLst/>
          </a:prstGeom>
          <a:ln w="17780">
            <a:solidFill>
              <a:srgbClr val="B9C4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757612" y="3841147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9612" y="3841147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43612" y="1869748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43612" y="5812547"/>
            <a:ext cx="104775" cy="100395"/>
          </a:xfrm>
          <a:prstGeom prst="ellipse">
            <a:avLst/>
          </a:prstGeom>
          <a:solidFill>
            <a:srgbClr val="B9C4CE"/>
          </a:solidFill>
          <a:ln w="12700">
            <a:solidFill>
              <a:srgbClr val="B9C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24400" y="2577079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69B1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0300" y="2577079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0B2E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24400" y="4000868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A3531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0300" y="4000868"/>
            <a:ext cx="1257300" cy="1204744"/>
          </a:xfrm>
          <a:prstGeom prst="roundRect">
            <a:avLst>
              <a:gd name="adj" fmla="val 12121"/>
            </a:avLst>
          </a:prstGeom>
          <a:noFill/>
          <a:ln w="19050">
            <a:solidFill>
              <a:srgbClr val="A86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5524500" y="2978660"/>
            <a:ext cx="1143000" cy="803163"/>
          </a:xfrm>
          <a:custGeom>
            <a:avLst/>
            <a:gdLst/>
            <a:ahLst/>
            <a:cxnLst/>
            <a:rect l="l" t="t" r="r" b="b"/>
            <a:pathLst>
              <a:path w="120" h="88">
                <a:moveTo>
                  <a:pt x="0" y="0"/>
                </a:moveTo>
                <a:lnTo>
                  <a:pt x="120" y="0"/>
                </a:lnTo>
                <a:lnTo>
                  <a:pt x="60" y="88"/>
                </a:lnTo>
                <a:close/>
              </a:path>
            </a:pathLst>
          </a:custGeom>
          <a:solidFill>
            <a:srgbClr val="69B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5524500" y="4000868"/>
            <a:ext cx="1143000" cy="803163"/>
          </a:xfrm>
          <a:custGeom>
            <a:avLst/>
            <a:gdLst/>
            <a:ahLst/>
            <a:cxnLst/>
            <a:rect l="l" t="t" r="r" b="b"/>
            <a:pathLst>
              <a:path w="120" h="88">
                <a:moveTo>
                  <a:pt x="0" y="88"/>
                </a:moveTo>
                <a:lnTo>
                  <a:pt x="120" y="88"/>
                </a:lnTo>
                <a:lnTo>
                  <a:pt x="60" y="0"/>
                </a:lnTo>
                <a:close/>
              </a:path>
            </a:pathLst>
          </a:cu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5143500" y="3343734"/>
            <a:ext cx="838200" cy="1095222"/>
          </a:xfrm>
          <a:custGeom>
            <a:avLst/>
            <a:gdLst/>
            <a:ahLst/>
            <a:cxnLst/>
            <a:rect l="l" t="t" r="r" b="b"/>
            <a:pathLst>
              <a:path w="88" h="120">
                <a:moveTo>
                  <a:pt x="0" y="0"/>
                </a:moveTo>
                <a:lnTo>
                  <a:pt x="0" y="120"/>
                </a:lnTo>
                <a:lnTo>
                  <a:pt x="88" y="60"/>
                </a:lnTo>
                <a:close/>
              </a:path>
            </a:pathLst>
          </a:cu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6210300" y="3343734"/>
            <a:ext cx="838200" cy="1095222"/>
          </a:xfrm>
          <a:custGeom>
            <a:avLst/>
            <a:gdLst/>
            <a:ahLst/>
            <a:cxnLst/>
            <a:rect l="l" t="t" r="r" b="b"/>
            <a:pathLst>
              <a:path w="88" h="120">
                <a:moveTo>
                  <a:pt x="88" y="0"/>
                </a:moveTo>
                <a:lnTo>
                  <a:pt x="88" y="120"/>
                </a:lnTo>
                <a:lnTo>
                  <a:pt x="0" y="60"/>
                </a:lnTo>
                <a:close/>
              </a:path>
            </a:pathLst>
          </a:cu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86450" y="3243339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1F2933"/>
                </a:solidFill>
                <a:latin typeface="Calibri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6450" y="4265546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3050" y="3754443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850" y="3754443"/>
            <a:ext cx="419100" cy="273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500" y="1299320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0B2E4A"/>
                </a:solidFill>
                <a:latin typeface="Calibri"/>
              </a:rPr>
              <a:t>Strengths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0500" y="1500111"/>
            <a:ext cx="1428750" cy="18254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4788" y="1605070"/>
            <a:ext cx="66675" cy="63888"/>
          </a:xfrm>
          <a:prstGeom prst="ellipse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375" y="1573126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3" name="Oval 32"/>
          <p:cNvSpPr/>
          <p:nvPr/>
        </p:nvSpPr>
        <p:spPr>
          <a:xfrm>
            <a:off x="204788" y="2116174"/>
            <a:ext cx="66675" cy="63888"/>
          </a:xfrm>
          <a:prstGeom prst="ellipse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375" y="2084229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Balanced SOM across regions and end-markets; strongest in 'North America'.</a:t>
            </a:r>
          </a:p>
        </p:txBody>
      </p:sp>
      <p:sp>
        <p:nvSpPr>
          <p:cNvPr id="35" name="Oval 34"/>
          <p:cNvSpPr/>
          <p:nvPr/>
        </p:nvSpPr>
        <p:spPr>
          <a:xfrm>
            <a:off x="204788" y="2627277"/>
            <a:ext cx="66675" cy="63888"/>
          </a:xfrm>
          <a:prstGeom prst="ellipse">
            <a:avLst/>
          </a:prstGeom>
          <a:solidFill>
            <a:srgbClr val="0B2E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375" y="2595333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4375" y="1299320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082238"/>
                </a:solidFill>
                <a:latin typeface="Calibri"/>
              </a:rPr>
              <a:t>Weaknesses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34375" y="1500111"/>
            <a:ext cx="1428750" cy="18254"/>
          </a:xfrm>
          <a:prstGeom prst="rect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48662" y="1605070"/>
            <a:ext cx="66675" cy="63888"/>
          </a:xfrm>
          <a:prstGeom prst="ellipse">
            <a:avLst/>
          </a:prstGeom>
          <a:solidFill>
            <a:srgbClr val="0822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7250" y="1573126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8348662" y="2116174"/>
            <a:ext cx="66675" cy="63888"/>
          </a:xfrm>
          <a:prstGeom prst="ellipse">
            <a:avLst/>
          </a:prstGeom>
          <a:solidFill>
            <a:srgbClr val="0822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7250" y="2084229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Uneven SAM penetration strong in 'Rest of the World', thin elsewhere.</a:t>
            </a:r>
          </a:p>
        </p:txBody>
      </p:sp>
      <p:sp>
        <p:nvSpPr>
          <p:cNvPr id="43" name="Oval 42"/>
          <p:cNvSpPr/>
          <p:nvPr/>
        </p:nvSpPr>
        <p:spPr>
          <a:xfrm>
            <a:off x="8348662" y="2627277"/>
            <a:ext cx="66675" cy="63888"/>
          </a:xfrm>
          <a:prstGeom prst="ellipse">
            <a:avLst/>
          </a:prstGeom>
          <a:solidFill>
            <a:srgbClr val="08223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77250" y="2595333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Reliance on a few large accounts/regions raises concentration risk.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0500" y="4055629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A35313"/>
                </a:solidFill>
                <a:latin typeface="Calibri"/>
              </a:rPr>
              <a:t>Threats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0500" y="4256419"/>
            <a:ext cx="1428750" cy="18254"/>
          </a:xfrm>
          <a:prstGeom prst="rect">
            <a:avLst/>
          </a:prstGeom>
          <a:solidFill>
            <a:srgbClr val="A35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4788" y="4361379"/>
            <a:ext cx="66675" cy="63888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3375" y="4329434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49" name="Oval 48"/>
          <p:cNvSpPr/>
          <p:nvPr/>
        </p:nvSpPr>
        <p:spPr>
          <a:xfrm>
            <a:off x="204788" y="4872482"/>
            <a:ext cx="66675" cy="63888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375" y="4840538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Input-cost inflation and price pressure can squeeze margin.</a:t>
            </a:r>
          </a:p>
        </p:txBody>
      </p:sp>
      <p:sp>
        <p:nvSpPr>
          <p:cNvPr id="51" name="Oval 50"/>
          <p:cNvSpPr/>
          <p:nvPr/>
        </p:nvSpPr>
        <p:spPr>
          <a:xfrm>
            <a:off x="204788" y="5383586"/>
            <a:ext cx="66675" cy="63888"/>
          </a:xfrm>
          <a:prstGeom prst="ellipse">
            <a:avLst/>
          </a:prstGeom>
          <a:solidFill>
            <a:srgbClr val="A3531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375" y="5351641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Tier-1 incumbents and regulation raise barriers and switching friction.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4375" y="4055629"/>
            <a:ext cx="36671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350" b="1">
                <a:solidFill>
                  <a:srgbClr val="A86F00"/>
                </a:solidFill>
                <a:latin typeface="Calibri"/>
              </a:rPr>
              <a:t>Opportunities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34375" y="4256419"/>
            <a:ext cx="1428750" cy="18254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48662" y="4361379"/>
            <a:ext cx="66675" cy="63888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77250" y="4329434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Premiumisation headroom in 'Portable Modular Solar Generators' and adjacent high-value lines.</a:t>
            </a:r>
          </a:p>
        </p:txBody>
      </p:sp>
      <p:sp>
        <p:nvSpPr>
          <p:cNvPr id="57" name="Oval 56"/>
          <p:cNvSpPr/>
          <p:nvPr/>
        </p:nvSpPr>
        <p:spPr>
          <a:xfrm>
            <a:off x="8348662" y="4872482"/>
            <a:ext cx="66675" cy="63888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7250" y="4840538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Under-penetrated regions offer share-capture runway.</a:t>
            </a:r>
          </a:p>
        </p:txBody>
      </p:sp>
      <p:sp>
        <p:nvSpPr>
          <p:cNvPr id="59" name="Oval 58"/>
          <p:cNvSpPr/>
          <p:nvPr/>
        </p:nvSpPr>
        <p:spPr>
          <a:xfrm>
            <a:off x="8348662" y="5383586"/>
            <a:ext cx="66675" cy="63888"/>
          </a:xfrm>
          <a:prstGeom prst="ellipse">
            <a:avLst/>
          </a:prstGeom>
          <a:solidFill>
            <a:srgbClr val="A86F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77250" y="5351641"/>
            <a:ext cx="3505200" cy="47459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Channel shift to online and clinics opens new demand pools.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57500" y="6428609"/>
            <a:ext cx="91916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Calibri"/>
              </a:rPr>
              <a:t>Note: competitor figures are indicative derived from market modelling and expert validation, not company disclosures.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1950" y="1642784"/>
            <a:ext cx="1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~</a:t>
            </a:r>
          </a:p>
        </p:txBody>
      </p:sp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78" y="1633005"/>
            <a:ext cx="128699" cy="18719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23274" y="1642784"/>
            <a:ext cx="10292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win rate with a +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596" y="1633005"/>
            <a:ext cx="128699" cy="18719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768092" y="1642784"/>
            <a:ext cx="14906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ASP premium clear value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1950" y="1810424"/>
            <a:ext cx="76023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recognition.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82" y="2655212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15978" y="2664991"/>
            <a:ext cx="10832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book-to-bill and ~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325" y="2655212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714820" y="2664991"/>
            <a:ext cx="130454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EBITDA signal healthy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1950" y="2832631"/>
            <a:ext cx="7831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momentum.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5825" y="1726603"/>
            <a:ext cx="14577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~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653" y="1716825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767149" y="1726603"/>
            <a:ext cx="29105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share leaves a scale gap versus the market leader.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1950" y="4482912"/>
            <a:ext cx="132449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Intense competition ~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97" y="4473133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801993" y="4482912"/>
            <a:ext cx="173868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2E2E2E"/>
                </a:solidFill>
                <a:latin typeface="Calibri"/>
              </a:rPr>
              <a:t>x pipeline needed to convert.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Jackery Key Financials (4/5)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Jackery's financial performance, key ratios and pricing, highlighting margin and momentum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Key financials and pricing Jackery (all figures indicative, USD Mn unless noted).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54081"/>
            <a:ext cx="5905500" cy="1916638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411231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Jackery Financial Performance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611256"/>
          <a:ext cx="5886449" cy="1449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6649"/>
                <a:gridCol w="687960"/>
                <a:gridCol w="687960"/>
                <a:gridCol w="687960"/>
                <a:gridCol w="687960"/>
                <a:gridCol w="68796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USD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2020A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Revenue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Gross Profit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Pre-Tax Profit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0094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Profit After Tax / Net Profit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070695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398495"/>
            <a:ext cx="5905500" cy="3194397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Jackery Key Ratios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655670"/>
          <a:ext cx="5886450" cy="27276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9260"/>
                <a:gridCol w="805438"/>
                <a:gridCol w="805438"/>
                <a:gridCol w="805438"/>
                <a:gridCol w="805438"/>
                <a:gridCol w="805438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Key Ratios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2020A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2021A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2022A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2023A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Gross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Pre-Tax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Net Margin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Return on Equity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4963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Return on Assets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392868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775" y="1354081"/>
            <a:ext cx="584835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6025" y="1411231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Jackery Pricing Analysis (US$/Units)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10300" y="1611256"/>
          <a:ext cx="5829300" cy="4772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0200"/>
                <a:gridCol w="704550"/>
                <a:gridCol w="704550"/>
              </a:tblGrid>
              <a:tr h="24612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2020A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2024A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150865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Portable Modular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50865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Portable Integrated Solar Generators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150865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Fixed Residential Solar Power Generator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/>
                        <a:t> 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276975" y="6392868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927" y="2219246"/>
            <a:ext cx="330041" cy="480060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564" y="4875868"/>
            <a:ext cx="366712" cy="5334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2086" y="3858984"/>
            <a:ext cx="359393" cy="522753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Jackery Strategy Analysis (5/5)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Jackery's strategic priorities and the competitive moves that support them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Strategy analysis Jackery: strategic priorities and the competitive moves that support them (indicative).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MARKET SHARE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of global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3175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WIN RATE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deals won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0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ASP PREMIUM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vs peers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3300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BOOK-TO-BILL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order momentum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3125" y="1354081"/>
            <a:ext cx="2276475" cy="602372"/>
          </a:xfrm>
          <a:prstGeom prst="roundRect">
            <a:avLst>
              <a:gd name="adj" fmla="val 8000"/>
            </a:avLst>
          </a:prstGeom>
          <a:solidFill>
            <a:srgbClr val="EAF6FB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150" rIns="57150" tIns="9525" bIns="9525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6C7A89"/>
                </a:solidFill>
                <a:latin typeface="Calibri"/>
              </a:rPr>
              <a:t>EBITDA MARGIN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72AE"/>
                </a:solidFill>
                <a:latin typeface="Calibri"/>
              </a:rPr>
              <a:t> 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6C7A89"/>
                </a:solidFill>
                <a:latin typeface="Calibri"/>
              </a:rPr>
              <a:t>profitability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75" y="2084229"/>
            <a:ext cx="5905500" cy="4490410"/>
          </a:xfrm>
          <a:prstGeom prst="roundRect">
            <a:avLst>
              <a:gd name="adj" fmla="val 169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2169954"/>
            <a:ext cx="56388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Strategic Priorities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225" y="2408079"/>
            <a:ext cx="56388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" y="2493804"/>
            <a:ext cx="5638800" cy="40046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0775" y="2084229"/>
            <a:ext cx="5848350" cy="4490410"/>
          </a:xfrm>
          <a:prstGeom prst="roundRect">
            <a:avLst>
              <a:gd name="adj" fmla="val 169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4125" y="2169954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Competitive Moves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4125" y="2408079"/>
            <a:ext cx="5581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4125" y="2493804"/>
            <a:ext cx="5581650" cy="400463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/>
            </a:r>
            <a:r>
              <a:rPr sz="1150" b="0">
                <a:solidFill>
                  <a:srgbClr val="2E2E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531" y="1540967"/>
            <a:ext cx="157162" cy="228600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831" y="1540967"/>
            <a:ext cx="157162" cy="228600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656" y="1540967"/>
            <a:ext cx="157162" cy="228600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956" y="1540967"/>
            <a:ext cx="157162" cy="228600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2781" y="1540967"/>
            <a:ext cx="157162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6225" y="2503329"/>
            <a:ext cx="5246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Defend and extend leadership in 'Supplemental Household Power' Jackery's strongest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225" y="2678589"/>
            <a:ext cx="31749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end-market while scaling the next-best applications.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2906426"/>
            <a:ext cx="90999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Convert its ~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76" y="2896203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0485" y="2906426"/>
            <a:ext cx="92910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win rate and +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748" y="2896203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363857" y="2906426"/>
            <a:ext cx="310901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ASP premium into share gains through value-based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6225" y="3081686"/>
            <a:ext cx="48924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selling.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225" y="3309524"/>
            <a:ext cx="329443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Raise SAM penetration beyond 'Rest of the World' (~</a:t>
            </a:r>
          </a:p>
        </p:txBody>
      </p:sp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813" y="3299301"/>
            <a:ext cx="134549" cy="1957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694922" y="3309524"/>
            <a:ext cx="201906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) into lower-penetration regions.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225" y="3537362"/>
            <a:ext cx="694059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Sustain a</a:t>
            </a:r>
          </a:p>
        </p:txBody>
      </p:sp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38" y="3527139"/>
            <a:ext cx="134549" cy="195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94548" y="3537362"/>
            <a:ext cx="375055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book-to-bill with disciplined capacity and channel investment.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225" y="3765200"/>
            <a:ext cx="532116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Protect margin through corridor-based pricing and cost discipline as input prices move.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4125" y="2503329"/>
            <a:ext cx="5095527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Premiumise the portfolio around 'Portable Modular Solar Generators' and adjacent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4125" y="2678589"/>
            <a:ext cx="2347391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high-value lines to lift blended pricing.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4125" y="2906426"/>
            <a:ext cx="52196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Deepen presence in 'North America' (largest SOM region) and build out under-served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4125" y="3081686"/>
            <a:ext cx="83811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geographies.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4125" y="3309524"/>
            <a:ext cx="5471144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Invest in R&amp;D, certification and selective M&amp;A to move up the price ladder and widen the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4125" y="3484784"/>
            <a:ext cx="425636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moat.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4125" y="3712622"/>
            <a:ext cx="526753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Diversify the customer base and secure supply to de-risk concentration and input-cost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4125" y="3887882"/>
            <a:ext cx="509215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shocks.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4125" y="4115720"/>
            <a:ext cx="3102173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▪ Sharpen go-to-market a ~95-day sales cycle and ~</a:t>
            </a:r>
          </a:p>
        </p:txBody>
      </p:sp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52" y="4105497"/>
            <a:ext cx="134549" cy="1957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560561" y="4115720"/>
            <a:ext cx="2003660" cy="194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2E2E2E"/>
                </a:solidFill>
                <a:latin typeface="Calibri"/>
              </a:rPr>
              <a:t>conversion speed share capture.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18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5272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Residential Solar Generator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9562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Competitive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1425"/>
            <a:ext cx="8458200" cy="1276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Pipeline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Strategic Outlook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Competition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Competitive Landscape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Market concentration, segment leadership and the moves that will shift share, 2026–2036, in one page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0500" y="10477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765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3 share,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65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Calibri"/>
              </a:rPr>
              <a:t>38%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6687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2402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5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402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51%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3250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3 product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38 / 35 / 27%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1962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7677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Largest end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677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/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0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5315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Named competitors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15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10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7237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2952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Moves tracked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952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50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48750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05900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Largest player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900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Jackery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525125" y="1123950"/>
            <a:ext cx="0" cy="4762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582275" y="11049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CAGR 2026–2036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82275" y="1295400"/>
            <a:ext cx="1381125" cy="4000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90500" y="17335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90500" y="19240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0500" y="19240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300" y="19050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Leadership is concentrated in value, spread in capability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300" y="21145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190500" y="30289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0500" y="30289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300" y="30099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The tier structure is steep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300" y="32194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" y="41338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0500" y="41338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5300" y="41148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Growth is shifting inside the product mix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300" y="43243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286500" y="19240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6500" y="19240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91300" y="19050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Reach divides the field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91300" y="21145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4 players compete globally, 2 regionally and 4 in one market or niche.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86500" y="30289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86500" y="30289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91300" y="30099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Consolidation is an active lever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91300" y="32194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is an active strategy at 5 of 10 named players; the independent target list is shrinking.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86500" y="4133850"/>
            <a:ext cx="20955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86500" y="4133850"/>
            <a:ext cx="2095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91300" y="4114800"/>
            <a:ext cx="541020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Success factors, in order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91300" y="4324350"/>
            <a:ext cx="5410200" cy="762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1 segment breadth, 2 scale and share, 3 geographic reach, 4 innovation pipeline, 5 strategic momentum.  Ranking leads: Jackery, EcoFlow, PECRON.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0500" y="5219700"/>
            <a:ext cx="11811000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90500" y="5276850"/>
            <a:ext cx="38100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THIS SECTION IS BUILT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0500" y="5448300"/>
            <a:ext cx="11811000" cy="571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Pages 2 to 4 show where the market is and who plays.  Pages 5 to 7 rate every named company on twenty Ps (who they are, what they sell, how they win); a cell reads n/a where no evidence exists.  Page 8 turns the pattern into five success factors and a ranking.  Pages 9 and 10 list what each player is doing and what each of your departments should do about it.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8488" y="1401826"/>
            <a:ext cx="128699" cy="18719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705350" y="1304925"/>
            <a:ext cx="1008959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0F2D52"/>
                </a:solidFill>
                <a:latin typeface="Calibri"/>
              </a:rPr>
              <a:t>Residential Solar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05350" y="1465859"/>
            <a:ext cx="1103780" cy="179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5" b="1">
                <a:solidFill>
                  <a:srgbClr val="0F2D52"/>
                </a:solidFill>
                <a:latin typeface="Calibri"/>
              </a:rPr>
              <a:t>Self-Consumption,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212" y="1456471"/>
            <a:ext cx="123551" cy="17971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23875" y="2124075"/>
            <a:ext cx="11373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The top three hold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246" y="2114296"/>
            <a:ext cx="128699" cy="1871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776742" y="2124075"/>
            <a:ext cx="39493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of 2026 value, but 3 companies lead the 7 sub-segments tracked; 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875" y="2291715"/>
            <a:ext cx="13864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one leads more than 4.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875" y="3228975"/>
            <a:ext cx="136405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Tier 1 (4 players) holds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985" y="3219196"/>
            <a:ext cx="128699" cy="18719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003481" y="3228975"/>
            <a:ext cx="1875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; Tier 2 and Tier 3 together hold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189" y="3219196"/>
            <a:ext cx="128699" cy="18719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3994685" y="3228975"/>
            <a:ext cx="1113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3875" y="4333875"/>
            <a:ext cx="524919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'Portable Modular Solar Generators' is the largest line; 'Portable Modular Solar Generators'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3875" y="4501515"/>
            <a:ext cx="130157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compounds fastest at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502" y="4491736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940998" y="4501515"/>
            <a:ext cx="43061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CAGR.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Segment Leadership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Share by player group and which named player leads or is active in each sub-segment,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" y="1047750"/>
            <a:ext cx="5715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Who holds the market,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500" y="1257300"/>
            <a:ext cx="4509884" cy="266700"/>
          </a:xfrm>
          <a:prstGeom prst="rect">
            <a:avLst/>
          </a:prstGeom>
          <a:solidFill>
            <a:srgbClr val="0F2D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650" y="1257300"/>
            <a:ext cx="4433684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700384" y="1257300"/>
            <a:ext cx="1536162" cy="266700"/>
          </a:xfrm>
          <a:prstGeom prst="rect">
            <a:avLst/>
          </a:prstGeom>
          <a:solidFill>
            <a:srgbClr val="1F6F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7534" y="1257300"/>
            <a:ext cx="1459962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236546" y="1257300"/>
            <a:ext cx="2242416" cy="266700"/>
          </a:xfrm>
          <a:prstGeom prst="rect">
            <a:avLst/>
          </a:prstGeom>
          <a:solidFill>
            <a:srgbClr val="6FA0C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3696" y="1257300"/>
            <a:ext cx="2166216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478962" y="1257300"/>
            <a:ext cx="3522538" cy="266700"/>
          </a:xfrm>
          <a:prstGeom prst="rect">
            <a:avLst/>
          </a:prstGeom>
          <a:solidFill>
            <a:srgbClr val="A9C6E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6112" y="1257300"/>
            <a:ext cx="3446338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" y="1600200"/>
            <a:ext cx="85725" cy="857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432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Jackery, EcoFlow, BLUETTI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43250" y="1600200"/>
            <a:ext cx="85725" cy="8572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707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PECRON, Goal Zero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0" y="1600200"/>
            <a:ext cx="85725" cy="85725"/>
          </a:xfrm>
          <a:prstGeom prst="rect">
            <a:avLst/>
          </a:prstGeom>
          <a:solidFill>
            <a:srgbClr val="6FA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982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Zendure, Dabbsson, OUPES, VTOMAN, Powerenz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48750" y="1600200"/>
            <a:ext cx="85725" cy="8572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2575" y="1543050"/>
            <a:ext cx="27622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Long tail of regional and niche suppliers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0500" y="19240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90500" y="1981200"/>
            <a:ext cx="8572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Who leads which sub-segment, 2026  (full = leader, half = active)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14550" y="2114550"/>
            <a:ext cx="1377043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Portable Modular Solar Generators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9693" y="2114550"/>
            <a:ext cx="1377043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Portable Integrated Solar Generators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44836" y="2114550"/>
            <a:ext cx="1377043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Fixed Residential Solar Power Generator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9979" y="2114550"/>
            <a:ext cx="1377043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Residential Solar Self-Consumption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5121" y="2114550"/>
            <a:ext cx="1377043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Supplemental Household Power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0264" y="2114550"/>
            <a:ext cx="1377043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Emergency Power Backup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5407" y="2114550"/>
            <a:ext cx="1377043" cy="476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Primary Off-Grid Household Power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90500" y="2609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90500" y="2638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750" y="26289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Jackery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750" y="27908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0" name="Oval 39"/>
          <p:cNvSpPr/>
          <p:nvPr/>
        </p:nvSpPr>
        <p:spPr>
          <a:xfrm>
            <a:off x="2726871" y="2705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800350" y="2705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142014" y="2705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57157" y="2705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72300" y="2705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87443" y="2705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467725" y="2705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802586" y="2705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217729" y="2705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90500" y="2952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90500" y="2981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5750" y="29718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EcoFlow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5750" y="31337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53" name="Oval 52"/>
          <p:cNvSpPr/>
          <p:nvPr/>
        </p:nvSpPr>
        <p:spPr>
          <a:xfrm>
            <a:off x="2726871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2800350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142014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219575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57157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972300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048500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387443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02586" y="3048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217729" y="3048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1296650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190500" y="3295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90500" y="3324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5750" y="33147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BLUETTI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5750" y="34766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68" name="Oval 67"/>
          <p:cNvSpPr/>
          <p:nvPr/>
        </p:nvSpPr>
        <p:spPr>
          <a:xfrm>
            <a:off x="2726871" y="3390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142014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557157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5629275" y="3390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72300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87443" y="3390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802586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9877425" y="3390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217729" y="3390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1296650" y="3390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90500" y="3638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90500" y="3667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5750" y="36576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PECRON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5750" y="38195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82" name="Oval 81"/>
          <p:cNvSpPr/>
          <p:nvPr/>
        </p:nvSpPr>
        <p:spPr>
          <a:xfrm>
            <a:off x="2726871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142014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4219575" y="3733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557157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5629275" y="3733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972300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7048500" y="3733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387443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8467725" y="3733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802586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17729" y="3733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190500" y="3981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190500" y="4010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5750" y="40005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Goal Zero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5750" y="41624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97" name="Oval 96"/>
          <p:cNvSpPr/>
          <p:nvPr/>
        </p:nvSpPr>
        <p:spPr>
          <a:xfrm>
            <a:off x="2726871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2800350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142014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219575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557157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5629275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972300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048500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387443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802586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9877425" y="4076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217729" y="4076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90500" y="4324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190500" y="4352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85750" y="43434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Zendure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85750" y="45053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113" name="Oval 112"/>
          <p:cNvSpPr/>
          <p:nvPr/>
        </p:nvSpPr>
        <p:spPr>
          <a:xfrm>
            <a:off x="2726871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800350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142014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219575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557157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972300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387443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8467725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802586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9877425" y="4419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217729" y="4419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190500" y="4667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190500" y="4695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85750" y="46863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Dabbsson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85750" y="48482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28" name="Oval 127"/>
          <p:cNvSpPr/>
          <p:nvPr/>
        </p:nvSpPr>
        <p:spPr>
          <a:xfrm>
            <a:off x="2726871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800350" y="4762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142014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557157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5629275" y="4762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972300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7048500" y="4762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387443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8467725" y="4762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802586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1217729" y="4762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190500" y="5010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190500" y="5038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85750" y="50292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OUPES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5750" y="51911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43" name="Oval 142"/>
          <p:cNvSpPr/>
          <p:nvPr/>
        </p:nvSpPr>
        <p:spPr>
          <a:xfrm>
            <a:off x="2726871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142014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4219575" y="510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557157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5629275" y="510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972300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7048500" y="510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387443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802586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9877425" y="510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1217729" y="5105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190500" y="5353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190500" y="53816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85750" y="53721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VTOMAN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85750" y="55340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58" name="Oval 157"/>
          <p:cNvSpPr/>
          <p:nvPr/>
        </p:nvSpPr>
        <p:spPr>
          <a:xfrm>
            <a:off x="2726871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2800350" y="5448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142014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4219575" y="5448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557157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5629275" y="5448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7" y="13"/>
                </a:lnTo>
                <a:lnTo>
                  <a:pt x="6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972300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8387443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8467725" y="5448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9802586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9877425" y="5448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217729" y="5448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>
            <a:off x="190500" y="5695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190500" y="57245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85750" y="5715000"/>
            <a:ext cx="17907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Powerenz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85750" y="5876925"/>
            <a:ext cx="17907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74" name="Oval 173"/>
          <p:cNvSpPr/>
          <p:nvPr/>
        </p:nvSpPr>
        <p:spPr>
          <a:xfrm>
            <a:off x="2726871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2800350" y="5791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142014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219575" y="5791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557157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6972300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7048500" y="5791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87443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8467725" y="5791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9802586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217729" y="5791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>
            <a:off x="190500" y="6038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190500" y="6124575"/>
            <a:ext cx="85725" cy="8572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14325" y="6076950"/>
            <a:ext cx="2095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47725" y="6124575"/>
            <a:ext cx="85725" cy="85725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71550" y="6076950"/>
            <a:ext cx="2095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504950" y="6124575"/>
            <a:ext cx="85725" cy="85725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628775" y="6076950"/>
            <a:ext cx="2095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90500" y="62865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90500" y="64008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Read across a row to see breadth; down a column to see contestability.  'Portable Modular Solar Generators' is the most contested column (8 players active); 'Primary Off-Grid Household Power' is the most open (3).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76225" y="1306830"/>
            <a:ext cx="39816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Top 3</a:t>
            </a:r>
          </a:p>
        </p:txBody>
      </p:sp>
      <p:pic>
        <p:nvPicPr>
          <p:cNvPr id="196" name="Picture 1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41" y="1297051"/>
            <a:ext cx="128699" cy="187198"/>
          </a:xfrm>
          <a:prstGeom prst="rect">
            <a:avLst/>
          </a:prstGeom>
        </p:spPr>
      </p:pic>
      <p:sp>
        <p:nvSpPr>
          <p:cNvPr id="197" name="TextBox 196"/>
          <p:cNvSpPr txBox="1"/>
          <p:nvPr/>
        </p:nvSpPr>
        <p:spPr>
          <a:xfrm>
            <a:off x="4786109" y="1306830"/>
            <a:ext cx="81317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Rest of top 5</a:t>
            </a:r>
          </a:p>
        </p:txBody>
      </p:sp>
      <p:pic>
        <p:nvPicPr>
          <p:cNvPr id="198" name="Picture 1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332" y="1297051"/>
            <a:ext cx="128699" cy="187198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6322271" y="1306830"/>
            <a:ext cx="62026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Emerging</a:t>
            </a:r>
          </a:p>
        </p:txBody>
      </p:sp>
      <p:pic>
        <p:nvPicPr>
          <p:cNvPr id="200" name="Picture 1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588" y="1297051"/>
            <a:ext cx="128699" cy="187198"/>
          </a:xfrm>
          <a:prstGeom prst="rect">
            <a:avLst/>
          </a:prstGeom>
        </p:spPr>
      </p:pic>
      <p:sp>
        <p:nvSpPr>
          <p:cNvPr id="201" name="TextBox 200"/>
          <p:cNvSpPr txBox="1"/>
          <p:nvPr/>
        </p:nvSpPr>
        <p:spPr>
          <a:xfrm>
            <a:off x="8564687" y="1306830"/>
            <a:ext cx="46992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F2D52"/>
                </a:solidFill>
                <a:latin typeface="Calibri"/>
              </a:rPr>
              <a:t>Others</a:t>
            </a:r>
          </a:p>
        </p:txBody>
      </p:sp>
      <p:pic>
        <p:nvPicPr>
          <p:cNvPr id="202" name="Picture 2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663" y="129705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Value Chain Positioning of Leading Players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How the market is organised by product type and end use, and who leads at each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650" y="1047750"/>
            <a:ext cx="22669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3 share,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650" y="1238250"/>
            <a:ext cx="226695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52700" y="1085850"/>
            <a:ext cx="0" cy="4000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09850" y="1047750"/>
            <a:ext cx="22669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Top 5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9850" y="1238250"/>
            <a:ext cx="226695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4900" y="1085850"/>
            <a:ext cx="0" cy="4000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72050" y="1047750"/>
            <a:ext cx="22669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Portable Modular Solar Generators,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2050" y="1238250"/>
            <a:ext cx="226695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77100" y="1085850"/>
            <a:ext cx="0" cy="4000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34250" y="1047750"/>
            <a:ext cx="22669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Portable Integrated Solar Generators,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0" y="1238250"/>
            <a:ext cx="226695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39300" y="1085850"/>
            <a:ext cx="0" cy="40005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96450" y="1047750"/>
            <a:ext cx="22669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Fixed Residential Solar Power Generator Systems,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6450" y="1238250"/>
            <a:ext cx="226695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0500" y="1543050"/>
            <a:ext cx="11811000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90500" y="1638300"/>
            <a:ext cx="2767012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" y="1638300"/>
            <a:ext cx="2767012" cy="476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" y="17335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1. Portable Modular Solar Generators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192405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550" y="192405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of market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213360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550" y="213360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CAGR 2026–2036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85750" y="236220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85750" y="241935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LEADS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750" y="25908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●  BLUETTI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750" y="28194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ALSO ACTIVE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750" y="29908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Jackery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750" y="31623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EcoFlow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750" y="33337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Goal Zero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750" y="35052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Zendure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85750" y="443865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85750" y="44958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TO WATCH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750" y="4667250"/>
            <a:ext cx="2576512" cy="6667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995612" y="3495675"/>
            <a:ext cx="152400" cy="0"/>
          </a:xfrm>
          <a:prstGeom prst="line">
            <a:avLst/>
          </a:prstGeom>
          <a:ln w="254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3105150" y="3448050"/>
            <a:ext cx="57150" cy="9525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6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F2D52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5162" y="1638300"/>
            <a:ext cx="2767012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5162" y="1638300"/>
            <a:ext cx="2767012" cy="476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00412" y="17335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2. Portable Integrated Solar Generators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0412" y="192405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86212" y="192405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of market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00412" y="213360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86212" y="213360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CAGR 2026–2036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300412" y="2362200"/>
            <a:ext cx="2576513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300412" y="241935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LEADS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00412" y="25908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●  Jackery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00412" y="28194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ALSO ACTIVE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00412" y="29908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EcoFlow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00412" y="31623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PECRON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00412" y="33337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Goal Zero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00412" y="35052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Zendure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300412" y="4438650"/>
            <a:ext cx="2576513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300412" y="44958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TO WATCH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00412" y="4667250"/>
            <a:ext cx="2576512" cy="6667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010275" y="3495675"/>
            <a:ext cx="152400" cy="0"/>
          </a:xfrm>
          <a:prstGeom prst="line">
            <a:avLst/>
          </a:prstGeom>
          <a:ln w="254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6115050" y="3448050"/>
            <a:ext cx="66675" cy="95250"/>
          </a:xfrm>
          <a:custGeom>
            <a:avLst/>
            <a:gdLst/>
            <a:ahLst/>
            <a:cxnLst/>
            <a:rect l="l" t="t" r="r" b="b"/>
            <a:pathLst>
              <a:path w="7" h="10">
                <a:moveTo>
                  <a:pt x="7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F2D52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9825" y="1638300"/>
            <a:ext cx="2767012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19825" y="1638300"/>
            <a:ext cx="2767012" cy="476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15075" y="17335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3. Fixed Residential Solar Power Generator Systems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15075" y="192405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00875" y="192405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of market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15075" y="2133600"/>
            <a:ext cx="666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00875" y="2133600"/>
            <a:ext cx="18907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CAGR 2026–2036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315075" y="2362200"/>
            <a:ext cx="2576513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315075" y="241935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LEADS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15075" y="25908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●  Jackery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15075" y="28194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ALSO ACTIVE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15075" y="29908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BLUETTI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15075" y="31623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PECRON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15075" y="33337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Goal Zero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15075" y="350520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●  Dabbsson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315075" y="4438650"/>
            <a:ext cx="2576513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315075" y="44958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TO WATCH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15075" y="4667250"/>
            <a:ext cx="2576512" cy="6667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024938" y="3495675"/>
            <a:ext cx="152400" cy="0"/>
          </a:xfrm>
          <a:prstGeom prst="line">
            <a:avLst/>
          </a:prstGeom>
          <a:ln w="254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9124950" y="3448050"/>
            <a:ext cx="76200" cy="95250"/>
          </a:xfrm>
          <a:custGeom>
            <a:avLst/>
            <a:gdLst/>
            <a:ahLst/>
            <a:cxnLst/>
            <a:rect l="l" t="t" r="r" b="b"/>
            <a:pathLst>
              <a:path w="8" h="10">
                <a:moveTo>
                  <a:pt x="8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F2D52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34488" y="1638300"/>
            <a:ext cx="2767012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234488" y="1638300"/>
            <a:ext cx="2767012" cy="476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29738" y="1733550"/>
            <a:ext cx="2576512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4. Primary Application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29738" y="1924050"/>
            <a:ext cx="25765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By application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29738" y="2133600"/>
            <a:ext cx="2576512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Who buys the output.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329738" y="236220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329738" y="241935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Residential Solar Self-Consumption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82288" y="2524125"/>
            <a:ext cx="766762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487150" y="248602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29738" y="274320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Supplemental Household Power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682288" y="2847975"/>
            <a:ext cx="629786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350174" y="280987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29738" y="306705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Emergency Power Backup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682288" y="3171825"/>
            <a:ext cx="591633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312020" y="313372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29738" y="3390900"/>
            <a:ext cx="133350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Primary Off-Grid Household Power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682288" y="3495675"/>
            <a:ext cx="208999" cy="1143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929387" y="3457575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329738" y="4438650"/>
            <a:ext cx="2576512" cy="0"/>
          </a:xfrm>
          <a:prstGeom prst="line">
            <a:avLst/>
          </a:prstGeom>
          <a:ln w="9525">
            <a:solidFill>
              <a:srgbClr val="D5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329738" y="4495800"/>
            <a:ext cx="2576512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TO WATCH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29738" y="4667250"/>
            <a:ext cx="2576512" cy="6667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190500" y="5467350"/>
            <a:ext cx="11811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0500" y="5467350"/>
            <a:ext cx="47625" cy="4000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04800" y="5467350"/>
            <a:ext cx="104775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ENABLERS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28750" y="5467350"/>
            <a:ext cx="1047750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Portable Modular Solar Generators Compounds Fastest Across the Type Mix  |  South Asia &amp; Pacific Emerges as the Growth Engine Among Regions  |  Premiumisation Lifts Average Realisation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90500" y="5924550"/>
            <a:ext cx="11811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0500" y="5924550"/>
            <a:ext cx="47625" cy="400050"/>
          </a:xfrm>
          <a:prstGeom prst="rect">
            <a:avLst/>
          </a:prstGeom>
          <a:solidFill>
            <a:srgbClr val="8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04800" y="5924550"/>
            <a:ext cx="104775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8B1E2D"/>
                </a:solidFill>
                <a:latin typeface="Calibri"/>
              </a:rPr>
              <a:t>CONSTRAINTS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28750" y="5924550"/>
            <a:ext cx="10477500" cy="4000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Portable Integrated Solar Generators Lags the Category and Dilutes Blended Growth  |  Uneven Region Performance Caps the Blended Rate  |  Concentration Risk Limits Pricing and Sourcing Flexibility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75" y="1258951"/>
            <a:ext cx="128699" cy="187198"/>
          </a:xfrm>
          <a:prstGeom prst="rect">
            <a:avLst/>
          </a:prstGeom>
        </p:spPr>
      </p:pic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975" y="1258951"/>
            <a:ext cx="128699" cy="187198"/>
          </a:xfrm>
          <a:prstGeom prst="rect">
            <a:avLst/>
          </a:prstGeom>
        </p:spPr>
      </p:pic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175" y="1258951"/>
            <a:ext cx="128699" cy="187198"/>
          </a:xfrm>
          <a:prstGeom prst="rect">
            <a:avLst/>
          </a:prstGeom>
        </p:spPr>
      </p:pic>
      <p:pic>
        <p:nvPicPr>
          <p:cNvPr id="118" name="Picture 1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75" y="1258951"/>
            <a:ext cx="128699" cy="187198"/>
          </a:xfrm>
          <a:prstGeom prst="rect">
            <a:avLst/>
          </a:prstGeom>
        </p:spPr>
      </p:pic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575" y="1258951"/>
            <a:ext cx="128699" cy="187198"/>
          </a:xfrm>
          <a:prstGeom prst="rect">
            <a:avLst/>
          </a:prstGeom>
        </p:spPr>
      </p:pic>
      <p:pic>
        <p:nvPicPr>
          <p:cNvPr id="120" name="Picture 1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75" y="1925701"/>
            <a:ext cx="128699" cy="187198"/>
          </a:xfrm>
          <a:prstGeom prst="rect">
            <a:avLst/>
          </a:prstGeom>
        </p:spPr>
      </p:pic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75" y="2135251"/>
            <a:ext cx="128699" cy="187198"/>
          </a:xfrm>
          <a:prstGeom prst="rect">
            <a:avLst/>
          </a:prstGeom>
        </p:spPr>
      </p:pic>
      <p:pic>
        <p:nvPicPr>
          <p:cNvPr id="122" name="Picture 1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437" y="1925701"/>
            <a:ext cx="128699" cy="187198"/>
          </a:xfrm>
          <a:prstGeom prst="rect">
            <a:avLst/>
          </a:prstGeom>
        </p:spPr>
      </p:pic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437" y="2135251"/>
            <a:ext cx="128699" cy="187198"/>
          </a:xfrm>
          <a:prstGeom prst="rect">
            <a:avLst/>
          </a:prstGeom>
        </p:spPr>
      </p:pic>
      <p:pic>
        <p:nvPicPr>
          <p:cNvPr id="124" name="Picture 1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100" y="1925701"/>
            <a:ext cx="128699" cy="187198"/>
          </a:xfrm>
          <a:prstGeom prst="rect">
            <a:avLst/>
          </a:prstGeom>
        </p:spPr>
      </p:pic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100" y="2135251"/>
            <a:ext cx="128699" cy="187198"/>
          </a:xfrm>
          <a:prstGeom prst="rect">
            <a:avLst/>
          </a:prstGeom>
        </p:spPr>
      </p:pic>
      <p:pic>
        <p:nvPicPr>
          <p:cNvPr id="126" name="Picture 1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0925" y="2487676"/>
            <a:ext cx="128699" cy="187198"/>
          </a:xfrm>
          <a:prstGeom prst="rect">
            <a:avLst/>
          </a:prstGeom>
        </p:spPr>
      </p:pic>
      <p:pic>
        <p:nvPicPr>
          <p:cNvPr id="127" name="Picture 1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949" y="2811526"/>
            <a:ext cx="128699" cy="187198"/>
          </a:xfrm>
          <a:prstGeom prst="rect">
            <a:avLst/>
          </a:prstGeom>
        </p:spPr>
      </p:pic>
      <p:pic>
        <p:nvPicPr>
          <p:cNvPr id="128" name="Picture 1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5795" y="3135376"/>
            <a:ext cx="128699" cy="187198"/>
          </a:xfrm>
          <a:prstGeom prst="rect">
            <a:avLst/>
          </a:prstGeom>
        </p:spPr>
      </p:pic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162" y="3459226"/>
            <a:ext cx="128699" cy="187198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314325" y="4676775"/>
            <a:ext cx="24262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5 named players compete here; 'Portable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14325" y="4844415"/>
            <a:ext cx="188411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Modular Solar Generators' adds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491" y="4834636"/>
            <a:ext cx="128699" cy="18719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2313986" y="4844415"/>
            <a:ext cx="3010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US$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14325" y="5012055"/>
            <a:ext cx="7880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Mn by 2036.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28987" y="4676775"/>
            <a:ext cx="242627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5 named players compete here; 'Portable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28987" y="4844415"/>
            <a:ext cx="199270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Integrated Solar Generators' adds</a:t>
            </a:r>
          </a:p>
        </p:txBody>
      </p:sp>
      <p:pic>
        <p:nvPicPr>
          <p:cNvPr id="137" name="Picture 1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747" y="4834636"/>
            <a:ext cx="128699" cy="187198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5437243" y="4844415"/>
            <a:ext cx="30102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US$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28987" y="5012055"/>
            <a:ext cx="7880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Mn by 2036.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343650" y="4676775"/>
            <a:ext cx="22423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5 named players compete here; 'Fixed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343650" y="4844415"/>
            <a:ext cx="25193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Residential Solar Power Generator Systems'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343650" y="5012055"/>
            <a:ext cx="3444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adds</a:t>
            </a:r>
          </a:p>
        </p:txBody>
      </p:sp>
      <p:pic>
        <p:nvPicPr>
          <p:cNvPr id="143" name="Picture 1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114" y="5002276"/>
            <a:ext cx="128699" cy="187198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6803610" y="5012055"/>
            <a:ext cx="104455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US$ Mn by 2036.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358313" y="4676775"/>
            <a:ext cx="17288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The top two end uses pay for</a:t>
            </a:r>
          </a:p>
        </p:txBody>
      </p:sp>
      <p:pic>
        <p:nvPicPr>
          <p:cNvPr id="146" name="Picture 1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5226" y="4666996"/>
            <a:ext cx="128699" cy="187198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11202722" y="4676775"/>
            <a:ext cx="41399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of the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358313" y="4844415"/>
            <a:ext cx="25193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market; vendors package for one vertical at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358313" y="5012055"/>
            <a:ext cx="47019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a time.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Player Landscape by Business Type and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Named players by business type and geographic reach, with how each group competes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8300" y="1047750"/>
            <a:ext cx="3422650" cy="2667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4500" y="1047750"/>
            <a:ext cx="33083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1  (4)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99050" y="1047750"/>
            <a:ext cx="3422650" cy="2667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5250" y="1047750"/>
            <a:ext cx="33083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2  (2)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59800" y="1047750"/>
            <a:ext cx="3422650" cy="2667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0" y="1047750"/>
            <a:ext cx="3308350" cy="2667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3 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" y="14097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Global (4)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" y="1581150"/>
            <a:ext cx="133350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Sells in most major regions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7825" y="1390650"/>
            <a:ext cx="0" cy="971550"/>
          </a:xfrm>
          <a:prstGeom prst="line">
            <a:avLst/>
          </a:prstGeom>
          <a:ln w="31750">
            <a:solidFill>
              <a:srgbClr val="1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733550" y="14478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3550" y="14382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4050" y="14287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Jackery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3550" y="16383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3550" y="16287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4050" y="16192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EcoFlow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3550" y="18288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3550" y="18192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4050" y="18097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BLUETTI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3550" y="2019300"/>
            <a:ext cx="142875" cy="1428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3550" y="20097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4050" y="20002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PECRON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08575" y="1390650"/>
            <a:ext cx="0" cy="971550"/>
          </a:xfrm>
          <a:prstGeom prst="line">
            <a:avLst/>
          </a:prstGeom>
          <a:ln w="31750">
            <a:solidFill>
              <a:srgbClr val="E07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69325" y="1390650"/>
            <a:ext cx="0" cy="971550"/>
          </a:xfrm>
          <a:prstGeom prst="line">
            <a:avLst/>
          </a:prstGeom>
          <a:ln w="3175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90500" y="24384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Regional (2)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500" y="2609850"/>
            <a:ext cx="133350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Strong in one or two regions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0500" y="24003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47825" y="2419350"/>
            <a:ext cx="0" cy="971550"/>
          </a:xfrm>
          <a:prstGeom prst="line">
            <a:avLst/>
          </a:prstGeom>
          <a:ln w="31750">
            <a:solidFill>
              <a:srgbClr val="1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08575" y="2419350"/>
            <a:ext cx="0" cy="971550"/>
          </a:xfrm>
          <a:prstGeom prst="line">
            <a:avLst/>
          </a:prstGeom>
          <a:ln w="31750">
            <a:solidFill>
              <a:srgbClr val="E07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194300" y="2476500"/>
            <a:ext cx="142875" cy="14287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94300" y="24669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84800" y="24574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Goal Zero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94300" y="2667000"/>
            <a:ext cx="142875" cy="14287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94300" y="26574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84800" y="26479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Zendure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569325" y="2419350"/>
            <a:ext cx="0" cy="971550"/>
          </a:xfrm>
          <a:prstGeom prst="line">
            <a:avLst/>
          </a:prstGeom>
          <a:ln w="3175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90500" y="3467100"/>
            <a:ext cx="138112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Local or niche (4)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500" y="3638550"/>
            <a:ext cx="133350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One market or one specialist use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0500" y="34290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647825" y="3448050"/>
            <a:ext cx="0" cy="971550"/>
          </a:xfrm>
          <a:prstGeom prst="line">
            <a:avLst/>
          </a:prstGeom>
          <a:ln w="31750">
            <a:solidFill>
              <a:srgbClr val="1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108575" y="3448050"/>
            <a:ext cx="0" cy="971550"/>
          </a:xfrm>
          <a:prstGeom prst="line">
            <a:avLst/>
          </a:prstGeom>
          <a:ln w="31750">
            <a:solidFill>
              <a:srgbClr val="E07B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569325" y="3448050"/>
            <a:ext cx="0" cy="971550"/>
          </a:xfrm>
          <a:prstGeom prst="line">
            <a:avLst/>
          </a:prstGeom>
          <a:ln w="3175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655050" y="3505200"/>
            <a:ext cx="142875" cy="14287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5050" y="34956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45550" y="34861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Dabbsson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55050" y="3695700"/>
            <a:ext cx="142875" cy="14287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55050" y="36861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45550" y="36766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OUPES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55050" y="3886200"/>
            <a:ext cx="142875" cy="14287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55050" y="38766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45550" y="38671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VTOMAN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55050" y="4076700"/>
            <a:ext cx="142875" cy="14287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55050" y="4067175"/>
            <a:ext cx="14287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45550" y="4057650"/>
            <a:ext cx="30797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Powerenz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0500" y="4524375"/>
            <a:ext cx="123825" cy="12382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1950" y="4476750"/>
            <a:ext cx="476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9150" y="4476750"/>
            <a:ext cx="609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47800" y="4476750"/>
            <a:ext cx="1238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combined share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52750" y="4524375"/>
            <a:ext cx="123825" cy="123825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24200" y="4476750"/>
            <a:ext cx="476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81400" y="4476750"/>
            <a:ext cx="609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10050" y="4476750"/>
            <a:ext cx="1238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combined share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15000" y="4524375"/>
            <a:ext cx="123825" cy="123825"/>
          </a:xfrm>
          <a:prstGeom prst="rect">
            <a:avLst/>
          </a:prstGeom>
          <a:solidFill>
            <a:srgbClr val="A9C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86450" y="4476750"/>
            <a:ext cx="476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43650" y="4476750"/>
            <a:ext cx="609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72300" y="4476750"/>
            <a:ext cx="12382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combined share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0500" y="4705350"/>
            <a:ext cx="11811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BY TYPE   Tier 1 4   |   Tier 2 2   |   Tier 3 4      BY REACH   Global 4   |   Regional 2   |   Local or niche 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0500" y="4972050"/>
            <a:ext cx="2809875" cy="38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0500" y="5048250"/>
            <a:ext cx="280987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0500" y="52197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IT EARNS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0500" y="53721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accounts; premium / bundled positioning.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0500" y="57150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DOMINANT STRATEGY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0500" y="58674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3190875" y="4972050"/>
            <a:ext cx="2809875" cy="381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90875" y="5048250"/>
            <a:ext cx="280987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90875" y="52197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IT EARNS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190875" y="53721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Distributors; mid / value-added positioning.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90875" y="57150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DOMINANT STRATEGY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90875" y="58674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6191250" y="4972050"/>
            <a:ext cx="2809875" cy="38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91250" y="5048250"/>
            <a:ext cx="2809875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91250" y="52197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HOW IT EARNS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91250" y="53721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partners; value / entry positioning.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91250" y="5715000"/>
            <a:ext cx="2809875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DOMINANT STRATEGY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91250" y="5867400"/>
            <a:ext cx="2809875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00" y="4487926"/>
            <a:ext cx="128699" cy="187198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850" y="4487926"/>
            <a:ext cx="128699" cy="187198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100" y="4487926"/>
            <a:ext cx="128699" cy="18719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219075" y="5876925"/>
            <a:ext cx="11766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Launch-led growth;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736" y="5867145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511232" y="5876925"/>
            <a:ext cx="1022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combined share.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19450" y="5876925"/>
            <a:ext cx="11766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Launch-led growth;</a:t>
            </a:r>
          </a:p>
        </p:txBody>
      </p:sp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111" y="5867145"/>
            <a:ext cx="128699" cy="18719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4511607" y="5876925"/>
            <a:ext cx="1022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combined share.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19825" y="5876925"/>
            <a:ext cx="117661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Launch-led growth;</a:t>
            </a:r>
          </a:p>
        </p:txBody>
      </p:sp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486" y="5867145"/>
            <a:ext cx="128699" cy="18719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7511982" y="5876925"/>
            <a:ext cx="10227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F2933"/>
                </a:solidFill>
                <a:latin typeface="Calibri"/>
              </a:rPr>
              <a:t>combined share.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Corporate Scorecard: Who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Eight corporate Ps for every named competitor: ownership, strategy, breadth, presence, scale and 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500" y="1047750"/>
            <a:ext cx="1181100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700" y="1047750"/>
            <a:ext cx="66675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LEVEL 1, CORPORATE: WHO THEY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8350" y="1295400"/>
            <a:ext cx="23050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Parent and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8350" y="1657350"/>
            <a:ext cx="2305050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From the company roster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9600" y="129540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Purpose (strategy)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1657350"/>
            <a:ext cx="1193800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Dominant active 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9600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Portfolio breadth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9600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Sub-segments: 6+ 3, 4+ 2, 2+ 1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7933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Presence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7933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Global 3, regional 2, local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6267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Power (scale)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6267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Tier 1 = 3, 2 = 2, 3 =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4600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4600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2933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2933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Talent; not assessed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1267" y="1295400"/>
            <a:ext cx="9821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Partnerships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81267" y="1657350"/>
            <a:ext cx="982133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Named alliances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90500" y="22098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90500" y="2257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750" y="22479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Jackery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750" y="24098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0250" y="22288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9600" y="22288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34" name="Oval 33"/>
          <p:cNvSpPr/>
          <p:nvPr/>
        </p:nvSpPr>
        <p:spPr>
          <a:xfrm>
            <a:off x="6104467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62800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21133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79467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84833" y="22288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43167" y="22288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90500" y="2571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90500" y="2600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5750" y="25908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EcoFlow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5750" y="27527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00250" y="25717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9600" y="25717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46" name="Oval 45"/>
          <p:cNvSpPr/>
          <p:nvPr/>
        </p:nvSpPr>
        <p:spPr>
          <a:xfrm>
            <a:off x="6104467" y="2667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6181725" y="2667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162800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21133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79467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84833" y="25717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43167" y="25717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90500" y="2914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90500" y="2943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5750" y="29337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BLUETTI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750" y="30956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00250" y="29146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19600" y="29146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59" name="Oval 58"/>
          <p:cNvSpPr/>
          <p:nvPr/>
        </p:nvSpPr>
        <p:spPr>
          <a:xfrm>
            <a:off x="6104467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6181725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62800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221133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279467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9353550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84833" y="29146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43167" y="29146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90500" y="3257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190500" y="3286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5750" y="32766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PECRON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5750" y="34385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00250" y="32575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19600" y="32575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73" name="Oval 72"/>
          <p:cNvSpPr/>
          <p:nvPr/>
        </p:nvSpPr>
        <p:spPr>
          <a:xfrm>
            <a:off x="6104467" y="3352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6181725" y="3352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162800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1133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279467" y="3352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9353550" y="3352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84833" y="32575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943167" y="32575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90500" y="3600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90500" y="3629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5750" y="36195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Goal Zero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5750" y="37814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00250" y="36004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19600" y="36004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87" name="Oval 86"/>
          <p:cNvSpPr/>
          <p:nvPr/>
        </p:nvSpPr>
        <p:spPr>
          <a:xfrm>
            <a:off x="6104467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6181725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162800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7239000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221133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8296275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279467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9353550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884833" y="36004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43167" y="36004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90500" y="3971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5750" y="39624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Zendure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5750" y="41243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00250" y="39433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19600" y="39433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103" name="Oval 102"/>
          <p:cNvSpPr/>
          <p:nvPr/>
        </p:nvSpPr>
        <p:spPr>
          <a:xfrm>
            <a:off x="6104467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6181725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162800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239000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221133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8296275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279467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9353550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84833" y="39433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943167" y="39433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90500" y="4286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190500" y="4314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85750" y="43053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Dabbsson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5750" y="44672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00250" y="42862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19600" y="42862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119" name="Oval 118"/>
          <p:cNvSpPr/>
          <p:nvPr/>
        </p:nvSpPr>
        <p:spPr>
          <a:xfrm>
            <a:off x="6104467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6181725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162800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7239000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21133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296275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279467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9353550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884833" y="42862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943167" y="42862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90500" y="4629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190500" y="4657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85750" y="46482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OUPES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85750" y="48101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000250" y="46291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19600" y="46291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135" name="Oval 134"/>
          <p:cNvSpPr/>
          <p:nvPr/>
        </p:nvSpPr>
        <p:spPr>
          <a:xfrm>
            <a:off x="6104467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6181725" y="4724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7162800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7239000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221133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8296275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279467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9353550" y="472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884833" y="46291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943167" y="46291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90500" y="4972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190500" y="50006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85750" y="49911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VTOMAN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85750" y="51530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000250" y="49720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419600" y="49720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Buy to scale</a:t>
            </a:r>
          </a:p>
        </p:txBody>
      </p:sp>
      <p:sp>
        <p:nvSpPr>
          <p:cNvPr id="151" name="Oval 150"/>
          <p:cNvSpPr/>
          <p:nvPr/>
        </p:nvSpPr>
        <p:spPr>
          <a:xfrm>
            <a:off x="6104467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6181725" y="5067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7162800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723900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221133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8296275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279467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935355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884833" y="49720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943167" y="49720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190500" y="5314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190500" y="53435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85750" y="53340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Powerenz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85750" y="54959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000250" y="5314950"/>
            <a:ext cx="238125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419600" y="5314950"/>
            <a:ext cx="11938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Launch-led growth</a:t>
            </a:r>
          </a:p>
        </p:txBody>
      </p:sp>
      <p:sp>
        <p:nvSpPr>
          <p:cNvPr id="167" name="Oval 166"/>
          <p:cNvSpPr/>
          <p:nvPr/>
        </p:nvSpPr>
        <p:spPr>
          <a:xfrm>
            <a:off x="6104467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6181725" y="5410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162800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7239000" y="541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8221133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8296275" y="541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9279467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9353550" y="541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884833" y="53149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43167" y="5314950"/>
            <a:ext cx="1058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190500" y="5657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200025" y="57340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8100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80" name="Oval 179"/>
          <p:cNvSpPr/>
          <p:nvPr/>
        </p:nvSpPr>
        <p:spPr>
          <a:xfrm>
            <a:off x="2065020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133600" y="57340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245995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83" name="Oval 182"/>
          <p:cNvSpPr/>
          <p:nvPr/>
        </p:nvSpPr>
        <p:spPr>
          <a:xfrm>
            <a:off x="367855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3743325" y="57340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85953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86" name="Oval 185"/>
          <p:cNvSpPr/>
          <p:nvPr/>
        </p:nvSpPr>
        <p:spPr>
          <a:xfrm>
            <a:off x="510349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28447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90500" y="59436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90500" y="60960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4 of 10 named players compete globally; scale and share follow the tier structure.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893175" y="1666875"/>
            <a:ext cx="39898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F6B7A"/>
                </a:solidFill>
                <a:latin typeface="Calibri"/>
              </a:rPr>
              <a:t>Share</a:t>
            </a:r>
          </a:p>
        </p:txBody>
      </p:sp>
      <p:pic>
        <p:nvPicPr>
          <p:cNvPr id="192" name="Picture 1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209" y="1657096"/>
            <a:ext cx="128699" cy="187198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9407705" y="1666875"/>
            <a:ext cx="38452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F6B7A"/>
                </a:solidFill>
                <a:latin typeface="Calibri"/>
              </a:rPr>
              <a:t>+ = 3,</a:t>
            </a:r>
          </a:p>
        </p:txBody>
      </p:sp>
      <p:pic>
        <p:nvPicPr>
          <p:cNvPr id="194" name="Picture 1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707" y="1824736"/>
            <a:ext cx="128699" cy="187198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9047203" y="1834515"/>
            <a:ext cx="64345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F6B7A"/>
                </a:solidFill>
                <a:latin typeface="Calibri"/>
              </a:rPr>
              <a:t>= 2, else 1</a:t>
            </a:r>
          </a:p>
        </p:txBody>
      </p:sp>
      <p:pic>
        <p:nvPicPr>
          <p:cNvPr id="196" name="Picture 1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2306701"/>
            <a:ext cx="128699" cy="187198"/>
          </a:xfrm>
          <a:prstGeom prst="rect">
            <a:avLst/>
          </a:prstGeom>
        </p:spPr>
      </p:pic>
      <p:pic>
        <p:nvPicPr>
          <p:cNvPr id="197" name="Picture 1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2306701"/>
            <a:ext cx="128699" cy="187198"/>
          </a:xfrm>
          <a:prstGeom prst="rect">
            <a:avLst/>
          </a:prstGeom>
        </p:spPr>
      </p:pic>
      <p:pic>
        <p:nvPicPr>
          <p:cNvPr id="198" name="Picture 1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2306701"/>
            <a:ext cx="128699" cy="187198"/>
          </a:xfrm>
          <a:prstGeom prst="rect">
            <a:avLst/>
          </a:prstGeom>
        </p:spPr>
      </p:pic>
      <p:pic>
        <p:nvPicPr>
          <p:cNvPr id="199" name="Picture 1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2649601"/>
            <a:ext cx="128699" cy="187198"/>
          </a:xfrm>
          <a:prstGeom prst="rect">
            <a:avLst/>
          </a:prstGeom>
        </p:spPr>
      </p:pic>
      <p:pic>
        <p:nvPicPr>
          <p:cNvPr id="200" name="Picture 1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2649601"/>
            <a:ext cx="128699" cy="187198"/>
          </a:xfrm>
          <a:prstGeom prst="rect">
            <a:avLst/>
          </a:prstGeom>
        </p:spPr>
      </p:pic>
      <p:pic>
        <p:nvPicPr>
          <p:cNvPr id="201" name="Picture 2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2649601"/>
            <a:ext cx="128699" cy="187198"/>
          </a:xfrm>
          <a:prstGeom prst="rect">
            <a:avLst/>
          </a:prstGeom>
        </p:spPr>
      </p:pic>
      <p:pic>
        <p:nvPicPr>
          <p:cNvPr id="202" name="Picture 2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2992501"/>
            <a:ext cx="128699" cy="187198"/>
          </a:xfrm>
          <a:prstGeom prst="rect">
            <a:avLst/>
          </a:prstGeom>
        </p:spPr>
      </p:pic>
      <p:pic>
        <p:nvPicPr>
          <p:cNvPr id="203" name="Picture 2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2992501"/>
            <a:ext cx="128699" cy="187198"/>
          </a:xfrm>
          <a:prstGeom prst="rect">
            <a:avLst/>
          </a:prstGeom>
        </p:spPr>
      </p:pic>
      <p:pic>
        <p:nvPicPr>
          <p:cNvPr id="204" name="Picture 2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2992501"/>
            <a:ext cx="128699" cy="187198"/>
          </a:xfrm>
          <a:prstGeom prst="rect">
            <a:avLst/>
          </a:prstGeom>
        </p:spPr>
      </p:pic>
      <p:pic>
        <p:nvPicPr>
          <p:cNvPr id="205" name="Picture 2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3335401"/>
            <a:ext cx="128699" cy="187198"/>
          </a:xfrm>
          <a:prstGeom prst="rect">
            <a:avLst/>
          </a:prstGeom>
        </p:spPr>
      </p:pic>
      <p:pic>
        <p:nvPicPr>
          <p:cNvPr id="206" name="Picture 20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3335401"/>
            <a:ext cx="128699" cy="187198"/>
          </a:xfrm>
          <a:prstGeom prst="rect">
            <a:avLst/>
          </a:prstGeom>
        </p:spPr>
      </p:pic>
      <p:pic>
        <p:nvPicPr>
          <p:cNvPr id="207" name="Picture 20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3335401"/>
            <a:ext cx="128699" cy="187198"/>
          </a:xfrm>
          <a:prstGeom prst="rect">
            <a:avLst/>
          </a:prstGeom>
        </p:spPr>
      </p:pic>
      <p:pic>
        <p:nvPicPr>
          <p:cNvPr id="208" name="Picture 2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3678301"/>
            <a:ext cx="128699" cy="187198"/>
          </a:xfrm>
          <a:prstGeom prst="rect">
            <a:avLst/>
          </a:prstGeom>
        </p:spPr>
      </p:pic>
      <p:pic>
        <p:nvPicPr>
          <p:cNvPr id="209" name="Picture 20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3678301"/>
            <a:ext cx="128699" cy="187198"/>
          </a:xfrm>
          <a:prstGeom prst="rect">
            <a:avLst/>
          </a:prstGeom>
        </p:spPr>
      </p:pic>
      <p:pic>
        <p:nvPicPr>
          <p:cNvPr id="210" name="Picture 2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3678301"/>
            <a:ext cx="128699" cy="187198"/>
          </a:xfrm>
          <a:prstGeom prst="rect">
            <a:avLst/>
          </a:prstGeom>
        </p:spPr>
      </p:pic>
      <p:pic>
        <p:nvPicPr>
          <p:cNvPr id="211" name="Picture 2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4021201"/>
            <a:ext cx="128699" cy="187198"/>
          </a:xfrm>
          <a:prstGeom prst="rect">
            <a:avLst/>
          </a:prstGeom>
        </p:spPr>
      </p:pic>
      <p:pic>
        <p:nvPicPr>
          <p:cNvPr id="212" name="Picture 2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4021201"/>
            <a:ext cx="128699" cy="187198"/>
          </a:xfrm>
          <a:prstGeom prst="rect">
            <a:avLst/>
          </a:prstGeom>
        </p:spPr>
      </p:pic>
      <p:pic>
        <p:nvPicPr>
          <p:cNvPr id="213" name="Picture 2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4021201"/>
            <a:ext cx="128699" cy="187198"/>
          </a:xfrm>
          <a:prstGeom prst="rect">
            <a:avLst/>
          </a:prstGeom>
        </p:spPr>
      </p:pic>
      <p:pic>
        <p:nvPicPr>
          <p:cNvPr id="214" name="Picture 2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4364101"/>
            <a:ext cx="128699" cy="187198"/>
          </a:xfrm>
          <a:prstGeom prst="rect">
            <a:avLst/>
          </a:prstGeom>
        </p:spPr>
      </p:pic>
      <p:pic>
        <p:nvPicPr>
          <p:cNvPr id="215" name="Picture 2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4364101"/>
            <a:ext cx="128699" cy="187198"/>
          </a:xfrm>
          <a:prstGeom prst="rect">
            <a:avLst/>
          </a:prstGeom>
        </p:spPr>
      </p:pic>
      <p:pic>
        <p:nvPicPr>
          <p:cNvPr id="216" name="Picture 2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4364101"/>
            <a:ext cx="128699" cy="187198"/>
          </a:xfrm>
          <a:prstGeom prst="rect">
            <a:avLst/>
          </a:prstGeom>
        </p:spPr>
      </p:pic>
      <p:pic>
        <p:nvPicPr>
          <p:cNvPr id="217" name="Picture 2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4707001"/>
            <a:ext cx="128699" cy="187198"/>
          </a:xfrm>
          <a:prstGeom prst="rect">
            <a:avLst/>
          </a:prstGeom>
        </p:spPr>
      </p:pic>
      <p:pic>
        <p:nvPicPr>
          <p:cNvPr id="218" name="Picture 2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4707001"/>
            <a:ext cx="128699" cy="187198"/>
          </a:xfrm>
          <a:prstGeom prst="rect">
            <a:avLst/>
          </a:prstGeom>
        </p:spPr>
      </p:pic>
      <p:pic>
        <p:nvPicPr>
          <p:cNvPr id="219" name="Picture 2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4707001"/>
            <a:ext cx="128699" cy="187198"/>
          </a:xfrm>
          <a:prstGeom prst="rect">
            <a:avLst/>
          </a:prstGeom>
        </p:spPr>
      </p:pic>
      <p:pic>
        <p:nvPicPr>
          <p:cNvPr id="220" name="Picture 2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5049901"/>
            <a:ext cx="128699" cy="187198"/>
          </a:xfrm>
          <a:prstGeom prst="rect">
            <a:avLst/>
          </a:prstGeom>
        </p:spPr>
      </p:pic>
      <p:pic>
        <p:nvPicPr>
          <p:cNvPr id="221" name="Picture 2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5049901"/>
            <a:ext cx="128699" cy="187198"/>
          </a:xfrm>
          <a:prstGeom prst="rect">
            <a:avLst/>
          </a:prstGeom>
        </p:spPr>
      </p:pic>
      <p:pic>
        <p:nvPicPr>
          <p:cNvPr id="222" name="Picture 2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5049901"/>
            <a:ext cx="128699" cy="187198"/>
          </a:xfrm>
          <a:prstGeom prst="rect">
            <a:avLst/>
          </a:prstGeom>
        </p:spPr>
      </p:pic>
      <p:pic>
        <p:nvPicPr>
          <p:cNvPr id="223" name="Picture 2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25" y="5392801"/>
            <a:ext cx="128699" cy="187198"/>
          </a:xfrm>
          <a:prstGeom prst="rect">
            <a:avLst/>
          </a:prstGeom>
        </p:spPr>
      </p:pic>
      <p:pic>
        <p:nvPicPr>
          <p:cNvPr id="224" name="Picture 2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650" y="5392801"/>
            <a:ext cx="128699" cy="187198"/>
          </a:xfrm>
          <a:prstGeom prst="rect">
            <a:avLst/>
          </a:prstGeom>
        </p:spPr>
      </p:pic>
      <p:pic>
        <p:nvPicPr>
          <p:cNvPr id="225" name="Picture 2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84" y="53928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Offering Scorecard: What They Sell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Six offering Ps: product, technology, price and model, verticals, proof and 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500" y="1047750"/>
            <a:ext cx="1181100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700" y="1047750"/>
            <a:ext cx="66675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LEVEL 2, OFFERING: WHAT THEY SELL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8350" y="1295400"/>
            <a:ext cx="139457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8350" y="1657350"/>
            <a:ext cx="1394572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Of the top three types offered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9122" y="1295400"/>
            <a:ext cx="139457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Platform (technology)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9122" y="1657350"/>
            <a:ext cx="1394572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R&amp;D and development: both 3, one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9894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Price and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9894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Positioning by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4821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Positioning (verticals)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821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End uses served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9747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9747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Named customer 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4674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Patents and 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4674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Where the study covers patents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0500" y="22098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90500" y="2257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22479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Jackery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750" y="24098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28" name="Oval 27"/>
          <p:cNvSpPr/>
          <p:nvPr/>
        </p:nvSpPr>
        <p:spPr>
          <a:xfrm>
            <a:off x="2659436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30208" y="23241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210050" y="2324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79894" y="22288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4821" y="22288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Residential Solar Self-Consumption, Supplemental Household Power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1647" y="22288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36574" y="22288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0500" y="2571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90500" y="2600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5750" y="25908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EcoFlow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750" y="27527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39" name="Oval 38"/>
          <p:cNvSpPr/>
          <p:nvPr/>
        </p:nvSpPr>
        <p:spPr>
          <a:xfrm>
            <a:off x="2659436" y="26670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733675" y="2667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130208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79894" y="25717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4821" y="25717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Residential Solar Self-Consumption, Emergency Power Backup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1647" y="25717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36574" y="25717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90500" y="2914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0500" y="2943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5750" y="29337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BLUETTI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750" y="30956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50" name="Oval 49"/>
          <p:cNvSpPr/>
          <p:nvPr/>
        </p:nvSpPr>
        <p:spPr>
          <a:xfrm>
            <a:off x="2659436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733675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130208" y="30099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210050" y="3009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79894" y="29146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4821" y="29146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Supplemental Household Power, Emergency Power Backup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71647" y="29146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36574" y="29146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90500" y="3257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90500" y="3286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5750" y="32766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PECRON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5750" y="34385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62" name="Oval 61"/>
          <p:cNvSpPr/>
          <p:nvPr/>
        </p:nvSpPr>
        <p:spPr>
          <a:xfrm>
            <a:off x="2659436" y="3352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733675" y="3352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130208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79894" y="32575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Premium / bundled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44821" y="32575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Residential Solar Self-Consumption, Supplemental Household Power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71647" y="32575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36574" y="32575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90500" y="3600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190500" y="3629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5750" y="36195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Goal Zero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5750" y="37814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73" name="Oval 72"/>
          <p:cNvSpPr/>
          <p:nvPr/>
        </p:nvSpPr>
        <p:spPr>
          <a:xfrm>
            <a:off x="2659436" y="36957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130208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4210050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79894" y="36004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Mid / value-added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44821" y="36004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Residential Solar Self-Consumption, Emergency Power Backup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71647" y="36004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36574" y="36004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90500" y="3971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5750" y="39624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Zendure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5750" y="41243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84" name="Oval 83"/>
          <p:cNvSpPr/>
          <p:nvPr/>
        </p:nvSpPr>
        <p:spPr>
          <a:xfrm>
            <a:off x="2659436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33675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130208" y="40386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79894" y="39433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Mid / value-added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44821" y="39433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Supplemental Household Power, Emergency Power Backup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71647" y="39433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36574" y="39433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90500" y="4286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190500" y="4314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5750" y="43053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Dabbsson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5750" y="44672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95" name="Oval 94"/>
          <p:cNvSpPr/>
          <p:nvPr/>
        </p:nvSpPr>
        <p:spPr>
          <a:xfrm>
            <a:off x="2659436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2733675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130208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4210050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979894" y="42862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Value / entry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44821" y="42862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Residential Solar Self-Consumption, Supplemental Household Power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71647" y="42862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36574" y="42862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90500" y="4629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190500" y="4657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5750" y="46482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OUPES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85750" y="48101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07" name="Oval 106"/>
          <p:cNvSpPr/>
          <p:nvPr/>
        </p:nvSpPr>
        <p:spPr>
          <a:xfrm>
            <a:off x="2659436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733675" y="4724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130208" y="47244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979894" y="46291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Value / entry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44821" y="46291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Residential Solar Self-Consumption, Emergency Power Backup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71647" y="46291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36574" y="46291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90500" y="4972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190500" y="50006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85750" y="49911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VTOMAN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85750" y="51530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18" name="Oval 117"/>
          <p:cNvSpPr/>
          <p:nvPr/>
        </p:nvSpPr>
        <p:spPr>
          <a:xfrm>
            <a:off x="2659436" y="50673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130208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4210050" y="5067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7" y="7"/>
                </a:lnTo>
                <a:lnTo>
                  <a:pt x="8" y="8"/>
                </a:lnTo>
                <a:lnTo>
                  <a:pt x="7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79894" y="49720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Value / entry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44821" y="49720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Supplemental Household Power, Emergency Power Backup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71647" y="49720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236574" y="49720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90500" y="5314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190500" y="53435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85750" y="53340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Powerenz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5750" y="54959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29" name="Oval 128"/>
          <p:cNvSpPr/>
          <p:nvPr/>
        </p:nvSpPr>
        <p:spPr>
          <a:xfrm>
            <a:off x="2659436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733675" y="5410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130208" y="54102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979894" y="53149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Value / entry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744821" y="53149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Residential Solar Self-Consumption, Supplemental Household Power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471647" y="53149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236574" y="53149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190500" y="5657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200025" y="57340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8100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39" name="Oval 138"/>
          <p:cNvSpPr/>
          <p:nvPr/>
        </p:nvSpPr>
        <p:spPr>
          <a:xfrm>
            <a:off x="2065020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133600" y="57340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245995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42" name="Oval 141"/>
          <p:cNvSpPr/>
          <p:nvPr/>
        </p:nvSpPr>
        <p:spPr>
          <a:xfrm>
            <a:off x="367855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3743325" y="57340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85953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45" name="Oval 144"/>
          <p:cNvSpPr/>
          <p:nvPr/>
        </p:nvSpPr>
        <p:spPr>
          <a:xfrm>
            <a:off x="510349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28447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0500" y="59436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90500" y="60960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breadth and technology strength do not always go together; the end uses each player serves show where it competes head to head.  Proof needs customer research.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2306701"/>
            <a:ext cx="128699" cy="187198"/>
          </a:xfrm>
          <a:prstGeom prst="rect">
            <a:avLst/>
          </a:prstGeom>
        </p:spPr>
      </p:pic>
      <p:pic>
        <p:nvPicPr>
          <p:cNvPr id="151" name="Picture 1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2306701"/>
            <a:ext cx="128699" cy="187198"/>
          </a:xfrm>
          <a:prstGeom prst="rect">
            <a:avLst/>
          </a:prstGeom>
        </p:spPr>
      </p:pic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2649601"/>
            <a:ext cx="128699" cy="187198"/>
          </a:xfrm>
          <a:prstGeom prst="rect">
            <a:avLst/>
          </a:prstGeom>
        </p:spPr>
      </p:pic>
      <p:pic>
        <p:nvPicPr>
          <p:cNvPr id="153" name="Picture 1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2649601"/>
            <a:ext cx="128699" cy="187198"/>
          </a:xfrm>
          <a:prstGeom prst="rect">
            <a:avLst/>
          </a:prstGeom>
        </p:spPr>
      </p:pic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2992501"/>
            <a:ext cx="128699" cy="187198"/>
          </a:xfrm>
          <a:prstGeom prst="rect">
            <a:avLst/>
          </a:prstGeom>
        </p:spPr>
      </p:pic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2992501"/>
            <a:ext cx="128699" cy="187198"/>
          </a:xfrm>
          <a:prstGeom prst="rect">
            <a:avLst/>
          </a:prstGeom>
        </p:spPr>
      </p:pic>
      <p:pic>
        <p:nvPicPr>
          <p:cNvPr id="156" name="Picture 1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3335401"/>
            <a:ext cx="128699" cy="187198"/>
          </a:xfrm>
          <a:prstGeom prst="rect">
            <a:avLst/>
          </a:prstGeom>
        </p:spPr>
      </p:pic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3335401"/>
            <a:ext cx="128699" cy="187198"/>
          </a:xfrm>
          <a:prstGeom prst="rect">
            <a:avLst/>
          </a:prstGeom>
        </p:spPr>
      </p:pic>
      <p:pic>
        <p:nvPicPr>
          <p:cNvPr id="158" name="Picture 1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3678301"/>
            <a:ext cx="128699" cy="187198"/>
          </a:xfrm>
          <a:prstGeom prst="rect">
            <a:avLst/>
          </a:prstGeom>
        </p:spPr>
      </p:pic>
      <p:pic>
        <p:nvPicPr>
          <p:cNvPr id="159" name="Picture 1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3678301"/>
            <a:ext cx="128699" cy="187198"/>
          </a:xfrm>
          <a:prstGeom prst="rect">
            <a:avLst/>
          </a:prstGeom>
        </p:spPr>
      </p:pic>
      <p:pic>
        <p:nvPicPr>
          <p:cNvPr id="160" name="Picture 1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4021201"/>
            <a:ext cx="128699" cy="187198"/>
          </a:xfrm>
          <a:prstGeom prst="rect">
            <a:avLst/>
          </a:prstGeom>
        </p:spPr>
      </p:pic>
      <p:pic>
        <p:nvPicPr>
          <p:cNvPr id="161" name="Picture 1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4021201"/>
            <a:ext cx="128699" cy="187198"/>
          </a:xfrm>
          <a:prstGeom prst="rect">
            <a:avLst/>
          </a:prstGeom>
        </p:spPr>
      </p:pic>
      <p:pic>
        <p:nvPicPr>
          <p:cNvPr id="162" name="Picture 1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4364101"/>
            <a:ext cx="128699" cy="187198"/>
          </a:xfrm>
          <a:prstGeom prst="rect">
            <a:avLst/>
          </a:prstGeom>
        </p:spPr>
      </p:pic>
      <p:pic>
        <p:nvPicPr>
          <p:cNvPr id="163" name="Picture 1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4364101"/>
            <a:ext cx="128699" cy="187198"/>
          </a:xfrm>
          <a:prstGeom prst="rect">
            <a:avLst/>
          </a:prstGeom>
        </p:spPr>
      </p:pic>
      <p:pic>
        <p:nvPicPr>
          <p:cNvPr id="164" name="Picture 1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4707001"/>
            <a:ext cx="128699" cy="187198"/>
          </a:xfrm>
          <a:prstGeom prst="rect">
            <a:avLst/>
          </a:prstGeom>
        </p:spPr>
      </p:pic>
      <p:pic>
        <p:nvPicPr>
          <p:cNvPr id="165" name="Picture 1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4707001"/>
            <a:ext cx="128699" cy="187198"/>
          </a:xfrm>
          <a:prstGeom prst="rect">
            <a:avLst/>
          </a:prstGeom>
        </p:spPr>
      </p:pic>
      <p:pic>
        <p:nvPicPr>
          <p:cNvPr id="166" name="Picture 1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5049901"/>
            <a:ext cx="128699" cy="187198"/>
          </a:xfrm>
          <a:prstGeom prst="rect">
            <a:avLst/>
          </a:prstGeom>
        </p:spPr>
      </p:pic>
      <p:pic>
        <p:nvPicPr>
          <p:cNvPr id="167" name="Picture 1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5049901"/>
            <a:ext cx="128699" cy="187198"/>
          </a:xfrm>
          <a:prstGeom prst="rect">
            <a:avLst/>
          </a:prstGeom>
        </p:spPr>
      </p:pic>
      <p:pic>
        <p:nvPicPr>
          <p:cNvPr id="168" name="Picture 1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60" y="5392801"/>
            <a:ext cx="128699" cy="187198"/>
          </a:xfrm>
          <a:prstGeom prst="rect">
            <a:avLst/>
          </a:prstGeom>
        </p:spPr>
      </p:pic>
      <p:pic>
        <p:nvPicPr>
          <p:cNvPr id="169" name="Picture 1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687" y="53928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Execution Scorecard: How They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Six execution Ps: channel, promotion, momentum, pipeline, policy exposure and prospects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500" y="1047750"/>
            <a:ext cx="11811000" cy="2095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700" y="1047750"/>
            <a:ext cx="66675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LEVEL 3, EXECUTION: HOW THEY 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8350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Place (channel)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8350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Route to market by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276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276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Go-to-market; not assessed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8203" y="1295400"/>
            <a:ext cx="139457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Pace (momentum)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8203" y="1657350"/>
            <a:ext cx="1394572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Active moves: 5+ = 3, 3-4 =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8975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8975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Launch or development in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3901" y="129540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Policy 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3901" y="1657350"/>
            <a:ext cx="1688726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Regulation in its favour or against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8828" y="1295400"/>
            <a:ext cx="1394572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D52"/>
                </a:solidFill>
                <a:latin typeface="Calibri"/>
              </a:rPr>
              <a:t>Prospects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8828" y="1657350"/>
            <a:ext cx="1394572" cy="5143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Gaining 3, holding 2, at risk 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0500" y="22098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90500" y="22574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22479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Jackery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750" y="24098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8350" y="22288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5176" y="22288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6189289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00875" y="22288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5801" y="22288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3" name="Oval 32"/>
          <p:cNvSpPr/>
          <p:nvPr/>
        </p:nvSpPr>
        <p:spPr>
          <a:xfrm>
            <a:off x="11189914" y="23241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90500" y="2571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90500" y="26003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5750" y="25908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EcoFlow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750" y="27527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38350" y="25717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5176" y="25717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6189289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38975" y="25717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65801" y="25717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11189914" y="26670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90500" y="29146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90500" y="29432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5750" y="29337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BLUETTI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5750" y="30956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38350" y="29146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65176" y="29146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6189289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00875" y="29146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65801" y="29146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11189914" y="30099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90500" y="3257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190500" y="3286125"/>
            <a:ext cx="38100" cy="2857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5750" y="32766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PECRON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5750" y="34385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38350" y="32575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Direct + key accounts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65176" y="32575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0" name="Oval 59"/>
          <p:cNvSpPr/>
          <p:nvPr/>
        </p:nvSpPr>
        <p:spPr>
          <a:xfrm>
            <a:off x="6189289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38975" y="32575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65801" y="32575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3" name="Oval 62"/>
          <p:cNvSpPr/>
          <p:nvPr/>
        </p:nvSpPr>
        <p:spPr>
          <a:xfrm>
            <a:off x="11189914" y="33528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190500" y="36004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90500" y="36290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5750" y="36195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Goal Zero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5750" y="37814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38350" y="36004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Distributors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65176" y="36004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0" name="Oval 69"/>
          <p:cNvSpPr/>
          <p:nvPr/>
        </p:nvSpPr>
        <p:spPr>
          <a:xfrm>
            <a:off x="6189289" y="36957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00875" y="36004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65801" y="36004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3" name="Oval 72"/>
          <p:cNvSpPr/>
          <p:nvPr/>
        </p:nvSpPr>
        <p:spPr>
          <a:xfrm>
            <a:off x="11189914" y="36957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1268075" y="3695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190500" y="3971925"/>
            <a:ext cx="38100" cy="2857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5750" y="39624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Zendure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5750" y="41243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38350" y="39433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Distributors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65176" y="39433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1" name="Oval 80"/>
          <p:cNvSpPr/>
          <p:nvPr/>
        </p:nvSpPr>
        <p:spPr>
          <a:xfrm>
            <a:off x="6189289" y="40386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38975" y="39433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65801" y="39433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4" name="Oval 83"/>
          <p:cNvSpPr/>
          <p:nvPr/>
        </p:nvSpPr>
        <p:spPr>
          <a:xfrm>
            <a:off x="11189914" y="40386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1268075" y="4038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190500" y="42862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90500" y="43148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5750" y="43053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Dabbsson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5750" y="44672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38350" y="42862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65176" y="42862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2" name="Oval 91"/>
          <p:cNvSpPr/>
          <p:nvPr/>
        </p:nvSpPr>
        <p:spPr>
          <a:xfrm>
            <a:off x="6189289" y="43815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00875" y="42862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65801" y="42862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95" name="Oval 94"/>
          <p:cNvSpPr/>
          <p:nvPr/>
        </p:nvSpPr>
        <p:spPr>
          <a:xfrm>
            <a:off x="11189914" y="43815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1268075" y="4381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190500" y="4629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90500" y="46577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5750" y="46482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OUPES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5750" y="48101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38350" y="46291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65176" y="46291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3" name="Oval 102"/>
          <p:cNvSpPr/>
          <p:nvPr/>
        </p:nvSpPr>
        <p:spPr>
          <a:xfrm>
            <a:off x="6189289" y="47244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038975" y="46291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765801" y="46291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6" name="Oval 105"/>
          <p:cNvSpPr/>
          <p:nvPr/>
        </p:nvSpPr>
        <p:spPr>
          <a:xfrm>
            <a:off x="11189914" y="47244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1268075" y="4724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190500" y="49720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190500" y="50006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5750" y="49911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VTOMAN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85750" y="51530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38350" y="49720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65176" y="49720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4" name="Oval 113"/>
          <p:cNvSpPr/>
          <p:nvPr/>
        </p:nvSpPr>
        <p:spPr>
          <a:xfrm>
            <a:off x="6189289" y="50673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00875" y="49720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765801" y="49720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7" name="Oval 116"/>
          <p:cNvSpPr/>
          <p:nvPr/>
        </p:nvSpPr>
        <p:spPr>
          <a:xfrm>
            <a:off x="11189914" y="50673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1268075" y="5067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190500" y="5314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190500" y="5343525"/>
            <a:ext cx="38100" cy="2857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85750" y="5334000"/>
            <a:ext cx="16954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Powerenz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5750" y="5495925"/>
            <a:ext cx="16954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Tier 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038350" y="53149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Regional partners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765176" y="53149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5" name="Oval 124"/>
          <p:cNvSpPr/>
          <p:nvPr/>
        </p:nvSpPr>
        <p:spPr>
          <a:xfrm>
            <a:off x="6189289" y="541020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038975" y="5314950"/>
            <a:ext cx="16887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Launch pipeline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65801" y="5314950"/>
            <a:ext cx="1764926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8" name="Oval 127"/>
          <p:cNvSpPr/>
          <p:nvPr/>
        </p:nvSpPr>
        <p:spPr>
          <a:xfrm>
            <a:off x="11189914" y="54102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1268075" y="5410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7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190500" y="56578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200025" y="57340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8100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33" name="Oval 132"/>
          <p:cNvSpPr/>
          <p:nvPr/>
        </p:nvSpPr>
        <p:spPr>
          <a:xfrm>
            <a:off x="2065020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2133600" y="57340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245995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36" name="Oval 135"/>
          <p:cNvSpPr/>
          <p:nvPr/>
        </p:nvSpPr>
        <p:spPr>
          <a:xfrm>
            <a:off x="367855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3743325" y="57340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85953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39" name="Oval 138"/>
          <p:cNvSpPr/>
          <p:nvPr/>
        </p:nvSpPr>
        <p:spPr>
          <a:xfrm>
            <a:off x="5103495" y="57340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284470" y="57150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0500" y="59436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READING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90500" y="6096000"/>
            <a:ext cx="11811000" cy="2286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Momentum sits with the players running the most strategic moves; prospects combine breadth, reach, scale and pace.  Promotion and policy exposure need market and regulatory research.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44" name="Picture 1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2306701"/>
            <a:ext cx="128699" cy="187198"/>
          </a:xfrm>
          <a:prstGeom prst="rect">
            <a:avLst/>
          </a:prstGeom>
        </p:spPr>
      </p:pic>
      <p:pic>
        <p:nvPicPr>
          <p:cNvPr id="145" name="Picture 1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988" y="2306701"/>
            <a:ext cx="128699" cy="187198"/>
          </a:xfrm>
          <a:prstGeom prst="rect">
            <a:avLst/>
          </a:prstGeom>
        </p:spPr>
      </p:pic>
      <p:pic>
        <p:nvPicPr>
          <p:cNvPr id="146" name="Picture 1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2306701"/>
            <a:ext cx="128699" cy="187198"/>
          </a:xfrm>
          <a:prstGeom prst="rect">
            <a:avLst/>
          </a:prstGeom>
        </p:spPr>
      </p:pic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2649601"/>
            <a:ext cx="128699" cy="187198"/>
          </a:xfrm>
          <a:prstGeom prst="rect">
            <a:avLst/>
          </a:prstGeom>
        </p:spPr>
      </p:pic>
      <p:pic>
        <p:nvPicPr>
          <p:cNvPr id="148" name="Picture 1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2649601"/>
            <a:ext cx="128699" cy="187198"/>
          </a:xfrm>
          <a:prstGeom prst="rect">
            <a:avLst/>
          </a:prstGeom>
        </p:spPr>
      </p:pic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2992501"/>
            <a:ext cx="128699" cy="187198"/>
          </a:xfrm>
          <a:prstGeom prst="rect">
            <a:avLst/>
          </a:prstGeom>
        </p:spPr>
      </p:pic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988" y="2992501"/>
            <a:ext cx="128699" cy="187198"/>
          </a:xfrm>
          <a:prstGeom prst="rect">
            <a:avLst/>
          </a:prstGeom>
        </p:spPr>
      </p:pic>
      <p:pic>
        <p:nvPicPr>
          <p:cNvPr id="151" name="Picture 1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2992501"/>
            <a:ext cx="128699" cy="187198"/>
          </a:xfrm>
          <a:prstGeom prst="rect">
            <a:avLst/>
          </a:prstGeom>
        </p:spPr>
      </p:pic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3335401"/>
            <a:ext cx="128699" cy="187198"/>
          </a:xfrm>
          <a:prstGeom prst="rect">
            <a:avLst/>
          </a:prstGeom>
        </p:spPr>
      </p:pic>
      <p:pic>
        <p:nvPicPr>
          <p:cNvPr id="153" name="Picture 1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3335401"/>
            <a:ext cx="128699" cy="187198"/>
          </a:xfrm>
          <a:prstGeom prst="rect">
            <a:avLst/>
          </a:prstGeom>
        </p:spPr>
      </p:pic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3678301"/>
            <a:ext cx="128699" cy="187198"/>
          </a:xfrm>
          <a:prstGeom prst="rect">
            <a:avLst/>
          </a:prstGeom>
        </p:spPr>
      </p:pic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988" y="3678301"/>
            <a:ext cx="128699" cy="187198"/>
          </a:xfrm>
          <a:prstGeom prst="rect">
            <a:avLst/>
          </a:prstGeom>
        </p:spPr>
      </p:pic>
      <p:pic>
        <p:nvPicPr>
          <p:cNvPr id="156" name="Picture 1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3678301"/>
            <a:ext cx="128699" cy="187198"/>
          </a:xfrm>
          <a:prstGeom prst="rect">
            <a:avLst/>
          </a:prstGeom>
        </p:spPr>
      </p:pic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4021201"/>
            <a:ext cx="128699" cy="187198"/>
          </a:xfrm>
          <a:prstGeom prst="rect">
            <a:avLst/>
          </a:prstGeom>
        </p:spPr>
      </p:pic>
      <p:pic>
        <p:nvPicPr>
          <p:cNvPr id="158" name="Picture 1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4021201"/>
            <a:ext cx="128699" cy="187198"/>
          </a:xfrm>
          <a:prstGeom prst="rect">
            <a:avLst/>
          </a:prstGeom>
        </p:spPr>
      </p:pic>
      <p:pic>
        <p:nvPicPr>
          <p:cNvPr id="159" name="Picture 1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4364101"/>
            <a:ext cx="128699" cy="187198"/>
          </a:xfrm>
          <a:prstGeom prst="rect">
            <a:avLst/>
          </a:prstGeom>
        </p:spPr>
      </p:pic>
      <p:pic>
        <p:nvPicPr>
          <p:cNvPr id="160" name="Picture 1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988" y="4364101"/>
            <a:ext cx="128699" cy="187198"/>
          </a:xfrm>
          <a:prstGeom prst="rect">
            <a:avLst/>
          </a:prstGeom>
        </p:spPr>
      </p:pic>
      <p:pic>
        <p:nvPicPr>
          <p:cNvPr id="161" name="Picture 1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4364101"/>
            <a:ext cx="128699" cy="187198"/>
          </a:xfrm>
          <a:prstGeom prst="rect">
            <a:avLst/>
          </a:prstGeom>
        </p:spPr>
      </p:pic>
      <p:pic>
        <p:nvPicPr>
          <p:cNvPr id="162" name="Picture 1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4707001"/>
            <a:ext cx="128699" cy="187198"/>
          </a:xfrm>
          <a:prstGeom prst="rect">
            <a:avLst/>
          </a:prstGeom>
        </p:spPr>
      </p:pic>
      <p:pic>
        <p:nvPicPr>
          <p:cNvPr id="163" name="Picture 1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4707001"/>
            <a:ext cx="128699" cy="187198"/>
          </a:xfrm>
          <a:prstGeom prst="rect">
            <a:avLst/>
          </a:prstGeom>
        </p:spPr>
      </p:pic>
      <p:pic>
        <p:nvPicPr>
          <p:cNvPr id="164" name="Picture 1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5049901"/>
            <a:ext cx="128699" cy="187198"/>
          </a:xfrm>
          <a:prstGeom prst="rect">
            <a:avLst/>
          </a:prstGeom>
        </p:spPr>
      </p:pic>
      <p:pic>
        <p:nvPicPr>
          <p:cNvPr id="165" name="Picture 1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988" y="5049901"/>
            <a:ext cx="128699" cy="187198"/>
          </a:xfrm>
          <a:prstGeom prst="rect">
            <a:avLst/>
          </a:prstGeom>
        </p:spPr>
      </p:pic>
      <p:pic>
        <p:nvPicPr>
          <p:cNvPr id="166" name="Picture 1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5049901"/>
            <a:ext cx="128699" cy="187198"/>
          </a:xfrm>
          <a:prstGeom prst="rect">
            <a:avLst/>
          </a:prstGeom>
        </p:spPr>
      </p:pic>
      <p:pic>
        <p:nvPicPr>
          <p:cNvPr id="167" name="Picture 1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9" y="5392801"/>
            <a:ext cx="128699" cy="187198"/>
          </a:xfrm>
          <a:prstGeom prst="rect">
            <a:avLst/>
          </a:prstGeom>
        </p:spPr>
      </p:pic>
      <p:pic>
        <p:nvPicPr>
          <p:cNvPr id="168" name="Picture 1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14" y="53928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Success Factors and Composite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Five weighted success factors and the composite ranking they produce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360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1. Segment breadth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360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360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Lead or be active in several sub-segments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095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2. Scale and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095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095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Tier position and share of market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3. Geographic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830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830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Global, regional or single-market 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565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4. Innovation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565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565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R&amp;D and product development in 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1047750"/>
            <a:ext cx="1581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5. Strategic momentum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0" y="1209675"/>
            <a:ext cx="15811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0" y="1371600"/>
            <a:ext cx="15811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Number of active strategic moves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0350" y="104775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Composite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0350" y="1219200"/>
            <a:ext cx="161925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weighted 0 to 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0500" y="1752600"/>
            <a:ext cx="11811000" cy="0"/>
          </a:xfrm>
          <a:prstGeom prst="line">
            <a:avLst/>
          </a:prstGeom>
          <a:ln w="1270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0500" y="18478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5750" y="18097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Jackery</a:t>
            </a:r>
          </a:p>
        </p:txBody>
      </p:sp>
      <p:sp>
        <p:nvSpPr>
          <p:cNvPr id="30" name="Oval 29"/>
          <p:cNvSpPr/>
          <p:nvPr/>
        </p:nvSpPr>
        <p:spPr>
          <a:xfrm>
            <a:off x="284797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0532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6267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20025" y="1885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896225" y="1885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77375" y="1885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20350" y="1895475"/>
            <a:ext cx="10858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44300" y="18097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0500" y="2114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90500" y="21526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5750" y="21145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EcoFlow</a:t>
            </a:r>
          </a:p>
        </p:txBody>
      </p:sp>
      <p:sp>
        <p:nvSpPr>
          <p:cNvPr id="41" name="Oval 40"/>
          <p:cNvSpPr/>
          <p:nvPr/>
        </p:nvSpPr>
        <p:spPr>
          <a:xfrm>
            <a:off x="2847975" y="2190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924175" y="21907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05325" y="2190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62675" y="2190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20025" y="2190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77375" y="2190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20350" y="2200275"/>
            <a:ext cx="10287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87150" y="21145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90500" y="2419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90500" y="24574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5750" y="24193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PECRON</a:t>
            </a:r>
          </a:p>
        </p:txBody>
      </p:sp>
      <p:sp>
        <p:nvSpPr>
          <p:cNvPr id="52" name="Oval 51"/>
          <p:cNvSpPr/>
          <p:nvPr/>
        </p:nvSpPr>
        <p:spPr>
          <a:xfrm>
            <a:off x="2847975" y="2495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924175" y="24955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05325" y="2495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162675" y="2495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20025" y="2495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477375" y="2495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420350" y="2505075"/>
            <a:ext cx="10287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87150" y="24193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90500" y="2724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90500" y="2762250"/>
            <a:ext cx="38100" cy="2286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5750" y="27241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BLUETTI</a:t>
            </a:r>
          </a:p>
        </p:txBody>
      </p:sp>
      <p:sp>
        <p:nvSpPr>
          <p:cNvPr id="63" name="Oval 62"/>
          <p:cNvSpPr/>
          <p:nvPr/>
        </p:nvSpPr>
        <p:spPr>
          <a:xfrm>
            <a:off x="2847975" y="2800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924175" y="28003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50532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16267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820025" y="2800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896225" y="28003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77375" y="2800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20350" y="2809875"/>
            <a:ext cx="9715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430000" y="27241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90500" y="3028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190500" y="3067050"/>
            <a:ext cx="38100" cy="2286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5750" y="30289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Zendure</a:t>
            </a:r>
          </a:p>
        </p:txBody>
      </p:sp>
      <p:sp>
        <p:nvSpPr>
          <p:cNvPr id="75" name="Oval 74"/>
          <p:cNvSpPr/>
          <p:nvPr/>
        </p:nvSpPr>
        <p:spPr>
          <a:xfrm>
            <a:off x="2847975" y="3105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924175" y="3105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505325" y="3105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4581525" y="3105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162675" y="3105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6238875" y="3105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820025" y="31051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477375" y="31051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20350" y="3114675"/>
            <a:ext cx="8763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334750" y="30289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90500" y="3333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190500" y="3371850"/>
            <a:ext cx="38100" cy="2286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5750" y="33337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Goal Zero</a:t>
            </a:r>
          </a:p>
        </p:txBody>
      </p:sp>
      <p:sp>
        <p:nvSpPr>
          <p:cNvPr id="88" name="Oval 87"/>
          <p:cNvSpPr/>
          <p:nvPr/>
        </p:nvSpPr>
        <p:spPr>
          <a:xfrm>
            <a:off x="284797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92417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50532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458152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16267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623887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820025" y="34099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896225" y="34099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477375" y="34099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420350" y="3419475"/>
            <a:ext cx="8191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277600" y="33337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90500" y="36385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190500" y="3676650"/>
            <a:ext cx="381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85750" y="36385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OUPES</a:t>
            </a:r>
          </a:p>
        </p:txBody>
      </p:sp>
      <p:sp>
        <p:nvSpPr>
          <p:cNvPr id="102" name="Oval 101"/>
          <p:cNvSpPr/>
          <p:nvPr/>
        </p:nvSpPr>
        <p:spPr>
          <a:xfrm>
            <a:off x="2847975" y="3714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2924175" y="37147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505325" y="3714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4581525" y="3714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162675" y="37147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6238875" y="3714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820025" y="3714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477375" y="37147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420350" y="3724275"/>
            <a:ext cx="7239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182350" y="36385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90500" y="39433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190500" y="3981450"/>
            <a:ext cx="381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85750" y="39433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Powerenz</a:t>
            </a:r>
          </a:p>
        </p:txBody>
      </p:sp>
      <p:sp>
        <p:nvSpPr>
          <p:cNvPr id="115" name="Oval 114"/>
          <p:cNvSpPr/>
          <p:nvPr/>
        </p:nvSpPr>
        <p:spPr>
          <a:xfrm>
            <a:off x="284797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2924175" y="40195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50532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81525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162675" y="40195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6238875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820025" y="4019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477375" y="40195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420350" y="4029075"/>
            <a:ext cx="72390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182350" y="39433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90500" y="42481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190500" y="4286250"/>
            <a:ext cx="381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85750" y="42481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Dabbsson</a:t>
            </a:r>
          </a:p>
        </p:txBody>
      </p:sp>
      <p:sp>
        <p:nvSpPr>
          <p:cNvPr id="128" name="Oval 127"/>
          <p:cNvSpPr/>
          <p:nvPr/>
        </p:nvSpPr>
        <p:spPr>
          <a:xfrm>
            <a:off x="2847975" y="4324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924175" y="43243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505325" y="4324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4581525" y="43243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162675" y="4324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6238875" y="43243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20025" y="43243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7896225" y="43243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477375" y="43243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420350" y="4333875"/>
            <a:ext cx="6667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125200" y="42481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190500" y="45529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190500" y="4591050"/>
            <a:ext cx="38100" cy="228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85750" y="4552950"/>
            <a:ext cx="1809750" cy="3048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VTOMAN</a:t>
            </a:r>
          </a:p>
        </p:txBody>
      </p:sp>
      <p:sp>
        <p:nvSpPr>
          <p:cNvPr id="142" name="Oval 141"/>
          <p:cNvSpPr/>
          <p:nvPr/>
        </p:nvSpPr>
        <p:spPr>
          <a:xfrm>
            <a:off x="2847975" y="4629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924175" y="4629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505325" y="4629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4581525" y="4629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162675" y="4629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6238875" y="4629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820025" y="462915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7896225" y="4629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0" y="8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7" y="4"/>
                </a:lnTo>
                <a:lnTo>
                  <a:pt x="8" y="5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3" y="16"/>
                </a:lnTo>
                <a:lnTo>
                  <a:pt x="1" y="16"/>
                </a:lnTo>
                <a:lnTo>
                  <a:pt x="0" y="16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477375" y="4629150"/>
            <a:ext cx="152400" cy="15240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420350" y="4638675"/>
            <a:ext cx="666750" cy="13335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1125200" y="4552950"/>
            <a:ext cx="4191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 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190500" y="485775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>
            <a:off x="200025" y="4933950"/>
            <a:ext cx="133350" cy="13335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81000" y="49149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Strong, direct evidence</a:t>
            </a:r>
          </a:p>
        </p:txBody>
      </p:sp>
      <p:sp>
        <p:nvSpPr>
          <p:cNvPr id="156" name="Oval 155"/>
          <p:cNvSpPr/>
          <p:nvPr/>
        </p:nvSpPr>
        <p:spPr>
          <a:xfrm>
            <a:off x="2065020" y="49339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2133600" y="493395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7" h="14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6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245995" y="49149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Moderate or partial</a:t>
            </a:r>
          </a:p>
        </p:txBody>
      </p:sp>
      <p:sp>
        <p:nvSpPr>
          <p:cNvPr id="159" name="Oval 158"/>
          <p:cNvSpPr/>
          <p:nvPr/>
        </p:nvSpPr>
        <p:spPr>
          <a:xfrm>
            <a:off x="3678555" y="49339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3743325" y="49339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7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close/>
              </a:path>
            </a:pathLst>
          </a:custGeom>
          <a:solidFill>
            <a:srgbClr val="0F2D52"/>
          </a:solidFill>
          <a:ln w="63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859530" y="49149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Weak or indirect</a:t>
            </a:r>
          </a:p>
        </p:txBody>
      </p:sp>
      <p:sp>
        <p:nvSpPr>
          <p:cNvPr id="162" name="Oval 161"/>
          <p:cNvSpPr/>
          <p:nvPr/>
        </p:nvSpPr>
        <p:spPr>
          <a:xfrm>
            <a:off x="5103495" y="49339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284470" y="4914900"/>
            <a:ext cx="16192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None found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90500" y="5143500"/>
            <a:ext cx="2857500" cy="152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STRATEGIC GROUPS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90500" y="5334000"/>
            <a:ext cx="3810000" cy="285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90500" y="5391150"/>
            <a:ext cx="3810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90500" y="5562600"/>
            <a:ext cx="38100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Jackery, EcoFlow, PECRON, BLUETTI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90500" y="5924550"/>
            <a:ext cx="38100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Wins on scale and share; weakest on segment breadth.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191000" y="5334000"/>
            <a:ext cx="3810000" cy="285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191000" y="5391150"/>
            <a:ext cx="3810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191000" y="5562600"/>
            <a:ext cx="38100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Zendure, Goal Zero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191000" y="5924550"/>
            <a:ext cx="38100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Wins on strategic momentum; weakest on segment breadth.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191500" y="5334000"/>
            <a:ext cx="3810000" cy="28575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191500" y="5391150"/>
            <a:ext cx="3810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Tier 3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191500" y="5562600"/>
            <a:ext cx="38100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OUPES, Powerenz, Dabbsson, VTOMAN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191500" y="5924550"/>
            <a:ext cx="38100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Wins on strategic momentum; weakest on scale and share.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78" name="Picture 1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9500" y="1868551"/>
            <a:ext cx="128699" cy="187198"/>
          </a:xfrm>
          <a:prstGeom prst="rect">
            <a:avLst/>
          </a:prstGeom>
        </p:spPr>
      </p:pic>
      <p:pic>
        <p:nvPicPr>
          <p:cNvPr id="179" name="Picture 1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350" y="2173351"/>
            <a:ext cx="128699" cy="187198"/>
          </a:xfrm>
          <a:prstGeom prst="rect">
            <a:avLst/>
          </a:prstGeom>
        </p:spPr>
      </p:pic>
      <p:pic>
        <p:nvPicPr>
          <p:cNvPr id="180" name="Picture 1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350" y="2478151"/>
            <a:ext cx="128699" cy="187198"/>
          </a:xfrm>
          <a:prstGeom prst="rect">
            <a:avLst/>
          </a:prstGeom>
        </p:spPr>
      </p:pic>
      <p:pic>
        <p:nvPicPr>
          <p:cNvPr id="181" name="Picture 1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5200" y="2782951"/>
            <a:ext cx="128699" cy="187198"/>
          </a:xfrm>
          <a:prstGeom prst="rect">
            <a:avLst/>
          </a:prstGeom>
        </p:spPr>
      </p:pic>
      <p:pic>
        <p:nvPicPr>
          <p:cNvPr id="182" name="Picture 1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9950" y="3087751"/>
            <a:ext cx="128699" cy="187198"/>
          </a:xfrm>
          <a:prstGeom prst="rect">
            <a:avLst/>
          </a:prstGeom>
        </p:spPr>
      </p:pic>
      <p:pic>
        <p:nvPicPr>
          <p:cNvPr id="183" name="Picture 1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800" y="3392551"/>
            <a:ext cx="128699" cy="187198"/>
          </a:xfrm>
          <a:prstGeom prst="rect">
            <a:avLst/>
          </a:prstGeom>
        </p:spPr>
      </p:pic>
      <p:pic>
        <p:nvPicPr>
          <p:cNvPr id="184" name="Picture 1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7550" y="3697351"/>
            <a:ext cx="128699" cy="187198"/>
          </a:xfrm>
          <a:prstGeom prst="rect">
            <a:avLst/>
          </a:prstGeom>
        </p:spPr>
      </p:pic>
      <p:pic>
        <p:nvPicPr>
          <p:cNvPr id="185" name="Picture 1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7550" y="4002151"/>
            <a:ext cx="128699" cy="187198"/>
          </a:xfrm>
          <a:prstGeom prst="rect">
            <a:avLst/>
          </a:prstGeom>
        </p:spPr>
      </p:pic>
      <p:pic>
        <p:nvPicPr>
          <p:cNvPr id="186" name="Picture 1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400" y="4306951"/>
            <a:ext cx="128699" cy="187198"/>
          </a:xfrm>
          <a:prstGeom prst="rect">
            <a:avLst/>
          </a:prstGeom>
        </p:spPr>
      </p:pic>
      <p:pic>
        <p:nvPicPr>
          <p:cNvPr id="187" name="Picture 1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400" y="4611751"/>
            <a:ext cx="128699" cy="187198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216217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89" name="Picture 1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959" y="1212159"/>
            <a:ext cx="92663" cy="134782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381952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91" name="Picture 1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309" y="1212159"/>
            <a:ext cx="92663" cy="134782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547687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93" name="Picture 1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659" y="1212159"/>
            <a:ext cx="92663" cy="134782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713422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95" name="Picture 1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009" y="1212159"/>
            <a:ext cx="92663" cy="134782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8791575" y="1219200"/>
            <a:ext cx="379523" cy="139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1" b="1">
                <a:solidFill>
                  <a:srgbClr val="1F2933"/>
                </a:solidFill>
                <a:latin typeface="Calibri"/>
              </a:rPr>
              <a:t>Weight</a:t>
            </a:r>
          </a:p>
        </p:txBody>
      </p:sp>
      <p:pic>
        <p:nvPicPr>
          <p:cNvPr id="197" name="Picture 1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359" y="1212159"/>
            <a:ext cx="92663" cy="134782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Strategic Activity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Each player's active strategic moves: what, type, source department, signal and who should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550" y="1047750"/>
            <a:ext cx="12954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3050" y="1047750"/>
            <a:ext cx="2343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DEVELOPMENT (WHAT IS HAPPENING)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4300" y="1047750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1047750"/>
            <a:ext cx="438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2050" y="10477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SOURCE DEPT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300" y="1047750"/>
            <a:ext cx="9144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2800" y="1047750"/>
            <a:ext cx="215265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SIGNAL (WHAT IT INDICATES)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3550" y="1047750"/>
            <a:ext cx="26289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WHO SHOULD ACT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0500" y="12382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90500" y="12954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6700" y="12858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Jackery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3050" y="12858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North America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4300" y="12858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4514850" y="13144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4850" y="13144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2050" y="12858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0300" y="12858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FMI company profiling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2800" y="12858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3550" y="12858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0500" y="17526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90500" y="17907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6700" y="17811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EcoFlow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43050" y="17811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Portable Modular Solar Generators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4300" y="17811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4514850" y="18097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4850" y="18097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72050" y="17811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0300" y="17811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FMI company profiling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2800" y="17811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3550" y="17811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90500" y="22479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90500" y="22860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6700" y="22764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BLUETTI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43050" y="22764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East Asia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24300" y="22764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4514850" y="23050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14850" y="23050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72050" y="22764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0300" y="22764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FMI company profiling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2800" y="22764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53550" y="22764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90500" y="27432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90500" y="2781300"/>
            <a:ext cx="38100" cy="4191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6700" y="27717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PECRON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43050" y="27717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Portable Integrated Solar Generators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24300" y="27717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4514850" y="28003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14850" y="28003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2050" y="27717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0300" y="27717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FMI company profiling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62800" y="27717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53550" y="27717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90500" y="32385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90500" y="3276600"/>
            <a:ext cx="38100" cy="4191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6700" y="32670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Goal Zero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43050" y="32670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Middle East &amp; Africa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24300" y="32670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4514850" y="32956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14850" y="32956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72050" y="32670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0300" y="32670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FMI company profiling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62800" y="32670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53550" y="32670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90500" y="37338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190500" y="3771900"/>
            <a:ext cx="38100" cy="41910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6700" y="37623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Zendure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43050" y="37623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Portable Modular Solar Generators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24300" y="37623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4514850" y="37909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14850" y="37909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72050" y="37623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0300" y="37623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FMI company profiling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62800" y="37623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53550" y="37623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90500" y="42291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190500" y="42672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6700" y="42576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Dabbsson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43050" y="42576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Western Europe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24300" y="42576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4514850" y="42862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14850" y="42862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72050" y="42576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10300" y="42576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FMI company profiling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62800" y="42576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53550" y="42576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90500" y="47244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0500" y="47625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6700" y="47529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OUPES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43050" y="47529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Portable Integrated Solar Generators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24300" y="47529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4514850" y="47815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14850" y="47815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72050" y="47529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10300" y="47529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FMI company profiling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62800" y="47529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53550" y="47529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190500" y="52197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190500" y="52578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66700" y="52482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VTOMAN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43050" y="52482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Acquisition to add scale or capability in South Asia &amp; Pacific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24300" y="52482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4514850" y="5276850"/>
            <a:ext cx="285750" cy="17145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514850" y="52768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972050" y="52482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10300" y="52482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FMI company profiling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62800" y="52482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Consolidation: capability is being bought, not built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53550" y="52482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Corporate development: track targets and deal multiples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90500" y="57150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190500" y="5753100"/>
            <a:ext cx="38100" cy="419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6700" y="5743575"/>
            <a:ext cx="12382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Powerenz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43050" y="5743575"/>
            <a:ext cx="2324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development programme in Portable Modular Solar Generators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24300" y="5743575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2" name="Rectangle 121"/>
          <p:cNvSpPr/>
          <p:nvPr/>
        </p:nvSpPr>
        <p:spPr>
          <a:xfrm>
            <a:off x="4514850" y="5772150"/>
            <a:ext cx="28575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14850" y="5772150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72050" y="5743575"/>
            <a:ext cx="11811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 and R&amp;D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10300" y="5743575"/>
            <a:ext cx="89535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FMI company profiling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62800" y="5743575"/>
            <a:ext cx="21336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Capability build ahead of demand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353550" y="5743575"/>
            <a:ext cx="2628900" cy="4381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Product: watch the roadmap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90500" y="6210300"/>
            <a:ext cx="11811000" cy="0"/>
          </a:xfrm>
          <a:prstGeom prst="line">
            <a:avLst/>
          </a:prstGeom>
          <a:ln w="9525">
            <a:solidFill>
              <a:srgbClr val="E3E8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190500" y="6276975"/>
            <a:ext cx="285750" cy="152400"/>
          </a:xfrm>
          <a:prstGeom prst="rect">
            <a:avLst/>
          </a:prstGeom>
          <a:solidFill>
            <a:srgbClr val="8E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90500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14350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M&amp;A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23925" y="6276975"/>
            <a:ext cx="285750" cy="1524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23925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247775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Product / portfolio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24150" y="6276975"/>
            <a:ext cx="285750" cy="1524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724150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048000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Expansion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857625" y="6276975"/>
            <a:ext cx="285750" cy="1524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857625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81475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R&amp;D / technology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457825" y="6276975"/>
            <a:ext cx="285750" cy="152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457825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RG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781675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Regulation / compliance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524750" y="6276975"/>
            <a:ext cx="285750" cy="152400"/>
          </a:xfrm>
          <a:prstGeom prst="rect">
            <a:avLst/>
          </a:prstGeom>
          <a:solidFill>
            <a:srgbClr val="17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524750" y="6276975"/>
            <a:ext cx="285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CP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848600" y="6257925"/>
            <a:ext cx="1619250" cy="190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Capital / funding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0500" y="6457950"/>
            <a:ext cx="11811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Dates, deal values and evidence sources populate from the research feed; until then each row reads the player's most telling active strategy.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1278001"/>
            <a:ext cx="128699" cy="187198"/>
          </a:xfrm>
          <a:prstGeom prst="rect">
            <a:avLst/>
          </a:prstGeom>
        </p:spPr>
      </p:pic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1773301"/>
            <a:ext cx="128699" cy="187198"/>
          </a:xfrm>
          <a:prstGeom prst="rect">
            <a:avLst/>
          </a:prstGeom>
        </p:spPr>
      </p:pic>
      <p:pic>
        <p:nvPicPr>
          <p:cNvPr id="151" name="Picture 1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2268601"/>
            <a:ext cx="128699" cy="187198"/>
          </a:xfrm>
          <a:prstGeom prst="rect">
            <a:avLst/>
          </a:prstGeom>
        </p:spPr>
      </p:pic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2763901"/>
            <a:ext cx="128699" cy="187198"/>
          </a:xfrm>
          <a:prstGeom prst="rect">
            <a:avLst/>
          </a:prstGeom>
        </p:spPr>
      </p:pic>
      <p:pic>
        <p:nvPicPr>
          <p:cNvPr id="153" name="Picture 1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3259201"/>
            <a:ext cx="128699" cy="187198"/>
          </a:xfrm>
          <a:prstGeom prst="rect">
            <a:avLst/>
          </a:prstGeom>
        </p:spPr>
      </p:pic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3754501"/>
            <a:ext cx="128699" cy="187198"/>
          </a:xfrm>
          <a:prstGeom prst="rect">
            <a:avLst/>
          </a:prstGeom>
        </p:spPr>
      </p:pic>
      <p:pic>
        <p:nvPicPr>
          <p:cNvPr id="155" name="Picture 1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4249801"/>
            <a:ext cx="128699" cy="187198"/>
          </a:xfrm>
          <a:prstGeom prst="rect">
            <a:avLst/>
          </a:prstGeom>
        </p:spPr>
      </p:pic>
      <p:pic>
        <p:nvPicPr>
          <p:cNvPr id="156" name="Picture 1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4745101"/>
            <a:ext cx="128699" cy="187198"/>
          </a:xfrm>
          <a:prstGeom prst="rect">
            <a:avLst/>
          </a:prstGeom>
        </p:spPr>
      </p:pic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5240401"/>
            <a:ext cx="128699" cy="187198"/>
          </a:xfrm>
          <a:prstGeom prst="rect">
            <a:avLst/>
          </a:prstGeom>
        </p:spPr>
      </p:pic>
      <p:pic>
        <p:nvPicPr>
          <p:cNvPr id="158" name="Picture 1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650" y="5735701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Strategic Activity by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Where competitor activity concentrates by type and department, and what it means for each function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500" y="163830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" y="16002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Jackery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0500" y="188595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750" y="18478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EcoFlow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500" y="213360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" y="20955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BLUETTI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500" y="2381250"/>
            <a:ext cx="38100" cy="17145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750" y="23431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PECRON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500" y="2628900"/>
            <a:ext cx="38100" cy="1714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" y="25908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Goal Zero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0500" y="2876550"/>
            <a:ext cx="38100" cy="17145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750" y="28384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Zendure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0500" y="3124200"/>
            <a:ext cx="38100" cy="1714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" y="30861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Dabbsson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0500" y="3371850"/>
            <a:ext cx="38100" cy="1714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750" y="33337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OUPES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0500" y="3619500"/>
            <a:ext cx="38100" cy="1714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" y="358140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VTOMAN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0500" y="3867150"/>
            <a:ext cx="38100" cy="1714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5750" y="3829050"/>
            <a:ext cx="14097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F2933"/>
                </a:solidFill>
                <a:latin typeface="Calibri"/>
              </a:rPr>
              <a:t>Powerenz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4500" y="1047750"/>
            <a:ext cx="3302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Moves by type (count)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4500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4833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5167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5500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15833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RG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6167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24025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14500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74358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24692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5167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75025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5500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25358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15833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75692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66167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24025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74358" y="18573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64833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24692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15167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5025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65500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25358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75692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66167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24025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14500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74358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24692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15167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75025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65500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25358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15833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75692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6167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24025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274358" y="23526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64833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24692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15167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75025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65500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25358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75692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66167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24025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14500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74358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824692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15167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75025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365500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925358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15833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75692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466167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24025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274358" y="28479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64833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824692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815167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375025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65500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25358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475692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66167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24025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714500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74358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824692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815167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75025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65500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25358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15833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475692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466167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724025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274358" y="33432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264833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824692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815167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375025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365500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925358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475692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466167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724025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714500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274358" y="35909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824692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815167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375025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365500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925358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915833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475692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466167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724025" y="38385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274358" y="38385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264833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824692" y="38385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815167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375025" y="38385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65500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925358" y="38385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475692" y="38385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466167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207000" y="1047750"/>
            <a:ext cx="3302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By department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2070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Product &amp; R&amp;D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0325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Corp. dev.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Operations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83500" y="1219200"/>
            <a:ext cx="8255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Legal &amp; reg.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2165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2070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0420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0325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8675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580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693025" y="16097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683500" y="16097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216525" y="18573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207000" y="18573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42025" y="18573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867525" y="18573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858000" y="18573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693025" y="18573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2165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2070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0420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0325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8675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8580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693025" y="21050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683500" y="21050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216525" y="23526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207000" y="23526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042025" y="23526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867525" y="23526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858000" y="23526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693025" y="23526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2165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2070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0420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0325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8675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8580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693025" y="26003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683500" y="26003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216525" y="28479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207000" y="28479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042025" y="28479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867525" y="28479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858000" y="28479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693025" y="28479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2165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2070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0420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0325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8675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8580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693025" y="30956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683500" y="30956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216525" y="33432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207000" y="33432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042025" y="33432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867525" y="33432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858000" y="33432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693025" y="33432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216525" y="35909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207000" y="35909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042025" y="35909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032500" y="35909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867525" y="35909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858000" y="35909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693025" y="359092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683500" y="359092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216525" y="3838575"/>
            <a:ext cx="806450" cy="228600"/>
          </a:xfrm>
          <a:prstGeom prst="rect">
            <a:avLst/>
          </a:prstGeom>
          <a:solidFill>
            <a:srgbClr val="3D73AE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207000" y="38385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042025" y="38385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867525" y="3838575"/>
            <a:ext cx="806450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858000" y="3838575"/>
            <a:ext cx="82550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693025" y="3838575"/>
            <a:ext cx="80645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699500" y="1047750"/>
            <a:ext cx="3302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By region of activity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8699500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N. America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249833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S. Asia &amp; Pac.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800167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E. Asia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350500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LATAM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900833" y="1219200"/>
            <a:ext cx="550333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MEA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1451167" y="1219200"/>
            <a:ext cx="550333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2933"/>
                </a:solidFill>
                <a:latin typeface="Calibri"/>
              </a:rPr>
              <a:t>E. Europe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709025" y="16097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8699500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9259358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9249833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9809692" y="16097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9800167" y="16097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0360025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0910358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1460692" y="16097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709025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259358" y="18573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9249833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809692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800167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360025" y="18573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350500" y="18573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910358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1460692" y="18573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709025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259358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809692" y="21050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9800167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10360025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0350500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0910358" y="21050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0900833" y="21050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11460692" y="21050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709025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259358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809692" y="23526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0360025" y="23526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0350500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10358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0900833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11460692" y="23526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1451167" y="23526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8709025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259358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809692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0360025" y="26003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0910358" y="26003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10900833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11460692" y="26003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11451167" y="26003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709025" y="28479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699500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59358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809692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0360025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0910358" y="28479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1460692" y="28479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1451167" y="28479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8709025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699500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9259358" y="30956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249833" y="30956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9809692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360025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0910358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1460692" y="30956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8709025" y="33432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8699500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9259358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9249833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809692" y="33432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9800167" y="33432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360025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910358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1460692" y="33432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709025" y="35909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259358" y="359092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9249833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9809692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9800167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10360025" y="359092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10350500" y="359092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10910358" y="35909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1460692" y="359092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709025" y="38385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9259358" y="38385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9809692" y="3838575"/>
            <a:ext cx="531283" cy="228600"/>
          </a:xfrm>
          <a:prstGeom prst="rect">
            <a:avLst/>
          </a:prstGeom>
          <a:solidFill>
            <a:srgbClr val="8FB4DC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9800167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2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360025" y="38385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10350500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0910358" y="3838575"/>
            <a:ext cx="531283" cy="228600"/>
          </a:xfrm>
          <a:prstGeom prst="rect">
            <a:avLst/>
          </a:prstGeom>
          <a:solidFill>
            <a:srgbClr val="CFE0F1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10900833" y="3838575"/>
            <a:ext cx="55033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Calibri"/>
              </a:rPr>
              <a:t>1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1460692" y="3838575"/>
            <a:ext cx="53128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90500" y="4171950"/>
            <a:ext cx="209550" cy="123825"/>
          </a:xfrm>
          <a:prstGeom prst="rect">
            <a:avLst/>
          </a:prstGeom>
          <a:solidFill>
            <a:srgbClr val="CF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438150" y="4133850"/>
            <a:ext cx="10477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1 move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238250" y="4171950"/>
            <a:ext cx="209550" cy="123825"/>
          </a:xfrm>
          <a:prstGeom prst="rect">
            <a:avLst/>
          </a:prstGeom>
          <a:solidFill>
            <a:srgbClr val="8FB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485900" y="4133850"/>
            <a:ext cx="10477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2 moves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286000" y="4171950"/>
            <a:ext cx="209550" cy="123825"/>
          </a:xfrm>
          <a:prstGeom prst="rect">
            <a:avLst/>
          </a:prstGeom>
          <a:solidFill>
            <a:srgbClr val="3D7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2533650" y="4133850"/>
            <a:ext cx="10477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Calibri"/>
              </a:rPr>
              <a:t>3+ moves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3524250" y="4133850"/>
            <a:ext cx="8477250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Type codes: MA M&amp;A, PR Product / portfolio, EX Expansion, RD R&amp;D / technology, RG Regulation / compliance, CP Capital / funding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190500" y="4400550"/>
            <a:ext cx="11811000" cy="0"/>
          </a:xfrm>
          <a:prstGeom prst="line">
            <a:avLst/>
          </a:prstGeom>
          <a:ln w="19050">
            <a:solidFill>
              <a:srgbClr val="0F2D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190500" y="4457700"/>
            <a:ext cx="5715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100" b="1">
                <a:solidFill>
                  <a:srgbClr val="0F2D52"/>
                </a:solidFill>
                <a:latin typeface="Calibri"/>
              </a:rPr>
              <a:t>WHAT IT MEANS FOR EACH OF YOUR DEPARTMENTS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9050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26670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9050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10 expansion moves target new regions and volume tiers: defend key accounts where rivals expand.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217805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225425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Marketing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217805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Certification and compliance are being used as trust signals; make your own credentials visible.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6560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424180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Product and R&amp;D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416560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20 product and R&amp;D moves: benchmark launches and the technology roadmap.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15315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622935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Corporate development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615315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5 players are acquiring; the independent target list is shrinking.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814070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821690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814070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Expansion moves add capacity in rivals' home regions; review supply and lead times.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0128250" y="4686300"/>
            <a:ext cx="1873250" cy="228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10204450" y="4686300"/>
            <a:ext cx="17589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Legal and regulatory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0128250" y="4953000"/>
            <a:ext cx="1873250" cy="8572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Calibri"/>
              </a:rPr>
              <a:t>5 players lean on certification; audit your own compliance position.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Industry Structure Landscape – Residential Solar Generator Market, Global 2026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Tier ladder, market concentration and tier profile, and the structural shift 2026→2036 shaping the tier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47750"/>
            <a:ext cx="5810250" cy="400050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104900"/>
            <a:ext cx="5619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Tier Ladder – Share of Market Value,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125" y="1304925"/>
            <a:ext cx="56197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175" y="160020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Tier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75" y="180975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Top / global players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66825" y="1581150"/>
            <a:ext cx="4533900" cy="476250"/>
          </a:xfrm>
          <a:prstGeom prst="rect">
            <a:avLst/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62075" y="160972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075" y="1809750"/>
            <a:ext cx="43815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206692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Jackery · EcoFlow · BLUETTI · PECRON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175" y="245745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Tier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" y="266700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Mid-sized players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6825" y="2438400"/>
            <a:ext cx="3786554" cy="47625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2075" y="246697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075" y="2667000"/>
            <a:ext cx="3634154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6825" y="292417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Goal Zero · Zendure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175" y="331470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Tier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175" y="352425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Emerging / local players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6825" y="3295650"/>
            <a:ext cx="3487615" cy="476250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62075" y="332422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075" y="3524250"/>
            <a:ext cx="333521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6825" y="378142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Dabbsson · OUPES · VTOMAN · Powerenz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175" y="4171950"/>
            <a:ext cx="9906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Others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175" y="4381500"/>
            <a:ext cx="990600" cy="3238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Long tail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66825" y="4152900"/>
            <a:ext cx="3637085" cy="476250"/>
          </a:xfrm>
          <a:prstGeom prst="rect">
            <a:avLst/>
          </a:prstGeom>
          <a:solidFill>
            <a:srgbClr val="9F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62075" y="4181475"/>
            <a:ext cx="66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2075" y="4381500"/>
            <a:ext cx="348468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6825" y="4638675"/>
            <a:ext cx="453390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Regional &amp; niche suppliers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2875" y="5162550"/>
            <a:ext cx="5810250" cy="146685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8125" y="5219700"/>
            <a:ext cx="5619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Concentration Read-out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6225" y="5505450"/>
            <a:ext cx="1847850" cy="247650"/>
          </a:xfrm>
          <a:prstGeom prst="rect">
            <a:avLst/>
          </a:prstGeom>
          <a:solidFill>
            <a:srgbClr val="C9DAF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225" y="5505450"/>
            <a:ext cx="18478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Fragmented HHI &lt; 1,500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24075" y="5505450"/>
            <a:ext cx="1847850" cy="247650"/>
          </a:xfrm>
          <a:prstGeom prst="rect">
            <a:avLst/>
          </a:prstGeom>
          <a:solidFill>
            <a:srgbClr val="6FA8D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24075" y="5505450"/>
            <a:ext cx="18478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Moderate 1,500–2,500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1925" y="5505450"/>
            <a:ext cx="18478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71925" y="5505450"/>
            <a:ext cx="18478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Concentrated &gt; 2,500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665" y="5762625"/>
            <a:ext cx="17145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8125" y="5981700"/>
            <a:ext cx="561975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6000" y="1047750"/>
            <a:ext cx="5953125" cy="400050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1250" y="1104900"/>
            <a:ext cx="5762625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Tier Profile Matrix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1250" y="1304925"/>
            <a:ext cx="576262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Size, growth and competitive characteristics of each tier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91250" y="1562100"/>
            <a:ext cx="16192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48400" y="1562100"/>
            <a:ext cx="15430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0500" y="1562100"/>
            <a:ext cx="828675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0500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39175" y="1562100"/>
            <a:ext cx="828675" cy="247650"/>
          </a:xfrm>
          <a:prstGeom prst="rect">
            <a:avLst/>
          </a:prstGeom>
          <a:solidFill>
            <a:srgbClr val="2E6DB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39175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67850" y="1562100"/>
            <a:ext cx="828675" cy="247650"/>
          </a:xfrm>
          <a:prstGeom prst="rect">
            <a:avLst/>
          </a:prstGeom>
          <a:solidFill>
            <a:srgbClr val="6FA8D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67850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96525" y="1562100"/>
            <a:ext cx="828675" cy="247650"/>
          </a:xfrm>
          <a:prstGeom prst="rect">
            <a:avLst/>
          </a:prstGeom>
          <a:solidFill>
            <a:srgbClr val="9FC5E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96525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Others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125200" y="1562100"/>
            <a:ext cx="828675" cy="247650"/>
          </a:xfrm>
          <a:prstGeom prst="rect">
            <a:avLst/>
          </a:prstGeom>
          <a:solidFill>
            <a:srgbClr val="10244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25200" y="1562100"/>
            <a:ext cx="82867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91250" y="18097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48400" y="18097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Players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10500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29550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39175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58225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67850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86900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96525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15575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Long tail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125200" y="1809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144250" y="18097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91250" y="20383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48400" y="20383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Value 2026 (US$ Mn)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10500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29550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639175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58225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467850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86900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296525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315575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125200" y="2038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144250" y="2038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91250" y="22669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48400" y="22669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of value 2026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10500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76248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63902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639175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04922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92578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467850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33598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21252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296525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562272" y="22669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49928" y="22669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125200" y="22669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144250" y="22669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91250" y="24955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248400" y="24955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of value 2036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810500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076248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63902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39175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04922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92578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467850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733598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21252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296525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62272" y="2495550"/>
            <a:ext cx="2971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849928" y="24955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125200" y="24955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144250" y="24955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91250" y="27241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48400" y="27241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change (pp)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810500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975282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108632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639175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803958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+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37308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467850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32632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+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765982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296525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61308" y="27241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4213D"/>
                </a:solidFill>
                <a:latin typeface="Calibri"/>
              </a:rPr>
              <a:t>−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594658" y="27241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125200" y="27241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144250" y="27241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191250" y="29527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248400" y="29527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CAGR 2026–2036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810500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108632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331518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639175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937308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160192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467850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765982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988868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296525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594658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817542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125200" y="29527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423332" y="2952750"/>
            <a:ext cx="232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646218" y="2952750"/>
            <a:ext cx="1333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191250" y="3181350"/>
            <a:ext cx="1619250" cy="22860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248400" y="3181350"/>
            <a:ext cx="1543050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Avg / player (US$ Mn)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810500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829550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639175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658225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467850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486900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296525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315575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125200" y="3181350"/>
            <a:ext cx="828675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1144250" y="3181350"/>
            <a:ext cx="790575" cy="2286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191250" y="340995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248400" y="340995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Installed base share (units)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810500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076248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363902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639175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904922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192578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467850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733598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021252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296525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562272" y="3409950"/>
            <a:ext cx="29718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849928" y="340995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4213D"/>
                </a:solidFill>
                <a:latin typeface="Calibri"/>
              </a:rPr>
              <a:t>%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125200" y="34099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144250" y="34099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100%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191250" y="373380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248400" y="373380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Price positioning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810500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829550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Premium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639175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658225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Mid / value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467850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486900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Value / entry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296525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315575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Mixed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1125200" y="37338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144250" y="37338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91250" y="405765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248400" y="405765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Route-to-market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810500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829550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Direct / key accounts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39175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658225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Distributors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467850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486900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Regional partners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0296525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315575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Local / online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1125200" y="40576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1144250" y="40576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191250" y="438150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248400" y="438150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Portfolio breadth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7810500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829550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Full portfolio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639175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658225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2–3 core lines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467850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9486900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Single line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0296525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315575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Niche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1125200" y="438150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1144250" y="438150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191250" y="4705350"/>
            <a:ext cx="1619250" cy="323850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248400" y="4705350"/>
            <a:ext cx="1543050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Strategic posture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10500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829550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Defend &amp; bundle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639175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658225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Niche deepening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467850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486900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Scale-up or exit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296525" y="4705350"/>
            <a:ext cx="828675" cy="323850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315575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Long-tail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1125200" y="4705350"/>
            <a:ext cx="828675" cy="3238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144250" y="4705350"/>
            <a:ext cx="790575" cy="3238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–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6096000" y="5162550"/>
            <a:ext cx="5953125" cy="146685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191250" y="5219700"/>
            <a:ext cx="5762625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Key Takeaways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210300" y="54673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•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43650" y="5467350"/>
            <a:ext cx="5591175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210300" y="58483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•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343650" y="5848350"/>
            <a:ext cx="5591175" cy="37147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210300" y="6067425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•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343650" y="6067425"/>
            <a:ext cx="5591175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236" name="Picture 2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1620901"/>
            <a:ext cx="128699" cy="187198"/>
          </a:xfrm>
          <a:prstGeom prst="rect">
            <a:avLst/>
          </a:prstGeom>
        </p:spPr>
      </p:pic>
      <p:pic>
        <p:nvPicPr>
          <p:cNvPr id="237" name="Picture 2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2478151"/>
            <a:ext cx="128699" cy="187198"/>
          </a:xfrm>
          <a:prstGeom prst="rect">
            <a:avLst/>
          </a:prstGeom>
        </p:spPr>
      </p:pic>
      <p:pic>
        <p:nvPicPr>
          <p:cNvPr id="238" name="Picture 2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3335401"/>
            <a:ext cx="128699" cy="187198"/>
          </a:xfrm>
          <a:prstGeom prst="rect">
            <a:avLst/>
          </a:prstGeom>
        </p:spPr>
      </p:pic>
      <p:pic>
        <p:nvPicPr>
          <p:cNvPr id="239" name="Picture 2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00" y="4192651"/>
            <a:ext cx="128699" cy="187198"/>
          </a:xfrm>
          <a:prstGeom prst="rect">
            <a:avLst/>
          </a:prstGeom>
        </p:spPr>
      </p:pic>
      <p:pic>
        <p:nvPicPr>
          <p:cNvPr id="240" name="Picture 2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188" y="1830451"/>
            <a:ext cx="128699" cy="187198"/>
          </a:xfrm>
          <a:prstGeom prst="rect">
            <a:avLst/>
          </a:prstGeom>
        </p:spPr>
      </p:pic>
      <p:pic>
        <p:nvPicPr>
          <p:cNvPr id="241" name="Picture 2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2059051"/>
            <a:ext cx="128699" cy="187198"/>
          </a:xfrm>
          <a:prstGeom prst="rect">
            <a:avLst/>
          </a:prstGeom>
        </p:spPr>
      </p:pic>
      <p:pic>
        <p:nvPicPr>
          <p:cNvPr id="242" name="Picture 2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2059051"/>
            <a:ext cx="128699" cy="187198"/>
          </a:xfrm>
          <a:prstGeom prst="rect">
            <a:avLst/>
          </a:prstGeom>
        </p:spPr>
      </p:pic>
      <p:pic>
        <p:nvPicPr>
          <p:cNvPr id="243" name="Picture 2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2059051"/>
            <a:ext cx="128699" cy="187198"/>
          </a:xfrm>
          <a:prstGeom prst="rect">
            <a:avLst/>
          </a:prstGeom>
        </p:spPr>
      </p:pic>
      <p:pic>
        <p:nvPicPr>
          <p:cNvPr id="244" name="Picture 2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3" y="2059051"/>
            <a:ext cx="128699" cy="187198"/>
          </a:xfrm>
          <a:prstGeom prst="rect">
            <a:avLst/>
          </a:prstGeom>
        </p:spPr>
      </p:pic>
      <p:pic>
        <p:nvPicPr>
          <p:cNvPr id="245" name="Picture 2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188" y="2059051"/>
            <a:ext cx="128699" cy="187198"/>
          </a:xfrm>
          <a:prstGeom prst="rect">
            <a:avLst/>
          </a:prstGeom>
        </p:spPr>
      </p:pic>
      <p:pic>
        <p:nvPicPr>
          <p:cNvPr id="246" name="Picture 2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2287651"/>
            <a:ext cx="128699" cy="187198"/>
          </a:xfrm>
          <a:prstGeom prst="rect">
            <a:avLst/>
          </a:prstGeom>
        </p:spPr>
      </p:pic>
      <p:pic>
        <p:nvPicPr>
          <p:cNvPr id="247" name="Picture 2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2" y="2287651"/>
            <a:ext cx="128699" cy="187198"/>
          </a:xfrm>
          <a:prstGeom prst="rect">
            <a:avLst/>
          </a:prstGeom>
        </p:spPr>
      </p:pic>
      <p:pic>
        <p:nvPicPr>
          <p:cNvPr id="248" name="Picture 2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2287651"/>
            <a:ext cx="128699" cy="187198"/>
          </a:xfrm>
          <a:prstGeom prst="rect">
            <a:avLst/>
          </a:prstGeom>
        </p:spPr>
      </p:pic>
      <p:pic>
        <p:nvPicPr>
          <p:cNvPr id="249" name="Picture 2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2" y="2287651"/>
            <a:ext cx="128699" cy="187198"/>
          </a:xfrm>
          <a:prstGeom prst="rect">
            <a:avLst/>
          </a:prstGeom>
        </p:spPr>
      </p:pic>
      <p:pic>
        <p:nvPicPr>
          <p:cNvPr id="250" name="Picture 2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2516251"/>
            <a:ext cx="128699" cy="187198"/>
          </a:xfrm>
          <a:prstGeom prst="rect">
            <a:avLst/>
          </a:prstGeom>
        </p:spPr>
      </p:pic>
      <p:pic>
        <p:nvPicPr>
          <p:cNvPr id="251" name="Picture 2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2" y="2516251"/>
            <a:ext cx="128699" cy="187198"/>
          </a:xfrm>
          <a:prstGeom prst="rect">
            <a:avLst/>
          </a:prstGeom>
        </p:spPr>
      </p:pic>
      <p:pic>
        <p:nvPicPr>
          <p:cNvPr id="252" name="Picture 2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2516251"/>
            <a:ext cx="128699" cy="187198"/>
          </a:xfrm>
          <a:prstGeom prst="rect">
            <a:avLst/>
          </a:prstGeom>
        </p:spPr>
      </p:pic>
      <p:pic>
        <p:nvPicPr>
          <p:cNvPr id="253" name="Picture 2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2" y="2516251"/>
            <a:ext cx="128699" cy="187198"/>
          </a:xfrm>
          <a:prstGeom prst="rect">
            <a:avLst/>
          </a:prstGeom>
        </p:spPr>
      </p:pic>
      <p:pic>
        <p:nvPicPr>
          <p:cNvPr id="254" name="Picture 2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7" y="2744851"/>
            <a:ext cx="128699" cy="187198"/>
          </a:xfrm>
          <a:prstGeom prst="rect">
            <a:avLst/>
          </a:prstGeom>
        </p:spPr>
      </p:pic>
      <p:pic>
        <p:nvPicPr>
          <p:cNvPr id="255" name="Picture 2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2744851"/>
            <a:ext cx="128699" cy="187198"/>
          </a:xfrm>
          <a:prstGeom prst="rect">
            <a:avLst/>
          </a:prstGeom>
        </p:spPr>
      </p:pic>
      <p:pic>
        <p:nvPicPr>
          <p:cNvPr id="256" name="Picture 2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7" y="2744851"/>
            <a:ext cx="128699" cy="187198"/>
          </a:xfrm>
          <a:prstGeom prst="rect">
            <a:avLst/>
          </a:prstGeom>
        </p:spPr>
      </p:pic>
      <p:pic>
        <p:nvPicPr>
          <p:cNvPr id="257" name="Picture 2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3" y="2744851"/>
            <a:ext cx="128699" cy="187198"/>
          </a:xfrm>
          <a:prstGeom prst="rect">
            <a:avLst/>
          </a:prstGeom>
        </p:spPr>
      </p:pic>
      <p:pic>
        <p:nvPicPr>
          <p:cNvPr id="258" name="Picture 2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7" y="2973451"/>
            <a:ext cx="128699" cy="187198"/>
          </a:xfrm>
          <a:prstGeom prst="rect">
            <a:avLst/>
          </a:prstGeom>
        </p:spPr>
      </p:pic>
      <p:pic>
        <p:nvPicPr>
          <p:cNvPr id="259" name="Picture 2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2973451"/>
            <a:ext cx="128699" cy="187198"/>
          </a:xfrm>
          <a:prstGeom prst="rect">
            <a:avLst/>
          </a:prstGeom>
        </p:spPr>
      </p:pic>
      <p:pic>
        <p:nvPicPr>
          <p:cNvPr id="260" name="Picture 2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7" y="2973451"/>
            <a:ext cx="128699" cy="187198"/>
          </a:xfrm>
          <a:prstGeom prst="rect">
            <a:avLst/>
          </a:prstGeom>
        </p:spPr>
      </p:pic>
      <p:pic>
        <p:nvPicPr>
          <p:cNvPr id="261" name="Picture 2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3" y="2973451"/>
            <a:ext cx="128699" cy="187198"/>
          </a:xfrm>
          <a:prstGeom prst="rect">
            <a:avLst/>
          </a:prstGeom>
        </p:spPr>
      </p:pic>
      <p:pic>
        <p:nvPicPr>
          <p:cNvPr id="262" name="Picture 2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187" y="2973451"/>
            <a:ext cx="128699" cy="187198"/>
          </a:xfrm>
          <a:prstGeom prst="rect">
            <a:avLst/>
          </a:prstGeom>
        </p:spPr>
      </p:pic>
      <p:pic>
        <p:nvPicPr>
          <p:cNvPr id="263" name="Picture 2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3202051"/>
            <a:ext cx="128699" cy="187198"/>
          </a:xfrm>
          <a:prstGeom prst="rect">
            <a:avLst/>
          </a:prstGeom>
        </p:spPr>
      </p:pic>
      <p:pic>
        <p:nvPicPr>
          <p:cNvPr id="264" name="Picture 2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3" y="3202051"/>
            <a:ext cx="128699" cy="187198"/>
          </a:xfrm>
          <a:prstGeom prst="rect">
            <a:avLst/>
          </a:prstGeom>
        </p:spPr>
      </p:pic>
      <p:pic>
        <p:nvPicPr>
          <p:cNvPr id="265" name="Picture 2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3202051"/>
            <a:ext cx="128699" cy="187198"/>
          </a:xfrm>
          <a:prstGeom prst="rect">
            <a:avLst/>
          </a:prstGeom>
        </p:spPr>
      </p:pic>
      <p:pic>
        <p:nvPicPr>
          <p:cNvPr id="266" name="Picture 2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488" y="3478276"/>
            <a:ext cx="128699" cy="187198"/>
          </a:xfrm>
          <a:prstGeom prst="rect">
            <a:avLst/>
          </a:prstGeom>
        </p:spPr>
      </p:pic>
      <p:pic>
        <p:nvPicPr>
          <p:cNvPr id="267" name="Picture 2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62" y="3478276"/>
            <a:ext cx="128699" cy="187198"/>
          </a:xfrm>
          <a:prstGeom prst="rect">
            <a:avLst/>
          </a:prstGeom>
        </p:spPr>
      </p:pic>
      <p:pic>
        <p:nvPicPr>
          <p:cNvPr id="268" name="Picture 2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38" y="3478276"/>
            <a:ext cx="128699" cy="187198"/>
          </a:xfrm>
          <a:prstGeom prst="rect">
            <a:avLst/>
          </a:prstGeom>
        </p:spPr>
      </p:pic>
      <p:pic>
        <p:nvPicPr>
          <p:cNvPr id="269" name="Picture 2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512" y="3478276"/>
            <a:ext cx="128699" cy="187198"/>
          </a:xfrm>
          <a:prstGeom prst="rect">
            <a:avLst/>
          </a:prstGeom>
        </p:spPr>
      </p:pic>
      <p:sp>
        <p:nvSpPr>
          <p:cNvPr id="270" name="TextBox 269"/>
          <p:cNvSpPr txBox="1"/>
          <p:nvPr/>
        </p:nvSpPr>
        <p:spPr>
          <a:xfrm>
            <a:off x="266700" y="1344930"/>
            <a:ext cx="49148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Market</a:t>
            </a:r>
          </a:p>
        </p:txBody>
      </p:sp>
      <p:pic>
        <p:nvPicPr>
          <p:cNvPr id="271" name="Picture 2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31" y="1335151"/>
            <a:ext cx="128699" cy="187198"/>
          </a:xfrm>
          <a:prstGeom prst="rect">
            <a:avLst/>
          </a:prstGeom>
        </p:spPr>
      </p:pic>
      <p:sp>
        <p:nvSpPr>
          <p:cNvPr id="272" name="TextBox 271"/>
          <p:cNvSpPr txBox="1"/>
          <p:nvPr/>
        </p:nvSpPr>
        <p:spPr>
          <a:xfrm>
            <a:off x="873727" y="1344930"/>
            <a:ext cx="129038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US$ Mn · Tier 1 share</a:t>
            </a:r>
          </a:p>
        </p:txBody>
      </p:sp>
      <p:pic>
        <p:nvPicPr>
          <p:cNvPr id="273" name="Picture 2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168" y="1335151"/>
            <a:ext cx="128699" cy="187198"/>
          </a:xfrm>
          <a:prstGeom prst="rect">
            <a:avLst/>
          </a:prstGeom>
        </p:spPr>
      </p:pic>
      <p:sp>
        <p:nvSpPr>
          <p:cNvPr id="274" name="TextBox 273"/>
          <p:cNvSpPr txBox="1"/>
          <p:nvPr/>
        </p:nvSpPr>
        <p:spPr>
          <a:xfrm>
            <a:off x="2279664" y="134493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pic>
        <p:nvPicPr>
          <p:cNvPr id="275" name="Picture 2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519" y="1335151"/>
            <a:ext cx="128699" cy="187198"/>
          </a:xfrm>
          <a:prstGeom prst="rect">
            <a:avLst/>
          </a:prstGeom>
        </p:spPr>
      </p:pic>
      <p:sp>
        <p:nvSpPr>
          <p:cNvPr id="276" name="TextBox 275"/>
          <p:cNvSpPr txBox="1"/>
          <p:nvPr/>
        </p:nvSpPr>
        <p:spPr>
          <a:xfrm>
            <a:off x="2598014" y="1344930"/>
            <a:ext cx="52831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by 2036</a:t>
            </a:r>
          </a:p>
        </p:txBody>
      </p:sp>
      <p:pic>
        <p:nvPicPr>
          <p:cNvPr id="277" name="Picture 2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1839976"/>
            <a:ext cx="128699" cy="187198"/>
          </a:xfrm>
          <a:prstGeom prst="rect">
            <a:avLst/>
          </a:prstGeom>
        </p:spPr>
      </p:pic>
      <p:sp>
        <p:nvSpPr>
          <p:cNvPr id="278" name="TextBox 277"/>
          <p:cNvSpPr txBox="1"/>
          <p:nvPr/>
        </p:nvSpPr>
        <p:spPr>
          <a:xfrm>
            <a:off x="1544678" y="1849755"/>
            <a:ext cx="14295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· 4 players · avg</a:t>
            </a:r>
          </a:p>
        </p:txBody>
      </p:sp>
      <p:pic>
        <p:nvPicPr>
          <p:cNvPr id="279" name="Picture 2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273" y="1839976"/>
            <a:ext cx="128699" cy="187198"/>
          </a:xfrm>
          <a:prstGeom prst="rect">
            <a:avLst/>
          </a:prstGeom>
        </p:spPr>
      </p:pic>
      <p:sp>
        <p:nvSpPr>
          <p:cNvPr id="280" name="TextBox 279"/>
          <p:cNvSpPr txBox="1"/>
          <p:nvPr/>
        </p:nvSpPr>
        <p:spPr>
          <a:xfrm>
            <a:off x="3089769" y="1849755"/>
            <a:ext cx="9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/ player</a:t>
            </a:r>
          </a:p>
        </p:txBody>
      </p:sp>
      <p:pic>
        <p:nvPicPr>
          <p:cNvPr id="281" name="Picture 2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2697226"/>
            <a:ext cx="128699" cy="187198"/>
          </a:xfrm>
          <a:prstGeom prst="rect">
            <a:avLst/>
          </a:prstGeom>
        </p:spPr>
      </p:pic>
      <p:sp>
        <p:nvSpPr>
          <p:cNvPr id="282" name="TextBox 281"/>
          <p:cNvSpPr txBox="1"/>
          <p:nvPr/>
        </p:nvSpPr>
        <p:spPr>
          <a:xfrm>
            <a:off x="1544678" y="2707005"/>
            <a:ext cx="14295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· 2 players · avg</a:t>
            </a:r>
          </a:p>
        </p:txBody>
      </p:sp>
      <p:pic>
        <p:nvPicPr>
          <p:cNvPr id="283" name="Picture 2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273" y="2697226"/>
            <a:ext cx="128699" cy="187198"/>
          </a:xfrm>
          <a:prstGeom prst="rect">
            <a:avLst/>
          </a:prstGeom>
        </p:spPr>
      </p:pic>
      <p:sp>
        <p:nvSpPr>
          <p:cNvPr id="284" name="TextBox 283"/>
          <p:cNvSpPr txBox="1"/>
          <p:nvPr/>
        </p:nvSpPr>
        <p:spPr>
          <a:xfrm>
            <a:off x="3089769" y="2707005"/>
            <a:ext cx="9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/ player</a:t>
            </a:r>
          </a:p>
        </p:txBody>
      </p:sp>
      <p:pic>
        <p:nvPicPr>
          <p:cNvPr id="285" name="Picture 2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3554476"/>
            <a:ext cx="128699" cy="187198"/>
          </a:xfrm>
          <a:prstGeom prst="rect">
            <a:avLst/>
          </a:prstGeom>
        </p:spPr>
      </p:pic>
      <p:sp>
        <p:nvSpPr>
          <p:cNvPr id="286" name="TextBox 285"/>
          <p:cNvSpPr txBox="1"/>
          <p:nvPr/>
        </p:nvSpPr>
        <p:spPr>
          <a:xfrm>
            <a:off x="1544678" y="3564255"/>
            <a:ext cx="142954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· 4 players · avg</a:t>
            </a:r>
          </a:p>
        </p:txBody>
      </p:sp>
      <p:pic>
        <p:nvPicPr>
          <p:cNvPr id="287" name="Picture 2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273" y="3554476"/>
            <a:ext cx="128699" cy="187198"/>
          </a:xfrm>
          <a:prstGeom prst="rect">
            <a:avLst/>
          </a:prstGeom>
        </p:spPr>
      </p:pic>
      <p:sp>
        <p:nvSpPr>
          <p:cNvPr id="288" name="TextBox 287"/>
          <p:cNvSpPr txBox="1"/>
          <p:nvPr/>
        </p:nvSpPr>
        <p:spPr>
          <a:xfrm>
            <a:off x="3089769" y="3564255"/>
            <a:ext cx="99707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US$ Mn / player</a:t>
            </a:r>
          </a:p>
        </p:txBody>
      </p:sp>
      <p:pic>
        <p:nvPicPr>
          <p:cNvPr id="289" name="Picture 2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2" y="4411726"/>
            <a:ext cx="128699" cy="187198"/>
          </a:xfrm>
          <a:prstGeom prst="rect">
            <a:avLst/>
          </a:prstGeom>
        </p:spPr>
      </p:pic>
      <p:sp>
        <p:nvSpPr>
          <p:cNvPr id="290" name="TextBox 289"/>
          <p:cNvSpPr txBox="1"/>
          <p:nvPr/>
        </p:nvSpPr>
        <p:spPr>
          <a:xfrm>
            <a:off x="1544678" y="4421505"/>
            <a:ext cx="124700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US$ Mn · – · long tail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241169" y="5802630"/>
            <a:ext cx="4936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Calibri"/>
              </a:rPr>
              <a:t>▲</a:t>
            </a:r>
            <a:r>
              <a:rPr sz="1100" b="1">
                <a:solidFill>
                  <a:srgbClr val="14213D"/>
                </a:solidFill>
                <a:latin typeface="Calibri"/>
              </a:rPr>
              <a:t> HHI =</a:t>
            </a:r>
          </a:p>
        </p:txBody>
      </p:sp>
      <p:pic>
        <p:nvPicPr>
          <p:cNvPr id="292" name="Picture 2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883" y="5792851"/>
            <a:ext cx="128699" cy="187198"/>
          </a:xfrm>
          <a:prstGeom prst="rect">
            <a:avLst/>
          </a:prstGeom>
        </p:spPr>
      </p:pic>
      <p:sp>
        <p:nvSpPr>
          <p:cNvPr id="293" name="TextBox 292"/>
          <p:cNvSpPr txBox="1"/>
          <p:nvPr/>
        </p:nvSpPr>
        <p:spPr>
          <a:xfrm>
            <a:off x="876202" y="6107430"/>
            <a:ext cx="40089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CR4 =</a:t>
            </a:r>
          </a:p>
        </p:txBody>
      </p:sp>
      <p:pic>
        <p:nvPicPr>
          <p:cNvPr id="294" name="Picture 2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147" y="6097651"/>
            <a:ext cx="128699" cy="187198"/>
          </a:xfrm>
          <a:prstGeom prst="rect">
            <a:avLst/>
          </a:prstGeom>
        </p:spPr>
      </p:pic>
      <p:sp>
        <p:nvSpPr>
          <p:cNvPr id="295" name="TextBox 294"/>
          <p:cNvSpPr txBox="1"/>
          <p:nvPr/>
        </p:nvSpPr>
        <p:spPr>
          <a:xfrm>
            <a:off x="1392643" y="6107430"/>
            <a:ext cx="106828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· Tier 1 : Others =</a:t>
            </a:r>
          </a:p>
        </p:txBody>
      </p:sp>
      <p:pic>
        <p:nvPicPr>
          <p:cNvPr id="296" name="Picture 2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983" y="6097651"/>
            <a:ext cx="128699" cy="187198"/>
          </a:xfrm>
          <a:prstGeom prst="rect">
            <a:avLst/>
          </a:prstGeom>
        </p:spPr>
      </p:pic>
      <p:sp>
        <p:nvSpPr>
          <p:cNvPr id="297" name="TextBox 296"/>
          <p:cNvSpPr txBox="1"/>
          <p:nvPr/>
        </p:nvSpPr>
        <p:spPr>
          <a:xfrm>
            <a:off x="2576478" y="6107430"/>
            <a:ext cx="139762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: 1 · Top-player share =</a:t>
            </a:r>
          </a:p>
        </p:txBody>
      </p:sp>
      <p:pic>
        <p:nvPicPr>
          <p:cNvPr id="298" name="Picture 2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150" y="6097651"/>
            <a:ext cx="128699" cy="187198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4089646" y="6107430"/>
            <a:ext cx="120635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· Class: Fragmented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6372225" y="5476875"/>
            <a:ext cx="47156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1 (</a:t>
            </a:r>
          </a:p>
        </p:txBody>
      </p:sp>
      <p:pic>
        <p:nvPicPr>
          <p:cNvPr id="301" name="Picture 3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838" y="5467095"/>
            <a:ext cx="128699" cy="187198"/>
          </a:xfrm>
          <a:prstGeom prst="rect">
            <a:avLst/>
          </a:prstGeom>
        </p:spPr>
      </p:pic>
      <p:sp>
        <p:nvSpPr>
          <p:cNvPr id="302" name="TextBox 301"/>
          <p:cNvSpPr txBox="1"/>
          <p:nvPr/>
        </p:nvSpPr>
        <p:spPr>
          <a:xfrm>
            <a:off x="6959334" y="5476875"/>
            <a:ext cx="255014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) holds the largest single block of value on a</a:t>
            </a:r>
          </a:p>
        </p:txBody>
      </p:sp>
      <p:pic>
        <p:nvPicPr>
          <p:cNvPr id="303" name="Picture 3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531" y="5467095"/>
            <a:ext cx="128699" cy="187198"/>
          </a:xfrm>
          <a:prstGeom prst="rect">
            <a:avLst/>
          </a:prstGeom>
        </p:spPr>
      </p:pic>
      <p:sp>
        <p:nvSpPr>
          <p:cNvPr id="304" name="TextBox 303"/>
          <p:cNvSpPr txBox="1"/>
          <p:nvPr/>
        </p:nvSpPr>
        <p:spPr>
          <a:xfrm>
            <a:off x="9625026" y="5476875"/>
            <a:ext cx="1259830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US$ Mn base; CR4 of</a:t>
            </a:r>
          </a:p>
        </p:txBody>
      </p:sp>
      <p:pic>
        <p:nvPicPr>
          <p:cNvPr id="305" name="Picture 3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2908" y="5467095"/>
            <a:ext cx="128699" cy="187198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11000404" y="5476875"/>
            <a:ext cx="678656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and HHI of</a:t>
            </a:r>
          </a:p>
        </p:txBody>
      </p:sp>
      <p:pic>
        <p:nvPicPr>
          <p:cNvPr id="307" name="Picture 30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757" y="5634735"/>
            <a:ext cx="128699" cy="187198"/>
          </a:xfrm>
          <a:prstGeom prst="rect">
            <a:avLst/>
          </a:prstGeom>
        </p:spPr>
      </p:pic>
      <p:sp>
        <p:nvSpPr>
          <p:cNvPr id="308" name="TextBox 307"/>
          <p:cNvSpPr txBox="1"/>
          <p:nvPr/>
        </p:nvSpPr>
        <p:spPr>
          <a:xfrm>
            <a:off x="6526253" y="5644515"/>
            <a:ext cx="2030635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classify the market as fragmented.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6372225" y="5857875"/>
            <a:ext cx="133104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2 grows fastest at</a:t>
            </a:r>
          </a:p>
        </p:txBody>
      </p:sp>
      <p:pic>
        <p:nvPicPr>
          <p:cNvPr id="310" name="Picture 3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320" y="5848095"/>
            <a:ext cx="128699" cy="187198"/>
          </a:xfrm>
          <a:prstGeom prst="rect">
            <a:avLst/>
          </a:prstGeom>
        </p:spPr>
      </p:pic>
      <p:sp>
        <p:nvSpPr>
          <p:cNvPr id="311" name="TextBox 310"/>
          <p:cNvSpPr txBox="1"/>
          <p:nvPr/>
        </p:nvSpPr>
        <p:spPr>
          <a:xfrm>
            <a:off x="7818816" y="5857875"/>
            <a:ext cx="98286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CAGR, moving +</a:t>
            </a:r>
          </a:p>
        </p:txBody>
      </p:sp>
      <p:pic>
        <p:nvPicPr>
          <p:cNvPr id="312" name="Picture 3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737" y="5848095"/>
            <a:ext cx="128699" cy="187198"/>
          </a:xfrm>
          <a:prstGeom prst="rect">
            <a:avLst/>
          </a:prstGeom>
        </p:spPr>
      </p:pic>
      <p:sp>
        <p:nvSpPr>
          <p:cNvPr id="313" name="TextBox 312"/>
          <p:cNvSpPr txBox="1"/>
          <p:nvPr/>
        </p:nvSpPr>
        <p:spPr>
          <a:xfrm>
            <a:off x="8917232" y="5857875"/>
            <a:ext cx="1234727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pp of share by 2036.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6372225" y="6076950"/>
            <a:ext cx="2161604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3 and the long tail together hold</a:t>
            </a:r>
          </a:p>
        </p:txBody>
      </p:sp>
      <p:pic>
        <p:nvPicPr>
          <p:cNvPr id="315" name="Picture 3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881" y="6067170"/>
            <a:ext cx="128699" cy="187198"/>
          </a:xfrm>
          <a:prstGeom prst="rect">
            <a:avLst/>
          </a:prstGeom>
        </p:spPr>
      </p:pic>
      <p:sp>
        <p:nvSpPr>
          <p:cNvPr id="316" name="TextBox 315"/>
          <p:cNvSpPr txBox="1"/>
          <p:nvPr/>
        </p:nvSpPr>
        <p:spPr>
          <a:xfrm>
            <a:off x="8649376" y="6076950"/>
            <a:ext cx="2127498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of value; the average Tier 3 player is</a:t>
            </a:r>
          </a:p>
        </p:txBody>
      </p:sp>
      <p:pic>
        <p:nvPicPr>
          <p:cNvPr id="317" name="Picture 3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926" y="6067170"/>
            <a:ext cx="128699" cy="187198"/>
          </a:xfrm>
          <a:prstGeom prst="rect">
            <a:avLst/>
          </a:prstGeom>
        </p:spPr>
      </p:pic>
      <p:sp>
        <p:nvSpPr>
          <p:cNvPr id="318" name="TextBox 317"/>
          <p:cNvSpPr txBox="1"/>
          <p:nvPr/>
        </p:nvSpPr>
        <p:spPr>
          <a:xfrm>
            <a:off x="10892422" y="6076950"/>
            <a:ext cx="87647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x smaller than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6372225" y="6244590"/>
            <a:ext cx="102053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a Tier 1 supplier.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Industry Structure Landscape – Residential Solar Generator Market, Global 2026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Tier ladder, market concentration and tier profile, and the structural shift 2026→2036 shaping the tier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47750"/>
            <a:ext cx="11906250" cy="2381250"/>
          </a:xfrm>
          <a:prstGeom prst="roundRect">
            <a:avLst>
              <a:gd name="adj" fmla="val 64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104900"/>
            <a:ext cx="11715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Structural Shift, 2026 → 2036 – Tier Migration and Entry / Exit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17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17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7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Top / global players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27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8375" y="14668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8C8C"/>
                </a:solidFill>
                <a:latin typeface="Calibri"/>
              </a:rPr>
              <a:t>1 up-tier (M&amp;A)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14575" y="1695450"/>
            <a:ext cx="1123950" cy="0"/>
          </a:xfrm>
          <a:prstGeom prst="line">
            <a:avLst/>
          </a:prstGeom>
          <a:ln w="25400">
            <a:solidFill>
              <a:srgbClr val="0E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238375" y="16478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0E8C8C"/>
          </a:solidFill>
          <a:ln w="9525">
            <a:solidFill>
              <a:srgbClr val="0E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238375" y="1962150"/>
            <a:ext cx="1123950" cy="0"/>
          </a:xfrm>
          <a:prstGeom prst="line">
            <a:avLst/>
          </a:prstGeom>
          <a:ln w="25400">
            <a:solidFill>
              <a:srgbClr val="D08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3343275" y="19145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08C2A"/>
          </a:solidFill>
          <a:ln w="9525">
            <a:solidFill>
              <a:srgbClr val="D0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8375" y="201930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D08C2A"/>
                </a:solidFill>
                <a:latin typeface="Calibri"/>
              </a:rPr>
              <a:t>0 down / exit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1472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1472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472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Mid-sized players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282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5925" y="14668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8C8C"/>
                </a:solidFill>
                <a:latin typeface="Calibri"/>
              </a:rPr>
              <a:t>1 up-tier (M&amp;A)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72125" y="1695450"/>
            <a:ext cx="1123950" cy="0"/>
          </a:xfrm>
          <a:prstGeom prst="line">
            <a:avLst/>
          </a:prstGeom>
          <a:ln w="25400">
            <a:solidFill>
              <a:srgbClr val="0E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5495925" y="16478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0E8C8C"/>
          </a:solidFill>
          <a:ln w="9525">
            <a:solidFill>
              <a:srgbClr val="0E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495925" y="1962150"/>
            <a:ext cx="1123950" cy="0"/>
          </a:xfrm>
          <a:prstGeom prst="line">
            <a:avLst/>
          </a:prstGeom>
          <a:ln w="25400">
            <a:solidFill>
              <a:srgbClr val="D08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6600825" y="19145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08C2A"/>
          </a:solidFill>
          <a:ln w="9525">
            <a:solidFill>
              <a:srgbClr val="D0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95925" y="201930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D08C2A"/>
                </a:solidFill>
                <a:latin typeface="Calibri"/>
              </a:rPr>
              <a:t>0 down / exit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7227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7227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227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Emerging / local players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037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3475" y="146685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E8C8C"/>
                </a:solidFill>
                <a:latin typeface="Calibri"/>
              </a:rPr>
              <a:t>2 up-tier (M&amp;A)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29675" y="1695450"/>
            <a:ext cx="1123950" cy="0"/>
          </a:xfrm>
          <a:prstGeom prst="line">
            <a:avLst/>
          </a:prstGeom>
          <a:ln w="25400">
            <a:solidFill>
              <a:srgbClr val="0E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8753475" y="16478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0E8C8C"/>
          </a:solidFill>
          <a:ln w="9525">
            <a:solidFill>
              <a:srgbClr val="0E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753475" y="1962150"/>
            <a:ext cx="1123950" cy="0"/>
          </a:xfrm>
          <a:prstGeom prst="line">
            <a:avLst/>
          </a:prstGeom>
          <a:ln w="25400">
            <a:solidFill>
              <a:srgbClr val="D08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9858375" y="19145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08C2A"/>
          </a:solidFill>
          <a:ln w="9525">
            <a:solidFill>
              <a:srgbClr val="D0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53475" y="2019300"/>
            <a:ext cx="120015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D08C2A"/>
                </a:solidFill>
                <a:latin typeface="Calibri"/>
              </a:rPr>
              <a:t>1 down / exit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29825" y="1390650"/>
            <a:ext cx="1905000" cy="876300"/>
          </a:xfrm>
          <a:prstGeom prst="roundRect">
            <a:avLst>
              <a:gd name="adj" fmla="val 4000"/>
            </a:avLst>
          </a:prstGeom>
          <a:solidFill>
            <a:srgbClr val="9F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29825" y="1447800"/>
            <a:ext cx="190500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Others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9825" y="1676400"/>
            <a:ext cx="1905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14213D"/>
                </a:solidFill>
                <a:latin typeface="Calibri"/>
              </a:rPr>
              <a:t>Long tail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925" y="1828800"/>
            <a:ext cx="18288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17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MI KPI Value"/>
          <p:cNvSpPr txBox="1"/>
          <p:nvPr/>
        </p:nvSpPr>
        <p:spPr>
          <a:xfrm>
            <a:off x="35242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9062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New entrants 2026–2036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9062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scaling up from the long tail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992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MI KPI Value"/>
          <p:cNvSpPr txBox="1"/>
          <p:nvPr/>
        </p:nvSpPr>
        <p:spPr>
          <a:xfrm>
            <a:off x="330517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4337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Exits / acquisitions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4337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absorbed mainly by Tier 1–2 acquirers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6267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MI KPI Value"/>
          <p:cNvSpPr txBox="1"/>
          <p:nvPr/>
        </p:nvSpPr>
        <p:spPr>
          <a:xfrm>
            <a:off x="625792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612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Net change in player count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9612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Between 2026 and 2036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15425" y="2400300"/>
            <a:ext cx="2819400" cy="914400"/>
          </a:xfrm>
          <a:prstGeom prst="roundRect">
            <a:avLst>
              <a:gd name="adj" fmla="val 2702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MI KPI Value"/>
          <p:cNvSpPr txBox="1"/>
          <p:nvPr/>
        </p:nvSpPr>
        <p:spPr>
          <a:xfrm>
            <a:off x="9210675" y="2457450"/>
            <a:ext cx="762000" cy="3429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1F3A6E"/>
                </a:solidFill>
                <a:latin typeface="Calibri"/>
              </a:rPr>
              <a:t>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48875" y="2457450"/>
            <a:ext cx="1809750" cy="3429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Share moving between tiers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48875" y="2800350"/>
            <a:ext cx="1809750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largest transfer: Others → Tier 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42875" y="3543300"/>
            <a:ext cx="7096125" cy="3086100"/>
          </a:xfrm>
          <a:prstGeom prst="roundRect">
            <a:avLst>
              <a:gd name="adj" fmla="val 107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8125" y="3600450"/>
            <a:ext cx="6905625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Structural Forces Shaping the Tier Structure (1 = weak, 5 = strong)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8125" y="3867150"/>
            <a:ext cx="14287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5275" y="3867150"/>
            <a:ext cx="13525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Force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66875" y="3867150"/>
            <a:ext cx="2333625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724025" y="3867150"/>
            <a:ext cx="2257425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Drivers in the market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00500" y="3867150"/>
            <a:ext cx="666750" cy="247650"/>
          </a:xfrm>
          <a:prstGeom prst="rect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57650" y="3867150"/>
            <a:ext cx="59055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7250" y="3867150"/>
            <a:ext cx="2476500" cy="247650"/>
          </a:xfrm>
          <a:prstGeom prst="rect">
            <a:avLst/>
          </a:prstGeom>
          <a:solidFill>
            <a:srgbClr val="0E8C8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24400" y="3867150"/>
            <a:ext cx="2400300" cy="2476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Effect on tier structure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8125" y="4114800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5275" y="4114800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Entry barriers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66875" y="4114800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724025" y="4114800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Certification, qualification, scale economics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00500" y="4114800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57650" y="4114800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7250" y="4114800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24400" y="4114800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Protects Tier 1–2; slows new entry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38125" y="4524375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5275" y="4524375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Buyer power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66875" y="4524375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724025" y="4524375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Key-account purchasing, multi-year supply contracts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00500" y="4524375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057650" y="4524375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7250" y="4524375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24400" y="4524375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Compresses Tier 3 pricing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38125" y="4933950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5275" y="4933950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Switching costs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66875" y="4933950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724025" y="4933950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Requalification, integration and retraining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00500" y="4933950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57650" y="4933950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67250" y="4933950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24400" y="4933950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Locks in the installed base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38125" y="5343525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5275" y="5343525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Technology substitution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66875" y="5343525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724025" y="5343525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Alternative materials and next-generation formats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000500" y="5343525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057650" y="5343525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67250" y="5343525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24400" y="5343525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Opens demand to Tier 2–3 innovators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38125" y="5753100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95275" y="5753100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Supplier power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66875" y="5753100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724025" y="5753100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Few qualified input and component suppliers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000500" y="5753100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057650" y="5753100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67250" y="5753100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24400" y="5753100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Raises input cost for sub-scale players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38125" y="6162675"/>
            <a:ext cx="1428750" cy="409575"/>
          </a:xfrm>
          <a:prstGeom prst="rect">
            <a:avLst/>
          </a:prstGeom>
          <a:solidFill>
            <a:srgbClr val="EAF1FA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95275" y="6162675"/>
            <a:ext cx="1333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Overall structural pressure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66875" y="6162675"/>
            <a:ext cx="2333625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724025" y="6162675"/>
            <a:ext cx="2238375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Average of the five forces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000500" y="6162675"/>
            <a:ext cx="666750" cy="409575"/>
          </a:xfrm>
          <a:prstGeom prst="rect">
            <a:avLst/>
          </a:prstGeom>
          <a:solidFill>
            <a:srgbClr val="E0F3F3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057650" y="6162675"/>
            <a:ext cx="57150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 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67250" y="6162675"/>
            <a:ext cx="2476500" cy="409575"/>
          </a:xfrm>
          <a:prstGeom prst="rect">
            <a:avLst/>
          </a:prstGeom>
          <a:solidFill>
            <a:srgbClr val="FFFFFF"/>
          </a:solidFill>
          <a:ln w="635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24400" y="6162675"/>
            <a:ext cx="2381250" cy="40957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13D"/>
                </a:solidFill>
                <a:latin typeface="Calibri"/>
              </a:rPr>
              <a:t>Consolidation towards Tier 1–2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381875" y="3543300"/>
            <a:ext cx="4667250" cy="308610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477125" y="3600450"/>
            <a:ext cx="4476750" cy="2095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200" b="1">
                <a:solidFill>
                  <a:srgbClr val="2E2E2E"/>
                </a:solidFill>
                <a:latin typeface="Calibri"/>
              </a:rPr>
              <a:t>Key Takeaways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96175" y="384810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•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29525" y="3848100"/>
            <a:ext cx="4305300" cy="69532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6175" y="4429125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•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629525" y="4429125"/>
            <a:ext cx="4305300" cy="695325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1 Tier 2 player is positioned to move up-tier by 2036 through M&amp;A and key-account wins – the main structural change of the decade.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496175" y="50101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•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29525" y="5010150"/>
            <a:ext cx="4305300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/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6175" y="5429250"/>
            <a:ext cx="1143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•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629525" y="5429250"/>
            <a:ext cx="4305300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13D"/>
                </a:solidFill>
                <a:latin typeface="Calibri"/>
              </a:rPr>
              <a:t>Buyer power (4 / 5) and technology substitution (4 / 5) are the dominant forces shaping the tier structure.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26" y="2545080"/>
            <a:ext cx="257397" cy="374396"/>
          </a:xfrm>
          <a:prstGeom prst="rect">
            <a:avLst/>
          </a:prstGeom>
        </p:spPr>
      </p:pic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476" y="2545080"/>
            <a:ext cx="257397" cy="374396"/>
          </a:xfrm>
          <a:prstGeom prst="rect">
            <a:avLst/>
          </a:prstGeom>
        </p:spPr>
      </p:pic>
      <p:pic>
        <p:nvPicPr>
          <p:cNvPr id="133" name="Picture 1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226" y="2545080"/>
            <a:ext cx="257397" cy="374396"/>
          </a:xfrm>
          <a:prstGeom prst="rect">
            <a:avLst/>
          </a:prstGeom>
        </p:spPr>
      </p:pic>
      <p:pic>
        <p:nvPicPr>
          <p:cNvPr id="134" name="Picture 1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976" y="2545080"/>
            <a:ext cx="257397" cy="374396"/>
          </a:xfrm>
          <a:prstGeom prst="rect">
            <a:avLst/>
          </a:prstGeom>
        </p:spPr>
      </p:pic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4225988"/>
            <a:ext cx="128699" cy="187198"/>
          </a:xfrm>
          <a:prstGeom prst="rect">
            <a:avLst/>
          </a:prstGeom>
        </p:spPr>
      </p:pic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4635563"/>
            <a:ext cx="128699" cy="187198"/>
          </a:xfrm>
          <a:prstGeom prst="rect">
            <a:avLst/>
          </a:prstGeom>
        </p:spPr>
      </p:pic>
      <p:pic>
        <p:nvPicPr>
          <p:cNvPr id="137" name="Picture 1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5045138"/>
            <a:ext cx="128699" cy="187198"/>
          </a:xfrm>
          <a:prstGeom prst="rect">
            <a:avLst/>
          </a:prstGeom>
        </p:spPr>
      </p:pic>
      <p:pic>
        <p:nvPicPr>
          <p:cNvPr id="138" name="Picture 1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5454713"/>
            <a:ext cx="128699" cy="187198"/>
          </a:xfrm>
          <a:prstGeom prst="rect">
            <a:avLst/>
          </a:prstGeom>
        </p:spPr>
      </p:pic>
      <p:pic>
        <p:nvPicPr>
          <p:cNvPr id="139" name="Picture 1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5864288"/>
            <a:ext cx="128699" cy="187198"/>
          </a:xfrm>
          <a:prstGeom prst="rect">
            <a:avLst/>
          </a:prstGeom>
        </p:spPr>
      </p:pic>
      <p:pic>
        <p:nvPicPr>
          <p:cNvPr id="140" name="Picture 1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050" y="6273863"/>
            <a:ext cx="128699" cy="187198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547018" y="1870710"/>
            <a:ext cx="9291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4 → 5 players ·</a:t>
            </a:r>
          </a:p>
        </p:txBody>
      </p:sp>
      <p:pic>
        <p:nvPicPr>
          <p:cNvPr id="142" name="Picture 1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204" y="1860931"/>
            <a:ext cx="128699" cy="18719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591699" y="187071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pic>
        <p:nvPicPr>
          <p:cNvPr id="144" name="Picture 1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554" y="1860931"/>
            <a:ext cx="128699" cy="187198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049783" y="203835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04568" y="1870710"/>
            <a:ext cx="9291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2 → 2 players ·</a:t>
            </a:r>
          </a:p>
        </p:txBody>
      </p:sp>
      <p:pic>
        <p:nvPicPr>
          <p:cNvPr id="147" name="Picture 1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54" y="1860931"/>
            <a:ext cx="128699" cy="187198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4849249" y="187071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pic>
        <p:nvPicPr>
          <p:cNvPr id="149" name="Picture 1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104" y="1860931"/>
            <a:ext cx="128699" cy="18719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4307333" y="203835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062118" y="1870710"/>
            <a:ext cx="92913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4 → 4 players ·</a:t>
            </a:r>
          </a:p>
        </p:txBody>
      </p:sp>
      <p:pic>
        <p:nvPicPr>
          <p:cNvPr id="152" name="Picture 1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304" y="1860931"/>
            <a:ext cx="128699" cy="18719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8106799" y="187071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pic>
        <p:nvPicPr>
          <p:cNvPr id="154" name="Picture 1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654" y="1860931"/>
            <a:ext cx="128699" cy="187198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7564883" y="203835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286075" y="1954530"/>
            <a:ext cx="6388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Long tail ·</a:t>
            </a:r>
          </a:p>
        </p:txBody>
      </p:sp>
      <p:pic>
        <p:nvPicPr>
          <p:cNvPr id="157" name="Picture 1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946" y="1944751"/>
            <a:ext cx="128699" cy="18719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11040442" y="1954530"/>
            <a:ext cx="20280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→</a:t>
            </a:r>
          </a:p>
        </p:txBody>
      </p:sp>
      <p:pic>
        <p:nvPicPr>
          <p:cNvPr id="159" name="Picture 1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297" y="1944751"/>
            <a:ext cx="128699" cy="187198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1358792" y="1954530"/>
            <a:ext cx="39598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14213D"/>
                </a:solidFill>
                <a:latin typeface="Calibri"/>
              </a:rPr>
              <a:t>share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658100" y="3857625"/>
            <a:ext cx="182817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The market is fragmented (HHI</a:t>
            </a:r>
          </a:p>
        </p:txBody>
      </p:sp>
      <p:pic>
        <p:nvPicPr>
          <p:cNvPr id="162" name="Picture 1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331" y="3847846"/>
            <a:ext cx="128699" cy="187198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9601827" y="3857625"/>
            <a:ext cx="206856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); Tier 1 sets pricing and innovation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658100" y="4025265"/>
            <a:ext cx="212476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benchmarks and is expected to hold</a:t>
            </a:r>
          </a:p>
        </p:txBody>
      </p:sp>
      <p:pic>
        <p:nvPicPr>
          <p:cNvPr id="165" name="Picture 1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0921" y="4015486"/>
            <a:ext cx="128699" cy="187198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9898416" y="4025265"/>
            <a:ext cx="1016992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of value in 2036.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58100" y="5019675"/>
            <a:ext cx="3471019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Tier 3 and the long tail face the highest structural pressure (</a:t>
            </a:r>
          </a:p>
        </p:txBody>
      </p:sp>
      <p:pic>
        <p:nvPicPr>
          <p:cNvPr id="168" name="Picture 1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170" y="5009895"/>
            <a:ext cx="128699" cy="187198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11244666" y="5019675"/>
            <a:ext cx="415081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/ 5); 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658100" y="5187315"/>
            <a:ext cx="2541413" cy="18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14213D"/>
                </a:solidFill>
                <a:latin typeface="Calibri"/>
              </a:rPr>
              <a:t>players are expected to exit or be acquired.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Residential Solar Generator Market Competitive Dashboard View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companies on portfolio, coverage, revenue, share, regional presence and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970754"/>
            <a:ext cx="10477500" cy="164283"/>
          </a:xfrm>
          <a:prstGeom prst="rect">
            <a:avLst/>
          </a:prstGeom>
          <a:noFill/>
        </p:spPr>
        <p:txBody>
          <a:bodyPr wrap="square" lIns="0" rIns="19050" tIns="0" bIns="0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Intensified competition across the leading players portfolio, revenue, share, regional presence and strategy.  All figures 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350" y="1153291"/>
            <a:ext cx="11925300" cy="456342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3350" y="1171544"/>
            <a:ext cx="11925300" cy="365074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3350" y="1171544"/>
            <a:ext cx="1143000" cy="4526917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33350" y="1536618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3350" y="1792170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3350" y="2631840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" y="2960407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3350" y="3288973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3350" y="4055629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3350" y="5041328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33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0586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9540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7172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480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2437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0070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7702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7533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2967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90600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982325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058650" y="1171544"/>
            <a:ext cx="0" cy="4526917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3350" y="5698461"/>
            <a:ext cx="11925300" cy="0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1450" y="1536618"/>
            <a:ext cx="1085850" cy="255552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Company / Brand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450" y="1792170"/>
            <a:ext cx="1085850" cy="839670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Product Portfolio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450" y="2631840"/>
            <a:ext cx="1085850" cy="328567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Overall Rev (US$ Mn)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1450" y="2960407"/>
            <a:ext cx="1085850" cy="328567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Target Rev (US$ Mn)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1450" y="3288973"/>
            <a:ext cx="1085850" cy="766655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Market Share (%)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1450" y="4055629"/>
            <a:ext cx="1085850" cy="985700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Regional Presence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1450" y="5041328"/>
            <a:ext cx="1085850" cy="657133"/>
          </a:xfrm>
          <a:prstGeom prst="rect">
            <a:avLst/>
          </a:prstGeom>
          <a:noFill/>
        </p:spPr>
        <p:txBody>
          <a:bodyPr wrap="squar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2E4A"/>
                </a:solidFill>
                <a:latin typeface="Calibri"/>
              </a:rPr>
              <a:t>Strategies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3975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Jackery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604962" y="1509238"/>
            <a:ext cx="457200" cy="0"/>
          </a:xfrm>
          <a:prstGeom prst="line">
            <a:avLst/>
          </a:prstGeom>
          <a:ln w="1905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323975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4450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14450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04962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776412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4786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23975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23975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52" name="Oval 51"/>
          <p:cNvSpPr/>
          <p:nvPr/>
        </p:nvSpPr>
        <p:spPr>
          <a:xfrm>
            <a:off x="158591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828800" y="3416749"/>
            <a:ext cx="209550" cy="237298"/>
          </a:xfrm>
          <a:custGeom>
            <a:avLst/>
            <a:gdLst/>
            <a:ahLst/>
            <a:cxnLst/>
            <a:rect l="l" t="t" r="r" b="b"/>
            <a:pathLst>
              <a:path w="22" h="26">
                <a:moveTo>
                  <a:pt x="0" y="26"/>
                </a:moveTo>
                <a:lnTo>
                  <a:pt x="0" y="0"/>
                </a:lnTo>
                <a:lnTo>
                  <a:pt x="4" y="0"/>
                </a:lnTo>
                <a:lnTo>
                  <a:pt x="8" y="1"/>
                </a:lnTo>
                <a:lnTo>
                  <a:pt x="11" y="2"/>
                </a:lnTo>
                <a:lnTo>
                  <a:pt x="14" y="4"/>
                </a:lnTo>
                <a:lnTo>
                  <a:pt x="17" y="6"/>
                </a:lnTo>
                <a:lnTo>
                  <a:pt x="20" y="8"/>
                </a:lnTo>
                <a:lnTo>
                  <a:pt x="22" y="11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94878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85912" y="3590159"/>
            <a:ext cx="495300" cy="12777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43025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57" name="Oval 56"/>
          <p:cNvSpPr/>
          <p:nvPr/>
        </p:nvSpPr>
        <p:spPr>
          <a:xfrm>
            <a:off x="14287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287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59" name="Oval 58"/>
          <p:cNvSpPr/>
          <p:nvPr/>
        </p:nvSpPr>
        <p:spPr>
          <a:xfrm>
            <a:off x="16383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383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61" name="Oval 60"/>
          <p:cNvSpPr/>
          <p:nvPr/>
        </p:nvSpPr>
        <p:spPr>
          <a:xfrm>
            <a:off x="18478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478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63" name="Oval 62"/>
          <p:cNvSpPr/>
          <p:nvPr/>
        </p:nvSpPr>
        <p:spPr>
          <a:xfrm>
            <a:off x="2057400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65" name="Oval 64"/>
          <p:cNvSpPr/>
          <p:nvPr/>
        </p:nvSpPr>
        <p:spPr>
          <a:xfrm>
            <a:off x="15335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335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Oval 66"/>
          <p:cNvSpPr/>
          <p:nvPr/>
        </p:nvSpPr>
        <p:spPr>
          <a:xfrm>
            <a:off x="1743075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430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69" name="Oval 68"/>
          <p:cNvSpPr/>
          <p:nvPr/>
        </p:nvSpPr>
        <p:spPr>
          <a:xfrm>
            <a:off x="19526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526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00300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EcoFlow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681288" y="1509238"/>
            <a:ext cx="457200" cy="0"/>
          </a:xfrm>
          <a:prstGeom prst="line">
            <a:avLst/>
          </a:prstGeom>
          <a:ln w="1905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400300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90775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90775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81288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85273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024188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00300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00300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81" name="Oval 80"/>
          <p:cNvSpPr/>
          <p:nvPr/>
        </p:nvSpPr>
        <p:spPr>
          <a:xfrm>
            <a:off x="266223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914650" y="3416749"/>
            <a:ext cx="180975" cy="237298"/>
          </a:xfrm>
          <a:custGeom>
            <a:avLst/>
            <a:gdLst/>
            <a:ahLst/>
            <a:cxnLst/>
            <a:rect l="l" t="t" r="r" b="b"/>
            <a:pathLst>
              <a:path w="19" h="26">
                <a:moveTo>
                  <a:pt x="0" y="26"/>
                </a:moveTo>
                <a:lnTo>
                  <a:pt x="0" y="0"/>
                </a:lnTo>
                <a:lnTo>
                  <a:pt x="3" y="0"/>
                </a:lnTo>
                <a:lnTo>
                  <a:pt x="7" y="1"/>
                </a:lnTo>
                <a:lnTo>
                  <a:pt x="10" y="2"/>
                </a:lnTo>
                <a:lnTo>
                  <a:pt x="13" y="4"/>
                </a:lnTo>
                <a:lnTo>
                  <a:pt x="16" y="6"/>
                </a:lnTo>
                <a:lnTo>
                  <a:pt x="19" y="9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77120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62238" y="3590159"/>
            <a:ext cx="495300" cy="127776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19350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86" name="Oval 85"/>
          <p:cNvSpPr/>
          <p:nvPr/>
        </p:nvSpPr>
        <p:spPr>
          <a:xfrm>
            <a:off x="25050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5050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88" name="Oval 87"/>
          <p:cNvSpPr/>
          <p:nvPr/>
        </p:nvSpPr>
        <p:spPr>
          <a:xfrm>
            <a:off x="27146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146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90" name="Oval 89"/>
          <p:cNvSpPr/>
          <p:nvPr/>
        </p:nvSpPr>
        <p:spPr>
          <a:xfrm>
            <a:off x="29241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241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92" name="Oval 91"/>
          <p:cNvSpPr/>
          <p:nvPr/>
        </p:nvSpPr>
        <p:spPr>
          <a:xfrm>
            <a:off x="31337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1337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94" name="Oval 93"/>
          <p:cNvSpPr/>
          <p:nvPr/>
        </p:nvSpPr>
        <p:spPr>
          <a:xfrm>
            <a:off x="26098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6098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6" name="Oval 95"/>
          <p:cNvSpPr/>
          <p:nvPr/>
        </p:nvSpPr>
        <p:spPr>
          <a:xfrm>
            <a:off x="2819400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194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98" name="Oval 97"/>
          <p:cNvSpPr/>
          <p:nvPr/>
        </p:nvSpPr>
        <p:spPr>
          <a:xfrm>
            <a:off x="30289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0289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76625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BLUETTI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757612" y="1509238"/>
            <a:ext cx="457200" cy="0"/>
          </a:xfrm>
          <a:prstGeom prst="line">
            <a:avLst/>
          </a:prstGeom>
          <a:ln w="1905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476625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67100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79C3EC"/>
                </a:solidFill>
                <a:latin typeface="Calibri"/>
              </a:rPr>
              <a:t>✦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67100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57612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929062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10051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76625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76625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10" name="Oval 109"/>
          <p:cNvSpPr/>
          <p:nvPr/>
        </p:nvSpPr>
        <p:spPr>
          <a:xfrm>
            <a:off x="373856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981450" y="3416749"/>
            <a:ext cx="142875" cy="237298"/>
          </a:xfrm>
          <a:custGeom>
            <a:avLst/>
            <a:gdLst/>
            <a:ahLst/>
            <a:cxnLst/>
            <a:rect l="l" t="t" r="r" b="b"/>
            <a:pathLst>
              <a:path w="15" h="26">
                <a:moveTo>
                  <a:pt x="0" y="26"/>
                </a:moveTo>
                <a:lnTo>
                  <a:pt x="0" y="0"/>
                </a:lnTo>
                <a:lnTo>
                  <a:pt x="4" y="0"/>
                </a:lnTo>
                <a:lnTo>
                  <a:pt x="8" y="1"/>
                </a:lnTo>
                <a:lnTo>
                  <a:pt x="12" y="2"/>
                </a:lnTo>
                <a:lnTo>
                  <a:pt x="15" y="4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847528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738562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495675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15" name="Oval 114"/>
          <p:cNvSpPr/>
          <p:nvPr/>
        </p:nvSpPr>
        <p:spPr>
          <a:xfrm>
            <a:off x="35814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5814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17" name="Oval 116"/>
          <p:cNvSpPr/>
          <p:nvPr/>
        </p:nvSpPr>
        <p:spPr>
          <a:xfrm>
            <a:off x="37909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7909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19" name="Oval 118"/>
          <p:cNvSpPr/>
          <p:nvPr/>
        </p:nvSpPr>
        <p:spPr>
          <a:xfrm>
            <a:off x="40005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0005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21" name="Oval 120"/>
          <p:cNvSpPr/>
          <p:nvPr/>
        </p:nvSpPr>
        <p:spPr>
          <a:xfrm>
            <a:off x="4210050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2100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23" name="Oval 122"/>
          <p:cNvSpPr/>
          <p:nvPr/>
        </p:nvSpPr>
        <p:spPr>
          <a:xfrm>
            <a:off x="368617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6861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5" name="Oval 124"/>
          <p:cNvSpPr/>
          <p:nvPr/>
        </p:nvSpPr>
        <p:spPr>
          <a:xfrm>
            <a:off x="3895725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8957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27" name="Oval 126"/>
          <p:cNvSpPr/>
          <p:nvPr/>
        </p:nvSpPr>
        <p:spPr>
          <a:xfrm>
            <a:off x="410527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1052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52950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PECRON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833938" y="1509238"/>
            <a:ext cx="457200" cy="0"/>
          </a:xfrm>
          <a:prstGeom prst="line">
            <a:avLst/>
          </a:prstGeom>
          <a:ln w="1905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4552950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43425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43425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833938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00538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176838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52950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52950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39" name="Oval 138"/>
          <p:cNvSpPr/>
          <p:nvPr/>
        </p:nvSpPr>
        <p:spPr>
          <a:xfrm>
            <a:off x="481488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5067300" y="3416749"/>
            <a:ext cx="95250" cy="237298"/>
          </a:xfrm>
          <a:custGeom>
            <a:avLst/>
            <a:gdLst/>
            <a:ahLst/>
            <a:cxnLst/>
            <a:rect l="l" t="t" r="r" b="b"/>
            <a:pathLst>
              <a:path w="10" h="26">
                <a:moveTo>
                  <a:pt x="0" y="26"/>
                </a:moveTo>
                <a:lnTo>
                  <a:pt x="0" y="0"/>
                </a:lnTo>
                <a:lnTo>
                  <a:pt x="3" y="0"/>
                </a:lnTo>
                <a:lnTo>
                  <a:pt x="7" y="1"/>
                </a:lnTo>
                <a:lnTo>
                  <a:pt x="10" y="2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92385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814888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72000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Eastern Europe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44" name="Oval 143"/>
          <p:cNvSpPr/>
          <p:nvPr/>
        </p:nvSpPr>
        <p:spPr>
          <a:xfrm>
            <a:off x="46577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6577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46" name="Oval 145"/>
          <p:cNvSpPr/>
          <p:nvPr/>
        </p:nvSpPr>
        <p:spPr>
          <a:xfrm>
            <a:off x="48672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8672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48" name="Oval 147"/>
          <p:cNvSpPr/>
          <p:nvPr/>
        </p:nvSpPr>
        <p:spPr>
          <a:xfrm>
            <a:off x="50768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0768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50" name="Oval 149"/>
          <p:cNvSpPr/>
          <p:nvPr/>
        </p:nvSpPr>
        <p:spPr>
          <a:xfrm>
            <a:off x="52863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2863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52" name="Oval 151"/>
          <p:cNvSpPr/>
          <p:nvPr/>
        </p:nvSpPr>
        <p:spPr>
          <a:xfrm>
            <a:off x="476250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7625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54" name="Oval 153"/>
          <p:cNvSpPr/>
          <p:nvPr/>
        </p:nvSpPr>
        <p:spPr>
          <a:xfrm>
            <a:off x="4972050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9720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56" name="Oval 155"/>
          <p:cNvSpPr/>
          <p:nvPr/>
        </p:nvSpPr>
        <p:spPr>
          <a:xfrm>
            <a:off x="518160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1816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629275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Goal Zero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5910262" y="1509238"/>
            <a:ext cx="457200" cy="0"/>
          </a:xfrm>
          <a:prstGeom prst="line">
            <a:avLst/>
          </a:prstGeom>
          <a:ln w="1905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5629275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619750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619750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910262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081712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25316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629275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629275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68" name="Oval 167"/>
          <p:cNvSpPr/>
          <p:nvPr/>
        </p:nvSpPr>
        <p:spPr>
          <a:xfrm>
            <a:off x="589121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6134100" y="3416749"/>
            <a:ext cx="104775" cy="237298"/>
          </a:xfrm>
          <a:custGeom>
            <a:avLst/>
            <a:gdLst/>
            <a:ahLst/>
            <a:cxnLst/>
            <a:rect l="l" t="t" r="r" b="b"/>
            <a:pathLst>
              <a:path w="11" h="26">
                <a:moveTo>
                  <a:pt x="0" y="26"/>
                </a:moveTo>
                <a:lnTo>
                  <a:pt x="0" y="0"/>
                </a:lnTo>
                <a:lnTo>
                  <a:pt x="4" y="0"/>
                </a:lnTo>
                <a:lnTo>
                  <a:pt x="7" y="1"/>
                </a:lnTo>
                <a:lnTo>
                  <a:pt x="11" y="2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000179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891212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48325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Eastern Europe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Western Europe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173" name="Oval 172"/>
          <p:cNvSpPr/>
          <p:nvPr/>
        </p:nvSpPr>
        <p:spPr>
          <a:xfrm>
            <a:off x="57340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7340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5" name="Oval 174"/>
          <p:cNvSpPr/>
          <p:nvPr/>
        </p:nvSpPr>
        <p:spPr>
          <a:xfrm>
            <a:off x="59436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9436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77" name="Oval 176"/>
          <p:cNvSpPr/>
          <p:nvPr/>
        </p:nvSpPr>
        <p:spPr>
          <a:xfrm>
            <a:off x="61531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1531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79" name="Oval 178"/>
          <p:cNvSpPr/>
          <p:nvPr/>
        </p:nvSpPr>
        <p:spPr>
          <a:xfrm>
            <a:off x="6362700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3627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81" name="Oval 180"/>
          <p:cNvSpPr/>
          <p:nvPr/>
        </p:nvSpPr>
        <p:spPr>
          <a:xfrm>
            <a:off x="58388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8388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83" name="Oval 182"/>
          <p:cNvSpPr/>
          <p:nvPr/>
        </p:nvSpPr>
        <p:spPr>
          <a:xfrm>
            <a:off x="6048375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0483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85" name="Oval 184"/>
          <p:cNvSpPr/>
          <p:nvPr/>
        </p:nvSpPr>
        <p:spPr>
          <a:xfrm>
            <a:off x="62579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2579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705600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Zendure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6986588" y="1509238"/>
            <a:ext cx="457200" cy="0"/>
          </a:xfrm>
          <a:prstGeom prst="line">
            <a:avLst/>
          </a:prstGeom>
          <a:ln w="1905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6705600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F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696075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79C3EC"/>
                </a:solidFill>
                <a:latin typeface="Calibri"/>
              </a:rPr>
              <a:t>✦ 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696075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986588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15803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329488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705600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705600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197" name="Oval 196"/>
          <p:cNvSpPr/>
          <p:nvPr/>
        </p:nvSpPr>
        <p:spPr>
          <a:xfrm>
            <a:off x="696753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7219950" y="3416749"/>
            <a:ext cx="95250" cy="237298"/>
          </a:xfrm>
          <a:custGeom>
            <a:avLst/>
            <a:gdLst/>
            <a:ahLst/>
            <a:cxnLst/>
            <a:rect l="l" t="t" r="r" b="b"/>
            <a:pathLst>
              <a:path w="10" h="26">
                <a:moveTo>
                  <a:pt x="0" y="26"/>
                </a:moveTo>
                <a:lnTo>
                  <a:pt x="0" y="0"/>
                </a:lnTo>
                <a:lnTo>
                  <a:pt x="3" y="0"/>
                </a:lnTo>
                <a:lnTo>
                  <a:pt x="6" y="1"/>
                </a:lnTo>
                <a:lnTo>
                  <a:pt x="10" y="2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07650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967538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724650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Eastern Europe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Western Europe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202" name="Oval 201"/>
          <p:cNvSpPr/>
          <p:nvPr/>
        </p:nvSpPr>
        <p:spPr>
          <a:xfrm>
            <a:off x="68103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8103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04" name="Oval 203"/>
          <p:cNvSpPr/>
          <p:nvPr/>
        </p:nvSpPr>
        <p:spPr>
          <a:xfrm>
            <a:off x="70199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0199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06" name="Oval 205"/>
          <p:cNvSpPr/>
          <p:nvPr/>
        </p:nvSpPr>
        <p:spPr>
          <a:xfrm>
            <a:off x="72294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2294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08" name="Oval 207"/>
          <p:cNvSpPr/>
          <p:nvPr/>
        </p:nvSpPr>
        <p:spPr>
          <a:xfrm>
            <a:off x="74390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4390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10" name="Oval 209"/>
          <p:cNvSpPr/>
          <p:nvPr/>
        </p:nvSpPr>
        <p:spPr>
          <a:xfrm>
            <a:off x="69151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9151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2" name="Oval 211"/>
          <p:cNvSpPr/>
          <p:nvPr/>
        </p:nvSpPr>
        <p:spPr>
          <a:xfrm>
            <a:off x="7124700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71247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14" name="Oval 213"/>
          <p:cNvSpPr/>
          <p:nvPr/>
        </p:nvSpPr>
        <p:spPr>
          <a:xfrm>
            <a:off x="73342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73342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81925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Dabbsson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8062912" y="1509238"/>
            <a:ext cx="457200" cy="0"/>
          </a:xfrm>
          <a:prstGeom prst="line">
            <a:avLst/>
          </a:prstGeom>
          <a:ln w="1905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/>
          <p:cNvSpPr txBox="1"/>
          <p:nvPr/>
        </p:nvSpPr>
        <p:spPr>
          <a:xfrm>
            <a:off x="7781925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G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772400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772400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8062912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234362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79C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40581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781925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781925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26" name="Oval 225"/>
          <p:cNvSpPr/>
          <p:nvPr/>
        </p:nvSpPr>
        <p:spPr>
          <a:xfrm>
            <a:off x="804386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8286750" y="3416749"/>
            <a:ext cx="85725" cy="237298"/>
          </a:xfrm>
          <a:custGeom>
            <a:avLst/>
            <a:gdLst/>
            <a:ahLst/>
            <a:cxnLst/>
            <a:rect l="l" t="t" r="r" b="b"/>
            <a:pathLst>
              <a:path w="9" h="26">
                <a:moveTo>
                  <a:pt x="0" y="26"/>
                </a:moveTo>
                <a:lnTo>
                  <a:pt x="0" y="0"/>
                </a:lnTo>
                <a:lnTo>
                  <a:pt x="5" y="0"/>
                </a:lnTo>
                <a:lnTo>
                  <a:pt x="9" y="1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152829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8043862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800975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Western Europe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231" name="Oval 230"/>
          <p:cNvSpPr/>
          <p:nvPr/>
        </p:nvSpPr>
        <p:spPr>
          <a:xfrm>
            <a:off x="78867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78867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33" name="Oval 232"/>
          <p:cNvSpPr/>
          <p:nvPr/>
        </p:nvSpPr>
        <p:spPr>
          <a:xfrm>
            <a:off x="80962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80962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35" name="Oval 234"/>
          <p:cNvSpPr/>
          <p:nvPr/>
        </p:nvSpPr>
        <p:spPr>
          <a:xfrm>
            <a:off x="83058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3058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37" name="Oval 236"/>
          <p:cNvSpPr/>
          <p:nvPr/>
        </p:nvSpPr>
        <p:spPr>
          <a:xfrm>
            <a:off x="8515350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85153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39" name="Oval 238"/>
          <p:cNvSpPr/>
          <p:nvPr/>
        </p:nvSpPr>
        <p:spPr>
          <a:xfrm>
            <a:off x="799147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9914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41" name="Oval 240"/>
          <p:cNvSpPr/>
          <p:nvPr/>
        </p:nvSpPr>
        <p:spPr>
          <a:xfrm>
            <a:off x="8201025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2010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43" name="Oval 242"/>
          <p:cNvSpPr/>
          <p:nvPr/>
        </p:nvSpPr>
        <p:spPr>
          <a:xfrm>
            <a:off x="841057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4105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8858250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OUPES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9139238" y="1509238"/>
            <a:ext cx="457200" cy="0"/>
          </a:xfrm>
          <a:prstGeom prst="line">
            <a:avLst/>
          </a:prstGeom>
          <a:ln w="1905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858250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H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8848725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8848725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9139238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31068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482138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858250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8858250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55" name="Oval 254"/>
          <p:cNvSpPr/>
          <p:nvPr/>
        </p:nvSpPr>
        <p:spPr>
          <a:xfrm>
            <a:off x="912018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9372600" y="3416749"/>
            <a:ext cx="47625" cy="237298"/>
          </a:xfrm>
          <a:custGeom>
            <a:avLst/>
            <a:gdLst/>
            <a:ahLst/>
            <a:cxnLst/>
            <a:rect l="l" t="t" r="r" b="b"/>
            <a:pathLst>
              <a:path w="5" h="26">
                <a:moveTo>
                  <a:pt x="0" y="26"/>
                </a:moveTo>
                <a:lnTo>
                  <a:pt x="0" y="0"/>
                </a:lnTo>
                <a:lnTo>
                  <a:pt x="2" y="0"/>
                </a:lnTo>
                <a:lnTo>
                  <a:pt x="5" y="0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922915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120188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877300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260" name="Oval 259"/>
          <p:cNvSpPr/>
          <p:nvPr/>
        </p:nvSpPr>
        <p:spPr>
          <a:xfrm>
            <a:off x="89630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89630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62" name="Oval 261"/>
          <p:cNvSpPr/>
          <p:nvPr/>
        </p:nvSpPr>
        <p:spPr>
          <a:xfrm>
            <a:off x="91725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91725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64" name="Oval 263"/>
          <p:cNvSpPr/>
          <p:nvPr/>
        </p:nvSpPr>
        <p:spPr>
          <a:xfrm>
            <a:off x="93821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93821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66" name="Oval 265"/>
          <p:cNvSpPr/>
          <p:nvPr/>
        </p:nvSpPr>
        <p:spPr>
          <a:xfrm>
            <a:off x="95916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95916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68" name="Oval 267"/>
          <p:cNvSpPr/>
          <p:nvPr/>
        </p:nvSpPr>
        <p:spPr>
          <a:xfrm>
            <a:off x="906780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90678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70" name="Oval 269"/>
          <p:cNvSpPr/>
          <p:nvPr/>
        </p:nvSpPr>
        <p:spPr>
          <a:xfrm>
            <a:off x="9277350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2773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72" name="Oval 271"/>
          <p:cNvSpPr/>
          <p:nvPr/>
        </p:nvSpPr>
        <p:spPr>
          <a:xfrm>
            <a:off x="948690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94869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9934575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VTOMAN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10215562" y="1509238"/>
            <a:ext cx="457200" cy="0"/>
          </a:xfrm>
          <a:prstGeom prst="line">
            <a:avLst/>
          </a:prstGeom>
          <a:ln w="1905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/>
          <p:cNvSpPr txBox="1"/>
          <p:nvPr/>
        </p:nvSpPr>
        <p:spPr>
          <a:xfrm>
            <a:off x="9934575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I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925050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A86F00"/>
                </a:solidFill>
                <a:latin typeface="Calibri"/>
              </a:rPr>
              <a:t>✦ </a:t>
            </a:r>
            <a:r>
              <a:rPr sz="1300" b="0">
                <a:solidFill>
                  <a:srgbClr val="79C3EC"/>
                </a:solidFill>
                <a:latin typeface="Calibri"/>
              </a:rPr>
              <a:t>✦ 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9925050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10215562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387012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558462" y="2303274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9934575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934575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284" name="Oval 283"/>
          <p:cNvSpPr/>
          <p:nvPr/>
        </p:nvSpPr>
        <p:spPr>
          <a:xfrm>
            <a:off x="10196512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0439400" y="3416749"/>
            <a:ext cx="38100" cy="237298"/>
          </a:xfrm>
          <a:custGeom>
            <a:avLst/>
            <a:gdLst/>
            <a:ahLst/>
            <a:cxnLst/>
            <a:rect l="l" t="t" r="r" b="b"/>
            <a:pathLst>
              <a:path w="4" h="26">
                <a:moveTo>
                  <a:pt x="0" y="26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0305478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0196512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9953625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289" name="Oval 288"/>
          <p:cNvSpPr/>
          <p:nvPr/>
        </p:nvSpPr>
        <p:spPr>
          <a:xfrm>
            <a:off x="100393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00393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91" name="Oval 290"/>
          <p:cNvSpPr/>
          <p:nvPr/>
        </p:nvSpPr>
        <p:spPr>
          <a:xfrm>
            <a:off x="1024890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02489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93" name="Oval 292"/>
          <p:cNvSpPr/>
          <p:nvPr/>
        </p:nvSpPr>
        <p:spPr>
          <a:xfrm>
            <a:off x="10458450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1045845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95" name="Oval 294"/>
          <p:cNvSpPr/>
          <p:nvPr/>
        </p:nvSpPr>
        <p:spPr>
          <a:xfrm>
            <a:off x="10668000" y="5173667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0668000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97" name="Oval 296"/>
          <p:cNvSpPr/>
          <p:nvPr/>
        </p:nvSpPr>
        <p:spPr>
          <a:xfrm>
            <a:off x="101441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101441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99" name="Oval 298"/>
          <p:cNvSpPr/>
          <p:nvPr/>
        </p:nvSpPr>
        <p:spPr>
          <a:xfrm>
            <a:off x="10353675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035367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301" name="Oval 300"/>
          <p:cNvSpPr/>
          <p:nvPr/>
        </p:nvSpPr>
        <p:spPr>
          <a:xfrm>
            <a:off x="10563225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10563225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1010900" y="1189798"/>
            <a:ext cx="1019175" cy="328567"/>
          </a:xfrm>
          <a:prstGeom prst="rect">
            <a:avLst/>
          </a:prstGeom>
          <a:noFill/>
        </p:spPr>
        <p:txBody>
          <a:bodyPr wrap="square" lIns="9525" rIns="9525" tIns="9525" bIns="9525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E2E2E"/>
                </a:solidFill>
                <a:latin typeface="Calibri"/>
              </a:rPr>
              <a:t>Powerenz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11291888" y="1509238"/>
            <a:ext cx="457200" cy="0"/>
          </a:xfrm>
          <a:prstGeom prst="line">
            <a:avLst/>
          </a:prstGeom>
          <a:ln w="19050">
            <a:solidFill>
              <a:srgbClr val="0E7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11010900" y="1536618"/>
            <a:ext cx="1019175" cy="255552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AFB4B9"/>
                </a:solidFill>
                <a:latin typeface="Calibri"/>
              </a:rPr>
              <a:t>Brand J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1001375" y="1828677"/>
            <a:ext cx="1038225" cy="20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A"/>
                </a:solidFill>
                <a:latin typeface="Calibri"/>
              </a:rPr>
              <a:t>✦ </a:t>
            </a:r>
            <a:r>
              <a:rPr sz="1300" b="0">
                <a:solidFill>
                  <a:srgbClr val="69B1E0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  <a:r>
              <a:rPr sz="1300" b="0">
                <a:solidFill>
                  <a:srgbClr val="D4D7DA"/>
                </a:solidFill>
                <a:latin typeface="Calibri"/>
              </a:rPr>
              <a:t>✦ 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1001375" y="2047722"/>
            <a:ext cx="1038225" cy="18253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008189"/>
                </a:solidFill>
                <a:latin typeface="Calibri"/>
              </a:rPr>
              <a:t>✔ </a:t>
            </a:r>
            <a:r>
              <a:rPr sz="1100" b="1">
                <a:solidFill>
                  <a:srgbClr val="E44D3A"/>
                </a:solidFill>
                <a:latin typeface="Calibri"/>
              </a:rPr>
              <a:t>✘ 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1291888" y="2303274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1463338" y="2303274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1634788" y="2303274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11010900" y="2631840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1010900" y="2960407"/>
            <a:ext cx="1019175" cy="328567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 </a:t>
            </a:r>
          </a:p>
        </p:txBody>
      </p:sp>
      <p:sp>
        <p:nvSpPr>
          <p:cNvPr id="313" name="Oval 312"/>
          <p:cNvSpPr/>
          <p:nvPr/>
        </p:nvSpPr>
        <p:spPr>
          <a:xfrm>
            <a:off x="11272838" y="3416749"/>
            <a:ext cx="495300" cy="474596"/>
          </a:xfrm>
          <a:prstGeom prst="ellipse">
            <a:avLst/>
          </a:prstGeom>
          <a:solidFill>
            <a:srgbClr val="E4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1525250" y="3416749"/>
            <a:ext cx="28575" cy="237298"/>
          </a:xfrm>
          <a:custGeom>
            <a:avLst/>
            <a:gdLst/>
            <a:ahLst/>
            <a:cxnLst/>
            <a:rect l="l" t="t" r="r" b="b"/>
            <a:pathLst>
              <a:path w="3" h="26">
                <a:moveTo>
                  <a:pt x="0" y="26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1381804" y="3521160"/>
            <a:ext cx="277368" cy="2657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1272838" y="3590159"/>
            <a:ext cx="495300" cy="127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 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1029950" y="4092136"/>
            <a:ext cx="990600" cy="912685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 </a:t>
            </a:r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  </a:t>
            </a:r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 </a:t>
            </a:r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318" name="Oval 317"/>
          <p:cNvSpPr/>
          <p:nvPr/>
        </p:nvSpPr>
        <p:spPr>
          <a:xfrm>
            <a:off x="111156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111156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20" name="Oval 319"/>
          <p:cNvSpPr/>
          <p:nvPr/>
        </p:nvSpPr>
        <p:spPr>
          <a:xfrm>
            <a:off x="113252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113252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22" name="Oval 321"/>
          <p:cNvSpPr/>
          <p:nvPr/>
        </p:nvSpPr>
        <p:spPr>
          <a:xfrm>
            <a:off x="1153477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1153477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24" name="Oval 323"/>
          <p:cNvSpPr/>
          <p:nvPr/>
        </p:nvSpPr>
        <p:spPr>
          <a:xfrm>
            <a:off x="11744325" y="5173667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11744325" y="5173667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26" name="Oval 325"/>
          <p:cNvSpPr/>
          <p:nvPr/>
        </p:nvSpPr>
        <p:spPr>
          <a:xfrm>
            <a:off x="112204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112204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28" name="Oval 327"/>
          <p:cNvSpPr/>
          <p:nvPr/>
        </p:nvSpPr>
        <p:spPr>
          <a:xfrm>
            <a:off x="11430000" y="5392711"/>
            <a:ext cx="180975" cy="173410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1143000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330" name="Oval 329"/>
          <p:cNvSpPr/>
          <p:nvPr/>
        </p:nvSpPr>
        <p:spPr>
          <a:xfrm>
            <a:off x="11639550" y="5392711"/>
            <a:ext cx="180975" cy="173410"/>
          </a:xfrm>
          <a:prstGeom prst="ellipse">
            <a:avLst/>
          </a:prstGeom>
          <a:solidFill>
            <a:srgbClr val="C9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11639550" y="5392711"/>
            <a:ext cx="180975" cy="173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285750" y="5716715"/>
            <a:ext cx="1116806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Product Portfolio: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1383506" y="5744096"/>
            <a:ext cx="114300" cy="109522"/>
          </a:xfrm>
          <a:prstGeom prst="rect">
            <a:avLst/>
          </a:prstGeom>
          <a:solidFill>
            <a:srgbClr val="A8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1535906" y="5716715"/>
            <a:ext cx="2076450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Portable Modular Solar Generators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3669506" y="5744096"/>
            <a:ext cx="114300" cy="109522"/>
          </a:xfrm>
          <a:prstGeom prst="rect">
            <a:avLst/>
          </a:prstGeom>
          <a:solidFill>
            <a:srgbClr val="79C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3821906" y="5716715"/>
            <a:ext cx="2185988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Portable Integrated Solar Generators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6065044" y="5744096"/>
            <a:ext cx="114300" cy="109522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6217444" y="5716715"/>
            <a:ext cx="2871788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Fixed Residential Solar Power Generator Systems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9146381" y="5744096"/>
            <a:ext cx="114300" cy="109522"/>
          </a:xfrm>
          <a:prstGeom prst="rect">
            <a:avLst/>
          </a:prstGeom>
          <a:solidFill>
            <a:srgbClr val="FFFFFF"/>
          </a:solidFill>
          <a:ln w="12700">
            <a:solidFill>
              <a:srgbClr val="6C7A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9298781" y="5716715"/>
            <a:ext cx="740569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Not offered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285750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08189"/>
                </a:solidFill>
                <a:latin typeface="Calibri"/>
              </a:rPr>
              <a:t>✔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475615" y="5890125"/>
            <a:ext cx="457200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served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913765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44D3A"/>
                </a:solidFill>
                <a:latin typeface="Calibri"/>
              </a:rPr>
              <a:t>✘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103630" y="5890125"/>
            <a:ext cx="683419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not served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1939449" y="5890125"/>
            <a:ext cx="1183481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E2E2E"/>
                </a:solidFill>
                <a:latin typeface="Calibri"/>
              </a:rPr>
              <a:t>Regional presence: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3103880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72AE"/>
                </a:solidFill>
                <a:latin typeface="Calibri"/>
              </a:rPr>
              <a:t>▲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3293745" y="5890125"/>
            <a:ext cx="338138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High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3612832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86F00"/>
                </a:solidFill>
                <a:latin typeface="Calibri"/>
              </a:rPr>
              <a:t>▲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3802698" y="5890125"/>
            <a:ext cx="576262" cy="1642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Medium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4340860" y="5890125"/>
            <a:ext cx="208915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9AA3A8"/>
                </a:solidFill>
                <a:latin typeface="Calibri"/>
              </a:rPr>
              <a:t>▲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4530725" y="5890125"/>
            <a:ext cx="309562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Low</a:t>
            </a:r>
          </a:p>
        </p:txBody>
      </p:sp>
      <p:sp>
        <p:nvSpPr>
          <p:cNvPr id="352" name="Oval 351"/>
          <p:cNvSpPr/>
          <p:nvPr/>
        </p:nvSpPr>
        <p:spPr>
          <a:xfrm>
            <a:off x="285750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285750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495300" y="6072662"/>
            <a:ext cx="657225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Expansion</a:t>
            </a:r>
          </a:p>
        </p:txBody>
      </p:sp>
      <p:sp>
        <p:nvSpPr>
          <p:cNvPr id="355" name="Oval 354"/>
          <p:cNvSpPr/>
          <p:nvPr/>
        </p:nvSpPr>
        <p:spPr>
          <a:xfrm>
            <a:off x="1247775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1247775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457325" y="6072662"/>
            <a:ext cx="1012031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R&amp;D Investment</a:t>
            </a:r>
          </a:p>
        </p:txBody>
      </p:sp>
      <p:sp>
        <p:nvSpPr>
          <p:cNvPr id="358" name="Oval 357"/>
          <p:cNvSpPr/>
          <p:nvPr/>
        </p:nvSpPr>
        <p:spPr>
          <a:xfrm>
            <a:off x="2564606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2564606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2774156" y="6072662"/>
            <a:ext cx="800100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Financial Aid</a:t>
            </a:r>
          </a:p>
        </p:txBody>
      </p:sp>
      <p:sp>
        <p:nvSpPr>
          <p:cNvPr id="361" name="Oval 360"/>
          <p:cNvSpPr/>
          <p:nvPr/>
        </p:nvSpPr>
        <p:spPr>
          <a:xfrm>
            <a:off x="3669506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3669506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3879056" y="6072662"/>
            <a:ext cx="1328738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Product Development</a:t>
            </a:r>
          </a:p>
        </p:txBody>
      </p:sp>
      <p:sp>
        <p:nvSpPr>
          <p:cNvPr id="364" name="Oval 363"/>
          <p:cNvSpPr/>
          <p:nvPr/>
        </p:nvSpPr>
        <p:spPr>
          <a:xfrm>
            <a:off x="5303044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5303044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512594" y="6072662"/>
            <a:ext cx="714375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Acquisition</a:t>
            </a:r>
          </a:p>
        </p:txBody>
      </p:sp>
      <p:sp>
        <p:nvSpPr>
          <p:cNvPr id="367" name="Oval 366"/>
          <p:cNvSpPr/>
          <p:nvPr/>
        </p:nvSpPr>
        <p:spPr>
          <a:xfrm>
            <a:off x="6322219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6322219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6531769" y="6072662"/>
            <a:ext cx="964406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Product Launch</a:t>
            </a:r>
          </a:p>
        </p:txBody>
      </p:sp>
      <p:sp>
        <p:nvSpPr>
          <p:cNvPr id="370" name="Oval 369"/>
          <p:cNvSpPr/>
          <p:nvPr/>
        </p:nvSpPr>
        <p:spPr>
          <a:xfrm>
            <a:off x="7591425" y="6081789"/>
            <a:ext cx="171450" cy="164283"/>
          </a:xfrm>
          <a:prstGeom prst="ellipse">
            <a:avLst/>
          </a:prstGeom>
          <a:solidFill>
            <a:srgbClr val="0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7591425" y="6081789"/>
            <a:ext cx="171450" cy="1642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7800975" y="6072662"/>
            <a:ext cx="781050" cy="1825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Certification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285750" y="6273453"/>
            <a:ext cx="11620500" cy="15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5313"/>
                </a:solidFill>
                <a:latin typeface="Calibri"/>
              </a:rPr>
              <a:t>Note: Market Share indicates the contribution of target revenue in Market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285750" y="6428609"/>
            <a:ext cx="11620500" cy="15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5313"/>
                </a:solidFill>
                <a:latin typeface="Calibri"/>
              </a:rPr>
              <a:t>Revenue represents sales of the company from target market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  <p:pic>
        <p:nvPicPr>
          <p:cNvPr id="376" name="Picture 3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213" y="2702524"/>
            <a:ext cx="128699" cy="187198"/>
          </a:xfrm>
          <a:prstGeom prst="rect">
            <a:avLst/>
          </a:prstGeom>
        </p:spPr>
      </p:pic>
      <p:pic>
        <p:nvPicPr>
          <p:cNvPr id="377" name="Picture 3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213" y="3031091"/>
            <a:ext cx="128699" cy="187198"/>
          </a:xfrm>
          <a:prstGeom prst="rect">
            <a:avLst/>
          </a:prstGeom>
        </p:spPr>
      </p:pic>
      <p:pic>
        <p:nvPicPr>
          <p:cNvPr id="378" name="Picture 3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212" y="3560448"/>
            <a:ext cx="128699" cy="187198"/>
          </a:xfrm>
          <a:prstGeom prst="rect">
            <a:avLst/>
          </a:prstGeom>
        </p:spPr>
      </p:pic>
      <p:pic>
        <p:nvPicPr>
          <p:cNvPr id="379" name="Picture 3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538" y="2702524"/>
            <a:ext cx="128699" cy="187198"/>
          </a:xfrm>
          <a:prstGeom prst="rect">
            <a:avLst/>
          </a:prstGeom>
        </p:spPr>
      </p:pic>
      <p:pic>
        <p:nvPicPr>
          <p:cNvPr id="380" name="Picture 3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538" y="3031091"/>
            <a:ext cx="128699" cy="187198"/>
          </a:xfrm>
          <a:prstGeom prst="rect">
            <a:avLst/>
          </a:prstGeom>
        </p:spPr>
      </p:pic>
      <p:pic>
        <p:nvPicPr>
          <p:cNvPr id="381" name="Picture 3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538" y="3560448"/>
            <a:ext cx="128699" cy="187198"/>
          </a:xfrm>
          <a:prstGeom prst="rect">
            <a:avLst/>
          </a:prstGeom>
        </p:spPr>
      </p:pic>
      <p:pic>
        <p:nvPicPr>
          <p:cNvPr id="382" name="Picture 3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863" y="2702524"/>
            <a:ext cx="128699" cy="187198"/>
          </a:xfrm>
          <a:prstGeom prst="rect">
            <a:avLst/>
          </a:prstGeom>
        </p:spPr>
      </p:pic>
      <p:pic>
        <p:nvPicPr>
          <p:cNvPr id="383" name="Picture 3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863" y="3031091"/>
            <a:ext cx="128699" cy="187198"/>
          </a:xfrm>
          <a:prstGeom prst="rect">
            <a:avLst/>
          </a:prstGeom>
        </p:spPr>
      </p:pic>
      <p:pic>
        <p:nvPicPr>
          <p:cNvPr id="384" name="Picture 3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862" y="3560448"/>
            <a:ext cx="128699" cy="187198"/>
          </a:xfrm>
          <a:prstGeom prst="rect">
            <a:avLst/>
          </a:prstGeom>
        </p:spPr>
      </p:pic>
      <p:pic>
        <p:nvPicPr>
          <p:cNvPr id="385" name="Picture 3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188" y="2702524"/>
            <a:ext cx="128699" cy="187198"/>
          </a:xfrm>
          <a:prstGeom prst="rect">
            <a:avLst/>
          </a:prstGeom>
        </p:spPr>
      </p:pic>
      <p:pic>
        <p:nvPicPr>
          <p:cNvPr id="386" name="Picture 3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188" y="3031091"/>
            <a:ext cx="128699" cy="187198"/>
          </a:xfrm>
          <a:prstGeom prst="rect">
            <a:avLst/>
          </a:prstGeom>
        </p:spPr>
      </p:pic>
      <p:pic>
        <p:nvPicPr>
          <p:cNvPr id="387" name="Picture 3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188" y="3560448"/>
            <a:ext cx="128699" cy="187198"/>
          </a:xfrm>
          <a:prstGeom prst="rect">
            <a:avLst/>
          </a:prstGeom>
        </p:spPr>
      </p:pic>
      <p:pic>
        <p:nvPicPr>
          <p:cNvPr id="388" name="Picture 3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513" y="2702524"/>
            <a:ext cx="128699" cy="187198"/>
          </a:xfrm>
          <a:prstGeom prst="rect">
            <a:avLst/>
          </a:prstGeom>
        </p:spPr>
      </p:pic>
      <p:pic>
        <p:nvPicPr>
          <p:cNvPr id="389" name="Picture 3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513" y="3031091"/>
            <a:ext cx="128699" cy="187198"/>
          </a:xfrm>
          <a:prstGeom prst="rect">
            <a:avLst/>
          </a:prstGeom>
        </p:spPr>
      </p:pic>
      <p:pic>
        <p:nvPicPr>
          <p:cNvPr id="390" name="Picture 3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512" y="3560448"/>
            <a:ext cx="128699" cy="187198"/>
          </a:xfrm>
          <a:prstGeom prst="rect">
            <a:avLst/>
          </a:prstGeom>
        </p:spPr>
      </p:pic>
      <p:pic>
        <p:nvPicPr>
          <p:cNvPr id="391" name="Picture 3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38" y="2702524"/>
            <a:ext cx="128699" cy="187198"/>
          </a:xfrm>
          <a:prstGeom prst="rect">
            <a:avLst/>
          </a:prstGeom>
        </p:spPr>
      </p:pic>
      <p:pic>
        <p:nvPicPr>
          <p:cNvPr id="392" name="Picture 3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38" y="3031091"/>
            <a:ext cx="128699" cy="187198"/>
          </a:xfrm>
          <a:prstGeom prst="rect">
            <a:avLst/>
          </a:prstGeom>
        </p:spPr>
      </p:pic>
      <p:pic>
        <p:nvPicPr>
          <p:cNvPr id="393" name="Picture 3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38" y="3560448"/>
            <a:ext cx="128699" cy="187198"/>
          </a:xfrm>
          <a:prstGeom prst="rect">
            <a:avLst/>
          </a:prstGeom>
        </p:spPr>
      </p:pic>
      <p:pic>
        <p:nvPicPr>
          <p:cNvPr id="394" name="Picture 3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163" y="2702524"/>
            <a:ext cx="128699" cy="187198"/>
          </a:xfrm>
          <a:prstGeom prst="rect">
            <a:avLst/>
          </a:prstGeom>
        </p:spPr>
      </p:pic>
      <p:pic>
        <p:nvPicPr>
          <p:cNvPr id="395" name="Picture 3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163" y="3031091"/>
            <a:ext cx="128699" cy="187198"/>
          </a:xfrm>
          <a:prstGeom prst="rect">
            <a:avLst/>
          </a:prstGeom>
        </p:spPr>
      </p:pic>
      <p:pic>
        <p:nvPicPr>
          <p:cNvPr id="396" name="Picture 3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162" y="3560448"/>
            <a:ext cx="128699" cy="187198"/>
          </a:xfrm>
          <a:prstGeom prst="rect">
            <a:avLst/>
          </a:prstGeom>
        </p:spPr>
      </p:pic>
      <p:pic>
        <p:nvPicPr>
          <p:cNvPr id="397" name="Picture 3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488" y="2702524"/>
            <a:ext cx="128699" cy="187198"/>
          </a:xfrm>
          <a:prstGeom prst="rect">
            <a:avLst/>
          </a:prstGeom>
        </p:spPr>
      </p:pic>
      <p:pic>
        <p:nvPicPr>
          <p:cNvPr id="398" name="Picture 3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488" y="3031091"/>
            <a:ext cx="128699" cy="187198"/>
          </a:xfrm>
          <a:prstGeom prst="rect">
            <a:avLst/>
          </a:prstGeom>
        </p:spPr>
      </p:pic>
      <p:pic>
        <p:nvPicPr>
          <p:cNvPr id="399" name="Picture 3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488" y="3560448"/>
            <a:ext cx="128699" cy="187198"/>
          </a:xfrm>
          <a:prstGeom prst="rect">
            <a:avLst/>
          </a:prstGeom>
        </p:spPr>
      </p:pic>
      <p:pic>
        <p:nvPicPr>
          <p:cNvPr id="400" name="Picture 3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813" y="2702524"/>
            <a:ext cx="128699" cy="187198"/>
          </a:xfrm>
          <a:prstGeom prst="rect">
            <a:avLst/>
          </a:prstGeom>
        </p:spPr>
      </p:pic>
      <p:pic>
        <p:nvPicPr>
          <p:cNvPr id="401" name="Picture 4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813" y="3031091"/>
            <a:ext cx="128699" cy="187198"/>
          </a:xfrm>
          <a:prstGeom prst="rect">
            <a:avLst/>
          </a:prstGeom>
        </p:spPr>
      </p:pic>
      <p:pic>
        <p:nvPicPr>
          <p:cNvPr id="402" name="Picture 4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812" y="3560448"/>
            <a:ext cx="128699" cy="187198"/>
          </a:xfrm>
          <a:prstGeom prst="rect">
            <a:avLst/>
          </a:prstGeom>
        </p:spPr>
      </p:pic>
      <p:pic>
        <p:nvPicPr>
          <p:cNvPr id="403" name="Picture 4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138" y="2702524"/>
            <a:ext cx="128699" cy="187198"/>
          </a:xfrm>
          <a:prstGeom prst="rect">
            <a:avLst/>
          </a:prstGeom>
        </p:spPr>
      </p:pic>
      <p:pic>
        <p:nvPicPr>
          <p:cNvPr id="404" name="Picture 4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138" y="3031091"/>
            <a:ext cx="128699" cy="187198"/>
          </a:xfrm>
          <a:prstGeom prst="rect">
            <a:avLst/>
          </a:prstGeom>
        </p:spPr>
      </p:pic>
      <p:pic>
        <p:nvPicPr>
          <p:cNvPr id="405" name="Picture 4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138" y="3560448"/>
            <a:ext cx="128699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2">
            <a:extLst>
              <a:ext uri="{FF2B5EF4-FFF2-40B4-BE49-F238E27FC236}">
                <a16:creationId xmlns:a16="http://schemas.microsoft.com/office/drawing/2014/main" id="{CCC9DC92-CC39-269D-F4F6-1BCD7363F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rgbClr val="2A5F8F">
              <a:shade val="15000"/>
            </a:srgbClr>
          </a:lnRef>
          <a:fillRef idx="1">
            <a:srgbClr val="2A5F8F"/>
          </a:fillRef>
          <a:effectRef idx="0">
            <a:srgbClr val="2A5F8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85B8B5CB-8306-A876-1A56-F5D391EBE3A2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64419"/>
            <a:ext cx="12039600" cy="6021387"/>
            <a:chOff x="76010" y="229820"/>
            <a:chExt cx="12039981" cy="6021526"/>
          </a:xfrm>
        </p:grpSpPr>
        <p:sp>
          <p:nvSpPr>
            <p:cNvPr id="5" name="Rectangle 22">
              <a:extLst>
                <a:ext uri="{FF2B5EF4-FFF2-40B4-BE49-F238E27FC236}">
                  <a16:creationId xmlns:a16="http://schemas.microsoft.com/office/drawing/2014/main" id="{899C401F-7B85-B769-45BD-852117B2E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037" y="5943569"/>
              <a:ext cx="31459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930275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tabLst>
                  <a:tab pos="930275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tabLst>
                  <a:tab pos="930275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tabLst>
                  <a:tab pos="930275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tabLst>
                  <a:tab pos="930275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30275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30275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30275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30275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ts val="200"/>
                </a:spcBef>
                <a:spcAft>
                  <a:spcPts val="200"/>
                </a:spcAft>
              </a:pPr>
              <a:r>
                <a:rPr lang="en-GB" altLang="en-US" sz="1400" b="1">
                  <a:ea typeface="MS PGothic" panose="020B0600070205080204" pitchFamily="34" charset="-128"/>
                </a:rPr>
                <a:t>Email: sales@futuremarketinsights.com</a:t>
              </a:r>
            </a:p>
          </p:txBody>
        </p:sp>
        <p:grpSp>
          <p:nvGrpSpPr>
            <p:cNvPr id="6" name="Group 21">
              <a:extLst>
                <a:ext uri="{FF2B5EF4-FFF2-40B4-BE49-F238E27FC236}">
                  <a16:creationId xmlns:a16="http://schemas.microsoft.com/office/drawing/2014/main" id="{5FBB3E24-8D41-905A-6BA3-11149D7E0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010" y="229820"/>
              <a:ext cx="12039981" cy="5526596"/>
              <a:chOff x="76010" y="229820"/>
              <a:chExt cx="12039981" cy="5526596"/>
            </a:xfrm>
          </p:grpSpPr>
          <p:grpSp>
            <p:nvGrpSpPr>
              <p:cNvPr id="7" name="Group 24">
                <a:extLst>
                  <a:ext uri="{FF2B5EF4-FFF2-40B4-BE49-F238E27FC236}">
                    <a16:creationId xmlns:a16="http://schemas.microsoft.com/office/drawing/2014/main" id="{34C0848D-58FD-B698-603B-B8D2C7863B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010" y="3513022"/>
                <a:ext cx="12039981" cy="54864"/>
                <a:chOff x="980685" y="3697699"/>
                <a:chExt cx="9950397" cy="54864"/>
              </a:xfrm>
            </p:grpSpPr>
            <p:sp>
              <p:nvSpPr>
                <p:cNvPr id="8" name="Rectangle 44">
                  <a:extLst>
                    <a:ext uri="{FF2B5EF4-FFF2-40B4-BE49-F238E27FC236}">
                      <a16:creationId xmlns:a16="http://schemas.microsoft.com/office/drawing/2014/main" id="{4C55A7B5-34B4-8F78-1AE4-63BEB5D835CF}"/>
                    </a:ext>
                  </a:extLst>
                </p:cNvPr>
                <p:cNvSpPr/>
                <p:nvPr/>
              </p:nvSpPr>
              <p:spPr>
                <a:xfrm>
                  <a:off x="980685" y="3697523"/>
                  <a:ext cx="3109499" cy="55563"/>
                </a:xfrm>
                <a:prstGeom prst="rect">
                  <a:avLst/>
                </a:prstGeom>
                <a:solidFill>
                  <a:srgbClr val="92C73E"/>
                </a:solidFill>
                <a:ln>
                  <a:noFill/>
                </a:ln>
              </p:spPr>
              <p:style>
                <a:lnRef idx="2">
                  <a:srgbClr val="2A5F8F">
                    <a:shade val="50000"/>
                  </a:srgbClr>
                </a:lnRef>
                <a:fillRef idx="1">
                  <a:srgbClr val="2A5F8F"/>
                </a:fillRef>
                <a:effectRef idx="0">
                  <a:srgbClr val="2A5F8F"/>
                </a:effectRef>
                <a:fontRef idx="minor">
                  <a:srgbClr val="FFFFFF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IN"/>
                </a:p>
              </p:txBody>
            </p:sp>
            <p:sp>
              <p:nvSpPr>
                <p:cNvPr id="9" name="Rectangle 45">
                  <a:extLst>
                    <a:ext uri="{FF2B5EF4-FFF2-40B4-BE49-F238E27FC236}">
                      <a16:creationId xmlns:a16="http://schemas.microsoft.com/office/drawing/2014/main" id="{F34EF18C-34C1-6B37-6F48-1B3AC01098EE}"/>
                    </a:ext>
                  </a:extLst>
                </p:cNvPr>
                <p:cNvSpPr/>
                <p:nvPr/>
              </p:nvSpPr>
              <p:spPr>
                <a:xfrm>
                  <a:off x="4401134" y="3697523"/>
                  <a:ext cx="3109499" cy="55563"/>
                </a:xfrm>
                <a:prstGeom prst="rect">
                  <a:avLst/>
                </a:prstGeom>
                <a:solidFill>
                  <a:srgbClr val="EF5123"/>
                </a:solidFill>
                <a:ln>
                  <a:noFill/>
                </a:ln>
              </p:spPr>
              <p:style>
                <a:lnRef idx="2">
                  <a:srgbClr val="2A5F8F">
                    <a:shade val="50000"/>
                  </a:srgbClr>
                </a:lnRef>
                <a:fillRef idx="1">
                  <a:srgbClr val="2A5F8F"/>
                </a:fillRef>
                <a:effectRef idx="0">
                  <a:srgbClr val="2A5F8F"/>
                </a:effectRef>
                <a:fontRef idx="minor">
                  <a:srgbClr val="FFFFFF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IN"/>
                </a:p>
              </p:txBody>
            </p:sp>
            <p:sp>
              <p:nvSpPr>
                <p:cNvPr id="10" name="Rectangle 46">
                  <a:extLst>
                    <a:ext uri="{FF2B5EF4-FFF2-40B4-BE49-F238E27FC236}">
                      <a16:creationId xmlns:a16="http://schemas.microsoft.com/office/drawing/2014/main" id="{1DC20229-C001-A2E1-EEF4-879BB49DF54C}"/>
                    </a:ext>
                  </a:extLst>
                </p:cNvPr>
                <p:cNvSpPr/>
                <p:nvPr/>
              </p:nvSpPr>
              <p:spPr>
                <a:xfrm>
                  <a:off x="7821583" y="3697523"/>
                  <a:ext cx="3109499" cy="55563"/>
                </a:xfrm>
                <a:prstGeom prst="rect">
                  <a:avLst/>
                </a:prstGeom>
                <a:solidFill>
                  <a:srgbClr val="8F288C"/>
                </a:solidFill>
                <a:ln>
                  <a:noFill/>
                </a:ln>
              </p:spPr>
              <p:style>
                <a:lnRef idx="2">
                  <a:srgbClr val="2A5F8F">
                    <a:shade val="50000"/>
                  </a:srgbClr>
                </a:lnRef>
                <a:fillRef idx="1">
                  <a:srgbClr val="2A5F8F"/>
                </a:fillRef>
                <a:effectRef idx="0">
                  <a:srgbClr val="2A5F8F"/>
                </a:effectRef>
                <a:fontRef idx="minor">
                  <a:srgbClr val="FFFFFF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IN"/>
                </a:p>
              </p:txBody>
            </p:sp>
          </p:grpSp>
          <p:grpSp>
            <p:nvGrpSpPr>
              <p:cNvPr id="11" name="Group 7">
                <a:extLst>
                  <a:ext uri="{FF2B5EF4-FFF2-40B4-BE49-F238E27FC236}">
                    <a16:creationId xmlns:a16="http://schemas.microsoft.com/office/drawing/2014/main" id="{F5B19A97-FB1F-FD32-44EF-0C72BC8DD6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774" y="3716063"/>
                <a:ext cx="11668690" cy="2040353"/>
                <a:chOff x="249774" y="3716063"/>
                <a:chExt cx="11668690" cy="2040353"/>
              </a:xfrm>
            </p:grpSpPr>
            <p:cxnSp>
              <p:nvCxnSpPr>
                <p:cNvPr id="12" name="Straight Connector 13">
                  <a:extLst>
                    <a:ext uri="{FF2B5EF4-FFF2-40B4-BE49-F238E27FC236}">
                      <a16:creationId xmlns:a16="http://schemas.microsoft.com/office/drawing/2014/main" id="{6212A6C9-95CF-65EB-6160-29A1FA8799D8}"/>
                    </a:ext>
                  </a:extLst>
                </p:cNvPr>
                <p:cNvCxnSpPr/>
                <p:nvPr/>
              </p:nvCxnSpPr>
              <p:spPr>
                <a:xfrm>
                  <a:off x="2973289" y="3736688"/>
                  <a:ext cx="0" cy="2011409"/>
                </a:xfrm>
                <a:prstGeom prst="line">
                  <a:avLst/>
                </a:prstGeom>
                <a:ln w="12700" cap="rnd">
                  <a:solidFill>
                    <a:srgbClr val="00B0F0"/>
                  </a:solidFill>
                  <a:prstDash val="sysDash"/>
                  <a:round/>
                </a:ln>
              </p:spPr>
              <p:style>
                <a:lnRef idx="1">
                  <a:srgbClr val="2A5F8F"/>
                </a:lnRef>
                <a:fillRef idx="0">
                  <a:srgbClr val="2A5F8F"/>
                </a:fillRef>
                <a:effectRef idx="0">
                  <a:srgbClr val="2A5F8F"/>
                </a:effectRef>
                <a:fontRef idx="minor">
                  <a:srgbClr val="000000"/>
                </a:fontRef>
              </p:style>
            </p:cxnSp>
            <p:cxnSp>
              <p:nvCxnSpPr>
                <p:cNvPr id="13" name="Straight Connector 14">
                  <a:extLst>
                    <a:ext uri="{FF2B5EF4-FFF2-40B4-BE49-F238E27FC236}">
                      <a16:creationId xmlns:a16="http://schemas.microsoft.com/office/drawing/2014/main" id="{5569CE85-C66C-AE72-E1E5-D22A37A01501}"/>
                    </a:ext>
                  </a:extLst>
                </p:cNvPr>
                <p:cNvCxnSpPr/>
                <p:nvPr/>
              </p:nvCxnSpPr>
              <p:spPr>
                <a:xfrm>
                  <a:off x="6226179" y="3736688"/>
                  <a:ext cx="0" cy="2011409"/>
                </a:xfrm>
                <a:prstGeom prst="line">
                  <a:avLst/>
                </a:prstGeom>
                <a:ln w="12700" cap="rnd">
                  <a:solidFill>
                    <a:srgbClr val="00B0F0"/>
                  </a:solidFill>
                  <a:prstDash val="sysDash"/>
                  <a:round/>
                </a:ln>
              </p:spPr>
              <p:style>
                <a:lnRef idx="1">
                  <a:srgbClr val="2A5F8F"/>
                </a:lnRef>
                <a:fillRef idx="0">
                  <a:srgbClr val="2A5F8F"/>
                </a:fillRef>
                <a:effectRef idx="0">
                  <a:srgbClr val="2A5F8F"/>
                </a:effectRef>
                <a:fontRef idx="minor">
                  <a:srgbClr val="000000"/>
                </a:fontRef>
              </p:style>
            </p:cxnSp>
            <p:cxnSp>
              <p:nvCxnSpPr>
                <p:cNvPr id="14" name="Straight Connector 15">
                  <a:extLst>
                    <a:ext uri="{FF2B5EF4-FFF2-40B4-BE49-F238E27FC236}">
                      <a16:creationId xmlns:a16="http://schemas.microsoft.com/office/drawing/2014/main" id="{7FFA3833-E6A1-2A12-9739-19E5C6B0D04D}"/>
                    </a:ext>
                  </a:extLst>
                </p:cNvPr>
                <p:cNvCxnSpPr/>
                <p:nvPr/>
              </p:nvCxnSpPr>
              <p:spPr>
                <a:xfrm>
                  <a:off x="9426680" y="3736688"/>
                  <a:ext cx="0" cy="2011409"/>
                </a:xfrm>
                <a:prstGeom prst="line">
                  <a:avLst/>
                </a:prstGeom>
                <a:ln w="12700" cap="rnd">
                  <a:solidFill>
                    <a:srgbClr val="00B0F0"/>
                  </a:solidFill>
                  <a:prstDash val="sysDash"/>
                  <a:round/>
                </a:ln>
              </p:spPr>
              <p:style>
                <a:lnRef idx="1">
                  <a:srgbClr val="2A5F8F"/>
                </a:lnRef>
                <a:fillRef idx="0">
                  <a:srgbClr val="2A5F8F"/>
                </a:fillRef>
                <a:effectRef idx="0">
                  <a:srgbClr val="2A5F8F"/>
                </a:effectRef>
                <a:fontRef idx="minor">
                  <a:srgbClr val="000000"/>
                </a:fontRef>
              </p:style>
            </p:cxnSp>
            <p:grpSp>
              <p:nvGrpSpPr>
                <p:cNvPr id="15" name="Group 3">
                  <a:extLst>
                    <a:ext uri="{FF2B5EF4-FFF2-40B4-BE49-F238E27FC236}">
                      <a16:creationId xmlns:a16="http://schemas.microsoft.com/office/drawing/2014/main" id="{D6026827-3752-097F-C4B9-B5B0A33C1E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46181" y="3731157"/>
                  <a:ext cx="2280186" cy="1706483"/>
                  <a:chOff x="6498583" y="3532655"/>
                  <a:chExt cx="2280186" cy="1706483"/>
                </a:xfrm>
              </p:grpSpPr>
              <p:grpSp>
                <p:nvGrpSpPr>
                  <p:cNvPr id="16" name="Group 28">
                    <a:extLst>
                      <a:ext uri="{FF2B5EF4-FFF2-40B4-BE49-F238E27FC236}">
                        <a16:creationId xmlns:a16="http://schemas.microsoft.com/office/drawing/2014/main" id="{F6A97133-09A9-4882-223C-0670F6DFD7E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98583" y="3653110"/>
                    <a:ext cx="2280186" cy="1586028"/>
                    <a:chOff x="6373418" y="3837787"/>
                    <a:chExt cx="2280186" cy="1586028"/>
                  </a:xfrm>
                </p:grpSpPr>
                <p:sp>
                  <p:nvSpPr>
                    <p:cNvPr id="17" name="TextBox 39">
                      <a:extLst>
                        <a:ext uri="{FF2B5EF4-FFF2-40B4-BE49-F238E27FC236}">
                          <a16:creationId xmlns:a16="http://schemas.microsoft.com/office/drawing/2014/main" id="{46D75380-0311-71C0-CC91-426529CAAF8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34296" y="3837787"/>
                      <a:ext cx="1919308" cy="3385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IN" altLang="en-US" sz="1600" b="1">
                          <a:solidFill>
                            <a:srgbClr val="FF4500"/>
                          </a:solidFill>
                        </a:rPr>
                        <a:t>Middle East &amp; Africa</a:t>
                      </a:r>
                    </a:p>
                  </p:txBody>
                </p:sp>
                <p:sp>
                  <p:nvSpPr>
                    <p:cNvPr id="18" name="TextBox 42">
                      <a:extLst>
                        <a:ext uri="{FF2B5EF4-FFF2-40B4-BE49-F238E27FC236}">
                          <a16:creationId xmlns:a16="http://schemas.microsoft.com/office/drawing/2014/main" id="{5809E9B9-E741-68AD-D217-E199E00794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74132" y="4322952"/>
                      <a:ext cx="1760594" cy="30639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IN" sz="1400" b="1" dirty="0">
                          <a:solidFill>
                            <a:srgbClr val="F8F8F8">
                              <a:lumMod val="25000"/>
                            </a:srgbClr>
                          </a:solidFill>
                        </a:rPr>
                        <a:t>Market Access DMCC</a:t>
                      </a:r>
                    </a:p>
                  </p:txBody>
                </p:sp>
                <p:sp>
                  <p:nvSpPr>
                    <p:cNvPr id="19" name="TextBox 41">
                      <a:extLst>
                        <a:ext uri="{FF2B5EF4-FFF2-40B4-BE49-F238E27FC236}">
                          <a16:creationId xmlns:a16="http://schemas.microsoft.com/office/drawing/2014/main" id="{9B546961-C861-56A8-7E65-8596A932CE6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373418" y="4592818"/>
                      <a:ext cx="2123145" cy="83099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1602-6 Jumeirah Bay X2 Tower,</a:t>
                      </a:r>
                    </a:p>
                    <a:p>
                      <a:r>
                        <a:rPr lang="en-US" altLang="en-US" sz="1200"/>
                        <a:t>Plot No: JLT-PH2-X2A,</a:t>
                      </a:r>
                    </a:p>
                    <a:p>
                      <a:r>
                        <a:rPr lang="en-US" altLang="en-US" sz="1200"/>
                        <a:t>Jumeirah Lakes Towers, Dubai,</a:t>
                      </a:r>
                    </a:p>
                    <a:p>
                      <a:r>
                        <a:rPr lang="en-US" altLang="en-US" sz="1200"/>
                        <a:t>United Arab Emirates</a:t>
                      </a:r>
                      <a:endParaRPr lang="en-IN" altLang="en-US" sz="1200"/>
                    </a:p>
                  </p:txBody>
                </p:sp>
              </p:grpSp>
              <p:pic>
                <p:nvPicPr>
                  <p:cNvPr id="20" name="Picture 40">
                    <a:extLst>
                      <a:ext uri="{FF2B5EF4-FFF2-40B4-BE49-F238E27FC236}">
                        <a16:creationId xmlns:a16="http://schemas.microsoft.com/office/drawing/2014/main" id="{5156A16E-B887-4177-3106-696D2F06FC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duotone>
                      <a:srgbClr val="A35313">
                        <a:shade val="45000"/>
                        <a:satMod val="135000"/>
                      </a:srgb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6553299" y="3532655"/>
                    <a:ext cx="314753" cy="57946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1" name="Group 5">
                  <a:extLst>
                    <a:ext uri="{FF2B5EF4-FFF2-40B4-BE49-F238E27FC236}">
                      <a16:creationId xmlns:a16="http://schemas.microsoft.com/office/drawing/2014/main" id="{2A4B2992-1262-B6DC-A65D-C0A800D496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61337" y="3716063"/>
                  <a:ext cx="2276777" cy="2040353"/>
                  <a:chOff x="3837718" y="3645035"/>
                  <a:chExt cx="2276777" cy="2040353"/>
                </a:xfrm>
              </p:grpSpPr>
              <p:grpSp>
                <p:nvGrpSpPr>
                  <p:cNvPr id="22" name="Group 27">
                    <a:extLst>
                      <a:ext uri="{FF2B5EF4-FFF2-40B4-BE49-F238E27FC236}">
                        <a16:creationId xmlns:a16="http://schemas.microsoft.com/office/drawing/2014/main" id="{6828E551-2150-B3BA-D2CA-97B824FA892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37718" y="3780584"/>
                    <a:ext cx="2276777" cy="1904804"/>
                    <a:chOff x="3358345" y="3965261"/>
                    <a:chExt cx="2276777" cy="1904804"/>
                  </a:xfrm>
                </p:grpSpPr>
                <p:sp>
                  <p:nvSpPr>
                    <p:cNvPr id="23" name="TextBox 42">
                      <a:extLst>
                        <a:ext uri="{FF2B5EF4-FFF2-40B4-BE49-F238E27FC236}">
                          <a16:creationId xmlns:a16="http://schemas.microsoft.com/office/drawing/2014/main" id="{A41A6F39-951D-AE17-5A44-85C21DFFF8C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744196" y="3965261"/>
                      <a:ext cx="970522" cy="3385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IN" altLang="en-US" sz="1600" b="1">
                          <a:solidFill>
                            <a:srgbClr val="048B42"/>
                          </a:solidFill>
                        </a:rPr>
                        <a:t>Americas</a:t>
                      </a:r>
                    </a:p>
                  </p:txBody>
                </p:sp>
                <p:sp>
                  <p:nvSpPr>
                    <p:cNvPr id="24" name="TextBox 36">
                      <a:extLst>
                        <a:ext uri="{FF2B5EF4-FFF2-40B4-BE49-F238E27FC236}">
                          <a16:creationId xmlns:a16="http://schemas.microsoft.com/office/drawing/2014/main" id="{40F1E73B-005C-8069-CCAA-3318246B26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57675" y="4448839"/>
                      <a:ext cx="1871722" cy="30798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IN" sz="1400" b="1" dirty="0">
                          <a:solidFill>
                            <a:srgbClr val="F8F8F8">
                              <a:lumMod val="25000"/>
                            </a:srgbClr>
                          </a:solidFill>
                        </a:rPr>
                        <a:t>Future Market Insights</a:t>
                      </a:r>
                    </a:p>
                  </p:txBody>
                </p:sp>
                <p:sp>
                  <p:nvSpPr>
                    <p:cNvPr id="25" name="TextBox 44">
                      <a:extLst>
                        <a:ext uri="{FF2B5EF4-FFF2-40B4-BE49-F238E27FC236}">
                          <a16:creationId xmlns:a16="http://schemas.microsoft.com/office/drawing/2014/main" id="{4ACA2C08-410D-CEED-63E0-EB4A1E0D76C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58345" y="4720292"/>
                      <a:ext cx="2276777" cy="64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616 Corporate Way, Suite 2-9018,</a:t>
                      </a:r>
                    </a:p>
                    <a:p>
                      <a:r>
                        <a:rPr lang="en-US" altLang="en-US" sz="1200"/>
                        <a:t>Valley Cottage, NY 10989,</a:t>
                      </a:r>
                    </a:p>
                    <a:p>
                      <a:r>
                        <a:rPr lang="en-US" altLang="en-US" sz="1200"/>
                        <a:t>United States</a:t>
                      </a:r>
                      <a:endParaRPr lang="en-IN" altLang="en-US" sz="1200"/>
                    </a:p>
                  </p:txBody>
                </p:sp>
                <p:sp>
                  <p:nvSpPr>
                    <p:cNvPr id="26" name="TextBox 45">
                      <a:extLst>
                        <a:ext uri="{FF2B5EF4-FFF2-40B4-BE49-F238E27FC236}">
                          <a16:creationId xmlns:a16="http://schemas.microsoft.com/office/drawing/2014/main" id="{FE65EAAC-CE25-57B8-E88C-905CD3E8F92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58345" y="5593066"/>
                      <a:ext cx="1407308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T: +1-347-918-3531</a:t>
                      </a:r>
                      <a:endParaRPr lang="en-IN" altLang="en-US" sz="1200"/>
                    </a:p>
                  </p:txBody>
                </p:sp>
              </p:grpSp>
              <p:pic>
                <p:nvPicPr>
                  <p:cNvPr id="27" name="Picture 34">
                    <a:extLst>
                      <a:ext uri="{FF2B5EF4-FFF2-40B4-BE49-F238E27FC236}">
                        <a16:creationId xmlns:a16="http://schemas.microsoft.com/office/drawing/2014/main" id="{AE4DE93F-AF7B-7477-A367-DD4AF96A40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duotone>
                      <a:srgbClr val="008189">
                        <a:shade val="45000"/>
                        <a:satMod val="135000"/>
                      </a:srgb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3941302" y="3645035"/>
                    <a:ext cx="304826" cy="60965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8" name="Group 6">
                  <a:extLst>
                    <a:ext uri="{FF2B5EF4-FFF2-40B4-BE49-F238E27FC236}">
                      <a16:creationId xmlns:a16="http://schemas.microsoft.com/office/drawing/2014/main" id="{190EABA1-B31E-3B09-B1F2-A13884B8AD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9774" y="3783125"/>
                  <a:ext cx="2236703" cy="1973291"/>
                  <a:chOff x="1216927" y="3772923"/>
                  <a:chExt cx="2236703" cy="1973291"/>
                </a:xfrm>
              </p:grpSpPr>
              <p:grpSp>
                <p:nvGrpSpPr>
                  <p:cNvPr id="29" name="Group 25">
                    <a:extLst>
                      <a:ext uri="{FF2B5EF4-FFF2-40B4-BE49-F238E27FC236}">
                        <a16:creationId xmlns:a16="http://schemas.microsoft.com/office/drawing/2014/main" id="{A1A8DC19-AF5B-6C89-F2CD-2778F01B41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16927" y="3841410"/>
                    <a:ext cx="2236703" cy="1904804"/>
                    <a:chOff x="343272" y="4026087"/>
                    <a:chExt cx="2236703" cy="1904804"/>
                  </a:xfrm>
                </p:grpSpPr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C78C136C-FF65-10A5-69D0-6976A49859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3283" y="4025467"/>
                      <a:ext cx="1347831" cy="338146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IN" sz="1600" b="1" dirty="0">
                          <a:solidFill>
                            <a:srgbClr val="2A5F8F">
                              <a:lumMod val="50000"/>
                            </a:srgbClr>
                          </a:solidFill>
                        </a:rPr>
                        <a:t>Headquarters</a:t>
                      </a:r>
                    </a:p>
                  </p:txBody>
                </p:sp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5CFB6527-6D97-69B5-C71C-CC03EB68BB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2551" y="4509666"/>
                      <a:ext cx="2225746" cy="30798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IN" sz="1400" b="1" dirty="0">
                          <a:solidFill>
                            <a:srgbClr val="F8F8F8">
                              <a:lumMod val="25000"/>
                            </a:srgbClr>
                          </a:solidFill>
                        </a:rPr>
                        <a:t>Future Market Insights, Inc.</a:t>
                      </a:r>
                    </a:p>
                  </p:txBody>
                </p:sp>
                <p:sp>
                  <p:nvSpPr>
                    <p:cNvPr id="32" name="TextBox 48">
                      <a:extLst>
                        <a:ext uri="{FF2B5EF4-FFF2-40B4-BE49-F238E27FC236}">
                          <a16:creationId xmlns:a16="http://schemas.microsoft.com/office/drawing/2014/main" id="{5E42A1C6-BB29-D226-788C-C515B7D7F67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3272" y="4781118"/>
                      <a:ext cx="2236703" cy="83099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Christiana Corporate,</a:t>
                      </a:r>
                    </a:p>
                    <a:p>
                      <a:r>
                        <a:rPr lang="en-US" altLang="en-US" sz="1200"/>
                        <a:t>200 Continental Drive, Suite 401,</a:t>
                      </a:r>
                    </a:p>
                    <a:p>
                      <a:r>
                        <a:rPr lang="en-US" altLang="en-US" sz="1200"/>
                        <a:t>Newark, Delaware - 19713,</a:t>
                      </a:r>
                    </a:p>
                    <a:p>
                      <a:r>
                        <a:rPr lang="en-US" altLang="en-US" sz="1200"/>
                        <a:t>United States</a:t>
                      </a:r>
                      <a:endParaRPr lang="en-IN" altLang="en-US" sz="1200"/>
                    </a:p>
                  </p:txBody>
                </p:sp>
                <p:sp>
                  <p:nvSpPr>
                    <p:cNvPr id="33" name="TextBox 49">
                      <a:extLst>
                        <a:ext uri="{FF2B5EF4-FFF2-40B4-BE49-F238E27FC236}">
                          <a16:creationId xmlns:a16="http://schemas.microsoft.com/office/drawing/2014/main" id="{7B0EBAC2-0F15-2082-71DE-E18F4A36524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3272" y="5653892"/>
                      <a:ext cx="1407308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T: +1-845-579-5705</a:t>
                      </a:r>
                      <a:endParaRPr lang="en-IN" altLang="en-US" sz="1200"/>
                    </a:p>
                  </p:txBody>
                </p:sp>
              </p:grpSp>
              <p:pic>
                <p:nvPicPr>
                  <p:cNvPr id="34" name="Picture 28">
                    <a:extLst>
                      <a:ext uri="{FF2B5EF4-FFF2-40B4-BE49-F238E27FC236}">
                        <a16:creationId xmlns:a16="http://schemas.microsoft.com/office/drawing/2014/main" id="{B598E670-72B9-922C-CBE9-A98B47FD87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duotone>
                      <a:srgbClr val="2A5F8F">
                        <a:shade val="45000"/>
                        <a:satMod val="135000"/>
                      </a:srgb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1306513" y="3772923"/>
                    <a:ext cx="469433" cy="4755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5" name="Group 2">
                  <a:extLst>
                    <a:ext uri="{FF2B5EF4-FFF2-40B4-BE49-F238E27FC236}">
                      <a16:creationId xmlns:a16="http://schemas.microsoft.com/office/drawing/2014/main" id="{4F9635CF-9D3F-75B0-5B7E-AEF9828266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35559" y="3767762"/>
                  <a:ext cx="1982905" cy="1988654"/>
                  <a:chOff x="9005815" y="3745083"/>
                  <a:chExt cx="1982905" cy="1988654"/>
                </a:xfrm>
              </p:grpSpPr>
              <p:grpSp>
                <p:nvGrpSpPr>
                  <p:cNvPr id="36" name="Group 29">
                    <a:extLst>
                      <a:ext uri="{FF2B5EF4-FFF2-40B4-BE49-F238E27FC236}">
                        <a16:creationId xmlns:a16="http://schemas.microsoft.com/office/drawing/2014/main" id="{17F31F47-291F-4405-8AEA-EC1AAB6AA33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005815" y="3828933"/>
                    <a:ext cx="1982905" cy="1904804"/>
                    <a:chOff x="9388489" y="4013610"/>
                    <a:chExt cx="1982905" cy="1904804"/>
                  </a:xfrm>
                </p:grpSpPr>
                <p:sp>
                  <p:nvSpPr>
                    <p:cNvPr id="37" name="TextBox 32">
                      <a:extLst>
                        <a:ext uri="{FF2B5EF4-FFF2-40B4-BE49-F238E27FC236}">
                          <a16:creationId xmlns:a16="http://schemas.microsoft.com/office/drawing/2014/main" id="{C20F854C-8002-E239-0772-DDA0A057E70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829414" y="4013610"/>
                      <a:ext cx="789703" cy="3385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IN" altLang="en-US" sz="1600" b="1">
                          <a:solidFill>
                            <a:srgbClr val="8F288C"/>
                          </a:solidFill>
                        </a:rPr>
                        <a:t>Europe</a:t>
                      </a:r>
                    </a:p>
                  </p:txBody>
                </p:sp>
                <p:sp>
                  <p:nvSpPr>
                    <p:cNvPr id="38" name="TextBox 23">
                      <a:extLst>
                        <a:ext uri="{FF2B5EF4-FFF2-40B4-BE49-F238E27FC236}">
                          <a16:creationId xmlns:a16="http://schemas.microsoft.com/office/drawing/2014/main" id="{3322F8A5-D2B8-33CA-96AC-DF4EE7ACCB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89214" y="4498775"/>
                      <a:ext cx="1870134" cy="30798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IN" sz="1400" b="1" dirty="0">
                          <a:solidFill>
                            <a:srgbClr val="F8F8F8">
                              <a:lumMod val="25000"/>
                            </a:srgbClr>
                          </a:solidFill>
                        </a:rPr>
                        <a:t>Future Market Insights</a:t>
                      </a:r>
                    </a:p>
                  </p:txBody>
                </p:sp>
                <p:sp>
                  <p:nvSpPr>
                    <p:cNvPr id="39" name="TextBox 36">
                      <a:extLst>
                        <a:ext uri="{FF2B5EF4-FFF2-40B4-BE49-F238E27FC236}">
                          <a16:creationId xmlns:a16="http://schemas.microsoft.com/office/drawing/2014/main" id="{BF5AF88F-6B60-2785-4EAA-4D18C1EE2E1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402137" y="4768641"/>
                      <a:ext cx="1969257" cy="64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3rd Floor, 207 Regent Street,</a:t>
                      </a:r>
                    </a:p>
                    <a:p>
                      <a:r>
                        <a:rPr lang="en-US" altLang="en-US" sz="1200"/>
                        <a:t>London W1B 3HH</a:t>
                      </a:r>
                    </a:p>
                    <a:p>
                      <a:r>
                        <a:rPr lang="en-US" altLang="en-US" sz="1200"/>
                        <a:t>United Kingdom</a:t>
                      </a:r>
                      <a:endParaRPr lang="en-IN" altLang="en-US" sz="1200"/>
                    </a:p>
                  </p:txBody>
                </p:sp>
                <p:sp>
                  <p:nvSpPr>
                    <p:cNvPr id="40" name="TextBox 37">
                      <a:extLst>
                        <a:ext uri="{FF2B5EF4-FFF2-40B4-BE49-F238E27FC236}">
                          <a16:creationId xmlns:a16="http://schemas.microsoft.com/office/drawing/2014/main" id="{6C7DE665-66A8-41DE-5008-32252CDA85C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388489" y="5641415"/>
                      <a:ext cx="1688283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D: +44 (0) 20 3287 4268</a:t>
                      </a:r>
                      <a:endParaRPr lang="en-IN" altLang="en-US" sz="1200"/>
                    </a:p>
                  </p:txBody>
                </p:sp>
                <p:sp>
                  <p:nvSpPr>
                    <p:cNvPr id="41" name="TextBox 38">
                      <a:extLst>
                        <a:ext uri="{FF2B5EF4-FFF2-40B4-BE49-F238E27FC236}">
                          <a16:creationId xmlns:a16="http://schemas.microsoft.com/office/drawing/2014/main" id="{7192F681-8D30-360D-BE9D-3B3024A1F2D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388489" y="5392439"/>
                      <a:ext cx="1694246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T: + 44 (0) 20 8123 9659</a:t>
                      </a:r>
                      <a:endParaRPr lang="en-IN" altLang="en-US" sz="1200"/>
                    </a:p>
                  </p:txBody>
                </p:sp>
              </p:grpSp>
              <p:pic>
                <p:nvPicPr>
                  <p:cNvPr id="42" name="Picture 21">
                    <a:extLst>
                      <a:ext uri="{FF2B5EF4-FFF2-40B4-BE49-F238E27FC236}">
                        <a16:creationId xmlns:a16="http://schemas.microsoft.com/office/drawing/2014/main" id="{0DB190B5-E4D9-2234-7560-F46B079C34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duotone>
                      <a:srgbClr val="40315E">
                        <a:shade val="45000"/>
                        <a:satMod val="135000"/>
                      </a:srgb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9124235" y="3745083"/>
                    <a:ext cx="348835" cy="506254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43" name="TextBox 55">
                <a:extLst>
                  <a:ext uri="{FF2B5EF4-FFF2-40B4-BE49-F238E27FC236}">
                    <a16:creationId xmlns:a16="http://schemas.microsoft.com/office/drawing/2014/main" id="{143EC9E9-5458-9CB8-6ACE-446AFE79BB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514" y="798871"/>
                <a:ext cx="1890261" cy="2041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600"/>
                  </a:lnSpc>
                </a:pPr>
                <a:r>
                  <a:rPr lang="en-IN" altLang="en-US" sz="8000">
                    <a:solidFill>
                      <a:srgbClr val="00B0F0"/>
                    </a:solidFill>
                    <a:latin typeface="Juxtaposer"/>
                  </a:rPr>
                  <a:t>Thank</a:t>
                </a:r>
                <a:br>
                  <a:rPr lang="en-IN" altLang="en-US" sz="8000">
                    <a:solidFill>
                      <a:srgbClr val="00B0F0"/>
                    </a:solidFill>
                    <a:latin typeface="Juxtaposer"/>
                  </a:rPr>
                </a:br>
                <a:r>
                  <a:rPr lang="en-IN" altLang="en-US" sz="8000">
                    <a:solidFill>
                      <a:srgbClr val="00B0F0"/>
                    </a:solidFill>
                    <a:latin typeface="Juxtaposer"/>
                  </a:rPr>
                  <a:t>You</a:t>
                </a:r>
              </a:p>
            </p:txBody>
          </p:sp>
          <p:pic>
            <p:nvPicPr>
              <p:cNvPr id="44" name="Picture 10">
                <a:extLst>
                  <a:ext uri="{FF2B5EF4-FFF2-40B4-BE49-F238E27FC236}">
                    <a16:creationId xmlns:a16="http://schemas.microsoft.com/office/drawing/2014/main" id="{BB144989-CF53-8B1E-220B-C1AE23628E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2719" y="229820"/>
                <a:ext cx="3171090" cy="3179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5" name="Group 19">
                <a:extLst>
                  <a:ext uri="{FF2B5EF4-FFF2-40B4-BE49-F238E27FC236}">
                    <a16:creationId xmlns:a16="http://schemas.microsoft.com/office/drawing/2014/main" id="{31EE7083-91D9-EAE9-7B4A-61CD2CD280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66925" y="272562"/>
                <a:ext cx="5750562" cy="3051976"/>
                <a:chOff x="6166925" y="272562"/>
                <a:chExt cx="5750562" cy="3051976"/>
              </a:xfrm>
            </p:grpSpPr>
            <p:pic>
              <p:nvPicPr>
                <p:cNvPr id="46" name="Picture 1">
                  <a:extLst>
                    <a:ext uri="{FF2B5EF4-FFF2-40B4-BE49-F238E27FC236}">
                      <a16:creationId xmlns:a16="http://schemas.microsoft.com/office/drawing/2014/main" id="{021C83A4-8483-5171-EA6C-FF76CE65A1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66925" y="2103900"/>
                  <a:ext cx="5750562" cy="12206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7" name="Picture 58">
                  <a:extLst>
                    <a:ext uri="{FF2B5EF4-FFF2-40B4-BE49-F238E27FC236}">
                      <a16:creationId xmlns:a16="http://schemas.microsoft.com/office/drawing/2014/main" id="{38693FBE-DE43-1025-B0DC-2ADDCCB25A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93725" y="272562"/>
                  <a:ext cx="3096962" cy="17408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0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3D85C6"/>
      </a:accent1>
      <a:accent2>
        <a:srgbClr val="9E7E0A"/>
      </a:accent2>
      <a:accent3>
        <a:srgbClr val="40315E"/>
      </a:accent3>
      <a:accent4>
        <a:srgbClr val="008189"/>
      </a:accent4>
      <a:accent5>
        <a:srgbClr val="A35313"/>
      </a:accent5>
      <a:accent6>
        <a:srgbClr val="5F5F5F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