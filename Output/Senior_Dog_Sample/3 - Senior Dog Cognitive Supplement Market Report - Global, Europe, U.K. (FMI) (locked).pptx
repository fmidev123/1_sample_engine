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26.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notesSlides/notesSlide29.xml" ContentType="application/vnd.openxmlformats-officedocument.presentationml.notesSlide+xml"/>
  <Override PartName="/ppt/charts/chart11.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2.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3.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14.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notesSlides/notesSlide46.xml" ContentType="application/vnd.openxmlformats-officedocument.presentationml.notesSlide+xml"/>
  <Override PartName="/ppt/charts/chart19.xml" ContentType="application/vnd.openxmlformats-officedocument.drawingml.chart+xml"/>
  <Override PartName="/ppt/charts/chart20.xml" ContentType="application/vnd.openxmlformats-officedocument.drawingml.chart+xml"/>
  <Override PartName="/ppt/notesSlides/notesSlide47.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rts/chart23.xml" ContentType="application/vnd.openxmlformats-officedocument.drawingml.chart+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24.xml" ContentType="application/vnd.openxmlformats-officedocument.drawingml.chart+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25.xml" ContentType="application/vnd.openxmlformats-officedocument.drawingml.chart+xml"/>
  <Override PartName="/ppt/notesSlides/notesSlide55.xml" ContentType="application/vnd.openxmlformats-officedocument.presentationml.notesSlide+xml"/>
  <Override PartName="/ppt/charts/chart26.xml" ContentType="application/vnd.openxmlformats-officedocument.drawingml.chart+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rts/chart27.xml" ContentType="application/vnd.openxmlformats-officedocument.drawingml.chart+xml"/>
  <Override PartName="/ppt/charts/chart28.xml" ContentType="application/vnd.openxmlformats-officedocument.drawingml.chart+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notesSlides/notesSlide62.xml" ContentType="application/vnd.openxmlformats-officedocument.presentationml.notesSlide+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notesSlides/notesSlide63.xml" ContentType="application/vnd.openxmlformats-officedocument.presentationml.notesSlide+xml"/>
  <Override PartName="/ppt/charts/chart35.xml" ContentType="application/vnd.openxmlformats-officedocument.drawingml.chart+xml"/>
  <Override PartName="/ppt/charts/chart36.xml" ContentType="application/vnd.openxmlformats-officedocument.drawingml.chart+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rts/chart37.xml" ContentType="application/vnd.openxmlformats-officedocument.drawingml.chart+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rts/chart38.xml" ContentType="application/vnd.openxmlformats-officedocument.drawingml.chart+xml"/>
  <Override PartName="/ppt/charts/chart39.xml" ContentType="application/vnd.openxmlformats-officedocument.drawingml.chart+xml"/>
  <Override PartName="/ppt/notesSlides/notesSlide68.xml" ContentType="application/vnd.openxmlformats-officedocument.presentationml.notesSlide+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notesSlides/notesSlide69.xml" ContentType="application/vnd.openxmlformats-officedocument.presentationml.notesSlide+xml"/>
  <Override PartName="/ppt/charts/chart44.xml" ContentType="application/vnd.openxmlformats-officedocument.drawingml.chart+xml"/>
  <Override PartName="/ppt/charts/chart45.xml" ContentType="application/vnd.openxmlformats-officedocument.drawingml.chart+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rts/chart46.xml" ContentType="application/vnd.openxmlformats-officedocument.drawingml.chart+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rts/chart47.xml" ContentType="application/vnd.openxmlformats-officedocument.drawingml.chart+xml"/>
  <Override PartName="/ppt/charts/chart48.xml" ContentType="application/vnd.openxmlformats-officedocument.drawingml.chart+xml"/>
  <Override PartName="/ppt/notesSlides/notesSlide75.xml" ContentType="application/vnd.openxmlformats-officedocument.presentationml.notesSlide+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harts/chart53.xml" ContentType="application/vnd.openxmlformats-officedocument.drawingml.chart+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charts/chart54.xml" ContentType="application/vnd.openxmlformats-officedocument.drawingml.chart+xml"/>
  <Override PartName="/ppt/charts/chart55.xml" ContentType="application/vnd.openxmlformats-officedocument.drawingml.chart+xml"/>
  <Override PartName="/ppt/notesSlides/notesSlide80.xml" ContentType="application/vnd.openxmlformats-officedocument.presentationml.notesSlide+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notesSlides/notesSlide81.xml" ContentType="application/vnd.openxmlformats-officedocument.presentationml.notesSlide+xml"/>
  <Override PartName="/ppt/charts/chart60.xml" ContentType="application/vnd.openxmlformats-officedocument.drawingml.chart+xml"/>
  <Override PartName="/ppt/charts/chart61.xml" ContentType="application/vnd.openxmlformats-officedocument.drawingml.chart+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rts/chart62.xml" ContentType="application/vnd.openxmlformats-officedocument.drawingml.chart+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rts/chart63.xml" ContentType="application/vnd.openxmlformats-officedocument.drawingml.chart+xml"/>
  <Override PartName="/ppt/charts/chart64.xml" ContentType="application/vnd.openxmlformats-officedocument.drawingml.chart+xml"/>
  <Override PartName="/ppt/notesSlides/notesSlide86.xml" ContentType="application/vnd.openxmlformats-officedocument.presentationml.notesSlide+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notesSlides/notesSlide87.xml" ContentType="application/vnd.openxmlformats-officedocument.presentationml.notesSlide+xml"/>
  <Override PartName="/ppt/charts/chart69.xml" ContentType="application/vnd.openxmlformats-officedocument.drawingml.chart+xml"/>
  <Override PartName="/ppt/charts/chart70.xml" ContentType="application/vnd.openxmlformats-officedocument.drawingml.chart+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charts/chart71.xml" ContentType="application/vnd.openxmlformats-officedocument.drawingml.chart+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charts/chart72.xml" ContentType="application/vnd.openxmlformats-officedocument.drawingml.chart+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charts/chart73.xml" ContentType="application/vnd.openxmlformats-officedocument.drawingml.chart+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charts/chart74.xml" ContentType="application/vnd.openxmlformats-officedocument.drawingml.chart+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charts/chart75.xml" ContentType="application/vnd.openxmlformats-officedocument.drawingml.chart+xml"/>
  <Override PartName="/ppt/charts/chart76.xml" ContentType="application/vnd.openxmlformats-officedocument.drawingml.chart+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charts/chart77.xml" ContentType="application/vnd.openxmlformats-officedocument.drawingml.chart+xml"/>
  <Override PartName="/ppt/charts/chart78.xml" ContentType="application/vnd.openxmlformats-officedocument.drawingml.chart+xml"/>
  <Override PartName="/ppt/notesSlides/notesSlide104.xml" ContentType="application/vnd.openxmlformats-officedocument.presentationml.notesSlide+xml"/>
  <Override PartName="/ppt/charts/chart79.xml" ContentType="application/vnd.openxmlformats-officedocument.drawingml.chart+xml"/>
  <Override PartName="/ppt/charts/chart80.xml" ContentType="application/vnd.openxmlformats-officedocument.drawingml.chart+xml"/>
  <Override PartName="/ppt/notesSlides/notesSlide105.xml" ContentType="application/vnd.openxmlformats-officedocument.presentationml.notesSlide+xml"/>
  <Override PartName="/ppt/charts/chart81.xml" ContentType="application/vnd.openxmlformats-officedocument.drawingml.chart+xml"/>
  <Override PartName="/ppt/charts/chart82.xml" ContentType="application/vnd.openxmlformats-officedocument.drawingml.chart+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charts/chart83.xml" ContentType="application/vnd.openxmlformats-officedocument.drawingml.chart+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charts/chart84.xml" ContentType="application/vnd.openxmlformats-officedocument.drawingml.chart+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charts/chart85.xml" ContentType="application/vnd.openxmlformats-officedocument.drawingml.chart+xml"/>
  <Override PartName="/ppt/notesSlides/notesSlide113.xml" ContentType="application/vnd.openxmlformats-officedocument.presentationml.notesSlide+xml"/>
  <Override PartName="/ppt/charts/chart86.xml" ContentType="application/vnd.openxmlformats-officedocument.drawingml.chart+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charts/chart87.xml" ContentType="application/vnd.openxmlformats-officedocument.drawingml.chart+xml"/>
  <Override PartName="/ppt/charts/chart88.xml" ContentType="application/vnd.openxmlformats-officedocument.drawingml.chart+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charts/chart89.xml" ContentType="application/vnd.openxmlformats-officedocument.drawingml.chart+xml"/>
  <Override PartName="/ppt/charts/chart90.xml" ContentType="application/vnd.openxmlformats-officedocument.drawingml.chart+xml"/>
  <Override PartName="/ppt/notesSlides/notesSlide120.xml" ContentType="application/vnd.openxmlformats-officedocument.presentationml.notesSlide+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notesSlides/notesSlide121.xml" ContentType="application/vnd.openxmlformats-officedocument.presentationml.notesSlide+xml"/>
  <Override PartName="/ppt/charts/chart95.xml" ContentType="application/vnd.openxmlformats-officedocument.drawingml.chart+xml"/>
  <Override PartName="/ppt/charts/chart96.xml" ContentType="application/vnd.openxmlformats-officedocument.drawingml.chart+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charts/chart97.xml" ContentType="application/vnd.openxmlformats-officedocument.drawingml.chart+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charts/chart98.xml" ContentType="application/vnd.openxmlformats-officedocument.drawingml.chart+xml"/>
  <Override PartName="/ppt/charts/chart99.xml" ContentType="application/vnd.openxmlformats-officedocument.drawingml.chart+xml"/>
  <Override PartName="/ppt/notesSlides/notesSlide126.xml" ContentType="application/vnd.openxmlformats-officedocument.presentationml.notesSlide+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notesSlides/notesSlide127.xml" ContentType="application/vnd.openxmlformats-officedocument.presentationml.notesSlide+xml"/>
  <Override PartName="/ppt/charts/chart104.xml" ContentType="application/vnd.openxmlformats-officedocument.drawingml.chart+xml"/>
  <Override PartName="/ppt/charts/chart105.xml" ContentType="application/vnd.openxmlformats-officedocument.drawingml.chart+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charts/chart106.xml" ContentType="application/vnd.openxmlformats-officedocument.drawingml.chart+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charts/chart107.xml" ContentType="application/vnd.openxmlformats-officedocument.drawingml.chart+xml"/>
  <Override PartName="/ppt/charts/chart108.xml" ContentType="application/vnd.openxmlformats-officedocument.drawingml.chart+xml"/>
  <Override PartName="/ppt/notesSlides/notesSlide133.xml" ContentType="application/vnd.openxmlformats-officedocument.presentationml.notesSlide+xml"/>
  <Override PartName="/ppt/charts/chart109.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charts/chart113.xml" ContentType="application/vnd.openxmlformats-officedocument.drawingml.chart+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charts/chart114.xml" ContentType="application/vnd.openxmlformats-officedocument.drawingml.chart+xml"/>
  <Override PartName="/ppt/charts/chart115.xml" ContentType="application/vnd.openxmlformats-officedocument.drawingml.chart+xml"/>
  <Override PartName="/ppt/notesSlides/notesSlide138.xml" ContentType="application/vnd.openxmlformats-officedocument.presentationml.notesSlide+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notesSlides/notesSlide139.xml" ContentType="application/vnd.openxmlformats-officedocument.presentationml.notesSlide+xml"/>
  <Override PartName="/ppt/charts/chart120.xml" ContentType="application/vnd.openxmlformats-officedocument.drawingml.chart+xml"/>
  <Override PartName="/ppt/charts/chart121.xml" ContentType="application/vnd.openxmlformats-officedocument.drawingml.chart+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charts/chart122.xml" ContentType="application/vnd.openxmlformats-officedocument.drawingml.chart+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charts/chart123.xml" ContentType="application/vnd.openxmlformats-officedocument.drawingml.chart+xml"/>
  <Override PartName="/ppt/charts/chart124.xml" ContentType="application/vnd.openxmlformats-officedocument.drawingml.chart+xml"/>
  <Override PartName="/ppt/notesSlides/notesSlide144.xml" ContentType="application/vnd.openxmlformats-officedocument.presentationml.notesSlide+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notesSlides/notesSlide145.xml" ContentType="application/vnd.openxmlformats-officedocument.presentationml.notesSlide+xml"/>
  <Override PartName="/ppt/charts/chart129.xml" ContentType="application/vnd.openxmlformats-officedocument.drawingml.chart+xml"/>
  <Override PartName="/ppt/charts/chart130.xml" ContentType="application/vnd.openxmlformats-officedocument.drawingml.chart+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charts/chart131.xml" ContentType="application/vnd.openxmlformats-officedocument.drawingml.chart+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notesSlides/notesSlide150.xml" ContentType="application/vnd.openxmlformats-officedocument.presentationml.notesSlide+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notesSlides/notesSlide151.xml" ContentType="application/vnd.openxmlformats-officedocument.presentationml.notesSlide+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notesSlides/notesSlide152.xml" ContentType="application/vnd.openxmlformats-officedocument.presentationml.notesSlide+xml"/>
  <Override PartName="/ppt/charts/chart145.xml" ContentType="application/vnd.openxmlformats-officedocument.drawingml.chart+xml"/>
  <Override PartName="/ppt/charts/chart146.xml" ContentType="application/vnd.openxmlformats-officedocument.drawingml.chart+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charts/chart147.xml" ContentType="application/vnd.openxmlformats-officedocument.drawingml.chart+xml"/>
  <Override PartName="/ppt/charts/chart148.xml" ContentType="application/vnd.openxmlformats-officedocument.drawingml.chart+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charts/chart149.xml" ContentType="application/vnd.openxmlformats-officedocument.drawingml.chart+xml"/>
  <Override PartName="/ppt/charts/chart150.xml" ContentType="application/vnd.openxmlformats-officedocument.drawingml.chart+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charts/chart151.xml" ContentType="application/vnd.openxmlformats-officedocument.drawingml.chart+xml"/>
  <Override PartName="/ppt/charts/chart152.xml" ContentType="application/vnd.openxmlformats-officedocument.drawingml.chart+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charts/chart153.xml" ContentType="application/vnd.openxmlformats-officedocument.drawingml.chart+xml"/>
  <Override PartName="/ppt/charts/chart154.xml" ContentType="application/vnd.openxmlformats-officedocument.drawingml.chart+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charts/chart155.xml" ContentType="application/vnd.openxmlformats-officedocument.drawingml.chart+xml"/>
  <Override PartName="/ppt/charts/chart156.xml" ContentType="application/vnd.openxmlformats-officedocument.drawingml.chart+xml"/>
  <Override PartName="/ppt/notesSlides/notesSlide167.xml" ContentType="application/vnd.openxmlformats-officedocument.presentationml.notesSlide+xml"/>
  <Override PartName="/ppt/charts/chart157.xml" ContentType="application/vnd.openxmlformats-officedocument.drawingml.chart+xml"/>
  <Override PartName="/ppt/notesSlides/notesSlide168.xml" ContentType="application/vnd.openxmlformats-officedocument.presentationml.notesSlide+xml"/>
  <Override PartName="/ppt/charts/chart158.xml" ContentType="application/vnd.openxmlformats-officedocument.drawingml.chart+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8"/>
  </p:notesMasterIdLst>
  <p:sldIdLst>
    <p:sldId id="256" r:id="rId2"/>
    <p:sldId id="257" r:id="rId3"/>
    <p:sldId id="258" r:id="rId4"/>
    <p:sldId id="259" r:id="rId5"/>
    <p:sldId id="260" r:id="rId6"/>
    <p:sldId id="261" r:id="rId7"/>
    <p:sldId id="262" r:id="rId8"/>
    <p:sldId id="263" r:id="rId9"/>
    <p:sldId id="264" r:id="rId10"/>
    <p:sldId id="545" r:id="rId11"/>
    <p:sldId id="537" r:id="rId12"/>
    <p:sldId id="538" r:id="rId13"/>
    <p:sldId id="539" r:id="rId14"/>
    <p:sldId id="540" r:id="rId15"/>
    <p:sldId id="541" r:id="rId16"/>
    <p:sldId id="542" r:id="rId17"/>
    <p:sldId id="543" r:id="rId18"/>
    <p:sldId id="544" r:id="rId19"/>
    <p:sldId id="554" r:id="rId20"/>
    <p:sldId id="546" r:id="rId21"/>
    <p:sldId id="547" r:id="rId22"/>
    <p:sldId id="548" r:id="rId23"/>
    <p:sldId id="549" r:id="rId24"/>
    <p:sldId id="550" r:id="rId25"/>
    <p:sldId id="551" r:id="rId26"/>
    <p:sldId id="552" r:id="rId27"/>
    <p:sldId id="553" r:id="rId28"/>
    <p:sldId id="265" r:id="rId29"/>
    <p:sldId id="515" r:id="rId30"/>
    <p:sldId id="516" r:id="rId31"/>
    <p:sldId id="517" r:id="rId32"/>
    <p:sldId id="518" r:id="rId33"/>
    <p:sldId id="519" r:id="rId34"/>
    <p:sldId id="520" r:id="rId35"/>
    <p:sldId id="521" r:id="rId36"/>
    <p:sldId id="522" r:id="rId37"/>
    <p:sldId id="523" r:id="rId38"/>
    <p:sldId id="524" r:id="rId39"/>
    <p:sldId id="525" r:id="rId40"/>
    <p:sldId id="526" r:id="rId41"/>
    <p:sldId id="340" r:id="rId42"/>
    <p:sldId id="341" r:id="rId43"/>
    <p:sldId id="342" r:id="rId44"/>
    <p:sldId id="343" r:id="rId45"/>
    <p:sldId id="344" r:id="rId46"/>
    <p:sldId id="345" r:id="rId47"/>
    <p:sldId id="346" r:id="rId48"/>
    <p:sldId id="347" r:id="rId49"/>
    <p:sldId id="348" r:id="rId50"/>
    <p:sldId id="349" r:id="rId51"/>
    <p:sldId id="350" r:id="rId52"/>
    <p:sldId id="351" r:id="rId53"/>
    <p:sldId id="352" r:id="rId54"/>
    <p:sldId id="353" r:id="rId55"/>
    <p:sldId id="266" r:id="rId56"/>
    <p:sldId id="267" r:id="rId57"/>
    <p:sldId id="268" r:id="rId58"/>
    <p:sldId id="269" r:id="rId59"/>
    <p:sldId id="270" r:id="rId60"/>
    <p:sldId id="271" r:id="rId61"/>
    <p:sldId id="272" r:id="rId62"/>
    <p:sldId id="273" r:id="rId63"/>
    <p:sldId id="274" r:id="rId64"/>
    <p:sldId id="275" r:id="rId65"/>
    <p:sldId id="276" r:id="rId66"/>
    <p:sldId id="277" r:id="rId67"/>
    <p:sldId id="278" r:id="rId68"/>
    <p:sldId id="279" r:id="rId69"/>
    <p:sldId id="280" r:id="rId70"/>
    <p:sldId id="281" r:id="rId71"/>
    <p:sldId id="282" r:id="rId72"/>
    <p:sldId id="283" r:id="rId73"/>
    <p:sldId id="284" r:id="rId74"/>
    <p:sldId id="285" r:id="rId75"/>
    <p:sldId id="286" r:id="rId76"/>
    <p:sldId id="287" r:id="rId77"/>
    <p:sldId id="288" r:id="rId78"/>
    <p:sldId id="289" r:id="rId79"/>
    <p:sldId id="290" r:id="rId80"/>
    <p:sldId id="292" r:id="rId81"/>
    <p:sldId id="293" r:id="rId82"/>
    <p:sldId id="296" r:id="rId83"/>
    <p:sldId id="297" r:id="rId84"/>
    <p:sldId id="298" r:id="rId85"/>
    <p:sldId id="299" r:id="rId86"/>
    <p:sldId id="300" r:id="rId87"/>
    <p:sldId id="304" r:id="rId88"/>
    <p:sldId id="305" r:id="rId89"/>
    <p:sldId id="306" r:id="rId90"/>
    <p:sldId id="311" r:id="rId91"/>
    <p:sldId id="312" r:id="rId92"/>
    <p:sldId id="313" r:id="rId93"/>
    <p:sldId id="314" r:id="rId94"/>
    <p:sldId id="316" r:id="rId95"/>
    <p:sldId id="317" r:id="rId96"/>
    <p:sldId id="320" r:id="rId97"/>
    <p:sldId id="321" r:id="rId98"/>
    <p:sldId id="322" r:id="rId99"/>
    <p:sldId id="323" r:id="rId100"/>
    <p:sldId id="324" r:id="rId101"/>
    <p:sldId id="326" r:id="rId102"/>
    <p:sldId id="327" r:id="rId103"/>
    <p:sldId id="330" r:id="rId104"/>
    <p:sldId id="331" r:id="rId105"/>
    <p:sldId id="332" r:id="rId106"/>
    <p:sldId id="333" r:id="rId107"/>
    <p:sldId id="334" r:id="rId108"/>
    <p:sldId id="336" r:id="rId109"/>
    <p:sldId id="337" r:id="rId110"/>
    <p:sldId id="354" r:id="rId111"/>
    <p:sldId id="428" r:id="rId112"/>
    <p:sldId id="429" r:id="rId113"/>
    <p:sldId id="430" r:id="rId114"/>
    <p:sldId id="431" r:id="rId115"/>
    <p:sldId id="432" r:id="rId116"/>
    <p:sldId id="433" r:id="rId117"/>
    <p:sldId id="434" r:id="rId118"/>
    <p:sldId id="435" r:id="rId119"/>
    <p:sldId id="436" r:id="rId120"/>
    <p:sldId id="437" r:id="rId121"/>
    <p:sldId id="438" r:id="rId122"/>
    <p:sldId id="439" r:id="rId123"/>
    <p:sldId id="440" r:id="rId124"/>
    <p:sldId id="441" r:id="rId125"/>
    <p:sldId id="355" r:id="rId126"/>
    <p:sldId id="356" r:id="rId127"/>
    <p:sldId id="357" r:id="rId128"/>
    <p:sldId id="358" r:id="rId129"/>
    <p:sldId id="359" r:id="rId130"/>
    <p:sldId id="360" r:id="rId131"/>
    <p:sldId id="361" r:id="rId132"/>
    <p:sldId id="362" r:id="rId133"/>
    <p:sldId id="363" r:id="rId134"/>
    <p:sldId id="364" r:id="rId135"/>
    <p:sldId id="365" r:id="rId136"/>
    <p:sldId id="366" r:id="rId137"/>
    <p:sldId id="367" r:id="rId138"/>
    <p:sldId id="368" r:id="rId139"/>
    <p:sldId id="369" r:id="rId140"/>
    <p:sldId id="370" r:id="rId141"/>
    <p:sldId id="371" r:id="rId142"/>
    <p:sldId id="372" r:id="rId143"/>
    <p:sldId id="373" r:id="rId144"/>
    <p:sldId id="374" r:id="rId145"/>
    <p:sldId id="375" r:id="rId146"/>
    <p:sldId id="376" r:id="rId147"/>
    <p:sldId id="377" r:id="rId148"/>
    <p:sldId id="378" r:id="rId149"/>
    <p:sldId id="379" r:id="rId150"/>
    <p:sldId id="381" r:id="rId151"/>
    <p:sldId id="382" r:id="rId152"/>
    <p:sldId id="385" r:id="rId153"/>
    <p:sldId id="386" r:id="rId154"/>
    <p:sldId id="387" r:id="rId155"/>
    <p:sldId id="388" r:id="rId156"/>
    <p:sldId id="389" r:id="rId157"/>
    <p:sldId id="392" r:id="rId158"/>
    <p:sldId id="393" r:id="rId159"/>
    <p:sldId id="394" r:id="rId160"/>
    <p:sldId id="399" r:id="rId161"/>
    <p:sldId id="400" r:id="rId162"/>
    <p:sldId id="401" r:id="rId163"/>
    <p:sldId id="402" r:id="rId164"/>
    <p:sldId id="404" r:id="rId165"/>
    <p:sldId id="405" r:id="rId166"/>
    <p:sldId id="408" r:id="rId167"/>
    <p:sldId id="409" r:id="rId168"/>
    <p:sldId id="410" r:id="rId169"/>
    <p:sldId id="411" r:id="rId170"/>
    <p:sldId id="412" r:id="rId171"/>
    <p:sldId id="414" r:id="rId172"/>
    <p:sldId id="415" r:id="rId173"/>
    <p:sldId id="418" r:id="rId174"/>
    <p:sldId id="419" r:id="rId175"/>
    <p:sldId id="420" r:id="rId176"/>
    <p:sldId id="421" r:id="rId177"/>
    <p:sldId id="422" r:id="rId178"/>
    <p:sldId id="424" r:id="rId179"/>
    <p:sldId id="425" r:id="rId180"/>
    <p:sldId id="442" r:id="rId181"/>
    <p:sldId id="443" r:id="rId182"/>
    <p:sldId id="444" r:id="rId183"/>
    <p:sldId id="445" r:id="rId184"/>
    <p:sldId id="446" r:id="rId185"/>
    <p:sldId id="447" r:id="rId186"/>
    <p:sldId id="448" r:id="rId187"/>
    <p:sldId id="449" r:id="rId188"/>
    <p:sldId id="450" r:id="rId189"/>
    <p:sldId id="452" r:id="rId190"/>
    <p:sldId id="453" r:id="rId191"/>
    <p:sldId id="454" r:id="rId192"/>
    <p:sldId id="455" r:id="rId193"/>
    <p:sldId id="456" r:id="rId194"/>
    <p:sldId id="460" r:id="rId195"/>
    <p:sldId id="461" r:id="rId196"/>
    <p:sldId id="462" r:id="rId197"/>
    <p:sldId id="464" r:id="rId198"/>
    <p:sldId id="465" r:id="rId199"/>
    <p:sldId id="466" r:id="rId200"/>
    <p:sldId id="468" r:id="rId201"/>
    <p:sldId id="469" r:id="rId202"/>
    <p:sldId id="470" r:id="rId203"/>
    <p:sldId id="472" r:id="rId204"/>
    <p:sldId id="473" r:id="rId205"/>
    <p:sldId id="474" r:id="rId206"/>
    <p:sldId id="475" r:id="rId207"/>
    <p:sldId id="476" r:id="rId208"/>
    <p:sldId id="477" r:id="rId209"/>
    <p:sldId id="478" r:id="rId210"/>
    <p:sldId id="479" r:id="rId211"/>
    <p:sldId id="480" r:id="rId212"/>
    <p:sldId id="481" r:id="rId213"/>
    <p:sldId id="482" r:id="rId214"/>
    <p:sldId id="483" r:id="rId215"/>
    <p:sldId id="484" r:id="rId216"/>
    <p:sldId id="485" r:id="rId217"/>
    <p:sldId id="486" r:id="rId218"/>
    <p:sldId id="487" r:id="rId219"/>
    <p:sldId id="488" r:id="rId220"/>
    <p:sldId id="489" r:id="rId221"/>
    <p:sldId id="490" r:id="rId222"/>
    <p:sldId id="491" r:id="rId223"/>
    <p:sldId id="492" r:id="rId224"/>
    <p:sldId id="493" r:id="rId225"/>
    <p:sldId id="494" r:id="rId226"/>
    <p:sldId id="495" r:id="rId227"/>
    <p:sldId id="496" r:id="rId228"/>
    <p:sldId id="497" r:id="rId229"/>
    <p:sldId id="498" r:id="rId230"/>
    <p:sldId id="499" r:id="rId231"/>
    <p:sldId id="500" r:id="rId232"/>
    <p:sldId id="501" r:id="rId233"/>
    <p:sldId id="502" r:id="rId234"/>
    <p:sldId id="503" r:id="rId235"/>
    <p:sldId id="504" r:id="rId236"/>
    <p:sldId id="505" r:id="rId237"/>
    <p:sldId id="506" r:id="rId238"/>
    <p:sldId id="507" r:id="rId239"/>
    <p:sldId id="508" r:id="rId240"/>
    <p:sldId id="509" r:id="rId241"/>
    <p:sldId id="510" r:id="rId242"/>
    <p:sldId id="511" r:id="rId243"/>
    <p:sldId id="512" r:id="rId244"/>
    <p:sldId id="513" r:id="rId245"/>
    <p:sldId id="514" r:id="rId246"/>
    <p:sldId id="555" r:id="rId2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viewProps" Target="view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s>
</file>

<file path=ppt/charts/_rels/chart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image" Target="../media/image7.png"/><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charts/_rels/chart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image" Target="../media/image17.png"/><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charts/_rels/chart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image" Target="../media/image28.png"/><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30.png"/><Relationship Id="rId9" Type="http://schemas.openxmlformats.org/officeDocument/2006/relationships/image" Target="../media/image34.png"/></Relationships>
</file>

<file path=ppt/charts/_rels/chart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image" Target="../media/image36.png"/><Relationship Id="rId6" Type="http://schemas.openxmlformats.org/officeDocument/2006/relationships/image" Target="../media/image41.png"/><Relationship Id="rId11" Type="http://schemas.openxmlformats.org/officeDocument/2006/relationships/image" Target="../media/image45.png"/><Relationship Id="rId5" Type="http://schemas.openxmlformats.org/officeDocument/2006/relationships/image" Target="../media/image40.png"/><Relationship Id="rId10" Type="http://schemas.openxmlformats.org/officeDocument/2006/relationships/image" Target="../media/image44.png"/><Relationship Id="rId4" Type="http://schemas.openxmlformats.org/officeDocument/2006/relationships/image" Target="../media/image39.png"/><Relationship Id="rId9" Type="http://schemas.openxmlformats.org/officeDocument/2006/relationships/image" Target="../media/image24.png"/></Relationships>
</file>

<file path=ppt/charts/_rels/chart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8.png"/><Relationship Id="rId7" Type="http://schemas.openxmlformats.org/officeDocument/2006/relationships/image" Target="../media/image50.png"/><Relationship Id="rId2" Type="http://schemas.openxmlformats.org/officeDocument/2006/relationships/image" Target="../media/image47.png"/><Relationship Id="rId1" Type="http://schemas.openxmlformats.org/officeDocument/2006/relationships/image" Target="../media/image46.png"/><Relationship Id="rId6" Type="http://schemas.openxmlformats.org/officeDocument/2006/relationships/image" Target="../media/image31.png"/><Relationship Id="rId5" Type="http://schemas.openxmlformats.org/officeDocument/2006/relationships/image" Target="../media/image39.png"/><Relationship Id="rId10" Type="http://schemas.openxmlformats.org/officeDocument/2006/relationships/image" Target="../media/image52.png"/><Relationship Id="rId4" Type="http://schemas.openxmlformats.org/officeDocument/2006/relationships/image" Target="../media/image49.png"/><Relationship Id="rId9" Type="http://schemas.openxmlformats.org/officeDocument/2006/relationships/image" Target="../media/image34.png"/></Relationships>
</file>

<file path=ppt/charts/_rels/chart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0.png"/><Relationship Id="rId7" Type="http://schemas.openxmlformats.org/officeDocument/2006/relationships/image" Target="../media/image58.png"/><Relationship Id="rId2" Type="http://schemas.openxmlformats.org/officeDocument/2006/relationships/image" Target="../media/image54.png"/><Relationship Id="rId1" Type="http://schemas.openxmlformats.org/officeDocument/2006/relationships/image" Target="../media/image53.png"/><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59.png"/></Relationships>
</file>

<file path=ppt/charts/_rels/chart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image" Target="../media/image60.png"/><Relationship Id="rId6" Type="http://schemas.openxmlformats.org/officeDocument/2006/relationships/image" Target="../media/image65.png"/><Relationship Id="rId11" Type="http://schemas.openxmlformats.org/officeDocument/2006/relationships/image" Target="../media/image68.png"/><Relationship Id="rId5" Type="http://schemas.openxmlformats.org/officeDocument/2006/relationships/image" Target="../media/image64.png"/><Relationship Id="rId10" Type="http://schemas.openxmlformats.org/officeDocument/2006/relationships/image" Target="../media/image15.png"/><Relationship Id="rId4" Type="http://schemas.openxmlformats.org/officeDocument/2006/relationships/image" Target="../media/image63.png"/><Relationship Id="rId9" Type="http://schemas.openxmlformats.org/officeDocument/2006/relationships/image" Target="../media/image67.png"/></Relationships>
</file>

<file path=ppt/charts/_rels/chart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 Id="rId4" Type="http://schemas.openxmlformats.org/officeDocument/2006/relationships/image" Target="../media/image72.png"/></Relationships>
</file>

<file path=ppt/charts/_rels/chart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 Id="rId5" Type="http://schemas.openxmlformats.org/officeDocument/2006/relationships/image" Target="../media/image77.png"/><Relationship Id="rId4" Type="http://schemas.openxmlformats.org/officeDocument/2006/relationships/image" Target="../media/image76.png"/></Relationships>
</file>

<file path=ppt/charts/_rels/chart1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 Id="rId4" Type="http://schemas.openxmlformats.org/officeDocument/2006/relationships/image" Target="../media/image81.png"/></Relationships>
</file>

<file path=ppt/charts/_rels/chart1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84.png"/><Relationship Id="rId7" Type="http://schemas.openxmlformats.org/officeDocument/2006/relationships/image" Target="../media/image74.png"/><Relationship Id="rId2" Type="http://schemas.openxmlformats.org/officeDocument/2006/relationships/image" Target="../media/image83.png"/><Relationship Id="rId1" Type="http://schemas.openxmlformats.org/officeDocument/2006/relationships/image" Target="../media/image82.png"/><Relationship Id="rId6" Type="http://schemas.openxmlformats.org/officeDocument/2006/relationships/image" Target="../media/image73.png"/><Relationship Id="rId5" Type="http://schemas.openxmlformats.org/officeDocument/2006/relationships/image" Target="../media/image86.png"/><Relationship Id="rId10" Type="http://schemas.openxmlformats.org/officeDocument/2006/relationships/image" Target="../media/image77.png"/><Relationship Id="rId4" Type="http://schemas.openxmlformats.org/officeDocument/2006/relationships/image" Target="../media/image85.png"/><Relationship Id="rId9" Type="http://schemas.openxmlformats.org/officeDocument/2006/relationships/image" Target="../media/image76.png"/></Relationships>
</file>

<file path=ppt/charts/_rels/chart15.xml.rels><?xml version="1.0" encoding="UTF-8" standalone="yes"?>
<Relationships xmlns="http://schemas.openxmlformats.org/package/2006/relationships"><Relationship Id="rId1" Type="http://schemas.openxmlformats.org/officeDocument/2006/relationships/image" Target="../media/image87.png"/></Relationships>
</file>

<file path=ppt/charts/_rels/chart17.xml.rels><?xml version="1.0" encoding="UTF-8" standalone="yes"?>
<Relationships xmlns="http://schemas.openxmlformats.org/package/2006/relationships"><Relationship Id="rId1" Type="http://schemas.openxmlformats.org/officeDocument/2006/relationships/image" Target="../media/image87.png"/></Relationships>
</file>

<file path=ppt/charts/_rels/chart19.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89.png"/><Relationship Id="rId1" Type="http://schemas.openxmlformats.org/officeDocument/2006/relationships/image" Target="../media/image88.png"/><Relationship Id="rId6" Type="http://schemas.openxmlformats.org/officeDocument/2006/relationships/image" Target="../media/image93.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charts/_rels/chart20.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image" Target="../media/image100.png"/><Relationship Id="rId21" Type="http://schemas.openxmlformats.org/officeDocument/2006/relationships/image" Target="../media/image118.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 Type="http://schemas.openxmlformats.org/officeDocument/2006/relationships/image" Target="../media/image99.png"/><Relationship Id="rId16" Type="http://schemas.openxmlformats.org/officeDocument/2006/relationships/image" Target="../media/image113.png"/><Relationship Id="rId20" Type="http://schemas.openxmlformats.org/officeDocument/2006/relationships/image" Target="../media/image117.png"/><Relationship Id="rId1" Type="http://schemas.openxmlformats.org/officeDocument/2006/relationships/image" Target="../media/image98.png"/><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10" Type="http://schemas.openxmlformats.org/officeDocument/2006/relationships/image" Target="../media/image107.png"/><Relationship Id="rId19" Type="http://schemas.openxmlformats.org/officeDocument/2006/relationships/image" Target="../media/image116.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 Id="rId22" Type="http://schemas.openxmlformats.org/officeDocument/2006/relationships/image" Target="../media/image119.png"/></Relationships>
</file>

<file path=ppt/charts/_rels/chart21.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122.png"/><Relationship Id="rId7" Type="http://schemas.openxmlformats.org/officeDocument/2006/relationships/image" Target="../media/image126.png"/><Relationship Id="rId2" Type="http://schemas.openxmlformats.org/officeDocument/2006/relationships/image" Target="../media/image121.png"/><Relationship Id="rId1" Type="http://schemas.openxmlformats.org/officeDocument/2006/relationships/image" Target="../media/image120.png"/><Relationship Id="rId6" Type="http://schemas.openxmlformats.org/officeDocument/2006/relationships/image" Target="../media/image125.png"/><Relationship Id="rId5" Type="http://schemas.openxmlformats.org/officeDocument/2006/relationships/image" Target="../media/image12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s>
</file>

<file path=ppt/charts/_rels/chart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134.png"/><Relationship Id="rId2" Type="http://schemas.openxmlformats.org/officeDocument/2006/relationships/image" Target="../media/image26.png"/><Relationship Id="rId1" Type="http://schemas.openxmlformats.org/officeDocument/2006/relationships/image" Target="../media/image130.png"/><Relationship Id="rId6" Type="http://schemas.openxmlformats.org/officeDocument/2006/relationships/image" Target="../media/image133.png"/><Relationship Id="rId5" Type="http://schemas.openxmlformats.org/officeDocument/2006/relationships/image" Target="../media/image132.png"/><Relationship Id="rId10" Type="http://schemas.openxmlformats.org/officeDocument/2006/relationships/image" Target="../media/image136.png"/><Relationship Id="rId4" Type="http://schemas.openxmlformats.org/officeDocument/2006/relationships/image" Target="../media/image131.png"/><Relationship Id="rId9" Type="http://schemas.openxmlformats.org/officeDocument/2006/relationships/image" Target="../media/image135.png"/></Relationships>
</file>

<file path=ppt/charts/_rels/chart2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image" Target="../media/image137.png"/><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40.png"/></Relationships>
</file>

<file path=ppt/charts/_rels/chart25.xml.rels><?xml version="1.0" encoding="UTF-8" standalone="yes"?>
<Relationships xmlns="http://schemas.openxmlformats.org/package/2006/relationships"><Relationship Id="rId8" Type="http://schemas.openxmlformats.org/officeDocument/2006/relationships/image" Target="../media/image167.png"/><Relationship Id="rId3" Type="http://schemas.openxmlformats.org/officeDocument/2006/relationships/image" Target="../media/image163.png"/><Relationship Id="rId7" Type="http://schemas.openxmlformats.org/officeDocument/2006/relationships/image" Target="../media/image166.png"/><Relationship Id="rId2" Type="http://schemas.openxmlformats.org/officeDocument/2006/relationships/image" Target="../media/image162.png"/><Relationship Id="rId1" Type="http://schemas.openxmlformats.org/officeDocument/2006/relationships/image" Target="../media/image161.png"/><Relationship Id="rId6" Type="http://schemas.openxmlformats.org/officeDocument/2006/relationships/image" Target="../media/image45.png"/><Relationship Id="rId11" Type="http://schemas.openxmlformats.org/officeDocument/2006/relationships/image" Target="../media/image134.png"/><Relationship Id="rId5" Type="http://schemas.openxmlformats.org/officeDocument/2006/relationships/image" Target="../media/image165.png"/><Relationship Id="rId10" Type="http://schemas.openxmlformats.org/officeDocument/2006/relationships/image" Target="../media/image169.png"/><Relationship Id="rId4" Type="http://schemas.openxmlformats.org/officeDocument/2006/relationships/image" Target="../media/image164.png"/><Relationship Id="rId9" Type="http://schemas.openxmlformats.org/officeDocument/2006/relationships/image" Target="../media/image168.png"/></Relationships>
</file>

<file path=ppt/charts/_rels/chart2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73.png"/><Relationship Id="rId7" Type="http://schemas.openxmlformats.org/officeDocument/2006/relationships/image" Target="../media/image177.png"/><Relationship Id="rId2" Type="http://schemas.openxmlformats.org/officeDocument/2006/relationships/image" Target="../media/image172.png"/><Relationship Id="rId1" Type="http://schemas.openxmlformats.org/officeDocument/2006/relationships/image" Target="../media/image171.png"/><Relationship Id="rId6" Type="http://schemas.openxmlformats.org/officeDocument/2006/relationships/image" Target="../media/image176.png"/><Relationship Id="rId11" Type="http://schemas.openxmlformats.org/officeDocument/2006/relationships/image" Target="../media/image31.png"/><Relationship Id="rId5" Type="http://schemas.openxmlformats.org/officeDocument/2006/relationships/image" Target="../media/image175.png"/><Relationship Id="rId10" Type="http://schemas.openxmlformats.org/officeDocument/2006/relationships/image" Target="../media/image64.png"/><Relationship Id="rId4" Type="http://schemas.openxmlformats.org/officeDocument/2006/relationships/image" Target="../media/image174.png"/><Relationship Id="rId9" Type="http://schemas.openxmlformats.org/officeDocument/2006/relationships/image" Target="../media/image178.png"/></Relationships>
</file>

<file path=ppt/charts/_rels/chart27.xml.rels><?xml version="1.0" encoding="UTF-8" standalone="yes"?>
<Relationships xmlns="http://schemas.openxmlformats.org/package/2006/relationships"><Relationship Id="rId1" Type="http://schemas.openxmlformats.org/officeDocument/2006/relationships/image" Target="../media/image87.png"/></Relationships>
</file>

<file path=ppt/charts/_rels/chart28.xml.rels><?xml version="1.0" encoding="UTF-8" standalone="yes"?>
<Relationships xmlns="http://schemas.openxmlformats.org/package/2006/relationships"><Relationship Id="rId1" Type="http://schemas.openxmlformats.org/officeDocument/2006/relationships/image" Target="../media/image87.png"/></Relationships>
</file>

<file path=ppt/charts/_rels/chart29.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208.png"/><Relationship Id="rId18" Type="http://schemas.openxmlformats.org/officeDocument/2006/relationships/image" Target="../media/image57.png"/><Relationship Id="rId26" Type="http://schemas.openxmlformats.org/officeDocument/2006/relationships/image" Target="../media/image39.png"/><Relationship Id="rId3" Type="http://schemas.openxmlformats.org/officeDocument/2006/relationships/image" Target="../media/image199.png"/><Relationship Id="rId21" Type="http://schemas.openxmlformats.org/officeDocument/2006/relationships/image" Target="../media/image212.png"/><Relationship Id="rId7" Type="http://schemas.openxmlformats.org/officeDocument/2006/relationships/image" Target="../media/image203.png"/><Relationship Id="rId12" Type="http://schemas.openxmlformats.org/officeDocument/2006/relationships/image" Target="../media/image207.png"/><Relationship Id="rId17" Type="http://schemas.openxmlformats.org/officeDocument/2006/relationships/image" Target="../media/image66.png"/><Relationship Id="rId25" Type="http://schemas.openxmlformats.org/officeDocument/2006/relationships/image" Target="../media/image21.png"/><Relationship Id="rId2" Type="http://schemas.openxmlformats.org/officeDocument/2006/relationships/image" Target="../media/image198.png"/><Relationship Id="rId16" Type="http://schemas.openxmlformats.org/officeDocument/2006/relationships/image" Target="../media/image211.png"/><Relationship Id="rId20" Type="http://schemas.openxmlformats.org/officeDocument/2006/relationships/image" Target="../media/image12.png"/><Relationship Id="rId29" Type="http://schemas.openxmlformats.org/officeDocument/2006/relationships/image" Target="../media/image54.png"/><Relationship Id="rId1" Type="http://schemas.openxmlformats.org/officeDocument/2006/relationships/image" Target="../media/image197.png"/><Relationship Id="rId6" Type="http://schemas.openxmlformats.org/officeDocument/2006/relationships/image" Target="../media/image202.png"/><Relationship Id="rId11" Type="http://schemas.openxmlformats.org/officeDocument/2006/relationships/image" Target="../media/image161.png"/><Relationship Id="rId24" Type="http://schemas.openxmlformats.org/officeDocument/2006/relationships/image" Target="../media/image134.png"/><Relationship Id="rId32" Type="http://schemas.openxmlformats.org/officeDocument/2006/relationships/image" Target="../media/image217.png"/><Relationship Id="rId5" Type="http://schemas.openxmlformats.org/officeDocument/2006/relationships/image" Target="../media/image201.png"/><Relationship Id="rId15" Type="http://schemas.openxmlformats.org/officeDocument/2006/relationships/image" Target="../media/image210.png"/><Relationship Id="rId23" Type="http://schemas.openxmlformats.org/officeDocument/2006/relationships/image" Target="../media/image213.png"/><Relationship Id="rId28" Type="http://schemas.openxmlformats.org/officeDocument/2006/relationships/image" Target="../media/image214.png"/><Relationship Id="rId10" Type="http://schemas.openxmlformats.org/officeDocument/2006/relationships/image" Target="../media/image206.png"/><Relationship Id="rId19" Type="http://schemas.openxmlformats.org/officeDocument/2006/relationships/image" Target="../media/image41.png"/><Relationship Id="rId31" Type="http://schemas.openxmlformats.org/officeDocument/2006/relationships/image" Target="../media/image216.png"/><Relationship Id="rId4" Type="http://schemas.openxmlformats.org/officeDocument/2006/relationships/image" Target="../media/image200.png"/><Relationship Id="rId9" Type="http://schemas.openxmlformats.org/officeDocument/2006/relationships/image" Target="../media/image205.png"/><Relationship Id="rId14" Type="http://schemas.openxmlformats.org/officeDocument/2006/relationships/image" Target="../media/image209.png"/><Relationship Id="rId22" Type="http://schemas.openxmlformats.org/officeDocument/2006/relationships/image" Target="../media/image131.png"/><Relationship Id="rId27" Type="http://schemas.openxmlformats.org/officeDocument/2006/relationships/image" Target="../media/image64.png"/><Relationship Id="rId30" Type="http://schemas.openxmlformats.org/officeDocument/2006/relationships/image" Target="../media/image215.png"/></Relationships>
</file>

<file path=ppt/charts/_rels/chart37.xml.rels><?xml version="1.0" encoding="UTF-8" standalone="yes"?>
<Relationships xmlns="http://schemas.openxmlformats.org/package/2006/relationships"><Relationship Id="rId8" Type="http://schemas.openxmlformats.org/officeDocument/2006/relationships/image" Target="../media/image223.png"/><Relationship Id="rId13" Type="http://schemas.openxmlformats.org/officeDocument/2006/relationships/image" Target="../media/image18.png"/><Relationship Id="rId18" Type="http://schemas.openxmlformats.org/officeDocument/2006/relationships/image" Target="../media/image32.png"/><Relationship Id="rId3" Type="http://schemas.openxmlformats.org/officeDocument/2006/relationships/image" Target="../media/image208.png"/><Relationship Id="rId7" Type="http://schemas.openxmlformats.org/officeDocument/2006/relationships/image" Target="../media/image222.png"/><Relationship Id="rId12" Type="http://schemas.openxmlformats.org/officeDocument/2006/relationships/image" Target="../media/image216.png"/><Relationship Id="rId17" Type="http://schemas.openxmlformats.org/officeDocument/2006/relationships/image" Target="../media/image227.png"/><Relationship Id="rId2" Type="http://schemas.openxmlformats.org/officeDocument/2006/relationships/image" Target="../media/image219.png"/><Relationship Id="rId16" Type="http://schemas.openxmlformats.org/officeDocument/2006/relationships/image" Target="../media/image12.png"/><Relationship Id="rId1" Type="http://schemas.openxmlformats.org/officeDocument/2006/relationships/image" Target="../media/image218.png"/><Relationship Id="rId6" Type="http://schemas.openxmlformats.org/officeDocument/2006/relationships/image" Target="../media/image221.png"/><Relationship Id="rId11" Type="http://schemas.openxmlformats.org/officeDocument/2006/relationships/image" Target="../media/image28.png"/><Relationship Id="rId5" Type="http://schemas.openxmlformats.org/officeDocument/2006/relationships/image" Target="../media/image162.png"/><Relationship Id="rId15" Type="http://schemas.openxmlformats.org/officeDocument/2006/relationships/image" Target="../media/image226.png"/><Relationship Id="rId10" Type="http://schemas.openxmlformats.org/officeDocument/2006/relationships/image" Target="../media/image225.png"/><Relationship Id="rId4" Type="http://schemas.openxmlformats.org/officeDocument/2006/relationships/image" Target="../media/image220.png"/><Relationship Id="rId9" Type="http://schemas.openxmlformats.org/officeDocument/2006/relationships/image" Target="../media/image224.png"/><Relationship Id="rId14" Type="http://schemas.openxmlformats.org/officeDocument/2006/relationships/image" Target="../media/image21.png"/></Relationships>
</file>

<file path=ppt/charts/_rels/chart38.xml.rels><?xml version="1.0" encoding="UTF-8" standalone="yes"?>
<Relationships xmlns="http://schemas.openxmlformats.org/package/2006/relationships"><Relationship Id="rId8" Type="http://schemas.openxmlformats.org/officeDocument/2006/relationships/image" Target="../media/image247.png"/><Relationship Id="rId13" Type="http://schemas.openxmlformats.org/officeDocument/2006/relationships/image" Target="../media/image60.png"/><Relationship Id="rId18" Type="http://schemas.openxmlformats.org/officeDocument/2006/relationships/image" Target="../media/image63.png"/><Relationship Id="rId26" Type="http://schemas.openxmlformats.org/officeDocument/2006/relationships/image" Target="../media/image176.png"/><Relationship Id="rId3" Type="http://schemas.openxmlformats.org/officeDocument/2006/relationships/image" Target="../media/image243.png"/><Relationship Id="rId21" Type="http://schemas.openxmlformats.org/officeDocument/2006/relationships/image" Target="../media/image252.png"/><Relationship Id="rId7" Type="http://schemas.openxmlformats.org/officeDocument/2006/relationships/image" Target="../media/image35.png"/><Relationship Id="rId12" Type="http://schemas.openxmlformats.org/officeDocument/2006/relationships/image" Target="../media/image249.png"/><Relationship Id="rId17" Type="http://schemas.openxmlformats.org/officeDocument/2006/relationships/image" Target="../media/image20.png"/><Relationship Id="rId25" Type="http://schemas.openxmlformats.org/officeDocument/2006/relationships/image" Target="../media/image17.png"/><Relationship Id="rId2" Type="http://schemas.openxmlformats.org/officeDocument/2006/relationships/image" Target="../media/image7.png"/><Relationship Id="rId16" Type="http://schemas.openxmlformats.org/officeDocument/2006/relationships/image" Target="../media/image19.png"/><Relationship Id="rId20" Type="http://schemas.openxmlformats.org/officeDocument/2006/relationships/image" Target="../media/image251.png"/><Relationship Id="rId29" Type="http://schemas.openxmlformats.org/officeDocument/2006/relationships/image" Target="../media/image254.png"/><Relationship Id="rId1" Type="http://schemas.openxmlformats.org/officeDocument/2006/relationships/image" Target="../media/image242.png"/><Relationship Id="rId6" Type="http://schemas.openxmlformats.org/officeDocument/2006/relationships/image" Target="../media/image246.png"/><Relationship Id="rId11" Type="http://schemas.openxmlformats.org/officeDocument/2006/relationships/image" Target="../media/image203.png"/><Relationship Id="rId24" Type="http://schemas.openxmlformats.org/officeDocument/2006/relationships/image" Target="../media/image214.png"/><Relationship Id="rId5" Type="http://schemas.openxmlformats.org/officeDocument/2006/relationships/image" Target="../media/image245.png"/><Relationship Id="rId15" Type="http://schemas.openxmlformats.org/officeDocument/2006/relationships/image" Target="../media/image38.png"/><Relationship Id="rId23" Type="http://schemas.openxmlformats.org/officeDocument/2006/relationships/image" Target="../media/image68.png"/><Relationship Id="rId28" Type="http://schemas.openxmlformats.org/officeDocument/2006/relationships/image" Target="../media/image253.png"/><Relationship Id="rId10" Type="http://schemas.openxmlformats.org/officeDocument/2006/relationships/image" Target="../media/image162.png"/><Relationship Id="rId19" Type="http://schemas.openxmlformats.org/officeDocument/2006/relationships/image" Target="../media/image250.png"/><Relationship Id="rId31" Type="http://schemas.openxmlformats.org/officeDocument/2006/relationships/image" Target="../media/image256.png"/><Relationship Id="rId4" Type="http://schemas.openxmlformats.org/officeDocument/2006/relationships/image" Target="../media/image244.png"/><Relationship Id="rId9" Type="http://schemas.openxmlformats.org/officeDocument/2006/relationships/image" Target="../media/image248.png"/><Relationship Id="rId14" Type="http://schemas.openxmlformats.org/officeDocument/2006/relationships/image" Target="../media/image28.png"/><Relationship Id="rId22" Type="http://schemas.openxmlformats.org/officeDocument/2006/relationships/image" Target="../media/image204.png"/><Relationship Id="rId27" Type="http://schemas.openxmlformats.org/officeDocument/2006/relationships/image" Target="../media/image47.png"/><Relationship Id="rId30" Type="http://schemas.openxmlformats.org/officeDocument/2006/relationships/image" Target="../media/image255.png"/></Relationships>
</file>

<file path=ppt/charts/_rels/chart46.xml.rels><?xml version="1.0" encoding="UTF-8" standalone="yes"?>
<Relationships xmlns="http://schemas.openxmlformats.org/package/2006/relationships"><Relationship Id="rId8" Type="http://schemas.openxmlformats.org/officeDocument/2006/relationships/image" Target="../media/image260.png"/><Relationship Id="rId13" Type="http://schemas.openxmlformats.org/officeDocument/2006/relationships/image" Target="../media/image8.png"/><Relationship Id="rId18" Type="http://schemas.openxmlformats.org/officeDocument/2006/relationships/image" Target="../media/image20.png"/><Relationship Id="rId3" Type="http://schemas.openxmlformats.org/officeDocument/2006/relationships/image" Target="../media/image250.png"/><Relationship Id="rId7" Type="http://schemas.openxmlformats.org/officeDocument/2006/relationships/image" Target="../media/image259.png"/><Relationship Id="rId12" Type="http://schemas.openxmlformats.org/officeDocument/2006/relationships/image" Target="../media/image254.png"/><Relationship Id="rId17" Type="http://schemas.openxmlformats.org/officeDocument/2006/relationships/image" Target="../media/image263.png"/><Relationship Id="rId2" Type="http://schemas.openxmlformats.org/officeDocument/2006/relationships/image" Target="../media/image59.png"/><Relationship Id="rId16" Type="http://schemas.openxmlformats.org/officeDocument/2006/relationships/image" Target="../media/image177.png"/><Relationship Id="rId1" Type="http://schemas.openxmlformats.org/officeDocument/2006/relationships/image" Target="../media/image257.png"/><Relationship Id="rId6" Type="http://schemas.openxmlformats.org/officeDocument/2006/relationships/image" Target="../media/image258.png"/><Relationship Id="rId11" Type="http://schemas.openxmlformats.org/officeDocument/2006/relationships/image" Target="../media/image53.png"/><Relationship Id="rId5" Type="http://schemas.openxmlformats.org/officeDocument/2006/relationships/image" Target="../media/image206.png"/><Relationship Id="rId15" Type="http://schemas.openxmlformats.org/officeDocument/2006/relationships/image" Target="../media/image60.png"/><Relationship Id="rId10" Type="http://schemas.openxmlformats.org/officeDocument/2006/relationships/image" Target="../media/image261.png"/><Relationship Id="rId4" Type="http://schemas.openxmlformats.org/officeDocument/2006/relationships/image" Target="../media/image251.png"/><Relationship Id="rId9" Type="http://schemas.openxmlformats.org/officeDocument/2006/relationships/image" Target="../media/image36.png"/><Relationship Id="rId14" Type="http://schemas.openxmlformats.org/officeDocument/2006/relationships/image" Target="../media/image262.png"/></Relationships>
</file>

<file path=ppt/charts/_rels/chart47.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283.png"/><Relationship Id="rId18" Type="http://schemas.openxmlformats.org/officeDocument/2006/relationships/image" Target="../media/image288.png"/><Relationship Id="rId3" Type="http://schemas.openxmlformats.org/officeDocument/2006/relationships/image" Target="../media/image278.png"/><Relationship Id="rId21" Type="http://schemas.openxmlformats.org/officeDocument/2006/relationships/image" Target="../media/image290.png"/><Relationship Id="rId7" Type="http://schemas.openxmlformats.org/officeDocument/2006/relationships/image" Target="../media/image281.png"/><Relationship Id="rId12" Type="http://schemas.openxmlformats.org/officeDocument/2006/relationships/image" Target="../media/image282.png"/><Relationship Id="rId17" Type="http://schemas.openxmlformats.org/officeDocument/2006/relationships/image" Target="../media/image287.png"/><Relationship Id="rId2" Type="http://schemas.openxmlformats.org/officeDocument/2006/relationships/image" Target="../media/image277.png"/><Relationship Id="rId16" Type="http://schemas.openxmlformats.org/officeDocument/2006/relationships/image" Target="../media/image286.png"/><Relationship Id="rId20" Type="http://schemas.openxmlformats.org/officeDocument/2006/relationships/image" Target="../media/image20.png"/><Relationship Id="rId1" Type="http://schemas.openxmlformats.org/officeDocument/2006/relationships/image" Target="../media/image276.png"/><Relationship Id="rId6" Type="http://schemas.openxmlformats.org/officeDocument/2006/relationships/image" Target="../media/image201.png"/><Relationship Id="rId11" Type="http://schemas.openxmlformats.org/officeDocument/2006/relationships/image" Target="../media/image214.png"/><Relationship Id="rId24" Type="http://schemas.openxmlformats.org/officeDocument/2006/relationships/image" Target="../media/image292.png"/><Relationship Id="rId5" Type="http://schemas.openxmlformats.org/officeDocument/2006/relationships/image" Target="../media/image280.png"/><Relationship Id="rId15" Type="http://schemas.openxmlformats.org/officeDocument/2006/relationships/image" Target="../media/image285.png"/><Relationship Id="rId23" Type="http://schemas.openxmlformats.org/officeDocument/2006/relationships/image" Target="../media/image18.png"/><Relationship Id="rId10" Type="http://schemas.openxmlformats.org/officeDocument/2006/relationships/image" Target="../media/image169.png"/><Relationship Id="rId19" Type="http://schemas.openxmlformats.org/officeDocument/2006/relationships/image" Target="../media/image289.png"/><Relationship Id="rId4" Type="http://schemas.openxmlformats.org/officeDocument/2006/relationships/image" Target="../media/image279.png"/><Relationship Id="rId9" Type="http://schemas.openxmlformats.org/officeDocument/2006/relationships/image" Target="../media/image63.png"/><Relationship Id="rId14" Type="http://schemas.openxmlformats.org/officeDocument/2006/relationships/image" Target="../media/image284.png"/><Relationship Id="rId22" Type="http://schemas.openxmlformats.org/officeDocument/2006/relationships/image" Target="../media/image291.png"/></Relationships>
</file>

<file path=ppt/charts/_rels/chart5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95.png"/><Relationship Id="rId7" Type="http://schemas.openxmlformats.org/officeDocument/2006/relationships/image" Target="../media/image297.png"/><Relationship Id="rId12" Type="http://schemas.openxmlformats.org/officeDocument/2006/relationships/image" Target="../media/image299.png"/><Relationship Id="rId2" Type="http://schemas.openxmlformats.org/officeDocument/2006/relationships/image" Target="../media/image294.png"/><Relationship Id="rId1" Type="http://schemas.openxmlformats.org/officeDocument/2006/relationships/image" Target="../media/image293.png"/><Relationship Id="rId6" Type="http://schemas.openxmlformats.org/officeDocument/2006/relationships/image" Target="../media/image162.png"/><Relationship Id="rId11" Type="http://schemas.openxmlformats.org/officeDocument/2006/relationships/image" Target="../media/image49.png"/><Relationship Id="rId5" Type="http://schemas.openxmlformats.org/officeDocument/2006/relationships/image" Target="../media/image296.png"/><Relationship Id="rId10" Type="http://schemas.openxmlformats.org/officeDocument/2006/relationships/image" Target="../media/image298.png"/><Relationship Id="rId4" Type="http://schemas.openxmlformats.org/officeDocument/2006/relationships/image" Target="../media/image276.png"/><Relationship Id="rId9" Type="http://schemas.openxmlformats.org/officeDocument/2006/relationships/image" Target="../media/image289.png"/></Relationships>
</file>

<file path=ppt/charts/_rels/chart5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321.png"/><Relationship Id="rId18" Type="http://schemas.openxmlformats.org/officeDocument/2006/relationships/image" Target="../media/image202.png"/><Relationship Id="rId26" Type="http://schemas.openxmlformats.org/officeDocument/2006/relationships/image" Target="../media/image331.png"/><Relationship Id="rId3" Type="http://schemas.openxmlformats.org/officeDocument/2006/relationships/image" Target="../media/image317.png"/><Relationship Id="rId21" Type="http://schemas.openxmlformats.org/officeDocument/2006/relationships/image" Target="../media/image45.png"/><Relationship Id="rId7" Type="http://schemas.openxmlformats.org/officeDocument/2006/relationships/image" Target="../media/image215.png"/><Relationship Id="rId12" Type="http://schemas.openxmlformats.org/officeDocument/2006/relationships/image" Target="../media/image320.png"/><Relationship Id="rId17" Type="http://schemas.openxmlformats.org/officeDocument/2006/relationships/image" Target="../media/image325.png"/><Relationship Id="rId25" Type="http://schemas.openxmlformats.org/officeDocument/2006/relationships/image" Target="../media/image199.png"/><Relationship Id="rId2" Type="http://schemas.openxmlformats.org/officeDocument/2006/relationships/image" Target="../media/image31.png"/><Relationship Id="rId16" Type="http://schemas.openxmlformats.org/officeDocument/2006/relationships/image" Target="../media/image324.png"/><Relationship Id="rId20" Type="http://schemas.openxmlformats.org/officeDocument/2006/relationships/image" Target="../media/image327.png"/><Relationship Id="rId29" Type="http://schemas.openxmlformats.org/officeDocument/2006/relationships/image" Target="../media/image246.png"/><Relationship Id="rId1" Type="http://schemas.openxmlformats.org/officeDocument/2006/relationships/image" Target="../media/image316.png"/><Relationship Id="rId6" Type="http://schemas.openxmlformats.org/officeDocument/2006/relationships/image" Target="../media/image11.png"/><Relationship Id="rId11" Type="http://schemas.openxmlformats.org/officeDocument/2006/relationships/image" Target="../media/image214.png"/><Relationship Id="rId24" Type="http://schemas.openxmlformats.org/officeDocument/2006/relationships/image" Target="../media/image330.png"/><Relationship Id="rId5" Type="http://schemas.openxmlformats.org/officeDocument/2006/relationships/image" Target="../media/image39.png"/><Relationship Id="rId15" Type="http://schemas.openxmlformats.org/officeDocument/2006/relationships/image" Target="../media/image323.png"/><Relationship Id="rId23" Type="http://schemas.openxmlformats.org/officeDocument/2006/relationships/image" Target="../media/image329.png"/><Relationship Id="rId28" Type="http://schemas.openxmlformats.org/officeDocument/2006/relationships/image" Target="../media/image332.png"/><Relationship Id="rId10" Type="http://schemas.openxmlformats.org/officeDocument/2006/relationships/image" Target="../media/image281.png"/><Relationship Id="rId19" Type="http://schemas.openxmlformats.org/officeDocument/2006/relationships/image" Target="../media/image326.png"/><Relationship Id="rId31" Type="http://schemas.openxmlformats.org/officeDocument/2006/relationships/image" Target="../media/image333.png"/><Relationship Id="rId4" Type="http://schemas.openxmlformats.org/officeDocument/2006/relationships/image" Target="../media/image318.png"/><Relationship Id="rId9" Type="http://schemas.openxmlformats.org/officeDocument/2006/relationships/image" Target="../media/image319.png"/><Relationship Id="rId14" Type="http://schemas.openxmlformats.org/officeDocument/2006/relationships/image" Target="../media/image322.png"/><Relationship Id="rId22" Type="http://schemas.openxmlformats.org/officeDocument/2006/relationships/image" Target="../media/image328.png"/><Relationship Id="rId27" Type="http://schemas.openxmlformats.org/officeDocument/2006/relationships/image" Target="../media/image251.png"/><Relationship Id="rId30" Type="http://schemas.openxmlformats.org/officeDocument/2006/relationships/image" Target="../media/image277.png"/></Relationships>
</file>

<file path=ppt/charts/_rels/chart62.xml.rels><?xml version="1.0" encoding="UTF-8" standalone="yes"?>
<Relationships xmlns="http://schemas.openxmlformats.org/package/2006/relationships"><Relationship Id="rId8" Type="http://schemas.openxmlformats.org/officeDocument/2006/relationships/image" Target="../media/image337.png"/><Relationship Id="rId13" Type="http://schemas.openxmlformats.org/officeDocument/2006/relationships/image" Target="../media/image340.png"/><Relationship Id="rId3" Type="http://schemas.openxmlformats.org/officeDocument/2006/relationships/image" Target="../media/image165.png"/><Relationship Id="rId7" Type="http://schemas.openxmlformats.org/officeDocument/2006/relationships/image" Target="../media/image336.png"/><Relationship Id="rId12" Type="http://schemas.openxmlformats.org/officeDocument/2006/relationships/image" Target="../media/image339.png"/><Relationship Id="rId17" Type="http://schemas.openxmlformats.org/officeDocument/2006/relationships/image" Target="../media/image49.png"/><Relationship Id="rId2" Type="http://schemas.openxmlformats.org/officeDocument/2006/relationships/image" Target="../media/image197.png"/><Relationship Id="rId16" Type="http://schemas.openxmlformats.org/officeDocument/2006/relationships/image" Target="../media/image213.png"/><Relationship Id="rId1" Type="http://schemas.openxmlformats.org/officeDocument/2006/relationships/image" Target="../media/image334.png"/><Relationship Id="rId6" Type="http://schemas.openxmlformats.org/officeDocument/2006/relationships/image" Target="../media/image335.png"/><Relationship Id="rId11" Type="http://schemas.openxmlformats.org/officeDocument/2006/relationships/image" Target="../media/image249.png"/><Relationship Id="rId5" Type="http://schemas.openxmlformats.org/officeDocument/2006/relationships/image" Target="../media/image206.png"/><Relationship Id="rId15" Type="http://schemas.openxmlformats.org/officeDocument/2006/relationships/image" Target="../media/image215.png"/><Relationship Id="rId10" Type="http://schemas.openxmlformats.org/officeDocument/2006/relationships/image" Target="../media/image338.png"/><Relationship Id="rId4" Type="http://schemas.openxmlformats.org/officeDocument/2006/relationships/image" Target="../media/image323.png"/><Relationship Id="rId9" Type="http://schemas.openxmlformats.org/officeDocument/2006/relationships/image" Target="../media/image201.png"/><Relationship Id="rId14" Type="http://schemas.openxmlformats.org/officeDocument/2006/relationships/image" Target="../media/image168.png"/></Relationships>
</file>

<file path=ppt/charts/_rels/chart63.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39.png"/><Relationship Id="rId18" Type="http://schemas.openxmlformats.org/officeDocument/2006/relationships/image" Target="../media/image364.png"/><Relationship Id="rId26" Type="http://schemas.openxmlformats.org/officeDocument/2006/relationships/image" Target="../media/image248.png"/><Relationship Id="rId3" Type="http://schemas.openxmlformats.org/officeDocument/2006/relationships/image" Target="../media/image280.png"/><Relationship Id="rId21" Type="http://schemas.openxmlformats.org/officeDocument/2006/relationships/image" Target="../media/image259.png"/><Relationship Id="rId7" Type="http://schemas.openxmlformats.org/officeDocument/2006/relationships/image" Target="../media/image360.png"/><Relationship Id="rId12" Type="http://schemas.openxmlformats.org/officeDocument/2006/relationships/image" Target="../media/image361.png"/><Relationship Id="rId17" Type="http://schemas.openxmlformats.org/officeDocument/2006/relationships/image" Target="../media/image363.png"/><Relationship Id="rId25" Type="http://schemas.openxmlformats.org/officeDocument/2006/relationships/image" Target="../media/image367.png"/><Relationship Id="rId2" Type="http://schemas.openxmlformats.org/officeDocument/2006/relationships/image" Target="../media/image359.png"/><Relationship Id="rId16" Type="http://schemas.openxmlformats.org/officeDocument/2006/relationships/image" Target="../media/image31.png"/><Relationship Id="rId20" Type="http://schemas.openxmlformats.org/officeDocument/2006/relationships/image" Target="../media/image166.png"/><Relationship Id="rId29" Type="http://schemas.openxmlformats.org/officeDocument/2006/relationships/image" Target="../media/image134.png"/><Relationship Id="rId1" Type="http://schemas.openxmlformats.org/officeDocument/2006/relationships/image" Target="../media/image358.png"/><Relationship Id="rId6" Type="http://schemas.openxmlformats.org/officeDocument/2006/relationships/image" Target="../media/image251.png"/><Relationship Id="rId11" Type="http://schemas.openxmlformats.org/officeDocument/2006/relationships/image" Target="../media/image162.png"/><Relationship Id="rId24" Type="http://schemas.openxmlformats.org/officeDocument/2006/relationships/image" Target="../media/image221.png"/><Relationship Id="rId32" Type="http://schemas.openxmlformats.org/officeDocument/2006/relationships/image" Target="../media/image369.png"/><Relationship Id="rId5" Type="http://schemas.openxmlformats.org/officeDocument/2006/relationships/image" Target="../media/image322.png"/><Relationship Id="rId15" Type="http://schemas.openxmlformats.org/officeDocument/2006/relationships/image" Target="../media/image132.png"/><Relationship Id="rId23" Type="http://schemas.openxmlformats.org/officeDocument/2006/relationships/image" Target="../media/image320.png"/><Relationship Id="rId28" Type="http://schemas.openxmlformats.org/officeDocument/2006/relationships/image" Target="../media/image340.png"/><Relationship Id="rId10" Type="http://schemas.openxmlformats.org/officeDocument/2006/relationships/image" Target="../media/image247.png"/><Relationship Id="rId19" Type="http://schemas.openxmlformats.org/officeDocument/2006/relationships/image" Target="../media/image365.png"/><Relationship Id="rId31" Type="http://schemas.openxmlformats.org/officeDocument/2006/relationships/image" Target="../media/image317.png"/><Relationship Id="rId4" Type="http://schemas.openxmlformats.org/officeDocument/2006/relationships/image" Target="../media/image203.png"/><Relationship Id="rId9" Type="http://schemas.openxmlformats.org/officeDocument/2006/relationships/image" Target="../media/image197.png"/><Relationship Id="rId14" Type="http://schemas.openxmlformats.org/officeDocument/2006/relationships/image" Target="../media/image362.png"/><Relationship Id="rId22" Type="http://schemas.openxmlformats.org/officeDocument/2006/relationships/image" Target="../media/image366.png"/><Relationship Id="rId27" Type="http://schemas.openxmlformats.org/officeDocument/2006/relationships/image" Target="../media/image368.png"/><Relationship Id="rId30" Type="http://schemas.openxmlformats.org/officeDocument/2006/relationships/image" Target="../media/image297.png"/></Relationships>
</file>

<file path=ppt/charts/_rels/chart71.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134.png"/><Relationship Id="rId3" Type="http://schemas.openxmlformats.org/officeDocument/2006/relationships/image" Target="../media/image338.png"/><Relationship Id="rId7" Type="http://schemas.openxmlformats.org/officeDocument/2006/relationships/image" Target="../media/image366.png"/><Relationship Id="rId12" Type="http://schemas.openxmlformats.org/officeDocument/2006/relationships/image" Target="../media/image374.png"/><Relationship Id="rId2" Type="http://schemas.openxmlformats.org/officeDocument/2006/relationships/image" Target="../media/image370.png"/><Relationship Id="rId16" Type="http://schemas.openxmlformats.org/officeDocument/2006/relationships/image" Target="../media/image64.png"/><Relationship Id="rId1" Type="http://schemas.openxmlformats.org/officeDocument/2006/relationships/image" Target="../media/image27.png"/><Relationship Id="rId6" Type="http://schemas.openxmlformats.org/officeDocument/2006/relationships/image" Target="../media/image258.png"/><Relationship Id="rId11" Type="http://schemas.openxmlformats.org/officeDocument/2006/relationships/image" Target="../media/image373.png"/><Relationship Id="rId5" Type="http://schemas.openxmlformats.org/officeDocument/2006/relationships/image" Target="../media/image259.png"/><Relationship Id="rId15" Type="http://schemas.openxmlformats.org/officeDocument/2006/relationships/image" Target="../media/image9.png"/><Relationship Id="rId10" Type="http://schemas.openxmlformats.org/officeDocument/2006/relationships/image" Target="../media/image243.png"/><Relationship Id="rId4" Type="http://schemas.openxmlformats.org/officeDocument/2006/relationships/image" Target="../media/image371.png"/><Relationship Id="rId9" Type="http://schemas.openxmlformats.org/officeDocument/2006/relationships/image" Target="../media/image372.png"/><Relationship Id="rId14" Type="http://schemas.openxmlformats.org/officeDocument/2006/relationships/image" Target="../media/image216.png"/></Relationships>
</file>

<file path=ppt/charts/_rels/chart75.xml.rels><?xml version="1.0" encoding="UTF-8" standalone="yes"?>
<Relationships xmlns="http://schemas.openxmlformats.org/package/2006/relationships"><Relationship Id="rId1" Type="http://schemas.openxmlformats.org/officeDocument/2006/relationships/image" Target="../media/image87.png"/></Relationships>
</file>

<file path=ppt/charts/_rels/chart77.xml.rels><?xml version="1.0" encoding="UTF-8" standalone="yes"?>
<Relationships xmlns="http://schemas.openxmlformats.org/package/2006/relationships"><Relationship Id="rId1" Type="http://schemas.openxmlformats.org/officeDocument/2006/relationships/image" Target="../media/image87.png"/></Relationships>
</file>

<file path=ppt/charts/_rels/chart79.xml.rels><?xml version="1.0" encoding="UTF-8" standalone="yes"?>
<Relationships xmlns="http://schemas.openxmlformats.org/package/2006/relationships"><Relationship Id="rId8" Type="http://schemas.openxmlformats.org/officeDocument/2006/relationships/image" Target="../media/image382.png"/><Relationship Id="rId3" Type="http://schemas.openxmlformats.org/officeDocument/2006/relationships/image" Target="../media/image377.png"/><Relationship Id="rId7" Type="http://schemas.openxmlformats.org/officeDocument/2006/relationships/image" Target="../media/image381.png"/><Relationship Id="rId2" Type="http://schemas.openxmlformats.org/officeDocument/2006/relationships/image" Target="../media/image376.png"/><Relationship Id="rId1" Type="http://schemas.openxmlformats.org/officeDocument/2006/relationships/image" Target="../media/image375.png"/><Relationship Id="rId6" Type="http://schemas.openxmlformats.org/officeDocument/2006/relationships/image" Target="../media/image380.png"/><Relationship Id="rId5" Type="http://schemas.openxmlformats.org/officeDocument/2006/relationships/image" Target="../media/image379.png"/><Relationship Id="rId10" Type="http://schemas.openxmlformats.org/officeDocument/2006/relationships/image" Target="../media/image384.png"/><Relationship Id="rId4" Type="http://schemas.openxmlformats.org/officeDocument/2006/relationships/image" Target="../media/image378.png"/><Relationship Id="rId9" Type="http://schemas.openxmlformats.org/officeDocument/2006/relationships/image" Target="../media/image383.png"/></Relationships>
</file>

<file path=ppt/charts/_rels/chart80.xml.rels><?xml version="1.0" encoding="UTF-8" standalone="yes"?>
<Relationships xmlns="http://schemas.openxmlformats.org/package/2006/relationships"><Relationship Id="rId8" Type="http://schemas.openxmlformats.org/officeDocument/2006/relationships/image" Target="../media/image392.png"/><Relationship Id="rId13" Type="http://schemas.openxmlformats.org/officeDocument/2006/relationships/image" Target="../media/image397.png"/><Relationship Id="rId18" Type="http://schemas.openxmlformats.org/officeDocument/2006/relationships/image" Target="../media/image402.png"/><Relationship Id="rId3" Type="http://schemas.openxmlformats.org/officeDocument/2006/relationships/image" Target="../media/image387.png"/><Relationship Id="rId21" Type="http://schemas.openxmlformats.org/officeDocument/2006/relationships/image" Target="../media/image405.png"/><Relationship Id="rId7" Type="http://schemas.openxmlformats.org/officeDocument/2006/relationships/image" Target="../media/image391.png"/><Relationship Id="rId12" Type="http://schemas.openxmlformats.org/officeDocument/2006/relationships/image" Target="../media/image396.png"/><Relationship Id="rId17" Type="http://schemas.openxmlformats.org/officeDocument/2006/relationships/image" Target="../media/image401.png"/><Relationship Id="rId2" Type="http://schemas.openxmlformats.org/officeDocument/2006/relationships/image" Target="../media/image386.png"/><Relationship Id="rId16" Type="http://schemas.openxmlformats.org/officeDocument/2006/relationships/image" Target="../media/image400.png"/><Relationship Id="rId20" Type="http://schemas.openxmlformats.org/officeDocument/2006/relationships/image" Target="../media/image404.png"/><Relationship Id="rId1" Type="http://schemas.openxmlformats.org/officeDocument/2006/relationships/image" Target="../media/image385.png"/><Relationship Id="rId6" Type="http://schemas.openxmlformats.org/officeDocument/2006/relationships/image" Target="../media/image390.png"/><Relationship Id="rId11" Type="http://schemas.openxmlformats.org/officeDocument/2006/relationships/image" Target="../media/image395.png"/><Relationship Id="rId5" Type="http://schemas.openxmlformats.org/officeDocument/2006/relationships/image" Target="../media/image389.png"/><Relationship Id="rId15" Type="http://schemas.openxmlformats.org/officeDocument/2006/relationships/image" Target="../media/image399.png"/><Relationship Id="rId10" Type="http://schemas.openxmlformats.org/officeDocument/2006/relationships/image" Target="../media/image394.png"/><Relationship Id="rId19" Type="http://schemas.openxmlformats.org/officeDocument/2006/relationships/image" Target="../media/image403.png"/><Relationship Id="rId4" Type="http://schemas.openxmlformats.org/officeDocument/2006/relationships/image" Target="../media/image388.png"/><Relationship Id="rId9" Type="http://schemas.openxmlformats.org/officeDocument/2006/relationships/image" Target="../media/image393.png"/><Relationship Id="rId14" Type="http://schemas.openxmlformats.org/officeDocument/2006/relationships/image" Target="../media/image398.png"/><Relationship Id="rId22" Type="http://schemas.openxmlformats.org/officeDocument/2006/relationships/image" Target="../media/image406.png"/></Relationships>
</file>

<file path=ppt/charts/_rels/chart81.xml.rels><?xml version="1.0" encoding="UTF-8" standalone="yes"?>
<Relationships xmlns="http://schemas.openxmlformats.org/package/2006/relationships"><Relationship Id="rId8" Type="http://schemas.openxmlformats.org/officeDocument/2006/relationships/image" Target="../media/image414.png"/><Relationship Id="rId3" Type="http://schemas.openxmlformats.org/officeDocument/2006/relationships/image" Target="../media/image409.png"/><Relationship Id="rId7" Type="http://schemas.openxmlformats.org/officeDocument/2006/relationships/image" Target="../media/image413.png"/><Relationship Id="rId2" Type="http://schemas.openxmlformats.org/officeDocument/2006/relationships/image" Target="../media/image408.png"/><Relationship Id="rId1" Type="http://schemas.openxmlformats.org/officeDocument/2006/relationships/image" Target="../media/image407.png"/><Relationship Id="rId6" Type="http://schemas.openxmlformats.org/officeDocument/2006/relationships/image" Target="../media/image412.png"/><Relationship Id="rId5" Type="http://schemas.openxmlformats.org/officeDocument/2006/relationships/image" Target="../media/image411.png"/><Relationship Id="rId10" Type="http://schemas.openxmlformats.org/officeDocument/2006/relationships/image" Target="../media/image416.png"/><Relationship Id="rId4" Type="http://schemas.openxmlformats.org/officeDocument/2006/relationships/image" Target="../media/image410.png"/><Relationship Id="rId9" Type="http://schemas.openxmlformats.org/officeDocument/2006/relationships/image" Target="../media/image415.png"/></Relationships>
</file>

<file path=ppt/charts/_rels/chart82.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24.png"/><Relationship Id="rId7" Type="http://schemas.openxmlformats.org/officeDocument/2006/relationships/image" Target="../media/image291.png"/><Relationship Id="rId2" Type="http://schemas.openxmlformats.org/officeDocument/2006/relationships/image" Target="../media/image26.png"/><Relationship Id="rId1" Type="http://schemas.openxmlformats.org/officeDocument/2006/relationships/image" Target="../media/image51.png"/><Relationship Id="rId6" Type="http://schemas.openxmlformats.org/officeDocument/2006/relationships/image" Target="../media/image298.png"/><Relationship Id="rId5" Type="http://schemas.openxmlformats.org/officeDocument/2006/relationships/image" Target="../media/image43.png"/><Relationship Id="rId4" Type="http://schemas.openxmlformats.org/officeDocument/2006/relationships/image" Target="../media/image212.png"/><Relationship Id="rId9" Type="http://schemas.openxmlformats.org/officeDocument/2006/relationships/image" Target="../media/image417.png"/></Relationships>
</file>

<file path=ppt/charts/_rels/chart83.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419.png"/><Relationship Id="rId1" Type="http://schemas.openxmlformats.org/officeDocument/2006/relationships/image" Target="../media/image418.png"/><Relationship Id="rId6" Type="http://schemas.openxmlformats.org/officeDocument/2006/relationships/image" Target="../media/image423.png"/><Relationship Id="rId5" Type="http://schemas.openxmlformats.org/officeDocument/2006/relationships/image" Target="../media/image422.png"/><Relationship Id="rId4" Type="http://schemas.openxmlformats.org/officeDocument/2006/relationships/image" Target="../media/image421.png"/></Relationships>
</file>

<file path=ppt/charts/_rels/chart85.xml.rels><?xml version="1.0" encoding="UTF-8" standalone="yes"?>
<Relationships xmlns="http://schemas.openxmlformats.org/package/2006/relationships"><Relationship Id="rId8" Type="http://schemas.openxmlformats.org/officeDocument/2006/relationships/image" Target="../media/image427.png"/><Relationship Id="rId13" Type="http://schemas.openxmlformats.org/officeDocument/2006/relationships/image" Target="../media/image43.png"/><Relationship Id="rId18" Type="http://schemas.openxmlformats.org/officeDocument/2006/relationships/image" Target="../media/image26.png"/><Relationship Id="rId3" Type="http://schemas.openxmlformats.org/officeDocument/2006/relationships/image" Target="../media/image260.png"/><Relationship Id="rId21" Type="http://schemas.openxmlformats.org/officeDocument/2006/relationships/image" Target="../media/image14.png"/><Relationship Id="rId7" Type="http://schemas.openxmlformats.org/officeDocument/2006/relationships/image" Target="../media/image134.png"/><Relationship Id="rId12" Type="http://schemas.openxmlformats.org/officeDocument/2006/relationships/image" Target="../media/image32.png"/><Relationship Id="rId17" Type="http://schemas.openxmlformats.org/officeDocument/2006/relationships/image" Target="../media/image51.png"/><Relationship Id="rId2" Type="http://schemas.openxmlformats.org/officeDocument/2006/relationships/image" Target="../media/image425.png"/><Relationship Id="rId16" Type="http://schemas.openxmlformats.org/officeDocument/2006/relationships/image" Target="../media/image25.png"/><Relationship Id="rId20" Type="http://schemas.openxmlformats.org/officeDocument/2006/relationships/image" Target="../media/image430.png"/><Relationship Id="rId1" Type="http://schemas.openxmlformats.org/officeDocument/2006/relationships/image" Target="../media/image424.png"/><Relationship Id="rId6" Type="http://schemas.openxmlformats.org/officeDocument/2006/relationships/image" Target="../media/image217.png"/><Relationship Id="rId11" Type="http://schemas.openxmlformats.org/officeDocument/2006/relationships/image" Target="../media/image428.png"/><Relationship Id="rId5" Type="http://schemas.openxmlformats.org/officeDocument/2006/relationships/image" Target="../media/image30.png"/><Relationship Id="rId15" Type="http://schemas.openxmlformats.org/officeDocument/2006/relationships/image" Target="../media/image67.png"/><Relationship Id="rId23" Type="http://schemas.openxmlformats.org/officeDocument/2006/relationships/image" Target="../media/image432.png"/><Relationship Id="rId10" Type="http://schemas.openxmlformats.org/officeDocument/2006/relationships/image" Target="../media/image298.png"/><Relationship Id="rId19" Type="http://schemas.openxmlformats.org/officeDocument/2006/relationships/image" Target="../media/image429.png"/><Relationship Id="rId4" Type="http://schemas.openxmlformats.org/officeDocument/2006/relationships/image" Target="../media/image426.png"/><Relationship Id="rId9" Type="http://schemas.openxmlformats.org/officeDocument/2006/relationships/image" Target="../media/image42.png"/><Relationship Id="rId14" Type="http://schemas.openxmlformats.org/officeDocument/2006/relationships/image" Target="../media/image57.png"/><Relationship Id="rId22" Type="http://schemas.openxmlformats.org/officeDocument/2006/relationships/image" Target="../media/image431.png"/></Relationships>
</file>

<file path=ppt/charts/_rels/chart8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43.png"/><Relationship Id="rId18" Type="http://schemas.openxmlformats.org/officeDocument/2006/relationships/image" Target="../media/image13.png"/><Relationship Id="rId3" Type="http://schemas.openxmlformats.org/officeDocument/2006/relationships/image" Target="../media/image198.png"/><Relationship Id="rId21" Type="http://schemas.openxmlformats.org/officeDocument/2006/relationships/image" Target="../media/image440.png"/><Relationship Id="rId7" Type="http://schemas.openxmlformats.org/officeDocument/2006/relationships/image" Target="../media/image134.png"/><Relationship Id="rId12" Type="http://schemas.openxmlformats.org/officeDocument/2006/relationships/image" Target="../media/image438.png"/><Relationship Id="rId17" Type="http://schemas.openxmlformats.org/officeDocument/2006/relationships/image" Target="../media/image26.png"/><Relationship Id="rId2" Type="http://schemas.openxmlformats.org/officeDocument/2006/relationships/image" Target="../media/image434.png"/><Relationship Id="rId16" Type="http://schemas.openxmlformats.org/officeDocument/2006/relationships/image" Target="../media/image439.png"/><Relationship Id="rId20" Type="http://schemas.openxmlformats.org/officeDocument/2006/relationships/image" Target="../media/image130.png"/><Relationship Id="rId1" Type="http://schemas.openxmlformats.org/officeDocument/2006/relationships/image" Target="../media/image433.png"/><Relationship Id="rId6" Type="http://schemas.openxmlformats.org/officeDocument/2006/relationships/image" Target="../media/image436.png"/><Relationship Id="rId11" Type="http://schemas.openxmlformats.org/officeDocument/2006/relationships/image" Target="../media/image437.png"/><Relationship Id="rId24" Type="http://schemas.openxmlformats.org/officeDocument/2006/relationships/image" Target="../media/image432.png"/><Relationship Id="rId5" Type="http://schemas.openxmlformats.org/officeDocument/2006/relationships/image" Target="../media/image299.png"/><Relationship Id="rId15" Type="http://schemas.openxmlformats.org/officeDocument/2006/relationships/image" Target="../media/image25.png"/><Relationship Id="rId23" Type="http://schemas.openxmlformats.org/officeDocument/2006/relationships/image" Target="../media/image431.png"/><Relationship Id="rId10" Type="http://schemas.openxmlformats.org/officeDocument/2006/relationships/image" Target="../media/image56.png"/><Relationship Id="rId19" Type="http://schemas.openxmlformats.org/officeDocument/2006/relationships/image" Target="../media/image429.png"/><Relationship Id="rId4" Type="http://schemas.openxmlformats.org/officeDocument/2006/relationships/image" Target="../media/image435.png"/><Relationship Id="rId9" Type="http://schemas.openxmlformats.org/officeDocument/2006/relationships/image" Target="../media/image42.png"/><Relationship Id="rId14" Type="http://schemas.openxmlformats.org/officeDocument/2006/relationships/image" Target="../media/image57.png"/><Relationship Id="rId22" Type="http://schemas.openxmlformats.org/officeDocument/2006/relationships/image" Target="../media/image430.png"/></Relationships>
</file>

<file path=ppt/charts/_rels/chart97.xml.rels><?xml version="1.0" encoding="UTF-8" standalone="yes"?>
<Relationships xmlns="http://schemas.openxmlformats.org/package/2006/relationships"><Relationship Id="rId8" Type="http://schemas.openxmlformats.org/officeDocument/2006/relationships/image" Target="../media/image223.png"/><Relationship Id="rId13" Type="http://schemas.openxmlformats.org/officeDocument/2006/relationships/image" Target="../media/image55.png"/><Relationship Id="rId18" Type="http://schemas.openxmlformats.org/officeDocument/2006/relationships/image" Target="../media/image212.png"/><Relationship Id="rId3" Type="http://schemas.openxmlformats.org/officeDocument/2006/relationships/image" Target="../media/image207.png"/><Relationship Id="rId7" Type="http://schemas.openxmlformats.org/officeDocument/2006/relationships/image" Target="../media/image222.png"/><Relationship Id="rId12" Type="http://schemas.openxmlformats.org/officeDocument/2006/relationships/image" Target="../media/image217.png"/><Relationship Id="rId17" Type="http://schemas.openxmlformats.org/officeDocument/2006/relationships/image" Target="../media/image66.png"/><Relationship Id="rId2" Type="http://schemas.openxmlformats.org/officeDocument/2006/relationships/image" Target="../media/image451.png"/><Relationship Id="rId16" Type="http://schemas.openxmlformats.org/officeDocument/2006/relationships/image" Target="../media/image453.png"/><Relationship Id="rId1" Type="http://schemas.openxmlformats.org/officeDocument/2006/relationships/image" Target="../media/image450.png"/><Relationship Id="rId6" Type="http://schemas.openxmlformats.org/officeDocument/2006/relationships/image" Target="../media/image206.png"/><Relationship Id="rId11" Type="http://schemas.openxmlformats.org/officeDocument/2006/relationships/image" Target="../media/image452.png"/><Relationship Id="rId5" Type="http://schemas.openxmlformats.org/officeDocument/2006/relationships/image" Target="../media/image320.png"/><Relationship Id="rId15" Type="http://schemas.openxmlformats.org/officeDocument/2006/relationships/image" Target="../media/image134.png"/><Relationship Id="rId10" Type="http://schemas.openxmlformats.org/officeDocument/2006/relationships/image" Target="../media/image435.png"/><Relationship Id="rId4" Type="http://schemas.openxmlformats.org/officeDocument/2006/relationships/image" Target="../media/image249.png"/><Relationship Id="rId9" Type="http://schemas.openxmlformats.org/officeDocument/2006/relationships/image" Target="../media/image200.png"/><Relationship Id="rId14" Type="http://schemas.openxmlformats.org/officeDocument/2006/relationships/image" Target="../media/image169.png"/></Relationships>
</file>

<file path=ppt/charts/_rels/chart106.xml.rels><?xml version="1.0" encoding="UTF-8" standalone="yes"?>
<Relationships xmlns="http://schemas.openxmlformats.org/package/2006/relationships"><Relationship Id="rId8" Type="http://schemas.openxmlformats.org/officeDocument/2006/relationships/image" Target="../media/image471.png"/><Relationship Id="rId13" Type="http://schemas.openxmlformats.org/officeDocument/2006/relationships/image" Target="../media/image225.png"/><Relationship Id="rId3" Type="http://schemas.openxmlformats.org/officeDocument/2006/relationships/image" Target="../media/image203.png"/><Relationship Id="rId7" Type="http://schemas.openxmlformats.org/officeDocument/2006/relationships/image" Target="../media/image330.png"/><Relationship Id="rId12" Type="http://schemas.openxmlformats.org/officeDocument/2006/relationships/image" Target="../media/image62.png"/><Relationship Id="rId17" Type="http://schemas.openxmlformats.org/officeDocument/2006/relationships/image" Target="../media/image20.png"/><Relationship Id="rId2" Type="http://schemas.openxmlformats.org/officeDocument/2006/relationships/image" Target="../media/image470.png"/><Relationship Id="rId16" Type="http://schemas.openxmlformats.org/officeDocument/2006/relationships/image" Target="../media/image61.png"/><Relationship Id="rId1" Type="http://schemas.openxmlformats.org/officeDocument/2006/relationships/image" Target="../media/image368.png"/><Relationship Id="rId6" Type="http://schemas.openxmlformats.org/officeDocument/2006/relationships/image" Target="../media/image204.png"/><Relationship Id="rId11" Type="http://schemas.openxmlformats.org/officeDocument/2006/relationships/image" Target="../media/image7.png"/><Relationship Id="rId5" Type="http://schemas.openxmlformats.org/officeDocument/2006/relationships/image" Target="../media/image45.png"/><Relationship Id="rId15" Type="http://schemas.openxmlformats.org/officeDocument/2006/relationships/image" Target="../media/image262.png"/><Relationship Id="rId10" Type="http://schemas.openxmlformats.org/officeDocument/2006/relationships/image" Target="../media/image223.png"/><Relationship Id="rId4" Type="http://schemas.openxmlformats.org/officeDocument/2006/relationships/image" Target="../media/image199.png"/><Relationship Id="rId9" Type="http://schemas.openxmlformats.org/officeDocument/2006/relationships/image" Target="../media/image245.png"/><Relationship Id="rId14" Type="http://schemas.openxmlformats.org/officeDocument/2006/relationships/image" Target="../media/image28.png"/></Relationships>
</file>

<file path=ppt/charts/_rels/chart107.xml.rels><?xml version="1.0" encoding="UTF-8" standalone="yes"?>
<Relationships xmlns="http://schemas.openxmlformats.org/package/2006/relationships"><Relationship Id="rId13" Type="http://schemas.openxmlformats.org/officeDocument/2006/relationships/image" Target="../media/image486.png"/><Relationship Id="rId18" Type="http://schemas.openxmlformats.org/officeDocument/2006/relationships/image" Target="../media/image63.png"/><Relationship Id="rId26" Type="http://schemas.openxmlformats.org/officeDocument/2006/relationships/image" Target="../media/image491.png"/><Relationship Id="rId39" Type="http://schemas.openxmlformats.org/officeDocument/2006/relationships/image" Target="../media/image501.png"/><Relationship Id="rId21" Type="http://schemas.openxmlformats.org/officeDocument/2006/relationships/image" Target="../media/image216.png"/><Relationship Id="rId34" Type="http://schemas.openxmlformats.org/officeDocument/2006/relationships/image" Target="../media/image499.png"/><Relationship Id="rId42" Type="http://schemas.openxmlformats.org/officeDocument/2006/relationships/image" Target="../media/image54.png"/><Relationship Id="rId7" Type="http://schemas.openxmlformats.org/officeDocument/2006/relationships/image" Target="../media/image483.png"/><Relationship Id="rId2" Type="http://schemas.openxmlformats.org/officeDocument/2006/relationships/image" Target="../media/image27.png"/><Relationship Id="rId16" Type="http://schemas.openxmlformats.org/officeDocument/2006/relationships/image" Target="../media/image318.png"/><Relationship Id="rId20" Type="http://schemas.openxmlformats.org/officeDocument/2006/relationships/image" Target="../media/image9.png"/><Relationship Id="rId29" Type="http://schemas.openxmlformats.org/officeDocument/2006/relationships/image" Target="../media/image494.png"/><Relationship Id="rId41" Type="http://schemas.openxmlformats.org/officeDocument/2006/relationships/image" Target="../media/image371.png"/><Relationship Id="rId1" Type="http://schemas.openxmlformats.org/officeDocument/2006/relationships/image" Target="../media/image251.png"/><Relationship Id="rId6" Type="http://schemas.openxmlformats.org/officeDocument/2006/relationships/image" Target="../media/image482.png"/><Relationship Id="rId11" Type="http://schemas.openxmlformats.org/officeDocument/2006/relationships/image" Target="../media/image201.png"/><Relationship Id="rId24" Type="http://schemas.openxmlformats.org/officeDocument/2006/relationships/image" Target="../media/image489.png"/><Relationship Id="rId32" Type="http://schemas.openxmlformats.org/officeDocument/2006/relationships/image" Target="../media/image497.png"/><Relationship Id="rId37" Type="http://schemas.openxmlformats.org/officeDocument/2006/relationships/image" Target="../media/image30.png"/><Relationship Id="rId40" Type="http://schemas.openxmlformats.org/officeDocument/2006/relationships/image" Target="../media/image55.png"/><Relationship Id="rId5" Type="http://schemas.openxmlformats.org/officeDocument/2006/relationships/image" Target="../media/image280.png"/><Relationship Id="rId15" Type="http://schemas.openxmlformats.org/officeDocument/2006/relationships/image" Target="../media/image316.png"/><Relationship Id="rId23" Type="http://schemas.openxmlformats.org/officeDocument/2006/relationships/image" Target="../media/image488.png"/><Relationship Id="rId28" Type="http://schemas.openxmlformats.org/officeDocument/2006/relationships/image" Target="../media/image493.png"/><Relationship Id="rId36" Type="http://schemas.openxmlformats.org/officeDocument/2006/relationships/image" Target="../media/image21.png"/><Relationship Id="rId10" Type="http://schemas.openxmlformats.org/officeDocument/2006/relationships/image" Target="../media/image485.png"/><Relationship Id="rId19" Type="http://schemas.openxmlformats.org/officeDocument/2006/relationships/image" Target="../media/image48.png"/><Relationship Id="rId31" Type="http://schemas.openxmlformats.org/officeDocument/2006/relationships/image" Target="../media/image496.png"/><Relationship Id="rId44" Type="http://schemas.openxmlformats.org/officeDocument/2006/relationships/image" Target="../media/image169.png"/><Relationship Id="rId4" Type="http://schemas.openxmlformats.org/officeDocument/2006/relationships/image" Target="../media/image162.png"/><Relationship Id="rId9" Type="http://schemas.openxmlformats.org/officeDocument/2006/relationships/image" Target="../media/image174.png"/><Relationship Id="rId14" Type="http://schemas.openxmlformats.org/officeDocument/2006/relationships/image" Target="../media/image487.png"/><Relationship Id="rId22" Type="http://schemas.openxmlformats.org/officeDocument/2006/relationships/image" Target="../media/image61.png"/><Relationship Id="rId27" Type="http://schemas.openxmlformats.org/officeDocument/2006/relationships/image" Target="../media/image492.png"/><Relationship Id="rId30" Type="http://schemas.openxmlformats.org/officeDocument/2006/relationships/image" Target="../media/image495.png"/><Relationship Id="rId35" Type="http://schemas.openxmlformats.org/officeDocument/2006/relationships/image" Target="../media/image8.png"/><Relationship Id="rId43" Type="http://schemas.openxmlformats.org/officeDocument/2006/relationships/image" Target="../media/image502.png"/><Relationship Id="rId8" Type="http://schemas.openxmlformats.org/officeDocument/2006/relationships/image" Target="../media/image484.png"/><Relationship Id="rId3" Type="http://schemas.openxmlformats.org/officeDocument/2006/relationships/image" Target="../media/image68.png"/><Relationship Id="rId12" Type="http://schemas.openxmlformats.org/officeDocument/2006/relationships/image" Target="../media/image249.png"/><Relationship Id="rId17" Type="http://schemas.openxmlformats.org/officeDocument/2006/relationships/image" Target="../media/image29.png"/><Relationship Id="rId25" Type="http://schemas.openxmlformats.org/officeDocument/2006/relationships/image" Target="../media/image490.png"/><Relationship Id="rId33" Type="http://schemas.openxmlformats.org/officeDocument/2006/relationships/image" Target="../media/image498.png"/><Relationship Id="rId38" Type="http://schemas.openxmlformats.org/officeDocument/2006/relationships/image" Target="../media/image500.png"/></Relationships>
</file>

<file path=ppt/charts/_rels/chart113.xml.rels><?xml version="1.0" encoding="UTF-8" standalone="yes"?>
<Relationships xmlns="http://schemas.openxmlformats.org/package/2006/relationships"><Relationship Id="rId8" Type="http://schemas.openxmlformats.org/officeDocument/2006/relationships/image" Target="../media/image362.png"/><Relationship Id="rId3" Type="http://schemas.openxmlformats.org/officeDocument/2006/relationships/image" Target="../media/image287.png"/><Relationship Id="rId7" Type="http://schemas.openxmlformats.org/officeDocument/2006/relationships/image" Target="../media/image31.png"/><Relationship Id="rId12" Type="http://schemas.openxmlformats.org/officeDocument/2006/relationships/image" Target="../media/image18.png"/><Relationship Id="rId2" Type="http://schemas.openxmlformats.org/officeDocument/2006/relationships/image" Target="../media/image504.png"/><Relationship Id="rId1" Type="http://schemas.openxmlformats.org/officeDocument/2006/relationships/image" Target="../media/image503.png"/><Relationship Id="rId6" Type="http://schemas.openxmlformats.org/officeDocument/2006/relationships/image" Target="../media/image280.png"/><Relationship Id="rId11" Type="http://schemas.openxmlformats.org/officeDocument/2006/relationships/image" Target="../media/image361.png"/><Relationship Id="rId5" Type="http://schemas.openxmlformats.org/officeDocument/2006/relationships/image" Target="../media/image220.png"/><Relationship Id="rId10" Type="http://schemas.openxmlformats.org/officeDocument/2006/relationships/image" Target="../media/image42.png"/><Relationship Id="rId4" Type="http://schemas.openxmlformats.org/officeDocument/2006/relationships/image" Target="../media/image336.png"/><Relationship Id="rId9" Type="http://schemas.openxmlformats.org/officeDocument/2006/relationships/image" Target="../media/image214.png"/></Relationships>
</file>

<file path=ppt/charts/_rels/chart122.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369.png"/><Relationship Id="rId18" Type="http://schemas.openxmlformats.org/officeDocument/2006/relationships/image" Target="../media/image39.png"/><Relationship Id="rId3" Type="http://schemas.openxmlformats.org/officeDocument/2006/relationships/image" Target="../media/image324.png"/><Relationship Id="rId7" Type="http://schemas.openxmlformats.org/officeDocument/2006/relationships/image" Target="../media/image249.png"/><Relationship Id="rId12" Type="http://schemas.openxmlformats.org/officeDocument/2006/relationships/image" Target="../media/image328.png"/><Relationship Id="rId17" Type="http://schemas.openxmlformats.org/officeDocument/2006/relationships/image" Target="../media/image502.png"/><Relationship Id="rId2" Type="http://schemas.openxmlformats.org/officeDocument/2006/relationships/image" Target="../media/image246.png"/><Relationship Id="rId16" Type="http://schemas.openxmlformats.org/officeDocument/2006/relationships/image" Target="../media/image487.png"/><Relationship Id="rId1" Type="http://schemas.openxmlformats.org/officeDocument/2006/relationships/image" Target="../media/image222.png"/><Relationship Id="rId6" Type="http://schemas.openxmlformats.org/officeDocument/2006/relationships/image" Target="../media/image202.png"/><Relationship Id="rId11" Type="http://schemas.openxmlformats.org/officeDocument/2006/relationships/image" Target="../media/image521.png"/><Relationship Id="rId5" Type="http://schemas.openxmlformats.org/officeDocument/2006/relationships/image" Target="../media/image519.png"/><Relationship Id="rId15" Type="http://schemas.openxmlformats.org/officeDocument/2006/relationships/image" Target="../media/image281.png"/><Relationship Id="rId10" Type="http://schemas.openxmlformats.org/officeDocument/2006/relationships/image" Target="../media/image520.png"/><Relationship Id="rId4" Type="http://schemas.openxmlformats.org/officeDocument/2006/relationships/image" Target="../media/image206.png"/><Relationship Id="rId9" Type="http://schemas.openxmlformats.org/officeDocument/2006/relationships/image" Target="../media/image251.png"/><Relationship Id="rId14" Type="http://schemas.openxmlformats.org/officeDocument/2006/relationships/image" Target="../media/image362.png"/></Relationships>
</file>

<file path=ppt/charts/_rels/chart131.xml.rels><?xml version="1.0" encoding="UTF-8" standalone="yes"?>
<Relationships xmlns="http://schemas.openxmlformats.org/package/2006/relationships"><Relationship Id="rId8" Type="http://schemas.openxmlformats.org/officeDocument/2006/relationships/image" Target="../media/image328.png"/><Relationship Id="rId13" Type="http://schemas.openxmlformats.org/officeDocument/2006/relationships/image" Target="../media/image178.png"/><Relationship Id="rId3" Type="http://schemas.openxmlformats.org/officeDocument/2006/relationships/image" Target="../media/image248.png"/><Relationship Id="rId7" Type="http://schemas.openxmlformats.org/officeDocument/2006/relationships/image" Target="../media/image136.png"/><Relationship Id="rId12" Type="http://schemas.openxmlformats.org/officeDocument/2006/relationships/image" Target="../media/image502.png"/><Relationship Id="rId17" Type="http://schemas.openxmlformats.org/officeDocument/2006/relationships/image" Target="../media/image132.png"/><Relationship Id="rId2" Type="http://schemas.openxmlformats.org/officeDocument/2006/relationships/image" Target="../media/image535.png"/><Relationship Id="rId16" Type="http://schemas.openxmlformats.org/officeDocument/2006/relationships/image" Target="../media/image538.png"/><Relationship Id="rId1" Type="http://schemas.openxmlformats.org/officeDocument/2006/relationships/image" Target="../media/image242.png"/><Relationship Id="rId6" Type="http://schemas.openxmlformats.org/officeDocument/2006/relationships/image" Target="../media/image203.png"/><Relationship Id="rId11" Type="http://schemas.openxmlformats.org/officeDocument/2006/relationships/image" Target="../media/image259.png"/><Relationship Id="rId5" Type="http://schemas.openxmlformats.org/officeDocument/2006/relationships/image" Target="../media/image537.png"/><Relationship Id="rId15" Type="http://schemas.openxmlformats.org/officeDocument/2006/relationships/image" Target="../media/image21.png"/><Relationship Id="rId10" Type="http://schemas.openxmlformats.org/officeDocument/2006/relationships/image" Target="../media/image276.png"/><Relationship Id="rId4" Type="http://schemas.openxmlformats.org/officeDocument/2006/relationships/image" Target="../media/image536.png"/><Relationship Id="rId9" Type="http://schemas.openxmlformats.org/officeDocument/2006/relationships/image" Target="../media/image247.png"/><Relationship Id="rId14" Type="http://schemas.openxmlformats.org/officeDocument/2006/relationships/image" Target="../media/image369.png"/></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303C-461F-81ED-B74EBE509C8D}"/>
              </c:ext>
            </c:extLst>
          </c:dPt>
          <c:dPt>
            <c:idx val="1"/>
            <c:bubble3D val="0"/>
            <c:spPr>
              <a:solidFill>
                <a:srgbClr val="9E7E0A"/>
              </a:solidFill>
            </c:spPr>
            <c:extLst>
              <c:ext xmlns:c16="http://schemas.microsoft.com/office/drawing/2014/chart" uri="{C3380CC4-5D6E-409C-BE32-E72D297353CC}">
                <c16:uniqueId val="{00000003-303C-461F-81ED-B74EBE509C8D}"/>
              </c:ext>
            </c:extLst>
          </c:dPt>
          <c:dPt>
            <c:idx val="2"/>
            <c:bubble3D val="0"/>
            <c:spPr>
              <a:solidFill>
                <a:srgbClr val="008189"/>
              </a:solidFill>
            </c:spPr>
            <c:extLst>
              <c:ext xmlns:c16="http://schemas.microsoft.com/office/drawing/2014/chart" uri="{C3380CC4-5D6E-409C-BE32-E72D297353CC}">
                <c16:uniqueId val="{00000005-303C-461F-81ED-B74EBE509C8D}"/>
              </c:ext>
            </c:extLst>
          </c:dPt>
          <c:dPt>
            <c:idx val="3"/>
            <c:bubble3D val="0"/>
            <c:spPr>
              <a:solidFill>
                <a:srgbClr val="40315E"/>
              </a:solidFill>
            </c:spPr>
            <c:extLst>
              <c:ext xmlns:c16="http://schemas.microsoft.com/office/drawing/2014/chart" uri="{C3380CC4-5D6E-409C-BE32-E72D297353CC}">
                <c16:uniqueId val="{00000007-303C-461F-81ED-B74EBE509C8D}"/>
              </c:ext>
            </c:extLst>
          </c:dPt>
          <c:dPt>
            <c:idx val="4"/>
            <c:bubble3D val="0"/>
            <c:spPr>
              <a:solidFill>
                <a:srgbClr val="A35313"/>
              </a:solidFill>
            </c:spPr>
            <c:extLst>
              <c:ext xmlns:c16="http://schemas.microsoft.com/office/drawing/2014/chart" uri="{C3380CC4-5D6E-409C-BE32-E72D297353CC}">
                <c16:uniqueId val="{00000009-303C-461F-81ED-B74EBE509C8D}"/>
              </c:ext>
            </c:extLst>
          </c:dPt>
          <c:dPt>
            <c:idx val="5"/>
            <c:bubble3D val="0"/>
            <c:spPr>
              <a:solidFill>
                <a:srgbClr val="808080"/>
              </a:solidFill>
            </c:spPr>
            <c:extLst>
              <c:ext xmlns:c16="http://schemas.microsoft.com/office/drawing/2014/chart" uri="{C3380CC4-5D6E-409C-BE32-E72D297353CC}">
                <c16:uniqueId val="{0000000B-303C-461F-81ED-B74EBE509C8D}"/>
              </c:ext>
            </c:extLst>
          </c:dPt>
          <c:dPt>
            <c:idx val="6"/>
            <c:bubble3D val="0"/>
            <c:spPr>
              <a:solidFill>
                <a:srgbClr val="0E72AE"/>
              </a:solidFill>
            </c:spPr>
            <c:extLst>
              <c:ext xmlns:c16="http://schemas.microsoft.com/office/drawing/2014/chart" uri="{C3380CC4-5D6E-409C-BE32-E72D297353CC}">
                <c16:uniqueId val="{0000000D-303C-461F-81ED-B74EBE509C8D}"/>
              </c:ext>
            </c:extLst>
          </c:dPt>
          <c:dPt>
            <c:idx val="7"/>
            <c:bubble3D val="0"/>
            <c:spPr>
              <a:solidFill>
                <a:srgbClr val="A86F00"/>
              </a:solidFill>
            </c:spPr>
            <c:extLst>
              <c:ext xmlns:c16="http://schemas.microsoft.com/office/drawing/2014/chart" uri="{C3380CC4-5D6E-409C-BE32-E72D297353CC}">
                <c16:uniqueId val="{0000000F-303C-461F-81ED-B74EBE509C8D}"/>
              </c:ext>
            </c:extLst>
          </c:dPt>
          <c:dPt>
            <c:idx val="8"/>
            <c:bubble3D val="0"/>
            <c:spPr>
              <a:solidFill>
                <a:srgbClr val="0B2E4A"/>
              </a:solidFill>
            </c:spPr>
            <c:extLst>
              <c:ext xmlns:c16="http://schemas.microsoft.com/office/drawing/2014/chart" uri="{C3380CC4-5D6E-409C-BE32-E72D297353CC}">
                <c16:uniqueId val="{00000011-303C-461F-81ED-B74EBE509C8D}"/>
              </c:ext>
            </c:extLst>
          </c:dPt>
          <c:dPt>
            <c:idx val="9"/>
            <c:bubble3D val="0"/>
            <c:spPr>
              <a:solidFill>
                <a:srgbClr val="6C7A89"/>
              </a:solidFill>
            </c:spPr>
            <c:extLst>
              <c:ext xmlns:c16="http://schemas.microsoft.com/office/drawing/2014/chart" uri="{C3380CC4-5D6E-409C-BE32-E72D297353CC}">
                <c16:uniqueId val="{00000013-303C-461F-81ED-B74EBE509C8D}"/>
              </c:ext>
            </c:extLst>
          </c:dPt>
          <c:dPt>
            <c:idx val="10"/>
            <c:bubble3D val="0"/>
            <c:spPr>
              <a:solidFill>
                <a:srgbClr val="B9B3AC"/>
              </a:solidFill>
            </c:spPr>
            <c:extLst>
              <c:ext xmlns:c16="http://schemas.microsoft.com/office/drawing/2014/chart" uri="{C3380CC4-5D6E-409C-BE32-E72D297353CC}">
                <c16:uniqueId val="{00000015-303C-461F-81ED-B74EBE509C8D}"/>
              </c:ext>
            </c:extLst>
          </c:dPt>
          <c:dLbls>
            <c:dLbl>
              <c:idx val="0"/>
              <c:layout>
                <c:manualLayout>
                  <c:x val="3.5000000000000003E-2"/>
                  <c:y val="0"/>
                </c:manualLayout>
              </c:layout>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03C-461F-81ED-B74EBE509C8D}"/>
                </c:ext>
              </c:extLst>
            </c:dLbl>
            <c:dLbl>
              <c:idx val="1"/>
              <c:layout>
                <c:manualLayout>
                  <c:x val="3.5000000000000003E-2"/>
                  <c:y val="0"/>
                </c:manualLayout>
              </c:layout>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03C-461F-81ED-B74EBE509C8D}"/>
                </c:ext>
              </c:extLst>
            </c:dLbl>
            <c:dLbl>
              <c:idx val="2"/>
              <c:layout>
                <c:manualLayout>
                  <c:x val="3.5000000000000003E-2"/>
                  <c:y val="0"/>
                </c:manualLayout>
              </c:layout>
              <c:numFmt formatCode="&quot;MMM&quot;;&quot;MMM&quot;;&quot;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03C-461F-81ED-B74EBE509C8D}"/>
                </c:ext>
              </c:extLst>
            </c:dLbl>
            <c:dLbl>
              <c:idx val="3"/>
              <c:layout>
                <c:manualLayout>
                  <c:x val="3.5000000000000003E-2"/>
                  <c:y val="0"/>
                </c:manualLayout>
              </c:layout>
              <c:numFmt formatCode="&quot;MMM&quot;;&quot;MMM&quot;;&quot;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03C-461F-81ED-B74EBE509C8D}"/>
                </c:ext>
              </c:extLst>
            </c:dLbl>
            <c:dLbl>
              <c:idx val="4"/>
              <c:layout>
                <c:manualLayout>
                  <c:x val="3.5000000000000003E-2"/>
                  <c:y val="0"/>
                </c:manualLayout>
              </c:layout>
              <c:numFmt formatCode="&quot;MMM&quot;;&quot;MMM&quot;;&quot;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03C-461F-81ED-B74EBE509C8D}"/>
                </c:ext>
              </c:extLst>
            </c:dLbl>
            <c:dLbl>
              <c:idx val="5"/>
              <c:layout>
                <c:manualLayout>
                  <c:x val="3.5000000000000003E-2"/>
                  <c:y val="0"/>
                </c:manualLayout>
              </c:layout>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03C-461F-81ED-B74EBE509C8D}"/>
                </c:ext>
              </c:extLst>
            </c:dLbl>
            <c:dLbl>
              <c:idx val="6"/>
              <c:layout>
                <c:manualLayout>
                  <c:x val="3.5000000000000003E-2"/>
                  <c:y val="0"/>
                </c:manualLayout>
              </c:layout>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03C-461F-81ED-B74EBE509C8D}"/>
                </c:ext>
              </c:extLst>
            </c:dLbl>
            <c:dLbl>
              <c:idx val="7"/>
              <c:layout>
                <c:manualLayout>
                  <c:x val="3.5000000000000003E-2"/>
                  <c:y val="0"/>
                </c:manualLayout>
              </c:layout>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303C-461F-81ED-B74EBE509C8D}"/>
                </c:ext>
              </c:extLst>
            </c:dLbl>
            <c:dLbl>
              <c:idx val="8"/>
              <c:layout>
                <c:manualLayout>
                  <c:x val="3.5000000000000003E-2"/>
                  <c:y val="0"/>
                </c:manualLayout>
              </c:layout>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03C-461F-81ED-B74EBE509C8D}"/>
                </c:ext>
              </c:extLst>
            </c:dLbl>
            <c:dLbl>
              <c:idx val="9"/>
              <c:layout>
                <c:manualLayout>
                  <c:x val="3.5000000000000003E-2"/>
                  <c:y val="0"/>
                </c:manualLayout>
              </c:layout>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303C-461F-81ED-B74EBE509C8D}"/>
                </c:ext>
              </c:extLst>
            </c:dLbl>
            <c:dLbl>
              <c:idx val="10"/>
              <c:layout>
                <c:manualLayout>
                  <c:x val="3.5000000000000003E-2"/>
                  <c:y val="0"/>
                </c:manualLayout>
              </c:layout>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303C-461F-81ED-B74EBE509C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Lit>
          </c:cat>
          <c:val>
            <c:numLit>
              <c:formatCode>General</c:formatCode>
              <c:ptCount val="11"/>
              <c:pt idx="0">
                <c:v>15.401240790072531</c:v>
              </c:pt>
              <c:pt idx="1">
                <c:v>13.483170759180721</c:v>
              </c:pt>
              <c:pt idx="2">
                <c:v>9.2993528836453887</c:v>
              </c:pt>
              <c:pt idx="3">
                <c:v>6.532876475193234</c:v>
              </c:pt>
              <c:pt idx="4">
                <c:v>6.4733198297118948</c:v>
              </c:pt>
              <c:pt idx="5">
                <c:v>6.4332446808721819</c:v>
              </c:pt>
              <c:pt idx="6">
                <c:v>5.1503700280767655</c:v>
              </c:pt>
              <c:pt idx="7">
                <c:v>3.1015192989370006</c:v>
              </c:pt>
              <c:pt idx="8">
                <c:v>2.1645981368190892</c:v>
              </c:pt>
              <c:pt idx="9">
                <c:v>2.136096181068746</c:v>
              </c:pt>
              <c:pt idx="10">
                <c:v>29.824210936422443</c:v>
              </c:pt>
            </c:numLit>
          </c:val>
          <c:extLst>
            <c:ext xmlns:c16="http://schemas.microsoft.com/office/drawing/2014/chart" uri="{C3380CC4-5D6E-409C-BE32-E72D297353CC}">
              <c16:uniqueId val="{00000016-303C-461F-81ED-B74EBE509C8D}"/>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8647-439B-A36E-839F961EE49B}"/>
              </c:ext>
            </c:extLst>
          </c:dPt>
          <c:dPt>
            <c:idx val="1"/>
            <c:bubble3D val="0"/>
            <c:spPr>
              <a:solidFill>
                <a:srgbClr val="9E7E0A"/>
              </a:solidFill>
            </c:spPr>
            <c:extLst>
              <c:ext xmlns:c16="http://schemas.microsoft.com/office/drawing/2014/chart" uri="{C3380CC4-5D6E-409C-BE32-E72D297353CC}">
                <c16:uniqueId val="{00000003-8647-439B-A36E-839F961EE49B}"/>
              </c:ext>
            </c:extLst>
          </c:dPt>
          <c:dPt>
            <c:idx val="2"/>
            <c:bubble3D val="0"/>
            <c:spPr>
              <a:solidFill>
                <a:srgbClr val="008189"/>
              </a:solidFill>
            </c:spPr>
            <c:extLst>
              <c:ext xmlns:c16="http://schemas.microsoft.com/office/drawing/2014/chart" uri="{C3380CC4-5D6E-409C-BE32-E72D297353CC}">
                <c16:uniqueId val="{00000005-8647-439B-A36E-839F961EE49B}"/>
              </c:ext>
            </c:extLst>
          </c:dPt>
          <c:dPt>
            <c:idx val="3"/>
            <c:bubble3D val="0"/>
            <c:spPr>
              <a:solidFill>
                <a:srgbClr val="40315E"/>
              </a:solidFill>
            </c:spPr>
            <c:extLst>
              <c:ext xmlns:c16="http://schemas.microsoft.com/office/drawing/2014/chart" uri="{C3380CC4-5D6E-409C-BE32-E72D297353CC}">
                <c16:uniqueId val="{00000007-8647-439B-A36E-839F961EE49B}"/>
              </c:ext>
            </c:extLst>
          </c:dPt>
          <c:dPt>
            <c:idx val="4"/>
            <c:bubble3D val="0"/>
            <c:spPr>
              <a:solidFill>
                <a:srgbClr val="A35313"/>
              </a:solidFill>
            </c:spPr>
            <c:extLst>
              <c:ext xmlns:c16="http://schemas.microsoft.com/office/drawing/2014/chart" uri="{C3380CC4-5D6E-409C-BE32-E72D297353CC}">
                <c16:uniqueId val="{00000009-8647-439B-A36E-839F961EE49B}"/>
              </c:ext>
            </c:extLst>
          </c:dPt>
          <c:dPt>
            <c:idx val="5"/>
            <c:bubble3D val="0"/>
            <c:spPr>
              <a:solidFill>
                <a:srgbClr val="808080"/>
              </a:solidFill>
            </c:spPr>
            <c:extLst>
              <c:ext xmlns:c16="http://schemas.microsoft.com/office/drawing/2014/chart" uri="{C3380CC4-5D6E-409C-BE32-E72D297353CC}">
                <c16:uniqueId val="{0000000B-8647-439B-A36E-839F961EE49B}"/>
              </c:ext>
            </c:extLst>
          </c:dPt>
          <c:dPt>
            <c:idx val="6"/>
            <c:bubble3D val="0"/>
            <c:spPr>
              <a:solidFill>
                <a:srgbClr val="0E72AE"/>
              </a:solidFill>
            </c:spPr>
            <c:extLst>
              <c:ext xmlns:c16="http://schemas.microsoft.com/office/drawing/2014/chart" uri="{C3380CC4-5D6E-409C-BE32-E72D297353CC}">
                <c16:uniqueId val="{0000000D-8647-439B-A36E-839F961EE49B}"/>
              </c:ext>
            </c:extLst>
          </c:dPt>
          <c:dPt>
            <c:idx val="7"/>
            <c:bubble3D val="0"/>
            <c:spPr>
              <a:solidFill>
                <a:srgbClr val="A86F00"/>
              </a:solidFill>
            </c:spPr>
            <c:extLst>
              <c:ext xmlns:c16="http://schemas.microsoft.com/office/drawing/2014/chart" uri="{C3380CC4-5D6E-409C-BE32-E72D297353CC}">
                <c16:uniqueId val="{0000000F-8647-439B-A36E-839F961EE49B}"/>
              </c:ext>
            </c:extLst>
          </c:dPt>
          <c:dPt>
            <c:idx val="8"/>
            <c:bubble3D val="0"/>
            <c:spPr>
              <a:solidFill>
                <a:srgbClr val="0B2E4A"/>
              </a:solidFill>
            </c:spPr>
            <c:extLst>
              <c:ext xmlns:c16="http://schemas.microsoft.com/office/drawing/2014/chart" uri="{C3380CC4-5D6E-409C-BE32-E72D297353CC}">
                <c16:uniqueId val="{00000011-8647-439B-A36E-839F961EE49B}"/>
              </c:ext>
            </c:extLst>
          </c:dPt>
          <c:dPt>
            <c:idx val="9"/>
            <c:bubble3D val="0"/>
            <c:spPr>
              <a:solidFill>
                <a:srgbClr val="6C7A89"/>
              </a:solidFill>
            </c:spPr>
            <c:extLst>
              <c:ext xmlns:c16="http://schemas.microsoft.com/office/drawing/2014/chart" uri="{C3380CC4-5D6E-409C-BE32-E72D297353CC}">
                <c16:uniqueId val="{00000013-8647-439B-A36E-839F961EE49B}"/>
              </c:ext>
            </c:extLst>
          </c:dPt>
          <c:dPt>
            <c:idx val="10"/>
            <c:bubble3D val="0"/>
            <c:spPr>
              <a:solidFill>
                <a:srgbClr val="B9B3AC"/>
              </a:solidFill>
            </c:spPr>
            <c:extLst>
              <c:ext xmlns:c16="http://schemas.microsoft.com/office/drawing/2014/chart" uri="{C3380CC4-5D6E-409C-BE32-E72D297353CC}">
                <c16:uniqueId val="{00000015-8647-439B-A36E-839F961EE49B}"/>
              </c:ext>
            </c:extLst>
          </c:dPt>
          <c:dLbls>
            <c:dLbl>
              <c:idx val="0"/>
              <c:layout>
                <c:manualLayout>
                  <c:x val="3.5000000000000003E-2"/>
                  <c:y val="0"/>
                </c:manualLayout>
              </c:layout>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647-439B-A36E-839F961EE49B}"/>
                </c:ext>
              </c:extLst>
            </c:dLbl>
            <c:dLbl>
              <c:idx val="1"/>
              <c:layout>
                <c:manualLayout>
                  <c:x val="3.5000000000000003E-2"/>
                  <c:y val="0"/>
                </c:manualLayout>
              </c:layout>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647-439B-A36E-839F961EE49B}"/>
                </c:ext>
              </c:extLst>
            </c:dLbl>
            <c:dLbl>
              <c:idx val="2"/>
              <c:layout>
                <c:manualLayout>
                  <c:x val="3.5000000000000003E-2"/>
                  <c:y val="0"/>
                </c:manualLayout>
              </c:layout>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647-439B-A36E-839F961EE49B}"/>
                </c:ext>
              </c:extLst>
            </c:dLbl>
            <c:dLbl>
              <c:idx val="3"/>
              <c:layout>
                <c:manualLayout>
                  <c:x val="3.5000000000000003E-2"/>
                  <c:y val="0"/>
                </c:manualLayout>
              </c:layout>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647-439B-A36E-839F961EE49B}"/>
                </c:ext>
              </c:extLst>
            </c:dLbl>
            <c:dLbl>
              <c:idx val="4"/>
              <c:layout>
                <c:manualLayout>
                  <c:x val="3.5000000000000003E-2"/>
                  <c:y val="0"/>
                </c:manualLayout>
              </c:layout>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647-439B-A36E-839F961EE49B}"/>
                </c:ext>
              </c:extLst>
            </c:dLbl>
            <c:dLbl>
              <c:idx val="5"/>
              <c:layout>
                <c:manualLayout>
                  <c:x val="3.5000000000000003E-2"/>
                  <c:y val="0"/>
                </c:manualLayout>
              </c:layout>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647-439B-A36E-839F961EE49B}"/>
                </c:ext>
              </c:extLst>
            </c:dLbl>
            <c:dLbl>
              <c:idx val="6"/>
              <c:layout>
                <c:manualLayout>
                  <c:x val="3.5000000000000003E-2"/>
                  <c:y val="0"/>
                </c:manualLayout>
              </c:layout>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647-439B-A36E-839F961EE49B}"/>
                </c:ext>
              </c:extLst>
            </c:dLbl>
            <c:dLbl>
              <c:idx val="7"/>
              <c:layout>
                <c:manualLayout>
                  <c:x val="3.5000000000000003E-2"/>
                  <c:y val="0"/>
                </c:manualLayout>
              </c:layout>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647-439B-A36E-839F961EE49B}"/>
                </c:ext>
              </c:extLst>
            </c:dLbl>
            <c:dLbl>
              <c:idx val="8"/>
              <c:layout>
                <c:manualLayout>
                  <c:x val="3.5000000000000003E-2"/>
                  <c:y val="0"/>
                </c:manualLayout>
              </c:layout>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8647-439B-A36E-839F961EE49B}"/>
                </c:ext>
              </c:extLst>
            </c:dLbl>
            <c:dLbl>
              <c:idx val="9"/>
              <c:layout>
                <c:manualLayout>
                  <c:x val="3.5000000000000003E-2"/>
                  <c:y val="0"/>
                </c:manualLayout>
              </c:layout>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647-439B-A36E-839F961EE49B}"/>
                </c:ext>
              </c:extLst>
            </c:dLbl>
            <c:dLbl>
              <c:idx val="10"/>
              <c:layout>
                <c:manualLayout>
                  <c:x val="3.5000000000000003E-2"/>
                  <c:y val="0"/>
                </c:manualLayout>
              </c:layout>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647-439B-A36E-839F961EE4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Lit>
          </c:cat>
          <c:val>
            <c:numLit>
              <c:formatCode>General</c:formatCode>
              <c:ptCount val="11"/>
              <c:pt idx="0">
                <c:v>11.693602256562977</c:v>
              </c:pt>
              <c:pt idx="1">
                <c:v>9.9890701454987205</c:v>
              </c:pt>
              <c:pt idx="2">
                <c:v>11.264513875278551</c:v>
              </c:pt>
              <c:pt idx="3">
                <c:v>11.542462021743303</c:v>
              </c:pt>
              <c:pt idx="4">
                <c:v>9.1707126254733691</c:v>
              </c:pt>
              <c:pt idx="5">
                <c:v>5.6937156548427303</c:v>
              </c:pt>
              <c:pt idx="6">
                <c:v>3.7515880157620747</c:v>
              </c:pt>
              <c:pt idx="7">
                <c:v>3.2400766712412858</c:v>
              </c:pt>
              <c:pt idx="8">
                <c:v>3.3901784262482124</c:v>
              </c:pt>
              <c:pt idx="9">
                <c:v>3.0300946920704144</c:v>
              </c:pt>
              <c:pt idx="10">
                <c:v>27.23398561527836</c:v>
              </c:pt>
            </c:numLit>
          </c:val>
          <c:extLst>
            <c:ext xmlns:c16="http://schemas.microsoft.com/office/drawing/2014/chart" uri="{C3380CC4-5D6E-409C-BE32-E72D297353CC}">
              <c16:uniqueId val="{00000016-8647-439B-A36E-839F961EE49B}"/>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AEEA-4BC6-AB6E-1552711864A5}"/>
              </c:ext>
            </c:extLst>
          </c:dPt>
          <c:dPt>
            <c:idx val="1"/>
            <c:bubble3D val="0"/>
            <c:spPr>
              <a:solidFill>
                <a:srgbClr val="9E7E0A"/>
              </a:solidFill>
            </c:spPr>
            <c:extLst>
              <c:ext xmlns:c16="http://schemas.microsoft.com/office/drawing/2014/chart" uri="{C3380CC4-5D6E-409C-BE32-E72D297353CC}">
                <c16:uniqueId val="{00000003-AEEA-4BC6-AB6E-1552711864A5}"/>
              </c:ext>
            </c:extLst>
          </c:dPt>
          <c:dPt>
            <c:idx val="2"/>
            <c:bubble3D val="0"/>
            <c:spPr>
              <a:solidFill>
                <a:srgbClr val="008189"/>
              </a:solidFill>
            </c:spPr>
            <c:extLst>
              <c:ext xmlns:c16="http://schemas.microsoft.com/office/drawing/2014/chart" uri="{C3380CC4-5D6E-409C-BE32-E72D297353CC}">
                <c16:uniqueId val="{00000005-AEEA-4BC6-AB6E-1552711864A5}"/>
              </c:ext>
            </c:extLst>
          </c:dPt>
          <c:dPt>
            <c:idx val="3"/>
            <c:bubble3D val="0"/>
            <c:spPr>
              <a:solidFill>
                <a:srgbClr val="40315E"/>
              </a:solidFill>
            </c:spPr>
            <c:extLst>
              <c:ext xmlns:c16="http://schemas.microsoft.com/office/drawing/2014/chart" uri="{C3380CC4-5D6E-409C-BE32-E72D297353CC}">
                <c16:uniqueId val="{00000007-AEEA-4BC6-AB6E-1552711864A5}"/>
              </c:ext>
            </c:extLst>
          </c:dPt>
          <c:dPt>
            <c:idx val="4"/>
            <c:bubble3D val="0"/>
            <c:spPr>
              <a:solidFill>
                <a:srgbClr val="A35313"/>
              </a:solidFill>
            </c:spPr>
            <c:extLst>
              <c:ext xmlns:c16="http://schemas.microsoft.com/office/drawing/2014/chart" uri="{C3380CC4-5D6E-409C-BE32-E72D297353CC}">
                <c16:uniqueId val="{00000009-AEEA-4BC6-AB6E-1552711864A5}"/>
              </c:ext>
            </c:extLst>
          </c:dPt>
          <c:dPt>
            <c:idx val="5"/>
            <c:bubble3D val="0"/>
            <c:spPr>
              <a:solidFill>
                <a:srgbClr val="808080"/>
              </a:solidFill>
            </c:spPr>
            <c:extLst>
              <c:ext xmlns:c16="http://schemas.microsoft.com/office/drawing/2014/chart" uri="{C3380CC4-5D6E-409C-BE32-E72D297353CC}">
                <c16:uniqueId val="{0000000B-AEEA-4BC6-AB6E-1552711864A5}"/>
              </c:ext>
            </c:extLst>
          </c:dPt>
          <c:dPt>
            <c:idx val="6"/>
            <c:bubble3D val="0"/>
            <c:spPr>
              <a:solidFill>
                <a:srgbClr val="0E72AE"/>
              </a:solidFill>
            </c:spPr>
            <c:extLst>
              <c:ext xmlns:c16="http://schemas.microsoft.com/office/drawing/2014/chart" uri="{C3380CC4-5D6E-409C-BE32-E72D297353CC}">
                <c16:uniqueId val="{0000000D-AEEA-4BC6-AB6E-1552711864A5}"/>
              </c:ext>
            </c:extLst>
          </c:dPt>
          <c:dPt>
            <c:idx val="7"/>
            <c:bubble3D val="0"/>
            <c:spPr>
              <a:solidFill>
                <a:srgbClr val="A86F00"/>
              </a:solidFill>
            </c:spPr>
            <c:extLst>
              <c:ext xmlns:c16="http://schemas.microsoft.com/office/drawing/2014/chart" uri="{C3380CC4-5D6E-409C-BE32-E72D297353CC}">
                <c16:uniqueId val="{0000000F-AEEA-4BC6-AB6E-1552711864A5}"/>
              </c:ext>
            </c:extLst>
          </c:dPt>
          <c:dPt>
            <c:idx val="8"/>
            <c:bubble3D val="0"/>
            <c:spPr>
              <a:solidFill>
                <a:srgbClr val="0B2E4A"/>
              </a:solidFill>
            </c:spPr>
            <c:extLst>
              <c:ext xmlns:c16="http://schemas.microsoft.com/office/drawing/2014/chart" uri="{C3380CC4-5D6E-409C-BE32-E72D297353CC}">
                <c16:uniqueId val="{00000011-AEEA-4BC6-AB6E-1552711864A5}"/>
              </c:ext>
            </c:extLst>
          </c:dPt>
          <c:dPt>
            <c:idx val="9"/>
            <c:bubble3D val="0"/>
            <c:spPr>
              <a:solidFill>
                <a:srgbClr val="6C7A89"/>
              </a:solidFill>
            </c:spPr>
            <c:extLst>
              <c:ext xmlns:c16="http://schemas.microsoft.com/office/drawing/2014/chart" uri="{C3380CC4-5D6E-409C-BE32-E72D297353CC}">
                <c16:uniqueId val="{00000013-AEEA-4BC6-AB6E-1552711864A5}"/>
              </c:ext>
            </c:extLst>
          </c:dPt>
          <c:dPt>
            <c:idx val="10"/>
            <c:bubble3D val="0"/>
            <c:spPr>
              <a:solidFill>
                <a:srgbClr val="B9B3AC"/>
              </a:solidFill>
            </c:spPr>
            <c:extLst>
              <c:ext xmlns:c16="http://schemas.microsoft.com/office/drawing/2014/chart" uri="{C3380CC4-5D6E-409C-BE32-E72D297353CC}">
                <c16:uniqueId val="{00000015-AEEA-4BC6-AB6E-1552711864A5}"/>
              </c:ext>
            </c:extLst>
          </c:dPt>
          <c:dLbls>
            <c:dLbl>
              <c:idx val="0"/>
              <c:layout>
                <c:manualLayout>
                  <c:x val="3.5000000000000003E-2"/>
                  <c:y val="0"/>
                </c:manualLayout>
              </c:layout>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EEA-4BC6-AB6E-1552711864A5}"/>
                </c:ext>
              </c:extLst>
            </c:dLbl>
            <c:dLbl>
              <c:idx val="1"/>
              <c:layout>
                <c:manualLayout>
                  <c:x val="3.5000000000000003E-2"/>
                  <c:y val="0"/>
                </c:manualLayout>
              </c:layout>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EEA-4BC6-AB6E-1552711864A5}"/>
                </c:ext>
              </c:extLst>
            </c:dLbl>
            <c:dLbl>
              <c:idx val="2"/>
              <c:layout>
                <c:manualLayout>
                  <c:x val="3.5000000000000003E-2"/>
                  <c:y val="0"/>
                </c:manualLayout>
              </c:layout>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EEA-4BC6-AB6E-1552711864A5}"/>
                </c:ext>
              </c:extLst>
            </c:dLbl>
            <c:dLbl>
              <c:idx val="3"/>
              <c:layout>
                <c:manualLayout>
                  <c:x val="3.5000000000000003E-2"/>
                  <c:y val="0"/>
                </c:manualLayout>
              </c:layout>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EEA-4BC6-AB6E-1552711864A5}"/>
                </c:ext>
              </c:extLst>
            </c:dLbl>
            <c:dLbl>
              <c:idx val="4"/>
              <c:layout>
                <c:manualLayout>
                  <c:x val="3.5000000000000003E-2"/>
                  <c:y val="0"/>
                </c:manualLayout>
              </c:layout>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EEA-4BC6-AB6E-1552711864A5}"/>
                </c:ext>
              </c:extLst>
            </c:dLbl>
            <c:dLbl>
              <c:idx val="5"/>
              <c:layout>
                <c:manualLayout>
                  <c:x val="3.5000000000000003E-2"/>
                  <c:y val="0"/>
                </c:manualLayout>
              </c:layout>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EEA-4BC6-AB6E-1552711864A5}"/>
                </c:ext>
              </c:extLst>
            </c:dLbl>
            <c:dLbl>
              <c:idx val="6"/>
              <c:layout>
                <c:manualLayout>
                  <c:x val="3.5000000000000003E-2"/>
                  <c:y val="0"/>
                </c:manualLayout>
              </c:layout>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EEA-4BC6-AB6E-1552711864A5}"/>
                </c:ext>
              </c:extLst>
            </c:dLbl>
            <c:dLbl>
              <c:idx val="7"/>
              <c:layout>
                <c:manualLayout>
                  <c:x val="3.5000000000000003E-2"/>
                  <c:y val="0"/>
                </c:manualLayout>
              </c:layout>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EEA-4BC6-AB6E-1552711864A5}"/>
                </c:ext>
              </c:extLst>
            </c:dLbl>
            <c:dLbl>
              <c:idx val="8"/>
              <c:layout>
                <c:manualLayout>
                  <c:x val="3.5000000000000003E-2"/>
                  <c:y val="0"/>
                </c:manualLayout>
              </c:layout>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EEA-4BC6-AB6E-1552711864A5}"/>
                </c:ext>
              </c:extLst>
            </c:dLbl>
            <c:dLbl>
              <c:idx val="9"/>
              <c:layout>
                <c:manualLayout>
                  <c:x val="3.5000000000000003E-2"/>
                  <c:y val="0"/>
                </c:manualLayout>
              </c:layout>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EEA-4BC6-AB6E-1552711864A5}"/>
                </c:ext>
              </c:extLst>
            </c:dLbl>
            <c:dLbl>
              <c:idx val="10"/>
              <c:layout>
                <c:manualLayout>
                  <c:x val="3.5000000000000003E-2"/>
                  <c:y val="0"/>
                </c:manualLayout>
              </c:layout>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EEA-4BC6-AB6E-1552711864A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Lit>
          </c:cat>
          <c:val>
            <c:numLit>
              <c:formatCode>General</c:formatCode>
              <c:ptCount val="11"/>
              <c:pt idx="0">
                <c:v>12.127056022733685</c:v>
              </c:pt>
              <c:pt idx="1">
                <c:v>13.515963661294228</c:v>
              </c:pt>
              <c:pt idx="2">
                <c:v>13.672509787055716</c:v>
              </c:pt>
              <c:pt idx="3">
                <c:v>10.747277583816313</c:v>
              </c:pt>
              <c:pt idx="4">
                <c:v>6.8538199238753492</c:v>
              </c:pt>
              <c:pt idx="5">
                <c:v>4.5275404515176012</c:v>
              </c:pt>
              <c:pt idx="6">
                <c:v>4.3515045192946022</c:v>
              </c:pt>
              <c:pt idx="7">
                <c:v>4.386878793633664</c:v>
              </c:pt>
              <c:pt idx="8">
                <c:v>3.8343075690671227</c:v>
              </c:pt>
              <c:pt idx="9">
                <c:v>2.614124464284719</c:v>
              </c:pt>
              <c:pt idx="10">
                <c:v>23.369017223427004</c:v>
              </c:pt>
            </c:numLit>
          </c:val>
          <c:extLst>
            <c:ext xmlns:c16="http://schemas.microsoft.com/office/drawing/2014/chart" uri="{C3380CC4-5D6E-409C-BE32-E72D297353CC}">
              <c16:uniqueId val="{00000016-AEEA-4BC6-AB6E-1552711864A5}"/>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CDBC-45F7-8ED3-9FCC1BA9A530}"/>
              </c:ext>
            </c:extLst>
          </c:dPt>
          <c:dPt>
            <c:idx val="1"/>
            <c:bubble3D val="0"/>
            <c:spPr>
              <a:solidFill>
                <a:srgbClr val="9E7E0A"/>
              </a:solidFill>
            </c:spPr>
            <c:extLst>
              <c:ext xmlns:c16="http://schemas.microsoft.com/office/drawing/2014/chart" uri="{C3380CC4-5D6E-409C-BE32-E72D297353CC}">
                <c16:uniqueId val="{00000003-CDBC-45F7-8ED3-9FCC1BA9A530}"/>
              </c:ext>
            </c:extLst>
          </c:dPt>
          <c:dPt>
            <c:idx val="2"/>
            <c:bubble3D val="0"/>
            <c:spPr>
              <a:solidFill>
                <a:srgbClr val="008189"/>
              </a:solidFill>
            </c:spPr>
            <c:extLst>
              <c:ext xmlns:c16="http://schemas.microsoft.com/office/drawing/2014/chart" uri="{C3380CC4-5D6E-409C-BE32-E72D297353CC}">
                <c16:uniqueId val="{00000005-CDBC-45F7-8ED3-9FCC1BA9A530}"/>
              </c:ext>
            </c:extLst>
          </c:dPt>
          <c:dPt>
            <c:idx val="3"/>
            <c:bubble3D val="0"/>
            <c:spPr>
              <a:solidFill>
                <a:srgbClr val="40315E"/>
              </a:solidFill>
            </c:spPr>
            <c:extLst>
              <c:ext xmlns:c16="http://schemas.microsoft.com/office/drawing/2014/chart" uri="{C3380CC4-5D6E-409C-BE32-E72D297353CC}">
                <c16:uniqueId val="{00000007-CDBC-45F7-8ED3-9FCC1BA9A530}"/>
              </c:ext>
            </c:extLst>
          </c:dPt>
          <c:dPt>
            <c:idx val="4"/>
            <c:bubble3D val="0"/>
            <c:spPr>
              <a:solidFill>
                <a:srgbClr val="A35313"/>
              </a:solidFill>
            </c:spPr>
            <c:extLst>
              <c:ext xmlns:c16="http://schemas.microsoft.com/office/drawing/2014/chart" uri="{C3380CC4-5D6E-409C-BE32-E72D297353CC}">
                <c16:uniqueId val="{00000009-CDBC-45F7-8ED3-9FCC1BA9A530}"/>
              </c:ext>
            </c:extLst>
          </c:dPt>
          <c:dPt>
            <c:idx val="5"/>
            <c:bubble3D val="0"/>
            <c:spPr>
              <a:solidFill>
                <a:srgbClr val="808080"/>
              </a:solidFill>
            </c:spPr>
            <c:extLst>
              <c:ext xmlns:c16="http://schemas.microsoft.com/office/drawing/2014/chart" uri="{C3380CC4-5D6E-409C-BE32-E72D297353CC}">
                <c16:uniqueId val="{0000000B-CDBC-45F7-8ED3-9FCC1BA9A530}"/>
              </c:ext>
            </c:extLst>
          </c:dPt>
          <c:dPt>
            <c:idx val="6"/>
            <c:bubble3D val="0"/>
            <c:spPr>
              <a:solidFill>
                <a:srgbClr val="0E72AE"/>
              </a:solidFill>
            </c:spPr>
            <c:extLst>
              <c:ext xmlns:c16="http://schemas.microsoft.com/office/drawing/2014/chart" uri="{C3380CC4-5D6E-409C-BE32-E72D297353CC}">
                <c16:uniqueId val="{0000000D-CDBC-45F7-8ED3-9FCC1BA9A530}"/>
              </c:ext>
            </c:extLst>
          </c:dPt>
          <c:dPt>
            <c:idx val="7"/>
            <c:bubble3D val="0"/>
            <c:spPr>
              <a:solidFill>
                <a:srgbClr val="A86F00"/>
              </a:solidFill>
            </c:spPr>
            <c:extLst>
              <c:ext xmlns:c16="http://schemas.microsoft.com/office/drawing/2014/chart" uri="{C3380CC4-5D6E-409C-BE32-E72D297353CC}">
                <c16:uniqueId val="{0000000F-CDBC-45F7-8ED3-9FCC1BA9A530}"/>
              </c:ext>
            </c:extLst>
          </c:dPt>
          <c:dPt>
            <c:idx val="8"/>
            <c:bubble3D val="0"/>
            <c:spPr>
              <a:solidFill>
                <a:srgbClr val="0B2E4A"/>
              </a:solidFill>
            </c:spPr>
            <c:extLst>
              <c:ext xmlns:c16="http://schemas.microsoft.com/office/drawing/2014/chart" uri="{C3380CC4-5D6E-409C-BE32-E72D297353CC}">
                <c16:uniqueId val="{00000011-CDBC-45F7-8ED3-9FCC1BA9A530}"/>
              </c:ext>
            </c:extLst>
          </c:dPt>
          <c:dPt>
            <c:idx val="9"/>
            <c:bubble3D val="0"/>
            <c:spPr>
              <a:solidFill>
                <a:srgbClr val="6C7A89"/>
              </a:solidFill>
            </c:spPr>
            <c:extLst>
              <c:ext xmlns:c16="http://schemas.microsoft.com/office/drawing/2014/chart" uri="{C3380CC4-5D6E-409C-BE32-E72D297353CC}">
                <c16:uniqueId val="{00000013-CDBC-45F7-8ED3-9FCC1BA9A530}"/>
              </c:ext>
            </c:extLst>
          </c:dPt>
          <c:dPt>
            <c:idx val="10"/>
            <c:bubble3D val="0"/>
            <c:spPr>
              <a:solidFill>
                <a:srgbClr val="B9B3AC"/>
              </a:solidFill>
            </c:spPr>
            <c:extLst>
              <c:ext xmlns:c16="http://schemas.microsoft.com/office/drawing/2014/chart" uri="{C3380CC4-5D6E-409C-BE32-E72D297353CC}">
                <c16:uniqueId val="{00000015-CDBC-45F7-8ED3-9FCC1BA9A530}"/>
              </c:ext>
            </c:extLst>
          </c:dPt>
          <c:dLbls>
            <c:dLbl>
              <c:idx val="0"/>
              <c:layout>
                <c:manualLayout>
                  <c:x val="3.5000000000000003E-2"/>
                  <c:y val="0"/>
                </c:manualLayout>
              </c:layout>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DBC-45F7-8ED3-9FCC1BA9A530}"/>
                </c:ext>
              </c:extLst>
            </c:dLbl>
            <c:dLbl>
              <c:idx val="1"/>
              <c:layout>
                <c:manualLayout>
                  <c:x val="3.5000000000000003E-2"/>
                  <c:y val="0"/>
                </c:manualLayout>
              </c:layout>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DBC-45F7-8ED3-9FCC1BA9A530}"/>
                </c:ext>
              </c:extLst>
            </c:dLbl>
            <c:dLbl>
              <c:idx val="2"/>
              <c:layout>
                <c:manualLayout>
                  <c:x val="3.5000000000000003E-2"/>
                  <c:y val="0"/>
                </c:manualLayout>
              </c:layout>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DBC-45F7-8ED3-9FCC1BA9A530}"/>
                </c:ext>
              </c:extLst>
            </c:dLbl>
            <c:dLbl>
              <c:idx val="3"/>
              <c:layout>
                <c:manualLayout>
                  <c:x val="3.5000000000000003E-2"/>
                  <c:y val="0"/>
                </c:manualLayout>
              </c:layout>
              <c:numFmt formatCode="&quot;MMM&quot;;&quot;MMM&quot;;&quot;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DBC-45F7-8ED3-9FCC1BA9A530}"/>
                </c:ext>
              </c:extLst>
            </c:dLbl>
            <c:dLbl>
              <c:idx val="4"/>
              <c:layout>
                <c:manualLayout>
                  <c:x val="3.5000000000000003E-2"/>
                  <c:y val="0"/>
                </c:manualLayout>
              </c:layout>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DBC-45F7-8ED3-9FCC1BA9A530}"/>
                </c:ext>
              </c:extLst>
            </c:dLbl>
            <c:dLbl>
              <c:idx val="5"/>
              <c:layout>
                <c:manualLayout>
                  <c:x val="3.5000000000000003E-2"/>
                  <c:y val="0"/>
                </c:manualLayout>
              </c:layout>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DBC-45F7-8ED3-9FCC1BA9A530}"/>
                </c:ext>
              </c:extLst>
            </c:dLbl>
            <c:dLbl>
              <c:idx val="6"/>
              <c:layout>
                <c:manualLayout>
                  <c:x val="3.5000000000000003E-2"/>
                  <c:y val="0"/>
                </c:manualLayout>
              </c:layout>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DBC-45F7-8ED3-9FCC1BA9A530}"/>
                </c:ext>
              </c:extLst>
            </c:dLbl>
            <c:dLbl>
              <c:idx val="7"/>
              <c:layout>
                <c:manualLayout>
                  <c:x val="3.5000000000000003E-2"/>
                  <c:y val="0"/>
                </c:manualLayout>
              </c:layout>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DBC-45F7-8ED3-9FCC1BA9A530}"/>
                </c:ext>
              </c:extLst>
            </c:dLbl>
            <c:dLbl>
              <c:idx val="8"/>
              <c:layout>
                <c:manualLayout>
                  <c:x val="3.5000000000000003E-2"/>
                  <c:y val="0"/>
                </c:manualLayout>
              </c:layout>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DBC-45F7-8ED3-9FCC1BA9A530}"/>
                </c:ext>
              </c:extLst>
            </c:dLbl>
            <c:dLbl>
              <c:idx val="9"/>
              <c:layout>
                <c:manualLayout>
                  <c:x val="3.5000000000000003E-2"/>
                  <c:y val="0"/>
                </c:manualLayout>
              </c:layout>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DBC-45F7-8ED3-9FCC1BA9A530}"/>
                </c:ext>
              </c:extLst>
            </c:dLbl>
            <c:dLbl>
              <c:idx val="10"/>
              <c:layout>
                <c:manualLayout>
                  <c:x val="3.5000000000000003E-2"/>
                  <c:y val="0"/>
                </c:manualLayout>
              </c:layout>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CDBC-45F7-8ED3-9FCC1BA9A53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Lit>
          </c:cat>
          <c:val>
            <c:numLit>
              <c:formatCode>General</c:formatCode>
              <c:ptCount val="11"/>
              <c:pt idx="0">
                <c:v>16.616982878130067</c:v>
              </c:pt>
              <c:pt idx="1">
                <c:v>15.838373751146182</c:v>
              </c:pt>
              <c:pt idx="2">
                <c:v>12.226323321243273</c:v>
              </c:pt>
              <c:pt idx="3">
                <c:v>7.9560187929511281</c:v>
              </c:pt>
              <c:pt idx="4">
                <c:v>5.814138033935409</c:v>
              </c:pt>
              <c:pt idx="5">
                <c:v>5.6187624351137169</c:v>
              </c:pt>
              <c:pt idx="6">
                <c:v>5.8512590381909524</c:v>
              </c:pt>
              <c:pt idx="7">
                <c:v>4.7673503513720474</c:v>
              </c:pt>
              <c:pt idx="8">
                <c:v>3.1905899020099833</c:v>
              </c:pt>
              <c:pt idx="9">
                <c:v>1.9266097914653117</c:v>
              </c:pt>
              <c:pt idx="10">
                <c:v>20.193591704441936</c:v>
              </c:pt>
            </c:numLit>
          </c:val>
          <c:extLst>
            <c:ext xmlns:c16="http://schemas.microsoft.com/office/drawing/2014/chart" uri="{C3380CC4-5D6E-409C-BE32-E72D297353CC}">
              <c16:uniqueId val="{00000016-CDBC-45F7-8ED3-9FCC1BA9A530}"/>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55BB-45E2-9D1C-A597D7AFBA7E}"/>
              </c:ext>
            </c:extLst>
          </c:dPt>
          <c:dPt>
            <c:idx val="1"/>
            <c:bubble3D val="0"/>
            <c:spPr>
              <a:solidFill>
                <a:srgbClr val="9E7E0A"/>
              </a:solidFill>
            </c:spPr>
            <c:extLst>
              <c:ext xmlns:c16="http://schemas.microsoft.com/office/drawing/2014/chart" uri="{C3380CC4-5D6E-409C-BE32-E72D297353CC}">
                <c16:uniqueId val="{00000003-55BB-45E2-9D1C-A597D7AFBA7E}"/>
              </c:ext>
            </c:extLst>
          </c:dPt>
          <c:dPt>
            <c:idx val="2"/>
            <c:bubble3D val="0"/>
            <c:spPr>
              <a:solidFill>
                <a:srgbClr val="008189"/>
              </a:solidFill>
            </c:spPr>
            <c:extLst>
              <c:ext xmlns:c16="http://schemas.microsoft.com/office/drawing/2014/chart" uri="{C3380CC4-5D6E-409C-BE32-E72D297353CC}">
                <c16:uniqueId val="{00000005-55BB-45E2-9D1C-A597D7AFBA7E}"/>
              </c:ext>
            </c:extLst>
          </c:dPt>
          <c:dPt>
            <c:idx val="3"/>
            <c:bubble3D val="0"/>
            <c:spPr>
              <a:solidFill>
                <a:srgbClr val="40315E"/>
              </a:solidFill>
            </c:spPr>
            <c:extLst>
              <c:ext xmlns:c16="http://schemas.microsoft.com/office/drawing/2014/chart" uri="{C3380CC4-5D6E-409C-BE32-E72D297353CC}">
                <c16:uniqueId val="{00000007-55BB-45E2-9D1C-A597D7AFBA7E}"/>
              </c:ext>
            </c:extLst>
          </c:dPt>
          <c:dPt>
            <c:idx val="4"/>
            <c:bubble3D val="0"/>
            <c:spPr>
              <a:solidFill>
                <a:srgbClr val="A35313"/>
              </a:solidFill>
            </c:spPr>
            <c:extLst>
              <c:ext xmlns:c16="http://schemas.microsoft.com/office/drawing/2014/chart" uri="{C3380CC4-5D6E-409C-BE32-E72D297353CC}">
                <c16:uniqueId val="{00000009-55BB-45E2-9D1C-A597D7AFBA7E}"/>
              </c:ext>
            </c:extLst>
          </c:dPt>
          <c:dPt>
            <c:idx val="5"/>
            <c:bubble3D val="0"/>
            <c:spPr>
              <a:solidFill>
                <a:srgbClr val="808080"/>
              </a:solidFill>
            </c:spPr>
            <c:extLst>
              <c:ext xmlns:c16="http://schemas.microsoft.com/office/drawing/2014/chart" uri="{C3380CC4-5D6E-409C-BE32-E72D297353CC}">
                <c16:uniqueId val="{0000000B-55BB-45E2-9D1C-A597D7AFBA7E}"/>
              </c:ext>
            </c:extLst>
          </c:dPt>
          <c:dPt>
            <c:idx val="6"/>
            <c:bubble3D val="0"/>
            <c:spPr>
              <a:solidFill>
                <a:srgbClr val="0E72AE"/>
              </a:solidFill>
            </c:spPr>
            <c:extLst>
              <c:ext xmlns:c16="http://schemas.microsoft.com/office/drawing/2014/chart" uri="{C3380CC4-5D6E-409C-BE32-E72D297353CC}">
                <c16:uniqueId val="{0000000D-55BB-45E2-9D1C-A597D7AFBA7E}"/>
              </c:ext>
            </c:extLst>
          </c:dPt>
          <c:dPt>
            <c:idx val="7"/>
            <c:bubble3D val="0"/>
            <c:spPr>
              <a:solidFill>
                <a:srgbClr val="A86F00"/>
              </a:solidFill>
            </c:spPr>
            <c:extLst>
              <c:ext xmlns:c16="http://schemas.microsoft.com/office/drawing/2014/chart" uri="{C3380CC4-5D6E-409C-BE32-E72D297353CC}">
                <c16:uniqueId val="{0000000F-55BB-45E2-9D1C-A597D7AFBA7E}"/>
              </c:ext>
            </c:extLst>
          </c:dPt>
          <c:dPt>
            <c:idx val="8"/>
            <c:bubble3D val="0"/>
            <c:spPr>
              <a:solidFill>
                <a:srgbClr val="0B2E4A"/>
              </a:solidFill>
            </c:spPr>
            <c:extLst>
              <c:ext xmlns:c16="http://schemas.microsoft.com/office/drawing/2014/chart" uri="{C3380CC4-5D6E-409C-BE32-E72D297353CC}">
                <c16:uniqueId val="{00000011-55BB-45E2-9D1C-A597D7AFBA7E}"/>
              </c:ext>
            </c:extLst>
          </c:dPt>
          <c:dPt>
            <c:idx val="9"/>
            <c:bubble3D val="0"/>
            <c:spPr>
              <a:solidFill>
                <a:srgbClr val="6C7A89"/>
              </a:solidFill>
            </c:spPr>
            <c:extLst>
              <c:ext xmlns:c16="http://schemas.microsoft.com/office/drawing/2014/chart" uri="{C3380CC4-5D6E-409C-BE32-E72D297353CC}">
                <c16:uniqueId val="{00000013-55BB-45E2-9D1C-A597D7AFBA7E}"/>
              </c:ext>
            </c:extLst>
          </c:dPt>
          <c:dPt>
            <c:idx val="10"/>
            <c:bubble3D val="0"/>
            <c:spPr>
              <a:solidFill>
                <a:srgbClr val="B9B3AC"/>
              </a:solidFill>
            </c:spPr>
            <c:extLst>
              <c:ext xmlns:c16="http://schemas.microsoft.com/office/drawing/2014/chart" uri="{C3380CC4-5D6E-409C-BE32-E72D297353CC}">
                <c16:uniqueId val="{00000015-55BB-45E2-9D1C-A597D7AFBA7E}"/>
              </c:ext>
            </c:extLst>
          </c:dPt>
          <c:dLbls>
            <c:dLbl>
              <c:idx val="0"/>
              <c:layout>
                <c:manualLayout>
                  <c:x val="3.5000000000000003E-2"/>
                  <c:y val="0"/>
                </c:manualLayout>
              </c:layout>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5BB-45E2-9D1C-A597D7AFBA7E}"/>
                </c:ext>
              </c:extLst>
            </c:dLbl>
            <c:dLbl>
              <c:idx val="1"/>
              <c:layout>
                <c:manualLayout>
                  <c:x val="3.5000000000000003E-2"/>
                  <c:y val="0"/>
                </c:manualLayout>
              </c:layout>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5BB-45E2-9D1C-A597D7AFBA7E}"/>
                </c:ext>
              </c:extLst>
            </c:dLbl>
            <c:dLbl>
              <c:idx val="2"/>
              <c:layout>
                <c:manualLayout>
                  <c:x val="3.5000000000000003E-2"/>
                  <c:y val="0"/>
                </c:manualLayout>
              </c:layout>
              <c:numFmt formatCode="&quot;MMM&quot;;&quot;MMM&quot;;&quot;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5BB-45E2-9D1C-A597D7AFBA7E}"/>
                </c:ext>
              </c:extLst>
            </c:dLbl>
            <c:dLbl>
              <c:idx val="3"/>
              <c:layout>
                <c:manualLayout>
                  <c:x val="3.5000000000000003E-2"/>
                  <c:y val="0"/>
                </c:manualLayout>
              </c:layout>
              <c:numFmt formatCode="&quot;MMM&quot;;&quot;MMM&quot;;&quot;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5BB-45E2-9D1C-A597D7AFBA7E}"/>
                </c:ext>
              </c:extLst>
            </c:dLbl>
            <c:dLbl>
              <c:idx val="4"/>
              <c:layout>
                <c:manualLayout>
                  <c:x val="3.5000000000000003E-2"/>
                  <c:y val="0"/>
                </c:manualLayout>
              </c:layout>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5BB-45E2-9D1C-A597D7AFBA7E}"/>
                </c:ext>
              </c:extLst>
            </c:dLbl>
            <c:dLbl>
              <c:idx val="5"/>
              <c:layout>
                <c:manualLayout>
                  <c:x val="3.5000000000000003E-2"/>
                  <c:y val="0"/>
                </c:manualLayout>
              </c:layout>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5BB-45E2-9D1C-A597D7AFBA7E}"/>
                </c:ext>
              </c:extLst>
            </c:dLbl>
            <c:dLbl>
              <c:idx val="6"/>
              <c:layout>
                <c:manualLayout>
                  <c:x val="3.5000000000000003E-2"/>
                  <c:y val="0"/>
                </c:manualLayout>
              </c:layout>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5BB-45E2-9D1C-A597D7AFBA7E}"/>
                </c:ext>
              </c:extLst>
            </c:dLbl>
            <c:dLbl>
              <c:idx val="7"/>
              <c:layout>
                <c:manualLayout>
                  <c:x val="3.5000000000000003E-2"/>
                  <c:y val="0"/>
                </c:manualLayout>
              </c:layout>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55BB-45E2-9D1C-A597D7AFBA7E}"/>
                </c:ext>
              </c:extLst>
            </c:dLbl>
            <c:dLbl>
              <c:idx val="8"/>
              <c:layout>
                <c:manualLayout>
                  <c:x val="3.5000000000000003E-2"/>
                  <c:y val="0"/>
                </c:manualLayout>
              </c:layout>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55BB-45E2-9D1C-A597D7AFBA7E}"/>
                </c:ext>
              </c:extLst>
            </c:dLbl>
            <c:dLbl>
              <c:idx val="9"/>
              <c:layout>
                <c:manualLayout>
                  <c:x val="3.5000000000000003E-2"/>
                  <c:y val="0"/>
                </c:manualLayout>
              </c:layout>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55BB-45E2-9D1C-A597D7AFBA7E}"/>
                </c:ext>
              </c:extLst>
            </c:dLbl>
            <c:dLbl>
              <c:idx val="10"/>
              <c:layout>
                <c:manualLayout>
                  <c:x val="3.5000000000000003E-2"/>
                  <c:y val="0"/>
                </c:manualLayout>
              </c:layout>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55BB-45E2-9D1C-A597D7AFBA7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Lit>
          </c:cat>
          <c:val>
            <c:numLit>
              <c:formatCode>General</c:formatCode>
              <c:ptCount val="11"/>
              <c:pt idx="0">
                <c:v>17.074931814674855</c:v>
              </c:pt>
              <c:pt idx="1">
                <c:v>12.550885260107192</c:v>
              </c:pt>
              <c:pt idx="2">
                <c:v>8.3800435626977183</c:v>
              </c:pt>
              <c:pt idx="3">
                <c:v>7.4449520148603341</c:v>
              </c:pt>
              <c:pt idx="4">
                <c:v>8.0466070830549192</c:v>
              </c:pt>
              <c:pt idx="5">
                <c:v>6.9192142292565153</c:v>
              </c:pt>
              <c:pt idx="6">
                <c:v>4.6910711746823317</c:v>
              </c:pt>
              <c:pt idx="7">
                <c:v>2.8651087985998398</c:v>
              </c:pt>
              <c:pt idx="8">
                <c:v>2.5603699333355889</c:v>
              </c:pt>
              <c:pt idx="9">
                <c:v>2.6169804142295043</c:v>
              </c:pt>
              <c:pt idx="10">
                <c:v>26.849835714501204</c:v>
              </c:pt>
            </c:numLit>
          </c:val>
          <c:extLst>
            <c:ext xmlns:c16="http://schemas.microsoft.com/office/drawing/2014/chart" uri="{C3380CC4-5D6E-409C-BE32-E72D297353CC}">
              <c16:uniqueId val="{00000016-55BB-45E2-9D1C-A597D7AFBA7E}"/>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41D7-483F-B521-BDF427A93CB9}"/>
              </c:ext>
            </c:extLst>
          </c:dPt>
          <c:dPt>
            <c:idx val="1"/>
            <c:bubble3D val="0"/>
            <c:spPr>
              <a:solidFill>
                <a:srgbClr val="9E7E0A"/>
              </a:solidFill>
            </c:spPr>
            <c:extLst>
              <c:ext xmlns:c16="http://schemas.microsoft.com/office/drawing/2014/chart" uri="{C3380CC4-5D6E-409C-BE32-E72D297353CC}">
                <c16:uniqueId val="{00000003-41D7-483F-B521-BDF427A93CB9}"/>
              </c:ext>
            </c:extLst>
          </c:dPt>
          <c:dPt>
            <c:idx val="2"/>
            <c:bubble3D val="0"/>
            <c:spPr>
              <a:solidFill>
                <a:srgbClr val="008189"/>
              </a:solidFill>
            </c:spPr>
            <c:extLst>
              <c:ext xmlns:c16="http://schemas.microsoft.com/office/drawing/2014/chart" uri="{C3380CC4-5D6E-409C-BE32-E72D297353CC}">
                <c16:uniqueId val="{00000005-41D7-483F-B521-BDF427A93CB9}"/>
              </c:ext>
            </c:extLst>
          </c:dPt>
          <c:dPt>
            <c:idx val="3"/>
            <c:bubble3D val="0"/>
            <c:spPr>
              <a:solidFill>
                <a:srgbClr val="40315E"/>
              </a:solidFill>
            </c:spPr>
            <c:extLst>
              <c:ext xmlns:c16="http://schemas.microsoft.com/office/drawing/2014/chart" uri="{C3380CC4-5D6E-409C-BE32-E72D297353CC}">
                <c16:uniqueId val="{00000007-41D7-483F-B521-BDF427A93CB9}"/>
              </c:ext>
            </c:extLst>
          </c:dPt>
          <c:dPt>
            <c:idx val="4"/>
            <c:bubble3D val="0"/>
            <c:spPr>
              <a:solidFill>
                <a:srgbClr val="A35313"/>
              </a:solidFill>
            </c:spPr>
            <c:extLst>
              <c:ext xmlns:c16="http://schemas.microsoft.com/office/drawing/2014/chart" uri="{C3380CC4-5D6E-409C-BE32-E72D297353CC}">
                <c16:uniqueId val="{00000009-41D7-483F-B521-BDF427A93CB9}"/>
              </c:ext>
            </c:extLst>
          </c:dPt>
          <c:dPt>
            <c:idx val="5"/>
            <c:bubble3D val="0"/>
            <c:spPr>
              <a:solidFill>
                <a:srgbClr val="808080"/>
              </a:solidFill>
            </c:spPr>
            <c:extLst>
              <c:ext xmlns:c16="http://schemas.microsoft.com/office/drawing/2014/chart" uri="{C3380CC4-5D6E-409C-BE32-E72D297353CC}">
                <c16:uniqueId val="{0000000B-41D7-483F-B521-BDF427A93CB9}"/>
              </c:ext>
            </c:extLst>
          </c:dPt>
          <c:dPt>
            <c:idx val="6"/>
            <c:bubble3D val="0"/>
            <c:spPr>
              <a:solidFill>
                <a:srgbClr val="0E72AE"/>
              </a:solidFill>
            </c:spPr>
            <c:extLst>
              <c:ext xmlns:c16="http://schemas.microsoft.com/office/drawing/2014/chart" uri="{C3380CC4-5D6E-409C-BE32-E72D297353CC}">
                <c16:uniqueId val="{0000000D-41D7-483F-B521-BDF427A93CB9}"/>
              </c:ext>
            </c:extLst>
          </c:dPt>
          <c:dPt>
            <c:idx val="7"/>
            <c:bubble3D val="0"/>
            <c:spPr>
              <a:solidFill>
                <a:srgbClr val="A86F00"/>
              </a:solidFill>
            </c:spPr>
            <c:extLst>
              <c:ext xmlns:c16="http://schemas.microsoft.com/office/drawing/2014/chart" uri="{C3380CC4-5D6E-409C-BE32-E72D297353CC}">
                <c16:uniqueId val="{0000000F-41D7-483F-B521-BDF427A93CB9}"/>
              </c:ext>
            </c:extLst>
          </c:dPt>
          <c:dPt>
            <c:idx val="8"/>
            <c:bubble3D val="0"/>
            <c:spPr>
              <a:solidFill>
                <a:srgbClr val="0B2E4A"/>
              </a:solidFill>
            </c:spPr>
            <c:extLst>
              <c:ext xmlns:c16="http://schemas.microsoft.com/office/drawing/2014/chart" uri="{C3380CC4-5D6E-409C-BE32-E72D297353CC}">
                <c16:uniqueId val="{00000011-41D7-483F-B521-BDF427A93CB9}"/>
              </c:ext>
            </c:extLst>
          </c:dPt>
          <c:dPt>
            <c:idx val="9"/>
            <c:bubble3D val="0"/>
            <c:spPr>
              <a:solidFill>
                <a:srgbClr val="6C7A89"/>
              </a:solidFill>
            </c:spPr>
            <c:extLst>
              <c:ext xmlns:c16="http://schemas.microsoft.com/office/drawing/2014/chart" uri="{C3380CC4-5D6E-409C-BE32-E72D297353CC}">
                <c16:uniqueId val="{00000013-41D7-483F-B521-BDF427A93CB9}"/>
              </c:ext>
            </c:extLst>
          </c:dPt>
          <c:dPt>
            <c:idx val="10"/>
            <c:bubble3D val="0"/>
            <c:spPr>
              <a:solidFill>
                <a:srgbClr val="B9B3AC"/>
              </a:solidFill>
            </c:spPr>
            <c:extLst>
              <c:ext xmlns:c16="http://schemas.microsoft.com/office/drawing/2014/chart" uri="{C3380CC4-5D6E-409C-BE32-E72D297353CC}">
                <c16:uniqueId val="{00000015-41D7-483F-B521-BDF427A93CB9}"/>
              </c:ext>
            </c:extLst>
          </c:dPt>
          <c:dLbls>
            <c:dLbl>
              <c:idx val="0"/>
              <c:layout>
                <c:manualLayout>
                  <c:x val="3.5000000000000003E-2"/>
                  <c:y val="0"/>
                </c:manualLayout>
              </c:layout>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1D7-483F-B521-BDF427A93CB9}"/>
                </c:ext>
              </c:extLst>
            </c:dLbl>
            <c:dLbl>
              <c:idx val="1"/>
              <c:layout>
                <c:manualLayout>
                  <c:x val="3.5000000000000003E-2"/>
                  <c:y val="0"/>
                </c:manualLayout>
              </c:layout>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1D7-483F-B521-BDF427A93CB9}"/>
                </c:ext>
              </c:extLst>
            </c:dLbl>
            <c:dLbl>
              <c:idx val="2"/>
              <c:layout>
                <c:manualLayout>
                  <c:x val="3.5000000000000003E-2"/>
                  <c:y val="0"/>
                </c:manualLayout>
              </c:layout>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1D7-483F-B521-BDF427A93CB9}"/>
                </c:ext>
              </c:extLst>
            </c:dLbl>
            <c:dLbl>
              <c:idx val="3"/>
              <c:layout>
                <c:manualLayout>
                  <c:x val="3.5000000000000003E-2"/>
                  <c:y val="0"/>
                </c:manualLayout>
              </c:layout>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1D7-483F-B521-BDF427A93CB9}"/>
                </c:ext>
              </c:extLst>
            </c:dLbl>
            <c:dLbl>
              <c:idx val="4"/>
              <c:layout>
                <c:manualLayout>
                  <c:x val="3.5000000000000003E-2"/>
                  <c:y val="0"/>
                </c:manualLayout>
              </c:layout>
              <c:numFmt formatCode="&quot;MMM&quot;;&quot;MMM&quot;;&quot;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1D7-483F-B521-BDF427A93CB9}"/>
                </c:ext>
              </c:extLst>
            </c:dLbl>
            <c:dLbl>
              <c:idx val="5"/>
              <c:layout>
                <c:manualLayout>
                  <c:x val="3.5000000000000003E-2"/>
                  <c:y val="0"/>
                </c:manualLayout>
              </c:layout>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1D7-483F-B521-BDF427A93CB9}"/>
                </c:ext>
              </c:extLst>
            </c:dLbl>
            <c:dLbl>
              <c:idx val="6"/>
              <c:layout>
                <c:manualLayout>
                  <c:x val="3.5000000000000003E-2"/>
                  <c:y val="0"/>
                </c:manualLayout>
              </c:layout>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1D7-483F-B521-BDF427A93CB9}"/>
                </c:ext>
              </c:extLst>
            </c:dLbl>
            <c:dLbl>
              <c:idx val="7"/>
              <c:layout>
                <c:manualLayout>
                  <c:x val="3.5000000000000003E-2"/>
                  <c:y val="0"/>
                </c:manualLayout>
              </c:layout>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1D7-483F-B521-BDF427A93CB9}"/>
                </c:ext>
              </c:extLst>
            </c:dLbl>
            <c:dLbl>
              <c:idx val="8"/>
              <c:layout>
                <c:manualLayout>
                  <c:x val="3.5000000000000003E-2"/>
                  <c:y val="0"/>
                </c:manualLayout>
              </c:layout>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1D7-483F-B521-BDF427A93CB9}"/>
                </c:ext>
              </c:extLst>
            </c:dLbl>
            <c:dLbl>
              <c:idx val="9"/>
              <c:layout>
                <c:manualLayout>
                  <c:x val="3.5000000000000003E-2"/>
                  <c:y val="0"/>
                </c:manualLayout>
              </c:layout>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1D7-483F-B521-BDF427A93CB9}"/>
                </c:ext>
              </c:extLst>
            </c:dLbl>
            <c:dLbl>
              <c:idx val="10"/>
              <c:layout>
                <c:manualLayout>
                  <c:x val="3.5000000000000003E-2"/>
                  <c:y val="0"/>
                </c:manualLayout>
              </c:layout>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41D7-483F-B521-BDF427A93CB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Lit>
          </c:cat>
          <c:val>
            <c:numLit>
              <c:formatCode>General</c:formatCode>
              <c:ptCount val="11"/>
              <c:pt idx="0">
                <c:v>15.570454803610694</c:v>
              </c:pt>
              <c:pt idx="1">
                <c:v>10.546713911504883</c:v>
              </c:pt>
              <c:pt idx="2">
                <c:v>10.489494550876001</c:v>
              </c:pt>
              <c:pt idx="3">
                <c:v>11.523850319189417</c:v>
              </c:pt>
              <c:pt idx="4">
                <c:v>9.7162745270376938</c:v>
              </c:pt>
              <c:pt idx="5">
                <c:v>6.0418478249623186</c:v>
              </c:pt>
              <c:pt idx="6">
                <c:v>4.100995695833606</c:v>
              </c:pt>
              <c:pt idx="7">
                <c:v>3.8524851858046234</c:v>
              </c:pt>
              <c:pt idx="8">
                <c:v>3.8897938119963751</c:v>
              </c:pt>
              <c:pt idx="9">
                <c:v>2.9792010725276863</c:v>
              </c:pt>
              <c:pt idx="10">
                <c:v>21.288888296656708</c:v>
              </c:pt>
            </c:numLit>
          </c:val>
          <c:extLst>
            <c:ext xmlns:c16="http://schemas.microsoft.com/office/drawing/2014/chart" uri="{C3380CC4-5D6E-409C-BE32-E72D297353CC}">
              <c16:uniqueId val="{00000016-41D7-483F-B521-BDF427A93CB9}"/>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7B81-428B-BA02-850C07906495}"/>
              </c:ext>
            </c:extLst>
          </c:dPt>
          <c:dPt>
            <c:idx val="1"/>
            <c:bubble3D val="0"/>
            <c:spPr>
              <a:solidFill>
                <a:srgbClr val="9E7E0A"/>
              </a:solidFill>
            </c:spPr>
            <c:extLst>
              <c:ext xmlns:c16="http://schemas.microsoft.com/office/drawing/2014/chart" uri="{C3380CC4-5D6E-409C-BE32-E72D297353CC}">
                <c16:uniqueId val="{00000003-7B81-428B-BA02-850C07906495}"/>
              </c:ext>
            </c:extLst>
          </c:dPt>
          <c:dPt>
            <c:idx val="2"/>
            <c:bubble3D val="0"/>
            <c:spPr>
              <a:solidFill>
                <a:srgbClr val="008189"/>
              </a:solidFill>
            </c:spPr>
            <c:extLst>
              <c:ext xmlns:c16="http://schemas.microsoft.com/office/drawing/2014/chart" uri="{C3380CC4-5D6E-409C-BE32-E72D297353CC}">
                <c16:uniqueId val="{00000005-7B81-428B-BA02-850C07906495}"/>
              </c:ext>
            </c:extLst>
          </c:dPt>
          <c:dPt>
            <c:idx val="3"/>
            <c:bubble3D val="0"/>
            <c:spPr>
              <a:solidFill>
                <a:srgbClr val="40315E"/>
              </a:solidFill>
            </c:spPr>
            <c:extLst>
              <c:ext xmlns:c16="http://schemas.microsoft.com/office/drawing/2014/chart" uri="{C3380CC4-5D6E-409C-BE32-E72D297353CC}">
                <c16:uniqueId val="{00000007-7B81-428B-BA02-850C07906495}"/>
              </c:ext>
            </c:extLst>
          </c:dPt>
          <c:dPt>
            <c:idx val="4"/>
            <c:bubble3D val="0"/>
            <c:spPr>
              <a:solidFill>
                <a:srgbClr val="A35313"/>
              </a:solidFill>
            </c:spPr>
            <c:extLst>
              <c:ext xmlns:c16="http://schemas.microsoft.com/office/drawing/2014/chart" uri="{C3380CC4-5D6E-409C-BE32-E72D297353CC}">
                <c16:uniqueId val="{00000009-7B81-428B-BA02-850C07906495}"/>
              </c:ext>
            </c:extLst>
          </c:dPt>
          <c:dPt>
            <c:idx val="5"/>
            <c:bubble3D val="0"/>
            <c:spPr>
              <a:solidFill>
                <a:srgbClr val="808080"/>
              </a:solidFill>
            </c:spPr>
            <c:extLst>
              <c:ext xmlns:c16="http://schemas.microsoft.com/office/drawing/2014/chart" uri="{C3380CC4-5D6E-409C-BE32-E72D297353CC}">
                <c16:uniqueId val="{0000000B-7B81-428B-BA02-850C07906495}"/>
              </c:ext>
            </c:extLst>
          </c:dPt>
          <c:dPt>
            <c:idx val="6"/>
            <c:bubble3D val="0"/>
            <c:spPr>
              <a:solidFill>
                <a:srgbClr val="0E72AE"/>
              </a:solidFill>
            </c:spPr>
            <c:extLst>
              <c:ext xmlns:c16="http://schemas.microsoft.com/office/drawing/2014/chart" uri="{C3380CC4-5D6E-409C-BE32-E72D297353CC}">
                <c16:uniqueId val="{0000000D-7B81-428B-BA02-850C07906495}"/>
              </c:ext>
            </c:extLst>
          </c:dPt>
          <c:dPt>
            <c:idx val="7"/>
            <c:bubble3D val="0"/>
            <c:spPr>
              <a:solidFill>
                <a:srgbClr val="A86F00"/>
              </a:solidFill>
            </c:spPr>
            <c:extLst>
              <c:ext xmlns:c16="http://schemas.microsoft.com/office/drawing/2014/chart" uri="{C3380CC4-5D6E-409C-BE32-E72D297353CC}">
                <c16:uniqueId val="{0000000F-7B81-428B-BA02-850C07906495}"/>
              </c:ext>
            </c:extLst>
          </c:dPt>
          <c:dPt>
            <c:idx val="8"/>
            <c:bubble3D val="0"/>
            <c:spPr>
              <a:solidFill>
                <a:srgbClr val="0B2E4A"/>
              </a:solidFill>
            </c:spPr>
            <c:extLst>
              <c:ext xmlns:c16="http://schemas.microsoft.com/office/drawing/2014/chart" uri="{C3380CC4-5D6E-409C-BE32-E72D297353CC}">
                <c16:uniqueId val="{00000011-7B81-428B-BA02-850C07906495}"/>
              </c:ext>
            </c:extLst>
          </c:dPt>
          <c:dPt>
            <c:idx val="9"/>
            <c:bubble3D val="0"/>
            <c:spPr>
              <a:solidFill>
                <a:srgbClr val="6C7A89"/>
              </a:solidFill>
            </c:spPr>
            <c:extLst>
              <c:ext xmlns:c16="http://schemas.microsoft.com/office/drawing/2014/chart" uri="{C3380CC4-5D6E-409C-BE32-E72D297353CC}">
                <c16:uniqueId val="{00000013-7B81-428B-BA02-850C07906495}"/>
              </c:ext>
            </c:extLst>
          </c:dPt>
          <c:dPt>
            <c:idx val="10"/>
            <c:bubble3D val="0"/>
            <c:spPr>
              <a:solidFill>
                <a:srgbClr val="B9B3AC"/>
              </a:solidFill>
            </c:spPr>
            <c:extLst>
              <c:ext xmlns:c16="http://schemas.microsoft.com/office/drawing/2014/chart" uri="{C3380CC4-5D6E-409C-BE32-E72D297353CC}">
                <c16:uniqueId val="{00000015-7B81-428B-BA02-850C07906495}"/>
              </c:ext>
            </c:extLst>
          </c:dPt>
          <c:dLbls>
            <c:dLbl>
              <c:idx val="0"/>
              <c:layout>
                <c:manualLayout>
                  <c:x val="3.5000000000000003E-2"/>
                  <c:y val="0"/>
                </c:manualLayout>
              </c:layout>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B81-428B-BA02-850C07906495}"/>
                </c:ext>
              </c:extLst>
            </c:dLbl>
            <c:dLbl>
              <c:idx val="1"/>
              <c:layout>
                <c:manualLayout>
                  <c:x val="3.5000000000000003E-2"/>
                  <c:y val="0"/>
                </c:manualLayout>
              </c:layout>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B81-428B-BA02-850C07906495}"/>
                </c:ext>
              </c:extLst>
            </c:dLbl>
            <c:dLbl>
              <c:idx val="2"/>
              <c:layout>
                <c:manualLayout>
                  <c:x val="3.5000000000000003E-2"/>
                  <c:y val="0"/>
                </c:manualLayout>
              </c:layout>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B81-428B-BA02-850C07906495}"/>
                </c:ext>
              </c:extLst>
            </c:dLbl>
            <c:dLbl>
              <c:idx val="3"/>
              <c:layout>
                <c:manualLayout>
                  <c:x val="3.5000000000000003E-2"/>
                  <c:y val="0"/>
                </c:manualLayout>
              </c:layout>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B81-428B-BA02-850C07906495}"/>
                </c:ext>
              </c:extLst>
            </c:dLbl>
            <c:dLbl>
              <c:idx val="4"/>
              <c:layout>
                <c:manualLayout>
                  <c:x val="3.5000000000000003E-2"/>
                  <c:y val="0"/>
                </c:manualLayout>
              </c:layout>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B81-428B-BA02-850C07906495}"/>
                </c:ext>
              </c:extLst>
            </c:dLbl>
            <c:dLbl>
              <c:idx val="5"/>
              <c:layout>
                <c:manualLayout>
                  <c:x val="3.5000000000000003E-2"/>
                  <c:y val="0"/>
                </c:manualLayout>
              </c:layout>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B81-428B-BA02-850C07906495}"/>
                </c:ext>
              </c:extLst>
            </c:dLbl>
            <c:dLbl>
              <c:idx val="6"/>
              <c:layout>
                <c:manualLayout>
                  <c:x val="3.5000000000000003E-2"/>
                  <c:y val="0"/>
                </c:manualLayout>
              </c:layout>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B81-428B-BA02-850C07906495}"/>
                </c:ext>
              </c:extLst>
            </c:dLbl>
            <c:dLbl>
              <c:idx val="7"/>
              <c:layout>
                <c:manualLayout>
                  <c:x val="3.5000000000000003E-2"/>
                  <c:y val="0"/>
                </c:manualLayout>
              </c:layout>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B81-428B-BA02-850C07906495}"/>
                </c:ext>
              </c:extLst>
            </c:dLbl>
            <c:dLbl>
              <c:idx val="8"/>
              <c:layout>
                <c:manualLayout>
                  <c:x val="3.5000000000000003E-2"/>
                  <c:y val="0"/>
                </c:manualLayout>
              </c:layout>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B81-428B-BA02-850C07906495}"/>
                </c:ext>
              </c:extLst>
            </c:dLbl>
            <c:dLbl>
              <c:idx val="9"/>
              <c:layout>
                <c:manualLayout>
                  <c:x val="3.5000000000000003E-2"/>
                  <c:y val="0"/>
                </c:manualLayout>
              </c:layout>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B81-428B-BA02-850C07906495}"/>
                </c:ext>
              </c:extLst>
            </c:dLbl>
            <c:dLbl>
              <c:idx val="10"/>
              <c:layout>
                <c:manualLayout>
                  <c:x val="3.5000000000000003E-2"/>
                  <c:y val="0"/>
                </c:manualLayout>
              </c:layout>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B81-428B-BA02-850C0790649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Lit>
          </c:cat>
          <c:val>
            <c:numLit>
              <c:formatCode>General</c:formatCode>
              <c:ptCount val="11"/>
              <c:pt idx="0">
                <c:v>11.931858870012501</c:v>
              </c:pt>
              <c:pt idx="1">
                <c:v>12.495250983383206</c:v>
              </c:pt>
              <c:pt idx="2">
                <c:v>13.557011133261542</c:v>
              </c:pt>
              <c:pt idx="3">
                <c:v>11.024479649083794</c:v>
              </c:pt>
              <c:pt idx="4">
                <c:v>6.9750367204591708</c:v>
              </c:pt>
              <c:pt idx="5">
                <c:v>4.9188502111278041</c:v>
              </c:pt>
              <c:pt idx="6">
                <c:v>5.1312524069432781</c:v>
              </c:pt>
              <c:pt idx="7">
                <c:v>4.8088392584615409</c:v>
              </c:pt>
              <c:pt idx="8">
                <c:v>3.5084788144252483</c:v>
              </c:pt>
              <c:pt idx="9">
                <c:v>2.1002460595454111</c:v>
              </c:pt>
              <c:pt idx="10">
                <c:v>23.5486958932965</c:v>
              </c:pt>
            </c:numLit>
          </c:val>
          <c:extLst>
            <c:ext xmlns:c16="http://schemas.microsoft.com/office/drawing/2014/chart" uri="{C3380CC4-5D6E-409C-BE32-E72D297353CC}">
              <c16:uniqueId val="{00000016-7B81-428B-BA02-850C07906495}"/>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S1</c:v>
          </c:tx>
          <c:spPr>
            <a:solidFill>
              <a:srgbClr val="1668A8"/>
            </a:solidFill>
            <a:ln>
              <a:noFill/>
            </a:ln>
          </c:spPr>
          <c:invertIfNegative val="1"/>
          <c:dLbls>
            <c:dLbl>
              <c:idx val="0"/>
              <c:numFmt formatCode="&quot;MMMMM&quot;;&quot;MMMMM&quot;;&quot;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71F-4A93-A912-C1565D2CEFDD}"/>
                </c:ext>
              </c:extLst>
            </c:dLbl>
            <c:dLbl>
              <c:idx val="1"/>
              <c:numFmt formatCode="&quot;MMMMM&quot;;&quot;MMMMM&quot;;&quot;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1F-4A93-A912-C1565D2CEFDD}"/>
                </c:ext>
              </c:extLst>
            </c:dLbl>
            <c:dLbl>
              <c:idx val="2"/>
              <c:numFmt formatCode="&quot;MMMMM&quot;;&quot;MMMMM&quot;;&quot;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71F-4A93-A912-C1565D2CEFDD}"/>
                </c:ext>
              </c:extLst>
            </c:dLbl>
            <c:dLbl>
              <c:idx val="3"/>
              <c:numFmt formatCode="&quot;MMMMMMM&quot;;&quot;MMMMMMM&quot;;&quot;MM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1F-4A93-A912-C1565D2CEFDD}"/>
                </c:ext>
              </c:extLst>
            </c:dLbl>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763.52763168777824</c:v>
              </c:pt>
              <c:pt idx="1">
                <c:v>424.77748190335774</c:v>
              </c:pt>
              <c:pt idx="2">
                <c:v>534.67392750544525</c:v>
              </c:pt>
              <c:pt idx="3">
                <c:v>1010.0495294174108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771F-4A93-A912-C1565D2CEFDD}"/>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1333.2653788309824"/>
          <c:min val="0"/>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S1</c:v>
          </c:tx>
          <c:spPr>
            <a:solidFill>
              <a:srgbClr val="0E3A5F"/>
            </a:solidFill>
            <a:ln>
              <a:noFill/>
            </a:ln>
          </c:spPr>
          <c:invertIfNegative val="1"/>
          <c:dLbls>
            <c:dLbl>
              <c:idx val="0"/>
              <c:numFmt formatCode="&quot;MMMMM&quot;;&quot;MMMMM&quot;;&quot;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F5D-4AA9-A08A-1610B05C5A4F}"/>
                </c:ext>
              </c:extLst>
            </c:dLbl>
            <c:dLbl>
              <c:idx val="1"/>
              <c:numFmt formatCode="&quot;MMMMM&quot;;&quot;MMMMM&quot;;&quot;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F5D-4AA9-A08A-1610B05C5A4F}"/>
                </c:ext>
              </c:extLst>
            </c:dLbl>
            <c:dLbl>
              <c:idx val="2"/>
              <c:numFmt formatCode="&quot;MMMMM&quot;;&quot;MMMMM&quot;;&quot;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F5D-4AA9-A08A-1610B05C5A4F}"/>
                </c:ext>
              </c:extLst>
            </c:dLbl>
            <c:dLbl>
              <c:idx val="3"/>
              <c:numFmt formatCode="&quot;MMMMM&quot;;&quot;MMMMM&quot;;&quot;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F5D-4AA9-A08A-1610B05C5A4F}"/>
                </c:ext>
              </c:extLst>
            </c:dLbl>
            <c:dLbl>
              <c:idx val="4"/>
              <c:numFmt formatCode="&quot;MMMMM&quot;;&quot;MMMMM&quot;;&quot;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F5D-4AA9-A08A-1610B05C5A4F}"/>
                </c:ext>
              </c:extLst>
            </c:dLbl>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North America</c:v>
              </c:pt>
              <c:pt idx="1">
                <c:v>Europe</c:v>
              </c:pt>
              <c:pt idx="2">
                <c:v>South Asia &amp; Pacific</c:v>
              </c:pt>
              <c:pt idx="3">
                <c:v>East Asia</c:v>
              </c:pt>
              <c:pt idx="4">
                <c:v>Rest of the World</c:v>
              </c:pt>
            </c:strLit>
          </c:cat>
          <c:val>
            <c:numLit>
              <c:formatCode>General</c:formatCode>
              <c:ptCount val="5"/>
              <c:pt idx="0">
                <c:v>907.31440173681244</c:v>
              </c:pt>
              <c:pt idx="1">
                <c:v>552.28025621715824</c:v>
              </c:pt>
              <c:pt idx="2">
                <c:v>297.82873181020454</c:v>
              </c:pt>
              <c:pt idx="3">
                <c:v>336.5236693038014</c:v>
              </c:pt>
              <c:pt idx="4">
                <c:v>639.08151144601516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FF5D-4AA9-A08A-1610B05C5A4F}"/>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1197.6550102925926"/>
          <c:min val="0"/>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490B-498C-8769-43D1624088C3}"/>
              </c:ext>
            </c:extLst>
          </c:dPt>
          <c:dPt>
            <c:idx val="1"/>
            <c:bubble3D val="0"/>
            <c:spPr>
              <a:solidFill>
                <a:srgbClr val="9E7E0A"/>
              </a:solidFill>
            </c:spPr>
            <c:extLst>
              <c:ext xmlns:c16="http://schemas.microsoft.com/office/drawing/2014/chart" uri="{C3380CC4-5D6E-409C-BE32-E72D297353CC}">
                <c16:uniqueId val="{00000003-490B-498C-8769-43D1624088C3}"/>
              </c:ext>
            </c:extLst>
          </c:dPt>
          <c:dPt>
            <c:idx val="2"/>
            <c:bubble3D val="0"/>
            <c:spPr>
              <a:solidFill>
                <a:srgbClr val="008189"/>
              </a:solidFill>
            </c:spPr>
            <c:extLst>
              <c:ext xmlns:c16="http://schemas.microsoft.com/office/drawing/2014/chart" uri="{C3380CC4-5D6E-409C-BE32-E72D297353CC}">
                <c16:uniqueId val="{00000005-490B-498C-8769-43D1624088C3}"/>
              </c:ext>
            </c:extLst>
          </c:dPt>
          <c:dPt>
            <c:idx val="3"/>
            <c:bubble3D val="0"/>
            <c:spPr>
              <a:solidFill>
                <a:srgbClr val="40315E"/>
              </a:solidFill>
            </c:spPr>
            <c:extLst>
              <c:ext xmlns:c16="http://schemas.microsoft.com/office/drawing/2014/chart" uri="{C3380CC4-5D6E-409C-BE32-E72D297353CC}">
                <c16:uniqueId val="{00000007-490B-498C-8769-43D1624088C3}"/>
              </c:ext>
            </c:extLst>
          </c:dPt>
          <c:dLbls>
            <c:dLbl>
              <c:idx val="0"/>
              <c:layout>
                <c:manualLayout>
                  <c:x val="3.5000000000000003E-2"/>
                  <c:y val="0"/>
                </c:manualLayout>
              </c:layout>
              <c:numFmt formatCode="&quot;MMMMM&quot;;&quot;MMMMM&quot;;&quot;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90B-498C-8769-43D1624088C3}"/>
                </c:ext>
              </c:extLst>
            </c:dLbl>
            <c:dLbl>
              <c:idx val="1"/>
              <c:layout>
                <c:manualLayout>
                  <c:x val="3.5000000000000003E-2"/>
                  <c:y val="0"/>
                </c:manualLayout>
              </c:layout>
              <c:numFmt formatCode="&quot;MMMMM&quot;;&quot;MMMMM&quot;;&quot;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90B-498C-8769-43D1624088C3}"/>
                </c:ext>
              </c:extLst>
            </c:dLbl>
            <c:dLbl>
              <c:idx val="2"/>
              <c:layout>
                <c:manualLayout>
                  <c:x val="3.5000000000000003E-2"/>
                  <c:y val="0"/>
                </c:manualLayout>
              </c:layout>
              <c:numFmt formatCode="&quot;MMMMM&quot;;&quot;MMMMM&quot;;&quot;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90B-498C-8769-43D1624088C3}"/>
                </c:ext>
              </c:extLst>
            </c:dLbl>
            <c:dLbl>
              <c:idx val="3"/>
              <c:layout>
                <c:manualLayout>
                  <c:x val="3.5000000000000003E-2"/>
                  <c:y val="0"/>
                </c:manualLayout>
              </c:layout>
              <c:numFmt formatCode="&quot;MMMMMMM&quot;;&quot;MMMMMMM&quot;;&quot;MM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90B-498C-8769-43D1624088C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4"/>
              <c:pt idx="0">
                <c:v>Capsules and Softgels</c:v>
              </c:pt>
              <c:pt idx="1">
                <c:v>Tablets</c:v>
              </c:pt>
              <c:pt idx="2">
                <c:v>Chewables</c:v>
              </c:pt>
              <c:pt idx="3">
                <c:v>Gels and Pastes</c:v>
              </c:pt>
            </c:strLit>
          </c:cat>
          <c:val>
            <c:numLit>
              <c:formatCode>General</c:formatCode>
              <c:ptCount val="4"/>
              <c:pt idx="0">
                <c:v>314.89603952733421</c:v>
              </c:pt>
              <c:pt idx="1">
                <c:v>437.77868003885914</c:v>
              </c:pt>
              <c:pt idx="2">
                <c:v>816.31579913749181</c:v>
              </c:pt>
              <c:pt idx="3">
                <c:v>1164.0380518103066</c:v>
              </c:pt>
            </c:numLit>
          </c:val>
          <c:extLst>
            <c:ext xmlns:c16="http://schemas.microsoft.com/office/drawing/2014/chart" uri="{C3380CC4-5D6E-409C-BE32-E72D297353CC}">
              <c16:uniqueId val="{00000008-490B-498C-8769-43D1624088C3}"/>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SAM</c:v>
          </c:tx>
          <c:spPr>
            <a:solidFill>
              <a:srgbClr val="69B1E0"/>
            </a:solidFill>
            <a:ln>
              <a:noFill/>
            </a:ln>
          </c:spPr>
          <c:invertIfNegative val="1"/>
          <c:dLbls>
            <c:dLbl>
              <c:idx val="0"/>
              <c:numFmt formatCode="&quot;MMMMMMM&quot;;&quot;MMMMMMM&quot;;&quot;MM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027-432D-8D5C-230B408163A5}"/>
                </c:ext>
              </c:extLst>
            </c:dLbl>
            <c:dLbl>
              <c:idx val="1"/>
              <c:numFmt formatCode="&quot;MMMMMMM&quot;;&quot;MMMMMMM&quot;;&quot;MM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027-432D-8D5C-230B408163A5}"/>
                </c:ext>
              </c:extLst>
            </c:dLbl>
            <c:dLbl>
              <c:idx val="2"/>
              <c:numFmt formatCode="&quot;MMMMMMM&quot;;&quot;MMMMMMM&quot;;&quot;MM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027-432D-8D5C-230B408163A5}"/>
                </c:ext>
              </c:extLst>
            </c:dLbl>
            <c:dLbl>
              <c:idx val="3"/>
              <c:numFmt formatCode="&quot;MMMMMMM&quot;;&quot;MMMMMMM&quot;;&quot;MM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027-432D-8D5C-230B408163A5}"/>
                </c:ext>
              </c:extLst>
            </c:dLbl>
            <c:dLbl>
              <c:idx val="4"/>
              <c:numFmt formatCode="&quot;MMMMM&quot;;&quot;MMMMM&quot;;&quot;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027-432D-8D5C-230B408163A5}"/>
                </c:ext>
              </c:extLst>
            </c:dLbl>
            <c:numFmt formatCode="0.0&quot;%&quot;"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North America</c:v>
              </c:pt>
              <c:pt idx="1">
                <c:v>Europe</c:v>
              </c:pt>
              <c:pt idx="2">
                <c:v>South Asia &amp; Pacific</c:v>
              </c:pt>
              <c:pt idx="3">
                <c:v>East Asia</c:v>
              </c:pt>
              <c:pt idx="4">
                <c:v>Rest of the World</c:v>
              </c:pt>
            </c:strLit>
          </c:cat>
          <c:val>
            <c:numLit>
              <c:formatCode>General</c:formatCode>
              <c:ptCount val="5"/>
              <c:pt idx="0">
                <c:v>2768.2994039999999</c:v>
              </c:pt>
              <c:pt idx="1">
                <c:v>2488.4305254161864</c:v>
              </c:pt>
              <c:pt idx="2">
                <c:v>1818.5885959387524</c:v>
              </c:pt>
              <c:pt idx="3">
                <c:v>1165.0907415846079</c:v>
              </c:pt>
              <c:pt idx="4">
                <c:v>924.33999171702385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7027-432D-8D5C-230B408163A5}"/>
            </c:ext>
          </c:extLst>
        </c:ser>
        <c:ser>
          <c:idx val="1"/>
          <c:order val="1"/>
          <c:tx>
            <c:v>SOM</c:v>
          </c:tx>
          <c:spPr>
            <a:solidFill>
              <a:srgbClr val="0E72AE"/>
            </a:solidFill>
            <a:ln>
              <a:noFill/>
            </a:ln>
          </c:spPr>
          <c:invertIfNegative val="1"/>
          <c:dLbls>
            <c:dLbl>
              <c:idx val="0"/>
              <c:numFmt formatCode="&quot;MMMMM&quot;;&quot;MMMMM&quot;;&quot;M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027-432D-8D5C-230B408163A5}"/>
                </c:ext>
              </c:extLst>
            </c:dLbl>
            <c:dLbl>
              <c:idx val="1"/>
              <c:numFmt formatCode="&quot;MMMMM&quot;;&quot;MMMMM&quot;;&quot;M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027-432D-8D5C-230B408163A5}"/>
                </c:ext>
              </c:extLst>
            </c:dLbl>
            <c:dLbl>
              <c:idx val="2"/>
              <c:numFmt formatCode="&quot;MMMMM&quot;;&quot;MMMMM&quot;;&quot;M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027-432D-8D5C-230B408163A5}"/>
                </c:ext>
              </c:extLst>
            </c:dLbl>
            <c:dLbl>
              <c:idx val="3"/>
              <c:numFmt formatCode="&quot;MMMMM&quot;;&quot;MMMMM&quot;;&quot;M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027-432D-8D5C-230B408163A5}"/>
                </c:ext>
              </c:extLst>
            </c:dLbl>
            <c:dLbl>
              <c:idx val="4"/>
              <c:numFmt formatCode="&quot;MMMMM&quot;;&quot;MMMMM&quot;;&quot;M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027-432D-8D5C-230B408163A5}"/>
                </c:ext>
              </c:extLst>
            </c:dLbl>
            <c:numFmt formatCode="0.0&quot;%&quot;"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North America</c:v>
              </c:pt>
              <c:pt idx="1">
                <c:v>Europe</c:v>
              </c:pt>
              <c:pt idx="2">
                <c:v>South Asia &amp; Pacific</c:v>
              </c:pt>
              <c:pt idx="3">
                <c:v>East Asia</c:v>
              </c:pt>
              <c:pt idx="4">
                <c:v>Rest of the World</c:v>
              </c:pt>
            </c:strLit>
          </c:cat>
          <c:val>
            <c:numLit>
              <c:formatCode>General</c:formatCode>
              <c:ptCount val="5"/>
              <c:pt idx="0">
                <c:v>907.31440173681244</c:v>
              </c:pt>
              <c:pt idx="1">
                <c:v>552.28025621715824</c:v>
              </c:pt>
              <c:pt idx="2">
                <c:v>297.82873181020454</c:v>
              </c:pt>
              <c:pt idx="3">
                <c:v>336.5236693038014</c:v>
              </c:pt>
              <c:pt idx="4">
                <c:v>639.08151144601516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7027-432D-8D5C-230B408163A5}"/>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3543.4232371200001"/>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Cellular Energy Support Ingredients</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EB5-4EE7-96DE-F545A43573D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EB5-4EE7-96DE-F545A43573D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EB5-4EE7-96DE-F545A43573D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EB5-4EE7-96DE-F545A43573D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EB5-4EE7-96DE-F545A43573D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EB5-4EE7-96DE-F545A43573D8}"/>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22.880974027652442</c:v>
              </c:pt>
              <c:pt idx="1">
                <c:v>19.85965473670392</c:v>
              </c:pt>
              <c:pt idx="2">
                <c:v>19.94348107349294</c:v>
              </c:pt>
              <c:pt idx="3">
                <c:v>20.181068896530739</c:v>
              </c:pt>
              <c:pt idx="4">
                <c:v>20.377967898862764</c:v>
              </c:pt>
              <c:pt idx="5">
                <c:v>21.800756819177199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EEB5-4EE7-96DE-F545A43573D8}"/>
            </c:ext>
          </c:extLst>
        </c:ser>
        <c:ser>
          <c:idx val="1"/>
          <c:order val="1"/>
          <c:tx>
            <c:v>Antioxidant Ingredients</c:v>
          </c:tx>
          <c:spPr>
            <a:solidFill>
              <a:srgbClr val="9E7E0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EB5-4EE7-96DE-F545A43573D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EB5-4EE7-96DE-F545A43573D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EB5-4EE7-96DE-F545A43573D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EB5-4EE7-96DE-F545A43573D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EB5-4EE7-96DE-F545A43573D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EB5-4EE7-96DE-F545A43573D8}"/>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20.664260966408229</c:v>
              </c:pt>
              <c:pt idx="1">
                <c:v>21.510855117412497</c:v>
              </c:pt>
              <c:pt idx="2">
                <c:v>21.825210374549197</c:v>
              </c:pt>
              <c:pt idx="3">
                <c:v>21.436565960153779</c:v>
              </c:pt>
              <c:pt idx="4">
                <c:v>21.416950701183719</c:v>
              </c:pt>
              <c:pt idx="5">
                <c:v>19.885825476952174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D-EEB5-4EE7-96DE-F545A43573D8}"/>
            </c:ext>
          </c:extLst>
        </c:ser>
        <c:ser>
          <c:idx val="2"/>
          <c:order val="2"/>
          <c:tx>
            <c:v>Omega-3 Fatty Acids</c:v>
          </c:tx>
          <c:spPr>
            <a:solidFill>
              <a:srgbClr val="0081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EB5-4EE7-96DE-F545A43573D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EEB5-4EE7-96DE-F545A43573D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EB5-4EE7-96DE-F545A43573D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EEB5-4EE7-96DE-F545A43573D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EEB5-4EE7-96DE-F545A43573D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EEB5-4EE7-96DE-F545A43573D8}"/>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17.025536309703753</c:v>
              </c:pt>
              <c:pt idx="1">
                <c:v>18.515892942122449</c:v>
              </c:pt>
              <c:pt idx="2">
                <c:v>16.016908535195999</c:v>
              </c:pt>
              <c:pt idx="3">
                <c:v>17.95679792010473</c:v>
              </c:pt>
              <c:pt idx="4">
                <c:v>18.307084454259719</c:v>
              </c:pt>
              <c:pt idx="5">
                <c:v>16.883629579900191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EEB5-4EE7-96DE-F545A43573D8}"/>
            </c:ext>
          </c:extLst>
        </c:ser>
        <c:ser>
          <c:idx val="3"/>
          <c:order val="3"/>
          <c:tx>
            <c:v>Microbiome-Targeted Ingredients</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EB5-4EE7-96DE-F545A43573D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EB5-4EE7-96DE-F545A43573D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EEB5-4EE7-96DE-F545A43573D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EEB5-4EE7-96DE-F545A43573D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EEB5-4EE7-96DE-F545A43573D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EEB5-4EE7-96DE-F545A43573D8}"/>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14.502360560600833</c:v>
              </c:pt>
              <c:pt idx="1">
                <c:v>16.625231789166218</c:v>
              </c:pt>
              <c:pt idx="2">
                <c:v>15.826268467519952</c:v>
              </c:pt>
              <c:pt idx="3">
                <c:v>14.254104935141566</c:v>
              </c:pt>
              <c:pt idx="4">
                <c:v>14.205416555696202</c:v>
              </c:pt>
              <c:pt idx="5">
                <c:v>16.057250930869404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B-EEB5-4EE7-96DE-F545A43573D8}"/>
            </c:ext>
          </c:extLst>
        </c:ser>
        <c:ser>
          <c:idx val="4"/>
          <c:order val="4"/>
          <c:tx>
            <c:v>Botanical Ingredients</c:v>
          </c:tx>
          <c:spPr>
            <a:solidFill>
              <a:srgbClr val="A35313"/>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EEB5-4EE7-96DE-F545A43573D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EEB5-4EE7-96DE-F545A43573D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EEB5-4EE7-96DE-F545A43573D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EEB5-4EE7-96DE-F545A43573D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EEB5-4EE7-96DE-F545A43573D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EEB5-4EE7-96DE-F545A43573D8}"/>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12.74281296111284</c:v>
              </c:pt>
              <c:pt idx="1">
                <c:v>12.205402123434911</c:v>
              </c:pt>
              <c:pt idx="2">
                <c:v>13.169905112108093</c:v>
              </c:pt>
              <c:pt idx="3">
                <c:v>13.954659020715976</c:v>
              </c:pt>
              <c:pt idx="4">
                <c:v>13.328226198206716</c:v>
              </c:pt>
              <c:pt idx="5">
                <c:v>13.120598544858284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2-EEB5-4EE7-96DE-F545A43573D8}"/>
            </c:ext>
          </c:extLst>
        </c:ser>
        <c:ser>
          <c:idx val="5"/>
          <c:order val="5"/>
          <c:tx>
            <c:v>Neurofunctional Nutrients</c:v>
          </c:tx>
          <c:spPr>
            <a:solidFill>
              <a:srgbClr val="808080"/>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EEB5-4EE7-96DE-F545A43573D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EEB5-4EE7-96DE-F545A43573D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EEB5-4EE7-96DE-F545A43573D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EEB5-4EE7-96DE-F545A43573D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EEB5-4EE7-96DE-F545A43573D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EEB5-4EE7-96DE-F545A43573D8}"/>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12.184055174521905</c:v>
              </c:pt>
              <c:pt idx="1">
                <c:v>11.282963291160012</c:v>
              </c:pt>
              <c:pt idx="2">
                <c:v>13.218226437133826</c:v>
              </c:pt>
              <c:pt idx="3">
                <c:v>12.216803267353203</c:v>
              </c:pt>
              <c:pt idx="4">
                <c:v>12.364354191790879</c:v>
              </c:pt>
              <c:pt idx="5">
                <c:v>12.251938648242753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9-EEB5-4EE7-96DE-F545A43573D8}"/>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Antioxidant Ingredients</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8E1-4FFC-8FD6-BBF7377D46D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8E1-4FFC-8FD6-BBF7377D46D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8E1-4FFC-8FD6-BBF7377D46D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8E1-4FFC-8FD6-BBF7377D46D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19.59843456250389</c:v>
              </c:pt>
              <c:pt idx="1">
                <c:v>21.565094701750866</c:v>
              </c:pt>
              <c:pt idx="2">
                <c:v>21.897463236409195</c:v>
              </c:pt>
              <c:pt idx="3">
                <c:v>20.568608454926203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18E1-4FFC-8FD6-BBF7377D46D7}"/>
            </c:ext>
          </c:extLst>
        </c:ser>
        <c:ser>
          <c:idx val="1"/>
          <c:order val="1"/>
          <c:tx>
            <c:v>Cellular Energy Support Ingredients</c:v>
          </c:tx>
          <c:spPr>
            <a:solidFill>
              <a:srgbClr val="9E7E0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8E1-4FFC-8FD6-BBF7377D46D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8E1-4FFC-8FD6-BBF7377D46D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8E1-4FFC-8FD6-BBF7377D46D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8E1-4FFC-8FD6-BBF7377D46D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20.71543150872445</c:v>
              </c:pt>
              <c:pt idx="1">
                <c:v>20.822051081655257</c:v>
              </c:pt>
              <c:pt idx="2">
                <c:v>20.743256800360228</c:v>
              </c:pt>
              <c:pt idx="3">
                <c:v>19.903391288699567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9-18E1-4FFC-8FD6-BBF7377D46D7}"/>
            </c:ext>
          </c:extLst>
        </c:ser>
        <c:ser>
          <c:idx val="2"/>
          <c:order val="2"/>
          <c:tx>
            <c:v>Omega-3 Fatty Acids</c:v>
          </c:tx>
          <c:spPr>
            <a:solidFill>
              <a:srgbClr val="0081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8E1-4FFC-8FD6-BBF7377D46D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8E1-4FFC-8FD6-BBF7377D46D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8E1-4FFC-8FD6-BBF7377D46D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8E1-4FFC-8FD6-BBF7377D46D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17.669987868663366</c:v>
              </c:pt>
              <c:pt idx="1">
                <c:v>17.986589249959366</c:v>
              </c:pt>
              <c:pt idx="2">
                <c:v>16.616101904497487</c:v>
              </c:pt>
              <c:pt idx="3">
                <c:v>19.287600115368399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E-18E1-4FFC-8FD6-BBF7377D46D7}"/>
            </c:ext>
          </c:extLst>
        </c:ser>
        <c:ser>
          <c:idx val="3"/>
          <c:order val="3"/>
          <c:tx>
            <c:v>Microbiome-Targeted Ingredients</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18E1-4FFC-8FD6-BBF7377D46D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18E1-4FFC-8FD6-BBF7377D46D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18E1-4FFC-8FD6-BBF7377D46D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18E1-4FFC-8FD6-BBF7377D46D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17.085804982099191</c:v>
              </c:pt>
              <c:pt idx="1">
                <c:v>15.178907981782405</c:v>
              </c:pt>
              <c:pt idx="2">
                <c:v>15.118129938849833</c:v>
              </c:pt>
              <c:pt idx="3">
                <c:v>15.653865211249895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18E1-4FFC-8FD6-BBF7377D46D7}"/>
            </c:ext>
          </c:extLst>
        </c:ser>
        <c:ser>
          <c:idx val="4"/>
          <c:order val="4"/>
          <c:tx>
            <c:v>Botanical Ingredients</c:v>
          </c:tx>
          <c:spPr>
            <a:solidFill>
              <a:srgbClr val="A35313"/>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18E1-4FFC-8FD6-BBF7377D46D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18E1-4FFC-8FD6-BBF7377D46D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18E1-4FFC-8FD6-BBF7377D46D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18E1-4FFC-8FD6-BBF7377D46D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12.729948491537895</c:v>
              </c:pt>
              <c:pt idx="1">
                <c:v>13.849360182498705</c:v>
              </c:pt>
              <c:pt idx="2">
                <c:v>12.876370395947898</c:v>
              </c:pt>
              <c:pt idx="3">
                <c:v>13.012101356564781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8-18E1-4FFC-8FD6-BBF7377D46D7}"/>
            </c:ext>
          </c:extLst>
        </c:ser>
        <c:ser>
          <c:idx val="5"/>
          <c:order val="5"/>
          <c:tx>
            <c:v>Neurofunctional Nutrients</c:v>
          </c:tx>
          <c:spPr>
            <a:solidFill>
              <a:srgbClr val="808080"/>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18E1-4FFC-8FD6-BBF7377D46D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18E1-4FFC-8FD6-BBF7377D46D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18E1-4FFC-8FD6-BBF7377D46D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18E1-4FFC-8FD6-BBF7377D46D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12.20039258647121</c:v>
              </c:pt>
              <c:pt idx="1">
                <c:v>10.597996802353393</c:v>
              </c:pt>
              <c:pt idx="2">
                <c:v>12.748677723935353</c:v>
              </c:pt>
              <c:pt idx="3">
                <c:v>11.574433573191143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D-18E1-4FFC-8FD6-BBF7377D46D7}"/>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Support for Observable Age-Related Cognitive Changes</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431-4913-81E6-DB00B5396A0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431-4913-81E6-DB00B5396A0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431-4913-81E6-DB00B5396A0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431-4913-81E6-DB00B5396A0A}"/>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431-4913-81E6-DB00B5396A0A}"/>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431-4913-81E6-DB00B5396A0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Veterinary Channels</c:v>
              </c:pt>
              <c:pt idx="1">
                <c:v>Specialist Pet Retail</c:v>
              </c:pt>
              <c:pt idx="2">
                <c:v>General Retail</c:v>
              </c:pt>
              <c:pt idx="3">
                <c:v>Brand-Owned E-commerce</c:v>
              </c:pt>
              <c:pt idx="4">
                <c:v>Third-Party E-commerce</c:v>
              </c:pt>
              <c:pt idx="5">
                <c:v>Other Direct Sales</c:v>
              </c:pt>
            </c:strLit>
          </c:cat>
          <c:val>
            <c:numLit>
              <c:formatCode>General</c:formatCode>
              <c:ptCount val="6"/>
              <c:pt idx="0">
                <c:v>62.380188065252455</c:v>
              </c:pt>
              <c:pt idx="1">
                <c:v>63.453956999628083</c:v>
              </c:pt>
              <c:pt idx="2">
                <c:v>61.325923056115116</c:v>
              </c:pt>
              <c:pt idx="3">
                <c:v>62.044096893434208</c:v>
              </c:pt>
              <c:pt idx="4">
                <c:v>66.196135527295823</c:v>
              </c:pt>
              <c:pt idx="5">
                <c:v>60.703864921641859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6431-4913-81E6-DB00B5396A0A}"/>
            </c:ext>
          </c:extLst>
        </c:ser>
        <c:ser>
          <c:idx val="1"/>
          <c:order val="1"/>
          <c:tx>
            <c:v>Routine Cognitive Wellness</c:v>
          </c:tx>
          <c:spPr>
            <a:solidFill>
              <a:srgbClr val="9E7E0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431-4913-81E6-DB00B5396A0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431-4913-81E6-DB00B5396A0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431-4913-81E6-DB00B5396A0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431-4913-81E6-DB00B5396A0A}"/>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431-4913-81E6-DB00B5396A0A}"/>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431-4913-81E6-DB00B5396A0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Veterinary Channels</c:v>
              </c:pt>
              <c:pt idx="1">
                <c:v>Specialist Pet Retail</c:v>
              </c:pt>
              <c:pt idx="2">
                <c:v>General Retail</c:v>
              </c:pt>
              <c:pt idx="3">
                <c:v>Brand-Owned E-commerce</c:v>
              </c:pt>
              <c:pt idx="4">
                <c:v>Third-Party E-commerce</c:v>
              </c:pt>
              <c:pt idx="5">
                <c:v>Other Direct Sales</c:v>
              </c:pt>
            </c:strLit>
          </c:cat>
          <c:val>
            <c:numLit>
              <c:formatCode>General</c:formatCode>
              <c:ptCount val="6"/>
              <c:pt idx="0">
                <c:v>20.973169546868771</c:v>
              </c:pt>
              <c:pt idx="1">
                <c:v>21.572776454513562</c:v>
              </c:pt>
              <c:pt idx="2">
                <c:v>22.815337252496708</c:v>
              </c:pt>
              <c:pt idx="3">
                <c:v>22.193574269681061</c:v>
              </c:pt>
              <c:pt idx="4">
                <c:v>20.666427169512364</c:v>
              </c:pt>
              <c:pt idx="5">
                <c:v>23.632802374074313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D-6431-4913-81E6-DB00B5396A0A}"/>
            </c:ext>
          </c:extLst>
        </c:ser>
        <c:ser>
          <c:idx val="2"/>
          <c:order val="2"/>
          <c:tx>
            <c:v>Preventive Cognitive Support for Senior Dogs</c:v>
          </c:tx>
          <c:spPr>
            <a:solidFill>
              <a:srgbClr val="0081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6431-4913-81E6-DB00B5396A0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6431-4913-81E6-DB00B5396A0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6431-4913-81E6-DB00B5396A0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6431-4913-81E6-DB00B5396A0A}"/>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6431-4913-81E6-DB00B5396A0A}"/>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6431-4913-81E6-DB00B5396A0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Veterinary Channels</c:v>
              </c:pt>
              <c:pt idx="1">
                <c:v>Specialist Pet Retail</c:v>
              </c:pt>
              <c:pt idx="2">
                <c:v>General Retail</c:v>
              </c:pt>
              <c:pt idx="3">
                <c:v>Brand-Owned E-commerce</c:v>
              </c:pt>
              <c:pt idx="4">
                <c:v>Third-Party E-commerce</c:v>
              </c:pt>
              <c:pt idx="5">
                <c:v>Other Direct Sales</c:v>
              </c:pt>
            </c:strLit>
          </c:cat>
          <c:val>
            <c:numLit>
              <c:formatCode>General</c:formatCode>
              <c:ptCount val="6"/>
              <c:pt idx="0">
                <c:v>8.3687962443814996</c:v>
              </c:pt>
              <c:pt idx="1">
                <c:v>7.6908995471007335</c:v>
              </c:pt>
              <c:pt idx="2">
                <c:v>8.7459833199402723</c:v>
              </c:pt>
              <c:pt idx="3">
                <c:v>8.5407320068298453</c:v>
              </c:pt>
              <c:pt idx="4">
                <c:v>6.3016547427284353</c:v>
              </c:pt>
              <c:pt idx="5">
                <c:v>8.3411964521607853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6431-4913-81E6-DB00B5396A0A}"/>
            </c:ext>
          </c:extLst>
        </c:ser>
        <c:ser>
          <c:idx val="3"/>
          <c:order val="3"/>
          <c:tx>
            <c:v>Veterinary-Guided Cognitive Dysfunction Support</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6431-4913-81E6-DB00B5396A0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6431-4913-81E6-DB00B5396A0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6431-4913-81E6-DB00B5396A0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6431-4913-81E6-DB00B5396A0A}"/>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6431-4913-81E6-DB00B5396A0A}"/>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6431-4913-81E6-DB00B5396A0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Veterinary Channels</c:v>
              </c:pt>
              <c:pt idx="1">
                <c:v>Specialist Pet Retail</c:v>
              </c:pt>
              <c:pt idx="2">
                <c:v>General Retail</c:v>
              </c:pt>
              <c:pt idx="3">
                <c:v>Brand-Owned E-commerce</c:v>
              </c:pt>
              <c:pt idx="4">
                <c:v>Third-Party E-commerce</c:v>
              </c:pt>
              <c:pt idx="5">
                <c:v>Other Direct Sales</c:v>
              </c:pt>
            </c:strLit>
          </c:cat>
          <c:val>
            <c:numLit>
              <c:formatCode>General</c:formatCode>
              <c:ptCount val="6"/>
              <c:pt idx="0">
                <c:v>8.2778461434972748</c:v>
              </c:pt>
              <c:pt idx="1">
                <c:v>7.2823669987576265</c:v>
              </c:pt>
              <c:pt idx="2">
                <c:v>7.1127563714479081</c:v>
              </c:pt>
              <c:pt idx="3">
                <c:v>7.221596830054879</c:v>
              </c:pt>
              <c:pt idx="4">
                <c:v>6.8357825604633744</c:v>
              </c:pt>
              <c:pt idx="5">
                <c:v>7.322136252123042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B-6431-4913-81E6-DB00B5396A0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S1</c:v>
          </c:tx>
          <c:spPr>
            <a:solidFill>
              <a:srgbClr val="003E58"/>
            </a:solidFill>
            <a:ln>
              <a:noFill/>
            </a:ln>
          </c:spPr>
          <c:invertIfNegative val="1"/>
          <c:dLbls>
            <c:dLbl>
              <c:idx val="0"/>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9BE-49DB-BAFF-D7A1BCCA2930}"/>
                </c:ext>
              </c:extLst>
            </c:dLbl>
            <c:dLbl>
              <c:idx val="1"/>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9BE-49DB-BAFF-D7A1BCCA2930}"/>
                </c:ext>
              </c:extLst>
            </c:dLbl>
            <c:dLbl>
              <c:idx val="2"/>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9BE-49DB-BAFF-D7A1BCCA2930}"/>
                </c:ext>
              </c:extLst>
            </c:dLbl>
            <c:numFmt formatCode="0.0&quot;%&quot;"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2021–2026</c:v>
              </c:pt>
              <c:pt idx="1">
                <c:v>2026–2036</c:v>
              </c:pt>
              <c:pt idx="2">
                <c:v>2021–2036</c:v>
              </c:pt>
            </c:strLit>
          </c:cat>
          <c:val>
            <c:numLit>
              <c:formatCode>General</c:formatCode>
              <c:ptCount val="3"/>
              <c:pt idx="0">
                <c:v>3.4785889077068477</c:v>
              </c:pt>
              <c:pt idx="1">
                <c:v>4.4078445783955367</c:v>
              </c:pt>
              <c:pt idx="2">
                <c:v>4.0971691609985816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19BE-49DB-BAFF-D7A1BCCA2930}"/>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5.8183548434821084"/>
          <c:min val="0"/>
        </c:scaling>
        <c:delete val="0"/>
        <c:axPos val="l"/>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5"/>
              <c:pt idx="0">
                <c:v>2021</c:v>
              </c:pt>
              <c:pt idx="1">
                <c:v>2021–2026</c:v>
              </c:pt>
              <c:pt idx="2">
                <c:v>2026</c:v>
              </c:pt>
              <c:pt idx="3">
                <c:v>2026–2036</c:v>
              </c:pt>
              <c:pt idx="4">
                <c:v>2036</c:v>
              </c:pt>
            </c:strLit>
          </c:cat>
          <c:val>
            <c:numLit>
              <c:formatCode>General</c:formatCode>
              <c:ptCount val="5"/>
              <c:pt idx="0">
                <c:v>0</c:v>
              </c:pt>
              <c:pt idx="1">
                <c:v>2240733.219</c:v>
              </c:pt>
              <c:pt idx="2">
                <c:v>0</c:v>
              </c:pt>
              <c:pt idx="3">
                <c:v>2658536.588</c:v>
              </c:pt>
              <c:pt idx="4">
                <c:v>0</c:v>
              </c:pt>
            </c:numLit>
          </c:val>
          <c:extLst>
            <c:ext xmlns:c16="http://schemas.microsoft.com/office/drawing/2014/chart" uri="{C3380CC4-5D6E-409C-BE32-E72D297353CC}">
              <c16:uniqueId val="{00000000-CB60-4D6E-A590-1D725FC6BEEC}"/>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CB60-4D6E-A590-1D725FC6BEEC}"/>
              </c:ext>
            </c:extLst>
          </c:dPt>
          <c:dPt>
            <c:idx val="1"/>
            <c:invertIfNegative val="1"/>
            <c:bubble3D val="0"/>
            <c:spPr>
              <a:solidFill>
                <a:srgbClr val="008189"/>
              </a:solidFill>
            </c:spPr>
            <c:extLst>
              <c:ext xmlns:c16="http://schemas.microsoft.com/office/drawing/2014/chart" uri="{C3380CC4-5D6E-409C-BE32-E72D297353CC}">
                <c16:uniqueId val="{00000004-CB60-4D6E-A590-1D725FC6BEEC}"/>
              </c:ext>
            </c:extLst>
          </c:dPt>
          <c:dPt>
            <c:idx val="2"/>
            <c:invertIfNegative val="1"/>
            <c:bubble3D val="0"/>
            <c:spPr>
              <a:solidFill>
                <a:srgbClr val="0E72AE"/>
              </a:solidFill>
            </c:spPr>
            <c:extLst>
              <c:ext xmlns:c16="http://schemas.microsoft.com/office/drawing/2014/chart" uri="{C3380CC4-5D6E-409C-BE32-E72D297353CC}">
                <c16:uniqueId val="{00000006-CB60-4D6E-A590-1D725FC6BEEC}"/>
              </c:ext>
            </c:extLst>
          </c:dPt>
          <c:dPt>
            <c:idx val="3"/>
            <c:invertIfNegative val="1"/>
            <c:bubble3D val="0"/>
            <c:spPr>
              <a:solidFill>
                <a:srgbClr val="008189"/>
              </a:solidFill>
            </c:spPr>
            <c:extLst>
              <c:ext xmlns:c16="http://schemas.microsoft.com/office/drawing/2014/chart" uri="{C3380CC4-5D6E-409C-BE32-E72D297353CC}">
                <c16:uniqueId val="{00000008-CB60-4D6E-A590-1D725FC6BEEC}"/>
              </c:ext>
            </c:extLst>
          </c:dPt>
          <c:dPt>
            <c:idx val="4"/>
            <c:invertIfNegative val="1"/>
            <c:bubble3D val="0"/>
            <c:spPr>
              <a:solidFill>
                <a:srgbClr val="0E72AE"/>
              </a:solidFill>
            </c:spPr>
            <c:extLst>
              <c:ext xmlns:c16="http://schemas.microsoft.com/office/drawing/2014/chart" uri="{C3380CC4-5D6E-409C-BE32-E72D297353CC}">
                <c16:uniqueId val="{0000000A-CB60-4D6E-A590-1D725FC6BEEC}"/>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B60-4D6E-A590-1D725FC6BEEC}"/>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B60-4D6E-A590-1D725FC6BEEC}"/>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B60-4D6E-A590-1D725FC6BEE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B60-4D6E-A590-1D725FC6BEEC}"/>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B60-4D6E-A590-1D725FC6BEEC}"/>
                </c:ext>
              </c:extLst>
            </c:dLbl>
            <c:numFmt formatCode="#,##0.0,,&quot;M&quot;"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2021</c:v>
              </c:pt>
              <c:pt idx="1">
                <c:v>2021–2026</c:v>
              </c:pt>
              <c:pt idx="2">
                <c:v>2026</c:v>
              </c:pt>
              <c:pt idx="3">
                <c:v>2026–2036</c:v>
              </c:pt>
              <c:pt idx="4">
                <c:v>2036</c:v>
              </c:pt>
            </c:strLit>
          </c:cat>
          <c:val>
            <c:numLit>
              <c:formatCode>General</c:formatCode>
              <c:ptCount val="5"/>
              <c:pt idx="0">
                <c:v>2240733.219</c:v>
              </c:pt>
              <c:pt idx="1">
                <c:v>417803.36899999995</c:v>
              </c:pt>
              <c:pt idx="2">
                <c:v>2658536.588</c:v>
              </c:pt>
              <c:pt idx="3">
                <c:v>1433824.4700000002</c:v>
              </c:pt>
              <c:pt idx="4">
                <c:v>4092361.0580000002</c:v>
              </c:pt>
            </c:numLit>
          </c:val>
          <c:extLst>
            <c:ext xmlns:c16="http://schemas.microsoft.com/office/drawing/2014/chart" uri="{C3380CC4-5D6E-409C-BE32-E72D297353CC}">
              <c16:uniqueId val="{0000000B-CB60-4D6E-A590-1D725FC6BEE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quot;M&quot;"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S1</c:v>
          </c:tx>
          <c:spPr>
            <a:solidFill>
              <a:srgbClr val="003E58"/>
            </a:solidFill>
            <a:ln>
              <a:noFill/>
            </a:ln>
          </c:spPr>
          <c:invertIfNegative val="1"/>
          <c:dLbls>
            <c:dLbl>
              <c:idx val="0"/>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12C-464D-BA94-A21ED3909902}"/>
                </c:ext>
              </c:extLst>
            </c:dLbl>
            <c:dLbl>
              <c:idx val="1"/>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12C-464D-BA94-A21ED3909902}"/>
                </c:ext>
              </c:extLst>
            </c:dLbl>
            <c:dLbl>
              <c:idx val="2"/>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12C-464D-BA94-A21ED3909902}"/>
                </c:ext>
              </c:extLst>
            </c:dLbl>
            <c:numFmt formatCode="0.0&quot;%&quot;"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2021–2026</c:v>
              </c:pt>
              <c:pt idx="1">
                <c:v>2026–2036</c:v>
              </c:pt>
              <c:pt idx="2">
                <c:v>2021–2036</c:v>
              </c:pt>
            </c:strLit>
          </c:cat>
          <c:val>
            <c:numLit>
              <c:formatCode>General</c:formatCode>
              <c:ptCount val="3"/>
              <c:pt idx="0">
                <c:v>4.1136781538467115</c:v>
              </c:pt>
              <c:pt idx="1">
                <c:v>4.9944145569506215</c:v>
              </c:pt>
              <c:pt idx="2">
                <c:v>4.7000110222283231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112C-464D-BA94-A21ED3909902}"/>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6.5926272151748204"/>
          <c:min val="0"/>
        </c:scaling>
        <c:delete val="0"/>
        <c:axPos val="l"/>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5"/>
              <c:pt idx="0">
                <c:v>2021</c:v>
              </c:pt>
              <c:pt idx="1">
                <c:v>2021–2026</c:v>
              </c:pt>
              <c:pt idx="2">
                <c:v>2026</c:v>
              </c:pt>
              <c:pt idx="3">
                <c:v>2026–2036</c:v>
              </c:pt>
              <c:pt idx="4">
                <c:v>2036</c:v>
              </c:pt>
            </c:strLit>
          </c:cat>
          <c:val>
            <c:numLit>
              <c:formatCode>General</c:formatCode>
              <c:ptCount val="5"/>
              <c:pt idx="0">
                <c:v>0</c:v>
              </c:pt>
              <c:pt idx="1">
                <c:v>8910.2019999999993</c:v>
              </c:pt>
              <c:pt idx="2">
                <c:v>0</c:v>
              </c:pt>
              <c:pt idx="3">
                <c:v>10900.000000000002</c:v>
              </c:pt>
              <c:pt idx="4">
                <c:v>0</c:v>
              </c:pt>
            </c:numLit>
          </c:val>
          <c:extLst>
            <c:ext xmlns:c16="http://schemas.microsoft.com/office/drawing/2014/chart" uri="{C3380CC4-5D6E-409C-BE32-E72D297353CC}">
              <c16:uniqueId val="{00000000-3DFA-4DDA-B2BA-40303CB7A5E8}"/>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3DFA-4DDA-B2BA-40303CB7A5E8}"/>
              </c:ext>
            </c:extLst>
          </c:dPt>
          <c:dPt>
            <c:idx val="1"/>
            <c:invertIfNegative val="1"/>
            <c:bubble3D val="0"/>
            <c:spPr>
              <a:solidFill>
                <a:srgbClr val="008189"/>
              </a:solidFill>
            </c:spPr>
            <c:extLst>
              <c:ext xmlns:c16="http://schemas.microsoft.com/office/drawing/2014/chart" uri="{C3380CC4-5D6E-409C-BE32-E72D297353CC}">
                <c16:uniqueId val="{00000004-3DFA-4DDA-B2BA-40303CB7A5E8}"/>
              </c:ext>
            </c:extLst>
          </c:dPt>
          <c:dPt>
            <c:idx val="2"/>
            <c:invertIfNegative val="1"/>
            <c:bubble3D val="0"/>
            <c:spPr>
              <a:solidFill>
                <a:srgbClr val="0E72AE"/>
              </a:solidFill>
            </c:spPr>
            <c:extLst>
              <c:ext xmlns:c16="http://schemas.microsoft.com/office/drawing/2014/chart" uri="{C3380CC4-5D6E-409C-BE32-E72D297353CC}">
                <c16:uniqueId val="{00000006-3DFA-4DDA-B2BA-40303CB7A5E8}"/>
              </c:ext>
            </c:extLst>
          </c:dPt>
          <c:dPt>
            <c:idx val="3"/>
            <c:invertIfNegative val="1"/>
            <c:bubble3D val="0"/>
            <c:spPr>
              <a:solidFill>
                <a:srgbClr val="008189"/>
              </a:solidFill>
            </c:spPr>
            <c:extLst>
              <c:ext xmlns:c16="http://schemas.microsoft.com/office/drawing/2014/chart" uri="{C3380CC4-5D6E-409C-BE32-E72D297353CC}">
                <c16:uniqueId val="{00000008-3DFA-4DDA-B2BA-40303CB7A5E8}"/>
              </c:ext>
            </c:extLst>
          </c:dPt>
          <c:dPt>
            <c:idx val="4"/>
            <c:invertIfNegative val="1"/>
            <c:bubble3D val="0"/>
            <c:spPr>
              <a:solidFill>
                <a:srgbClr val="0E72AE"/>
              </a:solidFill>
            </c:spPr>
            <c:extLst>
              <c:ext xmlns:c16="http://schemas.microsoft.com/office/drawing/2014/chart" uri="{C3380CC4-5D6E-409C-BE32-E72D297353CC}">
                <c16:uniqueId val="{0000000A-3DFA-4DDA-B2BA-40303CB7A5E8}"/>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DFA-4DDA-B2BA-40303CB7A5E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DFA-4DDA-B2BA-40303CB7A5E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DFA-4DDA-B2BA-40303CB7A5E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DFA-4DDA-B2BA-40303CB7A5E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DFA-4DDA-B2BA-40303CB7A5E8}"/>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2021</c:v>
              </c:pt>
              <c:pt idx="1">
                <c:v>2021–2026</c:v>
              </c:pt>
              <c:pt idx="2">
                <c:v>2026</c:v>
              </c:pt>
              <c:pt idx="3">
                <c:v>2026–2036</c:v>
              </c:pt>
              <c:pt idx="4">
                <c:v>2036</c:v>
              </c:pt>
            </c:strLit>
          </c:cat>
          <c:val>
            <c:numLit>
              <c:formatCode>General</c:formatCode>
              <c:ptCount val="5"/>
              <c:pt idx="0">
                <c:v>8910.2019999999993</c:v>
              </c:pt>
              <c:pt idx="1">
                <c:v>1989.7980000000025</c:v>
              </c:pt>
              <c:pt idx="2">
                <c:v>10900.000000000002</c:v>
              </c:pt>
              <c:pt idx="3">
                <c:v>6845.5089999999964</c:v>
              </c:pt>
              <c:pt idx="4">
                <c:v>17745.508999999998</c:v>
              </c:pt>
            </c:numLit>
          </c:val>
          <c:extLst>
            <c:ext xmlns:c16="http://schemas.microsoft.com/office/drawing/2014/chart" uri="{C3380CC4-5D6E-409C-BE32-E72D297353CC}">
              <c16:uniqueId val="{0000000B-3DFA-4DDA-B2BA-40303CB7A5E8}"/>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Value (US$ Mn)</c:v>
          </c:tx>
          <c:spPr>
            <a:solidFill>
              <a:srgbClr val="69B1E0"/>
            </a:solidFill>
            <a:ln>
              <a:noFill/>
            </a:ln>
          </c:spPr>
          <c:invertIfNegative val="1"/>
          <c:dLbls>
            <c:dLbl>
              <c:idx val="0"/>
              <c:numFmt formatCode="&quot;MMMMMMM&quot;;&quot;MMMMMMM&quot;;&quot;MM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948-4660-9ED2-C0EC0DBA9165}"/>
                </c:ext>
              </c:extLst>
            </c:dLbl>
            <c:dLbl>
              <c:idx val="1"/>
              <c:numFmt formatCode="&quot;MMMMMMM&quot;;&quot;MMMMMMM&quot;;&quot;MM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948-4660-9ED2-C0EC0DBA9165}"/>
                </c:ext>
              </c:extLst>
            </c:dLbl>
            <c:dLbl>
              <c:idx val="2"/>
              <c:numFmt formatCode="&quot;MMMMMMM&quot;;&quot;MMMMMMM&quot;;&quot;MM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948-4660-9ED2-C0EC0DBA9165}"/>
                </c:ext>
              </c:extLst>
            </c:dLbl>
            <c:dLbl>
              <c:idx val="3"/>
              <c:numFmt formatCode="&quot;MMMMMMMM&quot;;&quot;MMMMMMMM&quot;;&quot;MMM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948-4660-9ED2-C0EC0DBA9165}"/>
                </c:ext>
              </c:extLst>
            </c:dLbl>
            <c:dLbl>
              <c:idx val="4"/>
              <c:numFmt formatCode="&quot;MMMMMMMM&quot;;&quot;MMMMMMMM&quot;;&quot;MMM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948-4660-9ED2-C0EC0DBA9165}"/>
                </c:ext>
              </c:extLst>
            </c:dLbl>
            <c:numFmt formatCode="#,##0" sourceLinked="0"/>
            <c:spPr>
              <a:noFill/>
              <a:ln>
                <a:noFill/>
              </a:ln>
              <a:effectLst/>
            </c:spPr>
            <c:txPr>
              <a:bodyPr rot="0" vert="horz"/>
              <a:lstStyle/>
              <a:p>
                <a:pPr>
                  <a:defRPr sz="1100">
                    <a:solidFill>
                      <a:srgbClr val="6C7A89"/>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2021</c:v>
              </c:pt>
              <c:pt idx="1">
                <c:v>2022</c:v>
              </c:pt>
              <c:pt idx="2">
                <c:v>2023</c:v>
              </c:pt>
              <c:pt idx="3">
                <c:v>2024</c:v>
              </c:pt>
              <c:pt idx="4">
                <c:v>2025</c:v>
              </c:pt>
            </c:strLit>
          </c:cat>
          <c:val>
            <c:numLit>
              <c:formatCode>General</c:formatCode>
              <c:ptCount val="5"/>
              <c:pt idx="0">
                <c:v>8910.2019999999993</c:v>
              </c:pt>
              <c:pt idx="1">
                <c:v>9274.8520000000008</c:v>
              </c:pt>
              <c:pt idx="2">
                <c:v>9655.396999999999</c:v>
              </c:pt>
              <c:pt idx="3">
                <c:v>10052.588999999998</c:v>
              </c:pt>
              <c:pt idx="4">
                <c:v>10467.183999999999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5948-4660-9ED2-C0EC0DBA9165}"/>
            </c:ext>
          </c:extLst>
        </c:ser>
        <c:dLbls>
          <c:showLegendKey val="0"/>
          <c:showVal val="0"/>
          <c:showCatName val="0"/>
          <c:showSerName val="0"/>
          <c:showPercent val="0"/>
          <c:showBubbleSize val="0"/>
        </c:dLbls>
        <c:gapWidth val="50"/>
        <c:axId val="-2068027336"/>
        <c:axId val="-2113994440"/>
      </c:barChart>
      <c:barChart>
        <c:barDir val="col"/>
        <c:grouping val="clustered"/>
        <c:varyColors val="0"/>
        <c:ser>
          <c:idx val="1"/>
          <c:order val="1"/>
          <c:tx>
            <c:v>Volume (MT)</c:v>
          </c:tx>
          <c:spPr>
            <a:solidFill>
              <a:srgbClr val="C55A11"/>
            </a:solidFill>
            <a:ln>
              <a:noFill/>
            </a:ln>
          </c:spPr>
          <c:invertIfNegative val="1"/>
          <c:dLbls>
            <c:dLbl>
              <c:idx val="0"/>
              <c:numFmt formatCode="&quot;MMMMMMMMMMM&quot;;&quot;MMMMMMMMMMM&quot;;&quot;MMMMMMM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948-4660-9ED2-C0EC0DBA9165}"/>
                </c:ext>
              </c:extLst>
            </c:dLbl>
            <c:dLbl>
              <c:idx val="1"/>
              <c:numFmt formatCode="&quot;MMMMMMMMMMM&quot;;&quot;MMMMMMMMMMM&quot;;&quot;MMMMMMM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948-4660-9ED2-C0EC0DBA9165}"/>
                </c:ext>
              </c:extLst>
            </c:dLbl>
            <c:dLbl>
              <c:idx val="2"/>
              <c:numFmt formatCode="&quot;MMMMMMMMMMM&quot;;&quot;MMMMMMMMMMM&quot;;&quot;MMMMMMM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948-4660-9ED2-C0EC0DBA9165}"/>
                </c:ext>
              </c:extLst>
            </c:dLbl>
            <c:dLbl>
              <c:idx val="3"/>
              <c:numFmt formatCode="&quot;MMMMMMMMMMM&quot;;&quot;MMMMMMMMMMM&quot;;&quot;MMMMMMM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948-4660-9ED2-C0EC0DBA9165}"/>
                </c:ext>
              </c:extLst>
            </c:dLbl>
            <c:dLbl>
              <c:idx val="4"/>
              <c:numFmt formatCode="&quot;MMMMMMMMMMM&quot;;&quot;MMMMMMMMMMM&quot;;&quot;MMMMMMM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948-4660-9ED2-C0EC0DBA9165}"/>
                </c:ext>
              </c:extLst>
            </c:dLbl>
            <c:numFmt formatCode="#,##0.0,,&quot;M&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2021</c:v>
              </c:pt>
              <c:pt idx="1">
                <c:v>2022</c:v>
              </c:pt>
              <c:pt idx="2">
                <c:v>2023</c:v>
              </c:pt>
              <c:pt idx="3">
                <c:v>2024</c:v>
              </c:pt>
              <c:pt idx="4">
                <c:v>2025</c:v>
              </c:pt>
            </c:strLit>
          </c:cat>
          <c:val>
            <c:numLit>
              <c:formatCode>General</c:formatCode>
              <c:ptCount val="5"/>
              <c:pt idx="0">
                <c:v>2240733.219</c:v>
              </c:pt>
              <c:pt idx="1">
                <c:v>2317872.3619999997</c:v>
              </c:pt>
              <c:pt idx="2">
                <c:v>2398084.12</c:v>
              </c:pt>
              <c:pt idx="3">
                <c:v>2481503.449</c:v>
              </c:pt>
              <c:pt idx="4">
                <c:v>2568271.6360000004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5948-4660-9ED2-C0EC0DBA9165}"/>
            </c:ext>
          </c:extLst>
        </c:ser>
        <c:dLbls>
          <c:showLegendKey val="0"/>
          <c:showVal val="0"/>
          <c:showCatName val="0"/>
          <c:showSerName val="0"/>
          <c:showPercent val="0"/>
          <c:showBubbleSize val="0"/>
        </c:dLbls>
        <c:gapWidth val="219"/>
        <c:axId val="90210001"/>
        <c:axId val="90210002"/>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2351"/>
          <c:min val="0"/>
        </c:scaling>
        <c:delete val="0"/>
        <c:axPos val="l"/>
        <c:numFmt formatCode="#,##0" sourceLinked="0"/>
        <c:majorTickMark val="none"/>
        <c:minorTickMark val="none"/>
        <c:tickLblPos val="none"/>
        <c:spPr>
          <a:ln>
            <a:noFill/>
          </a:ln>
        </c:spPr>
        <c:txPr>
          <a:bodyPr/>
          <a:lstStyle/>
          <a:p>
            <a:pPr>
              <a:defRPr sz="1100"/>
            </a:pPr>
            <a:endParaRPr lang="en-US"/>
          </a:p>
        </c:txPr>
        <c:crossAx val="-2068027336"/>
        <c:crosses val="autoZero"/>
        <c:crossBetween val="between"/>
      </c:valAx>
      <c:catAx>
        <c:axId val="90210001"/>
        <c:scaling>
          <c:orientation val="minMax"/>
        </c:scaling>
        <c:delete val="1"/>
        <c:axPos val="b"/>
        <c:numFmt formatCode="General" sourceLinked="1"/>
        <c:majorTickMark val="cross"/>
        <c:minorTickMark val="cross"/>
        <c:tickLblPos val="nextTo"/>
        <c:crossAx val="90210002"/>
        <c:crosses val="autoZero"/>
        <c:auto val="1"/>
        <c:lblAlgn val="ctr"/>
        <c:lblOffset val="100"/>
        <c:noMultiLvlLbl val="1"/>
      </c:catAx>
      <c:valAx>
        <c:axId val="90210002"/>
        <c:scaling>
          <c:orientation val="minMax"/>
          <c:max val="3529651"/>
          <c:min val="0"/>
        </c:scaling>
        <c:delete val="0"/>
        <c:axPos val="r"/>
        <c:numFmt formatCode="#,##0,,&quot;M&quot;" sourceLinked="0"/>
        <c:majorTickMark val="none"/>
        <c:minorTickMark val="none"/>
        <c:tickLblPos val="none"/>
        <c:spPr>
          <a:ln>
            <a:noFill/>
          </a:ln>
        </c:spPr>
        <c:crossAx val="90210001"/>
        <c:crosses val="max"/>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Value (US$ Mn)</c:v>
          </c:tx>
          <c:spPr>
            <a:solidFill>
              <a:srgbClr val="69B1E0"/>
            </a:solidFill>
            <a:ln>
              <a:noFill/>
            </a:ln>
          </c:spPr>
          <c:invertIfNegative val="1"/>
          <c:dLbls>
            <c:dLbl>
              <c:idx val="0"/>
              <c:numFmt formatCode="&quot;MMMMMMMM&quot;;&quot;MMMMMMMM&quot;;&quot;MMM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8BF-4748-ABE5-C9A996A13F5C}"/>
                </c:ext>
              </c:extLst>
            </c:dLbl>
            <c:dLbl>
              <c:idx val="1"/>
              <c:numFmt formatCode="&quot;MMMMMMMM&quot;;&quot;MMMMMMMM&quot;;&quot;MMM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8BF-4748-ABE5-C9A996A13F5C}"/>
                </c:ext>
              </c:extLst>
            </c:dLbl>
            <c:dLbl>
              <c:idx val="2"/>
              <c:numFmt formatCode="&quot;MMMMMMMM&quot;;&quot;MMMMMMMM&quot;;&quot;MMM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8BF-4748-ABE5-C9A996A13F5C}"/>
                </c:ext>
              </c:extLst>
            </c:dLbl>
            <c:dLbl>
              <c:idx val="3"/>
              <c:numFmt formatCode="&quot;MMMMMMMM&quot;;&quot;MMMMMMMM&quot;;&quot;MMM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8BF-4748-ABE5-C9A996A13F5C}"/>
                </c:ext>
              </c:extLst>
            </c:dLbl>
            <c:dLbl>
              <c:idx val="4"/>
              <c:numFmt formatCode="&quot;MMMMMMMM&quot;;&quot;MMMMMMMM&quot;;&quot;MMM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8BF-4748-ABE5-C9A996A13F5C}"/>
                </c:ext>
              </c:extLst>
            </c:dLbl>
            <c:dLbl>
              <c:idx val="5"/>
              <c:numFmt formatCode="&quot;MMMMMMMM&quot;;&quot;MMMMMMMM&quot;;&quot;MMMM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8BF-4748-ABE5-C9A996A13F5C}"/>
                </c:ext>
              </c:extLst>
            </c:dLbl>
            <c:dLbl>
              <c:idx val="6"/>
              <c:numFmt formatCode="&quot;MMMMMMMM&quot;;&quot;MMMMMMMM&quot;;&quot;MMMM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8BF-4748-ABE5-C9A996A13F5C}"/>
                </c:ext>
              </c:extLst>
            </c:dLbl>
            <c:dLbl>
              <c:idx val="7"/>
              <c:numFmt formatCode="&quot;MMMMMMMM&quot;;&quot;MMMMMMMM&quot;;&quot;MMMM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8BF-4748-ABE5-C9A996A13F5C}"/>
                </c:ext>
              </c:extLst>
            </c:dLbl>
            <c:dLbl>
              <c:idx val="8"/>
              <c:numFmt formatCode="&quot;MMMMMMMM&quot;;&quot;MMMMMMMM&quot;;&quot;MMMM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8BF-4748-ABE5-C9A996A13F5C}"/>
                </c:ext>
              </c:extLst>
            </c:dLbl>
            <c:dLbl>
              <c:idx val="9"/>
              <c:numFmt formatCode="&quot;MMMMMMMM&quot;;&quot;MMMMMMMM&quot;;&quot;MMMM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8BF-4748-ABE5-C9A996A13F5C}"/>
                </c:ext>
              </c:extLst>
            </c:dLbl>
            <c:dLbl>
              <c:idx val="10"/>
              <c:numFmt formatCode="&quot;MMMMMMMM&quot;;&quot;MMMMMMMM&quot;;&quot;MMMM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8BF-4748-ABE5-C9A996A13F5C}"/>
                </c:ext>
              </c:extLst>
            </c:dLbl>
            <c:numFmt formatCode="#,##0" sourceLinked="0"/>
            <c:spPr>
              <a:noFill/>
              <a:ln>
                <a:noFill/>
              </a:ln>
              <a:effectLst/>
            </c:spPr>
            <c:txPr>
              <a:bodyPr rot="0" vert="horz"/>
              <a:lstStyle/>
              <a:p>
                <a:pPr>
                  <a:defRPr sz="1100">
                    <a:solidFill>
                      <a:srgbClr val="6C7A89"/>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10900.000000000002</c:v>
              </c:pt>
              <c:pt idx="1">
                <c:v>11439.085999999999</c:v>
              </c:pt>
              <c:pt idx="2">
                <c:v>12006.056000000002</c:v>
              </c:pt>
              <c:pt idx="3">
                <c:v>12602.422</c:v>
              </c:pt>
              <c:pt idx="4">
                <c:v>13229.767000000002</c:v>
              </c:pt>
              <c:pt idx="5">
                <c:v>13889.777</c:v>
              </c:pt>
              <c:pt idx="6">
                <c:v>14584.227999999997</c:v>
              </c:pt>
              <c:pt idx="7">
                <c:v>15314.991</c:v>
              </c:pt>
              <c:pt idx="8">
                <c:v>16084.041000000001</c:v>
              </c:pt>
              <c:pt idx="9">
                <c:v>16893.478000000003</c:v>
              </c:pt>
              <c:pt idx="10">
                <c:v>17745.508999999998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08BF-4748-ABE5-C9A996A13F5C}"/>
            </c:ext>
          </c:extLst>
        </c:ser>
        <c:dLbls>
          <c:showLegendKey val="0"/>
          <c:showVal val="0"/>
          <c:showCatName val="0"/>
          <c:showSerName val="0"/>
          <c:showPercent val="0"/>
          <c:showBubbleSize val="0"/>
        </c:dLbls>
        <c:gapWidth val="50"/>
        <c:axId val="-2068027336"/>
        <c:axId val="-2113994440"/>
      </c:barChart>
      <c:barChart>
        <c:barDir val="col"/>
        <c:grouping val="clustered"/>
        <c:varyColors val="0"/>
        <c:ser>
          <c:idx val="1"/>
          <c:order val="1"/>
          <c:tx>
            <c:v>Volume (MT)</c:v>
          </c:tx>
          <c:spPr>
            <a:solidFill>
              <a:srgbClr val="C55A11"/>
            </a:solidFill>
            <a:ln>
              <a:noFill/>
            </a:ln>
          </c:spPr>
          <c:invertIfNegative val="1"/>
          <c:dLbls>
            <c:dLbl>
              <c:idx val="0"/>
              <c:numFmt formatCode="&quot;MMMMMMMMMMM&quot;;&quot;MMMMMMMMMMM&quot;;&quot;MMMMMMM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08BF-4748-ABE5-C9A996A13F5C}"/>
                </c:ext>
              </c:extLst>
            </c:dLbl>
            <c:dLbl>
              <c:idx val="1"/>
              <c:numFmt formatCode="&quot;MMMMMMMMMMM&quot;;&quot;MMMMMMMMMMM&quot;;&quot;MMMMMMM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08BF-4748-ABE5-C9A996A13F5C}"/>
                </c:ext>
              </c:extLst>
            </c:dLbl>
            <c:dLbl>
              <c:idx val="2"/>
              <c:numFmt formatCode="&quot;MMMMMMMMMMM&quot;;&quot;MMMMMMMMMMM&quot;;&quot;MMMMMMM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8BF-4748-ABE5-C9A996A13F5C}"/>
                </c:ext>
              </c:extLst>
            </c:dLbl>
            <c:dLbl>
              <c:idx val="3"/>
              <c:numFmt formatCode="&quot;MMMMMMMMMMM&quot;;&quot;MMMMMMMMMMM&quot;;&quot;MMMMMMMM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08BF-4748-ABE5-C9A996A13F5C}"/>
                </c:ext>
              </c:extLst>
            </c:dLbl>
            <c:dLbl>
              <c:idx val="4"/>
              <c:numFmt formatCode="&quot;MMMMMMMMMMM&quot;;&quot;MMMMMMMMMMM&quot;;&quot;MMMMMMMM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08BF-4748-ABE5-C9A996A13F5C}"/>
                </c:ext>
              </c:extLst>
            </c:dLbl>
            <c:dLbl>
              <c:idx val="5"/>
              <c:numFmt formatCode="&quot;MMMMMMMMMMM&quot;;&quot;MMMMMMMMMMM&quot;;&quot;MMMMMMMM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08BF-4748-ABE5-C9A996A13F5C}"/>
                </c:ext>
              </c:extLst>
            </c:dLbl>
            <c:dLbl>
              <c:idx val="6"/>
              <c:numFmt formatCode="&quot;MMMMMMMMMMM&quot;;&quot;MMMMMMMMMMM&quot;;&quot;MMMMMMM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08BF-4748-ABE5-C9A996A13F5C}"/>
                </c:ext>
              </c:extLst>
            </c:dLbl>
            <c:dLbl>
              <c:idx val="7"/>
              <c:numFmt formatCode="&quot;MMMMMMMMMMM&quot;;&quot;MMMMMMMMMMM&quot;;&quot;MMMMMMMM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08BF-4748-ABE5-C9A996A13F5C}"/>
                </c:ext>
              </c:extLst>
            </c:dLbl>
            <c:dLbl>
              <c:idx val="8"/>
              <c:numFmt formatCode="&quot;MMMMMMMMMMM&quot;;&quot;MMMMMMMMMMM&quot;;&quot;MMMMMMMM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08BF-4748-ABE5-C9A996A13F5C}"/>
                </c:ext>
              </c:extLst>
            </c:dLbl>
            <c:dLbl>
              <c:idx val="9"/>
              <c:numFmt formatCode="&quot;MMMMMMMMMMM&quot;;&quot;MMMMMMMMMMM&quot;;&quot;MMMMMMMM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08BF-4748-ABE5-C9A996A13F5C}"/>
                </c:ext>
              </c:extLst>
            </c:dLbl>
            <c:dLbl>
              <c:idx val="10"/>
              <c:numFmt formatCode="&quot;MMMMMMMMMMM&quot;;&quot;MMMMMMMMMMM&quot;;&quot;MMMMMMMM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08BF-4748-ABE5-C9A996A13F5C}"/>
                </c:ext>
              </c:extLst>
            </c:dLbl>
            <c:numFmt formatCode="#,##0.0,,&quot;M&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2658536.588</c:v>
              </c:pt>
              <c:pt idx="1">
                <c:v>2773574.2179999999</c:v>
              </c:pt>
              <c:pt idx="2">
                <c:v>2894088.1329999999</c:v>
              </c:pt>
              <c:pt idx="3">
                <c:v>3020358.4850000003</c:v>
              </c:pt>
              <c:pt idx="4">
                <c:v>3152680.5429999996</c:v>
              </c:pt>
              <c:pt idx="5">
                <c:v>3291365.5169999995</c:v>
              </c:pt>
              <c:pt idx="6">
                <c:v>3436741.4780000001</c:v>
              </c:pt>
              <c:pt idx="7">
                <c:v>3589154.2940000002</c:v>
              </c:pt>
              <c:pt idx="8">
                <c:v>3748968.6399999997</c:v>
              </c:pt>
              <c:pt idx="9">
                <c:v>3916569.054</c:v>
              </c:pt>
              <c:pt idx="10">
                <c:v>4092361.0580000002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08BF-4748-ABE5-C9A996A13F5C}"/>
            </c:ext>
          </c:extLst>
        </c:ser>
        <c:dLbls>
          <c:showLegendKey val="0"/>
          <c:showVal val="0"/>
          <c:showCatName val="0"/>
          <c:showSerName val="0"/>
          <c:showPercent val="0"/>
          <c:showBubbleSize val="0"/>
        </c:dLbls>
        <c:gapWidth val="219"/>
        <c:axId val="90210001"/>
        <c:axId val="90210002"/>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20940"/>
          <c:min val="0"/>
        </c:scaling>
        <c:delete val="0"/>
        <c:axPos val="l"/>
        <c:numFmt formatCode="#,##0" sourceLinked="0"/>
        <c:majorTickMark val="none"/>
        <c:minorTickMark val="none"/>
        <c:tickLblPos val="none"/>
        <c:spPr>
          <a:ln>
            <a:noFill/>
          </a:ln>
        </c:spPr>
        <c:txPr>
          <a:bodyPr/>
          <a:lstStyle/>
          <a:p>
            <a:pPr>
              <a:defRPr sz="1100"/>
            </a:pPr>
            <a:endParaRPr lang="en-US"/>
          </a:p>
        </c:txPr>
        <c:crossAx val="-2068027336"/>
        <c:crosses val="autoZero"/>
        <c:crossBetween val="between"/>
      </c:valAx>
      <c:catAx>
        <c:axId val="90210001"/>
        <c:scaling>
          <c:orientation val="minMax"/>
        </c:scaling>
        <c:delete val="1"/>
        <c:axPos val="b"/>
        <c:numFmt formatCode="General" sourceLinked="1"/>
        <c:majorTickMark val="cross"/>
        <c:minorTickMark val="cross"/>
        <c:tickLblPos val="nextTo"/>
        <c:crossAx val="90210002"/>
        <c:crosses val="autoZero"/>
        <c:auto val="1"/>
        <c:lblAlgn val="ctr"/>
        <c:lblOffset val="100"/>
        <c:noMultiLvlLbl val="1"/>
      </c:catAx>
      <c:valAx>
        <c:axId val="90210002"/>
        <c:scaling>
          <c:orientation val="minMax"/>
          <c:max val="5803686"/>
          <c:min val="0"/>
        </c:scaling>
        <c:delete val="0"/>
        <c:axPos val="r"/>
        <c:numFmt formatCode="#,##0,,&quot;M&quot;" sourceLinked="0"/>
        <c:majorTickMark val="none"/>
        <c:minorTickMark val="none"/>
        <c:tickLblPos val="none"/>
        <c:spPr>
          <a:ln>
            <a:noFill/>
          </a:ln>
        </c:spPr>
        <c:crossAx val="90210001"/>
        <c:crosses val="max"/>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Index</c:v>
          </c:tx>
          <c:spPr>
            <a:solidFill>
              <a:srgbClr val="0E72AE"/>
            </a:solidFill>
            <a:ln>
              <a:noFill/>
            </a:ln>
          </c:spPr>
          <c:invertIfNegative val="1"/>
          <c:dLbls>
            <c:dLbl>
              <c:idx val="0"/>
              <c:numFmt formatCode="&quot;MMMMM&quot;;&quot;MMMMM&quot;;&quot;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AE8-46A3-8611-A86B83124FA9}"/>
                </c:ext>
              </c:extLst>
            </c:dLbl>
            <c:dLbl>
              <c:idx val="1"/>
              <c:numFmt formatCode="&quot;MMMMM&quot;;&quot;MMMMM&quot;;&quot;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AE8-46A3-8611-A86B83124FA9}"/>
                </c:ext>
              </c:extLst>
            </c:dLbl>
            <c:dLbl>
              <c:idx val="2"/>
              <c:numFmt formatCode="&quot;MMMMM&quot;;&quot;MMMMM&quot;;&quot;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AE8-46A3-8611-A86B83124FA9}"/>
                </c:ext>
              </c:extLst>
            </c:dLbl>
            <c:dLbl>
              <c:idx val="3"/>
              <c:numFmt formatCode="&quot;MMMMM&quot;;&quot;MMMMM&quot;;&quot;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AE8-46A3-8611-A86B83124FA9}"/>
                </c:ext>
              </c:extLst>
            </c:dLbl>
            <c:dLbl>
              <c:idx val="4"/>
              <c:numFmt formatCode="&quot;MMMMM&quot;;&quot;MMMMM&quot;;&quot;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AE8-46A3-8611-A86B83124FA9}"/>
                </c:ext>
              </c:extLst>
            </c:dLbl>
            <c:dLbl>
              <c:idx val="5"/>
              <c:numFmt formatCode="&quot;MMMMM&quot;;&quot;MMMMM&quot;;&quot;M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AE8-46A3-8611-A86B83124FA9}"/>
                </c:ext>
              </c:extLst>
            </c:dLbl>
            <c:dLbl>
              <c:idx val="6"/>
              <c:numFmt formatCode="&quot;MMMMM&quot;;&quot;MMMMM&quot;;&quot;M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AE8-46A3-8611-A86B83124FA9}"/>
                </c:ext>
              </c:extLst>
            </c:dLbl>
            <c:dLbl>
              <c:idx val="7"/>
              <c:numFmt formatCode="&quot;MMMMM&quot;;&quot;MMMMM&quot;;&quot;M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AE8-46A3-8611-A86B83124FA9}"/>
                </c:ext>
              </c:extLst>
            </c:dLbl>
            <c:dLbl>
              <c:idx val="8"/>
              <c:numFmt formatCode="&quot;MMMMM&quot;;&quot;MMMMM&quot;;&quot;M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AE8-46A3-8611-A86B83124FA9}"/>
                </c:ext>
              </c:extLst>
            </c:dLbl>
            <c:dLbl>
              <c:idx val="9"/>
              <c:numFmt formatCode="&quot;MMMMM&quot;;&quot;MMMMM&quot;;&quot;M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AE8-46A3-8611-A86B83124FA9}"/>
                </c:ext>
              </c:extLst>
            </c:dLbl>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0"/>
              <c:pt idx="0">
                <c:v>China</c:v>
              </c:pt>
              <c:pt idx="1">
                <c:v>Malaysia</c:v>
              </c:pt>
              <c:pt idx="2">
                <c:v>Spain</c:v>
              </c:pt>
              <c:pt idx="3">
                <c:v>Thailand</c:v>
              </c:pt>
              <c:pt idx="4">
                <c:v>Brazil</c:v>
              </c:pt>
              <c:pt idx="5">
                <c:v>France</c:v>
              </c:pt>
              <c:pt idx="6">
                <c:v>Netherlands</c:v>
              </c:pt>
              <c:pt idx="7">
                <c:v>Germany</c:v>
              </c:pt>
              <c:pt idx="8">
                <c:v>Saudi Arabia</c:v>
              </c:pt>
              <c:pt idx="9">
                <c:v>India</c:v>
              </c:pt>
            </c:strLit>
          </c:cat>
          <c:val>
            <c:numLit>
              <c:formatCode>General</c:formatCode>
              <c:ptCount val="10"/>
              <c:pt idx="0">
                <c:v>101.59839916154326</c:v>
              </c:pt>
              <c:pt idx="1">
                <c:v>105.94801046294018</c:v>
              </c:pt>
              <c:pt idx="2">
                <c:v>114.39906564440756</c:v>
              </c:pt>
              <c:pt idx="3">
                <c:v>118.03481530341912</c:v>
              </c:pt>
              <c:pt idx="4">
                <c:v>118.56183533314837</c:v>
              </c:pt>
              <c:pt idx="5">
                <c:v>122.97427328206352</c:v>
              </c:pt>
              <c:pt idx="6">
                <c:v>127.69086905692264</c:v>
              </c:pt>
              <c:pt idx="7">
                <c:v>131.04241477228211</c:v>
              </c:pt>
              <c:pt idx="8">
                <c:v>131.4246376031995</c:v>
              </c:pt>
              <c:pt idx="9">
                <c:v>135.41754590509254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A-8AE8-46A3-8611-A86B83124FA9}"/>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Index</c:v>
          </c:tx>
          <c:spPr>
            <a:solidFill>
              <a:srgbClr val="0E72AE"/>
            </a:solidFill>
            <a:ln>
              <a:noFill/>
            </a:ln>
          </c:spPr>
          <c:invertIfNegative val="1"/>
          <c:dLbls>
            <c:dLbl>
              <c:idx val="0"/>
              <c:numFmt formatCode="&quot;MMM&quot;;&quot;MMM&quot;;&quot;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D0-4BF9-9CE9-1E66CE0FCA2D}"/>
                </c:ext>
              </c:extLst>
            </c:dLbl>
            <c:dLbl>
              <c:idx val="1"/>
              <c:numFmt formatCode="&quot;MMM&quot;;&quot;MMM&quot;;&quot;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2D0-4BF9-9CE9-1E66CE0FCA2D}"/>
                </c:ext>
              </c:extLst>
            </c:dLbl>
            <c:dLbl>
              <c:idx val="2"/>
              <c:numFmt formatCode="&quot;MMM&quot;;&quot;MMM&quot;;&quot;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D0-4BF9-9CE9-1E66CE0FCA2D}"/>
                </c:ext>
              </c:extLst>
            </c:dLbl>
            <c:dLbl>
              <c:idx val="3"/>
              <c:numFmt formatCode="&quot;MMM&quot;;&quot;MMM&quot;;&quot;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D0-4BF9-9CE9-1E66CE0FCA2D}"/>
                </c:ext>
              </c:extLst>
            </c:dLbl>
            <c:dLbl>
              <c:idx val="4"/>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D0-4BF9-9CE9-1E66CE0FCA2D}"/>
                </c:ext>
              </c:extLst>
            </c:dLbl>
            <c:dLbl>
              <c:idx val="5"/>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D0-4BF9-9CE9-1E66CE0FCA2D}"/>
                </c:ext>
              </c:extLst>
            </c:dLbl>
            <c:dLbl>
              <c:idx val="6"/>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D0-4BF9-9CE9-1E66CE0FCA2D}"/>
                </c:ext>
              </c:extLst>
            </c:dLbl>
            <c:dLbl>
              <c:idx val="7"/>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2D0-4BF9-9CE9-1E66CE0FCA2D}"/>
                </c:ext>
              </c:extLst>
            </c:dLbl>
            <c:dLbl>
              <c:idx val="8"/>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D0-4BF9-9CE9-1E66CE0FCA2D}"/>
                </c:ext>
              </c:extLst>
            </c:dLbl>
            <c:dLbl>
              <c:idx val="9"/>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2D0-4BF9-9CE9-1E66CE0FCA2D}"/>
                </c:ext>
              </c:extLst>
            </c:dLbl>
            <c:numFmt formatCode="0.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0"/>
              <c:pt idx="0">
                <c:v>UAE</c:v>
              </c:pt>
              <c:pt idx="1">
                <c:v>Japan</c:v>
              </c:pt>
              <c:pt idx="2">
                <c:v>U.K.</c:v>
              </c:pt>
              <c:pt idx="3">
                <c:v>France</c:v>
              </c:pt>
              <c:pt idx="4">
                <c:v>Brazil</c:v>
              </c:pt>
              <c:pt idx="5">
                <c:v>India</c:v>
              </c:pt>
              <c:pt idx="6">
                <c:v>China</c:v>
              </c:pt>
              <c:pt idx="7">
                <c:v>Canada</c:v>
              </c:pt>
              <c:pt idx="8">
                <c:v>Germany</c:v>
              </c:pt>
              <c:pt idx="9">
                <c:v>U.S.</c:v>
              </c:pt>
            </c:strLit>
          </c:cat>
          <c:val>
            <c:numLit>
              <c:formatCode>General</c:formatCode>
              <c:ptCount val="10"/>
              <c:pt idx="0">
                <c:v>2.7732196393285005</c:v>
              </c:pt>
              <c:pt idx="1">
                <c:v>3.0427686239255567</c:v>
              </c:pt>
              <c:pt idx="2">
                <c:v>3.3640449526835807</c:v>
              </c:pt>
              <c:pt idx="3">
                <c:v>3.7167725584759315</c:v>
              </c:pt>
              <c:pt idx="4">
                <c:v>6.1674595709391378</c:v>
              </c:pt>
              <c:pt idx="5">
                <c:v>7.1686561218457285</c:v>
              </c:pt>
              <c:pt idx="6">
                <c:v>7.6484159176476192</c:v>
              </c:pt>
              <c:pt idx="7">
                <c:v>9.1507731565322672</c:v>
              </c:pt>
              <c:pt idx="8">
                <c:v>14.278689868058036</c:v>
              </c:pt>
              <c:pt idx="9">
                <c:v>16.504499519319911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A-62D0-4BF9-9CE9-1E66CE0FCA2D}"/>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4224-45BF-B849-E7B84E246BDA}"/>
              </c:ext>
            </c:extLst>
          </c:dPt>
          <c:dPt>
            <c:idx val="1"/>
            <c:bubble3D val="0"/>
            <c:spPr>
              <a:solidFill>
                <a:srgbClr val="9E7E0A"/>
              </a:solidFill>
            </c:spPr>
            <c:extLst>
              <c:ext xmlns:c16="http://schemas.microsoft.com/office/drawing/2014/chart" uri="{C3380CC4-5D6E-409C-BE32-E72D297353CC}">
                <c16:uniqueId val="{00000003-4224-45BF-B849-E7B84E246BDA}"/>
              </c:ext>
            </c:extLst>
          </c:dPt>
          <c:dPt>
            <c:idx val="2"/>
            <c:bubble3D val="0"/>
            <c:spPr>
              <a:solidFill>
                <a:srgbClr val="008189"/>
              </a:solidFill>
            </c:spPr>
            <c:extLst>
              <c:ext xmlns:c16="http://schemas.microsoft.com/office/drawing/2014/chart" uri="{C3380CC4-5D6E-409C-BE32-E72D297353CC}">
                <c16:uniqueId val="{00000005-4224-45BF-B849-E7B84E246BDA}"/>
              </c:ext>
            </c:extLst>
          </c:dPt>
          <c:dPt>
            <c:idx val="3"/>
            <c:bubble3D val="0"/>
            <c:spPr>
              <a:solidFill>
                <a:srgbClr val="40315E"/>
              </a:solidFill>
            </c:spPr>
            <c:extLst>
              <c:ext xmlns:c16="http://schemas.microsoft.com/office/drawing/2014/chart" uri="{C3380CC4-5D6E-409C-BE32-E72D297353CC}">
                <c16:uniqueId val="{00000007-4224-45BF-B849-E7B84E246BDA}"/>
              </c:ext>
            </c:extLst>
          </c:dPt>
          <c:dPt>
            <c:idx val="4"/>
            <c:bubble3D val="0"/>
            <c:spPr>
              <a:solidFill>
                <a:srgbClr val="A35313"/>
              </a:solidFill>
            </c:spPr>
            <c:extLst>
              <c:ext xmlns:c16="http://schemas.microsoft.com/office/drawing/2014/chart" uri="{C3380CC4-5D6E-409C-BE32-E72D297353CC}">
                <c16:uniqueId val="{00000009-4224-45BF-B849-E7B84E246BDA}"/>
              </c:ext>
            </c:extLst>
          </c:dPt>
          <c:dPt>
            <c:idx val="5"/>
            <c:bubble3D val="0"/>
            <c:spPr>
              <a:solidFill>
                <a:srgbClr val="808080"/>
              </a:solidFill>
            </c:spPr>
            <c:extLst>
              <c:ext xmlns:c16="http://schemas.microsoft.com/office/drawing/2014/chart" uri="{C3380CC4-5D6E-409C-BE32-E72D297353CC}">
                <c16:uniqueId val="{0000000B-4224-45BF-B849-E7B84E246BDA}"/>
              </c:ext>
            </c:extLst>
          </c:dPt>
          <c:dLbls>
            <c:dLbl>
              <c:idx val="0"/>
              <c:layout>
                <c:manualLayout>
                  <c:x val="3.5000000000000003E-2"/>
                  <c:y val="0"/>
                </c:manualLayout>
              </c:layout>
              <c:numFmt formatCode="&quot;MMMMMMM&quot;;&quot;MMMMMMM&quot;;&quot;MM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224-45BF-B849-E7B84E246BDA}"/>
                </c:ext>
              </c:extLst>
            </c:dLbl>
            <c:dLbl>
              <c:idx val="1"/>
              <c:layout>
                <c:manualLayout>
                  <c:x val="3.5000000000000003E-2"/>
                  <c:y val="0"/>
                </c:manualLayout>
              </c:layout>
              <c:numFmt formatCode="&quot;MMMMMMM&quot;;&quot;MMMMMMM&quot;;&quot;MM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224-45BF-B849-E7B84E246BDA}"/>
                </c:ext>
              </c:extLst>
            </c:dLbl>
            <c:dLbl>
              <c:idx val="2"/>
              <c:layout>
                <c:manualLayout>
                  <c:x val="3.5000000000000003E-2"/>
                  <c:y val="0"/>
                </c:manualLayout>
              </c:layout>
              <c:numFmt formatCode="&quot;MMMMMMM&quot;;&quot;MMMMMMM&quot;;&quot;MM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224-45BF-B849-E7B84E246BDA}"/>
                </c:ext>
              </c:extLst>
            </c:dLbl>
            <c:dLbl>
              <c:idx val="3"/>
              <c:layout>
                <c:manualLayout>
                  <c:x val="3.5000000000000003E-2"/>
                  <c:y val="0"/>
                </c:manualLayout>
              </c:layout>
              <c:numFmt formatCode="&quot;MMMMM&quot;;&quot;MMMMM&quot;;&quot;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224-45BF-B849-E7B84E246BDA}"/>
                </c:ext>
              </c:extLst>
            </c:dLbl>
            <c:dLbl>
              <c:idx val="4"/>
              <c:layout>
                <c:manualLayout>
                  <c:x val="3.5000000000000003E-2"/>
                  <c:y val="0"/>
                </c:manualLayout>
              </c:layout>
              <c:numFmt formatCode="&quot;MMMMMMM&quot;;&quot;MMMMMMM&quot;;&quot;MM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224-45BF-B849-E7B84E246BDA}"/>
                </c:ext>
              </c:extLst>
            </c:dLbl>
            <c:dLbl>
              <c:idx val="5"/>
              <c:layout>
                <c:manualLayout>
                  <c:x val="3.5000000000000003E-2"/>
                  <c:y val="0"/>
                </c:manualLayout>
              </c:layout>
              <c:numFmt formatCode="&quot;MMMMMMM&quot;;&quot;MMMMMMM&quot;;&quot;MMM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224-45BF-B849-E7B84E246BD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3309.6390000000001</c:v>
              </c:pt>
              <c:pt idx="1">
                <c:v>3744.498</c:v>
              </c:pt>
              <c:pt idx="2">
                <c:v>6678.8090000000002</c:v>
              </c:pt>
              <c:pt idx="3">
                <c:v>803.25800000000004</c:v>
              </c:pt>
              <c:pt idx="4">
                <c:v>1375.5329999999999</c:v>
              </c:pt>
              <c:pt idx="5">
                <c:v>1833.7719999999999</c:v>
              </c:pt>
            </c:numLit>
          </c:val>
          <c:extLst>
            <c:ext xmlns:c16="http://schemas.microsoft.com/office/drawing/2014/chart" uri="{C3380CC4-5D6E-409C-BE32-E72D297353CC}">
              <c16:uniqueId val="{0000000C-4224-45BF-B849-E7B84E246BDA}"/>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v>Optimistic Scenario</c:v>
          </c:tx>
          <c:spPr>
            <a:ln w="28575">
              <a:solidFill>
                <a:srgbClr val="2E5F8A"/>
              </a:solidFill>
            </a:ln>
          </c:spPr>
          <c:marker>
            <c:symbol val="circle"/>
            <c:size val="6"/>
            <c:spPr>
              <a:solidFill>
                <a:srgbClr val="2E5F8A"/>
              </a:solidFill>
              <a:ln>
                <a:solidFill>
                  <a:srgbClr val="2E5F8A"/>
                </a:solidFill>
              </a:ln>
            </c:spPr>
          </c:marker>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6.2961300372871593E-2</c:v>
              </c:pt>
              <c:pt idx="1">
                <c:v>6.1291300372871588E-2</c:v>
              </c:pt>
              <c:pt idx="2">
                <c:v>6.0621300372871591E-2</c:v>
              </c:pt>
              <c:pt idx="3">
                <c:v>6.1291300372871588E-2</c:v>
              </c:pt>
              <c:pt idx="4">
                <c:v>6.3291300372871589E-2</c:v>
              </c:pt>
              <c:pt idx="5">
                <c:v>6.3961300372871593E-2</c:v>
              </c:pt>
              <c:pt idx="6">
                <c:v>6.3291300372871589E-2</c:v>
              </c:pt>
              <c:pt idx="7">
                <c:v>6.1261300372871592E-2</c:v>
              </c:pt>
              <c:pt idx="8">
                <c:v>6.0371300372871597E-2</c:v>
              </c:pt>
              <c:pt idx="9">
                <c:v>5.9391300372871589E-2</c:v>
              </c:pt>
              <c:pt idx="10">
                <c:v>5.8221300372871591E-2</c:v>
              </c:pt>
            </c:numLit>
          </c:val>
          <c:smooth val="0"/>
          <c:extLst>
            <c:ext xmlns:c16="http://schemas.microsoft.com/office/drawing/2014/chart" uri="{C3380CC4-5D6E-409C-BE32-E72D297353CC}">
              <c16:uniqueId val="{00000000-0AF1-4118-A8E9-A4CC4E298D04}"/>
            </c:ext>
          </c:extLst>
        </c:ser>
        <c:ser>
          <c:idx val="1"/>
          <c:order val="1"/>
          <c:tx>
            <c:v>Likely Scenario</c:v>
          </c:tx>
          <c:spPr>
            <a:ln w="28575">
              <a:solidFill>
                <a:srgbClr val="8B1A1A"/>
              </a:solidFill>
            </a:ln>
          </c:spPr>
          <c:marker>
            <c:symbol val="circle"/>
            <c:size val="6"/>
            <c:spPr>
              <a:solidFill>
                <a:srgbClr val="8B1A1A"/>
              </a:solidFill>
              <a:ln>
                <a:solidFill>
                  <a:srgbClr val="8B1A1A"/>
                </a:solidFill>
              </a:ln>
            </c:spPr>
          </c:marker>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4.3829186923873095E-2</c:v>
              </c:pt>
              <c:pt idx="1">
                <c:v>4.4624454322639208E-2</c:v>
              </c:pt>
              <c:pt idx="2">
                <c:v>4.5414489699045019E-2</c:v>
              </c:pt>
              <c:pt idx="3">
                <c:v>4.6037100359921125E-2</c:v>
              </c:pt>
              <c:pt idx="4">
                <c:v>4.782645200714488E-2</c:v>
              </c:pt>
              <c:pt idx="5">
                <c:v>4.9458842983559535E-2</c:v>
              </c:pt>
              <c:pt idx="6">
                <c:v>5.0656976104069017E-2</c:v>
              </c:pt>
              <c:pt idx="7">
                <c:v>5.2001605850666988E-2</c:v>
              </c:pt>
              <c:pt idx="8">
                <c:v>5.2744553025830067E-2</c:v>
              </c:pt>
              <c:pt idx="9">
                <c:v>5.3450876044471025E-2</c:v>
              </c:pt>
              <c:pt idx="10">
                <c:v>5.4785041746348392E-2</c:v>
              </c:pt>
            </c:numLit>
          </c:val>
          <c:smooth val="0"/>
          <c:extLst>
            <c:ext xmlns:c16="http://schemas.microsoft.com/office/drawing/2014/chart" uri="{C3380CC4-5D6E-409C-BE32-E72D297353CC}">
              <c16:uniqueId val="{00000001-0AF1-4118-A8E9-A4CC4E298D04}"/>
            </c:ext>
          </c:extLst>
        </c:ser>
        <c:ser>
          <c:idx val="2"/>
          <c:order val="2"/>
          <c:tx>
            <c:v>Conservative Scenario</c:v>
          </c:tx>
          <c:spPr>
            <a:ln w="28575">
              <a:solidFill>
                <a:srgbClr val="A08000"/>
              </a:solidFill>
            </a:ln>
          </c:spPr>
          <c:marker>
            <c:symbol val="circle"/>
            <c:size val="6"/>
            <c:spPr>
              <a:solidFill>
                <a:srgbClr val="A08000"/>
              </a:solidFill>
              <a:ln>
                <a:solidFill>
                  <a:srgbClr val="A08000"/>
                </a:solidFill>
              </a:ln>
            </c:spPr>
          </c:marker>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3.1257825882642323E-2</c:v>
              </c:pt>
              <c:pt idx="1">
                <c:v>3.1903682711072398E-2</c:v>
              </c:pt>
              <c:pt idx="2">
                <c:v>3.3330677190103693E-2</c:v>
              </c:pt>
              <c:pt idx="3">
                <c:v>3.4766399464113779E-2</c:v>
              </c:pt>
              <c:pt idx="4">
                <c:v>3.6311219175358671E-2</c:v>
              </c:pt>
              <c:pt idx="5">
                <c:v>3.7319279495408308E-2</c:v>
              </c:pt>
              <c:pt idx="6">
                <c:v>3.7960772426348981E-2</c:v>
              </c:pt>
              <c:pt idx="7">
                <c:v>3.9344127930486361E-2</c:v>
              </c:pt>
              <c:pt idx="8">
                <c:v>3.9933254091554328E-2</c:v>
              </c:pt>
              <c:pt idx="9">
                <c:v>4.1438798725394688E-2</c:v>
              </c:pt>
              <c:pt idx="10">
                <c:v>4.2075927758845971E-2</c:v>
              </c:pt>
            </c:numLit>
          </c:val>
          <c:smooth val="0"/>
          <c:extLst>
            <c:ext xmlns:c16="http://schemas.microsoft.com/office/drawing/2014/chart" uri="{C3380CC4-5D6E-409C-BE32-E72D297353CC}">
              <c16:uniqueId val="{00000002-0AF1-4118-A8E9-A4CC4E298D0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40495176"/>
        <c:crosses val="autoZero"/>
        <c:auto val="1"/>
        <c:lblAlgn val="ctr"/>
        <c:lblOffset val="100"/>
        <c:tickLblSkip val="1"/>
        <c:tickMarkSkip val="1"/>
        <c:noMultiLvlLbl val="0"/>
      </c:catAx>
      <c:valAx>
        <c:axId val="2140495176"/>
        <c:scaling>
          <c:orientation val="minMax"/>
          <c:min val="0"/>
        </c:scaling>
        <c:delete val="0"/>
        <c:axPos val="l"/>
        <c:numFmt formatCode="0.00%" sourceLinked="0"/>
        <c:majorTickMark val="out"/>
        <c:minorTickMark val="none"/>
        <c:tickLblPos val="nextTo"/>
        <c:spPr>
          <a:ln>
            <a:solidFill>
              <a:srgbClr val="C6D5E1"/>
            </a:solidFill>
          </a:ln>
        </c:spPr>
        <c:txPr>
          <a:bodyPr/>
          <a:lstStyle/>
          <a:p>
            <a:pPr>
              <a:defRPr sz="1100"/>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South Asia &amp; Pacific</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384-4B21-A83D-8FCAA683EE21}"/>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384-4B21-A83D-8FCAA683EE2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19.469178018324119</c:v>
              </c:pt>
              <c:pt idx="1">
                <c:v>22.361652528460748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B384-4B21-A83D-8FCAA683EE21}"/>
            </c:ext>
          </c:extLst>
        </c:ser>
        <c:ser>
          <c:idx val="1"/>
          <c:order val="1"/>
          <c:tx>
            <c:v>Europe</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384-4B21-A83D-8FCAA683EE21}"/>
                </c:ext>
              </c:extLst>
            </c:dLbl>
            <c:dLbl>
              <c:idx val="1"/>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384-4B21-A83D-8FCAA683EE2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22.160651602813296</c:v>
              </c:pt>
              <c:pt idx="1">
                <c:v>21.895319042008143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B384-4B21-A83D-8FCAA683EE21}"/>
            </c:ext>
          </c:extLst>
        </c:ser>
        <c:ser>
          <c:idx val="2"/>
          <c:order val="2"/>
          <c:tx>
            <c:v>North America</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384-4B21-A83D-8FCAA683EE21}"/>
                </c:ext>
              </c:extLst>
            </c:dLbl>
            <c:dLbl>
              <c:idx val="1"/>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384-4B21-A83D-8FCAA683EE2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24.127871810955874</c:v>
              </c:pt>
              <c:pt idx="1">
                <c:v>20.233050218805985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B384-4B21-A83D-8FCAA683EE21}"/>
            </c:ext>
          </c:extLst>
        </c:ser>
        <c:ser>
          <c:idx val="3"/>
          <c:order val="3"/>
          <c:tx>
            <c:v>East Asia</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384-4B21-A83D-8FCAA683EE21}"/>
                </c:ext>
              </c:extLst>
            </c:dLbl>
            <c:dLbl>
              <c:idx val="1"/>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384-4B21-A83D-8FCAA683EE2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18.297036203889174</c:v>
              </c:pt>
              <c:pt idx="1">
                <c:v>18.975072897881141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B384-4B21-A83D-8FCAA683EE21}"/>
            </c:ext>
          </c:extLst>
        </c:ser>
        <c:ser>
          <c:idx val="4"/>
          <c:order val="4"/>
          <c:tx>
            <c:v>Latin America</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384-4B21-A83D-8FCAA683EE21}"/>
                </c:ext>
              </c:extLst>
            </c:dLbl>
            <c:dLbl>
              <c:idx val="1"/>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384-4B21-A83D-8FCAA683EE2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8.3328040321106158</c:v>
              </c:pt>
              <c:pt idx="1">
                <c:v>8.9063885574682846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E-B384-4B21-A83D-8FCAA683EE21}"/>
            </c:ext>
          </c:extLst>
        </c:ser>
        <c:ser>
          <c:idx val="5"/>
          <c:order val="5"/>
          <c:tx>
            <c:v>Middle East &amp; Africa</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384-4B21-A83D-8FCAA683EE21}"/>
                </c:ext>
              </c:extLst>
            </c:dLbl>
            <c:dLbl>
              <c:idx val="1"/>
              <c:numFmt formatCode="&quot;MMM&quot;;&quot;MMM&quot;;&quot;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B384-4B21-A83D-8FCAA683EE2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7.6124583319069208</c:v>
              </c:pt>
              <c:pt idx="1">
                <c:v>7.628516755375693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1-B384-4B21-A83D-8FCAA683EE2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North America</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D7-4CAC-A0C5-B7AC8BD4853A}"/>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ED7-4CAC-A0C5-B7AC8BD4853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33</c:v>
              </c:pt>
              <c:pt idx="1">
                <c:v>30.166697388054644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ED7-4CAC-A0C5-B7AC8BD4853A}"/>
            </c:ext>
          </c:extLst>
        </c:ser>
        <c:ser>
          <c:idx val="1"/>
          <c:order val="1"/>
          <c:tx>
            <c:v>Europe</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ED7-4CAC-A0C5-B7AC8BD4853A}"/>
                </c:ext>
              </c:extLst>
            </c:dLbl>
            <c:dLbl>
              <c:idx val="1"/>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ED7-4CAC-A0C5-B7AC8BD4853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27.000009174311927</c:v>
              </c:pt>
              <c:pt idx="1">
                <c:v>28.493389510551658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4ED7-4CAC-A0C5-B7AC8BD4853A}"/>
            </c:ext>
          </c:extLst>
        </c:ser>
        <c:ser>
          <c:idx val="2"/>
          <c:order val="2"/>
          <c:tx>
            <c:v>South Asia &amp; Pacific</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ED7-4CAC-A0C5-B7AC8BD4853A}"/>
                </c:ext>
              </c:extLst>
            </c:dLbl>
            <c:dLbl>
              <c:idx val="1"/>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ED7-4CAC-A0C5-B7AC8BD4853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11.999990825688075</c:v>
              </c:pt>
              <c:pt idx="1">
                <c:v>13.041784262147683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4ED7-4CAC-A0C5-B7AC8BD4853A}"/>
            </c:ext>
          </c:extLst>
        </c:ser>
        <c:ser>
          <c:idx val="3"/>
          <c:order val="3"/>
          <c:tx>
            <c:v>East Asia</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ED7-4CAC-A0C5-B7AC8BD4853A}"/>
                </c:ext>
              </c:extLst>
            </c:dLbl>
            <c:dLbl>
              <c:idx val="1"/>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ED7-4CAC-A0C5-B7AC8BD4853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13.000009174311927</c:v>
              </c:pt>
              <c:pt idx="1">
                <c:v>12.755469566976075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4ED7-4CAC-A0C5-B7AC8BD4853A}"/>
            </c:ext>
          </c:extLst>
        </c:ser>
        <c:ser>
          <c:idx val="4"/>
          <c:order val="4"/>
          <c:tx>
            <c:v>Latin America</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ED7-4CAC-A0C5-B7AC8BD4853A}"/>
                </c:ext>
              </c:extLst>
            </c:dLbl>
            <c:dLbl>
              <c:idx val="1"/>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ED7-4CAC-A0C5-B7AC8BD4853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7.999990825688073</c:v>
              </c:pt>
              <c:pt idx="1">
                <c:v>8.6041488018179706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E-4ED7-4CAC-A0C5-B7AC8BD4853A}"/>
            </c:ext>
          </c:extLst>
        </c:ser>
        <c:ser>
          <c:idx val="5"/>
          <c:order val="5"/>
          <c:tx>
            <c:v>Middle East &amp; Africa</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ED7-4CAC-A0C5-B7AC8BD4853A}"/>
                </c:ext>
              </c:extLst>
            </c:dLbl>
            <c:dLbl>
              <c:idx val="1"/>
              <c:numFmt formatCode="&quot;MMM&quot;;&quot;MMM&quot;;&quot;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ED7-4CAC-A0C5-B7AC8BD4853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7.0000000000000009</c:v>
              </c:pt>
              <c:pt idx="1">
                <c:v>6.9385104704519893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1-4ED7-4CAC-A0C5-B7AC8BD4853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North America</c:v>
          </c:tx>
          <c:spPr>
            <a:solidFill>
              <a:srgbClr val="3D85C6"/>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6EB-4DE8-B74C-23B25B1D6449}"/>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6EB-4DE8-B74C-23B25B1D6449}"/>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6EB-4DE8-B74C-23B25B1D6449}"/>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6EB-4DE8-B74C-23B25B1D6449}"/>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6EB-4DE8-B74C-23B25B1D6449}"/>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6EB-4DE8-B74C-23B25B1D6449}"/>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6EB-4DE8-B74C-23B25B1D6449}"/>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6EB-4DE8-B74C-23B25B1D6449}"/>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6EB-4DE8-B74C-23B25B1D6449}"/>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6EB-4DE8-B74C-23B25B1D6449}"/>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6EB-4DE8-B74C-23B25B1D6449}"/>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6EB-4DE8-B74C-23B25B1D6449}"/>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6EB-4DE8-B74C-23B25B1D6449}"/>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6EB-4DE8-B74C-23B25B1D6449}"/>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6EB-4DE8-B74C-23B25B1D6449}"/>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6EB-4DE8-B74C-23B25B1D64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586928.85400000005</c:v>
              </c:pt>
              <c:pt idx="1">
                <c:v>597441.50399999996</c:v>
              </c:pt>
              <c:pt idx="2">
                <c:v>608146.15899999999</c:v>
              </c:pt>
              <c:pt idx="3">
                <c:v>619046.39899999998</c:v>
              </c:pt>
              <c:pt idx="4">
                <c:v>630145.87300000002</c:v>
              </c:pt>
              <c:pt idx="5">
                <c:v>641448.30000000005</c:v>
              </c:pt>
              <c:pt idx="6">
                <c:v>658017.04200000002</c:v>
              </c:pt>
              <c:pt idx="7">
                <c:v>675017.83799999999</c:v>
              </c:pt>
              <c:pt idx="8">
                <c:v>692462.06900000002</c:v>
              </c:pt>
              <c:pt idx="9">
                <c:v>710361.41799999995</c:v>
              </c:pt>
              <c:pt idx="10">
                <c:v>728727.87699999998</c:v>
              </c:pt>
              <c:pt idx="11">
                <c:v>747573.76199999999</c:v>
              </c:pt>
              <c:pt idx="12">
                <c:v>766911.71100000001</c:v>
              </c:pt>
              <c:pt idx="13">
                <c:v>786754.70400000003</c:v>
              </c:pt>
              <c:pt idx="14">
                <c:v>807116.06299999997</c:v>
              </c:pt>
              <c:pt idx="15">
                <c:v>828009.46799999999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0-B6EB-4DE8-B74C-23B25B1D6449}"/>
            </c:ext>
          </c:extLst>
        </c:ser>
        <c:ser>
          <c:idx val="1"/>
          <c:order val="1"/>
          <c:tx>
            <c:v>Europe</c:v>
          </c:tx>
          <c:spPr>
            <a:solidFill>
              <a:srgbClr val="9E7E0A"/>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B6EB-4DE8-B74C-23B25B1D6449}"/>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B6EB-4DE8-B74C-23B25B1D6449}"/>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B6EB-4DE8-B74C-23B25B1D6449}"/>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B6EB-4DE8-B74C-23B25B1D6449}"/>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B6EB-4DE8-B74C-23B25B1D6449}"/>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B6EB-4DE8-B74C-23B25B1D6449}"/>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B6EB-4DE8-B74C-23B25B1D6449}"/>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B6EB-4DE8-B74C-23B25B1D6449}"/>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B6EB-4DE8-B74C-23B25B1D6449}"/>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B6EB-4DE8-B74C-23B25B1D6449}"/>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B6EB-4DE8-B74C-23B25B1D6449}"/>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B6EB-4DE8-B74C-23B25B1D6449}"/>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B6EB-4DE8-B74C-23B25B1D6449}"/>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B6EB-4DE8-B74C-23B25B1D6449}"/>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B6EB-4DE8-B74C-23B25B1D6449}"/>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B6EB-4DE8-B74C-23B25B1D64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498307.83500000002</c:v>
              </c:pt>
              <c:pt idx="1">
                <c:v>515161.67</c:v>
              </c:pt>
              <c:pt idx="2">
                <c:v>532647.03300000005</c:v>
              </c:pt>
              <c:pt idx="3">
                <c:v>550789.07499999995</c:v>
              </c:pt>
              <c:pt idx="4">
                <c:v>569613.98600000003</c:v>
              </c:pt>
              <c:pt idx="5">
                <c:v>589149.03099999996</c:v>
              </c:pt>
              <c:pt idx="6">
                <c:v>614079.24</c:v>
              </c:pt>
              <c:pt idx="7">
                <c:v>640134.78899999999</c:v>
              </c:pt>
              <c:pt idx="8">
                <c:v>667368.75899999996</c:v>
              </c:pt>
              <c:pt idx="9">
                <c:v>695836.80700000003</c:v>
              </c:pt>
              <c:pt idx="10">
                <c:v>725597.29500000004</c:v>
              </c:pt>
              <c:pt idx="11">
                <c:v>756711.41700000002</c:v>
              </c:pt>
              <c:pt idx="12">
                <c:v>789243.35100000002</c:v>
              </c:pt>
              <c:pt idx="13">
                <c:v>823260.38600000006</c:v>
              </c:pt>
              <c:pt idx="14">
                <c:v>858833.10199999996</c:v>
              </c:pt>
              <c:pt idx="15">
                <c:v>896035.51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1-B6EB-4DE8-B74C-23B25B1D6449}"/>
            </c:ext>
          </c:extLst>
        </c:ser>
        <c:ser>
          <c:idx val="2"/>
          <c:order val="2"/>
          <c:tx>
            <c:v>South Asia &amp; Pacific</c:v>
          </c:tx>
          <c:spPr>
            <a:solidFill>
              <a:srgbClr val="008189"/>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B6EB-4DE8-B74C-23B25B1D6449}"/>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B6EB-4DE8-B74C-23B25B1D6449}"/>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B6EB-4DE8-B74C-23B25B1D6449}"/>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B6EB-4DE8-B74C-23B25B1D6449}"/>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B6EB-4DE8-B74C-23B25B1D6449}"/>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B6EB-4DE8-B74C-23B25B1D6449}"/>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B6EB-4DE8-B74C-23B25B1D6449}"/>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B6EB-4DE8-B74C-23B25B1D6449}"/>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B6EB-4DE8-B74C-23B25B1D6449}"/>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B6EB-4DE8-B74C-23B25B1D6449}"/>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B6EB-4DE8-B74C-23B25B1D6449}"/>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B6EB-4DE8-B74C-23B25B1D6449}"/>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B6EB-4DE8-B74C-23B25B1D6449}"/>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B6EB-4DE8-B74C-23B25B1D6449}"/>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B6EB-4DE8-B74C-23B25B1D6449}"/>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B6EB-4DE8-B74C-23B25B1D64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405771.48100000003</c:v>
              </c:pt>
              <c:pt idx="1">
                <c:v>425928.26799999998</c:v>
              </c:pt>
              <c:pt idx="2">
                <c:v>447131.37199999997</c:v>
              </c:pt>
              <c:pt idx="3">
                <c:v>469436.90100000001</c:v>
              </c:pt>
              <c:pt idx="4">
                <c:v>492904.038</c:v>
              </c:pt>
              <c:pt idx="5">
                <c:v>517595.22100000002</c:v>
              </c:pt>
              <c:pt idx="6">
                <c:v>547717.68599999999</c:v>
              </c:pt>
              <c:pt idx="7">
                <c:v>579648.44299999997</c:v>
              </c:pt>
              <c:pt idx="8">
                <c:v>613498.70600000001</c:v>
              </c:pt>
              <c:pt idx="9">
                <c:v>649386.65099999995</c:v>
              </c:pt>
              <c:pt idx="10">
                <c:v>687437.87199999997</c:v>
              </c:pt>
              <c:pt idx="11">
                <c:v>727785.84</c:v>
              </c:pt>
              <c:pt idx="12">
                <c:v>770572.41299999994</c:v>
              </c:pt>
              <c:pt idx="13">
                <c:v>815948.36699999997</c:v>
              </c:pt>
              <c:pt idx="14">
                <c:v>864073.96499999997</c:v>
              </c:pt>
              <c:pt idx="15">
                <c:v>915119.56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32-B6EB-4DE8-B74C-23B25B1D6449}"/>
            </c:ext>
          </c:extLst>
        </c:ser>
        <c:ser>
          <c:idx val="3"/>
          <c:order val="3"/>
          <c:tx>
            <c:v>East Asia</c:v>
          </c:tx>
          <c:spPr>
            <a:solidFill>
              <a:srgbClr val="40315E"/>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3-B6EB-4DE8-B74C-23B25B1D6449}"/>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B6EB-4DE8-B74C-23B25B1D6449}"/>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B6EB-4DE8-B74C-23B25B1D6449}"/>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B6EB-4DE8-B74C-23B25B1D6449}"/>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B6EB-4DE8-B74C-23B25B1D6449}"/>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B6EB-4DE8-B74C-23B25B1D6449}"/>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B6EB-4DE8-B74C-23B25B1D6449}"/>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B6EB-4DE8-B74C-23B25B1D6449}"/>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B6EB-4DE8-B74C-23B25B1D6449}"/>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B6EB-4DE8-B74C-23B25B1D6449}"/>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B6EB-4DE8-B74C-23B25B1D6449}"/>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B6EB-4DE8-B74C-23B25B1D6449}"/>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B6EB-4DE8-B74C-23B25B1D6449}"/>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0-B6EB-4DE8-B74C-23B25B1D6449}"/>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B6EB-4DE8-B74C-23B25B1D6449}"/>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B6EB-4DE8-B74C-23B25B1D64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400333.859</c:v>
              </c:pt>
              <c:pt idx="1">
                <c:v>416221.52799999999</c:v>
              </c:pt>
              <c:pt idx="2">
                <c:v>432748.72100000002</c:v>
              </c:pt>
              <c:pt idx="3">
                <c:v>449941.49300000002</c:v>
              </c:pt>
              <c:pt idx="4">
                <c:v>467826.97200000001</c:v>
              </c:pt>
              <c:pt idx="5">
                <c:v>486433.402</c:v>
              </c:pt>
              <c:pt idx="6">
                <c:v>509680.39500000002</c:v>
              </c:pt>
              <c:pt idx="7">
                <c:v>534049.12600000005</c:v>
              </c:pt>
              <c:pt idx="8">
                <c:v>559594.179</c:v>
              </c:pt>
              <c:pt idx="9">
                <c:v>586372.81999999995</c:v>
              </c:pt>
              <c:pt idx="10">
                <c:v>614445.11499999999</c:v>
              </c:pt>
              <c:pt idx="11">
                <c:v>643874.08400000003</c:v>
              </c:pt>
              <c:pt idx="12">
                <c:v>674725.83299999998</c:v>
              </c:pt>
              <c:pt idx="13">
                <c:v>707069.71699999995</c:v>
              </c:pt>
              <c:pt idx="14">
                <c:v>740978.49399999995</c:v>
              </c:pt>
              <c:pt idx="15">
                <c:v>776528.49399999995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3-B6EB-4DE8-B74C-23B25B1D6449}"/>
            </c:ext>
          </c:extLst>
        </c:ser>
        <c:ser>
          <c:idx val="4"/>
          <c:order val="4"/>
          <c:tx>
            <c:v>Latin America</c:v>
          </c:tx>
          <c:spPr>
            <a:solidFill>
              <a:srgbClr val="A35313"/>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B6EB-4DE8-B74C-23B25B1D6449}"/>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B6EB-4DE8-B74C-23B25B1D6449}"/>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B6EB-4DE8-B74C-23B25B1D6449}"/>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B6EB-4DE8-B74C-23B25B1D6449}"/>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B6EB-4DE8-B74C-23B25B1D6449}"/>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B6EB-4DE8-B74C-23B25B1D6449}"/>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B6EB-4DE8-B74C-23B25B1D6449}"/>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B6EB-4DE8-B74C-23B25B1D6449}"/>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B6EB-4DE8-B74C-23B25B1D6449}"/>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D-B6EB-4DE8-B74C-23B25B1D6449}"/>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E-B6EB-4DE8-B74C-23B25B1D6449}"/>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F-B6EB-4DE8-B74C-23B25B1D6449}"/>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0-B6EB-4DE8-B74C-23B25B1D6449}"/>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1-B6EB-4DE8-B74C-23B25B1D6449}"/>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2-B6EB-4DE8-B74C-23B25B1D6449}"/>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3-B6EB-4DE8-B74C-23B25B1D64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179564.00700000001</c:v>
              </c:pt>
              <c:pt idx="1">
                <c:v>187257.788</c:v>
              </c:pt>
              <c:pt idx="2">
                <c:v>195286.234</c:v>
              </c:pt>
              <c:pt idx="3">
                <c:v>203664.12</c:v>
              </c:pt>
              <c:pt idx="4">
                <c:v>212406.88099999999</c:v>
              </c:pt>
              <c:pt idx="5">
                <c:v>221530.644</c:v>
              </c:pt>
              <c:pt idx="6">
                <c:v>232813.541</c:v>
              </c:pt>
              <c:pt idx="7">
                <c:v>244677.30799999999</c:v>
              </c:pt>
              <c:pt idx="8">
                <c:v>257152.17</c:v>
              </c:pt>
              <c:pt idx="9">
                <c:v>270269.93900000001</c:v>
              </c:pt>
              <c:pt idx="10">
                <c:v>284064.10200000001</c:v>
              </c:pt>
              <c:pt idx="11">
                <c:v>298569.90600000002</c:v>
              </c:pt>
              <c:pt idx="12">
                <c:v>313824.45500000002</c:v>
              </c:pt>
              <c:pt idx="13">
                <c:v>329866.80900000001</c:v>
              </c:pt>
              <c:pt idx="14">
                <c:v>346738.08799999999</c:v>
              </c:pt>
              <c:pt idx="15">
                <c:v>364481.57699999999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54-B6EB-4DE8-B74C-23B25B1D6449}"/>
            </c:ext>
          </c:extLst>
        </c:ser>
        <c:ser>
          <c:idx val="5"/>
          <c:order val="5"/>
          <c:tx>
            <c:v>Middle East &amp; Africa</c:v>
          </c:tx>
          <c:spPr>
            <a:solidFill>
              <a:srgbClr val="808080"/>
            </a:solidFill>
            <a:ln>
              <a:noFill/>
            </a:ln>
          </c:spPr>
          <c:invertIfNegative val="1"/>
          <c:dLbls>
            <c:dLbl>
              <c:idx val="0"/>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5-B6EB-4DE8-B74C-23B25B1D6449}"/>
                </c:ext>
              </c:extLst>
            </c:dLbl>
            <c:dLbl>
              <c:idx val="1"/>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6-B6EB-4DE8-B74C-23B25B1D6449}"/>
                </c:ext>
              </c:extLst>
            </c:dLbl>
            <c:dLbl>
              <c:idx val="2"/>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7-B6EB-4DE8-B74C-23B25B1D6449}"/>
                </c:ext>
              </c:extLst>
            </c:dLbl>
            <c:dLbl>
              <c:idx val="3"/>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8-B6EB-4DE8-B74C-23B25B1D6449}"/>
                </c:ext>
              </c:extLst>
            </c:dLbl>
            <c:dLbl>
              <c:idx val="4"/>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9-B6EB-4DE8-B74C-23B25B1D6449}"/>
                </c:ext>
              </c:extLst>
            </c:dLbl>
            <c:dLbl>
              <c:idx val="5"/>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A-B6EB-4DE8-B74C-23B25B1D6449}"/>
                </c:ext>
              </c:extLst>
            </c:dLbl>
            <c:dLbl>
              <c:idx val="6"/>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B-B6EB-4DE8-B74C-23B25B1D6449}"/>
                </c:ext>
              </c:extLst>
            </c:dLbl>
            <c:dLbl>
              <c:idx val="7"/>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C-B6EB-4DE8-B74C-23B25B1D6449}"/>
                </c:ext>
              </c:extLst>
            </c:dLbl>
            <c:dLbl>
              <c:idx val="8"/>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D-B6EB-4DE8-B74C-23B25B1D6449}"/>
                </c:ext>
              </c:extLst>
            </c:dLbl>
            <c:dLbl>
              <c:idx val="9"/>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E-B6EB-4DE8-B74C-23B25B1D6449}"/>
                </c:ext>
              </c:extLst>
            </c:dLbl>
            <c:dLbl>
              <c:idx val="10"/>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F-B6EB-4DE8-B74C-23B25B1D6449}"/>
                </c:ext>
              </c:extLst>
            </c:dLbl>
            <c:dLbl>
              <c:idx val="11"/>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0-B6EB-4DE8-B74C-23B25B1D6449}"/>
                </c:ext>
              </c:extLst>
            </c:dLbl>
            <c:dLbl>
              <c:idx val="12"/>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1-B6EB-4DE8-B74C-23B25B1D6449}"/>
                </c:ext>
              </c:extLst>
            </c:dLbl>
            <c:dLbl>
              <c:idx val="13"/>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2-B6EB-4DE8-B74C-23B25B1D6449}"/>
                </c:ext>
              </c:extLst>
            </c:dLbl>
            <c:dLbl>
              <c:idx val="14"/>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3-B6EB-4DE8-B74C-23B25B1D6449}"/>
                </c:ext>
              </c:extLst>
            </c:dLbl>
            <c:dLbl>
              <c:idx val="15"/>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4-B6EB-4DE8-B74C-23B25B1D64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169827.18299999999</c:v>
              </c:pt>
              <c:pt idx="1">
                <c:v>175861.60399999999</c:v>
              </c:pt>
              <c:pt idx="2">
                <c:v>182124.601</c:v>
              </c:pt>
              <c:pt idx="3">
                <c:v>188625.46100000001</c:v>
              </c:pt>
              <c:pt idx="4">
                <c:v>195373.886</c:v>
              </c:pt>
              <c:pt idx="5">
                <c:v>202379.99</c:v>
              </c:pt>
              <c:pt idx="6">
                <c:v>211266.31400000001</c:v>
              </c:pt>
              <c:pt idx="7">
                <c:v>220560.62899999999</c:v>
              </c:pt>
              <c:pt idx="8">
                <c:v>230282.60200000001</c:v>
              </c:pt>
              <c:pt idx="9">
                <c:v>240452.908</c:v>
              </c:pt>
              <c:pt idx="10">
                <c:v>251093.25599999999</c:v>
              </c:pt>
              <c:pt idx="11">
                <c:v>262226.46899999998</c:v>
              </c:pt>
              <c:pt idx="12">
                <c:v>273876.53100000002</c:v>
              </c:pt>
              <c:pt idx="13">
                <c:v>286068.65700000001</c:v>
              </c:pt>
              <c:pt idx="14">
                <c:v>298829.342</c:v>
              </c:pt>
              <c:pt idx="15">
                <c:v>312186.44900000002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65-B6EB-4DE8-B74C-23B25B1D6449}"/>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North America</c:v>
          </c:tx>
          <c:spPr>
            <a:solidFill>
              <a:srgbClr val="3D85C6"/>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B6C-4089-80B0-FABD2151B8C6}"/>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B6C-4089-80B0-FABD2151B8C6}"/>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B6C-4089-80B0-FABD2151B8C6}"/>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B6C-4089-80B0-FABD2151B8C6}"/>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B6C-4089-80B0-FABD2151B8C6}"/>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B6C-4089-80B0-FABD2151B8C6}"/>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B6C-4089-80B0-FABD2151B8C6}"/>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B6C-4089-80B0-FABD2151B8C6}"/>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B6C-4089-80B0-FABD2151B8C6}"/>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B6C-4089-80B0-FABD2151B8C6}"/>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B6C-4089-80B0-FABD2151B8C6}"/>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B6C-4089-80B0-FABD2151B8C6}"/>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B6C-4089-80B0-FABD2151B8C6}"/>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B6C-4089-80B0-FABD2151B8C6}"/>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6B6C-4089-80B0-FABD2151B8C6}"/>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6B6C-4089-80B0-FABD2151B8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3065.7260000000001</c:v>
              </c:pt>
              <c:pt idx="1">
                <c:v>3165.2330000000002</c:v>
              </c:pt>
              <c:pt idx="2">
                <c:v>3268.0030000000002</c:v>
              </c:pt>
              <c:pt idx="3">
                <c:v>3374.1460000000002</c:v>
              </c:pt>
              <c:pt idx="4">
                <c:v>3483.7739999999999</c:v>
              </c:pt>
              <c:pt idx="5">
                <c:v>3597</c:v>
              </c:pt>
              <c:pt idx="6">
                <c:v>3742.7220000000002</c:v>
              </c:pt>
              <c:pt idx="7">
                <c:v>3894.3870000000002</c:v>
              </c:pt>
              <c:pt idx="8">
                <c:v>4052.241</c:v>
              </c:pt>
              <c:pt idx="9">
                <c:v>4216.5370000000003</c:v>
              </c:pt>
              <c:pt idx="10">
                <c:v>4387.5420000000004</c:v>
              </c:pt>
              <c:pt idx="11">
                <c:v>4565.5290000000005</c:v>
              </c:pt>
              <c:pt idx="12">
                <c:v>4750.7860000000001</c:v>
              </c:pt>
              <c:pt idx="13">
                <c:v>4943.6130000000003</c:v>
              </c:pt>
              <c:pt idx="14">
                <c:v>5144.3209999999999</c:v>
              </c:pt>
              <c:pt idx="15">
                <c:v>5353.2340000000004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0-6B6C-4089-80B0-FABD2151B8C6}"/>
            </c:ext>
          </c:extLst>
        </c:ser>
        <c:ser>
          <c:idx val="1"/>
          <c:order val="1"/>
          <c:tx>
            <c:v>Europe</c:v>
          </c:tx>
          <c:spPr>
            <a:solidFill>
              <a:srgbClr val="9E7E0A"/>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6B6C-4089-80B0-FABD2151B8C6}"/>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6B6C-4089-80B0-FABD2151B8C6}"/>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6B6C-4089-80B0-FABD2151B8C6}"/>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6B6C-4089-80B0-FABD2151B8C6}"/>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6B6C-4089-80B0-FABD2151B8C6}"/>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6B6C-4089-80B0-FABD2151B8C6}"/>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6B6C-4089-80B0-FABD2151B8C6}"/>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6B6C-4089-80B0-FABD2151B8C6}"/>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6B6C-4089-80B0-FABD2151B8C6}"/>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6B6C-4089-80B0-FABD2151B8C6}"/>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6B6C-4089-80B0-FABD2151B8C6}"/>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6B6C-4089-80B0-FABD2151B8C6}"/>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6B6C-4089-80B0-FABD2151B8C6}"/>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6B6C-4089-80B0-FABD2151B8C6}"/>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6B6C-4089-80B0-FABD2151B8C6}"/>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6B6C-4089-80B0-FABD2151B8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2342.875</c:v>
              </c:pt>
              <c:pt idx="1">
                <c:v>2451.5970000000002</c:v>
              </c:pt>
              <c:pt idx="2">
                <c:v>2565.6860000000001</c:v>
              </c:pt>
              <c:pt idx="3">
                <c:v>2685.4189999999999</c:v>
              </c:pt>
              <c:pt idx="4">
                <c:v>2811.0880000000002</c:v>
              </c:pt>
              <c:pt idx="5">
                <c:v>2943.0010000000002</c:v>
              </c:pt>
              <c:pt idx="6">
                <c:v>3105.0250000000001</c:v>
              </c:pt>
              <c:pt idx="7">
                <c:v>3276.3589999999999</c:v>
              </c:pt>
              <c:pt idx="8">
                <c:v>3457.56</c:v>
              </c:pt>
              <c:pt idx="9">
                <c:v>3649.2139999999999</c:v>
              </c:pt>
              <c:pt idx="10">
                <c:v>3851.9409999999998</c:v>
              </c:pt>
              <c:pt idx="11">
                <c:v>4066.4079999999999</c:v>
              </c:pt>
              <c:pt idx="12">
                <c:v>4293.3090000000002</c:v>
              </c:pt>
              <c:pt idx="13">
                <c:v>4533.3900000000003</c:v>
              </c:pt>
              <c:pt idx="14">
                <c:v>4787.442</c:v>
              </c:pt>
              <c:pt idx="15">
                <c:v>5056.2969999999996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1-6B6C-4089-80B0-FABD2151B8C6}"/>
            </c:ext>
          </c:extLst>
        </c:ser>
        <c:ser>
          <c:idx val="2"/>
          <c:order val="2"/>
          <c:tx>
            <c:v>East Asia</c:v>
          </c:tx>
          <c:spPr>
            <a:solidFill>
              <a:srgbClr val="008189"/>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6B6C-4089-80B0-FABD2151B8C6}"/>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6B6C-4089-80B0-FABD2151B8C6}"/>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6B6C-4089-80B0-FABD2151B8C6}"/>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6B6C-4089-80B0-FABD2151B8C6}"/>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6B6C-4089-80B0-FABD2151B8C6}"/>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6B6C-4089-80B0-FABD2151B8C6}"/>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6B6C-4089-80B0-FABD2151B8C6}"/>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6B6C-4089-80B0-FABD2151B8C6}"/>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6B6C-4089-80B0-FABD2151B8C6}"/>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6B6C-4089-80B0-FABD2151B8C6}"/>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6B6C-4089-80B0-FABD2151B8C6}"/>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6B6C-4089-80B0-FABD2151B8C6}"/>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6B6C-4089-80B0-FABD2151B8C6}"/>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6B6C-4089-80B0-FABD2151B8C6}"/>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6B6C-4089-80B0-FABD2151B8C6}"/>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6B6C-4089-80B0-FABD2151B8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1165.472</c:v>
              </c:pt>
              <c:pt idx="1">
                <c:v>1211.894</c:v>
              </c:pt>
              <c:pt idx="2">
                <c:v>1260.181</c:v>
              </c:pt>
              <c:pt idx="3">
                <c:v>1310.4079999999999</c:v>
              </c:pt>
              <c:pt idx="4">
                <c:v>1362.653</c:v>
              </c:pt>
              <c:pt idx="5">
                <c:v>1417.001</c:v>
              </c:pt>
              <c:pt idx="6">
                <c:v>1484.8679999999999</c:v>
              </c:pt>
              <c:pt idx="7">
                <c:v>1556.0060000000001</c:v>
              </c:pt>
              <c:pt idx="8">
                <c:v>1630.5709999999999</c:v>
              </c:pt>
              <c:pt idx="9">
                <c:v>1708.73</c:v>
              </c:pt>
              <c:pt idx="10">
                <c:v>1790.6569999999999</c:v>
              </c:pt>
              <c:pt idx="11">
                <c:v>1876.5350000000001</c:v>
              </c:pt>
              <c:pt idx="12">
                <c:v>1966.5550000000001</c:v>
              </c:pt>
              <c:pt idx="13">
                <c:v>2060.9169999999999</c:v>
              </c:pt>
              <c:pt idx="14">
                <c:v>2159.8330000000001</c:v>
              </c:pt>
              <c:pt idx="15">
                <c:v>2263.5230000000001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32-6B6C-4089-80B0-FABD2151B8C6}"/>
            </c:ext>
          </c:extLst>
        </c:ser>
        <c:ser>
          <c:idx val="3"/>
          <c:order val="3"/>
          <c:tx>
            <c:v>South Asia &amp; Pacific</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3-6B6C-4089-80B0-FABD2151B8C6}"/>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6B6C-4089-80B0-FABD2151B8C6}"/>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6B6C-4089-80B0-FABD2151B8C6}"/>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6B6C-4089-80B0-FABD2151B8C6}"/>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6B6C-4089-80B0-FABD2151B8C6}"/>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6B6C-4089-80B0-FABD2151B8C6}"/>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6B6C-4089-80B0-FABD2151B8C6}"/>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6B6C-4089-80B0-FABD2151B8C6}"/>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6B6C-4089-80B0-FABD2151B8C6}"/>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6B6C-4089-80B0-FABD2151B8C6}"/>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6B6C-4089-80B0-FABD2151B8C6}"/>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6B6C-4089-80B0-FABD2151B8C6}"/>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6B6C-4089-80B0-FABD2151B8C6}"/>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0-6B6C-4089-80B0-FABD2151B8C6}"/>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6B6C-4089-80B0-FABD2151B8C6}"/>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6B6C-4089-80B0-FABD2151B8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1025.0650000000001</c:v>
              </c:pt>
              <c:pt idx="1">
                <c:v>1076.0530000000001</c:v>
              </c:pt>
              <c:pt idx="2">
                <c:v>1129.694</c:v>
              </c:pt>
              <c:pt idx="3">
                <c:v>1186.133</c:v>
              </c:pt>
              <c:pt idx="4">
                <c:v>1245.5139999999999</c:v>
              </c:pt>
              <c:pt idx="5">
                <c:v>1307.999</c:v>
              </c:pt>
              <c:pt idx="6">
                <c:v>1384.22</c:v>
              </c:pt>
              <c:pt idx="7">
                <c:v>1465.0250000000001</c:v>
              </c:pt>
              <c:pt idx="8">
                <c:v>1550.6959999999999</c:v>
              </c:pt>
              <c:pt idx="9">
                <c:v>1641.528</c:v>
              </c:pt>
              <c:pt idx="10">
                <c:v>1737.848</c:v>
              </c:pt>
              <c:pt idx="11">
                <c:v>1839.989</c:v>
              </c:pt>
              <c:pt idx="12">
                <c:v>1948.3150000000001</c:v>
              </c:pt>
              <c:pt idx="13">
                <c:v>2063.203</c:v>
              </c:pt>
              <c:pt idx="14">
                <c:v>2185.0639999999999</c:v>
              </c:pt>
              <c:pt idx="15">
                <c:v>2314.3310000000001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3-6B6C-4089-80B0-FABD2151B8C6}"/>
            </c:ext>
          </c:extLst>
        </c:ser>
        <c:ser>
          <c:idx val="4"/>
          <c:order val="4"/>
          <c:tx>
            <c:v>Latin America</c:v>
          </c:tx>
          <c:spPr>
            <a:solidFill>
              <a:srgbClr val="A35313"/>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6B6C-4089-80B0-FABD2151B8C6}"/>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6B6C-4089-80B0-FABD2151B8C6}"/>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6B6C-4089-80B0-FABD2151B8C6}"/>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6B6C-4089-80B0-FABD2151B8C6}"/>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6B6C-4089-80B0-FABD2151B8C6}"/>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6B6C-4089-80B0-FABD2151B8C6}"/>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6B6C-4089-80B0-FABD2151B8C6}"/>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6B6C-4089-80B0-FABD2151B8C6}"/>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6B6C-4089-80B0-FABD2151B8C6}"/>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D-6B6C-4089-80B0-FABD2151B8C6}"/>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E-6B6C-4089-80B0-FABD2151B8C6}"/>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F-6B6C-4089-80B0-FABD2151B8C6}"/>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0-6B6C-4089-80B0-FABD2151B8C6}"/>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1-6B6C-4089-80B0-FABD2151B8C6}"/>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2-6B6C-4089-80B0-FABD2151B8C6}"/>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3-6B6C-4089-80B0-FABD2151B8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685.04</c:v>
              </c:pt>
              <c:pt idx="1">
                <c:v>718.88199999999995</c:v>
              </c:pt>
              <c:pt idx="2">
                <c:v>754.41</c:v>
              </c:pt>
              <c:pt idx="3">
                <c:v>791.71400000000006</c:v>
              </c:pt>
              <c:pt idx="4">
                <c:v>830.87800000000004</c:v>
              </c:pt>
              <c:pt idx="5">
                <c:v>871.99900000000002</c:v>
              </c:pt>
              <c:pt idx="6">
                <c:v>922.15300000000002</c:v>
              </c:pt>
              <c:pt idx="7">
                <c:v>975.21100000000001</c:v>
              </c:pt>
              <c:pt idx="8">
                <c:v>1031.3430000000001</c:v>
              </c:pt>
              <c:pt idx="9">
                <c:v>1090.731</c:v>
              </c:pt>
              <c:pt idx="10">
                <c:v>1153.5609999999999</c:v>
              </c:pt>
              <c:pt idx="11">
                <c:v>1220.038</c:v>
              </c:pt>
              <c:pt idx="12">
                <c:v>1290.373</c:v>
              </c:pt>
              <c:pt idx="13">
                <c:v>1364.7919999999999</c:v>
              </c:pt>
              <c:pt idx="14">
                <c:v>1443.5340000000001</c:v>
              </c:pt>
              <c:pt idx="15">
                <c:v>1526.85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54-6B6C-4089-80B0-FABD2151B8C6}"/>
            </c:ext>
          </c:extLst>
        </c:ser>
        <c:ser>
          <c:idx val="5"/>
          <c:order val="5"/>
          <c:tx>
            <c:v>Middle East &amp; Africa</c:v>
          </c:tx>
          <c:spPr>
            <a:solidFill>
              <a:srgbClr val="808080"/>
            </a:solidFill>
            <a:ln>
              <a:noFill/>
            </a:ln>
          </c:spPr>
          <c:invertIfNegative val="1"/>
          <c:dLbls>
            <c:dLbl>
              <c:idx val="0"/>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5-6B6C-4089-80B0-FABD2151B8C6}"/>
                </c:ext>
              </c:extLst>
            </c:dLbl>
            <c:dLbl>
              <c:idx val="1"/>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6-6B6C-4089-80B0-FABD2151B8C6}"/>
                </c:ext>
              </c:extLst>
            </c:dLbl>
            <c:dLbl>
              <c:idx val="2"/>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7-6B6C-4089-80B0-FABD2151B8C6}"/>
                </c:ext>
              </c:extLst>
            </c:dLbl>
            <c:dLbl>
              <c:idx val="3"/>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8-6B6C-4089-80B0-FABD2151B8C6}"/>
                </c:ext>
              </c:extLst>
            </c:dLbl>
            <c:dLbl>
              <c:idx val="4"/>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9-6B6C-4089-80B0-FABD2151B8C6}"/>
                </c:ext>
              </c:extLst>
            </c:dLbl>
            <c:dLbl>
              <c:idx val="5"/>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A-6B6C-4089-80B0-FABD2151B8C6}"/>
                </c:ext>
              </c:extLst>
            </c:dLbl>
            <c:dLbl>
              <c:idx val="6"/>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B-6B6C-4089-80B0-FABD2151B8C6}"/>
                </c:ext>
              </c:extLst>
            </c:dLbl>
            <c:dLbl>
              <c:idx val="7"/>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C-6B6C-4089-80B0-FABD2151B8C6}"/>
                </c:ext>
              </c:extLst>
            </c:dLbl>
            <c:dLbl>
              <c:idx val="8"/>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D-6B6C-4089-80B0-FABD2151B8C6}"/>
                </c:ext>
              </c:extLst>
            </c:dLbl>
            <c:dLbl>
              <c:idx val="9"/>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E-6B6C-4089-80B0-FABD2151B8C6}"/>
                </c:ext>
              </c:extLst>
            </c:dLbl>
            <c:dLbl>
              <c:idx val="10"/>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F-6B6C-4089-80B0-FABD2151B8C6}"/>
                </c:ext>
              </c:extLst>
            </c:dLbl>
            <c:dLbl>
              <c:idx val="11"/>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0-6B6C-4089-80B0-FABD2151B8C6}"/>
                </c:ext>
              </c:extLst>
            </c:dLbl>
            <c:dLbl>
              <c:idx val="12"/>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1-6B6C-4089-80B0-FABD2151B8C6}"/>
                </c:ext>
              </c:extLst>
            </c:dLbl>
            <c:dLbl>
              <c:idx val="13"/>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2-6B6C-4089-80B0-FABD2151B8C6}"/>
                </c:ext>
              </c:extLst>
            </c:dLbl>
            <c:dLbl>
              <c:idx val="14"/>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3-6B6C-4089-80B0-FABD2151B8C6}"/>
                </c:ext>
              </c:extLst>
            </c:dLbl>
            <c:dLbl>
              <c:idx val="15"/>
              <c:layout>
                <c:manualLayout>
                  <c:x val="0"/>
                  <c:y val="-8.3000000000000004E-2"/>
                </c:manualLayout>
              </c:layout>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4-6B6C-4089-80B0-FABD2151B8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626.024</c:v>
              </c:pt>
              <c:pt idx="1">
                <c:v>651.19299999999998</c:v>
              </c:pt>
              <c:pt idx="2">
                <c:v>677.423</c:v>
              </c:pt>
              <c:pt idx="3">
                <c:v>704.76900000000001</c:v>
              </c:pt>
              <c:pt idx="4">
                <c:v>733.27700000000004</c:v>
              </c:pt>
              <c:pt idx="5">
                <c:v>763</c:v>
              </c:pt>
              <c:pt idx="6">
                <c:v>800.09799999999996</c:v>
              </c:pt>
              <c:pt idx="7">
                <c:v>839.06799999999998</c:v>
              </c:pt>
              <c:pt idx="8">
                <c:v>880.01099999999997</c:v>
              </c:pt>
              <c:pt idx="9">
                <c:v>923.02700000000004</c:v>
              </c:pt>
              <c:pt idx="10">
                <c:v>968.22799999999995</c:v>
              </c:pt>
              <c:pt idx="11">
                <c:v>1015.729</c:v>
              </c:pt>
              <c:pt idx="12">
                <c:v>1065.653</c:v>
              </c:pt>
              <c:pt idx="13">
                <c:v>1118.126</c:v>
              </c:pt>
              <c:pt idx="14">
                <c:v>1173.2840000000001</c:v>
              </c:pt>
              <c:pt idx="15">
                <c:v>1231.2739999999999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65-6B6C-4089-80B0-FABD2151B8C6}"/>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Chewables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3BD-4EC1-8E95-21BE0DAAF080}"/>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3BD-4EC1-8E95-21BE0DAAF080}"/>
                </c:ext>
              </c:extLst>
            </c:dLbl>
            <c:dLbl>
              <c:idx val="2"/>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3BD-4EC1-8E95-21BE0DAAF080}"/>
                </c:ext>
              </c:extLst>
            </c:dLbl>
            <c:dLbl>
              <c:idx val="3"/>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3BD-4EC1-8E95-21BE0DAAF080}"/>
                </c:ext>
              </c:extLst>
            </c:dLbl>
            <c:dLbl>
              <c:idx val="4"/>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3BD-4EC1-8E95-21BE0DAAF080}"/>
                </c:ext>
              </c:extLst>
            </c:dLbl>
            <c:dLbl>
              <c:idx val="5"/>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3BD-4EC1-8E95-21BE0DAAF0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18.048785241952643</c:v>
              </c:pt>
              <c:pt idx="1">
                <c:v>16.945344991322006</c:v>
              </c:pt>
              <c:pt idx="2">
                <c:v>16.892428307554201</c:v>
              </c:pt>
              <c:pt idx="3">
                <c:v>19.322992259966266</c:v>
              </c:pt>
              <c:pt idx="4">
                <c:v>18.759993726634335</c:v>
              </c:pt>
              <c:pt idx="5">
                <c:v>19.624697892899881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F3BD-4EC1-8E95-21BE0DAAF080}"/>
            </c:ext>
          </c:extLst>
        </c:ser>
        <c:ser>
          <c:idx val="1"/>
          <c:order val="1"/>
          <c:tx>
            <c:v>Tablets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3BD-4EC1-8E95-21BE0DAAF080}"/>
                </c:ext>
              </c:extLst>
            </c:dLbl>
            <c:dLbl>
              <c:idx val="1"/>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3BD-4EC1-8E95-21BE0DAAF080}"/>
                </c:ext>
              </c:extLst>
            </c:dLbl>
            <c:dLbl>
              <c:idx val="2"/>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3BD-4EC1-8E95-21BE0DAAF080}"/>
                </c:ext>
              </c:extLst>
            </c:dLbl>
            <c:dLbl>
              <c:idx val="3"/>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3BD-4EC1-8E95-21BE0DAAF080}"/>
                </c:ext>
              </c:extLst>
            </c:dLbl>
            <c:dLbl>
              <c:idx val="4"/>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3BD-4EC1-8E95-21BE0DAAF080}"/>
                </c:ext>
              </c:extLst>
            </c:dLbl>
            <c:dLbl>
              <c:idx val="5"/>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3BD-4EC1-8E95-21BE0DAAF0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20.106247675172217</c:v>
              </c:pt>
              <c:pt idx="1">
                <c:v>23.184071781772932</c:v>
              </c:pt>
              <c:pt idx="2">
                <c:v>21.954139631008836</c:v>
              </c:pt>
              <c:pt idx="3">
                <c:v>23.941994468379846</c:v>
              </c:pt>
              <c:pt idx="4">
                <c:v>20.724751730367107</c:v>
              </c:pt>
              <c:pt idx="5">
                <c:v>19.502416669997984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D-F3BD-4EC1-8E95-21BE0DAAF080}"/>
            </c:ext>
          </c:extLst>
        </c:ser>
        <c:ser>
          <c:idx val="2"/>
          <c:order val="2"/>
          <c:tx>
            <c:v>Capsules and Softgels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3BD-4EC1-8E95-21BE0DAAF080}"/>
                </c:ext>
              </c:extLst>
            </c:dLbl>
            <c:dLbl>
              <c:idx val="1"/>
              <c:numFmt formatCode="&quot;MMMM&quot;;&quot;MMMM&quot;;&quot;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F3BD-4EC1-8E95-21BE0DAAF080}"/>
                </c:ext>
              </c:extLst>
            </c:dLbl>
            <c:dLbl>
              <c:idx val="2"/>
              <c:numFmt formatCode="&quot;MMMM&quot;;&quot;MMMM&quot;;&quot;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F3BD-4EC1-8E95-21BE0DAAF080}"/>
                </c:ext>
              </c:extLst>
            </c:dLbl>
            <c:dLbl>
              <c:idx val="3"/>
              <c:numFmt formatCode="&quot;MMMM&quot;;&quot;MMMM&quot;;&quot;M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F3BD-4EC1-8E95-21BE0DAAF080}"/>
                </c:ext>
              </c:extLst>
            </c:dLbl>
            <c:dLbl>
              <c:idx val="4"/>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F3BD-4EC1-8E95-21BE0DAAF080}"/>
                </c:ext>
              </c:extLst>
            </c:dLbl>
            <c:dLbl>
              <c:idx val="5"/>
              <c:numFmt formatCode="&quot;MMMM&quot;;&quot;MMMM&quot;;&quot;M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F3BD-4EC1-8E95-21BE0DAAF0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36.878712617987539</c:v>
              </c:pt>
              <c:pt idx="1">
                <c:v>37.608540459115176</c:v>
              </c:pt>
              <c:pt idx="2">
                <c:v>36.240276772093772</c:v>
              </c:pt>
              <c:pt idx="3">
                <c:v>33.251769085753075</c:v>
              </c:pt>
              <c:pt idx="4">
                <c:v>36.925461459245767</c:v>
              </c:pt>
              <c:pt idx="5">
                <c:v>40.976744151292472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F3BD-4EC1-8E95-21BE0DAAF080}"/>
            </c:ext>
          </c:extLst>
        </c:ser>
        <c:ser>
          <c:idx val="3"/>
          <c:order val="3"/>
          <c:tx>
            <c:v>Powders and Granules</c:v>
          </c:tx>
          <c:spPr>
            <a:solidFill>
              <a:srgbClr val="40315E"/>
            </a:solidFill>
            <a:ln>
              <a:noFill/>
            </a:ln>
          </c:spPr>
          <c:invertIfNegative val="1"/>
          <c:dLbls>
            <c:dLbl>
              <c:idx val="0"/>
              <c:numFmt formatCode="&quot;MMM&quot;;&quot;MMM&quot;;&quot;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F3BD-4EC1-8E95-21BE0DAAF080}"/>
                </c:ext>
              </c:extLst>
            </c:dLbl>
            <c:dLbl>
              <c:idx val="1"/>
              <c:numFmt formatCode="&quot;MMM&quot;;&quot;MMM&quot;;&quot;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F3BD-4EC1-8E95-21BE0DAAF080}"/>
                </c:ext>
              </c:extLst>
            </c:dLbl>
            <c:dLbl>
              <c:idx val="2"/>
              <c:numFmt formatCode="&quot;MMM&quot;;&quot;MMM&quot;;&quot;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F3BD-4EC1-8E95-21BE0DAAF080}"/>
                </c:ext>
              </c:extLst>
            </c:dLbl>
            <c:dLbl>
              <c:idx val="3"/>
              <c:numFmt formatCode="&quot;MMM&quot;;&quot;MMM&quot;;&quot;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F3BD-4EC1-8E95-21BE0DAAF080}"/>
                </c:ext>
              </c:extLst>
            </c:dLbl>
            <c:dLbl>
              <c:idx val="4"/>
              <c:numFmt formatCode="&quot;MMM&quot;;&quot;MMM&quot;;&quot;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F3BD-4EC1-8E95-21BE0DAAF080}"/>
                </c:ext>
              </c:extLst>
            </c:dLbl>
            <c:dLbl>
              <c:idx val="5"/>
              <c:numFmt formatCode="&quot;MMM&quot;;&quot;MMM&quot;;&quot;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F3BD-4EC1-8E95-21BE0DAAF0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5.1138089491047483</c:v>
              </c:pt>
              <c:pt idx="1">
                <c:v>4.1488030913318275</c:v>
              </c:pt>
              <c:pt idx="2">
                <c:v>5.5984851932142954</c:v>
              </c:pt>
              <c:pt idx="3">
                <c:v>5.1807628208756649</c:v>
              </c:pt>
              <c:pt idx="4">
                <c:v>4.6095789072516906</c:v>
              </c:pt>
              <c:pt idx="5">
                <c:v>3.6846885452793576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B-F3BD-4EC1-8E95-21BE0DAAF080}"/>
            </c:ext>
          </c:extLst>
        </c:ser>
        <c:ser>
          <c:idx val="4"/>
          <c:order val="4"/>
          <c:tx>
            <c:v>Liquids</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F3BD-4EC1-8E95-21BE0DAAF080}"/>
                </c:ext>
              </c:extLst>
            </c:dLbl>
            <c:dLbl>
              <c:idx val="1"/>
              <c:numFmt formatCode="&quot;MMM&quot;;&quot;MMM&quot;;&quot;MMM&quot;" sourceLinked="0"/>
              <c:spPr>
                <a:blipFill>
                  <a:blip xmlns:r="http://schemas.openxmlformats.org/officeDocument/2006/relationships"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F3BD-4EC1-8E95-21BE0DAAF080}"/>
                </c:ext>
              </c:extLst>
            </c:dLbl>
            <c:dLbl>
              <c:idx val="2"/>
              <c:numFmt formatCode="&quot;MMM&quot;;&quot;MMM&quot;;&quot;MMM&quot;" sourceLinked="0"/>
              <c:spPr>
                <a:blipFill>
                  <a:blip xmlns:r="http://schemas.openxmlformats.org/officeDocument/2006/relationships"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F3BD-4EC1-8E95-21BE0DAAF080}"/>
                </c:ext>
              </c:extLst>
            </c:dLbl>
            <c:dLbl>
              <c:idx val="3"/>
              <c:numFmt formatCode="&quot;MMM&quot;;&quot;MMM&quot;;&quot;MMM&quot;" sourceLinked="0"/>
              <c:spPr>
                <a:blipFill>
                  <a:blip xmlns:r="http://schemas.openxmlformats.org/officeDocument/2006/relationships"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F3BD-4EC1-8E95-21BE0DAAF080}"/>
                </c:ext>
              </c:extLst>
            </c:dLbl>
            <c:dLbl>
              <c:idx val="4"/>
              <c:numFmt formatCode="&quot;MMM&quot;;&quot;MMM&quot;;&quot;MMM&quot;" sourceLinked="0"/>
              <c:spPr>
                <a:blipFill>
                  <a:blip xmlns:r="http://schemas.openxmlformats.org/officeDocument/2006/relationships"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F3BD-4EC1-8E95-21BE0DAAF080}"/>
                </c:ext>
              </c:extLst>
            </c:dLbl>
            <c:dLbl>
              <c:idx val="5"/>
              <c:numFmt formatCode="&quot;MMM&quot;;&quot;MMM&quot;;&quot;MMM&quot;" sourceLinked="0"/>
              <c:spPr>
                <a:blipFill>
                  <a:blip xmlns:r="http://schemas.openxmlformats.org/officeDocument/2006/relationships"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F3BD-4EC1-8E95-21BE0DAAF0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8.7320125333597556</c:v>
              </c:pt>
              <c:pt idx="1">
                <c:v>7.5867308510986682</c:v>
              </c:pt>
              <c:pt idx="2">
                <c:v>9.2450573729535783</c:v>
              </c:pt>
              <c:pt idx="3">
                <c:v>8.012941968975051</c:v>
              </c:pt>
              <c:pt idx="4">
                <c:v>7.5528000036390281</c:v>
              </c:pt>
              <c:pt idx="5">
                <c:v>7.0159085143672018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2-F3BD-4EC1-8E95-21BE0DAAF080}"/>
            </c:ext>
          </c:extLst>
        </c:ser>
        <c:ser>
          <c:idx val="5"/>
          <c:order val="5"/>
          <c:tx>
            <c:v>Gels and Pastes</c:v>
          </c:tx>
          <c:spPr>
            <a:solidFill>
              <a:srgbClr val="808080"/>
            </a:solidFill>
            <a:ln>
              <a:noFill/>
            </a:ln>
          </c:spPr>
          <c:invertIfNegative val="1"/>
          <c:dLbls>
            <c:dLbl>
              <c:idx val="0"/>
              <c:numFmt formatCode="&quot;MMMM&quot;;&quot;MMMM&quot;;&quot;MMMM&quot;" sourceLinked="0"/>
              <c:spPr>
                <a:blipFill>
                  <a:blip xmlns:r="http://schemas.openxmlformats.org/officeDocument/2006/relationships"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F3BD-4EC1-8E95-21BE0DAAF080}"/>
                </c:ext>
              </c:extLst>
            </c:dLbl>
            <c:dLbl>
              <c:idx val="1"/>
              <c:numFmt formatCode="&quot;MMMM&quot;;&quot;MMMM&quot;;&quot;MMMM&quot;" sourceLinked="0"/>
              <c:spPr>
                <a:blipFill>
                  <a:blip xmlns:r="http://schemas.openxmlformats.org/officeDocument/2006/relationships"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F3BD-4EC1-8E95-21BE0DAAF080}"/>
                </c:ext>
              </c:extLst>
            </c:dLbl>
            <c:dLbl>
              <c:idx val="2"/>
              <c:numFmt formatCode="&quot;MMMM&quot;;&quot;MMMM&quot;;&quot;MMMM&quot;" sourceLinked="0"/>
              <c:spPr>
                <a:blipFill>
                  <a:blip xmlns:r="http://schemas.openxmlformats.org/officeDocument/2006/relationships"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F3BD-4EC1-8E95-21BE0DAAF080}"/>
                </c:ext>
              </c:extLst>
            </c:dLbl>
            <c:dLbl>
              <c:idx val="3"/>
              <c:numFmt formatCode="&quot;MMMM&quot;;&quot;MMMM&quot;;&quot;MMMM&quot;" sourceLinked="0"/>
              <c:spPr>
                <a:blipFill>
                  <a:blip xmlns:r="http://schemas.openxmlformats.org/officeDocument/2006/relationships"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F3BD-4EC1-8E95-21BE0DAAF080}"/>
                </c:ext>
              </c:extLst>
            </c:dLbl>
            <c:dLbl>
              <c:idx val="4"/>
              <c:numFmt formatCode="&quot;MMMM&quot;;&quot;MMMM&quot;;&quot;MMMM&quot;" sourceLinked="0"/>
              <c:spPr>
                <a:blipFill>
                  <a:blip xmlns:r="http://schemas.openxmlformats.org/officeDocument/2006/relationships"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F3BD-4EC1-8E95-21BE0DAAF080}"/>
                </c:ext>
              </c:extLst>
            </c:dLbl>
            <c:dLbl>
              <c:idx val="5"/>
              <c:numFmt formatCode="&quot;MMM&quot;;&quot;MMM&quot;;&quot;MMM&quot;" sourceLinked="0"/>
              <c:spPr>
                <a:blipFill>
                  <a:blip xmlns:r="http://schemas.openxmlformats.org/officeDocument/2006/relationships"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F3BD-4EC1-8E95-21BE0DAAF0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11.120432982423083</c:v>
              </c:pt>
              <c:pt idx="1">
                <c:v>10.5265088253594</c:v>
              </c:pt>
              <c:pt idx="2">
                <c:v>10.069612723175334</c:v>
              </c:pt>
              <c:pt idx="3">
                <c:v>10.289539396050088</c:v>
              </c:pt>
              <c:pt idx="4">
                <c:v>11.427414172862077</c:v>
              </c:pt>
              <c:pt idx="5">
                <c:v>9.1955442261631006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9-F3BD-4EC1-8E95-21BE0DAAF080}"/>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Chewables</c:v>
          </c:tx>
          <c:spPr>
            <a:solidFill>
              <a:srgbClr val="3D85C6"/>
            </a:solidFill>
          </c:spPr>
          <c:invertIfNegative val="0"/>
          <c:xVal>
            <c:numLit>
              <c:formatCode>General</c:formatCode>
              <c:ptCount val="1"/>
              <c:pt idx="0">
                <c:v>128.15582401819333</c:v>
              </c:pt>
            </c:numLit>
          </c:xVal>
          <c:yVal>
            <c:numLit>
              <c:formatCode>General</c:formatCode>
              <c:ptCount val="1"/>
              <c:pt idx="0">
                <c:v>97.96326605504585</c:v>
              </c:pt>
            </c:numLit>
          </c:yVal>
          <c:bubbleSize>
            <c:numLit>
              <c:formatCode>General</c:formatCode>
              <c:ptCount val="1"/>
              <c:pt idx="0">
                <c:v>3309.6390000000001</c:v>
              </c:pt>
            </c:numLit>
          </c:bubbleSize>
          <c:bubble3D val="0"/>
          <c:extLst>
            <c:ext xmlns:c16="http://schemas.microsoft.com/office/drawing/2014/chart" uri="{C3380CC4-5D6E-409C-BE32-E72D297353CC}">
              <c16:uniqueId val="{00000000-98BA-4CB2-A494-820500139AD9}"/>
            </c:ext>
          </c:extLst>
        </c:ser>
        <c:ser>
          <c:idx val="1"/>
          <c:order val="1"/>
          <c:tx>
            <c:v>Tablets</c:v>
          </c:tx>
          <c:spPr>
            <a:solidFill>
              <a:srgbClr val="9E7E0A"/>
            </a:solidFill>
          </c:spPr>
          <c:invertIfNegative val="0"/>
          <c:xVal>
            <c:numLit>
              <c:formatCode>General</c:formatCode>
              <c:ptCount val="1"/>
              <c:pt idx="0">
                <c:v>87.825412536924759</c:v>
              </c:pt>
            </c:numLit>
          </c:xVal>
          <c:yVal>
            <c:numLit>
              <c:formatCode>General</c:formatCode>
              <c:ptCount val="1"/>
              <c:pt idx="0">
                <c:v>134.17777981651375</c:v>
              </c:pt>
            </c:numLit>
          </c:yVal>
          <c:bubbleSize>
            <c:numLit>
              <c:formatCode>General</c:formatCode>
              <c:ptCount val="1"/>
              <c:pt idx="0">
                <c:v>3744.498</c:v>
              </c:pt>
            </c:numLit>
          </c:bubbleSize>
          <c:bubble3D val="0"/>
          <c:extLst>
            <c:ext xmlns:c16="http://schemas.microsoft.com/office/drawing/2014/chart" uri="{C3380CC4-5D6E-409C-BE32-E72D297353CC}">
              <c16:uniqueId val="{00000001-98BA-4CB2-A494-820500139AD9}"/>
            </c:ext>
          </c:extLst>
        </c:ser>
        <c:ser>
          <c:idx val="2"/>
          <c:order val="2"/>
          <c:tx>
            <c:v>Capsules and Softgels</c:v>
          </c:tx>
          <c:spPr>
            <a:solidFill>
              <a:srgbClr val="008189"/>
            </a:solidFill>
          </c:spPr>
          <c:invertIfNegative val="0"/>
          <c:xVal>
            <c:numLit>
              <c:formatCode>General</c:formatCode>
              <c:ptCount val="1"/>
              <c:pt idx="0">
                <c:v>115.14761260690531</c:v>
              </c:pt>
            </c:numLit>
          </c:xVal>
          <c:yVal>
            <c:numLit>
              <c:formatCode>General</c:formatCode>
              <c:ptCount val="1"/>
              <c:pt idx="0">
                <c:v>210.17499082568807</c:v>
              </c:pt>
            </c:numLit>
          </c:yVal>
          <c:bubbleSize>
            <c:numLit>
              <c:formatCode>General</c:formatCode>
              <c:ptCount val="1"/>
              <c:pt idx="0">
                <c:v>6678.8090000000002</c:v>
              </c:pt>
            </c:numLit>
          </c:bubbleSize>
          <c:bubble3D val="0"/>
          <c:extLst>
            <c:ext xmlns:c16="http://schemas.microsoft.com/office/drawing/2014/chart" uri="{C3380CC4-5D6E-409C-BE32-E72D297353CC}">
              <c16:uniqueId val="{00000002-98BA-4CB2-A494-820500139AD9}"/>
            </c:ext>
          </c:extLst>
        </c:ser>
        <c:ser>
          <c:idx val="3"/>
          <c:order val="3"/>
          <c:tx>
            <c:v>Powders and Granules</c:v>
          </c:tx>
          <c:spPr>
            <a:solidFill>
              <a:srgbClr val="40315E"/>
            </a:solidFill>
          </c:spPr>
          <c:invertIfNegative val="0"/>
          <c:xVal>
            <c:numLit>
              <c:formatCode>General</c:formatCode>
              <c:ptCount val="1"/>
              <c:pt idx="0">
                <c:v>80.210505030407276</c:v>
              </c:pt>
            </c:numLit>
          </c:xVal>
          <c:yVal>
            <c:numLit>
              <c:formatCode>General</c:formatCode>
              <c:ptCount val="1"/>
              <c:pt idx="0">
                <c:v>29.853412844036693</c:v>
              </c:pt>
            </c:numLit>
          </c:yVal>
          <c:bubbleSize>
            <c:numLit>
              <c:formatCode>General</c:formatCode>
              <c:ptCount val="1"/>
              <c:pt idx="0">
                <c:v>803.25800000000004</c:v>
              </c:pt>
            </c:numLit>
          </c:bubbleSize>
          <c:bubble3D val="0"/>
          <c:extLst>
            <c:ext xmlns:c16="http://schemas.microsoft.com/office/drawing/2014/chart" uri="{C3380CC4-5D6E-409C-BE32-E72D297353CC}">
              <c16:uniqueId val="{00000003-98BA-4CB2-A494-820500139AD9}"/>
            </c:ext>
          </c:extLst>
        </c:ser>
        <c:ser>
          <c:idx val="4"/>
          <c:order val="4"/>
          <c:tx>
            <c:v>Liquids</c:v>
          </c:tx>
          <c:spPr>
            <a:solidFill>
              <a:srgbClr val="A35313"/>
            </a:solidFill>
          </c:spPr>
          <c:invertIfNegative val="0"/>
          <c:xVal>
            <c:numLit>
              <c:formatCode>General</c:formatCode>
              <c:ptCount val="1"/>
              <c:pt idx="0">
                <c:v>64.348021108938326</c:v>
              </c:pt>
            </c:numLit>
          </c:xVal>
          <c:yVal>
            <c:numLit>
              <c:formatCode>General</c:formatCode>
              <c:ptCount val="1"/>
              <c:pt idx="0">
                <c:v>55.184587155963293</c:v>
              </c:pt>
            </c:numLit>
          </c:yVal>
          <c:bubbleSize>
            <c:numLit>
              <c:formatCode>General</c:formatCode>
              <c:ptCount val="1"/>
              <c:pt idx="0">
                <c:v>1375.5329999999999</c:v>
              </c:pt>
            </c:numLit>
          </c:bubbleSize>
          <c:bubble3D val="0"/>
          <c:extLst>
            <c:ext xmlns:c16="http://schemas.microsoft.com/office/drawing/2014/chart" uri="{C3380CC4-5D6E-409C-BE32-E72D297353CC}">
              <c16:uniqueId val="{00000004-98BA-4CB2-A494-820500139AD9}"/>
            </c:ext>
          </c:extLst>
        </c:ser>
        <c:ser>
          <c:idx val="5"/>
          <c:order val="5"/>
          <c:tx>
            <c:v>Gels and Pastes</c:v>
          </c:tx>
          <c:spPr>
            <a:solidFill>
              <a:srgbClr val="808080"/>
            </a:solidFill>
          </c:spPr>
          <c:invertIfNegative val="0"/>
          <c:xVal>
            <c:numLit>
              <c:formatCode>General</c:formatCode>
              <c:ptCount val="1"/>
              <c:pt idx="0">
                <c:v>66.957620084210419</c:v>
              </c:pt>
            </c:numLit>
          </c:xVal>
          <c:yVal>
            <c:numLit>
              <c:formatCode>General</c:formatCode>
              <c:ptCount val="1"/>
              <c:pt idx="0">
                <c:v>72.645963302752278</c:v>
              </c:pt>
            </c:numLit>
          </c:yVal>
          <c:bubbleSize>
            <c:numLit>
              <c:formatCode>General</c:formatCode>
              <c:ptCount val="1"/>
              <c:pt idx="0">
                <c:v>1833.7719999999999</c:v>
              </c:pt>
            </c:numLit>
          </c:bubbleSize>
          <c:bubble3D val="0"/>
          <c:extLst>
            <c:ext xmlns:c16="http://schemas.microsoft.com/office/drawing/2014/chart" uri="{C3380CC4-5D6E-409C-BE32-E72D297353CC}">
              <c16:uniqueId val="{00000005-98BA-4CB2-A494-820500139AD9}"/>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
          <c:min val="40"/>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275"/>
          <c:min val="0"/>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1779.6659999999999</c:v>
              </c:pt>
              <c:pt idx="2">
                <c:v>2019.155</c:v>
              </c:pt>
              <c:pt idx="3">
                <c:v>2288.0549999999998</c:v>
              </c:pt>
              <c:pt idx="4">
                <c:v>2589.9810000000002</c:v>
              </c:pt>
              <c:pt idx="5">
                <c:v>2928.9870000000001</c:v>
              </c:pt>
              <c:pt idx="6">
                <c:v>0</c:v>
              </c:pt>
            </c:numLit>
          </c:val>
          <c:extLst>
            <c:ext xmlns:c16="http://schemas.microsoft.com/office/drawing/2014/chart" uri="{C3380CC4-5D6E-409C-BE32-E72D297353CC}">
              <c16:uniqueId val="{00000000-5C07-43B5-A3C6-5776CBB4F839}"/>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5C07-43B5-A3C6-5776CBB4F839}"/>
              </c:ext>
            </c:extLst>
          </c:dPt>
          <c:dPt>
            <c:idx val="1"/>
            <c:invertIfNegative val="1"/>
            <c:bubble3D val="0"/>
            <c:spPr>
              <a:solidFill>
                <a:srgbClr val="008189"/>
              </a:solidFill>
            </c:spPr>
            <c:extLst>
              <c:ext xmlns:c16="http://schemas.microsoft.com/office/drawing/2014/chart" uri="{C3380CC4-5D6E-409C-BE32-E72D297353CC}">
                <c16:uniqueId val="{00000004-5C07-43B5-A3C6-5776CBB4F839}"/>
              </c:ext>
            </c:extLst>
          </c:dPt>
          <c:dPt>
            <c:idx val="2"/>
            <c:invertIfNegative val="1"/>
            <c:bubble3D val="0"/>
            <c:spPr>
              <a:solidFill>
                <a:srgbClr val="008189"/>
              </a:solidFill>
            </c:spPr>
            <c:extLst>
              <c:ext xmlns:c16="http://schemas.microsoft.com/office/drawing/2014/chart" uri="{C3380CC4-5D6E-409C-BE32-E72D297353CC}">
                <c16:uniqueId val="{00000006-5C07-43B5-A3C6-5776CBB4F839}"/>
              </c:ext>
            </c:extLst>
          </c:dPt>
          <c:dPt>
            <c:idx val="3"/>
            <c:invertIfNegative val="1"/>
            <c:bubble3D val="0"/>
            <c:spPr>
              <a:solidFill>
                <a:srgbClr val="008189"/>
              </a:solidFill>
            </c:spPr>
            <c:extLst>
              <c:ext xmlns:c16="http://schemas.microsoft.com/office/drawing/2014/chart" uri="{C3380CC4-5D6E-409C-BE32-E72D297353CC}">
                <c16:uniqueId val="{00000008-5C07-43B5-A3C6-5776CBB4F839}"/>
              </c:ext>
            </c:extLst>
          </c:dPt>
          <c:dPt>
            <c:idx val="4"/>
            <c:invertIfNegative val="1"/>
            <c:bubble3D val="0"/>
            <c:spPr>
              <a:solidFill>
                <a:srgbClr val="008189"/>
              </a:solidFill>
            </c:spPr>
            <c:extLst>
              <c:ext xmlns:c16="http://schemas.microsoft.com/office/drawing/2014/chart" uri="{C3380CC4-5D6E-409C-BE32-E72D297353CC}">
                <c16:uniqueId val="{0000000A-5C07-43B5-A3C6-5776CBB4F839}"/>
              </c:ext>
            </c:extLst>
          </c:dPt>
          <c:dPt>
            <c:idx val="5"/>
            <c:invertIfNegative val="1"/>
            <c:bubble3D val="0"/>
            <c:spPr>
              <a:solidFill>
                <a:srgbClr val="008189"/>
              </a:solidFill>
            </c:spPr>
            <c:extLst>
              <c:ext xmlns:c16="http://schemas.microsoft.com/office/drawing/2014/chart" uri="{C3380CC4-5D6E-409C-BE32-E72D297353CC}">
                <c16:uniqueId val="{0000000C-5C07-43B5-A3C6-5776CBB4F839}"/>
              </c:ext>
            </c:extLst>
          </c:dPt>
          <c:dPt>
            <c:idx val="6"/>
            <c:invertIfNegative val="1"/>
            <c:bubble3D val="0"/>
            <c:spPr>
              <a:solidFill>
                <a:srgbClr val="0E72AE"/>
              </a:solidFill>
            </c:spPr>
            <c:extLst>
              <c:ext xmlns:c16="http://schemas.microsoft.com/office/drawing/2014/chart" uri="{C3380CC4-5D6E-409C-BE32-E72D297353CC}">
                <c16:uniqueId val="{0000000E-5C07-43B5-A3C6-5776CBB4F839}"/>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C07-43B5-A3C6-5776CBB4F839}"/>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C07-43B5-A3C6-5776CBB4F839}"/>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C07-43B5-A3C6-5776CBB4F839}"/>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C07-43B5-A3C6-5776CBB4F839}"/>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C07-43B5-A3C6-5776CBB4F839}"/>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C07-43B5-A3C6-5776CBB4F839}"/>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C07-43B5-A3C6-5776CBB4F839}"/>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1779.6659999999999</c:v>
              </c:pt>
              <c:pt idx="1">
                <c:v>239.48900000000003</c:v>
              </c:pt>
              <c:pt idx="2">
                <c:v>268.89999999999986</c:v>
              </c:pt>
              <c:pt idx="3">
                <c:v>301.92600000000039</c:v>
              </c:pt>
              <c:pt idx="4">
                <c:v>339.00599999999986</c:v>
              </c:pt>
              <c:pt idx="5">
                <c:v>380.65200000000004</c:v>
              </c:pt>
              <c:pt idx="6">
                <c:v>3309.6390000000001</c:v>
              </c:pt>
            </c:numLit>
          </c:val>
          <c:extLst>
            <c:ext xmlns:c16="http://schemas.microsoft.com/office/drawing/2014/chart" uri="{C3380CC4-5D6E-409C-BE32-E72D297353CC}">
              <c16:uniqueId val="{0000000F-5C07-43B5-A3C6-5776CBB4F839}"/>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2437.5630000000001</c:v>
              </c:pt>
              <c:pt idx="2">
                <c:v>2652.5349999999999</c:v>
              </c:pt>
              <c:pt idx="3">
                <c:v>2888.4250000000002</c:v>
              </c:pt>
              <c:pt idx="4">
                <c:v>3147.384</c:v>
              </c:pt>
              <c:pt idx="5">
                <c:v>3431.8580000000002</c:v>
              </c:pt>
              <c:pt idx="6">
                <c:v>0</c:v>
              </c:pt>
            </c:numLit>
          </c:val>
          <c:extLst>
            <c:ext xmlns:c16="http://schemas.microsoft.com/office/drawing/2014/chart" uri="{C3380CC4-5D6E-409C-BE32-E72D297353CC}">
              <c16:uniqueId val="{00000000-4070-4920-9583-5DE29A023774}"/>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4070-4920-9583-5DE29A023774}"/>
              </c:ext>
            </c:extLst>
          </c:dPt>
          <c:dPt>
            <c:idx val="1"/>
            <c:invertIfNegative val="1"/>
            <c:bubble3D val="0"/>
            <c:spPr>
              <a:solidFill>
                <a:srgbClr val="008189"/>
              </a:solidFill>
            </c:spPr>
            <c:extLst>
              <c:ext xmlns:c16="http://schemas.microsoft.com/office/drawing/2014/chart" uri="{C3380CC4-5D6E-409C-BE32-E72D297353CC}">
                <c16:uniqueId val="{00000004-4070-4920-9583-5DE29A023774}"/>
              </c:ext>
            </c:extLst>
          </c:dPt>
          <c:dPt>
            <c:idx val="2"/>
            <c:invertIfNegative val="1"/>
            <c:bubble3D val="0"/>
            <c:spPr>
              <a:solidFill>
                <a:srgbClr val="008189"/>
              </a:solidFill>
            </c:spPr>
            <c:extLst>
              <c:ext xmlns:c16="http://schemas.microsoft.com/office/drawing/2014/chart" uri="{C3380CC4-5D6E-409C-BE32-E72D297353CC}">
                <c16:uniqueId val="{00000006-4070-4920-9583-5DE29A023774}"/>
              </c:ext>
            </c:extLst>
          </c:dPt>
          <c:dPt>
            <c:idx val="3"/>
            <c:invertIfNegative val="1"/>
            <c:bubble3D val="0"/>
            <c:spPr>
              <a:solidFill>
                <a:srgbClr val="008189"/>
              </a:solidFill>
            </c:spPr>
            <c:extLst>
              <c:ext xmlns:c16="http://schemas.microsoft.com/office/drawing/2014/chart" uri="{C3380CC4-5D6E-409C-BE32-E72D297353CC}">
                <c16:uniqueId val="{00000008-4070-4920-9583-5DE29A023774}"/>
              </c:ext>
            </c:extLst>
          </c:dPt>
          <c:dPt>
            <c:idx val="4"/>
            <c:invertIfNegative val="1"/>
            <c:bubble3D val="0"/>
            <c:spPr>
              <a:solidFill>
                <a:srgbClr val="008189"/>
              </a:solidFill>
            </c:spPr>
            <c:extLst>
              <c:ext xmlns:c16="http://schemas.microsoft.com/office/drawing/2014/chart" uri="{C3380CC4-5D6E-409C-BE32-E72D297353CC}">
                <c16:uniqueId val="{0000000A-4070-4920-9583-5DE29A023774}"/>
              </c:ext>
            </c:extLst>
          </c:dPt>
          <c:dPt>
            <c:idx val="5"/>
            <c:invertIfNegative val="1"/>
            <c:bubble3D val="0"/>
            <c:spPr>
              <a:solidFill>
                <a:srgbClr val="008189"/>
              </a:solidFill>
            </c:spPr>
            <c:extLst>
              <c:ext xmlns:c16="http://schemas.microsoft.com/office/drawing/2014/chart" uri="{C3380CC4-5D6E-409C-BE32-E72D297353CC}">
                <c16:uniqueId val="{0000000C-4070-4920-9583-5DE29A023774}"/>
              </c:ext>
            </c:extLst>
          </c:dPt>
          <c:dPt>
            <c:idx val="6"/>
            <c:invertIfNegative val="1"/>
            <c:bubble3D val="0"/>
            <c:spPr>
              <a:solidFill>
                <a:srgbClr val="0E72AE"/>
              </a:solidFill>
            </c:spPr>
            <c:extLst>
              <c:ext xmlns:c16="http://schemas.microsoft.com/office/drawing/2014/chart" uri="{C3380CC4-5D6E-409C-BE32-E72D297353CC}">
                <c16:uniqueId val="{0000000E-4070-4920-9583-5DE29A023774}"/>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070-4920-9583-5DE29A023774}"/>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070-4920-9583-5DE29A023774}"/>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070-4920-9583-5DE29A023774}"/>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070-4920-9583-5DE29A023774}"/>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070-4920-9583-5DE29A023774}"/>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070-4920-9583-5DE29A023774}"/>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070-4920-9583-5DE29A023774}"/>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2437.5630000000001</c:v>
              </c:pt>
              <c:pt idx="1">
                <c:v>214.97199999999975</c:v>
              </c:pt>
              <c:pt idx="2">
                <c:v>235.89000000000033</c:v>
              </c:pt>
              <c:pt idx="3">
                <c:v>258.95899999999983</c:v>
              </c:pt>
              <c:pt idx="4">
                <c:v>284.47400000000016</c:v>
              </c:pt>
              <c:pt idx="5">
                <c:v>312.63999999999987</c:v>
              </c:pt>
              <c:pt idx="6">
                <c:v>3744.498</c:v>
              </c:pt>
            </c:numLit>
          </c:val>
          <c:extLst>
            <c:ext xmlns:c16="http://schemas.microsoft.com/office/drawing/2014/chart" uri="{C3380CC4-5D6E-409C-BE32-E72D297353CC}">
              <c16:uniqueId val="{0000000F-4070-4920-9583-5DE29A023774}"/>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3818.1790000000001</c:v>
              </c:pt>
              <c:pt idx="2">
                <c:v>4272.6360000000004</c:v>
              </c:pt>
              <c:pt idx="3">
                <c:v>4779.4340000000002</c:v>
              </c:pt>
              <c:pt idx="4">
                <c:v>5344.6819999999998</c:v>
              </c:pt>
              <c:pt idx="5">
                <c:v>5975.25</c:v>
              </c:pt>
              <c:pt idx="6">
                <c:v>0</c:v>
              </c:pt>
            </c:numLit>
          </c:val>
          <c:extLst>
            <c:ext xmlns:c16="http://schemas.microsoft.com/office/drawing/2014/chart" uri="{C3380CC4-5D6E-409C-BE32-E72D297353CC}">
              <c16:uniqueId val="{00000000-E2E0-46A8-85F9-744CCC8C5D4C}"/>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E2E0-46A8-85F9-744CCC8C5D4C}"/>
              </c:ext>
            </c:extLst>
          </c:dPt>
          <c:dPt>
            <c:idx val="1"/>
            <c:invertIfNegative val="1"/>
            <c:bubble3D val="0"/>
            <c:spPr>
              <a:solidFill>
                <a:srgbClr val="008189"/>
              </a:solidFill>
            </c:spPr>
            <c:extLst>
              <c:ext xmlns:c16="http://schemas.microsoft.com/office/drawing/2014/chart" uri="{C3380CC4-5D6E-409C-BE32-E72D297353CC}">
                <c16:uniqueId val="{00000004-E2E0-46A8-85F9-744CCC8C5D4C}"/>
              </c:ext>
            </c:extLst>
          </c:dPt>
          <c:dPt>
            <c:idx val="2"/>
            <c:invertIfNegative val="1"/>
            <c:bubble3D val="0"/>
            <c:spPr>
              <a:solidFill>
                <a:srgbClr val="008189"/>
              </a:solidFill>
            </c:spPr>
            <c:extLst>
              <c:ext xmlns:c16="http://schemas.microsoft.com/office/drawing/2014/chart" uri="{C3380CC4-5D6E-409C-BE32-E72D297353CC}">
                <c16:uniqueId val="{00000006-E2E0-46A8-85F9-744CCC8C5D4C}"/>
              </c:ext>
            </c:extLst>
          </c:dPt>
          <c:dPt>
            <c:idx val="3"/>
            <c:invertIfNegative val="1"/>
            <c:bubble3D val="0"/>
            <c:spPr>
              <a:solidFill>
                <a:srgbClr val="008189"/>
              </a:solidFill>
            </c:spPr>
            <c:extLst>
              <c:ext xmlns:c16="http://schemas.microsoft.com/office/drawing/2014/chart" uri="{C3380CC4-5D6E-409C-BE32-E72D297353CC}">
                <c16:uniqueId val="{00000008-E2E0-46A8-85F9-744CCC8C5D4C}"/>
              </c:ext>
            </c:extLst>
          </c:dPt>
          <c:dPt>
            <c:idx val="4"/>
            <c:invertIfNegative val="1"/>
            <c:bubble3D val="0"/>
            <c:spPr>
              <a:solidFill>
                <a:srgbClr val="008189"/>
              </a:solidFill>
            </c:spPr>
            <c:extLst>
              <c:ext xmlns:c16="http://schemas.microsoft.com/office/drawing/2014/chart" uri="{C3380CC4-5D6E-409C-BE32-E72D297353CC}">
                <c16:uniqueId val="{0000000A-E2E0-46A8-85F9-744CCC8C5D4C}"/>
              </c:ext>
            </c:extLst>
          </c:dPt>
          <c:dPt>
            <c:idx val="5"/>
            <c:invertIfNegative val="1"/>
            <c:bubble3D val="0"/>
            <c:spPr>
              <a:solidFill>
                <a:srgbClr val="008189"/>
              </a:solidFill>
            </c:spPr>
            <c:extLst>
              <c:ext xmlns:c16="http://schemas.microsoft.com/office/drawing/2014/chart" uri="{C3380CC4-5D6E-409C-BE32-E72D297353CC}">
                <c16:uniqueId val="{0000000C-E2E0-46A8-85F9-744CCC8C5D4C}"/>
              </c:ext>
            </c:extLst>
          </c:dPt>
          <c:dPt>
            <c:idx val="6"/>
            <c:invertIfNegative val="1"/>
            <c:bubble3D val="0"/>
            <c:spPr>
              <a:solidFill>
                <a:srgbClr val="0E72AE"/>
              </a:solidFill>
            </c:spPr>
            <c:extLst>
              <c:ext xmlns:c16="http://schemas.microsoft.com/office/drawing/2014/chart" uri="{C3380CC4-5D6E-409C-BE32-E72D297353CC}">
                <c16:uniqueId val="{0000000E-E2E0-46A8-85F9-744CCC8C5D4C}"/>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2E0-46A8-85F9-744CCC8C5D4C}"/>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2E0-46A8-85F9-744CCC8C5D4C}"/>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2E0-46A8-85F9-744CCC8C5D4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2E0-46A8-85F9-744CCC8C5D4C}"/>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2E0-46A8-85F9-744CCC8C5D4C}"/>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2E0-46A8-85F9-744CCC8C5D4C}"/>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2E0-46A8-85F9-744CCC8C5D4C}"/>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3818.1790000000001</c:v>
              </c:pt>
              <c:pt idx="1">
                <c:v>454.45700000000033</c:v>
              </c:pt>
              <c:pt idx="2">
                <c:v>506.79799999999977</c:v>
              </c:pt>
              <c:pt idx="3">
                <c:v>565.24799999999959</c:v>
              </c:pt>
              <c:pt idx="4">
                <c:v>630.56800000000021</c:v>
              </c:pt>
              <c:pt idx="5">
                <c:v>703.5590000000002</c:v>
              </c:pt>
              <c:pt idx="6">
                <c:v>6678.8090000000002</c:v>
              </c:pt>
            </c:numLit>
          </c:val>
          <c:extLst>
            <c:ext xmlns:c16="http://schemas.microsoft.com/office/drawing/2014/chart" uri="{C3380CC4-5D6E-409C-BE32-E72D297353CC}">
              <c16:uniqueId val="{0000000F-E2E0-46A8-85F9-744CCC8C5D4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542.33699999999999</c:v>
              </c:pt>
              <c:pt idx="2">
                <c:v>585.91399999999999</c:v>
              </c:pt>
              <c:pt idx="3">
                <c:v>633.39400000000001</c:v>
              </c:pt>
              <c:pt idx="4">
                <c:v>685.16600000000005</c:v>
              </c:pt>
              <c:pt idx="5">
                <c:v>741.63199999999995</c:v>
              </c:pt>
              <c:pt idx="6">
                <c:v>0</c:v>
              </c:pt>
            </c:numLit>
          </c:val>
          <c:extLst>
            <c:ext xmlns:c16="http://schemas.microsoft.com/office/drawing/2014/chart" uri="{C3380CC4-5D6E-409C-BE32-E72D297353CC}">
              <c16:uniqueId val="{00000000-F5BF-4ACE-BD3B-4963D6134A90}"/>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F5BF-4ACE-BD3B-4963D6134A90}"/>
              </c:ext>
            </c:extLst>
          </c:dPt>
          <c:dPt>
            <c:idx val="1"/>
            <c:invertIfNegative val="1"/>
            <c:bubble3D val="0"/>
            <c:spPr>
              <a:solidFill>
                <a:srgbClr val="008189"/>
              </a:solidFill>
            </c:spPr>
            <c:extLst>
              <c:ext xmlns:c16="http://schemas.microsoft.com/office/drawing/2014/chart" uri="{C3380CC4-5D6E-409C-BE32-E72D297353CC}">
                <c16:uniqueId val="{00000004-F5BF-4ACE-BD3B-4963D6134A90}"/>
              </c:ext>
            </c:extLst>
          </c:dPt>
          <c:dPt>
            <c:idx val="2"/>
            <c:invertIfNegative val="1"/>
            <c:bubble3D val="0"/>
            <c:spPr>
              <a:solidFill>
                <a:srgbClr val="008189"/>
              </a:solidFill>
            </c:spPr>
            <c:extLst>
              <c:ext xmlns:c16="http://schemas.microsoft.com/office/drawing/2014/chart" uri="{C3380CC4-5D6E-409C-BE32-E72D297353CC}">
                <c16:uniqueId val="{00000006-F5BF-4ACE-BD3B-4963D6134A90}"/>
              </c:ext>
            </c:extLst>
          </c:dPt>
          <c:dPt>
            <c:idx val="3"/>
            <c:invertIfNegative val="1"/>
            <c:bubble3D val="0"/>
            <c:spPr>
              <a:solidFill>
                <a:srgbClr val="008189"/>
              </a:solidFill>
            </c:spPr>
            <c:extLst>
              <c:ext xmlns:c16="http://schemas.microsoft.com/office/drawing/2014/chart" uri="{C3380CC4-5D6E-409C-BE32-E72D297353CC}">
                <c16:uniqueId val="{00000008-F5BF-4ACE-BD3B-4963D6134A90}"/>
              </c:ext>
            </c:extLst>
          </c:dPt>
          <c:dPt>
            <c:idx val="4"/>
            <c:invertIfNegative val="1"/>
            <c:bubble3D val="0"/>
            <c:spPr>
              <a:solidFill>
                <a:srgbClr val="008189"/>
              </a:solidFill>
            </c:spPr>
            <c:extLst>
              <c:ext xmlns:c16="http://schemas.microsoft.com/office/drawing/2014/chart" uri="{C3380CC4-5D6E-409C-BE32-E72D297353CC}">
                <c16:uniqueId val="{0000000A-F5BF-4ACE-BD3B-4963D6134A90}"/>
              </c:ext>
            </c:extLst>
          </c:dPt>
          <c:dPt>
            <c:idx val="5"/>
            <c:invertIfNegative val="1"/>
            <c:bubble3D val="0"/>
            <c:spPr>
              <a:solidFill>
                <a:srgbClr val="008189"/>
              </a:solidFill>
            </c:spPr>
            <c:extLst>
              <c:ext xmlns:c16="http://schemas.microsoft.com/office/drawing/2014/chart" uri="{C3380CC4-5D6E-409C-BE32-E72D297353CC}">
                <c16:uniqueId val="{0000000C-F5BF-4ACE-BD3B-4963D6134A90}"/>
              </c:ext>
            </c:extLst>
          </c:dPt>
          <c:dPt>
            <c:idx val="6"/>
            <c:invertIfNegative val="1"/>
            <c:bubble3D val="0"/>
            <c:spPr>
              <a:solidFill>
                <a:srgbClr val="0E72AE"/>
              </a:solidFill>
            </c:spPr>
            <c:extLst>
              <c:ext xmlns:c16="http://schemas.microsoft.com/office/drawing/2014/chart" uri="{C3380CC4-5D6E-409C-BE32-E72D297353CC}">
                <c16:uniqueId val="{0000000E-F5BF-4ACE-BD3B-4963D6134A90}"/>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5BF-4ACE-BD3B-4963D6134A90}"/>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5BF-4ACE-BD3B-4963D6134A90}"/>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5BF-4ACE-BD3B-4963D6134A90}"/>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5BF-4ACE-BD3B-4963D6134A90}"/>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5BF-4ACE-BD3B-4963D6134A90}"/>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5BF-4ACE-BD3B-4963D6134A90}"/>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5BF-4ACE-BD3B-4963D6134A90}"/>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542.33699999999999</c:v>
              </c:pt>
              <c:pt idx="1">
                <c:v>43.576999999999998</c:v>
              </c:pt>
              <c:pt idx="2">
                <c:v>47.480000000000018</c:v>
              </c:pt>
              <c:pt idx="3">
                <c:v>51.772000000000048</c:v>
              </c:pt>
              <c:pt idx="4">
                <c:v>56.465999999999894</c:v>
              </c:pt>
              <c:pt idx="5">
                <c:v>61.62600000000009</c:v>
              </c:pt>
              <c:pt idx="6">
                <c:v>803.25800000000004</c:v>
              </c:pt>
            </c:numLit>
          </c:val>
          <c:extLst>
            <c:ext xmlns:c16="http://schemas.microsoft.com/office/drawing/2014/chart" uri="{C3380CC4-5D6E-409C-BE32-E72D297353CC}">
              <c16:uniqueId val="{0000000F-F5BF-4ACE-BD3B-4963D6134A90}"/>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1002.52</c:v>
              </c:pt>
              <c:pt idx="2">
                <c:v>1067.394</c:v>
              </c:pt>
              <c:pt idx="3">
                <c:v>1136.807</c:v>
              </c:pt>
              <c:pt idx="4">
                <c:v>1211.079</c:v>
              </c:pt>
              <c:pt idx="5">
                <c:v>1290.5309999999999</c:v>
              </c:pt>
              <c:pt idx="6">
                <c:v>0</c:v>
              </c:pt>
            </c:numLit>
          </c:val>
          <c:extLst>
            <c:ext xmlns:c16="http://schemas.microsoft.com/office/drawing/2014/chart" uri="{C3380CC4-5D6E-409C-BE32-E72D297353CC}">
              <c16:uniqueId val="{00000000-FFC4-4B8F-A6A2-A6DDC4023AEA}"/>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FFC4-4B8F-A6A2-A6DDC4023AEA}"/>
              </c:ext>
            </c:extLst>
          </c:dPt>
          <c:dPt>
            <c:idx val="1"/>
            <c:invertIfNegative val="1"/>
            <c:bubble3D val="0"/>
            <c:spPr>
              <a:solidFill>
                <a:srgbClr val="008189"/>
              </a:solidFill>
            </c:spPr>
            <c:extLst>
              <c:ext xmlns:c16="http://schemas.microsoft.com/office/drawing/2014/chart" uri="{C3380CC4-5D6E-409C-BE32-E72D297353CC}">
                <c16:uniqueId val="{00000004-FFC4-4B8F-A6A2-A6DDC4023AEA}"/>
              </c:ext>
            </c:extLst>
          </c:dPt>
          <c:dPt>
            <c:idx val="2"/>
            <c:invertIfNegative val="1"/>
            <c:bubble3D val="0"/>
            <c:spPr>
              <a:solidFill>
                <a:srgbClr val="008189"/>
              </a:solidFill>
            </c:spPr>
            <c:extLst>
              <c:ext xmlns:c16="http://schemas.microsoft.com/office/drawing/2014/chart" uri="{C3380CC4-5D6E-409C-BE32-E72D297353CC}">
                <c16:uniqueId val="{00000006-FFC4-4B8F-A6A2-A6DDC4023AEA}"/>
              </c:ext>
            </c:extLst>
          </c:dPt>
          <c:dPt>
            <c:idx val="3"/>
            <c:invertIfNegative val="1"/>
            <c:bubble3D val="0"/>
            <c:spPr>
              <a:solidFill>
                <a:srgbClr val="008189"/>
              </a:solidFill>
            </c:spPr>
            <c:extLst>
              <c:ext xmlns:c16="http://schemas.microsoft.com/office/drawing/2014/chart" uri="{C3380CC4-5D6E-409C-BE32-E72D297353CC}">
                <c16:uniqueId val="{00000008-FFC4-4B8F-A6A2-A6DDC4023AEA}"/>
              </c:ext>
            </c:extLst>
          </c:dPt>
          <c:dPt>
            <c:idx val="4"/>
            <c:invertIfNegative val="1"/>
            <c:bubble3D val="0"/>
            <c:spPr>
              <a:solidFill>
                <a:srgbClr val="008189"/>
              </a:solidFill>
            </c:spPr>
            <c:extLst>
              <c:ext xmlns:c16="http://schemas.microsoft.com/office/drawing/2014/chart" uri="{C3380CC4-5D6E-409C-BE32-E72D297353CC}">
                <c16:uniqueId val="{0000000A-FFC4-4B8F-A6A2-A6DDC4023AEA}"/>
              </c:ext>
            </c:extLst>
          </c:dPt>
          <c:dPt>
            <c:idx val="5"/>
            <c:invertIfNegative val="1"/>
            <c:bubble3D val="0"/>
            <c:spPr>
              <a:solidFill>
                <a:srgbClr val="008189"/>
              </a:solidFill>
            </c:spPr>
            <c:extLst>
              <c:ext xmlns:c16="http://schemas.microsoft.com/office/drawing/2014/chart" uri="{C3380CC4-5D6E-409C-BE32-E72D297353CC}">
                <c16:uniqueId val="{0000000C-FFC4-4B8F-A6A2-A6DDC4023AEA}"/>
              </c:ext>
            </c:extLst>
          </c:dPt>
          <c:dPt>
            <c:idx val="6"/>
            <c:invertIfNegative val="1"/>
            <c:bubble3D val="0"/>
            <c:spPr>
              <a:solidFill>
                <a:srgbClr val="0E72AE"/>
              </a:solidFill>
            </c:spPr>
            <c:extLst>
              <c:ext xmlns:c16="http://schemas.microsoft.com/office/drawing/2014/chart" uri="{C3380CC4-5D6E-409C-BE32-E72D297353CC}">
                <c16:uniqueId val="{0000000E-FFC4-4B8F-A6A2-A6DDC4023AEA}"/>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FC4-4B8F-A6A2-A6DDC4023AE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FC4-4B8F-A6A2-A6DDC4023AE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FC4-4B8F-A6A2-A6DDC4023AE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FC4-4B8F-A6A2-A6DDC4023AEA}"/>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FC4-4B8F-A6A2-A6DDC4023AEA}"/>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FC4-4B8F-A6A2-A6DDC4023AEA}"/>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FC4-4B8F-A6A2-A6DDC4023AEA}"/>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1002.52</c:v>
              </c:pt>
              <c:pt idx="1">
                <c:v>64.874000000000024</c:v>
              </c:pt>
              <c:pt idx="2">
                <c:v>69.413000000000011</c:v>
              </c:pt>
              <c:pt idx="3">
                <c:v>74.271999999999935</c:v>
              </c:pt>
              <c:pt idx="4">
                <c:v>79.451999999999998</c:v>
              </c:pt>
              <c:pt idx="5">
                <c:v>85.001999999999953</c:v>
              </c:pt>
              <c:pt idx="6">
                <c:v>1375.5329999999999</c:v>
              </c:pt>
            </c:numLit>
          </c:val>
          <c:extLst>
            <c:ext xmlns:c16="http://schemas.microsoft.com/office/drawing/2014/chart" uri="{C3380CC4-5D6E-409C-BE32-E72D297353CC}">
              <c16:uniqueId val="{0000000F-FFC4-4B8F-A6A2-A6DDC4023AE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1319.7349999999999</c:v>
              </c:pt>
              <c:pt idx="2">
                <c:v>1408.422</c:v>
              </c:pt>
              <c:pt idx="3">
                <c:v>1503.652</c:v>
              </c:pt>
              <c:pt idx="4">
                <c:v>1605.9359999999999</c:v>
              </c:pt>
              <c:pt idx="5">
                <c:v>1715.7829999999999</c:v>
              </c:pt>
              <c:pt idx="6">
                <c:v>0</c:v>
              </c:pt>
            </c:numLit>
          </c:val>
          <c:extLst>
            <c:ext xmlns:c16="http://schemas.microsoft.com/office/drawing/2014/chart" uri="{C3380CC4-5D6E-409C-BE32-E72D297353CC}">
              <c16:uniqueId val="{00000000-AD85-48F3-9623-2B4A955D66A4}"/>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AD85-48F3-9623-2B4A955D66A4}"/>
              </c:ext>
            </c:extLst>
          </c:dPt>
          <c:dPt>
            <c:idx val="1"/>
            <c:invertIfNegative val="1"/>
            <c:bubble3D val="0"/>
            <c:spPr>
              <a:solidFill>
                <a:srgbClr val="008189"/>
              </a:solidFill>
            </c:spPr>
            <c:extLst>
              <c:ext xmlns:c16="http://schemas.microsoft.com/office/drawing/2014/chart" uri="{C3380CC4-5D6E-409C-BE32-E72D297353CC}">
                <c16:uniqueId val="{00000004-AD85-48F3-9623-2B4A955D66A4}"/>
              </c:ext>
            </c:extLst>
          </c:dPt>
          <c:dPt>
            <c:idx val="2"/>
            <c:invertIfNegative val="1"/>
            <c:bubble3D val="0"/>
            <c:spPr>
              <a:solidFill>
                <a:srgbClr val="008189"/>
              </a:solidFill>
            </c:spPr>
            <c:extLst>
              <c:ext xmlns:c16="http://schemas.microsoft.com/office/drawing/2014/chart" uri="{C3380CC4-5D6E-409C-BE32-E72D297353CC}">
                <c16:uniqueId val="{00000006-AD85-48F3-9623-2B4A955D66A4}"/>
              </c:ext>
            </c:extLst>
          </c:dPt>
          <c:dPt>
            <c:idx val="3"/>
            <c:invertIfNegative val="1"/>
            <c:bubble3D val="0"/>
            <c:spPr>
              <a:solidFill>
                <a:srgbClr val="008189"/>
              </a:solidFill>
            </c:spPr>
            <c:extLst>
              <c:ext xmlns:c16="http://schemas.microsoft.com/office/drawing/2014/chart" uri="{C3380CC4-5D6E-409C-BE32-E72D297353CC}">
                <c16:uniqueId val="{00000008-AD85-48F3-9623-2B4A955D66A4}"/>
              </c:ext>
            </c:extLst>
          </c:dPt>
          <c:dPt>
            <c:idx val="4"/>
            <c:invertIfNegative val="1"/>
            <c:bubble3D val="0"/>
            <c:spPr>
              <a:solidFill>
                <a:srgbClr val="008189"/>
              </a:solidFill>
            </c:spPr>
            <c:extLst>
              <c:ext xmlns:c16="http://schemas.microsoft.com/office/drawing/2014/chart" uri="{C3380CC4-5D6E-409C-BE32-E72D297353CC}">
                <c16:uniqueId val="{0000000A-AD85-48F3-9623-2B4A955D66A4}"/>
              </c:ext>
            </c:extLst>
          </c:dPt>
          <c:dPt>
            <c:idx val="5"/>
            <c:invertIfNegative val="1"/>
            <c:bubble3D val="0"/>
            <c:spPr>
              <a:solidFill>
                <a:srgbClr val="008189"/>
              </a:solidFill>
            </c:spPr>
            <c:extLst>
              <c:ext xmlns:c16="http://schemas.microsoft.com/office/drawing/2014/chart" uri="{C3380CC4-5D6E-409C-BE32-E72D297353CC}">
                <c16:uniqueId val="{0000000C-AD85-48F3-9623-2B4A955D66A4}"/>
              </c:ext>
            </c:extLst>
          </c:dPt>
          <c:dPt>
            <c:idx val="6"/>
            <c:invertIfNegative val="1"/>
            <c:bubble3D val="0"/>
            <c:spPr>
              <a:solidFill>
                <a:srgbClr val="0E72AE"/>
              </a:solidFill>
            </c:spPr>
            <c:extLst>
              <c:ext xmlns:c16="http://schemas.microsoft.com/office/drawing/2014/chart" uri="{C3380CC4-5D6E-409C-BE32-E72D297353CC}">
                <c16:uniqueId val="{0000000E-AD85-48F3-9623-2B4A955D66A4}"/>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D85-48F3-9623-2B4A955D66A4}"/>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D85-48F3-9623-2B4A955D66A4}"/>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D85-48F3-9623-2B4A955D66A4}"/>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D85-48F3-9623-2B4A955D66A4}"/>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D85-48F3-9623-2B4A955D66A4}"/>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D85-48F3-9623-2B4A955D66A4}"/>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D85-48F3-9623-2B4A955D66A4}"/>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1319.7349999999999</c:v>
              </c:pt>
              <c:pt idx="1">
                <c:v>88.687000000000126</c:v>
              </c:pt>
              <c:pt idx="2">
                <c:v>95.230000000000018</c:v>
              </c:pt>
              <c:pt idx="3">
                <c:v>102.28399999999988</c:v>
              </c:pt>
              <c:pt idx="4">
                <c:v>109.84699999999998</c:v>
              </c:pt>
              <c:pt idx="5">
                <c:v>117.98900000000003</c:v>
              </c:pt>
              <c:pt idx="6">
                <c:v>1833.7719999999999</c:v>
              </c:pt>
            </c:numLit>
          </c:val>
          <c:extLst>
            <c:ext xmlns:c16="http://schemas.microsoft.com/office/drawing/2014/chart" uri="{C3380CC4-5D6E-409C-BE32-E72D297353CC}">
              <c16:uniqueId val="{0000000F-AD85-48F3-9623-2B4A955D66A4}"/>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Capsules and Softgels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C68-40E0-A582-F0D427DA0749}"/>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C68-40E0-A582-F0D427DA0749}"/>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C68-40E0-A582-F0D427DA0749}"/>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33.543481954730098</c:v>
              </c:pt>
              <c:pt idx="1">
                <c:v>35.029165137614683</c:v>
              </c:pt>
              <c:pt idx="2">
                <c:v>37.636615551574195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EC68-40E0-A582-F0D427DA0749}"/>
            </c:ext>
          </c:extLst>
        </c:ser>
        <c:ser>
          <c:idx val="1"/>
          <c:order val="1"/>
          <c:tx>
            <c:v>Tablets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C68-40E0-A582-F0D427DA0749}"/>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C68-40E0-A582-F0D427DA0749}"/>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C68-40E0-A582-F0D427DA0749}"/>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23.079813454285325</c:v>
              </c:pt>
              <c:pt idx="1">
                <c:v>22.362963302752295</c:v>
              </c:pt>
              <c:pt idx="2">
                <c:v>21.101102256351169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EC68-40E0-A582-F0D427DA0749}"/>
            </c:ext>
          </c:extLst>
        </c:ser>
        <c:ser>
          <c:idx val="2"/>
          <c:order val="2"/>
          <c:tx>
            <c:v>Chewables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C68-40E0-A582-F0D427DA0749}"/>
                </c:ext>
              </c:extLst>
            </c:dLbl>
            <c:dLbl>
              <c:idx val="1"/>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C68-40E0-A582-F0D427DA0749}"/>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C68-40E0-A582-F0D427DA0749}"/>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15.03591052144497</c:v>
              </c:pt>
              <c:pt idx="1">
                <c:v>16.327211009174309</c:v>
              </c:pt>
              <c:pt idx="2">
                <c:v>18.65057237862267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EC68-40E0-A582-F0D427DA0749}"/>
            </c:ext>
          </c:extLst>
        </c:ser>
        <c:ser>
          <c:idx val="3"/>
          <c:order val="3"/>
          <c:tx>
            <c:v>Gels and Pastes</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C68-40E0-A582-F0D427DA0749}"/>
                </c:ext>
              </c:extLst>
            </c:dLbl>
            <c:dLbl>
              <c:idx val="1"/>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C68-40E0-A582-F0D427DA0749}"/>
                </c:ext>
              </c:extLst>
            </c:dLbl>
            <c:dLbl>
              <c:idx val="2"/>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C68-40E0-A582-F0D427DA0749}"/>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13.103934119563171</c:v>
              </c:pt>
              <c:pt idx="1">
                <c:v>12.107660550458716</c:v>
              </c:pt>
              <c:pt idx="2">
                <c:v>10.3337244369829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EC68-40E0-A582-F0D427DA0749}"/>
            </c:ext>
          </c:extLst>
        </c:ser>
        <c:ser>
          <c:idx val="4"/>
          <c:order val="4"/>
          <c:tx>
            <c:v>Liquids</c:v>
          </c:tx>
          <c:spPr>
            <a:solidFill>
              <a:srgbClr val="A35313"/>
            </a:solidFill>
            <a:ln>
              <a:noFill/>
            </a:ln>
          </c:spPr>
          <c:invertIfNegative val="1"/>
          <c:dLbls>
            <c:dLbl>
              <c:idx val="0"/>
              <c:numFmt formatCode="&quot;MMMM&quot;;&quot;MMMM&quot;;&quot;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C68-40E0-A582-F0D427DA0749}"/>
                </c:ext>
              </c:extLst>
            </c:dLbl>
            <c:dLbl>
              <c:idx val="1"/>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EC68-40E0-A582-F0D427DA0749}"/>
                </c:ext>
              </c:extLst>
            </c:dLbl>
            <c:dLbl>
              <c:idx val="2"/>
              <c:numFmt formatCode="&quot;MMM&quot;;&quot;MMM&quot;;&quot;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EC68-40E0-A582-F0D427DA0749}"/>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10.008852773483699</c:v>
              </c:pt>
              <c:pt idx="1">
                <c:v>9.1974311926605505</c:v>
              </c:pt>
              <c:pt idx="2">
                <c:v>7.7514429143734329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EC68-40E0-A582-F0D427DA0749}"/>
            </c:ext>
          </c:extLst>
        </c:ser>
        <c:ser>
          <c:idx val="5"/>
          <c:order val="5"/>
          <c:tx>
            <c:v>Powders and Granules</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EC68-40E0-A582-F0D427DA0749}"/>
                </c:ext>
              </c:extLst>
            </c:dLbl>
            <c:dLbl>
              <c:idx val="1"/>
              <c:numFmt formatCode="&quot;MMM&quot;;&quot;MMM&quot;;&quot;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C68-40E0-A582-F0D427DA0749}"/>
                </c:ext>
              </c:extLst>
            </c:dLbl>
            <c:dLbl>
              <c:idx val="2"/>
              <c:numFmt formatCode="&quot;MMM&quot;;&quot;MMM&quot;;&quot;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C68-40E0-A582-F0D427DA0749}"/>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5.2280071764927447</c:v>
              </c:pt>
              <c:pt idx="1">
                <c:v>4.9755688073394495</c:v>
              </c:pt>
              <c:pt idx="2">
                <c:v>4.5265424620956205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EC68-40E0-A582-F0D427DA0749}"/>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Omega-3 Fatty Acids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19-4AA6-9391-849863E3E3F8}"/>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19-4AA6-9391-849863E3E3F8}"/>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A19-4AA6-9391-849863E3E3F8}"/>
                </c:ext>
              </c:extLst>
            </c:dLbl>
            <c:dLbl>
              <c:idx val="3"/>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19-4AA6-9391-849863E3E3F8}"/>
                </c:ext>
              </c:extLst>
            </c:dLbl>
            <c:dLbl>
              <c:idx val="4"/>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A19-4AA6-9391-849863E3E3F8}"/>
                </c:ext>
              </c:extLst>
            </c:dLbl>
            <c:dLbl>
              <c:idx val="5"/>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A19-4AA6-9391-849863E3E3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16.115909212734127</c:v>
              </c:pt>
              <c:pt idx="1">
                <c:v>15.412843435831943</c:v>
              </c:pt>
              <c:pt idx="2">
                <c:v>16.95547162542638</c:v>
              </c:pt>
              <c:pt idx="3">
                <c:v>16.768776808503191</c:v>
              </c:pt>
              <c:pt idx="4">
                <c:v>15.727735138976209</c:v>
              </c:pt>
              <c:pt idx="5">
                <c:v>17.567810411426063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EA19-4AA6-9391-849863E3E3F8}"/>
            </c:ext>
          </c:extLst>
        </c:ser>
        <c:ser>
          <c:idx val="1"/>
          <c:order val="1"/>
          <c:tx>
            <c:v>Antioxidant Ingredients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A19-4AA6-9391-849863E3E3F8}"/>
                </c:ext>
              </c:extLst>
            </c:dLbl>
            <c:dLbl>
              <c:idx val="1"/>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A19-4AA6-9391-849863E3E3F8}"/>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A19-4AA6-9391-849863E3E3F8}"/>
                </c:ext>
              </c:extLst>
            </c:dLbl>
            <c:dLbl>
              <c:idx val="3"/>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A19-4AA6-9391-849863E3E3F8}"/>
                </c:ext>
              </c:extLst>
            </c:dLbl>
            <c:dLbl>
              <c:idx val="4"/>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A19-4AA6-9391-849863E3E3F8}"/>
                </c:ext>
              </c:extLst>
            </c:dLbl>
            <c:dLbl>
              <c:idx val="5"/>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A19-4AA6-9391-849863E3E3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23.404782363633121</c:v>
              </c:pt>
              <c:pt idx="1">
                <c:v>22.589514359629305</c:v>
              </c:pt>
              <c:pt idx="2">
                <c:v>23.306147099013348</c:v>
              </c:pt>
              <c:pt idx="3">
                <c:v>22.376358437924395</c:v>
              </c:pt>
              <c:pt idx="4">
                <c:v>23.225949741480768</c:v>
              </c:pt>
              <c:pt idx="5">
                <c:v>22.917567212641927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D-EA19-4AA6-9391-849863E3E3F8}"/>
            </c:ext>
          </c:extLst>
        </c:ser>
        <c:ser>
          <c:idx val="2"/>
          <c:order val="2"/>
          <c:tx>
            <c:v>Neurofunctional Nutrients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A19-4AA6-9391-849863E3E3F8}"/>
                </c:ext>
              </c:extLst>
            </c:dLbl>
            <c:dLbl>
              <c:idx val="1"/>
              <c:numFmt formatCode="&quot;MMMM&quot;;&quot;MMMM&quot;;&quot;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EA19-4AA6-9391-849863E3E3F8}"/>
                </c:ext>
              </c:extLst>
            </c:dLbl>
            <c:dLbl>
              <c:idx val="2"/>
              <c:numFmt formatCode="&quot;MMMM&quot;;&quot;MMMM&quot;;&quot;M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A19-4AA6-9391-849863E3E3F8}"/>
                </c:ext>
              </c:extLst>
            </c:dLbl>
            <c:dLbl>
              <c:idx val="3"/>
              <c:numFmt formatCode="&quot;MMMM&quot;;&quot;MMMM&quot;;&quot;M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EA19-4AA6-9391-849863E3E3F8}"/>
                </c:ext>
              </c:extLst>
            </c:dLbl>
            <c:dLbl>
              <c:idx val="4"/>
              <c:numFmt formatCode="&quot;MMMM&quot;;&quot;MMMM&quot;;&quot;M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EA19-4AA6-9391-849863E3E3F8}"/>
                </c:ext>
              </c:extLst>
            </c:dLbl>
            <c:dLbl>
              <c:idx val="5"/>
              <c:numFmt formatCode="&quot;MMMM&quot;;&quot;MMMM&quot;;&quot;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EA19-4AA6-9391-849863E3E3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11.854713085795689</c:v>
              </c:pt>
              <c:pt idx="1">
                <c:v>12.09896191505387</c:v>
              </c:pt>
              <c:pt idx="2">
                <c:v>12.222142209290562</c:v>
              </c:pt>
              <c:pt idx="3">
                <c:v>11.333944885152555</c:v>
              </c:pt>
              <c:pt idx="4">
                <c:v>11.524283482556502</c:v>
              </c:pt>
              <c:pt idx="5">
                <c:v>11.021767402657906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EA19-4AA6-9391-849863E3E3F8}"/>
            </c:ext>
          </c:extLst>
        </c:ser>
        <c:ser>
          <c:idx val="3"/>
          <c:order val="3"/>
          <c:tx>
            <c:v>Cellular Energy Support Ingredients</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A19-4AA6-9391-849863E3E3F8}"/>
                </c:ext>
              </c:extLst>
            </c:dLbl>
            <c:dLbl>
              <c:idx val="1"/>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A19-4AA6-9391-849863E3E3F8}"/>
                </c:ext>
              </c:extLst>
            </c:dLbl>
            <c:dLbl>
              <c:idx val="2"/>
              <c:numFmt formatCode="&quot;MMMM&quot;;&quot;MMMM&quot;;&quot;M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EA19-4AA6-9391-849863E3E3F8}"/>
                </c:ext>
              </c:extLst>
            </c:dLbl>
            <c:dLbl>
              <c:idx val="3"/>
              <c:numFmt formatCode="&quot;MMMM&quot;;&quot;MMMM&quot;;&quot;M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EA19-4AA6-9391-849863E3E3F8}"/>
                </c:ext>
              </c:extLst>
            </c:dLbl>
            <c:dLbl>
              <c:idx val="4"/>
              <c:numFmt formatCode="&quot;MMMM&quot;;&quot;MMMM&quot;;&quot;M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EA19-4AA6-9391-849863E3E3F8}"/>
                </c:ext>
              </c:extLst>
            </c:dLbl>
            <c:dLbl>
              <c:idx val="5"/>
              <c:numFmt formatCode="&quot;MMMM&quot;;&quot;MMMM&quot;;&quot;MMMM&quot;" sourceLinked="0"/>
              <c:spPr>
                <a:blipFill>
                  <a:blip xmlns:r="http://schemas.openxmlformats.org/officeDocument/2006/relationships"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EA19-4AA6-9391-849863E3E3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23.038089003747338</c:v>
              </c:pt>
              <c:pt idx="1">
                <c:v>23.37852441300717</c:v>
              </c:pt>
              <c:pt idx="2">
                <c:v>19.939978520209426</c:v>
              </c:pt>
              <c:pt idx="3">
                <c:v>21.244022570669451</c:v>
              </c:pt>
              <c:pt idx="4">
                <c:v>22.031241440129008</c:v>
              </c:pt>
              <c:pt idx="5">
                <c:v>23.485373514402692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B-EA19-4AA6-9391-849863E3E3F8}"/>
            </c:ext>
          </c:extLst>
        </c:ser>
        <c:ser>
          <c:idx val="4"/>
          <c:order val="4"/>
          <c:tx>
            <c:v>Botanical Ingredients</c:v>
          </c:tx>
          <c:spPr>
            <a:solidFill>
              <a:srgbClr val="A35313"/>
            </a:solidFill>
            <a:ln>
              <a:noFill/>
            </a:ln>
          </c:spPr>
          <c:invertIfNegative val="1"/>
          <c:dLbls>
            <c:dLbl>
              <c:idx val="0"/>
              <c:numFmt formatCode="&quot;MMMM&quot;;&quot;MMMM&quot;;&quot;MMMM&quot;" sourceLinked="0"/>
              <c:spPr>
                <a:blipFill>
                  <a:blip xmlns:r="http://schemas.openxmlformats.org/officeDocument/2006/relationships"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EA19-4AA6-9391-849863E3E3F8}"/>
                </c:ext>
              </c:extLst>
            </c:dLbl>
            <c:dLbl>
              <c:idx val="1"/>
              <c:numFmt formatCode="&quot;MMMM&quot;;&quot;MMMM&quot;;&quot;MMMM&quot;" sourceLinked="0"/>
              <c:spPr>
                <a:blipFill>
                  <a:blip xmlns:r="http://schemas.openxmlformats.org/officeDocument/2006/relationships"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EA19-4AA6-9391-849863E3E3F8}"/>
                </c:ext>
              </c:extLst>
            </c:dLbl>
            <c:dLbl>
              <c:idx val="2"/>
              <c:numFmt formatCode="&quot;MMMM&quot;;&quot;MMMM&quot;;&quot;MMMM&quot;" sourceLinked="0"/>
              <c:spPr>
                <a:blipFill>
                  <a:blip xmlns:r="http://schemas.openxmlformats.org/officeDocument/2006/relationships"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EA19-4AA6-9391-849863E3E3F8}"/>
                </c:ext>
              </c:extLst>
            </c:dLbl>
            <c:dLbl>
              <c:idx val="3"/>
              <c:numFmt formatCode="&quot;MMMM&quot;;&quot;MMMM&quot;;&quot;MMMM&quot;" sourceLinked="0"/>
              <c:spPr>
                <a:blipFill>
                  <a:blip xmlns:r="http://schemas.openxmlformats.org/officeDocument/2006/relationships"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EA19-4AA6-9391-849863E3E3F8}"/>
                </c:ext>
              </c:extLst>
            </c:dLbl>
            <c:dLbl>
              <c:idx val="4"/>
              <c:numFmt formatCode="&quot;MMMM&quot;;&quot;MMMM&quot;;&quot;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EA19-4AA6-9391-849863E3E3F8}"/>
                </c:ext>
              </c:extLst>
            </c:dLbl>
            <c:dLbl>
              <c:idx val="5"/>
              <c:numFmt formatCode="&quot;MMMM&quot;;&quot;MMMM&quot;;&quot;MMMM&quot;" sourceLinked="0"/>
              <c:spPr>
                <a:blipFill>
                  <a:blip xmlns:r="http://schemas.openxmlformats.org/officeDocument/2006/relationships"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EA19-4AA6-9391-849863E3E3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11.06317521526484</c:v>
              </c:pt>
              <c:pt idx="1">
                <c:v>11.693290107083213</c:v>
              </c:pt>
              <c:pt idx="2">
                <c:v>12.986790944911981</c:v>
              </c:pt>
              <c:pt idx="3">
                <c:v>12.553433368001379</c:v>
              </c:pt>
              <c:pt idx="4">
                <c:v>12.111432536498548</c:v>
              </c:pt>
              <c:pt idx="5">
                <c:v>11.11387994621569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2-EA19-4AA6-9391-849863E3E3F8}"/>
            </c:ext>
          </c:extLst>
        </c:ser>
        <c:ser>
          <c:idx val="5"/>
          <c:order val="5"/>
          <c:tx>
            <c:v>Microbiome-Targeted Ingredients</c:v>
          </c:tx>
          <c:spPr>
            <a:solidFill>
              <a:srgbClr val="808080"/>
            </a:solidFill>
            <a:ln>
              <a:noFill/>
            </a:ln>
          </c:spPr>
          <c:invertIfNegative val="1"/>
          <c:dLbls>
            <c:dLbl>
              <c:idx val="0"/>
              <c:numFmt formatCode="&quot;MMMM&quot;;&quot;MMMM&quot;;&quot;MMMM&quot;" sourceLinked="0"/>
              <c:spPr>
                <a:blipFill>
                  <a:blip xmlns:r="http://schemas.openxmlformats.org/officeDocument/2006/relationships"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EA19-4AA6-9391-849863E3E3F8}"/>
                </c:ext>
              </c:extLst>
            </c:dLbl>
            <c:dLbl>
              <c:idx val="1"/>
              <c:numFmt formatCode="&quot;MMMM&quot;;&quot;MMMM&quot;;&quot;MMMM&quot;" sourceLinked="0"/>
              <c:spPr>
                <a:blipFill>
                  <a:blip xmlns:r="http://schemas.openxmlformats.org/officeDocument/2006/relationships"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EA19-4AA6-9391-849863E3E3F8}"/>
                </c:ext>
              </c:extLst>
            </c:dLbl>
            <c:dLbl>
              <c:idx val="2"/>
              <c:numFmt formatCode="&quot;MMMM&quot;;&quot;MMMM&quot;;&quot;MMMM&quot;" sourceLinked="0"/>
              <c:spPr>
                <a:blipFill>
                  <a:blip xmlns:r="http://schemas.openxmlformats.org/officeDocument/2006/relationships"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EA19-4AA6-9391-849863E3E3F8}"/>
                </c:ext>
              </c:extLst>
            </c:dLbl>
            <c:dLbl>
              <c:idx val="3"/>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EA19-4AA6-9391-849863E3E3F8}"/>
                </c:ext>
              </c:extLst>
            </c:dLbl>
            <c:dLbl>
              <c:idx val="4"/>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EA19-4AA6-9391-849863E3E3F8}"/>
                </c:ext>
              </c:extLst>
            </c:dLbl>
            <c:dLbl>
              <c:idx val="5"/>
              <c:numFmt formatCode="&quot;MMMM&quot;;&quot;MMMM&quot;;&quot;MMMM&quot;" sourceLinked="0"/>
              <c:spPr>
                <a:blipFill>
                  <a:blip xmlns:r="http://schemas.openxmlformats.org/officeDocument/2006/relationships"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EA19-4AA6-9391-849863E3E3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14.523331118824895</c:v>
              </c:pt>
              <c:pt idx="1">
                <c:v>14.826865769394507</c:v>
              </c:pt>
              <c:pt idx="2">
                <c:v>14.589469601148297</c:v>
              </c:pt>
              <c:pt idx="3">
                <c:v>15.723463929749029</c:v>
              </c:pt>
              <c:pt idx="4">
                <c:v>15.379357660358952</c:v>
              </c:pt>
              <c:pt idx="5">
                <c:v>13.893601512655716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9-EA19-4AA6-9391-849863E3E3F8}"/>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Omega-3 Fatty Acids</c:v>
          </c:tx>
          <c:spPr>
            <a:solidFill>
              <a:srgbClr val="3D85C6"/>
            </a:solidFill>
          </c:spPr>
          <c:invertIfNegative val="0"/>
          <c:xVal>
            <c:numLit>
              <c:formatCode>General</c:formatCode>
              <c:ptCount val="1"/>
              <c:pt idx="0">
                <c:v>92.812588986674186</c:v>
              </c:pt>
            </c:numLit>
          </c:xVal>
          <c:yVal>
            <c:numLit>
              <c:formatCode>General</c:formatCode>
              <c:ptCount val="1"/>
              <c:pt idx="0">
                <c:v>102.91519266055047</c:v>
              </c:pt>
            </c:numLit>
          </c:yVal>
          <c:bubbleSize>
            <c:numLit>
              <c:formatCode>General</c:formatCode>
              <c:ptCount val="1"/>
              <c:pt idx="0">
                <c:v>2941.3249999999998</c:v>
              </c:pt>
            </c:numLit>
          </c:bubbleSize>
          <c:bubble3D val="0"/>
          <c:extLst>
            <c:ext xmlns:c16="http://schemas.microsoft.com/office/drawing/2014/chart" uri="{C3380CC4-5D6E-409C-BE32-E72D297353CC}">
              <c16:uniqueId val="{00000000-DB72-4DF3-99AE-4DB0DCAC8326}"/>
            </c:ext>
          </c:extLst>
        </c:ser>
        <c:ser>
          <c:idx val="1"/>
          <c:order val="1"/>
          <c:tx>
            <c:v>Antioxidant Ingredients</c:v>
          </c:tx>
          <c:spPr>
            <a:solidFill>
              <a:srgbClr val="9E7E0A"/>
            </a:solidFill>
          </c:spPr>
          <c:invertIfNegative val="0"/>
          <c:xVal>
            <c:numLit>
              <c:formatCode>General</c:formatCode>
              <c:ptCount val="1"/>
              <c:pt idx="0">
                <c:v>116.37504831319821</c:v>
              </c:pt>
            </c:numLit>
          </c:xVal>
          <c:yVal>
            <c:numLit>
              <c:formatCode>General</c:formatCode>
              <c:ptCount val="1"/>
              <c:pt idx="0">
                <c:v>127.6416880733945</c:v>
              </c:pt>
            </c:numLit>
          </c:yVal>
          <c:bubbleSize>
            <c:numLit>
              <c:formatCode>General</c:formatCode>
              <c:ptCount val="1"/>
              <c:pt idx="0">
                <c:v>4079.692</c:v>
              </c:pt>
            </c:numLit>
          </c:bubbleSize>
          <c:bubble3D val="0"/>
          <c:extLst>
            <c:ext xmlns:c16="http://schemas.microsoft.com/office/drawing/2014/chart" uri="{C3380CC4-5D6E-409C-BE32-E72D297353CC}">
              <c16:uniqueId val="{00000001-DB72-4DF3-99AE-4DB0DCAC8326}"/>
            </c:ext>
          </c:extLst>
        </c:ser>
        <c:ser>
          <c:idx val="2"/>
          <c:order val="2"/>
          <c:tx>
            <c:v>Neurofunctional Nutrients</c:v>
          </c:tx>
          <c:spPr>
            <a:solidFill>
              <a:srgbClr val="008189"/>
            </a:solidFill>
          </c:spPr>
          <c:invertIfNegative val="0"/>
          <c:xVal>
            <c:numLit>
              <c:formatCode>General</c:formatCode>
              <c:ptCount val="1"/>
              <c:pt idx="0">
                <c:v>84.871609088375095</c:v>
              </c:pt>
            </c:numLit>
          </c:xVal>
          <c:yVal>
            <c:numLit>
              <c:formatCode>General</c:formatCode>
              <c:ptCount val="1"/>
              <c:pt idx="0">
                <c:v>74.227486238532109</c:v>
              </c:pt>
            </c:numLit>
          </c:yVal>
          <c:bubbleSize>
            <c:numLit>
              <c:formatCode>General</c:formatCode>
              <c:ptCount val="1"/>
              <c:pt idx="0">
                <c:v>2042.3760000000002</c:v>
              </c:pt>
            </c:numLit>
          </c:bubbleSize>
          <c:bubble3D val="0"/>
          <c:extLst>
            <c:ext xmlns:c16="http://schemas.microsoft.com/office/drawing/2014/chart" uri="{C3380CC4-5D6E-409C-BE32-E72D297353CC}">
              <c16:uniqueId val="{00000002-DB72-4DF3-99AE-4DB0DCAC8326}"/>
            </c:ext>
          </c:extLst>
        </c:ser>
        <c:ser>
          <c:idx val="3"/>
          <c:order val="3"/>
          <c:tx>
            <c:v>Cellular Energy Support Ingredients</c:v>
          </c:tx>
          <c:spPr>
            <a:solidFill>
              <a:srgbClr val="40315E"/>
            </a:solidFill>
          </c:spPr>
          <c:invertIfNegative val="0"/>
          <c:xVal>
            <c:numLit>
              <c:formatCode>General</c:formatCode>
              <c:ptCount val="1"/>
              <c:pt idx="0">
                <c:v>115.77433049610705</c:v>
              </c:pt>
            </c:numLit>
          </c:xVal>
          <c:yVal>
            <c:numLit>
              <c:formatCode>General</c:formatCode>
              <c:ptCount val="1"/>
              <c:pt idx="0">
                <c:v>124.08594495412845</c:v>
              </c:pt>
            </c:numLit>
          </c:yVal>
          <c:bubbleSize>
            <c:numLit>
              <c:formatCode>General</c:formatCode>
              <c:ptCount val="1"/>
              <c:pt idx="0">
                <c:v>3954.8120000000004</c:v>
              </c:pt>
            </c:numLit>
          </c:bubbleSize>
          <c:bubble3D val="0"/>
          <c:extLst>
            <c:ext xmlns:c16="http://schemas.microsoft.com/office/drawing/2014/chart" uri="{C3380CC4-5D6E-409C-BE32-E72D297353CC}">
              <c16:uniqueId val="{00000003-DB72-4DF3-99AE-4DB0DCAC8326}"/>
            </c:ext>
          </c:extLst>
        </c:ser>
        <c:ser>
          <c:idx val="4"/>
          <c:order val="4"/>
          <c:tx>
            <c:v>Botanical Ingredients</c:v>
          </c:tx>
          <c:spPr>
            <a:solidFill>
              <a:srgbClr val="A35313"/>
            </a:solidFill>
          </c:spPr>
          <c:invertIfNegative val="0"/>
          <c:xVal>
            <c:numLit>
              <c:formatCode>General</c:formatCode>
              <c:ptCount val="1"/>
              <c:pt idx="0">
                <c:v>82.079597423217947</c:v>
              </c:pt>
            </c:numLit>
          </c:xVal>
          <c:yVal>
            <c:numLit>
              <c:formatCode>General</c:formatCode>
              <c:ptCount val="1"/>
              <c:pt idx="0">
                <c:v>77.592880733944952</c:v>
              </c:pt>
            </c:numLit>
          </c:yVal>
          <c:bubbleSize>
            <c:numLit>
              <c:formatCode>General</c:formatCode>
              <c:ptCount val="1"/>
              <c:pt idx="0">
                <c:v>2106.5860000000002</c:v>
              </c:pt>
            </c:numLit>
          </c:bubbleSize>
          <c:bubble3D val="0"/>
          <c:extLst>
            <c:ext xmlns:c16="http://schemas.microsoft.com/office/drawing/2014/chart" uri="{C3380CC4-5D6E-409C-BE32-E72D297353CC}">
              <c16:uniqueId val="{00000004-DB72-4DF3-99AE-4DB0DCAC8326}"/>
            </c:ext>
          </c:extLst>
        </c:ser>
        <c:ser>
          <c:idx val="5"/>
          <c:order val="5"/>
          <c:tx>
            <c:v>Microbiome-Targeted Ingredients</c:v>
          </c:tx>
          <c:spPr>
            <a:solidFill>
              <a:srgbClr val="808080"/>
            </a:solidFill>
          </c:spPr>
          <c:invertIfNegative val="0"/>
          <c:xVal>
            <c:numLit>
              <c:formatCode>General</c:formatCode>
              <c:ptCount val="1"/>
              <c:pt idx="0">
                <c:v>88.655620230620329</c:v>
              </c:pt>
            </c:numLit>
          </c:xVal>
          <c:yVal>
            <c:numLit>
              <c:formatCode>General</c:formatCode>
              <c:ptCount val="1"/>
              <c:pt idx="0">
                <c:v>93.536807339449553</c:v>
              </c:pt>
            </c:numLit>
          </c:yVal>
          <c:bubbleSize>
            <c:numLit>
              <c:formatCode>General</c:formatCode>
              <c:ptCount val="1"/>
              <c:pt idx="0">
                <c:v>2620.7179999999998</c:v>
              </c:pt>
            </c:numLit>
          </c:bubbleSize>
          <c:bubble3D val="0"/>
          <c:extLst>
            <c:ext xmlns:c16="http://schemas.microsoft.com/office/drawing/2014/chart" uri="{C3380CC4-5D6E-409C-BE32-E72D297353CC}">
              <c16:uniqueId val="{00000005-DB72-4DF3-99AE-4DB0DCAC8326}"/>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
          <c:min val="70"/>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150"/>
          <c:min val="60"/>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1869.626</c:v>
              </c:pt>
              <c:pt idx="2">
                <c:v>2045.27</c:v>
              </c:pt>
              <c:pt idx="3">
                <c:v>2238.357</c:v>
              </c:pt>
              <c:pt idx="4">
                <c:v>2450.6730000000002</c:v>
              </c:pt>
              <c:pt idx="5">
                <c:v>2684.2550000000001</c:v>
              </c:pt>
              <c:pt idx="6">
                <c:v>0</c:v>
              </c:pt>
            </c:numLit>
          </c:val>
          <c:extLst>
            <c:ext xmlns:c16="http://schemas.microsoft.com/office/drawing/2014/chart" uri="{C3380CC4-5D6E-409C-BE32-E72D297353CC}">
              <c16:uniqueId val="{00000000-3BB8-4729-B0E2-23CCBCFBE445}"/>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3BB8-4729-B0E2-23CCBCFBE445}"/>
              </c:ext>
            </c:extLst>
          </c:dPt>
          <c:dPt>
            <c:idx val="1"/>
            <c:invertIfNegative val="1"/>
            <c:bubble3D val="0"/>
            <c:spPr>
              <a:solidFill>
                <a:srgbClr val="008189"/>
              </a:solidFill>
            </c:spPr>
            <c:extLst>
              <c:ext xmlns:c16="http://schemas.microsoft.com/office/drawing/2014/chart" uri="{C3380CC4-5D6E-409C-BE32-E72D297353CC}">
                <c16:uniqueId val="{00000004-3BB8-4729-B0E2-23CCBCFBE445}"/>
              </c:ext>
            </c:extLst>
          </c:dPt>
          <c:dPt>
            <c:idx val="2"/>
            <c:invertIfNegative val="1"/>
            <c:bubble3D val="0"/>
            <c:spPr>
              <a:solidFill>
                <a:srgbClr val="008189"/>
              </a:solidFill>
            </c:spPr>
            <c:extLst>
              <c:ext xmlns:c16="http://schemas.microsoft.com/office/drawing/2014/chart" uri="{C3380CC4-5D6E-409C-BE32-E72D297353CC}">
                <c16:uniqueId val="{00000006-3BB8-4729-B0E2-23CCBCFBE445}"/>
              </c:ext>
            </c:extLst>
          </c:dPt>
          <c:dPt>
            <c:idx val="3"/>
            <c:invertIfNegative val="1"/>
            <c:bubble3D val="0"/>
            <c:spPr>
              <a:solidFill>
                <a:srgbClr val="008189"/>
              </a:solidFill>
            </c:spPr>
            <c:extLst>
              <c:ext xmlns:c16="http://schemas.microsoft.com/office/drawing/2014/chart" uri="{C3380CC4-5D6E-409C-BE32-E72D297353CC}">
                <c16:uniqueId val="{00000008-3BB8-4729-B0E2-23CCBCFBE445}"/>
              </c:ext>
            </c:extLst>
          </c:dPt>
          <c:dPt>
            <c:idx val="4"/>
            <c:invertIfNegative val="1"/>
            <c:bubble3D val="0"/>
            <c:spPr>
              <a:solidFill>
                <a:srgbClr val="008189"/>
              </a:solidFill>
            </c:spPr>
            <c:extLst>
              <c:ext xmlns:c16="http://schemas.microsoft.com/office/drawing/2014/chart" uri="{C3380CC4-5D6E-409C-BE32-E72D297353CC}">
                <c16:uniqueId val="{0000000A-3BB8-4729-B0E2-23CCBCFBE445}"/>
              </c:ext>
            </c:extLst>
          </c:dPt>
          <c:dPt>
            <c:idx val="5"/>
            <c:invertIfNegative val="1"/>
            <c:bubble3D val="0"/>
            <c:spPr>
              <a:solidFill>
                <a:srgbClr val="008189"/>
              </a:solidFill>
            </c:spPr>
            <c:extLst>
              <c:ext xmlns:c16="http://schemas.microsoft.com/office/drawing/2014/chart" uri="{C3380CC4-5D6E-409C-BE32-E72D297353CC}">
                <c16:uniqueId val="{0000000C-3BB8-4729-B0E2-23CCBCFBE445}"/>
              </c:ext>
            </c:extLst>
          </c:dPt>
          <c:dPt>
            <c:idx val="6"/>
            <c:invertIfNegative val="1"/>
            <c:bubble3D val="0"/>
            <c:spPr>
              <a:solidFill>
                <a:srgbClr val="0E72AE"/>
              </a:solidFill>
            </c:spPr>
            <c:extLst>
              <c:ext xmlns:c16="http://schemas.microsoft.com/office/drawing/2014/chart" uri="{C3380CC4-5D6E-409C-BE32-E72D297353CC}">
                <c16:uniqueId val="{0000000E-3BB8-4729-B0E2-23CCBCFBE445}"/>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BB8-4729-B0E2-23CCBCFBE44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BB8-4729-B0E2-23CCBCFBE44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BB8-4729-B0E2-23CCBCFBE44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BB8-4729-B0E2-23CCBCFBE44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BB8-4729-B0E2-23CCBCFBE44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BB8-4729-B0E2-23CCBCFBE44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BB8-4729-B0E2-23CCBCFBE445}"/>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1869.626</c:v>
              </c:pt>
              <c:pt idx="1">
                <c:v>175.64400000000001</c:v>
              </c:pt>
              <c:pt idx="2">
                <c:v>193.08699999999999</c:v>
              </c:pt>
              <c:pt idx="3">
                <c:v>212.31600000000026</c:v>
              </c:pt>
              <c:pt idx="4">
                <c:v>233.58199999999988</c:v>
              </c:pt>
              <c:pt idx="5">
                <c:v>257.06999999999971</c:v>
              </c:pt>
              <c:pt idx="6">
                <c:v>2941.3249999999998</c:v>
              </c:pt>
            </c:numLit>
          </c:val>
          <c:extLst>
            <c:ext xmlns:c16="http://schemas.microsoft.com/office/drawing/2014/chart" uri="{C3380CC4-5D6E-409C-BE32-E72D297353CC}">
              <c16:uniqueId val="{0000000F-3BB8-4729-B0E2-23CCBCFBE445}"/>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2318.8240000000001</c:v>
              </c:pt>
              <c:pt idx="2">
                <c:v>2596.3009999999999</c:v>
              </c:pt>
              <c:pt idx="3">
                <c:v>2906.8670000000002</c:v>
              </c:pt>
              <c:pt idx="4">
                <c:v>3254.5219999999999</c:v>
              </c:pt>
              <c:pt idx="5">
                <c:v>3643.779</c:v>
              </c:pt>
              <c:pt idx="6">
                <c:v>0</c:v>
              </c:pt>
            </c:numLit>
          </c:val>
          <c:extLst>
            <c:ext xmlns:c16="http://schemas.microsoft.com/office/drawing/2014/chart" uri="{C3380CC4-5D6E-409C-BE32-E72D297353CC}">
              <c16:uniqueId val="{00000000-4BD5-4364-8CEE-2E29E7C0FEDA}"/>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4BD5-4364-8CEE-2E29E7C0FEDA}"/>
              </c:ext>
            </c:extLst>
          </c:dPt>
          <c:dPt>
            <c:idx val="1"/>
            <c:invertIfNegative val="1"/>
            <c:bubble3D val="0"/>
            <c:spPr>
              <a:solidFill>
                <a:srgbClr val="008189"/>
              </a:solidFill>
            </c:spPr>
            <c:extLst>
              <c:ext xmlns:c16="http://schemas.microsoft.com/office/drawing/2014/chart" uri="{C3380CC4-5D6E-409C-BE32-E72D297353CC}">
                <c16:uniqueId val="{00000004-4BD5-4364-8CEE-2E29E7C0FEDA}"/>
              </c:ext>
            </c:extLst>
          </c:dPt>
          <c:dPt>
            <c:idx val="2"/>
            <c:invertIfNegative val="1"/>
            <c:bubble3D val="0"/>
            <c:spPr>
              <a:solidFill>
                <a:srgbClr val="008189"/>
              </a:solidFill>
            </c:spPr>
            <c:extLst>
              <c:ext xmlns:c16="http://schemas.microsoft.com/office/drawing/2014/chart" uri="{C3380CC4-5D6E-409C-BE32-E72D297353CC}">
                <c16:uniqueId val="{00000006-4BD5-4364-8CEE-2E29E7C0FEDA}"/>
              </c:ext>
            </c:extLst>
          </c:dPt>
          <c:dPt>
            <c:idx val="3"/>
            <c:invertIfNegative val="1"/>
            <c:bubble3D val="0"/>
            <c:spPr>
              <a:solidFill>
                <a:srgbClr val="008189"/>
              </a:solidFill>
            </c:spPr>
            <c:extLst>
              <c:ext xmlns:c16="http://schemas.microsoft.com/office/drawing/2014/chart" uri="{C3380CC4-5D6E-409C-BE32-E72D297353CC}">
                <c16:uniqueId val="{00000008-4BD5-4364-8CEE-2E29E7C0FEDA}"/>
              </c:ext>
            </c:extLst>
          </c:dPt>
          <c:dPt>
            <c:idx val="4"/>
            <c:invertIfNegative val="1"/>
            <c:bubble3D val="0"/>
            <c:spPr>
              <a:solidFill>
                <a:srgbClr val="008189"/>
              </a:solidFill>
            </c:spPr>
            <c:extLst>
              <c:ext xmlns:c16="http://schemas.microsoft.com/office/drawing/2014/chart" uri="{C3380CC4-5D6E-409C-BE32-E72D297353CC}">
                <c16:uniqueId val="{0000000A-4BD5-4364-8CEE-2E29E7C0FEDA}"/>
              </c:ext>
            </c:extLst>
          </c:dPt>
          <c:dPt>
            <c:idx val="5"/>
            <c:invertIfNegative val="1"/>
            <c:bubble3D val="0"/>
            <c:spPr>
              <a:solidFill>
                <a:srgbClr val="008189"/>
              </a:solidFill>
            </c:spPr>
            <c:extLst>
              <c:ext xmlns:c16="http://schemas.microsoft.com/office/drawing/2014/chart" uri="{C3380CC4-5D6E-409C-BE32-E72D297353CC}">
                <c16:uniqueId val="{0000000C-4BD5-4364-8CEE-2E29E7C0FEDA}"/>
              </c:ext>
            </c:extLst>
          </c:dPt>
          <c:dPt>
            <c:idx val="6"/>
            <c:invertIfNegative val="1"/>
            <c:bubble3D val="0"/>
            <c:spPr>
              <a:solidFill>
                <a:srgbClr val="0E72AE"/>
              </a:solidFill>
            </c:spPr>
            <c:extLst>
              <c:ext xmlns:c16="http://schemas.microsoft.com/office/drawing/2014/chart" uri="{C3380CC4-5D6E-409C-BE32-E72D297353CC}">
                <c16:uniqueId val="{0000000E-4BD5-4364-8CEE-2E29E7C0FEDA}"/>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BD5-4364-8CEE-2E29E7C0FED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BD5-4364-8CEE-2E29E7C0FED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BD5-4364-8CEE-2E29E7C0FED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BD5-4364-8CEE-2E29E7C0FEDA}"/>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BD5-4364-8CEE-2E29E7C0FEDA}"/>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BD5-4364-8CEE-2E29E7C0FEDA}"/>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BD5-4364-8CEE-2E29E7C0FEDA}"/>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2318.8240000000001</c:v>
              </c:pt>
              <c:pt idx="1">
                <c:v>277.47699999999986</c:v>
              </c:pt>
              <c:pt idx="2">
                <c:v>310.56600000000026</c:v>
              </c:pt>
              <c:pt idx="3">
                <c:v>347.65499999999975</c:v>
              </c:pt>
              <c:pt idx="4">
                <c:v>389.25700000000006</c:v>
              </c:pt>
              <c:pt idx="5">
                <c:v>435.91300000000001</c:v>
              </c:pt>
              <c:pt idx="6">
                <c:v>4079.692</c:v>
              </c:pt>
            </c:numLit>
          </c:val>
          <c:extLst>
            <c:ext xmlns:c16="http://schemas.microsoft.com/office/drawing/2014/chart" uri="{C3380CC4-5D6E-409C-BE32-E72D297353CC}">
              <c16:uniqueId val="{0000000F-4BD5-4364-8CEE-2E29E7C0FED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1348.4659999999999</c:v>
              </c:pt>
              <c:pt idx="2">
                <c:v>1464.194</c:v>
              </c:pt>
              <c:pt idx="3">
                <c:v>1590.3969999999999</c:v>
              </c:pt>
              <c:pt idx="4">
                <c:v>1728.0909999999999</c:v>
              </c:pt>
              <c:pt idx="5">
                <c:v>1878.3409999999999</c:v>
              </c:pt>
              <c:pt idx="6">
                <c:v>0</c:v>
              </c:pt>
            </c:numLit>
          </c:val>
          <c:extLst>
            <c:ext xmlns:c16="http://schemas.microsoft.com/office/drawing/2014/chart" uri="{C3380CC4-5D6E-409C-BE32-E72D297353CC}">
              <c16:uniqueId val="{00000000-011C-4704-A886-7E4C730D5AA1}"/>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011C-4704-A886-7E4C730D5AA1}"/>
              </c:ext>
            </c:extLst>
          </c:dPt>
          <c:dPt>
            <c:idx val="1"/>
            <c:invertIfNegative val="1"/>
            <c:bubble3D val="0"/>
            <c:spPr>
              <a:solidFill>
                <a:srgbClr val="008189"/>
              </a:solidFill>
            </c:spPr>
            <c:extLst>
              <c:ext xmlns:c16="http://schemas.microsoft.com/office/drawing/2014/chart" uri="{C3380CC4-5D6E-409C-BE32-E72D297353CC}">
                <c16:uniqueId val="{00000004-011C-4704-A886-7E4C730D5AA1}"/>
              </c:ext>
            </c:extLst>
          </c:dPt>
          <c:dPt>
            <c:idx val="2"/>
            <c:invertIfNegative val="1"/>
            <c:bubble3D val="0"/>
            <c:spPr>
              <a:solidFill>
                <a:srgbClr val="008189"/>
              </a:solidFill>
            </c:spPr>
            <c:extLst>
              <c:ext xmlns:c16="http://schemas.microsoft.com/office/drawing/2014/chart" uri="{C3380CC4-5D6E-409C-BE32-E72D297353CC}">
                <c16:uniqueId val="{00000006-011C-4704-A886-7E4C730D5AA1}"/>
              </c:ext>
            </c:extLst>
          </c:dPt>
          <c:dPt>
            <c:idx val="3"/>
            <c:invertIfNegative val="1"/>
            <c:bubble3D val="0"/>
            <c:spPr>
              <a:solidFill>
                <a:srgbClr val="008189"/>
              </a:solidFill>
            </c:spPr>
            <c:extLst>
              <c:ext xmlns:c16="http://schemas.microsoft.com/office/drawing/2014/chart" uri="{C3380CC4-5D6E-409C-BE32-E72D297353CC}">
                <c16:uniqueId val="{00000008-011C-4704-A886-7E4C730D5AA1}"/>
              </c:ext>
            </c:extLst>
          </c:dPt>
          <c:dPt>
            <c:idx val="4"/>
            <c:invertIfNegative val="1"/>
            <c:bubble3D val="0"/>
            <c:spPr>
              <a:solidFill>
                <a:srgbClr val="008189"/>
              </a:solidFill>
            </c:spPr>
            <c:extLst>
              <c:ext xmlns:c16="http://schemas.microsoft.com/office/drawing/2014/chart" uri="{C3380CC4-5D6E-409C-BE32-E72D297353CC}">
                <c16:uniqueId val="{0000000A-011C-4704-A886-7E4C730D5AA1}"/>
              </c:ext>
            </c:extLst>
          </c:dPt>
          <c:dPt>
            <c:idx val="5"/>
            <c:invertIfNegative val="1"/>
            <c:bubble3D val="0"/>
            <c:spPr>
              <a:solidFill>
                <a:srgbClr val="008189"/>
              </a:solidFill>
            </c:spPr>
            <c:extLst>
              <c:ext xmlns:c16="http://schemas.microsoft.com/office/drawing/2014/chart" uri="{C3380CC4-5D6E-409C-BE32-E72D297353CC}">
                <c16:uniqueId val="{0000000C-011C-4704-A886-7E4C730D5AA1}"/>
              </c:ext>
            </c:extLst>
          </c:dPt>
          <c:dPt>
            <c:idx val="6"/>
            <c:invertIfNegative val="1"/>
            <c:bubble3D val="0"/>
            <c:spPr>
              <a:solidFill>
                <a:srgbClr val="0E72AE"/>
              </a:solidFill>
            </c:spPr>
            <c:extLst>
              <c:ext xmlns:c16="http://schemas.microsoft.com/office/drawing/2014/chart" uri="{C3380CC4-5D6E-409C-BE32-E72D297353CC}">
                <c16:uniqueId val="{0000000E-011C-4704-A886-7E4C730D5AA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1C-4704-A886-7E4C730D5AA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11C-4704-A886-7E4C730D5AA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11C-4704-A886-7E4C730D5AA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11C-4704-A886-7E4C730D5AA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11C-4704-A886-7E4C730D5AA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011C-4704-A886-7E4C730D5AA1}"/>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11C-4704-A886-7E4C730D5AA1}"/>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1348.4659999999999</c:v>
              </c:pt>
              <c:pt idx="1">
                <c:v>115.72800000000007</c:v>
              </c:pt>
              <c:pt idx="2">
                <c:v>126.20299999999997</c:v>
              </c:pt>
              <c:pt idx="3">
                <c:v>137.69399999999996</c:v>
              </c:pt>
              <c:pt idx="4">
                <c:v>150.25</c:v>
              </c:pt>
              <c:pt idx="5">
                <c:v>164.03500000000031</c:v>
              </c:pt>
              <c:pt idx="6">
                <c:v>2042.3760000000002</c:v>
              </c:pt>
            </c:numLit>
          </c:val>
          <c:extLst>
            <c:ext xmlns:c16="http://schemas.microsoft.com/office/drawing/2014/chart" uri="{C3380CC4-5D6E-409C-BE32-E72D297353CC}">
              <c16:uniqueId val="{0000000F-011C-4704-A886-7E4C730D5AA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2254.2280000000001</c:v>
              </c:pt>
              <c:pt idx="2">
                <c:v>2522.085</c:v>
              </c:pt>
              <c:pt idx="3">
                <c:v>2821.9180000000001</c:v>
              </c:pt>
              <c:pt idx="4">
                <c:v>3157.6310000000003</c:v>
              </c:pt>
              <c:pt idx="5">
                <c:v>3533.625</c:v>
              </c:pt>
              <c:pt idx="6">
                <c:v>0</c:v>
              </c:pt>
            </c:numLit>
          </c:val>
          <c:extLst>
            <c:ext xmlns:c16="http://schemas.microsoft.com/office/drawing/2014/chart" uri="{C3380CC4-5D6E-409C-BE32-E72D297353CC}">
              <c16:uniqueId val="{00000000-39BE-4CE8-937F-B92C8354EC71}"/>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39BE-4CE8-937F-B92C8354EC71}"/>
              </c:ext>
            </c:extLst>
          </c:dPt>
          <c:dPt>
            <c:idx val="1"/>
            <c:invertIfNegative val="1"/>
            <c:bubble3D val="0"/>
            <c:spPr>
              <a:solidFill>
                <a:srgbClr val="008189"/>
              </a:solidFill>
            </c:spPr>
            <c:extLst>
              <c:ext xmlns:c16="http://schemas.microsoft.com/office/drawing/2014/chart" uri="{C3380CC4-5D6E-409C-BE32-E72D297353CC}">
                <c16:uniqueId val="{00000004-39BE-4CE8-937F-B92C8354EC71}"/>
              </c:ext>
            </c:extLst>
          </c:dPt>
          <c:dPt>
            <c:idx val="2"/>
            <c:invertIfNegative val="1"/>
            <c:bubble3D val="0"/>
            <c:spPr>
              <a:solidFill>
                <a:srgbClr val="008189"/>
              </a:solidFill>
            </c:spPr>
            <c:extLst>
              <c:ext xmlns:c16="http://schemas.microsoft.com/office/drawing/2014/chart" uri="{C3380CC4-5D6E-409C-BE32-E72D297353CC}">
                <c16:uniqueId val="{00000006-39BE-4CE8-937F-B92C8354EC71}"/>
              </c:ext>
            </c:extLst>
          </c:dPt>
          <c:dPt>
            <c:idx val="3"/>
            <c:invertIfNegative val="1"/>
            <c:bubble3D val="0"/>
            <c:spPr>
              <a:solidFill>
                <a:srgbClr val="008189"/>
              </a:solidFill>
            </c:spPr>
            <c:extLst>
              <c:ext xmlns:c16="http://schemas.microsoft.com/office/drawing/2014/chart" uri="{C3380CC4-5D6E-409C-BE32-E72D297353CC}">
                <c16:uniqueId val="{00000008-39BE-4CE8-937F-B92C8354EC71}"/>
              </c:ext>
            </c:extLst>
          </c:dPt>
          <c:dPt>
            <c:idx val="4"/>
            <c:invertIfNegative val="1"/>
            <c:bubble3D val="0"/>
            <c:spPr>
              <a:solidFill>
                <a:srgbClr val="008189"/>
              </a:solidFill>
            </c:spPr>
            <c:extLst>
              <c:ext xmlns:c16="http://schemas.microsoft.com/office/drawing/2014/chart" uri="{C3380CC4-5D6E-409C-BE32-E72D297353CC}">
                <c16:uniqueId val="{0000000A-39BE-4CE8-937F-B92C8354EC71}"/>
              </c:ext>
            </c:extLst>
          </c:dPt>
          <c:dPt>
            <c:idx val="5"/>
            <c:invertIfNegative val="1"/>
            <c:bubble3D val="0"/>
            <c:spPr>
              <a:solidFill>
                <a:srgbClr val="008189"/>
              </a:solidFill>
            </c:spPr>
            <c:extLst>
              <c:ext xmlns:c16="http://schemas.microsoft.com/office/drawing/2014/chart" uri="{C3380CC4-5D6E-409C-BE32-E72D297353CC}">
                <c16:uniqueId val="{0000000C-39BE-4CE8-937F-B92C8354EC71}"/>
              </c:ext>
            </c:extLst>
          </c:dPt>
          <c:dPt>
            <c:idx val="6"/>
            <c:invertIfNegative val="1"/>
            <c:bubble3D val="0"/>
            <c:spPr>
              <a:solidFill>
                <a:srgbClr val="0E72AE"/>
              </a:solidFill>
            </c:spPr>
            <c:extLst>
              <c:ext xmlns:c16="http://schemas.microsoft.com/office/drawing/2014/chart" uri="{C3380CC4-5D6E-409C-BE32-E72D297353CC}">
                <c16:uniqueId val="{0000000E-39BE-4CE8-937F-B92C8354EC7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9BE-4CE8-937F-B92C8354EC7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9BE-4CE8-937F-B92C8354EC7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9BE-4CE8-937F-B92C8354EC7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9BE-4CE8-937F-B92C8354EC7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9BE-4CE8-937F-B92C8354EC7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9BE-4CE8-937F-B92C8354EC71}"/>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9BE-4CE8-937F-B92C8354EC71}"/>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2254.2280000000001</c:v>
              </c:pt>
              <c:pt idx="1">
                <c:v>267.85699999999997</c:v>
              </c:pt>
              <c:pt idx="2">
                <c:v>299.83300000000008</c:v>
              </c:pt>
              <c:pt idx="3">
                <c:v>335.71300000000019</c:v>
              </c:pt>
              <c:pt idx="4">
                <c:v>375.99399999999969</c:v>
              </c:pt>
              <c:pt idx="5">
                <c:v>421.18700000000035</c:v>
              </c:pt>
              <c:pt idx="6">
                <c:v>3954.8120000000004</c:v>
              </c:pt>
            </c:numLit>
          </c:val>
          <c:extLst>
            <c:ext xmlns:c16="http://schemas.microsoft.com/office/drawing/2014/chart" uri="{C3380CC4-5D6E-409C-BE32-E72D297353CC}">
              <c16:uniqueId val="{0000000F-39BE-4CE8-937F-B92C8354EC7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1409.604</c:v>
              </c:pt>
              <c:pt idx="2">
                <c:v>1526.623</c:v>
              </c:pt>
              <c:pt idx="3">
                <c:v>1653.8630000000001</c:v>
              </c:pt>
              <c:pt idx="4">
                <c:v>1792.239</c:v>
              </c:pt>
              <c:pt idx="5">
                <c:v>1942.7750000000001</c:v>
              </c:pt>
              <c:pt idx="6">
                <c:v>0</c:v>
              </c:pt>
            </c:numLit>
          </c:val>
          <c:extLst>
            <c:ext xmlns:c16="http://schemas.microsoft.com/office/drawing/2014/chart" uri="{C3380CC4-5D6E-409C-BE32-E72D297353CC}">
              <c16:uniqueId val="{00000000-6474-4C5D-A6D2-084BE18F699D}"/>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6474-4C5D-A6D2-084BE18F699D}"/>
              </c:ext>
            </c:extLst>
          </c:dPt>
          <c:dPt>
            <c:idx val="1"/>
            <c:invertIfNegative val="1"/>
            <c:bubble3D val="0"/>
            <c:spPr>
              <a:solidFill>
                <a:srgbClr val="008189"/>
              </a:solidFill>
            </c:spPr>
            <c:extLst>
              <c:ext xmlns:c16="http://schemas.microsoft.com/office/drawing/2014/chart" uri="{C3380CC4-5D6E-409C-BE32-E72D297353CC}">
                <c16:uniqueId val="{00000004-6474-4C5D-A6D2-084BE18F699D}"/>
              </c:ext>
            </c:extLst>
          </c:dPt>
          <c:dPt>
            <c:idx val="2"/>
            <c:invertIfNegative val="1"/>
            <c:bubble3D val="0"/>
            <c:spPr>
              <a:solidFill>
                <a:srgbClr val="008189"/>
              </a:solidFill>
            </c:spPr>
            <c:extLst>
              <c:ext xmlns:c16="http://schemas.microsoft.com/office/drawing/2014/chart" uri="{C3380CC4-5D6E-409C-BE32-E72D297353CC}">
                <c16:uniqueId val="{00000006-6474-4C5D-A6D2-084BE18F699D}"/>
              </c:ext>
            </c:extLst>
          </c:dPt>
          <c:dPt>
            <c:idx val="3"/>
            <c:invertIfNegative val="1"/>
            <c:bubble3D val="0"/>
            <c:spPr>
              <a:solidFill>
                <a:srgbClr val="008189"/>
              </a:solidFill>
            </c:spPr>
            <c:extLst>
              <c:ext xmlns:c16="http://schemas.microsoft.com/office/drawing/2014/chart" uri="{C3380CC4-5D6E-409C-BE32-E72D297353CC}">
                <c16:uniqueId val="{00000008-6474-4C5D-A6D2-084BE18F699D}"/>
              </c:ext>
            </c:extLst>
          </c:dPt>
          <c:dPt>
            <c:idx val="4"/>
            <c:invertIfNegative val="1"/>
            <c:bubble3D val="0"/>
            <c:spPr>
              <a:solidFill>
                <a:srgbClr val="008189"/>
              </a:solidFill>
            </c:spPr>
            <c:extLst>
              <c:ext xmlns:c16="http://schemas.microsoft.com/office/drawing/2014/chart" uri="{C3380CC4-5D6E-409C-BE32-E72D297353CC}">
                <c16:uniqueId val="{0000000A-6474-4C5D-A6D2-084BE18F699D}"/>
              </c:ext>
            </c:extLst>
          </c:dPt>
          <c:dPt>
            <c:idx val="5"/>
            <c:invertIfNegative val="1"/>
            <c:bubble3D val="0"/>
            <c:spPr>
              <a:solidFill>
                <a:srgbClr val="008189"/>
              </a:solidFill>
            </c:spPr>
            <c:extLst>
              <c:ext xmlns:c16="http://schemas.microsoft.com/office/drawing/2014/chart" uri="{C3380CC4-5D6E-409C-BE32-E72D297353CC}">
                <c16:uniqueId val="{0000000C-6474-4C5D-A6D2-084BE18F699D}"/>
              </c:ext>
            </c:extLst>
          </c:dPt>
          <c:dPt>
            <c:idx val="6"/>
            <c:invertIfNegative val="1"/>
            <c:bubble3D val="0"/>
            <c:spPr>
              <a:solidFill>
                <a:srgbClr val="0E72AE"/>
              </a:solidFill>
            </c:spPr>
            <c:extLst>
              <c:ext xmlns:c16="http://schemas.microsoft.com/office/drawing/2014/chart" uri="{C3380CC4-5D6E-409C-BE32-E72D297353CC}">
                <c16:uniqueId val="{0000000E-6474-4C5D-A6D2-084BE18F699D}"/>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474-4C5D-A6D2-084BE18F699D}"/>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474-4C5D-A6D2-084BE18F699D}"/>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474-4C5D-A6D2-084BE18F699D}"/>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474-4C5D-A6D2-084BE18F699D}"/>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474-4C5D-A6D2-084BE18F699D}"/>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474-4C5D-A6D2-084BE18F699D}"/>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6474-4C5D-A6D2-084BE18F699D}"/>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1409.604</c:v>
              </c:pt>
              <c:pt idx="1">
                <c:v>117.01900000000001</c:v>
              </c:pt>
              <c:pt idx="2">
                <c:v>127.24000000000001</c:v>
              </c:pt>
              <c:pt idx="3">
                <c:v>138.37599999999998</c:v>
              </c:pt>
              <c:pt idx="4">
                <c:v>150.53600000000006</c:v>
              </c:pt>
              <c:pt idx="5">
                <c:v>163.81100000000015</c:v>
              </c:pt>
              <c:pt idx="6">
                <c:v>2106.5860000000002</c:v>
              </c:pt>
            </c:numLit>
          </c:val>
          <c:extLst>
            <c:ext xmlns:c16="http://schemas.microsoft.com/office/drawing/2014/chart" uri="{C3380CC4-5D6E-409C-BE32-E72D297353CC}">
              <c16:uniqueId val="{0000000F-6474-4C5D-A6D2-084BE18F699D}"/>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1699.252</c:v>
              </c:pt>
              <c:pt idx="2">
                <c:v>1851.5830000000001</c:v>
              </c:pt>
              <c:pt idx="3">
                <c:v>2018.365</c:v>
              </c:pt>
              <c:pt idx="4">
                <c:v>2201.0720000000001</c:v>
              </c:pt>
              <c:pt idx="5">
                <c:v>2401.2660000000001</c:v>
              </c:pt>
              <c:pt idx="6">
                <c:v>0</c:v>
              </c:pt>
            </c:numLit>
          </c:val>
          <c:extLst>
            <c:ext xmlns:c16="http://schemas.microsoft.com/office/drawing/2014/chart" uri="{C3380CC4-5D6E-409C-BE32-E72D297353CC}">
              <c16:uniqueId val="{00000000-D279-45F0-ACE8-4D3893461031}"/>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D279-45F0-ACE8-4D3893461031}"/>
              </c:ext>
            </c:extLst>
          </c:dPt>
          <c:dPt>
            <c:idx val="1"/>
            <c:invertIfNegative val="1"/>
            <c:bubble3D val="0"/>
            <c:spPr>
              <a:solidFill>
                <a:srgbClr val="008189"/>
              </a:solidFill>
            </c:spPr>
            <c:extLst>
              <c:ext xmlns:c16="http://schemas.microsoft.com/office/drawing/2014/chart" uri="{C3380CC4-5D6E-409C-BE32-E72D297353CC}">
                <c16:uniqueId val="{00000004-D279-45F0-ACE8-4D3893461031}"/>
              </c:ext>
            </c:extLst>
          </c:dPt>
          <c:dPt>
            <c:idx val="2"/>
            <c:invertIfNegative val="1"/>
            <c:bubble3D val="0"/>
            <c:spPr>
              <a:solidFill>
                <a:srgbClr val="008189"/>
              </a:solidFill>
            </c:spPr>
            <c:extLst>
              <c:ext xmlns:c16="http://schemas.microsoft.com/office/drawing/2014/chart" uri="{C3380CC4-5D6E-409C-BE32-E72D297353CC}">
                <c16:uniqueId val="{00000006-D279-45F0-ACE8-4D3893461031}"/>
              </c:ext>
            </c:extLst>
          </c:dPt>
          <c:dPt>
            <c:idx val="3"/>
            <c:invertIfNegative val="1"/>
            <c:bubble3D val="0"/>
            <c:spPr>
              <a:solidFill>
                <a:srgbClr val="008189"/>
              </a:solidFill>
            </c:spPr>
            <c:extLst>
              <c:ext xmlns:c16="http://schemas.microsoft.com/office/drawing/2014/chart" uri="{C3380CC4-5D6E-409C-BE32-E72D297353CC}">
                <c16:uniqueId val="{00000008-D279-45F0-ACE8-4D3893461031}"/>
              </c:ext>
            </c:extLst>
          </c:dPt>
          <c:dPt>
            <c:idx val="4"/>
            <c:invertIfNegative val="1"/>
            <c:bubble3D val="0"/>
            <c:spPr>
              <a:solidFill>
                <a:srgbClr val="008189"/>
              </a:solidFill>
            </c:spPr>
            <c:extLst>
              <c:ext xmlns:c16="http://schemas.microsoft.com/office/drawing/2014/chart" uri="{C3380CC4-5D6E-409C-BE32-E72D297353CC}">
                <c16:uniqueId val="{0000000A-D279-45F0-ACE8-4D3893461031}"/>
              </c:ext>
            </c:extLst>
          </c:dPt>
          <c:dPt>
            <c:idx val="5"/>
            <c:invertIfNegative val="1"/>
            <c:bubble3D val="0"/>
            <c:spPr>
              <a:solidFill>
                <a:srgbClr val="008189"/>
              </a:solidFill>
            </c:spPr>
            <c:extLst>
              <c:ext xmlns:c16="http://schemas.microsoft.com/office/drawing/2014/chart" uri="{C3380CC4-5D6E-409C-BE32-E72D297353CC}">
                <c16:uniqueId val="{0000000C-D279-45F0-ACE8-4D3893461031}"/>
              </c:ext>
            </c:extLst>
          </c:dPt>
          <c:dPt>
            <c:idx val="6"/>
            <c:invertIfNegative val="1"/>
            <c:bubble3D val="0"/>
            <c:spPr>
              <a:solidFill>
                <a:srgbClr val="0E72AE"/>
              </a:solidFill>
            </c:spPr>
            <c:extLst>
              <c:ext xmlns:c16="http://schemas.microsoft.com/office/drawing/2014/chart" uri="{C3380CC4-5D6E-409C-BE32-E72D297353CC}">
                <c16:uniqueId val="{0000000E-D279-45F0-ACE8-4D389346103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279-45F0-ACE8-4D389346103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279-45F0-ACE8-4D389346103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279-45F0-ACE8-4D389346103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279-45F0-ACE8-4D389346103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279-45F0-ACE8-4D389346103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279-45F0-ACE8-4D3893461031}"/>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D279-45F0-ACE8-4D3893461031}"/>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1699.252</c:v>
              </c:pt>
              <c:pt idx="1">
                <c:v>152.33100000000013</c:v>
              </c:pt>
              <c:pt idx="2">
                <c:v>166.78199999999993</c:v>
              </c:pt>
              <c:pt idx="3">
                <c:v>182.70700000000011</c:v>
              </c:pt>
              <c:pt idx="4">
                <c:v>200.19399999999996</c:v>
              </c:pt>
              <c:pt idx="5">
                <c:v>219.45199999999977</c:v>
              </c:pt>
              <c:pt idx="6">
                <c:v>2620.7179999999998</c:v>
              </c:pt>
            </c:numLit>
          </c:val>
          <c:extLst>
            <c:ext xmlns:c16="http://schemas.microsoft.com/office/drawing/2014/chart" uri="{C3380CC4-5D6E-409C-BE32-E72D297353CC}">
              <c16:uniqueId val="{0000000F-D279-45F0-ACE8-4D389346103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Antioxidant Ingredients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ED1-4FA4-B2EF-92F56205421A}"/>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ED1-4FA4-B2EF-92F56205421A}"/>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ED1-4FA4-B2EF-92F56205421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20.377573931544987</c:v>
              </c:pt>
              <c:pt idx="1">
                <c:v>21.273614678899083</c:v>
              </c:pt>
              <c:pt idx="2">
                <c:v>22.989997074752829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1ED1-4FA4-B2EF-92F56205421A}"/>
            </c:ext>
          </c:extLst>
        </c:ser>
        <c:ser>
          <c:idx val="1"/>
          <c:order val="1"/>
          <c:tx>
            <c:v>Cellular Energy Support Ingredients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ED1-4FA4-B2EF-92F56205421A}"/>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ED1-4FA4-B2EF-92F56205421A}"/>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ED1-4FA4-B2EF-92F56205421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19.855565564057923</c:v>
              </c:pt>
              <c:pt idx="1">
                <c:v>20.680990825688074</c:v>
              </c:pt>
              <c:pt idx="2">
                <c:v>22.286269726047305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1ED1-4FA4-B2EF-92F56205421A}"/>
            </c:ext>
          </c:extLst>
        </c:ser>
        <c:ser>
          <c:idx val="2"/>
          <c:order val="2"/>
          <c:tx>
            <c:v>Omega-3 Fatty Acids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ED1-4FA4-B2EF-92F56205421A}"/>
                </c:ext>
              </c:extLst>
            </c:dLbl>
            <c:dLbl>
              <c:idx val="1"/>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ED1-4FA4-B2EF-92F56205421A}"/>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ED1-4FA4-B2EF-92F56205421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17.449424827854635</c:v>
              </c:pt>
              <c:pt idx="1">
                <c:v>17.152532110091741</c:v>
              </c:pt>
              <c:pt idx="2">
                <c:v>16.575038788687323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1ED1-4FA4-B2EF-92F56205421A}"/>
            </c:ext>
          </c:extLst>
        </c:ser>
        <c:ser>
          <c:idx val="3"/>
          <c:order val="3"/>
          <c:tx>
            <c:v>Microbiome-Targeted Ingredients</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ED1-4FA4-B2EF-92F56205421A}"/>
                </c:ext>
              </c:extLst>
            </c:dLbl>
            <c:dLbl>
              <c:idx val="1"/>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ED1-4FA4-B2EF-92F56205421A}"/>
                </c:ext>
              </c:extLst>
            </c:dLbl>
            <c:dLbl>
              <c:idx val="2"/>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1ED1-4FA4-B2EF-92F56205421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16.015349595890196</c:v>
              </c:pt>
              <c:pt idx="1">
                <c:v>15.589467889908256</c:v>
              </c:pt>
              <c:pt idx="2">
                <c:v>14.768345050006735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1ED1-4FA4-B2EF-92F56205421A}"/>
            </c:ext>
          </c:extLst>
        </c:ser>
        <c:ser>
          <c:idx val="4"/>
          <c:order val="4"/>
          <c:tx>
            <c:v>Botanical Ingredients</c:v>
          </c:tx>
          <c:spPr>
            <a:solidFill>
              <a:srgbClr val="A35313"/>
            </a:solidFill>
            <a:ln>
              <a:noFill/>
            </a:ln>
          </c:spPr>
          <c:invertIfNegative val="1"/>
          <c:dLbls>
            <c:dLbl>
              <c:idx val="0"/>
              <c:numFmt formatCode="&quot;MMMM&quot;;&quot;MMMM&quot;;&quot;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1ED1-4FA4-B2EF-92F56205421A}"/>
                </c:ext>
              </c:extLst>
            </c:dLbl>
            <c:dLbl>
              <c:idx val="1"/>
              <c:numFmt formatCode="&quot;MMMM&quot;;&quot;MMMM&quot;;&quot;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1ED1-4FA4-B2EF-92F56205421A}"/>
                </c:ext>
              </c:extLst>
            </c:dLbl>
            <c:dLbl>
              <c:idx val="2"/>
              <c:numFmt formatCode="&quot;MMMM&quot;;&quot;MMMM&quot;;&quot;M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1ED1-4FA4-B2EF-92F56205421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13.483543919655247</c:v>
              </c:pt>
              <c:pt idx="1">
                <c:v>12.932146788990826</c:v>
              </c:pt>
              <c:pt idx="2">
                <c:v>11.871093694748344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1ED1-4FA4-B2EF-92F56205421A}"/>
            </c:ext>
          </c:extLst>
        </c:ser>
        <c:ser>
          <c:idx val="5"/>
          <c:order val="5"/>
          <c:tx>
            <c:v>Neurofunctional Nutrients</c:v>
          </c:tx>
          <c:spPr>
            <a:solidFill>
              <a:srgbClr val="808080"/>
            </a:solidFill>
            <a:ln>
              <a:noFill/>
            </a:ln>
          </c:spPr>
          <c:invertIfNegative val="1"/>
          <c:dLbls>
            <c:dLbl>
              <c:idx val="0"/>
              <c:numFmt formatCode="&quot;MMMM&quot;;&quot;MMMM&quot;;&quot;M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1ED1-4FA4-B2EF-92F56205421A}"/>
                </c:ext>
              </c:extLst>
            </c:dLbl>
            <c:dLbl>
              <c:idx val="1"/>
              <c:numFmt formatCode="&quot;MMMM&quot;;&quot;MMMM&quot;;&quot;M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1ED1-4FA4-B2EF-92F56205421A}"/>
                </c:ext>
              </c:extLst>
            </c:dLbl>
            <c:dLbl>
              <c:idx val="2"/>
              <c:numFmt formatCode="&quot;MMMM&quot;;&quot;MMMM&quot;;&quot;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1ED1-4FA4-B2EF-92F56205421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12.818542160997023</c:v>
              </c:pt>
              <c:pt idx="1">
                <c:v>12.371247706422018</c:v>
              </c:pt>
              <c:pt idx="2">
                <c:v>11.509255665757461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1ED1-4FA4-B2EF-92F56205421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Routine Cognitive Wellness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F59-45B7-9D33-A7ED74C11309}"/>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F59-45B7-9D33-A7ED74C11309}"/>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F59-45B7-9D33-A7ED74C11309}"/>
                </c:ext>
              </c:extLst>
            </c:dLbl>
            <c:dLbl>
              <c:idx val="3"/>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F59-45B7-9D33-A7ED74C11309}"/>
                </c:ext>
              </c:extLst>
            </c:dLbl>
            <c:dLbl>
              <c:idx val="4"/>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F59-45B7-9D33-A7ED74C11309}"/>
                </c:ext>
              </c:extLst>
            </c:dLbl>
            <c:dLbl>
              <c:idx val="5"/>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F59-45B7-9D33-A7ED74C1130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21.405958381318861</c:v>
              </c:pt>
              <c:pt idx="1">
                <c:v>21.498706487212235</c:v>
              </c:pt>
              <c:pt idx="2">
                <c:v>24.183584615663285</c:v>
              </c:pt>
              <c:pt idx="3">
                <c:v>25.200284661096443</c:v>
              </c:pt>
              <c:pt idx="4">
                <c:v>23.663898698988611</c:v>
              </c:pt>
              <c:pt idx="5">
                <c:v>19.61193925018036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EF59-45B7-9D33-A7ED74C11309}"/>
            </c:ext>
          </c:extLst>
        </c:ser>
        <c:ser>
          <c:idx val="1"/>
          <c:order val="1"/>
          <c:tx>
            <c:v>Preventive Cognitive Support for Senior Dogs</c:v>
          </c:tx>
          <c:spPr>
            <a:solidFill>
              <a:srgbClr val="9E7E0A"/>
            </a:solidFill>
            <a:ln>
              <a:noFill/>
            </a:ln>
          </c:spPr>
          <c:invertIfNegative val="1"/>
          <c:dLbls>
            <c:dLbl>
              <c:idx val="0"/>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F59-45B7-9D33-A7ED74C11309}"/>
                </c:ext>
              </c:extLst>
            </c:dLbl>
            <c:dLbl>
              <c:idx val="1"/>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F59-45B7-9D33-A7ED74C11309}"/>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F59-45B7-9D33-A7ED74C11309}"/>
                </c:ext>
              </c:extLst>
            </c:dLbl>
            <c:dLbl>
              <c:idx val="3"/>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F59-45B7-9D33-A7ED74C11309}"/>
                </c:ext>
              </c:extLst>
            </c:dLbl>
            <c:dLbl>
              <c:idx val="4"/>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F59-45B7-9D33-A7ED74C11309}"/>
                </c:ext>
              </c:extLst>
            </c:dLbl>
            <c:dLbl>
              <c:idx val="5"/>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F59-45B7-9D33-A7ED74C1130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9.8881321298102627</c:v>
              </c:pt>
              <c:pt idx="1">
                <c:v>9.6685987490585195</c:v>
              </c:pt>
              <c:pt idx="2">
                <c:v>10.996751524062271</c:v>
              </c:pt>
              <c:pt idx="3">
                <c:v>8.9375288150225689</c:v>
              </c:pt>
              <c:pt idx="4">
                <c:v>11.119046211090843</c:v>
              </c:pt>
              <c:pt idx="5">
                <c:v>11.6357140375332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D-EF59-45B7-9D33-A7ED74C11309}"/>
            </c:ext>
          </c:extLst>
        </c:ser>
        <c:ser>
          <c:idx val="2"/>
          <c:order val="2"/>
          <c:tx>
            <c:v>Support for Observable Age-Related Cognitive Changes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F59-45B7-9D33-A7ED74C11309}"/>
                </c:ext>
              </c:extLst>
            </c:dLbl>
            <c:dLbl>
              <c:idx val="1"/>
              <c:numFmt formatCode="&quot;MMMM&quot;;&quot;MMMM&quot;;&quot;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EF59-45B7-9D33-A7ED74C11309}"/>
                </c:ext>
              </c:extLst>
            </c:dLbl>
            <c:dLbl>
              <c:idx val="2"/>
              <c:numFmt formatCode="&quot;MMMM&quot;;&quot;MMMM&quot;;&quot;M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F59-45B7-9D33-A7ED74C11309}"/>
                </c:ext>
              </c:extLst>
            </c:dLbl>
            <c:dLbl>
              <c:idx val="3"/>
              <c:numFmt formatCode="&quot;MMMM&quot;;&quot;MMMM&quot;;&quot;M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EF59-45B7-9D33-A7ED74C11309}"/>
                </c:ext>
              </c:extLst>
            </c:dLbl>
            <c:dLbl>
              <c:idx val="4"/>
              <c:numFmt formatCode="&quot;MMMM&quot;;&quot;MMMM&quot;;&quot;M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EF59-45B7-9D33-A7ED74C11309}"/>
                </c:ext>
              </c:extLst>
            </c:dLbl>
            <c:dLbl>
              <c:idx val="5"/>
              <c:numFmt formatCode="&quot;MMMM&quot;;&quot;MMMM&quot;;&quot;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EF59-45B7-9D33-A7ED74C1130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57.910424487157208</c:v>
              </c:pt>
              <c:pt idx="1">
                <c:v>57.371843992533641</c:v>
              </c:pt>
              <c:pt idx="2">
                <c:v>52.10267357566061</c:v>
              </c:pt>
              <c:pt idx="3">
                <c:v>55.003973070403489</c:v>
              </c:pt>
              <c:pt idx="4">
                <c:v>55.232791902849065</c:v>
              </c:pt>
              <c:pt idx="5">
                <c:v>58.925539216107502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EF59-45B7-9D33-A7ED74C11309}"/>
            </c:ext>
          </c:extLst>
        </c:ser>
        <c:ser>
          <c:idx val="3"/>
          <c:order val="3"/>
          <c:tx>
            <c:v>Veterinary-Guided Cognitive Dysfunction Support</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F59-45B7-9D33-A7ED74C11309}"/>
                </c:ext>
              </c:extLst>
            </c:dLbl>
            <c:dLbl>
              <c:idx val="1"/>
              <c:numFmt formatCode="&quot;MMMM&quot;;&quot;MMMM&quot;;&quot;M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F59-45B7-9D33-A7ED74C11309}"/>
                </c:ext>
              </c:extLst>
            </c:dLbl>
            <c:dLbl>
              <c:idx val="2"/>
              <c:numFmt formatCode="&quot;MMMM&quot;;&quot;MMMM&quot;;&quot;M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EF59-45B7-9D33-A7ED74C11309}"/>
                </c:ext>
              </c:extLst>
            </c:dLbl>
            <c:dLbl>
              <c:idx val="3"/>
              <c:numFmt formatCode="&quot;MMMM&quot;;&quot;MMMM&quot;;&quot;M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EF59-45B7-9D33-A7ED74C11309}"/>
                </c:ext>
              </c:extLst>
            </c:dLbl>
            <c:dLbl>
              <c:idx val="4"/>
              <c:numFmt formatCode="&quot;MMMM&quot;;&quot;MMMM&quot;;&quot;MMMM&quot;" sourceLinked="0"/>
              <c:spPr>
                <a:blipFill>
                  <a:blip xmlns:r="http://schemas.openxmlformats.org/officeDocument/2006/relationships"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EF59-45B7-9D33-A7ED74C11309}"/>
                </c:ext>
              </c:extLst>
            </c:dLbl>
            <c:dLbl>
              <c:idx val="5"/>
              <c:numFmt formatCode="&quot;MMM&quot;;&quot;MMM&quot;;&quot;MMM&quot;" sourceLinked="0"/>
              <c:spPr>
                <a:blipFill>
                  <a:blip xmlns:r="http://schemas.openxmlformats.org/officeDocument/2006/relationships"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EF59-45B7-9D33-A7ED74C1130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10.795485001713672</c:v>
              </c:pt>
              <c:pt idx="1">
                <c:v>11.4608507711956</c:v>
              </c:pt>
              <c:pt idx="2">
                <c:v>12.716990284613852</c:v>
              </c:pt>
              <c:pt idx="3">
                <c:v>10.858213453477482</c:v>
              </c:pt>
              <c:pt idx="4">
                <c:v>9.9842631870714875</c:v>
              </c:pt>
              <c:pt idx="5">
                <c:v>9.8268074961789473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B-EF59-45B7-9D33-A7ED74C11309}"/>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Routine Cognitive Wellness</c:v>
          </c:tx>
          <c:spPr>
            <a:solidFill>
              <a:srgbClr val="3D85C6"/>
            </a:solidFill>
          </c:spPr>
          <c:invertIfNegative val="0"/>
          <c:xVal>
            <c:numLit>
              <c:formatCode>General</c:formatCode>
              <c:ptCount val="1"/>
              <c:pt idx="0">
                <c:v>106.53594629128283</c:v>
              </c:pt>
            </c:numLit>
          </c:xVal>
          <c:yVal>
            <c:numLit>
              <c:formatCode>General</c:formatCode>
              <c:ptCount val="1"/>
              <c:pt idx="0">
                <c:v>86.726605504587155</c:v>
              </c:pt>
            </c:numLit>
          </c:yVal>
          <c:bubbleSize>
            <c:numLit>
              <c:formatCode>General</c:formatCode>
              <c:ptCount val="1"/>
              <c:pt idx="0">
                <c:v>3968.828</c:v>
              </c:pt>
            </c:numLit>
          </c:bubbleSize>
          <c:bubble3D val="0"/>
          <c:extLst>
            <c:ext xmlns:c16="http://schemas.microsoft.com/office/drawing/2014/chart" uri="{C3380CC4-5D6E-409C-BE32-E72D297353CC}">
              <c16:uniqueId val="{00000000-8B53-4FA7-85CE-FEE7073AC954}"/>
            </c:ext>
          </c:extLst>
        </c:ser>
        <c:ser>
          <c:idx val="1"/>
          <c:order val="1"/>
          <c:tx>
            <c:v>Preventive Cognitive Support for Senior Dogs</c:v>
          </c:tx>
          <c:spPr>
            <a:solidFill>
              <a:srgbClr val="9E7E0A"/>
            </a:solidFill>
          </c:spPr>
          <c:invertIfNegative val="0"/>
          <c:xVal>
            <c:numLit>
              <c:formatCode>General</c:formatCode>
              <c:ptCount val="1"/>
              <c:pt idx="0">
                <c:v>164.45180683407779</c:v>
              </c:pt>
            </c:numLit>
          </c:xVal>
          <c:yVal>
            <c:numLit>
              <c:formatCode>General</c:formatCode>
              <c:ptCount val="1"/>
              <c:pt idx="0">
                <c:v>31.835302752293575</c:v>
              </c:pt>
            </c:numLit>
          </c:yVal>
          <c:bubbleSize>
            <c:numLit>
              <c:formatCode>General</c:formatCode>
              <c:ptCount val="1"/>
              <c:pt idx="0">
                <c:v>1910.232</c:v>
              </c:pt>
            </c:numLit>
          </c:bubbleSize>
          <c:bubble3D val="0"/>
          <c:extLst>
            <c:ext xmlns:c16="http://schemas.microsoft.com/office/drawing/2014/chart" uri="{C3380CC4-5D6E-409C-BE32-E72D297353CC}">
              <c16:uniqueId val="{00000001-8B53-4FA7-85CE-FEE7073AC954}"/>
            </c:ext>
          </c:extLst>
        </c:ser>
        <c:ser>
          <c:idx val="2"/>
          <c:order val="2"/>
          <c:tx>
            <c:v>Support for Observable Age-Related Cognitive Changes</c:v>
          </c:tx>
          <c:spPr>
            <a:solidFill>
              <a:srgbClr val="008189"/>
            </a:solidFill>
          </c:spPr>
          <c:invertIfNegative val="0"/>
          <c:xVal>
            <c:numLit>
              <c:formatCode>General</c:formatCode>
              <c:ptCount val="1"/>
              <c:pt idx="0">
                <c:v>76.72514235269368</c:v>
              </c:pt>
            </c:numLit>
          </c:xVal>
          <c:yVal>
            <c:numLit>
              <c:formatCode>General</c:formatCode>
              <c:ptCount val="1"/>
              <c:pt idx="0">
                <c:v>251.66506422018347</c:v>
              </c:pt>
            </c:numLit>
          </c:yVal>
          <c:bubbleSize>
            <c:numLit>
              <c:formatCode>General</c:formatCode>
              <c:ptCount val="1"/>
              <c:pt idx="0">
                <c:v>9988.5040000000008</c:v>
              </c:pt>
            </c:numLit>
          </c:bubbleSize>
          <c:bubble3D val="0"/>
          <c:extLst>
            <c:ext xmlns:c16="http://schemas.microsoft.com/office/drawing/2014/chart" uri="{C3380CC4-5D6E-409C-BE32-E72D297353CC}">
              <c16:uniqueId val="{00000002-8B53-4FA7-85CE-FEE7073AC954}"/>
            </c:ext>
          </c:extLst>
        </c:ser>
        <c:ser>
          <c:idx val="3"/>
          <c:order val="3"/>
          <c:tx>
            <c:v>Veterinary-Guided Cognitive Dysfunction Support</c:v>
          </c:tx>
          <c:spPr>
            <a:solidFill>
              <a:srgbClr val="40315E"/>
            </a:solidFill>
          </c:spPr>
          <c:invertIfNegative val="0"/>
          <c:xVal>
            <c:numLit>
              <c:formatCode>General</c:formatCode>
              <c:ptCount val="1"/>
              <c:pt idx="0">
                <c:v>175.29634040153829</c:v>
              </c:pt>
            </c:numLit>
          </c:xVal>
          <c:yVal>
            <c:numLit>
              <c:formatCode>General</c:formatCode>
              <c:ptCount val="1"/>
              <c:pt idx="0">
                <c:v>29.773027522935781</c:v>
              </c:pt>
            </c:numLit>
          </c:yVal>
          <c:bubbleSize>
            <c:numLit>
              <c:formatCode>General</c:formatCode>
              <c:ptCount val="1"/>
              <c:pt idx="0">
                <c:v>1877.9449999999999</c:v>
              </c:pt>
            </c:numLit>
          </c:bubbleSize>
          <c:bubble3D val="0"/>
          <c:extLst>
            <c:ext xmlns:c16="http://schemas.microsoft.com/office/drawing/2014/chart" uri="{C3380CC4-5D6E-409C-BE32-E72D297353CC}">
              <c16:uniqueId val="{00000003-8B53-4FA7-85CE-FEE7073AC954}"/>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00"/>
          <c:min val="50"/>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325"/>
          <c:min val="0"/>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2363.3000000000002</c:v>
              </c:pt>
              <c:pt idx="2">
                <c:v>2618.2930000000001</c:v>
              </c:pt>
              <c:pt idx="3">
                <c:v>2902.5129999999999</c:v>
              </c:pt>
              <c:pt idx="4">
                <c:v>3219.5540000000001</c:v>
              </c:pt>
              <c:pt idx="5">
                <c:v>3573.4630000000002</c:v>
              </c:pt>
              <c:pt idx="6">
                <c:v>0</c:v>
              </c:pt>
            </c:numLit>
          </c:val>
          <c:extLst>
            <c:ext xmlns:c16="http://schemas.microsoft.com/office/drawing/2014/chart" uri="{C3380CC4-5D6E-409C-BE32-E72D297353CC}">
              <c16:uniqueId val="{00000000-0CA2-4496-BB99-34273591BD6F}"/>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0CA2-4496-BB99-34273591BD6F}"/>
              </c:ext>
            </c:extLst>
          </c:dPt>
          <c:dPt>
            <c:idx val="1"/>
            <c:invertIfNegative val="1"/>
            <c:bubble3D val="0"/>
            <c:spPr>
              <a:solidFill>
                <a:srgbClr val="008189"/>
              </a:solidFill>
            </c:spPr>
            <c:extLst>
              <c:ext xmlns:c16="http://schemas.microsoft.com/office/drawing/2014/chart" uri="{C3380CC4-5D6E-409C-BE32-E72D297353CC}">
                <c16:uniqueId val="{00000004-0CA2-4496-BB99-34273591BD6F}"/>
              </c:ext>
            </c:extLst>
          </c:dPt>
          <c:dPt>
            <c:idx val="2"/>
            <c:invertIfNegative val="1"/>
            <c:bubble3D val="0"/>
            <c:spPr>
              <a:solidFill>
                <a:srgbClr val="008189"/>
              </a:solidFill>
            </c:spPr>
            <c:extLst>
              <c:ext xmlns:c16="http://schemas.microsoft.com/office/drawing/2014/chart" uri="{C3380CC4-5D6E-409C-BE32-E72D297353CC}">
                <c16:uniqueId val="{00000006-0CA2-4496-BB99-34273591BD6F}"/>
              </c:ext>
            </c:extLst>
          </c:dPt>
          <c:dPt>
            <c:idx val="3"/>
            <c:invertIfNegative val="1"/>
            <c:bubble3D val="0"/>
            <c:spPr>
              <a:solidFill>
                <a:srgbClr val="008189"/>
              </a:solidFill>
            </c:spPr>
            <c:extLst>
              <c:ext xmlns:c16="http://schemas.microsoft.com/office/drawing/2014/chart" uri="{C3380CC4-5D6E-409C-BE32-E72D297353CC}">
                <c16:uniqueId val="{00000008-0CA2-4496-BB99-34273591BD6F}"/>
              </c:ext>
            </c:extLst>
          </c:dPt>
          <c:dPt>
            <c:idx val="4"/>
            <c:invertIfNegative val="1"/>
            <c:bubble3D val="0"/>
            <c:spPr>
              <a:solidFill>
                <a:srgbClr val="008189"/>
              </a:solidFill>
            </c:spPr>
            <c:extLst>
              <c:ext xmlns:c16="http://schemas.microsoft.com/office/drawing/2014/chart" uri="{C3380CC4-5D6E-409C-BE32-E72D297353CC}">
                <c16:uniqueId val="{0000000A-0CA2-4496-BB99-34273591BD6F}"/>
              </c:ext>
            </c:extLst>
          </c:dPt>
          <c:dPt>
            <c:idx val="5"/>
            <c:invertIfNegative val="1"/>
            <c:bubble3D val="0"/>
            <c:spPr>
              <a:solidFill>
                <a:srgbClr val="008189"/>
              </a:solidFill>
            </c:spPr>
            <c:extLst>
              <c:ext xmlns:c16="http://schemas.microsoft.com/office/drawing/2014/chart" uri="{C3380CC4-5D6E-409C-BE32-E72D297353CC}">
                <c16:uniqueId val="{0000000C-0CA2-4496-BB99-34273591BD6F}"/>
              </c:ext>
            </c:extLst>
          </c:dPt>
          <c:dPt>
            <c:idx val="6"/>
            <c:invertIfNegative val="1"/>
            <c:bubble3D val="0"/>
            <c:spPr>
              <a:solidFill>
                <a:srgbClr val="0E72AE"/>
              </a:solidFill>
            </c:spPr>
            <c:extLst>
              <c:ext xmlns:c16="http://schemas.microsoft.com/office/drawing/2014/chart" uri="{C3380CC4-5D6E-409C-BE32-E72D297353CC}">
                <c16:uniqueId val="{0000000E-0CA2-4496-BB99-34273591BD6F}"/>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CA2-4496-BB99-34273591BD6F}"/>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CA2-4496-BB99-34273591BD6F}"/>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CA2-4496-BB99-34273591BD6F}"/>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CA2-4496-BB99-34273591BD6F}"/>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CA2-4496-BB99-34273591BD6F}"/>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0CA2-4496-BB99-34273591BD6F}"/>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CA2-4496-BB99-34273591BD6F}"/>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2363.3000000000002</c:v>
              </c:pt>
              <c:pt idx="1">
                <c:v>254.99299999999994</c:v>
              </c:pt>
              <c:pt idx="2">
                <c:v>284.2199999999998</c:v>
              </c:pt>
              <c:pt idx="3">
                <c:v>317.04100000000017</c:v>
              </c:pt>
              <c:pt idx="4">
                <c:v>353.90900000000011</c:v>
              </c:pt>
              <c:pt idx="5">
                <c:v>395.36499999999978</c:v>
              </c:pt>
              <c:pt idx="6">
                <c:v>3968.828</c:v>
              </c:pt>
            </c:numLit>
          </c:val>
          <c:extLst>
            <c:ext xmlns:c16="http://schemas.microsoft.com/office/drawing/2014/chart" uri="{C3380CC4-5D6E-409C-BE32-E72D297353CC}">
              <c16:uniqueId val="{0000000F-0CA2-4496-BB99-34273591BD6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867.51199999999994</c:v>
              </c:pt>
              <c:pt idx="2">
                <c:v>1016.9059999999999</c:v>
              </c:pt>
              <c:pt idx="3">
                <c:v>1191.2529999999999</c:v>
              </c:pt>
              <c:pt idx="4">
                <c:v>1394.7829999999999</c:v>
              </c:pt>
              <c:pt idx="5">
                <c:v>1632.4880000000001</c:v>
              </c:pt>
              <c:pt idx="6">
                <c:v>0</c:v>
              </c:pt>
            </c:numLit>
          </c:val>
          <c:extLst>
            <c:ext xmlns:c16="http://schemas.microsoft.com/office/drawing/2014/chart" uri="{C3380CC4-5D6E-409C-BE32-E72D297353CC}">
              <c16:uniqueId val="{00000000-93E1-4BE1-8044-72D4F6C870D0}"/>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93E1-4BE1-8044-72D4F6C870D0}"/>
              </c:ext>
            </c:extLst>
          </c:dPt>
          <c:dPt>
            <c:idx val="1"/>
            <c:invertIfNegative val="1"/>
            <c:bubble3D val="0"/>
            <c:spPr>
              <a:solidFill>
                <a:srgbClr val="008189"/>
              </a:solidFill>
            </c:spPr>
            <c:extLst>
              <c:ext xmlns:c16="http://schemas.microsoft.com/office/drawing/2014/chart" uri="{C3380CC4-5D6E-409C-BE32-E72D297353CC}">
                <c16:uniqueId val="{00000004-93E1-4BE1-8044-72D4F6C870D0}"/>
              </c:ext>
            </c:extLst>
          </c:dPt>
          <c:dPt>
            <c:idx val="2"/>
            <c:invertIfNegative val="1"/>
            <c:bubble3D val="0"/>
            <c:spPr>
              <a:solidFill>
                <a:srgbClr val="008189"/>
              </a:solidFill>
            </c:spPr>
            <c:extLst>
              <c:ext xmlns:c16="http://schemas.microsoft.com/office/drawing/2014/chart" uri="{C3380CC4-5D6E-409C-BE32-E72D297353CC}">
                <c16:uniqueId val="{00000006-93E1-4BE1-8044-72D4F6C870D0}"/>
              </c:ext>
            </c:extLst>
          </c:dPt>
          <c:dPt>
            <c:idx val="3"/>
            <c:invertIfNegative val="1"/>
            <c:bubble3D val="0"/>
            <c:spPr>
              <a:solidFill>
                <a:srgbClr val="008189"/>
              </a:solidFill>
            </c:spPr>
            <c:extLst>
              <c:ext xmlns:c16="http://schemas.microsoft.com/office/drawing/2014/chart" uri="{C3380CC4-5D6E-409C-BE32-E72D297353CC}">
                <c16:uniqueId val="{00000008-93E1-4BE1-8044-72D4F6C870D0}"/>
              </c:ext>
            </c:extLst>
          </c:dPt>
          <c:dPt>
            <c:idx val="4"/>
            <c:invertIfNegative val="1"/>
            <c:bubble3D val="0"/>
            <c:spPr>
              <a:solidFill>
                <a:srgbClr val="008189"/>
              </a:solidFill>
            </c:spPr>
            <c:extLst>
              <c:ext xmlns:c16="http://schemas.microsoft.com/office/drawing/2014/chart" uri="{C3380CC4-5D6E-409C-BE32-E72D297353CC}">
                <c16:uniqueId val="{0000000A-93E1-4BE1-8044-72D4F6C870D0}"/>
              </c:ext>
            </c:extLst>
          </c:dPt>
          <c:dPt>
            <c:idx val="5"/>
            <c:invertIfNegative val="1"/>
            <c:bubble3D val="0"/>
            <c:spPr>
              <a:solidFill>
                <a:srgbClr val="008189"/>
              </a:solidFill>
            </c:spPr>
            <c:extLst>
              <c:ext xmlns:c16="http://schemas.microsoft.com/office/drawing/2014/chart" uri="{C3380CC4-5D6E-409C-BE32-E72D297353CC}">
                <c16:uniqueId val="{0000000C-93E1-4BE1-8044-72D4F6C870D0}"/>
              </c:ext>
            </c:extLst>
          </c:dPt>
          <c:dPt>
            <c:idx val="6"/>
            <c:invertIfNegative val="1"/>
            <c:bubble3D val="0"/>
            <c:spPr>
              <a:solidFill>
                <a:srgbClr val="0E72AE"/>
              </a:solidFill>
            </c:spPr>
            <c:extLst>
              <c:ext xmlns:c16="http://schemas.microsoft.com/office/drawing/2014/chart" uri="{C3380CC4-5D6E-409C-BE32-E72D297353CC}">
                <c16:uniqueId val="{0000000E-93E1-4BE1-8044-72D4F6C870D0}"/>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3E1-4BE1-8044-72D4F6C870D0}"/>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3E1-4BE1-8044-72D4F6C870D0}"/>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3E1-4BE1-8044-72D4F6C870D0}"/>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3E1-4BE1-8044-72D4F6C870D0}"/>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3E1-4BE1-8044-72D4F6C870D0}"/>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3E1-4BE1-8044-72D4F6C870D0}"/>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3E1-4BE1-8044-72D4F6C870D0}"/>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867.51199999999994</c:v>
              </c:pt>
              <c:pt idx="1">
                <c:v>149.39400000000001</c:v>
              </c:pt>
              <c:pt idx="2">
                <c:v>174.34699999999998</c:v>
              </c:pt>
              <c:pt idx="3">
                <c:v>203.52999999999997</c:v>
              </c:pt>
              <c:pt idx="4">
                <c:v>237.70500000000015</c:v>
              </c:pt>
              <c:pt idx="5">
                <c:v>277.74399999999991</c:v>
              </c:pt>
              <c:pt idx="6">
                <c:v>1910.232</c:v>
              </c:pt>
            </c:numLit>
          </c:val>
          <c:extLst>
            <c:ext xmlns:c16="http://schemas.microsoft.com/office/drawing/2014/chart" uri="{C3380CC4-5D6E-409C-BE32-E72D297353CC}">
              <c16:uniqueId val="{0000000F-93E1-4BE1-8044-72D4F6C870D0}"/>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6857.8729999999996</c:v>
              </c:pt>
              <c:pt idx="2">
                <c:v>7408.6509999999998</c:v>
              </c:pt>
              <c:pt idx="3">
                <c:v>7996.6729999999998</c:v>
              </c:pt>
              <c:pt idx="4">
                <c:v>8622.6419999999998</c:v>
              </c:pt>
              <c:pt idx="5">
                <c:v>9286.7559999999994</c:v>
              </c:pt>
              <c:pt idx="6">
                <c:v>0</c:v>
              </c:pt>
            </c:numLit>
          </c:val>
          <c:extLst>
            <c:ext xmlns:c16="http://schemas.microsoft.com/office/drawing/2014/chart" uri="{C3380CC4-5D6E-409C-BE32-E72D297353CC}">
              <c16:uniqueId val="{00000000-2672-4198-AA05-18766115C84E}"/>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2672-4198-AA05-18766115C84E}"/>
              </c:ext>
            </c:extLst>
          </c:dPt>
          <c:dPt>
            <c:idx val="1"/>
            <c:invertIfNegative val="1"/>
            <c:bubble3D val="0"/>
            <c:spPr>
              <a:solidFill>
                <a:srgbClr val="008189"/>
              </a:solidFill>
            </c:spPr>
            <c:extLst>
              <c:ext xmlns:c16="http://schemas.microsoft.com/office/drawing/2014/chart" uri="{C3380CC4-5D6E-409C-BE32-E72D297353CC}">
                <c16:uniqueId val="{00000004-2672-4198-AA05-18766115C84E}"/>
              </c:ext>
            </c:extLst>
          </c:dPt>
          <c:dPt>
            <c:idx val="2"/>
            <c:invertIfNegative val="1"/>
            <c:bubble3D val="0"/>
            <c:spPr>
              <a:solidFill>
                <a:srgbClr val="008189"/>
              </a:solidFill>
            </c:spPr>
            <c:extLst>
              <c:ext xmlns:c16="http://schemas.microsoft.com/office/drawing/2014/chart" uri="{C3380CC4-5D6E-409C-BE32-E72D297353CC}">
                <c16:uniqueId val="{00000006-2672-4198-AA05-18766115C84E}"/>
              </c:ext>
            </c:extLst>
          </c:dPt>
          <c:dPt>
            <c:idx val="3"/>
            <c:invertIfNegative val="1"/>
            <c:bubble3D val="0"/>
            <c:spPr>
              <a:solidFill>
                <a:srgbClr val="008189"/>
              </a:solidFill>
            </c:spPr>
            <c:extLst>
              <c:ext xmlns:c16="http://schemas.microsoft.com/office/drawing/2014/chart" uri="{C3380CC4-5D6E-409C-BE32-E72D297353CC}">
                <c16:uniqueId val="{00000008-2672-4198-AA05-18766115C84E}"/>
              </c:ext>
            </c:extLst>
          </c:dPt>
          <c:dPt>
            <c:idx val="4"/>
            <c:invertIfNegative val="1"/>
            <c:bubble3D val="0"/>
            <c:spPr>
              <a:solidFill>
                <a:srgbClr val="008189"/>
              </a:solidFill>
            </c:spPr>
            <c:extLst>
              <c:ext xmlns:c16="http://schemas.microsoft.com/office/drawing/2014/chart" uri="{C3380CC4-5D6E-409C-BE32-E72D297353CC}">
                <c16:uniqueId val="{0000000A-2672-4198-AA05-18766115C84E}"/>
              </c:ext>
            </c:extLst>
          </c:dPt>
          <c:dPt>
            <c:idx val="5"/>
            <c:invertIfNegative val="1"/>
            <c:bubble3D val="0"/>
            <c:spPr>
              <a:solidFill>
                <a:srgbClr val="008189"/>
              </a:solidFill>
            </c:spPr>
            <c:extLst>
              <c:ext xmlns:c16="http://schemas.microsoft.com/office/drawing/2014/chart" uri="{C3380CC4-5D6E-409C-BE32-E72D297353CC}">
                <c16:uniqueId val="{0000000C-2672-4198-AA05-18766115C84E}"/>
              </c:ext>
            </c:extLst>
          </c:dPt>
          <c:dPt>
            <c:idx val="6"/>
            <c:invertIfNegative val="1"/>
            <c:bubble3D val="0"/>
            <c:spPr>
              <a:solidFill>
                <a:srgbClr val="0E72AE"/>
              </a:solidFill>
            </c:spPr>
            <c:extLst>
              <c:ext xmlns:c16="http://schemas.microsoft.com/office/drawing/2014/chart" uri="{C3380CC4-5D6E-409C-BE32-E72D297353CC}">
                <c16:uniqueId val="{0000000E-2672-4198-AA05-18766115C84E}"/>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672-4198-AA05-18766115C84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672-4198-AA05-18766115C84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672-4198-AA05-18766115C84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672-4198-AA05-18766115C84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672-4198-AA05-18766115C84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672-4198-AA05-18766115C84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672-4198-AA05-18766115C84E}"/>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6857.8729999999996</c:v>
              </c:pt>
              <c:pt idx="1">
                <c:v>550.77800000000025</c:v>
              </c:pt>
              <c:pt idx="2">
                <c:v>588.02199999999993</c:v>
              </c:pt>
              <c:pt idx="3">
                <c:v>625.96900000000005</c:v>
              </c:pt>
              <c:pt idx="4">
                <c:v>664.11399999999958</c:v>
              </c:pt>
              <c:pt idx="5">
                <c:v>701.74800000000141</c:v>
              </c:pt>
              <c:pt idx="6">
                <c:v>9988.5040000000008</c:v>
              </c:pt>
            </c:numLit>
          </c:val>
          <c:extLst>
            <c:ext xmlns:c16="http://schemas.microsoft.com/office/drawing/2014/chart" uri="{C3380CC4-5D6E-409C-BE32-E72D297353CC}">
              <c16:uniqueId val="{0000000F-2672-4198-AA05-18766115C84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811.31500000000005</c:v>
              </c:pt>
              <c:pt idx="2">
                <c:v>962.20600000000002</c:v>
              </c:pt>
              <c:pt idx="3">
                <c:v>1139.328</c:v>
              </c:pt>
              <c:pt idx="4">
                <c:v>1347.249</c:v>
              </c:pt>
              <c:pt idx="5">
                <c:v>1591.3340000000001</c:v>
              </c:pt>
              <c:pt idx="6">
                <c:v>0</c:v>
              </c:pt>
            </c:numLit>
          </c:val>
          <c:extLst>
            <c:ext xmlns:c16="http://schemas.microsoft.com/office/drawing/2014/chart" uri="{C3380CC4-5D6E-409C-BE32-E72D297353CC}">
              <c16:uniqueId val="{00000000-FE2E-4AC5-B781-99A8C3F07E93}"/>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FE2E-4AC5-B781-99A8C3F07E93}"/>
              </c:ext>
            </c:extLst>
          </c:dPt>
          <c:dPt>
            <c:idx val="1"/>
            <c:invertIfNegative val="1"/>
            <c:bubble3D val="0"/>
            <c:spPr>
              <a:solidFill>
                <a:srgbClr val="008189"/>
              </a:solidFill>
            </c:spPr>
            <c:extLst>
              <c:ext xmlns:c16="http://schemas.microsoft.com/office/drawing/2014/chart" uri="{C3380CC4-5D6E-409C-BE32-E72D297353CC}">
                <c16:uniqueId val="{00000004-FE2E-4AC5-B781-99A8C3F07E93}"/>
              </c:ext>
            </c:extLst>
          </c:dPt>
          <c:dPt>
            <c:idx val="2"/>
            <c:invertIfNegative val="1"/>
            <c:bubble3D val="0"/>
            <c:spPr>
              <a:solidFill>
                <a:srgbClr val="008189"/>
              </a:solidFill>
            </c:spPr>
            <c:extLst>
              <c:ext xmlns:c16="http://schemas.microsoft.com/office/drawing/2014/chart" uri="{C3380CC4-5D6E-409C-BE32-E72D297353CC}">
                <c16:uniqueId val="{00000006-FE2E-4AC5-B781-99A8C3F07E93}"/>
              </c:ext>
            </c:extLst>
          </c:dPt>
          <c:dPt>
            <c:idx val="3"/>
            <c:invertIfNegative val="1"/>
            <c:bubble3D val="0"/>
            <c:spPr>
              <a:solidFill>
                <a:srgbClr val="008189"/>
              </a:solidFill>
            </c:spPr>
            <c:extLst>
              <c:ext xmlns:c16="http://schemas.microsoft.com/office/drawing/2014/chart" uri="{C3380CC4-5D6E-409C-BE32-E72D297353CC}">
                <c16:uniqueId val="{00000008-FE2E-4AC5-B781-99A8C3F07E93}"/>
              </c:ext>
            </c:extLst>
          </c:dPt>
          <c:dPt>
            <c:idx val="4"/>
            <c:invertIfNegative val="1"/>
            <c:bubble3D val="0"/>
            <c:spPr>
              <a:solidFill>
                <a:srgbClr val="008189"/>
              </a:solidFill>
            </c:spPr>
            <c:extLst>
              <c:ext xmlns:c16="http://schemas.microsoft.com/office/drawing/2014/chart" uri="{C3380CC4-5D6E-409C-BE32-E72D297353CC}">
                <c16:uniqueId val="{0000000A-FE2E-4AC5-B781-99A8C3F07E93}"/>
              </c:ext>
            </c:extLst>
          </c:dPt>
          <c:dPt>
            <c:idx val="5"/>
            <c:invertIfNegative val="1"/>
            <c:bubble3D val="0"/>
            <c:spPr>
              <a:solidFill>
                <a:srgbClr val="008189"/>
              </a:solidFill>
            </c:spPr>
            <c:extLst>
              <c:ext xmlns:c16="http://schemas.microsoft.com/office/drawing/2014/chart" uri="{C3380CC4-5D6E-409C-BE32-E72D297353CC}">
                <c16:uniqueId val="{0000000C-FE2E-4AC5-B781-99A8C3F07E93}"/>
              </c:ext>
            </c:extLst>
          </c:dPt>
          <c:dPt>
            <c:idx val="6"/>
            <c:invertIfNegative val="1"/>
            <c:bubble3D val="0"/>
            <c:spPr>
              <a:solidFill>
                <a:srgbClr val="0E72AE"/>
              </a:solidFill>
            </c:spPr>
            <c:extLst>
              <c:ext xmlns:c16="http://schemas.microsoft.com/office/drawing/2014/chart" uri="{C3380CC4-5D6E-409C-BE32-E72D297353CC}">
                <c16:uniqueId val="{0000000E-FE2E-4AC5-B781-99A8C3F07E93}"/>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E2E-4AC5-B781-99A8C3F07E93}"/>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E2E-4AC5-B781-99A8C3F07E93}"/>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E2E-4AC5-B781-99A8C3F07E93}"/>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E2E-4AC5-B781-99A8C3F07E93}"/>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E2E-4AC5-B781-99A8C3F07E93}"/>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E2E-4AC5-B781-99A8C3F07E93}"/>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E2E-4AC5-B781-99A8C3F07E93}"/>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811.31500000000005</c:v>
              </c:pt>
              <c:pt idx="1">
                <c:v>150.89099999999996</c:v>
              </c:pt>
              <c:pt idx="2">
                <c:v>177.12199999999996</c:v>
              </c:pt>
              <c:pt idx="3">
                <c:v>207.92100000000005</c:v>
              </c:pt>
              <c:pt idx="4">
                <c:v>244.08500000000004</c:v>
              </c:pt>
              <c:pt idx="5">
                <c:v>286.61099999999988</c:v>
              </c:pt>
              <c:pt idx="6">
                <c:v>1877.9449999999999</c:v>
              </c:pt>
            </c:numLit>
          </c:val>
          <c:extLst>
            <c:ext xmlns:c16="http://schemas.microsoft.com/office/drawing/2014/chart" uri="{C3380CC4-5D6E-409C-BE32-E72D297353CC}">
              <c16:uniqueId val="{0000000F-FE2E-4AC5-B781-99A8C3F07E9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Support for Observable Age-Related Cognitive Changes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72-4F78-A8AE-92133901B416}"/>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A72-4F78-A8AE-92133901B416}"/>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A72-4F78-A8AE-92133901B416}"/>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65.722415720765937</c:v>
              </c:pt>
              <c:pt idx="1">
                <c:v>62.916266055045867</c:v>
              </c:pt>
              <c:pt idx="2">
                <c:v>56.28750350299898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1A72-4F78-A8AE-92133901B416}"/>
            </c:ext>
          </c:extLst>
        </c:ser>
        <c:ser>
          <c:idx val="1"/>
          <c:order val="1"/>
          <c:tx>
            <c:v>Routine Cognitive Wellness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A72-4F78-A8AE-92133901B416}"/>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A72-4F78-A8AE-92133901B416}"/>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A72-4F78-A8AE-92133901B416}"/>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21.383869860638402</c:v>
              </c:pt>
              <c:pt idx="1">
                <c:v>21.681651376146789</c:v>
              </c:pt>
              <c:pt idx="2">
                <c:v>22.365253090232574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1A72-4F78-A8AE-92133901B416}"/>
            </c:ext>
          </c:extLst>
        </c:ser>
        <c:ser>
          <c:idx val="2"/>
          <c:order val="2"/>
          <c:tx>
            <c:v>Preventive Cognitive Support for Senior Dogs</c:v>
          </c:tx>
          <c:spPr>
            <a:solidFill>
              <a:srgbClr val="008189"/>
            </a:solidFill>
            <a:ln>
              <a:noFill/>
            </a:ln>
          </c:spPr>
          <c:invertIfNegative val="1"/>
          <c:dLbls>
            <c:dLbl>
              <c:idx val="0"/>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A72-4F78-A8AE-92133901B416}"/>
                </c:ext>
              </c:extLst>
            </c:dLbl>
            <c:dLbl>
              <c:idx val="1"/>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A72-4F78-A8AE-92133901B416}"/>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A72-4F78-A8AE-92133901B416}"/>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6.7733032315092299</c:v>
              </c:pt>
              <c:pt idx="1">
                <c:v>7.9588256880733939</c:v>
              </c:pt>
              <c:pt idx="2">
                <c:v>10.764594016435368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1A72-4F78-A8AE-92133901B416}"/>
            </c:ext>
          </c:extLst>
        </c:ser>
        <c:ser>
          <c:idx val="3"/>
          <c:order val="3"/>
          <c:tx>
            <c:v>Veterinary-Guided Cognitive Dysfunction Support</c:v>
          </c:tx>
          <c:spPr>
            <a:solidFill>
              <a:srgbClr val="40315E"/>
            </a:solidFill>
            <a:ln>
              <a:noFill/>
            </a:ln>
          </c:spPr>
          <c:invertIfNegative val="1"/>
          <c:dLbls>
            <c:dLbl>
              <c:idx val="0"/>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A72-4F78-A8AE-92133901B416}"/>
                </c:ext>
              </c:extLst>
            </c:dLbl>
            <c:dLbl>
              <c:idx val="1"/>
              <c:numFmt formatCode="&quot;MMM&quot;;&quot;MMM&quot;;&quot;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A72-4F78-A8AE-92133901B416}"/>
                </c:ext>
              </c:extLst>
            </c:dLbl>
            <c:dLbl>
              <c:idx val="2"/>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1A72-4F78-A8AE-92133901B416}"/>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6.1204111870864431</c:v>
              </c:pt>
              <c:pt idx="1">
                <c:v>7.4432568807339452</c:v>
              </c:pt>
              <c:pt idx="2">
                <c:v>10.582649390333069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1A72-4F78-A8AE-92133901B416}"/>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Bottles</c:v>
          </c:tx>
          <c:spPr>
            <a:solidFill>
              <a:srgbClr val="3D85C6"/>
            </a:solidFill>
            <a:ln>
              <a:noFill/>
            </a:ln>
          </c:spPr>
          <c:invertIfNegative val="1"/>
          <c:dLbls>
            <c:dLbl>
              <c:idx val="0"/>
              <c:numFmt formatCode="&quot;MMM&quot;;&quot;MMM&quot;;&quot;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D1C-407C-AA21-A828E2FBC614}"/>
                </c:ext>
              </c:extLst>
            </c:dLbl>
            <c:dLbl>
              <c:idx val="1"/>
              <c:numFmt formatCode="&quot;MMM&quot;;&quot;MMM&quot;;&quot;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D1C-407C-AA21-A828E2FBC614}"/>
                </c:ext>
              </c:extLst>
            </c:dLbl>
            <c:dLbl>
              <c:idx val="2"/>
              <c:numFmt formatCode="&quot;MMM&quot;;&quot;MMM&quot;;&quot;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D1C-407C-AA21-A828E2FBC614}"/>
                </c:ext>
              </c:extLst>
            </c:dLbl>
            <c:dLbl>
              <c:idx val="3"/>
              <c:numFmt formatCode="&quot;MMM&quot;;&quot;MMM&quot;;&quot;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D1C-407C-AA21-A828E2FBC614}"/>
                </c:ext>
              </c:extLst>
            </c:dLbl>
            <c:dLbl>
              <c:idx val="4"/>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D1C-407C-AA21-A828E2FBC614}"/>
                </c:ext>
              </c:extLst>
            </c:dLbl>
            <c:dLbl>
              <c:idx val="5"/>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D1C-407C-AA21-A828E2FBC6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8.5126462509563261</c:v>
              </c:pt>
              <c:pt idx="1">
                <c:v>6.9377476503913291</c:v>
              </c:pt>
              <c:pt idx="2">
                <c:v>7.8819168172799641</c:v>
              </c:pt>
              <c:pt idx="3">
                <c:v>7.6721955502475669</c:v>
              </c:pt>
              <c:pt idx="4">
                <c:v>8.0055819505855776</c:v>
              </c:pt>
              <c:pt idx="5">
                <c:v>6.3728019361754038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1D1C-407C-AA21-A828E2FBC614}"/>
            </c:ext>
          </c:extLst>
        </c:ser>
        <c:ser>
          <c:idx val="1"/>
          <c:order val="1"/>
          <c:tx>
            <c:v>Jars and Tubs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D1C-407C-AA21-A828E2FBC614}"/>
                </c:ext>
              </c:extLst>
            </c:dLbl>
            <c:dLbl>
              <c:idx val="1"/>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D1C-407C-AA21-A828E2FBC614}"/>
                </c:ext>
              </c:extLst>
            </c:dLbl>
            <c:dLbl>
              <c:idx val="2"/>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D1C-407C-AA21-A828E2FBC614}"/>
                </c:ext>
              </c:extLst>
            </c:dLbl>
            <c:dLbl>
              <c:idx val="3"/>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D1C-407C-AA21-A828E2FBC614}"/>
                </c:ext>
              </c:extLst>
            </c:dLbl>
            <c:dLbl>
              <c:idx val="4"/>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D1C-407C-AA21-A828E2FBC614}"/>
                </c:ext>
              </c:extLst>
            </c:dLbl>
            <c:dLbl>
              <c:idx val="5"/>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D1C-407C-AA21-A828E2FBC6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10.069407784132533</c:v>
              </c:pt>
              <c:pt idx="1">
                <c:v>9.2257916625732719</c:v>
              </c:pt>
              <c:pt idx="2">
                <c:v>9.1930587849118375</c:v>
              </c:pt>
              <c:pt idx="3">
                <c:v>9.5323011271939944</c:v>
              </c:pt>
              <c:pt idx="4">
                <c:v>9.8873543227385596</c:v>
              </c:pt>
              <c:pt idx="5">
                <c:v>11.140518049463186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D-1D1C-407C-AA21-A828E2FBC614}"/>
            </c:ext>
          </c:extLst>
        </c:ser>
        <c:ser>
          <c:idx val="2"/>
          <c:order val="2"/>
          <c:tx>
            <c:v>Pouches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1D1C-407C-AA21-A828E2FBC614}"/>
                </c:ext>
              </c:extLst>
            </c:dLbl>
            <c:dLbl>
              <c:idx val="1"/>
              <c:numFmt formatCode="&quot;MMMM&quot;;&quot;MMMM&quot;;&quot;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1D1C-407C-AA21-A828E2FBC614}"/>
                </c:ext>
              </c:extLst>
            </c:dLbl>
            <c:dLbl>
              <c:idx val="2"/>
              <c:numFmt formatCode="&quot;MMMM&quot;;&quot;MMMM&quot;;&quot;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1D1C-407C-AA21-A828E2FBC614}"/>
                </c:ext>
              </c:extLst>
            </c:dLbl>
            <c:dLbl>
              <c:idx val="3"/>
              <c:numFmt formatCode="&quot;MMMM&quot;;&quot;MMMM&quot;;&quot;M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1D1C-407C-AA21-A828E2FBC614}"/>
                </c:ext>
              </c:extLst>
            </c:dLbl>
            <c:dLbl>
              <c:idx val="4"/>
              <c:numFmt formatCode="&quot;MMMM&quot;;&quot;MMMM&quot;;&quot;M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1D1C-407C-AA21-A828E2FBC614}"/>
                </c:ext>
              </c:extLst>
            </c:dLbl>
            <c:dLbl>
              <c:idx val="5"/>
              <c:numFmt formatCode="&quot;MMMM&quot;;&quot;MMMM&quot;;&quot;M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1D1C-407C-AA21-A828E2FBC6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22.091264820015695</c:v>
              </c:pt>
              <c:pt idx="1">
                <c:v>24.614402200609099</c:v>
              </c:pt>
              <c:pt idx="2">
                <c:v>26.328692043332452</c:v>
              </c:pt>
              <c:pt idx="3">
                <c:v>20.891912176780249</c:v>
              </c:pt>
              <c:pt idx="4">
                <c:v>23.643270955009172</c:v>
              </c:pt>
              <c:pt idx="5">
                <c:v>25.135105246660245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1D1C-407C-AA21-A828E2FBC614}"/>
            </c:ext>
          </c:extLst>
        </c:ser>
        <c:ser>
          <c:idx val="3"/>
          <c:order val="3"/>
          <c:tx>
            <c:v>Sachets</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1D1C-407C-AA21-A828E2FBC614}"/>
                </c:ext>
              </c:extLst>
            </c:dLbl>
            <c:dLbl>
              <c:idx val="1"/>
              <c:numFmt formatCode="&quot;MMMM&quot;;&quot;MMMM&quot;;&quot;M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1D1C-407C-AA21-A828E2FBC614}"/>
                </c:ext>
              </c:extLst>
            </c:dLbl>
            <c:dLbl>
              <c:idx val="2"/>
              <c:numFmt formatCode="&quot;MMMM&quot;;&quot;MMMM&quot;;&quot;M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1D1C-407C-AA21-A828E2FBC614}"/>
                </c:ext>
              </c:extLst>
            </c:dLbl>
            <c:dLbl>
              <c:idx val="3"/>
              <c:numFmt formatCode="&quot;MMMM&quot;;&quot;MMMM&quot;;&quot;M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1D1C-407C-AA21-A828E2FBC614}"/>
                </c:ext>
              </c:extLst>
            </c:dLbl>
            <c:dLbl>
              <c:idx val="4"/>
              <c:numFmt formatCode="&quot;MMMM&quot;;&quot;MMMM&quot;;&quot;M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1D1C-407C-AA21-A828E2FBC614}"/>
                </c:ext>
              </c:extLst>
            </c:dLbl>
            <c:dLbl>
              <c:idx val="5"/>
              <c:numFmt formatCode="&quot;MMMM&quot;;&quot;MMMM&quot;;&quot;MMMM&quot;" sourceLinked="0"/>
              <c:spPr>
                <a:blipFill>
                  <a:blip xmlns:r="http://schemas.openxmlformats.org/officeDocument/2006/relationships"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1D1C-407C-AA21-A828E2FBC6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20.133049183203742</c:v>
              </c:pt>
              <c:pt idx="1">
                <c:v>17.818777221076072</c:v>
              </c:pt>
              <c:pt idx="2">
                <c:v>19.198479538312622</c:v>
              </c:pt>
              <c:pt idx="3">
                <c:v>20.20951194967358</c:v>
              </c:pt>
              <c:pt idx="4">
                <c:v>18.499209994982497</c:v>
              </c:pt>
              <c:pt idx="5">
                <c:v>17.523594148882712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B-1D1C-407C-AA21-A828E2FBC614}"/>
            </c:ext>
          </c:extLst>
        </c:ser>
        <c:ser>
          <c:idx val="4"/>
          <c:order val="4"/>
          <c:tx>
            <c:v>Blister Packs</c:v>
          </c:tx>
          <c:spPr>
            <a:solidFill>
              <a:srgbClr val="A35313"/>
            </a:solidFill>
            <a:ln>
              <a:noFill/>
            </a:ln>
          </c:spPr>
          <c:invertIfNegative val="1"/>
          <c:dLbls>
            <c:dLbl>
              <c:idx val="0"/>
              <c:numFmt formatCode="&quot;MMMM&quot;;&quot;MMMM&quot;;&quot;MMMM&quot;" sourceLinked="0"/>
              <c:spPr>
                <a:blipFill>
                  <a:blip xmlns:r="http://schemas.openxmlformats.org/officeDocument/2006/relationships"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1D1C-407C-AA21-A828E2FBC614}"/>
                </c:ext>
              </c:extLst>
            </c:dLbl>
            <c:dLbl>
              <c:idx val="1"/>
              <c:numFmt formatCode="&quot;MMMM&quot;;&quot;MMMM&quot;;&quot;MMMM&quot;" sourceLinked="0"/>
              <c:spPr>
                <a:blipFill>
                  <a:blip xmlns:r="http://schemas.openxmlformats.org/officeDocument/2006/relationships"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1D1C-407C-AA21-A828E2FBC614}"/>
                </c:ext>
              </c:extLst>
            </c:dLbl>
            <c:dLbl>
              <c:idx val="2"/>
              <c:numFmt formatCode="&quot;MMMM&quot;;&quot;MMMM&quot;;&quot;MMMM&quot;" sourceLinked="0"/>
              <c:spPr>
                <a:blipFill>
                  <a:blip xmlns:r="http://schemas.openxmlformats.org/officeDocument/2006/relationships"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1D1C-407C-AA21-A828E2FBC614}"/>
                </c:ext>
              </c:extLst>
            </c:dLbl>
            <c:dLbl>
              <c:idx val="3"/>
              <c:numFmt formatCode="&quot;MMMM&quot;;&quot;MMMM&quot;;&quot;M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1D1C-407C-AA21-A828E2FBC614}"/>
                </c:ext>
              </c:extLst>
            </c:dLbl>
            <c:dLbl>
              <c:idx val="4"/>
              <c:numFmt formatCode="&quot;MMMM&quot;;&quot;MMMM&quot;;&quot;MMMM&quot;" sourceLinked="0"/>
              <c:spPr>
                <a:blipFill>
                  <a:blip xmlns:r="http://schemas.openxmlformats.org/officeDocument/2006/relationships"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1D1C-407C-AA21-A828E2FBC614}"/>
                </c:ext>
              </c:extLst>
            </c:dLbl>
            <c:dLbl>
              <c:idx val="5"/>
              <c:numFmt formatCode="&quot;MMMM&quot;;&quot;MMMM&quot;;&quot;MMMM&quot;" sourceLinked="0"/>
              <c:spPr>
                <a:blipFill>
                  <a:blip xmlns:r="http://schemas.openxmlformats.org/officeDocument/2006/relationships"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1D1C-407C-AA21-A828E2FBC6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16.675979513901861</c:v>
              </c:pt>
              <c:pt idx="1">
                <c:v>19.32508104921898</c:v>
              </c:pt>
              <c:pt idx="2">
                <c:v>19.817647092607409</c:v>
              </c:pt>
              <c:pt idx="3">
                <c:v>20.151222966809847</c:v>
              </c:pt>
              <c:pt idx="4">
                <c:v>19.852037963750945</c:v>
              </c:pt>
              <c:pt idx="5">
                <c:v>19.786170378503911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2-1D1C-407C-AA21-A828E2FBC614}"/>
            </c:ext>
          </c:extLst>
        </c:ser>
        <c:ser>
          <c:idx val="5"/>
          <c:order val="5"/>
          <c:tx>
            <c:v>Canisters</c:v>
          </c:tx>
          <c:spPr>
            <a:solidFill>
              <a:srgbClr val="808080"/>
            </a:solidFill>
            <a:ln>
              <a:noFill/>
            </a:ln>
          </c:spPr>
          <c:invertIfNegative val="1"/>
          <c:dLbls>
            <c:dLbl>
              <c:idx val="0"/>
              <c:numFmt formatCode="&quot;MMMM&quot;;&quot;MMMM&quot;;&quot;MMMM&quot;" sourceLinked="0"/>
              <c:spPr>
                <a:blipFill>
                  <a:blip xmlns:r="http://schemas.openxmlformats.org/officeDocument/2006/relationships"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1D1C-407C-AA21-A828E2FBC614}"/>
                </c:ext>
              </c:extLst>
            </c:dLbl>
            <c:dLbl>
              <c:idx val="1"/>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1D1C-407C-AA21-A828E2FBC614}"/>
                </c:ext>
              </c:extLst>
            </c:dLbl>
            <c:dLbl>
              <c:idx val="2"/>
              <c:numFmt formatCode="&quot;MMMM&quot;;&quot;MMMM&quot;;&quot;MMMM&quot;" sourceLinked="0"/>
              <c:spPr>
                <a:blipFill>
                  <a:blip xmlns:r="http://schemas.openxmlformats.org/officeDocument/2006/relationships"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1D1C-407C-AA21-A828E2FBC614}"/>
                </c:ext>
              </c:extLst>
            </c:dLbl>
            <c:dLbl>
              <c:idx val="3"/>
              <c:numFmt formatCode="&quot;MMMM&quot;;&quot;MMMM&quot;;&quot;MMMM&quot;" sourceLinked="0"/>
              <c:spPr>
                <a:blipFill>
                  <a:blip xmlns:r="http://schemas.openxmlformats.org/officeDocument/2006/relationships"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1D1C-407C-AA21-A828E2FBC614}"/>
                </c:ext>
              </c:extLst>
            </c:dLbl>
            <c:dLbl>
              <c:idx val="4"/>
              <c:numFmt formatCode="&quot;MMMM&quot;;&quot;MMMM&quot;;&quot;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1D1C-407C-AA21-A828E2FBC614}"/>
                </c:ext>
              </c:extLst>
            </c:dLbl>
            <c:dLbl>
              <c:idx val="5"/>
              <c:numFmt formatCode="&quot;MMMM&quot;;&quot;MMMM&quot;;&quot;MMMM&quot;" sourceLinked="0"/>
              <c:spPr>
                <a:blipFill>
                  <a:blip xmlns:r="http://schemas.openxmlformats.org/officeDocument/2006/relationships"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1D1C-407C-AA21-A828E2FBC6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22.517652447789853</c:v>
              </c:pt>
              <c:pt idx="1">
                <c:v>22.078200216131254</c:v>
              </c:pt>
              <c:pt idx="2">
                <c:v>17.580205723555714</c:v>
              </c:pt>
              <c:pt idx="3">
                <c:v>21.542856229294774</c:v>
              </c:pt>
              <c:pt idx="4">
                <c:v>20.112544812933262</c:v>
              </c:pt>
              <c:pt idx="5">
                <c:v>20.041810240314547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9-1D1C-407C-AA21-A828E2FBC614}"/>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Bottles</c:v>
          </c:tx>
          <c:spPr>
            <a:solidFill>
              <a:srgbClr val="3D85C6"/>
            </a:solidFill>
          </c:spPr>
          <c:invertIfNegative val="0"/>
          <c:xVal>
            <c:numLit>
              <c:formatCode>General</c:formatCode>
              <c:ptCount val="1"/>
              <c:pt idx="0">
                <c:v>75.184062917893471</c:v>
              </c:pt>
            </c:numLit>
          </c:xVal>
          <c:yVal>
            <c:numLit>
              <c:formatCode>General</c:formatCode>
              <c:ptCount val="1"/>
              <c:pt idx="0">
                <c:v>49.978458715596332</c:v>
              </c:pt>
            </c:numLit>
          </c:yVal>
          <c:bubbleSize>
            <c:numLit>
              <c:formatCode>General</c:formatCode>
              <c:ptCount val="1"/>
              <c:pt idx="0">
                <c:v>1312.6489999999999</c:v>
              </c:pt>
            </c:numLit>
          </c:bubbleSize>
          <c:bubble3D val="0"/>
          <c:extLst>
            <c:ext xmlns:c16="http://schemas.microsoft.com/office/drawing/2014/chart" uri="{C3380CC4-5D6E-409C-BE32-E72D297353CC}">
              <c16:uniqueId val="{00000000-51C3-40F5-AF56-ACAB78B4E1E7}"/>
            </c:ext>
          </c:extLst>
        </c:ser>
        <c:ser>
          <c:idx val="1"/>
          <c:order val="1"/>
          <c:tx>
            <c:v>Jars and Tubs</c:v>
          </c:tx>
          <c:spPr>
            <a:solidFill>
              <a:srgbClr val="9E7E0A"/>
            </a:solidFill>
          </c:spPr>
          <c:invertIfNegative val="0"/>
          <c:xVal>
            <c:numLit>
              <c:formatCode>General</c:formatCode>
              <c:ptCount val="1"/>
              <c:pt idx="0">
                <c:v>140.95335048304739</c:v>
              </c:pt>
            </c:numLit>
          </c:xVal>
          <c:yVal>
            <c:numLit>
              <c:formatCode>General</c:formatCode>
              <c:ptCount val="1"/>
              <c:pt idx="0">
                <c:v>49.898752293577985</c:v>
              </c:pt>
            </c:numLit>
          </c:yVal>
          <c:bubbleSize>
            <c:numLit>
              <c:formatCode>General</c:formatCode>
              <c:ptCount val="1"/>
              <c:pt idx="0">
                <c:v>1789.854</c:v>
              </c:pt>
            </c:numLit>
          </c:bubbleSize>
          <c:bubble3D val="0"/>
          <c:extLst>
            <c:ext xmlns:c16="http://schemas.microsoft.com/office/drawing/2014/chart" uri="{C3380CC4-5D6E-409C-BE32-E72D297353CC}">
              <c16:uniqueId val="{00000001-51C3-40F5-AF56-ACAB78B4E1E7}"/>
            </c:ext>
          </c:extLst>
        </c:ser>
        <c:ser>
          <c:idx val="2"/>
          <c:order val="2"/>
          <c:tx>
            <c:v>Pouches</c:v>
          </c:tx>
          <c:spPr>
            <a:solidFill>
              <a:srgbClr val="008189"/>
            </a:solidFill>
          </c:spPr>
          <c:invertIfNegative val="0"/>
          <c:xVal>
            <c:numLit>
              <c:formatCode>General</c:formatCode>
              <c:ptCount val="1"/>
              <c:pt idx="0">
                <c:v>161.7366340723265</c:v>
              </c:pt>
            </c:numLit>
          </c:xVal>
          <c:yVal>
            <c:numLit>
              <c:formatCode>General</c:formatCode>
              <c:ptCount val="1"/>
              <c:pt idx="0">
                <c:v>108.04772477064222</c:v>
              </c:pt>
            </c:numLit>
          </c:yVal>
          <c:bubbleSize>
            <c:numLit>
              <c:formatCode>General</c:formatCode>
              <c:ptCount val="1"/>
              <c:pt idx="0">
                <c:v>4268.308</c:v>
              </c:pt>
            </c:numLit>
          </c:bubbleSize>
          <c:bubble3D val="0"/>
          <c:extLst>
            <c:ext xmlns:c16="http://schemas.microsoft.com/office/drawing/2014/chart" uri="{C3380CC4-5D6E-409C-BE32-E72D297353CC}">
              <c16:uniqueId val="{00000002-51C3-40F5-AF56-ACAB78B4E1E7}"/>
            </c:ext>
          </c:extLst>
        </c:ser>
        <c:ser>
          <c:idx val="3"/>
          <c:order val="3"/>
          <c:tx>
            <c:v>Sachets</c:v>
          </c:tx>
          <c:spPr>
            <a:solidFill>
              <a:srgbClr val="40315E"/>
            </a:solidFill>
          </c:spPr>
          <c:invertIfNegative val="0"/>
          <c:xVal>
            <c:numLit>
              <c:formatCode>General</c:formatCode>
              <c:ptCount val="1"/>
              <c:pt idx="0">
                <c:v>56.686887634623517</c:v>
              </c:pt>
            </c:numLit>
          </c:xVal>
          <c:yVal>
            <c:numLit>
              <c:formatCode>General</c:formatCode>
              <c:ptCount val="1"/>
              <c:pt idx="0">
                <c:v>137.22176146788991</c:v>
              </c:pt>
            </c:numLit>
          </c:yVal>
          <c:bubbleSize>
            <c:numLit>
              <c:formatCode>General</c:formatCode>
              <c:ptCount val="1"/>
              <c:pt idx="0">
                <c:v>3295.69</c:v>
              </c:pt>
            </c:numLit>
          </c:bubbleSize>
          <c:bubble3D val="0"/>
          <c:extLst>
            <c:ext xmlns:c16="http://schemas.microsoft.com/office/drawing/2014/chart" uri="{C3380CC4-5D6E-409C-BE32-E72D297353CC}">
              <c16:uniqueId val="{00000003-51C3-40F5-AF56-ACAB78B4E1E7}"/>
            </c:ext>
          </c:extLst>
        </c:ser>
        <c:ser>
          <c:idx val="4"/>
          <c:order val="4"/>
          <c:tx>
            <c:v>Blister Packs</c:v>
          </c:tx>
          <c:spPr>
            <a:solidFill>
              <a:srgbClr val="A35313"/>
            </a:solidFill>
          </c:spPr>
          <c:invertIfNegative val="0"/>
          <c:xVal>
            <c:numLit>
              <c:formatCode>General</c:formatCode>
              <c:ptCount val="1"/>
              <c:pt idx="0">
                <c:v>77.940859083348428</c:v>
              </c:pt>
            </c:numLit>
          </c:xVal>
          <c:yVal>
            <c:numLit>
              <c:formatCode>General</c:formatCode>
              <c:ptCount val="1"/>
              <c:pt idx="0">
                <c:v>130.69034862385323</c:v>
              </c:pt>
            </c:numLit>
          </c:yVal>
          <c:bubbleSize>
            <c:numLit>
              <c:formatCode>General</c:formatCode>
              <c:ptCount val="1"/>
              <c:pt idx="0">
                <c:v>3478.3130000000001</c:v>
              </c:pt>
            </c:numLit>
          </c:bubbleSize>
          <c:bubble3D val="0"/>
          <c:extLst>
            <c:ext xmlns:c16="http://schemas.microsoft.com/office/drawing/2014/chart" uri="{C3380CC4-5D6E-409C-BE32-E72D297353CC}">
              <c16:uniqueId val="{00000004-51C3-40F5-AF56-ACAB78B4E1E7}"/>
            </c:ext>
          </c:extLst>
        </c:ser>
        <c:ser>
          <c:idx val="5"/>
          <c:order val="5"/>
          <c:tx>
            <c:v>Canisters</c:v>
          </c:tx>
          <c:spPr>
            <a:solidFill>
              <a:srgbClr val="808080"/>
            </a:solidFill>
          </c:spPr>
          <c:invertIfNegative val="0"/>
          <c:xVal>
            <c:numLit>
              <c:formatCode>General</c:formatCode>
              <c:ptCount val="1"/>
              <c:pt idx="0">
                <c:v>95.86880074097887</c:v>
              </c:pt>
            </c:numLit>
          </c:xVal>
          <c:yVal>
            <c:numLit>
              <c:formatCode>General</c:formatCode>
              <c:ptCount val="1"/>
              <c:pt idx="0">
                <c:v>124.16295412844039</c:v>
              </c:pt>
            </c:numLit>
          </c:yVal>
          <c:bubbleSize>
            <c:numLit>
              <c:formatCode>General</c:formatCode>
              <c:ptCount val="1"/>
              <c:pt idx="0">
                <c:v>3600.6950000000002</c:v>
              </c:pt>
            </c:numLit>
          </c:bubbleSize>
          <c:bubble3D val="0"/>
          <c:extLst>
            <c:ext xmlns:c16="http://schemas.microsoft.com/office/drawing/2014/chart" uri="{C3380CC4-5D6E-409C-BE32-E72D297353CC}">
              <c16:uniqueId val="{00000005-51C3-40F5-AF56-ACAB78B4E1E7}"/>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
          <c:min val="30"/>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175"/>
          <c:min val="0"/>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907.94200000000001</c:v>
              </c:pt>
              <c:pt idx="2">
                <c:v>979.22299999999996</c:v>
              </c:pt>
              <c:pt idx="3">
                <c:v>1055.249</c:v>
              </c:pt>
              <c:pt idx="4">
                <c:v>1136.135</c:v>
              </c:pt>
              <c:pt idx="5">
                <c:v>1221.94</c:v>
              </c:pt>
              <c:pt idx="6">
                <c:v>0</c:v>
              </c:pt>
            </c:numLit>
          </c:val>
          <c:extLst>
            <c:ext xmlns:c16="http://schemas.microsoft.com/office/drawing/2014/chart" uri="{C3380CC4-5D6E-409C-BE32-E72D297353CC}">
              <c16:uniqueId val="{00000000-C1F7-4DD5-B51D-7F4E72C96D14}"/>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C1F7-4DD5-B51D-7F4E72C96D14}"/>
              </c:ext>
            </c:extLst>
          </c:dPt>
          <c:dPt>
            <c:idx val="1"/>
            <c:invertIfNegative val="1"/>
            <c:bubble3D val="0"/>
            <c:spPr>
              <a:solidFill>
                <a:srgbClr val="008189"/>
              </a:solidFill>
            </c:spPr>
            <c:extLst>
              <c:ext xmlns:c16="http://schemas.microsoft.com/office/drawing/2014/chart" uri="{C3380CC4-5D6E-409C-BE32-E72D297353CC}">
                <c16:uniqueId val="{00000004-C1F7-4DD5-B51D-7F4E72C96D14}"/>
              </c:ext>
            </c:extLst>
          </c:dPt>
          <c:dPt>
            <c:idx val="2"/>
            <c:invertIfNegative val="1"/>
            <c:bubble3D val="0"/>
            <c:spPr>
              <a:solidFill>
                <a:srgbClr val="008189"/>
              </a:solidFill>
            </c:spPr>
            <c:extLst>
              <c:ext xmlns:c16="http://schemas.microsoft.com/office/drawing/2014/chart" uri="{C3380CC4-5D6E-409C-BE32-E72D297353CC}">
                <c16:uniqueId val="{00000006-C1F7-4DD5-B51D-7F4E72C96D14}"/>
              </c:ext>
            </c:extLst>
          </c:dPt>
          <c:dPt>
            <c:idx val="3"/>
            <c:invertIfNegative val="1"/>
            <c:bubble3D val="0"/>
            <c:spPr>
              <a:solidFill>
                <a:srgbClr val="008189"/>
              </a:solidFill>
            </c:spPr>
            <c:extLst>
              <c:ext xmlns:c16="http://schemas.microsoft.com/office/drawing/2014/chart" uri="{C3380CC4-5D6E-409C-BE32-E72D297353CC}">
                <c16:uniqueId val="{00000008-C1F7-4DD5-B51D-7F4E72C96D14}"/>
              </c:ext>
            </c:extLst>
          </c:dPt>
          <c:dPt>
            <c:idx val="4"/>
            <c:invertIfNegative val="1"/>
            <c:bubble3D val="0"/>
            <c:spPr>
              <a:solidFill>
                <a:srgbClr val="008189"/>
              </a:solidFill>
            </c:spPr>
            <c:extLst>
              <c:ext xmlns:c16="http://schemas.microsoft.com/office/drawing/2014/chart" uri="{C3380CC4-5D6E-409C-BE32-E72D297353CC}">
                <c16:uniqueId val="{0000000A-C1F7-4DD5-B51D-7F4E72C96D14}"/>
              </c:ext>
            </c:extLst>
          </c:dPt>
          <c:dPt>
            <c:idx val="5"/>
            <c:invertIfNegative val="1"/>
            <c:bubble3D val="0"/>
            <c:spPr>
              <a:solidFill>
                <a:srgbClr val="008189"/>
              </a:solidFill>
            </c:spPr>
            <c:extLst>
              <c:ext xmlns:c16="http://schemas.microsoft.com/office/drawing/2014/chart" uri="{C3380CC4-5D6E-409C-BE32-E72D297353CC}">
                <c16:uniqueId val="{0000000C-C1F7-4DD5-B51D-7F4E72C96D14}"/>
              </c:ext>
            </c:extLst>
          </c:dPt>
          <c:dPt>
            <c:idx val="6"/>
            <c:invertIfNegative val="1"/>
            <c:bubble3D val="0"/>
            <c:spPr>
              <a:solidFill>
                <a:srgbClr val="0E72AE"/>
              </a:solidFill>
            </c:spPr>
            <c:extLst>
              <c:ext xmlns:c16="http://schemas.microsoft.com/office/drawing/2014/chart" uri="{C3380CC4-5D6E-409C-BE32-E72D297353CC}">
                <c16:uniqueId val="{0000000E-C1F7-4DD5-B51D-7F4E72C96D14}"/>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1F7-4DD5-B51D-7F4E72C96D14}"/>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1F7-4DD5-B51D-7F4E72C96D14}"/>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1F7-4DD5-B51D-7F4E72C96D14}"/>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1F7-4DD5-B51D-7F4E72C96D14}"/>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1F7-4DD5-B51D-7F4E72C96D14}"/>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1F7-4DD5-B51D-7F4E72C96D14}"/>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1F7-4DD5-B51D-7F4E72C96D14}"/>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907.94200000000001</c:v>
              </c:pt>
              <c:pt idx="1">
                <c:v>71.280999999999949</c:v>
              </c:pt>
              <c:pt idx="2">
                <c:v>76.026000000000067</c:v>
              </c:pt>
              <c:pt idx="3">
                <c:v>80.885999999999967</c:v>
              </c:pt>
              <c:pt idx="4">
                <c:v>85.805000000000064</c:v>
              </c:pt>
              <c:pt idx="5">
                <c:v>90.708999999999833</c:v>
              </c:pt>
              <c:pt idx="6">
                <c:v>1312.6489999999999</c:v>
              </c:pt>
            </c:numLit>
          </c:val>
          <c:extLst>
            <c:ext xmlns:c16="http://schemas.microsoft.com/office/drawing/2014/chart" uri="{C3380CC4-5D6E-409C-BE32-E72D297353CC}">
              <c16:uniqueId val="{0000000F-C1F7-4DD5-B51D-7F4E72C96D14}"/>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906.49400000000003</c:v>
              </c:pt>
              <c:pt idx="2">
                <c:v>1038.077</c:v>
              </c:pt>
              <c:pt idx="3">
                <c:v>1189.018</c:v>
              </c:pt>
              <c:pt idx="4">
                <c:v>1362.2619999999999</c:v>
              </c:pt>
              <c:pt idx="5">
                <c:v>1561.222</c:v>
              </c:pt>
              <c:pt idx="6">
                <c:v>0</c:v>
              </c:pt>
            </c:numLit>
          </c:val>
          <c:extLst>
            <c:ext xmlns:c16="http://schemas.microsoft.com/office/drawing/2014/chart" uri="{C3380CC4-5D6E-409C-BE32-E72D297353CC}">
              <c16:uniqueId val="{00000000-AC92-45CA-A8C9-9A5A68CA996E}"/>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AC92-45CA-A8C9-9A5A68CA996E}"/>
              </c:ext>
            </c:extLst>
          </c:dPt>
          <c:dPt>
            <c:idx val="1"/>
            <c:invertIfNegative val="1"/>
            <c:bubble3D val="0"/>
            <c:spPr>
              <a:solidFill>
                <a:srgbClr val="008189"/>
              </a:solidFill>
            </c:spPr>
            <c:extLst>
              <c:ext xmlns:c16="http://schemas.microsoft.com/office/drawing/2014/chart" uri="{C3380CC4-5D6E-409C-BE32-E72D297353CC}">
                <c16:uniqueId val="{00000004-AC92-45CA-A8C9-9A5A68CA996E}"/>
              </c:ext>
            </c:extLst>
          </c:dPt>
          <c:dPt>
            <c:idx val="2"/>
            <c:invertIfNegative val="1"/>
            <c:bubble3D val="0"/>
            <c:spPr>
              <a:solidFill>
                <a:srgbClr val="008189"/>
              </a:solidFill>
            </c:spPr>
            <c:extLst>
              <c:ext xmlns:c16="http://schemas.microsoft.com/office/drawing/2014/chart" uri="{C3380CC4-5D6E-409C-BE32-E72D297353CC}">
                <c16:uniqueId val="{00000006-AC92-45CA-A8C9-9A5A68CA996E}"/>
              </c:ext>
            </c:extLst>
          </c:dPt>
          <c:dPt>
            <c:idx val="3"/>
            <c:invertIfNegative val="1"/>
            <c:bubble3D val="0"/>
            <c:spPr>
              <a:solidFill>
                <a:srgbClr val="008189"/>
              </a:solidFill>
            </c:spPr>
            <c:extLst>
              <c:ext xmlns:c16="http://schemas.microsoft.com/office/drawing/2014/chart" uri="{C3380CC4-5D6E-409C-BE32-E72D297353CC}">
                <c16:uniqueId val="{00000008-AC92-45CA-A8C9-9A5A68CA996E}"/>
              </c:ext>
            </c:extLst>
          </c:dPt>
          <c:dPt>
            <c:idx val="4"/>
            <c:invertIfNegative val="1"/>
            <c:bubble3D val="0"/>
            <c:spPr>
              <a:solidFill>
                <a:srgbClr val="008189"/>
              </a:solidFill>
            </c:spPr>
            <c:extLst>
              <c:ext xmlns:c16="http://schemas.microsoft.com/office/drawing/2014/chart" uri="{C3380CC4-5D6E-409C-BE32-E72D297353CC}">
                <c16:uniqueId val="{0000000A-AC92-45CA-A8C9-9A5A68CA996E}"/>
              </c:ext>
            </c:extLst>
          </c:dPt>
          <c:dPt>
            <c:idx val="5"/>
            <c:invertIfNegative val="1"/>
            <c:bubble3D val="0"/>
            <c:spPr>
              <a:solidFill>
                <a:srgbClr val="008189"/>
              </a:solidFill>
            </c:spPr>
            <c:extLst>
              <c:ext xmlns:c16="http://schemas.microsoft.com/office/drawing/2014/chart" uri="{C3380CC4-5D6E-409C-BE32-E72D297353CC}">
                <c16:uniqueId val="{0000000C-AC92-45CA-A8C9-9A5A68CA996E}"/>
              </c:ext>
            </c:extLst>
          </c:dPt>
          <c:dPt>
            <c:idx val="6"/>
            <c:invertIfNegative val="1"/>
            <c:bubble3D val="0"/>
            <c:spPr>
              <a:solidFill>
                <a:srgbClr val="0E72AE"/>
              </a:solidFill>
            </c:spPr>
            <c:extLst>
              <c:ext xmlns:c16="http://schemas.microsoft.com/office/drawing/2014/chart" uri="{C3380CC4-5D6E-409C-BE32-E72D297353CC}">
                <c16:uniqueId val="{0000000E-AC92-45CA-A8C9-9A5A68CA996E}"/>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C92-45CA-A8C9-9A5A68CA996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C92-45CA-A8C9-9A5A68CA996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C92-45CA-A8C9-9A5A68CA996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C92-45CA-A8C9-9A5A68CA996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C92-45CA-A8C9-9A5A68CA996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C92-45CA-A8C9-9A5A68CA996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C92-45CA-A8C9-9A5A68CA996E}"/>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906.49400000000003</c:v>
              </c:pt>
              <c:pt idx="1">
                <c:v>131.58299999999997</c:v>
              </c:pt>
              <c:pt idx="2">
                <c:v>150.94100000000003</c:v>
              </c:pt>
              <c:pt idx="3">
                <c:v>173.24399999999991</c:v>
              </c:pt>
              <c:pt idx="4">
                <c:v>198.96000000000004</c:v>
              </c:pt>
              <c:pt idx="5">
                <c:v>228.63200000000006</c:v>
              </c:pt>
              <c:pt idx="6">
                <c:v>1789.854</c:v>
              </c:pt>
            </c:numLit>
          </c:val>
          <c:extLst>
            <c:ext xmlns:c16="http://schemas.microsoft.com/office/drawing/2014/chart" uri="{C3380CC4-5D6E-409C-BE32-E72D297353CC}">
              <c16:uniqueId val="{0000000F-AC92-45CA-A8C9-9A5A68CA996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1962.867</c:v>
              </c:pt>
              <c:pt idx="2">
                <c:v>2297.5010000000002</c:v>
              </c:pt>
              <c:pt idx="3">
                <c:v>2685.9810000000002</c:v>
              </c:pt>
              <c:pt idx="4">
                <c:v>3136.953</c:v>
              </c:pt>
              <c:pt idx="5">
                <c:v>3660.4870000000001</c:v>
              </c:pt>
              <c:pt idx="6">
                <c:v>0</c:v>
              </c:pt>
            </c:numLit>
          </c:val>
          <c:extLst>
            <c:ext xmlns:c16="http://schemas.microsoft.com/office/drawing/2014/chart" uri="{C3380CC4-5D6E-409C-BE32-E72D297353CC}">
              <c16:uniqueId val="{00000000-E699-406F-8196-4BD89FF8B5BA}"/>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E699-406F-8196-4BD89FF8B5BA}"/>
              </c:ext>
            </c:extLst>
          </c:dPt>
          <c:dPt>
            <c:idx val="1"/>
            <c:invertIfNegative val="1"/>
            <c:bubble3D val="0"/>
            <c:spPr>
              <a:solidFill>
                <a:srgbClr val="008189"/>
              </a:solidFill>
            </c:spPr>
            <c:extLst>
              <c:ext xmlns:c16="http://schemas.microsoft.com/office/drawing/2014/chart" uri="{C3380CC4-5D6E-409C-BE32-E72D297353CC}">
                <c16:uniqueId val="{00000004-E699-406F-8196-4BD89FF8B5BA}"/>
              </c:ext>
            </c:extLst>
          </c:dPt>
          <c:dPt>
            <c:idx val="2"/>
            <c:invertIfNegative val="1"/>
            <c:bubble3D val="0"/>
            <c:spPr>
              <a:solidFill>
                <a:srgbClr val="008189"/>
              </a:solidFill>
            </c:spPr>
            <c:extLst>
              <c:ext xmlns:c16="http://schemas.microsoft.com/office/drawing/2014/chart" uri="{C3380CC4-5D6E-409C-BE32-E72D297353CC}">
                <c16:uniqueId val="{00000006-E699-406F-8196-4BD89FF8B5BA}"/>
              </c:ext>
            </c:extLst>
          </c:dPt>
          <c:dPt>
            <c:idx val="3"/>
            <c:invertIfNegative val="1"/>
            <c:bubble3D val="0"/>
            <c:spPr>
              <a:solidFill>
                <a:srgbClr val="008189"/>
              </a:solidFill>
            </c:spPr>
            <c:extLst>
              <c:ext xmlns:c16="http://schemas.microsoft.com/office/drawing/2014/chart" uri="{C3380CC4-5D6E-409C-BE32-E72D297353CC}">
                <c16:uniqueId val="{00000008-E699-406F-8196-4BD89FF8B5BA}"/>
              </c:ext>
            </c:extLst>
          </c:dPt>
          <c:dPt>
            <c:idx val="4"/>
            <c:invertIfNegative val="1"/>
            <c:bubble3D val="0"/>
            <c:spPr>
              <a:solidFill>
                <a:srgbClr val="008189"/>
              </a:solidFill>
            </c:spPr>
            <c:extLst>
              <c:ext xmlns:c16="http://schemas.microsoft.com/office/drawing/2014/chart" uri="{C3380CC4-5D6E-409C-BE32-E72D297353CC}">
                <c16:uniqueId val="{0000000A-E699-406F-8196-4BD89FF8B5BA}"/>
              </c:ext>
            </c:extLst>
          </c:dPt>
          <c:dPt>
            <c:idx val="5"/>
            <c:invertIfNegative val="1"/>
            <c:bubble3D val="0"/>
            <c:spPr>
              <a:solidFill>
                <a:srgbClr val="008189"/>
              </a:solidFill>
            </c:spPr>
            <c:extLst>
              <c:ext xmlns:c16="http://schemas.microsoft.com/office/drawing/2014/chart" uri="{C3380CC4-5D6E-409C-BE32-E72D297353CC}">
                <c16:uniqueId val="{0000000C-E699-406F-8196-4BD89FF8B5BA}"/>
              </c:ext>
            </c:extLst>
          </c:dPt>
          <c:dPt>
            <c:idx val="6"/>
            <c:invertIfNegative val="1"/>
            <c:bubble3D val="0"/>
            <c:spPr>
              <a:solidFill>
                <a:srgbClr val="0E72AE"/>
              </a:solidFill>
            </c:spPr>
            <c:extLst>
              <c:ext xmlns:c16="http://schemas.microsoft.com/office/drawing/2014/chart" uri="{C3380CC4-5D6E-409C-BE32-E72D297353CC}">
                <c16:uniqueId val="{0000000E-E699-406F-8196-4BD89FF8B5BA}"/>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699-406F-8196-4BD89FF8B5B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699-406F-8196-4BD89FF8B5B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699-406F-8196-4BD89FF8B5B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699-406F-8196-4BD89FF8B5BA}"/>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699-406F-8196-4BD89FF8B5BA}"/>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699-406F-8196-4BD89FF8B5BA}"/>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699-406F-8196-4BD89FF8B5BA}"/>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1962.867</c:v>
              </c:pt>
              <c:pt idx="1">
                <c:v>334.63400000000024</c:v>
              </c:pt>
              <c:pt idx="2">
                <c:v>388.48</c:v>
              </c:pt>
              <c:pt idx="3">
                <c:v>450.97199999999975</c:v>
              </c:pt>
              <c:pt idx="4">
                <c:v>523.53400000000011</c:v>
              </c:pt>
              <c:pt idx="5">
                <c:v>607.82099999999991</c:v>
              </c:pt>
              <c:pt idx="6">
                <c:v>4268.308</c:v>
              </c:pt>
            </c:numLit>
          </c:val>
          <c:extLst>
            <c:ext xmlns:c16="http://schemas.microsoft.com/office/drawing/2014/chart" uri="{C3380CC4-5D6E-409C-BE32-E72D297353CC}">
              <c16:uniqueId val="{0000000F-E699-406F-8196-4BD89FF8B5B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2492.8620000000001</c:v>
              </c:pt>
              <c:pt idx="2">
                <c:v>2649.9459999999999</c:v>
              </c:pt>
              <c:pt idx="3">
                <c:v>2810.5770000000002</c:v>
              </c:pt>
              <c:pt idx="4">
                <c:v>2973.2139999999999</c:v>
              </c:pt>
              <c:pt idx="5">
                <c:v>3135.806</c:v>
              </c:pt>
              <c:pt idx="6">
                <c:v>0</c:v>
              </c:pt>
            </c:numLit>
          </c:val>
          <c:extLst>
            <c:ext xmlns:c16="http://schemas.microsoft.com/office/drawing/2014/chart" uri="{C3380CC4-5D6E-409C-BE32-E72D297353CC}">
              <c16:uniqueId val="{00000000-89DC-42A9-B4D4-F37C62BC4F8F}"/>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89DC-42A9-B4D4-F37C62BC4F8F}"/>
              </c:ext>
            </c:extLst>
          </c:dPt>
          <c:dPt>
            <c:idx val="1"/>
            <c:invertIfNegative val="1"/>
            <c:bubble3D val="0"/>
            <c:spPr>
              <a:solidFill>
                <a:srgbClr val="008189"/>
              </a:solidFill>
            </c:spPr>
            <c:extLst>
              <c:ext xmlns:c16="http://schemas.microsoft.com/office/drawing/2014/chart" uri="{C3380CC4-5D6E-409C-BE32-E72D297353CC}">
                <c16:uniqueId val="{00000004-89DC-42A9-B4D4-F37C62BC4F8F}"/>
              </c:ext>
            </c:extLst>
          </c:dPt>
          <c:dPt>
            <c:idx val="2"/>
            <c:invertIfNegative val="1"/>
            <c:bubble3D val="0"/>
            <c:spPr>
              <a:solidFill>
                <a:srgbClr val="008189"/>
              </a:solidFill>
            </c:spPr>
            <c:extLst>
              <c:ext xmlns:c16="http://schemas.microsoft.com/office/drawing/2014/chart" uri="{C3380CC4-5D6E-409C-BE32-E72D297353CC}">
                <c16:uniqueId val="{00000006-89DC-42A9-B4D4-F37C62BC4F8F}"/>
              </c:ext>
            </c:extLst>
          </c:dPt>
          <c:dPt>
            <c:idx val="3"/>
            <c:invertIfNegative val="1"/>
            <c:bubble3D val="0"/>
            <c:spPr>
              <a:solidFill>
                <a:srgbClr val="008189"/>
              </a:solidFill>
            </c:spPr>
            <c:extLst>
              <c:ext xmlns:c16="http://schemas.microsoft.com/office/drawing/2014/chart" uri="{C3380CC4-5D6E-409C-BE32-E72D297353CC}">
                <c16:uniqueId val="{00000008-89DC-42A9-B4D4-F37C62BC4F8F}"/>
              </c:ext>
            </c:extLst>
          </c:dPt>
          <c:dPt>
            <c:idx val="4"/>
            <c:invertIfNegative val="1"/>
            <c:bubble3D val="0"/>
            <c:spPr>
              <a:solidFill>
                <a:srgbClr val="008189"/>
              </a:solidFill>
            </c:spPr>
            <c:extLst>
              <c:ext xmlns:c16="http://schemas.microsoft.com/office/drawing/2014/chart" uri="{C3380CC4-5D6E-409C-BE32-E72D297353CC}">
                <c16:uniqueId val="{0000000A-89DC-42A9-B4D4-F37C62BC4F8F}"/>
              </c:ext>
            </c:extLst>
          </c:dPt>
          <c:dPt>
            <c:idx val="5"/>
            <c:invertIfNegative val="1"/>
            <c:bubble3D val="0"/>
            <c:spPr>
              <a:solidFill>
                <a:srgbClr val="008189"/>
              </a:solidFill>
            </c:spPr>
            <c:extLst>
              <c:ext xmlns:c16="http://schemas.microsoft.com/office/drawing/2014/chart" uri="{C3380CC4-5D6E-409C-BE32-E72D297353CC}">
                <c16:uniqueId val="{0000000C-89DC-42A9-B4D4-F37C62BC4F8F}"/>
              </c:ext>
            </c:extLst>
          </c:dPt>
          <c:dPt>
            <c:idx val="6"/>
            <c:invertIfNegative val="1"/>
            <c:bubble3D val="0"/>
            <c:spPr>
              <a:solidFill>
                <a:srgbClr val="0E72AE"/>
              </a:solidFill>
            </c:spPr>
            <c:extLst>
              <c:ext xmlns:c16="http://schemas.microsoft.com/office/drawing/2014/chart" uri="{C3380CC4-5D6E-409C-BE32-E72D297353CC}">
                <c16:uniqueId val="{0000000E-89DC-42A9-B4D4-F37C62BC4F8F}"/>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9DC-42A9-B4D4-F37C62BC4F8F}"/>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9DC-42A9-B4D4-F37C62BC4F8F}"/>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9DC-42A9-B4D4-F37C62BC4F8F}"/>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9DC-42A9-B4D4-F37C62BC4F8F}"/>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9DC-42A9-B4D4-F37C62BC4F8F}"/>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9DC-42A9-B4D4-F37C62BC4F8F}"/>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9DC-42A9-B4D4-F37C62BC4F8F}"/>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2492.8620000000001</c:v>
              </c:pt>
              <c:pt idx="1">
                <c:v>157.08399999999983</c:v>
              </c:pt>
              <c:pt idx="2">
                <c:v>160.63100000000031</c:v>
              </c:pt>
              <c:pt idx="3">
                <c:v>162.63699999999972</c:v>
              </c:pt>
              <c:pt idx="4">
                <c:v>162.5920000000001</c:v>
              </c:pt>
              <c:pt idx="5">
                <c:v>159.88400000000001</c:v>
              </c:pt>
              <c:pt idx="6">
                <c:v>3295.69</c:v>
              </c:pt>
            </c:numLit>
          </c:val>
          <c:extLst>
            <c:ext xmlns:c16="http://schemas.microsoft.com/office/drawing/2014/chart" uri="{C3380CC4-5D6E-409C-BE32-E72D297353CC}">
              <c16:uniqueId val="{0000000F-89DC-42A9-B4D4-F37C62BC4F8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2374.2080000000001</c:v>
              </c:pt>
              <c:pt idx="2">
                <c:v>2565.998</c:v>
              </c:pt>
              <c:pt idx="3">
                <c:v>2771.721</c:v>
              </c:pt>
              <c:pt idx="4">
                <c:v>2992</c:v>
              </c:pt>
              <c:pt idx="5">
                <c:v>3227.3809999999999</c:v>
              </c:pt>
              <c:pt idx="6">
                <c:v>0</c:v>
              </c:pt>
            </c:numLit>
          </c:val>
          <c:extLst>
            <c:ext xmlns:c16="http://schemas.microsoft.com/office/drawing/2014/chart" uri="{C3380CC4-5D6E-409C-BE32-E72D297353CC}">
              <c16:uniqueId val="{00000000-A63D-497F-8146-B3511795E117}"/>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A63D-497F-8146-B3511795E117}"/>
              </c:ext>
            </c:extLst>
          </c:dPt>
          <c:dPt>
            <c:idx val="1"/>
            <c:invertIfNegative val="1"/>
            <c:bubble3D val="0"/>
            <c:spPr>
              <a:solidFill>
                <a:srgbClr val="008189"/>
              </a:solidFill>
            </c:spPr>
            <c:extLst>
              <c:ext xmlns:c16="http://schemas.microsoft.com/office/drawing/2014/chart" uri="{C3380CC4-5D6E-409C-BE32-E72D297353CC}">
                <c16:uniqueId val="{00000004-A63D-497F-8146-B3511795E117}"/>
              </c:ext>
            </c:extLst>
          </c:dPt>
          <c:dPt>
            <c:idx val="2"/>
            <c:invertIfNegative val="1"/>
            <c:bubble3D val="0"/>
            <c:spPr>
              <a:solidFill>
                <a:srgbClr val="008189"/>
              </a:solidFill>
            </c:spPr>
            <c:extLst>
              <c:ext xmlns:c16="http://schemas.microsoft.com/office/drawing/2014/chart" uri="{C3380CC4-5D6E-409C-BE32-E72D297353CC}">
                <c16:uniqueId val="{00000006-A63D-497F-8146-B3511795E117}"/>
              </c:ext>
            </c:extLst>
          </c:dPt>
          <c:dPt>
            <c:idx val="3"/>
            <c:invertIfNegative val="1"/>
            <c:bubble3D val="0"/>
            <c:spPr>
              <a:solidFill>
                <a:srgbClr val="008189"/>
              </a:solidFill>
            </c:spPr>
            <c:extLst>
              <c:ext xmlns:c16="http://schemas.microsoft.com/office/drawing/2014/chart" uri="{C3380CC4-5D6E-409C-BE32-E72D297353CC}">
                <c16:uniqueId val="{00000008-A63D-497F-8146-B3511795E117}"/>
              </c:ext>
            </c:extLst>
          </c:dPt>
          <c:dPt>
            <c:idx val="4"/>
            <c:invertIfNegative val="1"/>
            <c:bubble3D val="0"/>
            <c:spPr>
              <a:solidFill>
                <a:srgbClr val="008189"/>
              </a:solidFill>
            </c:spPr>
            <c:extLst>
              <c:ext xmlns:c16="http://schemas.microsoft.com/office/drawing/2014/chart" uri="{C3380CC4-5D6E-409C-BE32-E72D297353CC}">
                <c16:uniqueId val="{0000000A-A63D-497F-8146-B3511795E117}"/>
              </c:ext>
            </c:extLst>
          </c:dPt>
          <c:dPt>
            <c:idx val="5"/>
            <c:invertIfNegative val="1"/>
            <c:bubble3D val="0"/>
            <c:spPr>
              <a:solidFill>
                <a:srgbClr val="008189"/>
              </a:solidFill>
            </c:spPr>
            <c:extLst>
              <c:ext xmlns:c16="http://schemas.microsoft.com/office/drawing/2014/chart" uri="{C3380CC4-5D6E-409C-BE32-E72D297353CC}">
                <c16:uniqueId val="{0000000C-A63D-497F-8146-B3511795E117}"/>
              </c:ext>
            </c:extLst>
          </c:dPt>
          <c:dPt>
            <c:idx val="6"/>
            <c:invertIfNegative val="1"/>
            <c:bubble3D val="0"/>
            <c:spPr>
              <a:solidFill>
                <a:srgbClr val="0E72AE"/>
              </a:solidFill>
            </c:spPr>
            <c:extLst>
              <c:ext xmlns:c16="http://schemas.microsoft.com/office/drawing/2014/chart" uri="{C3380CC4-5D6E-409C-BE32-E72D297353CC}">
                <c16:uniqueId val="{0000000E-A63D-497F-8146-B3511795E117}"/>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63D-497F-8146-B3511795E11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63D-497F-8146-B3511795E11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63D-497F-8146-B3511795E11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63D-497F-8146-B3511795E117}"/>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63D-497F-8146-B3511795E117}"/>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63D-497F-8146-B3511795E117}"/>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63D-497F-8146-B3511795E117}"/>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2374.2080000000001</c:v>
              </c:pt>
              <c:pt idx="1">
                <c:v>191.78999999999996</c:v>
              </c:pt>
              <c:pt idx="2">
                <c:v>205.72299999999996</c:v>
              </c:pt>
              <c:pt idx="3">
                <c:v>220.279</c:v>
              </c:pt>
              <c:pt idx="4">
                <c:v>235.38099999999986</c:v>
              </c:pt>
              <c:pt idx="5">
                <c:v>250.93200000000024</c:v>
              </c:pt>
              <c:pt idx="6">
                <c:v>3478.3130000000001</c:v>
              </c:pt>
            </c:numLit>
          </c:val>
          <c:extLst>
            <c:ext xmlns:c16="http://schemas.microsoft.com/office/drawing/2014/chart" uri="{C3380CC4-5D6E-409C-BE32-E72D297353CC}">
              <c16:uniqueId val="{0000000F-A63D-497F-8146-B3511795E117}"/>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2255.627</c:v>
              </c:pt>
              <c:pt idx="2">
                <c:v>2475.3110000000001</c:v>
              </c:pt>
              <c:pt idx="3">
                <c:v>2717.221</c:v>
              </c:pt>
              <c:pt idx="4">
                <c:v>2983.6640000000002</c:v>
              </c:pt>
              <c:pt idx="5">
                <c:v>3277.2049999999999</c:v>
              </c:pt>
              <c:pt idx="6">
                <c:v>0</c:v>
              </c:pt>
            </c:numLit>
          </c:val>
          <c:extLst>
            <c:ext xmlns:c16="http://schemas.microsoft.com/office/drawing/2014/chart" uri="{C3380CC4-5D6E-409C-BE32-E72D297353CC}">
              <c16:uniqueId val="{00000000-B681-4716-BECE-FEA333184032}"/>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B681-4716-BECE-FEA333184032}"/>
              </c:ext>
            </c:extLst>
          </c:dPt>
          <c:dPt>
            <c:idx val="1"/>
            <c:invertIfNegative val="1"/>
            <c:bubble3D val="0"/>
            <c:spPr>
              <a:solidFill>
                <a:srgbClr val="008189"/>
              </a:solidFill>
            </c:spPr>
            <c:extLst>
              <c:ext xmlns:c16="http://schemas.microsoft.com/office/drawing/2014/chart" uri="{C3380CC4-5D6E-409C-BE32-E72D297353CC}">
                <c16:uniqueId val="{00000004-B681-4716-BECE-FEA333184032}"/>
              </c:ext>
            </c:extLst>
          </c:dPt>
          <c:dPt>
            <c:idx val="2"/>
            <c:invertIfNegative val="1"/>
            <c:bubble3D val="0"/>
            <c:spPr>
              <a:solidFill>
                <a:srgbClr val="008189"/>
              </a:solidFill>
            </c:spPr>
            <c:extLst>
              <c:ext xmlns:c16="http://schemas.microsoft.com/office/drawing/2014/chart" uri="{C3380CC4-5D6E-409C-BE32-E72D297353CC}">
                <c16:uniqueId val="{00000006-B681-4716-BECE-FEA333184032}"/>
              </c:ext>
            </c:extLst>
          </c:dPt>
          <c:dPt>
            <c:idx val="3"/>
            <c:invertIfNegative val="1"/>
            <c:bubble3D val="0"/>
            <c:spPr>
              <a:solidFill>
                <a:srgbClr val="008189"/>
              </a:solidFill>
            </c:spPr>
            <c:extLst>
              <c:ext xmlns:c16="http://schemas.microsoft.com/office/drawing/2014/chart" uri="{C3380CC4-5D6E-409C-BE32-E72D297353CC}">
                <c16:uniqueId val="{00000008-B681-4716-BECE-FEA333184032}"/>
              </c:ext>
            </c:extLst>
          </c:dPt>
          <c:dPt>
            <c:idx val="4"/>
            <c:invertIfNegative val="1"/>
            <c:bubble3D val="0"/>
            <c:spPr>
              <a:solidFill>
                <a:srgbClr val="008189"/>
              </a:solidFill>
            </c:spPr>
            <c:extLst>
              <c:ext xmlns:c16="http://schemas.microsoft.com/office/drawing/2014/chart" uri="{C3380CC4-5D6E-409C-BE32-E72D297353CC}">
                <c16:uniqueId val="{0000000A-B681-4716-BECE-FEA333184032}"/>
              </c:ext>
            </c:extLst>
          </c:dPt>
          <c:dPt>
            <c:idx val="5"/>
            <c:invertIfNegative val="1"/>
            <c:bubble3D val="0"/>
            <c:spPr>
              <a:solidFill>
                <a:srgbClr val="008189"/>
              </a:solidFill>
            </c:spPr>
            <c:extLst>
              <c:ext xmlns:c16="http://schemas.microsoft.com/office/drawing/2014/chart" uri="{C3380CC4-5D6E-409C-BE32-E72D297353CC}">
                <c16:uniqueId val="{0000000C-B681-4716-BECE-FEA333184032}"/>
              </c:ext>
            </c:extLst>
          </c:dPt>
          <c:dPt>
            <c:idx val="6"/>
            <c:invertIfNegative val="1"/>
            <c:bubble3D val="0"/>
            <c:spPr>
              <a:solidFill>
                <a:srgbClr val="0E72AE"/>
              </a:solidFill>
            </c:spPr>
            <c:extLst>
              <c:ext xmlns:c16="http://schemas.microsoft.com/office/drawing/2014/chart" uri="{C3380CC4-5D6E-409C-BE32-E72D297353CC}">
                <c16:uniqueId val="{0000000E-B681-4716-BECE-FEA333184032}"/>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681-4716-BECE-FEA333184032}"/>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681-4716-BECE-FEA333184032}"/>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681-4716-BECE-FEA333184032}"/>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681-4716-BECE-FEA333184032}"/>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681-4716-BECE-FEA333184032}"/>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681-4716-BECE-FEA333184032}"/>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681-4716-BECE-FEA333184032}"/>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2255.627</c:v>
              </c:pt>
              <c:pt idx="1">
                <c:v>219.6840000000002</c:v>
              </c:pt>
              <c:pt idx="2">
                <c:v>241.90999999999985</c:v>
              </c:pt>
              <c:pt idx="3">
                <c:v>266.44300000000021</c:v>
              </c:pt>
              <c:pt idx="4">
                <c:v>293.54099999999971</c:v>
              </c:pt>
              <c:pt idx="5">
                <c:v>323.49000000000024</c:v>
              </c:pt>
              <c:pt idx="6">
                <c:v>3600.6950000000002</c:v>
              </c:pt>
            </c:numLit>
          </c:val>
          <c:extLst>
            <c:ext xmlns:c16="http://schemas.microsoft.com/office/drawing/2014/chart" uri="{C3380CC4-5D6E-409C-BE32-E72D297353CC}">
              <c16:uniqueId val="{0000000F-B681-4716-BECE-FEA333184032}"/>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Pouches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31B-43DE-8205-AC9B445B3071}"/>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31B-43DE-8205-AC9B445B3071}"/>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31B-43DE-8205-AC9B445B307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15.341391811319207</c:v>
              </c:pt>
              <c:pt idx="1">
                <c:v>18.007954128440367</c:v>
              </c:pt>
              <c:pt idx="2">
                <c:v>24.052891354088516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C31B-43DE-8205-AC9B445B3071}"/>
            </c:ext>
          </c:extLst>
        </c:ser>
        <c:ser>
          <c:idx val="1"/>
          <c:order val="1"/>
          <c:tx>
            <c:v>Canisters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31B-43DE-8205-AC9B445B3071}"/>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31B-43DE-8205-AC9B445B3071}"/>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31B-43DE-8205-AC9B445B307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20.877237126610598</c:v>
              </c:pt>
              <c:pt idx="1">
                <c:v>20.693825688073396</c:v>
              </c:pt>
              <c:pt idx="2">
                <c:v>20.29073947667548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C31B-43DE-8205-AC9B445B3071}"/>
            </c:ext>
          </c:extLst>
        </c:ser>
        <c:ser>
          <c:idx val="2"/>
          <c:order val="2"/>
          <c:tx>
            <c:v>Blister Packs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31B-43DE-8205-AC9B445B3071}"/>
                </c:ext>
              </c:extLst>
            </c:dLbl>
            <c:dLbl>
              <c:idx val="1"/>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31B-43DE-8205-AC9B445B3071}"/>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31B-43DE-8205-AC9B445B307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22.753681678597186</c:v>
              </c:pt>
              <c:pt idx="1">
                <c:v>21.781724770642203</c:v>
              </c:pt>
              <c:pt idx="2">
                <c:v>19.601088929035509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C31B-43DE-8205-AC9B445B3071}"/>
            </c:ext>
          </c:extLst>
        </c:ser>
        <c:ser>
          <c:idx val="3"/>
          <c:order val="3"/>
          <c:tx>
            <c:v>Sachets</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31B-43DE-8205-AC9B445B3071}"/>
                </c:ext>
              </c:extLst>
            </c:dLbl>
            <c:dLbl>
              <c:idx val="1"/>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31B-43DE-8205-AC9B445B3071}"/>
                </c:ext>
              </c:extLst>
            </c:dLbl>
            <c:dLbl>
              <c:idx val="2"/>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31B-43DE-8205-AC9B445B307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24.750695887702658</c:v>
              </c:pt>
              <c:pt idx="1">
                <c:v>22.870293577981652</c:v>
              </c:pt>
              <c:pt idx="2">
                <c:v>18.57196657475421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C31B-43DE-8205-AC9B445B3071}"/>
            </c:ext>
          </c:extLst>
        </c:ser>
        <c:ser>
          <c:idx val="4"/>
          <c:order val="4"/>
          <c:tx>
            <c:v>Jars and Tubs</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31B-43DE-8205-AC9B445B3071}"/>
                </c:ext>
              </c:extLst>
            </c:dLbl>
            <c:dLbl>
              <c:idx val="1"/>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31B-43DE-8205-AC9B445B3071}"/>
                </c:ext>
              </c:extLst>
            </c:dLbl>
            <c:dLbl>
              <c:idx val="2"/>
              <c:numFmt formatCode="&quot;MMMM&quot;;&quot;MMMM&quot;;&quot;M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C31B-43DE-8205-AC9B445B307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7.5377976840480168</c:v>
              </c:pt>
              <c:pt idx="1">
                <c:v>8.3164587155963314</c:v>
              </c:pt>
              <c:pt idx="2">
                <c:v>10.086236466928055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C31B-43DE-8205-AC9B445B3071}"/>
            </c:ext>
          </c:extLst>
        </c:ser>
        <c:ser>
          <c:idx val="5"/>
          <c:order val="5"/>
          <c:tx>
            <c:v>Bottles</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C31B-43DE-8205-AC9B445B3071}"/>
                </c:ext>
              </c:extLst>
            </c:dLbl>
            <c:dLbl>
              <c:idx val="1"/>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C31B-43DE-8205-AC9B445B3071}"/>
                </c:ext>
              </c:extLst>
            </c:dLbl>
            <c:dLbl>
              <c:idx val="2"/>
              <c:numFmt formatCode="&quot;MMM&quot;;&quot;MMM&quot;;&quot;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31B-43DE-8205-AC9B445B307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8.7391958117223378</c:v>
              </c:pt>
              <c:pt idx="1">
                <c:v>8.3297431192660554</c:v>
              </c:pt>
              <c:pt idx="2">
                <c:v>7.3970771985182262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C31B-43DE-8205-AC9B445B307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Veterinary Channels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A06-49DB-82CF-0590CC8C74CB}"/>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A06-49DB-82CF-0590CC8C74CB}"/>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A06-49DB-82CF-0590CC8C74CB}"/>
                </c:ext>
              </c:extLst>
            </c:dLbl>
            <c:dLbl>
              <c:idx val="3"/>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A06-49DB-82CF-0590CC8C74CB}"/>
                </c:ext>
              </c:extLst>
            </c:dLbl>
            <c:dLbl>
              <c:idx val="4"/>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A06-49DB-82CF-0590CC8C74CB}"/>
                </c:ext>
              </c:extLst>
            </c:dLbl>
            <c:dLbl>
              <c:idx val="5"/>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A06-49DB-82CF-0590CC8C74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26.098252704109726</c:v>
              </c:pt>
              <c:pt idx="1">
                <c:v>27.53315649867374</c:v>
              </c:pt>
              <c:pt idx="2">
                <c:v>23.660329495216086</c:v>
              </c:pt>
              <c:pt idx="3">
                <c:v>23.186052470454744</c:v>
              </c:pt>
              <c:pt idx="4">
                <c:v>23.191121882278676</c:v>
              </c:pt>
              <c:pt idx="5">
                <c:v>26.294927514844296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DA06-49DB-82CF-0590CC8C74CB}"/>
            </c:ext>
          </c:extLst>
        </c:ser>
        <c:ser>
          <c:idx val="1"/>
          <c:order val="1"/>
          <c:tx>
            <c:v>Specialist Pet Retail</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A06-49DB-82CF-0590CC8C74CB}"/>
                </c:ext>
              </c:extLst>
            </c:dLbl>
            <c:dLbl>
              <c:idx val="1"/>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A06-49DB-82CF-0590CC8C74CB}"/>
                </c:ext>
              </c:extLst>
            </c:dLbl>
            <c:dLbl>
              <c:idx val="2"/>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A06-49DB-82CF-0590CC8C74CB}"/>
                </c:ext>
              </c:extLst>
            </c:dLbl>
            <c:dLbl>
              <c:idx val="3"/>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A06-49DB-82CF-0590CC8C74CB}"/>
                </c:ext>
              </c:extLst>
            </c:dLbl>
            <c:dLbl>
              <c:idx val="4"/>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A06-49DB-82CF-0590CC8C74CB}"/>
                </c:ext>
              </c:extLst>
            </c:dLbl>
            <c:dLbl>
              <c:idx val="5"/>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A06-49DB-82CF-0590CC8C74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19.89289142790313</c:v>
              </c:pt>
              <c:pt idx="1">
                <c:v>19.72001178897731</c:v>
              </c:pt>
              <c:pt idx="2">
                <c:v>21.311115460280277</c:v>
              </c:pt>
              <c:pt idx="3">
                <c:v>17.984592523714195</c:v>
              </c:pt>
              <c:pt idx="4">
                <c:v>22.584828383301058</c:v>
              </c:pt>
              <c:pt idx="5">
                <c:v>22.425864440074914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D-DA06-49DB-82CF-0590CC8C74CB}"/>
            </c:ext>
          </c:extLst>
        </c:ser>
        <c:ser>
          <c:idx val="2"/>
          <c:order val="2"/>
          <c:tx>
            <c:v>General Retail</c:v>
          </c:tx>
          <c:spPr>
            <a:solidFill>
              <a:srgbClr val="008189"/>
            </a:solidFill>
            <a:ln>
              <a:noFill/>
            </a:ln>
          </c:spPr>
          <c:invertIfNegative val="1"/>
          <c:dLbls>
            <c:dLbl>
              <c:idx val="0"/>
              <c:numFmt formatCode="&quot;MMM&quot;;&quot;MMM&quot;;&quot;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DA06-49DB-82CF-0590CC8C74CB}"/>
                </c:ext>
              </c:extLst>
            </c:dLbl>
            <c:dLbl>
              <c:idx val="1"/>
              <c:numFmt formatCode="&quot;MMM&quot;;&quot;MMM&quot;;&quot;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DA06-49DB-82CF-0590CC8C74CB}"/>
                </c:ext>
              </c:extLst>
            </c:dLbl>
            <c:dLbl>
              <c:idx val="2"/>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DA06-49DB-82CF-0590CC8C74CB}"/>
                </c:ext>
              </c:extLst>
            </c:dLbl>
            <c:dLbl>
              <c:idx val="3"/>
              <c:numFmt formatCode="&quot;MMM&quot;;&quot;MMM&quot;;&quot;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DA06-49DB-82CF-0590CC8C74CB}"/>
                </c:ext>
              </c:extLst>
            </c:dLbl>
            <c:dLbl>
              <c:idx val="4"/>
              <c:numFmt formatCode="&quot;MMM&quot;;&quot;MMM&quot;;&quot;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DA06-49DB-82CF-0590CC8C74CB}"/>
                </c:ext>
              </c:extLst>
            </c:dLbl>
            <c:dLbl>
              <c:idx val="5"/>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DA06-49DB-82CF-0590CC8C74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7.0872933238255653</c:v>
              </c:pt>
              <c:pt idx="1">
                <c:v>7.9749156760651019</c:v>
              </c:pt>
              <c:pt idx="2">
                <c:v>8.1099683988190083</c:v>
              </c:pt>
              <c:pt idx="3">
                <c:v>7.0962191665755663</c:v>
              </c:pt>
              <c:pt idx="4">
                <c:v>6.1808869217927676</c:v>
              </c:pt>
              <c:pt idx="5">
                <c:v>6.8853332396827778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DA06-49DB-82CF-0590CC8C74CB}"/>
            </c:ext>
          </c:extLst>
        </c:ser>
        <c:ser>
          <c:idx val="3"/>
          <c:order val="3"/>
          <c:tx>
            <c:v>Brand-Owned E-commerce</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DA06-49DB-82CF-0590CC8C74CB}"/>
                </c:ext>
              </c:extLst>
            </c:dLbl>
            <c:dLbl>
              <c:idx val="1"/>
              <c:numFmt formatCode="&quot;MMMM&quot;;&quot;MMMM&quot;;&quot;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DA06-49DB-82CF-0590CC8C74CB}"/>
                </c:ext>
              </c:extLst>
            </c:dLbl>
            <c:dLbl>
              <c:idx val="2"/>
              <c:numFmt formatCode="&quot;MMMM&quot;;&quot;MMMM&quot;;&quot;M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DA06-49DB-82CF-0590CC8C74CB}"/>
                </c:ext>
              </c:extLst>
            </c:dLbl>
            <c:dLbl>
              <c:idx val="3"/>
              <c:numFmt formatCode="&quot;MMMM&quot;;&quot;MMMM&quot;;&quot;M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DA06-49DB-82CF-0590CC8C74CB}"/>
                </c:ext>
              </c:extLst>
            </c:dLbl>
            <c:dLbl>
              <c:idx val="4"/>
              <c:numFmt formatCode="&quot;MMMM&quot;;&quot;MMMM&quot;;&quot;M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DA06-49DB-82CF-0590CC8C74CB}"/>
                </c:ext>
              </c:extLst>
            </c:dLbl>
            <c:dLbl>
              <c:idx val="5"/>
              <c:numFmt formatCode="&quot;MMMM&quot;;&quot;MMMM&quot;;&quot;M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DA06-49DB-82CF-0590CC8C74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18.094835105752253</c:v>
              </c:pt>
              <c:pt idx="1">
                <c:v>15.054458525722895</c:v>
              </c:pt>
              <c:pt idx="2">
                <c:v>19.06019952083544</c:v>
              </c:pt>
              <c:pt idx="3">
                <c:v>18.286926113853205</c:v>
              </c:pt>
              <c:pt idx="4">
                <c:v>17.433548701747544</c:v>
              </c:pt>
              <c:pt idx="5">
                <c:v>15.528332966576839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B-DA06-49DB-82CF-0590CC8C74CB}"/>
            </c:ext>
          </c:extLst>
        </c:ser>
        <c:ser>
          <c:idx val="4"/>
          <c:order val="4"/>
          <c:tx>
            <c:v>Third-Party E-commerce</c:v>
          </c:tx>
          <c:spPr>
            <a:solidFill>
              <a:srgbClr val="A35313"/>
            </a:solidFill>
            <a:ln>
              <a:noFill/>
            </a:ln>
          </c:spPr>
          <c:invertIfNegative val="1"/>
          <c:dLbls>
            <c:dLbl>
              <c:idx val="0"/>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DA06-49DB-82CF-0590CC8C74CB}"/>
                </c:ext>
              </c:extLst>
            </c:dLbl>
            <c:dLbl>
              <c:idx val="1"/>
              <c:numFmt formatCode="&quot;MMMM&quot;;&quot;MMMM&quot;;&quot;MMMM&quot;" sourceLinked="0"/>
              <c:spPr>
                <a:blipFill>
                  <a:blip xmlns:r="http://schemas.openxmlformats.org/officeDocument/2006/relationships"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DA06-49DB-82CF-0590CC8C74CB}"/>
                </c:ext>
              </c:extLst>
            </c:dLbl>
            <c:dLbl>
              <c:idx val="2"/>
              <c:numFmt formatCode="&quot;MMMM&quot;;&quot;MMMM&quot;;&quot;MMMM&quot;" sourceLinked="0"/>
              <c:spPr>
                <a:blipFill>
                  <a:blip xmlns:r="http://schemas.openxmlformats.org/officeDocument/2006/relationships"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DA06-49DB-82CF-0590CC8C74CB}"/>
                </c:ext>
              </c:extLst>
            </c:dLbl>
            <c:dLbl>
              <c:idx val="3"/>
              <c:numFmt formatCode="&quot;MMMM&quot;;&quot;MMMM&quot;;&quot;MMMM&quot;" sourceLinked="0"/>
              <c:spPr>
                <a:blipFill>
                  <a:blip xmlns:r="http://schemas.openxmlformats.org/officeDocument/2006/relationships"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DA06-49DB-82CF-0590CC8C74CB}"/>
                </c:ext>
              </c:extLst>
            </c:dLbl>
            <c:dLbl>
              <c:idx val="4"/>
              <c:numFmt formatCode="&quot;MMMM&quot;;&quot;MMMM&quot;;&quot;MMMM&quot;" sourceLinked="0"/>
              <c:spPr>
                <a:blipFill>
                  <a:blip xmlns:r="http://schemas.openxmlformats.org/officeDocument/2006/relationships"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DA06-49DB-82CF-0590CC8C74CB}"/>
                </c:ext>
              </c:extLst>
            </c:dLbl>
            <c:dLbl>
              <c:idx val="5"/>
              <c:numFmt formatCode="&quot;MMMM&quot;;&quot;MMMM&quot;;&quot;MMMM&quot;" sourceLinked="0"/>
              <c:spPr>
                <a:blipFill>
                  <a:blip xmlns:r="http://schemas.openxmlformats.org/officeDocument/2006/relationships"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DA06-49DB-82CF-0590CC8C74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21.300457899703883</c:v>
              </c:pt>
              <c:pt idx="1">
                <c:v>22.148541114058357</c:v>
              </c:pt>
              <c:pt idx="2">
                <c:v>21.083991636046992</c:v>
              </c:pt>
              <c:pt idx="3">
                <c:v>25.506852736276702</c:v>
              </c:pt>
              <c:pt idx="4">
                <c:v>23.277074111746206</c:v>
              </c:pt>
              <c:pt idx="5">
                <c:v>20.80353670323397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2-DA06-49DB-82CF-0590CC8C74CB}"/>
            </c:ext>
          </c:extLst>
        </c:ser>
        <c:ser>
          <c:idx val="5"/>
          <c:order val="5"/>
          <c:tx>
            <c:v>Other Direct Sales</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DA06-49DB-82CF-0590CC8C74CB}"/>
                </c:ext>
              </c:extLst>
            </c:dLbl>
            <c:dLbl>
              <c:idx val="1"/>
              <c:numFmt formatCode="&quot;MMM&quot;;&quot;MMM&quot;;&quot;MMM&quot;" sourceLinked="0"/>
              <c:spPr>
                <a:blipFill>
                  <a:blip xmlns:r="http://schemas.openxmlformats.org/officeDocument/2006/relationships"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DA06-49DB-82CF-0590CC8C74CB}"/>
                </c:ext>
              </c:extLst>
            </c:dLbl>
            <c:dLbl>
              <c:idx val="2"/>
              <c:numFmt formatCode="&quot;MMM&quot;;&quot;MMM&quot;;&quot;MMM&quot;" sourceLinked="0"/>
              <c:spPr>
                <a:blipFill>
                  <a:blip xmlns:r="http://schemas.openxmlformats.org/officeDocument/2006/relationships"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DA06-49DB-82CF-0590CC8C74CB}"/>
                </c:ext>
              </c:extLst>
            </c:dLbl>
            <c:dLbl>
              <c:idx val="3"/>
              <c:numFmt formatCode="&quot;MMM&quot;;&quot;MMM&quot;;&quot;MMM&quot;" sourceLinked="0"/>
              <c:spPr>
                <a:blipFill>
                  <a:blip xmlns:r="http://schemas.openxmlformats.org/officeDocument/2006/relationships"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DA06-49DB-82CF-0590CC8C74CB}"/>
                </c:ext>
              </c:extLst>
            </c:dLbl>
            <c:dLbl>
              <c:idx val="4"/>
              <c:numFmt formatCode="&quot;MMM&quot;;&quot;MMM&quot;;&quot;MMM&quot;" sourceLinked="0"/>
              <c:spPr>
                <a:blipFill>
                  <a:blip xmlns:r="http://schemas.openxmlformats.org/officeDocument/2006/relationships"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DA06-49DB-82CF-0590CC8C74CB}"/>
                </c:ext>
              </c:extLst>
            </c:dLbl>
            <c:dLbl>
              <c:idx val="5"/>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DA06-49DB-82CF-0590CC8C74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Middle East &amp; Africa</c:v>
              </c:pt>
              <c:pt idx="1">
                <c:v>Latin America</c:v>
              </c:pt>
              <c:pt idx="2">
                <c:v>East Asia</c:v>
              </c:pt>
              <c:pt idx="3">
                <c:v>South Asia &amp; Pacific</c:v>
              </c:pt>
              <c:pt idx="4">
                <c:v>Europe</c:v>
              </c:pt>
              <c:pt idx="5">
                <c:v>North America</c:v>
              </c:pt>
            </c:strLit>
          </c:cat>
          <c:val>
            <c:numLit>
              <c:formatCode>General</c:formatCode>
              <c:ptCount val="6"/>
              <c:pt idx="0">
                <c:v>7.5262695387054377</c:v>
              </c:pt>
              <c:pt idx="1">
                <c:v>7.5689163965026038</c:v>
              </c:pt>
              <c:pt idx="2">
                <c:v>6.77439548880219</c:v>
              </c:pt>
              <c:pt idx="3">
                <c:v>7.9393569891255833</c:v>
              </c:pt>
              <c:pt idx="4">
                <c:v>7.3325399991337541</c:v>
              </c:pt>
              <c:pt idx="5">
                <c:v>8.0620051355871976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9-DA06-49DB-82CF-0590CC8C74CB}"/>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Veterinary Channels</c:v>
          </c:tx>
          <c:spPr>
            <a:solidFill>
              <a:srgbClr val="3D85C6"/>
            </a:solidFill>
          </c:spPr>
          <c:invertIfNegative val="0"/>
          <c:xVal>
            <c:numLit>
              <c:formatCode>General</c:formatCode>
              <c:ptCount val="1"/>
              <c:pt idx="0">
                <c:v>86.113133190465078</c:v>
              </c:pt>
            </c:numLit>
          </c:xVal>
          <c:yVal>
            <c:numLit>
              <c:formatCode>General</c:formatCode>
              <c:ptCount val="1"/>
              <c:pt idx="0">
                <c:v>158.7520733944954</c:v>
              </c:pt>
            </c:numLit>
          </c:yVal>
          <c:bubbleSize>
            <c:numLit>
              <c:formatCode>General</c:formatCode>
              <c:ptCount val="1"/>
              <c:pt idx="0">
                <c:v>4394.1310000000003</c:v>
              </c:pt>
            </c:numLit>
          </c:bubbleSize>
          <c:bubble3D val="0"/>
          <c:extLst>
            <c:ext xmlns:c16="http://schemas.microsoft.com/office/drawing/2014/chart" uri="{C3380CC4-5D6E-409C-BE32-E72D297353CC}">
              <c16:uniqueId val="{00000000-7E23-4250-840C-F7D1B6A38E54}"/>
            </c:ext>
          </c:extLst>
        </c:ser>
        <c:ser>
          <c:idx val="1"/>
          <c:order val="1"/>
          <c:tx>
            <c:v>Specialist Pet Retail</c:v>
          </c:tx>
          <c:spPr>
            <a:solidFill>
              <a:srgbClr val="9E7E0A"/>
            </a:solidFill>
          </c:spPr>
          <c:invertIfNegative val="0"/>
          <c:xVal>
            <c:numLit>
              <c:formatCode>General</c:formatCode>
              <c:ptCount val="1"/>
              <c:pt idx="0">
                <c:v>143.47940420780247</c:v>
              </c:pt>
            </c:numLit>
          </c:xVal>
          <c:yVal>
            <c:numLit>
              <c:formatCode>General</c:formatCode>
              <c:ptCount val="1"/>
              <c:pt idx="0">
                <c:v>104.34297247706421</c:v>
              </c:pt>
            </c:numLit>
          </c:yVal>
          <c:bubbleSize>
            <c:numLit>
              <c:formatCode>General</c:formatCode>
              <c:ptCount val="1"/>
              <c:pt idx="0">
                <c:v>3787.1010000000001</c:v>
              </c:pt>
            </c:numLit>
          </c:bubbleSize>
          <c:bubble3D val="0"/>
          <c:extLst>
            <c:ext xmlns:c16="http://schemas.microsoft.com/office/drawing/2014/chart" uri="{C3380CC4-5D6E-409C-BE32-E72D297353CC}">
              <c16:uniqueId val="{00000001-7E23-4250-840C-F7D1B6A38E54}"/>
            </c:ext>
          </c:extLst>
        </c:ser>
        <c:ser>
          <c:idx val="2"/>
          <c:order val="2"/>
          <c:tx>
            <c:v>General Retail</c:v>
          </c:tx>
          <c:spPr>
            <a:solidFill>
              <a:srgbClr val="008189"/>
            </a:solidFill>
          </c:spPr>
          <c:invertIfNegative val="0"/>
          <c:xVal>
            <c:numLit>
              <c:formatCode>General</c:formatCode>
              <c:ptCount val="1"/>
              <c:pt idx="0">
                <c:v>41.3191813578987</c:v>
              </c:pt>
            </c:numLit>
          </c:xVal>
          <c:yVal>
            <c:numLit>
              <c:formatCode>General</c:formatCode>
              <c:ptCount val="1"/>
              <c:pt idx="0">
                <c:v>55.553834862385322</c:v>
              </c:pt>
            </c:numLit>
          </c:yVal>
          <c:bubbleSize>
            <c:numLit>
              <c:formatCode>General</c:formatCode>
              <c:ptCount val="1"/>
              <c:pt idx="0">
                <c:v>1237.942</c:v>
              </c:pt>
            </c:numLit>
          </c:bubbleSize>
          <c:bubble3D val="0"/>
          <c:extLst>
            <c:ext xmlns:c16="http://schemas.microsoft.com/office/drawing/2014/chart" uri="{C3380CC4-5D6E-409C-BE32-E72D297353CC}">
              <c16:uniqueId val="{00000002-7E23-4250-840C-F7D1B6A38E54}"/>
            </c:ext>
          </c:extLst>
        </c:ser>
        <c:ser>
          <c:idx val="3"/>
          <c:order val="3"/>
          <c:tx>
            <c:v>Brand-Owned E-commerce</c:v>
          </c:tx>
          <c:spPr>
            <a:solidFill>
              <a:srgbClr val="40315E"/>
            </a:solidFill>
          </c:spPr>
          <c:invertIfNegative val="0"/>
          <c:xVal>
            <c:numLit>
              <c:formatCode>General</c:formatCode>
              <c:ptCount val="1"/>
              <c:pt idx="0">
                <c:v>59.961246086705835</c:v>
              </c:pt>
            </c:numLit>
          </c:xVal>
          <c:yVal>
            <c:numLit>
              <c:formatCode>General</c:formatCode>
              <c:ptCount val="1"/>
              <c:pt idx="0">
                <c:v>123.76337614678896</c:v>
              </c:pt>
            </c:numLit>
          </c:yVal>
          <c:bubbleSize>
            <c:numLit>
              <c:formatCode>General</c:formatCode>
              <c:ptCount val="1"/>
              <c:pt idx="0">
                <c:v>3020.0680000000002</c:v>
              </c:pt>
            </c:numLit>
          </c:bubbleSize>
          <c:bubble3D val="0"/>
          <c:extLst>
            <c:ext xmlns:c16="http://schemas.microsoft.com/office/drawing/2014/chart" uri="{C3380CC4-5D6E-409C-BE32-E72D297353CC}">
              <c16:uniqueId val="{00000003-7E23-4250-840C-F7D1B6A38E54}"/>
            </c:ext>
          </c:extLst>
        </c:ser>
        <c:ser>
          <c:idx val="4"/>
          <c:order val="4"/>
          <c:tx>
            <c:v>Third-Party E-commerce</c:v>
          </c:tx>
          <c:spPr>
            <a:solidFill>
              <a:srgbClr val="A35313"/>
            </a:solidFill>
          </c:spPr>
          <c:invertIfNegative val="0"/>
          <c:xVal>
            <c:numLit>
              <c:formatCode>General</c:formatCode>
              <c:ptCount val="1"/>
              <c:pt idx="0">
                <c:v>152.67973363885216</c:v>
              </c:pt>
            </c:numLit>
          </c:xVal>
          <c:yVal>
            <c:numLit>
              <c:formatCode>General</c:formatCode>
              <c:ptCount val="1"/>
              <c:pt idx="0">
                <c:v>104.50040366972475</c:v>
              </c:pt>
            </c:numLit>
          </c:yVal>
          <c:bubbleSize>
            <c:numLit>
              <c:formatCode>General</c:formatCode>
              <c:ptCount val="1"/>
              <c:pt idx="0">
                <c:v>3958.616</c:v>
              </c:pt>
            </c:numLit>
          </c:bubbleSize>
          <c:bubble3D val="0"/>
          <c:extLst>
            <c:ext xmlns:c16="http://schemas.microsoft.com/office/drawing/2014/chart" uri="{C3380CC4-5D6E-409C-BE32-E72D297353CC}">
              <c16:uniqueId val="{00000004-7E23-4250-840C-F7D1B6A38E54}"/>
            </c:ext>
          </c:extLst>
        </c:ser>
        <c:ser>
          <c:idx val="5"/>
          <c:order val="5"/>
          <c:tx>
            <c:v>Other Direct Sales</c:v>
          </c:tx>
          <c:spPr>
            <a:solidFill>
              <a:srgbClr val="808080"/>
            </a:solidFill>
          </c:spPr>
          <c:invertIfNegative val="0"/>
          <c:xVal>
            <c:numLit>
              <c:formatCode>General</c:formatCode>
              <c:ptCount val="1"/>
              <c:pt idx="0">
                <c:v>68.126503314752213</c:v>
              </c:pt>
            </c:numLit>
          </c:xVal>
          <c:yVal>
            <c:numLit>
              <c:formatCode>General</c:formatCode>
              <c:ptCount val="1"/>
              <c:pt idx="0">
                <c:v>53.087339449541268</c:v>
              </c:pt>
            </c:numLit>
          </c:yVal>
          <c:bubbleSize>
            <c:numLit>
              <c:formatCode>General</c:formatCode>
              <c:ptCount val="1"/>
              <c:pt idx="0">
                <c:v>1347.6510000000001</c:v>
              </c:pt>
            </c:numLit>
          </c:bubbleSize>
          <c:bubble3D val="0"/>
          <c:extLst>
            <c:ext xmlns:c16="http://schemas.microsoft.com/office/drawing/2014/chart" uri="{C3380CC4-5D6E-409C-BE32-E72D297353CC}">
              <c16:uniqueId val="{00000005-7E23-4250-840C-F7D1B6A38E54}"/>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
          <c:min val="10"/>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200"/>
          <c:min val="25"/>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2883.9960000000001</c:v>
              </c:pt>
              <c:pt idx="2">
                <c:v>3137.4409999999998</c:v>
              </c:pt>
              <c:pt idx="3">
                <c:v>3413.1909999999998</c:v>
              </c:pt>
              <c:pt idx="4">
                <c:v>3713.1660000000002</c:v>
              </c:pt>
              <c:pt idx="5">
                <c:v>4039.41</c:v>
              </c:pt>
              <c:pt idx="6">
                <c:v>0</c:v>
              </c:pt>
            </c:numLit>
          </c:val>
          <c:extLst>
            <c:ext xmlns:c16="http://schemas.microsoft.com/office/drawing/2014/chart" uri="{C3380CC4-5D6E-409C-BE32-E72D297353CC}">
              <c16:uniqueId val="{00000000-6A3D-4AC1-898B-37B3932FBC4C}"/>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6A3D-4AC1-898B-37B3932FBC4C}"/>
              </c:ext>
            </c:extLst>
          </c:dPt>
          <c:dPt>
            <c:idx val="1"/>
            <c:invertIfNegative val="1"/>
            <c:bubble3D val="0"/>
            <c:spPr>
              <a:solidFill>
                <a:srgbClr val="008189"/>
              </a:solidFill>
            </c:spPr>
            <c:extLst>
              <c:ext xmlns:c16="http://schemas.microsoft.com/office/drawing/2014/chart" uri="{C3380CC4-5D6E-409C-BE32-E72D297353CC}">
                <c16:uniqueId val="{00000004-6A3D-4AC1-898B-37B3932FBC4C}"/>
              </c:ext>
            </c:extLst>
          </c:dPt>
          <c:dPt>
            <c:idx val="2"/>
            <c:invertIfNegative val="1"/>
            <c:bubble3D val="0"/>
            <c:spPr>
              <a:solidFill>
                <a:srgbClr val="008189"/>
              </a:solidFill>
            </c:spPr>
            <c:extLst>
              <c:ext xmlns:c16="http://schemas.microsoft.com/office/drawing/2014/chart" uri="{C3380CC4-5D6E-409C-BE32-E72D297353CC}">
                <c16:uniqueId val="{00000006-6A3D-4AC1-898B-37B3932FBC4C}"/>
              </c:ext>
            </c:extLst>
          </c:dPt>
          <c:dPt>
            <c:idx val="3"/>
            <c:invertIfNegative val="1"/>
            <c:bubble3D val="0"/>
            <c:spPr>
              <a:solidFill>
                <a:srgbClr val="008189"/>
              </a:solidFill>
            </c:spPr>
            <c:extLst>
              <c:ext xmlns:c16="http://schemas.microsoft.com/office/drawing/2014/chart" uri="{C3380CC4-5D6E-409C-BE32-E72D297353CC}">
                <c16:uniqueId val="{00000008-6A3D-4AC1-898B-37B3932FBC4C}"/>
              </c:ext>
            </c:extLst>
          </c:dPt>
          <c:dPt>
            <c:idx val="4"/>
            <c:invertIfNegative val="1"/>
            <c:bubble3D val="0"/>
            <c:spPr>
              <a:solidFill>
                <a:srgbClr val="008189"/>
              </a:solidFill>
            </c:spPr>
            <c:extLst>
              <c:ext xmlns:c16="http://schemas.microsoft.com/office/drawing/2014/chart" uri="{C3380CC4-5D6E-409C-BE32-E72D297353CC}">
                <c16:uniqueId val="{0000000A-6A3D-4AC1-898B-37B3932FBC4C}"/>
              </c:ext>
            </c:extLst>
          </c:dPt>
          <c:dPt>
            <c:idx val="5"/>
            <c:invertIfNegative val="1"/>
            <c:bubble3D val="0"/>
            <c:spPr>
              <a:solidFill>
                <a:srgbClr val="008189"/>
              </a:solidFill>
            </c:spPr>
            <c:extLst>
              <c:ext xmlns:c16="http://schemas.microsoft.com/office/drawing/2014/chart" uri="{C3380CC4-5D6E-409C-BE32-E72D297353CC}">
                <c16:uniqueId val="{0000000C-6A3D-4AC1-898B-37B3932FBC4C}"/>
              </c:ext>
            </c:extLst>
          </c:dPt>
          <c:dPt>
            <c:idx val="6"/>
            <c:invertIfNegative val="1"/>
            <c:bubble3D val="0"/>
            <c:spPr>
              <a:solidFill>
                <a:srgbClr val="0E72AE"/>
              </a:solidFill>
            </c:spPr>
            <c:extLst>
              <c:ext xmlns:c16="http://schemas.microsoft.com/office/drawing/2014/chart" uri="{C3380CC4-5D6E-409C-BE32-E72D297353CC}">
                <c16:uniqueId val="{0000000E-6A3D-4AC1-898B-37B3932FBC4C}"/>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A3D-4AC1-898B-37B3932FBC4C}"/>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A3D-4AC1-898B-37B3932FBC4C}"/>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A3D-4AC1-898B-37B3932FBC4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A3D-4AC1-898B-37B3932FBC4C}"/>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A3D-4AC1-898B-37B3932FBC4C}"/>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A3D-4AC1-898B-37B3932FBC4C}"/>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6A3D-4AC1-898B-37B3932FBC4C}"/>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2883.9960000000001</c:v>
              </c:pt>
              <c:pt idx="1">
                <c:v>253.44499999999971</c:v>
              </c:pt>
              <c:pt idx="2">
                <c:v>275.75</c:v>
              </c:pt>
              <c:pt idx="3">
                <c:v>299.97500000000036</c:v>
              </c:pt>
              <c:pt idx="4">
                <c:v>326.24399999999969</c:v>
              </c:pt>
              <c:pt idx="5">
                <c:v>354.72100000000046</c:v>
              </c:pt>
              <c:pt idx="6">
                <c:v>4394.1310000000003</c:v>
              </c:pt>
            </c:numLit>
          </c:val>
          <c:extLst>
            <c:ext xmlns:c16="http://schemas.microsoft.com/office/drawing/2014/chart" uri="{C3380CC4-5D6E-409C-BE32-E72D297353CC}">
              <c16:uniqueId val="{0000000F-6A3D-4AC1-898B-37B3932FBC4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1895.5640000000001</c:v>
              </c:pt>
              <c:pt idx="2">
                <c:v>2179.33</c:v>
              </c:pt>
              <c:pt idx="3">
                <c:v>2504.0419999999999</c:v>
              </c:pt>
              <c:pt idx="4">
                <c:v>2875.58</c:v>
              </c:pt>
              <c:pt idx="5">
                <c:v>3300.692</c:v>
              </c:pt>
              <c:pt idx="6">
                <c:v>0</c:v>
              </c:pt>
            </c:numLit>
          </c:val>
          <c:extLst>
            <c:ext xmlns:c16="http://schemas.microsoft.com/office/drawing/2014/chart" uri="{C3380CC4-5D6E-409C-BE32-E72D297353CC}">
              <c16:uniqueId val="{00000000-C4C1-440C-B599-17FCC3406BE1}"/>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C4C1-440C-B599-17FCC3406BE1}"/>
              </c:ext>
            </c:extLst>
          </c:dPt>
          <c:dPt>
            <c:idx val="1"/>
            <c:invertIfNegative val="1"/>
            <c:bubble3D val="0"/>
            <c:spPr>
              <a:solidFill>
                <a:srgbClr val="008189"/>
              </a:solidFill>
            </c:spPr>
            <c:extLst>
              <c:ext xmlns:c16="http://schemas.microsoft.com/office/drawing/2014/chart" uri="{C3380CC4-5D6E-409C-BE32-E72D297353CC}">
                <c16:uniqueId val="{00000004-C4C1-440C-B599-17FCC3406BE1}"/>
              </c:ext>
            </c:extLst>
          </c:dPt>
          <c:dPt>
            <c:idx val="2"/>
            <c:invertIfNegative val="1"/>
            <c:bubble3D val="0"/>
            <c:spPr>
              <a:solidFill>
                <a:srgbClr val="008189"/>
              </a:solidFill>
            </c:spPr>
            <c:extLst>
              <c:ext xmlns:c16="http://schemas.microsoft.com/office/drawing/2014/chart" uri="{C3380CC4-5D6E-409C-BE32-E72D297353CC}">
                <c16:uniqueId val="{00000006-C4C1-440C-B599-17FCC3406BE1}"/>
              </c:ext>
            </c:extLst>
          </c:dPt>
          <c:dPt>
            <c:idx val="3"/>
            <c:invertIfNegative val="1"/>
            <c:bubble3D val="0"/>
            <c:spPr>
              <a:solidFill>
                <a:srgbClr val="008189"/>
              </a:solidFill>
            </c:spPr>
            <c:extLst>
              <c:ext xmlns:c16="http://schemas.microsoft.com/office/drawing/2014/chart" uri="{C3380CC4-5D6E-409C-BE32-E72D297353CC}">
                <c16:uniqueId val="{00000008-C4C1-440C-B599-17FCC3406BE1}"/>
              </c:ext>
            </c:extLst>
          </c:dPt>
          <c:dPt>
            <c:idx val="4"/>
            <c:invertIfNegative val="1"/>
            <c:bubble3D val="0"/>
            <c:spPr>
              <a:solidFill>
                <a:srgbClr val="008189"/>
              </a:solidFill>
            </c:spPr>
            <c:extLst>
              <c:ext xmlns:c16="http://schemas.microsoft.com/office/drawing/2014/chart" uri="{C3380CC4-5D6E-409C-BE32-E72D297353CC}">
                <c16:uniqueId val="{0000000A-C4C1-440C-B599-17FCC3406BE1}"/>
              </c:ext>
            </c:extLst>
          </c:dPt>
          <c:dPt>
            <c:idx val="5"/>
            <c:invertIfNegative val="1"/>
            <c:bubble3D val="0"/>
            <c:spPr>
              <a:solidFill>
                <a:srgbClr val="008189"/>
              </a:solidFill>
            </c:spPr>
            <c:extLst>
              <c:ext xmlns:c16="http://schemas.microsoft.com/office/drawing/2014/chart" uri="{C3380CC4-5D6E-409C-BE32-E72D297353CC}">
                <c16:uniqueId val="{0000000C-C4C1-440C-B599-17FCC3406BE1}"/>
              </c:ext>
            </c:extLst>
          </c:dPt>
          <c:dPt>
            <c:idx val="6"/>
            <c:invertIfNegative val="1"/>
            <c:bubble3D val="0"/>
            <c:spPr>
              <a:solidFill>
                <a:srgbClr val="0E72AE"/>
              </a:solidFill>
            </c:spPr>
            <c:extLst>
              <c:ext xmlns:c16="http://schemas.microsoft.com/office/drawing/2014/chart" uri="{C3380CC4-5D6E-409C-BE32-E72D297353CC}">
                <c16:uniqueId val="{0000000E-C4C1-440C-B599-17FCC3406BE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C1-440C-B599-17FCC3406BE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4C1-440C-B599-17FCC3406BE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4C1-440C-B599-17FCC3406BE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4C1-440C-B599-17FCC3406BE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4C1-440C-B599-17FCC3406BE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4C1-440C-B599-17FCC3406BE1}"/>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4C1-440C-B599-17FCC3406BE1}"/>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1895.5640000000001</c:v>
              </c:pt>
              <c:pt idx="1">
                <c:v>283.76599999999985</c:v>
              </c:pt>
              <c:pt idx="2">
                <c:v>324.71199999999999</c:v>
              </c:pt>
              <c:pt idx="3">
                <c:v>371.53800000000001</c:v>
              </c:pt>
              <c:pt idx="4">
                <c:v>425.11200000000008</c:v>
              </c:pt>
              <c:pt idx="5">
                <c:v>486.40900000000011</c:v>
              </c:pt>
              <c:pt idx="6">
                <c:v>3787.1010000000001</c:v>
              </c:pt>
            </c:numLit>
          </c:val>
          <c:extLst>
            <c:ext xmlns:c16="http://schemas.microsoft.com/office/drawing/2014/chart" uri="{C3380CC4-5D6E-409C-BE32-E72D297353CC}">
              <c16:uniqueId val="{0000000F-C4C1-440C-B599-17FCC3406BE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1009.228</c:v>
              </c:pt>
              <c:pt idx="2">
                <c:v>1058.932</c:v>
              </c:pt>
              <c:pt idx="3">
                <c:v>1107.654</c:v>
              </c:pt>
              <c:pt idx="4">
                <c:v>1154.502</c:v>
              </c:pt>
              <c:pt idx="5">
                <c:v>1198.3800000000001</c:v>
              </c:pt>
              <c:pt idx="6">
                <c:v>0</c:v>
              </c:pt>
            </c:numLit>
          </c:val>
          <c:extLst>
            <c:ext xmlns:c16="http://schemas.microsoft.com/office/drawing/2014/chart" uri="{C3380CC4-5D6E-409C-BE32-E72D297353CC}">
              <c16:uniqueId val="{00000000-C059-4302-A05F-72587394C01E}"/>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C059-4302-A05F-72587394C01E}"/>
              </c:ext>
            </c:extLst>
          </c:dPt>
          <c:dPt>
            <c:idx val="1"/>
            <c:invertIfNegative val="1"/>
            <c:bubble3D val="0"/>
            <c:spPr>
              <a:solidFill>
                <a:srgbClr val="008189"/>
              </a:solidFill>
            </c:spPr>
            <c:extLst>
              <c:ext xmlns:c16="http://schemas.microsoft.com/office/drawing/2014/chart" uri="{C3380CC4-5D6E-409C-BE32-E72D297353CC}">
                <c16:uniqueId val="{00000004-C059-4302-A05F-72587394C01E}"/>
              </c:ext>
            </c:extLst>
          </c:dPt>
          <c:dPt>
            <c:idx val="2"/>
            <c:invertIfNegative val="1"/>
            <c:bubble3D val="0"/>
            <c:spPr>
              <a:solidFill>
                <a:srgbClr val="008189"/>
              </a:solidFill>
            </c:spPr>
            <c:extLst>
              <c:ext xmlns:c16="http://schemas.microsoft.com/office/drawing/2014/chart" uri="{C3380CC4-5D6E-409C-BE32-E72D297353CC}">
                <c16:uniqueId val="{00000006-C059-4302-A05F-72587394C01E}"/>
              </c:ext>
            </c:extLst>
          </c:dPt>
          <c:dPt>
            <c:idx val="3"/>
            <c:invertIfNegative val="1"/>
            <c:bubble3D val="0"/>
            <c:spPr>
              <a:solidFill>
                <a:srgbClr val="008189"/>
              </a:solidFill>
            </c:spPr>
            <c:extLst>
              <c:ext xmlns:c16="http://schemas.microsoft.com/office/drawing/2014/chart" uri="{C3380CC4-5D6E-409C-BE32-E72D297353CC}">
                <c16:uniqueId val="{00000008-C059-4302-A05F-72587394C01E}"/>
              </c:ext>
            </c:extLst>
          </c:dPt>
          <c:dPt>
            <c:idx val="4"/>
            <c:invertIfNegative val="1"/>
            <c:bubble3D val="0"/>
            <c:spPr>
              <a:solidFill>
                <a:srgbClr val="008189"/>
              </a:solidFill>
            </c:spPr>
            <c:extLst>
              <c:ext xmlns:c16="http://schemas.microsoft.com/office/drawing/2014/chart" uri="{C3380CC4-5D6E-409C-BE32-E72D297353CC}">
                <c16:uniqueId val="{0000000A-C059-4302-A05F-72587394C01E}"/>
              </c:ext>
            </c:extLst>
          </c:dPt>
          <c:dPt>
            <c:idx val="5"/>
            <c:invertIfNegative val="1"/>
            <c:bubble3D val="0"/>
            <c:spPr>
              <a:solidFill>
                <a:srgbClr val="008189"/>
              </a:solidFill>
            </c:spPr>
            <c:extLst>
              <c:ext xmlns:c16="http://schemas.microsoft.com/office/drawing/2014/chart" uri="{C3380CC4-5D6E-409C-BE32-E72D297353CC}">
                <c16:uniqueId val="{0000000C-C059-4302-A05F-72587394C01E}"/>
              </c:ext>
            </c:extLst>
          </c:dPt>
          <c:dPt>
            <c:idx val="6"/>
            <c:invertIfNegative val="1"/>
            <c:bubble3D val="0"/>
            <c:spPr>
              <a:solidFill>
                <a:srgbClr val="0E72AE"/>
              </a:solidFill>
            </c:spPr>
            <c:extLst>
              <c:ext xmlns:c16="http://schemas.microsoft.com/office/drawing/2014/chart" uri="{C3380CC4-5D6E-409C-BE32-E72D297353CC}">
                <c16:uniqueId val="{0000000E-C059-4302-A05F-72587394C01E}"/>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059-4302-A05F-72587394C01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059-4302-A05F-72587394C01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059-4302-A05F-72587394C01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059-4302-A05F-72587394C01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059-4302-A05F-72587394C01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059-4302-A05F-72587394C01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059-4302-A05F-72587394C01E}"/>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1009.228</c:v>
              </c:pt>
              <c:pt idx="1">
                <c:v>49.704000000000065</c:v>
              </c:pt>
              <c:pt idx="2">
                <c:v>48.72199999999998</c:v>
              </c:pt>
              <c:pt idx="3">
                <c:v>46.847999999999956</c:v>
              </c:pt>
              <c:pt idx="4">
                <c:v>43.878000000000156</c:v>
              </c:pt>
              <c:pt idx="5">
                <c:v>39.561999999999898</c:v>
              </c:pt>
              <c:pt idx="6">
                <c:v>1237.942</c:v>
              </c:pt>
            </c:numLit>
          </c:val>
          <c:extLst>
            <c:ext xmlns:c16="http://schemas.microsoft.com/office/drawing/2014/chart" uri="{C3380CC4-5D6E-409C-BE32-E72D297353CC}">
              <c16:uniqueId val="{0000000F-C059-4302-A05F-72587394C01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2248.3679999999999</c:v>
              </c:pt>
              <c:pt idx="2">
                <c:v>2393.4789999999998</c:v>
              </c:pt>
              <c:pt idx="3">
                <c:v>2544.0039999999999</c:v>
              </c:pt>
              <c:pt idx="4">
                <c:v>2699.2730000000001</c:v>
              </c:pt>
              <c:pt idx="5">
                <c:v>2858.3620000000001</c:v>
              </c:pt>
              <c:pt idx="6">
                <c:v>0</c:v>
              </c:pt>
            </c:numLit>
          </c:val>
          <c:extLst>
            <c:ext xmlns:c16="http://schemas.microsoft.com/office/drawing/2014/chart" uri="{C3380CC4-5D6E-409C-BE32-E72D297353CC}">
              <c16:uniqueId val="{00000000-D04B-49E6-8304-00DE531B5589}"/>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D04B-49E6-8304-00DE531B5589}"/>
              </c:ext>
            </c:extLst>
          </c:dPt>
          <c:dPt>
            <c:idx val="1"/>
            <c:invertIfNegative val="1"/>
            <c:bubble3D val="0"/>
            <c:spPr>
              <a:solidFill>
                <a:srgbClr val="008189"/>
              </a:solidFill>
            </c:spPr>
            <c:extLst>
              <c:ext xmlns:c16="http://schemas.microsoft.com/office/drawing/2014/chart" uri="{C3380CC4-5D6E-409C-BE32-E72D297353CC}">
                <c16:uniqueId val="{00000004-D04B-49E6-8304-00DE531B5589}"/>
              </c:ext>
            </c:extLst>
          </c:dPt>
          <c:dPt>
            <c:idx val="2"/>
            <c:invertIfNegative val="1"/>
            <c:bubble3D val="0"/>
            <c:spPr>
              <a:solidFill>
                <a:srgbClr val="008189"/>
              </a:solidFill>
            </c:spPr>
            <c:extLst>
              <c:ext xmlns:c16="http://schemas.microsoft.com/office/drawing/2014/chart" uri="{C3380CC4-5D6E-409C-BE32-E72D297353CC}">
                <c16:uniqueId val="{00000006-D04B-49E6-8304-00DE531B5589}"/>
              </c:ext>
            </c:extLst>
          </c:dPt>
          <c:dPt>
            <c:idx val="3"/>
            <c:invertIfNegative val="1"/>
            <c:bubble3D val="0"/>
            <c:spPr>
              <a:solidFill>
                <a:srgbClr val="008189"/>
              </a:solidFill>
            </c:spPr>
            <c:extLst>
              <c:ext xmlns:c16="http://schemas.microsoft.com/office/drawing/2014/chart" uri="{C3380CC4-5D6E-409C-BE32-E72D297353CC}">
                <c16:uniqueId val="{00000008-D04B-49E6-8304-00DE531B5589}"/>
              </c:ext>
            </c:extLst>
          </c:dPt>
          <c:dPt>
            <c:idx val="4"/>
            <c:invertIfNegative val="1"/>
            <c:bubble3D val="0"/>
            <c:spPr>
              <a:solidFill>
                <a:srgbClr val="008189"/>
              </a:solidFill>
            </c:spPr>
            <c:extLst>
              <c:ext xmlns:c16="http://schemas.microsoft.com/office/drawing/2014/chart" uri="{C3380CC4-5D6E-409C-BE32-E72D297353CC}">
                <c16:uniqueId val="{0000000A-D04B-49E6-8304-00DE531B5589}"/>
              </c:ext>
            </c:extLst>
          </c:dPt>
          <c:dPt>
            <c:idx val="5"/>
            <c:invertIfNegative val="1"/>
            <c:bubble3D val="0"/>
            <c:spPr>
              <a:solidFill>
                <a:srgbClr val="008189"/>
              </a:solidFill>
            </c:spPr>
            <c:extLst>
              <c:ext xmlns:c16="http://schemas.microsoft.com/office/drawing/2014/chart" uri="{C3380CC4-5D6E-409C-BE32-E72D297353CC}">
                <c16:uniqueId val="{0000000C-D04B-49E6-8304-00DE531B5589}"/>
              </c:ext>
            </c:extLst>
          </c:dPt>
          <c:dPt>
            <c:idx val="6"/>
            <c:invertIfNegative val="1"/>
            <c:bubble3D val="0"/>
            <c:spPr>
              <a:solidFill>
                <a:srgbClr val="0E72AE"/>
              </a:solidFill>
            </c:spPr>
            <c:extLst>
              <c:ext xmlns:c16="http://schemas.microsoft.com/office/drawing/2014/chart" uri="{C3380CC4-5D6E-409C-BE32-E72D297353CC}">
                <c16:uniqueId val="{0000000E-D04B-49E6-8304-00DE531B5589}"/>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04B-49E6-8304-00DE531B5589}"/>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04B-49E6-8304-00DE531B5589}"/>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04B-49E6-8304-00DE531B5589}"/>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04B-49E6-8304-00DE531B5589}"/>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04B-49E6-8304-00DE531B5589}"/>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04B-49E6-8304-00DE531B5589}"/>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D04B-49E6-8304-00DE531B5589}"/>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2248.3679999999999</c:v>
              </c:pt>
              <c:pt idx="1">
                <c:v>145.11099999999988</c:v>
              </c:pt>
              <c:pt idx="2">
                <c:v>150.52500000000009</c:v>
              </c:pt>
              <c:pt idx="3">
                <c:v>155.26900000000023</c:v>
              </c:pt>
              <c:pt idx="4">
                <c:v>159.08899999999994</c:v>
              </c:pt>
              <c:pt idx="5">
                <c:v>161.70600000000013</c:v>
              </c:pt>
              <c:pt idx="6">
                <c:v>3020.0680000000002</c:v>
              </c:pt>
            </c:numLit>
          </c:val>
          <c:extLst>
            <c:ext xmlns:c16="http://schemas.microsoft.com/office/drawing/2014/chart" uri="{C3380CC4-5D6E-409C-BE32-E72D297353CC}">
              <c16:uniqueId val="{0000000F-D04B-49E6-8304-00DE531B5589}"/>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1898.424</c:v>
              </c:pt>
              <c:pt idx="2">
                <c:v>2203.5349999999999</c:v>
              </c:pt>
              <c:pt idx="3">
                <c:v>2554.7289999999998</c:v>
              </c:pt>
              <c:pt idx="4">
                <c:v>2958.8560000000002</c:v>
              </c:pt>
              <c:pt idx="5">
                <c:v>3423.8040000000001</c:v>
              </c:pt>
              <c:pt idx="6">
                <c:v>0</c:v>
              </c:pt>
            </c:numLit>
          </c:val>
          <c:extLst>
            <c:ext xmlns:c16="http://schemas.microsoft.com/office/drawing/2014/chart" uri="{C3380CC4-5D6E-409C-BE32-E72D297353CC}">
              <c16:uniqueId val="{00000000-E2EC-4BE0-B337-10F75EE9AFB7}"/>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E2EC-4BE0-B337-10F75EE9AFB7}"/>
              </c:ext>
            </c:extLst>
          </c:dPt>
          <c:dPt>
            <c:idx val="1"/>
            <c:invertIfNegative val="1"/>
            <c:bubble3D val="0"/>
            <c:spPr>
              <a:solidFill>
                <a:srgbClr val="008189"/>
              </a:solidFill>
            </c:spPr>
            <c:extLst>
              <c:ext xmlns:c16="http://schemas.microsoft.com/office/drawing/2014/chart" uri="{C3380CC4-5D6E-409C-BE32-E72D297353CC}">
                <c16:uniqueId val="{00000004-E2EC-4BE0-B337-10F75EE9AFB7}"/>
              </c:ext>
            </c:extLst>
          </c:dPt>
          <c:dPt>
            <c:idx val="2"/>
            <c:invertIfNegative val="1"/>
            <c:bubble3D val="0"/>
            <c:spPr>
              <a:solidFill>
                <a:srgbClr val="008189"/>
              </a:solidFill>
            </c:spPr>
            <c:extLst>
              <c:ext xmlns:c16="http://schemas.microsoft.com/office/drawing/2014/chart" uri="{C3380CC4-5D6E-409C-BE32-E72D297353CC}">
                <c16:uniqueId val="{00000006-E2EC-4BE0-B337-10F75EE9AFB7}"/>
              </c:ext>
            </c:extLst>
          </c:dPt>
          <c:dPt>
            <c:idx val="3"/>
            <c:invertIfNegative val="1"/>
            <c:bubble3D val="0"/>
            <c:spPr>
              <a:solidFill>
                <a:srgbClr val="008189"/>
              </a:solidFill>
            </c:spPr>
            <c:extLst>
              <c:ext xmlns:c16="http://schemas.microsoft.com/office/drawing/2014/chart" uri="{C3380CC4-5D6E-409C-BE32-E72D297353CC}">
                <c16:uniqueId val="{00000008-E2EC-4BE0-B337-10F75EE9AFB7}"/>
              </c:ext>
            </c:extLst>
          </c:dPt>
          <c:dPt>
            <c:idx val="4"/>
            <c:invertIfNegative val="1"/>
            <c:bubble3D val="0"/>
            <c:spPr>
              <a:solidFill>
                <a:srgbClr val="008189"/>
              </a:solidFill>
            </c:spPr>
            <c:extLst>
              <c:ext xmlns:c16="http://schemas.microsoft.com/office/drawing/2014/chart" uri="{C3380CC4-5D6E-409C-BE32-E72D297353CC}">
                <c16:uniqueId val="{0000000A-E2EC-4BE0-B337-10F75EE9AFB7}"/>
              </c:ext>
            </c:extLst>
          </c:dPt>
          <c:dPt>
            <c:idx val="5"/>
            <c:invertIfNegative val="1"/>
            <c:bubble3D val="0"/>
            <c:spPr>
              <a:solidFill>
                <a:srgbClr val="008189"/>
              </a:solidFill>
            </c:spPr>
            <c:extLst>
              <c:ext xmlns:c16="http://schemas.microsoft.com/office/drawing/2014/chart" uri="{C3380CC4-5D6E-409C-BE32-E72D297353CC}">
                <c16:uniqueId val="{0000000C-E2EC-4BE0-B337-10F75EE9AFB7}"/>
              </c:ext>
            </c:extLst>
          </c:dPt>
          <c:dPt>
            <c:idx val="6"/>
            <c:invertIfNegative val="1"/>
            <c:bubble3D val="0"/>
            <c:spPr>
              <a:solidFill>
                <a:srgbClr val="0E72AE"/>
              </a:solidFill>
            </c:spPr>
            <c:extLst>
              <c:ext xmlns:c16="http://schemas.microsoft.com/office/drawing/2014/chart" uri="{C3380CC4-5D6E-409C-BE32-E72D297353CC}">
                <c16:uniqueId val="{0000000E-E2EC-4BE0-B337-10F75EE9AFB7}"/>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2EC-4BE0-B337-10F75EE9AFB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2EC-4BE0-B337-10F75EE9AFB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2EC-4BE0-B337-10F75EE9AFB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2EC-4BE0-B337-10F75EE9AFB7}"/>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2EC-4BE0-B337-10F75EE9AFB7}"/>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2EC-4BE0-B337-10F75EE9AFB7}"/>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2EC-4BE0-B337-10F75EE9AFB7}"/>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1898.424</c:v>
              </c:pt>
              <c:pt idx="1">
                <c:v>305.11099999999988</c:v>
              </c:pt>
              <c:pt idx="2">
                <c:v>351.19399999999996</c:v>
              </c:pt>
              <c:pt idx="3">
                <c:v>404.12700000000041</c:v>
              </c:pt>
              <c:pt idx="4">
                <c:v>464.94799999999987</c:v>
              </c:pt>
              <c:pt idx="5">
                <c:v>534.8119999999999</c:v>
              </c:pt>
              <c:pt idx="6">
                <c:v>3958.616</c:v>
              </c:pt>
            </c:numLit>
          </c:val>
          <c:extLst>
            <c:ext xmlns:c16="http://schemas.microsoft.com/office/drawing/2014/chart" uri="{C3380CC4-5D6E-409C-BE32-E72D297353CC}">
              <c16:uniqueId val="{0000000F-E2EC-4BE0-B337-10F75EE9AFB7}"/>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964.42</c:v>
              </c:pt>
              <c:pt idx="2">
                <c:v>1033.3389999999999</c:v>
              </c:pt>
              <c:pt idx="3">
                <c:v>1106.1469999999999</c:v>
              </c:pt>
              <c:pt idx="4">
                <c:v>1182.8510000000001</c:v>
              </c:pt>
              <c:pt idx="5">
                <c:v>1263.393</c:v>
              </c:pt>
              <c:pt idx="6">
                <c:v>0</c:v>
              </c:pt>
            </c:numLit>
          </c:val>
          <c:extLst>
            <c:ext xmlns:c16="http://schemas.microsoft.com/office/drawing/2014/chart" uri="{C3380CC4-5D6E-409C-BE32-E72D297353CC}">
              <c16:uniqueId val="{00000000-6EC0-4CE6-8EB4-3F279A438611}"/>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6EC0-4CE6-8EB4-3F279A438611}"/>
              </c:ext>
            </c:extLst>
          </c:dPt>
          <c:dPt>
            <c:idx val="1"/>
            <c:invertIfNegative val="1"/>
            <c:bubble3D val="0"/>
            <c:spPr>
              <a:solidFill>
                <a:srgbClr val="008189"/>
              </a:solidFill>
            </c:spPr>
            <c:extLst>
              <c:ext xmlns:c16="http://schemas.microsoft.com/office/drawing/2014/chart" uri="{C3380CC4-5D6E-409C-BE32-E72D297353CC}">
                <c16:uniqueId val="{00000004-6EC0-4CE6-8EB4-3F279A438611}"/>
              </c:ext>
            </c:extLst>
          </c:dPt>
          <c:dPt>
            <c:idx val="2"/>
            <c:invertIfNegative val="1"/>
            <c:bubble3D val="0"/>
            <c:spPr>
              <a:solidFill>
                <a:srgbClr val="008189"/>
              </a:solidFill>
            </c:spPr>
            <c:extLst>
              <c:ext xmlns:c16="http://schemas.microsoft.com/office/drawing/2014/chart" uri="{C3380CC4-5D6E-409C-BE32-E72D297353CC}">
                <c16:uniqueId val="{00000006-6EC0-4CE6-8EB4-3F279A438611}"/>
              </c:ext>
            </c:extLst>
          </c:dPt>
          <c:dPt>
            <c:idx val="3"/>
            <c:invertIfNegative val="1"/>
            <c:bubble3D val="0"/>
            <c:spPr>
              <a:solidFill>
                <a:srgbClr val="008189"/>
              </a:solidFill>
            </c:spPr>
            <c:extLst>
              <c:ext xmlns:c16="http://schemas.microsoft.com/office/drawing/2014/chart" uri="{C3380CC4-5D6E-409C-BE32-E72D297353CC}">
                <c16:uniqueId val="{00000008-6EC0-4CE6-8EB4-3F279A438611}"/>
              </c:ext>
            </c:extLst>
          </c:dPt>
          <c:dPt>
            <c:idx val="4"/>
            <c:invertIfNegative val="1"/>
            <c:bubble3D val="0"/>
            <c:spPr>
              <a:solidFill>
                <a:srgbClr val="008189"/>
              </a:solidFill>
            </c:spPr>
            <c:extLst>
              <c:ext xmlns:c16="http://schemas.microsoft.com/office/drawing/2014/chart" uri="{C3380CC4-5D6E-409C-BE32-E72D297353CC}">
                <c16:uniqueId val="{0000000A-6EC0-4CE6-8EB4-3F279A438611}"/>
              </c:ext>
            </c:extLst>
          </c:dPt>
          <c:dPt>
            <c:idx val="5"/>
            <c:invertIfNegative val="1"/>
            <c:bubble3D val="0"/>
            <c:spPr>
              <a:solidFill>
                <a:srgbClr val="008189"/>
              </a:solidFill>
            </c:spPr>
            <c:extLst>
              <c:ext xmlns:c16="http://schemas.microsoft.com/office/drawing/2014/chart" uri="{C3380CC4-5D6E-409C-BE32-E72D297353CC}">
                <c16:uniqueId val="{0000000C-6EC0-4CE6-8EB4-3F279A438611}"/>
              </c:ext>
            </c:extLst>
          </c:dPt>
          <c:dPt>
            <c:idx val="6"/>
            <c:invertIfNegative val="1"/>
            <c:bubble3D val="0"/>
            <c:spPr>
              <a:solidFill>
                <a:srgbClr val="0E72AE"/>
              </a:solidFill>
            </c:spPr>
            <c:extLst>
              <c:ext xmlns:c16="http://schemas.microsoft.com/office/drawing/2014/chart" uri="{C3380CC4-5D6E-409C-BE32-E72D297353CC}">
                <c16:uniqueId val="{0000000E-6EC0-4CE6-8EB4-3F279A43861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EC0-4CE6-8EB4-3F279A43861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EC0-4CE6-8EB4-3F279A43861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EC0-4CE6-8EB4-3F279A43861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EC0-4CE6-8EB4-3F279A43861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EC0-4CE6-8EB4-3F279A43861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EC0-4CE6-8EB4-3F279A438611}"/>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6EC0-4CE6-8EB4-3F279A438611}"/>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964.42</c:v>
              </c:pt>
              <c:pt idx="1">
                <c:v>68.918999999999983</c:v>
              </c:pt>
              <c:pt idx="2">
                <c:v>72.807999999999993</c:v>
              </c:pt>
              <c:pt idx="3">
                <c:v>76.704000000000178</c:v>
              </c:pt>
              <c:pt idx="4">
                <c:v>80.541999999999916</c:v>
              </c:pt>
              <c:pt idx="5">
                <c:v>84.258000000000038</c:v>
              </c:pt>
              <c:pt idx="6">
                <c:v>1347.6510000000001</c:v>
              </c:pt>
            </c:numLit>
          </c:val>
          <c:extLst>
            <c:ext xmlns:c16="http://schemas.microsoft.com/office/drawing/2014/chart" uri="{C3380CC4-5D6E-409C-BE32-E72D297353CC}">
              <c16:uniqueId val="{0000000F-6EC0-4CE6-8EB4-3F279A43861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Veterinary Channels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6EB-44C7-A9C3-0481D0214EAD}"/>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6EB-44C7-A9C3-0481D0214EAD}"/>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6EB-44C7-A9C3-0481D0214EAD}"/>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27.249359778824321</c:v>
              </c:pt>
              <c:pt idx="1">
                <c:v>26.458678899082571</c:v>
              </c:pt>
              <c:pt idx="2">
                <c:v>24.761932723372432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56EB-44C7-A9C3-0481D0214EAD}"/>
            </c:ext>
          </c:extLst>
        </c:ser>
        <c:ser>
          <c:idx val="1"/>
          <c:order val="1"/>
          <c:tx>
            <c:v>Third-Party E-commerce</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6EB-44C7-A9C3-0481D0214EAD}"/>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6EB-44C7-A9C3-0481D0214EAD}"/>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6EB-44C7-A9C3-0481D0214EAD}"/>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15.158635011866172</c:v>
              </c:pt>
              <c:pt idx="1">
                <c:v>17.416733944954128</c:v>
              </c:pt>
              <c:pt idx="2">
                <c:v>22.307706135676352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56EB-44C7-A9C3-0481D0214EAD}"/>
            </c:ext>
          </c:extLst>
        </c:ser>
        <c:ser>
          <c:idx val="2"/>
          <c:order val="2"/>
          <c:tx>
            <c:v>Specialist Pet Retail</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6EB-44C7-A9C3-0481D0214EAD}"/>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6EB-44C7-A9C3-0481D0214EAD}"/>
                </c:ext>
              </c:extLst>
            </c:dLbl>
            <c:dLbl>
              <c:idx val="2"/>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6EB-44C7-A9C3-0481D0214EAD}"/>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15.545494928173348</c:v>
              </c:pt>
              <c:pt idx="1">
                <c:v>17.390495412844036</c:v>
              </c:pt>
              <c:pt idx="2">
                <c:v>21.341179900785036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56EB-44C7-A9C3-0481D0214EAD}"/>
            </c:ext>
          </c:extLst>
        </c:ser>
        <c:ser>
          <c:idx val="3"/>
          <c:order val="3"/>
          <c:tx>
            <c:v>Brand-Owned E-commerce</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6EB-44C7-A9C3-0481D0214EAD}"/>
                </c:ext>
              </c:extLst>
            </c:dLbl>
            <c:dLbl>
              <c:idx val="1"/>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6EB-44C7-A9C3-0481D0214EAD}"/>
                </c:ext>
              </c:extLst>
            </c:dLbl>
            <c:dLbl>
              <c:idx val="2"/>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6EB-44C7-A9C3-0481D0214EAD}"/>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22.294814416104145</c:v>
              </c:pt>
              <c:pt idx="1">
                <c:v>20.627229357798164</c:v>
              </c:pt>
              <c:pt idx="2">
                <c:v>17.018773595054387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56EB-44C7-A9C3-0481D0214EAD}"/>
            </c:ext>
          </c:extLst>
        </c:ser>
        <c:ser>
          <c:idx val="4"/>
          <c:order val="4"/>
          <c:tx>
            <c:v>Other Direct Sales</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56EB-44C7-A9C3-0481D0214EAD}"/>
                </c:ext>
              </c:extLst>
            </c:dLbl>
            <c:dLbl>
              <c:idx val="1"/>
              <c:numFmt formatCode="&quot;MMM&quot;;&quot;MMM&quot;;&quot;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56EB-44C7-A9C3-0481D0214EAD}"/>
                </c:ext>
              </c:extLst>
            </c:dLbl>
            <c:dLbl>
              <c:idx val="2"/>
              <c:numFmt formatCode="&quot;MMM&quot;;&quot;MMM&quot;;&quot;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56EB-44C7-A9C3-0481D0214EAD}"/>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9.4310544250287496</c:v>
              </c:pt>
              <c:pt idx="1">
                <c:v>8.8478899082568798</c:v>
              </c:pt>
              <c:pt idx="2">
                <c:v>7.5943214702942585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56EB-44C7-A9C3-0481D0214EAD}"/>
            </c:ext>
          </c:extLst>
        </c:ser>
        <c:ser>
          <c:idx val="5"/>
          <c:order val="5"/>
          <c:tx>
            <c:v>General Retail</c:v>
          </c:tx>
          <c:spPr>
            <a:solidFill>
              <a:srgbClr val="808080"/>
            </a:solidFill>
            <a:ln>
              <a:noFill/>
            </a:ln>
          </c:spPr>
          <c:invertIfNegative val="1"/>
          <c:dLbls>
            <c:dLbl>
              <c:idx val="0"/>
              <c:numFmt formatCode="&quot;MMMM&quot;;&quot;MMMM&quot;;&quot;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56EB-44C7-A9C3-0481D0214EAD}"/>
                </c:ext>
              </c:extLst>
            </c:dLbl>
            <c:dLbl>
              <c:idx val="1"/>
              <c:numFmt formatCode="&quot;MMM&quot;;&quot;MMM&quot;;&quot;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56EB-44C7-A9C3-0481D0214EAD}"/>
                </c:ext>
              </c:extLst>
            </c:dLbl>
            <c:dLbl>
              <c:idx val="2"/>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56EB-44C7-A9C3-0481D0214EAD}"/>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10.32064144000327</c:v>
              </c:pt>
              <c:pt idx="1">
                <c:v>9.2589724770642192</c:v>
              </c:pt>
              <c:pt idx="2">
                <c:v>6.9760861748175262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56EB-44C7-A9C3-0481D0214EAD}"/>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Cellular Energy Support Ingredients</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6EA-43E7-8D41-E714F2D4736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6EA-43E7-8D41-E714F2D4736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6EA-43E7-8D41-E714F2D4736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6EA-43E7-8D41-E714F2D4736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6EA-43E7-8D41-E714F2D4736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6EA-43E7-8D41-E714F2D4736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23.85005892862349</c:v>
              </c:pt>
              <c:pt idx="1">
                <c:v>19.979251902164737</c:v>
              </c:pt>
              <c:pt idx="2">
                <c:v>19.268487090158427</c:v>
              </c:pt>
              <c:pt idx="3">
                <c:v>17.856117892825921</c:v>
              </c:pt>
              <c:pt idx="4">
                <c:v>16.38893112361259</c:v>
              </c:pt>
              <c:pt idx="5">
                <c:v>21.958549776119973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A6EA-43E7-8D41-E714F2D47361}"/>
            </c:ext>
          </c:extLst>
        </c:ser>
        <c:ser>
          <c:idx val="1"/>
          <c:order val="1"/>
          <c:tx>
            <c:v>Antioxidant Ingredients</c:v>
          </c:tx>
          <c:spPr>
            <a:solidFill>
              <a:srgbClr val="9E7E0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6EA-43E7-8D41-E714F2D4736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6EA-43E7-8D41-E714F2D4736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6EA-43E7-8D41-E714F2D4736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6EA-43E7-8D41-E714F2D4736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6EA-43E7-8D41-E714F2D4736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6EA-43E7-8D41-E714F2D4736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17.811644962331492</c:v>
              </c:pt>
              <c:pt idx="1">
                <c:v>26.019986925015271</c:v>
              </c:pt>
              <c:pt idx="2">
                <c:v>22.53607461606817</c:v>
              </c:pt>
              <c:pt idx="3">
                <c:v>21.643051170985977</c:v>
              </c:pt>
              <c:pt idx="4">
                <c:v>18.849399422228981</c:v>
              </c:pt>
              <c:pt idx="5">
                <c:v>18.490634161473309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D-A6EA-43E7-8D41-E714F2D47361}"/>
            </c:ext>
          </c:extLst>
        </c:ser>
        <c:ser>
          <c:idx val="2"/>
          <c:order val="2"/>
          <c:tx>
            <c:v>Omega-3 Fatty Acids</c:v>
          </c:tx>
          <c:spPr>
            <a:solidFill>
              <a:srgbClr val="0081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6EA-43E7-8D41-E714F2D4736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6EA-43E7-8D41-E714F2D4736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6EA-43E7-8D41-E714F2D4736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6EA-43E7-8D41-E714F2D4736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6EA-43E7-8D41-E714F2D4736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6EA-43E7-8D41-E714F2D4736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19.952648872859935</c:v>
              </c:pt>
              <c:pt idx="1">
                <c:v>14.569246776525185</c:v>
              </c:pt>
              <c:pt idx="2">
                <c:v>13.780747135873009</c:v>
              </c:pt>
              <c:pt idx="3">
                <c:v>20.749377632132202</c:v>
              </c:pt>
              <c:pt idx="4">
                <c:v>19.875703208149613</c:v>
              </c:pt>
              <c:pt idx="5">
                <c:v>17.791914892535047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A6EA-43E7-8D41-E714F2D47361}"/>
            </c:ext>
          </c:extLst>
        </c:ser>
        <c:ser>
          <c:idx val="3"/>
          <c:order val="3"/>
          <c:tx>
            <c:v>Microbiome-Targeted Ingredients</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6EA-43E7-8D41-E714F2D4736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A6EA-43E7-8D41-E714F2D4736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A6EA-43E7-8D41-E714F2D4736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A6EA-43E7-8D41-E714F2D4736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A6EA-43E7-8D41-E714F2D4736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A6EA-43E7-8D41-E714F2D4736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14.538503504483154</c:v>
              </c:pt>
              <c:pt idx="1">
                <c:v>16.967861933072037</c:v>
              </c:pt>
              <c:pt idx="2">
                <c:v>17.061967438560462</c:v>
              </c:pt>
              <c:pt idx="3">
                <c:v>14.125247779164527</c:v>
              </c:pt>
              <c:pt idx="4">
                <c:v>14.684126501444428</c:v>
              </c:pt>
              <c:pt idx="5">
                <c:v>16.952078740678022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B-A6EA-43E7-8D41-E714F2D47361}"/>
            </c:ext>
          </c:extLst>
        </c:ser>
        <c:ser>
          <c:idx val="4"/>
          <c:order val="4"/>
          <c:tx>
            <c:v>Botanical Ingredients</c:v>
          </c:tx>
          <c:spPr>
            <a:solidFill>
              <a:srgbClr val="A35313"/>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A6EA-43E7-8D41-E714F2D4736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A6EA-43E7-8D41-E714F2D4736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A6EA-43E7-8D41-E714F2D4736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A6EA-43E7-8D41-E714F2D4736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A6EA-43E7-8D41-E714F2D4736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A6EA-43E7-8D41-E714F2D4736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10.905126998471605</c:v>
              </c:pt>
              <c:pt idx="1">
                <c:v>12.334529315895928</c:v>
              </c:pt>
              <c:pt idx="2">
                <c:v>13.28409612202231</c:v>
              </c:pt>
              <c:pt idx="3">
                <c:v>14.087872336165413</c:v>
              </c:pt>
              <c:pt idx="4">
                <c:v>14.39752166641326</c:v>
              </c:pt>
              <c:pt idx="5">
                <c:v>15.066452067298769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2-A6EA-43E7-8D41-E714F2D47361}"/>
            </c:ext>
          </c:extLst>
        </c:ser>
        <c:ser>
          <c:idx val="5"/>
          <c:order val="5"/>
          <c:tx>
            <c:v>Neurofunctional Nutrients</c:v>
          </c:tx>
          <c:spPr>
            <a:solidFill>
              <a:srgbClr val="808080"/>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A6EA-43E7-8D41-E714F2D4736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A6EA-43E7-8D41-E714F2D4736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A6EA-43E7-8D41-E714F2D4736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A6EA-43E7-8D41-E714F2D4736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A6EA-43E7-8D41-E714F2D4736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A6EA-43E7-8D41-E714F2D4736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12.94201673323033</c:v>
              </c:pt>
              <c:pt idx="1">
                <c:v>10.129123147326842</c:v>
              </c:pt>
              <c:pt idx="2">
                <c:v>14.068627597317626</c:v>
              </c:pt>
              <c:pt idx="3">
                <c:v>11.538333188725966</c:v>
              </c:pt>
              <c:pt idx="4">
                <c:v>15.804318078151136</c:v>
              </c:pt>
              <c:pt idx="5">
                <c:v>9.7403703618948825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9-A6EA-43E7-8D41-E714F2D4736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Omega-3 Fatty Acids</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1DB-4BE0-AA18-C6218275597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1DB-4BE0-AA18-C6218275597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1DB-4BE0-AA18-C6218275597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1DB-4BE0-AA18-C6218275597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18.949564305914812</c:v>
              </c:pt>
              <c:pt idx="1">
                <c:v>16.6258485236627</c:v>
              </c:pt>
              <c:pt idx="2">
                <c:v>14.710892035952025</c:v>
              </c:pt>
              <c:pt idx="3">
                <c:v>22.506718530689671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41DB-4BE0-AA18-C6218275597A}"/>
            </c:ext>
          </c:extLst>
        </c:ser>
        <c:ser>
          <c:idx val="1"/>
          <c:order val="1"/>
          <c:tx>
            <c:v>Cellular Energy Support Ingredients</c:v>
          </c:tx>
          <c:spPr>
            <a:solidFill>
              <a:srgbClr val="9E7E0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1DB-4BE0-AA18-C6218275597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1DB-4BE0-AA18-C6218275597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1DB-4BE0-AA18-C6218275597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1DB-4BE0-AA18-C6218275597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21.028146765381791</c:v>
              </c:pt>
              <c:pt idx="1">
                <c:v>23.897180001752329</c:v>
              </c:pt>
              <c:pt idx="2">
                <c:v>19.474987164712545</c:v>
              </c:pt>
              <c:pt idx="3">
                <c:v>19.617151534603426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9-41DB-4BE0-AA18-C6218275597A}"/>
            </c:ext>
          </c:extLst>
        </c:ser>
        <c:ser>
          <c:idx val="2"/>
          <c:order val="2"/>
          <c:tx>
            <c:v>Antioxidant Ingredients</c:v>
          </c:tx>
          <c:spPr>
            <a:solidFill>
              <a:srgbClr val="0081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1DB-4BE0-AA18-C6218275597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1DB-4BE0-AA18-C6218275597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1DB-4BE0-AA18-C6218275597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1DB-4BE0-AA18-C6218275597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18.762154753474732</c:v>
              </c:pt>
              <c:pt idx="1">
                <c:v>21.620403786699825</c:v>
              </c:pt>
              <c:pt idx="2">
                <c:v>23.142739413917639</c:v>
              </c:pt>
              <c:pt idx="3">
                <c:v>17.689017058600918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E-41DB-4BE0-AA18-C6218275597A}"/>
            </c:ext>
          </c:extLst>
        </c:ser>
        <c:ser>
          <c:idx val="3"/>
          <c:order val="3"/>
          <c:tx>
            <c:v>Microbiome-Targeted Ingredients</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1DB-4BE0-AA18-C6218275597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1DB-4BE0-AA18-C6218275597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1DB-4BE0-AA18-C6218275597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1DB-4BE0-AA18-C6218275597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17.641672346859309</c:v>
              </c:pt>
              <c:pt idx="1">
                <c:v>14.176759943424802</c:v>
              </c:pt>
              <c:pt idx="2">
                <c:v>16.132193545117413</c:v>
              </c:pt>
              <c:pt idx="3">
                <c:v>15.163041135132286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41DB-4BE0-AA18-C6218275597A}"/>
            </c:ext>
          </c:extLst>
        </c:ser>
        <c:ser>
          <c:idx val="4"/>
          <c:order val="4"/>
          <c:tx>
            <c:v>Botanical Ingredients</c:v>
          </c:tx>
          <c:spPr>
            <a:solidFill>
              <a:srgbClr val="A35313"/>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1DB-4BE0-AA18-C6218275597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41DB-4BE0-AA18-C6218275597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41DB-4BE0-AA18-C6218275597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41DB-4BE0-AA18-C6218275597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12.278196451732102</c:v>
              </c:pt>
              <c:pt idx="1">
                <c:v>12.898811336735077</c:v>
              </c:pt>
              <c:pt idx="2">
                <c:v>13.350957523461581</c:v>
              </c:pt>
              <c:pt idx="3">
                <c:v>13.319217632490382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8-41DB-4BE0-AA18-C6218275597A}"/>
            </c:ext>
          </c:extLst>
        </c:ser>
        <c:ser>
          <c:idx val="5"/>
          <c:order val="5"/>
          <c:tx>
            <c:v>Neurofunctional Nutrients</c:v>
          </c:tx>
          <c:spPr>
            <a:solidFill>
              <a:srgbClr val="808080"/>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41DB-4BE0-AA18-C6218275597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41DB-4BE0-AA18-C6218275597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41DB-4BE0-AA18-C6218275597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41DB-4BE0-AA18-C6218275597A}"/>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Routine Cognitive Wellness</c:v>
              </c:pt>
              <c:pt idx="1">
                <c:v>Preventive Cognitive Support for Senior Dogs</c:v>
              </c:pt>
              <c:pt idx="2">
                <c:v>Support for Observable Age-Related Cognitive Changes</c:v>
              </c:pt>
              <c:pt idx="3">
                <c:v>Veterinary-Guided Cognitive Dysfunction Support</c:v>
              </c:pt>
            </c:strLit>
          </c:cat>
          <c:val>
            <c:numLit>
              <c:formatCode>General</c:formatCode>
              <c:ptCount val="4"/>
              <c:pt idx="0">
                <c:v>11.340265376637259</c:v>
              </c:pt>
              <c:pt idx="1">
                <c:v>10.780996407725269</c:v>
              </c:pt>
              <c:pt idx="2">
                <c:v>13.188230316838794</c:v>
              </c:pt>
              <c:pt idx="3">
                <c:v>11.704854108483314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D-41DB-4BE0-AA18-C6218275597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Support for Observable Age-Related Cognitive Changes</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43A-421A-9EE4-8C909CDF5FA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43A-421A-9EE4-8C909CDF5FA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43A-421A-9EE4-8C909CDF5FA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43A-421A-9EE4-8C909CDF5FA7}"/>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43A-421A-9EE4-8C909CDF5FA7}"/>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43A-421A-9EE4-8C909CDF5FA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Veterinary Channels</c:v>
              </c:pt>
              <c:pt idx="1">
                <c:v>Specialist Pet Retail</c:v>
              </c:pt>
              <c:pt idx="2">
                <c:v>General Retail</c:v>
              </c:pt>
              <c:pt idx="3">
                <c:v>Brand-Owned E-commerce</c:v>
              </c:pt>
              <c:pt idx="4">
                <c:v>Third-Party E-commerce</c:v>
              </c:pt>
              <c:pt idx="5">
                <c:v>Other Direct Sales</c:v>
              </c:pt>
            </c:strLit>
          </c:cat>
          <c:val>
            <c:numLit>
              <c:formatCode>General</c:formatCode>
              <c:ptCount val="6"/>
              <c:pt idx="0">
                <c:v>62.082187451900225</c:v>
              </c:pt>
              <c:pt idx="1">
                <c:v>61.001024908779435</c:v>
              </c:pt>
              <c:pt idx="2">
                <c:v>50.974246891688487</c:v>
              </c:pt>
              <c:pt idx="3">
                <c:v>61.514998023128598</c:v>
              </c:pt>
              <c:pt idx="4">
                <c:v>65.294452599546688</c:v>
              </c:pt>
              <c:pt idx="5">
                <c:v>64.952598460788153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A43A-421A-9EE4-8C909CDF5FA7}"/>
            </c:ext>
          </c:extLst>
        </c:ser>
        <c:ser>
          <c:idx val="1"/>
          <c:order val="1"/>
          <c:tx>
            <c:v>Routine Cognitive Wellness</c:v>
          </c:tx>
          <c:spPr>
            <a:solidFill>
              <a:srgbClr val="9E7E0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43A-421A-9EE4-8C909CDF5FA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43A-421A-9EE4-8C909CDF5FA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43A-421A-9EE4-8C909CDF5FA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43A-421A-9EE4-8C909CDF5FA7}"/>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43A-421A-9EE4-8C909CDF5FA7}"/>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43A-421A-9EE4-8C909CDF5FA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Veterinary Channels</c:v>
              </c:pt>
              <c:pt idx="1">
                <c:v>Specialist Pet Retail</c:v>
              </c:pt>
              <c:pt idx="2">
                <c:v>General Retail</c:v>
              </c:pt>
              <c:pt idx="3">
                <c:v>Brand-Owned E-commerce</c:v>
              </c:pt>
              <c:pt idx="4">
                <c:v>Third-Party E-commerce</c:v>
              </c:pt>
              <c:pt idx="5">
                <c:v>Other Direct Sales</c:v>
              </c:pt>
            </c:strLit>
          </c:cat>
          <c:val>
            <c:numLit>
              <c:formatCode>General</c:formatCode>
              <c:ptCount val="6"/>
              <c:pt idx="0">
                <c:v>21.262519563414067</c:v>
              </c:pt>
              <c:pt idx="1">
                <c:v>23.627919471978771</c:v>
              </c:pt>
              <c:pt idx="2">
                <c:v>30.88228623270583</c:v>
              </c:pt>
              <c:pt idx="3">
                <c:v>24.482083511304687</c:v>
              </c:pt>
              <c:pt idx="4">
                <c:v>21.157621898236652</c:v>
              </c:pt>
              <c:pt idx="5">
                <c:v>20.31624816123264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D-A43A-421A-9EE4-8C909CDF5FA7}"/>
            </c:ext>
          </c:extLst>
        </c:ser>
        <c:ser>
          <c:idx val="2"/>
          <c:order val="2"/>
          <c:tx>
            <c:v>Preventive Cognitive Support for Senior Dogs</c:v>
          </c:tx>
          <c:spPr>
            <a:solidFill>
              <a:srgbClr val="0081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43A-421A-9EE4-8C909CDF5FA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43A-421A-9EE4-8C909CDF5FA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43A-421A-9EE4-8C909CDF5FA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43A-421A-9EE4-8C909CDF5FA7}"/>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43A-421A-9EE4-8C909CDF5FA7}"/>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43A-421A-9EE4-8C909CDF5FA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Veterinary Channels</c:v>
              </c:pt>
              <c:pt idx="1">
                <c:v>Specialist Pet Retail</c:v>
              </c:pt>
              <c:pt idx="2">
                <c:v>General Retail</c:v>
              </c:pt>
              <c:pt idx="3">
                <c:v>Brand-Owned E-commerce</c:v>
              </c:pt>
              <c:pt idx="4">
                <c:v>Third-Party E-commerce</c:v>
              </c:pt>
              <c:pt idx="5">
                <c:v>Other Direct Sales</c:v>
              </c:pt>
            </c:strLit>
          </c:cat>
          <c:val>
            <c:numLit>
              <c:formatCode>General</c:formatCode>
              <c:ptCount val="6"/>
              <c:pt idx="0">
                <c:v>9.0379227161714706</c:v>
              </c:pt>
              <c:pt idx="1">
                <c:v>7.7418333906816104</c:v>
              </c:pt>
              <c:pt idx="2">
                <c:v>10.643930802696962</c:v>
              </c:pt>
              <c:pt idx="3">
                <c:v>7.82063028058871</c:v>
              </c:pt>
              <c:pt idx="4">
                <c:v>6.7038021674906005</c:v>
              </c:pt>
              <c:pt idx="5">
                <c:v>7.9018425341088872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A43A-421A-9EE4-8C909CDF5FA7}"/>
            </c:ext>
          </c:extLst>
        </c:ser>
        <c:ser>
          <c:idx val="3"/>
          <c:order val="3"/>
          <c:tx>
            <c:v>Veterinary-Guided Cognitive Dysfunction Support</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43A-421A-9EE4-8C909CDF5FA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A43A-421A-9EE4-8C909CDF5FA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A43A-421A-9EE4-8C909CDF5FA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A43A-421A-9EE4-8C909CDF5FA7}"/>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A43A-421A-9EE4-8C909CDF5FA7}"/>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A43A-421A-9EE4-8C909CDF5FA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Veterinary Channels</c:v>
              </c:pt>
              <c:pt idx="1">
                <c:v>Specialist Pet Retail</c:v>
              </c:pt>
              <c:pt idx="2">
                <c:v>General Retail</c:v>
              </c:pt>
              <c:pt idx="3">
                <c:v>Brand-Owned E-commerce</c:v>
              </c:pt>
              <c:pt idx="4">
                <c:v>Third-Party E-commerce</c:v>
              </c:pt>
              <c:pt idx="5">
                <c:v>Other Direct Sales</c:v>
              </c:pt>
            </c:strLit>
          </c:cat>
          <c:val>
            <c:numLit>
              <c:formatCode>General</c:formatCode>
              <c:ptCount val="6"/>
              <c:pt idx="0">
                <c:v>7.6173702685142439</c:v>
              </c:pt>
              <c:pt idx="1">
                <c:v>7.6292222285601783</c:v>
              </c:pt>
              <c:pt idx="2">
                <c:v>7.499536072908719</c:v>
              </c:pt>
              <c:pt idx="3">
                <c:v>6.1822881849780007</c:v>
              </c:pt>
              <c:pt idx="4">
                <c:v>6.8441233347260697</c:v>
              </c:pt>
              <c:pt idx="5">
                <c:v>6.8293108438703136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B-A43A-421A-9EE4-8C909CDF5FA7}"/>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S1</c:v>
          </c:tx>
          <c:spPr>
            <a:solidFill>
              <a:srgbClr val="003E58"/>
            </a:solidFill>
            <a:ln>
              <a:noFill/>
            </a:ln>
          </c:spPr>
          <c:invertIfNegative val="1"/>
          <c:dLbls>
            <c:dLbl>
              <c:idx val="0"/>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79E-47A0-85B9-65543CF59182}"/>
                </c:ext>
              </c:extLst>
            </c:dLbl>
            <c:dLbl>
              <c:idx val="1"/>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9E-47A0-85B9-65543CF59182}"/>
                </c:ext>
              </c:extLst>
            </c:dLbl>
            <c:dLbl>
              <c:idx val="2"/>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79E-47A0-85B9-65543CF59182}"/>
                </c:ext>
              </c:extLst>
            </c:dLbl>
            <c:numFmt formatCode="0.0&quot;%&quot;"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2021–2026</c:v>
              </c:pt>
              <c:pt idx="1">
                <c:v>2026–2036</c:v>
              </c:pt>
              <c:pt idx="2">
                <c:v>2021–2036</c:v>
              </c:pt>
            </c:strLit>
          </c:cat>
          <c:val>
            <c:numLit>
              <c:formatCode>General</c:formatCode>
              <c:ptCount val="3"/>
              <c:pt idx="0">
                <c:v>3.4059408390015644</c:v>
              </c:pt>
              <c:pt idx="1">
                <c:v>4.2821569258252756</c:v>
              </c:pt>
              <c:pt idx="2">
                <c:v>3.9892630254938277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779E-47A0-85B9-65543CF59182}"/>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5.6524471420893638"/>
          <c:min val="0"/>
        </c:scaling>
        <c:delete val="0"/>
        <c:axPos val="l"/>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5"/>
              <c:pt idx="0">
                <c:v>2021</c:v>
              </c:pt>
              <c:pt idx="1">
                <c:v>2021–2026</c:v>
              </c:pt>
              <c:pt idx="2">
                <c:v>2026</c:v>
              </c:pt>
              <c:pt idx="3">
                <c:v>2026–2036</c:v>
              </c:pt>
              <c:pt idx="4">
                <c:v>2036</c:v>
              </c:pt>
            </c:strLit>
          </c:cat>
          <c:val>
            <c:numLit>
              <c:formatCode>General</c:formatCode>
              <c:ptCount val="5"/>
              <c:pt idx="0">
                <c:v>0</c:v>
              </c:pt>
              <c:pt idx="1">
                <c:v>498307.83500000002</c:v>
              </c:pt>
              <c:pt idx="2">
                <c:v>0</c:v>
              </c:pt>
              <c:pt idx="3">
                <c:v>589149.03099999996</c:v>
              </c:pt>
              <c:pt idx="4">
                <c:v>0</c:v>
              </c:pt>
            </c:numLit>
          </c:val>
          <c:extLst>
            <c:ext xmlns:c16="http://schemas.microsoft.com/office/drawing/2014/chart" uri="{C3380CC4-5D6E-409C-BE32-E72D297353CC}">
              <c16:uniqueId val="{00000000-9C85-4F16-A09E-E1FA86338CB6}"/>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9C85-4F16-A09E-E1FA86338CB6}"/>
              </c:ext>
            </c:extLst>
          </c:dPt>
          <c:dPt>
            <c:idx val="1"/>
            <c:invertIfNegative val="1"/>
            <c:bubble3D val="0"/>
            <c:spPr>
              <a:solidFill>
                <a:srgbClr val="008189"/>
              </a:solidFill>
            </c:spPr>
            <c:extLst>
              <c:ext xmlns:c16="http://schemas.microsoft.com/office/drawing/2014/chart" uri="{C3380CC4-5D6E-409C-BE32-E72D297353CC}">
                <c16:uniqueId val="{00000004-9C85-4F16-A09E-E1FA86338CB6}"/>
              </c:ext>
            </c:extLst>
          </c:dPt>
          <c:dPt>
            <c:idx val="2"/>
            <c:invertIfNegative val="1"/>
            <c:bubble3D val="0"/>
            <c:spPr>
              <a:solidFill>
                <a:srgbClr val="0E72AE"/>
              </a:solidFill>
            </c:spPr>
            <c:extLst>
              <c:ext xmlns:c16="http://schemas.microsoft.com/office/drawing/2014/chart" uri="{C3380CC4-5D6E-409C-BE32-E72D297353CC}">
                <c16:uniqueId val="{00000006-9C85-4F16-A09E-E1FA86338CB6}"/>
              </c:ext>
            </c:extLst>
          </c:dPt>
          <c:dPt>
            <c:idx val="3"/>
            <c:invertIfNegative val="1"/>
            <c:bubble3D val="0"/>
            <c:spPr>
              <a:solidFill>
                <a:srgbClr val="008189"/>
              </a:solidFill>
            </c:spPr>
            <c:extLst>
              <c:ext xmlns:c16="http://schemas.microsoft.com/office/drawing/2014/chart" uri="{C3380CC4-5D6E-409C-BE32-E72D297353CC}">
                <c16:uniqueId val="{00000008-9C85-4F16-A09E-E1FA86338CB6}"/>
              </c:ext>
            </c:extLst>
          </c:dPt>
          <c:dPt>
            <c:idx val="4"/>
            <c:invertIfNegative val="1"/>
            <c:bubble3D val="0"/>
            <c:spPr>
              <a:solidFill>
                <a:srgbClr val="0E72AE"/>
              </a:solidFill>
            </c:spPr>
            <c:extLst>
              <c:ext xmlns:c16="http://schemas.microsoft.com/office/drawing/2014/chart" uri="{C3380CC4-5D6E-409C-BE32-E72D297353CC}">
                <c16:uniqueId val="{0000000A-9C85-4F16-A09E-E1FA86338CB6}"/>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C85-4F16-A09E-E1FA86338CB6}"/>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C85-4F16-A09E-E1FA86338CB6}"/>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C85-4F16-A09E-E1FA86338CB6}"/>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C85-4F16-A09E-E1FA86338CB6}"/>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C85-4F16-A09E-E1FA86338CB6}"/>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2021</c:v>
              </c:pt>
              <c:pt idx="1">
                <c:v>2021–2026</c:v>
              </c:pt>
              <c:pt idx="2">
                <c:v>2026</c:v>
              </c:pt>
              <c:pt idx="3">
                <c:v>2026–2036</c:v>
              </c:pt>
              <c:pt idx="4">
                <c:v>2036</c:v>
              </c:pt>
            </c:strLit>
          </c:cat>
          <c:val>
            <c:numLit>
              <c:formatCode>General</c:formatCode>
              <c:ptCount val="5"/>
              <c:pt idx="0">
                <c:v>498307.83500000002</c:v>
              </c:pt>
              <c:pt idx="1">
                <c:v>90841.195999999938</c:v>
              </c:pt>
              <c:pt idx="2">
                <c:v>589149.03099999996</c:v>
              </c:pt>
              <c:pt idx="3">
                <c:v>306886.47900000005</c:v>
              </c:pt>
              <c:pt idx="4">
                <c:v>896035.51</c:v>
              </c:pt>
            </c:numLit>
          </c:val>
          <c:extLst>
            <c:ext xmlns:c16="http://schemas.microsoft.com/office/drawing/2014/chart" uri="{C3380CC4-5D6E-409C-BE32-E72D297353CC}">
              <c16:uniqueId val="{0000000B-9C85-4F16-A09E-E1FA86338CB6}"/>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S1</c:v>
          </c:tx>
          <c:spPr>
            <a:solidFill>
              <a:srgbClr val="003E58"/>
            </a:solidFill>
            <a:ln>
              <a:noFill/>
            </a:ln>
          </c:spPr>
          <c:invertIfNegative val="1"/>
          <c:dLbls>
            <c:dLbl>
              <c:idx val="0"/>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5A5-4DD3-A4BC-A76C2747A33A}"/>
                </c:ext>
              </c:extLst>
            </c:dLbl>
            <c:dLbl>
              <c:idx val="1"/>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5A5-4DD3-A4BC-A76C2747A33A}"/>
                </c:ext>
              </c:extLst>
            </c:dLbl>
            <c:dLbl>
              <c:idx val="2"/>
              <c:numFmt formatCode="&quot;M&quot;;&quot;M&quot;;&quot;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5A5-4DD3-A4BC-A76C2747A33A}"/>
                </c:ext>
              </c:extLst>
            </c:dLbl>
            <c:numFmt formatCode="0.0&quot;%&quot;"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2021–2026</c:v>
              </c:pt>
              <c:pt idx="1">
                <c:v>2026–2036</c:v>
              </c:pt>
              <c:pt idx="2">
                <c:v>2021–2036</c:v>
              </c:pt>
            </c:strLit>
          </c:cat>
          <c:val>
            <c:numLit>
              <c:formatCode>General</c:formatCode>
              <c:ptCount val="3"/>
              <c:pt idx="0">
                <c:v>4.6666341170828796</c:v>
              </c:pt>
              <c:pt idx="1">
                <c:v>5.5611752239353551</c:v>
              </c:pt>
              <c:pt idx="2">
                <c:v>5.2621485921907185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25A5-4DD3-A4BC-A76C2747A33A}"/>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7.3407512955946688"/>
          <c:min val="0"/>
        </c:scaling>
        <c:delete val="0"/>
        <c:axPos val="l"/>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5"/>
              <c:pt idx="0">
                <c:v>2021</c:v>
              </c:pt>
              <c:pt idx="1">
                <c:v>2021–2026</c:v>
              </c:pt>
              <c:pt idx="2">
                <c:v>2026</c:v>
              </c:pt>
              <c:pt idx="3">
                <c:v>2026–2036</c:v>
              </c:pt>
              <c:pt idx="4">
                <c:v>2036</c:v>
              </c:pt>
            </c:strLit>
          </c:cat>
          <c:val>
            <c:numLit>
              <c:formatCode>General</c:formatCode>
              <c:ptCount val="5"/>
              <c:pt idx="0">
                <c:v>0</c:v>
              </c:pt>
              <c:pt idx="1">
                <c:v>2342.875</c:v>
              </c:pt>
              <c:pt idx="2">
                <c:v>0</c:v>
              </c:pt>
              <c:pt idx="3">
                <c:v>2943.0009999999997</c:v>
              </c:pt>
              <c:pt idx="4">
                <c:v>0</c:v>
              </c:pt>
            </c:numLit>
          </c:val>
          <c:extLst>
            <c:ext xmlns:c16="http://schemas.microsoft.com/office/drawing/2014/chart" uri="{C3380CC4-5D6E-409C-BE32-E72D297353CC}">
              <c16:uniqueId val="{00000000-F7B1-4798-A8E5-FA5B895BECFC}"/>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F7B1-4798-A8E5-FA5B895BECFC}"/>
              </c:ext>
            </c:extLst>
          </c:dPt>
          <c:dPt>
            <c:idx val="1"/>
            <c:invertIfNegative val="1"/>
            <c:bubble3D val="0"/>
            <c:spPr>
              <a:solidFill>
                <a:srgbClr val="008189"/>
              </a:solidFill>
            </c:spPr>
            <c:extLst>
              <c:ext xmlns:c16="http://schemas.microsoft.com/office/drawing/2014/chart" uri="{C3380CC4-5D6E-409C-BE32-E72D297353CC}">
                <c16:uniqueId val="{00000004-F7B1-4798-A8E5-FA5B895BECFC}"/>
              </c:ext>
            </c:extLst>
          </c:dPt>
          <c:dPt>
            <c:idx val="2"/>
            <c:invertIfNegative val="1"/>
            <c:bubble3D val="0"/>
            <c:spPr>
              <a:solidFill>
                <a:srgbClr val="0E72AE"/>
              </a:solidFill>
            </c:spPr>
            <c:extLst>
              <c:ext xmlns:c16="http://schemas.microsoft.com/office/drawing/2014/chart" uri="{C3380CC4-5D6E-409C-BE32-E72D297353CC}">
                <c16:uniqueId val="{00000006-F7B1-4798-A8E5-FA5B895BECFC}"/>
              </c:ext>
            </c:extLst>
          </c:dPt>
          <c:dPt>
            <c:idx val="3"/>
            <c:invertIfNegative val="1"/>
            <c:bubble3D val="0"/>
            <c:spPr>
              <a:solidFill>
                <a:srgbClr val="008189"/>
              </a:solidFill>
            </c:spPr>
            <c:extLst>
              <c:ext xmlns:c16="http://schemas.microsoft.com/office/drawing/2014/chart" uri="{C3380CC4-5D6E-409C-BE32-E72D297353CC}">
                <c16:uniqueId val="{00000008-F7B1-4798-A8E5-FA5B895BECFC}"/>
              </c:ext>
            </c:extLst>
          </c:dPt>
          <c:dPt>
            <c:idx val="4"/>
            <c:invertIfNegative val="1"/>
            <c:bubble3D val="0"/>
            <c:spPr>
              <a:solidFill>
                <a:srgbClr val="0E72AE"/>
              </a:solidFill>
            </c:spPr>
            <c:extLst>
              <c:ext xmlns:c16="http://schemas.microsoft.com/office/drawing/2014/chart" uri="{C3380CC4-5D6E-409C-BE32-E72D297353CC}">
                <c16:uniqueId val="{0000000A-F7B1-4798-A8E5-FA5B895BECFC}"/>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7B1-4798-A8E5-FA5B895BECFC}"/>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7B1-4798-A8E5-FA5B895BECFC}"/>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7B1-4798-A8E5-FA5B895BECF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7B1-4798-A8E5-FA5B895BECFC}"/>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7B1-4798-A8E5-FA5B895BECFC}"/>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2021</c:v>
              </c:pt>
              <c:pt idx="1">
                <c:v>2021–2026</c:v>
              </c:pt>
              <c:pt idx="2">
                <c:v>2026</c:v>
              </c:pt>
              <c:pt idx="3">
                <c:v>2026–2036</c:v>
              </c:pt>
              <c:pt idx="4">
                <c:v>2036</c:v>
              </c:pt>
            </c:strLit>
          </c:cat>
          <c:val>
            <c:numLit>
              <c:formatCode>General</c:formatCode>
              <c:ptCount val="5"/>
              <c:pt idx="0">
                <c:v>2342.875</c:v>
              </c:pt>
              <c:pt idx="1">
                <c:v>600.12599999999975</c:v>
              </c:pt>
              <c:pt idx="2">
                <c:v>2943.0009999999997</c:v>
              </c:pt>
              <c:pt idx="3">
                <c:v>2113.2959999999998</c:v>
              </c:pt>
              <c:pt idx="4">
                <c:v>5056.2969999999996</c:v>
              </c:pt>
            </c:numLit>
          </c:val>
          <c:extLst>
            <c:ext xmlns:c16="http://schemas.microsoft.com/office/drawing/2014/chart" uri="{C3380CC4-5D6E-409C-BE32-E72D297353CC}">
              <c16:uniqueId val="{0000000B-F7B1-4798-A8E5-FA5B895BECF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Value (US$ Mn)</c:v>
          </c:tx>
          <c:spPr>
            <a:solidFill>
              <a:srgbClr val="69B1E0"/>
            </a:solidFill>
            <a:ln>
              <a:noFill/>
            </a:ln>
          </c:spPr>
          <c:invertIfNegative val="1"/>
          <c:dLbls>
            <c:dLbl>
              <c:idx val="0"/>
              <c:numFmt formatCode="&quot;MMMMMMM&quot;;&quot;MMMMMMM&quot;;&quot;MM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5CC-47C5-8E5D-61E905C1EE52}"/>
                </c:ext>
              </c:extLst>
            </c:dLbl>
            <c:dLbl>
              <c:idx val="1"/>
              <c:numFmt formatCode="&quot;MMMMMMM&quot;;&quot;MMMMMMM&quot;;&quot;MM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5CC-47C5-8E5D-61E905C1EE52}"/>
                </c:ext>
              </c:extLst>
            </c:dLbl>
            <c:dLbl>
              <c:idx val="2"/>
              <c:numFmt formatCode="&quot;MMMMMMM&quot;;&quot;MMMMMMM&quot;;&quot;MM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5CC-47C5-8E5D-61E905C1EE52}"/>
                </c:ext>
              </c:extLst>
            </c:dLbl>
            <c:dLbl>
              <c:idx val="3"/>
              <c:numFmt formatCode="&quot;MMMMMMM&quot;;&quot;MMMMMMM&quot;;&quot;MM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5CC-47C5-8E5D-61E905C1EE52}"/>
                </c:ext>
              </c:extLst>
            </c:dLbl>
            <c:dLbl>
              <c:idx val="4"/>
              <c:numFmt formatCode="&quot;MMMMMMM&quot;;&quot;MMMMMMM&quot;;&quot;MM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5CC-47C5-8E5D-61E905C1EE52}"/>
                </c:ext>
              </c:extLst>
            </c:dLbl>
            <c:numFmt formatCode="#,##0" sourceLinked="0"/>
            <c:spPr>
              <a:noFill/>
              <a:ln>
                <a:noFill/>
              </a:ln>
              <a:effectLst/>
            </c:spPr>
            <c:txPr>
              <a:bodyPr rot="0" vert="horz"/>
              <a:lstStyle/>
              <a:p>
                <a:pPr>
                  <a:defRPr sz="1100">
                    <a:solidFill>
                      <a:srgbClr val="6C7A89"/>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2021</c:v>
              </c:pt>
              <c:pt idx="1">
                <c:v>2022</c:v>
              </c:pt>
              <c:pt idx="2">
                <c:v>2023</c:v>
              </c:pt>
              <c:pt idx="3">
                <c:v>2024</c:v>
              </c:pt>
              <c:pt idx="4">
                <c:v>2025</c:v>
              </c:pt>
            </c:strLit>
          </c:cat>
          <c:val>
            <c:numLit>
              <c:formatCode>General</c:formatCode>
              <c:ptCount val="5"/>
              <c:pt idx="0">
                <c:v>2342.875</c:v>
              </c:pt>
              <c:pt idx="1">
                <c:v>2451.5969999999998</c:v>
              </c:pt>
              <c:pt idx="2">
                <c:v>2565.6860000000001</c:v>
              </c:pt>
              <c:pt idx="3">
                <c:v>2685.4189999999994</c:v>
              </c:pt>
              <c:pt idx="4">
                <c:v>2811.0879999999997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D5CC-47C5-8E5D-61E905C1EE52}"/>
            </c:ext>
          </c:extLst>
        </c:ser>
        <c:dLbls>
          <c:showLegendKey val="0"/>
          <c:showVal val="0"/>
          <c:showCatName val="0"/>
          <c:showSerName val="0"/>
          <c:showPercent val="0"/>
          <c:showBubbleSize val="0"/>
        </c:dLbls>
        <c:gapWidth val="50"/>
        <c:axId val="-2068027336"/>
        <c:axId val="-2113994440"/>
      </c:barChart>
      <c:barChart>
        <c:barDir val="col"/>
        <c:grouping val="clustered"/>
        <c:varyColors val="0"/>
        <c:ser>
          <c:idx val="1"/>
          <c:order val="1"/>
          <c:tx>
            <c:v>Volume (MT)</c:v>
          </c:tx>
          <c:spPr>
            <a:solidFill>
              <a:srgbClr val="C55A11"/>
            </a:solidFill>
            <a:ln>
              <a:noFill/>
            </a:ln>
          </c:spPr>
          <c:invertIfNegative val="1"/>
          <c:dLbls>
            <c:dLbl>
              <c:idx val="0"/>
              <c:numFmt formatCode="&quot;MMMMMMMMM&quot;;&quot;MMMMMMMMM&quot;;&quot;MMMMM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5CC-47C5-8E5D-61E905C1EE52}"/>
                </c:ext>
              </c:extLst>
            </c:dLbl>
            <c:dLbl>
              <c:idx val="1"/>
              <c:numFmt formatCode="&quot;MMMMMMMMM&quot;;&quot;MMMMMMMMM&quot;;&quot;MMMMM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5CC-47C5-8E5D-61E905C1EE52}"/>
                </c:ext>
              </c:extLst>
            </c:dLbl>
            <c:dLbl>
              <c:idx val="2"/>
              <c:numFmt formatCode="&quot;MMMMMMMMM&quot;;&quot;MMMMMMMMM&quot;;&quot;MMMMM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5CC-47C5-8E5D-61E905C1EE52}"/>
                </c:ext>
              </c:extLst>
            </c:dLbl>
            <c:dLbl>
              <c:idx val="3"/>
              <c:numFmt formatCode="&quot;MMMMMMMMM&quot;;&quot;MMMMMMMMM&quot;;&quot;MMMMM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5CC-47C5-8E5D-61E905C1EE52}"/>
                </c:ext>
              </c:extLst>
            </c:dLbl>
            <c:dLbl>
              <c:idx val="4"/>
              <c:numFmt formatCode="&quot;MMMMMMMMM&quot;;&quot;MMMMMMMMM&quot;;&quot;MMMMM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5CC-47C5-8E5D-61E905C1EE52}"/>
                </c:ext>
              </c:extLst>
            </c:dLbl>
            <c:numFmt formatCode="#,##0"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2021</c:v>
              </c:pt>
              <c:pt idx="1">
                <c:v>2022</c:v>
              </c:pt>
              <c:pt idx="2">
                <c:v>2023</c:v>
              </c:pt>
              <c:pt idx="3">
                <c:v>2024</c:v>
              </c:pt>
              <c:pt idx="4">
                <c:v>2025</c:v>
              </c:pt>
            </c:strLit>
          </c:cat>
          <c:val>
            <c:numLit>
              <c:formatCode>General</c:formatCode>
              <c:ptCount val="5"/>
              <c:pt idx="0">
                <c:v>498307.83500000002</c:v>
              </c:pt>
              <c:pt idx="1">
                <c:v>515161.67000000004</c:v>
              </c:pt>
              <c:pt idx="2">
                <c:v>532647.03300000005</c:v>
              </c:pt>
              <c:pt idx="3">
                <c:v>550789.07500000007</c:v>
              </c:pt>
              <c:pt idx="4">
                <c:v>569613.98599999992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D5CC-47C5-8E5D-61E905C1EE52}"/>
            </c:ext>
          </c:extLst>
        </c:ser>
        <c:dLbls>
          <c:showLegendKey val="0"/>
          <c:showVal val="0"/>
          <c:showCatName val="0"/>
          <c:showSerName val="0"/>
          <c:showPercent val="0"/>
          <c:showBubbleSize val="0"/>
        </c:dLbls>
        <c:gapWidth val="219"/>
        <c:axId val="90210001"/>
        <c:axId val="90210002"/>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3317"/>
          <c:min val="0"/>
        </c:scaling>
        <c:delete val="0"/>
        <c:axPos val="l"/>
        <c:numFmt formatCode="#,##0" sourceLinked="0"/>
        <c:majorTickMark val="none"/>
        <c:minorTickMark val="none"/>
        <c:tickLblPos val="none"/>
        <c:spPr>
          <a:ln>
            <a:noFill/>
          </a:ln>
        </c:spPr>
        <c:txPr>
          <a:bodyPr/>
          <a:lstStyle/>
          <a:p>
            <a:pPr>
              <a:defRPr sz="1100"/>
            </a:pPr>
            <a:endParaRPr lang="en-US"/>
          </a:p>
        </c:txPr>
        <c:crossAx val="-2068027336"/>
        <c:crosses val="autoZero"/>
        <c:crossBetween val="between"/>
      </c:valAx>
      <c:catAx>
        <c:axId val="90210001"/>
        <c:scaling>
          <c:orientation val="minMax"/>
        </c:scaling>
        <c:delete val="1"/>
        <c:axPos val="b"/>
        <c:numFmt formatCode="General" sourceLinked="1"/>
        <c:majorTickMark val="cross"/>
        <c:minorTickMark val="cross"/>
        <c:tickLblPos val="nextTo"/>
        <c:crossAx val="90210002"/>
        <c:crosses val="autoZero"/>
        <c:auto val="1"/>
        <c:lblAlgn val="ctr"/>
        <c:lblOffset val="100"/>
        <c:noMultiLvlLbl val="1"/>
      </c:catAx>
      <c:valAx>
        <c:axId val="90210002"/>
        <c:scaling>
          <c:orientation val="minMax"/>
          <c:max val="801719"/>
          <c:min val="0"/>
        </c:scaling>
        <c:delete val="0"/>
        <c:axPos val="r"/>
        <c:numFmt formatCode="#,##0" sourceLinked="0"/>
        <c:majorTickMark val="none"/>
        <c:minorTickMark val="none"/>
        <c:tickLblPos val="none"/>
        <c:spPr>
          <a:ln>
            <a:noFill/>
          </a:ln>
        </c:spPr>
        <c:crossAx val="90210001"/>
        <c:crosses val="max"/>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Value (US$ Mn)</c:v>
          </c:tx>
          <c:spPr>
            <a:solidFill>
              <a:srgbClr val="69B1E0"/>
            </a:solidFill>
            <a:ln>
              <a:noFill/>
            </a:ln>
          </c:spPr>
          <c:invertIfNegative val="1"/>
          <c:dLbls>
            <c:dLbl>
              <c:idx val="0"/>
              <c:numFmt formatCode="&quot;MMMMMMM&quot;;&quot;MMMMMMM&quot;;&quot;MM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3E0-46EE-AF19-5EB6C9992760}"/>
                </c:ext>
              </c:extLst>
            </c:dLbl>
            <c:dLbl>
              <c:idx val="1"/>
              <c:numFmt formatCode="&quot;MMMMMMM&quot;;&quot;MMMMMMM&quot;;&quot;MM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3E0-46EE-AF19-5EB6C9992760}"/>
                </c:ext>
              </c:extLst>
            </c:dLbl>
            <c:dLbl>
              <c:idx val="2"/>
              <c:numFmt formatCode="&quot;MMMMMMM&quot;;&quot;MMMMMMM&quot;;&quot;MM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3E0-46EE-AF19-5EB6C9992760}"/>
                </c:ext>
              </c:extLst>
            </c:dLbl>
            <c:dLbl>
              <c:idx val="3"/>
              <c:numFmt formatCode="&quot;MMMMMMM&quot;;&quot;MMMMMMM&quot;;&quot;MM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3E0-46EE-AF19-5EB6C9992760}"/>
                </c:ext>
              </c:extLst>
            </c:dLbl>
            <c:dLbl>
              <c:idx val="4"/>
              <c:numFmt formatCode="&quot;MMMMMMM&quot;;&quot;MMMMMMM&quot;;&quot;MM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3E0-46EE-AF19-5EB6C9992760}"/>
                </c:ext>
              </c:extLst>
            </c:dLbl>
            <c:dLbl>
              <c:idx val="5"/>
              <c:numFmt formatCode="&quot;MMMMMMM&quot;;&quot;MMMMMMM&quot;;&quot;MMM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3E0-46EE-AF19-5EB6C9992760}"/>
                </c:ext>
              </c:extLst>
            </c:dLbl>
            <c:dLbl>
              <c:idx val="6"/>
              <c:numFmt formatCode="&quot;MMMMMMM&quot;;&quot;MMMMMMM&quot;;&quot;MMM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3E0-46EE-AF19-5EB6C9992760}"/>
                </c:ext>
              </c:extLst>
            </c:dLbl>
            <c:dLbl>
              <c:idx val="7"/>
              <c:numFmt formatCode="&quot;MMMMMMM&quot;;&quot;MMMMMMM&quot;;&quot;MMM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3E0-46EE-AF19-5EB6C9992760}"/>
                </c:ext>
              </c:extLst>
            </c:dLbl>
            <c:dLbl>
              <c:idx val="8"/>
              <c:numFmt formatCode="&quot;MMMMMMM&quot;;&quot;MMMMMMM&quot;;&quot;MMM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3E0-46EE-AF19-5EB6C9992760}"/>
                </c:ext>
              </c:extLst>
            </c:dLbl>
            <c:dLbl>
              <c:idx val="9"/>
              <c:numFmt formatCode="&quot;MMMMMMM&quot;;&quot;MMMMMMM&quot;;&quot;MMM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3E0-46EE-AF19-5EB6C9992760}"/>
                </c:ext>
              </c:extLst>
            </c:dLbl>
            <c:dLbl>
              <c:idx val="10"/>
              <c:numFmt formatCode="&quot;MMMMMMM&quot;;&quot;MMMMMMM&quot;;&quot;MMM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3E0-46EE-AF19-5EB6C9992760}"/>
                </c:ext>
              </c:extLst>
            </c:dLbl>
            <c:numFmt formatCode="#,##0" sourceLinked="0"/>
            <c:spPr>
              <a:noFill/>
              <a:ln>
                <a:noFill/>
              </a:ln>
              <a:effectLst/>
            </c:spPr>
            <c:txPr>
              <a:bodyPr rot="0" vert="horz"/>
              <a:lstStyle/>
              <a:p>
                <a:pPr>
                  <a:defRPr sz="1100">
                    <a:solidFill>
                      <a:srgbClr val="6C7A89"/>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2943.0009999999997</c:v>
              </c:pt>
              <c:pt idx="1">
                <c:v>3105.0250000000001</c:v>
              </c:pt>
              <c:pt idx="2">
                <c:v>3276.3589999999999</c:v>
              </c:pt>
              <c:pt idx="3">
                <c:v>3457.56</c:v>
              </c:pt>
              <c:pt idx="4">
                <c:v>3649.2140000000009</c:v>
              </c:pt>
              <c:pt idx="5">
                <c:v>3851.9409999999998</c:v>
              </c:pt>
              <c:pt idx="6">
                <c:v>4066.4079999999999</c:v>
              </c:pt>
              <c:pt idx="7">
                <c:v>4293.3089999999993</c:v>
              </c:pt>
              <c:pt idx="8">
                <c:v>4533.3900000000003</c:v>
              </c:pt>
              <c:pt idx="9">
                <c:v>4787.442</c:v>
              </c:pt>
              <c:pt idx="10">
                <c:v>5056.2969999999996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E3E0-46EE-AF19-5EB6C9992760}"/>
            </c:ext>
          </c:extLst>
        </c:ser>
        <c:dLbls>
          <c:showLegendKey val="0"/>
          <c:showVal val="0"/>
          <c:showCatName val="0"/>
          <c:showSerName val="0"/>
          <c:showPercent val="0"/>
          <c:showBubbleSize val="0"/>
        </c:dLbls>
        <c:gapWidth val="50"/>
        <c:axId val="-2068027336"/>
        <c:axId val="-2113994440"/>
      </c:barChart>
      <c:barChart>
        <c:barDir val="col"/>
        <c:grouping val="clustered"/>
        <c:varyColors val="0"/>
        <c:ser>
          <c:idx val="1"/>
          <c:order val="1"/>
          <c:tx>
            <c:v>Volume (MT)</c:v>
          </c:tx>
          <c:spPr>
            <a:solidFill>
              <a:srgbClr val="C55A11"/>
            </a:solidFill>
            <a:ln>
              <a:noFill/>
            </a:ln>
          </c:spPr>
          <c:invertIfNegative val="1"/>
          <c:dLbls>
            <c:dLbl>
              <c:idx val="0"/>
              <c:numFmt formatCode="&quot;MMMMMMMMM&quot;;&quot;MMMMMMMMM&quot;;&quot;MMMMM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3E0-46EE-AF19-5EB6C9992760}"/>
                </c:ext>
              </c:extLst>
            </c:dLbl>
            <c:dLbl>
              <c:idx val="1"/>
              <c:numFmt formatCode="&quot;MMMMMMMMM&quot;;&quot;MMMMMMMMM&quot;;&quot;MMMMM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3E0-46EE-AF19-5EB6C9992760}"/>
                </c:ext>
              </c:extLst>
            </c:dLbl>
            <c:dLbl>
              <c:idx val="2"/>
              <c:numFmt formatCode="&quot;MMMMMMMMM&quot;;&quot;MMMMMMMMM&quot;;&quot;MMMMM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3E0-46EE-AF19-5EB6C9992760}"/>
                </c:ext>
              </c:extLst>
            </c:dLbl>
            <c:dLbl>
              <c:idx val="3"/>
              <c:numFmt formatCode="&quot;MMMMMMMMM&quot;;&quot;MMMMMMMMM&quot;;&quot;MMMMMM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E3E0-46EE-AF19-5EB6C9992760}"/>
                </c:ext>
              </c:extLst>
            </c:dLbl>
            <c:dLbl>
              <c:idx val="4"/>
              <c:numFmt formatCode="&quot;MMMMMMMMM&quot;;&quot;MMMMMMMMM&quot;;&quot;MMMMMM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3E0-46EE-AF19-5EB6C9992760}"/>
                </c:ext>
              </c:extLst>
            </c:dLbl>
            <c:dLbl>
              <c:idx val="5"/>
              <c:numFmt formatCode="&quot;MMMMMMMMM&quot;;&quot;MMMMMMMMM&quot;;&quot;MMMMMM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E3E0-46EE-AF19-5EB6C9992760}"/>
                </c:ext>
              </c:extLst>
            </c:dLbl>
            <c:dLbl>
              <c:idx val="6"/>
              <c:numFmt formatCode="&quot;MMMMMMMMM&quot;;&quot;MMMMMMMMM&quot;;&quot;MMMMM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E3E0-46EE-AF19-5EB6C9992760}"/>
                </c:ext>
              </c:extLst>
            </c:dLbl>
            <c:dLbl>
              <c:idx val="7"/>
              <c:numFmt formatCode="&quot;MMMMMMMMM&quot;;&quot;MMMMMMMMM&quot;;&quot;MMMMMM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E3E0-46EE-AF19-5EB6C9992760}"/>
                </c:ext>
              </c:extLst>
            </c:dLbl>
            <c:dLbl>
              <c:idx val="8"/>
              <c:numFmt formatCode="&quot;MMMMMMMMM&quot;;&quot;MMMMMMMMM&quot;;&quot;MMMMMM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E3E0-46EE-AF19-5EB6C9992760}"/>
                </c:ext>
              </c:extLst>
            </c:dLbl>
            <c:dLbl>
              <c:idx val="9"/>
              <c:numFmt formatCode="&quot;MMMMMMMMM&quot;;&quot;MMMMMMMMM&quot;;&quot;MMMMMM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3E0-46EE-AF19-5EB6C9992760}"/>
                </c:ext>
              </c:extLst>
            </c:dLbl>
            <c:dLbl>
              <c:idx val="10"/>
              <c:numFmt formatCode="&quot;MMMMMMMMM&quot;;&quot;MMMMMMMMM&quot;;&quot;MMMMMM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3E0-46EE-AF19-5EB6C9992760}"/>
                </c:ext>
              </c:extLst>
            </c:dLbl>
            <c:numFmt formatCode="#,##0"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589149.03099999996</c:v>
              </c:pt>
              <c:pt idx="1">
                <c:v>614079.24</c:v>
              </c:pt>
              <c:pt idx="2">
                <c:v>640134.78899999999</c:v>
              </c:pt>
              <c:pt idx="3">
                <c:v>667368.75899999996</c:v>
              </c:pt>
              <c:pt idx="4">
                <c:v>695836.80700000003</c:v>
              </c:pt>
              <c:pt idx="5">
                <c:v>725597.29500000004</c:v>
              </c:pt>
              <c:pt idx="6">
                <c:v>756711.41700000002</c:v>
              </c:pt>
              <c:pt idx="7">
                <c:v>789243.35099999991</c:v>
              </c:pt>
              <c:pt idx="8">
                <c:v>823260.38599999994</c:v>
              </c:pt>
              <c:pt idx="9">
                <c:v>858833.10199999996</c:v>
              </c:pt>
              <c:pt idx="10">
                <c:v>896035.51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E3E0-46EE-AF19-5EB6C9992760}"/>
            </c:ext>
          </c:extLst>
        </c:ser>
        <c:dLbls>
          <c:showLegendKey val="0"/>
          <c:showVal val="0"/>
          <c:showCatName val="0"/>
          <c:showSerName val="0"/>
          <c:showPercent val="0"/>
          <c:showBubbleSize val="0"/>
        </c:dLbls>
        <c:gapWidth val="219"/>
        <c:axId val="90210001"/>
        <c:axId val="90210002"/>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5966"/>
          <c:min val="0"/>
        </c:scaling>
        <c:delete val="0"/>
        <c:axPos val="l"/>
        <c:numFmt formatCode="#,##0" sourceLinked="0"/>
        <c:majorTickMark val="none"/>
        <c:minorTickMark val="none"/>
        <c:tickLblPos val="none"/>
        <c:spPr>
          <a:ln>
            <a:noFill/>
          </a:ln>
        </c:spPr>
        <c:txPr>
          <a:bodyPr/>
          <a:lstStyle/>
          <a:p>
            <a:pPr>
              <a:defRPr sz="1100"/>
            </a:pPr>
            <a:endParaRPr lang="en-US"/>
          </a:p>
        </c:txPr>
        <c:crossAx val="-2068027336"/>
        <c:crosses val="autoZero"/>
        <c:crossBetween val="between"/>
      </c:valAx>
      <c:catAx>
        <c:axId val="90210001"/>
        <c:scaling>
          <c:orientation val="minMax"/>
        </c:scaling>
        <c:delete val="1"/>
        <c:axPos val="b"/>
        <c:numFmt formatCode="General" sourceLinked="1"/>
        <c:majorTickMark val="cross"/>
        <c:minorTickMark val="cross"/>
        <c:tickLblPos val="nextTo"/>
        <c:crossAx val="90210002"/>
        <c:crosses val="autoZero"/>
        <c:auto val="1"/>
        <c:lblAlgn val="ctr"/>
        <c:lblOffset val="100"/>
        <c:noMultiLvlLbl val="1"/>
      </c:catAx>
      <c:valAx>
        <c:axId val="90210002"/>
        <c:scaling>
          <c:orientation val="minMax"/>
          <c:max val="1357271"/>
          <c:min val="0"/>
        </c:scaling>
        <c:delete val="0"/>
        <c:axPos val="r"/>
        <c:numFmt formatCode="#,##0" sourceLinked="0"/>
        <c:majorTickMark val="none"/>
        <c:minorTickMark val="none"/>
        <c:tickLblPos val="none"/>
        <c:spPr>
          <a:ln>
            <a:noFill/>
          </a:ln>
        </c:spPr>
        <c:crossAx val="90210001"/>
        <c:crosses val="max"/>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Index</c:v>
          </c:tx>
          <c:spPr>
            <a:solidFill>
              <a:srgbClr val="0E72AE"/>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42A-4BFE-951F-6370C6CA3A95}"/>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42A-4BFE-951F-6370C6CA3A95}"/>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42A-4BFE-951F-6370C6CA3A95}"/>
                </c:ext>
              </c:extLst>
            </c:dLbl>
            <c:dLbl>
              <c:idx val="3"/>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42A-4BFE-951F-6370C6CA3A95}"/>
                </c:ext>
              </c:extLst>
            </c:dLbl>
            <c:dLbl>
              <c:idx val="4"/>
              <c:numFmt formatCode="&quot;MMMMM&quot;;&quot;MMMMM&quot;;&quot;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42A-4BFE-951F-6370C6CA3A95}"/>
                </c:ext>
              </c:extLst>
            </c:dLbl>
            <c:dLbl>
              <c:idx val="5"/>
              <c:numFmt formatCode="&quot;MMMMM&quot;;&quot;MMMMM&quot;;&quot;M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42A-4BFE-951F-6370C6CA3A95}"/>
                </c:ext>
              </c:extLst>
            </c:dLbl>
            <c:dLbl>
              <c:idx val="6"/>
              <c:numFmt formatCode="&quot;MMMMM&quot;;&quot;MMMMM&quot;;&quot;M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42A-4BFE-951F-6370C6CA3A95}"/>
                </c:ext>
              </c:extLst>
            </c:dLbl>
            <c:dLbl>
              <c:idx val="7"/>
              <c:numFmt formatCode="&quot;MMMMM&quot;;&quot;MMMMM&quot;;&quot;M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42A-4BFE-951F-6370C6CA3A95}"/>
                </c:ext>
              </c:extLst>
            </c:dLbl>
            <c:dLbl>
              <c:idx val="8"/>
              <c:numFmt formatCode="&quot;MMMMM&quot;;&quot;MMMMM&quot;;&quot;M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42A-4BFE-951F-6370C6CA3A95}"/>
                </c:ext>
              </c:extLst>
            </c:dLbl>
            <c:dLbl>
              <c:idx val="9"/>
              <c:numFmt formatCode="&quot;MMMMM&quot;;&quot;MMMMM&quot;;&quot;M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42A-4BFE-951F-6370C6CA3A95}"/>
                </c:ext>
              </c:extLst>
            </c:dLbl>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0"/>
              <c:pt idx="0">
                <c:v>U.K.</c:v>
              </c:pt>
              <c:pt idx="1">
                <c:v>Belgium</c:v>
              </c:pt>
              <c:pt idx="2">
                <c:v>Nordic</c:v>
              </c:pt>
              <c:pt idx="3">
                <c:v>Switzerland</c:v>
              </c:pt>
              <c:pt idx="4">
                <c:v>Spain</c:v>
              </c:pt>
              <c:pt idx="5">
                <c:v>Russia</c:v>
              </c:pt>
              <c:pt idx="6">
                <c:v>Poland</c:v>
              </c:pt>
              <c:pt idx="7">
                <c:v>France</c:v>
              </c:pt>
              <c:pt idx="8">
                <c:v>Netherlands</c:v>
              </c:pt>
              <c:pt idx="9">
                <c:v>Germany</c:v>
              </c:pt>
            </c:strLit>
          </c:cat>
          <c:val>
            <c:numLit>
              <c:formatCode>General</c:formatCode>
              <c:ptCount val="10"/>
              <c:pt idx="0">
                <c:v>69.702321678272142</c:v>
              </c:pt>
              <c:pt idx="1">
                <c:v>72.42582094937103</c:v>
              </c:pt>
              <c:pt idx="2">
                <c:v>89.944076729925044</c:v>
              </c:pt>
              <c:pt idx="3">
                <c:v>90.815253354032663</c:v>
              </c:pt>
              <c:pt idx="4">
                <c:v>102.74021870356742</c:v>
              </c:pt>
              <c:pt idx="5">
                <c:v>106.28831546088293</c:v>
              </c:pt>
              <c:pt idx="6">
                <c:v>107.10227332280822</c:v>
              </c:pt>
              <c:pt idx="7">
                <c:v>110.44149408688033</c:v>
              </c:pt>
              <c:pt idx="8">
                <c:v>114.67740352124238</c:v>
              </c:pt>
              <c:pt idx="9">
                <c:v>117.68738037596043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A-A42A-4BFE-951F-6370C6CA3A95}"/>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Index</c:v>
          </c:tx>
          <c:spPr>
            <a:solidFill>
              <a:srgbClr val="0E72AE"/>
            </a:solidFill>
            <a:ln>
              <a:noFill/>
            </a:ln>
          </c:spPr>
          <c:invertIfNegative val="1"/>
          <c:dLbls>
            <c:dLbl>
              <c:idx val="0"/>
              <c:numFmt formatCode="&quot;MMM&quot;;&quot;MMM&quot;;&quot;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E94-4186-8103-F28E167C012D}"/>
                </c:ext>
              </c:extLst>
            </c:dLbl>
            <c:dLbl>
              <c:idx val="1"/>
              <c:numFmt formatCode="&quot;MMM&quot;;&quot;MMM&quot;;&quot;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E94-4186-8103-F28E167C012D}"/>
                </c:ext>
              </c:extLst>
            </c:dLbl>
            <c:dLbl>
              <c:idx val="2"/>
              <c:numFmt formatCode="&quot;MMM&quot;;&quot;MMM&quot;;&quot;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E94-4186-8103-F28E167C012D}"/>
                </c:ext>
              </c:extLst>
            </c:dLbl>
            <c:dLbl>
              <c:idx val="3"/>
              <c:numFmt formatCode="&quot;MMM&quot;;&quot;MMM&quot;;&quot;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E94-4186-8103-F28E167C012D}"/>
                </c:ext>
              </c:extLst>
            </c:dLbl>
            <c:dLbl>
              <c:idx val="4"/>
              <c:numFmt formatCode="&quot;MMM&quot;;&quot;MMM&quot;;&quot;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E94-4186-8103-F28E167C012D}"/>
                </c:ext>
              </c:extLst>
            </c:dLbl>
            <c:dLbl>
              <c:idx val="5"/>
              <c:numFmt formatCode="&quot;MMM&quot;;&quot;MMM&quot;;&quot;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E94-4186-8103-F28E167C012D}"/>
                </c:ext>
              </c:extLst>
            </c:dLbl>
            <c:dLbl>
              <c:idx val="6"/>
              <c:numFmt formatCode="&quot;MMM&quot;;&quot;MMM&quot;;&quot;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E94-4186-8103-F28E167C012D}"/>
                </c:ext>
              </c:extLst>
            </c:dLbl>
            <c:dLbl>
              <c:idx val="7"/>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E94-4186-8103-F28E167C012D}"/>
                </c:ext>
              </c:extLst>
            </c:dLbl>
            <c:dLbl>
              <c:idx val="8"/>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E94-4186-8103-F28E167C012D}"/>
                </c:ext>
              </c:extLst>
            </c:dLbl>
            <c:dLbl>
              <c:idx val="9"/>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E94-4186-8103-F28E167C012D}"/>
                </c:ext>
              </c:extLst>
            </c:dLbl>
            <c:numFmt formatCode="0.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0"/>
              <c:pt idx="0">
                <c:v>Poland</c:v>
              </c:pt>
              <c:pt idx="1">
                <c:v>Nordic</c:v>
              </c:pt>
              <c:pt idx="2">
                <c:v>Belgium</c:v>
              </c:pt>
              <c:pt idx="3">
                <c:v>Russia</c:v>
              </c:pt>
              <c:pt idx="4">
                <c:v>Italy</c:v>
              </c:pt>
              <c:pt idx="5">
                <c:v>Netherlands</c:v>
              </c:pt>
              <c:pt idx="6">
                <c:v>Spain</c:v>
              </c:pt>
              <c:pt idx="7">
                <c:v>U.K.</c:v>
              </c:pt>
              <c:pt idx="8">
                <c:v>France</c:v>
              </c:pt>
              <c:pt idx="9">
                <c:v>Germany</c:v>
              </c:pt>
            </c:strLit>
          </c:cat>
          <c:val>
            <c:numLit>
              <c:formatCode>General</c:formatCode>
              <c:ptCount val="10"/>
              <c:pt idx="0">
                <c:v>2.8985527820049826</c:v>
              </c:pt>
              <c:pt idx="1">
                <c:v>3.0088544150937691</c:v>
              </c:pt>
              <c:pt idx="2">
                <c:v>3.223400791938281</c:v>
              </c:pt>
              <c:pt idx="3">
                <c:v>3.2401518765000263</c:v>
              </c:pt>
              <c:pt idx="4">
                <c:v>4.616438019094347</c:v>
              </c:pt>
              <c:pt idx="5">
                <c:v>4.7708413776394787</c:v>
              </c:pt>
              <c:pt idx="6">
                <c:v>6.1004705445900624</c:v>
              </c:pt>
              <c:pt idx="7">
                <c:v>10.897006382447142</c:v>
              </c:pt>
              <c:pt idx="8">
                <c:v>12.039581771791553</c:v>
              </c:pt>
              <c:pt idx="9">
                <c:v>46.252347044616585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A-DE94-4186-8103-F28E167C012D}"/>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v>Share</c:v>
          </c:tx>
          <c:dPt>
            <c:idx val="0"/>
            <c:bubble3D val="0"/>
            <c:spPr>
              <a:solidFill>
                <a:srgbClr val="3D85C6"/>
              </a:solidFill>
            </c:spPr>
            <c:extLst>
              <c:ext xmlns:c16="http://schemas.microsoft.com/office/drawing/2014/chart" uri="{C3380CC4-5D6E-409C-BE32-E72D297353CC}">
                <c16:uniqueId val="{00000001-8AAA-4821-9618-E7B213D8A4FC}"/>
              </c:ext>
            </c:extLst>
          </c:dPt>
          <c:dPt>
            <c:idx val="1"/>
            <c:bubble3D val="0"/>
            <c:spPr>
              <a:solidFill>
                <a:srgbClr val="9E7E0A"/>
              </a:solidFill>
            </c:spPr>
            <c:extLst>
              <c:ext xmlns:c16="http://schemas.microsoft.com/office/drawing/2014/chart" uri="{C3380CC4-5D6E-409C-BE32-E72D297353CC}">
                <c16:uniqueId val="{00000003-8AAA-4821-9618-E7B213D8A4FC}"/>
              </c:ext>
            </c:extLst>
          </c:dPt>
          <c:dPt>
            <c:idx val="2"/>
            <c:bubble3D val="0"/>
            <c:spPr>
              <a:solidFill>
                <a:srgbClr val="008189"/>
              </a:solidFill>
            </c:spPr>
            <c:extLst>
              <c:ext xmlns:c16="http://schemas.microsoft.com/office/drawing/2014/chart" uri="{C3380CC4-5D6E-409C-BE32-E72D297353CC}">
                <c16:uniqueId val="{00000005-8AAA-4821-9618-E7B213D8A4FC}"/>
              </c:ext>
            </c:extLst>
          </c:dPt>
          <c:dPt>
            <c:idx val="3"/>
            <c:bubble3D val="0"/>
            <c:spPr>
              <a:solidFill>
                <a:srgbClr val="40315E"/>
              </a:solidFill>
            </c:spPr>
            <c:extLst>
              <c:ext xmlns:c16="http://schemas.microsoft.com/office/drawing/2014/chart" uri="{C3380CC4-5D6E-409C-BE32-E72D297353CC}">
                <c16:uniqueId val="{00000007-8AAA-4821-9618-E7B213D8A4FC}"/>
              </c:ext>
            </c:extLst>
          </c:dPt>
          <c:dPt>
            <c:idx val="4"/>
            <c:bubble3D val="0"/>
            <c:spPr>
              <a:solidFill>
                <a:srgbClr val="A35313"/>
              </a:solidFill>
            </c:spPr>
            <c:extLst>
              <c:ext xmlns:c16="http://schemas.microsoft.com/office/drawing/2014/chart" uri="{C3380CC4-5D6E-409C-BE32-E72D297353CC}">
                <c16:uniqueId val="{00000009-8AAA-4821-9618-E7B213D8A4FC}"/>
              </c:ext>
            </c:extLst>
          </c:dPt>
          <c:dPt>
            <c:idx val="5"/>
            <c:bubble3D val="0"/>
            <c:spPr>
              <a:solidFill>
                <a:srgbClr val="808080"/>
              </a:solidFill>
            </c:spPr>
            <c:extLst>
              <c:ext xmlns:c16="http://schemas.microsoft.com/office/drawing/2014/chart" uri="{C3380CC4-5D6E-409C-BE32-E72D297353CC}">
                <c16:uniqueId val="{0000000B-8AAA-4821-9618-E7B213D8A4FC}"/>
              </c:ext>
            </c:extLst>
          </c:dPt>
          <c:dLbls>
            <c:dLbl>
              <c:idx val="0"/>
              <c:layout>
                <c:manualLayout>
                  <c:x val="3.5000000000000003E-2"/>
                  <c:y val="0"/>
                </c:manualLayout>
              </c:layout>
              <c:numFmt formatCode="&quot;MMMMM&quot;;&quot;MMMMM&quot;;&quot;M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AAA-4821-9618-E7B213D8A4FC}"/>
                </c:ext>
              </c:extLst>
            </c:dLbl>
            <c:dLbl>
              <c:idx val="1"/>
              <c:layout>
                <c:manualLayout>
                  <c:x val="3.5000000000000003E-2"/>
                  <c:y val="0"/>
                </c:manualLayout>
              </c:layout>
              <c:numFmt formatCode="&quot;MMMMMMM&quot;;&quot;MMMMMMM&quot;;&quot;MMM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AAA-4821-9618-E7B213D8A4FC}"/>
                </c:ext>
              </c:extLst>
            </c:dLbl>
            <c:dLbl>
              <c:idx val="2"/>
              <c:layout>
                <c:manualLayout>
                  <c:x val="3.5000000000000003E-2"/>
                  <c:y val="0"/>
                </c:manualLayout>
              </c:layout>
              <c:numFmt formatCode="&quot;MMMMMMM&quot;;&quot;MMMMMMM&quot;;&quot;MMM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AAA-4821-9618-E7B213D8A4FC}"/>
                </c:ext>
              </c:extLst>
            </c:dLbl>
            <c:dLbl>
              <c:idx val="3"/>
              <c:layout>
                <c:manualLayout>
                  <c:x val="3.5000000000000003E-2"/>
                  <c:y val="0"/>
                </c:manualLayout>
              </c:layout>
              <c:numFmt formatCode="&quot;MMMMM&quot;;&quot;MMMMM&quot;;&quot;M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AAA-4821-9618-E7B213D8A4FC}"/>
                </c:ext>
              </c:extLst>
            </c:dLbl>
            <c:dLbl>
              <c:idx val="4"/>
              <c:layout>
                <c:manualLayout>
                  <c:x val="3.5000000000000003E-2"/>
                  <c:y val="0"/>
                </c:manualLayout>
              </c:layout>
              <c:numFmt formatCode="&quot;MMMMM&quot;;&quot;MMMMM&quot;;&quot;M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AAA-4821-9618-E7B213D8A4FC}"/>
                </c:ext>
              </c:extLst>
            </c:dLbl>
            <c:dLbl>
              <c:idx val="5"/>
              <c:layout>
                <c:manualLayout>
                  <c:x val="3.5000000000000003E-2"/>
                  <c:y val="0"/>
                </c:manualLayout>
              </c:layout>
              <c:numFmt formatCode="&quot;MMMMM&quot;;&quot;MMMMM&quot;;&quot;M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AAA-4821-9618-E7B213D8A4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Lit>
              <c:ptCount val="6"/>
              <c:pt idx="0">
                <c:v>Chewables</c:v>
              </c:pt>
              <c:pt idx="1">
                <c:v>Tablets</c:v>
              </c:pt>
              <c:pt idx="2">
                <c:v>Capsules and Softgels</c:v>
              </c:pt>
              <c:pt idx="3">
                <c:v>Powders and Granules</c:v>
              </c:pt>
              <c:pt idx="4">
                <c:v>Liquids</c:v>
              </c:pt>
              <c:pt idx="5">
                <c:v>Gels and Pastes</c:v>
              </c:pt>
            </c:strLit>
          </c:cat>
          <c:val>
            <c:numLit>
              <c:formatCode>General</c:formatCode>
              <c:ptCount val="6"/>
              <c:pt idx="0">
                <c:v>948.56100000000004</c:v>
              </c:pt>
              <c:pt idx="1">
                <c:v>1047.905</c:v>
              </c:pt>
              <c:pt idx="2">
                <c:v>1867.0609999999999</c:v>
              </c:pt>
              <c:pt idx="3">
                <c:v>233.07400000000001</c:v>
              </c:pt>
              <c:pt idx="4">
                <c:v>381.892</c:v>
              </c:pt>
              <c:pt idx="5">
                <c:v>577.80399999999997</c:v>
              </c:pt>
            </c:numLit>
          </c:val>
          <c:extLst>
            <c:ext xmlns:c16="http://schemas.microsoft.com/office/drawing/2014/chart" uri="{C3380CC4-5D6E-409C-BE32-E72D297353CC}">
              <c16:uniqueId val="{0000000C-8AAA-4821-9618-E7B213D8A4FC}"/>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v>Optimistic Scenario</c:v>
          </c:tx>
          <c:spPr>
            <a:ln w="28575">
              <a:solidFill>
                <a:srgbClr val="2E5F8A"/>
              </a:solidFill>
            </a:ln>
          </c:spPr>
          <c:marker>
            <c:symbol val="circle"/>
            <c:size val="6"/>
            <c:spPr>
              <a:solidFill>
                <a:srgbClr val="2E5F8A"/>
              </a:solidFill>
              <a:ln>
                <a:solidFill>
                  <a:srgbClr val="2E5F8A"/>
                </a:solidFill>
              </a:ln>
            </c:spPr>
          </c:marker>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6.9534699975403846E-2</c:v>
              </c:pt>
              <c:pt idx="1">
                <c:v>7.0144699975403846E-2</c:v>
              </c:pt>
              <c:pt idx="2">
                <c:v>7.2204699975403852E-2</c:v>
              </c:pt>
              <c:pt idx="3">
                <c:v>7.3684699975403861E-2</c:v>
              </c:pt>
              <c:pt idx="4">
                <c:v>7.2514699975403857E-2</c:v>
              </c:pt>
              <c:pt idx="5">
                <c:v>7.0654699975403856E-2</c:v>
              </c:pt>
              <c:pt idx="6">
                <c:v>6.8004699975403857E-2</c:v>
              </c:pt>
              <c:pt idx="7">
                <c:v>6.6184699975403855E-2</c:v>
              </c:pt>
              <c:pt idx="8">
                <c:v>6.4944699975403863E-2</c:v>
              </c:pt>
              <c:pt idx="9">
                <c:v>6.3554699975403861E-2</c:v>
              </c:pt>
              <c:pt idx="10">
                <c:v>6.2394699975403853E-2</c:v>
              </c:pt>
            </c:numLit>
          </c:val>
          <c:smooth val="0"/>
          <c:extLst>
            <c:ext xmlns:c16="http://schemas.microsoft.com/office/drawing/2014/chart" uri="{C3380CC4-5D6E-409C-BE32-E72D297353CC}">
              <c16:uniqueId val="{00000000-59F1-4198-A372-BCEC75C8FC5F}"/>
            </c:ext>
          </c:extLst>
        </c:ser>
        <c:ser>
          <c:idx val="1"/>
          <c:order val="1"/>
          <c:tx>
            <c:v>Likely Scenario</c:v>
          </c:tx>
          <c:spPr>
            <a:ln w="28575">
              <a:solidFill>
                <a:srgbClr val="8B1A1A"/>
              </a:solidFill>
            </a:ln>
          </c:spPr>
          <c:marker>
            <c:symbol val="circle"/>
            <c:size val="6"/>
            <c:spPr>
              <a:solidFill>
                <a:srgbClr val="8B1A1A"/>
              </a:solidFill>
              <a:ln>
                <a:solidFill>
                  <a:srgbClr val="8B1A1A"/>
                </a:solidFill>
              </a:ln>
            </c:spPr>
          </c:marker>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4.8569863361298767E-2</c:v>
              </c:pt>
              <c:pt idx="1">
                <c:v>5.0054599866056433E-2</c:v>
              </c:pt>
              <c:pt idx="2">
                <c:v>5.1655261743557945E-2</c:v>
              </c:pt>
              <c:pt idx="3">
                <c:v>5.2337437975473633E-2</c:v>
              </c:pt>
              <c:pt idx="4">
                <c:v>5.3461022357452405E-2</c:v>
              </c:pt>
              <c:pt idx="5">
                <c:v>5.4548937393971542E-2</c:v>
              </c:pt>
              <c:pt idx="6">
                <c:v>5.6060425907823938E-2</c:v>
              </c:pt>
              <c:pt idx="7">
                <c:v>5.7099295594336061E-2</c:v>
              </c:pt>
              <c:pt idx="8">
                <c:v>5.8508234739991991E-2</c:v>
              </c:pt>
              <c:pt idx="9">
                <c:v>5.9894880544735636E-2</c:v>
              </c:pt>
              <c:pt idx="10">
                <c:v>6.0898080885788117E-2</c:v>
              </c:pt>
            </c:numLit>
          </c:val>
          <c:smooth val="0"/>
          <c:extLst>
            <c:ext xmlns:c16="http://schemas.microsoft.com/office/drawing/2014/chart" uri="{C3380CC4-5D6E-409C-BE32-E72D297353CC}">
              <c16:uniqueId val="{00000001-59F1-4198-A372-BCEC75C8FC5F}"/>
            </c:ext>
          </c:extLst>
        </c:ser>
        <c:ser>
          <c:idx val="2"/>
          <c:order val="2"/>
          <c:tx>
            <c:v>Conservative Scenario</c:v>
          </c:tx>
          <c:spPr>
            <a:ln w="28575">
              <a:solidFill>
                <a:srgbClr val="A08000"/>
              </a:solidFill>
            </a:ln>
          </c:spPr>
          <c:marker>
            <c:symbol val="circle"/>
            <c:size val="6"/>
            <c:spPr>
              <a:solidFill>
                <a:srgbClr val="A08000"/>
              </a:solidFill>
              <a:ln>
                <a:solidFill>
                  <a:srgbClr val="A08000"/>
                </a:solidFill>
              </a:ln>
            </c:spPr>
          </c:marker>
          <c:cat>
            <c:strLit>
              <c:ptCount val="11"/>
              <c:pt idx="0">
                <c:v>2026</c:v>
              </c:pt>
              <c:pt idx="1">
                <c:v>2027</c:v>
              </c:pt>
              <c:pt idx="2">
                <c:v>2028</c:v>
              </c:pt>
              <c:pt idx="3">
                <c:v>2029</c:v>
              </c:pt>
              <c:pt idx="4">
                <c:v>2030</c:v>
              </c:pt>
              <c:pt idx="5">
                <c:v>2031</c:v>
              </c:pt>
              <c:pt idx="6">
                <c:v>2032</c:v>
              </c:pt>
              <c:pt idx="7">
                <c:v>2033</c:v>
              </c:pt>
              <c:pt idx="8">
                <c:v>2034</c:v>
              </c:pt>
              <c:pt idx="9">
                <c:v>2035</c:v>
              </c:pt>
              <c:pt idx="10">
                <c:v>2036</c:v>
              </c:pt>
            </c:strLit>
          </c:cat>
          <c:val>
            <c:numLit>
              <c:formatCode>General</c:formatCode>
              <c:ptCount val="11"/>
              <c:pt idx="0">
                <c:v>3.4866217096940495E-2</c:v>
              </c:pt>
              <c:pt idx="1">
                <c:v>3.6653168203843019E-2</c:v>
              </c:pt>
              <c:pt idx="2">
                <c:v>3.7305460172313572E-2</c:v>
              </c:pt>
              <c:pt idx="3">
                <c:v>3.8034492372368903E-2</c:v>
              </c:pt>
              <c:pt idx="4">
                <c:v>3.9234928852159248E-2</c:v>
              </c:pt>
              <c:pt idx="5">
                <c:v>4.1076694410193751E-2</c:v>
              </c:pt>
              <c:pt idx="6">
                <c:v>4.2858164071983076E-2</c:v>
              </c:pt>
              <c:pt idx="7">
                <c:v>4.4102452112679005E-2</c:v>
              </c:pt>
              <c:pt idx="8">
                <c:v>4.4902743099205909E-2</c:v>
              </c:pt>
              <c:pt idx="9">
                <c:v>4.6284067267731786E-2</c:v>
              </c:pt>
              <c:pt idx="10">
                <c:v>4.7029543803126704E-2</c:v>
              </c:pt>
            </c:numLit>
          </c:val>
          <c:smooth val="0"/>
          <c:extLst>
            <c:ext xmlns:c16="http://schemas.microsoft.com/office/drawing/2014/chart" uri="{C3380CC4-5D6E-409C-BE32-E72D297353CC}">
              <c16:uniqueId val="{00000002-59F1-4198-A372-BCEC75C8FC5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40495176"/>
        <c:crosses val="autoZero"/>
        <c:auto val="1"/>
        <c:lblAlgn val="ctr"/>
        <c:lblOffset val="100"/>
        <c:tickLblSkip val="1"/>
        <c:tickMarkSkip val="1"/>
        <c:noMultiLvlLbl val="0"/>
      </c:catAx>
      <c:valAx>
        <c:axId val="2140495176"/>
        <c:scaling>
          <c:orientation val="minMax"/>
          <c:min val="0"/>
        </c:scaling>
        <c:delete val="0"/>
        <c:axPos val="l"/>
        <c:numFmt formatCode="0.00%" sourceLinked="0"/>
        <c:majorTickMark val="out"/>
        <c:minorTickMark val="none"/>
        <c:tickLblPos val="nextTo"/>
        <c:spPr>
          <a:ln>
            <a:solidFill>
              <a:srgbClr val="C6D5E1"/>
            </a:solidFill>
          </a:ln>
        </c:spPr>
        <c:txPr>
          <a:bodyPr/>
          <a:lstStyle/>
          <a:p>
            <a:pPr>
              <a:defRPr sz="1100"/>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Germany</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CB9-4C57-B264-2B5BE847F4DB}"/>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37.003084368987111</c:v>
              </c:pt>
              <c:pt idx="1">
                <c:v>40.302713784189201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7CB9-4C57-B264-2B5BE847F4DB}"/>
            </c:ext>
          </c:extLst>
        </c:ser>
        <c:ser>
          <c:idx val="1"/>
          <c:order val="1"/>
          <c:tx>
            <c:v>U.K.</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CB9-4C57-B264-2B5BE847F4DB}"/>
                </c:ext>
              </c:extLst>
            </c:dLbl>
            <c:dLbl>
              <c:idx val="1"/>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17.211848898042238</c:v>
              </c:pt>
              <c:pt idx="1">
                <c:v>14.899328264345238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7CB9-4C57-B264-2B5BE847F4DB}"/>
            </c:ext>
          </c:extLst>
        </c:ser>
        <c:ser>
          <c:idx val="2"/>
          <c:order val="2"/>
          <c:tx>
            <c:v>France</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CB9-4C57-B264-2B5BE847F4DB}"/>
                </c:ext>
              </c:extLst>
            </c:dLbl>
            <c:dLbl>
              <c:idx val="1"/>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10.678403373288415</c:v>
              </c:pt>
              <c:pt idx="1">
                <c:v>11.426747808242554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7CB9-4C57-B264-2B5BE847F4DB}"/>
            </c:ext>
          </c:extLst>
        </c:ser>
        <c:ser>
          <c:idx val="3"/>
          <c:order val="3"/>
          <c:tx>
            <c:v>Italy</c:v>
          </c:tx>
          <c:spPr>
            <a:solidFill>
              <a:srgbClr val="40315E"/>
            </a:solidFill>
            <a:ln>
              <a:noFill/>
            </a:ln>
          </c:spPr>
          <c:invertIfNegative val="1"/>
          <c:dLbls>
            <c:dLbl>
              <c:idx val="0"/>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CB9-4C57-B264-2B5BE847F4DB}"/>
                </c:ext>
              </c:extLst>
            </c:dLbl>
            <c:dLbl>
              <c:idx val="1"/>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7.5952989219123399</c:v>
              </c:pt>
              <c:pt idx="1">
                <c:v>6.2879388563517979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7CB9-4C57-B264-2B5BE847F4DB}"/>
            </c:ext>
          </c:extLst>
        </c:ser>
        <c:ser>
          <c:idx val="4"/>
          <c:order val="4"/>
          <c:tx>
            <c:v>Spain</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CB9-4C57-B264-2B5BE847F4DB}"/>
                </c:ext>
              </c:extLst>
            </c:dLbl>
            <c:dLbl>
              <c:idx val="1"/>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5.8987915062869734</c:v>
              </c:pt>
              <c:pt idx="1">
                <c:v>6.0883859390795791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E-7CB9-4C57-B264-2B5BE847F4DB}"/>
            </c:ext>
          </c:extLst>
        </c:ser>
        <c:ser>
          <c:idx val="5"/>
          <c:order val="5"/>
          <c:tx>
            <c:v>Netherlands</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CB9-4C57-B264-2B5BE847F4DB}"/>
                </c:ext>
              </c:extLst>
            </c:dLbl>
            <c:dLbl>
              <c:idx val="1"/>
              <c:numFmt formatCode="&quot;MMM&quot;;&quot;MMM&quot;;&quot;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4.2446562217972996</c:v>
              </c:pt>
              <c:pt idx="1">
                <c:v>4.5267881180289384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1-7CB9-4C57-B264-2B5BE847F4DB}"/>
            </c:ext>
          </c:extLst>
        </c:ser>
        <c:ser>
          <c:idx val="6"/>
          <c:order val="6"/>
          <c:tx>
            <c:v>Belgium</c:v>
          </c:tx>
          <c:spPr>
            <a:solidFill>
              <a:srgbClr val="0E72AE"/>
            </a:solidFill>
            <a:ln>
              <a:noFill/>
            </a:ln>
          </c:spPr>
          <c:invertIfNegative val="1"/>
          <c:dLbls>
            <c:dLbl>
              <c:idx val="0"/>
              <c:numFmt formatCode="&quot;MMM&quot;;&quot;MMM&quot;;&quot;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CB9-4C57-B264-2B5BE847F4DB}"/>
                </c:ext>
              </c:extLst>
            </c:dLbl>
            <c:dLbl>
              <c:idx val="1"/>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4.7795247922592283</c:v>
              </c:pt>
              <c:pt idx="1">
                <c:v>4.134955990750858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7CB9-4C57-B264-2B5BE847F4DB}"/>
            </c:ext>
          </c:extLst>
        </c:ser>
        <c:ser>
          <c:idx val="7"/>
          <c:order val="7"/>
          <c:tx>
            <c:v>Nordic</c:v>
          </c:tx>
          <c:spPr>
            <a:solidFill>
              <a:srgbClr val="A86F00"/>
            </a:solidFill>
            <a:ln>
              <a:noFill/>
            </a:ln>
          </c:spPr>
          <c:invertIfNegative val="1"/>
          <c:dLbls>
            <c:dLbl>
              <c:idx val="0"/>
              <c:numFmt formatCode="&quot;MMM&quot;;&quot;MMM&quot;;&quot;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CB9-4C57-B264-2B5BE847F4DB}"/>
                </c:ext>
              </c:extLst>
            </c:dLbl>
            <c:dLbl>
              <c:idx val="1"/>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3.5214283497650358</c:v>
              </c:pt>
              <c:pt idx="1">
                <c:v>3.3776078807412442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7CB9-4C57-B264-2B5BE847F4DB}"/>
            </c:ext>
          </c:extLst>
        </c:ser>
        <c:ser>
          <c:idx val="8"/>
          <c:order val="8"/>
          <c:tx>
            <c:v>Russia</c:v>
          </c:tx>
          <c:spPr>
            <a:solidFill>
              <a:srgbClr val="0B2E4A"/>
            </a:solidFill>
            <a:ln>
              <a:noFill/>
            </a:ln>
          </c:spPr>
          <c:invertIfNegative val="1"/>
          <c:dLbls>
            <c:dLbl>
              <c:idx val="0"/>
              <c:numFmt formatCode="&quot;MMM&quot;;&quot;MMM&quot;;&quot;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7CB9-4C57-B264-2B5BE847F4DB}"/>
                </c:ext>
              </c:extLst>
            </c:dLbl>
            <c:dLbl>
              <c:idx val="1"/>
              <c:numFmt formatCode="&quot;MMM&quot;;&quot;MMM&quot;;&quot;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2.9061755343869864</c:v>
              </c:pt>
              <c:pt idx="1">
                <c:v>2.9895060743742174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A-7CB9-4C57-B264-2B5BE847F4DB}"/>
            </c:ext>
          </c:extLst>
        </c:ser>
        <c:ser>
          <c:idx val="9"/>
          <c:order val="9"/>
          <c:tx>
            <c:v>Poland</c:v>
          </c:tx>
          <c:spPr>
            <a:solidFill>
              <a:srgbClr val="6C7A89"/>
            </a:solidFill>
            <a:ln>
              <a:noFill/>
            </a:ln>
          </c:spPr>
          <c:invertIfNegative val="1"/>
          <c:dLbls>
            <c:dLbl>
              <c:idx val="0"/>
              <c:numFmt formatCode="&quot;MMM&quot;;&quot;MMM&quot;;&quot;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7CB9-4C57-B264-2B5BE847F4DB}"/>
                </c:ext>
              </c:extLst>
            </c:dLbl>
            <c:dLbl>
              <c:idx val="1"/>
              <c:numFmt formatCode="&quot;MMM&quot;;&quot;MMM&quot;;&quot;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2.6811598031805981</c:v>
              </c:pt>
              <c:pt idx="1">
                <c:v>2.7483661891926578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D-7CB9-4C57-B264-2B5BE847F4DB}"/>
            </c:ext>
          </c:extLst>
        </c:ser>
        <c:ser>
          <c:idx val="10"/>
          <c:order val="10"/>
          <c:tx>
            <c:v>Switzerland</c:v>
          </c:tx>
          <c:spPr>
            <a:solidFill>
              <a:srgbClr val="B2B2B2"/>
            </a:solidFill>
            <a:ln>
              <a:noFill/>
            </a:ln>
          </c:spPr>
          <c:invertIfNegative val="1"/>
          <c:dLbls>
            <c:dLbl>
              <c:idx val="0"/>
              <c:numFmt formatCode="&quot;MMM&quot;;&quot;MMM&quot;;&quot;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7CB9-4C57-B264-2B5BE847F4DB}"/>
                </c:ext>
              </c:extLst>
            </c:dLbl>
            <c:dLbl>
              <c:idx val="1"/>
              <c:numFmt formatCode="&quot;MMM&quot;;&quot;MMM&quot;;&quot;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7CB9-4C57-B264-2B5BE847F4DB}"/>
                </c:ext>
              </c:extLst>
            </c:dLbl>
            <c:numFmt formatCode="0&quot;%&quot;" sourceLinked="0"/>
            <c:spPr>
              <a:noFill/>
              <a:ln>
                <a:noFill/>
              </a:ln>
              <a:effectLst/>
            </c:spPr>
            <c:txPr>
              <a:bodyPr rot="0" vert="horz"/>
              <a:lstStyle/>
              <a:p>
                <a:pPr>
                  <a:defRPr sz="1100">
                    <a:solidFill>
                      <a:srgbClr val="2E2E2E"/>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2.3191821221887068</c:v>
              </c:pt>
              <c:pt idx="1">
                <c:v>2.2086564404127245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0-7CB9-4C57-B264-2B5BE847F4DB}"/>
            </c:ext>
          </c:extLst>
        </c:ser>
        <c:ser>
          <c:idx val="11"/>
          <c:order val="11"/>
          <c:tx>
            <c:v>Rest of Europe</c:v>
          </c:tx>
          <c:spPr>
            <a:solidFill>
              <a:srgbClr val="5F5F5F"/>
            </a:solidFill>
            <a:ln>
              <a:noFill/>
            </a:ln>
          </c:spPr>
          <c:invertIfNegative val="1"/>
          <c:dLbls>
            <c:dLbl>
              <c:idx val="0"/>
              <c:numFmt formatCode="&quot;MMM&quot;;&quot;MMM&quot;;&quot;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7CB9-4C57-B264-2B5BE847F4DB}"/>
                </c:ext>
              </c:extLst>
            </c:dLbl>
            <c:dLbl>
              <c:idx val="1"/>
              <c:numFmt formatCode="&quot;MMM&quot;;&quot;MMM&quot;;&quot;MMM&quot;" sourceLinked="0"/>
              <c:spPr>
                <a:blipFill>
                  <a:blip xmlns:r="http://schemas.openxmlformats.org/officeDocument/2006/relationships"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7CB9-4C57-B264-2B5BE847F4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1.1604461079050812</c:v>
              </c:pt>
              <c:pt idx="1">
                <c:v>1.0090046542909892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3-7CB9-4C57-B264-2B5BE847F4DB}"/>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Germany</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09A-4FD2-B4C7-372924AADADB}"/>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37.526354901000715</c:v>
              </c:pt>
              <c:pt idx="1">
                <c:v>41.173412083981617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709A-4FD2-B4C7-372924AADADB}"/>
            </c:ext>
          </c:extLst>
        </c:ser>
        <c:ser>
          <c:idx val="1"/>
          <c:order val="1"/>
          <c:tx>
            <c:v>U.K.</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09A-4FD2-B4C7-372924AADADB}"/>
                </c:ext>
              </c:extLst>
            </c:dLbl>
            <c:dLbl>
              <c:idx val="1"/>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16.910323849703072</c:v>
              </c:pt>
              <c:pt idx="1">
                <c:v>14.397037990450325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709A-4FD2-B4C7-372924AADADB}"/>
            </c:ext>
          </c:extLst>
        </c:ser>
        <c:ser>
          <c:idx val="2"/>
          <c:order val="2"/>
          <c:tx>
            <c:v>France</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09A-4FD2-B4C7-372924AADADB}"/>
                </c:ext>
              </c:extLst>
            </c:dLbl>
            <c:dLbl>
              <c:idx val="1"/>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10.608321234005695</c:v>
              </c:pt>
              <c:pt idx="1">
                <c:v>11.206521294140751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709A-4FD2-B4C7-372924AADADB}"/>
            </c:ext>
          </c:extLst>
        </c:ser>
        <c:ser>
          <c:idx val="3"/>
          <c:order val="3"/>
          <c:tx>
            <c:v>Italy</c:v>
          </c:tx>
          <c:spPr>
            <a:solidFill>
              <a:srgbClr val="40315E"/>
            </a:solidFill>
            <a:ln>
              <a:noFill/>
            </a:ln>
          </c:spPr>
          <c:invertIfNegative val="1"/>
          <c:dLbls>
            <c:dLbl>
              <c:idx val="0"/>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09A-4FD2-B4C7-372924AADADB}"/>
                </c:ext>
              </c:extLst>
            </c:dLbl>
            <c:dLbl>
              <c:idx val="1"/>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7.6202148759038817</c:v>
              </c:pt>
              <c:pt idx="1">
                <c:v>6.3647764361943135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709A-4FD2-B4C7-372924AADADB}"/>
            </c:ext>
          </c:extLst>
        </c:ser>
        <c:ser>
          <c:idx val="4"/>
          <c:order val="4"/>
          <c:tx>
            <c:v>Spain</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09A-4FD2-B4C7-372924AADADB}"/>
                </c:ext>
              </c:extLst>
            </c:dLbl>
            <c:dLbl>
              <c:idx val="1"/>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5.8955127776035408</c:v>
              </c:pt>
              <c:pt idx="1">
                <c:v>5.9811755519899252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E-709A-4FD2-B4C7-372924AADADB}"/>
            </c:ext>
          </c:extLst>
        </c:ser>
        <c:ser>
          <c:idx val="5"/>
          <c:order val="5"/>
          <c:tx>
            <c:v>Netherlands</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09A-4FD2-B4C7-372924AADADB}"/>
                </c:ext>
              </c:extLst>
            </c:dLbl>
            <c:dLbl>
              <c:idx val="1"/>
              <c:numFmt formatCode="&quot;MMM&quot;;&quot;MMM&quot;;&quot;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4.0038042800529121</c:v>
              </c:pt>
              <c:pt idx="1">
                <c:v>4.3243899636433536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1-709A-4FD2-B4C7-372924AADADB}"/>
            </c:ext>
          </c:extLst>
        </c:ser>
        <c:ser>
          <c:idx val="6"/>
          <c:order val="6"/>
          <c:tx>
            <c:v>Belgium</c:v>
          </c:tx>
          <c:spPr>
            <a:solidFill>
              <a:srgbClr val="0E72AE"/>
            </a:solidFill>
            <a:ln>
              <a:noFill/>
            </a:ln>
          </c:spPr>
          <c:invertIfNegative val="1"/>
          <c:dLbls>
            <c:dLbl>
              <c:idx val="0"/>
              <c:numFmt formatCode="&quot;MMM&quot;;&quot;MMM&quot;;&quot;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09A-4FD2-B4C7-372924AADADB}"/>
                </c:ext>
              </c:extLst>
            </c:dLbl>
            <c:dLbl>
              <c:idx val="1"/>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4.7803925312971352</c:v>
              </c:pt>
              <c:pt idx="1">
                <c:v>4.1296427009726679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4-709A-4FD2-B4C7-372924AADADB}"/>
            </c:ext>
          </c:extLst>
        </c:ser>
        <c:ser>
          <c:idx val="7"/>
          <c:order val="7"/>
          <c:tx>
            <c:v>Nordic</c:v>
          </c:tx>
          <c:spPr>
            <a:solidFill>
              <a:srgbClr val="A86F00"/>
            </a:solidFill>
            <a:ln>
              <a:noFill/>
            </a:ln>
          </c:spPr>
          <c:invertIfNegative val="1"/>
          <c:dLbls>
            <c:dLbl>
              <c:idx val="0"/>
              <c:numFmt formatCode="&quot;MMM&quot;;&quot;MMM&quot;;&quot;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09A-4FD2-B4C7-372924AADADB}"/>
                </c:ext>
              </c:extLst>
            </c:dLbl>
            <c:dLbl>
              <c:idx val="1"/>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3.4338758294679472</c:v>
              </c:pt>
              <c:pt idx="1">
                <c:v>3.2562367281827003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709A-4FD2-B4C7-372924AADADB}"/>
            </c:ext>
          </c:extLst>
        </c:ser>
        <c:ser>
          <c:idx val="8"/>
          <c:order val="8"/>
          <c:tx>
            <c:v>Russia</c:v>
          </c:tx>
          <c:spPr>
            <a:solidFill>
              <a:srgbClr val="0B2E4A"/>
            </a:solidFill>
            <a:ln>
              <a:noFill/>
            </a:ln>
          </c:spPr>
          <c:invertIfNegative val="1"/>
          <c:dLbls>
            <c:dLbl>
              <c:idx val="0"/>
              <c:numFmt formatCode="&quot;MMM&quot;;&quot;MMM&quot;;&quot;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709A-4FD2-B4C7-372924AADADB}"/>
                </c:ext>
              </c:extLst>
            </c:dLbl>
            <c:dLbl>
              <c:idx val="1"/>
              <c:numFmt formatCode="&quot;MMM&quot;;&quot;MMM&quot;;&quot;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2.9988776762223321</c:v>
              </c:pt>
              <c:pt idx="1">
                <c:v>3.0997190236253922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A-709A-4FD2-B4C7-372924AADADB}"/>
            </c:ext>
          </c:extLst>
        </c:ser>
        <c:ser>
          <c:idx val="9"/>
          <c:order val="9"/>
          <c:tx>
            <c:v>Poland</c:v>
          </c:tx>
          <c:spPr>
            <a:solidFill>
              <a:srgbClr val="6C7A89"/>
            </a:solidFill>
            <a:ln>
              <a:noFill/>
            </a:ln>
          </c:spPr>
          <c:invertIfNegative val="1"/>
          <c:dLbls>
            <c:dLbl>
              <c:idx val="0"/>
              <c:numFmt formatCode="&quot;MMM&quot;;&quot;MMM&quot;;&quot;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709A-4FD2-B4C7-372924AADADB}"/>
                </c:ext>
              </c:extLst>
            </c:dLbl>
            <c:dLbl>
              <c:idx val="1"/>
              <c:numFmt formatCode="&quot;MMM&quot;;&quot;MMM&quot;;&quot;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2.6566759576364398</c:v>
              </c:pt>
              <c:pt idx="1">
                <c:v>2.7577691737649115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D-709A-4FD2-B4C7-372924AADADB}"/>
            </c:ext>
          </c:extLst>
        </c:ser>
        <c:ser>
          <c:idx val="10"/>
          <c:order val="10"/>
          <c:tx>
            <c:v>Switzerland</c:v>
          </c:tx>
          <c:spPr>
            <a:solidFill>
              <a:srgbClr val="B2B2B2"/>
            </a:solidFill>
            <a:ln>
              <a:noFill/>
            </a:ln>
          </c:spPr>
          <c:invertIfNegative val="1"/>
          <c:dLbls>
            <c:dLbl>
              <c:idx val="0"/>
              <c:numFmt formatCode="&quot;MMM&quot;;&quot;MMM&quot;;&quot;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709A-4FD2-B4C7-372924AADADB}"/>
                </c:ext>
              </c:extLst>
            </c:dLbl>
            <c:dLbl>
              <c:idx val="1"/>
              <c:numFmt formatCode="&quot;MMM&quot;;&quot;MMM&quot;;&quot;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709A-4FD2-B4C7-372924AADADB}"/>
                </c:ext>
              </c:extLst>
            </c:dLbl>
            <c:numFmt formatCode="0&quot;%&quot;" sourceLinked="0"/>
            <c:spPr>
              <a:noFill/>
              <a:ln>
                <a:noFill/>
              </a:ln>
              <a:effectLst/>
            </c:spPr>
            <c:txPr>
              <a:bodyPr rot="0" vert="horz"/>
              <a:lstStyle/>
              <a:p>
                <a:pPr>
                  <a:defRPr sz="1100">
                    <a:solidFill>
                      <a:srgbClr val="2E2E2E"/>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2.3808690516924731</c:v>
              </c:pt>
              <c:pt idx="1">
                <c:v>2.2681420810525967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0-709A-4FD2-B4C7-372924AADADB}"/>
            </c:ext>
          </c:extLst>
        </c:ser>
        <c:ser>
          <c:idx val="11"/>
          <c:order val="11"/>
          <c:tx>
            <c:v>Rest of Europe</c:v>
          </c:tx>
          <c:spPr>
            <a:solidFill>
              <a:srgbClr val="5F5F5F"/>
            </a:solidFill>
            <a:ln>
              <a:noFill/>
            </a:ln>
          </c:spPr>
          <c:invertIfNegative val="1"/>
          <c:dLbls>
            <c:dLbl>
              <c:idx val="0"/>
              <c:numFmt formatCode="&quot;MMM&quot;;&quot;MMM&quot;;&quot;MMM&quot;" sourceLinked="0"/>
              <c:spPr>
                <a:blipFill>
                  <a:blip xmlns:r="http://schemas.openxmlformats.org/officeDocument/2006/relationships"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709A-4FD2-B4C7-372924AADADB}"/>
                </c:ext>
              </c:extLst>
            </c:dLbl>
            <c:dLbl>
              <c:idx val="1"/>
              <c:numFmt formatCode="&quot;MMM&quot;;&quot;MMM&quot;;&quot;MMM&quot;" sourceLinked="0"/>
              <c:spPr>
                <a:blipFill>
                  <a:blip xmlns:r="http://schemas.openxmlformats.org/officeDocument/2006/relationships"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709A-4FD2-B4C7-372924AADADB}"/>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2026</c:v>
              </c:pt>
              <c:pt idx="1">
                <c:v>2036</c:v>
              </c:pt>
            </c:strLit>
          </c:cat>
          <c:val>
            <c:numLit>
              <c:formatCode>General</c:formatCode>
              <c:ptCount val="2"/>
              <c:pt idx="0">
                <c:v>1.1847770354138514</c:v>
              </c:pt>
              <c:pt idx="1">
                <c:v>1.0411769720014472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3-709A-4FD2-B4C7-372924AADADB}"/>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Germany</c:v>
          </c:tx>
          <c:spPr>
            <a:solidFill>
              <a:srgbClr val="3D85C6"/>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98C-4278-9522-27F17DD6F885}"/>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98C-4278-9522-27F17DD6F885}"/>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98C-4278-9522-27F17DD6F885}"/>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98C-4278-9522-27F17DD6F885}"/>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98C-4278-9522-27F17DD6F885}"/>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98C-4278-9522-27F17DD6F885}"/>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98C-4278-9522-27F17DD6F885}"/>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98C-4278-9522-27F17DD6F885}"/>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98C-4278-9522-27F17DD6F885}"/>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98C-4278-9522-27F17DD6F885}"/>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98C-4278-9522-27F17DD6F885}"/>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98C-4278-9522-27F17DD6F885}"/>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98C-4278-9522-27F17DD6F885}"/>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98C-4278-9522-27F17DD6F885}"/>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98C-4278-9522-27F17DD6F885}"/>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175885.92</c:v>
              </c:pt>
              <c:pt idx="1">
                <c:v>183602.03</c:v>
              </c:pt>
              <c:pt idx="2">
                <c:v>191656.64499999999</c:v>
              </c:pt>
              <c:pt idx="3">
                <c:v>200064.61600000001</c:v>
              </c:pt>
              <c:pt idx="4">
                <c:v>208841.44500000001</c:v>
              </c:pt>
              <c:pt idx="5">
                <c:v>218003.31299999999</c:v>
              </c:pt>
              <c:pt idx="6">
                <c:v>229288.74400000001</c:v>
              </c:pt>
              <c:pt idx="7">
                <c:v>241158.39</c:v>
              </c:pt>
              <c:pt idx="8">
                <c:v>253642.49600000001</c:v>
              </c:pt>
              <c:pt idx="9">
                <c:v>266772.86900000001</c:v>
              </c:pt>
              <c:pt idx="10">
                <c:v>280582.96600000001</c:v>
              </c:pt>
              <c:pt idx="11">
                <c:v>295107.973</c:v>
              </c:pt>
              <c:pt idx="12">
                <c:v>310384.90000000002</c:v>
              </c:pt>
              <c:pt idx="13">
                <c:v>326452.67200000002</c:v>
              </c:pt>
              <c:pt idx="14">
                <c:v>343352.22700000001</c:v>
              </c:pt>
              <c:pt idx="15">
                <c:v>361126.62699999998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0-A98C-4278-9522-27F17DD6F885}"/>
            </c:ext>
          </c:extLst>
        </c:ser>
        <c:ser>
          <c:idx val="1"/>
          <c:order val="1"/>
          <c:tx>
            <c:v>U.K.</c:v>
          </c:tx>
          <c:spPr>
            <a:solidFill>
              <a:srgbClr val="9E7E0A"/>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98C-4278-9522-27F17DD6F885}"/>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98C-4278-9522-27F17DD6F885}"/>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98C-4278-9522-27F17DD6F885}"/>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98C-4278-9522-27F17DD6F885}"/>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98C-4278-9522-27F17DD6F885}"/>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A98C-4278-9522-27F17DD6F885}"/>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A98C-4278-9522-27F17DD6F885}"/>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A98C-4278-9522-27F17DD6F885}"/>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A98C-4278-9522-27F17DD6F885}"/>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A98C-4278-9522-27F17DD6F885}"/>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A98C-4278-9522-27F17DD6F885}"/>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A98C-4278-9522-27F17DD6F885}"/>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A98C-4278-9522-27F17DD6F885}"/>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A98C-4278-9522-27F17DD6F885}"/>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A98C-4278-9522-27F17DD6F885}"/>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91858.922000000006</c:v>
              </c:pt>
              <c:pt idx="1">
                <c:v>93693.100999999995</c:v>
              </c:pt>
              <c:pt idx="2">
                <c:v>95563.903999999995</c:v>
              </c:pt>
              <c:pt idx="3">
                <c:v>97472.062000000005</c:v>
              </c:pt>
              <c:pt idx="4">
                <c:v>99418.320999999996</c:v>
              </c:pt>
              <c:pt idx="5">
                <c:v>101403.44100000001</c:v>
              </c:pt>
              <c:pt idx="6">
                <c:v>104230.93</c:v>
              </c:pt>
              <c:pt idx="7">
                <c:v>107137.26</c:v>
              </c:pt>
              <c:pt idx="8">
                <c:v>110124.629</c:v>
              </c:pt>
              <c:pt idx="9">
                <c:v>113195.296</c:v>
              </c:pt>
              <c:pt idx="10">
                <c:v>116351.584</c:v>
              </c:pt>
              <c:pt idx="11">
                <c:v>119595.88099999999</c:v>
              </c:pt>
              <c:pt idx="12">
                <c:v>122930.641</c:v>
              </c:pt>
              <c:pt idx="13">
                <c:v>126358.38499999999</c:v>
              </c:pt>
              <c:pt idx="14">
                <c:v>129881.70699999999</c:v>
              </c:pt>
              <c:pt idx="15">
                <c:v>133503.272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1-A98C-4278-9522-27F17DD6F885}"/>
            </c:ext>
          </c:extLst>
        </c:ser>
        <c:ser>
          <c:idx val="2"/>
          <c:order val="2"/>
          <c:tx>
            <c:v>France</c:v>
          </c:tx>
          <c:spPr>
            <a:solidFill>
              <a:srgbClr val="0081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A98C-4278-9522-27F17DD6F885}"/>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A98C-4278-9522-27F17DD6F885}"/>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A98C-4278-9522-27F17DD6F885}"/>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A98C-4278-9522-27F17DD6F885}"/>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A98C-4278-9522-27F17DD6F885}"/>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A98C-4278-9522-27F17DD6F885}"/>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A98C-4278-9522-27F17DD6F885}"/>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A98C-4278-9522-27F17DD6F885}"/>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A98C-4278-9522-27F17DD6F885}"/>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A98C-4278-9522-27F17DD6F885}"/>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A98C-4278-9522-27F17DD6F885}"/>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A98C-4278-9522-27F17DD6F885}"/>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A98C-4278-9522-27F17DD6F885}"/>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A98C-4278-9522-27F17DD6F885}"/>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51215.552000000003</c:v>
              </c:pt>
              <c:pt idx="1">
                <c:v>53366.385000000002</c:v>
              </c:pt>
              <c:pt idx="2">
                <c:v>55607.544000000002</c:v>
              </c:pt>
              <c:pt idx="3">
                <c:v>57942.821000000004</c:v>
              </c:pt>
              <c:pt idx="4">
                <c:v>60376.17</c:v>
              </c:pt>
              <c:pt idx="5">
                <c:v>62911.71</c:v>
              </c:pt>
              <c:pt idx="6">
                <c:v>66051.566999999995</c:v>
              </c:pt>
              <c:pt idx="7">
                <c:v>69348.130999999994</c:v>
              </c:pt>
              <c:pt idx="8">
                <c:v>72809.224000000002</c:v>
              </c:pt>
              <c:pt idx="9">
                <c:v>76443.054999999993</c:v>
              </c:pt>
              <c:pt idx="10">
                <c:v>80258.248000000007</c:v>
              </c:pt>
              <c:pt idx="11">
                <c:v>84263.853000000003</c:v>
              </c:pt>
              <c:pt idx="12">
                <c:v>88469.373000000007</c:v>
              </c:pt>
              <c:pt idx="13">
                <c:v>92884.786999999997</c:v>
              </c:pt>
              <c:pt idx="14">
                <c:v>97520.569000000003</c:v>
              </c:pt>
              <c:pt idx="15">
                <c:v>102387.71799999999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32-A98C-4278-9522-27F17DD6F885}"/>
            </c:ext>
          </c:extLst>
        </c:ser>
        <c:ser>
          <c:idx val="3"/>
          <c:order val="3"/>
          <c:tx>
            <c:v>Italy</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3-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A98C-4278-9522-27F17DD6F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A98C-4278-9522-27F17DD6F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A98C-4278-9522-27F17DD6F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A98C-4278-9522-27F17DD6F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A98C-4278-9522-27F17DD6F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A98C-4278-9522-27F17DD6F88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A98C-4278-9522-27F17DD6F88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A98C-4278-9522-27F17DD6F88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A98C-4278-9522-27F17DD6F88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A98C-4278-9522-27F17DD6F88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A98C-4278-9522-27F17DD6F885}"/>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A98C-4278-9522-27F17DD6F885}"/>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0-A98C-4278-9522-27F17DD6F885}"/>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A98C-4278-9522-27F17DD6F885}"/>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41453.271000000001</c:v>
              </c:pt>
              <c:pt idx="1">
                <c:v>42092.144</c:v>
              </c:pt>
              <c:pt idx="2">
                <c:v>42740.864000000001</c:v>
              </c:pt>
              <c:pt idx="3">
                <c:v>43399.582000000002</c:v>
              </c:pt>
              <c:pt idx="4">
                <c:v>44068.451000000001</c:v>
              </c:pt>
              <c:pt idx="5">
                <c:v>44747.63</c:v>
              </c:pt>
              <c:pt idx="6">
                <c:v>45790.605000000003</c:v>
              </c:pt>
              <c:pt idx="7">
                <c:v>46857.891000000003</c:v>
              </c:pt>
              <c:pt idx="8">
                <c:v>47950.052000000003</c:v>
              </c:pt>
              <c:pt idx="9">
                <c:v>49067.67</c:v>
              </c:pt>
              <c:pt idx="10">
                <c:v>50211.337</c:v>
              </c:pt>
              <c:pt idx="11">
                <c:v>51381.66</c:v>
              </c:pt>
              <c:pt idx="12">
                <c:v>52579.262000000002</c:v>
              </c:pt>
              <c:pt idx="13">
                <c:v>53804.777000000002</c:v>
              </c:pt>
              <c:pt idx="14">
                <c:v>55058.856</c:v>
              </c:pt>
              <c:pt idx="15">
                <c:v>56342.165000000001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3-A98C-4278-9522-27F17DD6F885}"/>
            </c:ext>
          </c:extLst>
        </c:ser>
        <c:ser>
          <c:idx val="4"/>
          <c:order val="4"/>
          <c:tx>
            <c:v>Spain</c:v>
          </c:tx>
          <c:spPr>
            <a:solidFill>
              <a:srgbClr val="A35313"/>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A98C-4278-9522-27F17DD6F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A98C-4278-9522-27F17DD6F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A98C-4278-9522-27F17DD6F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A98C-4278-9522-27F17DD6F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A98C-4278-9522-27F17DD6F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A98C-4278-9522-27F17DD6F88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A98C-4278-9522-27F17DD6F88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A98C-4278-9522-27F17DD6F88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D-A98C-4278-9522-27F17DD6F88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E-A98C-4278-9522-27F17DD6F88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F-A98C-4278-9522-27F17DD6F885}"/>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0-A98C-4278-9522-27F17DD6F885}"/>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1-A98C-4278-9522-27F17DD6F885}"/>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2-A98C-4278-9522-27F17DD6F885}"/>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3-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28811.375</c:v>
              </c:pt>
              <c:pt idx="1">
                <c:v>29912.233</c:v>
              </c:pt>
              <c:pt idx="2">
                <c:v>31055.152999999998</c:v>
              </c:pt>
              <c:pt idx="3">
                <c:v>32241.742999999999</c:v>
              </c:pt>
              <c:pt idx="4">
                <c:v>33473.673000000003</c:v>
              </c:pt>
              <c:pt idx="5">
                <c:v>34752.673000000003</c:v>
              </c:pt>
              <c:pt idx="6">
                <c:v>36355.667999999998</c:v>
              </c:pt>
              <c:pt idx="7">
                <c:v>38032.603000000003</c:v>
              </c:pt>
              <c:pt idx="8">
                <c:v>39786.887000000002</c:v>
              </c:pt>
              <c:pt idx="9">
                <c:v>41622.089999999997</c:v>
              </c:pt>
              <c:pt idx="10">
                <c:v>43541.942999999999</c:v>
              </c:pt>
              <c:pt idx="11">
                <c:v>45550.35</c:v>
              </c:pt>
              <c:pt idx="12">
                <c:v>47651.396999999997</c:v>
              </c:pt>
              <c:pt idx="13">
                <c:v>49849.356</c:v>
              </c:pt>
              <c:pt idx="14">
                <c:v>52148.699000000001</c:v>
              </c:pt>
              <c:pt idx="15">
                <c:v>54554.1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54-A98C-4278-9522-27F17DD6F885}"/>
            </c:ext>
          </c:extLst>
        </c:ser>
        <c:ser>
          <c:idx val="5"/>
          <c:order val="5"/>
          <c:tx>
            <c:v>Belgium</c:v>
          </c:tx>
          <c:spPr>
            <a:solidFill>
              <a:srgbClr val="808080"/>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5-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6-A98C-4278-9522-27F17DD6F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7-A98C-4278-9522-27F17DD6F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8-A98C-4278-9522-27F17DD6F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9-A98C-4278-9522-27F17DD6F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A-A98C-4278-9522-27F17DD6F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B-A98C-4278-9522-27F17DD6F88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C-A98C-4278-9522-27F17DD6F88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D-A98C-4278-9522-27F17DD6F88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E-A98C-4278-9522-27F17DD6F88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F-A98C-4278-9522-27F17DD6F88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0-A98C-4278-9522-27F17DD6F885}"/>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1-A98C-4278-9522-27F17DD6F885}"/>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2-A98C-4278-9522-27F17DD6F885}"/>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3-A98C-4278-9522-27F17DD6F885}"/>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4-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25514.114000000001</c:v>
              </c:pt>
              <c:pt idx="1">
                <c:v>26022.341</c:v>
              </c:pt>
              <c:pt idx="2">
                <c:v>26540.691999999999</c:v>
              </c:pt>
              <c:pt idx="3">
                <c:v>27069.367999999999</c:v>
              </c:pt>
              <c:pt idx="4">
                <c:v>27608.576000000001</c:v>
              </c:pt>
              <c:pt idx="5">
                <c:v>28158.524000000001</c:v>
              </c:pt>
              <c:pt idx="6">
                <c:v>28941.998</c:v>
              </c:pt>
              <c:pt idx="7">
                <c:v>29747.271000000001</c:v>
              </c:pt>
              <c:pt idx="8">
                <c:v>30574.95</c:v>
              </c:pt>
              <c:pt idx="9">
                <c:v>31425.656999999999</c:v>
              </c:pt>
              <c:pt idx="10">
                <c:v>32300.035</c:v>
              </c:pt>
              <c:pt idx="11">
                <c:v>33198.741000000002</c:v>
              </c:pt>
              <c:pt idx="12">
                <c:v>34122.453000000001</c:v>
              </c:pt>
              <c:pt idx="13">
                <c:v>35071.864999999998</c:v>
              </c:pt>
              <c:pt idx="14">
                <c:v>36047.694000000003</c:v>
              </c:pt>
              <c:pt idx="15">
                <c:v>37050.673999999999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65-A98C-4278-9522-27F17DD6F885}"/>
            </c:ext>
          </c:extLst>
        </c:ser>
        <c:ser>
          <c:idx val="6"/>
          <c:order val="6"/>
          <c:tx>
            <c:v>Netherlands</c:v>
          </c:tx>
          <c:spPr>
            <a:solidFill>
              <a:srgbClr val="0E72A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6-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7-A98C-4278-9522-27F17DD6F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8-A98C-4278-9522-27F17DD6F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9-A98C-4278-9522-27F17DD6F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A-A98C-4278-9522-27F17DD6F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B-A98C-4278-9522-27F17DD6F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C-A98C-4278-9522-27F17DD6F88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D-A98C-4278-9522-27F17DD6F88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E-A98C-4278-9522-27F17DD6F88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F-A98C-4278-9522-27F17DD6F88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0-A98C-4278-9522-27F17DD6F88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1-A98C-4278-9522-27F17DD6F885}"/>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2-A98C-4278-9522-27F17DD6F885}"/>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3-A98C-4278-9522-27F17DD6F885}"/>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4-A98C-4278-9522-27F17DD6F885}"/>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5-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20390.876</c:v>
              </c:pt>
              <c:pt idx="1">
                <c:v>21240.378000000001</c:v>
              </c:pt>
              <c:pt idx="2">
                <c:v>22125.271000000001</c:v>
              </c:pt>
              <c:pt idx="3">
                <c:v>23047.03</c:v>
              </c:pt>
              <c:pt idx="4">
                <c:v>24007.19</c:v>
              </c:pt>
              <c:pt idx="5">
                <c:v>25007.350999999999</c:v>
              </c:pt>
              <c:pt idx="6">
                <c:v>26246.563999999998</c:v>
              </c:pt>
              <c:pt idx="7">
                <c:v>27547.185000000001</c:v>
              </c:pt>
              <c:pt idx="8">
                <c:v>28912.257000000001</c:v>
              </c:pt>
              <c:pt idx="9">
                <c:v>30344.973999999998</c:v>
              </c:pt>
              <c:pt idx="10">
                <c:v>31848.687999999998</c:v>
              </c:pt>
              <c:pt idx="11">
                <c:v>33426.915999999997</c:v>
              </c:pt>
              <c:pt idx="12">
                <c:v>35083.351999999999</c:v>
              </c:pt>
              <c:pt idx="13">
                <c:v>36821.870999999999</c:v>
              </c:pt>
              <c:pt idx="14">
                <c:v>38646.54</c:v>
              </c:pt>
              <c:pt idx="15">
                <c:v>40561.629000000001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76-A98C-4278-9522-27F17DD6F885}"/>
            </c:ext>
          </c:extLst>
        </c:ser>
        <c:ser>
          <c:idx val="7"/>
          <c:order val="7"/>
          <c:tx>
            <c:v>Nordic</c:v>
          </c:tx>
          <c:spPr>
            <a:solidFill>
              <a:srgbClr val="A86F00"/>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7-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8-A98C-4278-9522-27F17DD6F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9-A98C-4278-9522-27F17DD6F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A-A98C-4278-9522-27F17DD6F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B-A98C-4278-9522-27F17DD6F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C-A98C-4278-9522-27F17DD6F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D-A98C-4278-9522-27F17DD6F88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E-A98C-4278-9522-27F17DD6F88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F-A98C-4278-9522-27F17DD6F88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0-A98C-4278-9522-27F17DD6F88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1-A98C-4278-9522-27F17DD6F88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2-A98C-4278-9522-27F17DD6F885}"/>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3-A98C-4278-9522-27F17DD6F885}"/>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4-A98C-4278-9522-27F17DD6F885}"/>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5-A98C-4278-9522-27F17DD6F885}"/>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6-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17846.636999999999</c:v>
              </c:pt>
              <c:pt idx="1">
                <c:v>18392.21</c:v>
              </c:pt>
              <c:pt idx="2">
                <c:v>18954.460999999999</c:v>
              </c:pt>
              <c:pt idx="3">
                <c:v>19533.900000000001</c:v>
              </c:pt>
              <c:pt idx="4">
                <c:v>20131.053</c:v>
              </c:pt>
              <c:pt idx="5">
                <c:v>20746.460999999999</c:v>
              </c:pt>
              <c:pt idx="6">
                <c:v>21544.829000000002</c:v>
              </c:pt>
              <c:pt idx="7">
                <c:v>22373.920999999998</c:v>
              </c:pt>
              <c:pt idx="8">
                <c:v>23234.918000000001</c:v>
              </c:pt>
              <c:pt idx="9">
                <c:v>24129.047999999999</c:v>
              </c:pt>
              <c:pt idx="10">
                <c:v>25057.585999999999</c:v>
              </c:pt>
              <c:pt idx="11">
                <c:v>26021.856</c:v>
              </c:pt>
              <c:pt idx="12">
                <c:v>27023.234</c:v>
              </c:pt>
              <c:pt idx="13">
                <c:v>28063.146000000001</c:v>
              </c:pt>
              <c:pt idx="14">
                <c:v>29143.077000000001</c:v>
              </c:pt>
              <c:pt idx="15">
                <c:v>30264.565999999999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87-A98C-4278-9522-27F17DD6F885}"/>
            </c:ext>
          </c:extLst>
        </c:ser>
        <c:ser>
          <c:idx val="8"/>
          <c:order val="8"/>
          <c:tx>
            <c:v>Russia</c:v>
          </c:tx>
          <c:spPr>
            <a:solidFill>
              <a:srgbClr val="0B2E4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8-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9-A98C-4278-9522-27F17DD6F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A-A98C-4278-9522-27F17DD6F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B-A98C-4278-9522-27F17DD6F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C-A98C-4278-9522-27F17DD6F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D-A98C-4278-9522-27F17DD6F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E-A98C-4278-9522-27F17DD6F88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F-A98C-4278-9522-27F17DD6F88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0-A98C-4278-9522-27F17DD6F88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1-A98C-4278-9522-27F17DD6F88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2-A98C-4278-9522-27F17DD6F88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3-A98C-4278-9522-27F17DD6F885}"/>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4-A98C-4278-9522-27F17DD6F885}"/>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5-A98C-4278-9522-27F17DD6F885}"/>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6-A98C-4278-9522-27F17DD6F885}"/>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7-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14217.483</c:v>
              </c:pt>
              <c:pt idx="1">
                <c:v>14755.964</c:v>
              </c:pt>
              <c:pt idx="2">
                <c:v>15314.839</c:v>
              </c:pt>
              <c:pt idx="3">
                <c:v>15894.882</c:v>
              </c:pt>
              <c:pt idx="4">
                <c:v>16496.893</c:v>
              </c:pt>
              <c:pt idx="5">
                <c:v>17121.705000000002</c:v>
              </c:pt>
              <c:pt idx="6">
                <c:v>17905.431</c:v>
              </c:pt>
              <c:pt idx="7">
                <c:v>18725.030999999999</c:v>
              </c:pt>
              <c:pt idx="8">
                <c:v>19582.147000000001</c:v>
              </c:pt>
              <c:pt idx="9">
                <c:v>20478.496999999999</c:v>
              </c:pt>
              <c:pt idx="10">
                <c:v>21415.876</c:v>
              </c:pt>
              <c:pt idx="11">
                <c:v>22396.162</c:v>
              </c:pt>
              <c:pt idx="12">
                <c:v>23421.32</c:v>
              </c:pt>
              <c:pt idx="13">
                <c:v>24493.402999999998</c:v>
              </c:pt>
              <c:pt idx="14">
                <c:v>25614.560000000001</c:v>
              </c:pt>
              <c:pt idx="15">
                <c:v>26787.036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98-A98C-4278-9522-27F17DD6F885}"/>
            </c:ext>
          </c:extLst>
        </c:ser>
        <c:ser>
          <c:idx val="9"/>
          <c:order val="9"/>
          <c:tx>
            <c:v>Poland</c:v>
          </c:tx>
          <c:spPr>
            <a:solidFill>
              <a:srgbClr val="6C7A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9-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A-A98C-4278-9522-27F17DD6F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B-A98C-4278-9522-27F17DD6F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C-A98C-4278-9522-27F17DD6F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D-A98C-4278-9522-27F17DD6F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E-A98C-4278-9522-27F17DD6F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F-A98C-4278-9522-27F17DD6F88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0-A98C-4278-9522-27F17DD6F88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1-A98C-4278-9522-27F17DD6F88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2-A98C-4278-9522-27F17DD6F88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3-A98C-4278-9522-27F17DD6F88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4-A98C-4278-9522-27F17DD6F885}"/>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5-A98C-4278-9522-27F17DD6F885}"/>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6-A98C-4278-9522-27F17DD6F885}"/>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7-A98C-4278-9522-27F17DD6F885}"/>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8-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13139.514999999999</c:v>
              </c:pt>
              <c:pt idx="1">
                <c:v>13632.422</c:v>
              </c:pt>
              <c:pt idx="2">
                <c:v>14143.821</c:v>
              </c:pt>
              <c:pt idx="3">
                <c:v>14674.403</c:v>
              </c:pt>
              <c:pt idx="4">
                <c:v>15224.89</c:v>
              </c:pt>
              <c:pt idx="5">
                <c:v>15796.027</c:v>
              </c:pt>
              <c:pt idx="6">
                <c:v>16513.269</c:v>
              </c:pt>
              <c:pt idx="7">
                <c:v>17263.079000000002</c:v>
              </c:pt>
              <c:pt idx="8">
                <c:v>18046.935000000001</c:v>
              </c:pt>
              <c:pt idx="9">
                <c:v>18866.383000000002</c:v>
              </c:pt>
              <c:pt idx="10">
                <c:v>19723.039000000001</c:v>
              </c:pt>
              <c:pt idx="11">
                <c:v>20618.594000000001</c:v>
              </c:pt>
              <c:pt idx="12">
                <c:v>21554.812000000002</c:v>
              </c:pt>
              <c:pt idx="13">
                <c:v>22533.54</c:v>
              </c:pt>
              <c:pt idx="14">
                <c:v>23556.71</c:v>
              </c:pt>
              <c:pt idx="15">
                <c:v>24626.337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A9-A98C-4278-9522-27F17DD6F885}"/>
            </c:ext>
          </c:extLst>
        </c:ser>
        <c:ser>
          <c:idx val="10"/>
          <c:order val="10"/>
          <c:tx>
            <c:v>Switzerland</c:v>
          </c:tx>
          <c:spPr>
            <a:solidFill>
              <a:srgbClr val="B2B2B2"/>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A-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B-A98C-4278-9522-27F17DD6F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C-A98C-4278-9522-27F17DD6F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D-A98C-4278-9522-27F17DD6F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E-A98C-4278-9522-27F17DD6F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F-A98C-4278-9522-27F17DD6F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0-A98C-4278-9522-27F17DD6F88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1-A98C-4278-9522-27F17DD6F88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2-A98C-4278-9522-27F17DD6F88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3-A98C-4278-9522-27F17DD6F88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4-A98C-4278-9522-27F17DD6F88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5-A98C-4278-9522-27F17DD6F885}"/>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6-A98C-4278-9522-27F17DD6F885}"/>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7-A98C-4278-9522-27F17DD6F885}"/>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8-A98C-4278-9522-27F17DD6F885}"/>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9-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11795.415999999999</c:v>
              </c:pt>
              <c:pt idx="1">
                <c:v>12147.38</c:v>
              </c:pt>
              <c:pt idx="2">
                <c:v>12509.846</c:v>
              </c:pt>
              <c:pt idx="3">
                <c:v>12883.128000000001</c:v>
              </c:pt>
              <c:pt idx="4">
                <c:v>13267.548000000001</c:v>
              </c:pt>
              <c:pt idx="5">
                <c:v>13663.439</c:v>
              </c:pt>
              <c:pt idx="6">
                <c:v>14179.123</c:v>
              </c:pt>
              <c:pt idx="7">
                <c:v>14714.269</c:v>
              </c:pt>
              <c:pt idx="8">
                <c:v>15269.612999999999</c:v>
              </c:pt>
              <c:pt idx="9">
                <c:v>15845.916999999999</c:v>
              </c:pt>
              <c:pt idx="10">
                <c:v>16443.971000000001</c:v>
              </c:pt>
              <c:pt idx="11">
                <c:v>17064.597000000002</c:v>
              </c:pt>
              <c:pt idx="12">
                <c:v>17708.647000000001</c:v>
              </c:pt>
              <c:pt idx="13">
                <c:v>18377.005000000001</c:v>
              </c:pt>
              <c:pt idx="14">
                <c:v>19070.587</c:v>
              </c:pt>
              <c:pt idx="15">
                <c:v>19790.346000000001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BA-A98C-4278-9522-27F17DD6F885}"/>
            </c:ext>
          </c:extLst>
        </c:ser>
        <c:ser>
          <c:idx val="11"/>
          <c:order val="11"/>
          <c:tx>
            <c:v>Rest of Europe</c:v>
          </c:tx>
          <c:spPr>
            <a:solidFill>
              <a:srgbClr val="5F5F5F"/>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B-A98C-4278-9522-27F17DD6F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C-A98C-4278-9522-27F17DD6F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D-A98C-4278-9522-27F17DD6F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E-A98C-4278-9522-27F17DD6F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F-A98C-4278-9522-27F17DD6F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0-A98C-4278-9522-27F17DD6F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1-A98C-4278-9522-27F17DD6F88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2-A98C-4278-9522-27F17DD6F88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3-A98C-4278-9522-27F17DD6F88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4-A98C-4278-9522-27F17DD6F88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5-A98C-4278-9522-27F17DD6F88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6-A98C-4278-9522-27F17DD6F885}"/>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7-A98C-4278-9522-27F17DD6F885}"/>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8-A98C-4278-9522-27F17DD6F885}"/>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9-A98C-4278-9522-27F17DD6F885}"/>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A-A98C-4278-9522-27F17DD6F8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6178.7539999999999</c:v>
              </c:pt>
              <c:pt idx="1">
                <c:v>6305.0820000000003</c:v>
              </c:pt>
              <c:pt idx="2">
                <c:v>6433.9930000000004</c:v>
              </c:pt>
              <c:pt idx="3">
                <c:v>6565.54</c:v>
              </c:pt>
              <c:pt idx="4">
                <c:v>6699.7759999999998</c:v>
              </c:pt>
              <c:pt idx="5">
                <c:v>6836.7569999999996</c:v>
              </c:pt>
              <c:pt idx="6">
                <c:v>7030.5119999999997</c:v>
              </c:pt>
              <c:pt idx="7">
                <c:v>7229.7579999999998</c:v>
              </c:pt>
              <c:pt idx="8">
                <c:v>7434.6509999999998</c:v>
              </c:pt>
              <c:pt idx="9">
                <c:v>7645.3509999999997</c:v>
              </c:pt>
              <c:pt idx="10">
                <c:v>7862.0219999999999</c:v>
              </c:pt>
              <c:pt idx="11">
                <c:v>8084.8339999999998</c:v>
              </c:pt>
              <c:pt idx="12">
                <c:v>8313.9599999999991</c:v>
              </c:pt>
              <c:pt idx="13">
                <c:v>8549.5789999999997</c:v>
              </c:pt>
              <c:pt idx="14">
                <c:v>8791.8760000000002</c:v>
              </c:pt>
              <c:pt idx="15">
                <c:v>9041.0400000000009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CB-A98C-4278-9522-27F17DD6F885}"/>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Germany</c:v>
          </c:tx>
          <c:spPr>
            <a:solidFill>
              <a:srgbClr val="3D85C6"/>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75F-4D12-9036-F07C368CE5D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75F-4D12-9036-F07C368CE5D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75F-4D12-9036-F07C368CE5D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75F-4D12-9036-F07C368CE5D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75F-4D12-9036-F07C368CE5D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75F-4D12-9036-F07C368CE5D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75F-4D12-9036-F07C368CE5D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75F-4D12-9036-F07C368CE5D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75F-4D12-9036-F07C368CE5D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75F-4D12-9036-F07C368CE5D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75F-4D12-9036-F07C368CE5D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75F-4D12-9036-F07C368CE5DE}"/>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75F-4D12-9036-F07C368CE5DE}"/>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75F-4D12-9036-F07C368CE5DE}"/>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75F-4D12-9036-F07C368CE5DE}"/>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835.279</c:v>
              </c:pt>
              <c:pt idx="1">
                <c:v>883.26400000000001</c:v>
              </c:pt>
              <c:pt idx="2">
                <c:v>934.00599999999997</c:v>
              </c:pt>
              <c:pt idx="3">
                <c:v>987.66300000000001</c:v>
              </c:pt>
              <c:pt idx="4">
                <c:v>1044.402</c:v>
              </c:pt>
              <c:pt idx="5">
                <c:v>1104.4010000000001</c:v>
              </c:pt>
              <c:pt idx="6">
                <c:v>1176.682</c:v>
              </c:pt>
              <c:pt idx="7">
                <c:v>1253.693</c:v>
              </c:pt>
              <c:pt idx="8">
                <c:v>1335.7449999999999</c:v>
              </c:pt>
              <c:pt idx="9">
                <c:v>1423.1669999999999</c:v>
              </c:pt>
              <c:pt idx="10">
                <c:v>1516.31</c:v>
              </c:pt>
              <c:pt idx="11">
                <c:v>1615.55</c:v>
              </c:pt>
              <c:pt idx="12">
                <c:v>1721.2850000000001</c:v>
              </c:pt>
              <c:pt idx="13">
                <c:v>1833.9390000000001</c:v>
              </c:pt>
              <c:pt idx="14">
                <c:v>1953.9670000000001</c:v>
              </c:pt>
              <c:pt idx="15">
                <c:v>2081.85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0-A75F-4D12-9036-F07C368CE5DE}"/>
            </c:ext>
          </c:extLst>
        </c:ser>
        <c:ser>
          <c:idx val="1"/>
          <c:order val="1"/>
          <c:tx>
            <c:v>U.K.</c:v>
          </c:tx>
          <c:spPr>
            <a:solidFill>
              <a:srgbClr val="9E7E0A"/>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75F-4D12-9036-F07C368CE5D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75F-4D12-9036-F07C368CE5D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75F-4D12-9036-F07C368CE5D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75F-4D12-9036-F07C368CE5D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75F-4D12-9036-F07C368CE5D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A75F-4D12-9036-F07C368CE5D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A75F-4D12-9036-F07C368CE5D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A75F-4D12-9036-F07C368CE5D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A75F-4D12-9036-F07C368CE5D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A75F-4D12-9036-F07C368CE5D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A75F-4D12-9036-F07C368CE5D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A75F-4D12-9036-F07C368CE5DE}"/>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A75F-4D12-9036-F07C368CE5DE}"/>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A75F-4D12-9036-F07C368CE5DE}"/>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A75F-4D12-9036-F07C368CE5DE}"/>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427.709</c:v>
              </c:pt>
              <c:pt idx="1">
                <c:v>440.86700000000002</c:v>
              </c:pt>
              <c:pt idx="2">
                <c:v>454.42899999999997</c:v>
              </c:pt>
              <c:pt idx="3">
                <c:v>468.40899999999999</c:v>
              </c:pt>
              <c:pt idx="4">
                <c:v>482.81799999999998</c:v>
              </c:pt>
              <c:pt idx="5">
                <c:v>497.67099999999999</c:v>
              </c:pt>
              <c:pt idx="6">
                <c:v>516.96199999999999</c:v>
              </c:pt>
              <c:pt idx="7">
                <c:v>537.00099999999998</c:v>
              </c:pt>
              <c:pt idx="8">
                <c:v>557.81700000000001</c:v>
              </c:pt>
              <c:pt idx="9">
                <c:v>579.43899999999996</c:v>
              </c:pt>
              <c:pt idx="10">
                <c:v>601.9</c:v>
              </c:pt>
              <c:pt idx="11">
                <c:v>625.23099999999999</c:v>
              </c:pt>
              <c:pt idx="12">
                <c:v>649.46699999999998</c:v>
              </c:pt>
              <c:pt idx="13">
                <c:v>674.64200000000005</c:v>
              </c:pt>
              <c:pt idx="14">
                <c:v>700.79300000000001</c:v>
              </c:pt>
              <c:pt idx="15">
                <c:v>727.95699999999999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1-A75F-4D12-9036-F07C368CE5DE}"/>
            </c:ext>
          </c:extLst>
        </c:ser>
        <c:ser>
          <c:idx val="2"/>
          <c:order val="2"/>
          <c:tx>
            <c:v>France</c:v>
          </c:tx>
          <c:spPr>
            <a:solidFill>
              <a:srgbClr val="0081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A75F-4D12-9036-F07C368CE5D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A75F-4D12-9036-F07C368CE5D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A75F-4D12-9036-F07C368CE5D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A75F-4D12-9036-F07C368CE5D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A75F-4D12-9036-F07C368CE5D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A75F-4D12-9036-F07C368CE5D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A75F-4D12-9036-F07C368CE5D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A75F-4D12-9036-F07C368CE5DE}"/>
                </c:ext>
              </c:extLst>
            </c:dLbl>
            <c:dLbl>
              <c:idx val="1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A75F-4D12-9036-F07C368CE5DE}"/>
                </c:ext>
              </c:extLst>
            </c:dLbl>
            <c:dLbl>
              <c:idx val="1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A75F-4D12-9036-F07C368CE5DE}"/>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A75F-4D12-9036-F07C368CE5DE}"/>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240.67599999999999</c:v>
              </c:pt>
              <c:pt idx="1">
                <c:v>253.53299999999999</c:v>
              </c:pt>
              <c:pt idx="2">
                <c:v>267.07600000000002</c:v>
              </c:pt>
              <c:pt idx="3">
                <c:v>281.34300000000002</c:v>
              </c:pt>
              <c:pt idx="4">
                <c:v>296.37200000000001</c:v>
              </c:pt>
              <c:pt idx="5">
                <c:v>312.20299999999997</c:v>
              </c:pt>
              <c:pt idx="6">
                <c:v>331.37799999999999</c:v>
              </c:pt>
              <c:pt idx="7">
                <c:v>351.73099999999999</c:v>
              </c:pt>
              <c:pt idx="8">
                <c:v>373.334</c:v>
              </c:pt>
              <c:pt idx="9">
                <c:v>396.26299999999998</c:v>
              </c:pt>
              <c:pt idx="10">
                <c:v>420.601</c:v>
              </c:pt>
              <c:pt idx="11">
                <c:v>446.43400000000003</c:v>
              </c:pt>
              <c:pt idx="12">
                <c:v>473.85300000000001</c:v>
              </c:pt>
              <c:pt idx="13">
                <c:v>502.95600000000002</c:v>
              </c:pt>
              <c:pt idx="14">
                <c:v>533.84699999999998</c:v>
              </c:pt>
              <c:pt idx="15">
                <c:v>566.63499999999999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32-A75F-4D12-9036-F07C368CE5DE}"/>
            </c:ext>
          </c:extLst>
        </c:ser>
        <c:ser>
          <c:idx val="3"/>
          <c:order val="3"/>
          <c:tx>
            <c:v>Italy</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3-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A75F-4D12-9036-F07C368CE5D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A75F-4D12-9036-F07C368CE5D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A75F-4D12-9036-F07C368CE5DE}"/>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A75F-4D12-9036-F07C368CE5DE}"/>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A75F-4D12-9036-F07C368CE5D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A75F-4D12-9036-F07C368CE5DE}"/>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A75F-4D12-9036-F07C368CE5DE}"/>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A75F-4D12-9036-F07C368CE5DE}"/>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A75F-4D12-9036-F07C368CE5DE}"/>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0-A75F-4D12-9036-F07C368CE5DE}"/>
                </c:ext>
              </c:extLst>
            </c:dLbl>
            <c:dLbl>
              <c:idx val="1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A75F-4D12-9036-F07C368CE5DE}"/>
                </c:ext>
              </c:extLst>
            </c:dLbl>
            <c:dLbl>
              <c:idx val="1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194.60300000000001</c:v>
              </c:pt>
              <c:pt idx="1">
                <c:v>200.203</c:v>
              </c:pt>
              <c:pt idx="2">
                <c:v>205.965</c:v>
              </c:pt>
              <c:pt idx="3">
                <c:v>211.892</c:v>
              </c:pt>
              <c:pt idx="4">
                <c:v>217.99</c:v>
              </c:pt>
              <c:pt idx="5">
                <c:v>224.26300000000001</c:v>
              </c:pt>
              <c:pt idx="6">
                <c:v>232.511</c:v>
              </c:pt>
              <c:pt idx="7">
                <c:v>241.06200000000001</c:v>
              </c:pt>
              <c:pt idx="8">
                <c:v>249.928</c:v>
              </c:pt>
              <c:pt idx="9">
                <c:v>259.12</c:v>
              </c:pt>
              <c:pt idx="10">
                <c:v>268.64999999999998</c:v>
              </c:pt>
              <c:pt idx="11">
                <c:v>278.52999999999997</c:v>
              </c:pt>
              <c:pt idx="12">
                <c:v>288.774</c:v>
              </c:pt>
              <c:pt idx="13">
                <c:v>299.39499999999998</c:v>
              </c:pt>
              <c:pt idx="14">
                <c:v>310.40600000000001</c:v>
              </c:pt>
              <c:pt idx="15">
                <c:v>321.822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3-A75F-4D12-9036-F07C368CE5DE}"/>
            </c:ext>
          </c:extLst>
        </c:ser>
        <c:ser>
          <c:idx val="4"/>
          <c:order val="4"/>
          <c:tx>
            <c:v>Spain</c:v>
          </c:tx>
          <c:spPr>
            <a:solidFill>
              <a:srgbClr val="A35313"/>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A75F-4D12-9036-F07C368CE5D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A75F-4D12-9036-F07C368CE5D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A75F-4D12-9036-F07C368CE5DE}"/>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A75F-4D12-9036-F07C368CE5DE}"/>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A75F-4D12-9036-F07C368CE5D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D-A75F-4D12-9036-F07C368CE5DE}"/>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E-A75F-4D12-9036-F07C368CE5DE}"/>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F-A75F-4D12-9036-F07C368CE5DE}"/>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0-A75F-4D12-9036-F07C368CE5DE}"/>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1-A75F-4D12-9036-F07C368CE5DE}"/>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2-A75F-4D12-9036-F07C368CE5DE}"/>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3-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136.506</c:v>
              </c:pt>
              <c:pt idx="1">
                <c:v>143.214</c:v>
              </c:pt>
              <c:pt idx="2">
                <c:v>150.251</c:v>
              </c:pt>
              <c:pt idx="3">
                <c:v>157.63300000000001</c:v>
              </c:pt>
              <c:pt idx="4">
                <c:v>165.37899999999999</c:v>
              </c:pt>
              <c:pt idx="5">
                <c:v>173.505</c:v>
              </c:pt>
              <c:pt idx="6">
                <c:v>183.41800000000001</c:v>
              </c:pt>
              <c:pt idx="7">
                <c:v>193.898</c:v>
              </c:pt>
              <c:pt idx="8">
                <c:v>204.976</c:v>
              </c:pt>
              <c:pt idx="9">
                <c:v>216.68799999999999</c:v>
              </c:pt>
              <c:pt idx="10">
                <c:v>229.06899999999999</c:v>
              </c:pt>
              <c:pt idx="11">
                <c:v>242.15700000000001</c:v>
              </c:pt>
              <c:pt idx="12">
                <c:v>255.99199999999999</c:v>
              </c:pt>
              <c:pt idx="13">
                <c:v>270.61900000000003</c:v>
              </c:pt>
              <c:pt idx="14">
                <c:v>286.08100000000002</c:v>
              </c:pt>
              <c:pt idx="15">
                <c:v>302.42599999999999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54-A75F-4D12-9036-F07C368CE5DE}"/>
            </c:ext>
          </c:extLst>
        </c:ser>
        <c:ser>
          <c:idx val="5"/>
          <c:order val="5"/>
          <c:tx>
            <c:v>Belgium</c:v>
          </c:tx>
          <c:spPr>
            <a:solidFill>
              <a:srgbClr val="808080"/>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5-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6-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7-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8-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9-A75F-4D12-9036-F07C368CE5D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A-A75F-4D12-9036-F07C368CE5D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B-A75F-4D12-9036-F07C368CE5DE}"/>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C-A75F-4D12-9036-F07C368CE5DE}"/>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D-A75F-4D12-9036-F07C368CE5D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E-A75F-4D12-9036-F07C368CE5DE}"/>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F-A75F-4D12-9036-F07C368CE5DE}"/>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0-A75F-4D12-9036-F07C368CE5DE}"/>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1-A75F-4D12-9036-F07C368CE5DE}"/>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2-A75F-4D12-9036-F07C368CE5DE}"/>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3-A75F-4D12-9036-F07C368CE5DE}"/>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4-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120.02500000000001</c:v>
              </c:pt>
              <c:pt idx="1">
                <c:v>123.899</c:v>
              </c:pt>
              <c:pt idx="2">
                <c:v>127.898</c:v>
              </c:pt>
              <c:pt idx="3">
                <c:v>132.02600000000001</c:v>
              </c:pt>
              <c:pt idx="4">
                <c:v>136.28800000000001</c:v>
              </c:pt>
              <c:pt idx="5">
                <c:v>140.68700000000001</c:v>
              </c:pt>
              <c:pt idx="6">
                <c:v>146.35300000000001</c:v>
              </c:pt>
              <c:pt idx="7">
                <c:v>152.24799999999999</c:v>
              </c:pt>
              <c:pt idx="8">
                <c:v>158.38</c:v>
              </c:pt>
              <c:pt idx="9">
                <c:v>164.75899999999999</c:v>
              </c:pt>
              <c:pt idx="10">
                <c:v>171.39500000000001</c:v>
              </c:pt>
              <c:pt idx="11">
                <c:v>178.29900000000001</c:v>
              </c:pt>
              <c:pt idx="12">
                <c:v>185.48</c:v>
              </c:pt>
              <c:pt idx="13">
                <c:v>192.95099999999999</c:v>
              </c:pt>
              <c:pt idx="14">
                <c:v>200.72300000000001</c:v>
              </c:pt>
              <c:pt idx="15">
                <c:v>208.80699999999999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65-A75F-4D12-9036-F07C368CE5DE}"/>
            </c:ext>
          </c:extLst>
        </c:ser>
        <c:ser>
          <c:idx val="6"/>
          <c:order val="6"/>
          <c:tx>
            <c:v>Netherlands</c:v>
          </c:tx>
          <c:spPr>
            <a:solidFill>
              <a:srgbClr val="0E72A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6-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7-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8-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9-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A-A75F-4D12-9036-F07C368CE5D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B-A75F-4D12-9036-F07C368CE5D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C-A75F-4D12-9036-F07C368CE5DE}"/>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D-A75F-4D12-9036-F07C368CE5DE}"/>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E-A75F-4D12-9036-F07C368CE5D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F-A75F-4D12-9036-F07C368CE5DE}"/>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0-A75F-4D12-9036-F07C368CE5DE}"/>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1-A75F-4D12-9036-F07C368CE5DE}"/>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2-A75F-4D12-9036-F07C368CE5DE}"/>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3-A75F-4D12-9036-F07C368CE5DE}"/>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4-A75F-4D12-9036-F07C368CE5DE}"/>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5-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89.826999999999998</c:v>
              </c:pt>
              <c:pt idx="1">
                <c:v>94.837000000000003</c:v>
              </c:pt>
              <c:pt idx="2">
                <c:v>100.127</c:v>
              </c:pt>
              <c:pt idx="3">
                <c:v>105.711</c:v>
              </c:pt>
              <c:pt idx="4">
                <c:v>111.607</c:v>
              </c:pt>
              <c:pt idx="5">
                <c:v>117.83199999999999</c:v>
              </c:pt>
              <c:pt idx="6">
                <c:v>125.34699999999999</c:v>
              </c:pt>
              <c:pt idx="7">
                <c:v>133.34100000000001</c:v>
              </c:pt>
              <c:pt idx="8">
                <c:v>141.84399999999999</c:v>
              </c:pt>
              <c:pt idx="9">
                <c:v>150.88999999999999</c:v>
              </c:pt>
              <c:pt idx="10">
                <c:v>160.51300000000001</c:v>
              </c:pt>
              <c:pt idx="11">
                <c:v>170.75</c:v>
              </c:pt>
              <c:pt idx="12">
                <c:v>181.63900000000001</c:v>
              </c:pt>
              <c:pt idx="13">
                <c:v>193.22300000000001</c:v>
              </c:pt>
              <c:pt idx="14">
                <c:v>205.54599999999999</c:v>
              </c:pt>
              <c:pt idx="15">
                <c:v>218.654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76-A75F-4D12-9036-F07C368CE5DE}"/>
            </c:ext>
          </c:extLst>
        </c:ser>
        <c:ser>
          <c:idx val="7"/>
          <c:order val="7"/>
          <c:tx>
            <c:v>Nordic</c:v>
          </c:tx>
          <c:spPr>
            <a:solidFill>
              <a:srgbClr val="A86F00"/>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7-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8-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9-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A-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B-A75F-4D12-9036-F07C368CE5D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C-A75F-4D12-9036-F07C368CE5D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D-A75F-4D12-9036-F07C368CE5DE}"/>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E-A75F-4D12-9036-F07C368CE5DE}"/>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F-A75F-4D12-9036-F07C368CE5D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0-A75F-4D12-9036-F07C368CE5DE}"/>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1-A75F-4D12-9036-F07C368CE5DE}"/>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2-A75F-4D12-9036-F07C368CE5DE}"/>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3-A75F-4D12-9036-F07C368CE5DE}"/>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4-A75F-4D12-9036-F07C368CE5DE}"/>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5-A75F-4D12-9036-F07C368CE5DE}"/>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6-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82.260999999999996</c:v>
              </c:pt>
              <c:pt idx="1">
                <c:v>85.716999999999999</c:v>
              </c:pt>
              <c:pt idx="2">
                <c:v>89.319000000000003</c:v>
              </c:pt>
              <c:pt idx="3">
                <c:v>93.072000000000003</c:v>
              </c:pt>
              <c:pt idx="4">
                <c:v>96.983000000000004</c:v>
              </c:pt>
              <c:pt idx="5">
                <c:v>101.059</c:v>
              </c:pt>
              <c:pt idx="6">
                <c:v>106.114</c:v>
              </c:pt>
              <c:pt idx="7">
                <c:v>111.42100000000001</c:v>
              </c:pt>
              <c:pt idx="8">
                <c:v>116.995</c:v>
              </c:pt>
              <c:pt idx="9">
                <c:v>122.84699999999999</c:v>
              </c:pt>
              <c:pt idx="10">
                <c:v>128.99100000000001</c:v>
              </c:pt>
              <c:pt idx="11">
                <c:v>135.44399999999999</c:v>
              </c:pt>
              <c:pt idx="12">
                <c:v>142.21899999999999</c:v>
              </c:pt>
              <c:pt idx="13">
                <c:v>149.33199999999999</c:v>
              </c:pt>
              <c:pt idx="14">
                <c:v>156.80199999999999</c:v>
              </c:pt>
              <c:pt idx="15">
                <c:v>164.64500000000001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87-A75F-4D12-9036-F07C368CE5DE}"/>
            </c:ext>
          </c:extLst>
        </c:ser>
        <c:ser>
          <c:idx val="8"/>
          <c:order val="8"/>
          <c:tx>
            <c:v>Russia</c:v>
          </c:tx>
          <c:spPr>
            <a:solidFill>
              <a:srgbClr val="0B2E4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8-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9-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A-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B-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C-A75F-4D12-9036-F07C368CE5D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D-A75F-4D12-9036-F07C368CE5D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E-A75F-4D12-9036-F07C368CE5DE}"/>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8F-A75F-4D12-9036-F07C368CE5DE}"/>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0-A75F-4D12-9036-F07C368CE5D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1-A75F-4D12-9036-F07C368CE5DE}"/>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2-A75F-4D12-9036-F07C368CE5DE}"/>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3-A75F-4D12-9036-F07C368CE5DE}"/>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4-A75F-4D12-9036-F07C368CE5DE}"/>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5-A75F-4D12-9036-F07C368CE5DE}"/>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6-A75F-4D12-9036-F07C368CE5DE}"/>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7-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68.787000000000006</c:v>
              </c:pt>
              <c:pt idx="1">
                <c:v>72.302999999999997</c:v>
              </c:pt>
              <c:pt idx="2">
                <c:v>75.998000000000005</c:v>
              </c:pt>
              <c:pt idx="3">
                <c:v>79.882999999999996</c:v>
              </c:pt>
              <c:pt idx="4">
                <c:v>83.965000000000003</c:v>
              </c:pt>
              <c:pt idx="5">
                <c:v>88.257000000000005</c:v>
              </c:pt>
              <c:pt idx="6">
                <c:v>93.474000000000004</c:v>
              </c:pt>
              <c:pt idx="7">
                <c:v>98.998999999999995</c:v>
              </c:pt>
              <c:pt idx="8">
                <c:v>104.85</c:v>
              </c:pt>
              <c:pt idx="9">
                <c:v>111.048</c:v>
              </c:pt>
              <c:pt idx="10">
                <c:v>117.61199999999999</c:v>
              </c:pt>
              <c:pt idx="11">
                <c:v>124.56399999999999</c:v>
              </c:pt>
              <c:pt idx="12">
                <c:v>131.92699999999999</c:v>
              </c:pt>
              <c:pt idx="13">
                <c:v>139.72499999999999</c:v>
              </c:pt>
              <c:pt idx="14">
                <c:v>147.98400000000001</c:v>
              </c:pt>
              <c:pt idx="15">
                <c:v>156.73099999999999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98-A75F-4D12-9036-F07C368CE5DE}"/>
            </c:ext>
          </c:extLst>
        </c:ser>
        <c:ser>
          <c:idx val="9"/>
          <c:order val="9"/>
          <c:tx>
            <c:v>Poland</c:v>
          </c:tx>
          <c:spPr>
            <a:solidFill>
              <a:srgbClr val="6C7A89"/>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9-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A-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B-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C-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D-A75F-4D12-9036-F07C368CE5D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E-A75F-4D12-9036-F07C368CE5D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9F-A75F-4D12-9036-F07C368CE5DE}"/>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0-A75F-4D12-9036-F07C368CE5DE}"/>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1-A75F-4D12-9036-F07C368CE5D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2-A75F-4D12-9036-F07C368CE5DE}"/>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3-A75F-4D12-9036-F07C368CE5DE}"/>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4-A75F-4D12-9036-F07C368CE5DE}"/>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5-A75F-4D12-9036-F07C368CE5DE}"/>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6-A75F-4D12-9036-F07C368CE5DE}"/>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7-A75F-4D12-9036-F07C368CE5DE}"/>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8-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60.807000000000002</c:v>
              </c:pt>
              <c:pt idx="1">
                <c:v>63.942</c:v>
              </c:pt>
              <c:pt idx="2">
                <c:v>67.239000000000004</c:v>
              </c:pt>
              <c:pt idx="3">
                <c:v>70.706000000000003</c:v>
              </c:pt>
              <c:pt idx="4">
                <c:v>74.352000000000004</c:v>
              </c:pt>
              <c:pt idx="5">
                <c:v>78.186000000000007</c:v>
              </c:pt>
              <c:pt idx="6">
                <c:v>82.843000000000004</c:v>
              </c:pt>
              <c:pt idx="7">
                <c:v>87.777000000000001</c:v>
              </c:pt>
              <c:pt idx="8">
                <c:v>93.004999999999995</c:v>
              </c:pt>
              <c:pt idx="9">
                <c:v>98.545000000000002</c:v>
              </c:pt>
              <c:pt idx="10">
                <c:v>104.414</c:v>
              </c:pt>
              <c:pt idx="11">
                <c:v>110.633</c:v>
              </c:pt>
              <c:pt idx="12">
                <c:v>117.223</c:v>
              </c:pt>
              <c:pt idx="13">
                <c:v>124.205</c:v>
              </c:pt>
              <c:pt idx="14">
                <c:v>131.60300000000001</c:v>
              </c:pt>
              <c:pt idx="15">
                <c:v>139.441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A9-A75F-4D12-9036-F07C368CE5DE}"/>
            </c:ext>
          </c:extLst>
        </c:ser>
        <c:ser>
          <c:idx val="10"/>
          <c:order val="10"/>
          <c:tx>
            <c:v>Switzerland</c:v>
          </c:tx>
          <c:spPr>
            <a:solidFill>
              <a:srgbClr val="B2B2B2"/>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A-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B-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C-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D-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E-A75F-4D12-9036-F07C368CE5D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AF-A75F-4D12-9036-F07C368CE5D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0-A75F-4D12-9036-F07C368CE5DE}"/>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1-A75F-4D12-9036-F07C368CE5DE}"/>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2-A75F-4D12-9036-F07C368CE5D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3-A75F-4D12-9036-F07C368CE5DE}"/>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4-A75F-4D12-9036-F07C368CE5DE}"/>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5-A75F-4D12-9036-F07C368CE5DE}"/>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6-A75F-4D12-9036-F07C368CE5DE}"/>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7-A75F-4D12-9036-F07C368CE5DE}"/>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8-A75F-4D12-9036-F07C368CE5DE}"/>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9-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56.902999999999999</c:v>
              </c:pt>
              <c:pt idx="1">
                <c:v>59.322000000000003</c:v>
              </c:pt>
              <c:pt idx="2">
                <c:v>61.843000000000004</c:v>
              </c:pt>
              <c:pt idx="3">
                <c:v>64.471999999999994</c:v>
              </c:pt>
              <c:pt idx="4">
                <c:v>67.212000000000003</c:v>
              </c:pt>
              <c:pt idx="5">
                <c:v>70.069000000000003</c:v>
              </c:pt>
              <c:pt idx="6">
                <c:v>73.608000000000004</c:v>
              </c:pt>
              <c:pt idx="7">
                <c:v>77.325000000000003</c:v>
              </c:pt>
              <c:pt idx="8">
                <c:v>81.23</c:v>
              </c:pt>
              <c:pt idx="9">
                <c:v>85.332999999999998</c:v>
              </c:pt>
              <c:pt idx="10">
                <c:v>89.641999999999996</c:v>
              </c:pt>
              <c:pt idx="11">
                <c:v>94.17</c:v>
              </c:pt>
              <c:pt idx="12">
                <c:v>98.926000000000002</c:v>
              </c:pt>
              <c:pt idx="13">
                <c:v>103.922</c:v>
              </c:pt>
              <c:pt idx="14">
                <c:v>109.17</c:v>
              </c:pt>
              <c:pt idx="15">
                <c:v>114.684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BA-A75F-4D12-9036-F07C368CE5DE}"/>
            </c:ext>
          </c:extLst>
        </c:ser>
        <c:ser>
          <c:idx val="11"/>
          <c:order val="11"/>
          <c:tx>
            <c:v>Rest of Europe</c:v>
          </c:tx>
          <c:spPr>
            <a:solidFill>
              <a:srgbClr val="5F5F5F"/>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B-A75F-4D12-9036-F07C368CE5D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C-A75F-4D12-9036-F07C368CE5D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D-A75F-4D12-9036-F07C368CE5D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E-A75F-4D12-9036-F07C368CE5D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BF-A75F-4D12-9036-F07C368CE5D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0-A75F-4D12-9036-F07C368CE5D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1-A75F-4D12-9036-F07C368CE5DE}"/>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2-A75F-4D12-9036-F07C368CE5DE}"/>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3-A75F-4D12-9036-F07C368CE5D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4-A75F-4D12-9036-F07C368CE5DE}"/>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5-A75F-4D12-9036-F07C368CE5DE}"/>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6-A75F-4D12-9036-F07C368CE5DE}"/>
                </c:ext>
              </c:extLst>
            </c:dLbl>
            <c:dLbl>
              <c:idx val="1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7-A75F-4D12-9036-F07C368CE5DE}"/>
                </c:ext>
              </c:extLst>
            </c:dLbl>
            <c:dLbl>
              <c:idx val="1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8-A75F-4D12-9036-F07C368CE5DE}"/>
                </c:ext>
              </c:extLst>
            </c:dLbl>
            <c:dLbl>
              <c:idx val="1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9-A75F-4D12-9036-F07C368CE5DE}"/>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CA-A75F-4D12-9036-F07C368CE5D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29.492000000000001</c:v>
              </c:pt>
              <c:pt idx="1">
                <c:v>30.495999999999999</c:v>
              </c:pt>
              <c:pt idx="2">
                <c:v>31.535</c:v>
              </c:pt>
              <c:pt idx="3">
                <c:v>32.609000000000002</c:v>
              </c:pt>
              <c:pt idx="4">
                <c:v>33.72</c:v>
              </c:pt>
              <c:pt idx="5">
                <c:v>34.868000000000002</c:v>
              </c:pt>
              <c:pt idx="6">
                <c:v>36.335000000000001</c:v>
              </c:pt>
              <c:pt idx="7">
                <c:v>37.863</c:v>
              </c:pt>
              <c:pt idx="8">
                <c:v>39.456000000000003</c:v>
              </c:pt>
              <c:pt idx="9">
                <c:v>41.115000000000002</c:v>
              </c:pt>
              <c:pt idx="10">
                <c:v>42.844000000000001</c:v>
              </c:pt>
              <c:pt idx="11">
                <c:v>44.646000000000001</c:v>
              </c:pt>
              <c:pt idx="12">
                <c:v>46.524000000000001</c:v>
              </c:pt>
              <c:pt idx="13">
                <c:v>48.481000000000002</c:v>
              </c:pt>
              <c:pt idx="14">
                <c:v>50.52</c:v>
              </c:pt>
              <c:pt idx="15">
                <c:v>52.645000000000003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CB-A75F-4D12-9036-F07C368CE5D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Chewables</c:v>
          </c:tx>
          <c:spPr>
            <a:solidFill>
              <a:srgbClr val="3D85C6"/>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705-48A8-B063-D22BA4E269E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705-48A8-B063-D22BA4E269E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705-48A8-B063-D22BA4E269EC}"/>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705-48A8-B063-D22BA4E269E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705-48A8-B063-D22BA4E269EC}"/>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705-48A8-B063-D22BA4E269E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705-48A8-B063-D22BA4E269E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705-48A8-B063-D22BA4E269EC}"/>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705-48A8-B063-D22BA4E269E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705-48A8-B063-D22BA4E269EC}"/>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705-48A8-B063-D22BA4E269E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705-48A8-B063-D22BA4E269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18.892582391490169</c:v>
              </c:pt>
              <c:pt idx="1">
                <c:v>13.381988769139546</c:v>
              </c:pt>
              <c:pt idx="2">
                <c:v>19.431874412834102</c:v>
              </c:pt>
              <c:pt idx="3">
                <c:v>20.079626876623006</c:v>
              </c:pt>
              <c:pt idx="4">
                <c:v>21.016732970937472</c:v>
              </c:pt>
              <c:pt idx="5">
                <c:v>19.229240399028765</c:v>
              </c:pt>
              <c:pt idx="6">
                <c:v>19.130681350444082</c:v>
              </c:pt>
              <c:pt idx="7">
                <c:v>16.589512806438599</c:v>
              </c:pt>
              <c:pt idx="8">
                <c:v>17.617192112409963</c:v>
              </c:pt>
              <c:pt idx="9">
                <c:v>15.325032869483884</c:v>
              </c:pt>
              <c:pt idx="10">
                <c:v>16.316348355740789</c:v>
              </c:pt>
              <c:pt idx="11">
                <c:v>20.925426903955614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3705-48A8-B063-D22BA4E269EC}"/>
            </c:ext>
          </c:extLst>
        </c:ser>
        <c:ser>
          <c:idx val="1"/>
          <c:order val="1"/>
          <c:tx>
            <c:v>Tablets</c:v>
          </c:tx>
          <c:spPr>
            <a:solidFill>
              <a:srgbClr val="9E7E0A"/>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705-48A8-B063-D22BA4E269E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705-48A8-B063-D22BA4E269E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3705-48A8-B063-D22BA4E269EC}"/>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3705-48A8-B063-D22BA4E269E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705-48A8-B063-D22BA4E269EC}"/>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3705-48A8-B063-D22BA4E269E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3705-48A8-B063-D22BA4E269E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3705-48A8-B063-D22BA4E269EC}"/>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3705-48A8-B063-D22BA4E269E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3705-48A8-B063-D22BA4E269EC}"/>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3705-48A8-B063-D22BA4E269E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3705-48A8-B063-D22BA4E269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25.132491214740238</c:v>
              </c:pt>
              <c:pt idx="1">
                <c:v>24.398346761536047</c:v>
              </c:pt>
              <c:pt idx="2">
                <c:v>21.229767428518155</c:v>
              </c:pt>
              <c:pt idx="3">
                <c:v>18.414353254939993</c:v>
              </c:pt>
              <c:pt idx="4">
                <c:v>21.169789547207625</c:v>
              </c:pt>
              <c:pt idx="5">
                <c:v>20.045304994564358</c:v>
              </c:pt>
              <c:pt idx="6">
                <c:v>17.409697512965693</c:v>
              </c:pt>
              <c:pt idx="7">
                <c:v>20.958184812152396</c:v>
              </c:pt>
              <c:pt idx="8">
                <c:v>21.835673136081436</c:v>
              </c:pt>
              <c:pt idx="9">
                <c:v>18.533976898709046</c:v>
              </c:pt>
              <c:pt idx="10">
                <c:v>25.194345270393715</c:v>
              </c:pt>
              <c:pt idx="11">
                <c:v>19.759925066647448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9-3705-48A8-B063-D22BA4E269EC}"/>
            </c:ext>
          </c:extLst>
        </c:ser>
        <c:ser>
          <c:idx val="2"/>
          <c:order val="2"/>
          <c:tx>
            <c:v>Capsules and Softgels</c:v>
          </c:tx>
          <c:spPr>
            <a:solidFill>
              <a:srgbClr val="008189"/>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3705-48A8-B063-D22BA4E269E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3705-48A8-B063-D22BA4E269E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3705-48A8-B063-D22BA4E269EC}"/>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3705-48A8-B063-D22BA4E269E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3705-48A8-B063-D22BA4E269EC}"/>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3705-48A8-B063-D22BA4E269E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3705-48A8-B063-D22BA4E269E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3705-48A8-B063-D22BA4E269EC}"/>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3705-48A8-B063-D22BA4E269E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3705-48A8-B063-D22BA4E269EC}"/>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3705-48A8-B063-D22BA4E269E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3705-48A8-B063-D22BA4E269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31.839680881375248</c:v>
              </c:pt>
              <c:pt idx="1">
                <c:v>38.436922325694951</c:v>
              </c:pt>
              <c:pt idx="2">
                <c:v>36.553811289362528</c:v>
              </c:pt>
              <c:pt idx="3">
                <c:v>39.077144917087239</c:v>
              </c:pt>
              <c:pt idx="4">
                <c:v>30.525676455404049</c:v>
              </c:pt>
              <c:pt idx="5">
                <c:v>40.444046416068424</c:v>
              </c:pt>
              <c:pt idx="6">
                <c:v>41.385019254164114</c:v>
              </c:pt>
              <c:pt idx="7">
                <c:v>38.359466447990584</c:v>
              </c:pt>
              <c:pt idx="8">
                <c:v>39.581507790020567</c:v>
              </c:pt>
              <c:pt idx="9">
                <c:v>41.890105623549552</c:v>
              </c:pt>
              <c:pt idx="10">
                <c:v>36.325497247776994</c:v>
              </c:pt>
              <c:pt idx="11">
                <c:v>34.758171818334645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6-3705-48A8-B063-D22BA4E269EC}"/>
            </c:ext>
          </c:extLst>
        </c:ser>
        <c:ser>
          <c:idx val="3"/>
          <c:order val="3"/>
          <c:tx>
            <c:v>Powders and Granules</c:v>
          </c:tx>
          <c:spPr>
            <a:solidFill>
              <a:srgbClr val="40315E"/>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3705-48A8-B063-D22BA4E269EC}"/>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3705-48A8-B063-D22BA4E269EC}"/>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3705-48A8-B063-D22BA4E269E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3705-48A8-B063-D22BA4E269EC}"/>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3705-48A8-B063-D22BA4E269EC}"/>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3705-48A8-B063-D22BA4E269EC}"/>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3705-48A8-B063-D22BA4E269EC}"/>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3705-48A8-B063-D22BA4E269EC}"/>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3705-48A8-B063-D22BA4E269EC}"/>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3705-48A8-B063-D22BA4E269EC}"/>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3705-48A8-B063-D22BA4E269EC}"/>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3705-48A8-B063-D22BA4E269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4.9444391680121571</c:v>
              </c:pt>
              <c:pt idx="1">
                <c:v>4.9213490983921035</c:v>
              </c:pt>
              <c:pt idx="2">
                <c:v>4.19460560380376</c:v>
              </c:pt>
              <c:pt idx="3">
                <c:v>4.4298830480249602</c:v>
              </c:pt>
              <c:pt idx="4">
                <c:v>5.8793161043457127</c:v>
              </c:pt>
              <c:pt idx="5">
                <c:v>4.7120067813818505</c:v>
              </c:pt>
              <c:pt idx="6">
                <c:v>4.287595927812891</c:v>
              </c:pt>
              <c:pt idx="7">
                <c:v>4.3855356351636434</c:v>
              </c:pt>
              <c:pt idx="8">
                <c:v>4.0628049045745778</c:v>
              </c:pt>
              <c:pt idx="9">
                <c:v>5.0616357972945547</c:v>
              </c:pt>
              <c:pt idx="10">
                <c:v>4.2902259336746535</c:v>
              </c:pt>
              <c:pt idx="11">
                <c:v>4.6540817061747957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33-3705-48A8-B063-D22BA4E269EC}"/>
            </c:ext>
          </c:extLst>
        </c:ser>
        <c:ser>
          <c:idx val="4"/>
          <c:order val="4"/>
          <c:tx>
            <c:v>Liquids</c:v>
          </c:tx>
          <c:spPr>
            <a:solidFill>
              <a:srgbClr val="A35313"/>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3705-48A8-B063-D22BA4E269E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3705-48A8-B063-D22BA4E269E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3705-48A8-B063-D22BA4E269E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3705-48A8-B063-D22BA4E269E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3705-48A8-B063-D22BA4E269EC}"/>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3705-48A8-B063-D22BA4E269E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3705-48A8-B063-D22BA4E269E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3705-48A8-B063-D22BA4E269EC}"/>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3705-48A8-B063-D22BA4E269E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3705-48A8-B063-D22BA4E269EC}"/>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3705-48A8-B063-D22BA4E269E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3705-48A8-B063-D22BA4E269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8.3274764934941601</c:v>
              </c:pt>
              <c:pt idx="1">
                <c:v>7.5110739074325972</c:v>
              </c:pt>
              <c:pt idx="2">
                <c:v>8.1625920640270788</c:v>
              </c:pt>
              <c:pt idx="3">
                <c:v>6.6183460834168093</c:v>
              </c:pt>
              <c:pt idx="4">
                <c:v>8.5043578608521369</c:v>
              </c:pt>
              <c:pt idx="5">
                <c:v>6.4676950485376441</c:v>
              </c:pt>
              <c:pt idx="6">
                <c:v>8.9392373338699489</c:v>
              </c:pt>
              <c:pt idx="7">
                <c:v>8.224821939912573</c:v>
              </c:pt>
              <c:pt idx="8">
                <c:v>7.0800007457538632</c:v>
              </c:pt>
              <c:pt idx="9">
                <c:v>8.9826784437953897</c:v>
              </c:pt>
              <c:pt idx="10">
                <c:v>6.6833617919739758</c:v>
              </c:pt>
              <c:pt idx="11">
                <c:v>7.3432764128059169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0-3705-48A8-B063-D22BA4E269EC}"/>
            </c:ext>
          </c:extLst>
        </c:ser>
        <c:ser>
          <c:idx val="5"/>
          <c:order val="5"/>
          <c:tx>
            <c:v>Gels and Pastes</c:v>
          </c:tx>
          <c:spPr>
            <a:solidFill>
              <a:srgbClr val="808080"/>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3705-48A8-B063-D22BA4E269E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3705-48A8-B063-D22BA4E269E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3-3705-48A8-B063-D22BA4E269EC}"/>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3705-48A8-B063-D22BA4E269E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3705-48A8-B063-D22BA4E269EC}"/>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3705-48A8-B063-D22BA4E269E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3705-48A8-B063-D22BA4E269E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3705-48A8-B063-D22BA4E269EC}"/>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3705-48A8-B063-D22BA4E269E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3705-48A8-B063-D22BA4E269EC}"/>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3705-48A8-B063-D22BA4E269E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3705-48A8-B063-D22BA4E269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10.863329850888023</c:v>
              </c:pt>
              <c:pt idx="1">
                <c:v>11.350319137804748</c:v>
              </c:pt>
              <c:pt idx="2">
                <c:v>10.427349201454378</c:v>
              </c:pt>
              <c:pt idx="3">
                <c:v>11.380645819907995</c:v>
              </c:pt>
              <c:pt idx="4">
                <c:v>12.904127061252998</c:v>
              </c:pt>
              <c:pt idx="5">
                <c:v>9.1017063604189499</c:v>
              </c:pt>
              <c:pt idx="6">
                <c:v>8.8477686207432757</c:v>
              </c:pt>
              <c:pt idx="7">
                <c:v>11.482478358342206</c:v>
              </c:pt>
              <c:pt idx="8">
                <c:v>9.8228213111595828</c:v>
              </c:pt>
              <c:pt idx="9">
                <c:v>10.206570367167577</c:v>
              </c:pt>
              <c:pt idx="10">
                <c:v>11.19022140043986</c:v>
              </c:pt>
              <c:pt idx="11">
                <c:v>12.559118092081558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D-3705-48A8-B063-D22BA4E269E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Chewables</c:v>
          </c:tx>
          <c:spPr>
            <a:solidFill>
              <a:srgbClr val="3D85C6"/>
            </a:solidFill>
          </c:spPr>
          <c:invertIfNegative val="0"/>
          <c:xVal>
            <c:numLit>
              <c:formatCode>General</c:formatCode>
              <c:ptCount val="1"/>
              <c:pt idx="0">
                <c:v>126.6554213635809</c:v>
              </c:pt>
            </c:numLit>
          </c:xVal>
          <c:yVal>
            <c:numLit>
              <c:formatCode>General</c:formatCode>
              <c:ptCount val="1"/>
              <c:pt idx="0">
                <c:v>97.908835233151464</c:v>
              </c:pt>
            </c:numLit>
          </c:yVal>
          <c:bubbleSize>
            <c:numLit>
              <c:formatCode>General</c:formatCode>
              <c:ptCount val="1"/>
              <c:pt idx="0">
                <c:v>948.56100000000004</c:v>
              </c:pt>
            </c:numLit>
          </c:bubbleSize>
          <c:bubble3D val="0"/>
          <c:extLst>
            <c:ext xmlns:c16="http://schemas.microsoft.com/office/drawing/2014/chart" uri="{C3380CC4-5D6E-409C-BE32-E72D297353CC}">
              <c16:uniqueId val="{00000000-9A80-43EB-9E6D-9CDDE5782BDA}"/>
            </c:ext>
          </c:extLst>
        </c:ser>
        <c:ser>
          <c:idx val="1"/>
          <c:order val="1"/>
          <c:tx>
            <c:v>Tablets</c:v>
          </c:tx>
          <c:spPr>
            <a:solidFill>
              <a:srgbClr val="9E7E0A"/>
            </a:solidFill>
          </c:spPr>
          <c:invertIfNegative val="0"/>
          <c:xVal>
            <c:numLit>
              <c:formatCode>General</c:formatCode>
              <c:ptCount val="1"/>
              <c:pt idx="0">
                <c:v>87.489279337606376</c:v>
              </c:pt>
            </c:numLit>
          </c:xVal>
          <c:yVal>
            <c:numLit>
              <c:formatCode>General</c:formatCode>
              <c:ptCount val="1"/>
              <c:pt idx="0">
                <c:v>132.8492922700332</c:v>
              </c:pt>
            </c:numLit>
          </c:yVal>
          <c:bubbleSize>
            <c:numLit>
              <c:formatCode>General</c:formatCode>
              <c:ptCount val="1"/>
              <c:pt idx="0">
                <c:v>1047.905</c:v>
              </c:pt>
            </c:numLit>
          </c:bubbleSize>
          <c:bubble3D val="0"/>
          <c:extLst>
            <c:ext xmlns:c16="http://schemas.microsoft.com/office/drawing/2014/chart" uri="{C3380CC4-5D6E-409C-BE32-E72D297353CC}">
              <c16:uniqueId val="{00000001-9A80-43EB-9E6D-9CDDE5782BDA}"/>
            </c:ext>
          </c:extLst>
        </c:ser>
        <c:ser>
          <c:idx val="2"/>
          <c:order val="2"/>
          <c:tx>
            <c:v>Capsules and Softgels</c:v>
          </c:tx>
          <c:spPr>
            <a:solidFill>
              <a:srgbClr val="008189"/>
            </a:solidFill>
          </c:spPr>
          <c:invertIfNegative val="0"/>
          <c:xVal>
            <c:numLit>
              <c:formatCode>General</c:formatCode>
              <c:ptCount val="1"/>
              <c:pt idx="0">
                <c:v>114.91039505918876</c:v>
              </c:pt>
            </c:numLit>
          </c:xVal>
          <c:yVal>
            <c:numLit>
              <c:formatCode>General</c:formatCode>
              <c:ptCount val="1"/>
              <c:pt idx="0">
                <c:v>204.87842171987029</c:v>
              </c:pt>
            </c:numLit>
          </c:yVal>
          <c:bubbleSize>
            <c:numLit>
              <c:formatCode>General</c:formatCode>
              <c:ptCount val="1"/>
              <c:pt idx="0">
                <c:v>1867.0609999999999</c:v>
              </c:pt>
            </c:numLit>
          </c:bubbleSize>
          <c:bubble3D val="0"/>
          <c:extLst>
            <c:ext xmlns:c16="http://schemas.microsoft.com/office/drawing/2014/chart" uri="{C3380CC4-5D6E-409C-BE32-E72D297353CC}">
              <c16:uniqueId val="{00000002-9A80-43EB-9E6D-9CDDE5782BDA}"/>
            </c:ext>
          </c:extLst>
        </c:ser>
        <c:ser>
          <c:idx val="3"/>
          <c:order val="3"/>
          <c:tx>
            <c:v>Powders and Granules</c:v>
          </c:tx>
          <c:spPr>
            <a:solidFill>
              <a:srgbClr val="40315E"/>
            </a:solidFill>
          </c:spPr>
          <c:invertIfNegative val="0"/>
          <c:xVal>
            <c:numLit>
              <c:formatCode>General</c:formatCode>
              <c:ptCount val="1"/>
              <c:pt idx="0">
                <c:v>81.233704084879292</c:v>
              </c:pt>
            </c:numLit>
          </c:xVal>
          <c:yVal>
            <c:numLit>
              <c:formatCode>General</c:formatCode>
              <c:ptCount val="1"/>
              <c:pt idx="0">
                <c:v>30.546574737827136</c:v>
              </c:pt>
            </c:numLit>
          </c:yVal>
          <c:bubbleSize>
            <c:numLit>
              <c:formatCode>General</c:formatCode>
              <c:ptCount val="1"/>
              <c:pt idx="0">
                <c:v>233.07400000000001</c:v>
              </c:pt>
            </c:numLit>
          </c:bubbleSize>
          <c:bubble3D val="0"/>
          <c:extLst>
            <c:ext xmlns:c16="http://schemas.microsoft.com/office/drawing/2014/chart" uri="{C3380CC4-5D6E-409C-BE32-E72D297353CC}">
              <c16:uniqueId val="{00000003-9A80-43EB-9E6D-9CDDE5782BDA}"/>
            </c:ext>
          </c:extLst>
        </c:ser>
        <c:ser>
          <c:idx val="4"/>
          <c:order val="4"/>
          <c:tx>
            <c:v>Liquids</c:v>
          </c:tx>
          <c:spPr>
            <a:solidFill>
              <a:srgbClr val="A35313"/>
            </a:solidFill>
          </c:spPr>
          <c:invertIfNegative val="0"/>
          <c:xVal>
            <c:numLit>
              <c:formatCode>General</c:formatCode>
              <c:ptCount val="1"/>
              <c:pt idx="0">
                <c:v>68.278960565913792</c:v>
              </c:pt>
            </c:numLit>
          </c:xVal>
          <c:yVal>
            <c:numLit>
              <c:formatCode>General</c:formatCode>
              <c:ptCount val="1"/>
              <c:pt idx="0">
                <c:v>53.6350480343024</c:v>
              </c:pt>
            </c:numLit>
          </c:yVal>
          <c:bubbleSize>
            <c:numLit>
              <c:formatCode>General</c:formatCode>
              <c:ptCount val="1"/>
              <c:pt idx="0">
                <c:v>381.892</c:v>
              </c:pt>
            </c:numLit>
          </c:bubbleSize>
          <c:bubble3D val="0"/>
          <c:extLst>
            <c:ext xmlns:c16="http://schemas.microsoft.com/office/drawing/2014/chart" uri="{C3380CC4-5D6E-409C-BE32-E72D297353CC}">
              <c16:uniqueId val="{00000004-9A80-43EB-9E6D-9CDDE5782BDA}"/>
            </c:ext>
          </c:extLst>
        </c:ser>
        <c:ser>
          <c:idx val="5"/>
          <c:order val="5"/>
          <c:tx>
            <c:v>Gels and Pastes</c:v>
          </c:tx>
          <c:spPr>
            <a:solidFill>
              <a:srgbClr val="808080"/>
            </a:solidFill>
          </c:spPr>
          <c:invertIfNegative val="0"/>
          <c:xVal>
            <c:numLit>
              <c:formatCode>General</c:formatCode>
              <c:ptCount val="1"/>
              <c:pt idx="0">
                <c:v>70.520560530123362</c:v>
              </c:pt>
            </c:numLit>
          </c:xVal>
          <c:yVal>
            <c:numLit>
              <c:formatCode>General</c:formatCode>
              <c:ptCount val="1"/>
              <c:pt idx="0">
                <c:v>80.1818280048155</c:v>
              </c:pt>
            </c:numLit>
          </c:yVal>
          <c:bubbleSize>
            <c:numLit>
              <c:formatCode>General</c:formatCode>
              <c:ptCount val="1"/>
              <c:pt idx="0">
                <c:v>577.80399999999997</c:v>
              </c:pt>
            </c:numLit>
          </c:bubbleSize>
          <c:bubble3D val="0"/>
          <c:extLst>
            <c:ext xmlns:c16="http://schemas.microsoft.com/office/drawing/2014/chart" uri="{C3380CC4-5D6E-409C-BE32-E72D297353CC}">
              <c16:uniqueId val="{00000005-9A80-43EB-9E6D-9CDDE5782BDA}"/>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5"/>
          <c:min val="50"/>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250"/>
          <c:min val="0"/>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480.24299999999999</c:v>
              </c:pt>
              <c:pt idx="2">
                <c:v>551.49199999999996</c:v>
              </c:pt>
              <c:pt idx="3">
                <c:v>632.52599999999995</c:v>
              </c:pt>
              <c:pt idx="4">
                <c:v>724.67899999999997</c:v>
              </c:pt>
              <c:pt idx="5">
                <c:v>829.45399999999995</c:v>
              </c:pt>
              <c:pt idx="6">
                <c:v>0</c:v>
              </c:pt>
            </c:numLit>
          </c:val>
          <c:extLst>
            <c:ext xmlns:c16="http://schemas.microsoft.com/office/drawing/2014/chart" uri="{C3380CC4-5D6E-409C-BE32-E72D297353CC}">
              <c16:uniqueId val="{00000000-8851-4D70-AE65-B023C9B15373}"/>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8851-4D70-AE65-B023C9B15373}"/>
              </c:ext>
            </c:extLst>
          </c:dPt>
          <c:dPt>
            <c:idx val="1"/>
            <c:invertIfNegative val="1"/>
            <c:bubble3D val="0"/>
            <c:spPr>
              <a:solidFill>
                <a:srgbClr val="008189"/>
              </a:solidFill>
            </c:spPr>
            <c:extLst>
              <c:ext xmlns:c16="http://schemas.microsoft.com/office/drawing/2014/chart" uri="{C3380CC4-5D6E-409C-BE32-E72D297353CC}">
                <c16:uniqueId val="{00000004-8851-4D70-AE65-B023C9B15373}"/>
              </c:ext>
            </c:extLst>
          </c:dPt>
          <c:dPt>
            <c:idx val="2"/>
            <c:invertIfNegative val="1"/>
            <c:bubble3D val="0"/>
            <c:spPr>
              <a:solidFill>
                <a:srgbClr val="008189"/>
              </a:solidFill>
            </c:spPr>
            <c:extLst>
              <c:ext xmlns:c16="http://schemas.microsoft.com/office/drawing/2014/chart" uri="{C3380CC4-5D6E-409C-BE32-E72D297353CC}">
                <c16:uniqueId val="{00000006-8851-4D70-AE65-B023C9B15373}"/>
              </c:ext>
            </c:extLst>
          </c:dPt>
          <c:dPt>
            <c:idx val="3"/>
            <c:invertIfNegative val="1"/>
            <c:bubble3D val="0"/>
            <c:spPr>
              <a:solidFill>
                <a:srgbClr val="008189"/>
              </a:solidFill>
            </c:spPr>
            <c:extLst>
              <c:ext xmlns:c16="http://schemas.microsoft.com/office/drawing/2014/chart" uri="{C3380CC4-5D6E-409C-BE32-E72D297353CC}">
                <c16:uniqueId val="{00000008-8851-4D70-AE65-B023C9B15373}"/>
              </c:ext>
            </c:extLst>
          </c:dPt>
          <c:dPt>
            <c:idx val="4"/>
            <c:invertIfNegative val="1"/>
            <c:bubble3D val="0"/>
            <c:spPr>
              <a:solidFill>
                <a:srgbClr val="008189"/>
              </a:solidFill>
            </c:spPr>
            <c:extLst>
              <c:ext xmlns:c16="http://schemas.microsoft.com/office/drawing/2014/chart" uri="{C3380CC4-5D6E-409C-BE32-E72D297353CC}">
                <c16:uniqueId val="{0000000A-8851-4D70-AE65-B023C9B15373}"/>
              </c:ext>
            </c:extLst>
          </c:dPt>
          <c:dPt>
            <c:idx val="5"/>
            <c:invertIfNegative val="1"/>
            <c:bubble3D val="0"/>
            <c:spPr>
              <a:solidFill>
                <a:srgbClr val="008189"/>
              </a:solidFill>
            </c:spPr>
            <c:extLst>
              <c:ext xmlns:c16="http://schemas.microsoft.com/office/drawing/2014/chart" uri="{C3380CC4-5D6E-409C-BE32-E72D297353CC}">
                <c16:uniqueId val="{0000000C-8851-4D70-AE65-B023C9B15373}"/>
              </c:ext>
            </c:extLst>
          </c:dPt>
          <c:dPt>
            <c:idx val="6"/>
            <c:invertIfNegative val="1"/>
            <c:bubble3D val="0"/>
            <c:spPr>
              <a:solidFill>
                <a:srgbClr val="0E72AE"/>
              </a:solidFill>
            </c:spPr>
            <c:extLst>
              <c:ext xmlns:c16="http://schemas.microsoft.com/office/drawing/2014/chart" uri="{C3380CC4-5D6E-409C-BE32-E72D297353CC}">
                <c16:uniqueId val="{0000000E-8851-4D70-AE65-B023C9B15373}"/>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851-4D70-AE65-B023C9B15373}"/>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851-4D70-AE65-B023C9B15373}"/>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851-4D70-AE65-B023C9B15373}"/>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851-4D70-AE65-B023C9B15373}"/>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851-4D70-AE65-B023C9B15373}"/>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851-4D70-AE65-B023C9B15373}"/>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851-4D70-AE65-B023C9B15373}"/>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480.24299999999999</c:v>
              </c:pt>
              <c:pt idx="1">
                <c:v>71.248999999999967</c:v>
              </c:pt>
              <c:pt idx="2">
                <c:v>81.033999999999992</c:v>
              </c:pt>
              <c:pt idx="3">
                <c:v>92.15300000000002</c:v>
              </c:pt>
              <c:pt idx="4">
                <c:v>104.77499999999998</c:v>
              </c:pt>
              <c:pt idx="5">
                <c:v>119.10700000000008</c:v>
              </c:pt>
              <c:pt idx="6">
                <c:v>948.56100000000004</c:v>
              </c:pt>
            </c:numLit>
          </c:val>
          <c:extLst>
            <c:ext xmlns:c16="http://schemas.microsoft.com/office/drawing/2014/chart" uri="{C3380CC4-5D6E-409C-BE32-E72D297353CC}">
              <c16:uniqueId val="{0000000F-8851-4D70-AE65-B023C9B1537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651.62599999999998</c:v>
              </c:pt>
              <c:pt idx="2">
                <c:v>715.56899999999996</c:v>
              </c:pt>
              <c:pt idx="3">
                <c:v>786.35400000000004</c:v>
              </c:pt>
              <c:pt idx="4">
                <c:v>864.74199999999996</c:v>
              </c:pt>
              <c:pt idx="5">
                <c:v>951.60699999999997</c:v>
              </c:pt>
              <c:pt idx="6">
                <c:v>0</c:v>
              </c:pt>
            </c:numLit>
          </c:val>
          <c:extLst>
            <c:ext xmlns:c16="http://schemas.microsoft.com/office/drawing/2014/chart" uri="{C3380CC4-5D6E-409C-BE32-E72D297353CC}">
              <c16:uniqueId val="{00000000-F106-4EF9-BC45-EC44E98F1A83}"/>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F106-4EF9-BC45-EC44E98F1A83}"/>
              </c:ext>
            </c:extLst>
          </c:dPt>
          <c:dPt>
            <c:idx val="1"/>
            <c:invertIfNegative val="1"/>
            <c:bubble3D val="0"/>
            <c:spPr>
              <a:solidFill>
                <a:srgbClr val="008189"/>
              </a:solidFill>
            </c:spPr>
            <c:extLst>
              <c:ext xmlns:c16="http://schemas.microsoft.com/office/drawing/2014/chart" uri="{C3380CC4-5D6E-409C-BE32-E72D297353CC}">
                <c16:uniqueId val="{00000004-F106-4EF9-BC45-EC44E98F1A83}"/>
              </c:ext>
            </c:extLst>
          </c:dPt>
          <c:dPt>
            <c:idx val="2"/>
            <c:invertIfNegative val="1"/>
            <c:bubble3D val="0"/>
            <c:spPr>
              <a:solidFill>
                <a:srgbClr val="008189"/>
              </a:solidFill>
            </c:spPr>
            <c:extLst>
              <c:ext xmlns:c16="http://schemas.microsoft.com/office/drawing/2014/chart" uri="{C3380CC4-5D6E-409C-BE32-E72D297353CC}">
                <c16:uniqueId val="{00000006-F106-4EF9-BC45-EC44E98F1A83}"/>
              </c:ext>
            </c:extLst>
          </c:dPt>
          <c:dPt>
            <c:idx val="3"/>
            <c:invertIfNegative val="1"/>
            <c:bubble3D val="0"/>
            <c:spPr>
              <a:solidFill>
                <a:srgbClr val="008189"/>
              </a:solidFill>
            </c:spPr>
            <c:extLst>
              <c:ext xmlns:c16="http://schemas.microsoft.com/office/drawing/2014/chart" uri="{C3380CC4-5D6E-409C-BE32-E72D297353CC}">
                <c16:uniqueId val="{00000008-F106-4EF9-BC45-EC44E98F1A83}"/>
              </c:ext>
            </c:extLst>
          </c:dPt>
          <c:dPt>
            <c:idx val="4"/>
            <c:invertIfNegative val="1"/>
            <c:bubble3D val="0"/>
            <c:spPr>
              <a:solidFill>
                <a:srgbClr val="008189"/>
              </a:solidFill>
            </c:spPr>
            <c:extLst>
              <c:ext xmlns:c16="http://schemas.microsoft.com/office/drawing/2014/chart" uri="{C3380CC4-5D6E-409C-BE32-E72D297353CC}">
                <c16:uniqueId val="{0000000A-F106-4EF9-BC45-EC44E98F1A83}"/>
              </c:ext>
            </c:extLst>
          </c:dPt>
          <c:dPt>
            <c:idx val="5"/>
            <c:invertIfNegative val="1"/>
            <c:bubble3D val="0"/>
            <c:spPr>
              <a:solidFill>
                <a:srgbClr val="008189"/>
              </a:solidFill>
            </c:spPr>
            <c:extLst>
              <c:ext xmlns:c16="http://schemas.microsoft.com/office/drawing/2014/chart" uri="{C3380CC4-5D6E-409C-BE32-E72D297353CC}">
                <c16:uniqueId val="{0000000C-F106-4EF9-BC45-EC44E98F1A83}"/>
              </c:ext>
            </c:extLst>
          </c:dPt>
          <c:dPt>
            <c:idx val="6"/>
            <c:invertIfNegative val="1"/>
            <c:bubble3D val="0"/>
            <c:spPr>
              <a:solidFill>
                <a:srgbClr val="0E72AE"/>
              </a:solidFill>
            </c:spPr>
            <c:extLst>
              <c:ext xmlns:c16="http://schemas.microsoft.com/office/drawing/2014/chart" uri="{C3380CC4-5D6E-409C-BE32-E72D297353CC}">
                <c16:uniqueId val="{0000000E-F106-4EF9-BC45-EC44E98F1A83}"/>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106-4EF9-BC45-EC44E98F1A83}"/>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106-4EF9-BC45-EC44E98F1A83}"/>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106-4EF9-BC45-EC44E98F1A83}"/>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106-4EF9-BC45-EC44E98F1A83}"/>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106-4EF9-BC45-EC44E98F1A83}"/>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106-4EF9-BC45-EC44E98F1A83}"/>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106-4EF9-BC45-EC44E98F1A83}"/>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651.62599999999998</c:v>
              </c:pt>
              <c:pt idx="1">
                <c:v>63.942999999999984</c:v>
              </c:pt>
              <c:pt idx="2">
                <c:v>70.785000000000082</c:v>
              </c:pt>
              <c:pt idx="3">
                <c:v>78.38799999999992</c:v>
              </c:pt>
              <c:pt idx="4">
                <c:v>86.865000000000009</c:v>
              </c:pt>
              <c:pt idx="5">
                <c:v>96.298000000000002</c:v>
              </c:pt>
              <c:pt idx="6">
                <c:v>1047.905</c:v>
              </c:pt>
            </c:numLit>
          </c:val>
          <c:extLst>
            <c:ext xmlns:c16="http://schemas.microsoft.com/office/drawing/2014/chart" uri="{C3380CC4-5D6E-409C-BE32-E72D297353CC}">
              <c16:uniqueId val="{0000000F-F106-4EF9-BC45-EC44E98F1A8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1004.929</c:v>
              </c:pt>
              <c:pt idx="2">
                <c:v>1138.123</c:v>
              </c:pt>
              <c:pt idx="3">
                <c:v>1288.546</c:v>
              </c:pt>
              <c:pt idx="4">
                <c:v>1458.4259999999999</c:v>
              </c:pt>
              <c:pt idx="5">
                <c:v>1650.3109999999999</c:v>
              </c:pt>
              <c:pt idx="6">
                <c:v>0</c:v>
              </c:pt>
            </c:numLit>
          </c:val>
          <c:extLst>
            <c:ext xmlns:c16="http://schemas.microsoft.com/office/drawing/2014/chart" uri="{C3380CC4-5D6E-409C-BE32-E72D297353CC}">
              <c16:uniqueId val="{00000000-682B-4E2B-A6B7-B71BBC46688D}"/>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682B-4E2B-A6B7-B71BBC46688D}"/>
              </c:ext>
            </c:extLst>
          </c:dPt>
          <c:dPt>
            <c:idx val="1"/>
            <c:invertIfNegative val="1"/>
            <c:bubble3D val="0"/>
            <c:spPr>
              <a:solidFill>
                <a:srgbClr val="008189"/>
              </a:solidFill>
            </c:spPr>
            <c:extLst>
              <c:ext xmlns:c16="http://schemas.microsoft.com/office/drawing/2014/chart" uri="{C3380CC4-5D6E-409C-BE32-E72D297353CC}">
                <c16:uniqueId val="{00000004-682B-4E2B-A6B7-B71BBC46688D}"/>
              </c:ext>
            </c:extLst>
          </c:dPt>
          <c:dPt>
            <c:idx val="2"/>
            <c:invertIfNegative val="1"/>
            <c:bubble3D val="0"/>
            <c:spPr>
              <a:solidFill>
                <a:srgbClr val="008189"/>
              </a:solidFill>
            </c:spPr>
            <c:extLst>
              <c:ext xmlns:c16="http://schemas.microsoft.com/office/drawing/2014/chart" uri="{C3380CC4-5D6E-409C-BE32-E72D297353CC}">
                <c16:uniqueId val="{00000006-682B-4E2B-A6B7-B71BBC46688D}"/>
              </c:ext>
            </c:extLst>
          </c:dPt>
          <c:dPt>
            <c:idx val="3"/>
            <c:invertIfNegative val="1"/>
            <c:bubble3D val="0"/>
            <c:spPr>
              <a:solidFill>
                <a:srgbClr val="008189"/>
              </a:solidFill>
            </c:spPr>
            <c:extLst>
              <c:ext xmlns:c16="http://schemas.microsoft.com/office/drawing/2014/chart" uri="{C3380CC4-5D6E-409C-BE32-E72D297353CC}">
                <c16:uniqueId val="{00000008-682B-4E2B-A6B7-B71BBC46688D}"/>
              </c:ext>
            </c:extLst>
          </c:dPt>
          <c:dPt>
            <c:idx val="4"/>
            <c:invertIfNegative val="1"/>
            <c:bubble3D val="0"/>
            <c:spPr>
              <a:solidFill>
                <a:srgbClr val="008189"/>
              </a:solidFill>
            </c:spPr>
            <c:extLst>
              <c:ext xmlns:c16="http://schemas.microsoft.com/office/drawing/2014/chart" uri="{C3380CC4-5D6E-409C-BE32-E72D297353CC}">
                <c16:uniqueId val="{0000000A-682B-4E2B-A6B7-B71BBC46688D}"/>
              </c:ext>
            </c:extLst>
          </c:dPt>
          <c:dPt>
            <c:idx val="5"/>
            <c:invertIfNegative val="1"/>
            <c:bubble3D val="0"/>
            <c:spPr>
              <a:solidFill>
                <a:srgbClr val="008189"/>
              </a:solidFill>
            </c:spPr>
            <c:extLst>
              <c:ext xmlns:c16="http://schemas.microsoft.com/office/drawing/2014/chart" uri="{C3380CC4-5D6E-409C-BE32-E72D297353CC}">
                <c16:uniqueId val="{0000000C-682B-4E2B-A6B7-B71BBC46688D}"/>
              </c:ext>
            </c:extLst>
          </c:dPt>
          <c:dPt>
            <c:idx val="6"/>
            <c:invertIfNegative val="1"/>
            <c:bubble3D val="0"/>
            <c:spPr>
              <a:solidFill>
                <a:srgbClr val="0E72AE"/>
              </a:solidFill>
            </c:spPr>
            <c:extLst>
              <c:ext xmlns:c16="http://schemas.microsoft.com/office/drawing/2014/chart" uri="{C3380CC4-5D6E-409C-BE32-E72D297353CC}">
                <c16:uniqueId val="{0000000E-682B-4E2B-A6B7-B71BBC46688D}"/>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82B-4E2B-A6B7-B71BBC46688D}"/>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82B-4E2B-A6B7-B71BBC46688D}"/>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82B-4E2B-A6B7-B71BBC46688D}"/>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82B-4E2B-A6B7-B71BBC46688D}"/>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82B-4E2B-A6B7-B71BBC46688D}"/>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82B-4E2B-A6B7-B71BBC46688D}"/>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682B-4E2B-A6B7-B71BBC46688D}"/>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1004.929</c:v>
              </c:pt>
              <c:pt idx="1">
                <c:v>133.19400000000007</c:v>
              </c:pt>
              <c:pt idx="2">
                <c:v>150.423</c:v>
              </c:pt>
              <c:pt idx="3">
                <c:v>169.87999999999988</c:v>
              </c:pt>
              <c:pt idx="4">
                <c:v>191.88499999999999</c:v>
              </c:pt>
              <c:pt idx="5">
                <c:v>216.75</c:v>
              </c:pt>
              <c:pt idx="6">
                <c:v>1867.0609999999999</c:v>
              </c:pt>
            </c:numLit>
          </c:val>
          <c:extLst>
            <c:ext xmlns:c16="http://schemas.microsoft.com/office/drawing/2014/chart" uri="{C3380CC4-5D6E-409C-BE32-E72D297353CC}">
              <c16:uniqueId val="{0000000F-682B-4E2B-A6B7-B71BBC46688D}"/>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149.83099999999999</c:v>
              </c:pt>
              <c:pt idx="2">
                <c:v>163.465</c:v>
              </c:pt>
              <c:pt idx="3">
                <c:v>178.452</c:v>
              </c:pt>
              <c:pt idx="4">
                <c:v>194.946</c:v>
              </c:pt>
              <c:pt idx="5">
                <c:v>213.09200000000001</c:v>
              </c:pt>
              <c:pt idx="6">
                <c:v>0</c:v>
              </c:pt>
            </c:numLit>
          </c:val>
          <c:extLst>
            <c:ext xmlns:c16="http://schemas.microsoft.com/office/drawing/2014/chart" uri="{C3380CC4-5D6E-409C-BE32-E72D297353CC}">
              <c16:uniqueId val="{00000000-ACDD-48C8-A207-FE1F04A96B7C}"/>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ACDD-48C8-A207-FE1F04A96B7C}"/>
              </c:ext>
            </c:extLst>
          </c:dPt>
          <c:dPt>
            <c:idx val="1"/>
            <c:invertIfNegative val="1"/>
            <c:bubble3D val="0"/>
            <c:spPr>
              <a:solidFill>
                <a:srgbClr val="008189"/>
              </a:solidFill>
            </c:spPr>
            <c:extLst>
              <c:ext xmlns:c16="http://schemas.microsoft.com/office/drawing/2014/chart" uri="{C3380CC4-5D6E-409C-BE32-E72D297353CC}">
                <c16:uniqueId val="{00000004-ACDD-48C8-A207-FE1F04A96B7C}"/>
              </c:ext>
            </c:extLst>
          </c:dPt>
          <c:dPt>
            <c:idx val="2"/>
            <c:invertIfNegative val="1"/>
            <c:bubble3D val="0"/>
            <c:spPr>
              <a:solidFill>
                <a:srgbClr val="008189"/>
              </a:solidFill>
            </c:spPr>
            <c:extLst>
              <c:ext xmlns:c16="http://schemas.microsoft.com/office/drawing/2014/chart" uri="{C3380CC4-5D6E-409C-BE32-E72D297353CC}">
                <c16:uniqueId val="{00000006-ACDD-48C8-A207-FE1F04A96B7C}"/>
              </c:ext>
            </c:extLst>
          </c:dPt>
          <c:dPt>
            <c:idx val="3"/>
            <c:invertIfNegative val="1"/>
            <c:bubble3D val="0"/>
            <c:spPr>
              <a:solidFill>
                <a:srgbClr val="008189"/>
              </a:solidFill>
            </c:spPr>
            <c:extLst>
              <c:ext xmlns:c16="http://schemas.microsoft.com/office/drawing/2014/chart" uri="{C3380CC4-5D6E-409C-BE32-E72D297353CC}">
                <c16:uniqueId val="{00000008-ACDD-48C8-A207-FE1F04A96B7C}"/>
              </c:ext>
            </c:extLst>
          </c:dPt>
          <c:dPt>
            <c:idx val="4"/>
            <c:invertIfNegative val="1"/>
            <c:bubble3D val="0"/>
            <c:spPr>
              <a:solidFill>
                <a:srgbClr val="008189"/>
              </a:solidFill>
            </c:spPr>
            <c:extLst>
              <c:ext xmlns:c16="http://schemas.microsoft.com/office/drawing/2014/chart" uri="{C3380CC4-5D6E-409C-BE32-E72D297353CC}">
                <c16:uniqueId val="{0000000A-ACDD-48C8-A207-FE1F04A96B7C}"/>
              </c:ext>
            </c:extLst>
          </c:dPt>
          <c:dPt>
            <c:idx val="5"/>
            <c:invertIfNegative val="1"/>
            <c:bubble3D val="0"/>
            <c:spPr>
              <a:solidFill>
                <a:srgbClr val="008189"/>
              </a:solidFill>
            </c:spPr>
            <c:extLst>
              <c:ext xmlns:c16="http://schemas.microsoft.com/office/drawing/2014/chart" uri="{C3380CC4-5D6E-409C-BE32-E72D297353CC}">
                <c16:uniqueId val="{0000000C-ACDD-48C8-A207-FE1F04A96B7C}"/>
              </c:ext>
            </c:extLst>
          </c:dPt>
          <c:dPt>
            <c:idx val="6"/>
            <c:invertIfNegative val="1"/>
            <c:bubble3D val="0"/>
            <c:spPr>
              <a:solidFill>
                <a:srgbClr val="0E72AE"/>
              </a:solidFill>
            </c:spPr>
            <c:extLst>
              <c:ext xmlns:c16="http://schemas.microsoft.com/office/drawing/2014/chart" uri="{C3380CC4-5D6E-409C-BE32-E72D297353CC}">
                <c16:uniqueId val="{0000000E-ACDD-48C8-A207-FE1F04A96B7C}"/>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CDD-48C8-A207-FE1F04A96B7C}"/>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CDD-48C8-A207-FE1F04A96B7C}"/>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CDD-48C8-A207-FE1F04A96B7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CDD-48C8-A207-FE1F04A96B7C}"/>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CDD-48C8-A207-FE1F04A96B7C}"/>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CDD-48C8-A207-FE1F04A96B7C}"/>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CDD-48C8-A207-FE1F04A96B7C}"/>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149.83099999999999</c:v>
              </c:pt>
              <c:pt idx="1">
                <c:v>13.634000000000015</c:v>
              </c:pt>
              <c:pt idx="2">
                <c:v>14.986999999999995</c:v>
              </c:pt>
              <c:pt idx="3">
                <c:v>16.494</c:v>
              </c:pt>
              <c:pt idx="4">
                <c:v>18.146000000000015</c:v>
              </c:pt>
              <c:pt idx="5">
                <c:v>19.981999999999999</c:v>
              </c:pt>
              <c:pt idx="6">
                <c:v>233.07400000000001</c:v>
              </c:pt>
            </c:numLit>
          </c:val>
          <c:extLst>
            <c:ext xmlns:c16="http://schemas.microsoft.com/office/drawing/2014/chart" uri="{C3380CC4-5D6E-409C-BE32-E72D297353CC}">
              <c16:uniqueId val="{0000000F-ACDD-48C8-A207-FE1F04A96B7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263.08</c:v>
              </c:pt>
              <c:pt idx="2">
                <c:v>283.27999999999997</c:v>
              </c:pt>
              <c:pt idx="3">
                <c:v>305.125</c:v>
              </c:pt>
              <c:pt idx="4">
                <c:v>328.74599999999998</c:v>
              </c:pt>
              <c:pt idx="5">
                <c:v>354.28199999999998</c:v>
              </c:pt>
              <c:pt idx="6">
                <c:v>0</c:v>
              </c:pt>
            </c:numLit>
          </c:val>
          <c:extLst>
            <c:ext xmlns:c16="http://schemas.microsoft.com/office/drawing/2014/chart" uri="{C3380CC4-5D6E-409C-BE32-E72D297353CC}">
              <c16:uniqueId val="{00000000-5585-409E-BFB7-30DC1333286A}"/>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5585-409E-BFB7-30DC1333286A}"/>
              </c:ext>
            </c:extLst>
          </c:dPt>
          <c:dPt>
            <c:idx val="1"/>
            <c:invertIfNegative val="1"/>
            <c:bubble3D val="0"/>
            <c:spPr>
              <a:solidFill>
                <a:srgbClr val="008189"/>
              </a:solidFill>
            </c:spPr>
            <c:extLst>
              <c:ext xmlns:c16="http://schemas.microsoft.com/office/drawing/2014/chart" uri="{C3380CC4-5D6E-409C-BE32-E72D297353CC}">
                <c16:uniqueId val="{00000004-5585-409E-BFB7-30DC1333286A}"/>
              </c:ext>
            </c:extLst>
          </c:dPt>
          <c:dPt>
            <c:idx val="2"/>
            <c:invertIfNegative val="1"/>
            <c:bubble3D val="0"/>
            <c:spPr>
              <a:solidFill>
                <a:srgbClr val="008189"/>
              </a:solidFill>
            </c:spPr>
            <c:extLst>
              <c:ext xmlns:c16="http://schemas.microsoft.com/office/drawing/2014/chart" uri="{C3380CC4-5D6E-409C-BE32-E72D297353CC}">
                <c16:uniqueId val="{00000006-5585-409E-BFB7-30DC1333286A}"/>
              </c:ext>
            </c:extLst>
          </c:dPt>
          <c:dPt>
            <c:idx val="3"/>
            <c:invertIfNegative val="1"/>
            <c:bubble3D val="0"/>
            <c:spPr>
              <a:solidFill>
                <a:srgbClr val="008189"/>
              </a:solidFill>
            </c:spPr>
            <c:extLst>
              <c:ext xmlns:c16="http://schemas.microsoft.com/office/drawing/2014/chart" uri="{C3380CC4-5D6E-409C-BE32-E72D297353CC}">
                <c16:uniqueId val="{00000008-5585-409E-BFB7-30DC1333286A}"/>
              </c:ext>
            </c:extLst>
          </c:dPt>
          <c:dPt>
            <c:idx val="4"/>
            <c:invertIfNegative val="1"/>
            <c:bubble3D val="0"/>
            <c:spPr>
              <a:solidFill>
                <a:srgbClr val="008189"/>
              </a:solidFill>
            </c:spPr>
            <c:extLst>
              <c:ext xmlns:c16="http://schemas.microsoft.com/office/drawing/2014/chart" uri="{C3380CC4-5D6E-409C-BE32-E72D297353CC}">
                <c16:uniqueId val="{0000000A-5585-409E-BFB7-30DC1333286A}"/>
              </c:ext>
            </c:extLst>
          </c:dPt>
          <c:dPt>
            <c:idx val="5"/>
            <c:invertIfNegative val="1"/>
            <c:bubble3D val="0"/>
            <c:spPr>
              <a:solidFill>
                <a:srgbClr val="008189"/>
              </a:solidFill>
            </c:spPr>
            <c:extLst>
              <c:ext xmlns:c16="http://schemas.microsoft.com/office/drawing/2014/chart" uri="{C3380CC4-5D6E-409C-BE32-E72D297353CC}">
                <c16:uniqueId val="{0000000C-5585-409E-BFB7-30DC1333286A}"/>
              </c:ext>
            </c:extLst>
          </c:dPt>
          <c:dPt>
            <c:idx val="6"/>
            <c:invertIfNegative val="1"/>
            <c:bubble3D val="0"/>
            <c:spPr>
              <a:solidFill>
                <a:srgbClr val="0E72AE"/>
              </a:solidFill>
            </c:spPr>
            <c:extLst>
              <c:ext xmlns:c16="http://schemas.microsoft.com/office/drawing/2014/chart" uri="{C3380CC4-5D6E-409C-BE32-E72D297353CC}">
                <c16:uniqueId val="{0000000E-5585-409E-BFB7-30DC1333286A}"/>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585-409E-BFB7-30DC1333286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585-409E-BFB7-30DC1333286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585-409E-BFB7-30DC1333286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585-409E-BFB7-30DC1333286A}"/>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585-409E-BFB7-30DC1333286A}"/>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585-409E-BFB7-30DC1333286A}"/>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585-409E-BFB7-30DC1333286A}"/>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263.08</c:v>
              </c:pt>
              <c:pt idx="1">
                <c:v>20.199999999999989</c:v>
              </c:pt>
              <c:pt idx="2">
                <c:v>21.845000000000027</c:v>
              </c:pt>
              <c:pt idx="3">
                <c:v>23.620999999999981</c:v>
              </c:pt>
              <c:pt idx="4">
                <c:v>25.536000000000001</c:v>
              </c:pt>
              <c:pt idx="5">
                <c:v>27.610000000000014</c:v>
              </c:pt>
              <c:pt idx="6">
                <c:v>381.892</c:v>
              </c:pt>
            </c:numLit>
          </c:val>
          <c:extLst>
            <c:ext xmlns:c16="http://schemas.microsoft.com/office/drawing/2014/chart" uri="{C3380CC4-5D6E-409C-BE32-E72D297353CC}">
              <c16:uniqueId val="{0000000F-5585-409E-BFB7-30DC1333286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393.29199999999997</c:v>
              </c:pt>
              <c:pt idx="2">
                <c:v>424.43</c:v>
              </c:pt>
              <c:pt idx="3">
                <c:v>458.21100000000001</c:v>
              </c:pt>
              <c:pt idx="4">
                <c:v>494.86900000000003</c:v>
              </c:pt>
              <c:pt idx="5">
                <c:v>534.64400000000001</c:v>
              </c:pt>
              <c:pt idx="6">
                <c:v>0</c:v>
              </c:pt>
            </c:numLit>
          </c:val>
          <c:extLst>
            <c:ext xmlns:c16="http://schemas.microsoft.com/office/drawing/2014/chart" uri="{C3380CC4-5D6E-409C-BE32-E72D297353CC}">
              <c16:uniqueId val="{00000000-8DE5-4D8C-893F-D241D8A71C20}"/>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8DE5-4D8C-893F-D241D8A71C20}"/>
              </c:ext>
            </c:extLst>
          </c:dPt>
          <c:dPt>
            <c:idx val="1"/>
            <c:invertIfNegative val="1"/>
            <c:bubble3D val="0"/>
            <c:spPr>
              <a:solidFill>
                <a:srgbClr val="008189"/>
              </a:solidFill>
            </c:spPr>
            <c:extLst>
              <c:ext xmlns:c16="http://schemas.microsoft.com/office/drawing/2014/chart" uri="{C3380CC4-5D6E-409C-BE32-E72D297353CC}">
                <c16:uniqueId val="{00000004-8DE5-4D8C-893F-D241D8A71C20}"/>
              </c:ext>
            </c:extLst>
          </c:dPt>
          <c:dPt>
            <c:idx val="2"/>
            <c:invertIfNegative val="1"/>
            <c:bubble3D val="0"/>
            <c:spPr>
              <a:solidFill>
                <a:srgbClr val="008189"/>
              </a:solidFill>
            </c:spPr>
            <c:extLst>
              <c:ext xmlns:c16="http://schemas.microsoft.com/office/drawing/2014/chart" uri="{C3380CC4-5D6E-409C-BE32-E72D297353CC}">
                <c16:uniqueId val="{00000006-8DE5-4D8C-893F-D241D8A71C20}"/>
              </c:ext>
            </c:extLst>
          </c:dPt>
          <c:dPt>
            <c:idx val="3"/>
            <c:invertIfNegative val="1"/>
            <c:bubble3D val="0"/>
            <c:spPr>
              <a:solidFill>
                <a:srgbClr val="008189"/>
              </a:solidFill>
            </c:spPr>
            <c:extLst>
              <c:ext xmlns:c16="http://schemas.microsoft.com/office/drawing/2014/chart" uri="{C3380CC4-5D6E-409C-BE32-E72D297353CC}">
                <c16:uniqueId val="{00000008-8DE5-4D8C-893F-D241D8A71C20}"/>
              </c:ext>
            </c:extLst>
          </c:dPt>
          <c:dPt>
            <c:idx val="4"/>
            <c:invertIfNegative val="1"/>
            <c:bubble3D val="0"/>
            <c:spPr>
              <a:solidFill>
                <a:srgbClr val="008189"/>
              </a:solidFill>
            </c:spPr>
            <c:extLst>
              <c:ext xmlns:c16="http://schemas.microsoft.com/office/drawing/2014/chart" uri="{C3380CC4-5D6E-409C-BE32-E72D297353CC}">
                <c16:uniqueId val="{0000000A-8DE5-4D8C-893F-D241D8A71C20}"/>
              </c:ext>
            </c:extLst>
          </c:dPt>
          <c:dPt>
            <c:idx val="5"/>
            <c:invertIfNegative val="1"/>
            <c:bubble3D val="0"/>
            <c:spPr>
              <a:solidFill>
                <a:srgbClr val="008189"/>
              </a:solidFill>
            </c:spPr>
            <c:extLst>
              <c:ext xmlns:c16="http://schemas.microsoft.com/office/drawing/2014/chart" uri="{C3380CC4-5D6E-409C-BE32-E72D297353CC}">
                <c16:uniqueId val="{0000000C-8DE5-4D8C-893F-D241D8A71C20}"/>
              </c:ext>
            </c:extLst>
          </c:dPt>
          <c:dPt>
            <c:idx val="6"/>
            <c:invertIfNegative val="1"/>
            <c:bubble3D val="0"/>
            <c:spPr>
              <a:solidFill>
                <a:srgbClr val="0E72AE"/>
              </a:solidFill>
            </c:spPr>
            <c:extLst>
              <c:ext xmlns:c16="http://schemas.microsoft.com/office/drawing/2014/chart" uri="{C3380CC4-5D6E-409C-BE32-E72D297353CC}">
                <c16:uniqueId val="{0000000E-8DE5-4D8C-893F-D241D8A71C20}"/>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DE5-4D8C-893F-D241D8A71C20}"/>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DE5-4D8C-893F-D241D8A71C20}"/>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DE5-4D8C-893F-D241D8A71C20}"/>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DE5-4D8C-893F-D241D8A71C20}"/>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DE5-4D8C-893F-D241D8A71C20}"/>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DE5-4D8C-893F-D241D8A71C20}"/>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DE5-4D8C-893F-D241D8A71C20}"/>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393.29199999999997</c:v>
              </c:pt>
              <c:pt idx="1">
                <c:v>31.138000000000034</c:v>
              </c:pt>
              <c:pt idx="2">
                <c:v>33.781000000000006</c:v>
              </c:pt>
              <c:pt idx="3">
                <c:v>36.658000000000015</c:v>
              </c:pt>
              <c:pt idx="4">
                <c:v>39.774999999999977</c:v>
              </c:pt>
              <c:pt idx="5">
                <c:v>43.159999999999968</c:v>
              </c:pt>
              <c:pt idx="6">
                <c:v>577.80399999999997</c:v>
              </c:pt>
            </c:numLit>
          </c:val>
          <c:extLst>
            <c:ext xmlns:c16="http://schemas.microsoft.com/office/drawing/2014/chart" uri="{C3380CC4-5D6E-409C-BE32-E72D297353CC}">
              <c16:uniqueId val="{0000000F-8DE5-4D8C-893F-D241D8A71C20}"/>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Capsules and Softgels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4AF-46F4-AFC5-285FA5503AE1}"/>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4AF-46F4-AFC5-285FA5503AE1}"/>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4AF-46F4-AFC5-285FA5503AE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32.581849223710186</c:v>
              </c:pt>
              <c:pt idx="1">
                <c:v>34.146403619978386</c:v>
              </c:pt>
              <c:pt idx="2">
                <c:v>36.925461459245767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34AF-46F4-AFC5-285FA5503AE1}"/>
            </c:ext>
          </c:extLst>
        </c:ser>
        <c:ser>
          <c:idx val="1"/>
          <c:order val="1"/>
          <c:tx>
            <c:v>Tablets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AF-46F4-AFC5-285FA5503AE1}"/>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4AF-46F4-AFC5-285FA5503AE1}"/>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4AF-46F4-AFC5-285FA5503AE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22.93839833537854</c:v>
              </c:pt>
              <c:pt idx="1">
                <c:v>22.141548711672201</c:v>
              </c:pt>
              <c:pt idx="2">
                <c:v>20.724751730367107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34AF-46F4-AFC5-285FA5503AE1}"/>
            </c:ext>
          </c:extLst>
        </c:ser>
        <c:ser>
          <c:idx val="2"/>
          <c:order val="2"/>
          <c:tx>
            <c:v>Chewables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4AF-46F4-AFC5-285FA5503AE1}"/>
                </c:ext>
              </c:extLst>
            </c:dLbl>
            <c:dLbl>
              <c:idx val="1"/>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4AF-46F4-AFC5-285FA5503AE1}"/>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4AF-46F4-AFC5-285FA5503AE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14.968745665048285</c:v>
              </c:pt>
              <c:pt idx="1">
                <c:v>16.318139205525245</c:v>
              </c:pt>
              <c:pt idx="2">
                <c:v>18.759993726634335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34AF-46F4-AFC5-285FA5503AE1}"/>
            </c:ext>
          </c:extLst>
        </c:ser>
        <c:ser>
          <c:idx val="3"/>
          <c:order val="3"/>
          <c:tx>
            <c:v>Gels and Pastes</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4AF-46F4-AFC5-285FA5503AE1}"/>
                </c:ext>
              </c:extLst>
            </c:dLbl>
            <c:dLbl>
              <c:idx val="1"/>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4AF-46F4-AFC5-285FA5503AE1}"/>
                </c:ext>
              </c:extLst>
            </c:dLbl>
            <c:dLbl>
              <c:idx val="2"/>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4AF-46F4-AFC5-285FA5503AE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14.441231393053405</c:v>
              </c:pt>
              <c:pt idx="1">
                <c:v>13.363638000802583</c:v>
              </c:pt>
              <c:pt idx="2">
                <c:v>11.427414172862077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34AF-46F4-AFC5-285FA5503AE1}"/>
            </c:ext>
          </c:extLst>
        </c:ser>
        <c:ser>
          <c:idx val="4"/>
          <c:order val="4"/>
          <c:tx>
            <c:v>Liquids</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34AF-46F4-AFC5-285FA5503AE1}"/>
                </c:ext>
              </c:extLst>
            </c:dLbl>
            <c:dLbl>
              <c:idx val="1"/>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4AF-46F4-AFC5-285FA5503AE1}"/>
                </c:ext>
              </c:extLst>
            </c:dLbl>
            <c:dLbl>
              <c:idx val="2"/>
              <c:numFmt formatCode="&quot;MMM&quot;;&quot;MMM&quot;;&quot;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34AF-46F4-AFC5-285FA5503AE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9.710035746678761</c:v>
              </c:pt>
              <c:pt idx="1">
                <c:v>8.939174672383734</c:v>
              </c:pt>
              <c:pt idx="2">
                <c:v>7.5528000036390281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34AF-46F4-AFC5-285FA5503AE1}"/>
            </c:ext>
          </c:extLst>
        </c:ser>
        <c:ser>
          <c:idx val="5"/>
          <c:order val="5"/>
          <c:tx>
            <c:v>Powders and Granules</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34AF-46F4-AFC5-285FA5503AE1}"/>
                </c:ext>
              </c:extLst>
            </c:dLbl>
            <c:dLbl>
              <c:idx val="1"/>
              <c:numFmt formatCode="&quot;MMM&quot;;&quot;MMM&quot;;&quot;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34AF-46F4-AFC5-285FA5503AE1}"/>
                </c:ext>
              </c:extLst>
            </c:dLbl>
            <c:dLbl>
              <c:idx val="2"/>
              <c:numFmt formatCode="&quot;MMM&quot;;&quot;MMM&quot;;&quot;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34AF-46F4-AFC5-285FA5503AE1}"/>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5.359739636130822</c:v>
              </c:pt>
              <c:pt idx="1">
                <c:v>5.0910957896378566</c:v>
              </c:pt>
              <c:pt idx="2">
                <c:v>4.6095789072516906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34AF-46F4-AFC5-285FA5503AE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Omega-3 Fatty Acids</c:v>
          </c:tx>
          <c:spPr>
            <a:solidFill>
              <a:srgbClr val="3D85C6"/>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A3E-4D80-BB8B-EB09C165F90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A3E-4D80-BB8B-EB09C165F90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A3E-4D80-BB8B-EB09C165F90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3E-4D80-BB8B-EB09C165F90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A3E-4D80-BB8B-EB09C165F90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A3E-4D80-BB8B-EB09C165F90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A3E-4D80-BB8B-EB09C165F90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A3E-4D80-BB8B-EB09C165F90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A3E-4D80-BB8B-EB09C165F90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A3E-4D80-BB8B-EB09C165F90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A3E-4D80-BB8B-EB09C165F90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A3E-4D80-BB8B-EB09C165F9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17.559122423781933</c:v>
              </c:pt>
              <c:pt idx="1">
                <c:v>18.476858149349514</c:v>
              </c:pt>
              <c:pt idx="2">
                <c:v>16.792765398985949</c:v>
              </c:pt>
              <c:pt idx="3">
                <c:v>15.750553496117552</c:v>
              </c:pt>
              <c:pt idx="4">
                <c:v>13.789668681101762</c:v>
              </c:pt>
              <c:pt idx="5">
                <c:v>18.174199140833398</c:v>
              </c:pt>
              <c:pt idx="6">
                <c:v>19.10781417216241</c:v>
              </c:pt>
              <c:pt idx="7">
                <c:v>17.43567021353984</c:v>
              </c:pt>
              <c:pt idx="8">
                <c:v>17.240275680345036</c:v>
              </c:pt>
              <c:pt idx="9">
                <c:v>16.661695800647681</c:v>
              </c:pt>
              <c:pt idx="10">
                <c:v>17.656812146871314</c:v>
              </c:pt>
              <c:pt idx="11">
                <c:v>13.599154598073831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CA3E-4D80-BB8B-EB09C165F90E}"/>
            </c:ext>
          </c:extLst>
        </c:ser>
        <c:ser>
          <c:idx val="1"/>
          <c:order val="1"/>
          <c:tx>
            <c:v>Antioxidant Ingredients</c:v>
          </c:tx>
          <c:spPr>
            <a:solidFill>
              <a:srgbClr val="9E7E0A"/>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A3E-4D80-BB8B-EB09C165F90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A3E-4D80-BB8B-EB09C165F90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A3E-4D80-BB8B-EB09C165F90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A3E-4D80-BB8B-EB09C165F90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A3E-4D80-BB8B-EB09C165F90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CA3E-4D80-BB8B-EB09C165F90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A3E-4D80-BB8B-EB09C165F90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CA3E-4D80-BB8B-EB09C165F90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CA3E-4D80-BB8B-EB09C165F90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A3E-4D80-BB8B-EB09C165F90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CA3E-4D80-BB8B-EB09C165F90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CA3E-4D80-BB8B-EB09C165F9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23.20258334124798</c:v>
              </c:pt>
              <c:pt idx="1">
                <c:v>19.222384988315721</c:v>
              </c:pt>
              <c:pt idx="2">
                <c:v>25.478876370651388</c:v>
              </c:pt>
              <c:pt idx="3">
                <c:v>23.444628056989362</c:v>
              </c:pt>
              <c:pt idx="4">
                <c:v>22.550335570469798</c:v>
              </c:pt>
              <c:pt idx="5">
                <c:v>23.6912555613557</c:v>
              </c:pt>
              <c:pt idx="6">
                <c:v>25.382110549086683</c:v>
              </c:pt>
              <c:pt idx="7">
                <c:v>24.115651432085865</c:v>
              </c:pt>
              <c:pt idx="8">
                <c:v>24.475641814419152</c:v>
              </c:pt>
              <c:pt idx="9">
                <c:v>21.613207796906298</c:v>
              </c:pt>
              <c:pt idx="10">
                <c:v>24.053893293147812</c:v>
              </c:pt>
              <c:pt idx="11">
                <c:v>22.887047577875446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9-CA3E-4D80-BB8B-EB09C165F90E}"/>
            </c:ext>
          </c:extLst>
        </c:ser>
        <c:ser>
          <c:idx val="2"/>
          <c:order val="2"/>
          <c:tx>
            <c:v>Neurofunctional Nutrients</c:v>
          </c:tx>
          <c:spPr>
            <a:solidFill>
              <a:srgbClr val="008189"/>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CA3E-4D80-BB8B-EB09C165F90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CA3E-4D80-BB8B-EB09C165F90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CA3E-4D80-BB8B-EB09C165F90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CA3E-4D80-BB8B-EB09C165F90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CA3E-4D80-BB8B-EB09C165F90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CA3E-4D80-BB8B-EB09C165F90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CA3E-4D80-BB8B-EB09C165F90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CA3E-4D80-BB8B-EB09C165F90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CA3E-4D80-BB8B-EB09C165F90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CA3E-4D80-BB8B-EB09C165F90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CA3E-4D80-BB8B-EB09C165F90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CA3E-4D80-BB8B-EB09C165F9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11.908063443821824</c:v>
              </c:pt>
              <c:pt idx="1">
                <c:v>12.044400265076211</c:v>
              </c:pt>
              <c:pt idx="2">
                <c:v>10.332685508566348</c:v>
              </c:pt>
              <c:pt idx="3">
                <c:v>12.757527228180768</c:v>
              </c:pt>
              <c:pt idx="4">
                <c:v>11.859455191472561</c:v>
              </c:pt>
              <c:pt idx="5">
                <c:v>13.018241725612645</c:v>
              </c:pt>
              <c:pt idx="6">
                <c:v>11.847942411298213</c:v>
              </c:pt>
              <c:pt idx="7">
                <c:v>12.42088973831615</c:v>
              </c:pt>
              <c:pt idx="8">
                <c:v>11.882034167956199</c:v>
              </c:pt>
              <c:pt idx="9">
                <c:v>11.930431406460951</c:v>
              </c:pt>
              <c:pt idx="10">
                <c:v>11.252175609273626</c:v>
              </c:pt>
              <c:pt idx="11">
                <c:v>11.06160386194971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6-CA3E-4D80-BB8B-EB09C165F90E}"/>
            </c:ext>
          </c:extLst>
        </c:ser>
        <c:ser>
          <c:idx val="3"/>
          <c:order val="3"/>
          <c:tx>
            <c:v>Cellular Energy Support Ingredients</c:v>
          </c:tx>
          <c:spPr>
            <a:solidFill>
              <a:srgbClr val="40315E"/>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CA3E-4D80-BB8B-EB09C165F90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CA3E-4D80-BB8B-EB09C165F90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CA3E-4D80-BB8B-EB09C165F90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CA3E-4D80-BB8B-EB09C165F90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CA3E-4D80-BB8B-EB09C165F90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CA3E-4D80-BB8B-EB09C165F90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CA3E-4D80-BB8B-EB09C165F90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CA3E-4D80-BB8B-EB09C165F90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CA3E-4D80-BB8B-EB09C165F90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CA3E-4D80-BB8B-EB09C165F90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CA3E-4D80-BB8B-EB09C165F90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CA3E-4D80-BB8B-EB09C165F9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20.9972457023459</c:v>
              </c:pt>
              <c:pt idx="1">
                <c:v>20.129224652087476</c:v>
              </c:pt>
              <c:pt idx="2">
                <c:v>19.38812831233281</c:v>
              </c:pt>
              <c:pt idx="3">
                <c:v>21.846986237566277</c:v>
              </c:pt>
              <c:pt idx="4">
                <c:v>22.451334689787114</c:v>
              </c:pt>
              <c:pt idx="5">
                <c:v>19.257017245590426</c:v>
              </c:pt>
              <c:pt idx="6">
                <c:v>18.067814903912115</c:v>
              </c:pt>
              <c:pt idx="7">
                <c:v>21.462109739241995</c:v>
              </c:pt>
              <c:pt idx="8">
                <c:v>21.56720174506404</c:v>
              </c:pt>
              <c:pt idx="9">
                <c:v>23.883275830119917</c:v>
              </c:pt>
              <c:pt idx="10">
                <c:v>20.157234561931546</c:v>
              </c:pt>
              <c:pt idx="11">
                <c:v>23.319979825635855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33-CA3E-4D80-BB8B-EB09C165F90E}"/>
            </c:ext>
          </c:extLst>
        </c:ser>
        <c:ser>
          <c:idx val="4"/>
          <c:order val="4"/>
          <c:tx>
            <c:v>Botanical Ingredients</c:v>
          </c:tx>
          <c:spPr>
            <a:solidFill>
              <a:srgbClr val="A35313"/>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CA3E-4D80-BB8B-EB09C165F90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CA3E-4D80-BB8B-EB09C165F90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CA3E-4D80-BB8B-EB09C165F90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CA3E-4D80-BB8B-EB09C165F90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CA3E-4D80-BB8B-EB09C165F90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CA3E-4D80-BB8B-EB09C165F90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CA3E-4D80-BB8B-EB09C165F90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CA3E-4D80-BB8B-EB09C165F90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CA3E-4D80-BB8B-EB09C165F90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CA3E-4D80-BB8B-EB09C165F90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CA3E-4D80-BB8B-EB09C165F90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CA3E-4D80-BB8B-EB09C165F9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12.223383037325481</c:v>
              </c:pt>
              <c:pt idx="1">
                <c:v>13.384604652785045</c:v>
              </c:pt>
              <c:pt idx="2">
                <c:v>12.168587431243322</c:v>
              </c:pt>
              <c:pt idx="3">
                <c:v>11.716890723596482</c:v>
              </c:pt>
              <c:pt idx="4">
                <c:v>12.169212548209785</c:v>
              </c:pt>
              <c:pt idx="5">
                <c:v>11.338221419779988</c:v>
              </c:pt>
              <c:pt idx="6">
                <c:v>12.183175244907478</c:v>
              </c:pt>
              <c:pt idx="7">
                <c:v>11.403781420909578</c:v>
              </c:pt>
              <c:pt idx="8">
                <c:v>11.549552236950859</c:v>
              </c:pt>
              <c:pt idx="9">
                <c:v>12.007200402375428</c:v>
              </c:pt>
              <c:pt idx="10">
                <c:v>11.993977666263257</c:v>
              </c:pt>
              <c:pt idx="11">
                <c:v>12.388884886038861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0-CA3E-4D80-BB8B-EB09C165F90E}"/>
            </c:ext>
          </c:extLst>
        </c:ser>
        <c:ser>
          <c:idx val="5"/>
          <c:order val="5"/>
          <c:tx>
            <c:v>Microbiome-Targeted Ingredients</c:v>
          </c:tx>
          <c:spPr>
            <a:solidFill>
              <a:srgbClr val="808080"/>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CA3E-4D80-BB8B-EB09C165F90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CA3E-4D80-BB8B-EB09C165F90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3-CA3E-4D80-BB8B-EB09C165F90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CA3E-4D80-BB8B-EB09C165F90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CA3E-4D80-BB8B-EB09C165F90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CA3E-4D80-BB8B-EB09C165F90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CA3E-4D80-BB8B-EB09C165F90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CA3E-4D80-BB8B-EB09C165F90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CA3E-4D80-BB8B-EB09C165F90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CA3E-4D80-BB8B-EB09C165F90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CA3E-4D80-BB8B-EB09C165F90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CA3E-4D80-BB8B-EB09C165F9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14.109602051476871</c:v>
              </c:pt>
              <c:pt idx="1">
                <c:v>16.742527292386036</c:v>
              </c:pt>
              <c:pt idx="2">
                <c:v>15.838956978220178</c:v>
              </c:pt>
              <c:pt idx="3">
                <c:v>14.483414257549562</c:v>
              </c:pt>
              <c:pt idx="4">
                <c:v>17.179993318958971</c:v>
              </c:pt>
              <c:pt idx="5">
                <c:v>14.521064906827835</c:v>
              </c:pt>
              <c:pt idx="6">
                <c:v>13.411142718633091</c:v>
              </c:pt>
              <c:pt idx="7">
                <c:v>13.161897455906569</c:v>
              </c:pt>
              <c:pt idx="8">
                <c:v>13.285294355264712</c:v>
              </c:pt>
              <c:pt idx="9">
                <c:v>13.904188763489724</c:v>
              </c:pt>
              <c:pt idx="10">
                <c:v>14.885906722512459</c:v>
              </c:pt>
              <c:pt idx="11">
                <c:v>16.743329250426306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D-CA3E-4D80-BB8B-EB09C165F90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Omega-3 Fatty Acids</c:v>
          </c:tx>
          <c:spPr>
            <a:solidFill>
              <a:srgbClr val="3D85C6"/>
            </a:solidFill>
          </c:spPr>
          <c:invertIfNegative val="0"/>
          <c:xVal>
            <c:numLit>
              <c:formatCode>General</c:formatCode>
              <c:ptCount val="1"/>
              <c:pt idx="0">
                <c:v>92.093256623669774</c:v>
              </c:pt>
            </c:numLit>
          </c:xVal>
          <c:yVal>
            <c:numLit>
              <c:formatCode>General</c:formatCode>
              <c:ptCount val="1"/>
              <c:pt idx="0">
                <c:v>98.388753520641018</c:v>
              </c:pt>
            </c:numLit>
          </c:yVal>
          <c:bubbleSize>
            <c:numLit>
              <c:formatCode>General</c:formatCode>
              <c:ptCount val="1"/>
              <c:pt idx="0">
                <c:v>795.24099999999999</c:v>
              </c:pt>
            </c:numLit>
          </c:bubbleSize>
          <c:bubble3D val="0"/>
          <c:extLst>
            <c:ext xmlns:c16="http://schemas.microsoft.com/office/drawing/2014/chart" uri="{C3380CC4-5D6E-409C-BE32-E72D297353CC}">
              <c16:uniqueId val="{00000000-340A-48EF-BDDA-D3E8A935CC96}"/>
            </c:ext>
          </c:extLst>
        </c:ser>
        <c:ser>
          <c:idx val="1"/>
          <c:order val="1"/>
          <c:tx>
            <c:v>Antioxidant Ingredients</c:v>
          </c:tx>
          <c:spPr>
            <a:solidFill>
              <a:srgbClr val="9E7E0A"/>
            </a:solidFill>
          </c:spPr>
          <c:invertIfNegative val="0"/>
          <c:xVal>
            <c:numLit>
              <c:formatCode>General</c:formatCode>
              <c:ptCount val="1"/>
              <c:pt idx="0">
                <c:v>113.64200166036645</c:v>
              </c:pt>
            </c:numLit>
          </c:xVal>
          <c:yVal>
            <c:numLit>
              <c:formatCode>General</c:formatCode>
              <c:ptCount val="1"/>
              <c:pt idx="0">
                <c:v>129.72513431018206</c:v>
              </c:pt>
            </c:numLit>
          </c:yVal>
          <c:bubbleSize>
            <c:numLit>
              <c:formatCode>General</c:formatCode>
              <c:ptCount val="1"/>
              <c:pt idx="0">
                <c:v>1174.373</c:v>
              </c:pt>
            </c:numLit>
          </c:bubbleSize>
          <c:bubble3D val="0"/>
          <c:extLst>
            <c:ext xmlns:c16="http://schemas.microsoft.com/office/drawing/2014/chart" uri="{C3380CC4-5D6E-409C-BE32-E72D297353CC}">
              <c16:uniqueId val="{00000001-340A-48EF-BDDA-D3E8A935CC96}"/>
            </c:ext>
          </c:extLst>
        </c:ser>
        <c:ser>
          <c:idx val="2"/>
          <c:order val="2"/>
          <c:tx>
            <c:v>Neurofunctional Nutrients</c:v>
          </c:tx>
          <c:spPr>
            <a:solidFill>
              <a:srgbClr val="008189"/>
            </a:solidFill>
          </c:spPr>
          <c:invertIfNegative val="0"/>
          <c:xVal>
            <c:numLit>
              <c:formatCode>General</c:formatCode>
              <c:ptCount val="1"/>
              <c:pt idx="0">
                <c:v>85.232427647829269</c:v>
              </c:pt>
            </c:numLit>
          </c:xVal>
          <c:yVal>
            <c:numLit>
              <c:formatCode>General</c:formatCode>
              <c:ptCount val="1"/>
              <c:pt idx="0">
                <c:v>74.762665727942348</c:v>
              </c:pt>
            </c:numLit>
          </c:yVal>
          <c:bubbleSize>
            <c:numLit>
              <c:formatCode>General</c:formatCode>
              <c:ptCount val="1"/>
              <c:pt idx="0">
                <c:v>582.702</c:v>
              </c:pt>
            </c:numLit>
          </c:bubbleSize>
          <c:bubble3D val="0"/>
          <c:extLst>
            <c:ext xmlns:c16="http://schemas.microsoft.com/office/drawing/2014/chart" uri="{C3380CC4-5D6E-409C-BE32-E72D297353CC}">
              <c16:uniqueId val="{00000002-340A-48EF-BDDA-D3E8A935CC96}"/>
            </c:ext>
          </c:extLst>
        </c:ser>
        <c:ser>
          <c:idx val="3"/>
          <c:order val="3"/>
          <c:tx>
            <c:v>Cellular Energy Support Ingredients</c:v>
          </c:tx>
          <c:spPr>
            <a:solidFill>
              <a:srgbClr val="40315E"/>
            </a:solidFill>
          </c:spPr>
          <c:invertIfNegative val="0"/>
          <c:xVal>
            <c:numLit>
              <c:formatCode>General</c:formatCode>
              <c:ptCount val="1"/>
              <c:pt idx="0">
                <c:v>116.50884884365387</c:v>
              </c:pt>
            </c:numLit>
          </c:xVal>
          <c:yVal>
            <c:numLit>
              <c:formatCode>General</c:formatCode>
              <c:ptCount val="1"/>
              <c:pt idx="0">
                <c:v>121.22218103221849</c:v>
              </c:pt>
            </c:numLit>
          </c:yVal>
          <c:bubbleSize>
            <c:numLit>
              <c:formatCode>General</c:formatCode>
              <c:ptCount val="1"/>
              <c:pt idx="0">
                <c:v>1113.9649999999999</c:v>
              </c:pt>
            </c:numLit>
          </c:bubbleSize>
          <c:bubble3D val="0"/>
          <c:extLst>
            <c:ext xmlns:c16="http://schemas.microsoft.com/office/drawing/2014/chart" uri="{C3380CC4-5D6E-409C-BE32-E72D297353CC}">
              <c16:uniqueId val="{00000003-340A-48EF-BDDA-D3E8A935CC96}"/>
            </c:ext>
          </c:extLst>
        </c:ser>
        <c:ser>
          <c:idx val="4"/>
          <c:order val="4"/>
          <c:tx>
            <c:v>Botanical Ingredients</c:v>
          </c:tx>
          <c:spPr>
            <a:solidFill>
              <a:srgbClr val="A35313"/>
            </a:solidFill>
          </c:spPr>
          <c:invertIfNegative val="0"/>
          <c:xVal>
            <c:numLit>
              <c:formatCode>General</c:formatCode>
              <c:ptCount val="1"/>
              <c:pt idx="0">
                <c:v>85.678948656284987</c:v>
              </c:pt>
            </c:numLit>
          </c:xVal>
          <c:yVal>
            <c:numLit>
              <c:formatCode>General</c:formatCode>
              <c:ptCount val="1"/>
              <c:pt idx="0">
                <c:v>78.385702213488884</c:v>
              </c:pt>
            </c:numLit>
          </c:yVal>
          <c:bubbleSize>
            <c:numLit>
              <c:formatCode>General</c:formatCode>
              <c:ptCount val="1"/>
              <c:pt idx="0">
                <c:v>612.39</c:v>
              </c:pt>
            </c:numLit>
          </c:bubbleSize>
          <c:bubble3D val="0"/>
          <c:extLst>
            <c:ext xmlns:c16="http://schemas.microsoft.com/office/drawing/2014/chart" uri="{C3380CC4-5D6E-409C-BE32-E72D297353CC}">
              <c16:uniqueId val="{00000004-340A-48EF-BDDA-D3E8A935CC96}"/>
            </c:ext>
          </c:extLst>
        </c:ser>
        <c:ser>
          <c:idx val="5"/>
          <c:order val="5"/>
          <c:tx>
            <c:v>Microbiome-Targeted Ingredients</c:v>
          </c:tx>
          <c:spPr>
            <a:solidFill>
              <a:srgbClr val="808080"/>
            </a:solidFill>
          </c:spPr>
          <c:invertIfNegative val="0"/>
          <c:xVal>
            <c:numLit>
              <c:formatCode>General</c:formatCode>
              <c:ptCount val="1"/>
              <c:pt idx="0">
                <c:v>89.545938042622282</c:v>
              </c:pt>
            </c:numLit>
          </c:xVal>
          <c:yVal>
            <c:numLit>
              <c:formatCode>General</c:formatCode>
              <c:ptCount val="1"/>
              <c:pt idx="0">
                <c:v>97.515563195527307</c:v>
              </c:pt>
            </c:numLit>
          </c:yVal>
          <c:bubbleSize>
            <c:numLit>
              <c:formatCode>General</c:formatCode>
              <c:ptCount val="1"/>
              <c:pt idx="0">
                <c:v>777.62599999999998</c:v>
              </c:pt>
            </c:numLit>
          </c:bubbleSize>
          <c:bubble3D val="0"/>
          <c:extLst>
            <c:ext xmlns:c16="http://schemas.microsoft.com/office/drawing/2014/chart" uri="{C3380CC4-5D6E-409C-BE32-E72D297353CC}">
              <c16:uniqueId val="{00000005-340A-48EF-BDDA-D3E8A935CC96}"/>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
          <c:min val="75"/>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150"/>
          <c:min val="60"/>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482.59699999999998</c:v>
              </c:pt>
              <c:pt idx="2">
                <c:v>532.798</c:v>
              </c:pt>
              <c:pt idx="3">
                <c:v>588.50700000000006</c:v>
              </c:pt>
              <c:pt idx="4">
                <c:v>650.33799999999997</c:v>
              </c:pt>
              <c:pt idx="5">
                <c:v>718.98800000000006</c:v>
              </c:pt>
              <c:pt idx="6">
                <c:v>0</c:v>
              </c:pt>
            </c:numLit>
          </c:val>
          <c:extLst>
            <c:ext xmlns:c16="http://schemas.microsoft.com/office/drawing/2014/chart" uri="{C3380CC4-5D6E-409C-BE32-E72D297353CC}">
              <c16:uniqueId val="{00000000-80D8-437C-A848-EDE00CA86EB1}"/>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80D8-437C-A848-EDE00CA86EB1}"/>
              </c:ext>
            </c:extLst>
          </c:dPt>
          <c:dPt>
            <c:idx val="1"/>
            <c:invertIfNegative val="1"/>
            <c:bubble3D val="0"/>
            <c:spPr>
              <a:solidFill>
                <a:srgbClr val="008189"/>
              </a:solidFill>
            </c:spPr>
            <c:extLst>
              <c:ext xmlns:c16="http://schemas.microsoft.com/office/drawing/2014/chart" uri="{C3380CC4-5D6E-409C-BE32-E72D297353CC}">
                <c16:uniqueId val="{00000004-80D8-437C-A848-EDE00CA86EB1}"/>
              </c:ext>
            </c:extLst>
          </c:dPt>
          <c:dPt>
            <c:idx val="2"/>
            <c:invertIfNegative val="1"/>
            <c:bubble3D val="0"/>
            <c:spPr>
              <a:solidFill>
                <a:srgbClr val="008189"/>
              </a:solidFill>
            </c:spPr>
            <c:extLst>
              <c:ext xmlns:c16="http://schemas.microsoft.com/office/drawing/2014/chart" uri="{C3380CC4-5D6E-409C-BE32-E72D297353CC}">
                <c16:uniqueId val="{00000006-80D8-437C-A848-EDE00CA86EB1}"/>
              </c:ext>
            </c:extLst>
          </c:dPt>
          <c:dPt>
            <c:idx val="3"/>
            <c:invertIfNegative val="1"/>
            <c:bubble3D val="0"/>
            <c:spPr>
              <a:solidFill>
                <a:srgbClr val="008189"/>
              </a:solidFill>
            </c:spPr>
            <c:extLst>
              <c:ext xmlns:c16="http://schemas.microsoft.com/office/drawing/2014/chart" uri="{C3380CC4-5D6E-409C-BE32-E72D297353CC}">
                <c16:uniqueId val="{00000008-80D8-437C-A848-EDE00CA86EB1}"/>
              </c:ext>
            </c:extLst>
          </c:dPt>
          <c:dPt>
            <c:idx val="4"/>
            <c:invertIfNegative val="1"/>
            <c:bubble3D val="0"/>
            <c:spPr>
              <a:solidFill>
                <a:srgbClr val="008189"/>
              </a:solidFill>
            </c:spPr>
            <c:extLst>
              <c:ext xmlns:c16="http://schemas.microsoft.com/office/drawing/2014/chart" uri="{C3380CC4-5D6E-409C-BE32-E72D297353CC}">
                <c16:uniqueId val="{0000000A-80D8-437C-A848-EDE00CA86EB1}"/>
              </c:ext>
            </c:extLst>
          </c:dPt>
          <c:dPt>
            <c:idx val="5"/>
            <c:invertIfNegative val="1"/>
            <c:bubble3D val="0"/>
            <c:spPr>
              <a:solidFill>
                <a:srgbClr val="008189"/>
              </a:solidFill>
            </c:spPr>
            <c:extLst>
              <c:ext xmlns:c16="http://schemas.microsoft.com/office/drawing/2014/chart" uri="{C3380CC4-5D6E-409C-BE32-E72D297353CC}">
                <c16:uniqueId val="{0000000C-80D8-437C-A848-EDE00CA86EB1}"/>
              </c:ext>
            </c:extLst>
          </c:dPt>
          <c:dPt>
            <c:idx val="6"/>
            <c:invertIfNegative val="1"/>
            <c:bubble3D val="0"/>
            <c:spPr>
              <a:solidFill>
                <a:srgbClr val="0E72AE"/>
              </a:solidFill>
            </c:spPr>
            <c:extLst>
              <c:ext xmlns:c16="http://schemas.microsoft.com/office/drawing/2014/chart" uri="{C3380CC4-5D6E-409C-BE32-E72D297353CC}">
                <c16:uniqueId val="{0000000E-80D8-437C-A848-EDE00CA86EB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0D8-437C-A848-EDE00CA86EB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0D8-437C-A848-EDE00CA86EB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0D8-437C-A848-EDE00CA86EB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0D8-437C-A848-EDE00CA86EB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0D8-437C-A848-EDE00CA86EB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0D8-437C-A848-EDE00CA86EB1}"/>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0D8-437C-A848-EDE00CA86EB1}"/>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482.59699999999998</c:v>
              </c:pt>
              <c:pt idx="1">
                <c:v>50.201000000000022</c:v>
              </c:pt>
              <c:pt idx="2">
                <c:v>55.70900000000006</c:v>
              </c:pt>
              <c:pt idx="3">
                <c:v>61.830999999999904</c:v>
              </c:pt>
              <c:pt idx="4">
                <c:v>68.650000000000091</c:v>
              </c:pt>
              <c:pt idx="5">
                <c:v>76.252999999999929</c:v>
              </c:pt>
              <c:pt idx="6">
                <c:v>795.24099999999999</c:v>
              </c:pt>
            </c:numLit>
          </c:val>
          <c:extLst>
            <c:ext xmlns:c16="http://schemas.microsoft.com/office/drawing/2014/chart" uri="{C3380CC4-5D6E-409C-BE32-E72D297353CC}">
              <c16:uniqueId val="{0000000F-80D8-437C-A848-EDE00CA86EB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636.30200000000002</c:v>
              </c:pt>
              <c:pt idx="2">
                <c:v>719.16800000000001</c:v>
              </c:pt>
              <c:pt idx="3">
                <c:v>812.87099999999998</c:v>
              </c:pt>
              <c:pt idx="4">
                <c:v>918.846</c:v>
              </c:pt>
              <c:pt idx="5">
                <c:v>1038.7350000000001</c:v>
              </c:pt>
              <c:pt idx="6">
                <c:v>0</c:v>
              </c:pt>
            </c:numLit>
          </c:val>
          <c:extLst>
            <c:ext xmlns:c16="http://schemas.microsoft.com/office/drawing/2014/chart" uri="{C3380CC4-5D6E-409C-BE32-E72D297353CC}">
              <c16:uniqueId val="{00000000-F2DA-41D1-9D83-76A1D2367177}"/>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F2DA-41D1-9D83-76A1D2367177}"/>
              </c:ext>
            </c:extLst>
          </c:dPt>
          <c:dPt>
            <c:idx val="1"/>
            <c:invertIfNegative val="1"/>
            <c:bubble3D val="0"/>
            <c:spPr>
              <a:solidFill>
                <a:srgbClr val="008189"/>
              </a:solidFill>
            </c:spPr>
            <c:extLst>
              <c:ext xmlns:c16="http://schemas.microsoft.com/office/drawing/2014/chart" uri="{C3380CC4-5D6E-409C-BE32-E72D297353CC}">
                <c16:uniqueId val="{00000004-F2DA-41D1-9D83-76A1D2367177}"/>
              </c:ext>
            </c:extLst>
          </c:dPt>
          <c:dPt>
            <c:idx val="2"/>
            <c:invertIfNegative val="1"/>
            <c:bubble3D val="0"/>
            <c:spPr>
              <a:solidFill>
                <a:srgbClr val="008189"/>
              </a:solidFill>
            </c:spPr>
            <c:extLst>
              <c:ext xmlns:c16="http://schemas.microsoft.com/office/drawing/2014/chart" uri="{C3380CC4-5D6E-409C-BE32-E72D297353CC}">
                <c16:uniqueId val="{00000006-F2DA-41D1-9D83-76A1D2367177}"/>
              </c:ext>
            </c:extLst>
          </c:dPt>
          <c:dPt>
            <c:idx val="3"/>
            <c:invertIfNegative val="1"/>
            <c:bubble3D val="0"/>
            <c:spPr>
              <a:solidFill>
                <a:srgbClr val="008189"/>
              </a:solidFill>
            </c:spPr>
            <c:extLst>
              <c:ext xmlns:c16="http://schemas.microsoft.com/office/drawing/2014/chart" uri="{C3380CC4-5D6E-409C-BE32-E72D297353CC}">
                <c16:uniqueId val="{00000008-F2DA-41D1-9D83-76A1D2367177}"/>
              </c:ext>
            </c:extLst>
          </c:dPt>
          <c:dPt>
            <c:idx val="4"/>
            <c:invertIfNegative val="1"/>
            <c:bubble3D val="0"/>
            <c:spPr>
              <a:solidFill>
                <a:srgbClr val="008189"/>
              </a:solidFill>
            </c:spPr>
            <c:extLst>
              <c:ext xmlns:c16="http://schemas.microsoft.com/office/drawing/2014/chart" uri="{C3380CC4-5D6E-409C-BE32-E72D297353CC}">
                <c16:uniqueId val="{0000000A-F2DA-41D1-9D83-76A1D2367177}"/>
              </c:ext>
            </c:extLst>
          </c:dPt>
          <c:dPt>
            <c:idx val="5"/>
            <c:invertIfNegative val="1"/>
            <c:bubble3D val="0"/>
            <c:spPr>
              <a:solidFill>
                <a:srgbClr val="008189"/>
              </a:solidFill>
            </c:spPr>
            <c:extLst>
              <c:ext xmlns:c16="http://schemas.microsoft.com/office/drawing/2014/chart" uri="{C3380CC4-5D6E-409C-BE32-E72D297353CC}">
                <c16:uniqueId val="{0000000C-F2DA-41D1-9D83-76A1D2367177}"/>
              </c:ext>
            </c:extLst>
          </c:dPt>
          <c:dPt>
            <c:idx val="6"/>
            <c:invertIfNegative val="1"/>
            <c:bubble3D val="0"/>
            <c:spPr>
              <a:solidFill>
                <a:srgbClr val="0E72AE"/>
              </a:solidFill>
            </c:spPr>
            <c:extLst>
              <c:ext xmlns:c16="http://schemas.microsoft.com/office/drawing/2014/chart" uri="{C3380CC4-5D6E-409C-BE32-E72D297353CC}">
                <c16:uniqueId val="{0000000E-F2DA-41D1-9D83-76A1D2367177}"/>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2DA-41D1-9D83-76A1D236717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2DA-41D1-9D83-76A1D236717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2DA-41D1-9D83-76A1D236717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2DA-41D1-9D83-76A1D2367177}"/>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2DA-41D1-9D83-76A1D2367177}"/>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2DA-41D1-9D83-76A1D2367177}"/>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2DA-41D1-9D83-76A1D2367177}"/>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636.30200000000002</c:v>
              </c:pt>
              <c:pt idx="1">
                <c:v>82.865999999999985</c:v>
              </c:pt>
              <c:pt idx="2">
                <c:v>93.702999999999975</c:v>
              </c:pt>
              <c:pt idx="3">
                <c:v>105.97500000000002</c:v>
              </c:pt>
              <c:pt idx="4">
                <c:v>119.88900000000012</c:v>
              </c:pt>
              <c:pt idx="5">
                <c:v>135.63799999999992</c:v>
              </c:pt>
              <c:pt idx="6">
                <c:v>1174.373</c:v>
              </c:pt>
            </c:numLit>
          </c:val>
          <c:extLst>
            <c:ext xmlns:c16="http://schemas.microsoft.com/office/drawing/2014/chart" uri="{C3380CC4-5D6E-409C-BE32-E72D297353CC}">
              <c16:uniqueId val="{0000000F-F2DA-41D1-9D83-76A1D2367177}"/>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366.71100000000001</c:v>
              </c:pt>
              <c:pt idx="2">
                <c:v>401.97199999999998</c:v>
              </c:pt>
              <c:pt idx="3">
                <c:v>440.80399999999997</c:v>
              </c:pt>
              <c:pt idx="4">
                <c:v>483.58900000000006</c:v>
              </c:pt>
              <c:pt idx="5">
                <c:v>530.73</c:v>
              </c:pt>
              <c:pt idx="6">
                <c:v>0</c:v>
              </c:pt>
            </c:numLit>
          </c:val>
          <c:extLst>
            <c:ext xmlns:c16="http://schemas.microsoft.com/office/drawing/2014/chart" uri="{C3380CC4-5D6E-409C-BE32-E72D297353CC}">
              <c16:uniqueId val="{00000000-942E-4C48-8781-C221E7AF8AE3}"/>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942E-4C48-8781-C221E7AF8AE3}"/>
              </c:ext>
            </c:extLst>
          </c:dPt>
          <c:dPt>
            <c:idx val="1"/>
            <c:invertIfNegative val="1"/>
            <c:bubble3D val="0"/>
            <c:spPr>
              <a:solidFill>
                <a:srgbClr val="008189"/>
              </a:solidFill>
            </c:spPr>
            <c:extLst>
              <c:ext xmlns:c16="http://schemas.microsoft.com/office/drawing/2014/chart" uri="{C3380CC4-5D6E-409C-BE32-E72D297353CC}">
                <c16:uniqueId val="{00000004-942E-4C48-8781-C221E7AF8AE3}"/>
              </c:ext>
            </c:extLst>
          </c:dPt>
          <c:dPt>
            <c:idx val="2"/>
            <c:invertIfNegative val="1"/>
            <c:bubble3D val="0"/>
            <c:spPr>
              <a:solidFill>
                <a:srgbClr val="008189"/>
              </a:solidFill>
            </c:spPr>
            <c:extLst>
              <c:ext xmlns:c16="http://schemas.microsoft.com/office/drawing/2014/chart" uri="{C3380CC4-5D6E-409C-BE32-E72D297353CC}">
                <c16:uniqueId val="{00000006-942E-4C48-8781-C221E7AF8AE3}"/>
              </c:ext>
            </c:extLst>
          </c:dPt>
          <c:dPt>
            <c:idx val="3"/>
            <c:invertIfNegative val="1"/>
            <c:bubble3D val="0"/>
            <c:spPr>
              <a:solidFill>
                <a:srgbClr val="008189"/>
              </a:solidFill>
            </c:spPr>
            <c:extLst>
              <c:ext xmlns:c16="http://schemas.microsoft.com/office/drawing/2014/chart" uri="{C3380CC4-5D6E-409C-BE32-E72D297353CC}">
                <c16:uniqueId val="{00000008-942E-4C48-8781-C221E7AF8AE3}"/>
              </c:ext>
            </c:extLst>
          </c:dPt>
          <c:dPt>
            <c:idx val="4"/>
            <c:invertIfNegative val="1"/>
            <c:bubble3D val="0"/>
            <c:spPr>
              <a:solidFill>
                <a:srgbClr val="008189"/>
              </a:solidFill>
            </c:spPr>
            <c:extLst>
              <c:ext xmlns:c16="http://schemas.microsoft.com/office/drawing/2014/chart" uri="{C3380CC4-5D6E-409C-BE32-E72D297353CC}">
                <c16:uniqueId val="{0000000A-942E-4C48-8781-C221E7AF8AE3}"/>
              </c:ext>
            </c:extLst>
          </c:dPt>
          <c:dPt>
            <c:idx val="5"/>
            <c:invertIfNegative val="1"/>
            <c:bubble3D val="0"/>
            <c:spPr>
              <a:solidFill>
                <a:srgbClr val="008189"/>
              </a:solidFill>
            </c:spPr>
            <c:extLst>
              <c:ext xmlns:c16="http://schemas.microsoft.com/office/drawing/2014/chart" uri="{C3380CC4-5D6E-409C-BE32-E72D297353CC}">
                <c16:uniqueId val="{0000000C-942E-4C48-8781-C221E7AF8AE3}"/>
              </c:ext>
            </c:extLst>
          </c:dPt>
          <c:dPt>
            <c:idx val="6"/>
            <c:invertIfNegative val="1"/>
            <c:bubble3D val="0"/>
            <c:spPr>
              <a:solidFill>
                <a:srgbClr val="0E72AE"/>
              </a:solidFill>
            </c:spPr>
            <c:extLst>
              <c:ext xmlns:c16="http://schemas.microsoft.com/office/drawing/2014/chart" uri="{C3380CC4-5D6E-409C-BE32-E72D297353CC}">
                <c16:uniqueId val="{0000000E-942E-4C48-8781-C221E7AF8AE3}"/>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42E-4C48-8781-C221E7AF8AE3}"/>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42E-4C48-8781-C221E7AF8AE3}"/>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42E-4C48-8781-C221E7AF8AE3}"/>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42E-4C48-8781-C221E7AF8AE3}"/>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42E-4C48-8781-C221E7AF8AE3}"/>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42E-4C48-8781-C221E7AF8AE3}"/>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42E-4C48-8781-C221E7AF8AE3}"/>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366.71100000000001</c:v>
              </c:pt>
              <c:pt idx="1">
                <c:v>35.260999999999967</c:v>
              </c:pt>
              <c:pt idx="2">
                <c:v>38.831999999999994</c:v>
              </c:pt>
              <c:pt idx="3">
                <c:v>42.785000000000082</c:v>
              </c:pt>
              <c:pt idx="4">
                <c:v>47.140999999999963</c:v>
              </c:pt>
              <c:pt idx="5">
                <c:v>51.97199999999998</c:v>
              </c:pt>
              <c:pt idx="6">
                <c:v>582.702</c:v>
              </c:pt>
            </c:numLit>
          </c:val>
          <c:extLst>
            <c:ext xmlns:c16="http://schemas.microsoft.com/office/drawing/2014/chart" uri="{C3380CC4-5D6E-409C-BE32-E72D297353CC}">
              <c16:uniqueId val="{0000000F-942E-4C48-8781-C221E7AF8AE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594.59500000000003</c:v>
              </c:pt>
              <c:pt idx="2">
                <c:v>674.08299999999997</c:v>
              </c:pt>
              <c:pt idx="3">
                <c:v>764.22</c:v>
              </c:pt>
              <c:pt idx="4">
                <c:v>866.44900000000007</c:v>
              </c:pt>
              <c:pt idx="5">
                <c:v>982.41800000000001</c:v>
              </c:pt>
              <c:pt idx="6">
                <c:v>0</c:v>
              </c:pt>
            </c:numLit>
          </c:val>
          <c:extLst>
            <c:ext xmlns:c16="http://schemas.microsoft.com/office/drawing/2014/chart" uri="{C3380CC4-5D6E-409C-BE32-E72D297353CC}">
              <c16:uniqueId val="{00000000-378A-421D-BACC-F7265A325E5E}"/>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378A-421D-BACC-F7265A325E5E}"/>
              </c:ext>
            </c:extLst>
          </c:dPt>
          <c:dPt>
            <c:idx val="1"/>
            <c:invertIfNegative val="1"/>
            <c:bubble3D val="0"/>
            <c:spPr>
              <a:solidFill>
                <a:srgbClr val="008189"/>
              </a:solidFill>
            </c:spPr>
            <c:extLst>
              <c:ext xmlns:c16="http://schemas.microsoft.com/office/drawing/2014/chart" uri="{C3380CC4-5D6E-409C-BE32-E72D297353CC}">
                <c16:uniqueId val="{00000004-378A-421D-BACC-F7265A325E5E}"/>
              </c:ext>
            </c:extLst>
          </c:dPt>
          <c:dPt>
            <c:idx val="2"/>
            <c:invertIfNegative val="1"/>
            <c:bubble3D val="0"/>
            <c:spPr>
              <a:solidFill>
                <a:srgbClr val="008189"/>
              </a:solidFill>
            </c:spPr>
            <c:extLst>
              <c:ext xmlns:c16="http://schemas.microsoft.com/office/drawing/2014/chart" uri="{C3380CC4-5D6E-409C-BE32-E72D297353CC}">
                <c16:uniqueId val="{00000006-378A-421D-BACC-F7265A325E5E}"/>
              </c:ext>
            </c:extLst>
          </c:dPt>
          <c:dPt>
            <c:idx val="3"/>
            <c:invertIfNegative val="1"/>
            <c:bubble3D val="0"/>
            <c:spPr>
              <a:solidFill>
                <a:srgbClr val="008189"/>
              </a:solidFill>
            </c:spPr>
            <c:extLst>
              <c:ext xmlns:c16="http://schemas.microsoft.com/office/drawing/2014/chart" uri="{C3380CC4-5D6E-409C-BE32-E72D297353CC}">
                <c16:uniqueId val="{00000008-378A-421D-BACC-F7265A325E5E}"/>
              </c:ext>
            </c:extLst>
          </c:dPt>
          <c:dPt>
            <c:idx val="4"/>
            <c:invertIfNegative val="1"/>
            <c:bubble3D val="0"/>
            <c:spPr>
              <a:solidFill>
                <a:srgbClr val="008189"/>
              </a:solidFill>
            </c:spPr>
            <c:extLst>
              <c:ext xmlns:c16="http://schemas.microsoft.com/office/drawing/2014/chart" uri="{C3380CC4-5D6E-409C-BE32-E72D297353CC}">
                <c16:uniqueId val="{0000000A-378A-421D-BACC-F7265A325E5E}"/>
              </c:ext>
            </c:extLst>
          </c:dPt>
          <c:dPt>
            <c:idx val="5"/>
            <c:invertIfNegative val="1"/>
            <c:bubble3D val="0"/>
            <c:spPr>
              <a:solidFill>
                <a:srgbClr val="008189"/>
              </a:solidFill>
            </c:spPr>
            <c:extLst>
              <c:ext xmlns:c16="http://schemas.microsoft.com/office/drawing/2014/chart" uri="{C3380CC4-5D6E-409C-BE32-E72D297353CC}">
                <c16:uniqueId val="{0000000C-378A-421D-BACC-F7265A325E5E}"/>
              </c:ext>
            </c:extLst>
          </c:dPt>
          <c:dPt>
            <c:idx val="6"/>
            <c:invertIfNegative val="1"/>
            <c:bubble3D val="0"/>
            <c:spPr>
              <a:solidFill>
                <a:srgbClr val="0E72AE"/>
              </a:solidFill>
            </c:spPr>
            <c:extLst>
              <c:ext xmlns:c16="http://schemas.microsoft.com/office/drawing/2014/chart" uri="{C3380CC4-5D6E-409C-BE32-E72D297353CC}">
                <c16:uniqueId val="{0000000E-378A-421D-BACC-F7265A325E5E}"/>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78A-421D-BACC-F7265A325E5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78A-421D-BACC-F7265A325E5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78A-421D-BACC-F7265A325E5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78A-421D-BACC-F7265A325E5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78A-421D-BACC-F7265A325E5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78A-421D-BACC-F7265A325E5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78A-421D-BACC-F7265A325E5E}"/>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594.59500000000003</c:v>
              </c:pt>
              <c:pt idx="1">
                <c:v>79.487999999999943</c:v>
              </c:pt>
              <c:pt idx="2">
                <c:v>90.137000000000057</c:v>
              </c:pt>
              <c:pt idx="3">
                <c:v>102.22900000000004</c:v>
              </c:pt>
              <c:pt idx="4">
                <c:v>115.96899999999994</c:v>
              </c:pt>
              <c:pt idx="5">
                <c:v>131.54699999999991</c:v>
              </c:pt>
              <c:pt idx="6">
                <c:v>1113.9649999999999</c:v>
              </c:pt>
            </c:numLit>
          </c:val>
          <c:extLst>
            <c:ext xmlns:c16="http://schemas.microsoft.com/office/drawing/2014/chart" uri="{C3380CC4-5D6E-409C-BE32-E72D297353CC}">
              <c16:uniqueId val="{0000000F-378A-421D-BACC-F7265A325E5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384.48199999999997</c:v>
              </c:pt>
              <c:pt idx="2">
                <c:v>421.589</c:v>
              </c:pt>
              <c:pt idx="3">
                <c:v>462.50600000000003</c:v>
              </c:pt>
              <c:pt idx="4">
                <c:v>507.63499999999999</c:v>
              </c:pt>
              <c:pt idx="5">
                <c:v>557.42700000000002</c:v>
              </c:pt>
              <c:pt idx="6">
                <c:v>0</c:v>
              </c:pt>
            </c:numLit>
          </c:val>
          <c:extLst>
            <c:ext xmlns:c16="http://schemas.microsoft.com/office/drawing/2014/chart" uri="{C3380CC4-5D6E-409C-BE32-E72D297353CC}">
              <c16:uniqueId val="{00000000-030D-40E8-8BDB-7B34EDD9E885}"/>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030D-40E8-8BDB-7B34EDD9E885}"/>
              </c:ext>
            </c:extLst>
          </c:dPt>
          <c:dPt>
            <c:idx val="1"/>
            <c:invertIfNegative val="1"/>
            <c:bubble3D val="0"/>
            <c:spPr>
              <a:solidFill>
                <a:srgbClr val="008189"/>
              </a:solidFill>
            </c:spPr>
            <c:extLst>
              <c:ext xmlns:c16="http://schemas.microsoft.com/office/drawing/2014/chart" uri="{C3380CC4-5D6E-409C-BE32-E72D297353CC}">
                <c16:uniqueId val="{00000004-030D-40E8-8BDB-7B34EDD9E885}"/>
              </c:ext>
            </c:extLst>
          </c:dPt>
          <c:dPt>
            <c:idx val="2"/>
            <c:invertIfNegative val="1"/>
            <c:bubble3D val="0"/>
            <c:spPr>
              <a:solidFill>
                <a:srgbClr val="008189"/>
              </a:solidFill>
            </c:spPr>
            <c:extLst>
              <c:ext xmlns:c16="http://schemas.microsoft.com/office/drawing/2014/chart" uri="{C3380CC4-5D6E-409C-BE32-E72D297353CC}">
                <c16:uniqueId val="{00000006-030D-40E8-8BDB-7B34EDD9E885}"/>
              </c:ext>
            </c:extLst>
          </c:dPt>
          <c:dPt>
            <c:idx val="3"/>
            <c:invertIfNegative val="1"/>
            <c:bubble3D val="0"/>
            <c:spPr>
              <a:solidFill>
                <a:srgbClr val="008189"/>
              </a:solidFill>
            </c:spPr>
            <c:extLst>
              <c:ext xmlns:c16="http://schemas.microsoft.com/office/drawing/2014/chart" uri="{C3380CC4-5D6E-409C-BE32-E72D297353CC}">
                <c16:uniqueId val="{00000008-030D-40E8-8BDB-7B34EDD9E885}"/>
              </c:ext>
            </c:extLst>
          </c:dPt>
          <c:dPt>
            <c:idx val="4"/>
            <c:invertIfNegative val="1"/>
            <c:bubble3D val="0"/>
            <c:spPr>
              <a:solidFill>
                <a:srgbClr val="008189"/>
              </a:solidFill>
            </c:spPr>
            <c:extLst>
              <c:ext xmlns:c16="http://schemas.microsoft.com/office/drawing/2014/chart" uri="{C3380CC4-5D6E-409C-BE32-E72D297353CC}">
                <c16:uniqueId val="{0000000A-030D-40E8-8BDB-7B34EDD9E885}"/>
              </c:ext>
            </c:extLst>
          </c:dPt>
          <c:dPt>
            <c:idx val="5"/>
            <c:invertIfNegative val="1"/>
            <c:bubble3D val="0"/>
            <c:spPr>
              <a:solidFill>
                <a:srgbClr val="008189"/>
              </a:solidFill>
            </c:spPr>
            <c:extLst>
              <c:ext xmlns:c16="http://schemas.microsoft.com/office/drawing/2014/chart" uri="{C3380CC4-5D6E-409C-BE32-E72D297353CC}">
                <c16:uniqueId val="{0000000C-030D-40E8-8BDB-7B34EDD9E885}"/>
              </c:ext>
            </c:extLst>
          </c:dPt>
          <c:dPt>
            <c:idx val="6"/>
            <c:invertIfNegative val="1"/>
            <c:bubble3D val="0"/>
            <c:spPr>
              <a:solidFill>
                <a:srgbClr val="0E72AE"/>
              </a:solidFill>
            </c:spPr>
            <c:extLst>
              <c:ext xmlns:c16="http://schemas.microsoft.com/office/drawing/2014/chart" uri="{C3380CC4-5D6E-409C-BE32-E72D297353CC}">
                <c16:uniqueId val="{0000000E-030D-40E8-8BDB-7B34EDD9E885}"/>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30D-40E8-8BDB-7B34EDD9E88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30D-40E8-8BDB-7B34EDD9E88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30D-40E8-8BDB-7B34EDD9E88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30D-40E8-8BDB-7B34EDD9E88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30D-40E8-8BDB-7B34EDD9E88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030D-40E8-8BDB-7B34EDD9E88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30D-40E8-8BDB-7B34EDD9E885}"/>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384.48199999999997</c:v>
              </c:pt>
              <c:pt idx="1">
                <c:v>37.107000000000028</c:v>
              </c:pt>
              <c:pt idx="2">
                <c:v>40.91700000000003</c:v>
              </c:pt>
              <c:pt idx="3">
                <c:v>45.128999999999962</c:v>
              </c:pt>
              <c:pt idx="4">
                <c:v>49.79200000000003</c:v>
              </c:pt>
              <c:pt idx="5">
                <c:v>54.962999999999965</c:v>
              </c:pt>
              <c:pt idx="6">
                <c:v>612.39</c:v>
              </c:pt>
            </c:numLit>
          </c:val>
          <c:extLst>
            <c:ext xmlns:c16="http://schemas.microsoft.com/office/drawing/2014/chart" uri="{C3380CC4-5D6E-409C-BE32-E72D297353CC}">
              <c16:uniqueId val="{0000000F-030D-40E8-8BDB-7B34EDD9E885}"/>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478.31400000000002</c:v>
              </c:pt>
              <c:pt idx="2">
                <c:v>526.74900000000002</c:v>
              </c:pt>
              <c:pt idx="3">
                <c:v>580.30600000000004</c:v>
              </c:pt>
              <c:pt idx="4">
                <c:v>639.55099999999993</c:v>
              </c:pt>
              <c:pt idx="5">
                <c:v>705.09199999999987</c:v>
              </c:pt>
              <c:pt idx="6">
                <c:v>0</c:v>
              </c:pt>
            </c:numLit>
          </c:val>
          <c:extLst>
            <c:ext xmlns:c16="http://schemas.microsoft.com/office/drawing/2014/chart" uri="{C3380CC4-5D6E-409C-BE32-E72D297353CC}">
              <c16:uniqueId val="{00000000-5297-461B-ACC5-00FDD24D08CE}"/>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5297-461B-ACC5-00FDD24D08CE}"/>
              </c:ext>
            </c:extLst>
          </c:dPt>
          <c:dPt>
            <c:idx val="1"/>
            <c:invertIfNegative val="1"/>
            <c:bubble3D val="0"/>
            <c:spPr>
              <a:solidFill>
                <a:srgbClr val="008189"/>
              </a:solidFill>
            </c:spPr>
            <c:extLst>
              <c:ext xmlns:c16="http://schemas.microsoft.com/office/drawing/2014/chart" uri="{C3380CC4-5D6E-409C-BE32-E72D297353CC}">
                <c16:uniqueId val="{00000004-5297-461B-ACC5-00FDD24D08CE}"/>
              </c:ext>
            </c:extLst>
          </c:dPt>
          <c:dPt>
            <c:idx val="2"/>
            <c:invertIfNegative val="1"/>
            <c:bubble3D val="0"/>
            <c:spPr>
              <a:solidFill>
                <a:srgbClr val="008189"/>
              </a:solidFill>
            </c:spPr>
            <c:extLst>
              <c:ext xmlns:c16="http://schemas.microsoft.com/office/drawing/2014/chart" uri="{C3380CC4-5D6E-409C-BE32-E72D297353CC}">
                <c16:uniqueId val="{00000006-5297-461B-ACC5-00FDD24D08CE}"/>
              </c:ext>
            </c:extLst>
          </c:dPt>
          <c:dPt>
            <c:idx val="3"/>
            <c:invertIfNegative val="1"/>
            <c:bubble3D val="0"/>
            <c:spPr>
              <a:solidFill>
                <a:srgbClr val="008189"/>
              </a:solidFill>
            </c:spPr>
            <c:extLst>
              <c:ext xmlns:c16="http://schemas.microsoft.com/office/drawing/2014/chart" uri="{C3380CC4-5D6E-409C-BE32-E72D297353CC}">
                <c16:uniqueId val="{00000008-5297-461B-ACC5-00FDD24D08CE}"/>
              </c:ext>
            </c:extLst>
          </c:dPt>
          <c:dPt>
            <c:idx val="4"/>
            <c:invertIfNegative val="1"/>
            <c:bubble3D val="0"/>
            <c:spPr>
              <a:solidFill>
                <a:srgbClr val="008189"/>
              </a:solidFill>
            </c:spPr>
            <c:extLst>
              <c:ext xmlns:c16="http://schemas.microsoft.com/office/drawing/2014/chart" uri="{C3380CC4-5D6E-409C-BE32-E72D297353CC}">
                <c16:uniqueId val="{0000000A-5297-461B-ACC5-00FDD24D08CE}"/>
              </c:ext>
            </c:extLst>
          </c:dPt>
          <c:dPt>
            <c:idx val="5"/>
            <c:invertIfNegative val="1"/>
            <c:bubble3D val="0"/>
            <c:spPr>
              <a:solidFill>
                <a:srgbClr val="008189"/>
              </a:solidFill>
            </c:spPr>
            <c:extLst>
              <c:ext xmlns:c16="http://schemas.microsoft.com/office/drawing/2014/chart" uri="{C3380CC4-5D6E-409C-BE32-E72D297353CC}">
                <c16:uniqueId val="{0000000C-5297-461B-ACC5-00FDD24D08CE}"/>
              </c:ext>
            </c:extLst>
          </c:dPt>
          <c:dPt>
            <c:idx val="6"/>
            <c:invertIfNegative val="1"/>
            <c:bubble3D val="0"/>
            <c:spPr>
              <a:solidFill>
                <a:srgbClr val="0E72AE"/>
              </a:solidFill>
            </c:spPr>
            <c:extLst>
              <c:ext xmlns:c16="http://schemas.microsoft.com/office/drawing/2014/chart" uri="{C3380CC4-5D6E-409C-BE32-E72D297353CC}">
                <c16:uniqueId val="{0000000E-5297-461B-ACC5-00FDD24D08CE}"/>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297-461B-ACC5-00FDD24D08C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297-461B-ACC5-00FDD24D08C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297-461B-ACC5-00FDD24D08C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297-461B-ACC5-00FDD24D08C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297-461B-ACC5-00FDD24D08C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297-461B-ACC5-00FDD24D08C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297-461B-ACC5-00FDD24D08CE}"/>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478.31400000000002</c:v>
              </c:pt>
              <c:pt idx="1">
                <c:v>48.435000000000002</c:v>
              </c:pt>
              <c:pt idx="2">
                <c:v>53.557000000000016</c:v>
              </c:pt>
              <c:pt idx="3">
                <c:v>59.244999999999891</c:v>
              </c:pt>
              <c:pt idx="4">
                <c:v>65.54099999999994</c:v>
              </c:pt>
              <c:pt idx="5">
                <c:v>72.534000000000106</c:v>
              </c:pt>
              <c:pt idx="6">
                <c:v>777.62599999999998</c:v>
              </c:pt>
            </c:numLit>
          </c:val>
          <c:extLst>
            <c:ext xmlns:c16="http://schemas.microsoft.com/office/drawing/2014/chart" uri="{C3380CC4-5D6E-409C-BE32-E72D297353CC}">
              <c16:uniqueId val="{0000000F-5297-461B-ACC5-00FDD24D08C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Antioxidant Ingredients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DF5-4360-9A51-1E8BD32F5F20}"/>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DF5-4360-9A51-1E8BD32F5F20}"/>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DF5-4360-9A51-1E8BD32F5F20}"/>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20.778701381849224</c:v>
              </c:pt>
              <c:pt idx="1">
                <c:v>21.620855718363668</c:v>
              </c:pt>
              <c:pt idx="2">
                <c:v>23.225949741480775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6DF5-4360-9A51-1E8BD32F5F20}"/>
            </c:ext>
          </c:extLst>
        </c:ser>
        <c:ser>
          <c:idx val="1"/>
          <c:order val="1"/>
          <c:tx>
            <c:v>Cellular Energy Support Ingredients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DF5-4360-9A51-1E8BD32F5F20}"/>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DF5-4360-9A51-1E8BD32F5F20}"/>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DF5-4360-9A51-1E8BD32F5F20}"/>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19.266029984527556</c:v>
              </c:pt>
              <c:pt idx="1">
                <c:v>20.203696838703078</c:v>
              </c:pt>
              <c:pt idx="2">
                <c:v>22.031241440129012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6DF5-4360-9A51-1E8BD32F5F20}"/>
            </c:ext>
          </c:extLst>
        </c:ser>
        <c:ser>
          <c:idx val="2"/>
          <c:order val="2"/>
          <c:tx>
            <c:v>Omega-3 Fatty Acids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DF5-4360-9A51-1E8BD32F5F20}"/>
                </c:ext>
              </c:extLst>
            </c:dLbl>
            <c:dLbl>
              <c:idx val="1"/>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DF5-4360-9A51-1E8BD32F5F20}"/>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DF5-4360-9A51-1E8BD32F5F20}"/>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16.743445553006456</c:v>
              </c:pt>
              <c:pt idx="1">
                <c:v>16.398125586773499</c:v>
              </c:pt>
              <c:pt idx="2">
                <c:v>15.727735138976213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6DF5-4360-9A51-1E8BD32F5F20}"/>
            </c:ext>
          </c:extLst>
        </c:ser>
        <c:ser>
          <c:idx val="3"/>
          <c:order val="3"/>
          <c:tx>
            <c:v>Microbiome-Targeted Ingredients</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DF5-4360-9A51-1E8BD32F5F20}"/>
                </c:ext>
              </c:extLst>
            </c:dLbl>
            <c:dLbl>
              <c:idx val="1"/>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DF5-4360-9A51-1E8BD32F5F20}"/>
                </c:ext>
              </c:extLst>
            </c:dLbl>
            <c:dLbl>
              <c:idx val="2"/>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6DF5-4360-9A51-1E8BD32F5F20}"/>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16.692397161607001</c:v>
              </c:pt>
              <c:pt idx="1">
                <c:v>16.252593865921213</c:v>
              </c:pt>
              <c:pt idx="2">
                <c:v>15.379357660358956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6DF5-4360-9A51-1E8BD32F5F20}"/>
            </c:ext>
          </c:extLst>
        </c:ser>
        <c:ser>
          <c:idx val="4"/>
          <c:order val="4"/>
          <c:tx>
            <c:v>Botanical Ingredients</c:v>
          </c:tx>
          <c:spPr>
            <a:solidFill>
              <a:srgbClr val="A35313"/>
            </a:solidFill>
            <a:ln>
              <a:noFill/>
            </a:ln>
          </c:spPr>
          <c:invertIfNegative val="1"/>
          <c:dLbls>
            <c:dLbl>
              <c:idx val="0"/>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6DF5-4360-9A51-1E8BD32F5F20}"/>
                </c:ext>
              </c:extLst>
            </c:dLbl>
            <c:dLbl>
              <c:idx val="1"/>
              <c:numFmt formatCode="&quot;MMMM&quot;;&quot;MMMM&quot;;&quot;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6DF5-4360-9A51-1E8BD32F5F20}"/>
                </c:ext>
              </c:extLst>
            </c:dLbl>
            <c:dLbl>
              <c:idx val="2"/>
              <c:numFmt formatCode="&quot;MMMM&quot;;&quot;MMMM&quot;;&quot;M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6DF5-4360-9A51-1E8BD32F5F20}"/>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13.56969535293176</c:v>
              </c:pt>
              <c:pt idx="1">
                <c:v>13.064283702248144</c:v>
              </c:pt>
              <c:pt idx="2">
                <c:v>12.111432536498549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6DF5-4360-9A51-1E8BD32F5F20}"/>
            </c:ext>
          </c:extLst>
        </c:ser>
        <c:ser>
          <c:idx val="5"/>
          <c:order val="5"/>
          <c:tx>
            <c:v>Neurofunctional Nutrients</c:v>
          </c:tx>
          <c:spPr>
            <a:solidFill>
              <a:srgbClr val="808080"/>
            </a:solidFill>
            <a:ln>
              <a:noFill/>
            </a:ln>
          </c:spPr>
          <c:invertIfNegative val="1"/>
          <c:dLbls>
            <c:dLbl>
              <c:idx val="0"/>
              <c:numFmt formatCode="&quot;MMMM&quot;;&quot;MMMM&quot;;&quot;M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6DF5-4360-9A51-1E8BD32F5F20}"/>
                </c:ext>
              </c:extLst>
            </c:dLbl>
            <c:dLbl>
              <c:idx val="1"/>
              <c:numFmt formatCode="&quot;MMMM&quot;;&quot;MMMM&quot;;&quot;M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6DF5-4360-9A51-1E8BD32F5F20}"/>
                </c:ext>
              </c:extLst>
            </c:dLbl>
            <c:dLbl>
              <c:idx val="2"/>
              <c:numFmt formatCode="&quot;MMMM&quot;;&quot;MMMM&quot;;&quot;M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6DF5-4360-9A51-1E8BD32F5F20}"/>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12.949730566077999</c:v>
              </c:pt>
              <c:pt idx="1">
                <c:v>12.460444287990388</c:v>
              </c:pt>
              <c:pt idx="2">
                <c:v>11.524283482556505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6DF5-4360-9A51-1E8BD32F5F20}"/>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Routine Cognitive Wellness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F41-4D4D-80D4-5A203B8F7AF3}"/>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F41-4D4D-80D4-5A203B8F7AF3}"/>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F41-4D4D-80D4-5A203B8F7AF3}"/>
                </c:ext>
              </c:extLst>
            </c:dLbl>
            <c:dLbl>
              <c:idx val="3"/>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F41-4D4D-80D4-5A203B8F7AF3}"/>
                </c:ext>
              </c:extLst>
            </c:dLbl>
            <c:dLbl>
              <c:idx val="4"/>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F41-4D4D-80D4-5A203B8F7AF3}"/>
                </c:ext>
              </c:extLst>
            </c:dLbl>
            <c:dLbl>
              <c:idx val="5"/>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F41-4D4D-80D4-5A203B8F7AF3}"/>
                </c:ext>
              </c:extLst>
            </c:dLbl>
            <c:dLbl>
              <c:idx val="6"/>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F41-4D4D-80D4-5A203B8F7AF3}"/>
                </c:ext>
              </c:extLst>
            </c:dLbl>
            <c:dLbl>
              <c:idx val="7"/>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F41-4D4D-80D4-5A203B8F7AF3}"/>
                </c:ext>
              </c:extLst>
            </c:dLbl>
            <c:dLbl>
              <c:idx val="8"/>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F41-4D4D-80D4-5A203B8F7AF3}"/>
                </c:ext>
              </c:extLst>
            </c:dLbl>
            <c:dLbl>
              <c:idx val="9"/>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F41-4D4D-80D4-5A203B8F7AF3}"/>
                </c:ext>
              </c:extLst>
            </c:dLbl>
            <c:dLbl>
              <c:idx val="10"/>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F41-4D4D-80D4-5A203B8F7AF3}"/>
                </c:ext>
              </c:extLst>
            </c:dLbl>
            <c:dLbl>
              <c:idx val="11"/>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F41-4D4D-80D4-5A203B8F7AF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19.865134390730365</c:v>
              </c:pt>
              <c:pt idx="1">
                <c:v>27.226116982316629</c:v>
              </c:pt>
              <c:pt idx="2">
                <c:v>23.457232808141079</c:v>
              </c:pt>
              <c:pt idx="3">
                <c:v>22.35231064690457</c:v>
              </c:pt>
              <c:pt idx="4">
                <c:v>23.693400953566762</c:v>
              </c:pt>
              <c:pt idx="5">
                <c:v>24.31815025358345</c:v>
              </c:pt>
              <c:pt idx="6">
                <c:v>26.72029782212994</c:v>
              </c:pt>
              <c:pt idx="7">
                <c:v>28.083894903215988</c:v>
              </c:pt>
              <c:pt idx="8">
                <c:v>28.535339411227323</c:v>
              </c:pt>
              <c:pt idx="9">
                <c:v>25.355122786273348</c:v>
              </c:pt>
              <c:pt idx="10">
                <c:v>19.597174008904371</c:v>
              </c:pt>
              <c:pt idx="11">
                <c:v>22.853903979633493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CF41-4D4D-80D4-5A203B8F7AF3}"/>
            </c:ext>
          </c:extLst>
        </c:ser>
        <c:ser>
          <c:idx val="1"/>
          <c:order val="1"/>
          <c:tx>
            <c:v>Preventive Cognitive Support for Senior Dogs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F41-4D4D-80D4-5A203B8F7AF3}"/>
                </c:ext>
              </c:extLst>
            </c:dLbl>
            <c:dLbl>
              <c:idx val="1"/>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F41-4D4D-80D4-5A203B8F7AF3}"/>
                </c:ext>
              </c:extLst>
            </c:dLbl>
            <c:dLbl>
              <c:idx val="2"/>
              <c:numFmt formatCode="&quot;MMM&quot;;&quot;MMM&quot;;&quot;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F41-4D4D-80D4-5A203B8F7AF3}"/>
                </c:ext>
              </c:extLst>
            </c:dLbl>
            <c:dLbl>
              <c:idx val="3"/>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F41-4D4D-80D4-5A203B8F7AF3}"/>
                </c:ext>
              </c:extLst>
            </c:dLbl>
            <c:dLbl>
              <c:idx val="4"/>
              <c:numFmt formatCode="&quot;MMMM&quot;;&quot;MMMM&quot;;&quot;M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F41-4D4D-80D4-5A203B8F7AF3}"/>
                </c:ext>
              </c:extLst>
            </c:dLbl>
            <c:dLbl>
              <c:idx val="5"/>
              <c:numFmt formatCode="&quot;MMMM&quot;;&quot;MMMM&quot;;&quot;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CF41-4D4D-80D4-5A203B8F7AF3}"/>
                </c:ext>
              </c:extLst>
            </c:dLbl>
            <c:dLbl>
              <c:idx val="6"/>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F41-4D4D-80D4-5A203B8F7AF3}"/>
                </c:ext>
              </c:extLst>
            </c:dLbl>
            <c:dLbl>
              <c:idx val="7"/>
              <c:numFmt formatCode="&quot;MMM&quot;;&quot;MMM&quot;;&quot;MMM&quot;" sourceLinked="0"/>
              <c:spPr>
                <a:blipFill>
                  <a:blip xmlns:r="http://schemas.openxmlformats.org/officeDocument/2006/relationships"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CF41-4D4D-80D4-5A203B8F7AF3}"/>
                </c:ext>
              </c:extLst>
            </c:dLbl>
            <c:dLbl>
              <c:idx val="8"/>
              <c:numFmt formatCode="&quot;MMM&quot;;&quot;MMM&quot;;&quot;MMM&quot;" sourceLinked="0"/>
              <c:spPr>
                <a:blipFill>
                  <a:blip xmlns:r="http://schemas.openxmlformats.org/officeDocument/2006/relationships"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CF41-4D4D-80D4-5A203B8F7AF3}"/>
                </c:ext>
              </c:extLst>
            </c:dLbl>
            <c:dLbl>
              <c:idx val="9"/>
              <c:numFmt formatCode="&quot;MMMM&quot;;&quot;MMMM&quot;;&quot;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F41-4D4D-80D4-5A203B8F7AF3}"/>
                </c:ext>
              </c:extLst>
            </c:dLbl>
            <c:dLbl>
              <c:idx val="10"/>
              <c:numFmt formatCode="&quot;MMMM&quot;;&quot;MMMM&quot;;&quot;MMMM&quot;" sourceLinked="0"/>
              <c:spPr>
                <a:blipFill>
                  <a:blip xmlns:r="http://schemas.openxmlformats.org/officeDocument/2006/relationships"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CF41-4D4D-80D4-5A203B8F7AF3}"/>
                </c:ext>
              </c:extLst>
            </c:dLbl>
            <c:dLbl>
              <c:idx val="11"/>
              <c:numFmt formatCode="&quot;MMMM&quot;;&quot;MMMM&quot;;&quot;MMMM&quot;" sourceLinked="0"/>
              <c:spPr>
                <a:blipFill>
                  <a:blip xmlns:r="http://schemas.openxmlformats.org/officeDocument/2006/relationships"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CF41-4D4D-80D4-5A203B8F7AF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13.159844239718874</c:v>
              </c:pt>
              <c:pt idx="1">
                <c:v>9.5627986467161943</c:v>
              </c:pt>
              <c:pt idx="2">
                <c:v>8.5304895977510196</c:v>
              </c:pt>
              <c:pt idx="3">
                <c:v>7.6902463456495527</c:v>
              </c:pt>
              <c:pt idx="4">
                <c:v>13.713747760332836</c:v>
              </c:pt>
              <c:pt idx="5">
                <c:v>11.0341128410446</c:v>
              </c:pt>
              <c:pt idx="6">
                <c:v>9.5895798842006101</c:v>
              </c:pt>
              <c:pt idx="7">
                <c:v>8.3772559237631672</c:v>
              </c:pt>
              <c:pt idx="8">
                <c:v>9.3063867603830683</c:v>
              </c:pt>
              <c:pt idx="9">
                <c:v>11.045381947814732</c:v>
              </c:pt>
              <c:pt idx="10">
                <c:v>10.340583303684149</c:v>
              </c:pt>
              <c:pt idx="11">
                <c:v>12.519393808391571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9-CF41-4D4D-80D4-5A203B8F7AF3}"/>
            </c:ext>
          </c:extLst>
        </c:ser>
        <c:ser>
          <c:idx val="2"/>
          <c:order val="2"/>
          <c:tx>
            <c:v>Support for Observable Age-Related Cognitive Changes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CF41-4D4D-80D4-5A203B8F7AF3}"/>
                </c:ext>
              </c:extLst>
            </c:dLbl>
            <c:dLbl>
              <c:idx val="1"/>
              <c:numFmt formatCode="&quot;MMMM&quot;;&quot;MMMM&quot;;&quot;MMMM&quot;" sourceLinked="0"/>
              <c:spPr>
                <a:blipFill>
                  <a:blip xmlns:r="http://schemas.openxmlformats.org/officeDocument/2006/relationships"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CF41-4D4D-80D4-5A203B8F7AF3}"/>
                </c:ext>
              </c:extLst>
            </c:dLbl>
            <c:dLbl>
              <c:idx val="2"/>
              <c:numFmt formatCode="&quot;MMMM&quot;;&quot;MMMM&quot;;&quot;MMMM&quot;" sourceLinked="0"/>
              <c:spPr>
                <a:blipFill>
                  <a:blip xmlns:r="http://schemas.openxmlformats.org/officeDocument/2006/relationships"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CF41-4D4D-80D4-5A203B8F7AF3}"/>
                </c:ext>
              </c:extLst>
            </c:dLbl>
            <c:dLbl>
              <c:idx val="3"/>
              <c:numFmt formatCode="&quot;MMMM&quot;;&quot;MMMM&quot;;&quot;MMMM&quot;" sourceLinked="0"/>
              <c:spPr>
                <a:blipFill>
                  <a:blip xmlns:r="http://schemas.openxmlformats.org/officeDocument/2006/relationships"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CF41-4D4D-80D4-5A203B8F7AF3}"/>
                </c:ext>
              </c:extLst>
            </c:dLbl>
            <c:dLbl>
              <c:idx val="4"/>
              <c:numFmt formatCode="&quot;MMMM&quot;;&quot;MMMM&quot;;&quot;MMMM&quot;" sourceLinked="0"/>
              <c:spPr>
                <a:blipFill>
                  <a:blip xmlns:r="http://schemas.openxmlformats.org/officeDocument/2006/relationships"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CF41-4D4D-80D4-5A203B8F7AF3}"/>
                </c:ext>
              </c:extLst>
            </c:dLbl>
            <c:dLbl>
              <c:idx val="5"/>
              <c:numFmt formatCode="&quot;MMMM&quot;;&quot;MMMM&quot;;&quot;MMMM&quot;" sourceLinked="0"/>
              <c:spPr>
                <a:blipFill>
                  <a:blip xmlns:r="http://schemas.openxmlformats.org/officeDocument/2006/relationships"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CF41-4D4D-80D4-5A203B8F7AF3}"/>
                </c:ext>
              </c:extLst>
            </c:dLbl>
            <c:dLbl>
              <c:idx val="6"/>
              <c:numFmt formatCode="&quot;MMMM&quot;;&quot;MMMM&quot;;&quot;MMMM&quot;" sourceLinked="0"/>
              <c:spPr>
                <a:blipFill>
                  <a:blip xmlns:r="http://schemas.openxmlformats.org/officeDocument/2006/relationships"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CF41-4D4D-80D4-5A203B8F7AF3}"/>
                </c:ext>
              </c:extLst>
            </c:dLbl>
            <c:dLbl>
              <c:idx val="7"/>
              <c:numFmt formatCode="&quot;MMMM&quot;;&quot;MMMM&quot;;&quot;MMMM&quot;" sourceLinked="0"/>
              <c:spPr>
                <a:blipFill>
                  <a:blip xmlns:r="http://schemas.openxmlformats.org/officeDocument/2006/relationships"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CF41-4D4D-80D4-5A203B8F7AF3}"/>
                </c:ext>
              </c:extLst>
            </c:dLbl>
            <c:dLbl>
              <c:idx val="8"/>
              <c:numFmt formatCode="&quot;MMMM&quot;;&quot;MMMM&quot;;&quot;MMMM&quot;" sourceLinked="0"/>
              <c:spPr>
                <a:blipFill>
                  <a:blip xmlns:r="http://schemas.openxmlformats.org/officeDocument/2006/relationships"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CF41-4D4D-80D4-5A203B8F7AF3}"/>
                </c:ext>
              </c:extLst>
            </c:dLbl>
            <c:dLbl>
              <c:idx val="9"/>
              <c:numFmt formatCode="&quot;MMMM&quot;;&quot;MMMM&quot;;&quot;MMMM&quot;" sourceLinked="0"/>
              <c:spPr>
                <a:blipFill>
                  <a:blip xmlns:r="http://schemas.openxmlformats.org/officeDocument/2006/relationships"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CF41-4D4D-80D4-5A203B8F7AF3}"/>
                </c:ext>
              </c:extLst>
            </c:dLbl>
            <c:dLbl>
              <c:idx val="10"/>
              <c:numFmt formatCode="&quot;MMMM&quot;;&quot;MMMM&quot;;&quot;MMMM&quot;" sourceLinked="0"/>
              <c:spPr>
                <a:blipFill>
                  <a:blip xmlns:r="http://schemas.openxmlformats.org/officeDocument/2006/relationships"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CF41-4D4D-80D4-5A203B8F7AF3}"/>
                </c:ext>
              </c:extLst>
            </c:dLbl>
            <c:dLbl>
              <c:idx val="11"/>
              <c:numFmt formatCode="&quot;MMMM&quot;;&quot;MMMM&quot;;&quot;MMMM&quot;" sourceLinked="0"/>
              <c:spPr>
                <a:blipFill>
                  <a:blip xmlns:r="http://schemas.openxmlformats.org/officeDocument/2006/relationships"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CF41-4D4D-80D4-5A203B8F7AF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53.497958020704729</c:v>
              </c:pt>
              <c:pt idx="1">
                <c:v>54.014509434620351</c:v>
              </c:pt>
              <c:pt idx="2">
                <c:v>57.335360475039622</c:v>
              </c:pt>
              <c:pt idx="3">
                <c:v>60.964327414487244</c:v>
              </c:pt>
              <c:pt idx="4">
                <c:v>50.784414953384548</c:v>
              </c:pt>
              <c:pt idx="5">
                <c:v>54.902852873706344</c:v>
              </c:pt>
              <c:pt idx="6">
                <c:v>51.916726883569474</c:v>
              </c:pt>
              <c:pt idx="7">
                <c:v>52.505075621804984</c:v>
              </c:pt>
              <c:pt idx="8">
                <c:v>46.940544773197608</c:v>
              </c:pt>
              <c:pt idx="9">
                <c:v>53.135792882543441</c:v>
              </c:pt>
              <c:pt idx="10">
                <c:v>60.930659365869133</c:v>
              </c:pt>
              <c:pt idx="11">
                <c:v>55.761125921656209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6-CF41-4D4D-80D4-5A203B8F7AF3}"/>
            </c:ext>
          </c:extLst>
        </c:ser>
        <c:ser>
          <c:idx val="3"/>
          <c:order val="3"/>
          <c:tx>
            <c:v>Veterinary-Guided Cognitive Dysfunction Support</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CF41-4D4D-80D4-5A203B8F7AF3}"/>
                </c:ext>
              </c:extLst>
            </c:dLbl>
            <c:dLbl>
              <c:idx val="1"/>
              <c:numFmt formatCode="&quot;MMM&quot;;&quot;MMM&quot;;&quot;MMM&quot;" sourceLinked="0"/>
              <c:spPr>
                <a:blipFill>
                  <a:blip xmlns:r="http://schemas.openxmlformats.org/officeDocument/2006/relationships"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CF41-4D4D-80D4-5A203B8F7AF3}"/>
                </c:ext>
              </c:extLst>
            </c:dLbl>
            <c:dLbl>
              <c:idx val="2"/>
              <c:numFmt formatCode="&quot;MMMM&quot;;&quot;MMMM&quot;;&quot;MMMM&quot;" sourceLinked="0"/>
              <c:spPr>
                <a:blipFill>
                  <a:blip xmlns:r="http://schemas.openxmlformats.org/officeDocument/2006/relationships"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CF41-4D4D-80D4-5A203B8F7AF3}"/>
                </c:ext>
              </c:extLst>
            </c:dLbl>
            <c:dLbl>
              <c:idx val="3"/>
              <c:numFmt formatCode="&quot;MMM&quot;;&quot;MMM&quot;;&quot;MMM&quot;" sourceLinked="0"/>
              <c:spPr>
                <a:blipFill>
                  <a:blip xmlns:r="http://schemas.openxmlformats.org/officeDocument/2006/relationships"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CF41-4D4D-80D4-5A203B8F7AF3}"/>
                </c:ext>
              </c:extLst>
            </c:dLbl>
            <c:dLbl>
              <c:idx val="4"/>
              <c:numFmt formatCode="&quot;MMMM&quot;;&quot;MMMM&quot;;&quot;MMMM&quot;" sourceLinked="0"/>
              <c:spPr>
                <a:blipFill>
                  <a:blip xmlns:r="http://schemas.openxmlformats.org/officeDocument/2006/relationships" r:embed="rId3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CF41-4D4D-80D4-5A203B8F7AF3}"/>
                </c:ext>
              </c:extLst>
            </c:dLbl>
            <c:dLbl>
              <c:idx val="5"/>
              <c:numFmt formatCode="&quot;MMM&quot;;&quot;MMM&quot;;&quot;MMM&quot;" sourceLinked="0"/>
              <c:spPr>
                <a:blipFill>
                  <a:blip xmlns:r="http://schemas.openxmlformats.org/officeDocument/2006/relationships" r:embed="rId4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CF41-4D4D-80D4-5A203B8F7AF3}"/>
                </c:ext>
              </c:extLst>
            </c:dLbl>
            <c:dLbl>
              <c:idx val="6"/>
              <c:numFmt formatCode="&quot;MMMM&quot;;&quot;MMMM&quot;;&quot;MMMM&quot;" sourceLinked="0"/>
              <c:spPr>
                <a:blipFill>
                  <a:blip xmlns:r="http://schemas.openxmlformats.org/officeDocument/2006/relationships" r:embed="rId3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CF41-4D4D-80D4-5A203B8F7AF3}"/>
                </c:ext>
              </c:extLst>
            </c:dLbl>
            <c:dLbl>
              <c:idx val="7"/>
              <c:numFmt formatCode="&quot;MMMM&quot;;&quot;MMMM&quot;;&quot;M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CF41-4D4D-80D4-5A203B8F7AF3}"/>
                </c:ext>
              </c:extLst>
            </c:dLbl>
            <c:dLbl>
              <c:idx val="8"/>
              <c:numFmt formatCode="&quot;MMMM&quot;;&quot;MMMM&quot;;&quot;MMMM&quot;" sourceLinked="0"/>
              <c:spPr>
                <a:blipFill>
                  <a:blip xmlns:r="http://schemas.openxmlformats.org/officeDocument/2006/relationships" r:embed="rId4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CF41-4D4D-80D4-5A203B8F7AF3}"/>
                </c:ext>
              </c:extLst>
            </c:dLbl>
            <c:dLbl>
              <c:idx val="9"/>
              <c:numFmt formatCode="&quot;MMMM&quot;;&quot;MMMM&quot;;&quot;MMMM&quot;" sourceLinked="0"/>
              <c:spPr>
                <a:blipFill>
                  <a:blip xmlns:r="http://schemas.openxmlformats.org/officeDocument/2006/relationships" r:embed="rId4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CF41-4D4D-80D4-5A203B8F7AF3}"/>
                </c:ext>
              </c:extLst>
            </c:dLbl>
            <c:dLbl>
              <c:idx val="10"/>
              <c:numFmt formatCode="&quot;MMM&quot;;&quot;MMM&quot;;&quot;MMM&quot;" sourceLinked="0"/>
              <c:spPr>
                <a:blipFill>
                  <a:blip xmlns:r="http://schemas.openxmlformats.org/officeDocument/2006/relationships" r:embed="rId4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CF41-4D4D-80D4-5A203B8F7AF3}"/>
                </c:ext>
              </c:extLst>
            </c:dLbl>
            <c:dLbl>
              <c:idx val="11"/>
              <c:numFmt formatCode="&quot;MMM&quot;;&quot;MMM&quot;;&quot;MMM&quot;" sourceLinked="0"/>
              <c:spPr>
                <a:blipFill>
                  <a:blip xmlns:r="http://schemas.openxmlformats.org/officeDocument/2006/relationships" r:embed="rId4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CF41-4D4D-80D4-5A203B8F7AF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13.477063348846045</c:v>
              </c:pt>
              <c:pt idx="1">
                <c:v>9.196574936346833</c:v>
              </c:pt>
              <c:pt idx="2">
                <c:v>10.67691711906828</c:v>
              </c:pt>
              <c:pt idx="3">
                <c:v>8.9931155929586364</c:v>
              </c:pt>
              <c:pt idx="4">
                <c:v>11.808436332715843</c:v>
              </c:pt>
              <c:pt idx="5">
                <c:v>9.7448840316656042</c:v>
              </c:pt>
              <c:pt idx="6">
                <c:v>11.773395410099976</c:v>
              </c:pt>
              <c:pt idx="7">
                <c:v>11.033773551215834</c:v>
              </c:pt>
              <c:pt idx="8">
                <c:v>15.217729055192001</c:v>
              </c:pt>
              <c:pt idx="9">
                <c:v>10.463702383368483</c:v>
              </c:pt>
              <c:pt idx="10">
                <c:v>9.1315833215423439</c:v>
              </c:pt>
              <c:pt idx="11">
                <c:v>8.8655762903187068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33-CF41-4D4D-80D4-5A203B8F7AF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Routine Cognitive Wellness</c:v>
          </c:tx>
          <c:spPr>
            <a:solidFill>
              <a:srgbClr val="3D85C6"/>
            </a:solidFill>
          </c:spPr>
          <c:invertIfNegative val="0"/>
          <c:xVal>
            <c:numLit>
              <c:formatCode>General</c:formatCode>
              <c:ptCount val="1"/>
              <c:pt idx="0">
                <c:v>104.74379382986388</c:v>
              </c:pt>
            </c:numLit>
          </c:xVal>
          <c:yVal>
            <c:numLit>
              <c:formatCode>General</c:formatCode>
              <c:ptCount val="1"/>
              <c:pt idx="0">
                <c:v>92.322224831048288</c:v>
              </c:pt>
            </c:numLit>
          </c:yVal>
          <c:bubbleSize>
            <c:numLit>
              <c:formatCode>General</c:formatCode>
              <c:ptCount val="1"/>
              <c:pt idx="0">
                <c:v>1196.5170000000001</c:v>
              </c:pt>
            </c:numLit>
          </c:bubbleSize>
          <c:bubble3D val="0"/>
          <c:extLst>
            <c:ext xmlns:c16="http://schemas.microsoft.com/office/drawing/2014/chart" uri="{C3380CC4-5D6E-409C-BE32-E72D297353CC}">
              <c16:uniqueId val="{00000000-FCB0-4A72-B554-DDB99260A15F}"/>
            </c:ext>
          </c:extLst>
        </c:ser>
        <c:ser>
          <c:idx val="1"/>
          <c:order val="1"/>
          <c:tx>
            <c:v>Preventive Cognitive Support for Senior Dogs</c:v>
          </c:tx>
          <c:spPr>
            <a:solidFill>
              <a:srgbClr val="9E7E0A"/>
            </a:solidFill>
          </c:spPr>
          <c:invertIfNegative val="0"/>
          <c:xVal>
            <c:numLit>
              <c:formatCode>General</c:formatCode>
              <c:ptCount val="1"/>
              <c:pt idx="0">
                <c:v>160.0325714621311</c:v>
              </c:pt>
            </c:numLit>
          </c:xVal>
          <c:yVal>
            <c:numLit>
              <c:formatCode>General</c:formatCode>
              <c:ptCount val="1"/>
              <c:pt idx="0">
                <c:v>32.576407551339607</c:v>
              </c:pt>
            </c:numLit>
          </c:yVal>
          <c:bubbleSize>
            <c:numLit>
              <c:formatCode>General</c:formatCode>
              <c:ptCount val="1"/>
              <c:pt idx="0">
                <c:v>562.21199999999999</c:v>
              </c:pt>
            </c:numLit>
          </c:bubbleSize>
          <c:bubble3D val="0"/>
          <c:extLst>
            <c:ext xmlns:c16="http://schemas.microsoft.com/office/drawing/2014/chart" uri="{C3380CC4-5D6E-409C-BE32-E72D297353CC}">
              <c16:uniqueId val="{00000001-FCB0-4A72-B554-DDB99260A15F}"/>
            </c:ext>
          </c:extLst>
        </c:ser>
        <c:ser>
          <c:idx val="2"/>
          <c:order val="2"/>
          <c:tx>
            <c:v>Support for Observable Age-Related Cognitive Changes</c:v>
          </c:tx>
          <c:spPr>
            <a:solidFill>
              <a:srgbClr val="008189"/>
            </a:solidFill>
          </c:spPr>
          <c:invertIfNegative val="0"/>
          <c:xVal>
            <c:numLit>
              <c:formatCode>General</c:formatCode>
              <c:ptCount val="1"/>
              <c:pt idx="0">
                <c:v>79.151965564174986</c:v>
              </c:pt>
            </c:numLit>
          </c:xVal>
          <c:yVal>
            <c:numLit>
              <c:formatCode>General</c:formatCode>
              <c:ptCount val="1"/>
              <c:pt idx="0">
                <c:v>246.72896815189662</c:v>
              </c:pt>
            </c:numLit>
          </c:yVal>
          <c:bubbleSize>
            <c:numLit>
              <c:formatCode>General</c:formatCode>
              <c:ptCount val="1"/>
              <c:pt idx="0">
                <c:v>2792.7339999999999</c:v>
              </c:pt>
            </c:numLit>
          </c:bubbleSize>
          <c:bubble3D val="0"/>
          <c:extLst>
            <c:ext xmlns:c16="http://schemas.microsoft.com/office/drawing/2014/chart" uri="{C3380CC4-5D6E-409C-BE32-E72D297353CC}">
              <c16:uniqueId val="{00000002-FCB0-4A72-B554-DDB99260A15F}"/>
            </c:ext>
          </c:extLst>
        </c:ser>
        <c:ser>
          <c:idx val="3"/>
          <c:order val="3"/>
          <c:tx>
            <c:v>Veterinary-Guided Cognitive Dysfunction Support</c:v>
          </c:tx>
          <c:spPr>
            <a:solidFill>
              <a:srgbClr val="40315E"/>
            </a:solidFill>
          </c:spPr>
          <c:invertIfNegative val="0"/>
          <c:xVal>
            <c:numLit>
              <c:formatCode>General</c:formatCode>
              <c:ptCount val="1"/>
              <c:pt idx="0">
                <c:v>166.01859474557904</c:v>
              </c:pt>
            </c:numLit>
          </c:xVal>
          <c:yVal>
            <c:numLit>
              <c:formatCode>General</c:formatCode>
              <c:ptCount val="1"/>
              <c:pt idx="0">
                <c:v>28.372399465715436</c:v>
              </c:pt>
            </c:numLit>
          </c:yVal>
          <c:bubbleSize>
            <c:numLit>
              <c:formatCode>General</c:formatCode>
              <c:ptCount val="1"/>
              <c:pt idx="0">
                <c:v>504.834</c:v>
              </c:pt>
            </c:numLit>
          </c:bubbleSize>
          <c:bubble3D val="0"/>
          <c:extLst>
            <c:ext xmlns:c16="http://schemas.microsoft.com/office/drawing/2014/chart" uri="{C3380CC4-5D6E-409C-BE32-E72D297353CC}">
              <c16:uniqueId val="{00000003-FCB0-4A72-B554-DDB99260A15F}"/>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
          <c:min val="50"/>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325"/>
          <c:min val="0"/>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679.26099999999997</c:v>
              </c:pt>
              <c:pt idx="2">
                <c:v>759.68700000000001</c:v>
              </c:pt>
              <c:pt idx="3">
                <c:v>850.19200000000001</c:v>
              </c:pt>
              <c:pt idx="4">
                <c:v>952.11800000000005</c:v>
              </c:pt>
              <c:pt idx="5">
                <c:v>1066.9829999999999</c:v>
              </c:pt>
              <c:pt idx="6">
                <c:v>0</c:v>
              </c:pt>
            </c:numLit>
          </c:val>
          <c:extLst>
            <c:ext xmlns:c16="http://schemas.microsoft.com/office/drawing/2014/chart" uri="{C3380CC4-5D6E-409C-BE32-E72D297353CC}">
              <c16:uniqueId val="{00000000-16DE-4CA8-B428-F030BDC4C1AB}"/>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16DE-4CA8-B428-F030BDC4C1AB}"/>
              </c:ext>
            </c:extLst>
          </c:dPt>
          <c:dPt>
            <c:idx val="1"/>
            <c:invertIfNegative val="1"/>
            <c:bubble3D val="0"/>
            <c:spPr>
              <a:solidFill>
                <a:srgbClr val="008189"/>
              </a:solidFill>
            </c:spPr>
            <c:extLst>
              <c:ext xmlns:c16="http://schemas.microsoft.com/office/drawing/2014/chart" uri="{C3380CC4-5D6E-409C-BE32-E72D297353CC}">
                <c16:uniqueId val="{00000004-16DE-4CA8-B428-F030BDC4C1AB}"/>
              </c:ext>
            </c:extLst>
          </c:dPt>
          <c:dPt>
            <c:idx val="2"/>
            <c:invertIfNegative val="1"/>
            <c:bubble3D val="0"/>
            <c:spPr>
              <a:solidFill>
                <a:srgbClr val="008189"/>
              </a:solidFill>
            </c:spPr>
            <c:extLst>
              <c:ext xmlns:c16="http://schemas.microsoft.com/office/drawing/2014/chart" uri="{C3380CC4-5D6E-409C-BE32-E72D297353CC}">
                <c16:uniqueId val="{00000006-16DE-4CA8-B428-F030BDC4C1AB}"/>
              </c:ext>
            </c:extLst>
          </c:dPt>
          <c:dPt>
            <c:idx val="3"/>
            <c:invertIfNegative val="1"/>
            <c:bubble3D val="0"/>
            <c:spPr>
              <a:solidFill>
                <a:srgbClr val="008189"/>
              </a:solidFill>
            </c:spPr>
            <c:extLst>
              <c:ext xmlns:c16="http://schemas.microsoft.com/office/drawing/2014/chart" uri="{C3380CC4-5D6E-409C-BE32-E72D297353CC}">
                <c16:uniqueId val="{00000008-16DE-4CA8-B428-F030BDC4C1AB}"/>
              </c:ext>
            </c:extLst>
          </c:dPt>
          <c:dPt>
            <c:idx val="4"/>
            <c:invertIfNegative val="1"/>
            <c:bubble3D val="0"/>
            <c:spPr>
              <a:solidFill>
                <a:srgbClr val="008189"/>
              </a:solidFill>
            </c:spPr>
            <c:extLst>
              <c:ext xmlns:c16="http://schemas.microsoft.com/office/drawing/2014/chart" uri="{C3380CC4-5D6E-409C-BE32-E72D297353CC}">
                <c16:uniqueId val="{0000000A-16DE-4CA8-B428-F030BDC4C1AB}"/>
              </c:ext>
            </c:extLst>
          </c:dPt>
          <c:dPt>
            <c:idx val="5"/>
            <c:invertIfNegative val="1"/>
            <c:bubble3D val="0"/>
            <c:spPr>
              <a:solidFill>
                <a:srgbClr val="008189"/>
              </a:solidFill>
            </c:spPr>
            <c:extLst>
              <c:ext xmlns:c16="http://schemas.microsoft.com/office/drawing/2014/chart" uri="{C3380CC4-5D6E-409C-BE32-E72D297353CC}">
                <c16:uniqueId val="{0000000C-16DE-4CA8-B428-F030BDC4C1AB}"/>
              </c:ext>
            </c:extLst>
          </c:dPt>
          <c:dPt>
            <c:idx val="6"/>
            <c:invertIfNegative val="1"/>
            <c:bubble3D val="0"/>
            <c:spPr>
              <a:solidFill>
                <a:srgbClr val="0E72AE"/>
              </a:solidFill>
            </c:spPr>
            <c:extLst>
              <c:ext xmlns:c16="http://schemas.microsoft.com/office/drawing/2014/chart" uri="{C3380CC4-5D6E-409C-BE32-E72D297353CC}">
                <c16:uniqueId val="{0000000E-16DE-4CA8-B428-F030BDC4C1AB}"/>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6DE-4CA8-B428-F030BDC4C1AB}"/>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6DE-4CA8-B428-F030BDC4C1AB}"/>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6DE-4CA8-B428-F030BDC4C1AB}"/>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6DE-4CA8-B428-F030BDC4C1AB}"/>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6DE-4CA8-B428-F030BDC4C1AB}"/>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6DE-4CA8-B428-F030BDC4C1AB}"/>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16DE-4CA8-B428-F030BDC4C1AB}"/>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679.26099999999997</c:v>
              </c:pt>
              <c:pt idx="1">
                <c:v>80.426000000000045</c:v>
              </c:pt>
              <c:pt idx="2">
                <c:v>90.504999999999995</c:v>
              </c:pt>
              <c:pt idx="3">
                <c:v>101.92600000000004</c:v>
              </c:pt>
              <c:pt idx="4">
                <c:v>114.8649999999999</c:v>
              </c:pt>
              <c:pt idx="5">
                <c:v>129.53400000000011</c:v>
              </c:pt>
              <c:pt idx="6">
                <c:v>1196.5170000000001</c:v>
              </c:pt>
            </c:numLit>
          </c:val>
          <c:extLst>
            <c:ext xmlns:c16="http://schemas.microsoft.com/office/drawing/2014/chart" uri="{C3380CC4-5D6E-409C-BE32-E72D297353CC}">
              <c16:uniqueId val="{0000000F-16DE-4CA8-B428-F030BDC4C1AB}"/>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239.68100000000001</c:v>
              </c:pt>
              <c:pt idx="2">
                <c:v>284.49099999999999</c:v>
              </c:pt>
              <c:pt idx="3">
                <c:v>337.488</c:v>
              </c:pt>
              <c:pt idx="4">
                <c:v>400.18200000000002</c:v>
              </c:pt>
              <c:pt idx="5">
                <c:v>474.37599999999998</c:v>
              </c:pt>
              <c:pt idx="6">
                <c:v>0</c:v>
              </c:pt>
            </c:numLit>
          </c:val>
          <c:extLst>
            <c:ext xmlns:c16="http://schemas.microsoft.com/office/drawing/2014/chart" uri="{C3380CC4-5D6E-409C-BE32-E72D297353CC}">
              <c16:uniqueId val="{00000000-DF60-4D50-80FD-1A64BBD756F7}"/>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DF60-4D50-80FD-1A64BBD756F7}"/>
              </c:ext>
            </c:extLst>
          </c:dPt>
          <c:dPt>
            <c:idx val="1"/>
            <c:invertIfNegative val="1"/>
            <c:bubble3D val="0"/>
            <c:spPr>
              <a:solidFill>
                <a:srgbClr val="008189"/>
              </a:solidFill>
            </c:spPr>
            <c:extLst>
              <c:ext xmlns:c16="http://schemas.microsoft.com/office/drawing/2014/chart" uri="{C3380CC4-5D6E-409C-BE32-E72D297353CC}">
                <c16:uniqueId val="{00000004-DF60-4D50-80FD-1A64BBD756F7}"/>
              </c:ext>
            </c:extLst>
          </c:dPt>
          <c:dPt>
            <c:idx val="2"/>
            <c:invertIfNegative val="1"/>
            <c:bubble3D val="0"/>
            <c:spPr>
              <a:solidFill>
                <a:srgbClr val="008189"/>
              </a:solidFill>
            </c:spPr>
            <c:extLst>
              <c:ext xmlns:c16="http://schemas.microsoft.com/office/drawing/2014/chart" uri="{C3380CC4-5D6E-409C-BE32-E72D297353CC}">
                <c16:uniqueId val="{00000006-DF60-4D50-80FD-1A64BBD756F7}"/>
              </c:ext>
            </c:extLst>
          </c:dPt>
          <c:dPt>
            <c:idx val="3"/>
            <c:invertIfNegative val="1"/>
            <c:bubble3D val="0"/>
            <c:spPr>
              <a:solidFill>
                <a:srgbClr val="008189"/>
              </a:solidFill>
            </c:spPr>
            <c:extLst>
              <c:ext xmlns:c16="http://schemas.microsoft.com/office/drawing/2014/chart" uri="{C3380CC4-5D6E-409C-BE32-E72D297353CC}">
                <c16:uniqueId val="{00000008-DF60-4D50-80FD-1A64BBD756F7}"/>
              </c:ext>
            </c:extLst>
          </c:dPt>
          <c:dPt>
            <c:idx val="4"/>
            <c:invertIfNegative val="1"/>
            <c:bubble3D val="0"/>
            <c:spPr>
              <a:solidFill>
                <a:srgbClr val="008189"/>
              </a:solidFill>
            </c:spPr>
            <c:extLst>
              <c:ext xmlns:c16="http://schemas.microsoft.com/office/drawing/2014/chart" uri="{C3380CC4-5D6E-409C-BE32-E72D297353CC}">
                <c16:uniqueId val="{0000000A-DF60-4D50-80FD-1A64BBD756F7}"/>
              </c:ext>
            </c:extLst>
          </c:dPt>
          <c:dPt>
            <c:idx val="5"/>
            <c:invertIfNegative val="1"/>
            <c:bubble3D val="0"/>
            <c:spPr>
              <a:solidFill>
                <a:srgbClr val="008189"/>
              </a:solidFill>
            </c:spPr>
            <c:extLst>
              <c:ext xmlns:c16="http://schemas.microsoft.com/office/drawing/2014/chart" uri="{C3380CC4-5D6E-409C-BE32-E72D297353CC}">
                <c16:uniqueId val="{0000000C-DF60-4D50-80FD-1A64BBD756F7}"/>
              </c:ext>
            </c:extLst>
          </c:dPt>
          <c:dPt>
            <c:idx val="6"/>
            <c:invertIfNegative val="1"/>
            <c:bubble3D val="0"/>
            <c:spPr>
              <a:solidFill>
                <a:srgbClr val="0E72AE"/>
              </a:solidFill>
            </c:spPr>
            <c:extLst>
              <c:ext xmlns:c16="http://schemas.microsoft.com/office/drawing/2014/chart" uri="{C3380CC4-5D6E-409C-BE32-E72D297353CC}">
                <c16:uniqueId val="{0000000E-DF60-4D50-80FD-1A64BBD756F7}"/>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F60-4D50-80FD-1A64BBD756F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F60-4D50-80FD-1A64BBD756F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F60-4D50-80FD-1A64BBD756F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F60-4D50-80FD-1A64BBD756F7}"/>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F60-4D50-80FD-1A64BBD756F7}"/>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F60-4D50-80FD-1A64BBD756F7}"/>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DF60-4D50-80FD-1A64BBD756F7}"/>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239.68100000000001</c:v>
              </c:pt>
              <c:pt idx="1">
                <c:v>44.809999999999974</c:v>
              </c:pt>
              <c:pt idx="2">
                <c:v>52.997000000000014</c:v>
              </c:pt>
              <c:pt idx="3">
                <c:v>62.694000000000017</c:v>
              </c:pt>
              <c:pt idx="4">
                <c:v>74.19399999999996</c:v>
              </c:pt>
              <c:pt idx="5">
                <c:v>87.836000000000013</c:v>
              </c:pt>
              <c:pt idx="6">
                <c:v>562.21199999999999</c:v>
              </c:pt>
            </c:numLit>
          </c:val>
          <c:extLst>
            <c:ext xmlns:c16="http://schemas.microsoft.com/office/drawing/2014/chart" uri="{C3380CC4-5D6E-409C-BE32-E72D297353CC}">
              <c16:uniqueId val="{0000000F-DF60-4D50-80FD-1A64BBD756F7}"/>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1815.309</c:v>
              </c:pt>
              <c:pt idx="2">
                <c:v>1982.49</c:v>
              </c:pt>
              <c:pt idx="3">
                <c:v>2163.308</c:v>
              </c:pt>
              <c:pt idx="4">
                <c:v>2358.35</c:v>
              </c:pt>
              <c:pt idx="5">
                <c:v>2568.0720000000001</c:v>
              </c:pt>
              <c:pt idx="6">
                <c:v>0</c:v>
              </c:pt>
            </c:numLit>
          </c:val>
          <c:extLst>
            <c:ext xmlns:c16="http://schemas.microsoft.com/office/drawing/2014/chart" uri="{C3380CC4-5D6E-409C-BE32-E72D297353CC}">
              <c16:uniqueId val="{00000000-1A52-409E-9AEB-518EB5646FF3}"/>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1A52-409E-9AEB-518EB5646FF3}"/>
              </c:ext>
            </c:extLst>
          </c:dPt>
          <c:dPt>
            <c:idx val="1"/>
            <c:invertIfNegative val="1"/>
            <c:bubble3D val="0"/>
            <c:spPr>
              <a:solidFill>
                <a:srgbClr val="008189"/>
              </a:solidFill>
            </c:spPr>
            <c:extLst>
              <c:ext xmlns:c16="http://schemas.microsoft.com/office/drawing/2014/chart" uri="{C3380CC4-5D6E-409C-BE32-E72D297353CC}">
                <c16:uniqueId val="{00000004-1A52-409E-9AEB-518EB5646FF3}"/>
              </c:ext>
            </c:extLst>
          </c:dPt>
          <c:dPt>
            <c:idx val="2"/>
            <c:invertIfNegative val="1"/>
            <c:bubble3D val="0"/>
            <c:spPr>
              <a:solidFill>
                <a:srgbClr val="008189"/>
              </a:solidFill>
            </c:spPr>
            <c:extLst>
              <c:ext xmlns:c16="http://schemas.microsoft.com/office/drawing/2014/chart" uri="{C3380CC4-5D6E-409C-BE32-E72D297353CC}">
                <c16:uniqueId val="{00000006-1A52-409E-9AEB-518EB5646FF3}"/>
              </c:ext>
            </c:extLst>
          </c:dPt>
          <c:dPt>
            <c:idx val="3"/>
            <c:invertIfNegative val="1"/>
            <c:bubble3D val="0"/>
            <c:spPr>
              <a:solidFill>
                <a:srgbClr val="008189"/>
              </a:solidFill>
            </c:spPr>
            <c:extLst>
              <c:ext xmlns:c16="http://schemas.microsoft.com/office/drawing/2014/chart" uri="{C3380CC4-5D6E-409C-BE32-E72D297353CC}">
                <c16:uniqueId val="{00000008-1A52-409E-9AEB-518EB5646FF3}"/>
              </c:ext>
            </c:extLst>
          </c:dPt>
          <c:dPt>
            <c:idx val="4"/>
            <c:invertIfNegative val="1"/>
            <c:bubble3D val="0"/>
            <c:spPr>
              <a:solidFill>
                <a:srgbClr val="008189"/>
              </a:solidFill>
            </c:spPr>
            <c:extLst>
              <c:ext xmlns:c16="http://schemas.microsoft.com/office/drawing/2014/chart" uri="{C3380CC4-5D6E-409C-BE32-E72D297353CC}">
                <c16:uniqueId val="{0000000A-1A52-409E-9AEB-518EB5646FF3}"/>
              </c:ext>
            </c:extLst>
          </c:dPt>
          <c:dPt>
            <c:idx val="5"/>
            <c:invertIfNegative val="1"/>
            <c:bubble3D val="0"/>
            <c:spPr>
              <a:solidFill>
                <a:srgbClr val="008189"/>
              </a:solidFill>
            </c:spPr>
            <c:extLst>
              <c:ext xmlns:c16="http://schemas.microsoft.com/office/drawing/2014/chart" uri="{C3380CC4-5D6E-409C-BE32-E72D297353CC}">
                <c16:uniqueId val="{0000000C-1A52-409E-9AEB-518EB5646FF3}"/>
              </c:ext>
            </c:extLst>
          </c:dPt>
          <c:dPt>
            <c:idx val="6"/>
            <c:invertIfNegative val="1"/>
            <c:bubble3D val="0"/>
            <c:spPr>
              <a:solidFill>
                <a:srgbClr val="0E72AE"/>
              </a:solidFill>
            </c:spPr>
            <c:extLst>
              <c:ext xmlns:c16="http://schemas.microsoft.com/office/drawing/2014/chart" uri="{C3380CC4-5D6E-409C-BE32-E72D297353CC}">
                <c16:uniqueId val="{0000000E-1A52-409E-9AEB-518EB5646FF3}"/>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A52-409E-9AEB-518EB5646FF3}"/>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A52-409E-9AEB-518EB5646FF3}"/>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A52-409E-9AEB-518EB5646FF3}"/>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A52-409E-9AEB-518EB5646FF3}"/>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A52-409E-9AEB-518EB5646FF3}"/>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A52-409E-9AEB-518EB5646FF3}"/>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1A52-409E-9AEB-518EB5646FF3}"/>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1815.309</c:v>
              </c:pt>
              <c:pt idx="1">
                <c:v>167.18100000000004</c:v>
              </c:pt>
              <c:pt idx="2">
                <c:v>180.81799999999998</c:v>
              </c:pt>
              <c:pt idx="3">
                <c:v>195.04199999999992</c:v>
              </c:pt>
              <c:pt idx="4">
                <c:v>209.72200000000021</c:v>
              </c:pt>
              <c:pt idx="5">
                <c:v>224.66199999999981</c:v>
              </c:pt>
              <c:pt idx="6">
                <c:v>2792.7339999999999</c:v>
              </c:pt>
            </c:numLit>
          </c:val>
          <c:extLst>
            <c:ext xmlns:c16="http://schemas.microsoft.com/office/drawing/2014/chart" uri="{C3380CC4-5D6E-409C-BE32-E72D297353CC}">
              <c16:uniqueId val="{0000000F-1A52-409E-9AEB-518EB5646FF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208.75</c:v>
              </c:pt>
              <c:pt idx="2">
                <c:v>249.691</c:v>
              </c:pt>
              <c:pt idx="3">
                <c:v>298.226</c:v>
              </c:pt>
              <c:pt idx="4">
                <c:v>355.75799999999998</c:v>
              </c:pt>
              <c:pt idx="5">
                <c:v>423.959</c:v>
              </c:pt>
              <c:pt idx="6">
                <c:v>0</c:v>
              </c:pt>
            </c:numLit>
          </c:val>
          <c:extLst>
            <c:ext xmlns:c16="http://schemas.microsoft.com/office/drawing/2014/chart" uri="{C3380CC4-5D6E-409C-BE32-E72D297353CC}">
              <c16:uniqueId val="{00000000-FB2E-4058-897E-13F48A34440E}"/>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FB2E-4058-897E-13F48A34440E}"/>
              </c:ext>
            </c:extLst>
          </c:dPt>
          <c:dPt>
            <c:idx val="1"/>
            <c:invertIfNegative val="1"/>
            <c:bubble3D val="0"/>
            <c:spPr>
              <a:solidFill>
                <a:srgbClr val="008189"/>
              </a:solidFill>
            </c:spPr>
            <c:extLst>
              <c:ext xmlns:c16="http://schemas.microsoft.com/office/drawing/2014/chart" uri="{C3380CC4-5D6E-409C-BE32-E72D297353CC}">
                <c16:uniqueId val="{00000004-FB2E-4058-897E-13F48A34440E}"/>
              </c:ext>
            </c:extLst>
          </c:dPt>
          <c:dPt>
            <c:idx val="2"/>
            <c:invertIfNegative val="1"/>
            <c:bubble3D val="0"/>
            <c:spPr>
              <a:solidFill>
                <a:srgbClr val="008189"/>
              </a:solidFill>
            </c:spPr>
            <c:extLst>
              <c:ext xmlns:c16="http://schemas.microsoft.com/office/drawing/2014/chart" uri="{C3380CC4-5D6E-409C-BE32-E72D297353CC}">
                <c16:uniqueId val="{00000006-FB2E-4058-897E-13F48A34440E}"/>
              </c:ext>
            </c:extLst>
          </c:dPt>
          <c:dPt>
            <c:idx val="3"/>
            <c:invertIfNegative val="1"/>
            <c:bubble3D val="0"/>
            <c:spPr>
              <a:solidFill>
                <a:srgbClr val="008189"/>
              </a:solidFill>
            </c:spPr>
            <c:extLst>
              <c:ext xmlns:c16="http://schemas.microsoft.com/office/drawing/2014/chart" uri="{C3380CC4-5D6E-409C-BE32-E72D297353CC}">
                <c16:uniqueId val="{00000008-FB2E-4058-897E-13F48A34440E}"/>
              </c:ext>
            </c:extLst>
          </c:dPt>
          <c:dPt>
            <c:idx val="4"/>
            <c:invertIfNegative val="1"/>
            <c:bubble3D val="0"/>
            <c:spPr>
              <a:solidFill>
                <a:srgbClr val="008189"/>
              </a:solidFill>
            </c:spPr>
            <c:extLst>
              <c:ext xmlns:c16="http://schemas.microsoft.com/office/drawing/2014/chart" uri="{C3380CC4-5D6E-409C-BE32-E72D297353CC}">
                <c16:uniqueId val="{0000000A-FB2E-4058-897E-13F48A34440E}"/>
              </c:ext>
            </c:extLst>
          </c:dPt>
          <c:dPt>
            <c:idx val="5"/>
            <c:invertIfNegative val="1"/>
            <c:bubble3D val="0"/>
            <c:spPr>
              <a:solidFill>
                <a:srgbClr val="008189"/>
              </a:solidFill>
            </c:spPr>
            <c:extLst>
              <c:ext xmlns:c16="http://schemas.microsoft.com/office/drawing/2014/chart" uri="{C3380CC4-5D6E-409C-BE32-E72D297353CC}">
                <c16:uniqueId val="{0000000C-FB2E-4058-897E-13F48A34440E}"/>
              </c:ext>
            </c:extLst>
          </c:dPt>
          <c:dPt>
            <c:idx val="6"/>
            <c:invertIfNegative val="1"/>
            <c:bubble3D val="0"/>
            <c:spPr>
              <a:solidFill>
                <a:srgbClr val="0E72AE"/>
              </a:solidFill>
            </c:spPr>
            <c:extLst>
              <c:ext xmlns:c16="http://schemas.microsoft.com/office/drawing/2014/chart" uri="{C3380CC4-5D6E-409C-BE32-E72D297353CC}">
                <c16:uniqueId val="{0000000E-FB2E-4058-897E-13F48A34440E}"/>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B2E-4058-897E-13F48A34440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B2E-4058-897E-13F48A34440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B2E-4058-897E-13F48A34440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B2E-4058-897E-13F48A34440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B2E-4058-897E-13F48A34440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B2E-4058-897E-13F48A34440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B2E-4058-897E-13F48A34440E}"/>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208.75</c:v>
              </c:pt>
              <c:pt idx="1">
                <c:v>40.941000000000003</c:v>
              </c:pt>
              <c:pt idx="2">
                <c:v>48.534999999999997</c:v>
              </c:pt>
              <c:pt idx="3">
                <c:v>57.531999999999982</c:v>
              </c:pt>
              <c:pt idx="4">
                <c:v>68.201000000000022</c:v>
              </c:pt>
              <c:pt idx="5">
                <c:v>80.875</c:v>
              </c:pt>
              <c:pt idx="6">
                <c:v>504.834</c:v>
              </c:pt>
            </c:numLit>
          </c:val>
          <c:extLst>
            <c:ext xmlns:c16="http://schemas.microsoft.com/office/drawing/2014/chart" uri="{C3380CC4-5D6E-409C-BE32-E72D297353CC}">
              <c16:uniqueId val="{0000000F-FB2E-4058-897E-13F48A34440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Support for Observable Age-Related Cognitive Changes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CF9-4B84-B283-02902158E817}"/>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CF9-4B84-B283-02902158E817}"/>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CF9-4B84-B283-02902158E81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64.401301819345889</c:v>
              </c:pt>
              <c:pt idx="1">
                <c:v>61.682242037974163</c:v>
              </c:pt>
              <c:pt idx="2">
                <c:v>55.232791902849065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2CF9-4B84-B283-02902158E817}"/>
            </c:ext>
          </c:extLst>
        </c:ser>
        <c:ser>
          <c:idx val="1"/>
          <c:order val="1"/>
          <c:tx>
            <c:v>Routine Cognitive Wellness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CF9-4B84-B283-02902158E817}"/>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CF9-4B84-B283-02902158E817}"/>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CF9-4B84-B283-02902158E81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22.833996692098381</c:v>
              </c:pt>
              <c:pt idx="1">
                <c:v>23.080556207762079</c:v>
              </c:pt>
              <c:pt idx="2">
                <c:v>23.663898698988611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2CF9-4B84-B283-02902158E817}"/>
            </c:ext>
          </c:extLst>
        </c:ser>
        <c:ser>
          <c:idx val="2"/>
          <c:order val="2"/>
          <c:tx>
            <c:v>Preventive Cognitive Support for Senior Dogs</c:v>
          </c:tx>
          <c:spPr>
            <a:solidFill>
              <a:srgbClr val="008189"/>
            </a:solidFill>
            <a:ln>
              <a:noFill/>
            </a:ln>
          </c:spPr>
          <c:invertIfNegative val="1"/>
          <c:dLbls>
            <c:dLbl>
              <c:idx val="0"/>
              <c:numFmt formatCode="&quot;MMM&quot;;&quot;MMM&quot;;&quot;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CF9-4B84-B283-02902158E817}"/>
                </c:ext>
              </c:extLst>
            </c:dLbl>
            <c:dLbl>
              <c:idx val="1"/>
              <c:numFmt formatCode="&quot;MMM&quot;;&quot;MMM&quot;;&quot;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CF9-4B84-B283-02902158E817}"/>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CF9-4B84-B283-02902158E81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6.8992157071973539</c:v>
              </c:pt>
              <c:pt idx="1">
                <c:v>8.1441018878349016</c:v>
              </c:pt>
              <c:pt idx="2">
                <c:v>11.119046211090843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2CF9-4B84-B283-02902158E817}"/>
            </c:ext>
          </c:extLst>
        </c:ser>
        <c:ser>
          <c:idx val="3"/>
          <c:order val="3"/>
          <c:tx>
            <c:v>Veterinary-Guided Cognitive Dysfunction Support</c:v>
          </c:tx>
          <c:spPr>
            <a:solidFill>
              <a:srgbClr val="40315E"/>
            </a:solidFill>
            <a:ln>
              <a:noFill/>
            </a:ln>
          </c:spPr>
          <c:invertIfNegative val="1"/>
          <c:dLbls>
            <c:dLbl>
              <c:idx val="0"/>
              <c:numFmt formatCode="&quot;MMM&quot;;&quot;MMM&quot;;&quot;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CF9-4B84-B283-02902158E817}"/>
                </c:ext>
              </c:extLst>
            </c:dLbl>
            <c:dLbl>
              <c:idx val="1"/>
              <c:numFmt formatCode="&quot;MMM&quot;;&quot;MMM&quot;;&quot;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CF9-4B84-B283-02902158E817}"/>
                </c:ext>
              </c:extLst>
            </c:dLbl>
            <c:dLbl>
              <c:idx val="2"/>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CF9-4B84-B283-02902158E817}"/>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5.8654857813583732</c:v>
              </c:pt>
              <c:pt idx="1">
                <c:v>7.0930998664288607</c:v>
              </c:pt>
              <c:pt idx="2">
                <c:v>9.9842631870714875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2CF9-4B84-B283-02902158E817}"/>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Bottles</c:v>
          </c:tx>
          <c:spPr>
            <a:solidFill>
              <a:srgbClr val="3D85C6"/>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09A-4A37-A816-6163F784C5C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09A-4A37-A816-6163F784C5C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09A-4A37-A816-6163F784C5C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09A-4A37-A816-6163F784C5C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09A-4A37-A816-6163F784C5C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09A-4A37-A816-6163F784C5C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09A-4A37-A816-6163F784C5C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09A-4A37-A816-6163F784C5C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09A-4A37-A816-6163F784C5CE}"/>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09A-4A37-A816-6163F784C5C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09A-4A37-A816-6163F784C5C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09A-4A37-A816-6163F784C5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10.037040554658562</c:v>
              </c:pt>
              <c:pt idx="1">
                <c:v>6.5580202992570893</c:v>
              </c:pt>
              <c:pt idx="2">
                <c:v>7.4260798473906524</c:v>
              </c:pt>
              <c:pt idx="3">
                <c:v>8.0379758950048181</c:v>
              </c:pt>
              <c:pt idx="4">
                <c:v>6.0457347626712021</c:v>
              </c:pt>
              <c:pt idx="5">
                <c:v>8.2142840038887588</c:v>
              </c:pt>
              <c:pt idx="6">
                <c:v>7.397532174119843</c:v>
              </c:pt>
              <c:pt idx="7">
                <c:v>8.8167022676621709</c:v>
              </c:pt>
              <c:pt idx="8">
                <c:v>9.648501345464263</c:v>
              </c:pt>
              <c:pt idx="9">
                <c:v>6.3735914654054202</c:v>
              </c:pt>
              <c:pt idx="10">
                <c:v>8.9139880514920531</c:v>
              </c:pt>
              <c:pt idx="11">
                <c:v>8.0230083819679603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E09A-4A37-A816-6163F784C5CE}"/>
            </c:ext>
          </c:extLst>
        </c:ser>
        <c:ser>
          <c:idx val="1"/>
          <c:order val="1"/>
          <c:tx>
            <c:v>Jars and Tubs</c:v>
          </c:tx>
          <c:spPr>
            <a:solidFill>
              <a:srgbClr val="9E7E0A"/>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09A-4A37-A816-6163F784C5C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09A-4A37-A816-6163F784C5C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E09A-4A37-A816-6163F784C5C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09A-4A37-A816-6163F784C5C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E09A-4A37-A816-6163F784C5C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E09A-4A37-A816-6163F784C5C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E09A-4A37-A816-6163F784C5C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E09A-4A37-A816-6163F784C5C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09A-4A37-A816-6163F784C5C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09A-4A37-A816-6163F784C5C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E09A-4A37-A816-6163F784C5C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E09A-4A37-A816-6163F784C5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8.8650394149491891</c:v>
              </c:pt>
              <c:pt idx="1">
                <c:v>9.377942869101183</c:v>
              </c:pt>
              <c:pt idx="2">
                <c:v>9.0812601745541119</c:v>
              </c:pt>
              <c:pt idx="3">
                <c:v>10.137751944414315</c:v>
              </c:pt>
              <c:pt idx="4">
                <c:v>9.3249111725227003</c:v>
              </c:pt>
              <c:pt idx="5">
                <c:v>7.808646261859038</c:v>
              </c:pt>
              <c:pt idx="6">
                <c:v>10.608998691997403</c:v>
              </c:pt>
              <c:pt idx="7">
                <c:v>11.888858762143464</c:v>
              </c:pt>
              <c:pt idx="8">
                <c:v>12.069715557047065</c:v>
              </c:pt>
              <c:pt idx="9">
                <c:v>10.382697856644931</c:v>
              </c:pt>
              <c:pt idx="10">
                <c:v>9.5101771121096448</c:v>
              </c:pt>
              <c:pt idx="11">
                <c:v>9.5225400485145428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9-E09A-4A37-A816-6163F784C5CE}"/>
            </c:ext>
          </c:extLst>
        </c:ser>
        <c:ser>
          <c:idx val="2"/>
          <c:order val="2"/>
          <c:tx>
            <c:v>Pouches</c:v>
          </c:tx>
          <c:spPr>
            <a:solidFill>
              <a:srgbClr val="008189"/>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E09A-4A37-A816-6163F784C5C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E09A-4A37-A816-6163F784C5C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E09A-4A37-A816-6163F784C5C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E09A-4A37-A816-6163F784C5C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E09A-4A37-A816-6163F784C5C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E09A-4A37-A816-6163F784C5C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E09A-4A37-A816-6163F784C5C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E09A-4A37-A816-6163F784C5C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E09A-4A37-A816-6163F784C5C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E09A-4A37-A816-6163F784C5C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E09A-4A37-A816-6163F784C5C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E09A-4A37-A816-6163F784C5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25.732738151771301</c:v>
              </c:pt>
              <c:pt idx="1">
                <c:v>21.923720832897352</c:v>
              </c:pt>
              <c:pt idx="2">
                <c:v>24.292711612796811</c:v>
              </c:pt>
              <c:pt idx="3">
                <c:v>24.334050060294395</c:v>
              </c:pt>
              <c:pt idx="4">
                <c:v>24.201160071669346</c:v>
              </c:pt>
              <c:pt idx="5">
                <c:v>25.306622862260365</c:v>
              </c:pt>
              <c:pt idx="6">
                <c:v>21.078964940042262</c:v>
              </c:pt>
              <c:pt idx="7">
                <c:v>23.697367289849414</c:v>
              </c:pt>
              <c:pt idx="8">
                <c:v>25.133769599343736</c:v>
              </c:pt>
              <c:pt idx="9">
                <c:v>23.973986781614268</c:v>
              </c:pt>
              <c:pt idx="10">
                <c:v>24.919878509307555</c:v>
              </c:pt>
              <c:pt idx="11">
                <c:v>22.873357830775515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6-E09A-4A37-A816-6163F784C5CE}"/>
            </c:ext>
          </c:extLst>
        </c:ser>
        <c:ser>
          <c:idx val="3"/>
          <c:order val="3"/>
          <c:tx>
            <c:v>Sachets</c:v>
          </c:tx>
          <c:spPr>
            <a:solidFill>
              <a:srgbClr val="40315E"/>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E09A-4A37-A816-6163F784C5C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E09A-4A37-A816-6163F784C5C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E09A-4A37-A816-6163F784C5C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E09A-4A37-A816-6163F784C5C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E09A-4A37-A816-6163F784C5C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E09A-4A37-A816-6163F784C5C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E09A-4A37-A816-6163F784C5C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E09A-4A37-A816-6163F784C5C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E09A-4A37-A816-6163F784C5C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E09A-4A37-A816-6163F784C5C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E09A-4A37-A816-6163F784C5C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E09A-4A37-A816-6163F784C5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21.947003514103905</c:v>
              </c:pt>
              <c:pt idx="1">
                <c:v>19.271214816364967</c:v>
              </c:pt>
              <c:pt idx="2">
                <c:v>23.224876471052273</c:v>
              </c:pt>
              <c:pt idx="3">
                <c:v>18.00983851312121</c:v>
              </c:pt>
              <c:pt idx="4">
                <c:v>17.899723647848401</c:v>
              </c:pt>
              <c:pt idx="5">
                <c:v>15.811730449649678</c:v>
              </c:pt>
              <c:pt idx="6">
                <c:v>19.165896804997846</c:v>
              </c:pt>
              <c:pt idx="7">
                <c:v>19.834604167631088</c:v>
              </c:pt>
              <c:pt idx="8">
                <c:v>18.088881431350249</c:v>
              </c:pt>
              <c:pt idx="9">
                <c:v>16.817880999232312</c:v>
              </c:pt>
              <c:pt idx="10">
                <c:v>15.809725024967133</c:v>
              </c:pt>
              <c:pt idx="11">
                <c:v>19.604246223310998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33-E09A-4A37-A816-6163F784C5CE}"/>
            </c:ext>
          </c:extLst>
        </c:ser>
        <c:ser>
          <c:idx val="4"/>
          <c:order val="4"/>
          <c:tx>
            <c:v>Blister Packs</c:v>
          </c:tx>
          <c:spPr>
            <a:solidFill>
              <a:srgbClr val="A35313"/>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E09A-4A37-A816-6163F784C5C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E09A-4A37-A816-6163F784C5C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E09A-4A37-A816-6163F784C5C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E09A-4A37-A816-6163F784C5C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E09A-4A37-A816-6163F784C5C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E09A-4A37-A816-6163F784C5C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E09A-4A37-A816-6163F784C5C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E09A-4A37-A816-6163F784C5C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E09A-4A37-A816-6163F784C5C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E09A-4A37-A816-6163F784C5C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E09A-4A37-A816-6163F784C5C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E09A-4A37-A816-6163F784C5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17.804159939215499</c:v>
              </c:pt>
              <c:pt idx="1">
                <c:v>24.860486205573576</c:v>
              </c:pt>
              <c:pt idx="2">
                <c:v>15.350578380820561</c:v>
              </c:pt>
              <c:pt idx="3">
                <c:v>18.404782716884345</c:v>
              </c:pt>
              <c:pt idx="4">
                <c:v>20.69907983844028</c:v>
              </c:pt>
              <c:pt idx="5">
                <c:v>22.301934322125216</c:v>
              </c:pt>
              <c:pt idx="6">
                <c:v>20.831542071034605</c:v>
              </c:pt>
              <c:pt idx="7">
                <c:v>13.869177914597289</c:v>
              </c:pt>
              <c:pt idx="8">
                <c:v>15.827693569737308</c:v>
              </c:pt>
              <c:pt idx="9">
                <c:v>21.424020754100965</c:v>
              </c:pt>
              <c:pt idx="10">
                <c:v>20.306007085583349</c:v>
              </c:pt>
              <c:pt idx="11">
                <c:v>20.527415519850134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0-E09A-4A37-A816-6163F784C5CE}"/>
            </c:ext>
          </c:extLst>
        </c:ser>
        <c:ser>
          <c:idx val="5"/>
          <c:order val="5"/>
          <c:tx>
            <c:v>Canisters</c:v>
          </c:tx>
          <c:spPr>
            <a:solidFill>
              <a:srgbClr val="808080"/>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E09A-4A37-A816-6163F784C5CE}"/>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E09A-4A37-A816-6163F784C5CE}"/>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3-E09A-4A37-A816-6163F784C5CE}"/>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E09A-4A37-A816-6163F784C5CE}"/>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E09A-4A37-A816-6163F784C5CE}"/>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E09A-4A37-A816-6163F784C5CE}"/>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E09A-4A37-A816-6163F784C5CE}"/>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E09A-4A37-A816-6163F784C5CE}"/>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E09A-4A37-A816-6163F784C5CE}"/>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E09A-4A37-A816-6163F784C5CE}"/>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E09A-4A37-A816-6163F784C5CE}"/>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E09A-4A37-A816-6163F784C5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15.614018425301552</c:v>
              </c:pt>
              <c:pt idx="1">
                <c:v>18.008614976805831</c:v>
              </c:pt>
              <c:pt idx="2">
                <c:v>20.624493513385588</c:v>
              </c:pt>
              <c:pt idx="3">
                <c:v>21.075600870280926</c:v>
              </c:pt>
              <c:pt idx="4">
                <c:v>21.829390506848068</c:v>
              </c:pt>
              <c:pt idx="5">
                <c:v>20.556782100216946</c:v>
              </c:pt>
              <c:pt idx="6">
                <c:v>20.917065317808042</c:v>
              </c:pt>
              <c:pt idx="7">
                <c:v>21.89328959811656</c:v>
              </c:pt>
              <c:pt idx="8">
                <c:v>19.231438497057379</c:v>
              </c:pt>
              <c:pt idx="9">
                <c:v>21.027822143002108</c:v>
              </c:pt>
              <c:pt idx="10">
                <c:v>20.540224216540263</c:v>
              </c:pt>
              <c:pt idx="11">
                <c:v>19.449431995580856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D-E09A-4A37-A816-6163F784C5C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Bottles</c:v>
          </c:tx>
          <c:spPr>
            <a:solidFill>
              <a:srgbClr val="3D85C6"/>
            </a:solidFill>
          </c:spPr>
          <c:invertIfNegative val="0"/>
          <c:xVal>
            <c:numLit>
              <c:formatCode>General</c:formatCode>
              <c:ptCount val="1"/>
              <c:pt idx="0">
                <c:v>76.085610899344829</c:v>
              </c:pt>
            </c:numLit>
          </c:xVal>
          <c:yVal>
            <c:numLit>
              <c:formatCode>General</c:formatCode>
              <c:ptCount val="1"/>
              <c:pt idx="0">
                <c:v>54.52638310350558</c:v>
              </c:pt>
            </c:numLit>
          </c:yVal>
          <c:bubbleSize>
            <c:numLit>
              <c:formatCode>General</c:formatCode>
              <c:ptCount val="1"/>
              <c:pt idx="0">
                <c:v>404.786</c:v>
              </c:pt>
            </c:numLit>
          </c:bubbleSize>
          <c:bubble3D val="0"/>
          <c:extLst>
            <c:ext xmlns:c16="http://schemas.microsoft.com/office/drawing/2014/chart" uri="{C3380CC4-5D6E-409C-BE32-E72D297353CC}">
              <c16:uniqueId val="{00000000-8374-42A5-A391-5A572A4A7DAD}"/>
            </c:ext>
          </c:extLst>
        </c:ser>
        <c:ser>
          <c:idx val="1"/>
          <c:order val="1"/>
          <c:tx>
            <c:v>Jars and Tubs</c:v>
          </c:tx>
          <c:spPr>
            <a:solidFill>
              <a:srgbClr val="9E7E0A"/>
            </a:solidFill>
          </c:spPr>
          <c:invertIfNegative val="0"/>
          <c:xVal>
            <c:numLit>
              <c:formatCode>General</c:formatCode>
              <c:ptCount val="1"/>
              <c:pt idx="0">
                <c:v>138.51521312611146</c:v>
              </c:pt>
            </c:numLit>
          </c:xVal>
          <c:yVal>
            <c:numLit>
              <c:formatCode>General</c:formatCode>
              <c:ptCount val="1"/>
              <c:pt idx="0">
                <c:v>48.528016130473631</c:v>
              </c:pt>
            </c:numLit>
          </c:yVal>
          <c:bubbleSize>
            <c:numLit>
              <c:formatCode>General</c:formatCode>
              <c:ptCount val="1"/>
              <c:pt idx="0">
                <c:v>499.93400000000003</c:v>
              </c:pt>
            </c:numLit>
          </c:bubbleSize>
          <c:bubble3D val="0"/>
          <c:extLst>
            <c:ext xmlns:c16="http://schemas.microsoft.com/office/drawing/2014/chart" uri="{C3380CC4-5D6E-409C-BE32-E72D297353CC}">
              <c16:uniqueId val="{00000001-8374-42A5-A391-5A572A4A7DAD}"/>
            </c:ext>
          </c:extLst>
        </c:ser>
        <c:ser>
          <c:idx val="2"/>
          <c:order val="2"/>
          <c:tx>
            <c:v>Pouches</c:v>
          </c:tx>
          <c:spPr>
            <a:solidFill>
              <a:srgbClr val="008189"/>
            </a:solidFill>
          </c:spPr>
          <c:invertIfNegative val="0"/>
          <c:xVal>
            <c:numLit>
              <c:formatCode>General</c:formatCode>
              <c:ptCount val="1"/>
              <c:pt idx="0">
                <c:v>156.31431078985656</c:v>
              </c:pt>
            </c:numLit>
          </c:xVal>
          <c:yVal>
            <c:numLit>
              <c:formatCode>General</c:formatCode>
              <c:ptCount val="1"/>
              <c:pt idx="0">
                <c:v>105.89823109132483</c:v>
              </c:pt>
            </c:numLit>
          </c:yVal>
          <c:bubbleSize>
            <c:numLit>
              <c:formatCode>General</c:formatCode>
              <c:ptCount val="1"/>
              <c:pt idx="0">
                <c:v>1195.4739999999999</c:v>
              </c:pt>
            </c:numLit>
          </c:bubbleSize>
          <c:bubble3D val="0"/>
          <c:extLst>
            <c:ext xmlns:c16="http://schemas.microsoft.com/office/drawing/2014/chart" uri="{C3380CC4-5D6E-409C-BE32-E72D297353CC}">
              <c16:uniqueId val="{00000002-8374-42A5-A391-5A572A4A7DAD}"/>
            </c:ext>
          </c:extLst>
        </c:ser>
        <c:ser>
          <c:idx val="3"/>
          <c:order val="3"/>
          <c:tx>
            <c:v>Sachets</c:v>
          </c:tx>
          <c:spPr>
            <a:solidFill>
              <a:srgbClr val="40315E"/>
            </a:solidFill>
          </c:spPr>
          <c:invertIfNegative val="0"/>
          <c:xVal>
            <c:numLit>
              <c:formatCode>General</c:formatCode>
              <c:ptCount val="1"/>
              <c:pt idx="0">
                <c:v>61.660737702603171</c:v>
              </c:pt>
            </c:numLit>
          </c:xVal>
          <c:yVal>
            <c:numLit>
              <c:formatCode>General</c:formatCode>
              <c:ptCount val="1"/>
              <c:pt idx="0">
                <c:v>136.1196275502455</c:v>
              </c:pt>
            </c:numLit>
          </c:yVal>
          <c:bubbleSize>
            <c:numLit>
              <c:formatCode>General</c:formatCode>
              <c:ptCount val="1"/>
              <c:pt idx="0">
                <c:v>935.375</c:v>
              </c:pt>
            </c:numLit>
          </c:bubbleSize>
          <c:bubble3D val="0"/>
          <c:extLst>
            <c:ext xmlns:c16="http://schemas.microsoft.com/office/drawing/2014/chart" uri="{C3380CC4-5D6E-409C-BE32-E72D297353CC}">
              <c16:uniqueId val="{00000003-8374-42A5-A391-5A572A4A7DAD}"/>
            </c:ext>
          </c:extLst>
        </c:ser>
        <c:ser>
          <c:idx val="4"/>
          <c:order val="4"/>
          <c:tx>
            <c:v>Blister Packs</c:v>
          </c:tx>
          <c:spPr>
            <a:solidFill>
              <a:srgbClr val="A35313"/>
            </a:solidFill>
          </c:spPr>
          <c:invertIfNegative val="0"/>
          <c:xVal>
            <c:numLit>
              <c:formatCode>General</c:formatCode>
              <c:ptCount val="1"/>
              <c:pt idx="0">
                <c:v>81.004932791632584</c:v>
              </c:pt>
            </c:numLit>
          </c:xVal>
          <c:yVal>
            <c:numLit>
              <c:formatCode>General</c:formatCode>
              <c:ptCount val="1"/>
              <c:pt idx="0">
                <c:v>131.71493995414886</c:v>
              </c:pt>
            </c:numLit>
          </c:yVal>
          <c:bubbleSize>
            <c:numLit>
              <c:formatCode>General</c:formatCode>
              <c:ptCount val="1"/>
              <c:pt idx="0">
                <c:v>1003.778</c:v>
              </c:pt>
            </c:numLit>
          </c:bubbleSize>
          <c:bubble3D val="0"/>
          <c:extLst>
            <c:ext xmlns:c16="http://schemas.microsoft.com/office/drawing/2014/chart" uri="{C3380CC4-5D6E-409C-BE32-E72D297353CC}">
              <c16:uniqueId val="{00000004-8374-42A5-A391-5A572A4A7DAD}"/>
            </c:ext>
          </c:extLst>
        </c:ser>
        <c:ser>
          <c:idx val="5"/>
          <c:order val="5"/>
          <c:tx>
            <c:v>Canisters</c:v>
          </c:tx>
          <c:spPr>
            <a:solidFill>
              <a:srgbClr val="808080"/>
            </a:solidFill>
          </c:spPr>
          <c:invertIfNegative val="0"/>
          <c:xVal>
            <c:numLit>
              <c:formatCode>General</c:formatCode>
              <c:ptCount val="1"/>
              <c:pt idx="0">
                <c:v>96.054039844446891</c:v>
              </c:pt>
            </c:numLit>
          </c:xVal>
          <c:yVal>
            <c:numLit>
              <c:formatCode>General</c:formatCode>
              <c:ptCount val="1"/>
              <c:pt idx="0">
                <c:v>123.2128021703017</c:v>
              </c:pt>
            </c:numLit>
          </c:yVal>
          <c:bubbleSize>
            <c:numLit>
              <c:formatCode>General</c:formatCode>
              <c:ptCount val="1"/>
              <c:pt idx="0">
                <c:v>1016.95</c:v>
              </c:pt>
            </c:numLit>
          </c:bubbleSize>
          <c:bubble3D val="0"/>
          <c:extLst>
            <c:ext xmlns:c16="http://schemas.microsoft.com/office/drawing/2014/chart" uri="{C3380CC4-5D6E-409C-BE32-E72D297353CC}">
              <c16:uniqueId val="{00000005-8374-42A5-A391-5A572A4A7DAD}"/>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
          <c:min val="30"/>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175"/>
          <c:min val="0"/>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267.452</c:v>
              </c:pt>
              <c:pt idx="2">
                <c:v>291.041</c:v>
              </c:pt>
              <c:pt idx="3">
                <c:v>316.49400000000003</c:v>
              </c:pt>
              <c:pt idx="4">
                <c:v>343.89800000000002</c:v>
              </c:pt>
              <c:pt idx="5">
                <c:v>373.30799999999999</c:v>
              </c:pt>
              <c:pt idx="6">
                <c:v>0</c:v>
              </c:pt>
            </c:numLit>
          </c:val>
          <c:extLst>
            <c:ext xmlns:c16="http://schemas.microsoft.com/office/drawing/2014/chart" uri="{C3380CC4-5D6E-409C-BE32-E72D297353CC}">
              <c16:uniqueId val="{00000000-87D9-40D6-9D20-FDA34139A8B8}"/>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87D9-40D6-9D20-FDA34139A8B8}"/>
              </c:ext>
            </c:extLst>
          </c:dPt>
          <c:dPt>
            <c:idx val="1"/>
            <c:invertIfNegative val="1"/>
            <c:bubble3D val="0"/>
            <c:spPr>
              <a:solidFill>
                <a:srgbClr val="008189"/>
              </a:solidFill>
            </c:spPr>
            <c:extLst>
              <c:ext xmlns:c16="http://schemas.microsoft.com/office/drawing/2014/chart" uri="{C3380CC4-5D6E-409C-BE32-E72D297353CC}">
                <c16:uniqueId val="{00000004-87D9-40D6-9D20-FDA34139A8B8}"/>
              </c:ext>
            </c:extLst>
          </c:dPt>
          <c:dPt>
            <c:idx val="2"/>
            <c:invertIfNegative val="1"/>
            <c:bubble3D val="0"/>
            <c:spPr>
              <a:solidFill>
                <a:srgbClr val="008189"/>
              </a:solidFill>
            </c:spPr>
            <c:extLst>
              <c:ext xmlns:c16="http://schemas.microsoft.com/office/drawing/2014/chart" uri="{C3380CC4-5D6E-409C-BE32-E72D297353CC}">
                <c16:uniqueId val="{00000006-87D9-40D6-9D20-FDA34139A8B8}"/>
              </c:ext>
            </c:extLst>
          </c:dPt>
          <c:dPt>
            <c:idx val="3"/>
            <c:invertIfNegative val="1"/>
            <c:bubble3D val="0"/>
            <c:spPr>
              <a:solidFill>
                <a:srgbClr val="008189"/>
              </a:solidFill>
            </c:spPr>
            <c:extLst>
              <c:ext xmlns:c16="http://schemas.microsoft.com/office/drawing/2014/chart" uri="{C3380CC4-5D6E-409C-BE32-E72D297353CC}">
                <c16:uniqueId val="{00000008-87D9-40D6-9D20-FDA34139A8B8}"/>
              </c:ext>
            </c:extLst>
          </c:dPt>
          <c:dPt>
            <c:idx val="4"/>
            <c:invertIfNegative val="1"/>
            <c:bubble3D val="0"/>
            <c:spPr>
              <a:solidFill>
                <a:srgbClr val="008189"/>
              </a:solidFill>
            </c:spPr>
            <c:extLst>
              <c:ext xmlns:c16="http://schemas.microsoft.com/office/drawing/2014/chart" uri="{C3380CC4-5D6E-409C-BE32-E72D297353CC}">
                <c16:uniqueId val="{0000000A-87D9-40D6-9D20-FDA34139A8B8}"/>
              </c:ext>
            </c:extLst>
          </c:dPt>
          <c:dPt>
            <c:idx val="5"/>
            <c:invertIfNegative val="1"/>
            <c:bubble3D val="0"/>
            <c:spPr>
              <a:solidFill>
                <a:srgbClr val="008189"/>
              </a:solidFill>
            </c:spPr>
            <c:extLst>
              <c:ext xmlns:c16="http://schemas.microsoft.com/office/drawing/2014/chart" uri="{C3380CC4-5D6E-409C-BE32-E72D297353CC}">
                <c16:uniqueId val="{0000000C-87D9-40D6-9D20-FDA34139A8B8}"/>
              </c:ext>
            </c:extLst>
          </c:dPt>
          <c:dPt>
            <c:idx val="6"/>
            <c:invertIfNegative val="1"/>
            <c:bubble3D val="0"/>
            <c:spPr>
              <a:solidFill>
                <a:srgbClr val="0E72AE"/>
              </a:solidFill>
            </c:spPr>
            <c:extLst>
              <c:ext xmlns:c16="http://schemas.microsoft.com/office/drawing/2014/chart" uri="{C3380CC4-5D6E-409C-BE32-E72D297353CC}">
                <c16:uniqueId val="{0000000E-87D9-40D6-9D20-FDA34139A8B8}"/>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7D9-40D6-9D20-FDA34139A8B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7D9-40D6-9D20-FDA34139A8B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7D9-40D6-9D20-FDA34139A8B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7D9-40D6-9D20-FDA34139A8B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7D9-40D6-9D20-FDA34139A8B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7D9-40D6-9D20-FDA34139A8B8}"/>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7D9-40D6-9D20-FDA34139A8B8}"/>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267.452</c:v>
              </c:pt>
              <c:pt idx="1">
                <c:v>23.588999999999999</c:v>
              </c:pt>
              <c:pt idx="2">
                <c:v>25.453000000000031</c:v>
              </c:pt>
              <c:pt idx="3">
                <c:v>27.403999999999996</c:v>
              </c:pt>
              <c:pt idx="4">
                <c:v>29.409999999999968</c:v>
              </c:pt>
              <c:pt idx="5">
                <c:v>31.478000000000009</c:v>
              </c:pt>
              <c:pt idx="6">
                <c:v>404.786</c:v>
              </c:pt>
            </c:numLit>
          </c:val>
          <c:extLst>
            <c:ext xmlns:c16="http://schemas.microsoft.com/office/drawing/2014/chart" uri="{C3380CC4-5D6E-409C-BE32-E72D297353CC}">
              <c16:uniqueId val="{0000000F-87D9-40D6-9D20-FDA34139A8B8}"/>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238.03</c:v>
              </c:pt>
              <c:pt idx="2">
                <c:v>275.92899999999997</c:v>
              </c:pt>
              <c:pt idx="3">
                <c:v>319.96100000000001</c:v>
              </c:pt>
              <c:pt idx="4">
                <c:v>371.142</c:v>
              </c:pt>
              <c:pt idx="5">
                <c:v>430.666</c:v>
              </c:pt>
              <c:pt idx="6">
                <c:v>0</c:v>
              </c:pt>
            </c:numLit>
          </c:val>
          <c:extLst>
            <c:ext xmlns:c16="http://schemas.microsoft.com/office/drawing/2014/chart" uri="{C3380CC4-5D6E-409C-BE32-E72D297353CC}">
              <c16:uniqueId val="{00000000-BF68-4EA8-BC8B-F441DB34724D}"/>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BF68-4EA8-BC8B-F441DB34724D}"/>
              </c:ext>
            </c:extLst>
          </c:dPt>
          <c:dPt>
            <c:idx val="1"/>
            <c:invertIfNegative val="1"/>
            <c:bubble3D val="0"/>
            <c:spPr>
              <a:solidFill>
                <a:srgbClr val="008189"/>
              </a:solidFill>
            </c:spPr>
            <c:extLst>
              <c:ext xmlns:c16="http://schemas.microsoft.com/office/drawing/2014/chart" uri="{C3380CC4-5D6E-409C-BE32-E72D297353CC}">
                <c16:uniqueId val="{00000004-BF68-4EA8-BC8B-F441DB34724D}"/>
              </c:ext>
            </c:extLst>
          </c:dPt>
          <c:dPt>
            <c:idx val="2"/>
            <c:invertIfNegative val="1"/>
            <c:bubble3D val="0"/>
            <c:spPr>
              <a:solidFill>
                <a:srgbClr val="008189"/>
              </a:solidFill>
            </c:spPr>
            <c:extLst>
              <c:ext xmlns:c16="http://schemas.microsoft.com/office/drawing/2014/chart" uri="{C3380CC4-5D6E-409C-BE32-E72D297353CC}">
                <c16:uniqueId val="{00000006-BF68-4EA8-BC8B-F441DB34724D}"/>
              </c:ext>
            </c:extLst>
          </c:dPt>
          <c:dPt>
            <c:idx val="3"/>
            <c:invertIfNegative val="1"/>
            <c:bubble3D val="0"/>
            <c:spPr>
              <a:solidFill>
                <a:srgbClr val="008189"/>
              </a:solidFill>
            </c:spPr>
            <c:extLst>
              <c:ext xmlns:c16="http://schemas.microsoft.com/office/drawing/2014/chart" uri="{C3380CC4-5D6E-409C-BE32-E72D297353CC}">
                <c16:uniqueId val="{00000008-BF68-4EA8-BC8B-F441DB34724D}"/>
              </c:ext>
            </c:extLst>
          </c:dPt>
          <c:dPt>
            <c:idx val="4"/>
            <c:invertIfNegative val="1"/>
            <c:bubble3D val="0"/>
            <c:spPr>
              <a:solidFill>
                <a:srgbClr val="008189"/>
              </a:solidFill>
            </c:spPr>
            <c:extLst>
              <c:ext xmlns:c16="http://schemas.microsoft.com/office/drawing/2014/chart" uri="{C3380CC4-5D6E-409C-BE32-E72D297353CC}">
                <c16:uniqueId val="{0000000A-BF68-4EA8-BC8B-F441DB34724D}"/>
              </c:ext>
            </c:extLst>
          </c:dPt>
          <c:dPt>
            <c:idx val="5"/>
            <c:invertIfNegative val="1"/>
            <c:bubble3D val="0"/>
            <c:spPr>
              <a:solidFill>
                <a:srgbClr val="008189"/>
              </a:solidFill>
            </c:spPr>
            <c:extLst>
              <c:ext xmlns:c16="http://schemas.microsoft.com/office/drawing/2014/chart" uri="{C3380CC4-5D6E-409C-BE32-E72D297353CC}">
                <c16:uniqueId val="{0000000C-BF68-4EA8-BC8B-F441DB34724D}"/>
              </c:ext>
            </c:extLst>
          </c:dPt>
          <c:dPt>
            <c:idx val="6"/>
            <c:invertIfNegative val="1"/>
            <c:bubble3D val="0"/>
            <c:spPr>
              <a:solidFill>
                <a:srgbClr val="0E72AE"/>
              </a:solidFill>
            </c:spPr>
            <c:extLst>
              <c:ext xmlns:c16="http://schemas.microsoft.com/office/drawing/2014/chart" uri="{C3380CC4-5D6E-409C-BE32-E72D297353CC}">
                <c16:uniqueId val="{0000000E-BF68-4EA8-BC8B-F441DB34724D}"/>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F68-4EA8-BC8B-F441DB34724D}"/>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F68-4EA8-BC8B-F441DB34724D}"/>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F68-4EA8-BC8B-F441DB34724D}"/>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F68-4EA8-BC8B-F441DB34724D}"/>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F68-4EA8-BC8B-F441DB34724D}"/>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F68-4EA8-BC8B-F441DB34724D}"/>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F68-4EA8-BC8B-F441DB34724D}"/>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238.03</c:v>
              </c:pt>
              <c:pt idx="1">
                <c:v>37.898999999999972</c:v>
              </c:pt>
              <c:pt idx="2">
                <c:v>44.032000000000039</c:v>
              </c:pt>
              <c:pt idx="3">
                <c:v>51.180999999999983</c:v>
              </c:pt>
              <c:pt idx="4">
                <c:v>59.524000000000001</c:v>
              </c:pt>
              <c:pt idx="5">
                <c:v>69.268000000000029</c:v>
              </c:pt>
              <c:pt idx="6">
                <c:v>499.93400000000003</c:v>
              </c:pt>
            </c:numLit>
          </c:val>
          <c:extLst>
            <c:ext xmlns:c16="http://schemas.microsoft.com/office/drawing/2014/chart" uri="{C3380CC4-5D6E-409C-BE32-E72D297353CC}">
              <c16:uniqueId val="{0000000F-BF68-4EA8-BC8B-F441DB34724D}"/>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519.43100000000004</c:v>
              </c:pt>
              <c:pt idx="2">
                <c:v>614.79</c:v>
              </c:pt>
              <c:pt idx="3">
                <c:v>726.87900000000002</c:v>
              </c:pt>
              <c:pt idx="4">
                <c:v>858.62</c:v>
              </c:pt>
              <c:pt idx="5">
                <c:v>1013.467</c:v>
              </c:pt>
              <c:pt idx="6">
                <c:v>0</c:v>
              </c:pt>
            </c:numLit>
          </c:val>
          <c:extLst>
            <c:ext xmlns:c16="http://schemas.microsoft.com/office/drawing/2014/chart" uri="{C3380CC4-5D6E-409C-BE32-E72D297353CC}">
              <c16:uniqueId val="{00000000-0733-4423-9D72-F54C525C2776}"/>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0733-4423-9D72-F54C525C2776}"/>
              </c:ext>
            </c:extLst>
          </c:dPt>
          <c:dPt>
            <c:idx val="1"/>
            <c:invertIfNegative val="1"/>
            <c:bubble3D val="0"/>
            <c:spPr>
              <a:solidFill>
                <a:srgbClr val="008189"/>
              </a:solidFill>
            </c:spPr>
            <c:extLst>
              <c:ext xmlns:c16="http://schemas.microsoft.com/office/drawing/2014/chart" uri="{C3380CC4-5D6E-409C-BE32-E72D297353CC}">
                <c16:uniqueId val="{00000004-0733-4423-9D72-F54C525C2776}"/>
              </c:ext>
            </c:extLst>
          </c:dPt>
          <c:dPt>
            <c:idx val="2"/>
            <c:invertIfNegative val="1"/>
            <c:bubble3D val="0"/>
            <c:spPr>
              <a:solidFill>
                <a:srgbClr val="008189"/>
              </a:solidFill>
            </c:spPr>
            <c:extLst>
              <c:ext xmlns:c16="http://schemas.microsoft.com/office/drawing/2014/chart" uri="{C3380CC4-5D6E-409C-BE32-E72D297353CC}">
                <c16:uniqueId val="{00000006-0733-4423-9D72-F54C525C2776}"/>
              </c:ext>
            </c:extLst>
          </c:dPt>
          <c:dPt>
            <c:idx val="3"/>
            <c:invertIfNegative val="1"/>
            <c:bubble3D val="0"/>
            <c:spPr>
              <a:solidFill>
                <a:srgbClr val="008189"/>
              </a:solidFill>
            </c:spPr>
            <c:extLst>
              <c:ext xmlns:c16="http://schemas.microsoft.com/office/drawing/2014/chart" uri="{C3380CC4-5D6E-409C-BE32-E72D297353CC}">
                <c16:uniqueId val="{00000008-0733-4423-9D72-F54C525C2776}"/>
              </c:ext>
            </c:extLst>
          </c:dPt>
          <c:dPt>
            <c:idx val="4"/>
            <c:invertIfNegative val="1"/>
            <c:bubble3D val="0"/>
            <c:spPr>
              <a:solidFill>
                <a:srgbClr val="008189"/>
              </a:solidFill>
            </c:spPr>
            <c:extLst>
              <c:ext xmlns:c16="http://schemas.microsoft.com/office/drawing/2014/chart" uri="{C3380CC4-5D6E-409C-BE32-E72D297353CC}">
                <c16:uniqueId val="{0000000A-0733-4423-9D72-F54C525C2776}"/>
              </c:ext>
            </c:extLst>
          </c:dPt>
          <c:dPt>
            <c:idx val="5"/>
            <c:invertIfNegative val="1"/>
            <c:bubble3D val="0"/>
            <c:spPr>
              <a:solidFill>
                <a:srgbClr val="008189"/>
              </a:solidFill>
            </c:spPr>
            <c:extLst>
              <c:ext xmlns:c16="http://schemas.microsoft.com/office/drawing/2014/chart" uri="{C3380CC4-5D6E-409C-BE32-E72D297353CC}">
                <c16:uniqueId val="{0000000C-0733-4423-9D72-F54C525C2776}"/>
              </c:ext>
            </c:extLst>
          </c:dPt>
          <c:dPt>
            <c:idx val="6"/>
            <c:invertIfNegative val="1"/>
            <c:bubble3D val="0"/>
            <c:spPr>
              <a:solidFill>
                <a:srgbClr val="0E72AE"/>
              </a:solidFill>
            </c:spPr>
            <c:extLst>
              <c:ext xmlns:c16="http://schemas.microsoft.com/office/drawing/2014/chart" uri="{C3380CC4-5D6E-409C-BE32-E72D297353CC}">
                <c16:uniqueId val="{0000000E-0733-4423-9D72-F54C525C2776}"/>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733-4423-9D72-F54C525C2776}"/>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733-4423-9D72-F54C525C2776}"/>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733-4423-9D72-F54C525C2776}"/>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733-4423-9D72-F54C525C2776}"/>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733-4423-9D72-F54C525C2776}"/>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0733-4423-9D72-F54C525C2776}"/>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733-4423-9D72-F54C525C2776}"/>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519.43100000000004</c:v>
              </c:pt>
              <c:pt idx="1">
                <c:v>95.358999999999924</c:v>
              </c:pt>
              <c:pt idx="2">
                <c:v>112.08900000000006</c:v>
              </c:pt>
              <c:pt idx="3">
                <c:v>131.74099999999999</c:v>
              </c:pt>
              <c:pt idx="4">
                <c:v>154.84699999999998</c:v>
              </c:pt>
              <c:pt idx="5">
                <c:v>182.00699999999995</c:v>
              </c:pt>
              <c:pt idx="6">
                <c:v>1195.4739999999999</c:v>
              </c:pt>
            </c:numLit>
          </c:val>
          <c:extLst>
            <c:ext xmlns:c16="http://schemas.microsoft.com/office/drawing/2014/chart" uri="{C3380CC4-5D6E-409C-BE32-E72D297353CC}">
              <c16:uniqueId val="{0000000F-0733-4423-9D72-F54C525C2776}"/>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667.66700000000003</c:v>
              </c:pt>
              <c:pt idx="2">
                <c:v>717.98199999999997</c:v>
              </c:pt>
              <c:pt idx="3">
                <c:v>770.37199999999996</c:v>
              </c:pt>
              <c:pt idx="4">
                <c:v>824.46100000000001</c:v>
              </c:pt>
              <c:pt idx="5">
                <c:v>879.71299999999997</c:v>
              </c:pt>
              <c:pt idx="6">
                <c:v>0</c:v>
              </c:pt>
            </c:numLit>
          </c:val>
          <c:extLst>
            <c:ext xmlns:c16="http://schemas.microsoft.com/office/drawing/2014/chart" uri="{C3380CC4-5D6E-409C-BE32-E72D297353CC}">
              <c16:uniqueId val="{00000000-7A5F-4DEF-837C-94156220830C}"/>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7A5F-4DEF-837C-94156220830C}"/>
              </c:ext>
            </c:extLst>
          </c:dPt>
          <c:dPt>
            <c:idx val="1"/>
            <c:invertIfNegative val="1"/>
            <c:bubble3D val="0"/>
            <c:spPr>
              <a:solidFill>
                <a:srgbClr val="008189"/>
              </a:solidFill>
            </c:spPr>
            <c:extLst>
              <c:ext xmlns:c16="http://schemas.microsoft.com/office/drawing/2014/chart" uri="{C3380CC4-5D6E-409C-BE32-E72D297353CC}">
                <c16:uniqueId val="{00000004-7A5F-4DEF-837C-94156220830C}"/>
              </c:ext>
            </c:extLst>
          </c:dPt>
          <c:dPt>
            <c:idx val="2"/>
            <c:invertIfNegative val="1"/>
            <c:bubble3D val="0"/>
            <c:spPr>
              <a:solidFill>
                <a:srgbClr val="008189"/>
              </a:solidFill>
            </c:spPr>
            <c:extLst>
              <c:ext xmlns:c16="http://schemas.microsoft.com/office/drawing/2014/chart" uri="{C3380CC4-5D6E-409C-BE32-E72D297353CC}">
                <c16:uniqueId val="{00000006-7A5F-4DEF-837C-94156220830C}"/>
              </c:ext>
            </c:extLst>
          </c:dPt>
          <c:dPt>
            <c:idx val="3"/>
            <c:invertIfNegative val="1"/>
            <c:bubble3D val="0"/>
            <c:spPr>
              <a:solidFill>
                <a:srgbClr val="008189"/>
              </a:solidFill>
            </c:spPr>
            <c:extLst>
              <c:ext xmlns:c16="http://schemas.microsoft.com/office/drawing/2014/chart" uri="{C3380CC4-5D6E-409C-BE32-E72D297353CC}">
                <c16:uniqueId val="{00000008-7A5F-4DEF-837C-94156220830C}"/>
              </c:ext>
            </c:extLst>
          </c:dPt>
          <c:dPt>
            <c:idx val="4"/>
            <c:invertIfNegative val="1"/>
            <c:bubble3D val="0"/>
            <c:spPr>
              <a:solidFill>
                <a:srgbClr val="008189"/>
              </a:solidFill>
            </c:spPr>
            <c:extLst>
              <c:ext xmlns:c16="http://schemas.microsoft.com/office/drawing/2014/chart" uri="{C3380CC4-5D6E-409C-BE32-E72D297353CC}">
                <c16:uniqueId val="{0000000A-7A5F-4DEF-837C-94156220830C}"/>
              </c:ext>
            </c:extLst>
          </c:dPt>
          <c:dPt>
            <c:idx val="5"/>
            <c:invertIfNegative val="1"/>
            <c:bubble3D val="0"/>
            <c:spPr>
              <a:solidFill>
                <a:srgbClr val="008189"/>
              </a:solidFill>
            </c:spPr>
            <c:extLst>
              <c:ext xmlns:c16="http://schemas.microsoft.com/office/drawing/2014/chart" uri="{C3380CC4-5D6E-409C-BE32-E72D297353CC}">
                <c16:uniqueId val="{0000000C-7A5F-4DEF-837C-94156220830C}"/>
              </c:ext>
            </c:extLst>
          </c:dPt>
          <c:dPt>
            <c:idx val="6"/>
            <c:invertIfNegative val="1"/>
            <c:bubble3D val="0"/>
            <c:spPr>
              <a:solidFill>
                <a:srgbClr val="0E72AE"/>
              </a:solidFill>
            </c:spPr>
            <c:extLst>
              <c:ext xmlns:c16="http://schemas.microsoft.com/office/drawing/2014/chart" uri="{C3380CC4-5D6E-409C-BE32-E72D297353CC}">
                <c16:uniqueId val="{0000000E-7A5F-4DEF-837C-94156220830C}"/>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A5F-4DEF-837C-94156220830C}"/>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A5F-4DEF-837C-94156220830C}"/>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A5F-4DEF-837C-94156220830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A5F-4DEF-837C-94156220830C}"/>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A5F-4DEF-837C-94156220830C}"/>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A5F-4DEF-837C-94156220830C}"/>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A5F-4DEF-837C-94156220830C}"/>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667.66700000000003</c:v>
              </c:pt>
              <c:pt idx="1">
                <c:v>50.314999999999941</c:v>
              </c:pt>
              <c:pt idx="2">
                <c:v>52.389999999999986</c:v>
              </c:pt>
              <c:pt idx="3">
                <c:v>54.089000000000055</c:v>
              </c:pt>
              <c:pt idx="4">
                <c:v>55.251999999999953</c:v>
              </c:pt>
              <c:pt idx="5">
                <c:v>55.662000000000035</c:v>
              </c:pt>
              <c:pt idx="6">
                <c:v>935.375</c:v>
              </c:pt>
            </c:numLit>
          </c:val>
          <c:extLst>
            <c:ext xmlns:c16="http://schemas.microsoft.com/office/drawing/2014/chart" uri="{C3380CC4-5D6E-409C-BE32-E72D297353CC}">
              <c16:uniqueId val="{0000000F-7A5F-4DEF-837C-94156220830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646.06200000000001</c:v>
              </c:pt>
              <c:pt idx="2">
                <c:v>706.43899999999996</c:v>
              </c:pt>
              <c:pt idx="3">
                <c:v>772.07100000000003</c:v>
              </c:pt>
              <c:pt idx="4">
                <c:v>843.29100000000005</c:v>
              </c:pt>
              <c:pt idx="5">
                <c:v>920.42600000000004</c:v>
              </c:pt>
              <c:pt idx="6">
                <c:v>0</c:v>
              </c:pt>
            </c:numLit>
          </c:val>
          <c:extLst>
            <c:ext xmlns:c16="http://schemas.microsoft.com/office/drawing/2014/chart" uri="{C3380CC4-5D6E-409C-BE32-E72D297353CC}">
              <c16:uniqueId val="{00000000-FDD8-488A-AA46-8940C5F01E79}"/>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FDD8-488A-AA46-8940C5F01E79}"/>
              </c:ext>
            </c:extLst>
          </c:dPt>
          <c:dPt>
            <c:idx val="1"/>
            <c:invertIfNegative val="1"/>
            <c:bubble3D val="0"/>
            <c:spPr>
              <a:solidFill>
                <a:srgbClr val="008189"/>
              </a:solidFill>
            </c:spPr>
            <c:extLst>
              <c:ext xmlns:c16="http://schemas.microsoft.com/office/drawing/2014/chart" uri="{C3380CC4-5D6E-409C-BE32-E72D297353CC}">
                <c16:uniqueId val="{00000004-FDD8-488A-AA46-8940C5F01E79}"/>
              </c:ext>
            </c:extLst>
          </c:dPt>
          <c:dPt>
            <c:idx val="2"/>
            <c:invertIfNegative val="1"/>
            <c:bubble3D val="0"/>
            <c:spPr>
              <a:solidFill>
                <a:srgbClr val="008189"/>
              </a:solidFill>
            </c:spPr>
            <c:extLst>
              <c:ext xmlns:c16="http://schemas.microsoft.com/office/drawing/2014/chart" uri="{C3380CC4-5D6E-409C-BE32-E72D297353CC}">
                <c16:uniqueId val="{00000006-FDD8-488A-AA46-8940C5F01E79}"/>
              </c:ext>
            </c:extLst>
          </c:dPt>
          <c:dPt>
            <c:idx val="3"/>
            <c:invertIfNegative val="1"/>
            <c:bubble3D val="0"/>
            <c:spPr>
              <a:solidFill>
                <a:srgbClr val="008189"/>
              </a:solidFill>
            </c:spPr>
            <c:extLst>
              <c:ext xmlns:c16="http://schemas.microsoft.com/office/drawing/2014/chart" uri="{C3380CC4-5D6E-409C-BE32-E72D297353CC}">
                <c16:uniqueId val="{00000008-FDD8-488A-AA46-8940C5F01E79}"/>
              </c:ext>
            </c:extLst>
          </c:dPt>
          <c:dPt>
            <c:idx val="4"/>
            <c:invertIfNegative val="1"/>
            <c:bubble3D val="0"/>
            <c:spPr>
              <a:solidFill>
                <a:srgbClr val="008189"/>
              </a:solidFill>
            </c:spPr>
            <c:extLst>
              <c:ext xmlns:c16="http://schemas.microsoft.com/office/drawing/2014/chart" uri="{C3380CC4-5D6E-409C-BE32-E72D297353CC}">
                <c16:uniqueId val="{0000000A-FDD8-488A-AA46-8940C5F01E79}"/>
              </c:ext>
            </c:extLst>
          </c:dPt>
          <c:dPt>
            <c:idx val="5"/>
            <c:invertIfNegative val="1"/>
            <c:bubble3D val="0"/>
            <c:spPr>
              <a:solidFill>
                <a:srgbClr val="008189"/>
              </a:solidFill>
            </c:spPr>
            <c:extLst>
              <c:ext xmlns:c16="http://schemas.microsoft.com/office/drawing/2014/chart" uri="{C3380CC4-5D6E-409C-BE32-E72D297353CC}">
                <c16:uniqueId val="{0000000C-FDD8-488A-AA46-8940C5F01E79}"/>
              </c:ext>
            </c:extLst>
          </c:dPt>
          <c:dPt>
            <c:idx val="6"/>
            <c:invertIfNegative val="1"/>
            <c:bubble3D val="0"/>
            <c:spPr>
              <a:solidFill>
                <a:srgbClr val="0E72AE"/>
              </a:solidFill>
            </c:spPr>
            <c:extLst>
              <c:ext xmlns:c16="http://schemas.microsoft.com/office/drawing/2014/chart" uri="{C3380CC4-5D6E-409C-BE32-E72D297353CC}">
                <c16:uniqueId val="{0000000E-FDD8-488A-AA46-8940C5F01E79}"/>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DD8-488A-AA46-8940C5F01E79}"/>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DD8-488A-AA46-8940C5F01E79}"/>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DD8-488A-AA46-8940C5F01E79}"/>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DD8-488A-AA46-8940C5F01E79}"/>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DD8-488A-AA46-8940C5F01E79}"/>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DD8-488A-AA46-8940C5F01E79}"/>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DD8-488A-AA46-8940C5F01E79}"/>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646.06200000000001</c:v>
              </c:pt>
              <c:pt idx="1">
                <c:v>60.376999999999953</c:v>
              </c:pt>
              <c:pt idx="2">
                <c:v>65.632000000000062</c:v>
              </c:pt>
              <c:pt idx="3">
                <c:v>71.220000000000027</c:v>
              </c:pt>
              <c:pt idx="4">
                <c:v>77.134999999999991</c:v>
              </c:pt>
              <c:pt idx="5">
                <c:v>83.351999999999975</c:v>
              </c:pt>
              <c:pt idx="6">
                <c:v>1003.778</c:v>
              </c:pt>
            </c:numLit>
          </c:val>
          <c:extLst>
            <c:ext xmlns:c16="http://schemas.microsoft.com/office/drawing/2014/chart" uri="{C3380CC4-5D6E-409C-BE32-E72D297353CC}">
              <c16:uniqueId val="{0000000F-FDD8-488A-AA46-8940C5F01E79}"/>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604.35900000000004</c:v>
              </c:pt>
              <c:pt idx="2">
                <c:v>670.178</c:v>
              </c:pt>
              <c:pt idx="3">
                <c:v>743.43700000000001</c:v>
              </c:pt>
              <c:pt idx="4">
                <c:v>824.99599999999998</c:v>
              </c:pt>
              <c:pt idx="5">
                <c:v>915.81</c:v>
              </c:pt>
              <c:pt idx="6">
                <c:v>0</c:v>
              </c:pt>
            </c:numLit>
          </c:val>
          <c:extLst>
            <c:ext xmlns:c16="http://schemas.microsoft.com/office/drawing/2014/chart" uri="{C3380CC4-5D6E-409C-BE32-E72D297353CC}">
              <c16:uniqueId val="{00000000-2D48-456B-8577-ABFB20FD3A89}"/>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2D48-456B-8577-ABFB20FD3A89}"/>
              </c:ext>
            </c:extLst>
          </c:dPt>
          <c:dPt>
            <c:idx val="1"/>
            <c:invertIfNegative val="1"/>
            <c:bubble3D val="0"/>
            <c:spPr>
              <a:solidFill>
                <a:srgbClr val="008189"/>
              </a:solidFill>
            </c:spPr>
            <c:extLst>
              <c:ext xmlns:c16="http://schemas.microsoft.com/office/drawing/2014/chart" uri="{C3380CC4-5D6E-409C-BE32-E72D297353CC}">
                <c16:uniqueId val="{00000004-2D48-456B-8577-ABFB20FD3A89}"/>
              </c:ext>
            </c:extLst>
          </c:dPt>
          <c:dPt>
            <c:idx val="2"/>
            <c:invertIfNegative val="1"/>
            <c:bubble3D val="0"/>
            <c:spPr>
              <a:solidFill>
                <a:srgbClr val="008189"/>
              </a:solidFill>
            </c:spPr>
            <c:extLst>
              <c:ext xmlns:c16="http://schemas.microsoft.com/office/drawing/2014/chart" uri="{C3380CC4-5D6E-409C-BE32-E72D297353CC}">
                <c16:uniqueId val="{00000006-2D48-456B-8577-ABFB20FD3A89}"/>
              </c:ext>
            </c:extLst>
          </c:dPt>
          <c:dPt>
            <c:idx val="3"/>
            <c:invertIfNegative val="1"/>
            <c:bubble3D val="0"/>
            <c:spPr>
              <a:solidFill>
                <a:srgbClr val="008189"/>
              </a:solidFill>
            </c:spPr>
            <c:extLst>
              <c:ext xmlns:c16="http://schemas.microsoft.com/office/drawing/2014/chart" uri="{C3380CC4-5D6E-409C-BE32-E72D297353CC}">
                <c16:uniqueId val="{00000008-2D48-456B-8577-ABFB20FD3A89}"/>
              </c:ext>
            </c:extLst>
          </c:dPt>
          <c:dPt>
            <c:idx val="4"/>
            <c:invertIfNegative val="1"/>
            <c:bubble3D val="0"/>
            <c:spPr>
              <a:solidFill>
                <a:srgbClr val="008189"/>
              </a:solidFill>
            </c:spPr>
            <c:extLst>
              <c:ext xmlns:c16="http://schemas.microsoft.com/office/drawing/2014/chart" uri="{C3380CC4-5D6E-409C-BE32-E72D297353CC}">
                <c16:uniqueId val="{0000000A-2D48-456B-8577-ABFB20FD3A89}"/>
              </c:ext>
            </c:extLst>
          </c:dPt>
          <c:dPt>
            <c:idx val="5"/>
            <c:invertIfNegative val="1"/>
            <c:bubble3D val="0"/>
            <c:spPr>
              <a:solidFill>
                <a:srgbClr val="008189"/>
              </a:solidFill>
            </c:spPr>
            <c:extLst>
              <c:ext xmlns:c16="http://schemas.microsoft.com/office/drawing/2014/chart" uri="{C3380CC4-5D6E-409C-BE32-E72D297353CC}">
                <c16:uniqueId val="{0000000C-2D48-456B-8577-ABFB20FD3A89}"/>
              </c:ext>
            </c:extLst>
          </c:dPt>
          <c:dPt>
            <c:idx val="6"/>
            <c:invertIfNegative val="1"/>
            <c:bubble3D val="0"/>
            <c:spPr>
              <a:solidFill>
                <a:srgbClr val="0E72AE"/>
              </a:solidFill>
            </c:spPr>
            <c:extLst>
              <c:ext xmlns:c16="http://schemas.microsoft.com/office/drawing/2014/chart" uri="{C3380CC4-5D6E-409C-BE32-E72D297353CC}">
                <c16:uniqueId val="{0000000E-2D48-456B-8577-ABFB20FD3A89}"/>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D48-456B-8577-ABFB20FD3A89}"/>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D48-456B-8577-ABFB20FD3A89}"/>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D48-456B-8577-ABFB20FD3A89}"/>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D48-456B-8577-ABFB20FD3A89}"/>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D48-456B-8577-ABFB20FD3A89}"/>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D48-456B-8577-ABFB20FD3A89}"/>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D48-456B-8577-ABFB20FD3A89}"/>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604.35900000000004</c:v>
              </c:pt>
              <c:pt idx="1">
                <c:v>65.81899999999996</c:v>
              </c:pt>
              <c:pt idx="2">
                <c:v>73.259000000000015</c:v>
              </c:pt>
              <c:pt idx="3">
                <c:v>81.558999999999969</c:v>
              </c:pt>
              <c:pt idx="4">
                <c:v>90.813999999999965</c:v>
              </c:pt>
              <c:pt idx="5">
                <c:v>101.1400000000001</c:v>
              </c:pt>
              <c:pt idx="6">
                <c:v>1016.95</c:v>
              </c:pt>
            </c:numLit>
          </c:val>
          <c:extLst>
            <c:ext xmlns:c16="http://schemas.microsoft.com/office/drawing/2014/chart" uri="{C3380CC4-5D6E-409C-BE32-E72D297353CC}">
              <c16:uniqueId val="{0000000F-2D48-456B-8577-ABFB20FD3A89}"/>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Pouches</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535-406A-8181-0E1A09500ECC}"/>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535-406A-8181-0E1A09500ECC}"/>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535-406A-8181-0E1A09500ECC}"/>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15.021885503921464</c:v>
              </c:pt>
              <c:pt idx="1">
                <c:v>17.64970518188747</c:v>
              </c:pt>
              <c:pt idx="2">
                <c:v>23.643270955009164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E535-406A-8181-0E1A09500ECC}"/>
            </c:ext>
          </c:extLst>
        </c:ser>
        <c:ser>
          <c:idx val="1"/>
          <c:order val="1"/>
          <c:tx>
            <c:v>Canisters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535-406A-8181-0E1A09500ECC}"/>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535-406A-8181-0E1A09500ECC}"/>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535-406A-8181-0E1A09500ECC}"/>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20.729317611908446</c:v>
              </c:pt>
              <c:pt idx="1">
                <c:v>20.535467028383611</c:v>
              </c:pt>
              <c:pt idx="2">
                <c:v>20.112544812933258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E535-406A-8181-0E1A09500ECC}"/>
            </c:ext>
          </c:extLst>
        </c:ser>
        <c:ser>
          <c:idx val="2"/>
          <c:order val="2"/>
          <c:tx>
            <c:v>Blister Packs</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535-406A-8181-0E1A09500ECC}"/>
                </c:ext>
              </c:extLst>
            </c:dLbl>
            <c:dLbl>
              <c:idx val="1"/>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535-406A-8181-0E1A09500ECC}"/>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535-406A-8181-0E1A09500ECC}"/>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22.873520781091607</c:v>
              </c:pt>
              <c:pt idx="1">
                <c:v>21.952489992358139</c:v>
              </c:pt>
              <c:pt idx="2">
                <c:v>19.852037963750941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E535-406A-8181-0E1A09500ECC}"/>
            </c:ext>
          </c:extLst>
        </c:ser>
        <c:ser>
          <c:idx val="3"/>
          <c:order val="3"/>
          <c:tx>
            <c:v>Sachets</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535-406A-8181-0E1A09500ECC}"/>
                </c:ext>
              </c:extLst>
            </c:dLbl>
            <c:dLbl>
              <c:idx val="1"/>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535-406A-8181-0E1A09500ECC}"/>
                </c:ext>
              </c:extLst>
            </c:dLbl>
            <c:dLbl>
              <c:idx val="2"/>
              <c:numFmt formatCode="&quot;MMMM&quot;;&quot;MMMM&quot;;&quot;M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535-406A-8181-0E1A09500ECC}"/>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24.49503281224991</c:v>
              </c:pt>
              <c:pt idx="1">
                <c:v>22.686604591707578</c:v>
              </c:pt>
              <c:pt idx="2">
                <c:v>18.499209994982493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E535-406A-8181-0E1A09500ECC}"/>
            </c:ext>
          </c:extLst>
        </c:ser>
        <c:ser>
          <c:idx val="4"/>
          <c:order val="4"/>
          <c:tx>
            <c:v>Jars and Tubs</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535-406A-8181-0E1A09500ECC}"/>
                </c:ext>
              </c:extLst>
            </c:dLbl>
            <c:dLbl>
              <c:idx val="1"/>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E535-406A-8181-0E1A09500ECC}"/>
                </c:ext>
              </c:extLst>
            </c:dLbl>
            <c:dLbl>
              <c:idx val="2"/>
              <c:numFmt formatCode="&quot;MMM&quot;;&quot;MMM&quot;;&quot;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E535-406A-8181-0E1A09500ECC}"/>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7.3028223870244897</c:v>
              </c:pt>
              <c:pt idx="1">
                <c:v>8.0880026884122707</c:v>
              </c:pt>
              <c:pt idx="2">
                <c:v>9.8873543227385579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E535-406A-8181-0E1A09500ECC}"/>
            </c:ext>
          </c:extLst>
        </c:ser>
        <c:ser>
          <c:idx val="5"/>
          <c:order val="5"/>
          <c:tx>
            <c:v>Bottles</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E535-406A-8181-0E1A09500ECC}"/>
                </c:ext>
              </c:extLst>
            </c:dLbl>
            <c:dLbl>
              <c:idx val="1"/>
              <c:numFmt formatCode="&quot;MMM&quot;;&quot;MMM&quot;;&quot;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535-406A-8181-0E1A09500ECC}"/>
                </c:ext>
              </c:extLst>
            </c:dLbl>
            <c:dLbl>
              <c:idx val="2"/>
              <c:numFmt formatCode="&quot;MMM&quot;;&quot;MMM&quot;;&quot;MMM&quot;" sourceLinked="0"/>
              <c:spPr>
                <a:blipFill>
                  <a:blip xmlns:r="http://schemas.openxmlformats.org/officeDocument/2006/relationships"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535-406A-8181-0E1A09500ECC}"/>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9.5774209038040876</c:v>
              </c:pt>
              <c:pt idx="1">
                <c:v>9.0877305172509271</c:v>
              </c:pt>
              <c:pt idx="2">
                <c:v>8.0055819505855759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E535-406A-8181-0E1A09500EC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Veterinary Channels</c:v>
          </c:tx>
          <c:spPr>
            <a:solidFill>
              <a:srgbClr val="3D85C6"/>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990-4F68-992E-8731E89E8A3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990-4F68-992E-8731E89E8A3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990-4F68-992E-8731E89E8A3C}"/>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990-4F68-992E-8731E89E8A3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990-4F68-992E-8731E89E8A3C}"/>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990-4F68-992E-8731E89E8A3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990-4F68-992E-8731E89E8A3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990-4F68-992E-8731E89E8A3C}"/>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990-4F68-992E-8731E89E8A3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990-4F68-992E-8731E89E8A3C}"/>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990-4F68-992E-8731E89E8A3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990-4F68-992E-8731E89E8A3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23.495108747269448</c:v>
              </c:pt>
              <c:pt idx="1">
                <c:v>21.036936277074396</c:v>
              </c:pt>
              <c:pt idx="2">
                <c:v>23.753415423010455</c:v>
              </c:pt>
              <c:pt idx="3">
                <c:v>25.820035602401571</c:v>
              </c:pt>
              <c:pt idx="4">
                <c:v>25.980139087126851</c:v>
              </c:pt>
              <c:pt idx="5">
                <c:v>18.364326866436468</c:v>
              </c:pt>
              <c:pt idx="6">
                <c:v>21.226229568176205</c:v>
              </c:pt>
              <c:pt idx="7">
                <c:v>21.946856421074905</c:v>
              </c:pt>
              <c:pt idx="8">
                <c:v>20.283262175985481</c:v>
              </c:pt>
              <c:pt idx="9">
                <c:v>22.881749274224148</c:v>
              </c:pt>
              <c:pt idx="10">
                <c:v>26.559535796757221</c:v>
              </c:pt>
              <c:pt idx="11">
                <c:v>23.073084035833514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0990-4F68-992E-8731E89E8A3C}"/>
            </c:ext>
          </c:extLst>
        </c:ser>
        <c:ser>
          <c:idx val="1"/>
          <c:order val="1"/>
          <c:tx>
            <c:v>Specialist Pet Retail</c:v>
          </c:tx>
          <c:spPr>
            <a:solidFill>
              <a:srgbClr val="9E7E0A"/>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0990-4F68-992E-8731E89E8A3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990-4F68-992E-8731E89E8A3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0990-4F68-992E-8731E89E8A3C}"/>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0990-4F68-992E-8731E89E8A3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0990-4F68-992E-8731E89E8A3C}"/>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0990-4F68-992E-8731E89E8A3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0990-4F68-992E-8731E89E8A3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0990-4F68-992E-8731E89E8A3C}"/>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0990-4F68-992E-8731E89E8A3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0990-4F68-992E-8731E89E8A3C}"/>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0990-4F68-992E-8731E89E8A3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0990-4F68-992E-8731E89E8A3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18.317029157564825</c:v>
              </c:pt>
              <c:pt idx="1">
                <c:v>17.624952042133167</c:v>
              </c:pt>
              <c:pt idx="2">
                <c:v>22.776658228211218</c:v>
              </c:pt>
              <c:pt idx="3">
                <c:v>18.367138600532122</c:v>
              </c:pt>
              <c:pt idx="4">
                <c:v>14.579246257098607</c:v>
              </c:pt>
              <c:pt idx="5">
                <c:v>23.700354873160382</c:v>
              </c:pt>
              <c:pt idx="6">
                <c:v>24.91241870718121</c:v>
              </c:pt>
              <c:pt idx="7">
                <c:v>22.952061000046285</c:v>
              </c:pt>
              <c:pt idx="8">
                <c:v>23.530709522655382</c:v>
              </c:pt>
              <c:pt idx="9">
                <c:v>24.907921325015224</c:v>
              </c:pt>
              <c:pt idx="10">
                <c:v>23.20054618610714</c:v>
              </c:pt>
              <c:pt idx="11">
                <c:v>22.50027619665202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9-0990-4F68-992E-8731E89E8A3C}"/>
            </c:ext>
          </c:extLst>
        </c:ser>
        <c:ser>
          <c:idx val="2"/>
          <c:order val="2"/>
          <c:tx>
            <c:v>General Retail</c:v>
          </c:tx>
          <c:spPr>
            <a:solidFill>
              <a:srgbClr val="008189"/>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0990-4F68-992E-8731E89E8A3C}"/>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0990-4F68-992E-8731E89E8A3C}"/>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0990-4F68-992E-8731E89E8A3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0990-4F68-992E-8731E89E8A3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0990-4F68-992E-8731E89E8A3C}"/>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0990-4F68-992E-8731E89E8A3C}"/>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0990-4F68-992E-8731E89E8A3C}"/>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0990-4F68-992E-8731E89E8A3C}"/>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0990-4F68-992E-8731E89E8A3C}"/>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0990-4F68-992E-8731E89E8A3C}"/>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0990-4F68-992E-8731E89E8A3C}"/>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0990-4F68-992E-8731E89E8A3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8.1622186342482674</c:v>
              </c:pt>
              <c:pt idx="1">
                <c:v>5.8752746677827776</c:v>
              </c:pt>
              <c:pt idx="2">
                <c:v>5.1555855164549893</c:v>
              </c:pt>
              <c:pt idx="3">
                <c:v>6.7242600378993309</c:v>
              </c:pt>
              <c:pt idx="4">
                <c:v>7.8654073916608462</c:v>
              </c:pt>
              <c:pt idx="5">
                <c:v>5.7972194418769485</c:v>
              </c:pt>
              <c:pt idx="6">
                <c:v>6.4892478527719595</c:v>
              </c:pt>
              <c:pt idx="7">
                <c:v>5.293857009648641</c:v>
              </c:pt>
              <c:pt idx="8">
                <c:v>5.3259255116182231</c:v>
              </c:pt>
              <c:pt idx="9">
                <c:v>6.5825443186531007</c:v>
              </c:pt>
              <c:pt idx="10">
                <c:v>6.1660235425993557</c:v>
              </c:pt>
              <c:pt idx="11">
                <c:v>6.205154069697624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6-0990-4F68-992E-8731E89E8A3C}"/>
            </c:ext>
          </c:extLst>
        </c:ser>
        <c:ser>
          <c:idx val="3"/>
          <c:order val="3"/>
          <c:tx>
            <c:v>Brand-Owned E-commerce</c:v>
          </c:tx>
          <c:spPr>
            <a:solidFill>
              <a:srgbClr val="40315E"/>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0990-4F68-992E-8731E89E8A3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0990-4F68-992E-8731E89E8A3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0990-4F68-992E-8731E89E8A3C}"/>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0990-4F68-992E-8731E89E8A3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0990-4F68-992E-8731E89E8A3C}"/>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0990-4F68-992E-8731E89E8A3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0990-4F68-992E-8731E89E8A3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0990-4F68-992E-8731E89E8A3C}"/>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0990-4F68-992E-8731E89E8A3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0990-4F68-992E-8731E89E8A3C}"/>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0990-4F68-992E-8731E89E8A3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0990-4F68-992E-8731E89E8A3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15.557032956596068</c:v>
              </c:pt>
              <c:pt idx="1">
                <c:v>20.391684977852183</c:v>
              </c:pt>
              <c:pt idx="2">
                <c:v>15.336952546238198</c:v>
              </c:pt>
              <c:pt idx="3">
                <c:v>18.018771015306481</c:v>
              </c:pt>
              <c:pt idx="4">
                <c:v>18.185186309939567</c:v>
              </c:pt>
              <c:pt idx="5">
                <c:v>20.224417763772284</c:v>
              </c:pt>
              <c:pt idx="6">
                <c:v>21.001673877450219</c:v>
              </c:pt>
              <c:pt idx="7">
                <c:v>14.87074524015792</c:v>
              </c:pt>
              <c:pt idx="8">
                <c:v>21.712623748531797</c:v>
              </c:pt>
              <c:pt idx="9">
                <c:v>16.047190872431109</c:v>
              </c:pt>
              <c:pt idx="10">
                <c:v>16.378165193823261</c:v>
              </c:pt>
              <c:pt idx="11">
                <c:v>17.157480125849606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33-0990-4F68-992E-8731E89E8A3C}"/>
            </c:ext>
          </c:extLst>
        </c:ser>
        <c:ser>
          <c:idx val="4"/>
          <c:order val="4"/>
          <c:tx>
            <c:v>Third-Party E-commerce</c:v>
          </c:tx>
          <c:spPr>
            <a:solidFill>
              <a:srgbClr val="A35313"/>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0990-4F68-992E-8731E89E8A3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0990-4F68-992E-8731E89E8A3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0990-4F68-992E-8731E89E8A3C}"/>
                </c:ext>
              </c:extLst>
            </c:dLbl>
            <c:dLbl>
              <c:idx val="3"/>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0990-4F68-992E-8731E89E8A3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0990-4F68-992E-8731E89E8A3C}"/>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0990-4F68-992E-8731E89E8A3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0990-4F68-992E-8731E89E8A3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0990-4F68-992E-8731E89E8A3C}"/>
                </c:ext>
              </c:extLst>
            </c:dLbl>
            <c:dLbl>
              <c:idx val="8"/>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0990-4F68-992E-8731E89E8A3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0990-4F68-992E-8731E89E8A3C}"/>
                </c:ext>
              </c:extLst>
            </c:dLbl>
            <c:dLbl>
              <c:idx val="1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0990-4F68-992E-8731E89E8A3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0990-4F68-992E-8731E89E8A3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25.7802260423592</c:v>
              </c:pt>
              <c:pt idx="1">
                <c:v>26.553834885424298</c:v>
              </c:pt>
              <c:pt idx="2">
                <c:v>25.221419811963486</c:v>
              </c:pt>
              <c:pt idx="3">
                <c:v>24.077559640402985</c:v>
              </c:pt>
              <c:pt idx="4">
                <c:v>25.958881229311555</c:v>
              </c:pt>
              <c:pt idx="5">
                <c:v>23.113209806184656</c:v>
              </c:pt>
              <c:pt idx="6">
                <c:v>18.233830618237032</c:v>
              </c:pt>
              <c:pt idx="7">
                <c:v>27.000985365014905</c:v>
              </c:pt>
              <c:pt idx="8">
                <c:v>22.75823281192709</c:v>
              </c:pt>
              <c:pt idx="9">
                <c:v>22.101705683552904</c:v>
              </c:pt>
              <c:pt idx="10">
                <c:v>21.318154781120313</c:v>
              </c:pt>
              <c:pt idx="11">
                <c:v>23.720921295962725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0-0990-4F68-992E-8731E89E8A3C}"/>
            </c:ext>
          </c:extLst>
        </c:ser>
        <c:ser>
          <c:idx val="5"/>
          <c:order val="5"/>
          <c:tx>
            <c:v>Other Direct Sales</c:v>
          </c:tx>
          <c:spPr>
            <a:solidFill>
              <a:srgbClr val="808080"/>
            </a:solidFill>
            <a:ln>
              <a:noFill/>
            </a:ln>
          </c:spPr>
          <c:invertIfNegative val="1"/>
          <c:dLbls>
            <c:dLbl>
              <c:idx val="0"/>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0990-4F68-992E-8731E89E8A3C}"/>
                </c:ext>
              </c:extLst>
            </c:dLbl>
            <c:dLbl>
              <c:idx val="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0990-4F68-992E-8731E89E8A3C}"/>
                </c:ext>
              </c:extLst>
            </c:dLbl>
            <c:dLbl>
              <c:idx val="2"/>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3-0990-4F68-992E-8731E89E8A3C}"/>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0990-4F68-992E-8731E89E8A3C}"/>
                </c:ext>
              </c:extLst>
            </c:dLbl>
            <c:dLbl>
              <c:idx val="4"/>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0990-4F68-992E-8731E89E8A3C}"/>
                </c:ext>
              </c:extLst>
            </c:dLbl>
            <c:dLbl>
              <c:idx val="5"/>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0990-4F68-992E-8731E89E8A3C}"/>
                </c:ext>
              </c:extLst>
            </c:dLbl>
            <c:dLbl>
              <c:idx val="6"/>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0990-4F68-992E-8731E89E8A3C}"/>
                </c:ext>
              </c:extLst>
            </c:dLbl>
            <c:dLbl>
              <c:idx val="7"/>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0990-4F68-992E-8731E89E8A3C}"/>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0990-4F68-992E-8731E89E8A3C}"/>
                </c:ext>
              </c:extLst>
            </c:dLbl>
            <c:dLbl>
              <c:idx val="9"/>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0990-4F68-992E-8731E89E8A3C}"/>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0990-4F68-992E-8731E89E8A3C}"/>
                </c:ext>
              </c:extLst>
            </c:dLbl>
            <c:dLbl>
              <c:idx val="11"/>
              <c:numFmt formatCode="&quot;&quot;" sourceLinked="0"/>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0990-4F68-992E-8731E89E8A3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Lit>
          </c:cat>
          <c:val>
            <c:numLit>
              <c:formatCode>General</c:formatCode>
              <c:ptCount val="12"/>
              <c:pt idx="0">
                <c:v>8.6883844619621993</c:v>
              </c:pt>
              <c:pt idx="1">
                <c:v>8.5173171497331808</c:v>
              </c:pt>
              <c:pt idx="2">
                <c:v>7.7559684741216728</c:v>
              </c:pt>
              <c:pt idx="3">
                <c:v>6.9922351034575172</c:v>
              </c:pt>
              <c:pt idx="4">
                <c:v>7.4311397248625832</c:v>
              </c:pt>
              <c:pt idx="5">
                <c:v>8.8004712485692522</c:v>
              </c:pt>
              <c:pt idx="6">
                <c:v>8.1365993761833781</c:v>
              </c:pt>
              <c:pt idx="7">
                <c:v>7.9354949640573214</c:v>
              </c:pt>
              <c:pt idx="8">
                <c:v>6.3892462292820253</c:v>
              </c:pt>
              <c:pt idx="9">
                <c:v>7.4788885261235185</c:v>
              </c:pt>
              <c:pt idx="10">
                <c:v>6.3775744995926944</c:v>
              </c:pt>
              <c:pt idx="11">
                <c:v>7.3430842760045163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4D-0990-4F68-992E-8731E89E8A3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v>Veterinary Channels</c:v>
          </c:tx>
          <c:spPr>
            <a:solidFill>
              <a:srgbClr val="3D85C6"/>
            </a:solidFill>
          </c:spPr>
          <c:invertIfNegative val="0"/>
          <c:xVal>
            <c:numLit>
              <c:formatCode>General</c:formatCode>
              <c:ptCount val="1"/>
              <c:pt idx="0">
                <c:v>86.207123295483584</c:v>
              </c:pt>
            </c:numLit>
          </c:xVal>
          <c:yVal>
            <c:numLit>
              <c:formatCode>General</c:formatCode>
              <c:ptCount val="1"/>
              <c:pt idx="0">
                <c:v>149.6737513850658</c:v>
              </c:pt>
            </c:numLit>
          </c:yVal>
          <c:bubbleSize>
            <c:numLit>
              <c:formatCode>General</c:formatCode>
              <c:ptCount val="1"/>
              <c:pt idx="0">
                <c:v>1172.6120000000001</c:v>
              </c:pt>
            </c:numLit>
          </c:bubbleSize>
          <c:bubble3D val="0"/>
          <c:extLst>
            <c:ext xmlns:c16="http://schemas.microsoft.com/office/drawing/2014/chart" uri="{C3380CC4-5D6E-409C-BE32-E72D297353CC}">
              <c16:uniqueId val="{00000000-1B29-444D-8FF7-DD4D333AD087}"/>
            </c:ext>
          </c:extLst>
        </c:ser>
        <c:ser>
          <c:idx val="1"/>
          <c:order val="1"/>
          <c:tx>
            <c:v>Specialist Pet Retail</c:v>
          </c:tx>
          <c:spPr>
            <a:solidFill>
              <a:srgbClr val="9E7E0A"/>
            </a:solidFill>
          </c:spPr>
          <c:invertIfNegative val="0"/>
          <c:xVal>
            <c:numLit>
              <c:formatCode>General</c:formatCode>
              <c:ptCount val="1"/>
              <c:pt idx="0">
                <c:v>138.60369506296536</c:v>
              </c:pt>
            </c:numLit>
          </c:xVal>
          <c:yVal>
            <c:numLit>
              <c:formatCode>General</c:formatCode>
              <c:ptCount val="1"/>
              <c:pt idx="0">
                <c:v>110.79771974253494</c:v>
              </c:pt>
            </c:numLit>
          </c:yVal>
          <c:bubbleSize>
            <c:numLit>
              <c:formatCode>General</c:formatCode>
              <c:ptCount val="1"/>
              <c:pt idx="0">
                <c:v>1141.9559999999999</c:v>
              </c:pt>
            </c:numLit>
          </c:bubbleSize>
          <c:bubble3D val="0"/>
          <c:extLst>
            <c:ext xmlns:c16="http://schemas.microsoft.com/office/drawing/2014/chart" uri="{C3380CC4-5D6E-409C-BE32-E72D297353CC}">
              <c16:uniqueId val="{00000001-1B29-444D-8FF7-DD4D333AD087}"/>
            </c:ext>
          </c:extLst>
        </c:ser>
        <c:ser>
          <c:idx val="2"/>
          <c:order val="2"/>
          <c:tx>
            <c:v>General Retail</c:v>
          </c:tx>
          <c:spPr>
            <a:solidFill>
              <a:srgbClr val="008189"/>
            </a:solidFill>
          </c:spPr>
          <c:invertIfNegative val="0"/>
          <c:xVal>
            <c:numLit>
              <c:formatCode>General</c:formatCode>
              <c:ptCount val="1"/>
              <c:pt idx="0">
                <c:v>46.203498696656439</c:v>
              </c:pt>
            </c:numLit>
          </c:xVal>
          <c:yVal>
            <c:numLit>
              <c:formatCode>General</c:formatCode>
              <c:ptCount val="1"/>
              <c:pt idx="0">
                <c:v>49.438311437882632</c:v>
              </c:pt>
            </c:numLit>
          </c:yVal>
          <c:bubbleSize>
            <c:numLit>
              <c:formatCode>General</c:formatCode>
              <c:ptCount val="1"/>
              <c:pt idx="0">
                <c:v>312.524</c:v>
              </c:pt>
            </c:numLit>
          </c:bubbleSize>
          <c:bubble3D val="0"/>
          <c:extLst>
            <c:ext xmlns:c16="http://schemas.microsoft.com/office/drawing/2014/chart" uri="{C3380CC4-5D6E-409C-BE32-E72D297353CC}">
              <c16:uniqueId val="{00000002-1B29-444D-8FF7-DD4D333AD087}"/>
            </c:ext>
          </c:extLst>
        </c:ser>
        <c:ser>
          <c:idx val="3"/>
          <c:order val="3"/>
          <c:tx>
            <c:v>Brand-Owned E-commerce</c:v>
          </c:tx>
          <c:spPr>
            <a:solidFill>
              <a:srgbClr val="40315E"/>
            </a:solidFill>
          </c:spPr>
          <c:invertIfNegative val="0"/>
          <c:xVal>
            <c:numLit>
              <c:formatCode>General</c:formatCode>
              <c:ptCount val="1"/>
              <c:pt idx="0">
                <c:v>61.48983553234639</c:v>
              </c:pt>
            </c:numLit>
          </c:xVal>
          <c:yVal>
            <c:numLit>
              <c:formatCode>General</c:formatCode>
              <c:ptCount val="1"/>
              <c:pt idx="0">
                <c:v>128.39628664754107</c:v>
              </c:pt>
            </c:numLit>
          </c:yVal>
          <c:bubbleSize>
            <c:numLit>
              <c:formatCode>General</c:formatCode>
              <c:ptCount val="1"/>
              <c:pt idx="0">
                <c:v>881.49199999999996</c:v>
              </c:pt>
            </c:numLit>
          </c:bubbleSize>
          <c:bubble3D val="0"/>
          <c:extLst>
            <c:ext xmlns:c16="http://schemas.microsoft.com/office/drawing/2014/chart" uri="{C3380CC4-5D6E-409C-BE32-E72D297353CC}">
              <c16:uniqueId val="{00000003-1B29-444D-8FF7-DD4D333AD087}"/>
            </c:ext>
          </c:extLst>
        </c:ser>
        <c:ser>
          <c:idx val="4"/>
          <c:order val="4"/>
          <c:tx>
            <c:v>Third-Party E-commerce</c:v>
          </c:tx>
          <c:spPr>
            <a:solidFill>
              <a:srgbClr val="A35313"/>
            </a:solidFill>
          </c:spPr>
          <c:invertIfNegative val="0"/>
          <c:xVal>
            <c:numLit>
              <c:formatCode>General</c:formatCode>
              <c:ptCount val="1"/>
              <c:pt idx="0">
                <c:v>145.37761783559006</c:v>
              </c:pt>
            </c:numLit>
          </c:xVal>
          <c:yVal>
            <c:numLit>
              <c:formatCode>General</c:formatCode>
              <c:ptCount val="1"/>
              <c:pt idx="0">
                <c:v>110.27559963452273</c:v>
              </c:pt>
            </c:numLit>
          </c:yVal>
          <c:bubbleSize>
            <c:numLit>
              <c:formatCode>General</c:formatCode>
              <c:ptCount val="1"/>
              <c:pt idx="0">
                <c:v>1176.9580000000001</c:v>
              </c:pt>
            </c:numLit>
          </c:bubbleSize>
          <c:bubble3D val="0"/>
          <c:extLst>
            <c:ext xmlns:c16="http://schemas.microsoft.com/office/drawing/2014/chart" uri="{C3380CC4-5D6E-409C-BE32-E72D297353CC}">
              <c16:uniqueId val="{00000004-1B29-444D-8FF7-DD4D333AD087}"/>
            </c:ext>
          </c:extLst>
        </c:ser>
        <c:ser>
          <c:idx val="5"/>
          <c:order val="5"/>
          <c:tx>
            <c:v>Other Direct Sales</c:v>
          </c:tx>
          <c:spPr>
            <a:solidFill>
              <a:srgbClr val="808080"/>
            </a:solidFill>
          </c:spPr>
          <c:invertIfNegative val="0"/>
          <c:xVal>
            <c:numLit>
              <c:formatCode>General</c:formatCode>
              <c:ptCount val="1"/>
              <c:pt idx="0">
                <c:v>70.634352210531077</c:v>
              </c:pt>
            </c:numLit>
          </c:xVal>
          <c:yVal>
            <c:numLit>
              <c:formatCode>General</c:formatCode>
              <c:ptCount val="1"/>
              <c:pt idx="0">
                <c:v>51.418331152452893</c:v>
              </c:pt>
            </c:numLit>
          </c:yVal>
          <c:bubbleSize>
            <c:numLit>
              <c:formatCode>General</c:formatCode>
              <c:ptCount val="1"/>
              <c:pt idx="0">
                <c:v>370.755</c:v>
              </c:pt>
            </c:numLit>
          </c:bubbleSize>
          <c:bubble3D val="0"/>
          <c:extLst>
            <c:ext xmlns:c16="http://schemas.microsoft.com/office/drawing/2014/chart" uri="{C3380CC4-5D6E-409C-BE32-E72D297353CC}">
              <c16:uniqueId val="{00000005-1B29-444D-8FF7-DD4D333AD087}"/>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
          <c:min val="20"/>
        </c:scaling>
        <c:delete val="0"/>
        <c:axPos val="b"/>
        <c:title>
          <c:tx>
            <c:rich>
              <a:bodyPr/>
              <a:lstStyle/>
              <a:p>
                <a:r>
                  <a:rPr lang="en-US"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175"/>
          <c:min val="0"/>
        </c:scaling>
        <c:delete val="0"/>
        <c:axPos val="l"/>
        <c:title>
          <c:tx>
            <c:rich>
              <a:bodyPr/>
              <a:lstStyle/>
              <a:p>
                <a:r>
                  <a:rPr lang="en-US" sz="1100" b="0">
                    <a:solidFill>
                      <a:srgbClr val="6C7A89"/>
                    </a:solidFill>
                    <a:latin typeface="Calibri"/>
                  </a:rPr>
                  <a:t>Market Share Index (100 = equal share)</a:t>
                </a:r>
              </a:p>
            </c:rich>
          </c:tx>
          <c:overlay val="0"/>
        </c:title>
        <c:numFmt formatCode="General" sourceLinked="1"/>
        <c:majorTickMark val="out"/>
        <c:minorTickMark val="none"/>
        <c:tickLblPos val="none"/>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734.15</c:v>
              </c:pt>
              <c:pt idx="2">
                <c:v>806.19</c:v>
              </c:pt>
              <c:pt idx="3">
                <c:v>885.34400000000005</c:v>
              </c:pt>
              <c:pt idx="4">
                <c:v>972.29300000000001</c:v>
              </c:pt>
              <c:pt idx="5">
                <c:v>1067.7829999999999</c:v>
              </c:pt>
              <c:pt idx="6">
                <c:v>0</c:v>
              </c:pt>
            </c:numLit>
          </c:val>
          <c:extLst>
            <c:ext xmlns:c16="http://schemas.microsoft.com/office/drawing/2014/chart" uri="{C3380CC4-5D6E-409C-BE32-E72D297353CC}">
              <c16:uniqueId val="{00000000-750D-46EE-9687-E5C6F36EAD82}"/>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750D-46EE-9687-E5C6F36EAD82}"/>
              </c:ext>
            </c:extLst>
          </c:dPt>
          <c:dPt>
            <c:idx val="1"/>
            <c:invertIfNegative val="1"/>
            <c:bubble3D val="0"/>
            <c:spPr>
              <a:solidFill>
                <a:srgbClr val="008189"/>
              </a:solidFill>
            </c:spPr>
            <c:extLst>
              <c:ext xmlns:c16="http://schemas.microsoft.com/office/drawing/2014/chart" uri="{C3380CC4-5D6E-409C-BE32-E72D297353CC}">
                <c16:uniqueId val="{00000004-750D-46EE-9687-E5C6F36EAD82}"/>
              </c:ext>
            </c:extLst>
          </c:dPt>
          <c:dPt>
            <c:idx val="2"/>
            <c:invertIfNegative val="1"/>
            <c:bubble3D val="0"/>
            <c:spPr>
              <a:solidFill>
                <a:srgbClr val="008189"/>
              </a:solidFill>
            </c:spPr>
            <c:extLst>
              <c:ext xmlns:c16="http://schemas.microsoft.com/office/drawing/2014/chart" uri="{C3380CC4-5D6E-409C-BE32-E72D297353CC}">
                <c16:uniqueId val="{00000006-750D-46EE-9687-E5C6F36EAD82}"/>
              </c:ext>
            </c:extLst>
          </c:dPt>
          <c:dPt>
            <c:idx val="3"/>
            <c:invertIfNegative val="1"/>
            <c:bubble3D val="0"/>
            <c:spPr>
              <a:solidFill>
                <a:srgbClr val="008189"/>
              </a:solidFill>
            </c:spPr>
            <c:extLst>
              <c:ext xmlns:c16="http://schemas.microsoft.com/office/drawing/2014/chart" uri="{C3380CC4-5D6E-409C-BE32-E72D297353CC}">
                <c16:uniqueId val="{00000008-750D-46EE-9687-E5C6F36EAD82}"/>
              </c:ext>
            </c:extLst>
          </c:dPt>
          <c:dPt>
            <c:idx val="4"/>
            <c:invertIfNegative val="1"/>
            <c:bubble3D val="0"/>
            <c:spPr>
              <a:solidFill>
                <a:srgbClr val="008189"/>
              </a:solidFill>
            </c:spPr>
            <c:extLst>
              <c:ext xmlns:c16="http://schemas.microsoft.com/office/drawing/2014/chart" uri="{C3380CC4-5D6E-409C-BE32-E72D297353CC}">
                <c16:uniqueId val="{0000000A-750D-46EE-9687-E5C6F36EAD82}"/>
              </c:ext>
            </c:extLst>
          </c:dPt>
          <c:dPt>
            <c:idx val="5"/>
            <c:invertIfNegative val="1"/>
            <c:bubble3D val="0"/>
            <c:spPr>
              <a:solidFill>
                <a:srgbClr val="008189"/>
              </a:solidFill>
            </c:spPr>
            <c:extLst>
              <c:ext xmlns:c16="http://schemas.microsoft.com/office/drawing/2014/chart" uri="{C3380CC4-5D6E-409C-BE32-E72D297353CC}">
                <c16:uniqueId val="{0000000C-750D-46EE-9687-E5C6F36EAD82}"/>
              </c:ext>
            </c:extLst>
          </c:dPt>
          <c:dPt>
            <c:idx val="6"/>
            <c:invertIfNegative val="1"/>
            <c:bubble3D val="0"/>
            <c:spPr>
              <a:solidFill>
                <a:srgbClr val="0E72AE"/>
              </a:solidFill>
            </c:spPr>
            <c:extLst>
              <c:ext xmlns:c16="http://schemas.microsoft.com/office/drawing/2014/chart" uri="{C3380CC4-5D6E-409C-BE32-E72D297353CC}">
                <c16:uniqueId val="{0000000E-750D-46EE-9687-E5C6F36EAD82}"/>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50D-46EE-9687-E5C6F36EAD82}"/>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50D-46EE-9687-E5C6F36EAD82}"/>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50D-46EE-9687-E5C6F36EAD82}"/>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50D-46EE-9687-E5C6F36EAD82}"/>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50D-46EE-9687-E5C6F36EAD82}"/>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50D-46EE-9687-E5C6F36EAD82}"/>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50D-46EE-9687-E5C6F36EAD82}"/>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734.15</c:v>
              </c:pt>
              <c:pt idx="1">
                <c:v>72.040000000000077</c:v>
              </c:pt>
              <c:pt idx="2">
                <c:v>79.153999999999996</c:v>
              </c:pt>
              <c:pt idx="3">
                <c:v>86.948999999999955</c:v>
              </c:pt>
              <c:pt idx="4">
                <c:v>95.489999999999895</c:v>
              </c:pt>
              <c:pt idx="5">
                <c:v>104.82900000000018</c:v>
              </c:pt>
              <c:pt idx="6">
                <c:v>1172.6120000000001</c:v>
              </c:pt>
            </c:numLit>
          </c:val>
          <c:extLst>
            <c:ext xmlns:c16="http://schemas.microsoft.com/office/drawing/2014/chart" uri="{C3380CC4-5D6E-409C-BE32-E72D297353CC}">
              <c16:uniqueId val="{0000000F-750D-46EE-9687-E5C6F36EAD82}"/>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543.46299999999997</c:v>
              </c:pt>
              <c:pt idx="2">
                <c:v>631.12</c:v>
              </c:pt>
              <c:pt idx="3">
                <c:v>732.495</c:v>
              </c:pt>
              <c:pt idx="4">
                <c:v>849.71900000000005</c:v>
              </c:pt>
              <c:pt idx="5">
                <c:v>985.25599999999997</c:v>
              </c:pt>
              <c:pt idx="6">
                <c:v>0</c:v>
              </c:pt>
            </c:numLit>
          </c:val>
          <c:extLst>
            <c:ext xmlns:c16="http://schemas.microsoft.com/office/drawing/2014/chart" uri="{C3380CC4-5D6E-409C-BE32-E72D297353CC}">
              <c16:uniqueId val="{00000000-B9C7-4309-B203-F23CFAB547ED}"/>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B9C7-4309-B203-F23CFAB547ED}"/>
              </c:ext>
            </c:extLst>
          </c:dPt>
          <c:dPt>
            <c:idx val="1"/>
            <c:invertIfNegative val="1"/>
            <c:bubble3D val="0"/>
            <c:spPr>
              <a:solidFill>
                <a:srgbClr val="008189"/>
              </a:solidFill>
            </c:spPr>
            <c:extLst>
              <c:ext xmlns:c16="http://schemas.microsoft.com/office/drawing/2014/chart" uri="{C3380CC4-5D6E-409C-BE32-E72D297353CC}">
                <c16:uniqueId val="{00000004-B9C7-4309-B203-F23CFAB547ED}"/>
              </c:ext>
            </c:extLst>
          </c:dPt>
          <c:dPt>
            <c:idx val="2"/>
            <c:invertIfNegative val="1"/>
            <c:bubble3D val="0"/>
            <c:spPr>
              <a:solidFill>
                <a:srgbClr val="008189"/>
              </a:solidFill>
            </c:spPr>
            <c:extLst>
              <c:ext xmlns:c16="http://schemas.microsoft.com/office/drawing/2014/chart" uri="{C3380CC4-5D6E-409C-BE32-E72D297353CC}">
                <c16:uniqueId val="{00000006-B9C7-4309-B203-F23CFAB547ED}"/>
              </c:ext>
            </c:extLst>
          </c:dPt>
          <c:dPt>
            <c:idx val="3"/>
            <c:invertIfNegative val="1"/>
            <c:bubble3D val="0"/>
            <c:spPr>
              <a:solidFill>
                <a:srgbClr val="008189"/>
              </a:solidFill>
            </c:spPr>
            <c:extLst>
              <c:ext xmlns:c16="http://schemas.microsoft.com/office/drawing/2014/chart" uri="{C3380CC4-5D6E-409C-BE32-E72D297353CC}">
                <c16:uniqueId val="{00000008-B9C7-4309-B203-F23CFAB547ED}"/>
              </c:ext>
            </c:extLst>
          </c:dPt>
          <c:dPt>
            <c:idx val="4"/>
            <c:invertIfNegative val="1"/>
            <c:bubble3D val="0"/>
            <c:spPr>
              <a:solidFill>
                <a:srgbClr val="008189"/>
              </a:solidFill>
            </c:spPr>
            <c:extLst>
              <c:ext xmlns:c16="http://schemas.microsoft.com/office/drawing/2014/chart" uri="{C3380CC4-5D6E-409C-BE32-E72D297353CC}">
                <c16:uniqueId val="{0000000A-B9C7-4309-B203-F23CFAB547ED}"/>
              </c:ext>
            </c:extLst>
          </c:dPt>
          <c:dPt>
            <c:idx val="5"/>
            <c:invertIfNegative val="1"/>
            <c:bubble3D val="0"/>
            <c:spPr>
              <a:solidFill>
                <a:srgbClr val="008189"/>
              </a:solidFill>
            </c:spPr>
            <c:extLst>
              <c:ext xmlns:c16="http://schemas.microsoft.com/office/drawing/2014/chart" uri="{C3380CC4-5D6E-409C-BE32-E72D297353CC}">
                <c16:uniqueId val="{0000000C-B9C7-4309-B203-F23CFAB547ED}"/>
              </c:ext>
            </c:extLst>
          </c:dPt>
          <c:dPt>
            <c:idx val="6"/>
            <c:invertIfNegative val="1"/>
            <c:bubble3D val="0"/>
            <c:spPr>
              <a:solidFill>
                <a:srgbClr val="0E72AE"/>
              </a:solidFill>
            </c:spPr>
            <c:extLst>
              <c:ext xmlns:c16="http://schemas.microsoft.com/office/drawing/2014/chart" uri="{C3380CC4-5D6E-409C-BE32-E72D297353CC}">
                <c16:uniqueId val="{0000000E-B9C7-4309-B203-F23CFAB547ED}"/>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C7-4309-B203-F23CFAB547ED}"/>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9C7-4309-B203-F23CFAB547ED}"/>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9C7-4309-B203-F23CFAB547ED}"/>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9C7-4309-B203-F23CFAB547ED}"/>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9C7-4309-B203-F23CFAB547ED}"/>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9C7-4309-B203-F23CFAB547ED}"/>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9C7-4309-B203-F23CFAB547ED}"/>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543.46299999999997</c:v>
              </c:pt>
              <c:pt idx="1">
                <c:v>87.657000000000039</c:v>
              </c:pt>
              <c:pt idx="2">
                <c:v>101.375</c:v>
              </c:pt>
              <c:pt idx="3">
                <c:v>117.22400000000005</c:v>
              </c:pt>
              <c:pt idx="4">
                <c:v>135.53699999999992</c:v>
              </c:pt>
              <c:pt idx="5">
                <c:v>156.69999999999993</c:v>
              </c:pt>
              <c:pt idx="6">
                <c:v>1141.9559999999999</c:v>
              </c:pt>
            </c:numLit>
          </c:val>
          <c:extLst>
            <c:ext xmlns:c16="http://schemas.microsoft.com/office/drawing/2014/chart" uri="{C3380CC4-5D6E-409C-BE32-E72D297353CC}">
              <c16:uniqueId val="{0000000F-B9C7-4309-B203-F23CFAB547ED}"/>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242.495</c:v>
              </c:pt>
              <c:pt idx="2">
                <c:v>256.95400000000001</c:v>
              </c:pt>
              <c:pt idx="3">
                <c:v>271.44400000000002</c:v>
              </c:pt>
              <c:pt idx="4">
                <c:v>285.73899999999998</c:v>
              </c:pt>
              <c:pt idx="5">
                <c:v>299.55399999999997</c:v>
              </c:pt>
              <c:pt idx="6">
                <c:v>0</c:v>
              </c:pt>
            </c:numLit>
          </c:val>
          <c:extLst>
            <c:ext xmlns:c16="http://schemas.microsoft.com/office/drawing/2014/chart" uri="{C3380CC4-5D6E-409C-BE32-E72D297353CC}">
              <c16:uniqueId val="{00000000-AD90-4EE9-9C24-E1DDD8ED60DF}"/>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AD90-4EE9-9C24-E1DDD8ED60DF}"/>
              </c:ext>
            </c:extLst>
          </c:dPt>
          <c:dPt>
            <c:idx val="1"/>
            <c:invertIfNegative val="1"/>
            <c:bubble3D val="0"/>
            <c:spPr>
              <a:solidFill>
                <a:srgbClr val="008189"/>
              </a:solidFill>
            </c:spPr>
            <c:extLst>
              <c:ext xmlns:c16="http://schemas.microsoft.com/office/drawing/2014/chart" uri="{C3380CC4-5D6E-409C-BE32-E72D297353CC}">
                <c16:uniqueId val="{00000004-AD90-4EE9-9C24-E1DDD8ED60DF}"/>
              </c:ext>
            </c:extLst>
          </c:dPt>
          <c:dPt>
            <c:idx val="2"/>
            <c:invertIfNegative val="1"/>
            <c:bubble3D val="0"/>
            <c:spPr>
              <a:solidFill>
                <a:srgbClr val="008189"/>
              </a:solidFill>
            </c:spPr>
            <c:extLst>
              <c:ext xmlns:c16="http://schemas.microsoft.com/office/drawing/2014/chart" uri="{C3380CC4-5D6E-409C-BE32-E72D297353CC}">
                <c16:uniqueId val="{00000006-AD90-4EE9-9C24-E1DDD8ED60DF}"/>
              </c:ext>
            </c:extLst>
          </c:dPt>
          <c:dPt>
            <c:idx val="3"/>
            <c:invertIfNegative val="1"/>
            <c:bubble3D val="0"/>
            <c:spPr>
              <a:solidFill>
                <a:srgbClr val="008189"/>
              </a:solidFill>
            </c:spPr>
            <c:extLst>
              <c:ext xmlns:c16="http://schemas.microsoft.com/office/drawing/2014/chart" uri="{C3380CC4-5D6E-409C-BE32-E72D297353CC}">
                <c16:uniqueId val="{00000008-AD90-4EE9-9C24-E1DDD8ED60DF}"/>
              </c:ext>
            </c:extLst>
          </c:dPt>
          <c:dPt>
            <c:idx val="4"/>
            <c:invertIfNegative val="1"/>
            <c:bubble3D val="0"/>
            <c:spPr>
              <a:solidFill>
                <a:srgbClr val="008189"/>
              </a:solidFill>
            </c:spPr>
            <c:extLst>
              <c:ext xmlns:c16="http://schemas.microsoft.com/office/drawing/2014/chart" uri="{C3380CC4-5D6E-409C-BE32-E72D297353CC}">
                <c16:uniqueId val="{0000000A-AD90-4EE9-9C24-E1DDD8ED60DF}"/>
              </c:ext>
            </c:extLst>
          </c:dPt>
          <c:dPt>
            <c:idx val="5"/>
            <c:invertIfNegative val="1"/>
            <c:bubble3D val="0"/>
            <c:spPr>
              <a:solidFill>
                <a:srgbClr val="008189"/>
              </a:solidFill>
            </c:spPr>
            <c:extLst>
              <c:ext xmlns:c16="http://schemas.microsoft.com/office/drawing/2014/chart" uri="{C3380CC4-5D6E-409C-BE32-E72D297353CC}">
                <c16:uniqueId val="{0000000C-AD90-4EE9-9C24-E1DDD8ED60DF}"/>
              </c:ext>
            </c:extLst>
          </c:dPt>
          <c:dPt>
            <c:idx val="6"/>
            <c:invertIfNegative val="1"/>
            <c:bubble3D val="0"/>
            <c:spPr>
              <a:solidFill>
                <a:srgbClr val="0E72AE"/>
              </a:solidFill>
            </c:spPr>
            <c:extLst>
              <c:ext xmlns:c16="http://schemas.microsoft.com/office/drawing/2014/chart" uri="{C3380CC4-5D6E-409C-BE32-E72D297353CC}">
                <c16:uniqueId val="{0000000E-AD90-4EE9-9C24-E1DDD8ED60DF}"/>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D90-4EE9-9C24-E1DDD8ED60DF}"/>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D90-4EE9-9C24-E1DDD8ED60DF}"/>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D90-4EE9-9C24-E1DDD8ED60DF}"/>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D90-4EE9-9C24-E1DDD8ED60DF}"/>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D90-4EE9-9C24-E1DDD8ED60DF}"/>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D90-4EE9-9C24-E1DDD8ED60DF}"/>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D90-4EE9-9C24-E1DDD8ED60DF}"/>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242.495</c:v>
              </c:pt>
              <c:pt idx="1">
                <c:v>14.459000000000003</c:v>
              </c:pt>
              <c:pt idx="2">
                <c:v>14.490000000000009</c:v>
              </c:pt>
              <c:pt idx="3">
                <c:v>14.294999999999959</c:v>
              </c:pt>
              <c:pt idx="4">
                <c:v>13.814999999999998</c:v>
              </c:pt>
              <c:pt idx="5">
                <c:v>12.970000000000027</c:v>
              </c:pt>
              <c:pt idx="6">
                <c:v>312.524</c:v>
              </c:pt>
            </c:numLit>
          </c:val>
          <c:extLst>
            <c:ext xmlns:c16="http://schemas.microsoft.com/office/drawing/2014/chart" uri="{C3380CC4-5D6E-409C-BE32-E72D297353CC}">
              <c16:uniqueId val="{0000000F-AD90-4EE9-9C24-E1DDD8ED60D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629.78399999999999</c:v>
              </c:pt>
              <c:pt idx="2">
                <c:v>675.91200000000003</c:v>
              </c:pt>
              <c:pt idx="3">
                <c:v>724.33199999999999</c:v>
              </c:pt>
              <c:pt idx="4">
                <c:v>774.90200000000004</c:v>
              </c:pt>
              <c:pt idx="5">
                <c:v>827.39300000000003</c:v>
              </c:pt>
              <c:pt idx="6">
                <c:v>0</c:v>
              </c:pt>
            </c:numLit>
          </c:val>
          <c:extLst>
            <c:ext xmlns:c16="http://schemas.microsoft.com/office/drawing/2014/chart" uri="{C3380CC4-5D6E-409C-BE32-E72D297353CC}">
              <c16:uniqueId val="{00000000-C55C-465B-A46F-6256395EED6F}"/>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C55C-465B-A46F-6256395EED6F}"/>
              </c:ext>
            </c:extLst>
          </c:dPt>
          <c:dPt>
            <c:idx val="1"/>
            <c:invertIfNegative val="1"/>
            <c:bubble3D val="0"/>
            <c:spPr>
              <a:solidFill>
                <a:srgbClr val="008189"/>
              </a:solidFill>
            </c:spPr>
            <c:extLst>
              <c:ext xmlns:c16="http://schemas.microsoft.com/office/drawing/2014/chart" uri="{C3380CC4-5D6E-409C-BE32-E72D297353CC}">
                <c16:uniqueId val="{00000004-C55C-465B-A46F-6256395EED6F}"/>
              </c:ext>
            </c:extLst>
          </c:dPt>
          <c:dPt>
            <c:idx val="2"/>
            <c:invertIfNegative val="1"/>
            <c:bubble3D val="0"/>
            <c:spPr>
              <a:solidFill>
                <a:srgbClr val="008189"/>
              </a:solidFill>
            </c:spPr>
            <c:extLst>
              <c:ext xmlns:c16="http://schemas.microsoft.com/office/drawing/2014/chart" uri="{C3380CC4-5D6E-409C-BE32-E72D297353CC}">
                <c16:uniqueId val="{00000006-C55C-465B-A46F-6256395EED6F}"/>
              </c:ext>
            </c:extLst>
          </c:dPt>
          <c:dPt>
            <c:idx val="3"/>
            <c:invertIfNegative val="1"/>
            <c:bubble3D val="0"/>
            <c:spPr>
              <a:solidFill>
                <a:srgbClr val="008189"/>
              </a:solidFill>
            </c:spPr>
            <c:extLst>
              <c:ext xmlns:c16="http://schemas.microsoft.com/office/drawing/2014/chart" uri="{C3380CC4-5D6E-409C-BE32-E72D297353CC}">
                <c16:uniqueId val="{00000008-C55C-465B-A46F-6256395EED6F}"/>
              </c:ext>
            </c:extLst>
          </c:dPt>
          <c:dPt>
            <c:idx val="4"/>
            <c:invertIfNegative val="1"/>
            <c:bubble3D val="0"/>
            <c:spPr>
              <a:solidFill>
                <a:srgbClr val="008189"/>
              </a:solidFill>
            </c:spPr>
            <c:extLst>
              <c:ext xmlns:c16="http://schemas.microsoft.com/office/drawing/2014/chart" uri="{C3380CC4-5D6E-409C-BE32-E72D297353CC}">
                <c16:uniqueId val="{0000000A-C55C-465B-A46F-6256395EED6F}"/>
              </c:ext>
            </c:extLst>
          </c:dPt>
          <c:dPt>
            <c:idx val="5"/>
            <c:invertIfNegative val="1"/>
            <c:bubble3D val="0"/>
            <c:spPr>
              <a:solidFill>
                <a:srgbClr val="008189"/>
              </a:solidFill>
            </c:spPr>
            <c:extLst>
              <c:ext xmlns:c16="http://schemas.microsoft.com/office/drawing/2014/chart" uri="{C3380CC4-5D6E-409C-BE32-E72D297353CC}">
                <c16:uniqueId val="{0000000C-C55C-465B-A46F-6256395EED6F}"/>
              </c:ext>
            </c:extLst>
          </c:dPt>
          <c:dPt>
            <c:idx val="6"/>
            <c:invertIfNegative val="1"/>
            <c:bubble3D val="0"/>
            <c:spPr>
              <a:solidFill>
                <a:srgbClr val="0E72AE"/>
              </a:solidFill>
            </c:spPr>
            <c:extLst>
              <c:ext xmlns:c16="http://schemas.microsoft.com/office/drawing/2014/chart" uri="{C3380CC4-5D6E-409C-BE32-E72D297353CC}">
                <c16:uniqueId val="{0000000E-C55C-465B-A46F-6256395EED6F}"/>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55C-465B-A46F-6256395EED6F}"/>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55C-465B-A46F-6256395EED6F}"/>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55C-465B-A46F-6256395EED6F}"/>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55C-465B-A46F-6256395EED6F}"/>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55C-465B-A46F-6256395EED6F}"/>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55C-465B-A46F-6256395EED6F}"/>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55C-465B-A46F-6256395EED6F}"/>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629.78399999999999</c:v>
              </c:pt>
              <c:pt idx="1">
                <c:v>46.128000000000043</c:v>
              </c:pt>
              <c:pt idx="2">
                <c:v>48.419999999999959</c:v>
              </c:pt>
              <c:pt idx="3">
                <c:v>50.57000000000005</c:v>
              </c:pt>
              <c:pt idx="4">
                <c:v>52.490999999999985</c:v>
              </c:pt>
              <c:pt idx="5">
                <c:v>54.098999999999933</c:v>
              </c:pt>
              <c:pt idx="6">
                <c:v>881.49199999999996</c:v>
              </c:pt>
            </c:numLit>
          </c:val>
          <c:extLst>
            <c:ext xmlns:c16="http://schemas.microsoft.com/office/drawing/2014/chart" uri="{C3380CC4-5D6E-409C-BE32-E72D297353CC}">
              <c16:uniqueId val="{0000000F-C55C-465B-A46F-6256395EED6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540.90200000000004</c:v>
              </c:pt>
              <c:pt idx="2">
                <c:v>633.19899999999996</c:v>
              </c:pt>
              <c:pt idx="3">
                <c:v>740.4</c:v>
              </c:pt>
              <c:pt idx="4">
                <c:v>864.86599999999999</c:v>
              </c:pt>
              <c:pt idx="5">
                <c:v>1009.328</c:v>
              </c:pt>
              <c:pt idx="6">
                <c:v>0</c:v>
              </c:pt>
            </c:numLit>
          </c:val>
          <c:extLst>
            <c:ext xmlns:c16="http://schemas.microsoft.com/office/drawing/2014/chart" uri="{C3380CC4-5D6E-409C-BE32-E72D297353CC}">
              <c16:uniqueId val="{00000000-34FD-4547-8A2C-C4AFBC7F67FA}"/>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34FD-4547-8A2C-C4AFBC7F67FA}"/>
              </c:ext>
            </c:extLst>
          </c:dPt>
          <c:dPt>
            <c:idx val="1"/>
            <c:invertIfNegative val="1"/>
            <c:bubble3D val="0"/>
            <c:spPr>
              <a:solidFill>
                <a:srgbClr val="008189"/>
              </a:solidFill>
            </c:spPr>
            <c:extLst>
              <c:ext xmlns:c16="http://schemas.microsoft.com/office/drawing/2014/chart" uri="{C3380CC4-5D6E-409C-BE32-E72D297353CC}">
                <c16:uniqueId val="{00000004-34FD-4547-8A2C-C4AFBC7F67FA}"/>
              </c:ext>
            </c:extLst>
          </c:dPt>
          <c:dPt>
            <c:idx val="2"/>
            <c:invertIfNegative val="1"/>
            <c:bubble3D val="0"/>
            <c:spPr>
              <a:solidFill>
                <a:srgbClr val="008189"/>
              </a:solidFill>
            </c:spPr>
            <c:extLst>
              <c:ext xmlns:c16="http://schemas.microsoft.com/office/drawing/2014/chart" uri="{C3380CC4-5D6E-409C-BE32-E72D297353CC}">
                <c16:uniqueId val="{00000006-34FD-4547-8A2C-C4AFBC7F67FA}"/>
              </c:ext>
            </c:extLst>
          </c:dPt>
          <c:dPt>
            <c:idx val="3"/>
            <c:invertIfNegative val="1"/>
            <c:bubble3D val="0"/>
            <c:spPr>
              <a:solidFill>
                <a:srgbClr val="008189"/>
              </a:solidFill>
            </c:spPr>
            <c:extLst>
              <c:ext xmlns:c16="http://schemas.microsoft.com/office/drawing/2014/chart" uri="{C3380CC4-5D6E-409C-BE32-E72D297353CC}">
                <c16:uniqueId val="{00000008-34FD-4547-8A2C-C4AFBC7F67FA}"/>
              </c:ext>
            </c:extLst>
          </c:dPt>
          <c:dPt>
            <c:idx val="4"/>
            <c:invertIfNegative val="1"/>
            <c:bubble3D val="0"/>
            <c:spPr>
              <a:solidFill>
                <a:srgbClr val="008189"/>
              </a:solidFill>
            </c:spPr>
            <c:extLst>
              <c:ext xmlns:c16="http://schemas.microsoft.com/office/drawing/2014/chart" uri="{C3380CC4-5D6E-409C-BE32-E72D297353CC}">
                <c16:uniqueId val="{0000000A-34FD-4547-8A2C-C4AFBC7F67FA}"/>
              </c:ext>
            </c:extLst>
          </c:dPt>
          <c:dPt>
            <c:idx val="5"/>
            <c:invertIfNegative val="1"/>
            <c:bubble3D val="0"/>
            <c:spPr>
              <a:solidFill>
                <a:srgbClr val="008189"/>
              </a:solidFill>
            </c:spPr>
            <c:extLst>
              <c:ext xmlns:c16="http://schemas.microsoft.com/office/drawing/2014/chart" uri="{C3380CC4-5D6E-409C-BE32-E72D297353CC}">
                <c16:uniqueId val="{0000000C-34FD-4547-8A2C-C4AFBC7F67FA}"/>
              </c:ext>
            </c:extLst>
          </c:dPt>
          <c:dPt>
            <c:idx val="6"/>
            <c:invertIfNegative val="1"/>
            <c:bubble3D val="0"/>
            <c:spPr>
              <a:solidFill>
                <a:srgbClr val="0E72AE"/>
              </a:solidFill>
            </c:spPr>
            <c:extLst>
              <c:ext xmlns:c16="http://schemas.microsoft.com/office/drawing/2014/chart" uri="{C3380CC4-5D6E-409C-BE32-E72D297353CC}">
                <c16:uniqueId val="{0000000E-34FD-4547-8A2C-C4AFBC7F67FA}"/>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4FD-4547-8A2C-C4AFBC7F67FA}"/>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FD-4547-8A2C-C4AFBC7F67FA}"/>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4FD-4547-8A2C-C4AFBC7F67FA}"/>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4FD-4547-8A2C-C4AFBC7F67FA}"/>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4FD-4547-8A2C-C4AFBC7F67FA}"/>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4FD-4547-8A2C-C4AFBC7F67FA}"/>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4FD-4547-8A2C-C4AFBC7F67FA}"/>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540.90200000000004</c:v>
              </c:pt>
              <c:pt idx="1">
                <c:v>92.296999999999912</c:v>
              </c:pt>
              <c:pt idx="2">
                <c:v>107.20100000000002</c:v>
              </c:pt>
              <c:pt idx="3">
                <c:v>124.46600000000001</c:v>
              </c:pt>
              <c:pt idx="4">
                <c:v>144.46199999999999</c:v>
              </c:pt>
              <c:pt idx="5">
                <c:v>167.63000000000011</c:v>
              </c:pt>
              <c:pt idx="6">
                <c:v>1176.9580000000001</c:v>
              </c:pt>
            </c:numLit>
          </c:val>
          <c:extLst>
            <c:ext xmlns:c16="http://schemas.microsoft.com/office/drawing/2014/chart" uri="{C3380CC4-5D6E-409C-BE32-E72D297353CC}">
              <c16:uniqueId val="{0000000F-34FD-4547-8A2C-C4AFBC7F67F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2026</c:v>
              </c:pt>
              <c:pt idx="1">
                <c:v>2028</c:v>
              </c:pt>
              <c:pt idx="2">
                <c:v>2030</c:v>
              </c:pt>
              <c:pt idx="3">
                <c:v>2032</c:v>
              </c:pt>
              <c:pt idx="4">
                <c:v>2034</c:v>
              </c:pt>
              <c:pt idx="5">
                <c:v>2036</c:v>
              </c:pt>
              <c:pt idx="6">
                <c:v>2036 Total</c:v>
              </c:pt>
            </c:strLit>
          </c:cat>
          <c:val>
            <c:numLit>
              <c:formatCode>General</c:formatCode>
              <c:ptCount val="7"/>
              <c:pt idx="0">
                <c:v>0</c:v>
              </c:pt>
              <c:pt idx="1">
                <c:v>252.20699999999999</c:v>
              </c:pt>
              <c:pt idx="2">
                <c:v>272.98399999999998</c:v>
              </c:pt>
              <c:pt idx="3">
                <c:v>295.19900000000001</c:v>
              </c:pt>
              <c:pt idx="4">
                <c:v>318.88900000000001</c:v>
              </c:pt>
              <c:pt idx="5">
                <c:v>344.07600000000002</c:v>
              </c:pt>
              <c:pt idx="6">
                <c:v>0</c:v>
              </c:pt>
            </c:numLit>
          </c:val>
          <c:extLst>
            <c:ext xmlns:c16="http://schemas.microsoft.com/office/drawing/2014/chart" uri="{C3380CC4-5D6E-409C-BE32-E72D297353CC}">
              <c16:uniqueId val="{00000000-3E6C-4BC6-993B-F57B83C8CEA4}"/>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3E6C-4BC6-993B-F57B83C8CEA4}"/>
              </c:ext>
            </c:extLst>
          </c:dPt>
          <c:dPt>
            <c:idx val="1"/>
            <c:invertIfNegative val="1"/>
            <c:bubble3D val="0"/>
            <c:spPr>
              <a:solidFill>
                <a:srgbClr val="008189"/>
              </a:solidFill>
            </c:spPr>
            <c:extLst>
              <c:ext xmlns:c16="http://schemas.microsoft.com/office/drawing/2014/chart" uri="{C3380CC4-5D6E-409C-BE32-E72D297353CC}">
                <c16:uniqueId val="{00000004-3E6C-4BC6-993B-F57B83C8CEA4}"/>
              </c:ext>
            </c:extLst>
          </c:dPt>
          <c:dPt>
            <c:idx val="2"/>
            <c:invertIfNegative val="1"/>
            <c:bubble3D val="0"/>
            <c:spPr>
              <a:solidFill>
                <a:srgbClr val="008189"/>
              </a:solidFill>
            </c:spPr>
            <c:extLst>
              <c:ext xmlns:c16="http://schemas.microsoft.com/office/drawing/2014/chart" uri="{C3380CC4-5D6E-409C-BE32-E72D297353CC}">
                <c16:uniqueId val="{00000006-3E6C-4BC6-993B-F57B83C8CEA4}"/>
              </c:ext>
            </c:extLst>
          </c:dPt>
          <c:dPt>
            <c:idx val="3"/>
            <c:invertIfNegative val="1"/>
            <c:bubble3D val="0"/>
            <c:spPr>
              <a:solidFill>
                <a:srgbClr val="008189"/>
              </a:solidFill>
            </c:spPr>
            <c:extLst>
              <c:ext xmlns:c16="http://schemas.microsoft.com/office/drawing/2014/chart" uri="{C3380CC4-5D6E-409C-BE32-E72D297353CC}">
                <c16:uniqueId val="{00000008-3E6C-4BC6-993B-F57B83C8CEA4}"/>
              </c:ext>
            </c:extLst>
          </c:dPt>
          <c:dPt>
            <c:idx val="4"/>
            <c:invertIfNegative val="1"/>
            <c:bubble3D val="0"/>
            <c:spPr>
              <a:solidFill>
                <a:srgbClr val="008189"/>
              </a:solidFill>
            </c:spPr>
            <c:extLst>
              <c:ext xmlns:c16="http://schemas.microsoft.com/office/drawing/2014/chart" uri="{C3380CC4-5D6E-409C-BE32-E72D297353CC}">
                <c16:uniqueId val="{0000000A-3E6C-4BC6-993B-F57B83C8CEA4}"/>
              </c:ext>
            </c:extLst>
          </c:dPt>
          <c:dPt>
            <c:idx val="5"/>
            <c:invertIfNegative val="1"/>
            <c:bubble3D val="0"/>
            <c:spPr>
              <a:solidFill>
                <a:srgbClr val="008189"/>
              </a:solidFill>
            </c:spPr>
            <c:extLst>
              <c:ext xmlns:c16="http://schemas.microsoft.com/office/drawing/2014/chart" uri="{C3380CC4-5D6E-409C-BE32-E72D297353CC}">
                <c16:uniqueId val="{0000000C-3E6C-4BC6-993B-F57B83C8CEA4}"/>
              </c:ext>
            </c:extLst>
          </c:dPt>
          <c:dPt>
            <c:idx val="6"/>
            <c:invertIfNegative val="1"/>
            <c:bubble3D val="0"/>
            <c:spPr>
              <a:solidFill>
                <a:srgbClr val="0E72AE"/>
              </a:solidFill>
            </c:spPr>
            <c:extLst>
              <c:ext xmlns:c16="http://schemas.microsoft.com/office/drawing/2014/chart" uri="{C3380CC4-5D6E-409C-BE32-E72D297353CC}">
                <c16:uniqueId val="{0000000E-3E6C-4BC6-993B-F57B83C8CEA4}"/>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E6C-4BC6-993B-F57B83C8CEA4}"/>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E6C-4BC6-993B-F57B83C8CEA4}"/>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E6C-4BC6-993B-F57B83C8CEA4}"/>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E6C-4BC6-993B-F57B83C8CEA4}"/>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E6C-4BC6-993B-F57B83C8CEA4}"/>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E6C-4BC6-993B-F57B83C8CEA4}"/>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E6C-4BC6-993B-F57B83C8CEA4}"/>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2036 Total</c:v>
              </c:pt>
            </c:strLit>
          </c:cat>
          <c:val>
            <c:numLit>
              <c:formatCode>General</c:formatCode>
              <c:ptCount val="7"/>
              <c:pt idx="0">
                <c:v>252.20699999999999</c:v>
              </c:pt>
              <c:pt idx="1">
                <c:v>20.776999999999987</c:v>
              </c:pt>
              <c:pt idx="2">
                <c:v>22.215000000000032</c:v>
              </c:pt>
              <c:pt idx="3">
                <c:v>23.689999999999998</c:v>
              </c:pt>
              <c:pt idx="4">
                <c:v>25.187000000000012</c:v>
              </c:pt>
              <c:pt idx="5">
                <c:v>26.678999999999974</c:v>
              </c:pt>
              <c:pt idx="6">
                <c:v>370.755</c:v>
              </c:pt>
            </c:numLit>
          </c:val>
          <c:extLst>
            <c:ext xmlns:c16="http://schemas.microsoft.com/office/drawing/2014/chart" uri="{C3380CC4-5D6E-409C-BE32-E72D297353CC}">
              <c16:uniqueId val="{0000000F-3E6C-4BC6-993B-F57B83C8CEA4}"/>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v>Third-Party E-commerce</c:v>
          </c:tx>
          <c:spPr>
            <a:solidFill>
              <a:srgbClr val="3D85C6"/>
            </a:solidFill>
            <a:ln>
              <a:noFill/>
            </a:ln>
          </c:spPr>
          <c:invertIfNegative val="1"/>
          <c:dLbls>
            <c:dLbl>
              <c:idx val="0"/>
              <c:numFmt formatCode="&quot;MMMM&quot;;&quot;MMMM&quot;;&quot;MMMM&quot;" sourceLinked="0"/>
              <c:spPr>
                <a:blipFill>
                  <a:blip xmlns:r="http://schemas.openxmlformats.org/officeDocument/2006/relationships" r:embed="rId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05E-424C-A164-F61D339D4E24}"/>
                </c:ext>
              </c:extLst>
            </c:dLbl>
            <c:dLbl>
              <c:idx val="1"/>
              <c:numFmt formatCode="&quot;MMMM&quot;;&quot;MMMM&quot;;&quot;MMMM&quot;" sourceLinked="0"/>
              <c:spPr>
                <a:blipFill>
                  <a:blip xmlns:r="http://schemas.openxmlformats.org/officeDocument/2006/relationships"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05E-424C-A164-F61D339D4E24}"/>
                </c:ext>
              </c:extLst>
            </c:dLbl>
            <c:dLbl>
              <c:idx val="2"/>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05E-424C-A164-F61D339D4E24}"/>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16.078664034572906</c:v>
              </c:pt>
              <c:pt idx="1">
                <c:v>18.379266605753784</c:v>
              </c:pt>
              <c:pt idx="2">
                <c:v>23.277074111746206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305E-424C-A164-F61D339D4E24}"/>
            </c:ext>
          </c:extLst>
        </c:ser>
        <c:ser>
          <c:idx val="1"/>
          <c:order val="1"/>
          <c:tx>
            <c:v>Veterinary Channels</c:v>
          </c:tx>
          <c:spPr>
            <a:solidFill>
              <a:srgbClr val="9E7E0A"/>
            </a:solidFill>
            <a:ln>
              <a:noFill/>
            </a:ln>
          </c:spPr>
          <c:invertIfNegative val="1"/>
          <c:dLbls>
            <c:dLbl>
              <c:idx val="0"/>
              <c:numFmt formatCode="&quot;MMMM&quot;;&quot;MMMM&quot;;&quot;MMMM&quot;" sourceLinked="0"/>
              <c:spPr>
                <a:blipFill>
                  <a:blip xmlns:r="http://schemas.openxmlformats.org/officeDocument/2006/relationships"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05E-424C-A164-F61D339D4E24}"/>
                </c:ext>
              </c:extLst>
            </c:dLbl>
            <c:dLbl>
              <c:idx val="1"/>
              <c:numFmt formatCode="&quot;MMMM&quot;;&quot;MMMM&quot;;&quot;MMMM&quot;" sourceLinked="0"/>
              <c:spPr>
                <a:blipFill>
                  <a:blip xmlns:r="http://schemas.openxmlformats.org/officeDocument/2006/relationships"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05E-424C-A164-F61D339D4E24}"/>
                </c:ext>
              </c:extLst>
            </c:dLbl>
            <c:dLbl>
              <c:idx val="2"/>
              <c:numFmt formatCode="&quot;MMMM&quot;;&quot;MMMM&quot;;&quot;MMMM&quot;" sourceLinked="0"/>
              <c:spPr>
                <a:blipFill>
                  <a:blip xmlns:r="http://schemas.openxmlformats.org/officeDocument/2006/relationships"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05E-424C-A164-F61D339D4E24}"/>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25.770645040815239</c:v>
              </c:pt>
              <c:pt idx="1">
                <c:v>24.945625230844296</c:v>
              </c:pt>
              <c:pt idx="2">
                <c:v>23.191121882278669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305E-424C-A164-F61D339D4E24}"/>
            </c:ext>
          </c:extLst>
        </c:ser>
        <c:ser>
          <c:idx val="2"/>
          <c:order val="2"/>
          <c:tx>
            <c:v>Specialist Pet Retail</c:v>
          </c:tx>
          <c:spPr>
            <a:solidFill>
              <a:srgbClr val="008189"/>
            </a:solidFill>
            <a:ln>
              <a:noFill/>
            </a:ln>
          </c:spPr>
          <c:invertIfNegative val="1"/>
          <c:dLbls>
            <c:dLbl>
              <c:idx val="0"/>
              <c:numFmt formatCode="&quot;MMMM&quot;;&quot;MMMM&quot;;&quot;MMMM&quot;" sourceLinked="0"/>
              <c:spPr>
                <a:blipFill>
                  <a:blip xmlns:r="http://schemas.openxmlformats.org/officeDocument/2006/relationships"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05E-424C-A164-F61D339D4E24}"/>
                </c:ext>
              </c:extLst>
            </c:dLbl>
            <c:dLbl>
              <c:idx val="1"/>
              <c:numFmt formatCode="&quot;MMMM&quot;;&quot;MMMM&quot;;&quot;MMMM&quot;" sourceLinked="0"/>
              <c:spPr>
                <a:blipFill>
                  <a:blip xmlns:r="http://schemas.openxmlformats.org/officeDocument/2006/relationships"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05E-424C-A164-F61D339D4E24}"/>
                </c:ext>
              </c:extLst>
            </c:dLbl>
            <c:dLbl>
              <c:idx val="2"/>
              <c:numFmt formatCode="&quot;MMMM&quot;;&quot;MMMM&quot;;&quot;MMMM&quot;" sourceLinked="0"/>
              <c:spPr>
                <a:blipFill>
                  <a:blip xmlns:r="http://schemas.openxmlformats.org/officeDocument/2006/relationships"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05E-424C-A164-F61D339D4E24}"/>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16.530672784506216</c:v>
              </c:pt>
              <c:pt idx="1">
                <c:v>18.466286623755817</c:v>
              </c:pt>
              <c:pt idx="2">
                <c:v>22.584828383301055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B-305E-424C-A164-F61D339D4E24}"/>
            </c:ext>
          </c:extLst>
        </c:ser>
        <c:ser>
          <c:idx val="3"/>
          <c:order val="3"/>
          <c:tx>
            <c:v>Brand-Owned E-commerce</c:v>
          </c:tx>
          <c:spPr>
            <a:solidFill>
              <a:srgbClr val="40315E"/>
            </a:solidFill>
            <a:ln>
              <a:noFill/>
            </a:ln>
          </c:spPr>
          <c:invertIfNegative val="1"/>
          <c:dLbls>
            <c:dLbl>
              <c:idx val="0"/>
              <c:numFmt formatCode="&quot;MMMM&quot;;&quot;MMMM&quot;;&quot;MMMM&quot;" sourceLinked="0"/>
              <c:spPr>
                <a:blipFill>
                  <a:blip xmlns:r="http://schemas.openxmlformats.org/officeDocument/2006/relationships"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05E-424C-A164-F61D339D4E24}"/>
                </c:ext>
              </c:extLst>
            </c:dLbl>
            <c:dLbl>
              <c:idx val="1"/>
              <c:numFmt formatCode="&quot;MMMM&quot;;&quot;MMMM&quot;;&quot;MMMM&quot;" sourceLinked="0"/>
              <c:spPr>
                <a:blipFill>
                  <a:blip xmlns:r="http://schemas.openxmlformats.org/officeDocument/2006/relationships"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05E-424C-A164-F61D339D4E24}"/>
                </c:ext>
              </c:extLst>
            </c:dLbl>
            <c:dLbl>
              <c:idx val="2"/>
              <c:numFmt formatCode="&quot;MMMM&quot;;&quot;MMMM&quot;;&quot;MMMM&quot;" sourceLinked="0"/>
              <c:spPr>
                <a:blipFill>
                  <a:blip xmlns:r="http://schemas.openxmlformats.org/officeDocument/2006/relationships"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05E-424C-A164-F61D339D4E24}"/>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23.274481139625461</c:v>
              </c:pt>
              <c:pt idx="1">
                <c:v>21.39938110792351</c:v>
              </c:pt>
              <c:pt idx="2">
                <c:v>17.433548701747544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F-305E-424C-A164-F61D339D4E24}"/>
            </c:ext>
          </c:extLst>
        </c:ser>
        <c:ser>
          <c:idx val="4"/>
          <c:order val="4"/>
          <c:tx>
            <c:v>Other Direct Sales</c:v>
          </c:tx>
          <c:spPr>
            <a:solidFill>
              <a:srgbClr val="A35313"/>
            </a:solidFill>
            <a:ln>
              <a:noFill/>
            </a:ln>
          </c:spPr>
          <c:invertIfNegative val="1"/>
          <c:dLbls>
            <c:dLbl>
              <c:idx val="0"/>
              <c:numFmt formatCode="&quot;MMM&quot;;&quot;MMM&quot;;&quot;MMM&quot;" sourceLinked="0"/>
              <c:spPr>
                <a:blipFill>
                  <a:blip xmlns:r="http://schemas.openxmlformats.org/officeDocument/2006/relationships"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305E-424C-A164-F61D339D4E24}"/>
                </c:ext>
              </c:extLst>
            </c:dLbl>
            <c:dLbl>
              <c:idx val="1"/>
              <c:numFmt formatCode="&quot;MMM&quot;;&quot;MMM&quot;;&quot;MMM&quot;" sourceLinked="0"/>
              <c:spPr>
                <a:blipFill>
                  <a:blip xmlns:r="http://schemas.openxmlformats.org/officeDocument/2006/relationships"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05E-424C-A164-F61D339D4E24}"/>
                </c:ext>
              </c:extLst>
            </c:dLbl>
            <c:dLbl>
              <c:idx val="2"/>
              <c:numFmt formatCode="&quot;MMM&quot;;&quot;MMM&quot;;&quot;MMM&quot;" sourceLinked="0"/>
              <c:spPr>
                <a:blipFill>
                  <a:blip xmlns:r="http://schemas.openxmlformats.org/officeDocument/2006/relationships"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305E-424C-A164-F61D339D4E24}"/>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9.1439790855252632</c:v>
              </c:pt>
              <c:pt idx="1">
                <c:v>8.5697218587421471</c:v>
              </c:pt>
              <c:pt idx="2">
                <c:v>7.3325399991337523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3-305E-424C-A164-F61D339D4E24}"/>
            </c:ext>
          </c:extLst>
        </c:ser>
        <c:ser>
          <c:idx val="5"/>
          <c:order val="5"/>
          <c:tx>
            <c:v>General Retail</c:v>
          </c:tx>
          <c:spPr>
            <a:solidFill>
              <a:srgbClr val="808080"/>
            </a:solidFill>
            <a:ln>
              <a:noFill/>
            </a:ln>
          </c:spPr>
          <c:invertIfNegative val="1"/>
          <c:dLbls>
            <c:dLbl>
              <c:idx val="0"/>
              <c:numFmt formatCode="&quot;MMM&quot;;&quot;MMM&quot;;&quot;MMM&quot;" sourceLinked="0"/>
              <c:spPr>
                <a:blipFill>
                  <a:blip xmlns:r="http://schemas.openxmlformats.org/officeDocument/2006/relationships"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305E-424C-A164-F61D339D4E24}"/>
                </c:ext>
              </c:extLst>
            </c:dLbl>
            <c:dLbl>
              <c:idx val="1"/>
              <c:numFmt formatCode="&quot;MMM&quot;;&quot;MMM&quot;;&quot;MMM&quot;" sourceLinked="0"/>
              <c:spPr>
                <a:blipFill>
                  <a:blip xmlns:r="http://schemas.openxmlformats.org/officeDocument/2006/relationships"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305E-424C-A164-F61D339D4E24}"/>
                </c:ext>
              </c:extLst>
            </c:dLbl>
            <c:dLbl>
              <c:idx val="2"/>
              <c:numFmt formatCode="&quot;MMM&quot;;&quot;MMM&quot;;&quot;MMM&quot;" sourceLinked="0"/>
              <c:spPr>
                <a:blipFill>
                  <a:blip xmlns:r="http://schemas.openxmlformats.org/officeDocument/2006/relationships"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305E-424C-A164-F61D339D4E24}"/>
                </c:ext>
              </c:extLst>
            </c:dLbl>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2021</c:v>
              </c:pt>
              <c:pt idx="1">
                <c:v>2026</c:v>
              </c:pt>
              <c:pt idx="2">
                <c:v>2036</c:v>
              </c:pt>
            </c:strLit>
          </c:cat>
          <c:val>
            <c:numLit>
              <c:formatCode>General</c:formatCode>
              <c:ptCount val="3"/>
              <c:pt idx="0">
                <c:v>9.2015579149549165</c:v>
              </c:pt>
              <c:pt idx="1">
                <c:v>8.2397185729804363</c:v>
              </c:pt>
              <c:pt idx="2">
                <c:v>6.1808869217927658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7-305E-424C-A164-F61D339D4E24}"/>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Volume (MT)</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722-44C7-A942-394528B6110C}"/>
                </c:ext>
              </c:extLst>
            </c:dLbl>
            <c:dLbl>
              <c:idx val="1"/>
              <c:delete val="1"/>
              <c:extLst>
                <c:ext xmlns:c15="http://schemas.microsoft.com/office/drawing/2012/chart" uri="{CE6537A1-D6FC-4f65-9D91-7224C49458BB}"/>
                <c:ext xmlns:c16="http://schemas.microsoft.com/office/drawing/2014/chart" uri="{C3380CC4-5D6E-409C-BE32-E72D297353CC}">
                  <c16:uniqueId val="{00000001-3722-44C7-A942-394528B6110C}"/>
                </c:ext>
              </c:extLst>
            </c:dLbl>
            <c:dLbl>
              <c:idx val="2"/>
              <c:delete val="1"/>
              <c:extLst>
                <c:ext xmlns:c15="http://schemas.microsoft.com/office/drawing/2012/chart" uri="{CE6537A1-D6FC-4f65-9D91-7224C49458BB}"/>
                <c:ext xmlns:c16="http://schemas.microsoft.com/office/drawing/2014/chart" uri="{C3380CC4-5D6E-409C-BE32-E72D297353CC}">
                  <c16:uniqueId val="{00000002-3722-44C7-A942-394528B6110C}"/>
                </c:ext>
              </c:extLst>
            </c:dLbl>
            <c:dLbl>
              <c:idx val="3"/>
              <c:delete val="1"/>
              <c:extLst>
                <c:ext xmlns:c15="http://schemas.microsoft.com/office/drawing/2012/chart" uri="{CE6537A1-D6FC-4f65-9D91-7224C49458BB}"/>
                <c:ext xmlns:c16="http://schemas.microsoft.com/office/drawing/2014/chart" uri="{C3380CC4-5D6E-409C-BE32-E72D297353CC}">
                  <c16:uniqueId val="{00000003-3722-44C7-A942-394528B6110C}"/>
                </c:ext>
              </c:extLst>
            </c:dLbl>
            <c:dLbl>
              <c:idx val="4"/>
              <c:delete val="1"/>
              <c:extLst>
                <c:ext xmlns:c15="http://schemas.microsoft.com/office/drawing/2012/chart" uri="{CE6537A1-D6FC-4f65-9D91-7224C49458BB}"/>
                <c:ext xmlns:c16="http://schemas.microsoft.com/office/drawing/2014/chart" uri="{C3380CC4-5D6E-409C-BE32-E72D297353CC}">
                  <c16:uniqueId val="{00000004-3722-44C7-A942-394528B6110C}"/>
                </c:ext>
              </c:extLst>
            </c:dLbl>
            <c:dLbl>
              <c:idx val="5"/>
              <c:delete val="1"/>
              <c:extLst>
                <c:ext xmlns:c15="http://schemas.microsoft.com/office/drawing/2012/chart" uri="{CE6537A1-D6FC-4f65-9D91-7224C49458BB}"/>
                <c:ext xmlns:c16="http://schemas.microsoft.com/office/drawing/2014/chart" uri="{C3380CC4-5D6E-409C-BE32-E72D297353CC}">
                  <c16:uniqueId val="{00000005-3722-44C7-A942-394528B6110C}"/>
                </c:ext>
              </c:extLst>
            </c:dLbl>
            <c:dLbl>
              <c:idx val="6"/>
              <c:delete val="1"/>
              <c:extLst>
                <c:ext xmlns:c15="http://schemas.microsoft.com/office/drawing/2012/chart" uri="{CE6537A1-D6FC-4f65-9D91-7224C49458BB}"/>
                <c:ext xmlns:c16="http://schemas.microsoft.com/office/drawing/2014/chart" uri="{C3380CC4-5D6E-409C-BE32-E72D297353CC}">
                  <c16:uniqueId val="{00000006-3722-44C7-A942-394528B6110C}"/>
                </c:ext>
              </c:extLst>
            </c:dLbl>
            <c:dLbl>
              <c:idx val="7"/>
              <c:delete val="1"/>
              <c:extLst>
                <c:ext xmlns:c15="http://schemas.microsoft.com/office/drawing/2012/chart" uri="{CE6537A1-D6FC-4f65-9D91-7224C49458BB}"/>
                <c:ext xmlns:c16="http://schemas.microsoft.com/office/drawing/2014/chart" uri="{C3380CC4-5D6E-409C-BE32-E72D297353CC}">
                  <c16:uniqueId val="{00000007-3722-44C7-A942-394528B6110C}"/>
                </c:ext>
              </c:extLst>
            </c:dLbl>
            <c:dLbl>
              <c:idx val="8"/>
              <c:delete val="1"/>
              <c:extLst>
                <c:ext xmlns:c15="http://schemas.microsoft.com/office/drawing/2012/chart" uri="{CE6537A1-D6FC-4f65-9D91-7224C49458BB}"/>
                <c:ext xmlns:c16="http://schemas.microsoft.com/office/drawing/2014/chart" uri="{C3380CC4-5D6E-409C-BE32-E72D297353CC}">
                  <c16:uniqueId val="{00000008-3722-44C7-A942-394528B6110C}"/>
                </c:ext>
              </c:extLst>
            </c:dLbl>
            <c:dLbl>
              <c:idx val="9"/>
              <c:delete val="1"/>
              <c:extLst>
                <c:ext xmlns:c15="http://schemas.microsoft.com/office/drawing/2012/chart" uri="{CE6537A1-D6FC-4f65-9D91-7224C49458BB}"/>
                <c:ext xmlns:c16="http://schemas.microsoft.com/office/drawing/2014/chart" uri="{C3380CC4-5D6E-409C-BE32-E72D297353CC}">
                  <c16:uniqueId val="{00000009-3722-44C7-A942-394528B6110C}"/>
                </c:ext>
              </c:extLst>
            </c:dLbl>
            <c:dLbl>
              <c:idx val="10"/>
              <c:delete val="1"/>
              <c:extLst>
                <c:ext xmlns:c15="http://schemas.microsoft.com/office/drawing/2012/chart" uri="{CE6537A1-D6FC-4f65-9D91-7224C49458BB}"/>
                <c:ext xmlns:c16="http://schemas.microsoft.com/office/drawing/2014/chart" uri="{C3380CC4-5D6E-409C-BE32-E72D297353CC}">
                  <c16:uniqueId val="{0000000A-3722-44C7-A942-394528B6110C}"/>
                </c:ext>
              </c:extLst>
            </c:dLbl>
            <c:dLbl>
              <c:idx val="11"/>
              <c:delete val="1"/>
              <c:extLst>
                <c:ext xmlns:c15="http://schemas.microsoft.com/office/drawing/2012/chart" uri="{CE6537A1-D6FC-4f65-9D91-7224C49458BB}"/>
                <c:ext xmlns:c16="http://schemas.microsoft.com/office/drawing/2014/chart" uri="{C3380CC4-5D6E-409C-BE32-E72D297353CC}">
                  <c16:uniqueId val="{0000000B-3722-44C7-A942-394528B6110C}"/>
                </c:ext>
              </c:extLst>
            </c:dLbl>
            <c:dLbl>
              <c:idx val="12"/>
              <c:delete val="1"/>
              <c:extLst>
                <c:ext xmlns:c15="http://schemas.microsoft.com/office/drawing/2012/chart" uri="{CE6537A1-D6FC-4f65-9D91-7224C49458BB}"/>
                <c:ext xmlns:c16="http://schemas.microsoft.com/office/drawing/2014/chart" uri="{C3380CC4-5D6E-409C-BE32-E72D297353CC}">
                  <c16:uniqueId val="{0000000C-3722-44C7-A942-394528B6110C}"/>
                </c:ext>
              </c:extLst>
            </c:dLbl>
            <c:dLbl>
              <c:idx val="13"/>
              <c:delete val="1"/>
              <c:extLst>
                <c:ext xmlns:c15="http://schemas.microsoft.com/office/drawing/2012/chart" uri="{CE6537A1-D6FC-4f65-9D91-7224C49458BB}"/>
                <c:ext xmlns:c16="http://schemas.microsoft.com/office/drawing/2014/chart" uri="{C3380CC4-5D6E-409C-BE32-E72D297353CC}">
                  <c16:uniqueId val="{0000000D-3722-44C7-A942-394528B6110C}"/>
                </c:ext>
              </c:extLst>
            </c:dLbl>
            <c:dLbl>
              <c:idx val="14"/>
              <c:delete val="1"/>
              <c:extLst>
                <c:ext xmlns:c15="http://schemas.microsoft.com/office/drawing/2012/chart" uri="{CE6537A1-D6FC-4f65-9D91-7224C49458BB}"/>
                <c:ext xmlns:c16="http://schemas.microsoft.com/office/drawing/2014/chart" uri="{C3380CC4-5D6E-409C-BE32-E72D297353CC}">
                  <c16:uniqueId val="{0000000E-3722-44C7-A942-394528B6110C}"/>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3722-44C7-A942-394528B6110C}"/>
                </c:ext>
              </c:extLst>
            </c:dLbl>
            <c:numFmt formatCode="#,##0" sourceLinked="0"/>
            <c:spPr>
              <a:noFill/>
              <a:ln>
                <a:noFill/>
              </a:ln>
              <a:effectLst/>
            </c:spPr>
            <c:txPr>
              <a:bodyPr rot="0" vert="horz"/>
              <a:lstStyle/>
              <a:p>
                <a:pPr>
                  <a:defRPr sz="1100">
                    <a:solidFill>
                      <a:srgbClr val="6C7A89"/>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91858.921999999991</c:v>
              </c:pt>
              <c:pt idx="1">
                <c:v>93693.100999999995</c:v>
              </c:pt>
              <c:pt idx="2">
                <c:v>95563.903999999995</c:v>
              </c:pt>
              <c:pt idx="3">
                <c:v>97472.062000000005</c:v>
              </c:pt>
              <c:pt idx="4">
                <c:v>99418.320999999996</c:v>
              </c:pt>
              <c:pt idx="5">
                <c:v>101403.44099999999</c:v>
              </c:pt>
              <c:pt idx="6">
                <c:v>104230.93</c:v>
              </c:pt>
              <c:pt idx="7">
                <c:v>107137.26</c:v>
              </c:pt>
              <c:pt idx="8">
                <c:v>110124.629</c:v>
              </c:pt>
              <c:pt idx="9">
                <c:v>113195.296</c:v>
              </c:pt>
              <c:pt idx="10">
                <c:v>116351.584</c:v>
              </c:pt>
              <c:pt idx="11">
                <c:v>119595.88100000001</c:v>
              </c:pt>
              <c:pt idx="12">
                <c:v>122930.641</c:v>
              </c:pt>
              <c:pt idx="13">
                <c:v>126358.38499999998</c:v>
              </c:pt>
              <c:pt idx="14">
                <c:v>129881.70700000001</c:v>
              </c:pt>
              <c:pt idx="15">
                <c:v>133503.272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0-3722-44C7-A942-394528B6110C}"/>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CAGR</c:v>
          </c:tx>
          <c:spPr>
            <a:solidFill>
              <a:srgbClr val="3D85C6"/>
            </a:solidFill>
            <a:ln>
              <a:noFill/>
            </a:ln>
          </c:spPr>
          <c:invertIfNegative val="1"/>
          <c:dPt>
            <c:idx val="0"/>
            <c:invertIfNegative val="1"/>
            <c:bubble3D val="0"/>
            <c:spPr>
              <a:solidFill>
                <a:srgbClr val="008189"/>
              </a:solidFill>
            </c:spPr>
            <c:extLst>
              <c:ext xmlns:c16="http://schemas.microsoft.com/office/drawing/2014/chart" uri="{C3380CC4-5D6E-409C-BE32-E72D297353CC}">
                <c16:uniqueId val="{00000001-0384-402E-BA6D-6DDBD6657101}"/>
              </c:ext>
            </c:extLst>
          </c:dPt>
          <c:dPt>
            <c:idx val="1"/>
            <c:invertIfNegative val="1"/>
            <c:bubble3D val="0"/>
            <c:spPr>
              <a:solidFill>
                <a:srgbClr val="9E7E0A"/>
              </a:solidFill>
            </c:spPr>
            <c:extLst>
              <c:ext xmlns:c16="http://schemas.microsoft.com/office/drawing/2014/chart" uri="{C3380CC4-5D6E-409C-BE32-E72D297353CC}">
                <c16:uniqueId val="{00000003-0384-402E-BA6D-6DDBD6657101}"/>
              </c:ext>
            </c:extLst>
          </c:dPt>
          <c:dPt>
            <c:idx val="2"/>
            <c:invertIfNegative val="1"/>
            <c:bubble3D val="0"/>
            <c:spPr>
              <a:solidFill>
                <a:srgbClr val="3D85C6"/>
              </a:solidFill>
            </c:spPr>
            <c:extLst>
              <c:ext xmlns:c16="http://schemas.microsoft.com/office/drawing/2014/chart" uri="{C3380CC4-5D6E-409C-BE32-E72D297353CC}">
                <c16:uniqueId val="{00000005-0384-402E-BA6D-6DDBD665710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384-402E-BA6D-6DDBD665710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384-402E-BA6D-6DDBD665710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384-402E-BA6D-6DDBD6657101}"/>
                </c:ext>
              </c:extLst>
            </c:dLbl>
            <c:numFmt formatCode="0.0%" sourceLinked="0"/>
            <c:spPr>
              <a:noFill/>
              <a:ln>
                <a:noFill/>
              </a:ln>
              <a:effectLst/>
            </c:spPr>
            <c:txPr>
              <a:bodyPr rot="0" vert="horz"/>
              <a:lstStyle/>
              <a:p>
                <a:pPr>
                  <a:defRPr sz="1100">
                    <a:solidFill>
                      <a:srgbClr val="2E2E2E"/>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Global</c:v>
              </c:pt>
              <c:pt idx="1">
                <c:v>Europe</c:v>
              </c:pt>
              <c:pt idx="2">
                <c:v>U.K.</c:v>
              </c:pt>
            </c:strLit>
          </c:cat>
          <c:val>
            <c:numLit>
              <c:formatCode>General</c:formatCode>
              <c:ptCount val="3"/>
              <c:pt idx="0">
                <c:v>4.4078445783955367E-2</c:v>
              </c:pt>
              <c:pt idx="1">
                <c:v>4.2821569258252756E-2</c:v>
              </c:pt>
              <c:pt idx="2">
                <c:v>2.7883564117646031E-2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0384-402E-BA6D-6DDBD6657101}"/>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5.9505901808339749E-2"/>
          <c:min val="0"/>
        </c:scaling>
        <c:delete val="1"/>
        <c:axPos val="b"/>
        <c:numFmt formatCode="General" sourceLinked="1"/>
        <c:majorTickMark val="out"/>
        <c:minorTickMark val="none"/>
        <c:tickLblPos val="none"/>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Lit>
          </c:cat>
          <c:val>
            <c:numLit>
              <c:formatCode>General</c:formatCode>
              <c:ptCount val="12"/>
              <c:pt idx="0">
                <c:v>0</c:v>
              </c:pt>
              <c:pt idx="1">
                <c:v>101403.44099999999</c:v>
              </c:pt>
              <c:pt idx="2">
                <c:v>104230.93</c:v>
              </c:pt>
              <c:pt idx="3">
                <c:v>107137.26</c:v>
              </c:pt>
              <c:pt idx="4">
                <c:v>110124.629</c:v>
              </c:pt>
              <c:pt idx="5">
                <c:v>113195.296</c:v>
              </c:pt>
              <c:pt idx="6">
                <c:v>116351.584</c:v>
              </c:pt>
              <c:pt idx="7">
                <c:v>119595.88100000001</c:v>
              </c:pt>
              <c:pt idx="8">
                <c:v>122930.641</c:v>
              </c:pt>
              <c:pt idx="9">
                <c:v>126358.38499999998</c:v>
              </c:pt>
              <c:pt idx="10">
                <c:v>129881.70700000001</c:v>
              </c:pt>
              <c:pt idx="11">
                <c:v>0</c:v>
              </c:pt>
            </c:numLit>
          </c:val>
          <c:extLst>
            <c:ext xmlns:c16="http://schemas.microsoft.com/office/drawing/2014/chart" uri="{C3380CC4-5D6E-409C-BE32-E72D297353CC}">
              <c16:uniqueId val="{00000000-0332-4686-8DBE-CDC5822B78D5}"/>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0332-4686-8DBE-CDC5822B78D5}"/>
              </c:ext>
            </c:extLst>
          </c:dPt>
          <c:dPt>
            <c:idx val="1"/>
            <c:invertIfNegative val="1"/>
            <c:bubble3D val="0"/>
            <c:spPr>
              <a:solidFill>
                <a:srgbClr val="008189"/>
              </a:solidFill>
            </c:spPr>
            <c:extLst>
              <c:ext xmlns:c16="http://schemas.microsoft.com/office/drawing/2014/chart" uri="{C3380CC4-5D6E-409C-BE32-E72D297353CC}">
                <c16:uniqueId val="{00000004-0332-4686-8DBE-CDC5822B78D5}"/>
              </c:ext>
            </c:extLst>
          </c:dPt>
          <c:dPt>
            <c:idx val="2"/>
            <c:invertIfNegative val="1"/>
            <c:bubble3D val="0"/>
            <c:spPr>
              <a:solidFill>
                <a:srgbClr val="008189"/>
              </a:solidFill>
            </c:spPr>
            <c:extLst>
              <c:ext xmlns:c16="http://schemas.microsoft.com/office/drawing/2014/chart" uri="{C3380CC4-5D6E-409C-BE32-E72D297353CC}">
                <c16:uniqueId val="{00000006-0332-4686-8DBE-CDC5822B78D5}"/>
              </c:ext>
            </c:extLst>
          </c:dPt>
          <c:dPt>
            <c:idx val="3"/>
            <c:invertIfNegative val="1"/>
            <c:bubble3D val="0"/>
            <c:spPr>
              <a:solidFill>
                <a:srgbClr val="008189"/>
              </a:solidFill>
            </c:spPr>
            <c:extLst>
              <c:ext xmlns:c16="http://schemas.microsoft.com/office/drawing/2014/chart" uri="{C3380CC4-5D6E-409C-BE32-E72D297353CC}">
                <c16:uniqueId val="{00000008-0332-4686-8DBE-CDC5822B78D5}"/>
              </c:ext>
            </c:extLst>
          </c:dPt>
          <c:dPt>
            <c:idx val="4"/>
            <c:invertIfNegative val="1"/>
            <c:bubble3D val="0"/>
            <c:spPr>
              <a:solidFill>
                <a:srgbClr val="008189"/>
              </a:solidFill>
            </c:spPr>
            <c:extLst>
              <c:ext xmlns:c16="http://schemas.microsoft.com/office/drawing/2014/chart" uri="{C3380CC4-5D6E-409C-BE32-E72D297353CC}">
                <c16:uniqueId val="{0000000A-0332-4686-8DBE-CDC5822B78D5}"/>
              </c:ext>
            </c:extLst>
          </c:dPt>
          <c:dPt>
            <c:idx val="5"/>
            <c:invertIfNegative val="1"/>
            <c:bubble3D val="0"/>
            <c:spPr>
              <a:solidFill>
                <a:srgbClr val="008189"/>
              </a:solidFill>
            </c:spPr>
            <c:extLst>
              <c:ext xmlns:c16="http://schemas.microsoft.com/office/drawing/2014/chart" uri="{C3380CC4-5D6E-409C-BE32-E72D297353CC}">
                <c16:uniqueId val="{0000000C-0332-4686-8DBE-CDC5822B78D5}"/>
              </c:ext>
            </c:extLst>
          </c:dPt>
          <c:dPt>
            <c:idx val="6"/>
            <c:invertIfNegative val="1"/>
            <c:bubble3D val="0"/>
            <c:spPr>
              <a:solidFill>
                <a:srgbClr val="008189"/>
              </a:solidFill>
            </c:spPr>
            <c:extLst>
              <c:ext xmlns:c16="http://schemas.microsoft.com/office/drawing/2014/chart" uri="{C3380CC4-5D6E-409C-BE32-E72D297353CC}">
                <c16:uniqueId val="{0000000E-0332-4686-8DBE-CDC5822B78D5}"/>
              </c:ext>
            </c:extLst>
          </c:dPt>
          <c:dPt>
            <c:idx val="7"/>
            <c:invertIfNegative val="1"/>
            <c:bubble3D val="0"/>
            <c:spPr>
              <a:solidFill>
                <a:srgbClr val="008189"/>
              </a:solidFill>
            </c:spPr>
            <c:extLst>
              <c:ext xmlns:c16="http://schemas.microsoft.com/office/drawing/2014/chart" uri="{C3380CC4-5D6E-409C-BE32-E72D297353CC}">
                <c16:uniqueId val="{00000010-0332-4686-8DBE-CDC5822B78D5}"/>
              </c:ext>
            </c:extLst>
          </c:dPt>
          <c:dPt>
            <c:idx val="8"/>
            <c:invertIfNegative val="1"/>
            <c:bubble3D val="0"/>
            <c:spPr>
              <a:solidFill>
                <a:srgbClr val="008189"/>
              </a:solidFill>
            </c:spPr>
            <c:extLst>
              <c:ext xmlns:c16="http://schemas.microsoft.com/office/drawing/2014/chart" uri="{C3380CC4-5D6E-409C-BE32-E72D297353CC}">
                <c16:uniqueId val="{00000012-0332-4686-8DBE-CDC5822B78D5}"/>
              </c:ext>
            </c:extLst>
          </c:dPt>
          <c:dPt>
            <c:idx val="9"/>
            <c:invertIfNegative val="1"/>
            <c:bubble3D val="0"/>
            <c:spPr>
              <a:solidFill>
                <a:srgbClr val="008189"/>
              </a:solidFill>
            </c:spPr>
            <c:extLst>
              <c:ext xmlns:c16="http://schemas.microsoft.com/office/drawing/2014/chart" uri="{C3380CC4-5D6E-409C-BE32-E72D297353CC}">
                <c16:uniqueId val="{00000014-0332-4686-8DBE-CDC5822B78D5}"/>
              </c:ext>
            </c:extLst>
          </c:dPt>
          <c:dPt>
            <c:idx val="10"/>
            <c:invertIfNegative val="1"/>
            <c:bubble3D val="0"/>
            <c:spPr>
              <a:solidFill>
                <a:srgbClr val="008189"/>
              </a:solidFill>
            </c:spPr>
            <c:extLst>
              <c:ext xmlns:c16="http://schemas.microsoft.com/office/drawing/2014/chart" uri="{C3380CC4-5D6E-409C-BE32-E72D297353CC}">
                <c16:uniqueId val="{00000016-0332-4686-8DBE-CDC5822B78D5}"/>
              </c:ext>
            </c:extLst>
          </c:dPt>
          <c:dPt>
            <c:idx val="11"/>
            <c:invertIfNegative val="1"/>
            <c:bubble3D val="0"/>
            <c:spPr>
              <a:solidFill>
                <a:srgbClr val="0E72AE"/>
              </a:solidFill>
            </c:spPr>
            <c:extLst>
              <c:ext xmlns:c16="http://schemas.microsoft.com/office/drawing/2014/chart" uri="{C3380CC4-5D6E-409C-BE32-E72D297353CC}">
                <c16:uniqueId val="{00000018-0332-4686-8DBE-CDC5822B78D5}"/>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332-4686-8DBE-CDC5822B78D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332-4686-8DBE-CDC5822B78D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332-4686-8DBE-CDC5822B78D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332-4686-8DBE-CDC5822B78D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332-4686-8DBE-CDC5822B78D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0332-4686-8DBE-CDC5822B78D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332-4686-8DBE-CDC5822B78D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0332-4686-8DBE-CDC5822B78D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0332-4686-8DBE-CDC5822B78D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0332-4686-8DBE-CDC5822B78D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0332-4686-8DBE-CDC5822B78D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0332-4686-8DBE-CDC5822B78D5}"/>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Lit>
          </c:cat>
          <c:val>
            <c:numLit>
              <c:formatCode>General</c:formatCode>
              <c:ptCount val="12"/>
              <c:pt idx="0">
                <c:v>101403.44099999999</c:v>
              </c:pt>
              <c:pt idx="1">
                <c:v>2827.4890000000014</c:v>
              </c:pt>
              <c:pt idx="2">
                <c:v>2906.3300000000017</c:v>
              </c:pt>
              <c:pt idx="3">
                <c:v>2987.3690000000061</c:v>
              </c:pt>
              <c:pt idx="4">
                <c:v>3070.6670000000013</c:v>
              </c:pt>
              <c:pt idx="5">
                <c:v>3156.2880000000005</c:v>
              </c:pt>
              <c:pt idx="6">
                <c:v>3244.2970000000059</c:v>
              </c:pt>
              <c:pt idx="7">
                <c:v>3334.7599999999948</c:v>
              </c:pt>
              <c:pt idx="8">
                <c:v>3427.7439999999769</c:v>
              </c:pt>
              <c:pt idx="9">
                <c:v>3523.3220000000292</c:v>
              </c:pt>
              <c:pt idx="10">
                <c:v>3621.5649999999878</c:v>
              </c:pt>
              <c:pt idx="11">
                <c:v>133503.272</c:v>
              </c:pt>
            </c:numLit>
          </c:val>
          <c:extLst>
            <c:ext xmlns:c16="http://schemas.microsoft.com/office/drawing/2014/chart" uri="{C3380CC4-5D6E-409C-BE32-E72D297353CC}">
              <c16:uniqueId val="{00000019-0332-4686-8DBE-CDC5822B78D5}"/>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U.K.</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C94-413C-883A-541BF0C8FE6D}"/>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C94-413C-883A-541BF0C8FE6D}"/>
                </c:ext>
              </c:extLst>
            </c:dLbl>
            <c:numFmt formatCode="0.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Share of Europe</c:v>
              </c:pt>
              <c:pt idx="1">
                <c:v>Share of Global</c:v>
              </c:pt>
            </c:strLit>
          </c:cat>
          <c:val>
            <c:numLit>
              <c:formatCode>General</c:formatCode>
              <c:ptCount val="2"/>
              <c:pt idx="0">
                <c:v>17.211848898042234</c:v>
              </c:pt>
              <c:pt idx="1">
                <c:v>3.8142578686977986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AC94-413C-883A-541BF0C8FE6D}"/>
            </c:ext>
          </c:extLst>
        </c:ser>
        <c:ser>
          <c:idx val="1"/>
          <c:order val="1"/>
          <c:tx>
            <c:v>Rest of the market</c:v>
          </c:tx>
          <c:spPr>
            <a:solidFill>
              <a:srgbClr val="9E7E0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C94-413C-883A-541BF0C8FE6D}"/>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C94-413C-883A-541BF0C8FE6D}"/>
                </c:ext>
              </c:extLst>
            </c:dLbl>
            <c:numFmt formatCode="0.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Share of Europe</c:v>
              </c:pt>
              <c:pt idx="1">
                <c:v>Share of Global</c:v>
              </c:pt>
            </c:strLit>
          </c:cat>
          <c:val>
            <c:numLit>
              <c:formatCode>General</c:formatCode>
              <c:ptCount val="2"/>
              <c:pt idx="0">
                <c:v>82.788151101957766</c:v>
              </c:pt>
              <c:pt idx="1">
                <c:v>96.185742131302206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AC94-413C-883A-541BF0C8FE6D}"/>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v>Value (US$ Mn)</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E53-4FD9-9928-7D341443AC10}"/>
                </c:ext>
              </c:extLst>
            </c:dLbl>
            <c:dLbl>
              <c:idx val="1"/>
              <c:delete val="1"/>
              <c:extLst>
                <c:ext xmlns:c15="http://schemas.microsoft.com/office/drawing/2012/chart" uri="{CE6537A1-D6FC-4f65-9D91-7224C49458BB}"/>
                <c:ext xmlns:c16="http://schemas.microsoft.com/office/drawing/2014/chart" uri="{C3380CC4-5D6E-409C-BE32-E72D297353CC}">
                  <c16:uniqueId val="{00000001-BE53-4FD9-9928-7D341443AC10}"/>
                </c:ext>
              </c:extLst>
            </c:dLbl>
            <c:dLbl>
              <c:idx val="2"/>
              <c:delete val="1"/>
              <c:extLst>
                <c:ext xmlns:c15="http://schemas.microsoft.com/office/drawing/2012/chart" uri="{CE6537A1-D6FC-4f65-9D91-7224C49458BB}"/>
                <c:ext xmlns:c16="http://schemas.microsoft.com/office/drawing/2014/chart" uri="{C3380CC4-5D6E-409C-BE32-E72D297353CC}">
                  <c16:uniqueId val="{00000002-BE53-4FD9-9928-7D341443AC10}"/>
                </c:ext>
              </c:extLst>
            </c:dLbl>
            <c:dLbl>
              <c:idx val="3"/>
              <c:delete val="1"/>
              <c:extLst>
                <c:ext xmlns:c15="http://schemas.microsoft.com/office/drawing/2012/chart" uri="{CE6537A1-D6FC-4f65-9D91-7224C49458BB}"/>
                <c:ext xmlns:c16="http://schemas.microsoft.com/office/drawing/2014/chart" uri="{C3380CC4-5D6E-409C-BE32-E72D297353CC}">
                  <c16:uniqueId val="{00000003-BE53-4FD9-9928-7D341443AC10}"/>
                </c:ext>
              </c:extLst>
            </c:dLbl>
            <c:dLbl>
              <c:idx val="4"/>
              <c:delete val="1"/>
              <c:extLst>
                <c:ext xmlns:c15="http://schemas.microsoft.com/office/drawing/2012/chart" uri="{CE6537A1-D6FC-4f65-9D91-7224C49458BB}"/>
                <c:ext xmlns:c16="http://schemas.microsoft.com/office/drawing/2014/chart" uri="{C3380CC4-5D6E-409C-BE32-E72D297353CC}">
                  <c16:uniqueId val="{00000004-BE53-4FD9-9928-7D341443AC10}"/>
                </c:ext>
              </c:extLst>
            </c:dLbl>
            <c:dLbl>
              <c:idx val="5"/>
              <c:delete val="1"/>
              <c:extLst>
                <c:ext xmlns:c15="http://schemas.microsoft.com/office/drawing/2012/chart" uri="{CE6537A1-D6FC-4f65-9D91-7224C49458BB}"/>
                <c:ext xmlns:c16="http://schemas.microsoft.com/office/drawing/2014/chart" uri="{C3380CC4-5D6E-409C-BE32-E72D297353CC}">
                  <c16:uniqueId val="{00000005-BE53-4FD9-9928-7D341443AC10}"/>
                </c:ext>
              </c:extLst>
            </c:dLbl>
            <c:dLbl>
              <c:idx val="6"/>
              <c:delete val="1"/>
              <c:extLst>
                <c:ext xmlns:c15="http://schemas.microsoft.com/office/drawing/2012/chart" uri="{CE6537A1-D6FC-4f65-9D91-7224C49458BB}"/>
                <c:ext xmlns:c16="http://schemas.microsoft.com/office/drawing/2014/chart" uri="{C3380CC4-5D6E-409C-BE32-E72D297353CC}">
                  <c16:uniqueId val="{00000006-BE53-4FD9-9928-7D341443AC10}"/>
                </c:ext>
              </c:extLst>
            </c:dLbl>
            <c:dLbl>
              <c:idx val="7"/>
              <c:delete val="1"/>
              <c:extLst>
                <c:ext xmlns:c15="http://schemas.microsoft.com/office/drawing/2012/chart" uri="{CE6537A1-D6FC-4f65-9D91-7224C49458BB}"/>
                <c:ext xmlns:c16="http://schemas.microsoft.com/office/drawing/2014/chart" uri="{C3380CC4-5D6E-409C-BE32-E72D297353CC}">
                  <c16:uniqueId val="{00000007-BE53-4FD9-9928-7D341443AC10}"/>
                </c:ext>
              </c:extLst>
            </c:dLbl>
            <c:dLbl>
              <c:idx val="8"/>
              <c:delete val="1"/>
              <c:extLst>
                <c:ext xmlns:c15="http://schemas.microsoft.com/office/drawing/2012/chart" uri="{CE6537A1-D6FC-4f65-9D91-7224C49458BB}"/>
                <c:ext xmlns:c16="http://schemas.microsoft.com/office/drawing/2014/chart" uri="{C3380CC4-5D6E-409C-BE32-E72D297353CC}">
                  <c16:uniqueId val="{00000008-BE53-4FD9-9928-7D341443AC10}"/>
                </c:ext>
              </c:extLst>
            </c:dLbl>
            <c:dLbl>
              <c:idx val="9"/>
              <c:delete val="1"/>
              <c:extLst>
                <c:ext xmlns:c15="http://schemas.microsoft.com/office/drawing/2012/chart" uri="{CE6537A1-D6FC-4f65-9D91-7224C49458BB}"/>
                <c:ext xmlns:c16="http://schemas.microsoft.com/office/drawing/2014/chart" uri="{C3380CC4-5D6E-409C-BE32-E72D297353CC}">
                  <c16:uniqueId val="{00000009-BE53-4FD9-9928-7D341443AC10}"/>
                </c:ext>
              </c:extLst>
            </c:dLbl>
            <c:dLbl>
              <c:idx val="10"/>
              <c:delete val="1"/>
              <c:extLst>
                <c:ext xmlns:c15="http://schemas.microsoft.com/office/drawing/2012/chart" uri="{CE6537A1-D6FC-4f65-9D91-7224C49458BB}"/>
                <c:ext xmlns:c16="http://schemas.microsoft.com/office/drawing/2014/chart" uri="{C3380CC4-5D6E-409C-BE32-E72D297353CC}">
                  <c16:uniqueId val="{0000000A-BE53-4FD9-9928-7D341443AC10}"/>
                </c:ext>
              </c:extLst>
            </c:dLbl>
            <c:dLbl>
              <c:idx val="11"/>
              <c:delete val="1"/>
              <c:extLst>
                <c:ext xmlns:c15="http://schemas.microsoft.com/office/drawing/2012/chart" uri="{CE6537A1-D6FC-4f65-9D91-7224C49458BB}"/>
                <c:ext xmlns:c16="http://schemas.microsoft.com/office/drawing/2014/chart" uri="{C3380CC4-5D6E-409C-BE32-E72D297353CC}">
                  <c16:uniqueId val="{0000000B-BE53-4FD9-9928-7D341443AC10}"/>
                </c:ext>
              </c:extLst>
            </c:dLbl>
            <c:dLbl>
              <c:idx val="12"/>
              <c:delete val="1"/>
              <c:extLst>
                <c:ext xmlns:c15="http://schemas.microsoft.com/office/drawing/2012/chart" uri="{CE6537A1-D6FC-4f65-9D91-7224C49458BB}"/>
                <c:ext xmlns:c16="http://schemas.microsoft.com/office/drawing/2014/chart" uri="{C3380CC4-5D6E-409C-BE32-E72D297353CC}">
                  <c16:uniqueId val="{0000000C-BE53-4FD9-9928-7D341443AC10}"/>
                </c:ext>
              </c:extLst>
            </c:dLbl>
            <c:dLbl>
              <c:idx val="13"/>
              <c:delete val="1"/>
              <c:extLst>
                <c:ext xmlns:c15="http://schemas.microsoft.com/office/drawing/2012/chart" uri="{CE6537A1-D6FC-4f65-9D91-7224C49458BB}"/>
                <c:ext xmlns:c16="http://schemas.microsoft.com/office/drawing/2014/chart" uri="{C3380CC4-5D6E-409C-BE32-E72D297353CC}">
                  <c16:uniqueId val="{0000000D-BE53-4FD9-9928-7D341443AC10}"/>
                </c:ext>
              </c:extLst>
            </c:dLbl>
            <c:dLbl>
              <c:idx val="14"/>
              <c:delete val="1"/>
              <c:extLst>
                <c:ext xmlns:c15="http://schemas.microsoft.com/office/drawing/2012/chart" uri="{CE6537A1-D6FC-4f65-9D91-7224C49458BB}"/>
                <c:ext xmlns:c16="http://schemas.microsoft.com/office/drawing/2014/chart" uri="{C3380CC4-5D6E-409C-BE32-E72D297353CC}">
                  <c16:uniqueId val="{0000000E-BE53-4FD9-9928-7D341443AC10}"/>
                </c:ext>
              </c:extLst>
            </c:dLbl>
            <c:dLbl>
              <c:idx val="1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E53-4FD9-9928-7D341443AC10}"/>
                </c:ext>
              </c:extLst>
            </c:dLbl>
            <c:numFmt formatCode="#,##0" sourceLinked="0"/>
            <c:spPr>
              <a:noFill/>
              <a:ln>
                <a:noFill/>
              </a:ln>
              <a:effectLst/>
            </c:spPr>
            <c:txPr>
              <a:bodyPr rot="0" vert="horz"/>
              <a:lstStyle/>
              <a:p>
                <a:pPr>
                  <a:defRPr sz="1100">
                    <a:solidFill>
                      <a:srgbClr val="6C7A89"/>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427.70900000000006</c:v>
              </c:pt>
              <c:pt idx="1">
                <c:v>440.86699999999996</c:v>
              </c:pt>
              <c:pt idx="2">
                <c:v>454.42899999999997</c:v>
              </c:pt>
              <c:pt idx="3">
                <c:v>468.40899999999999</c:v>
              </c:pt>
              <c:pt idx="4">
                <c:v>482.81799999999998</c:v>
              </c:pt>
              <c:pt idx="5">
                <c:v>497.67099999999999</c:v>
              </c:pt>
              <c:pt idx="6">
                <c:v>516.96199999999999</c:v>
              </c:pt>
              <c:pt idx="7">
                <c:v>537.00099999999998</c:v>
              </c:pt>
              <c:pt idx="8">
                <c:v>557.81700000000001</c:v>
              </c:pt>
              <c:pt idx="9">
                <c:v>579.43899999999996</c:v>
              </c:pt>
              <c:pt idx="10">
                <c:v>601.9</c:v>
              </c:pt>
              <c:pt idx="11">
                <c:v>625.23099999999999</c:v>
              </c:pt>
              <c:pt idx="12">
                <c:v>649.46699999999998</c:v>
              </c:pt>
              <c:pt idx="13">
                <c:v>674.64199999999994</c:v>
              </c:pt>
              <c:pt idx="14">
                <c:v>700.79300000000001</c:v>
              </c:pt>
              <c:pt idx="15">
                <c:v>727.95700000000011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0-BE53-4FD9-9928-7D341443AC10}"/>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CAGR</c:v>
          </c:tx>
          <c:spPr>
            <a:solidFill>
              <a:srgbClr val="3D85C6"/>
            </a:solidFill>
            <a:ln>
              <a:noFill/>
            </a:ln>
          </c:spPr>
          <c:invertIfNegative val="1"/>
          <c:dPt>
            <c:idx val="0"/>
            <c:invertIfNegative val="1"/>
            <c:bubble3D val="0"/>
            <c:spPr>
              <a:solidFill>
                <a:srgbClr val="008189"/>
              </a:solidFill>
            </c:spPr>
            <c:extLst>
              <c:ext xmlns:c16="http://schemas.microsoft.com/office/drawing/2014/chart" uri="{C3380CC4-5D6E-409C-BE32-E72D297353CC}">
                <c16:uniqueId val="{00000001-0325-416F-B1BE-678B74EE1C0E}"/>
              </c:ext>
            </c:extLst>
          </c:dPt>
          <c:dPt>
            <c:idx val="1"/>
            <c:invertIfNegative val="1"/>
            <c:bubble3D val="0"/>
            <c:spPr>
              <a:solidFill>
                <a:srgbClr val="9E7E0A"/>
              </a:solidFill>
            </c:spPr>
            <c:extLst>
              <c:ext xmlns:c16="http://schemas.microsoft.com/office/drawing/2014/chart" uri="{C3380CC4-5D6E-409C-BE32-E72D297353CC}">
                <c16:uniqueId val="{00000003-0325-416F-B1BE-678B74EE1C0E}"/>
              </c:ext>
            </c:extLst>
          </c:dPt>
          <c:dPt>
            <c:idx val="2"/>
            <c:invertIfNegative val="1"/>
            <c:bubble3D val="0"/>
            <c:spPr>
              <a:solidFill>
                <a:srgbClr val="3D85C6"/>
              </a:solidFill>
            </c:spPr>
            <c:extLst>
              <c:ext xmlns:c16="http://schemas.microsoft.com/office/drawing/2014/chart" uri="{C3380CC4-5D6E-409C-BE32-E72D297353CC}">
                <c16:uniqueId val="{00000005-0325-416F-B1BE-678B74EE1C0E}"/>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325-416F-B1BE-678B74EE1C0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325-416F-B1BE-678B74EE1C0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325-416F-B1BE-678B74EE1C0E}"/>
                </c:ext>
              </c:extLst>
            </c:dLbl>
            <c:numFmt formatCode="0.0%" sourceLinked="0"/>
            <c:spPr>
              <a:noFill/>
              <a:ln>
                <a:noFill/>
              </a:ln>
              <a:effectLst/>
            </c:spPr>
            <c:txPr>
              <a:bodyPr rot="0" vert="horz"/>
              <a:lstStyle/>
              <a:p>
                <a:pPr>
                  <a:defRPr sz="1100">
                    <a:solidFill>
                      <a:srgbClr val="2E2E2E"/>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Global</c:v>
              </c:pt>
              <c:pt idx="1">
                <c:v>Europe</c:v>
              </c:pt>
              <c:pt idx="2">
                <c:v>U.K.</c:v>
              </c:pt>
            </c:strLit>
          </c:cat>
          <c:val>
            <c:numLit>
              <c:formatCode>General</c:formatCode>
              <c:ptCount val="3"/>
              <c:pt idx="0">
                <c:v>4.9944145569506215E-2</c:v>
              </c:pt>
              <c:pt idx="1">
                <c:v>5.5611752239353551E-2</c:v>
              </c:pt>
              <c:pt idx="2">
                <c:v>3.8762682436797924E-2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0325-416F-B1BE-678B74EE1C0E}"/>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7.5075865523127297E-2"/>
          <c:min val="0"/>
        </c:scaling>
        <c:delete val="1"/>
        <c:axPos val="b"/>
        <c:numFmt formatCode="General" sourceLinked="1"/>
        <c:majorTickMark val="out"/>
        <c:minorTickMark val="none"/>
        <c:tickLblPos val="none"/>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Lit>
          </c:cat>
          <c:val>
            <c:numLit>
              <c:formatCode>General</c:formatCode>
              <c:ptCount val="12"/>
              <c:pt idx="0">
                <c:v>0</c:v>
              </c:pt>
              <c:pt idx="1">
                <c:v>497.67099999999999</c:v>
              </c:pt>
              <c:pt idx="2">
                <c:v>516.96199999999999</c:v>
              </c:pt>
              <c:pt idx="3">
                <c:v>537.00099999999998</c:v>
              </c:pt>
              <c:pt idx="4">
                <c:v>557.81700000000001</c:v>
              </c:pt>
              <c:pt idx="5">
                <c:v>579.43899999999996</c:v>
              </c:pt>
              <c:pt idx="6">
                <c:v>601.9</c:v>
              </c:pt>
              <c:pt idx="7">
                <c:v>625.23099999999999</c:v>
              </c:pt>
              <c:pt idx="8">
                <c:v>649.46699999999998</c:v>
              </c:pt>
              <c:pt idx="9">
                <c:v>674.64199999999994</c:v>
              </c:pt>
              <c:pt idx="10">
                <c:v>700.79300000000001</c:v>
              </c:pt>
              <c:pt idx="11">
                <c:v>0</c:v>
              </c:pt>
            </c:numLit>
          </c:val>
          <c:extLst>
            <c:ext xmlns:c16="http://schemas.microsoft.com/office/drawing/2014/chart" uri="{C3380CC4-5D6E-409C-BE32-E72D297353CC}">
              <c16:uniqueId val="{00000000-1EDA-4A96-8C13-0530FD4DC095}"/>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1EDA-4A96-8C13-0530FD4DC095}"/>
              </c:ext>
            </c:extLst>
          </c:dPt>
          <c:dPt>
            <c:idx val="1"/>
            <c:invertIfNegative val="1"/>
            <c:bubble3D val="0"/>
            <c:spPr>
              <a:solidFill>
                <a:srgbClr val="008189"/>
              </a:solidFill>
            </c:spPr>
            <c:extLst>
              <c:ext xmlns:c16="http://schemas.microsoft.com/office/drawing/2014/chart" uri="{C3380CC4-5D6E-409C-BE32-E72D297353CC}">
                <c16:uniqueId val="{00000004-1EDA-4A96-8C13-0530FD4DC095}"/>
              </c:ext>
            </c:extLst>
          </c:dPt>
          <c:dPt>
            <c:idx val="2"/>
            <c:invertIfNegative val="1"/>
            <c:bubble3D val="0"/>
            <c:spPr>
              <a:solidFill>
                <a:srgbClr val="008189"/>
              </a:solidFill>
            </c:spPr>
            <c:extLst>
              <c:ext xmlns:c16="http://schemas.microsoft.com/office/drawing/2014/chart" uri="{C3380CC4-5D6E-409C-BE32-E72D297353CC}">
                <c16:uniqueId val="{00000006-1EDA-4A96-8C13-0530FD4DC095}"/>
              </c:ext>
            </c:extLst>
          </c:dPt>
          <c:dPt>
            <c:idx val="3"/>
            <c:invertIfNegative val="1"/>
            <c:bubble3D val="0"/>
            <c:spPr>
              <a:solidFill>
                <a:srgbClr val="008189"/>
              </a:solidFill>
            </c:spPr>
            <c:extLst>
              <c:ext xmlns:c16="http://schemas.microsoft.com/office/drawing/2014/chart" uri="{C3380CC4-5D6E-409C-BE32-E72D297353CC}">
                <c16:uniqueId val="{00000008-1EDA-4A96-8C13-0530FD4DC095}"/>
              </c:ext>
            </c:extLst>
          </c:dPt>
          <c:dPt>
            <c:idx val="4"/>
            <c:invertIfNegative val="1"/>
            <c:bubble3D val="0"/>
            <c:spPr>
              <a:solidFill>
                <a:srgbClr val="008189"/>
              </a:solidFill>
            </c:spPr>
            <c:extLst>
              <c:ext xmlns:c16="http://schemas.microsoft.com/office/drawing/2014/chart" uri="{C3380CC4-5D6E-409C-BE32-E72D297353CC}">
                <c16:uniqueId val="{0000000A-1EDA-4A96-8C13-0530FD4DC095}"/>
              </c:ext>
            </c:extLst>
          </c:dPt>
          <c:dPt>
            <c:idx val="5"/>
            <c:invertIfNegative val="1"/>
            <c:bubble3D val="0"/>
            <c:spPr>
              <a:solidFill>
                <a:srgbClr val="008189"/>
              </a:solidFill>
            </c:spPr>
            <c:extLst>
              <c:ext xmlns:c16="http://schemas.microsoft.com/office/drawing/2014/chart" uri="{C3380CC4-5D6E-409C-BE32-E72D297353CC}">
                <c16:uniqueId val="{0000000C-1EDA-4A96-8C13-0530FD4DC095}"/>
              </c:ext>
            </c:extLst>
          </c:dPt>
          <c:dPt>
            <c:idx val="6"/>
            <c:invertIfNegative val="1"/>
            <c:bubble3D val="0"/>
            <c:spPr>
              <a:solidFill>
                <a:srgbClr val="008189"/>
              </a:solidFill>
            </c:spPr>
            <c:extLst>
              <c:ext xmlns:c16="http://schemas.microsoft.com/office/drawing/2014/chart" uri="{C3380CC4-5D6E-409C-BE32-E72D297353CC}">
                <c16:uniqueId val="{0000000E-1EDA-4A96-8C13-0530FD4DC095}"/>
              </c:ext>
            </c:extLst>
          </c:dPt>
          <c:dPt>
            <c:idx val="7"/>
            <c:invertIfNegative val="1"/>
            <c:bubble3D val="0"/>
            <c:spPr>
              <a:solidFill>
                <a:srgbClr val="008189"/>
              </a:solidFill>
            </c:spPr>
            <c:extLst>
              <c:ext xmlns:c16="http://schemas.microsoft.com/office/drawing/2014/chart" uri="{C3380CC4-5D6E-409C-BE32-E72D297353CC}">
                <c16:uniqueId val="{00000010-1EDA-4A96-8C13-0530FD4DC095}"/>
              </c:ext>
            </c:extLst>
          </c:dPt>
          <c:dPt>
            <c:idx val="8"/>
            <c:invertIfNegative val="1"/>
            <c:bubble3D val="0"/>
            <c:spPr>
              <a:solidFill>
                <a:srgbClr val="008189"/>
              </a:solidFill>
            </c:spPr>
            <c:extLst>
              <c:ext xmlns:c16="http://schemas.microsoft.com/office/drawing/2014/chart" uri="{C3380CC4-5D6E-409C-BE32-E72D297353CC}">
                <c16:uniqueId val="{00000012-1EDA-4A96-8C13-0530FD4DC095}"/>
              </c:ext>
            </c:extLst>
          </c:dPt>
          <c:dPt>
            <c:idx val="9"/>
            <c:invertIfNegative val="1"/>
            <c:bubble3D val="0"/>
            <c:spPr>
              <a:solidFill>
                <a:srgbClr val="008189"/>
              </a:solidFill>
            </c:spPr>
            <c:extLst>
              <c:ext xmlns:c16="http://schemas.microsoft.com/office/drawing/2014/chart" uri="{C3380CC4-5D6E-409C-BE32-E72D297353CC}">
                <c16:uniqueId val="{00000014-1EDA-4A96-8C13-0530FD4DC095}"/>
              </c:ext>
            </c:extLst>
          </c:dPt>
          <c:dPt>
            <c:idx val="10"/>
            <c:invertIfNegative val="1"/>
            <c:bubble3D val="0"/>
            <c:spPr>
              <a:solidFill>
                <a:srgbClr val="008189"/>
              </a:solidFill>
            </c:spPr>
            <c:extLst>
              <c:ext xmlns:c16="http://schemas.microsoft.com/office/drawing/2014/chart" uri="{C3380CC4-5D6E-409C-BE32-E72D297353CC}">
                <c16:uniqueId val="{00000016-1EDA-4A96-8C13-0530FD4DC095}"/>
              </c:ext>
            </c:extLst>
          </c:dPt>
          <c:dPt>
            <c:idx val="11"/>
            <c:invertIfNegative val="1"/>
            <c:bubble3D val="0"/>
            <c:spPr>
              <a:solidFill>
                <a:srgbClr val="0E72AE"/>
              </a:solidFill>
            </c:spPr>
            <c:extLst>
              <c:ext xmlns:c16="http://schemas.microsoft.com/office/drawing/2014/chart" uri="{C3380CC4-5D6E-409C-BE32-E72D297353CC}">
                <c16:uniqueId val="{00000018-1EDA-4A96-8C13-0530FD4DC095}"/>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EDA-4A96-8C13-0530FD4DC095}"/>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EDA-4A96-8C13-0530FD4DC095}"/>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EDA-4A96-8C13-0530FD4DC095}"/>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EDA-4A96-8C13-0530FD4DC095}"/>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EDA-4A96-8C13-0530FD4DC095}"/>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EDA-4A96-8C13-0530FD4DC095}"/>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1EDA-4A96-8C13-0530FD4DC095}"/>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1EDA-4A96-8C13-0530FD4DC095}"/>
                </c:ext>
              </c:extLst>
            </c:dLbl>
            <c:dLbl>
              <c:idx val="8"/>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1EDA-4A96-8C13-0530FD4DC095}"/>
                </c:ext>
              </c:extLst>
            </c:dLbl>
            <c:dLbl>
              <c:idx val="9"/>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1EDA-4A96-8C13-0530FD4DC095}"/>
                </c:ext>
              </c:extLst>
            </c:dLbl>
            <c:dLbl>
              <c:idx val="1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1EDA-4A96-8C13-0530FD4DC095}"/>
                </c:ext>
              </c:extLst>
            </c:dLbl>
            <c:dLbl>
              <c:idx val="1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1EDA-4A96-8C13-0530FD4DC095}"/>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Lit>
          </c:cat>
          <c:val>
            <c:numLit>
              <c:formatCode>General</c:formatCode>
              <c:ptCount val="12"/>
              <c:pt idx="0">
                <c:v>497.67099999999999</c:v>
              </c:pt>
              <c:pt idx="1">
                <c:v>19.290999999999997</c:v>
              </c:pt>
              <c:pt idx="2">
                <c:v>20.038999999999987</c:v>
              </c:pt>
              <c:pt idx="3">
                <c:v>20.816000000000031</c:v>
              </c:pt>
              <c:pt idx="4">
                <c:v>21.621999999999957</c:v>
              </c:pt>
              <c:pt idx="5">
                <c:v>22.461000000000013</c:v>
              </c:pt>
              <c:pt idx="6">
                <c:v>23.331000000000017</c:v>
              </c:pt>
              <c:pt idx="7">
                <c:v>24.23599999999999</c:v>
              </c:pt>
              <c:pt idx="8">
                <c:v>25.174999999999955</c:v>
              </c:pt>
              <c:pt idx="9">
                <c:v>26.151000000000067</c:v>
              </c:pt>
              <c:pt idx="10">
                <c:v>27.164000000000101</c:v>
              </c:pt>
              <c:pt idx="11">
                <c:v>727.95700000000011</c:v>
              </c:pt>
            </c:numLit>
          </c:val>
          <c:extLst>
            <c:ext xmlns:c16="http://schemas.microsoft.com/office/drawing/2014/chart" uri="{C3380CC4-5D6E-409C-BE32-E72D297353CC}">
              <c16:uniqueId val="{00000019-1EDA-4A96-8C13-0530FD4DC095}"/>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v>U.K.</c:v>
          </c:tx>
          <c:spPr>
            <a:solidFill>
              <a:srgbClr val="3D85C6"/>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4EC-4490-8823-C9AF96C9B50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4EC-4490-8823-C9AF96C9B508}"/>
                </c:ext>
              </c:extLst>
            </c:dLbl>
            <c:numFmt formatCode="0.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Share of Europe</c:v>
              </c:pt>
              <c:pt idx="1">
                <c:v>Share of Global</c:v>
              </c:pt>
            </c:strLit>
          </c:cat>
          <c:val>
            <c:numLit>
              <c:formatCode>General</c:formatCode>
              <c:ptCount val="2"/>
              <c:pt idx="0">
                <c:v>16.910323849703072</c:v>
              </c:pt>
              <c:pt idx="1">
                <c:v>4.5657889908256877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4EC-4490-8823-C9AF96C9B508}"/>
            </c:ext>
          </c:extLst>
        </c:ser>
        <c:ser>
          <c:idx val="1"/>
          <c:order val="1"/>
          <c:tx>
            <c:v>Rest of the market</c:v>
          </c:tx>
          <c:spPr>
            <a:solidFill>
              <a:srgbClr val="9E7E0A"/>
            </a:solidFill>
            <a:ln>
              <a:noFill/>
            </a:ln>
          </c:spPr>
          <c:invertIfNegative val="1"/>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4EC-4490-8823-C9AF96C9B50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4EC-4490-8823-C9AF96C9B508}"/>
                </c:ext>
              </c:extLst>
            </c:dLbl>
            <c:numFmt formatCode="0.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Share of Europe</c:v>
              </c:pt>
              <c:pt idx="1">
                <c:v>Share of Global</c:v>
              </c:pt>
            </c:strLit>
          </c:cat>
          <c:val>
            <c:numLit>
              <c:formatCode>General</c:formatCode>
              <c:ptCount val="2"/>
              <c:pt idx="0">
                <c:v>83.089676150296924</c:v>
              </c:pt>
              <c:pt idx="1">
                <c:v>95.434211009174305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E4EC-4490-8823-C9AF96C9B508}"/>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100"/>
          <c:min val="0"/>
        </c:scaling>
        <c:delete val="0"/>
        <c:axPos val="b"/>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Series</c:v>
          </c:tx>
          <c:spPr>
            <a:solidFill>
              <a:srgbClr val="3D85C6"/>
            </a:solidFill>
            <a:ln>
              <a:noFill/>
            </a:ln>
          </c:spPr>
          <c:invertIfNegative val="1"/>
          <c:dPt>
            <c:idx val="0"/>
            <c:invertIfNegative val="1"/>
            <c:bubble3D val="0"/>
            <c:spPr>
              <a:solidFill>
                <a:srgbClr val="9EC6DE"/>
              </a:solidFill>
            </c:spPr>
            <c:extLst>
              <c:ext xmlns:c16="http://schemas.microsoft.com/office/drawing/2014/chart" uri="{C3380CC4-5D6E-409C-BE32-E72D297353CC}">
                <c16:uniqueId val="{00000001-4813-4512-B134-CF235148E128}"/>
              </c:ext>
            </c:extLst>
          </c:dPt>
          <c:dPt>
            <c:idx val="1"/>
            <c:invertIfNegative val="1"/>
            <c:bubble3D val="0"/>
            <c:spPr>
              <a:solidFill>
                <a:srgbClr val="81B5D4"/>
              </a:solidFill>
            </c:spPr>
            <c:extLst>
              <c:ext xmlns:c16="http://schemas.microsoft.com/office/drawing/2014/chart" uri="{C3380CC4-5D6E-409C-BE32-E72D297353CC}">
                <c16:uniqueId val="{00000003-4813-4512-B134-CF235148E128}"/>
              </c:ext>
            </c:extLst>
          </c:dPt>
          <c:dPt>
            <c:idx val="2"/>
            <c:invertIfNegative val="1"/>
            <c:bubble3D val="0"/>
            <c:spPr>
              <a:solidFill>
                <a:srgbClr val="64A4CB"/>
              </a:solidFill>
            </c:spPr>
            <c:extLst>
              <c:ext xmlns:c16="http://schemas.microsoft.com/office/drawing/2014/chart" uri="{C3380CC4-5D6E-409C-BE32-E72D297353CC}">
                <c16:uniqueId val="{00000005-4813-4512-B134-CF235148E128}"/>
              </c:ext>
            </c:extLst>
          </c:dPt>
          <c:dPt>
            <c:idx val="3"/>
            <c:invertIfNegative val="1"/>
            <c:bubble3D val="0"/>
            <c:spPr>
              <a:solidFill>
                <a:srgbClr val="4793C1"/>
              </a:solidFill>
            </c:spPr>
            <c:extLst>
              <c:ext xmlns:c16="http://schemas.microsoft.com/office/drawing/2014/chart" uri="{C3380CC4-5D6E-409C-BE32-E72D297353CC}">
                <c16:uniqueId val="{00000007-4813-4512-B134-CF235148E128}"/>
              </c:ext>
            </c:extLst>
          </c:dPt>
          <c:dPt>
            <c:idx val="4"/>
            <c:invertIfNegative val="1"/>
            <c:bubble3D val="0"/>
            <c:spPr>
              <a:solidFill>
                <a:srgbClr val="2A82B7"/>
              </a:solidFill>
            </c:spPr>
            <c:extLst>
              <c:ext xmlns:c16="http://schemas.microsoft.com/office/drawing/2014/chart" uri="{C3380CC4-5D6E-409C-BE32-E72D297353CC}">
                <c16:uniqueId val="{00000009-4813-4512-B134-CF235148E128}"/>
              </c:ext>
            </c:extLst>
          </c:dPt>
          <c:dPt>
            <c:idx val="5"/>
            <c:invertIfNegative val="1"/>
            <c:bubble3D val="0"/>
            <c:spPr>
              <a:solidFill>
                <a:srgbClr val="0E72AE"/>
              </a:solidFill>
            </c:spPr>
            <c:extLst>
              <c:ext xmlns:c16="http://schemas.microsoft.com/office/drawing/2014/chart" uri="{C3380CC4-5D6E-409C-BE32-E72D297353CC}">
                <c16:uniqueId val="{0000000B-4813-4512-B134-CF235148E128}"/>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813-4512-B134-CF235148E12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813-4512-B134-CF235148E12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813-4512-B134-CF235148E12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813-4512-B134-CF235148E12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813-4512-B134-CF235148E12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813-4512-B134-CF235148E128}"/>
                </c:ext>
              </c:extLst>
            </c:dLbl>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Powders and Granules</c:v>
              </c:pt>
              <c:pt idx="1">
                <c:v>Liquids</c:v>
              </c:pt>
              <c:pt idx="2">
                <c:v>Gels and Pastes</c:v>
              </c:pt>
              <c:pt idx="3">
                <c:v>Chewables</c:v>
              </c:pt>
              <c:pt idx="4">
                <c:v>Tablets</c:v>
              </c:pt>
              <c:pt idx="5">
                <c:v>Capsules and Softgels</c:v>
              </c:pt>
            </c:strLit>
          </c:cat>
          <c:val>
            <c:numLit>
              <c:formatCode>General</c:formatCode>
              <c:ptCount val="6"/>
              <c:pt idx="0">
                <c:v>23.567</c:v>
              </c:pt>
              <c:pt idx="1">
                <c:v>39.42</c:v>
              </c:pt>
              <c:pt idx="2">
                <c:v>65.27</c:v>
              </c:pt>
              <c:pt idx="3">
                <c:v>70.870999999999995</c:v>
              </c:pt>
              <c:pt idx="4">
                <c:v>132.26300000000001</c:v>
              </c:pt>
              <c:pt idx="5">
                <c:v>166.28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4813-4512-B134-CF235148E128}"/>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222.8152"/>
          <c:min val="0"/>
        </c:scaling>
        <c:delete val="0"/>
        <c:axPos val="b"/>
        <c:numFmt formatCode="General" sourceLinked="1"/>
        <c:majorTickMark val="none"/>
        <c:minorTickMark val="none"/>
        <c:tickLblPos val="none"/>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Series</c:v>
          </c:tx>
          <c:spPr>
            <a:solidFill>
              <a:srgbClr val="3D85C6"/>
            </a:solidFill>
            <a:ln>
              <a:noFill/>
            </a:ln>
          </c:spPr>
          <c:invertIfNegative val="1"/>
          <c:dPt>
            <c:idx val="0"/>
            <c:invertIfNegative val="1"/>
            <c:bubble3D val="0"/>
            <c:spPr>
              <a:solidFill>
                <a:srgbClr val="9DABB6"/>
              </a:solidFill>
            </c:spPr>
            <c:extLst>
              <c:ext xmlns:c16="http://schemas.microsoft.com/office/drawing/2014/chart" uri="{C3380CC4-5D6E-409C-BE32-E72D297353CC}">
                <c16:uniqueId val="{00000001-9E0E-4A9D-9BFE-D07ACCD91DB1}"/>
              </c:ext>
            </c:extLst>
          </c:dPt>
          <c:dPt>
            <c:idx val="1"/>
            <c:invertIfNegative val="1"/>
            <c:bubble3D val="0"/>
            <c:spPr>
              <a:solidFill>
                <a:srgbClr val="8092A0"/>
              </a:solidFill>
            </c:spPr>
            <c:extLst>
              <c:ext xmlns:c16="http://schemas.microsoft.com/office/drawing/2014/chart" uri="{C3380CC4-5D6E-409C-BE32-E72D297353CC}">
                <c16:uniqueId val="{00000003-9E0E-4A9D-9BFE-D07ACCD91DB1}"/>
              </c:ext>
            </c:extLst>
          </c:dPt>
          <c:dPt>
            <c:idx val="2"/>
            <c:invertIfNegative val="1"/>
            <c:bubble3D val="0"/>
            <c:spPr>
              <a:solidFill>
                <a:srgbClr val="62798B"/>
              </a:solidFill>
            </c:spPr>
            <c:extLst>
              <c:ext xmlns:c16="http://schemas.microsoft.com/office/drawing/2014/chart" uri="{C3380CC4-5D6E-409C-BE32-E72D297353CC}">
                <c16:uniqueId val="{00000005-9E0E-4A9D-9BFE-D07ACCD91DB1}"/>
              </c:ext>
            </c:extLst>
          </c:dPt>
          <c:dPt>
            <c:idx val="3"/>
            <c:invertIfNegative val="1"/>
            <c:bubble3D val="0"/>
            <c:spPr>
              <a:solidFill>
                <a:srgbClr val="456075"/>
              </a:solidFill>
            </c:spPr>
            <c:extLst>
              <c:ext xmlns:c16="http://schemas.microsoft.com/office/drawing/2014/chart" uri="{C3380CC4-5D6E-409C-BE32-E72D297353CC}">
                <c16:uniqueId val="{00000007-9E0E-4A9D-9BFE-D07ACCD91DB1}"/>
              </c:ext>
            </c:extLst>
          </c:dPt>
          <c:dPt>
            <c:idx val="4"/>
            <c:invertIfNegative val="1"/>
            <c:bubble3D val="0"/>
            <c:spPr>
              <a:solidFill>
                <a:srgbClr val="28475F"/>
              </a:solidFill>
            </c:spPr>
            <c:extLst>
              <c:ext xmlns:c16="http://schemas.microsoft.com/office/drawing/2014/chart" uri="{C3380CC4-5D6E-409C-BE32-E72D297353CC}">
                <c16:uniqueId val="{00000009-9E0E-4A9D-9BFE-D07ACCD91DB1}"/>
              </c:ext>
            </c:extLst>
          </c:dPt>
          <c:dPt>
            <c:idx val="5"/>
            <c:invertIfNegative val="1"/>
            <c:bubble3D val="0"/>
            <c:spPr>
              <a:solidFill>
                <a:srgbClr val="0B2E4A"/>
              </a:solidFill>
            </c:spPr>
            <c:extLst>
              <c:ext xmlns:c16="http://schemas.microsoft.com/office/drawing/2014/chart" uri="{C3380CC4-5D6E-409C-BE32-E72D297353CC}">
                <c16:uniqueId val="{0000000B-9E0E-4A9D-9BFE-D07ACCD91DB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E0E-4A9D-9BFE-D07ACCD91DB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E0E-4A9D-9BFE-D07ACCD91DB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E0E-4A9D-9BFE-D07ACCD91DB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E0E-4A9D-9BFE-D07ACCD91DB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E0E-4A9D-9BFE-D07ACCD91DB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E0E-4A9D-9BFE-D07ACCD91DB1}"/>
                </c:ext>
              </c:extLst>
            </c:dLbl>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Neurofunctional Nutri…</c:v>
              </c:pt>
              <c:pt idx="1">
                <c:v>Botanical Ingredients</c:v>
              </c:pt>
              <c:pt idx="2">
                <c:v>Microbiome-Targeted I…</c:v>
              </c:pt>
              <c:pt idx="3">
                <c:v>Omega-3 Fatty Acids</c:v>
              </c:pt>
              <c:pt idx="4">
                <c:v>Cellular Energy Suppo…</c:v>
              </c:pt>
              <c:pt idx="5">
                <c:v>Antioxidant Ingredien…</c:v>
              </c:pt>
            </c:strLit>
          </c:cat>
          <c:val>
            <c:numLit>
              <c:formatCode>General</c:formatCode>
              <c:ptCount val="6"/>
              <c:pt idx="0">
                <c:v>60.906999999999996</c:v>
              </c:pt>
              <c:pt idx="1">
                <c:v>64.733000000000004</c:v>
              </c:pt>
              <c:pt idx="2">
                <c:v>77.454999999999998</c:v>
              </c:pt>
              <c:pt idx="3">
                <c:v>90.274000000000001</c:v>
              </c:pt>
              <c:pt idx="4">
                <c:v>93.025000000000006</c:v>
              </c:pt>
              <c:pt idx="5">
                <c:v>111.27700000000002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9E0E-4A9D-9BFE-D07ACCD91DB1}"/>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149.11118000000002"/>
          <c:min val="0"/>
        </c:scaling>
        <c:delete val="0"/>
        <c:axPos val="b"/>
        <c:numFmt formatCode="General" sourceLinked="1"/>
        <c:majorTickMark val="none"/>
        <c:minorTickMark val="none"/>
        <c:tickLblPos val="none"/>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Series</c:v>
          </c:tx>
          <c:spPr>
            <a:solidFill>
              <a:srgbClr val="3D85C6"/>
            </a:solidFill>
            <a:ln>
              <a:noFill/>
            </a:ln>
          </c:spPr>
          <c:invertIfNegative val="1"/>
          <c:dPt>
            <c:idx val="0"/>
            <c:invertIfNegative val="1"/>
            <c:bubble3D val="0"/>
            <c:spPr>
              <a:solidFill>
                <a:srgbClr val="FFFFFF"/>
              </a:solidFill>
            </c:spPr>
            <c:extLst>
              <c:ext xmlns:c16="http://schemas.microsoft.com/office/drawing/2014/chart" uri="{C3380CC4-5D6E-409C-BE32-E72D297353CC}">
                <c16:uniqueId val="{00000001-8959-40D8-9A5A-45354D12F1F8}"/>
              </c:ext>
            </c:extLst>
          </c:dPt>
          <c:dPt>
            <c:idx val="1"/>
            <c:invertIfNegative val="1"/>
            <c:bubble3D val="0"/>
            <c:spPr>
              <a:solidFill>
                <a:srgbClr val="FFFFFF"/>
              </a:solidFill>
            </c:spPr>
            <c:extLst>
              <c:ext xmlns:c16="http://schemas.microsoft.com/office/drawing/2014/chart" uri="{C3380CC4-5D6E-409C-BE32-E72D297353CC}">
                <c16:uniqueId val="{00000003-8959-40D8-9A5A-45354D12F1F8}"/>
              </c:ext>
            </c:extLst>
          </c:dPt>
          <c:dPt>
            <c:idx val="2"/>
            <c:invertIfNegative val="1"/>
            <c:bubble3D val="0"/>
            <c:spPr>
              <a:solidFill>
                <a:srgbClr val="C5B1E6"/>
              </a:solidFill>
            </c:spPr>
            <c:extLst>
              <c:ext xmlns:c16="http://schemas.microsoft.com/office/drawing/2014/chart" uri="{C3380CC4-5D6E-409C-BE32-E72D297353CC}">
                <c16:uniqueId val="{00000005-8959-40D8-9A5A-45354D12F1F8}"/>
              </c:ext>
            </c:extLst>
          </c:dPt>
          <c:dPt>
            <c:idx val="3"/>
            <c:invertIfNegative val="1"/>
            <c:bubble3D val="0"/>
            <c:spPr>
              <a:solidFill>
                <a:srgbClr val="A88ADA"/>
              </a:solidFill>
            </c:spPr>
            <c:extLst>
              <c:ext xmlns:c16="http://schemas.microsoft.com/office/drawing/2014/chart" uri="{C3380CC4-5D6E-409C-BE32-E72D297353CC}">
                <c16:uniqueId val="{00000007-8959-40D8-9A5A-45354D12F1F8}"/>
              </c:ext>
            </c:extLst>
          </c:dPt>
          <c:dPt>
            <c:idx val="4"/>
            <c:invertIfNegative val="1"/>
            <c:bubble3D val="0"/>
            <c:spPr>
              <a:solidFill>
                <a:srgbClr val="8B63CE"/>
              </a:solidFill>
            </c:spPr>
            <c:extLst>
              <c:ext xmlns:c16="http://schemas.microsoft.com/office/drawing/2014/chart" uri="{C3380CC4-5D6E-409C-BE32-E72D297353CC}">
                <c16:uniqueId val="{00000009-8959-40D8-9A5A-45354D12F1F8}"/>
              </c:ext>
            </c:extLst>
          </c:dPt>
          <c:dPt>
            <c:idx val="5"/>
            <c:invertIfNegative val="1"/>
            <c:bubble3D val="0"/>
            <c:spPr>
              <a:solidFill>
                <a:srgbClr val="6F3CC2"/>
              </a:solidFill>
            </c:spPr>
            <c:extLst>
              <c:ext xmlns:c16="http://schemas.microsoft.com/office/drawing/2014/chart" uri="{C3380CC4-5D6E-409C-BE32-E72D297353CC}">
                <c16:uniqueId val="{0000000B-8959-40D8-9A5A-45354D12F1F8}"/>
              </c:ext>
            </c:extLst>
          </c:dPt>
          <c:dLbls>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959-40D8-9A5A-45354D12F1F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959-40D8-9A5A-45354D12F1F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959-40D8-9A5A-45354D12F1F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959-40D8-9A5A-45354D12F1F8}"/>
                </c:ext>
              </c:extLst>
            </c:dLbl>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 </c:v>
              </c:pt>
              <c:pt idx="1">
                <c:v>  </c:v>
              </c:pt>
              <c:pt idx="2">
                <c:v>Veterinary-Guided Cog…</c:v>
              </c:pt>
              <c:pt idx="3">
                <c:v>Preventive Cognitive…</c:v>
              </c:pt>
              <c:pt idx="4">
                <c:v>Routine Cognitive Wel…</c:v>
              </c:pt>
              <c:pt idx="5">
                <c:v>Support for Observabl…</c:v>
              </c:pt>
            </c:strLit>
          </c:cat>
          <c:val>
            <c:numLit>
              <c:formatCode>General</c:formatCode>
              <c:ptCount val="6"/>
              <c:pt idx="2">
                <c:v>31.591000000000001</c:v>
              </c:pt>
              <c:pt idx="3">
                <c:v>37.476999999999997</c:v>
              </c:pt>
              <c:pt idx="4">
                <c:v>94.019000000000005</c:v>
              </c:pt>
              <c:pt idx="5">
                <c:v>334.584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8959-40D8-9A5A-45354D12F1F8}"/>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448.34256000000005"/>
          <c:min val="0"/>
        </c:scaling>
        <c:delete val="0"/>
        <c:axPos val="b"/>
        <c:numFmt formatCode="General" sourceLinked="1"/>
        <c:majorTickMark val="none"/>
        <c:minorTickMark val="none"/>
        <c:tickLblPos val="none"/>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Series</c:v>
          </c:tx>
          <c:spPr>
            <a:solidFill>
              <a:srgbClr val="3D85C6"/>
            </a:solidFill>
            <a:ln>
              <a:noFill/>
            </a:ln>
          </c:spPr>
          <c:invertIfNegative val="1"/>
          <c:dPt>
            <c:idx val="0"/>
            <c:invertIfNegative val="1"/>
            <c:bubble3D val="0"/>
            <c:spPr>
              <a:solidFill>
                <a:srgbClr val="DABAA0"/>
              </a:solidFill>
            </c:spPr>
            <c:extLst>
              <c:ext xmlns:c16="http://schemas.microsoft.com/office/drawing/2014/chart" uri="{C3380CC4-5D6E-409C-BE32-E72D297353CC}">
                <c16:uniqueId val="{00000001-B2BB-48C6-912F-0047411E5013}"/>
              </c:ext>
            </c:extLst>
          </c:dPt>
          <c:dPt>
            <c:idx val="1"/>
            <c:invertIfNegative val="1"/>
            <c:bubble3D val="0"/>
            <c:spPr>
              <a:solidFill>
                <a:srgbClr val="CFA584"/>
              </a:solidFill>
            </c:spPr>
            <c:extLst>
              <c:ext xmlns:c16="http://schemas.microsoft.com/office/drawing/2014/chart" uri="{C3380CC4-5D6E-409C-BE32-E72D297353CC}">
                <c16:uniqueId val="{00000003-B2BB-48C6-912F-0047411E5013}"/>
              </c:ext>
            </c:extLst>
          </c:dPt>
          <c:dPt>
            <c:idx val="2"/>
            <c:invertIfNegative val="1"/>
            <c:bubble3D val="0"/>
            <c:spPr>
              <a:solidFill>
                <a:srgbClr val="C49067"/>
              </a:solidFill>
            </c:spPr>
            <c:extLst>
              <c:ext xmlns:c16="http://schemas.microsoft.com/office/drawing/2014/chart" uri="{C3380CC4-5D6E-409C-BE32-E72D297353CC}">
                <c16:uniqueId val="{00000005-B2BB-48C6-912F-0047411E5013}"/>
              </c:ext>
            </c:extLst>
          </c:dPt>
          <c:dPt>
            <c:idx val="3"/>
            <c:invertIfNegative val="1"/>
            <c:bubble3D val="0"/>
            <c:spPr>
              <a:solidFill>
                <a:srgbClr val="B97C4B"/>
              </a:solidFill>
            </c:spPr>
            <c:extLst>
              <c:ext xmlns:c16="http://schemas.microsoft.com/office/drawing/2014/chart" uri="{C3380CC4-5D6E-409C-BE32-E72D297353CC}">
                <c16:uniqueId val="{00000007-B2BB-48C6-912F-0047411E5013}"/>
              </c:ext>
            </c:extLst>
          </c:dPt>
          <c:dPt>
            <c:idx val="4"/>
            <c:invertIfNegative val="1"/>
            <c:bubble3D val="0"/>
            <c:spPr>
              <a:solidFill>
                <a:srgbClr val="AE672F"/>
              </a:solidFill>
            </c:spPr>
            <c:extLst>
              <c:ext xmlns:c16="http://schemas.microsoft.com/office/drawing/2014/chart" uri="{C3380CC4-5D6E-409C-BE32-E72D297353CC}">
                <c16:uniqueId val="{00000009-B2BB-48C6-912F-0047411E5013}"/>
              </c:ext>
            </c:extLst>
          </c:dPt>
          <c:dPt>
            <c:idx val="5"/>
            <c:invertIfNegative val="1"/>
            <c:bubble3D val="0"/>
            <c:spPr>
              <a:solidFill>
                <a:srgbClr val="A35313"/>
              </a:solidFill>
            </c:spPr>
            <c:extLst>
              <c:ext xmlns:c16="http://schemas.microsoft.com/office/drawing/2014/chart" uri="{C3380CC4-5D6E-409C-BE32-E72D297353CC}">
                <c16:uniqueId val="{0000000B-B2BB-48C6-912F-0047411E5013}"/>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2BB-48C6-912F-0047411E5013}"/>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2BB-48C6-912F-0047411E5013}"/>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2BB-48C6-912F-0047411E5013}"/>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2BB-48C6-912F-0047411E5013}"/>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2BB-48C6-912F-0047411E5013}"/>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2BB-48C6-912F-0047411E5013}"/>
                </c:ext>
              </c:extLst>
            </c:dLbl>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Jars and Tubs</c:v>
              </c:pt>
              <c:pt idx="1">
                <c:v>Bottles</c:v>
              </c:pt>
              <c:pt idx="2">
                <c:v>Pouches</c:v>
              </c:pt>
              <c:pt idx="3">
                <c:v>Sachets</c:v>
              </c:pt>
              <c:pt idx="4">
                <c:v>Canisters</c:v>
              </c:pt>
              <c:pt idx="5">
                <c:v>Blister Packs</c:v>
              </c:pt>
            </c:strLit>
          </c:cat>
          <c:val>
            <c:numLit>
              <c:formatCode>General</c:formatCode>
              <c:ptCount val="6"/>
              <c:pt idx="0">
                <c:v>38.929000000000002</c:v>
              </c:pt>
              <c:pt idx="1">
                <c:v>50.344000000000001</c:v>
              </c:pt>
              <c:pt idx="2">
                <c:v>92.792000000000002</c:v>
              </c:pt>
              <c:pt idx="3">
                <c:v>97.828000000000003</c:v>
              </c:pt>
              <c:pt idx="4">
                <c:v>104.997</c:v>
              </c:pt>
              <c:pt idx="5">
                <c:v>112.78100000000001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B2BB-48C6-912F-0047411E5013}"/>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151.12654000000001"/>
          <c:min val="0"/>
        </c:scaling>
        <c:delete val="0"/>
        <c:axPos val="b"/>
        <c:numFmt formatCode="General" sourceLinked="1"/>
        <c:majorTickMark val="none"/>
        <c:minorTickMark val="none"/>
        <c:tickLblPos val="none"/>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Series</c:v>
          </c:tx>
          <c:spPr>
            <a:solidFill>
              <a:srgbClr val="3D85C6"/>
            </a:solidFill>
            <a:ln>
              <a:noFill/>
            </a:ln>
          </c:spPr>
          <c:invertIfNegative val="1"/>
          <c:dPt>
            <c:idx val="0"/>
            <c:invertIfNegative val="1"/>
            <c:bubble3D val="0"/>
            <c:spPr>
              <a:solidFill>
                <a:srgbClr val="DCC599"/>
              </a:solidFill>
            </c:spPr>
            <c:extLst>
              <c:ext xmlns:c16="http://schemas.microsoft.com/office/drawing/2014/chart" uri="{C3380CC4-5D6E-409C-BE32-E72D297353CC}">
                <c16:uniqueId val="{00000001-1620-45DF-A03C-8353819ECE22}"/>
              </c:ext>
            </c:extLst>
          </c:dPt>
          <c:dPt>
            <c:idx val="1"/>
            <c:invertIfNegative val="1"/>
            <c:bubble3D val="0"/>
            <c:spPr>
              <a:solidFill>
                <a:srgbClr val="D1B47A"/>
              </a:solidFill>
            </c:spPr>
            <c:extLst>
              <c:ext xmlns:c16="http://schemas.microsoft.com/office/drawing/2014/chart" uri="{C3380CC4-5D6E-409C-BE32-E72D297353CC}">
                <c16:uniqueId val="{00000003-1620-45DF-A03C-8353819ECE22}"/>
              </c:ext>
            </c:extLst>
          </c:dPt>
          <c:dPt>
            <c:idx val="2"/>
            <c:invertIfNegative val="1"/>
            <c:bubble3D val="0"/>
            <c:spPr>
              <a:solidFill>
                <a:srgbClr val="C7A25B"/>
              </a:solidFill>
            </c:spPr>
            <c:extLst>
              <c:ext xmlns:c16="http://schemas.microsoft.com/office/drawing/2014/chart" uri="{C3380CC4-5D6E-409C-BE32-E72D297353CC}">
                <c16:uniqueId val="{00000005-1620-45DF-A03C-8353819ECE22}"/>
              </c:ext>
            </c:extLst>
          </c:dPt>
          <c:dPt>
            <c:idx val="3"/>
            <c:invertIfNegative val="1"/>
            <c:bubble3D val="0"/>
            <c:spPr>
              <a:solidFill>
                <a:srgbClr val="BC913D"/>
              </a:solidFill>
            </c:spPr>
            <c:extLst>
              <c:ext xmlns:c16="http://schemas.microsoft.com/office/drawing/2014/chart" uri="{C3380CC4-5D6E-409C-BE32-E72D297353CC}">
                <c16:uniqueId val="{00000007-1620-45DF-A03C-8353819ECE22}"/>
              </c:ext>
            </c:extLst>
          </c:dPt>
          <c:dPt>
            <c:idx val="4"/>
            <c:invertIfNegative val="1"/>
            <c:bubble3D val="0"/>
            <c:spPr>
              <a:solidFill>
                <a:srgbClr val="B2801E"/>
              </a:solidFill>
            </c:spPr>
            <c:extLst>
              <c:ext xmlns:c16="http://schemas.microsoft.com/office/drawing/2014/chart" uri="{C3380CC4-5D6E-409C-BE32-E72D297353CC}">
                <c16:uniqueId val="{00000009-1620-45DF-A03C-8353819ECE22}"/>
              </c:ext>
            </c:extLst>
          </c:dPt>
          <c:dPt>
            <c:idx val="5"/>
            <c:invertIfNegative val="1"/>
            <c:bubble3D val="0"/>
            <c:spPr>
              <a:solidFill>
                <a:srgbClr val="A86F00"/>
              </a:solidFill>
            </c:spPr>
            <c:extLst>
              <c:ext xmlns:c16="http://schemas.microsoft.com/office/drawing/2014/chart" uri="{C3380CC4-5D6E-409C-BE32-E72D297353CC}">
                <c16:uniqueId val="{0000000B-1620-45DF-A03C-8353819ECE22}"/>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620-45DF-A03C-8353819ECE22}"/>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620-45DF-A03C-8353819ECE22}"/>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620-45DF-A03C-8353819ECE22}"/>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620-45DF-A03C-8353819ECE22}"/>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620-45DF-A03C-8353819ECE22}"/>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620-45DF-A03C-8353819ECE22}"/>
                </c:ext>
              </c:extLst>
            </c:dLbl>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Other Direct Sales</c:v>
              </c:pt>
              <c:pt idx="1">
                <c:v>General Retail</c:v>
              </c:pt>
              <c:pt idx="2">
                <c:v>Third-Party E-commerce</c:v>
              </c:pt>
              <c:pt idx="3">
                <c:v>Specialist Pet Retail</c:v>
              </c:pt>
              <c:pt idx="4">
                <c:v>Brand-Owned E-commerce</c:v>
              </c:pt>
              <c:pt idx="5">
                <c:v>Veterinary Channels</c:v>
              </c:pt>
            </c:strLit>
          </c:cat>
          <c:val>
            <c:numLit>
              <c:formatCode>General</c:formatCode>
              <c:ptCount val="6"/>
              <c:pt idx="0">
                <c:v>37.183999999999997</c:v>
              </c:pt>
              <c:pt idx="1">
                <c:v>40.945</c:v>
              </c:pt>
              <c:pt idx="2">
                <c:v>83.802000000000007</c:v>
              </c:pt>
              <c:pt idx="3">
                <c:v>94.28</c:v>
              </c:pt>
              <c:pt idx="4">
                <c:v>99.635999999999996</c:v>
              </c:pt>
              <c:pt idx="5">
                <c:v>141.82400000000001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C-1620-45DF-A03C-8353819ECE22}"/>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190.04416000000003"/>
          <c:min val="0"/>
        </c:scaling>
        <c:delete val="0"/>
        <c:axPos val="b"/>
        <c:numFmt formatCode="General" sourceLinked="1"/>
        <c:majorTickMark val="none"/>
        <c:minorTickMark val="none"/>
        <c:tickLblPos val="none"/>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8"/>
              <c:pt idx="0">
                <c:v>2026</c:v>
              </c:pt>
              <c:pt idx="1">
                <c:v>Chewables</c:v>
              </c:pt>
              <c:pt idx="2">
                <c:v>Tablets</c:v>
              </c:pt>
              <c:pt idx="3">
                <c:v>Capsules and Softgels</c:v>
              </c:pt>
              <c:pt idx="4">
                <c:v>Powders and Granules</c:v>
              </c:pt>
              <c:pt idx="5">
                <c:v>Liquids</c:v>
              </c:pt>
              <c:pt idx="6">
                <c:v>Gels and Pastes</c:v>
              </c:pt>
              <c:pt idx="7">
                <c:v>2036 Total</c:v>
              </c:pt>
            </c:strLit>
          </c:cat>
          <c:val>
            <c:numLit>
              <c:formatCode>General</c:formatCode>
              <c:ptCount val="8"/>
              <c:pt idx="0">
                <c:v>0</c:v>
              </c:pt>
              <c:pt idx="1">
                <c:v>497.67099999999999</c:v>
              </c:pt>
              <c:pt idx="2">
                <c:v>545.57600000000002</c:v>
              </c:pt>
              <c:pt idx="3">
                <c:v>596.71699999999998</c:v>
              </c:pt>
              <c:pt idx="4">
                <c:v>694.87099999999998</c:v>
              </c:pt>
              <c:pt idx="5">
                <c:v>702.53499999999997</c:v>
              </c:pt>
              <c:pt idx="6">
                <c:v>711.76699999999994</c:v>
              </c:pt>
              <c:pt idx="7">
                <c:v>0</c:v>
              </c:pt>
            </c:numLit>
          </c:val>
          <c:extLst>
            <c:ext xmlns:c16="http://schemas.microsoft.com/office/drawing/2014/chart" uri="{C3380CC4-5D6E-409C-BE32-E72D297353CC}">
              <c16:uniqueId val="{00000000-9B41-48E4-8E7F-9A0FA6E65357}"/>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9B41-48E4-8E7F-9A0FA6E65357}"/>
              </c:ext>
            </c:extLst>
          </c:dPt>
          <c:dPt>
            <c:idx val="1"/>
            <c:invertIfNegative val="1"/>
            <c:bubble3D val="0"/>
            <c:spPr>
              <a:solidFill>
                <a:srgbClr val="008189"/>
              </a:solidFill>
            </c:spPr>
            <c:extLst>
              <c:ext xmlns:c16="http://schemas.microsoft.com/office/drawing/2014/chart" uri="{C3380CC4-5D6E-409C-BE32-E72D297353CC}">
                <c16:uniqueId val="{00000004-9B41-48E4-8E7F-9A0FA6E65357}"/>
              </c:ext>
            </c:extLst>
          </c:dPt>
          <c:dPt>
            <c:idx val="2"/>
            <c:invertIfNegative val="1"/>
            <c:bubble3D val="0"/>
            <c:spPr>
              <a:solidFill>
                <a:srgbClr val="008189"/>
              </a:solidFill>
            </c:spPr>
            <c:extLst>
              <c:ext xmlns:c16="http://schemas.microsoft.com/office/drawing/2014/chart" uri="{C3380CC4-5D6E-409C-BE32-E72D297353CC}">
                <c16:uniqueId val="{00000006-9B41-48E4-8E7F-9A0FA6E65357}"/>
              </c:ext>
            </c:extLst>
          </c:dPt>
          <c:dPt>
            <c:idx val="3"/>
            <c:invertIfNegative val="1"/>
            <c:bubble3D val="0"/>
            <c:spPr>
              <a:solidFill>
                <a:srgbClr val="008189"/>
              </a:solidFill>
            </c:spPr>
            <c:extLst>
              <c:ext xmlns:c16="http://schemas.microsoft.com/office/drawing/2014/chart" uri="{C3380CC4-5D6E-409C-BE32-E72D297353CC}">
                <c16:uniqueId val="{00000008-9B41-48E4-8E7F-9A0FA6E65357}"/>
              </c:ext>
            </c:extLst>
          </c:dPt>
          <c:dPt>
            <c:idx val="4"/>
            <c:invertIfNegative val="1"/>
            <c:bubble3D val="0"/>
            <c:spPr>
              <a:solidFill>
                <a:srgbClr val="008189"/>
              </a:solidFill>
            </c:spPr>
            <c:extLst>
              <c:ext xmlns:c16="http://schemas.microsoft.com/office/drawing/2014/chart" uri="{C3380CC4-5D6E-409C-BE32-E72D297353CC}">
                <c16:uniqueId val="{0000000A-9B41-48E4-8E7F-9A0FA6E65357}"/>
              </c:ext>
            </c:extLst>
          </c:dPt>
          <c:dPt>
            <c:idx val="5"/>
            <c:invertIfNegative val="1"/>
            <c:bubble3D val="0"/>
            <c:spPr>
              <a:solidFill>
                <a:srgbClr val="008189"/>
              </a:solidFill>
            </c:spPr>
            <c:extLst>
              <c:ext xmlns:c16="http://schemas.microsoft.com/office/drawing/2014/chart" uri="{C3380CC4-5D6E-409C-BE32-E72D297353CC}">
                <c16:uniqueId val="{0000000C-9B41-48E4-8E7F-9A0FA6E65357}"/>
              </c:ext>
            </c:extLst>
          </c:dPt>
          <c:dPt>
            <c:idx val="6"/>
            <c:invertIfNegative val="1"/>
            <c:bubble3D val="0"/>
            <c:spPr>
              <a:solidFill>
                <a:srgbClr val="008189"/>
              </a:solidFill>
            </c:spPr>
            <c:extLst>
              <c:ext xmlns:c16="http://schemas.microsoft.com/office/drawing/2014/chart" uri="{C3380CC4-5D6E-409C-BE32-E72D297353CC}">
                <c16:uniqueId val="{0000000E-9B41-48E4-8E7F-9A0FA6E65357}"/>
              </c:ext>
            </c:extLst>
          </c:dPt>
          <c:dPt>
            <c:idx val="7"/>
            <c:invertIfNegative val="1"/>
            <c:bubble3D val="0"/>
            <c:spPr>
              <a:solidFill>
                <a:srgbClr val="0E72AE"/>
              </a:solidFill>
            </c:spPr>
            <c:extLst>
              <c:ext xmlns:c16="http://schemas.microsoft.com/office/drawing/2014/chart" uri="{C3380CC4-5D6E-409C-BE32-E72D297353CC}">
                <c16:uniqueId val="{00000010-9B41-48E4-8E7F-9A0FA6E65357}"/>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B41-48E4-8E7F-9A0FA6E65357}"/>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B41-48E4-8E7F-9A0FA6E65357}"/>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B41-48E4-8E7F-9A0FA6E65357}"/>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B41-48E4-8E7F-9A0FA6E65357}"/>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B41-48E4-8E7F-9A0FA6E65357}"/>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B41-48E4-8E7F-9A0FA6E65357}"/>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B41-48E4-8E7F-9A0FA6E65357}"/>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9B41-48E4-8E7F-9A0FA6E65357}"/>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8"/>
              <c:pt idx="0">
                <c:v>2026</c:v>
              </c:pt>
              <c:pt idx="1">
                <c:v>Chewables</c:v>
              </c:pt>
              <c:pt idx="2">
                <c:v>Tablets</c:v>
              </c:pt>
              <c:pt idx="3">
                <c:v>Capsules and Softgels</c:v>
              </c:pt>
              <c:pt idx="4">
                <c:v>Powders and Granules</c:v>
              </c:pt>
              <c:pt idx="5">
                <c:v>Liquids</c:v>
              </c:pt>
              <c:pt idx="6">
                <c:v>Gels and Pastes</c:v>
              </c:pt>
              <c:pt idx="7">
                <c:v>2036 Total</c:v>
              </c:pt>
            </c:strLit>
          </c:cat>
          <c:val>
            <c:numLit>
              <c:formatCode>General</c:formatCode>
              <c:ptCount val="8"/>
              <c:pt idx="0">
                <c:v>497.67099999999999</c:v>
              </c:pt>
              <c:pt idx="1">
                <c:v>47.905000000000001</c:v>
              </c:pt>
              <c:pt idx="2">
                <c:v>51.140999999999991</c:v>
              </c:pt>
              <c:pt idx="3">
                <c:v>98.154000000000025</c:v>
              </c:pt>
              <c:pt idx="4">
                <c:v>7.6640000000000015</c:v>
              </c:pt>
              <c:pt idx="5">
                <c:v>9.2319999999999993</c:v>
              </c:pt>
              <c:pt idx="6">
                <c:v>16.189999999999998</c:v>
              </c:pt>
              <c:pt idx="7">
                <c:v>727.95700000000011</c:v>
              </c:pt>
            </c:numLit>
          </c:val>
          <c:extLst>
            <c:ext xmlns:c16="http://schemas.microsoft.com/office/drawing/2014/chart" uri="{C3380CC4-5D6E-409C-BE32-E72D297353CC}">
              <c16:uniqueId val="{00000011-9B41-48E4-8E7F-9A0FA6E65357}"/>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Chewables</c:v>
              </c:pt>
              <c:pt idx="1">
                <c:v>Tablets</c:v>
              </c:pt>
              <c:pt idx="2">
                <c:v>Capsules and Softgels</c:v>
              </c:pt>
              <c:pt idx="3">
                <c:v>Powders and Granules</c:v>
              </c:pt>
              <c:pt idx="4">
                <c:v>Liquids</c:v>
              </c:pt>
              <c:pt idx="5">
                <c:v>Gels and Pastes</c:v>
              </c:pt>
              <c:pt idx="6">
                <c:v>Total Absolute $ Opportunity</c:v>
              </c:pt>
            </c:strLit>
          </c:cat>
          <c:val>
            <c:numLit>
              <c:formatCode>General</c:formatCode>
              <c:ptCount val="7"/>
              <c:pt idx="0">
                <c:v>0</c:v>
              </c:pt>
              <c:pt idx="1">
                <c:v>47.905000000000001</c:v>
              </c:pt>
              <c:pt idx="2">
                <c:v>99.045999999999992</c:v>
              </c:pt>
              <c:pt idx="3">
                <c:v>197.20000000000002</c:v>
              </c:pt>
              <c:pt idx="4">
                <c:v>204.86400000000003</c:v>
              </c:pt>
              <c:pt idx="5">
                <c:v>214.09600000000003</c:v>
              </c:pt>
              <c:pt idx="6">
                <c:v>0</c:v>
              </c:pt>
            </c:numLit>
          </c:val>
          <c:extLst>
            <c:ext xmlns:c16="http://schemas.microsoft.com/office/drawing/2014/chart" uri="{C3380CC4-5D6E-409C-BE32-E72D297353CC}">
              <c16:uniqueId val="{00000000-4D71-4C69-AD74-2203A12C055E}"/>
            </c:ext>
          </c:extLst>
        </c:ser>
        <c:ser>
          <c:idx val="1"/>
          <c:order val="1"/>
          <c:tx>
            <c:v>value</c:v>
          </c:tx>
          <c:invertIfNegative val="1"/>
          <c:dPt>
            <c:idx val="0"/>
            <c:invertIfNegative val="1"/>
            <c:bubble3D val="0"/>
            <c:spPr>
              <a:solidFill>
                <a:srgbClr val="008189"/>
              </a:solidFill>
            </c:spPr>
            <c:extLst>
              <c:ext xmlns:c16="http://schemas.microsoft.com/office/drawing/2014/chart" uri="{C3380CC4-5D6E-409C-BE32-E72D297353CC}">
                <c16:uniqueId val="{00000002-4D71-4C69-AD74-2203A12C055E}"/>
              </c:ext>
            </c:extLst>
          </c:dPt>
          <c:dPt>
            <c:idx val="1"/>
            <c:invertIfNegative val="1"/>
            <c:bubble3D val="0"/>
            <c:spPr>
              <a:solidFill>
                <a:srgbClr val="008189"/>
              </a:solidFill>
            </c:spPr>
            <c:extLst>
              <c:ext xmlns:c16="http://schemas.microsoft.com/office/drawing/2014/chart" uri="{C3380CC4-5D6E-409C-BE32-E72D297353CC}">
                <c16:uniqueId val="{00000004-4D71-4C69-AD74-2203A12C055E}"/>
              </c:ext>
            </c:extLst>
          </c:dPt>
          <c:dPt>
            <c:idx val="2"/>
            <c:invertIfNegative val="1"/>
            <c:bubble3D val="0"/>
            <c:spPr>
              <a:solidFill>
                <a:srgbClr val="008189"/>
              </a:solidFill>
            </c:spPr>
            <c:extLst>
              <c:ext xmlns:c16="http://schemas.microsoft.com/office/drawing/2014/chart" uri="{C3380CC4-5D6E-409C-BE32-E72D297353CC}">
                <c16:uniqueId val="{00000006-4D71-4C69-AD74-2203A12C055E}"/>
              </c:ext>
            </c:extLst>
          </c:dPt>
          <c:dPt>
            <c:idx val="3"/>
            <c:invertIfNegative val="1"/>
            <c:bubble3D val="0"/>
            <c:spPr>
              <a:solidFill>
                <a:srgbClr val="008189"/>
              </a:solidFill>
            </c:spPr>
            <c:extLst>
              <c:ext xmlns:c16="http://schemas.microsoft.com/office/drawing/2014/chart" uri="{C3380CC4-5D6E-409C-BE32-E72D297353CC}">
                <c16:uniqueId val="{00000008-4D71-4C69-AD74-2203A12C055E}"/>
              </c:ext>
            </c:extLst>
          </c:dPt>
          <c:dPt>
            <c:idx val="4"/>
            <c:invertIfNegative val="1"/>
            <c:bubble3D val="0"/>
            <c:spPr>
              <a:solidFill>
                <a:srgbClr val="008189"/>
              </a:solidFill>
            </c:spPr>
            <c:extLst>
              <c:ext xmlns:c16="http://schemas.microsoft.com/office/drawing/2014/chart" uri="{C3380CC4-5D6E-409C-BE32-E72D297353CC}">
                <c16:uniqueId val="{0000000A-4D71-4C69-AD74-2203A12C055E}"/>
              </c:ext>
            </c:extLst>
          </c:dPt>
          <c:dPt>
            <c:idx val="5"/>
            <c:invertIfNegative val="1"/>
            <c:bubble3D val="0"/>
            <c:spPr>
              <a:solidFill>
                <a:srgbClr val="008189"/>
              </a:solidFill>
            </c:spPr>
            <c:extLst>
              <c:ext xmlns:c16="http://schemas.microsoft.com/office/drawing/2014/chart" uri="{C3380CC4-5D6E-409C-BE32-E72D297353CC}">
                <c16:uniqueId val="{0000000C-4D71-4C69-AD74-2203A12C055E}"/>
              </c:ext>
            </c:extLst>
          </c:dPt>
          <c:dPt>
            <c:idx val="6"/>
            <c:invertIfNegative val="1"/>
            <c:bubble3D val="0"/>
            <c:spPr>
              <a:solidFill>
                <a:srgbClr val="0E72AE"/>
              </a:solidFill>
            </c:spPr>
            <c:extLst>
              <c:ext xmlns:c16="http://schemas.microsoft.com/office/drawing/2014/chart" uri="{C3380CC4-5D6E-409C-BE32-E72D297353CC}">
                <c16:uniqueId val="{0000000E-4D71-4C69-AD74-2203A12C055E}"/>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D71-4C69-AD74-2203A12C055E}"/>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D71-4C69-AD74-2203A12C055E}"/>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D71-4C69-AD74-2203A12C055E}"/>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D71-4C69-AD74-2203A12C055E}"/>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D71-4C69-AD74-2203A12C055E}"/>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D71-4C69-AD74-2203A12C055E}"/>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D71-4C69-AD74-2203A12C055E}"/>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Chewables</c:v>
              </c:pt>
              <c:pt idx="1">
                <c:v>Tablets</c:v>
              </c:pt>
              <c:pt idx="2">
                <c:v>Capsules and Softgels</c:v>
              </c:pt>
              <c:pt idx="3">
                <c:v>Powders and Granules</c:v>
              </c:pt>
              <c:pt idx="4">
                <c:v>Liquids</c:v>
              </c:pt>
              <c:pt idx="5">
                <c:v>Gels and Pastes</c:v>
              </c:pt>
              <c:pt idx="6">
                <c:v>Total Absolute $ Opportunity</c:v>
              </c:pt>
            </c:strLit>
          </c:cat>
          <c:val>
            <c:numLit>
              <c:formatCode>General</c:formatCode>
              <c:ptCount val="7"/>
              <c:pt idx="0">
                <c:v>47.905000000000001</c:v>
              </c:pt>
              <c:pt idx="1">
                <c:v>51.140999999999991</c:v>
              </c:pt>
              <c:pt idx="2">
                <c:v>98.154000000000025</c:v>
              </c:pt>
              <c:pt idx="3">
                <c:v>7.6640000000000015</c:v>
              </c:pt>
              <c:pt idx="4">
                <c:v>9.2319999999999993</c:v>
              </c:pt>
              <c:pt idx="5">
                <c:v>16.189999999999998</c:v>
              </c:pt>
              <c:pt idx="6">
                <c:v>230.28600000000003</c:v>
              </c:pt>
            </c:numLit>
          </c:val>
          <c:extLst>
            <c:ext xmlns:c16="http://schemas.microsoft.com/office/drawing/2014/chart" uri="{C3380CC4-5D6E-409C-BE32-E72D297353CC}">
              <c16:uniqueId val="{0000000F-4D71-4C69-AD74-2203A12C055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8"/>
              <c:pt idx="0">
                <c:v>2026</c:v>
              </c:pt>
              <c:pt idx="1">
                <c:v>Omega-3 Fatty Acids</c:v>
              </c:pt>
              <c:pt idx="2">
                <c:v>Antioxidant Ingredients</c:v>
              </c:pt>
              <c:pt idx="3">
                <c:v>Neurofunctional Nutrients</c:v>
              </c:pt>
              <c:pt idx="4">
                <c:v>Cellular Energy Support Ingredients</c:v>
              </c:pt>
              <c:pt idx="5">
                <c:v>Botanical Ingredients</c:v>
              </c:pt>
              <c:pt idx="6">
                <c:v>Microbiome-Targeted Ingredients</c:v>
              </c:pt>
              <c:pt idx="7">
                <c:v>2036 Total</c:v>
              </c:pt>
            </c:strLit>
          </c:cat>
          <c:val>
            <c:numLit>
              <c:formatCode>General</c:formatCode>
              <c:ptCount val="8"/>
              <c:pt idx="0">
                <c:v>0</c:v>
              </c:pt>
              <c:pt idx="1">
                <c:v>497.67100000000005</c:v>
              </c:pt>
              <c:pt idx="2">
                <c:v>535.93100000000004</c:v>
              </c:pt>
              <c:pt idx="3">
                <c:v>599.75600000000009</c:v>
              </c:pt>
              <c:pt idx="4">
                <c:v>620.7600000000001</c:v>
              </c:pt>
              <c:pt idx="5">
                <c:v>674.47100000000012</c:v>
              </c:pt>
              <c:pt idx="6">
                <c:v>697.04900000000009</c:v>
              </c:pt>
              <c:pt idx="7">
                <c:v>0</c:v>
              </c:pt>
            </c:numLit>
          </c:val>
          <c:extLst>
            <c:ext xmlns:c16="http://schemas.microsoft.com/office/drawing/2014/chart" uri="{C3380CC4-5D6E-409C-BE32-E72D297353CC}">
              <c16:uniqueId val="{00000000-F8F4-4610-B697-E8F21874C1B3}"/>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F8F4-4610-B697-E8F21874C1B3}"/>
              </c:ext>
            </c:extLst>
          </c:dPt>
          <c:dPt>
            <c:idx val="1"/>
            <c:invertIfNegative val="1"/>
            <c:bubble3D val="0"/>
            <c:spPr>
              <a:solidFill>
                <a:srgbClr val="008189"/>
              </a:solidFill>
            </c:spPr>
            <c:extLst>
              <c:ext xmlns:c16="http://schemas.microsoft.com/office/drawing/2014/chart" uri="{C3380CC4-5D6E-409C-BE32-E72D297353CC}">
                <c16:uniqueId val="{00000004-F8F4-4610-B697-E8F21874C1B3}"/>
              </c:ext>
            </c:extLst>
          </c:dPt>
          <c:dPt>
            <c:idx val="2"/>
            <c:invertIfNegative val="1"/>
            <c:bubble3D val="0"/>
            <c:spPr>
              <a:solidFill>
                <a:srgbClr val="008189"/>
              </a:solidFill>
            </c:spPr>
            <c:extLst>
              <c:ext xmlns:c16="http://schemas.microsoft.com/office/drawing/2014/chart" uri="{C3380CC4-5D6E-409C-BE32-E72D297353CC}">
                <c16:uniqueId val="{00000006-F8F4-4610-B697-E8F21874C1B3}"/>
              </c:ext>
            </c:extLst>
          </c:dPt>
          <c:dPt>
            <c:idx val="3"/>
            <c:invertIfNegative val="1"/>
            <c:bubble3D val="0"/>
            <c:spPr>
              <a:solidFill>
                <a:srgbClr val="008189"/>
              </a:solidFill>
            </c:spPr>
            <c:extLst>
              <c:ext xmlns:c16="http://schemas.microsoft.com/office/drawing/2014/chart" uri="{C3380CC4-5D6E-409C-BE32-E72D297353CC}">
                <c16:uniqueId val="{00000008-F8F4-4610-B697-E8F21874C1B3}"/>
              </c:ext>
            </c:extLst>
          </c:dPt>
          <c:dPt>
            <c:idx val="4"/>
            <c:invertIfNegative val="1"/>
            <c:bubble3D val="0"/>
            <c:spPr>
              <a:solidFill>
                <a:srgbClr val="008189"/>
              </a:solidFill>
            </c:spPr>
            <c:extLst>
              <c:ext xmlns:c16="http://schemas.microsoft.com/office/drawing/2014/chart" uri="{C3380CC4-5D6E-409C-BE32-E72D297353CC}">
                <c16:uniqueId val="{0000000A-F8F4-4610-B697-E8F21874C1B3}"/>
              </c:ext>
            </c:extLst>
          </c:dPt>
          <c:dPt>
            <c:idx val="5"/>
            <c:invertIfNegative val="1"/>
            <c:bubble3D val="0"/>
            <c:spPr>
              <a:solidFill>
                <a:srgbClr val="008189"/>
              </a:solidFill>
            </c:spPr>
            <c:extLst>
              <c:ext xmlns:c16="http://schemas.microsoft.com/office/drawing/2014/chart" uri="{C3380CC4-5D6E-409C-BE32-E72D297353CC}">
                <c16:uniqueId val="{0000000C-F8F4-4610-B697-E8F21874C1B3}"/>
              </c:ext>
            </c:extLst>
          </c:dPt>
          <c:dPt>
            <c:idx val="6"/>
            <c:invertIfNegative val="1"/>
            <c:bubble3D val="0"/>
            <c:spPr>
              <a:solidFill>
                <a:srgbClr val="008189"/>
              </a:solidFill>
            </c:spPr>
            <c:extLst>
              <c:ext xmlns:c16="http://schemas.microsoft.com/office/drawing/2014/chart" uri="{C3380CC4-5D6E-409C-BE32-E72D297353CC}">
                <c16:uniqueId val="{0000000E-F8F4-4610-B697-E8F21874C1B3}"/>
              </c:ext>
            </c:extLst>
          </c:dPt>
          <c:dPt>
            <c:idx val="7"/>
            <c:invertIfNegative val="1"/>
            <c:bubble3D val="0"/>
            <c:spPr>
              <a:solidFill>
                <a:srgbClr val="0E72AE"/>
              </a:solidFill>
            </c:spPr>
            <c:extLst>
              <c:ext xmlns:c16="http://schemas.microsoft.com/office/drawing/2014/chart" uri="{C3380CC4-5D6E-409C-BE32-E72D297353CC}">
                <c16:uniqueId val="{00000010-F8F4-4610-B697-E8F21874C1B3}"/>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8F4-4610-B697-E8F21874C1B3}"/>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8F4-4610-B697-E8F21874C1B3}"/>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8F4-4610-B697-E8F21874C1B3}"/>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8F4-4610-B697-E8F21874C1B3}"/>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8F4-4610-B697-E8F21874C1B3}"/>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8F4-4610-B697-E8F21874C1B3}"/>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8F4-4610-B697-E8F21874C1B3}"/>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F8F4-4610-B697-E8F21874C1B3}"/>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8"/>
              <c:pt idx="0">
                <c:v>2026</c:v>
              </c:pt>
              <c:pt idx="1">
                <c:v>Omega-3 Fatty Acids</c:v>
              </c:pt>
              <c:pt idx="2">
                <c:v>Antioxidant Ingredients</c:v>
              </c:pt>
              <c:pt idx="3">
                <c:v>Neurofunctional Nutrients</c:v>
              </c:pt>
              <c:pt idx="4">
                <c:v>Cellular Energy Support Ingredients</c:v>
              </c:pt>
              <c:pt idx="5">
                <c:v>Botanical Ingredients</c:v>
              </c:pt>
              <c:pt idx="6">
                <c:v>Microbiome-Targeted Ingredients</c:v>
              </c:pt>
              <c:pt idx="7">
                <c:v>2036 Total</c:v>
              </c:pt>
            </c:strLit>
          </c:cat>
          <c:val>
            <c:numLit>
              <c:formatCode>General</c:formatCode>
              <c:ptCount val="8"/>
              <c:pt idx="0">
                <c:v>497.67100000000005</c:v>
              </c:pt>
              <c:pt idx="1">
                <c:v>38.259999999999991</c:v>
              </c:pt>
              <c:pt idx="2">
                <c:v>63.824999999999989</c:v>
              </c:pt>
              <c:pt idx="3">
                <c:v>21.004000000000005</c:v>
              </c:pt>
              <c:pt idx="4">
                <c:v>53.710999999999984</c:v>
              </c:pt>
              <c:pt idx="5">
                <c:v>22.578000000000003</c:v>
              </c:pt>
              <c:pt idx="6">
                <c:v>30.908000000000001</c:v>
              </c:pt>
              <c:pt idx="7">
                <c:v>727.95699999999988</c:v>
              </c:pt>
            </c:numLit>
          </c:val>
          <c:extLst>
            <c:ext xmlns:c16="http://schemas.microsoft.com/office/drawing/2014/chart" uri="{C3380CC4-5D6E-409C-BE32-E72D297353CC}">
              <c16:uniqueId val="{00000011-F8F4-4610-B697-E8F21874C1B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Omega-3 Fatty Acids</c:v>
              </c:pt>
              <c:pt idx="1">
                <c:v>Antioxidant Ingredients</c:v>
              </c:pt>
              <c:pt idx="2">
                <c:v>Neurofunctional Nutrients</c:v>
              </c:pt>
              <c:pt idx="3">
                <c:v>Cellular Energy Support Ingredients</c:v>
              </c:pt>
              <c:pt idx="4">
                <c:v>Botanical Ingredients</c:v>
              </c:pt>
              <c:pt idx="5">
                <c:v>Microbiome-Targeted Ingredients</c:v>
              </c:pt>
              <c:pt idx="6">
                <c:v>Total Absolute $ Opportunity</c:v>
              </c:pt>
            </c:strLit>
          </c:cat>
          <c:val>
            <c:numLit>
              <c:formatCode>General</c:formatCode>
              <c:ptCount val="7"/>
              <c:pt idx="0">
                <c:v>0</c:v>
              </c:pt>
              <c:pt idx="1">
                <c:v>38.259999999999991</c:v>
              </c:pt>
              <c:pt idx="2">
                <c:v>102.08499999999998</c:v>
              </c:pt>
              <c:pt idx="3">
                <c:v>123.08899999999998</c:v>
              </c:pt>
              <c:pt idx="4">
                <c:v>176.79999999999995</c:v>
              </c:pt>
              <c:pt idx="5">
                <c:v>199.37799999999996</c:v>
              </c:pt>
              <c:pt idx="6">
                <c:v>0</c:v>
              </c:pt>
            </c:numLit>
          </c:val>
          <c:extLst>
            <c:ext xmlns:c16="http://schemas.microsoft.com/office/drawing/2014/chart" uri="{C3380CC4-5D6E-409C-BE32-E72D297353CC}">
              <c16:uniqueId val="{00000000-95E0-4D64-8C39-A89069329801}"/>
            </c:ext>
          </c:extLst>
        </c:ser>
        <c:ser>
          <c:idx val="1"/>
          <c:order val="1"/>
          <c:tx>
            <c:v>value</c:v>
          </c:tx>
          <c:invertIfNegative val="1"/>
          <c:dPt>
            <c:idx val="0"/>
            <c:invertIfNegative val="1"/>
            <c:bubble3D val="0"/>
            <c:spPr>
              <a:solidFill>
                <a:srgbClr val="008189"/>
              </a:solidFill>
            </c:spPr>
            <c:extLst>
              <c:ext xmlns:c16="http://schemas.microsoft.com/office/drawing/2014/chart" uri="{C3380CC4-5D6E-409C-BE32-E72D297353CC}">
                <c16:uniqueId val="{00000002-95E0-4D64-8C39-A89069329801}"/>
              </c:ext>
            </c:extLst>
          </c:dPt>
          <c:dPt>
            <c:idx val="1"/>
            <c:invertIfNegative val="1"/>
            <c:bubble3D val="0"/>
            <c:spPr>
              <a:solidFill>
                <a:srgbClr val="008189"/>
              </a:solidFill>
            </c:spPr>
            <c:extLst>
              <c:ext xmlns:c16="http://schemas.microsoft.com/office/drawing/2014/chart" uri="{C3380CC4-5D6E-409C-BE32-E72D297353CC}">
                <c16:uniqueId val="{00000004-95E0-4D64-8C39-A89069329801}"/>
              </c:ext>
            </c:extLst>
          </c:dPt>
          <c:dPt>
            <c:idx val="2"/>
            <c:invertIfNegative val="1"/>
            <c:bubble3D val="0"/>
            <c:spPr>
              <a:solidFill>
                <a:srgbClr val="008189"/>
              </a:solidFill>
            </c:spPr>
            <c:extLst>
              <c:ext xmlns:c16="http://schemas.microsoft.com/office/drawing/2014/chart" uri="{C3380CC4-5D6E-409C-BE32-E72D297353CC}">
                <c16:uniqueId val="{00000006-95E0-4D64-8C39-A89069329801}"/>
              </c:ext>
            </c:extLst>
          </c:dPt>
          <c:dPt>
            <c:idx val="3"/>
            <c:invertIfNegative val="1"/>
            <c:bubble3D val="0"/>
            <c:spPr>
              <a:solidFill>
                <a:srgbClr val="008189"/>
              </a:solidFill>
            </c:spPr>
            <c:extLst>
              <c:ext xmlns:c16="http://schemas.microsoft.com/office/drawing/2014/chart" uri="{C3380CC4-5D6E-409C-BE32-E72D297353CC}">
                <c16:uniqueId val="{00000008-95E0-4D64-8C39-A89069329801}"/>
              </c:ext>
            </c:extLst>
          </c:dPt>
          <c:dPt>
            <c:idx val="4"/>
            <c:invertIfNegative val="1"/>
            <c:bubble3D val="0"/>
            <c:spPr>
              <a:solidFill>
                <a:srgbClr val="008189"/>
              </a:solidFill>
            </c:spPr>
            <c:extLst>
              <c:ext xmlns:c16="http://schemas.microsoft.com/office/drawing/2014/chart" uri="{C3380CC4-5D6E-409C-BE32-E72D297353CC}">
                <c16:uniqueId val="{0000000A-95E0-4D64-8C39-A89069329801}"/>
              </c:ext>
            </c:extLst>
          </c:dPt>
          <c:dPt>
            <c:idx val="5"/>
            <c:invertIfNegative val="1"/>
            <c:bubble3D val="0"/>
            <c:spPr>
              <a:solidFill>
                <a:srgbClr val="008189"/>
              </a:solidFill>
            </c:spPr>
            <c:extLst>
              <c:ext xmlns:c16="http://schemas.microsoft.com/office/drawing/2014/chart" uri="{C3380CC4-5D6E-409C-BE32-E72D297353CC}">
                <c16:uniqueId val="{0000000C-95E0-4D64-8C39-A89069329801}"/>
              </c:ext>
            </c:extLst>
          </c:dPt>
          <c:dPt>
            <c:idx val="6"/>
            <c:invertIfNegative val="1"/>
            <c:bubble3D val="0"/>
            <c:spPr>
              <a:solidFill>
                <a:srgbClr val="0E72AE"/>
              </a:solidFill>
            </c:spPr>
            <c:extLst>
              <c:ext xmlns:c16="http://schemas.microsoft.com/office/drawing/2014/chart" uri="{C3380CC4-5D6E-409C-BE32-E72D297353CC}">
                <c16:uniqueId val="{0000000E-95E0-4D64-8C39-A8906932980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5E0-4D64-8C39-A8906932980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5E0-4D64-8C39-A8906932980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5E0-4D64-8C39-A8906932980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5E0-4D64-8C39-A8906932980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5E0-4D64-8C39-A8906932980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5E0-4D64-8C39-A89069329801}"/>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5E0-4D64-8C39-A89069329801}"/>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Omega-3 Fatty Acids</c:v>
              </c:pt>
              <c:pt idx="1">
                <c:v>Antioxidant Ingredients</c:v>
              </c:pt>
              <c:pt idx="2">
                <c:v>Neurofunctional Nutrients</c:v>
              </c:pt>
              <c:pt idx="3">
                <c:v>Cellular Energy Support Ingredients</c:v>
              </c:pt>
              <c:pt idx="4">
                <c:v>Botanical Ingredients</c:v>
              </c:pt>
              <c:pt idx="5">
                <c:v>Microbiome-Targeted Ingredients</c:v>
              </c:pt>
              <c:pt idx="6">
                <c:v>Total Absolute $ Opportunity</c:v>
              </c:pt>
            </c:strLit>
          </c:cat>
          <c:val>
            <c:numLit>
              <c:formatCode>General</c:formatCode>
              <c:ptCount val="7"/>
              <c:pt idx="0">
                <c:v>38.259999999999991</c:v>
              </c:pt>
              <c:pt idx="1">
                <c:v>63.824999999999989</c:v>
              </c:pt>
              <c:pt idx="2">
                <c:v>21.004000000000005</c:v>
              </c:pt>
              <c:pt idx="3">
                <c:v>53.710999999999984</c:v>
              </c:pt>
              <c:pt idx="4">
                <c:v>22.578000000000003</c:v>
              </c:pt>
              <c:pt idx="5">
                <c:v>30.908000000000001</c:v>
              </c:pt>
              <c:pt idx="6">
                <c:v>230.28599999999994</c:v>
              </c:pt>
            </c:numLit>
          </c:val>
          <c:extLst>
            <c:ext xmlns:c16="http://schemas.microsoft.com/office/drawing/2014/chart" uri="{C3380CC4-5D6E-409C-BE32-E72D297353CC}">
              <c16:uniqueId val="{0000000F-95E0-4D64-8C39-A8906932980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6"/>
              <c:pt idx="0">
                <c:v>2026</c:v>
              </c:pt>
              <c:pt idx="1">
                <c:v>Routine Cognitive Wellness</c:v>
              </c:pt>
              <c:pt idx="2">
                <c:v>Preventive Cognitive Support for Senior Dogs</c:v>
              </c:pt>
              <c:pt idx="3">
                <c:v>Support for Observable Age-Related Cognitive Changes</c:v>
              </c:pt>
              <c:pt idx="4">
                <c:v>Veterinary-Guided Cognitive Dysfunction Support</c:v>
              </c:pt>
              <c:pt idx="5">
                <c:v>2036 Total</c:v>
              </c:pt>
            </c:strLit>
          </c:cat>
          <c:val>
            <c:numLit>
              <c:formatCode>General</c:formatCode>
              <c:ptCount val="6"/>
              <c:pt idx="0">
                <c:v>0</c:v>
              </c:pt>
              <c:pt idx="1">
                <c:v>497.67100000000005</c:v>
              </c:pt>
              <c:pt idx="2">
                <c:v>546.31100000000004</c:v>
              </c:pt>
              <c:pt idx="3">
                <c:v>584.10900000000004</c:v>
              </c:pt>
              <c:pt idx="4">
                <c:v>693.07400000000007</c:v>
              </c:pt>
              <c:pt idx="5">
                <c:v>0</c:v>
              </c:pt>
            </c:numLit>
          </c:val>
          <c:extLst>
            <c:ext xmlns:c16="http://schemas.microsoft.com/office/drawing/2014/chart" uri="{C3380CC4-5D6E-409C-BE32-E72D297353CC}">
              <c16:uniqueId val="{00000000-6174-470D-9B62-D410207A5750}"/>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6174-470D-9B62-D410207A5750}"/>
              </c:ext>
            </c:extLst>
          </c:dPt>
          <c:dPt>
            <c:idx val="1"/>
            <c:invertIfNegative val="1"/>
            <c:bubble3D val="0"/>
            <c:spPr>
              <a:solidFill>
                <a:srgbClr val="008189"/>
              </a:solidFill>
            </c:spPr>
            <c:extLst>
              <c:ext xmlns:c16="http://schemas.microsoft.com/office/drawing/2014/chart" uri="{C3380CC4-5D6E-409C-BE32-E72D297353CC}">
                <c16:uniqueId val="{00000004-6174-470D-9B62-D410207A5750}"/>
              </c:ext>
            </c:extLst>
          </c:dPt>
          <c:dPt>
            <c:idx val="2"/>
            <c:invertIfNegative val="1"/>
            <c:bubble3D val="0"/>
            <c:spPr>
              <a:solidFill>
                <a:srgbClr val="008189"/>
              </a:solidFill>
            </c:spPr>
            <c:extLst>
              <c:ext xmlns:c16="http://schemas.microsoft.com/office/drawing/2014/chart" uri="{C3380CC4-5D6E-409C-BE32-E72D297353CC}">
                <c16:uniqueId val="{00000006-6174-470D-9B62-D410207A5750}"/>
              </c:ext>
            </c:extLst>
          </c:dPt>
          <c:dPt>
            <c:idx val="3"/>
            <c:invertIfNegative val="1"/>
            <c:bubble3D val="0"/>
            <c:spPr>
              <a:solidFill>
                <a:srgbClr val="008189"/>
              </a:solidFill>
            </c:spPr>
            <c:extLst>
              <c:ext xmlns:c16="http://schemas.microsoft.com/office/drawing/2014/chart" uri="{C3380CC4-5D6E-409C-BE32-E72D297353CC}">
                <c16:uniqueId val="{00000008-6174-470D-9B62-D410207A5750}"/>
              </c:ext>
            </c:extLst>
          </c:dPt>
          <c:dPt>
            <c:idx val="4"/>
            <c:invertIfNegative val="1"/>
            <c:bubble3D val="0"/>
            <c:spPr>
              <a:solidFill>
                <a:srgbClr val="008189"/>
              </a:solidFill>
            </c:spPr>
            <c:extLst>
              <c:ext xmlns:c16="http://schemas.microsoft.com/office/drawing/2014/chart" uri="{C3380CC4-5D6E-409C-BE32-E72D297353CC}">
                <c16:uniqueId val="{0000000A-6174-470D-9B62-D410207A5750}"/>
              </c:ext>
            </c:extLst>
          </c:dPt>
          <c:dPt>
            <c:idx val="5"/>
            <c:invertIfNegative val="1"/>
            <c:bubble3D val="0"/>
            <c:spPr>
              <a:solidFill>
                <a:srgbClr val="0E72AE"/>
              </a:solidFill>
            </c:spPr>
            <c:extLst>
              <c:ext xmlns:c16="http://schemas.microsoft.com/office/drawing/2014/chart" uri="{C3380CC4-5D6E-409C-BE32-E72D297353CC}">
                <c16:uniqueId val="{0000000C-6174-470D-9B62-D410207A5750}"/>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174-470D-9B62-D410207A5750}"/>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174-470D-9B62-D410207A5750}"/>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174-470D-9B62-D410207A5750}"/>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174-470D-9B62-D410207A5750}"/>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174-470D-9B62-D410207A5750}"/>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174-470D-9B62-D410207A5750}"/>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2026</c:v>
              </c:pt>
              <c:pt idx="1">
                <c:v>Routine Cognitive Wellness</c:v>
              </c:pt>
              <c:pt idx="2">
                <c:v>Preventive Cognitive Support for Senior Dogs</c:v>
              </c:pt>
              <c:pt idx="3">
                <c:v>Support for Observable Age-Related Cognitive Changes</c:v>
              </c:pt>
              <c:pt idx="4">
                <c:v>Veterinary-Guided Cognitive Dysfunction Support</c:v>
              </c:pt>
              <c:pt idx="5">
                <c:v>2036 Total</c:v>
              </c:pt>
            </c:strLit>
          </c:cat>
          <c:val>
            <c:numLit>
              <c:formatCode>General</c:formatCode>
              <c:ptCount val="6"/>
              <c:pt idx="0">
                <c:v>497.67100000000005</c:v>
              </c:pt>
              <c:pt idx="1">
                <c:v>48.639999999999986</c:v>
              </c:pt>
              <c:pt idx="2">
                <c:v>37.798000000000009</c:v>
              </c:pt>
              <c:pt idx="3">
                <c:v>108.96499999999997</c:v>
              </c:pt>
              <c:pt idx="4">
                <c:v>34.883000000000003</c:v>
              </c:pt>
              <c:pt idx="5">
                <c:v>727.95699999999999</c:v>
              </c:pt>
            </c:numLit>
          </c:val>
          <c:extLst>
            <c:ext xmlns:c16="http://schemas.microsoft.com/office/drawing/2014/chart" uri="{C3380CC4-5D6E-409C-BE32-E72D297353CC}">
              <c16:uniqueId val="{0000000D-6174-470D-9B62-D410207A5750}"/>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5"/>
              <c:pt idx="0">
                <c:v>Routine Cognitive Wellness</c:v>
              </c:pt>
              <c:pt idx="1">
                <c:v>Preventive Cognitive Support for Senior Dogs</c:v>
              </c:pt>
              <c:pt idx="2">
                <c:v>Support for Observable Age-Related Cognitive Changes</c:v>
              </c:pt>
              <c:pt idx="3">
                <c:v>Veterinary-Guided Cognitive Dysfunction Support</c:v>
              </c:pt>
              <c:pt idx="4">
                <c:v>Total Absolute $ Opportunity</c:v>
              </c:pt>
            </c:strLit>
          </c:cat>
          <c:val>
            <c:numLit>
              <c:formatCode>General</c:formatCode>
              <c:ptCount val="5"/>
              <c:pt idx="0">
                <c:v>0</c:v>
              </c:pt>
              <c:pt idx="1">
                <c:v>48.639999999999986</c:v>
              </c:pt>
              <c:pt idx="2">
                <c:v>86.437999999999988</c:v>
              </c:pt>
              <c:pt idx="3">
                <c:v>195.40299999999996</c:v>
              </c:pt>
              <c:pt idx="4">
                <c:v>0</c:v>
              </c:pt>
            </c:numLit>
          </c:val>
          <c:extLst>
            <c:ext xmlns:c16="http://schemas.microsoft.com/office/drawing/2014/chart" uri="{C3380CC4-5D6E-409C-BE32-E72D297353CC}">
              <c16:uniqueId val="{00000000-31F3-48BD-B427-8210F2B67ADF}"/>
            </c:ext>
          </c:extLst>
        </c:ser>
        <c:ser>
          <c:idx val="1"/>
          <c:order val="1"/>
          <c:tx>
            <c:v>value</c:v>
          </c:tx>
          <c:invertIfNegative val="1"/>
          <c:dPt>
            <c:idx val="0"/>
            <c:invertIfNegative val="1"/>
            <c:bubble3D val="0"/>
            <c:spPr>
              <a:solidFill>
                <a:srgbClr val="008189"/>
              </a:solidFill>
            </c:spPr>
            <c:extLst>
              <c:ext xmlns:c16="http://schemas.microsoft.com/office/drawing/2014/chart" uri="{C3380CC4-5D6E-409C-BE32-E72D297353CC}">
                <c16:uniqueId val="{00000002-31F3-48BD-B427-8210F2B67ADF}"/>
              </c:ext>
            </c:extLst>
          </c:dPt>
          <c:dPt>
            <c:idx val="1"/>
            <c:invertIfNegative val="1"/>
            <c:bubble3D val="0"/>
            <c:spPr>
              <a:solidFill>
                <a:srgbClr val="008189"/>
              </a:solidFill>
            </c:spPr>
            <c:extLst>
              <c:ext xmlns:c16="http://schemas.microsoft.com/office/drawing/2014/chart" uri="{C3380CC4-5D6E-409C-BE32-E72D297353CC}">
                <c16:uniqueId val="{00000004-31F3-48BD-B427-8210F2B67ADF}"/>
              </c:ext>
            </c:extLst>
          </c:dPt>
          <c:dPt>
            <c:idx val="2"/>
            <c:invertIfNegative val="1"/>
            <c:bubble3D val="0"/>
            <c:spPr>
              <a:solidFill>
                <a:srgbClr val="008189"/>
              </a:solidFill>
            </c:spPr>
            <c:extLst>
              <c:ext xmlns:c16="http://schemas.microsoft.com/office/drawing/2014/chart" uri="{C3380CC4-5D6E-409C-BE32-E72D297353CC}">
                <c16:uniqueId val="{00000006-31F3-48BD-B427-8210F2B67ADF}"/>
              </c:ext>
            </c:extLst>
          </c:dPt>
          <c:dPt>
            <c:idx val="3"/>
            <c:invertIfNegative val="1"/>
            <c:bubble3D val="0"/>
            <c:spPr>
              <a:solidFill>
                <a:srgbClr val="008189"/>
              </a:solidFill>
            </c:spPr>
            <c:extLst>
              <c:ext xmlns:c16="http://schemas.microsoft.com/office/drawing/2014/chart" uri="{C3380CC4-5D6E-409C-BE32-E72D297353CC}">
                <c16:uniqueId val="{00000008-31F3-48BD-B427-8210F2B67ADF}"/>
              </c:ext>
            </c:extLst>
          </c:dPt>
          <c:dPt>
            <c:idx val="4"/>
            <c:invertIfNegative val="1"/>
            <c:bubble3D val="0"/>
            <c:spPr>
              <a:solidFill>
                <a:srgbClr val="0E72AE"/>
              </a:solidFill>
            </c:spPr>
            <c:extLst>
              <c:ext xmlns:c16="http://schemas.microsoft.com/office/drawing/2014/chart" uri="{C3380CC4-5D6E-409C-BE32-E72D297353CC}">
                <c16:uniqueId val="{0000000A-31F3-48BD-B427-8210F2B67ADF}"/>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1F3-48BD-B427-8210F2B67ADF}"/>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1F3-48BD-B427-8210F2B67ADF}"/>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1F3-48BD-B427-8210F2B67ADF}"/>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1F3-48BD-B427-8210F2B67ADF}"/>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1F3-48BD-B427-8210F2B67ADF}"/>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Routine Cognitive Wellness</c:v>
              </c:pt>
              <c:pt idx="1">
                <c:v>Preventive Cognitive Support for Senior Dogs</c:v>
              </c:pt>
              <c:pt idx="2">
                <c:v>Support for Observable Age-Related Cognitive Changes</c:v>
              </c:pt>
              <c:pt idx="3">
                <c:v>Veterinary-Guided Cognitive Dysfunction Support</c:v>
              </c:pt>
              <c:pt idx="4">
                <c:v>Total Absolute $ Opportunity</c:v>
              </c:pt>
            </c:strLit>
          </c:cat>
          <c:val>
            <c:numLit>
              <c:formatCode>General</c:formatCode>
              <c:ptCount val="5"/>
              <c:pt idx="0">
                <c:v>48.639999999999986</c:v>
              </c:pt>
              <c:pt idx="1">
                <c:v>37.798000000000009</c:v>
              </c:pt>
              <c:pt idx="2">
                <c:v>108.96499999999997</c:v>
              </c:pt>
              <c:pt idx="3">
                <c:v>34.883000000000003</c:v>
              </c:pt>
              <c:pt idx="4">
                <c:v>230.28599999999997</c:v>
              </c:pt>
            </c:numLit>
          </c:val>
          <c:extLst>
            <c:ext xmlns:c16="http://schemas.microsoft.com/office/drawing/2014/chart" uri="{C3380CC4-5D6E-409C-BE32-E72D297353CC}">
              <c16:uniqueId val="{0000000B-31F3-48BD-B427-8210F2B67AD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8"/>
              <c:pt idx="0">
                <c:v>2026</c:v>
              </c:pt>
              <c:pt idx="1">
                <c:v>Bottles</c:v>
              </c:pt>
              <c:pt idx="2">
                <c:v>Jars and Tubs</c:v>
              </c:pt>
              <c:pt idx="3">
                <c:v>Pouches</c:v>
              </c:pt>
              <c:pt idx="4">
                <c:v>Sachets</c:v>
              </c:pt>
              <c:pt idx="5">
                <c:v>Blister Packs</c:v>
              </c:pt>
              <c:pt idx="6">
                <c:v>Canisters</c:v>
              </c:pt>
              <c:pt idx="7">
                <c:v>2036 Total</c:v>
              </c:pt>
            </c:strLit>
          </c:cat>
          <c:val>
            <c:numLit>
              <c:formatCode>General</c:formatCode>
              <c:ptCount val="8"/>
              <c:pt idx="0">
                <c:v>0</c:v>
              </c:pt>
              <c:pt idx="1">
                <c:v>497.67100000000005</c:v>
              </c:pt>
              <c:pt idx="2">
                <c:v>512.2170000000001</c:v>
              </c:pt>
              <c:pt idx="3">
                <c:v>542.51800000000014</c:v>
              </c:pt>
              <c:pt idx="4">
                <c:v>631.13200000000018</c:v>
              </c:pt>
              <c:pt idx="5">
                <c:v>648.39200000000017</c:v>
              </c:pt>
              <c:pt idx="6">
                <c:v>683.43000000000018</c:v>
              </c:pt>
              <c:pt idx="7">
                <c:v>0</c:v>
              </c:pt>
            </c:numLit>
          </c:val>
          <c:extLst>
            <c:ext xmlns:c16="http://schemas.microsoft.com/office/drawing/2014/chart" uri="{C3380CC4-5D6E-409C-BE32-E72D297353CC}">
              <c16:uniqueId val="{00000000-A7F4-4F6C-92EA-B233813C0852}"/>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A7F4-4F6C-92EA-B233813C0852}"/>
              </c:ext>
            </c:extLst>
          </c:dPt>
          <c:dPt>
            <c:idx val="1"/>
            <c:invertIfNegative val="1"/>
            <c:bubble3D val="0"/>
            <c:spPr>
              <a:solidFill>
                <a:srgbClr val="008189"/>
              </a:solidFill>
            </c:spPr>
            <c:extLst>
              <c:ext xmlns:c16="http://schemas.microsoft.com/office/drawing/2014/chart" uri="{C3380CC4-5D6E-409C-BE32-E72D297353CC}">
                <c16:uniqueId val="{00000004-A7F4-4F6C-92EA-B233813C0852}"/>
              </c:ext>
            </c:extLst>
          </c:dPt>
          <c:dPt>
            <c:idx val="2"/>
            <c:invertIfNegative val="1"/>
            <c:bubble3D val="0"/>
            <c:spPr>
              <a:solidFill>
                <a:srgbClr val="008189"/>
              </a:solidFill>
            </c:spPr>
            <c:extLst>
              <c:ext xmlns:c16="http://schemas.microsoft.com/office/drawing/2014/chart" uri="{C3380CC4-5D6E-409C-BE32-E72D297353CC}">
                <c16:uniqueId val="{00000006-A7F4-4F6C-92EA-B233813C0852}"/>
              </c:ext>
            </c:extLst>
          </c:dPt>
          <c:dPt>
            <c:idx val="3"/>
            <c:invertIfNegative val="1"/>
            <c:bubble3D val="0"/>
            <c:spPr>
              <a:solidFill>
                <a:srgbClr val="008189"/>
              </a:solidFill>
            </c:spPr>
            <c:extLst>
              <c:ext xmlns:c16="http://schemas.microsoft.com/office/drawing/2014/chart" uri="{C3380CC4-5D6E-409C-BE32-E72D297353CC}">
                <c16:uniqueId val="{00000008-A7F4-4F6C-92EA-B233813C0852}"/>
              </c:ext>
            </c:extLst>
          </c:dPt>
          <c:dPt>
            <c:idx val="4"/>
            <c:invertIfNegative val="1"/>
            <c:bubble3D val="0"/>
            <c:spPr>
              <a:solidFill>
                <a:srgbClr val="008189"/>
              </a:solidFill>
            </c:spPr>
            <c:extLst>
              <c:ext xmlns:c16="http://schemas.microsoft.com/office/drawing/2014/chart" uri="{C3380CC4-5D6E-409C-BE32-E72D297353CC}">
                <c16:uniqueId val="{0000000A-A7F4-4F6C-92EA-B233813C0852}"/>
              </c:ext>
            </c:extLst>
          </c:dPt>
          <c:dPt>
            <c:idx val="5"/>
            <c:invertIfNegative val="1"/>
            <c:bubble3D val="0"/>
            <c:spPr>
              <a:solidFill>
                <a:srgbClr val="008189"/>
              </a:solidFill>
            </c:spPr>
            <c:extLst>
              <c:ext xmlns:c16="http://schemas.microsoft.com/office/drawing/2014/chart" uri="{C3380CC4-5D6E-409C-BE32-E72D297353CC}">
                <c16:uniqueId val="{0000000C-A7F4-4F6C-92EA-B233813C0852}"/>
              </c:ext>
            </c:extLst>
          </c:dPt>
          <c:dPt>
            <c:idx val="6"/>
            <c:invertIfNegative val="1"/>
            <c:bubble3D val="0"/>
            <c:spPr>
              <a:solidFill>
                <a:srgbClr val="008189"/>
              </a:solidFill>
            </c:spPr>
            <c:extLst>
              <c:ext xmlns:c16="http://schemas.microsoft.com/office/drawing/2014/chart" uri="{C3380CC4-5D6E-409C-BE32-E72D297353CC}">
                <c16:uniqueId val="{0000000E-A7F4-4F6C-92EA-B233813C0852}"/>
              </c:ext>
            </c:extLst>
          </c:dPt>
          <c:dPt>
            <c:idx val="7"/>
            <c:invertIfNegative val="1"/>
            <c:bubble3D val="0"/>
            <c:spPr>
              <a:solidFill>
                <a:srgbClr val="0E72AE"/>
              </a:solidFill>
            </c:spPr>
            <c:extLst>
              <c:ext xmlns:c16="http://schemas.microsoft.com/office/drawing/2014/chart" uri="{C3380CC4-5D6E-409C-BE32-E72D297353CC}">
                <c16:uniqueId val="{00000010-A7F4-4F6C-92EA-B233813C0852}"/>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7F4-4F6C-92EA-B233813C0852}"/>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7F4-4F6C-92EA-B233813C0852}"/>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7F4-4F6C-92EA-B233813C0852}"/>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7F4-4F6C-92EA-B233813C0852}"/>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7F4-4F6C-92EA-B233813C0852}"/>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7F4-4F6C-92EA-B233813C0852}"/>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7F4-4F6C-92EA-B233813C0852}"/>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7F4-4F6C-92EA-B233813C0852}"/>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8"/>
              <c:pt idx="0">
                <c:v>2026</c:v>
              </c:pt>
              <c:pt idx="1">
                <c:v>Bottles</c:v>
              </c:pt>
              <c:pt idx="2">
                <c:v>Jars and Tubs</c:v>
              </c:pt>
              <c:pt idx="3">
                <c:v>Pouches</c:v>
              </c:pt>
              <c:pt idx="4">
                <c:v>Sachets</c:v>
              </c:pt>
              <c:pt idx="5">
                <c:v>Blister Packs</c:v>
              </c:pt>
              <c:pt idx="6">
                <c:v>Canisters</c:v>
              </c:pt>
              <c:pt idx="7">
                <c:v>2036 Total</c:v>
              </c:pt>
            </c:strLit>
          </c:cat>
          <c:val>
            <c:numLit>
              <c:formatCode>General</c:formatCode>
              <c:ptCount val="8"/>
              <c:pt idx="0">
                <c:v>497.67100000000005</c:v>
              </c:pt>
              <c:pt idx="1">
                <c:v>14.545999999999999</c:v>
              </c:pt>
              <c:pt idx="2">
                <c:v>30.301000000000002</c:v>
              </c:pt>
              <c:pt idx="3">
                <c:v>88.614000000000004</c:v>
              </c:pt>
              <c:pt idx="4">
                <c:v>17.259999999999991</c:v>
              </c:pt>
              <c:pt idx="5">
                <c:v>35.037999999999982</c:v>
              </c:pt>
              <c:pt idx="6">
                <c:v>44.527000000000001</c:v>
              </c:pt>
              <c:pt idx="7">
                <c:v>727.95699999999999</c:v>
              </c:pt>
            </c:numLit>
          </c:val>
          <c:extLst>
            <c:ext xmlns:c16="http://schemas.microsoft.com/office/drawing/2014/chart" uri="{C3380CC4-5D6E-409C-BE32-E72D297353CC}">
              <c16:uniqueId val="{00000011-A7F4-4F6C-92EA-B233813C0852}"/>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Bottles</c:v>
              </c:pt>
              <c:pt idx="1">
                <c:v>Jars and Tubs</c:v>
              </c:pt>
              <c:pt idx="2">
                <c:v>Pouches</c:v>
              </c:pt>
              <c:pt idx="3">
                <c:v>Sachets</c:v>
              </c:pt>
              <c:pt idx="4">
                <c:v>Blister Packs</c:v>
              </c:pt>
              <c:pt idx="5">
                <c:v>Canisters</c:v>
              </c:pt>
              <c:pt idx="6">
                <c:v>Total Absolute $ Opportunity</c:v>
              </c:pt>
            </c:strLit>
          </c:cat>
          <c:val>
            <c:numLit>
              <c:formatCode>General</c:formatCode>
              <c:ptCount val="7"/>
              <c:pt idx="0">
                <c:v>0</c:v>
              </c:pt>
              <c:pt idx="1">
                <c:v>14.545999999999999</c:v>
              </c:pt>
              <c:pt idx="2">
                <c:v>44.847000000000001</c:v>
              </c:pt>
              <c:pt idx="3">
                <c:v>133.46100000000001</c:v>
              </c:pt>
              <c:pt idx="4">
                <c:v>150.721</c:v>
              </c:pt>
              <c:pt idx="5">
                <c:v>185.75899999999999</c:v>
              </c:pt>
              <c:pt idx="6">
                <c:v>0</c:v>
              </c:pt>
            </c:numLit>
          </c:val>
          <c:extLst>
            <c:ext xmlns:c16="http://schemas.microsoft.com/office/drawing/2014/chart" uri="{C3380CC4-5D6E-409C-BE32-E72D297353CC}">
              <c16:uniqueId val="{00000000-36AA-4A5A-B89C-D5CE5BE931A1}"/>
            </c:ext>
          </c:extLst>
        </c:ser>
        <c:ser>
          <c:idx val="1"/>
          <c:order val="1"/>
          <c:tx>
            <c:v>value</c:v>
          </c:tx>
          <c:invertIfNegative val="1"/>
          <c:dPt>
            <c:idx val="0"/>
            <c:invertIfNegative val="1"/>
            <c:bubble3D val="0"/>
            <c:spPr>
              <a:solidFill>
                <a:srgbClr val="008189"/>
              </a:solidFill>
            </c:spPr>
            <c:extLst>
              <c:ext xmlns:c16="http://schemas.microsoft.com/office/drawing/2014/chart" uri="{C3380CC4-5D6E-409C-BE32-E72D297353CC}">
                <c16:uniqueId val="{00000002-36AA-4A5A-B89C-D5CE5BE931A1}"/>
              </c:ext>
            </c:extLst>
          </c:dPt>
          <c:dPt>
            <c:idx val="1"/>
            <c:invertIfNegative val="1"/>
            <c:bubble3D val="0"/>
            <c:spPr>
              <a:solidFill>
                <a:srgbClr val="008189"/>
              </a:solidFill>
            </c:spPr>
            <c:extLst>
              <c:ext xmlns:c16="http://schemas.microsoft.com/office/drawing/2014/chart" uri="{C3380CC4-5D6E-409C-BE32-E72D297353CC}">
                <c16:uniqueId val="{00000004-36AA-4A5A-B89C-D5CE5BE931A1}"/>
              </c:ext>
            </c:extLst>
          </c:dPt>
          <c:dPt>
            <c:idx val="2"/>
            <c:invertIfNegative val="1"/>
            <c:bubble3D val="0"/>
            <c:spPr>
              <a:solidFill>
                <a:srgbClr val="008189"/>
              </a:solidFill>
            </c:spPr>
            <c:extLst>
              <c:ext xmlns:c16="http://schemas.microsoft.com/office/drawing/2014/chart" uri="{C3380CC4-5D6E-409C-BE32-E72D297353CC}">
                <c16:uniqueId val="{00000006-36AA-4A5A-B89C-D5CE5BE931A1}"/>
              </c:ext>
            </c:extLst>
          </c:dPt>
          <c:dPt>
            <c:idx val="3"/>
            <c:invertIfNegative val="1"/>
            <c:bubble3D val="0"/>
            <c:spPr>
              <a:solidFill>
                <a:srgbClr val="008189"/>
              </a:solidFill>
            </c:spPr>
            <c:extLst>
              <c:ext xmlns:c16="http://schemas.microsoft.com/office/drawing/2014/chart" uri="{C3380CC4-5D6E-409C-BE32-E72D297353CC}">
                <c16:uniqueId val="{00000008-36AA-4A5A-B89C-D5CE5BE931A1}"/>
              </c:ext>
            </c:extLst>
          </c:dPt>
          <c:dPt>
            <c:idx val="4"/>
            <c:invertIfNegative val="1"/>
            <c:bubble3D val="0"/>
            <c:spPr>
              <a:solidFill>
                <a:srgbClr val="008189"/>
              </a:solidFill>
            </c:spPr>
            <c:extLst>
              <c:ext xmlns:c16="http://schemas.microsoft.com/office/drawing/2014/chart" uri="{C3380CC4-5D6E-409C-BE32-E72D297353CC}">
                <c16:uniqueId val="{0000000A-36AA-4A5A-B89C-D5CE5BE931A1}"/>
              </c:ext>
            </c:extLst>
          </c:dPt>
          <c:dPt>
            <c:idx val="5"/>
            <c:invertIfNegative val="1"/>
            <c:bubble3D val="0"/>
            <c:spPr>
              <a:solidFill>
                <a:srgbClr val="008189"/>
              </a:solidFill>
            </c:spPr>
            <c:extLst>
              <c:ext xmlns:c16="http://schemas.microsoft.com/office/drawing/2014/chart" uri="{C3380CC4-5D6E-409C-BE32-E72D297353CC}">
                <c16:uniqueId val="{0000000C-36AA-4A5A-B89C-D5CE5BE931A1}"/>
              </c:ext>
            </c:extLst>
          </c:dPt>
          <c:dPt>
            <c:idx val="6"/>
            <c:invertIfNegative val="1"/>
            <c:bubble3D val="0"/>
            <c:spPr>
              <a:solidFill>
                <a:srgbClr val="0E72AE"/>
              </a:solidFill>
            </c:spPr>
            <c:extLst>
              <c:ext xmlns:c16="http://schemas.microsoft.com/office/drawing/2014/chart" uri="{C3380CC4-5D6E-409C-BE32-E72D297353CC}">
                <c16:uniqueId val="{0000000E-36AA-4A5A-B89C-D5CE5BE931A1}"/>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6AA-4A5A-B89C-D5CE5BE931A1}"/>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6AA-4A5A-B89C-D5CE5BE931A1}"/>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6AA-4A5A-B89C-D5CE5BE931A1}"/>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6AA-4A5A-B89C-D5CE5BE931A1}"/>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6AA-4A5A-B89C-D5CE5BE931A1}"/>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6AA-4A5A-B89C-D5CE5BE931A1}"/>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6AA-4A5A-B89C-D5CE5BE931A1}"/>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Bottles</c:v>
              </c:pt>
              <c:pt idx="1">
                <c:v>Jars and Tubs</c:v>
              </c:pt>
              <c:pt idx="2">
                <c:v>Pouches</c:v>
              </c:pt>
              <c:pt idx="3">
                <c:v>Sachets</c:v>
              </c:pt>
              <c:pt idx="4">
                <c:v>Blister Packs</c:v>
              </c:pt>
              <c:pt idx="5">
                <c:v>Canisters</c:v>
              </c:pt>
              <c:pt idx="6">
                <c:v>Total Absolute $ Opportunity</c:v>
              </c:pt>
            </c:strLit>
          </c:cat>
          <c:val>
            <c:numLit>
              <c:formatCode>General</c:formatCode>
              <c:ptCount val="7"/>
              <c:pt idx="0">
                <c:v>14.545999999999999</c:v>
              </c:pt>
              <c:pt idx="1">
                <c:v>30.301000000000002</c:v>
              </c:pt>
              <c:pt idx="2">
                <c:v>88.614000000000004</c:v>
              </c:pt>
              <c:pt idx="3">
                <c:v>17.259999999999991</c:v>
              </c:pt>
              <c:pt idx="4">
                <c:v>35.037999999999982</c:v>
              </c:pt>
              <c:pt idx="5">
                <c:v>44.527000000000001</c:v>
              </c:pt>
              <c:pt idx="6">
                <c:v>230.286</c:v>
              </c:pt>
            </c:numLit>
          </c:val>
          <c:extLst>
            <c:ext xmlns:c16="http://schemas.microsoft.com/office/drawing/2014/chart" uri="{C3380CC4-5D6E-409C-BE32-E72D297353CC}">
              <c16:uniqueId val="{0000000F-36AA-4A5A-B89C-D5CE5BE931A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8"/>
              <c:pt idx="0">
                <c:v>2026</c:v>
              </c:pt>
              <c:pt idx="1">
                <c:v>Veterinary Channels</c:v>
              </c:pt>
              <c:pt idx="2">
                <c:v>Specialist Pet Retail</c:v>
              </c:pt>
              <c:pt idx="3">
                <c:v>General Retail</c:v>
              </c:pt>
              <c:pt idx="4">
                <c:v>Brand-Owned E-commerce</c:v>
              </c:pt>
              <c:pt idx="5">
                <c:v>Third-Party E-commerce</c:v>
              </c:pt>
              <c:pt idx="6">
                <c:v>Other Direct Sales</c:v>
              </c:pt>
              <c:pt idx="7">
                <c:v>2036 Total</c:v>
              </c:pt>
            </c:strLit>
          </c:cat>
          <c:val>
            <c:numLit>
              <c:formatCode>General</c:formatCode>
              <c:ptCount val="8"/>
              <c:pt idx="0">
                <c:v>0</c:v>
              </c:pt>
              <c:pt idx="1">
                <c:v>497.67100000000005</c:v>
              </c:pt>
              <c:pt idx="2">
                <c:v>549.18900000000008</c:v>
              </c:pt>
              <c:pt idx="3">
                <c:v>623.79900000000009</c:v>
              </c:pt>
              <c:pt idx="4">
                <c:v>627.74000000000012</c:v>
              </c:pt>
              <c:pt idx="5">
                <c:v>647.33000000000015</c:v>
              </c:pt>
              <c:pt idx="6">
                <c:v>718.71500000000015</c:v>
              </c:pt>
              <c:pt idx="7">
                <c:v>0</c:v>
              </c:pt>
            </c:numLit>
          </c:val>
          <c:extLst>
            <c:ext xmlns:c16="http://schemas.microsoft.com/office/drawing/2014/chart" uri="{C3380CC4-5D6E-409C-BE32-E72D297353CC}">
              <c16:uniqueId val="{00000000-EB08-4FEE-811D-2079A5BE1AF8}"/>
            </c:ext>
          </c:extLst>
        </c:ser>
        <c:ser>
          <c:idx val="1"/>
          <c:order val="1"/>
          <c:tx>
            <c:v>value</c:v>
          </c:tx>
          <c:invertIfNegative val="1"/>
          <c:dPt>
            <c:idx val="0"/>
            <c:invertIfNegative val="1"/>
            <c:bubble3D val="0"/>
            <c:spPr>
              <a:solidFill>
                <a:srgbClr val="0E72AE"/>
              </a:solidFill>
            </c:spPr>
            <c:extLst>
              <c:ext xmlns:c16="http://schemas.microsoft.com/office/drawing/2014/chart" uri="{C3380CC4-5D6E-409C-BE32-E72D297353CC}">
                <c16:uniqueId val="{00000002-EB08-4FEE-811D-2079A5BE1AF8}"/>
              </c:ext>
            </c:extLst>
          </c:dPt>
          <c:dPt>
            <c:idx val="1"/>
            <c:invertIfNegative val="1"/>
            <c:bubble3D val="0"/>
            <c:spPr>
              <a:solidFill>
                <a:srgbClr val="008189"/>
              </a:solidFill>
            </c:spPr>
            <c:extLst>
              <c:ext xmlns:c16="http://schemas.microsoft.com/office/drawing/2014/chart" uri="{C3380CC4-5D6E-409C-BE32-E72D297353CC}">
                <c16:uniqueId val="{00000004-EB08-4FEE-811D-2079A5BE1AF8}"/>
              </c:ext>
            </c:extLst>
          </c:dPt>
          <c:dPt>
            <c:idx val="2"/>
            <c:invertIfNegative val="1"/>
            <c:bubble3D val="0"/>
            <c:spPr>
              <a:solidFill>
                <a:srgbClr val="008189"/>
              </a:solidFill>
            </c:spPr>
            <c:extLst>
              <c:ext xmlns:c16="http://schemas.microsoft.com/office/drawing/2014/chart" uri="{C3380CC4-5D6E-409C-BE32-E72D297353CC}">
                <c16:uniqueId val="{00000006-EB08-4FEE-811D-2079A5BE1AF8}"/>
              </c:ext>
            </c:extLst>
          </c:dPt>
          <c:dPt>
            <c:idx val="3"/>
            <c:invertIfNegative val="1"/>
            <c:bubble3D val="0"/>
            <c:spPr>
              <a:solidFill>
                <a:srgbClr val="008189"/>
              </a:solidFill>
            </c:spPr>
            <c:extLst>
              <c:ext xmlns:c16="http://schemas.microsoft.com/office/drawing/2014/chart" uri="{C3380CC4-5D6E-409C-BE32-E72D297353CC}">
                <c16:uniqueId val="{00000008-EB08-4FEE-811D-2079A5BE1AF8}"/>
              </c:ext>
            </c:extLst>
          </c:dPt>
          <c:dPt>
            <c:idx val="4"/>
            <c:invertIfNegative val="1"/>
            <c:bubble3D val="0"/>
            <c:spPr>
              <a:solidFill>
                <a:srgbClr val="008189"/>
              </a:solidFill>
            </c:spPr>
            <c:extLst>
              <c:ext xmlns:c16="http://schemas.microsoft.com/office/drawing/2014/chart" uri="{C3380CC4-5D6E-409C-BE32-E72D297353CC}">
                <c16:uniqueId val="{0000000A-EB08-4FEE-811D-2079A5BE1AF8}"/>
              </c:ext>
            </c:extLst>
          </c:dPt>
          <c:dPt>
            <c:idx val="5"/>
            <c:invertIfNegative val="1"/>
            <c:bubble3D val="0"/>
            <c:spPr>
              <a:solidFill>
                <a:srgbClr val="008189"/>
              </a:solidFill>
            </c:spPr>
            <c:extLst>
              <c:ext xmlns:c16="http://schemas.microsoft.com/office/drawing/2014/chart" uri="{C3380CC4-5D6E-409C-BE32-E72D297353CC}">
                <c16:uniqueId val="{0000000C-EB08-4FEE-811D-2079A5BE1AF8}"/>
              </c:ext>
            </c:extLst>
          </c:dPt>
          <c:dPt>
            <c:idx val="6"/>
            <c:invertIfNegative val="1"/>
            <c:bubble3D val="0"/>
            <c:spPr>
              <a:solidFill>
                <a:srgbClr val="008189"/>
              </a:solidFill>
            </c:spPr>
            <c:extLst>
              <c:ext xmlns:c16="http://schemas.microsoft.com/office/drawing/2014/chart" uri="{C3380CC4-5D6E-409C-BE32-E72D297353CC}">
                <c16:uniqueId val="{0000000E-EB08-4FEE-811D-2079A5BE1AF8}"/>
              </c:ext>
            </c:extLst>
          </c:dPt>
          <c:dPt>
            <c:idx val="7"/>
            <c:invertIfNegative val="1"/>
            <c:bubble3D val="0"/>
            <c:spPr>
              <a:solidFill>
                <a:srgbClr val="0E72AE"/>
              </a:solidFill>
            </c:spPr>
            <c:extLst>
              <c:ext xmlns:c16="http://schemas.microsoft.com/office/drawing/2014/chart" uri="{C3380CC4-5D6E-409C-BE32-E72D297353CC}">
                <c16:uniqueId val="{00000010-EB08-4FEE-811D-2079A5BE1AF8}"/>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B08-4FEE-811D-2079A5BE1AF8}"/>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B08-4FEE-811D-2079A5BE1AF8}"/>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B08-4FEE-811D-2079A5BE1AF8}"/>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B08-4FEE-811D-2079A5BE1AF8}"/>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B08-4FEE-811D-2079A5BE1AF8}"/>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B08-4FEE-811D-2079A5BE1AF8}"/>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B08-4FEE-811D-2079A5BE1AF8}"/>
                </c:ext>
              </c:extLst>
            </c:dLbl>
            <c:dLbl>
              <c:idx val="7"/>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B08-4FEE-811D-2079A5BE1AF8}"/>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8"/>
              <c:pt idx="0">
                <c:v>2026</c:v>
              </c:pt>
              <c:pt idx="1">
                <c:v>Veterinary Channels</c:v>
              </c:pt>
              <c:pt idx="2">
                <c:v>Specialist Pet Retail</c:v>
              </c:pt>
              <c:pt idx="3">
                <c:v>General Retail</c:v>
              </c:pt>
              <c:pt idx="4">
                <c:v>Brand-Owned E-commerce</c:v>
              </c:pt>
              <c:pt idx="5">
                <c:v>Third-Party E-commerce</c:v>
              </c:pt>
              <c:pt idx="6">
                <c:v>Other Direct Sales</c:v>
              </c:pt>
              <c:pt idx="7">
                <c:v>2036 Total</c:v>
              </c:pt>
            </c:strLit>
          </c:cat>
          <c:val>
            <c:numLit>
              <c:formatCode>General</c:formatCode>
              <c:ptCount val="8"/>
              <c:pt idx="0">
                <c:v>497.67100000000005</c:v>
              </c:pt>
              <c:pt idx="1">
                <c:v>51.518000000000001</c:v>
              </c:pt>
              <c:pt idx="2">
                <c:v>74.609999999999985</c:v>
              </c:pt>
              <c:pt idx="3">
                <c:v>3.9410000000000025</c:v>
              </c:pt>
              <c:pt idx="4">
                <c:v>19.590000000000003</c:v>
              </c:pt>
              <c:pt idx="5">
                <c:v>71.385000000000005</c:v>
              </c:pt>
              <c:pt idx="6">
                <c:v>9.2420000000000044</c:v>
              </c:pt>
              <c:pt idx="7">
                <c:v>727.95700000000011</c:v>
              </c:pt>
            </c:numLit>
          </c:val>
          <c:extLst>
            <c:ext xmlns:c16="http://schemas.microsoft.com/office/drawing/2014/chart" uri="{C3380CC4-5D6E-409C-BE32-E72D297353CC}">
              <c16:uniqueId val="{00000011-EB08-4FEE-811D-2079A5BE1AF8}"/>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7"/>
              <c:pt idx="0">
                <c:v>Veterinary Channels</c:v>
              </c:pt>
              <c:pt idx="1">
                <c:v>Specialist Pet Retail</c:v>
              </c:pt>
              <c:pt idx="2">
                <c:v>General Retail</c:v>
              </c:pt>
              <c:pt idx="3">
                <c:v>Brand-Owned E-commerce</c:v>
              </c:pt>
              <c:pt idx="4">
                <c:v>Third-Party E-commerce</c:v>
              </c:pt>
              <c:pt idx="5">
                <c:v>Other Direct Sales</c:v>
              </c:pt>
              <c:pt idx="6">
                <c:v>Total Absolute $ Opportunity</c:v>
              </c:pt>
            </c:strLit>
          </c:cat>
          <c:val>
            <c:numLit>
              <c:formatCode>General</c:formatCode>
              <c:ptCount val="7"/>
              <c:pt idx="0">
                <c:v>0</c:v>
              </c:pt>
              <c:pt idx="1">
                <c:v>51.518000000000001</c:v>
              </c:pt>
              <c:pt idx="2">
                <c:v>126.12799999999999</c:v>
              </c:pt>
              <c:pt idx="3">
                <c:v>130.06899999999999</c:v>
              </c:pt>
              <c:pt idx="4">
                <c:v>149.65899999999999</c:v>
              </c:pt>
              <c:pt idx="5">
                <c:v>221.04399999999998</c:v>
              </c:pt>
              <c:pt idx="6">
                <c:v>0</c:v>
              </c:pt>
            </c:numLit>
          </c:val>
          <c:extLst>
            <c:ext xmlns:c16="http://schemas.microsoft.com/office/drawing/2014/chart" uri="{C3380CC4-5D6E-409C-BE32-E72D297353CC}">
              <c16:uniqueId val="{00000000-6284-41A1-847A-217736429622}"/>
            </c:ext>
          </c:extLst>
        </c:ser>
        <c:ser>
          <c:idx val="1"/>
          <c:order val="1"/>
          <c:tx>
            <c:v>value</c:v>
          </c:tx>
          <c:invertIfNegative val="1"/>
          <c:dPt>
            <c:idx val="0"/>
            <c:invertIfNegative val="1"/>
            <c:bubble3D val="0"/>
            <c:spPr>
              <a:solidFill>
                <a:srgbClr val="008189"/>
              </a:solidFill>
            </c:spPr>
            <c:extLst>
              <c:ext xmlns:c16="http://schemas.microsoft.com/office/drawing/2014/chart" uri="{C3380CC4-5D6E-409C-BE32-E72D297353CC}">
                <c16:uniqueId val="{00000002-6284-41A1-847A-217736429622}"/>
              </c:ext>
            </c:extLst>
          </c:dPt>
          <c:dPt>
            <c:idx val="1"/>
            <c:invertIfNegative val="1"/>
            <c:bubble3D val="0"/>
            <c:spPr>
              <a:solidFill>
                <a:srgbClr val="008189"/>
              </a:solidFill>
            </c:spPr>
            <c:extLst>
              <c:ext xmlns:c16="http://schemas.microsoft.com/office/drawing/2014/chart" uri="{C3380CC4-5D6E-409C-BE32-E72D297353CC}">
                <c16:uniqueId val="{00000004-6284-41A1-847A-217736429622}"/>
              </c:ext>
            </c:extLst>
          </c:dPt>
          <c:dPt>
            <c:idx val="2"/>
            <c:invertIfNegative val="1"/>
            <c:bubble3D val="0"/>
            <c:spPr>
              <a:solidFill>
                <a:srgbClr val="008189"/>
              </a:solidFill>
            </c:spPr>
            <c:extLst>
              <c:ext xmlns:c16="http://schemas.microsoft.com/office/drawing/2014/chart" uri="{C3380CC4-5D6E-409C-BE32-E72D297353CC}">
                <c16:uniqueId val="{00000006-6284-41A1-847A-217736429622}"/>
              </c:ext>
            </c:extLst>
          </c:dPt>
          <c:dPt>
            <c:idx val="3"/>
            <c:invertIfNegative val="1"/>
            <c:bubble3D val="0"/>
            <c:spPr>
              <a:solidFill>
                <a:srgbClr val="008189"/>
              </a:solidFill>
            </c:spPr>
            <c:extLst>
              <c:ext xmlns:c16="http://schemas.microsoft.com/office/drawing/2014/chart" uri="{C3380CC4-5D6E-409C-BE32-E72D297353CC}">
                <c16:uniqueId val="{00000008-6284-41A1-847A-217736429622}"/>
              </c:ext>
            </c:extLst>
          </c:dPt>
          <c:dPt>
            <c:idx val="4"/>
            <c:invertIfNegative val="1"/>
            <c:bubble3D val="0"/>
            <c:spPr>
              <a:solidFill>
                <a:srgbClr val="008189"/>
              </a:solidFill>
            </c:spPr>
            <c:extLst>
              <c:ext xmlns:c16="http://schemas.microsoft.com/office/drawing/2014/chart" uri="{C3380CC4-5D6E-409C-BE32-E72D297353CC}">
                <c16:uniqueId val="{0000000A-6284-41A1-847A-217736429622}"/>
              </c:ext>
            </c:extLst>
          </c:dPt>
          <c:dPt>
            <c:idx val="5"/>
            <c:invertIfNegative val="1"/>
            <c:bubble3D val="0"/>
            <c:spPr>
              <a:solidFill>
                <a:srgbClr val="008189"/>
              </a:solidFill>
            </c:spPr>
            <c:extLst>
              <c:ext xmlns:c16="http://schemas.microsoft.com/office/drawing/2014/chart" uri="{C3380CC4-5D6E-409C-BE32-E72D297353CC}">
                <c16:uniqueId val="{0000000C-6284-41A1-847A-217736429622}"/>
              </c:ext>
            </c:extLst>
          </c:dPt>
          <c:dPt>
            <c:idx val="6"/>
            <c:invertIfNegative val="1"/>
            <c:bubble3D val="0"/>
            <c:spPr>
              <a:solidFill>
                <a:srgbClr val="0E72AE"/>
              </a:solidFill>
            </c:spPr>
            <c:extLst>
              <c:ext xmlns:c16="http://schemas.microsoft.com/office/drawing/2014/chart" uri="{C3380CC4-5D6E-409C-BE32-E72D297353CC}">
                <c16:uniqueId val="{0000000E-6284-41A1-847A-217736429622}"/>
              </c:ext>
            </c:extLst>
          </c:dPt>
          <c:dLbls>
            <c:dLbl>
              <c:idx val="0"/>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84-41A1-847A-217736429622}"/>
                </c:ext>
              </c:extLst>
            </c:dLbl>
            <c:dLbl>
              <c:idx val="1"/>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84-41A1-847A-217736429622}"/>
                </c:ext>
              </c:extLst>
            </c:dLbl>
            <c:dLbl>
              <c:idx val="2"/>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84-41A1-847A-217736429622}"/>
                </c:ext>
              </c:extLst>
            </c:dLbl>
            <c:dLbl>
              <c:idx val="3"/>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84-41A1-847A-217736429622}"/>
                </c:ext>
              </c:extLst>
            </c:dLbl>
            <c:dLbl>
              <c:idx val="4"/>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284-41A1-847A-217736429622}"/>
                </c:ext>
              </c:extLst>
            </c:dLbl>
            <c:dLbl>
              <c:idx val="5"/>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284-41A1-847A-217736429622}"/>
                </c:ext>
              </c:extLst>
            </c:dLbl>
            <c:dLbl>
              <c:idx val="6"/>
              <c:numFmt formatCode="&quot;&quot;" sourceLinked="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6284-41A1-847A-217736429622}"/>
                </c:ext>
              </c:extLst>
            </c:dLbl>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Veterinary Channels</c:v>
              </c:pt>
              <c:pt idx="1">
                <c:v>Specialist Pet Retail</c:v>
              </c:pt>
              <c:pt idx="2">
                <c:v>General Retail</c:v>
              </c:pt>
              <c:pt idx="3">
                <c:v>Brand-Owned E-commerce</c:v>
              </c:pt>
              <c:pt idx="4">
                <c:v>Third-Party E-commerce</c:v>
              </c:pt>
              <c:pt idx="5">
                <c:v>Other Direct Sales</c:v>
              </c:pt>
              <c:pt idx="6">
                <c:v>Total Absolute $ Opportunity</c:v>
              </c:pt>
            </c:strLit>
          </c:cat>
          <c:val>
            <c:numLit>
              <c:formatCode>General</c:formatCode>
              <c:ptCount val="7"/>
              <c:pt idx="0">
                <c:v>51.518000000000001</c:v>
              </c:pt>
              <c:pt idx="1">
                <c:v>74.609999999999985</c:v>
              </c:pt>
              <c:pt idx="2">
                <c:v>3.9410000000000025</c:v>
              </c:pt>
              <c:pt idx="3">
                <c:v>19.590000000000003</c:v>
              </c:pt>
              <c:pt idx="4">
                <c:v>71.385000000000005</c:v>
              </c:pt>
              <c:pt idx="5">
                <c:v>9.2420000000000044</c:v>
              </c:pt>
              <c:pt idx="6">
                <c:v>230.286</c:v>
              </c:pt>
            </c:numLit>
          </c:val>
          <c:extLst>
            <c:ext xmlns:c16="http://schemas.microsoft.com/office/drawing/2014/chart" uri="{C3380CC4-5D6E-409C-BE32-E72D297353CC}">
              <c16:uniqueId val="{0000000F-6284-41A1-847A-217736429622}"/>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one"/>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chartSpace>
</file>

<file path=ppt/charts/chart1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v>Capsules and Softgels</c:v>
          </c:tx>
          <c:spPr>
            <a:ln w="25400">
              <a:solidFill>
                <a:srgbClr val="C55A11"/>
              </a:solidFill>
            </a:ln>
          </c:spPr>
          <c:marker>
            <c:symbol val="none"/>
          </c:marker>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5473</c:v>
              </c:pt>
              <c:pt idx="1">
                <c:v>5507</c:v>
              </c:pt>
              <c:pt idx="2">
                <c:v>5536</c:v>
              </c:pt>
              <c:pt idx="3">
                <c:v>5566</c:v>
              </c:pt>
              <c:pt idx="4">
                <c:v>5602</c:v>
              </c:pt>
              <c:pt idx="5">
                <c:v>5644</c:v>
              </c:pt>
              <c:pt idx="6">
                <c:v>5677</c:v>
              </c:pt>
              <c:pt idx="7">
                <c:v>5710</c:v>
              </c:pt>
              <c:pt idx="8">
                <c:v>5742</c:v>
              </c:pt>
              <c:pt idx="9">
                <c:v>5771</c:v>
              </c:pt>
              <c:pt idx="10">
                <c:v>5804</c:v>
              </c:pt>
              <c:pt idx="11">
                <c:v>5840</c:v>
              </c:pt>
              <c:pt idx="12">
                <c:v>5876</c:v>
              </c:pt>
              <c:pt idx="13">
                <c:v>5911</c:v>
              </c:pt>
              <c:pt idx="14">
                <c:v>5943</c:v>
              </c:pt>
              <c:pt idx="15">
                <c:v>5972</c:v>
              </c:pt>
            </c:numLit>
          </c:val>
          <c:smooth val="0"/>
          <c:extLst>
            <c:ext xmlns:c16="http://schemas.microsoft.com/office/drawing/2014/chart" uri="{C3380CC4-5D6E-409C-BE32-E72D297353CC}">
              <c16:uniqueId val="{00000000-29DA-4BF7-9E59-A9576C26C0A6}"/>
            </c:ext>
          </c:extLst>
        </c:ser>
        <c:ser>
          <c:idx val="1"/>
          <c:order val="1"/>
          <c:tx>
            <c:v>Powders and Granules</c:v>
          </c:tx>
          <c:spPr>
            <a:ln w="25400">
              <a:solidFill>
                <a:srgbClr val="0B2E4A"/>
              </a:solidFill>
            </a:ln>
          </c:spPr>
          <c:marker>
            <c:symbol val="none"/>
          </c:marker>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5387</c:v>
              </c:pt>
              <c:pt idx="1">
                <c:v>5403</c:v>
              </c:pt>
              <c:pt idx="2">
                <c:v>5422</c:v>
              </c:pt>
              <c:pt idx="3">
                <c:v>5444</c:v>
              </c:pt>
              <c:pt idx="4">
                <c:v>5478</c:v>
              </c:pt>
              <c:pt idx="5">
                <c:v>5525</c:v>
              </c:pt>
              <c:pt idx="6">
                <c:v>5562</c:v>
              </c:pt>
              <c:pt idx="7">
                <c:v>5603</c:v>
              </c:pt>
              <c:pt idx="8">
                <c:v>5643</c:v>
              </c:pt>
              <c:pt idx="9">
                <c:v>5678</c:v>
              </c:pt>
              <c:pt idx="10">
                <c:v>5704</c:v>
              </c:pt>
              <c:pt idx="11">
                <c:v>5726</c:v>
              </c:pt>
              <c:pt idx="12">
                <c:v>5744</c:v>
              </c:pt>
              <c:pt idx="13">
                <c:v>5760</c:v>
              </c:pt>
              <c:pt idx="14">
                <c:v>5775</c:v>
              </c:pt>
              <c:pt idx="15">
                <c:v>5786</c:v>
              </c:pt>
            </c:numLit>
          </c:val>
          <c:smooth val="0"/>
          <c:extLst>
            <c:ext xmlns:c16="http://schemas.microsoft.com/office/drawing/2014/chart" uri="{C3380CC4-5D6E-409C-BE32-E72D297353CC}">
              <c16:uniqueId val="{00000001-29DA-4BF7-9E59-A9576C26C0A6}"/>
            </c:ext>
          </c:extLst>
        </c:ser>
        <c:ser>
          <c:idx val="2"/>
          <c:order val="2"/>
          <c:tx>
            <c:v>Liquids</c:v>
          </c:tx>
          <c:spPr>
            <a:ln w="25400">
              <a:solidFill>
                <a:srgbClr val="7030A0"/>
              </a:solidFill>
            </a:ln>
          </c:spPr>
          <c:marker>
            <c:symbol val="none"/>
          </c:marker>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5296</c:v>
              </c:pt>
              <c:pt idx="1">
                <c:v>5331</c:v>
              </c:pt>
              <c:pt idx="2">
                <c:v>5363</c:v>
              </c:pt>
              <c:pt idx="3">
                <c:v>5392</c:v>
              </c:pt>
              <c:pt idx="4">
                <c:v>5418</c:v>
              </c:pt>
              <c:pt idx="5">
                <c:v>5440</c:v>
              </c:pt>
              <c:pt idx="6">
                <c:v>5462</c:v>
              </c:pt>
              <c:pt idx="7">
                <c:v>5487</c:v>
              </c:pt>
              <c:pt idx="8">
                <c:v>5516</c:v>
              </c:pt>
              <c:pt idx="9">
                <c:v>5549</c:v>
              </c:pt>
              <c:pt idx="10">
                <c:v>5583</c:v>
              </c:pt>
              <c:pt idx="11">
                <c:v>5614</c:v>
              </c:pt>
              <c:pt idx="12">
                <c:v>5642</c:v>
              </c:pt>
              <c:pt idx="13">
                <c:v>5669</c:v>
              </c:pt>
              <c:pt idx="14">
                <c:v>5693</c:v>
              </c:pt>
              <c:pt idx="15">
                <c:v>5714</c:v>
              </c:pt>
            </c:numLit>
          </c:val>
          <c:smooth val="0"/>
          <c:extLst>
            <c:ext xmlns:c16="http://schemas.microsoft.com/office/drawing/2014/chart" uri="{C3380CC4-5D6E-409C-BE32-E72D297353CC}">
              <c16:uniqueId val="{00000002-29DA-4BF7-9E59-A9576C26C0A6}"/>
            </c:ext>
          </c:extLst>
        </c:ser>
        <c:ser>
          <c:idx val="3"/>
          <c:order val="3"/>
          <c:tx>
            <c:v>Gels and Pastes</c:v>
          </c:tx>
          <c:spPr>
            <a:ln w="25400">
              <a:solidFill>
                <a:srgbClr val="008189"/>
              </a:solidFill>
            </a:ln>
          </c:spPr>
          <c:marker>
            <c:symbol val="none"/>
          </c:marker>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3660</c:v>
              </c:pt>
              <c:pt idx="1">
                <c:v>3673</c:v>
              </c:pt>
              <c:pt idx="2">
                <c:v>3690</c:v>
              </c:pt>
              <c:pt idx="3">
                <c:v>3710</c:v>
              </c:pt>
              <c:pt idx="4">
                <c:v>3738</c:v>
              </c:pt>
              <c:pt idx="5">
                <c:v>3769</c:v>
              </c:pt>
              <c:pt idx="6">
                <c:v>3797</c:v>
              </c:pt>
              <c:pt idx="7">
                <c:v>3824</c:v>
              </c:pt>
              <c:pt idx="8">
                <c:v>3850</c:v>
              </c:pt>
              <c:pt idx="9">
                <c:v>3873</c:v>
              </c:pt>
              <c:pt idx="10">
                <c:v>3895</c:v>
              </c:pt>
              <c:pt idx="11">
                <c:v>3915</c:v>
              </c:pt>
              <c:pt idx="12">
                <c:v>3934</c:v>
              </c:pt>
              <c:pt idx="13">
                <c:v>3953</c:v>
              </c:pt>
              <c:pt idx="14">
                <c:v>3969</c:v>
              </c:pt>
              <c:pt idx="15">
                <c:v>3983</c:v>
              </c:pt>
            </c:numLit>
          </c:val>
          <c:smooth val="0"/>
          <c:extLst>
            <c:ext xmlns:c16="http://schemas.microsoft.com/office/drawing/2014/chart" uri="{C3380CC4-5D6E-409C-BE32-E72D297353CC}">
              <c16:uniqueId val="{00000003-29DA-4BF7-9E59-A9576C26C0A6}"/>
            </c:ext>
          </c:extLst>
        </c:ser>
        <c:ser>
          <c:idx val="4"/>
          <c:order val="4"/>
          <c:tx>
            <c:v>Chewables</c:v>
          </c:tx>
          <c:spPr>
            <a:ln w="25400">
              <a:solidFill>
                <a:srgbClr val="9E7E0A"/>
              </a:solidFill>
            </a:ln>
          </c:spPr>
          <c:marker>
            <c:symbol val="none"/>
          </c:marker>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3225</c:v>
              </c:pt>
              <c:pt idx="1">
                <c:v>3241</c:v>
              </c:pt>
              <c:pt idx="2">
                <c:v>3258</c:v>
              </c:pt>
              <c:pt idx="3">
                <c:v>3278</c:v>
              </c:pt>
              <c:pt idx="4">
                <c:v>3300</c:v>
              </c:pt>
              <c:pt idx="5">
                <c:v>3322</c:v>
              </c:pt>
              <c:pt idx="6">
                <c:v>3351</c:v>
              </c:pt>
              <c:pt idx="7">
                <c:v>3377</c:v>
              </c:pt>
              <c:pt idx="8">
                <c:v>3401</c:v>
              </c:pt>
              <c:pt idx="9">
                <c:v>3422</c:v>
              </c:pt>
              <c:pt idx="10">
                <c:v>3442</c:v>
              </c:pt>
              <c:pt idx="11">
                <c:v>3459</c:v>
              </c:pt>
              <c:pt idx="12">
                <c:v>3472</c:v>
              </c:pt>
              <c:pt idx="13">
                <c:v>3485</c:v>
              </c:pt>
              <c:pt idx="14">
                <c:v>3497</c:v>
              </c:pt>
              <c:pt idx="15">
                <c:v>3507</c:v>
              </c:pt>
            </c:numLit>
          </c:val>
          <c:smooth val="0"/>
          <c:extLst>
            <c:ext xmlns:c16="http://schemas.microsoft.com/office/drawing/2014/chart" uri="{C3380CC4-5D6E-409C-BE32-E72D297353CC}">
              <c16:uniqueId val="{00000004-29DA-4BF7-9E59-A9576C26C0A6}"/>
            </c:ext>
          </c:extLst>
        </c:ser>
        <c:ser>
          <c:idx val="5"/>
          <c:order val="5"/>
          <c:tx>
            <c:v>Tablets</c:v>
          </c:tx>
          <c:spPr>
            <a:ln w="25400">
              <a:solidFill>
                <a:srgbClr val="5B7DB1"/>
              </a:solidFill>
            </a:ln>
          </c:spPr>
          <c:marker>
            <c:symbol val="none"/>
          </c:marker>
          <c:cat>
            <c:strLit>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Lit>
          </c:cat>
          <c:val>
            <c:numLit>
              <c:formatCode>General</c:formatCode>
              <c:ptCount val="16"/>
              <c:pt idx="0">
                <c:v>2916</c:v>
              </c:pt>
              <c:pt idx="1">
                <c:v>2922</c:v>
              </c:pt>
              <c:pt idx="2">
                <c:v>2931</c:v>
              </c:pt>
              <c:pt idx="3">
                <c:v>2945</c:v>
              </c:pt>
              <c:pt idx="4">
                <c:v>2966</c:v>
              </c:pt>
              <c:pt idx="5">
                <c:v>2995</c:v>
              </c:pt>
              <c:pt idx="6">
                <c:v>3013</c:v>
              </c:pt>
              <c:pt idx="7">
                <c:v>3036</c:v>
              </c:pt>
              <c:pt idx="8">
                <c:v>3059</c:v>
              </c:pt>
              <c:pt idx="9">
                <c:v>3079</c:v>
              </c:pt>
              <c:pt idx="10">
                <c:v>3097</c:v>
              </c:pt>
              <c:pt idx="11">
                <c:v>3111</c:v>
              </c:pt>
              <c:pt idx="12">
                <c:v>3122</c:v>
              </c:pt>
              <c:pt idx="13">
                <c:v>3133</c:v>
              </c:pt>
              <c:pt idx="14">
                <c:v>3141</c:v>
              </c:pt>
              <c:pt idx="15">
                <c:v>3146</c:v>
              </c:pt>
            </c:numLit>
          </c:val>
          <c:smooth val="0"/>
          <c:extLst>
            <c:ext xmlns:c16="http://schemas.microsoft.com/office/drawing/2014/chart" uri="{C3380CC4-5D6E-409C-BE32-E72D297353CC}">
              <c16:uniqueId val="{00000005-29DA-4BF7-9E59-A9576C26C0A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D9DEE4"/>
            </a:solidFill>
          </a:ln>
        </c:spPr>
        <c:txPr>
          <a:bodyPr/>
          <a:lstStyle/>
          <a:p>
            <a:pPr>
              <a:defRPr sz="900">
                <a:solidFill>
                  <a:srgbClr val="59636E"/>
                </a:solidFill>
                <a:latin typeface="Calibri"/>
              </a:defRPr>
            </a:pPr>
            <a:endParaRPr lang="en-US"/>
          </a:p>
        </c:txPr>
        <c:crossAx val="2140495176"/>
        <c:crosses val="autoZero"/>
        <c:auto val="1"/>
        <c:lblAlgn val="ctr"/>
        <c:lblOffset val="100"/>
        <c:noMultiLvlLbl val="0"/>
      </c:catAx>
      <c:valAx>
        <c:axId val="2140495176"/>
        <c:scaling>
          <c:orientation val="minMax"/>
          <c:max val="6000"/>
          <c:min val="25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endParaRPr lang="en-US"/>
          </a:p>
        </c:txPr>
        <c:crossAx val="2118791784"/>
        <c:crosses val="autoZero"/>
        <c:crossBetween val="between"/>
        <c:majorUnit val="500"/>
      </c:valAx>
    </c:plotArea>
    <c:legend>
      <c:legendPos val="b"/>
      <c:overlay val="0"/>
      <c:txPr>
        <a:bodyPr/>
        <a:lstStyle/>
        <a:p>
          <a:pPr>
            <a:defRPr sz="900">
              <a:latin typeface="Calibri"/>
            </a:defRPr>
          </a:pPr>
          <a:endParaRPr lang="en-US"/>
        </a:p>
      </c:txPr>
    </c:legend>
    <c:plotVisOnly val="1"/>
    <c:dispBlanksAs val="gap"/>
    <c:showDLblsOverMax val="0"/>
  </c:chart>
  <c:txPr>
    <a:bodyPr/>
    <a:lstStyle/>
    <a:p>
      <a:pPr>
        <a:defRPr sz="1800"/>
      </a:pPr>
      <a:endParaRPr lang="en-US"/>
    </a:p>
  </c:txPr>
</c:chartSpace>
</file>

<file path=ppt/charts/chart1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v>Index</c:v>
          </c:tx>
          <c:invertIfNegative val="1"/>
          <c:dPt>
            <c:idx val="0"/>
            <c:invertIfNegative val="1"/>
            <c:bubble3D val="0"/>
            <c:spPr>
              <a:solidFill>
                <a:srgbClr val="5B7DB1"/>
              </a:solidFill>
            </c:spPr>
            <c:extLst>
              <c:ext xmlns:c16="http://schemas.microsoft.com/office/drawing/2014/chart" uri="{C3380CC4-5D6E-409C-BE32-E72D297353CC}">
                <c16:uniqueId val="{00000001-BB74-43E3-BAE9-F8FF2BA25F2F}"/>
              </c:ext>
            </c:extLst>
          </c:dPt>
          <c:dPt>
            <c:idx val="1"/>
            <c:invertIfNegative val="1"/>
            <c:bubble3D val="0"/>
            <c:spPr>
              <a:solidFill>
                <a:srgbClr val="5B7DB1"/>
              </a:solidFill>
            </c:spPr>
            <c:extLst>
              <c:ext xmlns:c16="http://schemas.microsoft.com/office/drawing/2014/chart" uri="{C3380CC4-5D6E-409C-BE32-E72D297353CC}">
                <c16:uniqueId val="{00000003-BB74-43E3-BAE9-F8FF2BA25F2F}"/>
              </c:ext>
            </c:extLst>
          </c:dPt>
          <c:dPt>
            <c:idx val="2"/>
            <c:invertIfNegative val="1"/>
            <c:bubble3D val="0"/>
            <c:spPr>
              <a:solidFill>
                <a:srgbClr val="5B7DB1"/>
              </a:solidFill>
            </c:spPr>
            <c:extLst>
              <c:ext xmlns:c16="http://schemas.microsoft.com/office/drawing/2014/chart" uri="{C3380CC4-5D6E-409C-BE32-E72D297353CC}">
                <c16:uniqueId val="{00000005-BB74-43E3-BAE9-F8FF2BA25F2F}"/>
              </c:ext>
            </c:extLst>
          </c:dPt>
          <c:dPt>
            <c:idx val="3"/>
            <c:invertIfNegative val="1"/>
            <c:bubble3D val="0"/>
            <c:spPr>
              <a:solidFill>
                <a:srgbClr val="C55A11"/>
              </a:solidFill>
            </c:spPr>
            <c:extLst>
              <c:ext xmlns:c16="http://schemas.microsoft.com/office/drawing/2014/chart" uri="{C3380CC4-5D6E-409C-BE32-E72D297353CC}">
                <c16:uniqueId val="{00000007-BB74-43E3-BAE9-F8FF2BA25F2F}"/>
              </c:ext>
            </c:extLst>
          </c:dPt>
          <c:dPt>
            <c:idx val="4"/>
            <c:invertIfNegative val="1"/>
            <c:bubble3D val="0"/>
            <c:spPr>
              <a:solidFill>
                <a:srgbClr val="C55A11"/>
              </a:solidFill>
            </c:spPr>
            <c:extLst>
              <c:ext xmlns:c16="http://schemas.microsoft.com/office/drawing/2014/chart" uri="{C3380CC4-5D6E-409C-BE32-E72D297353CC}">
                <c16:uniqueId val="{00000009-BB74-43E3-BAE9-F8FF2BA25F2F}"/>
              </c:ext>
            </c:extLst>
          </c:dPt>
          <c:dPt>
            <c:idx val="5"/>
            <c:invertIfNegative val="1"/>
            <c:bubble3D val="0"/>
            <c:spPr>
              <a:solidFill>
                <a:srgbClr val="C55A11"/>
              </a:solidFill>
            </c:spPr>
            <c:extLst>
              <c:ext xmlns:c16="http://schemas.microsoft.com/office/drawing/2014/chart" uri="{C3380CC4-5D6E-409C-BE32-E72D297353CC}">
                <c16:uniqueId val="{0000000B-BB74-43E3-BAE9-F8FF2BA25F2F}"/>
              </c:ext>
            </c:extLst>
          </c:dPt>
          <c:cat>
            <c:strLit>
              <c:ptCount val="6"/>
              <c:pt idx="0">
                <c:v>Tablets</c:v>
              </c:pt>
              <c:pt idx="1">
                <c:v>Chewables</c:v>
              </c:pt>
              <c:pt idx="2">
                <c:v>Gels and Pastes</c:v>
              </c:pt>
              <c:pt idx="3">
                <c:v>Liquids</c:v>
              </c:pt>
              <c:pt idx="4">
                <c:v>Powders and Granules</c:v>
              </c:pt>
              <c:pt idx="5">
                <c:v>Capsules and Softgels</c:v>
              </c:pt>
            </c:strLit>
          </c:cat>
          <c:val>
            <c:numLit>
              <c:formatCode>General</c:formatCode>
              <c:ptCount val="6"/>
              <c:pt idx="0">
                <c:v>73.099999999999994</c:v>
              </c:pt>
              <c:pt idx="1">
                <c:v>81</c:v>
              </c:pt>
              <c:pt idx="2">
                <c:v>91.9</c:v>
              </c:pt>
              <c:pt idx="3">
                <c:v>132.69999999999999</c:v>
              </c:pt>
              <c:pt idx="4">
                <c:v>134.80000000000001</c:v>
              </c:pt>
              <c:pt idx="5">
                <c:v>137.69999999999999</c:v>
              </c:pt>
            </c:numLit>
          </c:val>
          <c:extLst>
            <c:ext xmlns:c16="http://schemas.microsoft.com/office/drawing/2014/chart" uri="{C3380CC4-5D6E-409C-BE32-E72D297353CC}">
              <c16:uniqueId val="{0000000C-BB74-43E3-BAE9-F8FF2BA25F2F}"/>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9DEE4"/>
            </a:solidFill>
          </a:ln>
        </c:spPr>
        <c:txPr>
          <a:bodyPr/>
          <a:lstStyle/>
          <a:p>
            <a:pPr>
              <a:defRPr sz="850">
                <a:solidFill>
                  <a:srgbClr val="1F1F1F"/>
                </a:solidFill>
                <a:latin typeface="Calibri"/>
              </a:defRPr>
            </a:pPr>
            <a:endParaRPr lang="en-US"/>
          </a:p>
        </c:txPr>
        <c:crossAx val="-2113994440"/>
        <c:crosses val="autoZero"/>
        <c:auto val="1"/>
        <c:lblAlgn val="ctr"/>
        <c:lblOffset val="100"/>
        <c:tickLblSkip val="1"/>
        <c:noMultiLvlLbl val="0"/>
      </c:catAx>
      <c:valAx>
        <c:axId val="-2113994440"/>
        <c:scaling>
          <c:orientation val="minMax"/>
          <c:max val="140"/>
          <c:min val="70"/>
        </c:scaling>
        <c:delete val="1"/>
        <c:axPos val="b"/>
        <c:numFmt formatCode="General" sourceLinked="1"/>
        <c:majorTickMark val="out"/>
        <c:minorTickMark val="none"/>
        <c:tickLblPos val="none"/>
        <c:crossAx val="-2068027336"/>
        <c:crosses val="autoZero"/>
        <c:crossBetween val="between"/>
      </c:valAx>
    </c:plotArea>
    <c:plotVisOnly val="1"/>
    <c:dispBlanksAs val="gap"/>
    <c:showDLblsOverMax val="1"/>
  </c:chart>
  <c:txPr>
    <a:bodyPr/>
    <a:lstStyle/>
    <a:p>
      <a:pPr>
        <a:defRPr sz="1800"/>
      </a:pPr>
      <a:endParaRPr lang="en-US"/>
    </a:p>
  </c:txPr>
</c:chartSpace>
</file>

<file path=ppt/charts/chart1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bar"/>
        <c:grouping val="stacked"/>
        <c:varyColors val="1"/>
        <c:ser>
          <c:idx val="0"/>
          <c:order val="0"/>
          <c:tx>
            <c:v>Base</c:v>
          </c:tx>
          <c:spPr>
            <a:noFill/>
          </c:spPr>
          <c:invertIfNegative val="1"/>
          <c:cat>
            <c:strLit>
              <c:ptCount val="6"/>
              <c:pt idx="0">
                <c:v>Tablets</c:v>
              </c:pt>
              <c:pt idx="1">
                <c:v>Chewables</c:v>
              </c:pt>
              <c:pt idx="2">
                <c:v>Gels and Pastes</c:v>
              </c:pt>
              <c:pt idx="3">
                <c:v>Liquids</c:v>
              </c:pt>
              <c:pt idx="4">
                <c:v>Powders and Granules</c:v>
              </c:pt>
              <c:pt idx="5">
                <c:v>Capsules and Softgels</c:v>
              </c:pt>
            </c:strLit>
          </c:cat>
          <c:val>
            <c:numLit>
              <c:formatCode>General</c:formatCode>
              <c:ptCount val="6"/>
              <c:pt idx="0">
                <c:v>2599</c:v>
              </c:pt>
              <c:pt idx="1">
                <c:v>2839</c:v>
              </c:pt>
              <c:pt idx="2">
                <c:v>3284</c:v>
              </c:pt>
              <c:pt idx="3">
                <c:v>4900</c:v>
              </c:pt>
              <c:pt idx="4">
                <c:v>4874</c:v>
              </c:pt>
              <c:pt idx="5">
                <c:v>4972</c:v>
              </c:pt>
            </c:numLit>
          </c:val>
          <c:extLst>
            <c:ext xmlns:c16="http://schemas.microsoft.com/office/drawing/2014/chart" uri="{C3380CC4-5D6E-409C-BE32-E72D297353CC}">
              <c16:uniqueId val="{00000000-2001-4F7D-A97B-FBB1D40E2FE5}"/>
            </c:ext>
          </c:extLst>
        </c:ser>
        <c:ser>
          <c:idx val="1"/>
          <c:order val="1"/>
          <c:tx>
            <c:v>Range</c:v>
          </c:tx>
          <c:spPr>
            <a:solidFill>
              <a:srgbClr val="008189"/>
            </a:solidFill>
          </c:spPr>
          <c:invertIfNegative val="1"/>
          <c:cat>
            <c:strLit>
              <c:ptCount val="6"/>
              <c:pt idx="0">
                <c:v>Tablets</c:v>
              </c:pt>
              <c:pt idx="1">
                <c:v>Chewables</c:v>
              </c:pt>
              <c:pt idx="2">
                <c:v>Gels and Pastes</c:v>
              </c:pt>
              <c:pt idx="3">
                <c:v>Liquids</c:v>
              </c:pt>
              <c:pt idx="4">
                <c:v>Powders and Granules</c:v>
              </c:pt>
              <c:pt idx="5">
                <c:v>Capsules and Softgels</c:v>
              </c:pt>
            </c:strLit>
          </c:cat>
          <c:val>
            <c:numLit>
              <c:formatCode>General</c:formatCode>
              <c:ptCount val="6"/>
              <c:pt idx="0">
                <c:v>1148</c:v>
              </c:pt>
              <c:pt idx="1">
                <c:v>1351</c:v>
              </c:pt>
              <c:pt idx="2">
                <c:v>1412</c:v>
              </c:pt>
              <c:pt idx="3">
                <c:v>1576</c:v>
              </c:pt>
              <c:pt idx="4">
                <c:v>1856</c:v>
              </c:pt>
              <c:pt idx="5">
                <c:v>2011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001-4F7D-A97B-FBB1D40E2FE5}"/>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9DEE4"/>
            </a:solidFill>
          </a:ln>
        </c:spPr>
        <c:txPr>
          <a:bodyPr/>
          <a:lstStyle/>
          <a:p>
            <a:pPr>
              <a:defRPr sz="850">
                <a:solidFill>
                  <a:srgbClr val="1F1F1F"/>
                </a:solidFill>
                <a:latin typeface="Calibri"/>
              </a:defRPr>
            </a:pPr>
            <a:endParaRPr lang="en-US"/>
          </a:p>
        </c:txPr>
        <c:crossAx val="-2113994440"/>
        <c:crosses val="autoZero"/>
        <c:auto val="1"/>
        <c:lblAlgn val="ctr"/>
        <c:lblOffset val="100"/>
        <c:tickLblSkip val="1"/>
        <c:noMultiLvlLbl val="0"/>
      </c:catAx>
      <c:valAx>
        <c:axId val="-2113994440"/>
        <c:scaling>
          <c:orientation val="minMax"/>
          <c:max val="8000"/>
          <c:min val="2000"/>
        </c:scaling>
        <c:delete val="0"/>
        <c:axPos val="b"/>
        <c:majorGridlines>
          <c:spPr>
            <a:ln>
              <a:solidFill>
                <a:srgbClr val="D9DEE4"/>
              </a:solidFill>
            </a:ln>
          </c:spPr>
        </c:majorGridlines>
        <c:numFmt formatCode="#,##0" sourceLinked="0"/>
        <c:majorTickMark val="out"/>
        <c:minorTickMark val="none"/>
        <c:tickLblPos val="none"/>
        <c:spPr>
          <a:ln>
            <a:noFill/>
          </a:ln>
        </c:spPr>
        <c:txPr>
          <a:bodyPr/>
          <a:lstStyle/>
          <a:p>
            <a:pPr>
              <a:defRPr sz="800">
                <a:solidFill>
                  <a:srgbClr val="59636E"/>
                </a:solidFill>
                <a:latin typeface="Calibri"/>
              </a:defRPr>
            </a:pPr>
            <a:endParaRPr lang="en-US"/>
          </a:p>
        </c:txPr>
        <c:crossAx val="-2068027336"/>
        <c:crosses val="autoZero"/>
        <c:crossBetween val="between"/>
        <c:majorUnit val="2000"/>
      </c:valAx>
    </c:plotArea>
    <c:plotVisOnly val="1"/>
    <c:dispBlanksAs val="gap"/>
    <c:showDLblsOverMax val="1"/>
  </c:chart>
  <c:txPr>
    <a:bodyPr/>
    <a:lstStyle/>
    <a:p>
      <a:pPr>
        <a:defRPr sz="1800"/>
      </a:pPr>
      <a:endParaRPr lang="en-US"/>
    </a:p>
  </c:txPr>
</c:chartSpace>
</file>

<file path=ppt/charts/chart1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stacked"/>
        <c:varyColors val="1"/>
        <c:ser>
          <c:idx val="0"/>
          <c:order val="0"/>
          <c:tx>
            <c:v>Base</c:v>
          </c:tx>
          <c:spPr>
            <a:noFill/>
          </c:spPr>
          <c:invertIfNegative val="1"/>
          <c:cat>
            <c:strLit>
              <c:ptCount val="6"/>
              <c:pt idx="0">
                <c:v>North America</c:v>
              </c:pt>
              <c:pt idx="1">
                <c:v>Europe</c:v>
              </c:pt>
              <c:pt idx="2">
                <c:v>Latin America</c:v>
              </c:pt>
              <c:pt idx="3">
                <c:v>Middle East &amp; Africa</c:v>
              </c:pt>
              <c:pt idx="4">
                <c:v>East Asia</c:v>
              </c:pt>
              <c:pt idx="5">
                <c:v>South Asia &amp; Pacific</c:v>
              </c:pt>
            </c:strLit>
          </c:cat>
          <c:val>
            <c:numLit>
              <c:formatCode>General</c:formatCode>
              <c:ptCount val="6"/>
              <c:pt idx="0">
                <c:v>100.5</c:v>
              </c:pt>
              <c:pt idx="1">
                <c:v>90.6</c:v>
              </c:pt>
              <c:pt idx="2">
                <c:v>71.599999999999994</c:v>
              </c:pt>
              <c:pt idx="3">
                <c:v>67.900000000000006</c:v>
              </c:pt>
              <c:pt idx="4">
                <c:v>52.6</c:v>
              </c:pt>
              <c:pt idx="5">
                <c:v>46.6</c:v>
              </c:pt>
            </c:numLit>
          </c:val>
          <c:extLst>
            <c:ext xmlns:c16="http://schemas.microsoft.com/office/drawing/2014/chart" uri="{C3380CC4-5D6E-409C-BE32-E72D297353CC}">
              <c16:uniqueId val="{00000000-9252-4E87-B6EB-749BA27E352F}"/>
            </c:ext>
          </c:extLst>
        </c:ser>
        <c:ser>
          <c:idx val="1"/>
          <c:order val="1"/>
          <c:tx>
            <c:v>Range</c:v>
          </c:tx>
          <c:spPr>
            <a:solidFill>
              <a:srgbClr val="008189"/>
            </a:solidFill>
          </c:spPr>
          <c:invertIfNegative val="1"/>
          <c:dPt>
            <c:idx val="2"/>
            <c:invertIfNegative val="1"/>
            <c:bubble3D val="0"/>
            <c:spPr>
              <a:solidFill>
                <a:srgbClr val="5B7DB1"/>
              </a:solidFill>
            </c:spPr>
            <c:extLst>
              <c:ext xmlns:c16="http://schemas.microsoft.com/office/drawing/2014/chart" uri="{C3380CC4-5D6E-409C-BE32-E72D297353CC}">
                <c16:uniqueId val="{00000002-9252-4E87-B6EB-749BA27E352F}"/>
              </c:ext>
            </c:extLst>
          </c:dPt>
          <c:dPt>
            <c:idx val="3"/>
            <c:invertIfNegative val="1"/>
            <c:bubble3D val="0"/>
            <c:spPr>
              <a:solidFill>
                <a:srgbClr val="5B7DB1"/>
              </a:solidFill>
            </c:spPr>
            <c:extLst>
              <c:ext xmlns:c16="http://schemas.microsoft.com/office/drawing/2014/chart" uri="{C3380CC4-5D6E-409C-BE32-E72D297353CC}">
                <c16:uniqueId val="{00000004-9252-4E87-B6EB-749BA27E352F}"/>
              </c:ext>
            </c:extLst>
          </c:dPt>
          <c:dPt>
            <c:idx val="4"/>
            <c:invertIfNegative val="1"/>
            <c:bubble3D val="0"/>
            <c:spPr>
              <a:solidFill>
                <a:srgbClr val="5B7DB1"/>
              </a:solidFill>
            </c:spPr>
            <c:extLst>
              <c:ext xmlns:c16="http://schemas.microsoft.com/office/drawing/2014/chart" uri="{C3380CC4-5D6E-409C-BE32-E72D297353CC}">
                <c16:uniqueId val="{00000006-9252-4E87-B6EB-749BA27E352F}"/>
              </c:ext>
            </c:extLst>
          </c:dPt>
          <c:dPt>
            <c:idx val="5"/>
            <c:invertIfNegative val="1"/>
            <c:bubble3D val="0"/>
            <c:spPr>
              <a:solidFill>
                <a:srgbClr val="5B7DB1"/>
              </a:solidFill>
            </c:spPr>
            <c:extLst>
              <c:ext xmlns:c16="http://schemas.microsoft.com/office/drawing/2014/chart" uri="{C3380CC4-5D6E-409C-BE32-E72D297353CC}">
                <c16:uniqueId val="{00000008-9252-4E87-B6EB-749BA27E352F}"/>
              </c:ext>
            </c:extLst>
          </c:dPt>
          <c:cat>
            <c:strLit>
              <c:ptCount val="6"/>
              <c:pt idx="0">
                <c:v>North America</c:v>
              </c:pt>
              <c:pt idx="1">
                <c:v>Europe</c:v>
              </c:pt>
              <c:pt idx="2">
                <c:v>Latin America</c:v>
              </c:pt>
              <c:pt idx="3">
                <c:v>Middle East &amp; Africa</c:v>
              </c:pt>
              <c:pt idx="4">
                <c:v>East Asia</c:v>
              </c:pt>
              <c:pt idx="5">
                <c:v>South Asia &amp; Pacific</c:v>
              </c:pt>
            </c:strLit>
          </c:cat>
          <c:val>
            <c:numLit>
              <c:formatCode>General</c:formatCode>
              <c:ptCount val="6"/>
              <c:pt idx="0">
                <c:v>89.2</c:v>
              </c:pt>
              <c:pt idx="1">
                <c:v>80</c:v>
              </c:pt>
              <c:pt idx="2">
                <c:v>63.4</c:v>
              </c:pt>
              <c:pt idx="3">
                <c:v>59.4</c:v>
              </c:pt>
              <c:pt idx="4">
                <c:v>45.5</c:v>
              </c:pt>
              <c:pt idx="5">
                <c:v>41.2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9252-4E87-B6EB-749BA27E352F}"/>
            </c:ext>
          </c:extLst>
        </c:ser>
        <c:dLbls>
          <c:showLegendKey val="0"/>
          <c:showVal val="0"/>
          <c:showCatName val="0"/>
          <c:showSerName val="0"/>
          <c:showPercent val="0"/>
          <c:showBubbleSize val="0"/>
        </c:dLbls>
        <c:gapWidth val="4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4"/>
            </a:solidFill>
          </a:ln>
        </c:spPr>
        <c:txPr>
          <a:bodyPr/>
          <a:lstStyle/>
          <a:p>
            <a:pPr>
              <a:defRPr sz="850">
                <a:solidFill>
                  <a:srgbClr val="1F1F1F"/>
                </a:solidFill>
                <a:latin typeface="Calibri"/>
              </a:defRPr>
            </a:pPr>
            <a:endParaRPr lang="en-US"/>
          </a:p>
        </c:txPr>
        <c:crossAx val="-2113994440"/>
        <c:crosses val="autoZero"/>
        <c:auto val="1"/>
        <c:lblAlgn val="ctr"/>
        <c:lblOffset val="100"/>
        <c:tickLblSkip val="1"/>
        <c:noMultiLvlLbl val="0"/>
      </c:catAx>
      <c:valAx>
        <c:axId val="-2113994440"/>
        <c:scaling>
          <c:orientation val="minMax"/>
          <c:max val="190"/>
          <c:min val="45"/>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endParaRPr lang="en-US"/>
          </a:p>
        </c:txPr>
        <c:crossAx val="-2068027336"/>
        <c:crosses val="autoZero"/>
        <c:crossBetween val="between"/>
        <c:majorUnit val="10"/>
      </c:valAx>
    </c:plotArea>
    <c:plotVisOnly val="1"/>
    <c:dispBlanksAs val="gap"/>
    <c:showDLblsOverMax val="1"/>
  </c:chart>
  <c:txPr>
    <a:bodyPr/>
    <a:lstStyle/>
    <a:p>
      <a:pPr>
        <a:defRPr sz="1800"/>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40205C-9C48-4EEA-BB8E-3ACFC8CBF1DC}"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B33827-2074-4647-B58B-68B4C68F1663}" type="slidenum">
              <a:rPr lang="en-IN" smtClean="0"/>
              <a:t>‹#›</a:t>
            </a:fld>
            <a:endParaRPr lang="en-IN"/>
          </a:p>
        </p:txBody>
      </p:sp>
    </p:spTree>
    <p:extLst>
      <p:ext uri="{BB962C8B-B14F-4D97-AF65-F5344CB8AC3E}">
        <p14:creationId xmlns:p14="http://schemas.microsoft.com/office/powerpoint/2010/main" val="3824012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Signals Market Signals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Market Overview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Taxonomy Geographic Coverage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Taxonomy Market Segments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Taxonomy Company Coverage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Table of Contents  (1/8)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Table of Contents  (2/8)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Table of Contents  (3/8)</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Table of Contents  (4/8)</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Table of Contents  (5/8)</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Table of Contents  (6/8)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Table of Contents  (7/8)</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Table of Contents  (8/8)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List of Figures  (1/4)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List of Figures  (2/4)</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List of Figures  (3/4)</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List of Figures  (4/4)</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List of Tables  (1/4)</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List of Tables  (2/4)</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List of Tables  (3/4)</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List of Tables  (4/4)</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Global Market Outlook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Market Share by Leading Players Advice for Vendors &amp; Suppliers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Market Share by Leading Players Company Value Share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Market Share by Leading Players Company Share by Product Type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Market Share by Leading Players Company Share by Region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Market Share by Leading Players Who Shaped Growth</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Company Profiles &amp; Strategic Benchmarking Standard Process Snapshot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Company Profiles &amp; Strategic Benchmarking Standard Process Penetration &amp; Win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Company Profiles &amp; Strategic Benchmarking Standard Process SWOT Analysis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Company Profiles &amp; Strategic Benchmarking Standard Process Key Financials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Company Profiles &amp; Strategic Benchmarking Standard Process Strategy Analysis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 Active Ingredient Market Snapshot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 Active Ingredient Market Share Analysis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 Active Ingredient Absolute $ Opportunity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 Active Ingredient Market Snapshot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 Active Ingredient Market Share Analysis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 Active Ingredient Absolute $ Opportunity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 End-use Application Market Snapshot  (1/2)</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 End-use Application Market Snapshot  (2/2)</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 End-use Application Market Share Analysis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 End-use Application Absolute $ Opportunity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Volume Market Summary</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Pricing &amp; Price Index</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Value Market Summary</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Market Volume &amp;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Country Outlook  (1/2)</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Country Outlook  (2/2)</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Market Overview (1/4)</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Supply Side Trends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Analysis and Recommendation</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Global Overview Scenario Outlook (4/4)</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Region Global Senior Dog Cognitive Supplement – Regional Outlook</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Region Market Analysis By Region (1/2)</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Region Market Analysis By Region (2/2)</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Region Volume Share Analysis By Region</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Region Value Share Analysis By Region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Region Market Trends By Region</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Region Top Countries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By Form Type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By Active Ingredient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Market Value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Market Value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By End-use Application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Absolute $ Analysis</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By Packaging Format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By Sales Channel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Europe Market Outlook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 Active Ingredient Market Snapshot</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 Active Ingredient Market Share Analysis</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 Active Ingredient Absolute $ Opportunity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 Active Ingredient Market Snapshot</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 Active Ingredient Market Share Analysis</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 Active Ingredient Absolute $ Opportunity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 End-use Application Market Snapshot  (1/2)</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 End-use Application Market Snapshot  (2/2)</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 End-use Application Market Share Analysis</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 End-use Application Absolute $ Opportunity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Volume Market Summary</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Pricing &amp; Price Index</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Value Market Summary</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Market Volume &amp;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Country Outlook  (1/2)</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Country Outlook  (2/2)</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Market Overview (1/4)</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Supply Side Trends</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Analysis and Recommendation</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Europe Overview Scenario Outlook (4/4)</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Country Europe Senior Dog Cognitive Supplement – Country Outlook</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Country Market Analysis By Country (1/2)</a:t>
            </a: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Country Market Analysis By Country (2/2)</a:t>
            </a:r>
          </a:p>
        </p:txBody>
      </p:sp>
      <p:sp>
        <p:nvSpPr>
          <p:cNvPr id="4" name="Slide Number Placeholder 3"/>
          <p:cNvSpPr>
            <a:spLocks noGrp="1"/>
          </p:cNvSpPr>
          <p:nvPr>
            <p:ph type="sldNum" sz="quarter" idx="5"/>
          </p:nvPr>
        </p:nvSpPr>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Country Volume Share Analysis By Country</a:t>
            </a: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Country Value Share Analysis By Country</a:t>
            </a:r>
          </a:p>
        </p:txBody>
      </p:sp>
      <p:sp>
        <p:nvSpPr>
          <p:cNvPr id="4" name="Slide Number Placeholder 3"/>
          <p:cNvSpPr>
            <a:spLocks noGrp="1"/>
          </p:cNvSpPr>
          <p:nvPr>
            <p:ph type="sldNum" sz="quarter" idx="5"/>
          </p:nvPr>
        </p:nvSpPr>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Country Market Trends By Country</a:t>
            </a:r>
          </a:p>
        </p:txBody>
      </p:sp>
      <p:sp>
        <p:nvSpPr>
          <p:cNvPr id="4" name="Slide Number Placeholder 3"/>
          <p:cNvSpPr>
            <a:spLocks noGrp="1"/>
          </p:cNvSpPr>
          <p:nvPr>
            <p:ph type="sldNum" sz="quarter" idx="5"/>
          </p:nvPr>
        </p:nvSpPr>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By Country Top Countries</a:t>
            </a:r>
          </a:p>
        </p:txBody>
      </p:sp>
      <p:sp>
        <p:nvSpPr>
          <p:cNvPr id="4" name="Slide Number Placeholder 3"/>
          <p:cNvSpPr>
            <a:spLocks noGrp="1"/>
          </p:cNvSpPr>
          <p:nvPr>
            <p:ph type="sldNum" sz="quarter" idx="5"/>
          </p:nvPr>
        </p:nvSpPr>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By Form Type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Form Type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By Active Ingredient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Market Value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Market Value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Active Ingredient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By End-use Application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Absolute $ Analysis</a:t>
            </a:r>
          </a:p>
        </p:txBody>
      </p:sp>
      <p:sp>
        <p:nvSpPr>
          <p:cNvPr id="4" name="Slide Number Placeholder 3"/>
          <p:cNvSpPr>
            <a:spLocks noGrp="1"/>
          </p:cNvSpPr>
          <p:nvPr>
            <p:ph type="sldNum" sz="quarter" idx="5"/>
          </p:nvPr>
        </p:nvSpPr>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End-use Application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By Packaging Format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Packaging Format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By Sales Channel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Sales Channel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Country Market Outlook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Overview Volume Overview</a:t>
            </a:r>
          </a:p>
        </p:txBody>
      </p:sp>
      <p:sp>
        <p:nvSpPr>
          <p:cNvPr id="4" name="Slide Number Placeholder 3"/>
          <p:cNvSpPr>
            <a:spLocks noGrp="1"/>
          </p:cNvSpPr>
          <p:nvPr>
            <p:ph type="sldNum" sz="quarter" idx="5"/>
          </p:nvPr>
        </p:nvSpPr>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Overview Value Overview</a:t>
            </a:r>
          </a:p>
        </p:txBody>
      </p:sp>
      <p:sp>
        <p:nvSpPr>
          <p:cNvPr id="4" name="Slide Number Placeholder 3"/>
          <p:cNvSpPr>
            <a:spLocks noGrp="1"/>
          </p:cNvSpPr>
          <p:nvPr>
            <p:ph type="sldNum" sz="quarter" idx="5"/>
          </p:nvPr>
        </p:nvSpPr>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Overview Key Segments (Value)</a:t>
            </a:r>
          </a:p>
        </p:txBody>
      </p:sp>
      <p:sp>
        <p:nvSpPr>
          <p:cNvPr id="4" name="Slide Number Placeholder 3"/>
          <p:cNvSpPr>
            <a:spLocks noGrp="1"/>
          </p:cNvSpPr>
          <p:nvPr>
            <p:ph type="sldNum" sz="quarter" idx="5"/>
          </p:nvPr>
        </p:nvSpPr>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Form Type Segmental</a:t>
            </a:r>
          </a:p>
        </p:txBody>
      </p:sp>
      <p:sp>
        <p:nvSpPr>
          <p:cNvPr id="4" name="Slide Number Placeholder 3"/>
          <p:cNvSpPr>
            <a:spLocks noGrp="1"/>
          </p:cNvSpPr>
          <p:nvPr>
            <p:ph type="sldNum" sz="quarter" idx="5"/>
          </p:nvPr>
        </p:nvSpPr>
        <p:spPr/>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Form Type Table (Volume &amp; Value)</a:t>
            </a:r>
          </a:p>
        </p:txBody>
      </p:sp>
      <p:sp>
        <p:nvSpPr>
          <p:cNvPr id="4" name="Slide Number Placeholder 3"/>
          <p:cNvSpPr>
            <a:spLocks noGrp="1"/>
          </p:cNvSpPr>
          <p:nvPr>
            <p:ph type="sldNum" sz="quarter" idx="5"/>
          </p:nvPr>
        </p:nvSpPr>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Active Ingredient Segmental</a:t>
            </a:r>
          </a:p>
        </p:txBody>
      </p:sp>
      <p:sp>
        <p:nvSpPr>
          <p:cNvPr id="4" name="Slide Number Placeholder 3"/>
          <p:cNvSpPr>
            <a:spLocks noGrp="1"/>
          </p:cNvSpPr>
          <p:nvPr>
            <p:ph type="sldNum" sz="quarter" idx="5"/>
          </p:nvPr>
        </p:nvSpPr>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Active Ingredient Table (Volume &amp; Value)  (1/3)</a:t>
            </a:r>
          </a:p>
        </p:txBody>
      </p:sp>
      <p:sp>
        <p:nvSpPr>
          <p:cNvPr id="4" name="Slide Number Placeholder 3"/>
          <p:cNvSpPr>
            <a:spLocks noGrp="1"/>
          </p:cNvSpPr>
          <p:nvPr>
            <p:ph type="sldNum" sz="quarter" idx="5"/>
          </p:nvPr>
        </p:nvSpPr>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Active Ingredient Table (Volume &amp; Value)  (2/3)</a:t>
            </a:r>
          </a:p>
        </p:txBody>
      </p:sp>
      <p:sp>
        <p:nvSpPr>
          <p:cNvPr id="4" name="Slide Number Placeholder 3"/>
          <p:cNvSpPr>
            <a:spLocks noGrp="1"/>
          </p:cNvSpPr>
          <p:nvPr>
            <p:ph type="sldNum" sz="quarter" idx="5"/>
          </p:nvPr>
        </p:nvSpPr>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Active Ingredient Table (Volume &amp; Value)  (3/3)</a:t>
            </a:r>
          </a:p>
        </p:txBody>
      </p:sp>
      <p:sp>
        <p:nvSpPr>
          <p:cNvPr id="4" name="Slide Number Placeholder 3"/>
          <p:cNvSpPr>
            <a:spLocks noGrp="1"/>
          </p:cNvSpPr>
          <p:nvPr>
            <p:ph type="sldNum" sz="quarter" idx="5"/>
          </p:nvPr>
        </p:nvSpPr>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End-use Application Segmental</a:t>
            </a:r>
          </a:p>
        </p:txBody>
      </p:sp>
      <p:sp>
        <p:nvSpPr>
          <p:cNvPr id="4" name="Slide Number Placeholder 3"/>
          <p:cNvSpPr>
            <a:spLocks noGrp="1"/>
          </p:cNvSpPr>
          <p:nvPr>
            <p:ph type="sldNum" sz="quarter" idx="5"/>
          </p:nvPr>
        </p:nvSpPr>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End-use Application Table (Volume &amp; Value)</a:t>
            </a:r>
          </a:p>
        </p:txBody>
      </p:sp>
      <p:sp>
        <p:nvSpPr>
          <p:cNvPr id="4" name="Slide Number Placeholder 3"/>
          <p:cNvSpPr>
            <a:spLocks noGrp="1"/>
          </p:cNvSpPr>
          <p:nvPr>
            <p:ph type="sldNum" sz="quarter" idx="5"/>
          </p:nvPr>
        </p:nvSpPr>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Packaging Format Segmental</a:t>
            </a:r>
          </a:p>
        </p:txBody>
      </p:sp>
      <p:sp>
        <p:nvSpPr>
          <p:cNvPr id="4" name="Slide Number Placeholder 3"/>
          <p:cNvSpPr>
            <a:spLocks noGrp="1"/>
          </p:cNvSpPr>
          <p:nvPr>
            <p:ph type="sldNum" sz="quarter" idx="5"/>
          </p:nvPr>
        </p:nvSpPr>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Packaging Format Table (Volume &amp; Value)</a:t>
            </a:r>
          </a:p>
        </p:txBody>
      </p:sp>
      <p:sp>
        <p:nvSpPr>
          <p:cNvPr id="4" name="Slide Number Placeholder 3"/>
          <p:cNvSpPr>
            <a:spLocks noGrp="1"/>
          </p:cNvSpPr>
          <p:nvPr>
            <p:ph type="sldNum" sz="quarter" idx="5"/>
          </p:nvPr>
        </p:nvSpPr>
        <p:spPr/>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Sales Channel Segmental</a:t>
            </a:r>
          </a:p>
        </p:txBody>
      </p:sp>
      <p:sp>
        <p:nvSpPr>
          <p:cNvPr id="4" name="Slide Number Placeholder 3"/>
          <p:cNvSpPr>
            <a:spLocks noGrp="1"/>
          </p:cNvSpPr>
          <p:nvPr>
            <p:ph type="sldNum" sz="quarter" idx="5"/>
          </p:nvPr>
        </p:nvSpPr>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Country Sales Channel Table (Volume &amp; Value)</a:t>
            </a:r>
          </a:p>
        </p:txBody>
      </p:sp>
      <p:sp>
        <p:nvSpPr>
          <p:cNvPr id="4" name="Slide Number Placeholder 3"/>
          <p:cNvSpPr>
            <a:spLocks noGrp="1"/>
          </p:cNvSpPr>
          <p:nvPr>
            <p:ph type="sldNum" sz="quarter" idx="5"/>
          </p:nvPr>
        </p:nvSpPr>
        <p:spPr/>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Pricing Assessment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Product Pricing &amp; Regional Price Index Trends</a:t>
            </a:r>
          </a:p>
        </p:txBody>
      </p:sp>
      <p:sp>
        <p:nvSpPr>
          <p:cNvPr id="4" name="Slide Number Placeholder 3"/>
          <p:cNvSpPr>
            <a:spLocks noGrp="1"/>
          </p:cNvSpPr>
          <p:nvPr>
            <p:ph type="sldNum" sz="quarter" idx="5"/>
          </p:nvPr>
        </p:nvSpPr>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Global Pricing Assessment</a:t>
            </a:r>
          </a:p>
        </p:txBody>
      </p:sp>
      <p:sp>
        <p:nvSpPr>
          <p:cNvPr id="4" name="Slide Number Placeholder 3"/>
          <p:cNvSpPr>
            <a:spLocks noGrp="1"/>
          </p:cNvSpPr>
          <p:nvPr>
            <p:ph type="sldNum" sz="quarter" idx="5"/>
          </p:nvPr>
        </p:nvSpPr>
        <p:spPr/>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Global Pricing Assessment</a:t>
            </a:r>
          </a:p>
        </p:txBody>
      </p:sp>
      <p:sp>
        <p:nvSpPr>
          <p:cNvPr id="4" name="Slide Number Placeholder 3"/>
          <p:cNvSpPr>
            <a:spLocks noGrp="1"/>
          </p:cNvSpPr>
          <p:nvPr>
            <p:ph type="sldNum" sz="quarter" idx="5"/>
          </p:nvPr>
        </p:nvSpPr>
        <p:spPr/>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Global Pricing Assessment</a:t>
            </a:r>
          </a:p>
        </p:txBody>
      </p:sp>
      <p:sp>
        <p:nvSpPr>
          <p:cNvPr id="4" name="Slide Number Placeholder 3"/>
          <p:cNvSpPr>
            <a:spLocks noGrp="1"/>
          </p:cNvSpPr>
          <p:nvPr>
            <p:ph type="sldNum" sz="quarter" idx="5"/>
          </p:nvPr>
        </p:nvSpPr>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Price Positioning &amp; Key Findings</a:t>
            </a:r>
          </a:p>
        </p:txBody>
      </p:sp>
      <p:sp>
        <p:nvSpPr>
          <p:cNvPr id="4" name="Slide Number Placeholder 3"/>
          <p:cNvSpPr>
            <a:spLocks noGrp="1"/>
          </p:cNvSpPr>
          <p:nvPr>
            <p:ph type="sldNum" sz="quarter" idx="5"/>
          </p:nvPr>
        </p:nvSpPr>
        <p:spPr/>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Key Pricing Drivers</a:t>
            </a:r>
          </a:p>
        </p:txBody>
      </p:sp>
      <p:sp>
        <p:nvSpPr>
          <p:cNvPr id="4" name="Slide Number Placeholder 3"/>
          <p:cNvSpPr>
            <a:spLocks noGrp="1"/>
          </p:cNvSpPr>
          <p:nvPr>
            <p:ph type="sldNum" sz="quarter" idx="5"/>
          </p:nvPr>
        </p:nvSpPr>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Factors Impacting Pricing</a:t>
            </a:r>
          </a:p>
        </p:txBody>
      </p:sp>
      <p:sp>
        <p:nvSpPr>
          <p:cNvPr id="4" name="Slide Number Placeholder 3"/>
          <p:cNvSpPr>
            <a:spLocks noGrp="1"/>
          </p:cNvSpPr>
          <p:nvPr>
            <p:ph type="sldNum" sz="quarter" idx="5"/>
          </p:nvPr>
        </p:nvSpPr>
        <p:spPr/>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Regional Price Assessment</a:t>
            </a:r>
          </a:p>
        </p:txBody>
      </p:sp>
      <p:sp>
        <p:nvSpPr>
          <p:cNvPr id="4" name="Slide Number Placeholder 3"/>
          <p:cNvSpPr>
            <a:spLocks noGrp="1"/>
          </p:cNvSpPr>
          <p:nvPr>
            <p:ph type="sldNum" sz="quarter" idx="5"/>
          </p:nvPr>
        </p:nvSpPr>
        <p:spPr/>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Global Pricing Benchmarking</a:t>
            </a:r>
          </a:p>
        </p:txBody>
      </p:sp>
      <p:sp>
        <p:nvSpPr>
          <p:cNvPr id="4" name="Slide Number Placeholder 3"/>
          <p:cNvSpPr>
            <a:spLocks noGrp="1"/>
          </p:cNvSpPr>
          <p:nvPr>
            <p:ph type="sldNum" sz="quarter" idx="5"/>
          </p:nvPr>
        </p:nvSpPr>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Price Forecast &amp; Dynamics  (1/2)</a:t>
            </a:r>
          </a:p>
        </p:txBody>
      </p:sp>
      <p:sp>
        <p:nvSpPr>
          <p:cNvPr id="4" name="Slide Number Placeholder 3"/>
          <p:cNvSpPr>
            <a:spLocks noGrp="1"/>
          </p:cNvSpPr>
          <p:nvPr>
            <p:ph type="sldNum" sz="quarter" idx="5"/>
          </p:nvPr>
        </p:nvSpPr>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Price Forecast &amp; Dynamics  (2/2)</a:t>
            </a:r>
          </a:p>
        </p:txBody>
      </p:sp>
      <p:sp>
        <p:nvSpPr>
          <p:cNvPr id="4" name="Slide Number Placeholder 3"/>
          <p:cNvSpPr>
            <a:spLocks noGrp="1"/>
          </p:cNvSpPr>
          <p:nvPr>
            <p:ph type="sldNum" sz="quarter" idx="5"/>
          </p:nvPr>
        </p:nvSpPr>
        <p:spPr/>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Pricing Competitor Pricing Strategies</a:t>
            </a:r>
          </a:p>
        </p:txBody>
      </p:sp>
      <p:sp>
        <p:nvSpPr>
          <p:cNvPr id="4" name="Slide Number Placeholder 3"/>
          <p:cNvSpPr>
            <a:spLocks noGrp="1"/>
          </p:cNvSpPr>
          <p:nvPr>
            <p:ph type="sldNum" sz="quarter" idx="5"/>
          </p:nvPr>
        </p:nvSpPr>
        <p:spPr/>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Supply Chain Analysis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Supply Chain Analysis Value Chain &amp; Stakeholder Mapping</a:t>
            </a:r>
          </a:p>
        </p:txBody>
      </p:sp>
      <p:sp>
        <p:nvSpPr>
          <p:cNvPr id="4" name="Slide Number Placeholder 3"/>
          <p:cNvSpPr>
            <a:spLocks noGrp="1"/>
          </p:cNvSpPr>
          <p:nvPr>
            <p:ph type="sldNum" sz="quarter" idx="5"/>
          </p:nvPr>
        </p:nvSpPr>
        <p:spPr/>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Supply Chain Analysis Operating Margin Analysis</a:t>
            </a:r>
          </a:p>
        </p:txBody>
      </p:sp>
      <p:sp>
        <p:nvSpPr>
          <p:cNvPr id="4" name="Slide Number Placeholder 3"/>
          <p:cNvSpPr>
            <a:spLocks noGrp="1"/>
          </p:cNvSpPr>
          <p:nvPr>
            <p:ph type="sldNum" sz="quarter" idx="5"/>
          </p:nvPr>
        </p:nvSpPr>
        <p:spPr/>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Supply Chain Analysis Buyers Assessment</a:t>
            </a:r>
          </a:p>
        </p:txBody>
      </p:sp>
      <p:sp>
        <p:nvSpPr>
          <p:cNvPr id="4" name="Slide Number Placeholder 3"/>
          <p:cNvSpPr>
            <a:spLocks noGrp="1"/>
          </p:cNvSpPr>
          <p:nvPr>
            <p:ph type="sldNum" sz="quarter" idx="5"/>
          </p:nvPr>
        </p:nvSpPr>
        <p:spPr/>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Market Dynamics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Dynamics Market Dynamics &amp; Forces Market Dynamics by Geography</a:t>
            </a:r>
          </a:p>
        </p:txBody>
      </p:sp>
      <p:sp>
        <p:nvSpPr>
          <p:cNvPr id="4" name="Slide Number Placeholder 3"/>
          <p:cNvSpPr>
            <a:spLocks noGrp="1"/>
          </p:cNvSpPr>
          <p:nvPr>
            <p:ph type="sldNum" sz="quarter" idx="5"/>
          </p:nvPr>
        </p:nvSpPr>
        <p:spPr/>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Dynamics Market Dynamics &amp; Forces Driving Factors Supply Side (1/2)</a:t>
            </a:r>
          </a:p>
        </p:txBody>
      </p:sp>
      <p:sp>
        <p:nvSpPr>
          <p:cNvPr id="4" name="Slide Number Placeholder 3"/>
          <p:cNvSpPr>
            <a:spLocks noGrp="1"/>
          </p:cNvSpPr>
          <p:nvPr>
            <p:ph type="sldNum" sz="quarter" idx="5"/>
          </p:nvPr>
        </p:nvSpPr>
        <p:spPr/>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Dynamics Market Dynamics &amp; Forces Driving Factors Demand Side (2/2)</a:t>
            </a:r>
          </a:p>
        </p:txBody>
      </p:sp>
      <p:sp>
        <p:nvSpPr>
          <p:cNvPr id="4" name="Slide Number Placeholder 3"/>
          <p:cNvSpPr>
            <a:spLocks noGrp="1"/>
          </p:cNvSpPr>
          <p:nvPr>
            <p:ph type="sldNum" sz="quarter" idx="5"/>
          </p:nvPr>
        </p:nvSpPr>
        <p:spPr/>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Dynamics Market Dynamics &amp; Forces Market Restraints</a:t>
            </a:r>
          </a:p>
        </p:txBody>
      </p:sp>
      <p:sp>
        <p:nvSpPr>
          <p:cNvPr id="4" name="Slide Number Placeholder 3"/>
          <p:cNvSpPr>
            <a:spLocks noGrp="1"/>
          </p:cNvSpPr>
          <p:nvPr>
            <p:ph type="sldNum" sz="quarter" idx="5"/>
          </p:nvPr>
        </p:nvSpPr>
        <p:spPr/>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Dynamics Market Dynamics &amp; Forces Market Opportunities</a:t>
            </a:r>
          </a:p>
        </p:txBody>
      </p:sp>
      <p:sp>
        <p:nvSpPr>
          <p:cNvPr id="4" name="Slide Number Placeholder 3"/>
          <p:cNvSpPr>
            <a:spLocks noGrp="1"/>
          </p:cNvSpPr>
          <p:nvPr>
            <p:ph type="sldNum" sz="quarter" idx="5"/>
          </p:nvPr>
        </p:nvSpPr>
        <p:spPr/>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Dynamics Market Dynamics &amp; Forces Recent Developments &amp; Milestones</a:t>
            </a:r>
          </a:p>
        </p:txBody>
      </p:sp>
      <p:sp>
        <p:nvSpPr>
          <p:cNvPr id="4" name="Slide Number Placeholder 3"/>
          <p:cNvSpPr>
            <a:spLocks noGrp="1"/>
          </p:cNvSpPr>
          <p:nvPr>
            <p:ph type="sldNum" sz="quarter" idx="5"/>
          </p:nvPr>
        </p:nvSpPr>
        <p:spPr/>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Market Dynamics Market Dynamics &amp; Forces Five Forces Analysis</a:t>
            </a:r>
          </a:p>
        </p:txBody>
      </p:sp>
      <p:sp>
        <p:nvSpPr>
          <p:cNvPr id="4" name="Slide Number Placeholder 3"/>
          <p:cNvSpPr>
            <a:spLocks noGrp="1"/>
          </p:cNvSpPr>
          <p:nvPr>
            <p:ph type="sldNum" sz="quarter" idx="5"/>
          </p:nvPr>
        </p:nvSpPr>
        <p:spPr/>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Competition Assessment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Competitive Landscape at a Glance</a:t>
            </a:r>
          </a:p>
        </p:txBody>
      </p:sp>
      <p:sp>
        <p:nvSpPr>
          <p:cNvPr id="4" name="Slide Number Placeholder 3"/>
          <p:cNvSpPr>
            <a:spLocks noGrp="1"/>
          </p:cNvSpPr>
          <p:nvPr>
            <p:ph type="sldNum" sz="quarter" idx="5"/>
          </p:nvPr>
        </p:nvSpPr>
        <p:spPr/>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Segment Leadership Map</a:t>
            </a:r>
          </a:p>
        </p:txBody>
      </p:sp>
      <p:sp>
        <p:nvSpPr>
          <p:cNvPr id="4" name="Slide Number Placeholder 3"/>
          <p:cNvSpPr>
            <a:spLocks noGrp="1"/>
          </p:cNvSpPr>
          <p:nvPr>
            <p:ph type="sldNum" sz="quarter" idx="5"/>
          </p:nvPr>
        </p:nvSpPr>
        <p:spPr/>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Value Chain Positioning</a:t>
            </a:r>
          </a:p>
        </p:txBody>
      </p:sp>
      <p:sp>
        <p:nvSpPr>
          <p:cNvPr id="4" name="Slide Number Placeholder 3"/>
          <p:cNvSpPr>
            <a:spLocks noGrp="1"/>
          </p:cNvSpPr>
          <p:nvPr>
            <p:ph type="sldNum" sz="quarter" idx="5"/>
          </p:nvPr>
        </p:nvSpPr>
        <p:spPr/>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Player Landscape</a:t>
            </a:r>
          </a:p>
        </p:txBody>
      </p:sp>
      <p:sp>
        <p:nvSpPr>
          <p:cNvPr id="4" name="Slide Number Placeholder 3"/>
          <p:cNvSpPr>
            <a:spLocks noGrp="1"/>
          </p:cNvSpPr>
          <p:nvPr>
            <p:ph type="sldNum" sz="quarter" idx="5"/>
          </p:nvPr>
        </p:nvSpPr>
        <p:spPr/>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Corporate Scorecard</a:t>
            </a:r>
          </a:p>
        </p:txBody>
      </p:sp>
      <p:sp>
        <p:nvSpPr>
          <p:cNvPr id="4" name="Slide Number Placeholder 3"/>
          <p:cNvSpPr>
            <a:spLocks noGrp="1"/>
          </p:cNvSpPr>
          <p:nvPr>
            <p:ph type="sldNum" sz="quarter" idx="5"/>
          </p:nvPr>
        </p:nvSpPr>
        <p:spPr/>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Offering Scorecard</a:t>
            </a:r>
          </a:p>
        </p:txBody>
      </p:sp>
      <p:sp>
        <p:nvSpPr>
          <p:cNvPr id="4" name="Slide Number Placeholder 3"/>
          <p:cNvSpPr>
            <a:spLocks noGrp="1"/>
          </p:cNvSpPr>
          <p:nvPr>
            <p:ph type="sldNum" sz="quarter" idx="5"/>
          </p:nvPr>
        </p:nvSpPr>
        <p:spPr/>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Execution Scorecard</a:t>
            </a:r>
          </a:p>
        </p:txBody>
      </p:sp>
      <p:sp>
        <p:nvSpPr>
          <p:cNvPr id="4" name="Slide Number Placeholder 3"/>
          <p:cNvSpPr>
            <a:spLocks noGrp="1"/>
          </p:cNvSpPr>
          <p:nvPr>
            <p:ph type="sldNum" sz="quarter" idx="5"/>
          </p:nvPr>
        </p:nvSpPr>
        <p:spPr/>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Success Factors</a:t>
            </a:r>
          </a:p>
        </p:txBody>
      </p:sp>
      <p:sp>
        <p:nvSpPr>
          <p:cNvPr id="4" name="Slide Number Placeholder 3"/>
          <p:cNvSpPr>
            <a:spLocks noGrp="1"/>
          </p:cNvSpPr>
          <p:nvPr>
            <p:ph type="sldNum" sz="quarter" idx="5"/>
          </p:nvPr>
        </p:nvSpPr>
        <p:spPr/>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Strategic Activity Tracker</a:t>
            </a:r>
          </a:p>
        </p:txBody>
      </p:sp>
      <p:sp>
        <p:nvSpPr>
          <p:cNvPr id="4" name="Slide Number Placeholder 3"/>
          <p:cNvSpPr>
            <a:spLocks noGrp="1"/>
          </p:cNvSpPr>
          <p:nvPr>
            <p:ph type="sldNum" sz="quarter" idx="5"/>
          </p:nvPr>
        </p:nvSpPr>
        <p:spPr/>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Strategic Activity by Function</a:t>
            </a:r>
          </a:p>
        </p:txBody>
      </p:sp>
      <p:sp>
        <p:nvSpPr>
          <p:cNvPr id="4" name="Slide Number Placeholder 3"/>
          <p:cNvSpPr>
            <a:spLocks noGrp="1"/>
          </p:cNvSpPr>
          <p:nvPr>
            <p:ph type="sldNum" sz="quarter" idx="5"/>
          </p:nvPr>
        </p:nvSpPr>
        <p:spPr/>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Industry Structure Landscape  (1/2)</a:t>
            </a:r>
          </a:p>
        </p:txBody>
      </p:sp>
      <p:sp>
        <p:nvSpPr>
          <p:cNvPr id="4" name="Slide Number Placeholder 3"/>
          <p:cNvSpPr>
            <a:spLocks noGrp="1"/>
          </p:cNvSpPr>
          <p:nvPr>
            <p:ph type="sldNum" sz="quarter" idx="5"/>
          </p:nvPr>
        </p:nvSpPr>
        <p:spPr/>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Industry Structure Landscape  (2/2)</a:t>
            </a:r>
          </a:p>
        </p:txBody>
      </p:sp>
      <p:sp>
        <p:nvSpPr>
          <p:cNvPr id="4" name="Slide Number Placeholder 3"/>
          <p:cNvSpPr>
            <a:spLocks noGrp="1"/>
          </p:cNvSpPr>
          <p:nvPr>
            <p:ph type="sldNum" sz="quarter" idx="5"/>
          </p:nvPr>
        </p:nvSpPr>
        <p:spPr/>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 Dog Cognitive Supplement Market Competitor Competitive Landscape Competitive Dashboard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 Target="slide28.xml"/><Relationship Id="rId13" Type="http://schemas.openxmlformats.org/officeDocument/2006/relationships/slide" Target="slide110.xml"/><Relationship Id="rId18" Type="http://schemas.openxmlformats.org/officeDocument/2006/relationships/slide" Target="slide180.xml"/><Relationship Id="rId26" Type="http://schemas.openxmlformats.org/officeDocument/2006/relationships/slide" Target="slide231.xml"/><Relationship Id="rId3" Type="http://schemas.openxmlformats.org/officeDocument/2006/relationships/slide" Target="slide3.xml"/><Relationship Id="rId21" Type="http://schemas.openxmlformats.org/officeDocument/2006/relationships/slide" Target="slide203.xml"/><Relationship Id="rId7" Type="http://schemas.openxmlformats.org/officeDocument/2006/relationships/slide" Target="slide19.xml"/><Relationship Id="rId12" Type="http://schemas.openxmlformats.org/officeDocument/2006/relationships/slide" Target="slide41.xml"/><Relationship Id="rId17" Type="http://schemas.openxmlformats.org/officeDocument/2006/relationships/slide" Target="slide111.xml"/><Relationship Id="rId25" Type="http://schemas.openxmlformats.org/officeDocument/2006/relationships/slide" Target="slide223.xml"/><Relationship Id="rId2" Type="http://schemas.openxmlformats.org/officeDocument/2006/relationships/image" Target="../media/image5.png"/><Relationship Id="rId16" Type="http://schemas.openxmlformats.org/officeDocument/2006/relationships/slide" Target="slide144.xml"/><Relationship Id="rId20" Type="http://schemas.openxmlformats.org/officeDocument/2006/relationships/slide" Target="slide185.xml"/><Relationship Id="rId29" Type="http://schemas.openxmlformats.org/officeDocument/2006/relationships/slide" Target="slide35.xml"/><Relationship Id="rId1" Type="http://schemas.openxmlformats.org/officeDocument/2006/relationships/slideLayout" Target="../slideLayouts/slideLayout7.xml"/><Relationship Id="rId6" Type="http://schemas.openxmlformats.org/officeDocument/2006/relationships/slide" Target="slide10.xml"/><Relationship Id="rId11" Type="http://schemas.openxmlformats.org/officeDocument/2006/relationships/slide" Target="slide74.xml"/><Relationship Id="rId24" Type="http://schemas.openxmlformats.org/officeDocument/2006/relationships/slide" Target="slide222.xml"/><Relationship Id="rId5" Type="http://schemas.openxmlformats.org/officeDocument/2006/relationships/slide" Target="slide6.xml"/><Relationship Id="rId15" Type="http://schemas.openxmlformats.org/officeDocument/2006/relationships/slide" Target="slide136.xml"/><Relationship Id="rId23" Type="http://schemas.openxmlformats.org/officeDocument/2006/relationships/slide" Target="slide218.xml"/><Relationship Id="rId28" Type="http://schemas.openxmlformats.org/officeDocument/2006/relationships/slide" Target="slide29.xml"/><Relationship Id="rId10" Type="http://schemas.openxmlformats.org/officeDocument/2006/relationships/slide" Target="slide66.xml"/><Relationship Id="rId19" Type="http://schemas.openxmlformats.org/officeDocument/2006/relationships/slide" Target="slide181.xml"/><Relationship Id="rId4" Type="http://schemas.openxmlformats.org/officeDocument/2006/relationships/slide" Target="slide5.xml"/><Relationship Id="rId9" Type="http://schemas.openxmlformats.org/officeDocument/2006/relationships/slide" Target="slide55.xml"/><Relationship Id="rId14" Type="http://schemas.openxmlformats.org/officeDocument/2006/relationships/slide" Target="slide125.xml"/><Relationship Id="rId22" Type="http://schemas.openxmlformats.org/officeDocument/2006/relationships/slide" Target="slide204.xml"/><Relationship Id="rId27" Type="http://schemas.openxmlformats.org/officeDocument/2006/relationships/slide" Target="slide23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1.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3.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4.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6.xml"/><Relationship Id="rId4" Type="http://schemas.openxmlformats.org/officeDocument/2006/relationships/chart" Target="../charts/chart15.xml"/></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8.xml"/><Relationship Id="rId4" Type="http://schemas.openxmlformats.org/officeDocument/2006/relationships/chart" Target="../charts/chart17.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20.xml"/><Relationship Id="rId4" Type="http://schemas.openxmlformats.org/officeDocument/2006/relationships/chart" Target="../charts/chart19.xml"/></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22.xml"/><Relationship Id="rId4" Type="http://schemas.openxmlformats.org/officeDocument/2006/relationships/chart" Target="../charts/chart21.xml"/></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23.xml"/></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24.xml"/></Relationships>
</file>

<file path=ppt/slides/_rels/slide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png"/><Relationship Id="rId18" Type="http://schemas.openxmlformats.org/officeDocument/2006/relationships/image" Target="../media/image157.png"/><Relationship Id="rId3" Type="http://schemas.openxmlformats.org/officeDocument/2006/relationships/image" Target="../media/image5.png"/><Relationship Id="rId21" Type="http://schemas.openxmlformats.org/officeDocument/2006/relationships/image" Target="../media/image160.png"/><Relationship Id="rId7" Type="http://schemas.openxmlformats.org/officeDocument/2006/relationships/image" Target="../media/image146.png"/><Relationship Id="rId12" Type="http://schemas.openxmlformats.org/officeDocument/2006/relationships/image" Target="../media/image151.png"/><Relationship Id="rId17" Type="http://schemas.openxmlformats.org/officeDocument/2006/relationships/image" Target="../media/image156.png"/><Relationship Id="rId2" Type="http://schemas.openxmlformats.org/officeDocument/2006/relationships/notesSlide" Target="../notesSlides/notesSlide53.xml"/><Relationship Id="rId16" Type="http://schemas.openxmlformats.org/officeDocument/2006/relationships/image" Target="../media/image155.png"/><Relationship Id="rId20" Type="http://schemas.openxmlformats.org/officeDocument/2006/relationships/image" Target="../media/image159.png"/><Relationship Id="rId1" Type="http://schemas.openxmlformats.org/officeDocument/2006/relationships/slideLayout" Target="../slideLayouts/slideLayout7.xml"/><Relationship Id="rId6" Type="http://schemas.openxmlformats.org/officeDocument/2006/relationships/image" Target="../media/image145.png"/><Relationship Id="rId11" Type="http://schemas.openxmlformats.org/officeDocument/2006/relationships/image" Target="../media/image150.png"/><Relationship Id="rId5" Type="http://schemas.openxmlformats.org/officeDocument/2006/relationships/image" Target="../media/image144.png"/><Relationship Id="rId15" Type="http://schemas.openxmlformats.org/officeDocument/2006/relationships/image" Target="../media/image154.png"/><Relationship Id="rId10" Type="http://schemas.openxmlformats.org/officeDocument/2006/relationships/image" Target="../media/image149.png"/><Relationship Id="rId19" Type="http://schemas.openxmlformats.org/officeDocument/2006/relationships/image" Target="../media/image158.png"/><Relationship Id="rId4" Type="http://schemas.openxmlformats.org/officeDocument/2006/relationships/image" Target="../media/image143.png"/><Relationship Id="rId9" Type="http://schemas.openxmlformats.org/officeDocument/2006/relationships/image" Target="../media/image148.png"/><Relationship Id="rId14" Type="http://schemas.openxmlformats.org/officeDocument/2006/relationships/image" Target="../media/image153.png"/><Relationship Id="rId22" Type="http://schemas.openxmlformats.org/officeDocument/2006/relationships/image" Target="../media/image6.png"/></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7.xml"/><Relationship Id="rId6" Type="http://schemas.openxmlformats.org/officeDocument/2006/relationships/image" Target="../media/image170.png"/><Relationship Id="rId5" Type="http://schemas.openxmlformats.org/officeDocument/2006/relationships/image" Target="../media/image6.png"/><Relationship Id="rId4" Type="http://schemas.openxmlformats.org/officeDocument/2006/relationships/chart" Target="../charts/chart25.xml"/></Relationships>
</file>

<file path=ppt/slides/_rels/slide69.xml.rels><?xml version="1.0" encoding="UTF-8" standalone="yes"?>
<Relationships xmlns="http://schemas.openxmlformats.org/package/2006/relationships"><Relationship Id="rId8" Type="http://schemas.openxmlformats.org/officeDocument/2006/relationships/image" Target="../media/image181.png"/><Relationship Id="rId3" Type="http://schemas.openxmlformats.org/officeDocument/2006/relationships/image" Target="../media/image5.png"/><Relationship Id="rId7" Type="http://schemas.openxmlformats.org/officeDocument/2006/relationships/image" Target="../media/image180.png"/><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image" Target="../media/image179.png"/><Relationship Id="rId5" Type="http://schemas.openxmlformats.org/officeDocument/2006/relationships/image" Target="../media/image6.png"/><Relationship Id="rId4" Type="http://schemas.openxmlformats.org/officeDocument/2006/relationships/chart" Target="../charts/chart26.xml"/></Relationships>
</file>

<file path=ppt/slides/_rels/slide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8.xml"/><Relationship Id="rId1" Type="http://schemas.openxmlformats.org/officeDocument/2006/relationships/slideLayout" Target="../slideLayouts/slideLayout7.xml"/><Relationship Id="rId5" Type="http://schemas.openxmlformats.org/officeDocument/2006/relationships/chart" Target="../charts/chart28.xml"/><Relationship Id="rId4" Type="http://schemas.openxmlformats.org/officeDocument/2006/relationships/chart" Target="../charts/chart27.xml"/></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89.png"/><Relationship Id="rId18" Type="http://schemas.openxmlformats.org/officeDocument/2006/relationships/image" Target="../media/image194.png"/><Relationship Id="rId3" Type="http://schemas.openxmlformats.org/officeDocument/2006/relationships/image" Target="../media/image5.png"/><Relationship Id="rId21" Type="http://schemas.openxmlformats.org/officeDocument/2006/relationships/image" Target="../media/image196.png"/><Relationship Id="rId7" Type="http://schemas.openxmlformats.org/officeDocument/2006/relationships/image" Target="../media/image184.png"/><Relationship Id="rId12" Type="http://schemas.openxmlformats.org/officeDocument/2006/relationships/image" Target="../media/image188.png"/><Relationship Id="rId17" Type="http://schemas.openxmlformats.org/officeDocument/2006/relationships/image" Target="../media/image193.png"/><Relationship Id="rId2" Type="http://schemas.openxmlformats.org/officeDocument/2006/relationships/notesSlide" Target="../notesSlides/notesSlide60.xml"/><Relationship Id="rId16" Type="http://schemas.openxmlformats.org/officeDocument/2006/relationships/image" Target="../media/image192.png"/><Relationship Id="rId20" Type="http://schemas.openxmlformats.org/officeDocument/2006/relationships/image" Target="../media/image140.png"/><Relationship Id="rId1" Type="http://schemas.openxmlformats.org/officeDocument/2006/relationships/slideLayout" Target="../slideLayouts/slideLayout7.xml"/><Relationship Id="rId6" Type="http://schemas.openxmlformats.org/officeDocument/2006/relationships/image" Target="../media/image157.png"/><Relationship Id="rId11" Type="http://schemas.openxmlformats.org/officeDocument/2006/relationships/image" Target="../media/image187.png"/><Relationship Id="rId5" Type="http://schemas.openxmlformats.org/officeDocument/2006/relationships/image" Target="../media/image183.png"/><Relationship Id="rId15" Type="http://schemas.openxmlformats.org/officeDocument/2006/relationships/image" Target="../media/image191.png"/><Relationship Id="rId10" Type="http://schemas.openxmlformats.org/officeDocument/2006/relationships/image" Target="../media/image186.png"/><Relationship Id="rId19" Type="http://schemas.openxmlformats.org/officeDocument/2006/relationships/image" Target="../media/image195.png"/><Relationship Id="rId4" Type="http://schemas.openxmlformats.org/officeDocument/2006/relationships/image" Target="../media/image182.png"/><Relationship Id="rId9" Type="http://schemas.openxmlformats.org/officeDocument/2006/relationships/image" Target="../media/image170.png"/><Relationship Id="rId14" Type="http://schemas.openxmlformats.org/officeDocument/2006/relationships/image" Target="../media/image190.png"/><Relationship Id="rId22"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30.xml"/><Relationship Id="rId4" Type="http://schemas.openxmlformats.org/officeDocument/2006/relationships/chart" Target="../charts/chart29.xml"/></Relationships>
</file>

<file path=ppt/slides/_rels/slide7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34.xml"/><Relationship Id="rId2" Type="http://schemas.openxmlformats.org/officeDocument/2006/relationships/notesSlide" Target="../notesSlides/notesSlide62.xml"/><Relationship Id="rId1" Type="http://schemas.openxmlformats.org/officeDocument/2006/relationships/slideLayout" Target="../slideLayouts/slideLayout7.xml"/><Relationship Id="rId6" Type="http://schemas.openxmlformats.org/officeDocument/2006/relationships/chart" Target="../charts/chart33.xml"/><Relationship Id="rId5" Type="http://schemas.openxmlformats.org/officeDocument/2006/relationships/chart" Target="../charts/chart32.xml"/><Relationship Id="rId4" Type="http://schemas.openxmlformats.org/officeDocument/2006/relationships/chart" Target="../charts/chart31.xml"/></Relationships>
</file>

<file path=ppt/slides/_rels/slide7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36.xml"/><Relationship Id="rId4" Type="http://schemas.openxmlformats.org/officeDocument/2006/relationships/chart" Target="../charts/chart35.xml"/></Relationships>
</file>

<file path=ppt/slides/_rels/slide8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37.xml"/></Relationships>
</file>

<file path=ppt/slides/_rels/slide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8" Type="http://schemas.openxmlformats.org/officeDocument/2006/relationships/image" Target="../media/image231.png"/><Relationship Id="rId13" Type="http://schemas.openxmlformats.org/officeDocument/2006/relationships/image" Target="../media/image236.png"/><Relationship Id="rId18" Type="http://schemas.openxmlformats.org/officeDocument/2006/relationships/image" Target="../media/image239.png"/><Relationship Id="rId3" Type="http://schemas.openxmlformats.org/officeDocument/2006/relationships/image" Target="../media/image5.png"/><Relationship Id="rId21" Type="http://schemas.openxmlformats.org/officeDocument/2006/relationships/image" Target="../media/image6.png"/><Relationship Id="rId7" Type="http://schemas.openxmlformats.org/officeDocument/2006/relationships/image" Target="../media/image230.png"/><Relationship Id="rId12" Type="http://schemas.openxmlformats.org/officeDocument/2006/relationships/image" Target="../media/image235.png"/><Relationship Id="rId17" Type="http://schemas.openxmlformats.org/officeDocument/2006/relationships/image" Target="../media/image145.png"/><Relationship Id="rId2" Type="http://schemas.openxmlformats.org/officeDocument/2006/relationships/notesSlide" Target="../notesSlides/notesSlide66.xml"/><Relationship Id="rId16" Type="http://schemas.openxmlformats.org/officeDocument/2006/relationships/image" Target="../media/image238.png"/><Relationship Id="rId20" Type="http://schemas.openxmlformats.org/officeDocument/2006/relationships/image" Target="../media/image241.png"/><Relationship Id="rId1" Type="http://schemas.openxmlformats.org/officeDocument/2006/relationships/slideLayout" Target="../slideLayouts/slideLayout7.xml"/><Relationship Id="rId6" Type="http://schemas.openxmlformats.org/officeDocument/2006/relationships/image" Target="../media/image157.png"/><Relationship Id="rId11" Type="http://schemas.openxmlformats.org/officeDocument/2006/relationships/image" Target="../media/image234.png"/><Relationship Id="rId5" Type="http://schemas.openxmlformats.org/officeDocument/2006/relationships/image" Target="../media/image229.png"/><Relationship Id="rId15" Type="http://schemas.openxmlformats.org/officeDocument/2006/relationships/image" Target="../media/image237.png"/><Relationship Id="rId10" Type="http://schemas.openxmlformats.org/officeDocument/2006/relationships/image" Target="../media/image233.png"/><Relationship Id="rId19" Type="http://schemas.openxmlformats.org/officeDocument/2006/relationships/image" Target="../media/image240.png"/><Relationship Id="rId4" Type="http://schemas.openxmlformats.org/officeDocument/2006/relationships/image" Target="../media/image228.png"/><Relationship Id="rId9" Type="http://schemas.openxmlformats.org/officeDocument/2006/relationships/image" Target="../media/image232.png"/><Relationship Id="rId14" Type="http://schemas.openxmlformats.org/officeDocument/2006/relationships/image" Target="../media/image170.png"/></Relationships>
</file>

<file path=ppt/slides/_rels/slide8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39.xml"/><Relationship Id="rId4" Type="http://schemas.openxmlformats.org/officeDocument/2006/relationships/chart" Target="../charts/chart38.xml"/></Relationships>
</file>

<file path=ppt/slides/_rels/slide8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43.xml"/><Relationship Id="rId2" Type="http://schemas.openxmlformats.org/officeDocument/2006/relationships/notesSlide" Target="../notesSlides/notesSlide68.xml"/><Relationship Id="rId1" Type="http://schemas.openxmlformats.org/officeDocument/2006/relationships/slideLayout" Target="../slideLayouts/slideLayout7.xml"/><Relationship Id="rId6" Type="http://schemas.openxmlformats.org/officeDocument/2006/relationships/chart" Target="../charts/chart42.xml"/><Relationship Id="rId5" Type="http://schemas.openxmlformats.org/officeDocument/2006/relationships/chart" Target="../charts/chart41.xml"/><Relationship Id="rId4" Type="http://schemas.openxmlformats.org/officeDocument/2006/relationships/chart" Target="../charts/chart40.xml"/></Relationships>
</file>

<file path=ppt/slides/_rels/slide8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9.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45.xml"/><Relationship Id="rId4" Type="http://schemas.openxmlformats.org/officeDocument/2006/relationships/chart" Target="../charts/chart44.xml"/></Relationships>
</file>

<file path=ppt/slides/_rels/slide8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46.xml"/></Relationships>
</file>

<file path=ppt/slides/_rels/slide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8" Type="http://schemas.openxmlformats.org/officeDocument/2006/relationships/image" Target="../media/image268.png"/><Relationship Id="rId13" Type="http://schemas.openxmlformats.org/officeDocument/2006/relationships/image" Target="../media/image273.png"/><Relationship Id="rId3" Type="http://schemas.openxmlformats.org/officeDocument/2006/relationships/image" Target="../media/image5.png"/><Relationship Id="rId7" Type="http://schemas.openxmlformats.org/officeDocument/2006/relationships/image" Target="../media/image267.png"/><Relationship Id="rId12" Type="http://schemas.openxmlformats.org/officeDocument/2006/relationships/image" Target="../media/image272.png"/><Relationship Id="rId2" Type="http://schemas.openxmlformats.org/officeDocument/2006/relationships/notesSlide" Target="../notesSlides/notesSlide73.xml"/><Relationship Id="rId16"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66.png"/><Relationship Id="rId11" Type="http://schemas.openxmlformats.org/officeDocument/2006/relationships/image" Target="../media/image271.png"/><Relationship Id="rId5" Type="http://schemas.openxmlformats.org/officeDocument/2006/relationships/image" Target="../media/image265.png"/><Relationship Id="rId15" Type="http://schemas.openxmlformats.org/officeDocument/2006/relationships/image" Target="../media/image275.png"/><Relationship Id="rId10" Type="http://schemas.openxmlformats.org/officeDocument/2006/relationships/image" Target="../media/image270.png"/><Relationship Id="rId4" Type="http://schemas.openxmlformats.org/officeDocument/2006/relationships/image" Target="../media/image264.png"/><Relationship Id="rId9" Type="http://schemas.openxmlformats.org/officeDocument/2006/relationships/image" Target="../media/image269.png"/><Relationship Id="rId14" Type="http://schemas.openxmlformats.org/officeDocument/2006/relationships/image" Target="../media/image274.png"/></Relationships>
</file>

<file path=ppt/slides/_rels/slide9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48.xml"/><Relationship Id="rId4" Type="http://schemas.openxmlformats.org/officeDocument/2006/relationships/chart" Target="../charts/chart47.xml"/></Relationships>
</file>

<file path=ppt/slides/_rels/slide9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52.xml"/><Relationship Id="rId2" Type="http://schemas.openxmlformats.org/officeDocument/2006/relationships/notesSlide" Target="../notesSlides/notesSlide75.xml"/><Relationship Id="rId1" Type="http://schemas.openxmlformats.org/officeDocument/2006/relationships/slideLayout" Target="../slideLayouts/slideLayout7.xml"/><Relationship Id="rId6" Type="http://schemas.openxmlformats.org/officeDocument/2006/relationships/chart" Target="../charts/chart51.xml"/><Relationship Id="rId5" Type="http://schemas.openxmlformats.org/officeDocument/2006/relationships/chart" Target="../charts/chart50.xml"/><Relationship Id="rId4" Type="http://schemas.openxmlformats.org/officeDocument/2006/relationships/chart" Target="../charts/chart49.xml"/></Relationships>
</file>

<file path=ppt/slides/_rels/slide9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53.xml"/></Relationships>
</file>

<file path=ppt/slides/_rels/slide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8" Type="http://schemas.openxmlformats.org/officeDocument/2006/relationships/image" Target="../media/image304.png"/><Relationship Id="rId13" Type="http://schemas.openxmlformats.org/officeDocument/2006/relationships/image" Target="../media/image308.png"/><Relationship Id="rId18" Type="http://schemas.openxmlformats.org/officeDocument/2006/relationships/image" Target="../media/image266.png"/><Relationship Id="rId3" Type="http://schemas.openxmlformats.org/officeDocument/2006/relationships/image" Target="../media/image5.png"/><Relationship Id="rId21" Type="http://schemas.openxmlformats.org/officeDocument/2006/relationships/image" Target="../media/image315.png"/><Relationship Id="rId7" Type="http://schemas.openxmlformats.org/officeDocument/2006/relationships/image" Target="../media/image303.png"/><Relationship Id="rId12" Type="http://schemas.openxmlformats.org/officeDocument/2006/relationships/image" Target="../media/image151.png"/><Relationship Id="rId17" Type="http://schemas.openxmlformats.org/officeDocument/2006/relationships/image" Target="../media/image312.png"/><Relationship Id="rId2" Type="http://schemas.openxmlformats.org/officeDocument/2006/relationships/notesSlide" Target="../notesSlides/notesSlide78.xml"/><Relationship Id="rId16" Type="http://schemas.openxmlformats.org/officeDocument/2006/relationships/image" Target="../media/image311.png"/><Relationship Id="rId20" Type="http://schemas.openxmlformats.org/officeDocument/2006/relationships/image" Target="../media/image314.png"/><Relationship Id="rId1" Type="http://schemas.openxmlformats.org/officeDocument/2006/relationships/slideLayout" Target="../slideLayouts/slideLayout7.xml"/><Relationship Id="rId6" Type="http://schemas.openxmlformats.org/officeDocument/2006/relationships/image" Target="../media/image302.png"/><Relationship Id="rId11" Type="http://schemas.openxmlformats.org/officeDocument/2006/relationships/image" Target="../media/image307.png"/><Relationship Id="rId5" Type="http://schemas.openxmlformats.org/officeDocument/2006/relationships/image" Target="../media/image301.png"/><Relationship Id="rId15" Type="http://schemas.openxmlformats.org/officeDocument/2006/relationships/image" Target="../media/image310.png"/><Relationship Id="rId10" Type="http://schemas.openxmlformats.org/officeDocument/2006/relationships/image" Target="../media/image306.png"/><Relationship Id="rId19" Type="http://schemas.openxmlformats.org/officeDocument/2006/relationships/image" Target="../media/image313.png"/><Relationship Id="rId4" Type="http://schemas.openxmlformats.org/officeDocument/2006/relationships/image" Target="../media/image300.png"/><Relationship Id="rId9" Type="http://schemas.openxmlformats.org/officeDocument/2006/relationships/image" Target="../media/image305.png"/><Relationship Id="rId14" Type="http://schemas.openxmlformats.org/officeDocument/2006/relationships/image" Target="../media/image309.png"/><Relationship Id="rId22" Type="http://schemas.openxmlformats.org/officeDocument/2006/relationships/image" Target="../media/image6.png"/></Relationships>
</file>

<file path=ppt/slides/_rels/slide9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9.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55.xml"/><Relationship Id="rId4" Type="http://schemas.openxmlformats.org/officeDocument/2006/relationships/chart" Target="../charts/chart54.xml"/></Relationships>
</file>

<file path=ppt/slides/_rels/slide9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59.xml"/><Relationship Id="rId2" Type="http://schemas.openxmlformats.org/officeDocument/2006/relationships/notesSlide" Target="../notesSlides/notesSlide80.xml"/><Relationship Id="rId1" Type="http://schemas.openxmlformats.org/officeDocument/2006/relationships/slideLayout" Target="../slideLayouts/slideLayout7.xml"/><Relationship Id="rId6" Type="http://schemas.openxmlformats.org/officeDocument/2006/relationships/chart" Target="../charts/chart58.xml"/><Relationship Id="rId5" Type="http://schemas.openxmlformats.org/officeDocument/2006/relationships/chart" Target="../charts/chart57.xml"/><Relationship Id="rId4" Type="http://schemas.openxmlformats.org/officeDocument/2006/relationships/chart" Target="../charts/chart56.xml"/></Relationships>
</file>

<file path=ppt/slides/_rels/slide10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61.xml"/><Relationship Id="rId4" Type="http://schemas.openxmlformats.org/officeDocument/2006/relationships/chart" Target="../charts/chart60.xml"/></Relationships>
</file>

<file path=ppt/slides/_rels/slide1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62.xml"/></Relationships>
</file>

<file path=ppt/slides/_rels/slide10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8" Type="http://schemas.openxmlformats.org/officeDocument/2006/relationships/image" Target="../media/image345.png"/><Relationship Id="rId13" Type="http://schemas.openxmlformats.org/officeDocument/2006/relationships/image" Target="../media/image350.png"/><Relationship Id="rId18" Type="http://schemas.openxmlformats.org/officeDocument/2006/relationships/image" Target="../media/image355.png"/><Relationship Id="rId3" Type="http://schemas.openxmlformats.org/officeDocument/2006/relationships/image" Target="../media/image5.png"/><Relationship Id="rId21" Type="http://schemas.openxmlformats.org/officeDocument/2006/relationships/image" Target="../media/image357.png"/><Relationship Id="rId7" Type="http://schemas.openxmlformats.org/officeDocument/2006/relationships/image" Target="../media/image344.png"/><Relationship Id="rId12" Type="http://schemas.openxmlformats.org/officeDocument/2006/relationships/image" Target="../media/image349.png"/><Relationship Id="rId17" Type="http://schemas.openxmlformats.org/officeDocument/2006/relationships/image" Target="../media/image354.png"/><Relationship Id="rId2" Type="http://schemas.openxmlformats.org/officeDocument/2006/relationships/notesSlide" Target="../notesSlides/notesSlide84.xml"/><Relationship Id="rId16" Type="http://schemas.openxmlformats.org/officeDocument/2006/relationships/image" Target="../media/image353.png"/><Relationship Id="rId20" Type="http://schemas.openxmlformats.org/officeDocument/2006/relationships/image" Target="../media/image239.png"/><Relationship Id="rId1" Type="http://schemas.openxmlformats.org/officeDocument/2006/relationships/slideLayout" Target="../slideLayouts/slideLayout7.xml"/><Relationship Id="rId6" Type="http://schemas.openxmlformats.org/officeDocument/2006/relationships/image" Target="../media/image343.png"/><Relationship Id="rId11" Type="http://schemas.openxmlformats.org/officeDocument/2006/relationships/image" Target="../media/image348.png"/><Relationship Id="rId5" Type="http://schemas.openxmlformats.org/officeDocument/2006/relationships/image" Target="../media/image342.png"/><Relationship Id="rId15" Type="http://schemas.openxmlformats.org/officeDocument/2006/relationships/image" Target="../media/image352.png"/><Relationship Id="rId10" Type="http://schemas.openxmlformats.org/officeDocument/2006/relationships/image" Target="../media/image347.png"/><Relationship Id="rId19" Type="http://schemas.openxmlformats.org/officeDocument/2006/relationships/image" Target="../media/image356.png"/><Relationship Id="rId4" Type="http://schemas.openxmlformats.org/officeDocument/2006/relationships/image" Target="../media/image341.png"/><Relationship Id="rId9" Type="http://schemas.openxmlformats.org/officeDocument/2006/relationships/image" Target="../media/image346.png"/><Relationship Id="rId14" Type="http://schemas.openxmlformats.org/officeDocument/2006/relationships/image" Target="../media/image351.png"/><Relationship Id="rId22" Type="http://schemas.openxmlformats.org/officeDocument/2006/relationships/image" Target="../media/image6.png"/></Relationships>
</file>

<file path=ppt/slides/_rels/slide10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64.xml"/><Relationship Id="rId4" Type="http://schemas.openxmlformats.org/officeDocument/2006/relationships/chart" Target="../charts/chart63.xml"/></Relationships>
</file>

<file path=ppt/slides/_rels/slide10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68.xml"/><Relationship Id="rId2" Type="http://schemas.openxmlformats.org/officeDocument/2006/relationships/notesSlide" Target="../notesSlides/notesSlide86.xml"/><Relationship Id="rId1" Type="http://schemas.openxmlformats.org/officeDocument/2006/relationships/slideLayout" Target="../slideLayouts/slideLayout7.xml"/><Relationship Id="rId6" Type="http://schemas.openxmlformats.org/officeDocument/2006/relationships/chart" Target="../charts/chart67.xml"/><Relationship Id="rId5" Type="http://schemas.openxmlformats.org/officeDocument/2006/relationships/chart" Target="../charts/chart66.xml"/><Relationship Id="rId4" Type="http://schemas.openxmlformats.org/officeDocument/2006/relationships/chart" Target="../charts/chart65.xml"/></Relationships>
</file>

<file path=ppt/slides/_rels/slide10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70.xml"/><Relationship Id="rId4" Type="http://schemas.openxmlformats.org/officeDocument/2006/relationships/chart" Target="../charts/chart69.xml"/></Relationships>
</file>

<file path=ppt/slides/_rels/slide10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71.xml"/></Relationships>
</file>

<file path=ppt/slides/_rels/slide1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72.xml"/></Relationships>
</file>

<file path=ppt/slides/_rels/slide1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73.xml"/></Relationships>
</file>

<file path=ppt/slides/_rels/slide1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74.xml"/></Relationships>
</file>

<file path=ppt/slides/_rels/slide1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76.xml"/><Relationship Id="rId4" Type="http://schemas.openxmlformats.org/officeDocument/2006/relationships/chart" Target="../charts/chart75.xml"/></Relationships>
</file>

<file path=ppt/slides/_rels/slide1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78.xml"/><Relationship Id="rId4" Type="http://schemas.openxmlformats.org/officeDocument/2006/relationships/chart" Target="../charts/chart77.xml"/></Relationships>
</file>

<file path=ppt/slides/_rels/slide1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80.xml"/><Relationship Id="rId4" Type="http://schemas.openxmlformats.org/officeDocument/2006/relationships/chart" Target="../charts/chart79.xml"/></Relationships>
</file>

<file path=ppt/slides/_rels/slide1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82.xml"/><Relationship Id="rId4" Type="http://schemas.openxmlformats.org/officeDocument/2006/relationships/chart" Target="../charts/chart81.xml"/></Relationships>
</file>

<file path=ppt/slides/_rels/slide1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83.xml"/></Relationships>
</file>

<file path=ppt/slides/_rels/slide1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84.xml"/></Relationships>
</file>

<file path=ppt/slides/_rels/slide1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85.xml"/></Relationships>
</file>

<file path=ppt/slides/_rels/slide1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86.xml"/></Relationships>
</file>

<file path=ppt/slides/_rels/slide1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88.xml"/><Relationship Id="rId4" Type="http://schemas.openxmlformats.org/officeDocument/2006/relationships/chart" Target="../charts/chart87.xml"/></Relationships>
</file>

<file path=ppt/slides/_rels/slide1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8" Type="http://schemas.openxmlformats.org/officeDocument/2006/relationships/image" Target="../media/image444.png"/><Relationship Id="rId13" Type="http://schemas.openxmlformats.org/officeDocument/2006/relationships/image" Target="../media/image446.png"/><Relationship Id="rId18" Type="http://schemas.openxmlformats.org/officeDocument/2006/relationships/image" Target="../media/image266.png"/><Relationship Id="rId3" Type="http://schemas.openxmlformats.org/officeDocument/2006/relationships/image" Target="../media/image5.png"/><Relationship Id="rId21" Type="http://schemas.openxmlformats.org/officeDocument/2006/relationships/image" Target="../media/image449.png"/><Relationship Id="rId7" Type="http://schemas.openxmlformats.org/officeDocument/2006/relationships/image" Target="../media/image443.png"/><Relationship Id="rId12" Type="http://schemas.openxmlformats.org/officeDocument/2006/relationships/image" Target="../media/image315.png"/><Relationship Id="rId17" Type="http://schemas.openxmlformats.org/officeDocument/2006/relationships/image" Target="../media/image422.png"/><Relationship Id="rId2" Type="http://schemas.openxmlformats.org/officeDocument/2006/relationships/notesSlide" Target="../notesSlides/notesSlide118.xml"/><Relationship Id="rId16" Type="http://schemas.openxmlformats.org/officeDocument/2006/relationships/image" Target="../media/image447.png"/><Relationship Id="rId20" Type="http://schemas.openxmlformats.org/officeDocument/2006/relationships/image" Target="../media/image421.png"/><Relationship Id="rId1" Type="http://schemas.openxmlformats.org/officeDocument/2006/relationships/slideLayout" Target="../slideLayouts/slideLayout7.xml"/><Relationship Id="rId6" Type="http://schemas.openxmlformats.org/officeDocument/2006/relationships/image" Target="../media/image188.png"/><Relationship Id="rId11" Type="http://schemas.openxmlformats.org/officeDocument/2006/relationships/image" Target="../media/image418.png"/><Relationship Id="rId5" Type="http://schemas.openxmlformats.org/officeDocument/2006/relationships/image" Target="../media/image442.png"/><Relationship Id="rId15" Type="http://schemas.openxmlformats.org/officeDocument/2006/relationships/image" Target="../media/image305.png"/><Relationship Id="rId10" Type="http://schemas.openxmlformats.org/officeDocument/2006/relationships/image" Target="../media/image445.png"/><Relationship Id="rId19" Type="http://schemas.openxmlformats.org/officeDocument/2006/relationships/image" Target="../media/image448.png"/><Relationship Id="rId4" Type="http://schemas.openxmlformats.org/officeDocument/2006/relationships/image" Target="../media/image441.png"/><Relationship Id="rId9" Type="http://schemas.openxmlformats.org/officeDocument/2006/relationships/image" Target="../media/image160.png"/><Relationship Id="rId14" Type="http://schemas.openxmlformats.org/officeDocument/2006/relationships/image" Target="../media/image423.png"/><Relationship Id="rId22" Type="http://schemas.openxmlformats.org/officeDocument/2006/relationships/image" Target="../media/image6.png"/></Relationships>
</file>

<file path=ppt/slides/_rels/slide1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9.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90.xml"/><Relationship Id="rId4" Type="http://schemas.openxmlformats.org/officeDocument/2006/relationships/chart" Target="../charts/chart89.xml"/></Relationships>
</file>

<file path=ppt/slides/_rels/slide14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94.xml"/><Relationship Id="rId2" Type="http://schemas.openxmlformats.org/officeDocument/2006/relationships/notesSlide" Target="../notesSlides/notesSlide120.xml"/><Relationship Id="rId1" Type="http://schemas.openxmlformats.org/officeDocument/2006/relationships/slideLayout" Target="../slideLayouts/slideLayout7.xml"/><Relationship Id="rId6" Type="http://schemas.openxmlformats.org/officeDocument/2006/relationships/chart" Target="../charts/chart93.xml"/><Relationship Id="rId5" Type="http://schemas.openxmlformats.org/officeDocument/2006/relationships/chart" Target="../charts/chart92.xml"/><Relationship Id="rId4" Type="http://schemas.openxmlformats.org/officeDocument/2006/relationships/chart" Target="../charts/chart91.xml"/></Relationships>
</file>

<file path=ppt/slides/_rels/slide1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96.xml"/><Relationship Id="rId4" Type="http://schemas.openxmlformats.org/officeDocument/2006/relationships/chart" Target="../charts/chart95.xml"/></Relationships>
</file>

<file path=ppt/slides/_rels/slide1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97.xml"/></Relationships>
</file>

<file path=ppt/slides/_rels/slide1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8" Type="http://schemas.openxmlformats.org/officeDocument/2006/relationships/image" Target="../media/image458.png"/><Relationship Id="rId13" Type="http://schemas.openxmlformats.org/officeDocument/2006/relationships/image" Target="../media/image463.png"/><Relationship Id="rId18" Type="http://schemas.openxmlformats.org/officeDocument/2006/relationships/image" Target="../media/image151.png"/><Relationship Id="rId3" Type="http://schemas.openxmlformats.org/officeDocument/2006/relationships/image" Target="../media/image5.png"/><Relationship Id="rId21" Type="http://schemas.openxmlformats.org/officeDocument/2006/relationships/image" Target="../media/image469.png"/><Relationship Id="rId7" Type="http://schemas.openxmlformats.org/officeDocument/2006/relationships/image" Target="../media/image457.png"/><Relationship Id="rId12" Type="http://schemas.openxmlformats.org/officeDocument/2006/relationships/image" Target="../media/image462.png"/><Relationship Id="rId17" Type="http://schemas.openxmlformats.org/officeDocument/2006/relationships/image" Target="../media/image466.png"/><Relationship Id="rId2" Type="http://schemas.openxmlformats.org/officeDocument/2006/relationships/notesSlide" Target="../notesSlides/notesSlide124.xml"/><Relationship Id="rId16" Type="http://schemas.openxmlformats.org/officeDocument/2006/relationships/image" Target="../media/image465.png"/><Relationship Id="rId20" Type="http://schemas.openxmlformats.org/officeDocument/2006/relationships/image" Target="../media/image468.png"/><Relationship Id="rId1" Type="http://schemas.openxmlformats.org/officeDocument/2006/relationships/slideLayout" Target="../slideLayouts/slideLayout7.xml"/><Relationship Id="rId6" Type="http://schemas.openxmlformats.org/officeDocument/2006/relationships/image" Target="../media/image456.png"/><Relationship Id="rId11" Type="http://schemas.openxmlformats.org/officeDocument/2006/relationships/image" Target="../media/image461.png"/><Relationship Id="rId5" Type="http://schemas.openxmlformats.org/officeDocument/2006/relationships/image" Target="../media/image455.png"/><Relationship Id="rId15" Type="http://schemas.openxmlformats.org/officeDocument/2006/relationships/image" Target="../media/image181.png"/><Relationship Id="rId10" Type="http://schemas.openxmlformats.org/officeDocument/2006/relationships/image" Target="../media/image460.png"/><Relationship Id="rId19" Type="http://schemas.openxmlformats.org/officeDocument/2006/relationships/image" Target="../media/image467.png"/><Relationship Id="rId4" Type="http://schemas.openxmlformats.org/officeDocument/2006/relationships/image" Target="../media/image454.png"/><Relationship Id="rId9" Type="http://schemas.openxmlformats.org/officeDocument/2006/relationships/image" Target="../media/image459.png"/><Relationship Id="rId14" Type="http://schemas.openxmlformats.org/officeDocument/2006/relationships/image" Target="../media/image464.png"/><Relationship Id="rId22" Type="http://schemas.openxmlformats.org/officeDocument/2006/relationships/image" Target="../media/image6.png"/></Relationships>
</file>

<file path=ppt/slides/_rels/slide1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99.xml"/><Relationship Id="rId4" Type="http://schemas.openxmlformats.org/officeDocument/2006/relationships/chart" Target="../charts/chart98.xml"/></Relationships>
</file>

<file path=ppt/slides/_rels/slide15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103.xml"/><Relationship Id="rId2" Type="http://schemas.openxmlformats.org/officeDocument/2006/relationships/notesSlide" Target="../notesSlides/notesSlide126.xml"/><Relationship Id="rId1" Type="http://schemas.openxmlformats.org/officeDocument/2006/relationships/slideLayout" Target="../slideLayouts/slideLayout7.xml"/><Relationship Id="rId6" Type="http://schemas.openxmlformats.org/officeDocument/2006/relationships/chart" Target="../charts/chart102.xml"/><Relationship Id="rId5" Type="http://schemas.openxmlformats.org/officeDocument/2006/relationships/chart" Target="../charts/chart101.xml"/><Relationship Id="rId4" Type="http://schemas.openxmlformats.org/officeDocument/2006/relationships/chart" Target="../charts/chart100.xml"/></Relationships>
</file>

<file path=ppt/slides/_rels/slide1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05.xml"/><Relationship Id="rId4" Type="http://schemas.openxmlformats.org/officeDocument/2006/relationships/chart" Target="../charts/chart104.xml"/></Relationships>
</file>

<file path=ppt/slides/_rels/slide1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06.xml"/></Relationships>
</file>

<file path=ppt/slides/_rels/slide1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8" Type="http://schemas.openxmlformats.org/officeDocument/2006/relationships/image" Target="../media/image475.png"/><Relationship Id="rId13" Type="http://schemas.openxmlformats.org/officeDocument/2006/relationships/image" Target="../media/image479.png"/><Relationship Id="rId3" Type="http://schemas.openxmlformats.org/officeDocument/2006/relationships/image" Target="../media/image5.png"/><Relationship Id="rId7" Type="http://schemas.openxmlformats.org/officeDocument/2006/relationships/image" Target="../media/image474.png"/><Relationship Id="rId12" Type="http://schemas.openxmlformats.org/officeDocument/2006/relationships/image" Target="../media/image478.png"/><Relationship Id="rId2" Type="http://schemas.openxmlformats.org/officeDocument/2006/relationships/notesSlide" Target="../notesSlides/notesSlide131.xml"/><Relationship Id="rId16"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70.png"/><Relationship Id="rId11" Type="http://schemas.openxmlformats.org/officeDocument/2006/relationships/image" Target="../media/image477.png"/><Relationship Id="rId5" Type="http://schemas.openxmlformats.org/officeDocument/2006/relationships/image" Target="../media/image473.png"/><Relationship Id="rId15" Type="http://schemas.openxmlformats.org/officeDocument/2006/relationships/image" Target="../media/image481.png"/><Relationship Id="rId10" Type="http://schemas.openxmlformats.org/officeDocument/2006/relationships/image" Target="../media/image476.png"/><Relationship Id="rId4" Type="http://schemas.openxmlformats.org/officeDocument/2006/relationships/image" Target="../media/image472.png"/><Relationship Id="rId9" Type="http://schemas.openxmlformats.org/officeDocument/2006/relationships/image" Target="../media/image157.png"/><Relationship Id="rId14" Type="http://schemas.openxmlformats.org/officeDocument/2006/relationships/image" Target="../media/image480.png"/></Relationships>
</file>

<file path=ppt/slides/_rels/slide1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08.xml"/><Relationship Id="rId4" Type="http://schemas.openxmlformats.org/officeDocument/2006/relationships/chart" Target="../charts/chart107.xml"/></Relationships>
</file>

<file path=ppt/slides/_rels/slide16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112.xml"/><Relationship Id="rId2" Type="http://schemas.openxmlformats.org/officeDocument/2006/relationships/notesSlide" Target="../notesSlides/notesSlide133.xml"/><Relationship Id="rId1" Type="http://schemas.openxmlformats.org/officeDocument/2006/relationships/slideLayout" Target="../slideLayouts/slideLayout7.xml"/><Relationship Id="rId6" Type="http://schemas.openxmlformats.org/officeDocument/2006/relationships/chart" Target="../charts/chart111.xml"/><Relationship Id="rId5" Type="http://schemas.openxmlformats.org/officeDocument/2006/relationships/chart" Target="../charts/chart110.xml"/><Relationship Id="rId4" Type="http://schemas.openxmlformats.org/officeDocument/2006/relationships/chart" Target="../charts/chart109.xml"/></Relationships>
</file>

<file path=ppt/slides/_rels/slide1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13.xml"/></Relationships>
</file>

<file path=ppt/slides/_rels/slide1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8" Type="http://schemas.openxmlformats.org/officeDocument/2006/relationships/image" Target="../media/image508.png"/><Relationship Id="rId13" Type="http://schemas.openxmlformats.org/officeDocument/2006/relationships/image" Target="../media/image511.png"/><Relationship Id="rId18" Type="http://schemas.openxmlformats.org/officeDocument/2006/relationships/image" Target="../media/image241.png"/><Relationship Id="rId3" Type="http://schemas.openxmlformats.org/officeDocument/2006/relationships/image" Target="../media/image5.png"/><Relationship Id="rId21" Type="http://schemas.openxmlformats.org/officeDocument/2006/relationships/image" Target="../media/image518.png"/><Relationship Id="rId7" Type="http://schemas.openxmlformats.org/officeDocument/2006/relationships/image" Target="../media/image507.png"/><Relationship Id="rId12" Type="http://schemas.openxmlformats.org/officeDocument/2006/relationships/image" Target="../media/image269.png"/><Relationship Id="rId17" Type="http://schemas.openxmlformats.org/officeDocument/2006/relationships/image" Target="../media/image515.png"/><Relationship Id="rId2" Type="http://schemas.openxmlformats.org/officeDocument/2006/relationships/notesSlide" Target="../notesSlides/notesSlide136.xml"/><Relationship Id="rId16" Type="http://schemas.openxmlformats.org/officeDocument/2006/relationships/image" Target="../media/image514.png"/><Relationship Id="rId20" Type="http://schemas.openxmlformats.org/officeDocument/2006/relationships/image" Target="../media/image517.png"/><Relationship Id="rId1" Type="http://schemas.openxmlformats.org/officeDocument/2006/relationships/slideLayout" Target="../slideLayouts/slideLayout7.xml"/><Relationship Id="rId6" Type="http://schemas.openxmlformats.org/officeDocument/2006/relationships/image" Target="../media/image357.png"/><Relationship Id="rId11" Type="http://schemas.openxmlformats.org/officeDocument/2006/relationships/image" Target="../media/image510.png"/><Relationship Id="rId5" Type="http://schemas.openxmlformats.org/officeDocument/2006/relationships/image" Target="../media/image506.png"/><Relationship Id="rId15" Type="http://schemas.openxmlformats.org/officeDocument/2006/relationships/image" Target="../media/image513.png"/><Relationship Id="rId10" Type="http://schemas.openxmlformats.org/officeDocument/2006/relationships/image" Target="../media/image509.png"/><Relationship Id="rId19" Type="http://schemas.openxmlformats.org/officeDocument/2006/relationships/image" Target="../media/image516.png"/><Relationship Id="rId4" Type="http://schemas.openxmlformats.org/officeDocument/2006/relationships/image" Target="../media/image505.png"/><Relationship Id="rId9" Type="http://schemas.openxmlformats.org/officeDocument/2006/relationships/image" Target="../media/image449.png"/><Relationship Id="rId14" Type="http://schemas.openxmlformats.org/officeDocument/2006/relationships/image" Target="../media/image512.png"/><Relationship Id="rId22" Type="http://schemas.openxmlformats.org/officeDocument/2006/relationships/image" Target="../media/image6.png"/></Relationships>
</file>

<file path=ppt/slides/_rels/slide1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15.xml"/><Relationship Id="rId4" Type="http://schemas.openxmlformats.org/officeDocument/2006/relationships/chart" Target="../charts/chart114.xml"/></Relationships>
</file>

<file path=ppt/slides/_rels/slide16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119.xml"/><Relationship Id="rId2" Type="http://schemas.openxmlformats.org/officeDocument/2006/relationships/notesSlide" Target="../notesSlides/notesSlide138.xml"/><Relationship Id="rId1" Type="http://schemas.openxmlformats.org/officeDocument/2006/relationships/slideLayout" Target="../slideLayouts/slideLayout7.xml"/><Relationship Id="rId6" Type="http://schemas.openxmlformats.org/officeDocument/2006/relationships/chart" Target="../charts/chart118.xml"/><Relationship Id="rId5" Type="http://schemas.openxmlformats.org/officeDocument/2006/relationships/chart" Target="../charts/chart117.xml"/><Relationship Id="rId4" Type="http://schemas.openxmlformats.org/officeDocument/2006/relationships/chart" Target="../charts/chart116.xml"/></Relationships>
</file>

<file path=ppt/slides/_rels/slide1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9.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21.xml"/><Relationship Id="rId4" Type="http://schemas.openxmlformats.org/officeDocument/2006/relationships/chart" Target="../charts/chart120.xml"/></Relationships>
</file>

<file path=ppt/slides/_rels/slide1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22.xml"/></Relationships>
</file>

<file path=ppt/slides/_rels/slide1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8" Type="http://schemas.openxmlformats.org/officeDocument/2006/relationships/image" Target="../media/image525.png"/><Relationship Id="rId13" Type="http://schemas.openxmlformats.org/officeDocument/2006/relationships/image" Target="../media/image528.png"/><Relationship Id="rId18" Type="http://schemas.openxmlformats.org/officeDocument/2006/relationships/image" Target="../media/image305.png"/><Relationship Id="rId3" Type="http://schemas.openxmlformats.org/officeDocument/2006/relationships/image" Target="../media/image5.png"/><Relationship Id="rId21" Type="http://schemas.openxmlformats.org/officeDocument/2006/relationships/image" Target="../media/image534.png"/><Relationship Id="rId7" Type="http://schemas.openxmlformats.org/officeDocument/2006/relationships/image" Target="../media/image524.png"/><Relationship Id="rId12" Type="http://schemas.openxmlformats.org/officeDocument/2006/relationships/image" Target="../media/image518.png"/><Relationship Id="rId17" Type="http://schemas.openxmlformats.org/officeDocument/2006/relationships/image" Target="../media/image531.png"/><Relationship Id="rId2" Type="http://schemas.openxmlformats.org/officeDocument/2006/relationships/notesSlide" Target="../notesSlides/notesSlide142.xml"/><Relationship Id="rId16" Type="http://schemas.openxmlformats.org/officeDocument/2006/relationships/image" Target="../media/image530.png"/><Relationship Id="rId20" Type="http://schemas.openxmlformats.org/officeDocument/2006/relationships/image" Target="../media/image533.png"/><Relationship Id="rId1" Type="http://schemas.openxmlformats.org/officeDocument/2006/relationships/slideLayout" Target="../slideLayouts/slideLayout7.xml"/><Relationship Id="rId6" Type="http://schemas.openxmlformats.org/officeDocument/2006/relationships/image" Target="../media/image151.png"/><Relationship Id="rId11" Type="http://schemas.openxmlformats.org/officeDocument/2006/relationships/image" Target="../media/image527.png"/><Relationship Id="rId5" Type="http://schemas.openxmlformats.org/officeDocument/2006/relationships/image" Target="../media/image523.png"/><Relationship Id="rId15" Type="http://schemas.openxmlformats.org/officeDocument/2006/relationships/image" Target="../media/image310.png"/><Relationship Id="rId10" Type="http://schemas.openxmlformats.org/officeDocument/2006/relationships/image" Target="../media/image526.png"/><Relationship Id="rId19" Type="http://schemas.openxmlformats.org/officeDocument/2006/relationships/image" Target="../media/image532.png"/><Relationship Id="rId4" Type="http://schemas.openxmlformats.org/officeDocument/2006/relationships/image" Target="../media/image522.png"/><Relationship Id="rId9" Type="http://schemas.openxmlformats.org/officeDocument/2006/relationships/image" Target="../media/image357.png"/><Relationship Id="rId14" Type="http://schemas.openxmlformats.org/officeDocument/2006/relationships/image" Target="../media/image529.png"/><Relationship Id="rId22" Type="http://schemas.openxmlformats.org/officeDocument/2006/relationships/image" Target="../media/image6.png"/></Relationships>
</file>

<file path=ppt/slides/_rels/slide1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24.xml"/><Relationship Id="rId4" Type="http://schemas.openxmlformats.org/officeDocument/2006/relationships/chart" Target="../charts/chart123.xml"/></Relationships>
</file>

<file path=ppt/slides/_rels/slide17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128.xml"/><Relationship Id="rId2" Type="http://schemas.openxmlformats.org/officeDocument/2006/relationships/notesSlide" Target="../notesSlides/notesSlide144.xml"/><Relationship Id="rId1" Type="http://schemas.openxmlformats.org/officeDocument/2006/relationships/slideLayout" Target="../slideLayouts/slideLayout7.xml"/><Relationship Id="rId6" Type="http://schemas.openxmlformats.org/officeDocument/2006/relationships/chart" Target="../charts/chart127.xml"/><Relationship Id="rId5" Type="http://schemas.openxmlformats.org/officeDocument/2006/relationships/chart" Target="../charts/chart126.xml"/><Relationship Id="rId4" Type="http://schemas.openxmlformats.org/officeDocument/2006/relationships/chart" Target="../charts/chart125.xml"/></Relationships>
</file>

<file path=ppt/slides/_rels/slide1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30.xml"/><Relationship Id="rId4" Type="http://schemas.openxmlformats.org/officeDocument/2006/relationships/chart" Target="../charts/chart129.xml"/></Relationships>
</file>

<file path=ppt/slides/_rels/slide17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7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31.xml"/></Relationships>
</file>

<file path=ppt/slides/_rels/slide18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135.xml"/><Relationship Id="rId2" Type="http://schemas.openxmlformats.org/officeDocument/2006/relationships/notesSlide" Target="../notesSlides/notesSlide149.xml"/><Relationship Id="rId1" Type="http://schemas.openxmlformats.org/officeDocument/2006/relationships/slideLayout" Target="../slideLayouts/slideLayout7.xml"/><Relationship Id="rId6" Type="http://schemas.openxmlformats.org/officeDocument/2006/relationships/chart" Target="../charts/chart134.xml"/><Relationship Id="rId5" Type="http://schemas.openxmlformats.org/officeDocument/2006/relationships/chart" Target="../charts/chart133.xml"/><Relationship Id="rId4" Type="http://schemas.openxmlformats.org/officeDocument/2006/relationships/chart" Target="../charts/chart132.xml"/></Relationships>
</file>

<file path=ppt/slides/_rels/slide18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chart" Target="../charts/chart139.xml"/><Relationship Id="rId2" Type="http://schemas.openxmlformats.org/officeDocument/2006/relationships/notesSlide" Target="../notesSlides/notesSlide150.xml"/><Relationship Id="rId1" Type="http://schemas.openxmlformats.org/officeDocument/2006/relationships/slideLayout" Target="../slideLayouts/slideLayout7.xml"/><Relationship Id="rId6" Type="http://schemas.openxmlformats.org/officeDocument/2006/relationships/chart" Target="../charts/chart138.xml"/><Relationship Id="rId5" Type="http://schemas.openxmlformats.org/officeDocument/2006/relationships/chart" Target="../charts/chart137.xml"/><Relationship Id="rId4" Type="http://schemas.openxmlformats.org/officeDocument/2006/relationships/chart" Target="../charts/chart136.xml"/></Relationships>
</file>

<file path=ppt/slides/_rels/slide184.xml.rels><?xml version="1.0" encoding="UTF-8" standalone="yes"?>
<Relationships xmlns="http://schemas.openxmlformats.org/package/2006/relationships"><Relationship Id="rId8" Type="http://schemas.openxmlformats.org/officeDocument/2006/relationships/chart" Target="../charts/chart144.xml"/><Relationship Id="rId3" Type="http://schemas.openxmlformats.org/officeDocument/2006/relationships/image" Target="../media/image5.png"/><Relationship Id="rId7" Type="http://schemas.openxmlformats.org/officeDocument/2006/relationships/chart" Target="../charts/chart143.xml"/><Relationship Id="rId2" Type="http://schemas.openxmlformats.org/officeDocument/2006/relationships/notesSlide" Target="../notesSlides/notesSlide151.xml"/><Relationship Id="rId1" Type="http://schemas.openxmlformats.org/officeDocument/2006/relationships/slideLayout" Target="../slideLayouts/slideLayout7.xml"/><Relationship Id="rId6" Type="http://schemas.openxmlformats.org/officeDocument/2006/relationships/chart" Target="../charts/chart142.xml"/><Relationship Id="rId5" Type="http://schemas.openxmlformats.org/officeDocument/2006/relationships/chart" Target="../charts/chart141.xml"/><Relationship Id="rId4" Type="http://schemas.openxmlformats.org/officeDocument/2006/relationships/chart" Target="../charts/chart140.xml"/><Relationship Id="rId9" Type="http://schemas.openxmlformats.org/officeDocument/2006/relationships/image" Target="../media/image6.png"/></Relationships>
</file>

<file path=ppt/slides/_rels/slide1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46.xml"/><Relationship Id="rId4" Type="http://schemas.openxmlformats.org/officeDocument/2006/relationships/chart" Target="../charts/chart145.xml"/></Relationships>
</file>

<file path=ppt/slides/_rels/slide18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8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48.xml"/><Relationship Id="rId4" Type="http://schemas.openxmlformats.org/officeDocument/2006/relationships/chart" Target="../charts/chart147.xml"/></Relationships>
</file>

<file path=ppt/slides/_rels/slide19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50.xml"/><Relationship Id="rId4" Type="http://schemas.openxmlformats.org/officeDocument/2006/relationships/chart" Target="../charts/chart149.xml"/></Relationships>
</file>

<file path=ppt/slides/_rels/slide19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52.xml"/><Relationship Id="rId4" Type="http://schemas.openxmlformats.org/officeDocument/2006/relationships/chart" Target="../charts/chart151.xml"/></Relationships>
</file>

<file path=ppt/slides/_rels/slide19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0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54.xml"/><Relationship Id="rId4" Type="http://schemas.openxmlformats.org/officeDocument/2006/relationships/chart" Target="../charts/chart153.xml"/></Relationships>
</file>

<file path=ppt/slides/_rels/slide20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0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hart" Target="../charts/chart156.xml"/><Relationship Id="rId4" Type="http://schemas.openxmlformats.org/officeDocument/2006/relationships/chart" Target="../charts/chart155.xml"/></Relationships>
</file>

<file path=ppt/slides/_rels/slide20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57.xml"/></Relationships>
</file>

<file path=ppt/slides/_rels/slide20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hart" Target="../charts/chart158.xml"/></Relationships>
</file>

<file path=ppt/slides/_rels/slide20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7.xml"/><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4.xml"/><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5.xml"/><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6.xml"/><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8.xml"/><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9.xml"/><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9.xml"/><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46.xml.rels><?xml version="1.0" encoding="UTF-8" standalone="yes"?>
<Relationships xmlns="http://schemas.openxmlformats.org/package/2006/relationships"><Relationship Id="rId8" Type="http://schemas.openxmlformats.org/officeDocument/2006/relationships/image" Target="../media/image545.png"/><Relationship Id="rId3" Type="http://schemas.openxmlformats.org/officeDocument/2006/relationships/image" Target="../media/image540.png"/><Relationship Id="rId7" Type="http://schemas.openxmlformats.org/officeDocument/2006/relationships/image" Target="../media/image544.png"/><Relationship Id="rId2" Type="http://schemas.openxmlformats.org/officeDocument/2006/relationships/image" Target="../media/image539.png"/><Relationship Id="rId1" Type="http://schemas.openxmlformats.org/officeDocument/2006/relationships/slideLayout" Target="../slideLayouts/slideLayout7.xml"/><Relationship Id="rId6" Type="http://schemas.openxmlformats.org/officeDocument/2006/relationships/image" Target="../media/image543.png"/><Relationship Id="rId5" Type="http://schemas.openxmlformats.org/officeDocument/2006/relationships/image" Target="../media/image542.png"/><Relationship Id="rId4" Type="http://schemas.openxmlformats.org/officeDocument/2006/relationships/image" Target="../media/image5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5"/>
          <p:cNvSpPr txBox="1"/>
          <p:nvPr userDrawn="1"/>
        </p:nvSpPr>
        <p:spPr>
          <a:xfrm>
            <a:off x="0" y="2"/>
            <a:ext cx="12192000" cy="6824625"/>
          </a:xfrm>
          <a:prstGeom prst="rect">
            <a:avLst/>
          </a:prstGeom>
          <a:solidFill>
            <a:srgbClr val="FFFFFF"/>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4" name="Picture 7"/>
          <p:cNvPicPr>
            <a:picLocks noChangeAspect="1"/>
          </p:cNvPicPr>
          <p:nvPr userDrawn="1"/>
        </p:nvPicPr>
        <p:blipFill>
          <a:blip r:embed="rId2" cstate="print">
            <a:duotone>
              <a:srgbClr val="F8F8F8">
                <a:shade val="45000"/>
                <a:satMod val="135000"/>
              </a:srgb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6" name="TextBox 9"/>
          <p:cNvSpPr txBox="1"/>
          <p:nvPr userDrawn="1"/>
        </p:nvSpPr>
        <p:spPr>
          <a:xfrm>
            <a:off x="829068" y="6616282"/>
            <a:ext cx="1984839" cy="230832"/>
          </a:xfrm>
          <a:prstGeom prst="rect">
            <a:avLst/>
          </a:prstGeom>
          <a:noFill/>
        </p:spPr>
        <p:txBody>
          <a:bodyPr wrap="none" rtlCol="0">
            <a:spAutoFit/>
          </a:bodyPr>
          <a:lstStyle/>
          <a:p>
            <a:r>
              <a:rPr lang="en-US" sz="900" dirty="0">
                <a:solidFill>
                  <a:srgbClr val="FFFFFF"/>
                </a:solidFill>
              </a:rPr>
              <a:t>Source@ Future Market Insights, 2026</a:t>
            </a:r>
            <a:endParaRPr lang="en-IN" sz="900" dirty="0">
              <a:solidFill>
                <a:srgbClr val="FFFFFF"/>
              </a:solidFill>
            </a:endParaRPr>
          </a:p>
        </p:txBody>
      </p:sp>
      <p:sp>
        <p:nvSpPr>
          <p:cNvPr id="7"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8" name="Rectangle 12"/>
          <p:cNvSpPr/>
          <p:nvPr userDrawn="1"/>
        </p:nvSpPr>
        <p:spPr>
          <a:xfrm>
            <a:off x="371630" y="6559883"/>
            <a:ext cx="11448743" cy="57528"/>
          </a:xfrm>
          <a:prstGeom prst="rect">
            <a:avLst/>
          </a:prstGeom>
          <a:solidFill>
            <a:srgbClr val="FFFFFF"/>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9" name="Text Placeholder 4"/>
          <p:cNvSpPr txBox="1">
            <a:spLocks/>
          </p:cNvSpPr>
          <p:nvPr/>
        </p:nvSpPr>
        <p:spPr bwMode="gray">
          <a:xfrm>
            <a:off x="934546" y="262851"/>
            <a:ext cx="5623008" cy="3800000"/>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4800" dirty="0">
                <a:solidFill>
                  <a:srgbClr val="FFFFFF"/>
                </a:solidFill>
                <a:latin typeface="Bell MT" panose="02020503060305020303" pitchFamily="18" charset="0"/>
              </a:rPr>
              <a:t>Senior Dog Cognitive Supplement Market</a:t>
            </a:r>
            <a:endParaRPr lang="en-US" sz="1600" dirty="0">
              <a:solidFill>
                <a:srgbClr val="FFFFFF"/>
              </a:solidFill>
              <a:latin typeface="Bell MT" panose="02020503060305020303" pitchFamily="18" charset="0"/>
            </a:endParaRPr>
          </a:p>
        </p:txBody>
      </p:sp>
      <p:sp>
        <p:nvSpPr>
          <p:cNvPr id="2" name="Front Page Subtitle"/>
          <p:cNvSpPr txBox="1">
            <a:spLocks/>
          </p:cNvSpPr>
          <p:nvPr/>
        </p:nvSpPr>
        <p:spPr bwMode="gray">
          <a:xfrm>
            <a:off x="934546" y="4150000"/>
            <a:ext cx="5623008" cy="1650000"/>
          </a:xfrm>
          <a:prstGeom prst="rect">
            <a:avLst/>
          </a:prstGeom>
        </p:spPr>
        <p:txBody>
          <a:bodyPr vert="horz" lIns="0" tIns="77372" rIns="77372" bIns="77372" rtlCol="0" anchor="b">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2400" dirty="0">
                <a:solidFill>
                  <a:srgbClr val="FFFFFF"/>
                </a:solidFill>
                <a:latin typeface="Bell MT" panose="02020503060305020303" pitchFamily="18" charset="0"/>
              </a:rPr>
              <a:t>Global Industry Analysis 2021 – 2025 and Opportunity Assessment 2026 – 2036</a:t>
            </a:r>
          </a:p>
        </p:txBody>
      </p:sp>
      <p:grpSp>
        <p:nvGrpSpPr>
          <p:cNvPr id="10" name="Group 8"/>
          <p:cNvGrpSpPr/>
          <p:nvPr/>
        </p:nvGrpSpPr>
        <p:grpSpPr>
          <a:xfrm>
            <a:off x="9124182" y="262851"/>
            <a:ext cx="2864618" cy="709680"/>
            <a:chOff x="201497" y="6393289"/>
            <a:chExt cx="1281818" cy="338050"/>
          </a:xfrm>
        </p:grpSpPr>
        <p:pic>
          <p:nvPicPr>
            <p:cNvPr id="11"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12"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13" name="Rectangle 3"/>
          <p:cNvSpPr/>
          <p:nvPr/>
        </p:nvSpPr>
        <p:spPr>
          <a:xfrm>
            <a:off x="934546" y="6015689"/>
            <a:ext cx="2551724" cy="400110"/>
          </a:xfrm>
          <a:prstGeom prst="rect">
            <a:avLst/>
          </a:prstGeom>
        </p:spPr>
        <p:txBody>
          <a:bodyPr wrap="none">
            <a:spAutoFit/>
          </a:bodyPr>
          <a:lstStyle/>
          <a:p>
            <a:r>
              <a:rPr lang="en-US" sz="2000" b="1" dirty="0">
                <a:solidFill>
                  <a:srgbClr val="000000">
                    <a:lumMod val="85000"/>
                    <a:lumOff val="15000"/>
                  </a:srgbClr>
                </a:solidFill>
                <a:latin typeface="Bell MT" panose="02020503060305020303" pitchFamily="18" charset="0"/>
              </a:rPr>
              <a:t>Sample Report</a:t>
            </a:r>
            <a:r>
              <a:rPr lang="en-US" sz="1600" b="1" dirty="0">
                <a:solidFill>
                  <a:srgbClr val="000000">
                    <a:lumMod val="85000"/>
                    <a:lumOff val="15000"/>
                  </a:srgbClr>
                </a:solidFill>
                <a:latin typeface="Bell MT" panose="02020503060305020303" pitchFamily="18" charset="0"/>
              </a:rPr>
              <a:t>| </a:t>
            </a:r>
            <a:r>
              <a:rPr lang="en-US" sz="2000" b="1" dirty="0">
                <a:solidFill>
                  <a:srgbClr val="000000">
                    <a:lumMod val="85000"/>
                    <a:lumOff val="15000"/>
                  </a:srgbClr>
                </a:solidFill>
                <a:latin typeface="Bell MT" panose="02020503060305020303" pitchFamily="18" charset="0"/>
              </a:rPr>
              <a:t>2026</a:t>
            </a:r>
          </a:p>
        </p:txBody>
      </p:sp>
      <p:pic>
        <p:nvPicPr>
          <p:cNvPr id="14"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r:id="rId3" action="ppaction://hlinksldjump"/>
          </p:cNvPr>
          <p:cNvSpPr/>
          <p:nvPr/>
        </p:nvSpPr>
        <p:spPr>
          <a:xfrm>
            <a:off x="314325" y="113503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 Market Signals</a:t>
            </a:r>
          </a:p>
        </p:txBody>
      </p:sp>
      <p:sp>
        <p:nvSpPr>
          <p:cNvPr id="11" name="Rounded Rectangle 10">
            <a:hlinkClick r:id="rId4" action="ppaction://hlinksldjump"/>
          </p:cNvPr>
          <p:cNvSpPr/>
          <p:nvPr/>
        </p:nvSpPr>
        <p:spPr>
          <a:xfrm>
            <a:off x="142875" y="1494026"/>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Market Overview</a:t>
            </a:r>
          </a:p>
        </p:txBody>
      </p:sp>
      <p:sp>
        <p:nvSpPr>
          <p:cNvPr id="12" name="Rounded Rectangle 11">
            <a:hlinkClick r:id="rId5" action="ppaction://hlinksldjump"/>
          </p:cNvPr>
          <p:cNvSpPr/>
          <p:nvPr/>
        </p:nvSpPr>
        <p:spPr>
          <a:xfrm>
            <a:off x="314325" y="186822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2. Market Taxonomy</a:t>
            </a:r>
          </a:p>
        </p:txBody>
      </p:sp>
      <p:sp>
        <p:nvSpPr>
          <p:cNvPr id="13" name="Rounded Rectangle 12">
            <a:hlinkClick r:id="rId6" action="ppaction://hlinksldjump"/>
          </p:cNvPr>
          <p:cNvSpPr/>
          <p:nvPr/>
        </p:nvSpPr>
        <p:spPr>
          <a:xfrm>
            <a:off x="314325" y="222721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3. Table of Contents</a:t>
            </a:r>
          </a:p>
        </p:txBody>
      </p:sp>
      <p:sp>
        <p:nvSpPr>
          <p:cNvPr id="14" name="Rounded Rectangle 13">
            <a:hlinkClick r:id="rId7" action="ppaction://hlinksldjump"/>
          </p:cNvPr>
          <p:cNvSpPr/>
          <p:nvPr/>
        </p:nvSpPr>
        <p:spPr>
          <a:xfrm>
            <a:off x="314325" y="258620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4. List of Figures, List of Tables</a:t>
            </a:r>
          </a:p>
        </p:txBody>
      </p:sp>
      <p:sp>
        <p:nvSpPr>
          <p:cNvPr id="15" name="Rounded Rectangle 14">
            <a:hlinkClick r:id="rId8" action="ppaction://hlinksldjump"/>
          </p:cNvPr>
          <p:cNvSpPr/>
          <p:nvPr/>
        </p:nvSpPr>
        <p:spPr>
          <a:xfrm>
            <a:off x="142875" y="294519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Global Market Outlook</a:t>
            </a:r>
          </a:p>
        </p:txBody>
      </p:sp>
      <p:sp>
        <p:nvSpPr>
          <p:cNvPr id="16" name="Rounded Rectangle 15">
            <a:hlinkClick r:id="rId9" action="ppaction://hlinksldjump"/>
          </p:cNvPr>
          <p:cNvSpPr/>
          <p:nvPr/>
        </p:nvSpPr>
        <p:spPr>
          <a:xfrm>
            <a:off x="314325" y="4396362"/>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8. Senior Dog Cognitive Supplement Market Global Overview</a:t>
            </a:r>
          </a:p>
        </p:txBody>
      </p:sp>
      <p:sp>
        <p:nvSpPr>
          <p:cNvPr id="17" name="Rounded Rectangle 16">
            <a:hlinkClick r:id="rId10" action="ppaction://hlinksldjump"/>
          </p:cNvPr>
          <p:cNvSpPr/>
          <p:nvPr/>
        </p:nvSpPr>
        <p:spPr>
          <a:xfrm>
            <a:off x="314325" y="4755351"/>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9. Global Market Analysis By Region</a:t>
            </a:r>
          </a:p>
        </p:txBody>
      </p:sp>
      <p:sp>
        <p:nvSpPr>
          <p:cNvPr id="18" name="Rounded Rectangle 17">
            <a:hlinkClick r:id="rId11" action="ppaction://hlinksldjump"/>
          </p:cNvPr>
          <p:cNvSpPr/>
          <p:nvPr/>
        </p:nvSpPr>
        <p:spPr>
          <a:xfrm>
            <a:off x="314325" y="5114340"/>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10. Global Market Analysis By Segments</a:t>
            </a:r>
          </a:p>
        </p:txBody>
      </p:sp>
      <p:sp>
        <p:nvSpPr>
          <p:cNvPr id="19" name="Rounded Rectangle 18">
            <a:hlinkClick r:id="rId12" action="ppaction://hlinksldjump"/>
          </p:cNvPr>
          <p:cNvSpPr/>
          <p:nvPr/>
        </p:nvSpPr>
        <p:spPr>
          <a:xfrm>
            <a:off x="314325" y="4037373"/>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7. Cross-sectional Assessment</a:t>
            </a:r>
          </a:p>
        </p:txBody>
      </p:sp>
      <p:sp>
        <p:nvSpPr>
          <p:cNvPr id="20" name="Rounded Rectangle 19">
            <a:hlinkClick r:id="rId13" action="ppaction://hlinksldjump"/>
          </p:cNvPr>
          <p:cNvSpPr/>
          <p:nvPr/>
        </p:nvSpPr>
        <p:spPr>
          <a:xfrm>
            <a:off x="142875" y="5473329"/>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Europe Market Outlook</a:t>
            </a:r>
          </a:p>
        </p:txBody>
      </p:sp>
      <p:sp>
        <p:nvSpPr>
          <p:cNvPr id="21" name="Rounded Rectangle 20">
            <a:hlinkClick r:id="rId14" action="ppaction://hlinksldjump"/>
          </p:cNvPr>
          <p:cNvSpPr/>
          <p:nvPr/>
        </p:nvSpPr>
        <p:spPr>
          <a:xfrm>
            <a:off x="314325" y="6206519"/>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12. Europe Overview</a:t>
            </a:r>
          </a:p>
        </p:txBody>
      </p:sp>
      <p:sp>
        <p:nvSpPr>
          <p:cNvPr id="22" name="Rounded Rectangle 21">
            <a:hlinkClick r:id="rId15" action="ppaction://hlinksldjump"/>
          </p:cNvPr>
          <p:cNvSpPr/>
          <p:nvPr/>
        </p:nvSpPr>
        <p:spPr>
          <a:xfrm>
            <a:off x="6391275" y="113503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13. Europe Market Analysis By Country</a:t>
            </a:r>
          </a:p>
        </p:txBody>
      </p:sp>
      <p:sp>
        <p:nvSpPr>
          <p:cNvPr id="23" name="Rounded Rectangle 22">
            <a:hlinkClick r:id="rId16" action="ppaction://hlinksldjump"/>
          </p:cNvPr>
          <p:cNvSpPr/>
          <p:nvPr/>
        </p:nvSpPr>
        <p:spPr>
          <a:xfrm>
            <a:off x="6391275" y="149402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14. Europe Market Analysis By Segments</a:t>
            </a:r>
          </a:p>
        </p:txBody>
      </p:sp>
      <p:sp>
        <p:nvSpPr>
          <p:cNvPr id="24" name="Rounded Rectangle 23">
            <a:hlinkClick r:id="rId17" action="ppaction://hlinksldjump"/>
          </p:cNvPr>
          <p:cNvSpPr/>
          <p:nvPr/>
        </p:nvSpPr>
        <p:spPr>
          <a:xfrm>
            <a:off x="314325" y="5847530"/>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11. Cross-sectional Assessment</a:t>
            </a:r>
          </a:p>
        </p:txBody>
      </p:sp>
      <p:sp>
        <p:nvSpPr>
          <p:cNvPr id="25" name="Rounded Rectangle 24">
            <a:hlinkClick r:id="rId18" action="ppaction://hlinksldjump"/>
          </p:cNvPr>
          <p:cNvSpPr/>
          <p:nvPr/>
        </p:nvSpPr>
        <p:spPr>
          <a:xfrm>
            <a:off x="6219825" y="185301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Country Market Outlook</a:t>
            </a:r>
          </a:p>
        </p:txBody>
      </p:sp>
      <p:sp>
        <p:nvSpPr>
          <p:cNvPr id="26" name="Rounded Rectangle 25">
            <a:hlinkClick r:id="rId19" action="ppaction://hlinksldjump"/>
          </p:cNvPr>
          <p:cNvSpPr/>
          <p:nvPr/>
        </p:nvSpPr>
        <p:spPr>
          <a:xfrm>
            <a:off x="6391275" y="222721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15. Senior Dog Cognitive Supplement Market Overview (Volume &amp; Value)</a:t>
            </a:r>
          </a:p>
        </p:txBody>
      </p:sp>
      <p:sp>
        <p:nvSpPr>
          <p:cNvPr id="27" name="Rounded Rectangle 26">
            <a:hlinkClick r:id="rId20" action="ppaction://hlinksldjump"/>
          </p:cNvPr>
          <p:cNvSpPr/>
          <p:nvPr/>
        </p:nvSpPr>
        <p:spPr>
          <a:xfrm>
            <a:off x="6391275" y="258620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16. Segment Overview (Volume &amp; Value)</a:t>
            </a:r>
          </a:p>
        </p:txBody>
      </p:sp>
      <p:sp>
        <p:nvSpPr>
          <p:cNvPr id="28" name="Rounded Rectangle 27">
            <a:hlinkClick r:id="rId21" action="ppaction://hlinksldjump"/>
          </p:cNvPr>
          <p:cNvSpPr/>
          <p:nvPr/>
        </p:nvSpPr>
        <p:spPr>
          <a:xfrm>
            <a:off x="6219825" y="294519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Pricing Assessment</a:t>
            </a:r>
          </a:p>
        </p:txBody>
      </p:sp>
      <p:sp>
        <p:nvSpPr>
          <p:cNvPr id="29" name="Rounded Rectangle 28">
            <a:hlinkClick r:id="rId22" action="ppaction://hlinksldjump"/>
          </p:cNvPr>
          <p:cNvSpPr/>
          <p:nvPr/>
        </p:nvSpPr>
        <p:spPr>
          <a:xfrm>
            <a:off x="6391275" y="331939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17. Senior Dog Cognitive Supplement Market Pricing Analysis</a:t>
            </a:r>
          </a:p>
        </p:txBody>
      </p:sp>
      <p:sp>
        <p:nvSpPr>
          <p:cNvPr id="30" name="Rounded Rectangle 29">
            <a:hlinkClick r:id="rId23" action="ppaction://hlinksldjump"/>
          </p:cNvPr>
          <p:cNvSpPr/>
          <p:nvPr/>
        </p:nvSpPr>
        <p:spPr>
          <a:xfrm>
            <a:off x="6391275" y="367838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18. Supply Chain Analysis</a:t>
            </a:r>
          </a:p>
        </p:txBody>
      </p:sp>
      <p:sp>
        <p:nvSpPr>
          <p:cNvPr id="31" name="Rounded Rectangle 30">
            <a:hlinkClick r:id="rId24" action="ppaction://hlinksldjump"/>
          </p:cNvPr>
          <p:cNvSpPr/>
          <p:nvPr/>
        </p:nvSpPr>
        <p:spPr>
          <a:xfrm>
            <a:off x="6219825" y="4037373"/>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Market Dynamics</a:t>
            </a:r>
          </a:p>
        </p:txBody>
      </p:sp>
      <p:sp>
        <p:nvSpPr>
          <p:cNvPr id="32" name="Rounded Rectangle 31">
            <a:hlinkClick r:id="rId25" action="ppaction://hlinksldjump"/>
          </p:cNvPr>
          <p:cNvSpPr/>
          <p:nvPr/>
        </p:nvSpPr>
        <p:spPr>
          <a:xfrm>
            <a:off x="6391275" y="441157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19. Market Dynamics &amp; Forces</a:t>
            </a:r>
          </a:p>
        </p:txBody>
      </p:sp>
      <p:sp>
        <p:nvSpPr>
          <p:cNvPr id="33" name="Rounded Rectangle 32">
            <a:hlinkClick r:id="rId26" action="ppaction://hlinksldjump"/>
          </p:cNvPr>
          <p:cNvSpPr/>
          <p:nvPr/>
        </p:nvSpPr>
        <p:spPr>
          <a:xfrm>
            <a:off x="6219825" y="4770563"/>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Competition Assessment</a:t>
            </a:r>
          </a:p>
        </p:txBody>
      </p:sp>
      <p:sp>
        <p:nvSpPr>
          <p:cNvPr id="34" name="Rounded Rectangle 33">
            <a:hlinkClick r:id="rId27" action="ppaction://hlinksldjump"/>
          </p:cNvPr>
          <p:cNvSpPr/>
          <p:nvPr/>
        </p:nvSpPr>
        <p:spPr>
          <a:xfrm>
            <a:off x="6391275" y="514476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20. Competitive Landscape</a:t>
            </a:r>
          </a:p>
        </p:txBody>
      </p:sp>
      <p:sp>
        <p:nvSpPr>
          <p:cNvPr id="35" name="Rounded Rectangle 34">
            <a:hlinkClick r:id="rId28" action="ppaction://hlinksldjump"/>
          </p:cNvPr>
          <p:cNvSpPr/>
          <p:nvPr/>
        </p:nvSpPr>
        <p:spPr>
          <a:xfrm>
            <a:off x="314325" y="331939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5. Market Share by Leading Players</a:t>
            </a:r>
          </a:p>
        </p:txBody>
      </p:sp>
      <p:sp>
        <p:nvSpPr>
          <p:cNvPr id="36" name="Rounded Rectangle 35">
            <a:hlinkClick r:id="rId29" action="ppaction://hlinksldjump"/>
          </p:cNvPr>
          <p:cNvSpPr/>
          <p:nvPr/>
        </p:nvSpPr>
        <p:spPr>
          <a:xfrm>
            <a:off x="314325" y="367838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6. Company Profiles &amp; Strategic Benchmarking</a:t>
            </a:r>
          </a:p>
        </p:txBody>
      </p:sp>
      <p:sp>
        <p:nvSpPr>
          <p:cNvPr id="37" name="TextBox 3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489325"/>
            <a:ext cx="8572500" cy="514350"/>
          </a:xfrm>
          <a:prstGeom prst="rect">
            <a:avLst/>
          </a:prstGeom>
          <a:noFill/>
        </p:spPr>
        <p:txBody>
          <a:bodyPr wrap="square" lIns="0" tIns="0" r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Signals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Market Signals Reshaping Senior Dog Cognitive Supplement Demand</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Signals reshaping Senior Dog Cognitive Supplement demand, the evidence behind each and what it implies for the global market</a:t>
            </a:r>
          </a:p>
        </p:txBody>
      </p:sp>
      <p:graphicFrame>
        <p:nvGraphicFramePr>
          <p:cNvPr id="10" name="Table 9"/>
          <p:cNvGraphicFramePr>
            <a:graphicFrameLocks noGrp="1"/>
          </p:cNvGraphicFramePr>
          <p:nvPr/>
        </p:nvGraphicFramePr>
        <p:xfrm>
          <a:off x="142875" y="1062022"/>
          <a:ext cx="12477750" cy="5549125"/>
        </p:xfrm>
        <a:graphic>
          <a:graphicData uri="http://schemas.openxmlformats.org/drawingml/2006/table">
            <a:tbl>
              <a:tblPr>
                <a:tableStyleId>{5C22544A-7EE6-4342-B048-85BDC9FD1C3A}</a:tableStyleId>
              </a:tblPr>
              <a:tblGrid>
                <a:gridCol w="500062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346820">
                <a:tc>
                  <a:txBody>
                    <a:bodyPr/>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a:lstStyle/>
                    <a:p>
                      <a:pPr algn="l"/>
                      <a:r>
                        <a:rPr sz="1100" b="1">
                          <a:solidFill>
                            <a:srgbClr val="0B2E4A"/>
                          </a:solidFill>
                          <a:latin typeface="Calibri"/>
                        </a:rPr>
                        <a:t>WHAT WE'RE OBSERVING</a:t>
                      </a:r>
                    </a:p>
                  </a:txBody>
                  <a:tcPr marL="70000" marR="70000" marT="45000" marB="45000" anchor="ctr">
                    <a:solidFill>
                      <a:srgbClr val="EAF1F8"/>
                    </a:solidFill>
                  </a:tcPr>
                </a:tc>
                <a:tc>
                  <a:txBody>
                    <a:bodyPr/>
                    <a:lstStyle/>
                    <a:p>
                      <a:pPr algn="l"/>
                      <a:r>
                        <a:rPr sz="1100" b="1">
                          <a:solidFill>
                            <a:srgbClr val="0B2E4A"/>
                          </a:solidFill>
                          <a:latin typeface="Calibri"/>
                        </a:rPr>
                        <a:t>SELECT DATA POINTS</a:t>
                      </a:r>
                    </a:p>
                  </a:txBody>
                  <a:tcPr marL="70000" marR="70000" marT="45000" marB="45000" anchor="ctr">
                    <a:solidFill>
                      <a:srgbClr val="EAF1F8"/>
                    </a:solidFill>
                  </a:tcPr>
                </a:tc>
                <a:extLst>
                  <a:ext uri="{0D108BD9-81ED-4DB2-BD59-A6C34878D82A}">
                    <a16:rowId xmlns:a16="http://schemas.microsoft.com/office/drawing/2014/main" val="10000"/>
                  </a:ext>
                </a:extLst>
              </a:tr>
              <a:tr h="1040461">
                <a:tc>
                  <a:txBody>
                    <a:bodyPr/>
                    <a:lstStyle/>
                    <a:p>
                      <a:pPr algn="l"/>
                      <a:r>
                        <a:rPr sz="1100" b="1">
                          <a:solidFill>
                            <a:srgbClr val="0B2E4A"/>
                          </a:solidFill>
                          <a:latin typeface="Calibri"/>
                        </a:rPr>
                        <a:t>How fast is Senior Dog Cognitive Supplement demand set to grow through 2036?</a:t>
                      </a:r>
                    </a:p>
                  </a:txBody>
                  <a:tcPr marL="70000" marR="70000" marT="45000" marB="45000" anchor="ctr">
                    <a:solidFill>
                      <a:srgbClr val="FFFFFF"/>
                    </a:solidFill>
                  </a:tcPr>
                </a:tc>
                <a:tc>
                  <a:txBody>
                    <a:bodyPr/>
                    <a:lstStyle/>
                    <a:p>
                      <a:pPr algn="l"/>
                      <a:endParaRPr/>
                    </a:p>
                  </a:txBody>
                  <a:tcPr marL="70000" marR="70000" marT="45000" marB="45000" anchor="ctr">
                    <a:solidFill>
                      <a:srgbClr val="FFFFFF"/>
                    </a:solidFill>
                  </a:tcPr>
                </a:tc>
                <a:tc>
                  <a:txBody>
                    <a:bodyPr/>
                    <a:lstStyle/>
                    <a:p>
                      <a:pPr algn="l"/>
                      <a:r>
                        <a:rPr sz="1100"/>
                        <a:t> </a:t>
                      </a:r>
                    </a:p>
                  </a:txBody>
                  <a:tcPr marL="70000" marR="70000" marT="45000" marB="45000" anchor="ctr">
                    <a:solidFill>
                      <a:srgbClr val="FFFFFF"/>
                    </a:solidFill>
                  </a:tcPr>
                </a:tc>
                <a:extLst>
                  <a:ext uri="{0D108BD9-81ED-4DB2-BD59-A6C34878D82A}">
                    <a16:rowId xmlns:a16="http://schemas.microsoft.com/office/drawing/2014/main" val="10001"/>
                  </a:ext>
                </a:extLst>
              </a:tr>
              <a:tr h="1040461">
                <a:tc>
                  <a:txBody>
                    <a:bodyPr/>
                    <a:lstStyle/>
                    <a:p>
                      <a:pPr algn="l"/>
                      <a:r>
                        <a:rPr sz="1100" b="1">
                          <a:solidFill>
                            <a:srgbClr val="0B2E4A"/>
                          </a:solidFill>
                          <a:latin typeface="Calibri"/>
                        </a:rPr>
                        <a:t>Which form type categories are buyers prioritising?</a:t>
                      </a:r>
                    </a:p>
                  </a:txBody>
                  <a:tcPr marL="70000" marR="70000" marT="45000" marB="45000" anchor="ctr">
                    <a:solidFill>
                      <a:srgbClr val="F6F9FC"/>
                    </a:solidFill>
                  </a:tcPr>
                </a:tc>
                <a:tc>
                  <a:txBody>
                    <a:bodyPr/>
                    <a:lstStyle/>
                    <a:p>
                      <a:pPr algn="l"/>
                      <a:endParaRPr/>
                    </a:p>
                  </a:txBody>
                  <a:tcPr marL="70000" marR="70000" marT="45000" marB="45000" anchor="ctr">
                    <a:solidFill>
                      <a:srgbClr val="F6F9FC"/>
                    </a:solidFill>
                  </a:tcPr>
                </a:tc>
                <a:tc>
                  <a:txBody>
                    <a:bodyPr/>
                    <a:lstStyle/>
                    <a:p>
                      <a:pPr algn="l"/>
                      <a:endParaRPr/>
                    </a:p>
                  </a:txBody>
                  <a:tcPr marL="70000" marR="70000" marT="45000" marB="45000" anchor="ctr">
                    <a:solidFill>
                      <a:srgbClr val="F6F9FC"/>
                    </a:solidFill>
                  </a:tcPr>
                </a:tc>
                <a:extLst>
                  <a:ext uri="{0D108BD9-81ED-4DB2-BD59-A6C34878D82A}">
                    <a16:rowId xmlns:a16="http://schemas.microsoft.com/office/drawing/2014/main" val="10002"/>
                  </a:ext>
                </a:extLst>
              </a:tr>
              <a:tr h="1040461">
                <a:tc>
                  <a:txBody>
                    <a:bodyPr/>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a:lstStyle/>
                    <a:p>
                      <a:pPr algn="l"/>
                      <a:endParaRPr/>
                    </a:p>
                  </a:txBody>
                  <a:tcPr marL="70000" marR="70000" marT="45000" marB="45000" anchor="ctr">
                    <a:solidFill>
                      <a:srgbClr val="FFFFFF"/>
                    </a:solidFill>
                  </a:tcPr>
                </a:tc>
                <a:tc>
                  <a:txBody>
                    <a:bodyPr/>
                    <a:lstStyle/>
                    <a:p>
                      <a:pPr algn="l"/>
                      <a:endParaRPr/>
                    </a:p>
                  </a:txBody>
                  <a:tcPr marL="70000" marR="70000" marT="45000" marB="45000" anchor="ctr">
                    <a:solidFill>
                      <a:srgbClr val="FFFFFF"/>
                    </a:solidFill>
                  </a:tcPr>
                </a:tc>
                <a:extLst>
                  <a:ext uri="{0D108BD9-81ED-4DB2-BD59-A6C34878D82A}">
                    <a16:rowId xmlns:a16="http://schemas.microsoft.com/office/drawing/2014/main" val="10003"/>
                  </a:ext>
                </a:extLst>
              </a:tr>
              <a:tr h="1040461">
                <a:tc>
                  <a:txBody>
                    <a:bodyPr/>
                    <a:lstStyle/>
                    <a:p>
                      <a:pPr algn="l"/>
                      <a:r>
                        <a:rPr sz="1100" b="1">
                          <a:solidFill>
                            <a:srgbClr val="0B2E4A"/>
                          </a:solidFill>
                          <a:latin typeface="Calibri"/>
                        </a:rPr>
                        <a:t>Which regions will drive the next wave of Senior Dog Cognitive Supplement demand?</a:t>
                      </a:r>
                    </a:p>
                  </a:txBody>
                  <a:tcPr marL="70000" marR="70000" marT="45000" marB="45000" anchor="ctr">
                    <a:solidFill>
                      <a:srgbClr val="F6F9FC"/>
                    </a:solidFill>
                  </a:tcPr>
                </a:tc>
                <a:tc>
                  <a:txBody>
                    <a:bodyPr/>
                    <a:lstStyle/>
                    <a:p>
                      <a:pPr algn="l"/>
                      <a:endParaRPr/>
                    </a:p>
                  </a:txBody>
                  <a:tcPr marL="70000" marR="70000" marT="45000" marB="45000" anchor="ctr">
                    <a:solidFill>
                      <a:srgbClr val="F6F9FC"/>
                    </a:solidFill>
                  </a:tcPr>
                </a:tc>
                <a:tc>
                  <a:txBody>
                    <a:bodyPr/>
                    <a:lstStyle/>
                    <a:p>
                      <a:pPr algn="l"/>
                      <a:endParaRPr/>
                    </a:p>
                  </a:txBody>
                  <a:tcPr marL="70000" marR="70000" marT="45000" marB="45000" anchor="ctr">
                    <a:solidFill>
                      <a:srgbClr val="F6F9FC"/>
                    </a:solidFill>
                  </a:tcPr>
                </a:tc>
                <a:extLst>
                  <a:ext uri="{0D108BD9-81ED-4DB2-BD59-A6C34878D82A}">
                    <a16:rowId xmlns:a16="http://schemas.microsoft.com/office/drawing/2014/main" val="10004"/>
                  </a:ext>
                </a:extLst>
              </a:tr>
              <a:tr h="1040461">
                <a:tc>
                  <a:txBody>
                    <a:bodyPr/>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a:lstStyle/>
                    <a:p>
                      <a:pPr algn="l"/>
                      <a:endParaRPr/>
                    </a:p>
                  </a:txBody>
                  <a:tcPr marL="70000" marR="70000" marT="45000" marB="45000" anchor="ctr">
                    <a:solidFill>
                      <a:srgbClr val="FFFFFF"/>
                    </a:solidFill>
                  </a:tcPr>
                </a:tc>
                <a:tc>
                  <a:txBody>
                    <a:bodyPr/>
                    <a:lstStyle/>
                    <a:p>
                      <a:pPr algn="l"/>
                      <a:endParaRPr/>
                    </a:p>
                  </a:txBody>
                  <a:tcPr marL="70000" marR="70000" marT="45000" marB="45000" anchor="ct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1689844" cy="186689"/>
          </a:xfrm>
          <a:prstGeom prst="rect">
            <a:avLst/>
          </a:prstGeom>
          <a:noFill/>
        </p:spPr>
        <p:txBody>
          <a:bodyPr wrap="none" lIns="0" tIns="0" rIns="0" bIns="0">
            <a:spAutoFit/>
          </a:bodyPr>
          <a:lstStyle/>
          <a:p>
            <a:r>
              <a:rPr sz="1100" b="0">
                <a:solidFill>
                  <a:srgbClr val="2E2E2E"/>
                </a:solidFill>
                <a:latin typeface="Calibri"/>
              </a:rPr>
              <a:t>Global demand expands at a</a:t>
            </a:r>
          </a:p>
        </p:txBody>
      </p:sp>
      <p:pic>
        <p:nvPicPr>
          <p:cNvPr id="13" name="Picture 12" descr="lock.png"/>
          <p:cNvPicPr>
            <a:picLocks noChangeAspect="1"/>
          </p:cNvPicPr>
          <p:nvPr/>
        </p:nvPicPr>
        <p:blipFill>
          <a:blip r:embed="rId4"/>
          <a:stretch>
            <a:fillRect/>
          </a:stretch>
        </p:blipFill>
        <p:spPr>
          <a:xfrm>
            <a:off x="5422645" y="1751653"/>
            <a:ext cx="128699" cy="187198"/>
          </a:xfrm>
          <a:prstGeom prst="rect">
            <a:avLst/>
          </a:prstGeom>
        </p:spPr>
      </p:pic>
      <p:sp>
        <p:nvSpPr>
          <p:cNvPr id="14" name="TextBox 13"/>
          <p:cNvSpPr txBox="1"/>
          <p:nvPr/>
        </p:nvSpPr>
        <p:spPr>
          <a:xfrm>
            <a:off x="5590141" y="1761432"/>
            <a:ext cx="2708109" cy="186689"/>
          </a:xfrm>
          <a:prstGeom prst="rect">
            <a:avLst/>
          </a:prstGeom>
          <a:noFill/>
        </p:spPr>
        <p:txBody>
          <a:bodyPr wrap="none" lIns="0" tIns="0" rIns="0" bIns="0">
            <a:spAutoFit/>
          </a:bodyPr>
          <a:lstStyle/>
          <a:p>
            <a:r>
              <a:rPr sz="1100" b="0">
                <a:solidFill>
                  <a:srgbClr val="2E2E2E"/>
                </a:solidFill>
                <a:latin typeface="Calibri"/>
              </a:rPr>
              <a:t>forecast CAGR (2026–2036), accelerating from</a:t>
            </a:r>
          </a:p>
        </p:txBody>
      </p:sp>
      <p:pic>
        <p:nvPicPr>
          <p:cNvPr id="15" name="Picture 14" descr="lock.png"/>
          <p:cNvPicPr>
            <a:picLocks noChangeAspect="1"/>
          </p:cNvPicPr>
          <p:nvPr/>
        </p:nvPicPr>
        <p:blipFill>
          <a:blip r:embed="rId4"/>
          <a:stretch>
            <a:fillRect/>
          </a:stretch>
        </p:blipFill>
        <p:spPr>
          <a:xfrm>
            <a:off x="8246302" y="1751653"/>
            <a:ext cx="128699" cy="187198"/>
          </a:xfrm>
          <a:prstGeom prst="rect">
            <a:avLst/>
          </a:prstGeom>
        </p:spPr>
      </p:pic>
      <p:sp>
        <p:nvSpPr>
          <p:cNvPr id="16" name="TextBox 15"/>
          <p:cNvSpPr txBox="1"/>
          <p:nvPr/>
        </p:nvSpPr>
        <p:spPr>
          <a:xfrm>
            <a:off x="3784750" y="1929072"/>
            <a:ext cx="1137865" cy="186689"/>
          </a:xfrm>
          <a:prstGeom prst="rect">
            <a:avLst/>
          </a:prstGeom>
          <a:noFill/>
        </p:spPr>
        <p:txBody>
          <a:bodyPr wrap="none" lIns="0" tIns="0" rIns="0" bIns="0">
            <a:spAutoFit/>
          </a:bodyPr>
          <a:lstStyle/>
          <a:p>
            <a:r>
              <a:rPr sz="1100" b="0">
                <a:solidFill>
                  <a:srgbClr val="2E2E2E"/>
                </a:solidFill>
                <a:latin typeface="Calibri"/>
              </a:rPr>
              <a:t>across 2021–2025.</a:t>
            </a:r>
          </a:p>
        </p:txBody>
      </p:sp>
      <p:pic>
        <p:nvPicPr>
          <p:cNvPr id="17" name="Picture 16" descr="lock.png"/>
          <p:cNvPicPr>
            <a:picLocks noChangeAspect="1"/>
          </p:cNvPicPr>
          <p:nvPr/>
        </p:nvPicPr>
        <p:blipFill>
          <a:blip r:embed="rId4"/>
          <a:stretch>
            <a:fillRect/>
          </a:stretch>
        </p:blipFill>
        <p:spPr>
          <a:xfrm>
            <a:off x="10214228" y="1689042"/>
            <a:ext cx="330041" cy="480060"/>
          </a:xfrm>
          <a:prstGeom prst="rect">
            <a:avLst/>
          </a:prstGeom>
        </p:spPr>
      </p:pic>
      <p:sp>
        <p:nvSpPr>
          <p:cNvPr id="18" name="TextBox 17"/>
          <p:cNvSpPr txBox="1"/>
          <p:nvPr/>
        </p:nvSpPr>
        <p:spPr>
          <a:xfrm>
            <a:off x="3784750" y="2801893"/>
            <a:ext cx="2446158" cy="186689"/>
          </a:xfrm>
          <a:prstGeom prst="rect">
            <a:avLst/>
          </a:prstGeom>
          <a:noFill/>
        </p:spPr>
        <p:txBody>
          <a:bodyPr wrap="none" lIns="0" tIns="0" rIns="0" bIns="0">
            <a:spAutoFit/>
          </a:bodyPr>
          <a:lstStyle/>
          <a:p>
            <a:r>
              <a:rPr sz="1100" b="0">
                <a:solidFill>
                  <a:srgbClr val="2E2E2E"/>
                </a:solidFill>
                <a:latin typeface="Calibri"/>
              </a:rPr>
              <a:t>Capsules and Softgels leads Form Type, at</a:t>
            </a:r>
          </a:p>
        </p:txBody>
      </p:sp>
      <p:pic>
        <p:nvPicPr>
          <p:cNvPr id="19" name="Picture 18" descr="lock.png"/>
          <p:cNvPicPr>
            <a:picLocks noChangeAspect="1"/>
          </p:cNvPicPr>
          <p:nvPr/>
        </p:nvPicPr>
        <p:blipFill>
          <a:blip r:embed="rId4"/>
          <a:stretch>
            <a:fillRect/>
          </a:stretch>
        </p:blipFill>
        <p:spPr>
          <a:xfrm>
            <a:off x="6178960" y="2792114"/>
            <a:ext cx="128699" cy="187198"/>
          </a:xfrm>
          <a:prstGeom prst="rect">
            <a:avLst/>
          </a:prstGeom>
        </p:spPr>
      </p:pic>
      <p:sp>
        <p:nvSpPr>
          <p:cNvPr id="20" name="TextBox 19"/>
          <p:cNvSpPr txBox="1"/>
          <p:nvPr/>
        </p:nvSpPr>
        <p:spPr>
          <a:xfrm>
            <a:off x="6346456" y="2801893"/>
            <a:ext cx="1854100" cy="186689"/>
          </a:xfrm>
          <a:prstGeom prst="rect">
            <a:avLst/>
          </a:prstGeom>
          <a:noFill/>
        </p:spPr>
        <p:txBody>
          <a:bodyPr wrap="none" lIns="0" tIns="0" rIns="0" bIns="0">
            <a:spAutoFit/>
          </a:bodyPr>
          <a:lstStyle/>
          <a:p>
            <a:r>
              <a:rPr sz="1100" b="0">
                <a:solidFill>
                  <a:srgbClr val="2E2E2E"/>
                </a:solidFill>
                <a:latin typeface="Calibri"/>
              </a:rPr>
              <a:t>of 2036 value, within a mix of 6</a:t>
            </a:r>
          </a:p>
        </p:txBody>
      </p:sp>
      <p:sp>
        <p:nvSpPr>
          <p:cNvPr id="21" name="TextBox 20"/>
          <p:cNvSpPr txBox="1"/>
          <p:nvPr/>
        </p:nvSpPr>
        <p:spPr>
          <a:xfrm>
            <a:off x="3784750" y="2969533"/>
            <a:ext cx="1158602" cy="186689"/>
          </a:xfrm>
          <a:prstGeom prst="rect">
            <a:avLst/>
          </a:prstGeom>
          <a:noFill/>
        </p:spPr>
        <p:txBody>
          <a:bodyPr wrap="none" lIns="0" tIns="0" rIns="0" bIns="0">
            <a:spAutoFit/>
          </a:bodyPr>
          <a:lstStyle/>
          <a:p>
            <a:r>
              <a:rPr sz="1100" b="0">
                <a:solidFill>
                  <a:srgbClr val="2E2E2E"/>
                </a:solidFill>
                <a:latin typeface="Calibri"/>
              </a:rPr>
              <a:t>tracked categories.</a:t>
            </a:r>
          </a:p>
        </p:txBody>
      </p:sp>
      <p:sp>
        <p:nvSpPr>
          <p:cNvPr id="22" name="TextBox 21"/>
          <p:cNvSpPr txBox="1"/>
          <p:nvPr/>
        </p:nvSpPr>
        <p:spPr>
          <a:xfrm>
            <a:off x="8785375" y="2885713"/>
            <a:ext cx="1705942" cy="186689"/>
          </a:xfrm>
          <a:prstGeom prst="rect">
            <a:avLst/>
          </a:prstGeom>
          <a:noFill/>
        </p:spPr>
        <p:txBody>
          <a:bodyPr wrap="none" lIns="0" tIns="0" rIns="0" bIns="0">
            <a:spAutoFit/>
          </a:bodyPr>
          <a:lstStyle/>
          <a:p>
            <a:r>
              <a:rPr sz="1100" b="0">
                <a:solidFill>
                  <a:srgbClr val="2E2E2E"/>
                </a:solidFill>
                <a:latin typeface="Calibri"/>
              </a:rPr>
              <a:t>Lead: Capsules and Softgels ·</a:t>
            </a:r>
          </a:p>
        </p:txBody>
      </p:sp>
      <p:pic>
        <p:nvPicPr>
          <p:cNvPr id="23" name="Picture 22" descr="lock.png"/>
          <p:cNvPicPr>
            <a:picLocks noChangeAspect="1"/>
          </p:cNvPicPr>
          <p:nvPr/>
        </p:nvPicPr>
        <p:blipFill>
          <a:blip r:embed="rId4"/>
          <a:stretch>
            <a:fillRect/>
          </a:stretch>
        </p:blipFill>
        <p:spPr>
          <a:xfrm>
            <a:off x="10439368" y="2875934"/>
            <a:ext cx="128699" cy="187198"/>
          </a:xfrm>
          <a:prstGeom prst="rect">
            <a:avLst/>
          </a:prstGeom>
        </p:spPr>
      </p:pic>
      <p:sp>
        <p:nvSpPr>
          <p:cNvPr id="24" name="TextBox 23"/>
          <p:cNvSpPr txBox="1"/>
          <p:nvPr/>
        </p:nvSpPr>
        <p:spPr>
          <a:xfrm>
            <a:off x="10606864" y="2885713"/>
            <a:ext cx="789433" cy="186689"/>
          </a:xfrm>
          <a:prstGeom prst="rect">
            <a:avLst/>
          </a:prstGeom>
          <a:noFill/>
        </p:spPr>
        <p:txBody>
          <a:bodyPr wrap="none" lIns="0" tIns="0" rIns="0" bIns="0">
            <a:spAutoFit/>
          </a:bodyPr>
          <a:lstStyle/>
          <a:p>
            <a:r>
              <a:rPr sz="1100" b="0">
                <a:solidFill>
                  <a:srgbClr val="2E2E2E"/>
                </a:solidFill>
                <a:latin typeface="Calibri"/>
              </a:rPr>
              <a:t>share (2036)</a:t>
            </a:r>
          </a:p>
        </p:txBody>
      </p:sp>
      <p:sp>
        <p:nvSpPr>
          <p:cNvPr id="25" name="TextBox 24"/>
          <p:cNvSpPr txBox="1"/>
          <p:nvPr/>
        </p:nvSpPr>
        <p:spPr>
          <a:xfrm>
            <a:off x="3784750" y="3842354"/>
            <a:ext cx="4558059" cy="186689"/>
          </a:xfrm>
          <a:prstGeom prst="rect">
            <a:avLst/>
          </a:prstGeom>
          <a:noFill/>
        </p:spPr>
        <p:txBody>
          <a:bodyPr wrap="none" lIns="0" tIns="0" rIns="0" bIns="0">
            <a:spAutoFit/>
          </a:bodyPr>
          <a:lstStyle/>
          <a:p>
            <a:r>
              <a:rPr sz="1100" b="0">
                <a:solidFill>
                  <a:srgbClr val="2E2E2E"/>
                </a:solidFill>
                <a:latin typeface="Calibri"/>
              </a:rPr>
              <a:t>Veterinary-Guided Cognitive Dysfunction Support is the fastest-growing part of</a:t>
            </a:r>
          </a:p>
        </p:txBody>
      </p:sp>
      <p:sp>
        <p:nvSpPr>
          <p:cNvPr id="26" name="TextBox 25"/>
          <p:cNvSpPr txBox="1"/>
          <p:nvPr/>
        </p:nvSpPr>
        <p:spPr>
          <a:xfrm>
            <a:off x="3784750" y="4009994"/>
            <a:ext cx="1486296" cy="186689"/>
          </a:xfrm>
          <a:prstGeom prst="rect">
            <a:avLst/>
          </a:prstGeom>
          <a:noFill/>
        </p:spPr>
        <p:txBody>
          <a:bodyPr wrap="none" lIns="0" tIns="0" rIns="0" bIns="0">
            <a:spAutoFit/>
          </a:bodyPr>
          <a:lstStyle/>
          <a:p>
            <a:r>
              <a:rPr sz="1100" b="0">
                <a:solidFill>
                  <a:srgbClr val="2E2E2E"/>
                </a:solidFill>
                <a:latin typeface="Calibri"/>
              </a:rPr>
              <a:t>End-use Application, at a</a:t>
            </a:r>
          </a:p>
        </p:txBody>
      </p:sp>
      <p:pic>
        <p:nvPicPr>
          <p:cNvPr id="27" name="Picture 26" descr="lock.png"/>
          <p:cNvPicPr>
            <a:picLocks noChangeAspect="1"/>
          </p:cNvPicPr>
          <p:nvPr/>
        </p:nvPicPr>
        <p:blipFill>
          <a:blip r:embed="rId4"/>
          <a:stretch>
            <a:fillRect/>
          </a:stretch>
        </p:blipFill>
        <p:spPr>
          <a:xfrm>
            <a:off x="5219098" y="4000215"/>
            <a:ext cx="128699" cy="187198"/>
          </a:xfrm>
          <a:prstGeom prst="rect">
            <a:avLst/>
          </a:prstGeom>
        </p:spPr>
      </p:pic>
      <p:sp>
        <p:nvSpPr>
          <p:cNvPr id="28" name="TextBox 27"/>
          <p:cNvSpPr txBox="1"/>
          <p:nvPr/>
        </p:nvSpPr>
        <p:spPr>
          <a:xfrm>
            <a:off x="5386594" y="4009994"/>
            <a:ext cx="2537031" cy="186689"/>
          </a:xfrm>
          <a:prstGeom prst="rect">
            <a:avLst/>
          </a:prstGeom>
          <a:noFill/>
        </p:spPr>
        <p:txBody>
          <a:bodyPr wrap="none" lIns="0" tIns="0" rIns="0" bIns="0">
            <a:spAutoFit/>
          </a:bodyPr>
          <a:lstStyle/>
          <a:p>
            <a:r>
              <a:rPr sz="1100" b="0">
                <a:solidFill>
                  <a:srgbClr val="2E2E2E"/>
                </a:solidFill>
                <a:latin typeface="Calibri"/>
              </a:rPr>
              <a:t>forecast CAGR outpacing the wider market.</a:t>
            </a:r>
          </a:p>
        </p:txBody>
      </p:sp>
      <p:sp>
        <p:nvSpPr>
          <p:cNvPr id="29" name="TextBox 28"/>
          <p:cNvSpPr txBox="1"/>
          <p:nvPr/>
        </p:nvSpPr>
        <p:spPr>
          <a:xfrm>
            <a:off x="8785375" y="3842354"/>
            <a:ext cx="2873687" cy="186689"/>
          </a:xfrm>
          <a:prstGeom prst="rect">
            <a:avLst/>
          </a:prstGeom>
          <a:noFill/>
        </p:spPr>
        <p:txBody>
          <a:bodyPr wrap="none" lIns="0" tIns="0" rIns="0" bIns="0">
            <a:spAutoFit/>
          </a:bodyPr>
          <a:lstStyle/>
          <a:p>
            <a:r>
              <a:rPr sz="1100" b="0">
                <a:solidFill>
                  <a:srgbClr val="2E2E2E"/>
                </a:solidFill>
                <a:latin typeface="Calibri"/>
              </a:rPr>
              <a:t>Fastest: Veterinary-Guided Cognitive Dysfunction</a:t>
            </a:r>
          </a:p>
        </p:txBody>
      </p:sp>
      <p:sp>
        <p:nvSpPr>
          <p:cNvPr id="30" name="TextBox 29"/>
          <p:cNvSpPr txBox="1"/>
          <p:nvPr/>
        </p:nvSpPr>
        <p:spPr>
          <a:xfrm>
            <a:off x="8785375" y="4009994"/>
            <a:ext cx="596800" cy="186689"/>
          </a:xfrm>
          <a:prstGeom prst="rect">
            <a:avLst/>
          </a:prstGeom>
          <a:noFill/>
        </p:spPr>
        <p:txBody>
          <a:bodyPr wrap="none" lIns="0" tIns="0" rIns="0" bIns="0">
            <a:spAutoFit/>
          </a:bodyPr>
          <a:lstStyle/>
          <a:p>
            <a:r>
              <a:rPr sz="1100" b="0">
                <a:solidFill>
                  <a:srgbClr val="2E2E2E"/>
                </a:solidFill>
                <a:latin typeface="Calibri"/>
              </a:rPr>
              <a:t>Support ·</a:t>
            </a:r>
          </a:p>
        </p:txBody>
      </p:sp>
      <p:pic>
        <p:nvPicPr>
          <p:cNvPr id="31" name="Picture 30" descr="lock.png"/>
          <p:cNvPicPr>
            <a:picLocks noChangeAspect="1"/>
          </p:cNvPicPr>
          <p:nvPr/>
        </p:nvPicPr>
        <p:blipFill>
          <a:blip r:embed="rId4"/>
          <a:stretch>
            <a:fillRect/>
          </a:stretch>
        </p:blipFill>
        <p:spPr>
          <a:xfrm>
            <a:off x="9330227" y="4000215"/>
            <a:ext cx="128699" cy="187198"/>
          </a:xfrm>
          <a:prstGeom prst="rect">
            <a:avLst/>
          </a:prstGeom>
        </p:spPr>
      </p:pic>
      <p:sp>
        <p:nvSpPr>
          <p:cNvPr id="32" name="TextBox 31"/>
          <p:cNvSpPr txBox="1"/>
          <p:nvPr/>
        </p:nvSpPr>
        <p:spPr>
          <a:xfrm>
            <a:off x="9497723" y="4009994"/>
            <a:ext cx="502377" cy="186689"/>
          </a:xfrm>
          <a:prstGeom prst="rect">
            <a:avLst/>
          </a:prstGeom>
          <a:noFill/>
        </p:spPr>
        <p:txBody>
          <a:bodyPr wrap="none" lIns="0" tIns="0" rIns="0" bIns="0">
            <a:spAutoFit/>
          </a:bodyPr>
          <a:lstStyle/>
          <a:p>
            <a:r>
              <a:rPr sz="1100" b="0">
                <a:solidFill>
                  <a:srgbClr val="2E2E2E"/>
                </a:solidFill>
                <a:latin typeface="Calibri"/>
              </a:rPr>
              <a:t>F-CAGR</a:t>
            </a:r>
          </a:p>
        </p:txBody>
      </p:sp>
      <p:sp>
        <p:nvSpPr>
          <p:cNvPr id="33" name="TextBox 32"/>
          <p:cNvSpPr txBox="1"/>
          <p:nvPr/>
        </p:nvSpPr>
        <p:spPr>
          <a:xfrm>
            <a:off x="3784750" y="4882815"/>
            <a:ext cx="2673474" cy="186689"/>
          </a:xfrm>
          <a:prstGeom prst="rect">
            <a:avLst/>
          </a:prstGeom>
          <a:noFill/>
        </p:spPr>
        <p:txBody>
          <a:bodyPr wrap="none" lIns="0" tIns="0" rIns="0" bIns="0">
            <a:spAutoFit/>
          </a:bodyPr>
          <a:lstStyle/>
          <a:p>
            <a:r>
              <a:rPr sz="1100" b="0">
                <a:solidFill>
                  <a:srgbClr val="2E2E2E"/>
                </a:solidFill>
                <a:latin typeface="Calibri"/>
              </a:rPr>
              <a:t>North America is the largest regional market (</a:t>
            </a:r>
          </a:p>
        </p:txBody>
      </p:sp>
      <p:pic>
        <p:nvPicPr>
          <p:cNvPr id="34" name="Picture 33" descr="lock.png"/>
          <p:cNvPicPr>
            <a:picLocks noChangeAspect="1"/>
          </p:cNvPicPr>
          <p:nvPr/>
        </p:nvPicPr>
        <p:blipFill>
          <a:blip r:embed="rId4"/>
          <a:stretch>
            <a:fillRect/>
          </a:stretch>
        </p:blipFill>
        <p:spPr>
          <a:xfrm>
            <a:off x="6406275" y="4873036"/>
            <a:ext cx="128699" cy="187198"/>
          </a:xfrm>
          <a:prstGeom prst="rect">
            <a:avLst/>
          </a:prstGeom>
        </p:spPr>
      </p:pic>
      <p:sp>
        <p:nvSpPr>
          <p:cNvPr id="35" name="TextBox 34"/>
          <p:cNvSpPr txBox="1"/>
          <p:nvPr/>
        </p:nvSpPr>
        <p:spPr>
          <a:xfrm>
            <a:off x="6573771" y="4882815"/>
            <a:ext cx="2016720" cy="186689"/>
          </a:xfrm>
          <a:prstGeom prst="rect">
            <a:avLst/>
          </a:prstGeom>
          <a:noFill/>
        </p:spPr>
        <p:txBody>
          <a:bodyPr wrap="none" lIns="0" tIns="0" rIns="0" bIns="0">
            <a:spAutoFit/>
          </a:bodyPr>
          <a:lstStyle/>
          <a:p>
            <a:r>
              <a:rPr sz="1100" b="0">
                <a:solidFill>
                  <a:srgbClr val="2E2E2E"/>
                </a:solidFill>
                <a:latin typeface="Calibri"/>
              </a:rPr>
              <a:t>of 2036 value), while South Asia &amp;</a:t>
            </a:r>
          </a:p>
        </p:txBody>
      </p:sp>
      <p:sp>
        <p:nvSpPr>
          <p:cNvPr id="36" name="TextBox 35"/>
          <p:cNvSpPr txBox="1"/>
          <p:nvPr/>
        </p:nvSpPr>
        <p:spPr>
          <a:xfrm>
            <a:off x="3784750" y="5050455"/>
            <a:ext cx="1374154" cy="186689"/>
          </a:xfrm>
          <a:prstGeom prst="rect">
            <a:avLst/>
          </a:prstGeom>
          <a:noFill/>
        </p:spPr>
        <p:txBody>
          <a:bodyPr wrap="none" lIns="0" tIns="0" rIns="0" bIns="0">
            <a:spAutoFit/>
          </a:bodyPr>
          <a:lstStyle/>
          <a:p>
            <a:r>
              <a:rPr sz="1100" b="0">
                <a:solidFill>
                  <a:srgbClr val="2E2E2E"/>
                </a:solidFill>
                <a:latin typeface="Calibri"/>
              </a:rPr>
              <a:t>Pacific grows fastest at</a:t>
            </a:r>
          </a:p>
        </p:txBody>
      </p:sp>
      <p:pic>
        <p:nvPicPr>
          <p:cNvPr id="37" name="Picture 36" descr="lock.png"/>
          <p:cNvPicPr>
            <a:picLocks noChangeAspect="1"/>
          </p:cNvPicPr>
          <p:nvPr/>
        </p:nvPicPr>
        <p:blipFill>
          <a:blip r:embed="rId4"/>
          <a:stretch>
            <a:fillRect/>
          </a:stretch>
        </p:blipFill>
        <p:spPr>
          <a:xfrm>
            <a:off x="5106956" y="5040676"/>
            <a:ext cx="128699" cy="187198"/>
          </a:xfrm>
          <a:prstGeom prst="rect">
            <a:avLst/>
          </a:prstGeom>
        </p:spPr>
      </p:pic>
      <p:sp>
        <p:nvSpPr>
          <p:cNvPr id="38" name="TextBox 37"/>
          <p:cNvSpPr txBox="1"/>
          <p:nvPr/>
        </p:nvSpPr>
        <p:spPr>
          <a:xfrm>
            <a:off x="5274452" y="5050455"/>
            <a:ext cx="111397" cy="186689"/>
          </a:xfrm>
          <a:prstGeom prst="rect">
            <a:avLst/>
          </a:prstGeom>
          <a:noFill/>
        </p:spPr>
        <p:txBody>
          <a:bodyPr wrap="none" lIns="0" tIns="0" rIns="0" bIns="0">
            <a:spAutoFit/>
          </a:bodyPr>
          <a:lstStyle/>
          <a:p>
            <a:r>
              <a:rPr sz="1100" b="0">
                <a:solidFill>
                  <a:srgbClr val="2E2E2E"/>
                </a:solidFill>
                <a:latin typeface="Calibri"/>
              </a:rPr>
              <a:t>.</a:t>
            </a:r>
          </a:p>
        </p:txBody>
      </p:sp>
      <p:sp>
        <p:nvSpPr>
          <p:cNvPr id="39" name="TextBox 38"/>
          <p:cNvSpPr txBox="1"/>
          <p:nvPr/>
        </p:nvSpPr>
        <p:spPr>
          <a:xfrm>
            <a:off x="8785375" y="4882815"/>
            <a:ext cx="1464195" cy="186689"/>
          </a:xfrm>
          <a:prstGeom prst="rect">
            <a:avLst/>
          </a:prstGeom>
          <a:noFill/>
        </p:spPr>
        <p:txBody>
          <a:bodyPr wrap="none" lIns="0" tIns="0" rIns="0" bIns="0">
            <a:spAutoFit/>
          </a:bodyPr>
          <a:lstStyle/>
          <a:p>
            <a:r>
              <a:rPr sz="1100" b="0">
                <a:solidFill>
                  <a:srgbClr val="2E2E2E"/>
                </a:solidFill>
                <a:latin typeface="Calibri"/>
              </a:rPr>
              <a:t>Largest: North America (</a:t>
            </a:r>
          </a:p>
        </p:txBody>
      </p:sp>
      <p:pic>
        <p:nvPicPr>
          <p:cNvPr id="40" name="Picture 39" descr="lock.png"/>
          <p:cNvPicPr>
            <a:picLocks noChangeAspect="1"/>
          </p:cNvPicPr>
          <p:nvPr/>
        </p:nvPicPr>
        <p:blipFill>
          <a:blip r:embed="rId4"/>
          <a:stretch>
            <a:fillRect/>
          </a:stretch>
        </p:blipFill>
        <p:spPr>
          <a:xfrm>
            <a:off x="10197622" y="4873036"/>
            <a:ext cx="128699" cy="187198"/>
          </a:xfrm>
          <a:prstGeom prst="rect">
            <a:avLst/>
          </a:prstGeom>
        </p:spPr>
      </p:pic>
      <p:sp>
        <p:nvSpPr>
          <p:cNvPr id="41" name="TextBox 40"/>
          <p:cNvSpPr txBox="1"/>
          <p:nvPr/>
        </p:nvSpPr>
        <p:spPr>
          <a:xfrm>
            <a:off x="10365118" y="4882815"/>
            <a:ext cx="1413931" cy="186689"/>
          </a:xfrm>
          <a:prstGeom prst="rect">
            <a:avLst/>
          </a:prstGeom>
          <a:noFill/>
        </p:spPr>
        <p:txBody>
          <a:bodyPr wrap="none" lIns="0" tIns="0" rIns="0" bIns="0">
            <a:spAutoFit/>
          </a:bodyPr>
          <a:lstStyle/>
          <a:p>
            <a:r>
              <a:rPr sz="1100" b="0">
                <a:solidFill>
                  <a:srgbClr val="2E2E2E"/>
                </a:solidFill>
                <a:latin typeface="Calibri"/>
              </a:rPr>
              <a:t>) · Fastest: South Asia &amp;</a:t>
            </a:r>
          </a:p>
        </p:txBody>
      </p:sp>
      <p:sp>
        <p:nvSpPr>
          <p:cNvPr id="42" name="TextBox 41"/>
          <p:cNvSpPr txBox="1"/>
          <p:nvPr/>
        </p:nvSpPr>
        <p:spPr>
          <a:xfrm>
            <a:off x="8785375" y="5050455"/>
            <a:ext cx="514672" cy="186689"/>
          </a:xfrm>
          <a:prstGeom prst="rect">
            <a:avLst/>
          </a:prstGeom>
          <a:noFill/>
        </p:spPr>
        <p:txBody>
          <a:bodyPr wrap="none" lIns="0" tIns="0" rIns="0" bIns="0">
            <a:spAutoFit/>
          </a:bodyPr>
          <a:lstStyle/>
          <a:p>
            <a:r>
              <a:rPr sz="1100" b="0">
                <a:solidFill>
                  <a:srgbClr val="2E2E2E"/>
                </a:solidFill>
                <a:latin typeface="Calibri"/>
              </a:rPr>
              <a:t>Pacific (</a:t>
            </a:r>
          </a:p>
        </p:txBody>
      </p:sp>
      <p:pic>
        <p:nvPicPr>
          <p:cNvPr id="43" name="Picture 42" descr="lock.png"/>
          <p:cNvPicPr>
            <a:picLocks noChangeAspect="1"/>
          </p:cNvPicPr>
          <p:nvPr/>
        </p:nvPicPr>
        <p:blipFill>
          <a:blip r:embed="rId4"/>
          <a:stretch>
            <a:fillRect/>
          </a:stretch>
        </p:blipFill>
        <p:spPr>
          <a:xfrm>
            <a:off x="9248099" y="5040676"/>
            <a:ext cx="128699" cy="187198"/>
          </a:xfrm>
          <a:prstGeom prst="rect">
            <a:avLst/>
          </a:prstGeom>
        </p:spPr>
      </p:pic>
      <p:sp>
        <p:nvSpPr>
          <p:cNvPr id="44" name="TextBox 43"/>
          <p:cNvSpPr txBox="1"/>
          <p:nvPr/>
        </p:nvSpPr>
        <p:spPr>
          <a:xfrm>
            <a:off x="9415594" y="5050455"/>
            <a:ext cx="118491" cy="186689"/>
          </a:xfrm>
          <a:prstGeom prst="rect">
            <a:avLst/>
          </a:prstGeom>
          <a:noFill/>
        </p:spPr>
        <p:txBody>
          <a:bodyPr wrap="none" lIns="0" tIns="0" rIns="0" bIns="0">
            <a:spAutoFit/>
          </a:bodyPr>
          <a:lstStyle/>
          <a:p>
            <a:r>
              <a:rPr sz="1100" b="0">
                <a:solidFill>
                  <a:srgbClr val="2E2E2E"/>
                </a:solidFill>
                <a:latin typeface="Calibri"/>
              </a:rPr>
              <a:t>)</a:t>
            </a:r>
          </a:p>
        </p:txBody>
      </p:sp>
      <p:sp>
        <p:nvSpPr>
          <p:cNvPr id="45" name="TextBox 44"/>
          <p:cNvSpPr txBox="1"/>
          <p:nvPr/>
        </p:nvSpPr>
        <p:spPr>
          <a:xfrm>
            <a:off x="3784750" y="5923276"/>
            <a:ext cx="945777" cy="186689"/>
          </a:xfrm>
          <a:prstGeom prst="rect">
            <a:avLst/>
          </a:prstGeom>
          <a:noFill/>
        </p:spPr>
        <p:txBody>
          <a:bodyPr wrap="none" lIns="0" tIns="0" rIns="0" bIns="0">
            <a:spAutoFit/>
          </a:bodyPr>
          <a:lstStyle/>
          <a:p>
            <a:r>
              <a:rPr sz="1100" b="0">
                <a:solidFill>
                  <a:srgbClr val="2E2E2E"/>
                </a:solidFill>
                <a:latin typeface="Calibri"/>
              </a:rPr>
              <a:t>An incremental</a:t>
            </a:r>
          </a:p>
        </p:txBody>
      </p:sp>
      <p:pic>
        <p:nvPicPr>
          <p:cNvPr id="46" name="Picture 45" descr="lock.png"/>
          <p:cNvPicPr>
            <a:picLocks noChangeAspect="1"/>
          </p:cNvPicPr>
          <p:nvPr/>
        </p:nvPicPr>
        <p:blipFill>
          <a:blip r:embed="rId4"/>
          <a:stretch>
            <a:fillRect/>
          </a:stretch>
        </p:blipFill>
        <p:spPr>
          <a:xfrm>
            <a:off x="4678579" y="5913497"/>
            <a:ext cx="128699" cy="187198"/>
          </a:xfrm>
          <a:prstGeom prst="rect">
            <a:avLst/>
          </a:prstGeom>
        </p:spPr>
      </p:pic>
      <p:sp>
        <p:nvSpPr>
          <p:cNvPr id="47" name="TextBox 46"/>
          <p:cNvSpPr txBox="1"/>
          <p:nvPr/>
        </p:nvSpPr>
        <p:spPr>
          <a:xfrm>
            <a:off x="4846075" y="5923276"/>
            <a:ext cx="3125043" cy="186689"/>
          </a:xfrm>
          <a:prstGeom prst="rect">
            <a:avLst/>
          </a:prstGeom>
          <a:noFill/>
        </p:spPr>
        <p:txBody>
          <a:bodyPr wrap="none" lIns="0" tIns="0" rIns="0" bIns="0">
            <a:spAutoFit/>
          </a:bodyPr>
          <a:lstStyle/>
          <a:p>
            <a:r>
              <a:rPr sz="1100" b="0">
                <a:solidFill>
                  <a:srgbClr val="2E2E2E"/>
                </a:solidFill>
                <a:latin typeface="Calibri"/>
              </a:rPr>
              <a:t>US$ Mn of demand is added between 2026 and 2036,</a:t>
            </a:r>
          </a:p>
        </p:txBody>
      </p:sp>
      <p:sp>
        <p:nvSpPr>
          <p:cNvPr id="48" name="TextBox 47"/>
          <p:cNvSpPr txBox="1"/>
          <p:nvPr/>
        </p:nvSpPr>
        <p:spPr>
          <a:xfrm>
            <a:off x="3784750" y="6090916"/>
            <a:ext cx="3324497" cy="186689"/>
          </a:xfrm>
          <a:prstGeom prst="rect">
            <a:avLst/>
          </a:prstGeom>
          <a:noFill/>
        </p:spPr>
        <p:txBody>
          <a:bodyPr wrap="none" lIns="0" tIns="0" rIns="0" bIns="0">
            <a:spAutoFit/>
          </a:bodyPr>
          <a:lstStyle/>
          <a:p>
            <a:r>
              <a:rPr sz="1100" b="0">
                <a:solidFill>
                  <a:srgbClr val="2E2E2E"/>
                </a:solidFill>
                <a:latin typeface="Calibri"/>
              </a:rPr>
              <a:t>front-loaded in the leading categories and regions above.</a:t>
            </a:r>
          </a:p>
        </p:txBody>
      </p:sp>
      <p:sp>
        <p:nvSpPr>
          <p:cNvPr id="49" name="TextBox 48"/>
          <p:cNvSpPr txBox="1"/>
          <p:nvPr/>
        </p:nvSpPr>
        <p:spPr>
          <a:xfrm>
            <a:off x="8785375" y="6007096"/>
            <a:ext cx="857919" cy="186689"/>
          </a:xfrm>
          <a:prstGeom prst="rect">
            <a:avLst/>
          </a:prstGeom>
          <a:noFill/>
        </p:spPr>
        <p:txBody>
          <a:bodyPr wrap="none" lIns="0" tIns="0" rIns="0" bIns="0">
            <a:spAutoFit/>
          </a:bodyPr>
          <a:lstStyle/>
          <a:p>
            <a:r>
              <a:rPr sz="1100" b="0">
                <a:solidFill>
                  <a:srgbClr val="2E2E2E"/>
                </a:solidFill>
                <a:latin typeface="Calibri"/>
              </a:rPr>
              <a:t>$ opportunity</a:t>
            </a:r>
          </a:p>
        </p:txBody>
      </p:sp>
      <p:pic>
        <p:nvPicPr>
          <p:cNvPr id="50" name="Picture 49" descr="lock.png"/>
          <p:cNvPicPr>
            <a:picLocks noChangeAspect="1"/>
          </p:cNvPicPr>
          <p:nvPr/>
        </p:nvPicPr>
        <p:blipFill>
          <a:blip r:embed="rId4"/>
          <a:stretch>
            <a:fillRect/>
          </a:stretch>
        </p:blipFill>
        <p:spPr>
          <a:xfrm>
            <a:off x="9591346" y="5997317"/>
            <a:ext cx="128699" cy="187198"/>
          </a:xfrm>
          <a:prstGeom prst="rect">
            <a:avLst/>
          </a:prstGeom>
        </p:spPr>
      </p:pic>
      <p:sp>
        <p:nvSpPr>
          <p:cNvPr id="51" name="TextBox 50"/>
          <p:cNvSpPr txBox="1"/>
          <p:nvPr/>
        </p:nvSpPr>
        <p:spPr>
          <a:xfrm>
            <a:off x="9758842" y="6007096"/>
            <a:ext cx="1345778" cy="186689"/>
          </a:xfrm>
          <a:prstGeom prst="rect">
            <a:avLst/>
          </a:prstGeom>
          <a:noFill/>
        </p:spPr>
        <p:txBody>
          <a:bodyPr wrap="none" lIns="0" tIns="0" rIns="0" bIns="0">
            <a:spAutoFit/>
          </a:bodyPr>
          <a:lstStyle/>
          <a:p>
            <a:r>
              <a:rPr sz="1100" b="0">
                <a:solidFill>
                  <a:srgbClr val="2E2E2E"/>
                </a:solidFill>
                <a:latin typeface="Calibri"/>
              </a:rPr>
              <a:t>US$ Mn (2026–2036) ·</a:t>
            </a:r>
          </a:p>
        </p:txBody>
      </p:sp>
      <p:pic>
        <p:nvPicPr>
          <p:cNvPr id="52" name="Picture 51" descr="lock.png"/>
          <p:cNvPicPr>
            <a:picLocks noChangeAspect="1"/>
          </p:cNvPicPr>
          <p:nvPr/>
        </p:nvPicPr>
        <p:blipFill>
          <a:blip r:embed="rId4"/>
          <a:stretch>
            <a:fillRect/>
          </a:stretch>
        </p:blipFill>
        <p:spPr>
          <a:xfrm>
            <a:off x="11052672" y="5997317"/>
            <a:ext cx="128699" cy="187198"/>
          </a:xfrm>
          <a:prstGeom prst="rect">
            <a:avLst/>
          </a:prstGeom>
        </p:spPr>
      </p:pic>
      <p:sp>
        <p:nvSpPr>
          <p:cNvPr id="53" name="TextBox 52"/>
          <p:cNvSpPr txBox="1"/>
          <p:nvPr/>
        </p:nvSpPr>
        <p:spPr>
          <a:xfrm>
            <a:off x="11220167" y="6007096"/>
            <a:ext cx="528315" cy="186689"/>
          </a:xfrm>
          <a:prstGeom prst="rect">
            <a:avLst/>
          </a:prstGeom>
          <a:noFill/>
        </p:spPr>
        <p:txBody>
          <a:bodyPr wrap="none" lIns="0" tIns="0" r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305175"/>
            <a:ext cx="7239000" cy="514350"/>
          </a:xfrm>
          <a:prstGeom prst="rect">
            <a:avLst/>
          </a:prstGeom>
          <a:noFill/>
        </p:spPr>
        <p:txBody>
          <a:bodyPr wrap="square" lIns="0" tIns="0" r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Market Taxonomy</a:t>
            </a:r>
          </a:p>
          <a:p>
            <a:pPr marL="342900" indent="-323850">
              <a:lnSpc>
                <a:spcPct val="100000"/>
              </a:lnSpc>
              <a:spcAft>
                <a:spcPts val="800"/>
              </a:spcAft>
            </a:pPr>
            <a:r>
              <a:rPr sz="2000" b="0">
                <a:solidFill>
                  <a:srgbClr val="FFD447"/>
                </a:solidFill>
                <a:latin typeface="Calibri"/>
              </a:rPr>
              <a:t>➤	Table of Contents</a:t>
            </a:r>
          </a:p>
          <a:p>
            <a:pPr marL="342900" indent="-323850">
              <a:lnSpc>
                <a:spcPct val="100000"/>
              </a:lnSpc>
              <a:spcAft>
                <a:spcPts val="800"/>
              </a:spcAft>
            </a:pPr>
            <a:r>
              <a:rPr sz="2000" b="0">
                <a:solidFill>
                  <a:srgbClr val="FFD447"/>
                </a:solidFill>
                <a:latin typeface="Calibri"/>
              </a:rPr>
              <a:t>➤	List of Figures, List of Tables</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Geographic Coverage</a:t>
            </a:r>
          </a:p>
          <a:p>
            <a:pPr marL="342900" indent="-323850">
              <a:lnSpc>
                <a:spcPct val="100000"/>
              </a:lnSpc>
              <a:spcAft>
                <a:spcPts val="800"/>
              </a:spcAft>
            </a:pPr>
            <a:r>
              <a:rPr sz="2000" b="0">
                <a:solidFill>
                  <a:srgbClr val="000000"/>
                </a:solidFill>
                <a:latin typeface="Calibri"/>
              </a:rPr>
              <a:t>➤	Market Segments</a:t>
            </a:r>
          </a:p>
          <a:p>
            <a:pPr marL="342900" indent="-323850">
              <a:lnSpc>
                <a:spcPct val="100000"/>
              </a:lnSpc>
              <a:spcAft>
                <a:spcPts val="800"/>
              </a:spcAft>
            </a:pPr>
            <a:r>
              <a:rPr sz="2000" b="0">
                <a:solidFill>
                  <a:srgbClr val="000000"/>
                </a:solidFill>
                <a:latin typeface="Calibri"/>
              </a:rPr>
              <a:t>➤	Company Coverage</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682648"/>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846931"/>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530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75048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309730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345325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80007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41468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49371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84966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519648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54330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8901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624607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628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16305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88617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524211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1633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4524375" y="1080276"/>
            <a:ext cx="3143250" cy="602372"/>
          </a:xfrm>
          <a:prstGeom prst="roundRect">
            <a:avLst>
              <a:gd name="adj" fmla="val 10606"/>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FFFFFF"/>
                </a:solidFill>
                <a:latin typeface="Calibri"/>
              </a:rPr>
              <a:t>Senior Dog Cognitive Supplement Market</a:t>
            </a:r>
          </a:p>
        </p:txBody>
      </p:sp>
      <p:sp>
        <p:nvSpPr>
          <p:cNvPr id="55" name="Rounded Rectangle 54"/>
          <p:cNvSpPr/>
          <p:nvPr/>
        </p:nvSpPr>
        <p:spPr>
          <a:xfrm>
            <a:off x="1428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North America</a:t>
            </a:r>
          </a:p>
        </p:txBody>
      </p:sp>
      <p:sp>
        <p:nvSpPr>
          <p:cNvPr id="56" name="Rounded Rectangle 55"/>
          <p:cNvSpPr/>
          <p:nvPr/>
        </p:nvSpPr>
        <p:spPr>
          <a:xfrm>
            <a:off x="2762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U.S.</a:t>
            </a:r>
          </a:p>
        </p:txBody>
      </p:sp>
      <p:sp>
        <p:nvSpPr>
          <p:cNvPr id="57" name="Rounded Rectangle 56"/>
          <p:cNvSpPr/>
          <p:nvPr/>
        </p:nvSpPr>
        <p:spPr>
          <a:xfrm>
            <a:off x="27622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Canada</a:t>
            </a:r>
          </a:p>
        </p:txBody>
      </p:sp>
      <p:sp>
        <p:nvSpPr>
          <p:cNvPr id="58" name="Rounded Rectangle 57"/>
          <p:cNvSpPr/>
          <p:nvPr/>
        </p:nvSpPr>
        <p:spPr>
          <a:xfrm>
            <a:off x="214312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Latin America</a:t>
            </a:r>
          </a:p>
        </p:txBody>
      </p:sp>
      <p:sp>
        <p:nvSpPr>
          <p:cNvPr id="59" name="Rounded Rectangle 58"/>
          <p:cNvSpPr/>
          <p:nvPr/>
        </p:nvSpPr>
        <p:spPr>
          <a:xfrm>
            <a:off x="227647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Brazil</a:t>
            </a:r>
          </a:p>
        </p:txBody>
      </p:sp>
      <p:sp>
        <p:nvSpPr>
          <p:cNvPr id="60" name="Rounded Rectangle 59"/>
          <p:cNvSpPr/>
          <p:nvPr/>
        </p:nvSpPr>
        <p:spPr>
          <a:xfrm>
            <a:off x="227647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Mexico</a:t>
            </a:r>
          </a:p>
        </p:txBody>
      </p:sp>
      <p:sp>
        <p:nvSpPr>
          <p:cNvPr id="61" name="Rounded Rectangle 60"/>
          <p:cNvSpPr/>
          <p:nvPr/>
        </p:nvSpPr>
        <p:spPr>
          <a:xfrm>
            <a:off x="2276475"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Rest of LATAM</a:t>
            </a:r>
          </a:p>
        </p:txBody>
      </p:sp>
      <p:sp>
        <p:nvSpPr>
          <p:cNvPr id="62" name="Rounded Rectangle 61"/>
          <p:cNvSpPr/>
          <p:nvPr/>
        </p:nvSpPr>
        <p:spPr>
          <a:xfrm>
            <a:off x="41433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Europe</a:t>
            </a:r>
          </a:p>
        </p:txBody>
      </p:sp>
      <p:sp>
        <p:nvSpPr>
          <p:cNvPr id="63" name="Rounded Rectangle 62"/>
          <p:cNvSpPr/>
          <p:nvPr/>
        </p:nvSpPr>
        <p:spPr>
          <a:xfrm>
            <a:off x="42767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Germany</a:t>
            </a:r>
          </a:p>
        </p:txBody>
      </p:sp>
      <p:sp>
        <p:nvSpPr>
          <p:cNvPr id="64" name="Rounded Rectangle 63"/>
          <p:cNvSpPr/>
          <p:nvPr/>
        </p:nvSpPr>
        <p:spPr>
          <a:xfrm>
            <a:off x="4276725" y="281437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U.K.</a:t>
            </a:r>
          </a:p>
        </p:txBody>
      </p:sp>
      <p:sp>
        <p:nvSpPr>
          <p:cNvPr id="65" name="Rounded Rectangle 64"/>
          <p:cNvSpPr/>
          <p:nvPr/>
        </p:nvSpPr>
        <p:spPr>
          <a:xfrm>
            <a:off x="4276725" y="317032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France</a:t>
            </a:r>
          </a:p>
        </p:txBody>
      </p:sp>
      <p:sp>
        <p:nvSpPr>
          <p:cNvPr id="66" name="Rounded Rectangle 65"/>
          <p:cNvSpPr/>
          <p:nvPr/>
        </p:nvSpPr>
        <p:spPr>
          <a:xfrm>
            <a:off x="4276725" y="35171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Italy</a:t>
            </a:r>
          </a:p>
        </p:txBody>
      </p:sp>
      <p:sp>
        <p:nvSpPr>
          <p:cNvPr id="67" name="Rounded Rectangle 66"/>
          <p:cNvSpPr/>
          <p:nvPr/>
        </p:nvSpPr>
        <p:spPr>
          <a:xfrm>
            <a:off x="4276725" y="386396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Spain</a:t>
            </a:r>
          </a:p>
        </p:txBody>
      </p:sp>
      <p:sp>
        <p:nvSpPr>
          <p:cNvPr id="68" name="Rounded Rectangle 67"/>
          <p:cNvSpPr/>
          <p:nvPr/>
        </p:nvSpPr>
        <p:spPr>
          <a:xfrm>
            <a:off x="4276725" y="421078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Belgium</a:t>
            </a:r>
          </a:p>
        </p:txBody>
      </p:sp>
      <p:sp>
        <p:nvSpPr>
          <p:cNvPr id="69" name="Rounded Rectangle 68"/>
          <p:cNvSpPr/>
          <p:nvPr/>
        </p:nvSpPr>
        <p:spPr>
          <a:xfrm>
            <a:off x="4276725" y="456673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Netherlands</a:t>
            </a:r>
          </a:p>
        </p:txBody>
      </p:sp>
      <p:sp>
        <p:nvSpPr>
          <p:cNvPr id="70" name="Rounded Rectangle 69"/>
          <p:cNvSpPr/>
          <p:nvPr/>
        </p:nvSpPr>
        <p:spPr>
          <a:xfrm>
            <a:off x="4276725" y="491355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Nordic</a:t>
            </a:r>
          </a:p>
        </p:txBody>
      </p:sp>
      <p:sp>
        <p:nvSpPr>
          <p:cNvPr id="71" name="Rounded Rectangle 70"/>
          <p:cNvSpPr/>
          <p:nvPr/>
        </p:nvSpPr>
        <p:spPr>
          <a:xfrm>
            <a:off x="4276725" y="526037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Russia</a:t>
            </a:r>
          </a:p>
        </p:txBody>
      </p:sp>
      <p:sp>
        <p:nvSpPr>
          <p:cNvPr id="72" name="Rounded Rectangle 71"/>
          <p:cNvSpPr/>
          <p:nvPr/>
        </p:nvSpPr>
        <p:spPr>
          <a:xfrm>
            <a:off x="4276725" y="560719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Poland</a:t>
            </a:r>
          </a:p>
        </p:txBody>
      </p:sp>
      <p:sp>
        <p:nvSpPr>
          <p:cNvPr id="73" name="Rounded Rectangle 72"/>
          <p:cNvSpPr/>
          <p:nvPr/>
        </p:nvSpPr>
        <p:spPr>
          <a:xfrm>
            <a:off x="4276725" y="59631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Switzerland</a:t>
            </a:r>
          </a:p>
        </p:txBody>
      </p:sp>
      <p:sp>
        <p:nvSpPr>
          <p:cNvPr id="74" name="Rounded Rectangle 73"/>
          <p:cNvSpPr/>
          <p:nvPr/>
        </p:nvSpPr>
        <p:spPr>
          <a:xfrm>
            <a:off x="4276725" y="630996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Rest of Europe</a:t>
            </a:r>
          </a:p>
        </p:txBody>
      </p:sp>
      <p:sp>
        <p:nvSpPr>
          <p:cNvPr id="75" name="Rounded Rectangle 74"/>
          <p:cNvSpPr/>
          <p:nvPr/>
        </p:nvSpPr>
        <p:spPr>
          <a:xfrm>
            <a:off x="61531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East Asia</a:t>
            </a:r>
          </a:p>
        </p:txBody>
      </p:sp>
      <p:sp>
        <p:nvSpPr>
          <p:cNvPr id="76" name="Rounded Rectangle 75"/>
          <p:cNvSpPr/>
          <p:nvPr/>
        </p:nvSpPr>
        <p:spPr>
          <a:xfrm>
            <a:off x="62865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China</a:t>
            </a:r>
          </a:p>
        </p:txBody>
      </p:sp>
      <p:sp>
        <p:nvSpPr>
          <p:cNvPr id="77" name="Rounded Rectangle 76"/>
          <p:cNvSpPr/>
          <p:nvPr/>
        </p:nvSpPr>
        <p:spPr>
          <a:xfrm>
            <a:off x="62865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Japan</a:t>
            </a:r>
          </a:p>
        </p:txBody>
      </p:sp>
      <p:sp>
        <p:nvSpPr>
          <p:cNvPr id="78" name="Rounded Rectangle 77"/>
          <p:cNvSpPr/>
          <p:nvPr/>
        </p:nvSpPr>
        <p:spPr>
          <a:xfrm>
            <a:off x="62865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South Korea</a:t>
            </a:r>
          </a:p>
        </p:txBody>
      </p:sp>
      <p:sp>
        <p:nvSpPr>
          <p:cNvPr id="79" name="Rounded Rectangle 78"/>
          <p:cNvSpPr/>
          <p:nvPr/>
        </p:nvSpPr>
        <p:spPr>
          <a:xfrm>
            <a:off x="815340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South Asia &amp; Pacific</a:t>
            </a:r>
          </a:p>
        </p:txBody>
      </p:sp>
      <p:sp>
        <p:nvSpPr>
          <p:cNvPr id="80" name="Rounded Rectangle 79"/>
          <p:cNvSpPr/>
          <p:nvPr/>
        </p:nvSpPr>
        <p:spPr>
          <a:xfrm>
            <a:off x="828675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India</a:t>
            </a:r>
          </a:p>
        </p:txBody>
      </p:sp>
      <p:sp>
        <p:nvSpPr>
          <p:cNvPr id="81" name="Rounded Rectangle 80"/>
          <p:cNvSpPr/>
          <p:nvPr/>
        </p:nvSpPr>
        <p:spPr>
          <a:xfrm>
            <a:off x="828675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Thailand</a:t>
            </a:r>
          </a:p>
        </p:txBody>
      </p:sp>
      <p:sp>
        <p:nvSpPr>
          <p:cNvPr id="82" name="Rounded Rectangle 81"/>
          <p:cNvSpPr/>
          <p:nvPr/>
        </p:nvSpPr>
        <p:spPr>
          <a:xfrm>
            <a:off x="828675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Malaysia</a:t>
            </a:r>
          </a:p>
        </p:txBody>
      </p:sp>
      <p:sp>
        <p:nvSpPr>
          <p:cNvPr id="83" name="Rounded Rectangle 82"/>
          <p:cNvSpPr/>
          <p:nvPr/>
        </p:nvSpPr>
        <p:spPr>
          <a:xfrm>
            <a:off x="828675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Indonesia</a:t>
            </a:r>
          </a:p>
        </p:txBody>
      </p:sp>
      <p:sp>
        <p:nvSpPr>
          <p:cNvPr id="84" name="Rounded Rectangle 83"/>
          <p:cNvSpPr/>
          <p:nvPr/>
        </p:nvSpPr>
        <p:spPr>
          <a:xfrm>
            <a:off x="828675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Philippines</a:t>
            </a:r>
          </a:p>
        </p:txBody>
      </p:sp>
      <p:sp>
        <p:nvSpPr>
          <p:cNvPr id="85" name="Rounded Rectangle 84"/>
          <p:cNvSpPr/>
          <p:nvPr/>
        </p:nvSpPr>
        <p:spPr>
          <a:xfrm>
            <a:off x="828675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Singapore</a:t>
            </a:r>
          </a:p>
        </p:txBody>
      </p:sp>
      <p:sp>
        <p:nvSpPr>
          <p:cNvPr id="86" name="Rounded Rectangle 85"/>
          <p:cNvSpPr/>
          <p:nvPr/>
        </p:nvSpPr>
        <p:spPr>
          <a:xfrm>
            <a:off x="828675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Australia</a:t>
            </a:r>
          </a:p>
        </p:txBody>
      </p:sp>
      <p:sp>
        <p:nvSpPr>
          <p:cNvPr id="87" name="Rounded Rectangle 86"/>
          <p:cNvSpPr/>
          <p:nvPr/>
        </p:nvSpPr>
        <p:spPr>
          <a:xfrm>
            <a:off x="8286750" y="495918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New Zealand</a:t>
            </a:r>
          </a:p>
        </p:txBody>
      </p:sp>
      <p:sp>
        <p:nvSpPr>
          <p:cNvPr id="88" name="Rounded Rectangle 87"/>
          <p:cNvSpPr/>
          <p:nvPr/>
        </p:nvSpPr>
        <p:spPr>
          <a:xfrm>
            <a:off x="8286750" y="531513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Rest of South East Asia</a:t>
            </a:r>
          </a:p>
        </p:txBody>
      </p:sp>
      <p:sp>
        <p:nvSpPr>
          <p:cNvPr id="89" name="Rounded Rectangle 88"/>
          <p:cNvSpPr/>
          <p:nvPr/>
        </p:nvSpPr>
        <p:spPr>
          <a:xfrm>
            <a:off x="101536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Middle East &amp; Africa</a:t>
            </a:r>
          </a:p>
        </p:txBody>
      </p:sp>
      <p:sp>
        <p:nvSpPr>
          <p:cNvPr id="90" name="Rounded Rectangle 89"/>
          <p:cNvSpPr/>
          <p:nvPr/>
        </p:nvSpPr>
        <p:spPr>
          <a:xfrm>
            <a:off x="102870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UAE</a:t>
            </a:r>
          </a:p>
        </p:txBody>
      </p:sp>
      <p:sp>
        <p:nvSpPr>
          <p:cNvPr id="91" name="Rounded Rectangle 90"/>
          <p:cNvSpPr/>
          <p:nvPr/>
        </p:nvSpPr>
        <p:spPr>
          <a:xfrm>
            <a:off x="102870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Saudi Arabia</a:t>
            </a:r>
          </a:p>
        </p:txBody>
      </p:sp>
      <p:sp>
        <p:nvSpPr>
          <p:cNvPr id="92" name="Rounded Rectangle 91"/>
          <p:cNvSpPr/>
          <p:nvPr/>
        </p:nvSpPr>
        <p:spPr>
          <a:xfrm>
            <a:off x="102870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Turkey</a:t>
            </a:r>
          </a:p>
        </p:txBody>
      </p:sp>
      <p:sp>
        <p:nvSpPr>
          <p:cNvPr id="93" name="Rounded Rectangle 92"/>
          <p:cNvSpPr/>
          <p:nvPr/>
        </p:nvSpPr>
        <p:spPr>
          <a:xfrm>
            <a:off x="1028700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Israel</a:t>
            </a:r>
          </a:p>
        </p:txBody>
      </p:sp>
      <p:sp>
        <p:nvSpPr>
          <p:cNvPr id="94" name="Rounded Rectangle 93"/>
          <p:cNvSpPr/>
          <p:nvPr/>
        </p:nvSpPr>
        <p:spPr>
          <a:xfrm>
            <a:off x="1028700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Rest of GCC</a:t>
            </a:r>
          </a:p>
        </p:txBody>
      </p:sp>
      <p:sp>
        <p:nvSpPr>
          <p:cNvPr id="95" name="Rounded Rectangle 94"/>
          <p:cNvSpPr/>
          <p:nvPr/>
        </p:nvSpPr>
        <p:spPr>
          <a:xfrm>
            <a:off x="1028700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South Africa</a:t>
            </a:r>
          </a:p>
        </p:txBody>
      </p:sp>
      <p:sp>
        <p:nvSpPr>
          <p:cNvPr id="96" name="Rounded Rectangle 95"/>
          <p:cNvSpPr/>
          <p:nvPr/>
        </p:nvSpPr>
        <p:spPr>
          <a:xfrm>
            <a:off x="1028700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100" b="0">
                <a:solidFill>
                  <a:srgbClr val="0B2E4A"/>
                </a:solidFill>
                <a:latin typeface="Calibri"/>
              </a:rPr>
              <a:t>Rest of MEA</a:t>
            </a:r>
          </a:p>
        </p:txBody>
      </p:sp>
      <p:sp>
        <p:nvSpPr>
          <p:cNvPr id="97" name="TextBox 9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Segmentation framework of the study: 5 axes and the sub-segments sized under each</a:t>
            </a:r>
          </a:p>
        </p:txBody>
      </p:sp>
      <p:sp>
        <p:nvSpPr>
          <p:cNvPr id="10" name="Rectangle 9"/>
          <p:cNvSpPr/>
          <p:nvPr/>
        </p:nvSpPr>
        <p:spPr>
          <a:xfrm>
            <a:off x="1428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9075" y="1028700"/>
            <a:ext cx="2724150" cy="228600"/>
          </a:xfrm>
          <a:prstGeom prst="rect">
            <a:avLst/>
          </a:prstGeom>
          <a:noFill/>
        </p:spPr>
        <p:txBody>
          <a:bodyPr wrap="square" lIns="28575" tIns="9525" rIns="28575" bIns="9525" anchor="ctr">
            <a:spAutoFit/>
          </a:bodyPr>
          <a:lstStyle/>
          <a:p>
            <a:pPr algn="l"/>
            <a:r>
              <a:rPr sz="1100" b="1">
                <a:solidFill>
                  <a:srgbClr val="FFFFFF"/>
                </a:solidFill>
                <a:latin typeface="Calibri"/>
              </a:rPr>
              <a:t>By Form Type</a:t>
            </a:r>
          </a:p>
        </p:txBody>
      </p:sp>
      <p:sp>
        <p:nvSpPr>
          <p:cNvPr id="13" name="TextBox 12"/>
          <p:cNvSpPr txBox="1"/>
          <p:nvPr/>
        </p:nvSpPr>
        <p:spPr>
          <a:xfrm>
            <a:off x="200025" y="125730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Chewables</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43446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7" name="TextBox 16"/>
          <p:cNvSpPr txBox="1"/>
          <p:nvPr/>
        </p:nvSpPr>
        <p:spPr>
          <a:xfrm>
            <a:off x="390525" y="1434465"/>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Tablets</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0025" y="161163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0" name="TextBox 19"/>
          <p:cNvSpPr txBox="1"/>
          <p:nvPr/>
        </p:nvSpPr>
        <p:spPr>
          <a:xfrm>
            <a:off x="390525" y="161163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Capsules and Softgels</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78879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3" name="TextBox 22"/>
          <p:cNvSpPr txBox="1"/>
          <p:nvPr/>
        </p:nvSpPr>
        <p:spPr>
          <a:xfrm>
            <a:off x="390525" y="1788795"/>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Powders and Granules</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196596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6" name="TextBox 25"/>
          <p:cNvSpPr txBox="1"/>
          <p:nvPr/>
        </p:nvSpPr>
        <p:spPr>
          <a:xfrm>
            <a:off x="390525" y="196596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Liquids</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0025" y="214312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9" name="TextBox 28"/>
          <p:cNvSpPr txBox="1"/>
          <p:nvPr/>
        </p:nvSpPr>
        <p:spPr>
          <a:xfrm>
            <a:off x="390525" y="2143125"/>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Gels and Pastes</a:t>
            </a:r>
          </a:p>
        </p:txBody>
      </p:sp>
      <p:sp>
        <p:nvSpPr>
          <p:cNvPr id="30" name="Rectangle 29"/>
          <p:cNvSpPr/>
          <p:nvPr/>
        </p:nvSpPr>
        <p:spPr>
          <a:xfrm>
            <a:off x="142875" y="243459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42875" y="243459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9075" y="2434590"/>
            <a:ext cx="2724150" cy="228600"/>
          </a:xfrm>
          <a:prstGeom prst="rect">
            <a:avLst/>
          </a:prstGeom>
          <a:noFill/>
        </p:spPr>
        <p:txBody>
          <a:bodyPr wrap="square" lIns="28575" tIns="9525" rIns="28575" bIns="9525" anchor="ctr">
            <a:spAutoFit/>
          </a:bodyPr>
          <a:lstStyle/>
          <a:p>
            <a:pPr algn="l"/>
            <a:r>
              <a:rPr sz="1100" b="1">
                <a:solidFill>
                  <a:srgbClr val="FFFFFF"/>
                </a:solidFill>
                <a:latin typeface="Calibri"/>
              </a:rPr>
              <a:t>By Sales Channel</a:t>
            </a:r>
          </a:p>
        </p:txBody>
      </p:sp>
      <p:sp>
        <p:nvSpPr>
          <p:cNvPr id="33" name="TextBox 32"/>
          <p:cNvSpPr txBox="1"/>
          <p:nvPr/>
        </p:nvSpPr>
        <p:spPr>
          <a:xfrm>
            <a:off x="200025" y="266319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34" name="TextBox 33"/>
          <p:cNvSpPr txBox="1"/>
          <p:nvPr/>
        </p:nvSpPr>
        <p:spPr>
          <a:xfrm>
            <a:off x="390525" y="266319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Veterinary Channels</a:t>
            </a:r>
          </a:p>
        </p:txBody>
      </p:sp>
      <p:cxnSp>
        <p:nvCxnSpPr>
          <p:cNvPr id="35" name="Connector 34"/>
          <p:cNvCxnSpPr/>
          <p:nvPr/>
        </p:nvCxnSpPr>
        <p:spPr>
          <a:xfrm>
            <a:off x="1524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00025" y="284035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37" name="TextBox 36"/>
          <p:cNvSpPr txBox="1"/>
          <p:nvPr/>
        </p:nvSpPr>
        <p:spPr>
          <a:xfrm>
            <a:off x="390525" y="2840355"/>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Specialist Pet Retail</a:t>
            </a:r>
          </a:p>
        </p:txBody>
      </p:sp>
      <p:cxnSp>
        <p:nvCxnSpPr>
          <p:cNvPr id="38" name="Connector 37"/>
          <p:cNvCxnSpPr/>
          <p:nvPr/>
        </p:nvCxnSpPr>
        <p:spPr>
          <a:xfrm>
            <a:off x="1524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00025" y="301752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40" name="TextBox 39"/>
          <p:cNvSpPr txBox="1"/>
          <p:nvPr/>
        </p:nvSpPr>
        <p:spPr>
          <a:xfrm>
            <a:off x="390525" y="301752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General Retail</a:t>
            </a:r>
          </a:p>
        </p:txBody>
      </p:sp>
      <p:cxnSp>
        <p:nvCxnSpPr>
          <p:cNvPr id="41" name="Connector 40"/>
          <p:cNvCxnSpPr/>
          <p:nvPr/>
        </p:nvCxnSpPr>
        <p:spPr>
          <a:xfrm>
            <a:off x="1524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00025" y="319468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43" name="TextBox 42"/>
          <p:cNvSpPr txBox="1"/>
          <p:nvPr/>
        </p:nvSpPr>
        <p:spPr>
          <a:xfrm>
            <a:off x="390525" y="3194685"/>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Brand-Owned E-commerce</a:t>
            </a:r>
          </a:p>
        </p:txBody>
      </p:sp>
      <p:cxnSp>
        <p:nvCxnSpPr>
          <p:cNvPr id="44" name="Connector 43"/>
          <p:cNvCxnSpPr/>
          <p:nvPr/>
        </p:nvCxnSpPr>
        <p:spPr>
          <a:xfrm>
            <a:off x="152400" y="33718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00025" y="337185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46" name="TextBox 45"/>
          <p:cNvSpPr txBox="1"/>
          <p:nvPr/>
        </p:nvSpPr>
        <p:spPr>
          <a:xfrm>
            <a:off x="390525" y="337185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Third-Party E-commerce</a:t>
            </a:r>
          </a:p>
        </p:txBody>
      </p:sp>
      <p:cxnSp>
        <p:nvCxnSpPr>
          <p:cNvPr id="47" name="Connector 46"/>
          <p:cNvCxnSpPr/>
          <p:nvPr/>
        </p:nvCxnSpPr>
        <p:spPr>
          <a:xfrm>
            <a:off x="152400" y="35490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00025" y="354901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49" name="TextBox 48"/>
          <p:cNvSpPr txBox="1"/>
          <p:nvPr/>
        </p:nvSpPr>
        <p:spPr>
          <a:xfrm>
            <a:off x="390525" y="3549015"/>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Other Direct Sales</a:t>
            </a:r>
          </a:p>
        </p:txBody>
      </p:sp>
      <p:sp>
        <p:nvSpPr>
          <p:cNvPr id="50" name="Rectangle 49"/>
          <p:cNvSpPr/>
          <p:nvPr/>
        </p:nvSpPr>
        <p:spPr>
          <a:xfrm>
            <a:off x="3152775" y="1028700"/>
            <a:ext cx="2876550" cy="48348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228975" y="1028700"/>
            <a:ext cx="2724150" cy="228600"/>
          </a:xfrm>
          <a:prstGeom prst="rect">
            <a:avLst/>
          </a:prstGeom>
          <a:noFill/>
        </p:spPr>
        <p:txBody>
          <a:bodyPr wrap="square" lIns="28575" tIns="9525" rIns="28575" bIns="9525" anchor="ctr">
            <a:spAutoFit/>
          </a:bodyPr>
          <a:lstStyle/>
          <a:p>
            <a:pPr algn="l"/>
            <a:r>
              <a:rPr sz="1100" b="1">
                <a:solidFill>
                  <a:srgbClr val="FFFFFF"/>
                </a:solidFill>
                <a:latin typeface="Calibri"/>
              </a:rPr>
              <a:t>By Active Ingredient</a:t>
            </a:r>
          </a:p>
        </p:txBody>
      </p:sp>
      <p:sp>
        <p:nvSpPr>
          <p:cNvPr id="53" name="TextBox 52"/>
          <p:cNvSpPr txBox="1"/>
          <p:nvPr/>
        </p:nvSpPr>
        <p:spPr>
          <a:xfrm>
            <a:off x="3209925" y="125730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54" name="TextBox 53"/>
          <p:cNvSpPr txBox="1"/>
          <p:nvPr/>
        </p:nvSpPr>
        <p:spPr>
          <a:xfrm>
            <a:off x="3400425" y="1257300"/>
            <a:ext cx="2590800" cy="177165"/>
          </a:xfrm>
          <a:prstGeom prst="rect">
            <a:avLst/>
          </a:prstGeom>
          <a:noFill/>
        </p:spPr>
        <p:txBody>
          <a:bodyPr wrap="square" lIns="28575" tIns="9525" rIns="28575" bIns="9525" anchor="ctr">
            <a:spAutoFit/>
          </a:bodyPr>
          <a:lstStyle/>
          <a:p>
            <a:pPr algn="l"/>
            <a:r>
              <a:rPr sz="1100" b="1">
                <a:solidFill>
                  <a:srgbClr val="2E2E2E"/>
                </a:solidFill>
                <a:latin typeface="Calibri"/>
              </a:rPr>
              <a:t>Omega-3 Fatty Acids</a:t>
            </a:r>
          </a:p>
        </p:txBody>
      </p:sp>
      <p:cxnSp>
        <p:nvCxnSpPr>
          <p:cNvPr id="55" name="Connector 54"/>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381375" y="143446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57" name="TextBox 56"/>
          <p:cNvSpPr txBox="1"/>
          <p:nvPr/>
        </p:nvSpPr>
        <p:spPr>
          <a:xfrm>
            <a:off x="3571875" y="143446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DHA</a:t>
            </a:r>
          </a:p>
        </p:txBody>
      </p:sp>
      <p:cxnSp>
        <p:nvCxnSpPr>
          <p:cNvPr id="58" name="Connector 57"/>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381375" y="161163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60" name="TextBox 59"/>
          <p:cNvSpPr txBox="1"/>
          <p:nvPr/>
        </p:nvSpPr>
        <p:spPr>
          <a:xfrm>
            <a:off x="3571875" y="1611630"/>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EPA</a:t>
            </a:r>
          </a:p>
        </p:txBody>
      </p:sp>
      <p:cxnSp>
        <p:nvCxnSpPr>
          <p:cNvPr id="61" name="Connector 60"/>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3381375" y="178879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63" name="TextBox 62"/>
          <p:cNvSpPr txBox="1"/>
          <p:nvPr/>
        </p:nvSpPr>
        <p:spPr>
          <a:xfrm>
            <a:off x="3571875" y="178879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DHA–EPA Combinations</a:t>
            </a:r>
          </a:p>
        </p:txBody>
      </p:sp>
      <p:cxnSp>
        <p:nvCxnSpPr>
          <p:cNvPr id="64" name="Connector 63"/>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3209925" y="196596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66" name="TextBox 65"/>
          <p:cNvSpPr txBox="1"/>
          <p:nvPr/>
        </p:nvSpPr>
        <p:spPr>
          <a:xfrm>
            <a:off x="3400425" y="1965960"/>
            <a:ext cx="2590800" cy="177165"/>
          </a:xfrm>
          <a:prstGeom prst="rect">
            <a:avLst/>
          </a:prstGeom>
          <a:noFill/>
        </p:spPr>
        <p:txBody>
          <a:bodyPr wrap="square" lIns="28575" tIns="9525" rIns="28575" bIns="9525" anchor="ctr">
            <a:spAutoFit/>
          </a:bodyPr>
          <a:lstStyle/>
          <a:p>
            <a:pPr algn="l"/>
            <a:r>
              <a:rPr sz="1100" b="1">
                <a:solidFill>
                  <a:srgbClr val="2E2E2E"/>
                </a:solidFill>
                <a:latin typeface="Calibri"/>
              </a:rPr>
              <a:t>Antioxidant Ingredients</a:t>
            </a:r>
          </a:p>
        </p:txBody>
      </p:sp>
      <p:cxnSp>
        <p:nvCxnSpPr>
          <p:cNvPr id="67" name="Connector 66"/>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381375" y="214312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69" name="TextBox 68"/>
          <p:cNvSpPr txBox="1"/>
          <p:nvPr/>
        </p:nvSpPr>
        <p:spPr>
          <a:xfrm>
            <a:off x="3571875" y="214312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Vitamin E</a:t>
            </a:r>
          </a:p>
        </p:txBody>
      </p:sp>
      <p:cxnSp>
        <p:nvCxnSpPr>
          <p:cNvPr id="70" name="Connector 69"/>
          <p:cNvCxnSpPr/>
          <p:nvPr/>
        </p:nvCxnSpPr>
        <p:spPr>
          <a:xfrm>
            <a:off x="31623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3381375" y="232029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72" name="TextBox 71"/>
          <p:cNvSpPr txBox="1"/>
          <p:nvPr/>
        </p:nvSpPr>
        <p:spPr>
          <a:xfrm>
            <a:off x="3571875" y="2320290"/>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Vitamin C</a:t>
            </a:r>
          </a:p>
        </p:txBody>
      </p:sp>
      <p:cxnSp>
        <p:nvCxnSpPr>
          <p:cNvPr id="73" name="Connector 72"/>
          <p:cNvCxnSpPr/>
          <p:nvPr/>
        </p:nvCxnSpPr>
        <p:spPr>
          <a:xfrm>
            <a:off x="31623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3381375" y="249745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75" name="TextBox 74"/>
          <p:cNvSpPr txBox="1"/>
          <p:nvPr/>
        </p:nvSpPr>
        <p:spPr>
          <a:xfrm>
            <a:off x="3571875" y="249745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Selenium</a:t>
            </a:r>
          </a:p>
        </p:txBody>
      </p:sp>
      <p:cxnSp>
        <p:nvCxnSpPr>
          <p:cNvPr id="76" name="Connector 75"/>
          <p:cNvCxnSpPr/>
          <p:nvPr/>
        </p:nvCxnSpPr>
        <p:spPr>
          <a:xfrm>
            <a:off x="31623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3381375" y="267462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78" name="TextBox 77"/>
          <p:cNvSpPr txBox="1"/>
          <p:nvPr/>
        </p:nvSpPr>
        <p:spPr>
          <a:xfrm>
            <a:off x="3571875" y="2674620"/>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Other Antioxidants</a:t>
            </a:r>
          </a:p>
        </p:txBody>
      </p:sp>
      <p:cxnSp>
        <p:nvCxnSpPr>
          <p:cNvPr id="79" name="Connector 78"/>
          <p:cNvCxnSpPr/>
          <p:nvPr/>
        </p:nvCxnSpPr>
        <p:spPr>
          <a:xfrm>
            <a:off x="31623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3209925" y="285178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81" name="TextBox 80"/>
          <p:cNvSpPr txBox="1"/>
          <p:nvPr/>
        </p:nvSpPr>
        <p:spPr>
          <a:xfrm>
            <a:off x="3400425" y="2851785"/>
            <a:ext cx="2590800" cy="177165"/>
          </a:xfrm>
          <a:prstGeom prst="rect">
            <a:avLst/>
          </a:prstGeom>
          <a:noFill/>
        </p:spPr>
        <p:txBody>
          <a:bodyPr wrap="square" lIns="28575" tIns="9525" rIns="28575" bIns="9525" anchor="ctr">
            <a:spAutoFit/>
          </a:bodyPr>
          <a:lstStyle/>
          <a:p>
            <a:pPr algn="l"/>
            <a:r>
              <a:rPr sz="1100" b="1">
                <a:solidFill>
                  <a:srgbClr val="2E2E2E"/>
                </a:solidFill>
                <a:latin typeface="Calibri"/>
              </a:rPr>
              <a:t>Neurofunctional Nutrients</a:t>
            </a:r>
          </a:p>
        </p:txBody>
      </p:sp>
      <p:cxnSp>
        <p:nvCxnSpPr>
          <p:cNvPr id="82" name="Connector 81"/>
          <p:cNvCxnSpPr/>
          <p:nvPr/>
        </p:nvCxnSpPr>
        <p:spPr>
          <a:xfrm>
            <a:off x="31623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3381375" y="302895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84" name="TextBox 83"/>
          <p:cNvSpPr txBox="1"/>
          <p:nvPr/>
        </p:nvSpPr>
        <p:spPr>
          <a:xfrm>
            <a:off x="3571875" y="3028950"/>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Phosphatidylserine</a:t>
            </a:r>
          </a:p>
        </p:txBody>
      </p:sp>
      <p:cxnSp>
        <p:nvCxnSpPr>
          <p:cNvPr id="85" name="Connector 84"/>
          <p:cNvCxnSpPr/>
          <p:nvPr/>
        </p:nvCxnSpPr>
        <p:spPr>
          <a:xfrm>
            <a:off x="31623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3381375" y="320611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87" name="TextBox 86"/>
          <p:cNvSpPr txBox="1"/>
          <p:nvPr/>
        </p:nvSpPr>
        <p:spPr>
          <a:xfrm>
            <a:off x="3571875" y="320611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B Vitamins</a:t>
            </a:r>
          </a:p>
        </p:txBody>
      </p:sp>
      <p:cxnSp>
        <p:nvCxnSpPr>
          <p:cNvPr id="88" name="Connector 87"/>
          <p:cNvCxnSpPr/>
          <p:nvPr/>
        </p:nvCxnSpPr>
        <p:spPr>
          <a:xfrm>
            <a:off x="31623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3381375" y="338328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90" name="TextBox 89"/>
          <p:cNvSpPr txBox="1"/>
          <p:nvPr/>
        </p:nvSpPr>
        <p:spPr>
          <a:xfrm>
            <a:off x="3571875" y="3383280"/>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Choline-Related Ingredients</a:t>
            </a:r>
          </a:p>
        </p:txBody>
      </p:sp>
      <p:cxnSp>
        <p:nvCxnSpPr>
          <p:cNvPr id="91" name="Connector 90"/>
          <p:cNvCxnSpPr/>
          <p:nvPr/>
        </p:nvCxnSpPr>
        <p:spPr>
          <a:xfrm>
            <a:off x="31623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3209925" y="356044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93" name="TextBox 92"/>
          <p:cNvSpPr txBox="1"/>
          <p:nvPr/>
        </p:nvSpPr>
        <p:spPr>
          <a:xfrm>
            <a:off x="3400425" y="3560445"/>
            <a:ext cx="2590800" cy="177165"/>
          </a:xfrm>
          <a:prstGeom prst="rect">
            <a:avLst/>
          </a:prstGeom>
          <a:noFill/>
        </p:spPr>
        <p:txBody>
          <a:bodyPr wrap="square" lIns="28575" tIns="9525" rIns="28575" bIns="9525" anchor="ctr">
            <a:spAutoFit/>
          </a:bodyPr>
          <a:lstStyle/>
          <a:p>
            <a:pPr algn="l"/>
            <a:r>
              <a:rPr sz="1100" b="1">
                <a:solidFill>
                  <a:srgbClr val="2E2E2E"/>
                </a:solidFill>
                <a:latin typeface="Calibri"/>
              </a:rPr>
              <a:t>Cellular Energy Support Ingredients</a:t>
            </a:r>
          </a:p>
        </p:txBody>
      </p:sp>
      <p:cxnSp>
        <p:nvCxnSpPr>
          <p:cNvPr id="94" name="Connector 93"/>
          <p:cNvCxnSpPr/>
          <p:nvPr/>
        </p:nvCxnSpPr>
        <p:spPr>
          <a:xfrm>
            <a:off x="31623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3381375" y="373761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96" name="TextBox 95"/>
          <p:cNvSpPr txBox="1"/>
          <p:nvPr/>
        </p:nvSpPr>
        <p:spPr>
          <a:xfrm>
            <a:off x="3571875" y="3737610"/>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L-Carnitine</a:t>
            </a:r>
          </a:p>
        </p:txBody>
      </p:sp>
      <p:cxnSp>
        <p:nvCxnSpPr>
          <p:cNvPr id="97" name="Connector 96"/>
          <p:cNvCxnSpPr/>
          <p:nvPr/>
        </p:nvCxnSpPr>
        <p:spPr>
          <a:xfrm>
            <a:off x="31623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3381375" y="391477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99" name="TextBox 98"/>
          <p:cNvSpPr txBox="1"/>
          <p:nvPr/>
        </p:nvSpPr>
        <p:spPr>
          <a:xfrm>
            <a:off x="3571875" y="391477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Acetyl-L-Carnitine</a:t>
            </a:r>
          </a:p>
        </p:txBody>
      </p:sp>
      <p:cxnSp>
        <p:nvCxnSpPr>
          <p:cNvPr id="100" name="Connector 99"/>
          <p:cNvCxnSpPr/>
          <p:nvPr/>
        </p:nvCxnSpPr>
        <p:spPr>
          <a:xfrm>
            <a:off x="31623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3381375" y="409194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02" name="TextBox 101"/>
          <p:cNvSpPr txBox="1"/>
          <p:nvPr/>
        </p:nvSpPr>
        <p:spPr>
          <a:xfrm>
            <a:off x="3571875" y="4091940"/>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Coenzyme Q10</a:t>
            </a:r>
          </a:p>
        </p:txBody>
      </p:sp>
      <p:cxnSp>
        <p:nvCxnSpPr>
          <p:cNvPr id="103" name="Connector 102"/>
          <p:cNvCxnSpPr/>
          <p:nvPr/>
        </p:nvCxnSpPr>
        <p:spPr>
          <a:xfrm>
            <a:off x="31623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3381375" y="426910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05" name="TextBox 104"/>
          <p:cNvSpPr txBox="1"/>
          <p:nvPr/>
        </p:nvSpPr>
        <p:spPr>
          <a:xfrm>
            <a:off x="3571875" y="426910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Alpha-Lipoic Acid</a:t>
            </a:r>
          </a:p>
        </p:txBody>
      </p:sp>
      <p:cxnSp>
        <p:nvCxnSpPr>
          <p:cNvPr id="106" name="Connector 105"/>
          <p:cNvCxnSpPr/>
          <p:nvPr/>
        </p:nvCxnSpPr>
        <p:spPr>
          <a:xfrm>
            <a:off x="31623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3209925" y="444627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08" name="TextBox 107"/>
          <p:cNvSpPr txBox="1"/>
          <p:nvPr/>
        </p:nvSpPr>
        <p:spPr>
          <a:xfrm>
            <a:off x="3400425" y="4446270"/>
            <a:ext cx="2590800" cy="177165"/>
          </a:xfrm>
          <a:prstGeom prst="rect">
            <a:avLst/>
          </a:prstGeom>
          <a:noFill/>
        </p:spPr>
        <p:txBody>
          <a:bodyPr wrap="square" lIns="28575" tIns="9525" rIns="28575" bIns="9525" anchor="ctr">
            <a:spAutoFit/>
          </a:bodyPr>
          <a:lstStyle/>
          <a:p>
            <a:pPr algn="l"/>
            <a:r>
              <a:rPr sz="1100" b="1">
                <a:solidFill>
                  <a:srgbClr val="2E2E2E"/>
                </a:solidFill>
                <a:latin typeface="Calibri"/>
              </a:rPr>
              <a:t>Botanical Ingredients</a:t>
            </a:r>
          </a:p>
        </p:txBody>
      </p:sp>
      <p:cxnSp>
        <p:nvCxnSpPr>
          <p:cNvPr id="109" name="Connector 108"/>
          <p:cNvCxnSpPr/>
          <p:nvPr/>
        </p:nvCxnSpPr>
        <p:spPr>
          <a:xfrm>
            <a:off x="31623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3381375" y="462343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11" name="TextBox 110"/>
          <p:cNvSpPr txBox="1"/>
          <p:nvPr/>
        </p:nvSpPr>
        <p:spPr>
          <a:xfrm>
            <a:off x="3571875" y="462343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Ginkgo Biloba</a:t>
            </a:r>
          </a:p>
        </p:txBody>
      </p:sp>
      <p:cxnSp>
        <p:nvCxnSpPr>
          <p:cNvPr id="112" name="Connector 111"/>
          <p:cNvCxnSpPr/>
          <p:nvPr/>
        </p:nvCxnSpPr>
        <p:spPr>
          <a:xfrm>
            <a:off x="31623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381375" y="480060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14" name="TextBox 113"/>
          <p:cNvSpPr txBox="1"/>
          <p:nvPr/>
        </p:nvSpPr>
        <p:spPr>
          <a:xfrm>
            <a:off x="3571875" y="4800600"/>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Resveratrol</a:t>
            </a:r>
          </a:p>
        </p:txBody>
      </p:sp>
      <p:cxnSp>
        <p:nvCxnSpPr>
          <p:cNvPr id="115" name="Connector 114"/>
          <p:cNvCxnSpPr/>
          <p:nvPr/>
        </p:nvCxnSpPr>
        <p:spPr>
          <a:xfrm>
            <a:off x="31623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3381375" y="497776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17" name="TextBox 116"/>
          <p:cNvSpPr txBox="1"/>
          <p:nvPr/>
        </p:nvSpPr>
        <p:spPr>
          <a:xfrm>
            <a:off x="3571875" y="497776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Other Cognitive-Support Botanicals</a:t>
            </a:r>
          </a:p>
        </p:txBody>
      </p:sp>
      <p:cxnSp>
        <p:nvCxnSpPr>
          <p:cNvPr id="118" name="Connector 117"/>
          <p:cNvCxnSpPr/>
          <p:nvPr/>
        </p:nvCxnSpPr>
        <p:spPr>
          <a:xfrm>
            <a:off x="3162300" y="51549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3209925" y="515493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20" name="TextBox 119"/>
          <p:cNvSpPr txBox="1"/>
          <p:nvPr/>
        </p:nvSpPr>
        <p:spPr>
          <a:xfrm>
            <a:off x="3400425" y="5154930"/>
            <a:ext cx="2590800" cy="177165"/>
          </a:xfrm>
          <a:prstGeom prst="rect">
            <a:avLst/>
          </a:prstGeom>
          <a:noFill/>
        </p:spPr>
        <p:txBody>
          <a:bodyPr wrap="square" lIns="28575" tIns="9525" rIns="28575" bIns="9525" anchor="ctr">
            <a:spAutoFit/>
          </a:bodyPr>
          <a:lstStyle/>
          <a:p>
            <a:pPr algn="l"/>
            <a:r>
              <a:rPr sz="1100" b="1">
                <a:solidFill>
                  <a:srgbClr val="2E2E2E"/>
                </a:solidFill>
                <a:latin typeface="Calibri"/>
              </a:rPr>
              <a:t>Microbiome-Targeted Ingredients</a:t>
            </a:r>
          </a:p>
        </p:txBody>
      </p:sp>
      <p:cxnSp>
        <p:nvCxnSpPr>
          <p:cNvPr id="121" name="Connector 120"/>
          <p:cNvCxnSpPr/>
          <p:nvPr/>
        </p:nvCxnSpPr>
        <p:spPr>
          <a:xfrm>
            <a:off x="31623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3381375" y="533209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23" name="TextBox 122"/>
          <p:cNvSpPr txBox="1"/>
          <p:nvPr/>
        </p:nvSpPr>
        <p:spPr>
          <a:xfrm>
            <a:off x="3571875" y="533209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Prebiotics</a:t>
            </a:r>
          </a:p>
        </p:txBody>
      </p:sp>
      <p:cxnSp>
        <p:nvCxnSpPr>
          <p:cNvPr id="124" name="Connector 123"/>
          <p:cNvCxnSpPr/>
          <p:nvPr/>
        </p:nvCxnSpPr>
        <p:spPr>
          <a:xfrm>
            <a:off x="31623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3381375" y="550926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26" name="TextBox 125"/>
          <p:cNvSpPr txBox="1"/>
          <p:nvPr/>
        </p:nvSpPr>
        <p:spPr>
          <a:xfrm>
            <a:off x="3571875" y="5509260"/>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Probiotics</a:t>
            </a:r>
          </a:p>
        </p:txBody>
      </p:sp>
      <p:cxnSp>
        <p:nvCxnSpPr>
          <p:cNvPr id="127" name="Connector 126"/>
          <p:cNvCxnSpPr/>
          <p:nvPr/>
        </p:nvCxnSpPr>
        <p:spPr>
          <a:xfrm>
            <a:off x="3162300" y="56864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3381375" y="568642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29" name="TextBox 128"/>
          <p:cNvSpPr txBox="1"/>
          <p:nvPr/>
        </p:nvSpPr>
        <p:spPr>
          <a:xfrm>
            <a:off x="3571875" y="5686425"/>
            <a:ext cx="2419350" cy="177165"/>
          </a:xfrm>
          <a:prstGeom prst="rect">
            <a:avLst/>
          </a:prstGeom>
          <a:noFill/>
        </p:spPr>
        <p:txBody>
          <a:bodyPr wrap="square" lIns="28575" tIns="9525" rIns="28575" bIns="9525" anchor="ctr">
            <a:spAutoFit/>
          </a:bodyPr>
          <a:lstStyle/>
          <a:p>
            <a:pPr algn="l"/>
            <a:r>
              <a:rPr sz="1100" b="0">
                <a:solidFill>
                  <a:srgbClr val="2E2E2E"/>
                </a:solidFill>
                <a:latin typeface="Calibri"/>
              </a:rPr>
              <a:t>Postbiotics</a:t>
            </a:r>
          </a:p>
        </p:txBody>
      </p:sp>
      <p:sp>
        <p:nvSpPr>
          <p:cNvPr id="130" name="Rectangle 129"/>
          <p:cNvSpPr/>
          <p:nvPr/>
        </p:nvSpPr>
        <p:spPr>
          <a:xfrm>
            <a:off x="6162675" y="102870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6238875" y="1028700"/>
            <a:ext cx="2724150" cy="228600"/>
          </a:xfrm>
          <a:prstGeom prst="rect">
            <a:avLst/>
          </a:prstGeom>
          <a:noFill/>
        </p:spPr>
        <p:txBody>
          <a:bodyPr wrap="square" lIns="28575" tIns="9525" rIns="28575" bIns="9525" anchor="ctr">
            <a:spAutoFit/>
          </a:bodyPr>
          <a:lstStyle/>
          <a:p>
            <a:pPr algn="l"/>
            <a:r>
              <a:rPr sz="1100" b="1">
                <a:solidFill>
                  <a:srgbClr val="FFFFFF"/>
                </a:solidFill>
                <a:latin typeface="Calibri"/>
              </a:rPr>
              <a:t>By End-use Application</a:t>
            </a:r>
          </a:p>
        </p:txBody>
      </p:sp>
      <p:sp>
        <p:nvSpPr>
          <p:cNvPr id="133" name="TextBox 132"/>
          <p:cNvSpPr txBox="1"/>
          <p:nvPr/>
        </p:nvSpPr>
        <p:spPr>
          <a:xfrm>
            <a:off x="6219825" y="125730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34" name="TextBox 133"/>
          <p:cNvSpPr txBox="1"/>
          <p:nvPr/>
        </p:nvSpPr>
        <p:spPr>
          <a:xfrm>
            <a:off x="6410325" y="125730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Routine Cognitive Wellness</a:t>
            </a:r>
          </a:p>
        </p:txBody>
      </p:sp>
      <p:cxnSp>
        <p:nvCxnSpPr>
          <p:cNvPr id="135" name="Connector 134"/>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219825" y="143446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37" name="TextBox 136"/>
          <p:cNvSpPr txBox="1"/>
          <p:nvPr/>
        </p:nvSpPr>
        <p:spPr>
          <a:xfrm>
            <a:off x="6410325" y="1434465"/>
            <a:ext cx="2590800" cy="354330"/>
          </a:xfrm>
          <a:prstGeom prst="rect">
            <a:avLst/>
          </a:prstGeom>
          <a:noFill/>
        </p:spPr>
        <p:txBody>
          <a:bodyPr wrap="square" lIns="28575" tIns="9525" rIns="28575" bIns="9525" anchor="t">
            <a:spAutoFit/>
          </a:bodyPr>
          <a:lstStyle/>
          <a:p>
            <a:pPr algn="l">
              <a:lnSpc>
                <a:spcPct val="100000"/>
              </a:lnSpc>
            </a:pPr>
            <a:r>
              <a:rPr sz="1100" b="0">
                <a:solidFill>
                  <a:srgbClr val="2E2E2E"/>
                </a:solidFill>
                <a:latin typeface="Calibri"/>
              </a:rPr>
              <a:t>Preventive Cognitive Support for Senior Dogs</a:t>
            </a:r>
          </a:p>
        </p:txBody>
      </p:sp>
      <p:cxnSp>
        <p:nvCxnSpPr>
          <p:cNvPr id="138" name="Connector 137"/>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6219825" y="178879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40" name="TextBox 139"/>
          <p:cNvSpPr txBox="1"/>
          <p:nvPr/>
        </p:nvSpPr>
        <p:spPr>
          <a:xfrm>
            <a:off x="6410325" y="1788795"/>
            <a:ext cx="2590800" cy="354330"/>
          </a:xfrm>
          <a:prstGeom prst="rect">
            <a:avLst/>
          </a:prstGeom>
          <a:noFill/>
        </p:spPr>
        <p:txBody>
          <a:bodyPr wrap="square" lIns="28575" tIns="9525" rIns="28575" bIns="9525" anchor="t">
            <a:spAutoFit/>
          </a:bodyPr>
          <a:lstStyle/>
          <a:p>
            <a:pPr algn="l">
              <a:lnSpc>
                <a:spcPct val="100000"/>
              </a:lnSpc>
            </a:pPr>
            <a:r>
              <a:rPr sz="1100" b="0">
                <a:solidFill>
                  <a:srgbClr val="2E2E2E"/>
                </a:solidFill>
                <a:latin typeface="Calibri"/>
              </a:rPr>
              <a:t>Support for Observable Age-Related Cognitive Changes</a:t>
            </a:r>
          </a:p>
        </p:txBody>
      </p:sp>
      <p:cxnSp>
        <p:nvCxnSpPr>
          <p:cNvPr id="141" name="Connector 140"/>
          <p:cNvCxnSpPr/>
          <p:nvPr/>
        </p:nvCxnSpPr>
        <p:spPr>
          <a:xfrm>
            <a:off x="61722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6219825" y="214312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43" name="TextBox 142"/>
          <p:cNvSpPr txBox="1"/>
          <p:nvPr/>
        </p:nvSpPr>
        <p:spPr>
          <a:xfrm>
            <a:off x="6410325" y="2143125"/>
            <a:ext cx="2590800" cy="354330"/>
          </a:xfrm>
          <a:prstGeom prst="rect">
            <a:avLst/>
          </a:prstGeom>
          <a:noFill/>
        </p:spPr>
        <p:txBody>
          <a:bodyPr wrap="square" lIns="28575" tIns="9525" rIns="28575" bIns="9525" anchor="t">
            <a:spAutoFit/>
          </a:bodyPr>
          <a:lstStyle/>
          <a:p>
            <a:pPr algn="l">
              <a:lnSpc>
                <a:spcPct val="100000"/>
              </a:lnSpc>
            </a:pPr>
            <a:r>
              <a:rPr sz="1100" b="0">
                <a:solidFill>
                  <a:srgbClr val="2E2E2E"/>
                </a:solidFill>
                <a:latin typeface="Calibri"/>
              </a:rPr>
              <a:t>Veterinary-Guided Cognitive Dysfunction Support</a:t>
            </a:r>
          </a:p>
        </p:txBody>
      </p:sp>
      <p:sp>
        <p:nvSpPr>
          <p:cNvPr id="144" name="Rectangle 143"/>
          <p:cNvSpPr/>
          <p:nvPr/>
        </p:nvSpPr>
        <p:spPr>
          <a:xfrm>
            <a:off x="91725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9248775" y="1028700"/>
            <a:ext cx="2724150" cy="228600"/>
          </a:xfrm>
          <a:prstGeom prst="rect">
            <a:avLst/>
          </a:prstGeom>
          <a:noFill/>
        </p:spPr>
        <p:txBody>
          <a:bodyPr wrap="square" lIns="28575" tIns="9525" rIns="28575" bIns="9525" anchor="ctr">
            <a:spAutoFit/>
          </a:bodyPr>
          <a:lstStyle/>
          <a:p>
            <a:pPr algn="l"/>
            <a:r>
              <a:rPr sz="1100" b="1">
                <a:solidFill>
                  <a:srgbClr val="FFFFFF"/>
                </a:solidFill>
                <a:latin typeface="Calibri"/>
              </a:rPr>
              <a:t>By Packaging Format</a:t>
            </a:r>
          </a:p>
        </p:txBody>
      </p:sp>
      <p:sp>
        <p:nvSpPr>
          <p:cNvPr id="147" name="TextBox 146"/>
          <p:cNvSpPr txBox="1"/>
          <p:nvPr/>
        </p:nvSpPr>
        <p:spPr>
          <a:xfrm>
            <a:off x="9229725" y="125730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48" name="TextBox 147"/>
          <p:cNvSpPr txBox="1"/>
          <p:nvPr/>
        </p:nvSpPr>
        <p:spPr>
          <a:xfrm>
            <a:off x="9420225" y="125730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Bottles</a:t>
            </a:r>
          </a:p>
        </p:txBody>
      </p:sp>
      <p:cxnSp>
        <p:nvCxnSpPr>
          <p:cNvPr id="149" name="Connector 148"/>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9229725" y="143446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51" name="TextBox 150"/>
          <p:cNvSpPr txBox="1"/>
          <p:nvPr/>
        </p:nvSpPr>
        <p:spPr>
          <a:xfrm>
            <a:off x="9420225" y="1434465"/>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Jars and Tubs</a:t>
            </a:r>
          </a:p>
        </p:txBody>
      </p:sp>
      <p:cxnSp>
        <p:nvCxnSpPr>
          <p:cNvPr id="152" name="Connector 151"/>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9229725" y="161163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54" name="TextBox 153"/>
          <p:cNvSpPr txBox="1"/>
          <p:nvPr/>
        </p:nvSpPr>
        <p:spPr>
          <a:xfrm>
            <a:off x="9420225" y="161163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Pouches</a:t>
            </a:r>
          </a:p>
        </p:txBody>
      </p:sp>
      <p:cxnSp>
        <p:nvCxnSpPr>
          <p:cNvPr id="155" name="Connector 154"/>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9229725" y="178879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57" name="TextBox 156"/>
          <p:cNvSpPr txBox="1"/>
          <p:nvPr/>
        </p:nvSpPr>
        <p:spPr>
          <a:xfrm>
            <a:off x="9420225" y="1788795"/>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Sachets</a:t>
            </a:r>
          </a:p>
        </p:txBody>
      </p:sp>
      <p:cxnSp>
        <p:nvCxnSpPr>
          <p:cNvPr id="158" name="Connector 157"/>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9229725" y="196596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60" name="TextBox 159"/>
          <p:cNvSpPr txBox="1"/>
          <p:nvPr/>
        </p:nvSpPr>
        <p:spPr>
          <a:xfrm>
            <a:off x="9420225" y="1965960"/>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Blister Packs</a:t>
            </a:r>
          </a:p>
        </p:txBody>
      </p:sp>
      <p:cxnSp>
        <p:nvCxnSpPr>
          <p:cNvPr id="161" name="Connector 160"/>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9229725" y="214312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63" name="TextBox 162"/>
          <p:cNvSpPr txBox="1"/>
          <p:nvPr/>
        </p:nvSpPr>
        <p:spPr>
          <a:xfrm>
            <a:off x="9420225" y="2143125"/>
            <a:ext cx="2590800" cy="177165"/>
          </a:xfrm>
          <a:prstGeom prst="rect">
            <a:avLst/>
          </a:prstGeom>
          <a:noFill/>
        </p:spPr>
        <p:txBody>
          <a:bodyPr wrap="square" lIns="28575" tIns="9525" rIns="28575" bIns="9525" anchor="ctr">
            <a:spAutoFit/>
          </a:bodyPr>
          <a:lstStyle/>
          <a:p>
            <a:pPr algn="l"/>
            <a:r>
              <a:rPr sz="1100" b="0">
                <a:solidFill>
                  <a:srgbClr val="2E2E2E"/>
                </a:solidFill>
                <a:latin typeface="Calibri"/>
              </a:rPr>
              <a:t>Canisters</a:t>
            </a:r>
          </a:p>
        </p:txBody>
      </p:sp>
      <p:sp>
        <p:nvSpPr>
          <p:cNvPr id="164" name="TextBox 16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Company Coverage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tIns="9525" rIns="28575" bIns="9525" anchor="ctr">
            <a:spAutoFit/>
          </a:bodyPr>
          <a:lstStyle/>
          <a:p>
            <a:pPr algn="l"/>
            <a:r>
              <a:rPr sz="1100" b="0">
                <a:solidFill>
                  <a:srgbClr val="6C7A89"/>
                </a:solidFill>
                <a:latin typeface="Calibri"/>
              </a:rPr>
              <a:t>Companies covered in this study of the Senior Dog Cognitive Supplement Market profiled and benchmarked in the Competition Assessment section.</a:t>
            </a:r>
          </a:p>
        </p:txBody>
      </p:sp>
      <p:sp>
        <p:nvSpPr>
          <p:cNvPr id="11" name="Rectangle 10"/>
          <p:cNvSpPr/>
          <p:nvPr/>
        </p:nvSpPr>
        <p:spPr>
          <a:xfrm>
            <a:off x="142875" y="1554872"/>
            <a:ext cx="5857875" cy="4654693"/>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42875" y="1554872"/>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2875" y="1618760"/>
            <a:ext cx="5857875" cy="164283"/>
          </a:xfrm>
          <a:prstGeom prst="rect">
            <a:avLst/>
          </a:prstGeom>
          <a:noFill/>
        </p:spPr>
        <p:txBody>
          <a:bodyPr wrap="square" lIns="28575" tIns="9525" rIns="2857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1828677"/>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5" name="TextBox 14"/>
          <p:cNvSpPr txBox="1"/>
          <p:nvPr/>
        </p:nvSpPr>
        <p:spPr>
          <a:xfrm>
            <a:off x="581025" y="1828677"/>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Standard Process</a:t>
            </a:r>
          </a:p>
        </p:txBody>
      </p:sp>
      <p:sp>
        <p:nvSpPr>
          <p:cNvPr id="16" name="Rectangle 15"/>
          <p:cNvSpPr/>
          <p:nvPr/>
        </p:nvSpPr>
        <p:spPr>
          <a:xfrm>
            <a:off x="152400" y="2120737"/>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152400" y="212073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120737"/>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9" name="TextBox 18"/>
          <p:cNvSpPr txBox="1"/>
          <p:nvPr/>
        </p:nvSpPr>
        <p:spPr>
          <a:xfrm>
            <a:off x="581025" y="2120737"/>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VetriScience</a:t>
            </a:r>
          </a:p>
        </p:txBody>
      </p:sp>
      <p:cxnSp>
        <p:nvCxnSpPr>
          <p:cNvPr id="20" name="Connector 19"/>
          <p:cNvCxnSpPr/>
          <p:nvPr/>
        </p:nvCxnSpPr>
        <p:spPr>
          <a:xfrm>
            <a:off x="152400" y="241279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2412796"/>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22" name="TextBox 21"/>
          <p:cNvSpPr txBox="1"/>
          <p:nvPr/>
        </p:nvSpPr>
        <p:spPr>
          <a:xfrm>
            <a:off x="581025" y="2412796"/>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Dr. Fossum's</a:t>
            </a:r>
          </a:p>
        </p:txBody>
      </p:sp>
      <p:sp>
        <p:nvSpPr>
          <p:cNvPr id="23" name="Rectangle 22"/>
          <p:cNvSpPr/>
          <p:nvPr/>
        </p:nvSpPr>
        <p:spPr>
          <a:xfrm>
            <a:off x="152400" y="2704855"/>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152400" y="270485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2704855"/>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26" name="TextBox 25"/>
          <p:cNvSpPr txBox="1"/>
          <p:nvPr/>
        </p:nvSpPr>
        <p:spPr>
          <a:xfrm>
            <a:off x="581025" y="2704855"/>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Nestlé Purina PetCare</a:t>
            </a:r>
          </a:p>
        </p:txBody>
      </p:sp>
      <p:cxnSp>
        <p:nvCxnSpPr>
          <p:cNvPr id="27" name="Connector 26"/>
          <p:cNvCxnSpPr/>
          <p:nvPr/>
        </p:nvCxnSpPr>
        <p:spPr>
          <a:xfrm>
            <a:off x="152400" y="299691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3375" y="2996914"/>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29" name="TextBox 28"/>
          <p:cNvSpPr txBox="1"/>
          <p:nvPr/>
        </p:nvSpPr>
        <p:spPr>
          <a:xfrm>
            <a:off x="581025" y="2996914"/>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PetHeal</a:t>
            </a:r>
          </a:p>
        </p:txBody>
      </p:sp>
      <p:sp>
        <p:nvSpPr>
          <p:cNvPr id="30" name="Rectangle 29"/>
          <p:cNvSpPr/>
          <p:nvPr/>
        </p:nvSpPr>
        <p:spPr>
          <a:xfrm>
            <a:off x="152400" y="3288973"/>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152400" y="328897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3288973"/>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33" name="TextBox 32"/>
          <p:cNvSpPr txBox="1"/>
          <p:nvPr/>
        </p:nvSpPr>
        <p:spPr>
          <a:xfrm>
            <a:off x="581025" y="3288973"/>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Senior Dogs Club</a:t>
            </a:r>
          </a:p>
        </p:txBody>
      </p:sp>
      <p:cxnSp>
        <p:nvCxnSpPr>
          <p:cNvPr id="34" name="Connector 33"/>
          <p:cNvCxnSpPr/>
          <p:nvPr/>
        </p:nvCxnSpPr>
        <p:spPr>
          <a:xfrm>
            <a:off x="152400" y="358103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33375" y="3581032"/>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36" name="TextBox 35"/>
          <p:cNvSpPr txBox="1"/>
          <p:nvPr/>
        </p:nvSpPr>
        <p:spPr>
          <a:xfrm>
            <a:off x="581025" y="3581032"/>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VISYO Corporation</a:t>
            </a:r>
          </a:p>
        </p:txBody>
      </p:sp>
      <p:sp>
        <p:nvSpPr>
          <p:cNvPr id="37" name="Rectangle 36"/>
          <p:cNvSpPr/>
          <p:nvPr/>
        </p:nvSpPr>
        <p:spPr>
          <a:xfrm>
            <a:off x="152400" y="3873092"/>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a:off x="152400" y="387309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3873092"/>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40" name="TextBox 39"/>
          <p:cNvSpPr txBox="1"/>
          <p:nvPr/>
        </p:nvSpPr>
        <p:spPr>
          <a:xfrm>
            <a:off x="581025" y="3873092"/>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NaturVet</a:t>
            </a:r>
          </a:p>
        </p:txBody>
      </p:sp>
      <p:cxnSp>
        <p:nvCxnSpPr>
          <p:cNvPr id="41" name="Connector 40"/>
          <p:cNvCxnSpPr/>
          <p:nvPr/>
        </p:nvCxnSpPr>
        <p:spPr>
          <a:xfrm>
            <a:off x="152400" y="416515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33375" y="4165151"/>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43" name="TextBox 42"/>
          <p:cNvSpPr txBox="1"/>
          <p:nvPr/>
        </p:nvSpPr>
        <p:spPr>
          <a:xfrm>
            <a:off x="581025" y="4165151"/>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Zesty Paws</a:t>
            </a:r>
          </a:p>
        </p:txBody>
      </p:sp>
      <p:sp>
        <p:nvSpPr>
          <p:cNvPr id="44" name="Rectangle 43"/>
          <p:cNvSpPr/>
          <p:nvPr/>
        </p:nvSpPr>
        <p:spPr>
          <a:xfrm>
            <a:off x="152400" y="4457210"/>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a:off x="152400" y="445721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33375" y="4457210"/>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47" name="TextBox 46"/>
          <p:cNvSpPr txBox="1"/>
          <p:nvPr/>
        </p:nvSpPr>
        <p:spPr>
          <a:xfrm>
            <a:off x="581025" y="4457210"/>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Ark Naturals</a:t>
            </a:r>
          </a:p>
        </p:txBody>
      </p:sp>
      <p:cxnSp>
        <p:nvCxnSpPr>
          <p:cNvPr id="48" name="Connector 47"/>
          <p:cNvCxnSpPr/>
          <p:nvPr/>
        </p:nvCxnSpPr>
        <p:spPr>
          <a:xfrm>
            <a:off x="152400" y="474926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33375" y="4749269"/>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50" name="TextBox 49"/>
          <p:cNvSpPr txBox="1"/>
          <p:nvPr/>
        </p:nvSpPr>
        <p:spPr>
          <a:xfrm>
            <a:off x="581025" y="4749269"/>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Protexin</a:t>
            </a:r>
          </a:p>
        </p:txBody>
      </p:sp>
      <p:sp>
        <p:nvSpPr>
          <p:cNvPr id="51" name="Rectangle 50"/>
          <p:cNvSpPr/>
          <p:nvPr/>
        </p:nvSpPr>
        <p:spPr>
          <a:xfrm>
            <a:off x="152400" y="5041328"/>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a:off x="152400" y="504132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3375" y="5041328"/>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54" name="TextBox 53"/>
          <p:cNvSpPr txBox="1"/>
          <p:nvPr/>
        </p:nvSpPr>
        <p:spPr>
          <a:xfrm>
            <a:off x="581025" y="5041328"/>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Ceva Animal Health</a:t>
            </a:r>
          </a:p>
        </p:txBody>
      </p:sp>
      <p:cxnSp>
        <p:nvCxnSpPr>
          <p:cNvPr id="55" name="Connector 54"/>
          <p:cNvCxnSpPr/>
          <p:nvPr/>
        </p:nvCxnSpPr>
        <p:spPr>
          <a:xfrm>
            <a:off x="152400" y="533338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33375" y="5333387"/>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57" name="TextBox 56"/>
          <p:cNvSpPr txBox="1"/>
          <p:nvPr/>
        </p:nvSpPr>
        <p:spPr>
          <a:xfrm>
            <a:off x="581025" y="5333387"/>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VetPlus</a:t>
            </a:r>
          </a:p>
        </p:txBody>
      </p:sp>
      <p:sp>
        <p:nvSpPr>
          <p:cNvPr id="58" name="Rectangle 57"/>
          <p:cNvSpPr/>
          <p:nvPr/>
        </p:nvSpPr>
        <p:spPr>
          <a:xfrm>
            <a:off x="152400" y="5625447"/>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152400" y="562544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33375" y="5625447"/>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61" name="TextBox 60"/>
          <p:cNvSpPr txBox="1"/>
          <p:nvPr/>
        </p:nvSpPr>
        <p:spPr>
          <a:xfrm>
            <a:off x="581025" y="5625447"/>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Dorwest Herbs</a:t>
            </a:r>
          </a:p>
        </p:txBody>
      </p:sp>
      <p:cxnSp>
        <p:nvCxnSpPr>
          <p:cNvPr id="62" name="Connector 61"/>
          <p:cNvCxnSpPr/>
          <p:nvPr/>
        </p:nvCxnSpPr>
        <p:spPr>
          <a:xfrm>
            <a:off x="152400" y="591750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33375" y="5917506"/>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64" name="TextBox 63"/>
          <p:cNvSpPr txBox="1"/>
          <p:nvPr/>
        </p:nvSpPr>
        <p:spPr>
          <a:xfrm>
            <a:off x="581025" y="5917506"/>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Virbac</a:t>
            </a:r>
          </a:p>
        </p:txBody>
      </p:sp>
      <p:sp>
        <p:nvSpPr>
          <p:cNvPr id="65" name="Rectangle 64"/>
          <p:cNvSpPr/>
          <p:nvPr/>
        </p:nvSpPr>
        <p:spPr>
          <a:xfrm>
            <a:off x="6191250" y="1554872"/>
            <a:ext cx="5857875" cy="4654693"/>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191250" y="1554872"/>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191250" y="1618760"/>
            <a:ext cx="5857875" cy="164283"/>
          </a:xfrm>
          <a:prstGeom prst="rect">
            <a:avLst/>
          </a:prstGeom>
          <a:noFill/>
        </p:spPr>
        <p:txBody>
          <a:bodyPr wrap="square" lIns="28575" tIns="9525" rIns="28575" bIns="9525" anchor="ctr">
            <a:spAutoFit/>
          </a:bodyPr>
          <a:lstStyle/>
          <a:p>
            <a:pPr algn="ctr"/>
            <a:r>
              <a:rPr sz="1100" b="1">
                <a:solidFill>
                  <a:srgbClr val="FFFFFF"/>
                </a:solidFill>
                <a:latin typeface="Calibri"/>
              </a:rPr>
              <a:t>List Companies</a:t>
            </a:r>
          </a:p>
        </p:txBody>
      </p:sp>
      <p:sp>
        <p:nvSpPr>
          <p:cNvPr id="68" name="TextBox 67"/>
          <p:cNvSpPr txBox="1"/>
          <p:nvPr/>
        </p:nvSpPr>
        <p:spPr>
          <a:xfrm>
            <a:off x="6381750" y="1828677"/>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69" name="TextBox 68"/>
          <p:cNvSpPr txBox="1"/>
          <p:nvPr/>
        </p:nvSpPr>
        <p:spPr>
          <a:xfrm>
            <a:off x="6629400" y="1828677"/>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Dechra Pharmaceuticals</a:t>
            </a:r>
          </a:p>
        </p:txBody>
      </p:sp>
      <p:sp>
        <p:nvSpPr>
          <p:cNvPr id="70" name="Rectangle 69"/>
          <p:cNvSpPr/>
          <p:nvPr/>
        </p:nvSpPr>
        <p:spPr>
          <a:xfrm>
            <a:off x="6200775" y="2120737"/>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1" name="Connector 70"/>
          <p:cNvCxnSpPr/>
          <p:nvPr/>
        </p:nvCxnSpPr>
        <p:spPr>
          <a:xfrm>
            <a:off x="6200775" y="212073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381750" y="2120737"/>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73" name="TextBox 72"/>
          <p:cNvSpPr txBox="1"/>
          <p:nvPr/>
        </p:nvSpPr>
        <p:spPr>
          <a:xfrm>
            <a:off x="6629400" y="2120737"/>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Beaphar</a:t>
            </a:r>
          </a:p>
        </p:txBody>
      </p:sp>
      <p:cxnSp>
        <p:nvCxnSpPr>
          <p:cNvPr id="74" name="Connector 73"/>
          <p:cNvCxnSpPr/>
          <p:nvPr/>
        </p:nvCxnSpPr>
        <p:spPr>
          <a:xfrm>
            <a:off x="6200775" y="241279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81750" y="2412796"/>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76" name="TextBox 75"/>
          <p:cNvSpPr txBox="1"/>
          <p:nvPr/>
        </p:nvSpPr>
        <p:spPr>
          <a:xfrm>
            <a:off x="6629400" y="2412796"/>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Laboratoire Biové</a:t>
            </a:r>
          </a:p>
        </p:txBody>
      </p:sp>
      <p:sp>
        <p:nvSpPr>
          <p:cNvPr id="77" name="Rectangle 76"/>
          <p:cNvSpPr/>
          <p:nvPr/>
        </p:nvSpPr>
        <p:spPr>
          <a:xfrm>
            <a:off x="6200775" y="2704855"/>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Connector 77"/>
          <p:cNvCxnSpPr/>
          <p:nvPr/>
        </p:nvCxnSpPr>
        <p:spPr>
          <a:xfrm>
            <a:off x="6200775" y="270485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381750" y="2704855"/>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80" name="TextBox 79"/>
          <p:cNvSpPr txBox="1"/>
          <p:nvPr/>
        </p:nvSpPr>
        <p:spPr>
          <a:xfrm>
            <a:off x="6629400" y="2704855"/>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Laboratoire Biogance</a:t>
            </a:r>
          </a:p>
        </p:txBody>
      </p:sp>
      <p:cxnSp>
        <p:nvCxnSpPr>
          <p:cNvPr id="81" name="Connector 80"/>
          <p:cNvCxnSpPr/>
          <p:nvPr/>
        </p:nvCxnSpPr>
        <p:spPr>
          <a:xfrm>
            <a:off x="6200775" y="299691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381750" y="2996914"/>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83" name="TextBox 82"/>
          <p:cNvSpPr txBox="1"/>
          <p:nvPr/>
        </p:nvSpPr>
        <p:spPr>
          <a:xfrm>
            <a:off x="6629400" y="2996914"/>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Anibio</a:t>
            </a:r>
          </a:p>
        </p:txBody>
      </p:sp>
      <p:sp>
        <p:nvSpPr>
          <p:cNvPr id="84" name="Rectangle 83"/>
          <p:cNvSpPr/>
          <p:nvPr/>
        </p:nvSpPr>
        <p:spPr>
          <a:xfrm>
            <a:off x="6200775" y="3288973"/>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5" name="Connector 84"/>
          <p:cNvCxnSpPr/>
          <p:nvPr/>
        </p:nvCxnSpPr>
        <p:spPr>
          <a:xfrm>
            <a:off x="6200775" y="328897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6381750" y="3288973"/>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87" name="TextBox 86"/>
          <p:cNvSpPr txBox="1"/>
          <p:nvPr/>
        </p:nvSpPr>
        <p:spPr>
          <a:xfrm>
            <a:off x="6629400" y="3288973"/>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TRIZA</a:t>
            </a:r>
          </a:p>
        </p:txBody>
      </p:sp>
      <p:cxnSp>
        <p:nvCxnSpPr>
          <p:cNvPr id="88" name="Connector 87"/>
          <p:cNvCxnSpPr/>
          <p:nvPr/>
        </p:nvCxnSpPr>
        <p:spPr>
          <a:xfrm>
            <a:off x="6200775" y="358103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381750" y="3581032"/>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90" name="TextBox 89"/>
          <p:cNvSpPr txBox="1"/>
          <p:nvPr/>
        </p:nvSpPr>
        <p:spPr>
          <a:xfrm>
            <a:off x="6629400" y="3581032"/>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MIND UP Corp.</a:t>
            </a:r>
          </a:p>
        </p:txBody>
      </p:sp>
      <p:sp>
        <p:nvSpPr>
          <p:cNvPr id="91" name="Rectangle 90"/>
          <p:cNvSpPr/>
          <p:nvPr/>
        </p:nvSpPr>
        <p:spPr>
          <a:xfrm>
            <a:off x="6200775" y="3873092"/>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2" name="Connector 91"/>
          <p:cNvCxnSpPr/>
          <p:nvPr/>
        </p:nvCxnSpPr>
        <p:spPr>
          <a:xfrm>
            <a:off x="6200775" y="387309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381750" y="3873092"/>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94" name="TextBox 93"/>
          <p:cNvSpPr txBox="1"/>
          <p:nvPr/>
        </p:nvSpPr>
        <p:spPr>
          <a:xfrm>
            <a:off x="6629400" y="3873092"/>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Theymatter</a:t>
            </a:r>
          </a:p>
        </p:txBody>
      </p:sp>
      <p:cxnSp>
        <p:nvCxnSpPr>
          <p:cNvPr id="95" name="Connector 94"/>
          <p:cNvCxnSpPr/>
          <p:nvPr/>
        </p:nvCxnSpPr>
        <p:spPr>
          <a:xfrm>
            <a:off x="6200775" y="416515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6381750" y="4165151"/>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97" name="TextBox 96"/>
          <p:cNvSpPr txBox="1"/>
          <p:nvPr/>
        </p:nvSpPr>
        <p:spPr>
          <a:xfrm>
            <a:off x="6629400" y="4165151"/>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DHC Corporation</a:t>
            </a:r>
          </a:p>
        </p:txBody>
      </p:sp>
      <p:sp>
        <p:nvSpPr>
          <p:cNvPr id="98" name="Rectangle 97"/>
          <p:cNvSpPr/>
          <p:nvPr/>
        </p:nvSpPr>
        <p:spPr>
          <a:xfrm>
            <a:off x="6200775" y="4457210"/>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9" name="Connector 98"/>
          <p:cNvCxnSpPr/>
          <p:nvPr/>
        </p:nvCxnSpPr>
        <p:spPr>
          <a:xfrm>
            <a:off x="6200775" y="445721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6381750" y="4457210"/>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01" name="TextBox 100"/>
          <p:cNvSpPr txBox="1"/>
          <p:nvPr/>
        </p:nvSpPr>
        <p:spPr>
          <a:xfrm>
            <a:off x="6629400" y="4457210"/>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DoggyMan H.A. Co., Ltd.</a:t>
            </a:r>
          </a:p>
        </p:txBody>
      </p:sp>
      <p:cxnSp>
        <p:nvCxnSpPr>
          <p:cNvPr id="102" name="Connector 101"/>
          <p:cNvCxnSpPr/>
          <p:nvPr/>
        </p:nvCxnSpPr>
        <p:spPr>
          <a:xfrm>
            <a:off x="6200775" y="474926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6381750" y="4749269"/>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04" name="TextBox 103"/>
          <p:cNvSpPr txBox="1"/>
          <p:nvPr/>
        </p:nvSpPr>
        <p:spPr>
          <a:xfrm>
            <a:off x="6629400" y="4749269"/>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Petline Corporation</a:t>
            </a:r>
          </a:p>
        </p:txBody>
      </p:sp>
      <p:sp>
        <p:nvSpPr>
          <p:cNvPr id="105" name="Rectangle 104"/>
          <p:cNvSpPr/>
          <p:nvPr/>
        </p:nvSpPr>
        <p:spPr>
          <a:xfrm>
            <a:off x="6200775" y="5041328"/>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6" name="Connector 105"/>
          <p:cNvCxnSpPr/>
          <p:nvPr/>
        </p:nvCxnSpPr>
        <p:spPr>
          <a:xfrm>
            <a:off x="6200775" y="504132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381750" y="5041328"/>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08" name="TextBox 107"/>
          <p:cNvSpPr txBox="1"/>
          <p:nvPr/>
        </p:nvSpPr>
        <p:spPr>
          <a:xfrm>
            <a:off x="6629400" y="5041328"/>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Inaba Petfood Co., Ltd.</a:t>
            </a:r>
          </a:p>
        </p:txBody>
      </p:sp>
      <p:cxnSp>
        <p:nvCxnSpPr>
          <p:cNvPr id="109" name="Connector 108"/>
          <p:cNvCxnSpPr/>
          <p:nvPr/>
        </p:nvCxnSpPr>
        <p:spPr>
          <a:xfrm>
            <a:off x="6200775" y="533338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6381750" y="5333387"/>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11" name="TextBox 110"/>
          <p:cNvSpPr txBox="1"/>
          <p:nvPr/>
        </p:nvSpPr>
        <p:spPr>
          <a:xfrm>
            <a:off x="6629400" y="5333387"/>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Drools</a:t>
            </a:r>
          </a:p>
        </p:txBody>
      </p:sp>
      <p:sp>
        <p:nvSpPr>
          <p:cNvPr id="112" name="Rectangle 111"/>
          <p:cNvSpPr/>
          <p:nvPr/>
        </p:nvSpPr>
        <p:spPr>
          <a:xfrm>
            <a:off x="6200775" y="5625447"/>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3" name="Connector 112"/>
          <p:cNvCxnSpPr/>
          <p:nvPr/>
        </p:nvCxnSpPr>
        <p:spPr>
          <a:xfrm>
            <a:off x="6200775" y="562544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6381750" y="5625447"/>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15" name="TextBox 114"/>
          <p:cNvSpPr txBox="1"/>
          <p:nvPr/>
        </p:nvSpPr>
        <p:spPr>
          <a:xfrm>
            <a:off x="6629400" y="5625447"/>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Himalaya Wellness Company</a:t>
            </a:r>
          </a:p>
        </p:txBody>
      </p:sp>
      <p:cxnSp>
        <p:nvCxnSpPr>
          <p:cNvPr id="116" name="Connector 115"/>
          <p:cNvCxnSpPr/>
          <p:nvPr/>
        </p:nvCxnSpPr>
        <p:spPr>
          <a:xfrm>
            <a:off x="6200775" y="591750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6381750" y="5917506"/>
            <a:ext cx="190500" cy="292059"/>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18" name="TextBox 117"/>
          <p:cNvSpPr txBox="1"/>
          <p:nvPr/>
        </p:nvSpPr>
        <p:spPr>
          <a:xfrm>
            <a:off x="6629400" y="5917506"/>
            <a:ext cx="5324475" cy="292059"/>
          </a:xfrm>
          <a:prstGeom prst="rect">
            <a:avLst/>
          </a:prstGeom>
          <a:noFill/>
        </p:spPr>
        <p:txBody>
          <a:bodyPr wrap="square" lIns="28575" tIns="9525" rIns="28575" bIns="9525" anchor="ctr">
            <a:spAutoFit/>
          </a:bodyPr>
          <a:lstStyle/>
          <a:p>
            <a:pPr algn="l"/>
            <a:r>
              <a:rPr sz="1100" b="0">
                <a:solidFill>
                  <a:srgbClr val="2E2E2E"/>
                </a:solidFill>
                <a:latin typeface="Calibri"/>
              </a:rPr>
              <a:t>Nippon Zenyaku Kogyo</a:t>
            </a:r>
          </a:p>
        </p:txBody>
      </p:sp>
      <p:sp>
        <p:nvSpPr>
          <p:cNvPr id="119" name="TextBox 118"/>
          <p:cNvSpPr txBox="1"/>
          <p:nvPr/>
        </p:nvSpPr>
        <p:spPr>
          <a:xfrm>
            <a:off x="142875" y="6337341"/>
            <a:ext cx="11906250" cy="182537"/>
          </a:xfrm>
          <a:prstGeom prst="rect">
            <a:avLst/>
          </a:prstGeom>
          <a:noFill/>
        </p:spPr>
        <p:txBody>
          <a:bodyPr wrap="square" lIns="28575" tIns="9525" rIns="28575" bIns="9525" anchor="ctr">
            <a:spAutoFit/>
          </a:bodyPr>
          <a:lstStyle/>
          <a:p>
            <a:pPr algn="l"/>
            <a:r>
              <a:rPr sz="1100" b="1">
                <a:solidFill>
                  <a:srgbClr val="B06A2C"/>
                </a:solidFill>
                <a:latin typeface="Calibri"/>
              </a:rPr>
              <a:t>Note: the list of companies is indicative and can be customised on request.</a:t>
            </a:r>
          </a:p>
        </p:txBody>
      </p:sp>
      <p:sp>
        <p:nvSpPr>
          <p:cNvPr id="120" name="TextBox 1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489325"/>
            <a:ext cx="8572500" cy="514350"/>
          </a:xfrm>
          <a:prstGeom prst="rect">
            <a:avLst/>
          </a:prstGeom>
          <a:noFill/>
        </p:spPr>
        <p:txBody>
          <a:bodyPr wrap="square" lIns="0" tIns="0" r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(1/8)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extLst>
                  <a:ext uri="{0D108BD9-81ED-4DB2-BD59-A6C34878D82A}">
                    <a16:rowId xmlns:a16="http://schemas.microsoft.com/office/drawing/2014/main" val="10000"/>
                  </a:ext>
                </a:extLst>
              </a:tr>
              <a:tr h="175260">
                <a:tc>
                  <a:txBody>
                    <a:bodyPr/>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extLst>
                  <a:ext uri="{0D108BD9-81ED-4DB2-BD59-A6C34878D82A}">
                    <a16:rowId xmlns:a16="http://schemas.microsoft.com/office/drawing/2014/main" val="10001"/>
                  </a:ext>
                </a:extLst>
              </a:tr>
              <a:tr h="175260">
                <a:tc>
                  <a:txBody>
                    <a:bodyPr/>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extLst>
                  <a:ext uri="{0D108BD9-81ED-4DB2-BD59-A6C34878D82A}">
                    <a16:rowId xmlns:a16="http://schemas.microsoft.com/office/drawing/2014/main" val="10002"/>
                  </a:ext>
                </a:extLst>
              </a:tr>
              <a:tr h="175260">
                <a:tc>
                  <a:txBody>
                    <a:bodyPr/>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Supply Trends</a:t>
                      </a:r>
                      <a:endParaRPr sz="1100"/>
                    </a:p>
                  </a:txBody>
                  <a:tcPr marL="685800" marR="9525" marT="9525" marB="0" anchor="ctr"/>
                </a:tc>
                <a:extLst>
                  <a:ext uri="{0D108BD9-81ED-4DB2-BD59-A6C34878D82A}">
                    <a16:rowId xmlns:a16="http://schemas.microsoft.com/office/drawing/2014/main" val="10003"/>
                  </a:ext>
                </a:extLst>
              </a:tr>
              <a:tr h="175260">
                <a:tc>
                  <a:txBody>
                    <a:bodyPr/>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extLst>
                  <a:ext uri="{0D108BD9-81ED-4DB2-BD59-A6C34878D82A}">
                    <a16:rowId xmlns:a16="http://schemas.microsoft.com/office/drawing/2014/main" val="10005"/>
                  </a:ext>
                </a:extLst>
              </a:tr>
              <a:tr h="175260">
                <a:tc>
                  <a:txBody>
                    <a:bodyPr/>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extLst>
                  <a:ext uri="{0D108BD9-81ED-4DB2-BD59-A6C34878D82A}">
                    <a16:rowId xmlns:a16="http://schemas.microsoft.com/office/drawing/2014/main" val="10006"/>
                  </a:ext>
                </a:extLst>
              </a:tr>
              <a:tr h="175260">
                <a:tc>
                  <a:txBody>
                    <a:bodyPr/>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Regional Macro Economic Indicators</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1.3.1.</a:t>
                      </a:r>
                      <a:r>
                        <a:rPr sz="700" b="0" i="0">
                          <a:solidFill>
                            <a:srgbClr val="000000"/>
                          </a:solidFill>
                          <a:latin typeface="Times New Roman"/>
                        </a:rPr>
                        <a:t>   </a:t>
                      </a:r>
                      <a:r>
                        <a:rPr sz="1100" b="0" i="0">
                          <a:solidFill>
                            <a:srgbClr val="000000"/>
                          </a:solidFill>
                          <a:latin typeface="Calibri"/>
                        </a:rPr>
                        <a:t>Disposable Income Growth (%)</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1.3.2.</a:t>
                      </a:r>
                      <a:r>
                        <a:rPr sz="700" b="0" i="0">
                          <a:solidFill>
                            <a:srgbClr val="000000"/>
                          </a:solidFill>
                          <a:latin typeface="Times New Roman"/>
                        </a:rPr>
                        <a:t>   </a:t>
                      </a:r>
                      <a:r>
                        <a:rPr sz="1100" b="0" i="0">
                          <a:solidFill>
                            <a:srgbClr val="000000"/>
                          </a:solidFill>
                          <a:latin typeface="Calibri"/>
                        </a:rPr>
                        <a:t>Consumer Price Inflation (%)</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1.3.3.</a:t>
                      </a:r>
                      <a:r>
                        <a:rPr sz="700" b="0" i="0">
                          <a:solidFill>
                            <a:srgbClr val="000000"/>
                          </a:solidFill>
                          <a:latin typeface="Times New Roman"/>
                        </a:rPr>
                        <a:t>   </a:t>
                      </a:r>
                      <a:r>
                        <a:rPr sz="1100" b="0" i="0">
                          <a:solidFill>
                            <a:srgbClr val="000000"/>
                          </a:solidFill>
                          <a:latin typeface="Calibri"/>
                        </a:rPr>
                        <a:t>Veterinary Healthcare Expenditure Growth (%)</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0000"/>
                          </a:solidFill>
                          <a:latin typeface="Calibri"/>
                        </a:rPr>
                        <a:t>1.3.4.</a:t>
                      </a:r>
                      <a:r>
                        <a:rPr sz="700" b="0" i="0">
                          <a:solidFill>
                            <a:srgbClr val="000000"/>
                          </a:solidFill>
                          <a:latin typeface="Times New Roman"/>
                        </a:rPr>
                        <a:t>   </a:t>
                      </a:r>
                      <a:r>
                        <a:rPr sz="1100" b="0" i="0">
                          <a:solidFill>
                            <a:srgbClr val="000000"/>
                          </a:solidFill>
                          <a:latin typeface="Calibri"/>
                        </a:rPr>
                        <a:t>Pet Insurance Penetration (%)</a:t>
                      </a:r>
                      <a:endParaRPr sz="1100"/>
                    </a:p>
                  </a:txBody>
                  <a:tcPr marL="7715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0000"/>
                          </a:solidFill>
                          <a:latin typeface="Calibri"/>
                        </a:rPr>
                        <a:t>1.3.5.</a:t>
                      </a:r>
                      <a:r>
                        <a:rPr sz="700" b="0" i="0">
                          <a:solidFill>
                            <a:srgbClr val="000000"/>
                          </a:solidFill>
                          <a:latin typeface="Times New Roman"/>
                        </a:rPr>
                        <a:t>   </a:t>
                      </a:r>
                      <a:r>
                        <a:rPr sz="1100" b="0" i="0">
                          <a:solidFill>
                            <a:srgbClr val="000000"/>
                          </a:solidFill>
                          <a:latin typeface="Calibri"/>
                        </a:rPr>
                        <a:t>E-commerce Retail Sales Growth (%)</a:t>
                      </a:r>
                      <a:endParaRPr sz="1100"/>
                    </a:p>
                  </a:txBody>
                  <a:tcPr marL="7715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Regional Micro Economic Indicators</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0000"/>
                          </a:solidFill>
                          <a:latin typeface="Calibri"/>
                        </a:rPr>
                        <a:t>1.4.1.</a:t>
                      </a:r>
                      <a:r>
                        <a:rPr sz="700" b="0" i="0">
                          <a:solidFill>
                            <a:srgbClr val="000000"/>
                          </a:solidFill>
                          <a:latin typeface="Times New Roman"/>
                        </a:rPr>
                        <a:t>   </a:t>
                      </a:r>
                      <a:r>
                        <a:rPr sz="1100" b="0" i="0">
                          <a:solidFill>
                            <a:srgbClr val="000000"/>
                          </a:solidFill>
                          <a:latin typeface="Calibri"/>
                        </a:rPr>
                        <a:t>Senior Dog Supplement Adoption Rate (%)</a:t>
                      </a:r>
                      <a:endParaRPr sz="1100"/>
                    </a:p>
                  </a:txBody>
                  <a:tcPr marL="7715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0000"/>
                          </a:solidFill>
                          <a:latin typeface="Calibri"/>
                        </a:rPr>
                        <a:t>1.4.2.</a:t>
                      </a:r>
                      <a:r>
                        <a:rPr sz="700" b="0" i="0">
                          <a:solidFill>
                            <a:srgbClr val="000000"/>
                          </a:solidFill>
                          <a:latin typeface="Times New Roman"/>
                        </a:rPr>
                        <a:t>   </a:t>
                      </a:r>
                      <a:r>
                        <a:rPr sz="1100" b="0" i="0">
                          <a:solidFill>
                            <a:srgbClr val="000000"/>
                          </a:solidFill>
                          <a:latin typeface="Calibri"/>
                        </a:rPr>
                        <a:t>Average Annual Spending on Senior Dog Supplements</a:t>
                      </a:r>
                      <a:endParaRPr sz="1100"/>
                    </a:p>
                  </a:txBody>
                  <a:tcPr marL="7715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0000"/>
                          </a:solidFill>
                          <a:latin typeface="Calibri"/>
                        </a:rPr>
                        <a:t>1.4.3.</a:t>
                      </a:r>
                      <a:r>
                        <a:rPr sz="700" b="0" i="0">
                          <a:solidFill>
                            <a:srgbClr val="000000"/>
                          </a:solidFill>
                          <a:latin typeface="Times New Roman"/>
                        </a:rPr>
                        <a:t>   </a:t>
                      </a:r>
                      <a:r>
                        <a:rPr sz="1100" b="0" i="0">
                          <a:solidFill>
                            <a:srgbClr val="000000"/>
                          </a:solidFill>
                          <a:latin typeface="Calibri"/>
                        </a:rPr>
                        <a:t>Veterinary Recommendation Rate (%)</a:t>
                      </a:r>
                      <a:endParaRPr sz="1100"/>
                    </a:p>
                  </a:txBody>
                  <a:tcPr marL="7715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0000"/>
                          </a:solidFill>
                          <a:latin typeface="Calibri"/>
                        </a:rPr>
                        <a:t>1.4.4.</a:t>
                      </a:r>
                      <a:r>
                        <a:rPr sz="700" b="0" i="0">
                          <a:solidFill>
                            <a:srgbClr val="000000"/>
                          </a:solidFill>
                          <a:latin typeface="Times New Roman"/>
                        </a:rPr>
                        <a:t>   </a:t>
                      </a:r>
                      <a:r>
                        <a:rPr sz="1100" b="0" i="0">
                          <a:solidFill>
                            <a:srgbClr val="000000"/>
                          </a:solidFill>
                          <a:latin typeface="Calibri"/>
                        </a:rPr>
                        <a:t>Repeat Purchase Rate (%)</a:t>
                      </a:r>
                      <a:endParaRPr sz="1100"/>
                    </a:p>
                  </a:txBody>
                  <a:tcPr marL="7715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1.4.5.</a:t>
                      </a:r>
                      <a:r>
                        <a:rPr sz="700" b="0" i="0">
                          <a:solidFill>
                            <a:srgbClr val="000000"/>
                          </a:solidFill>
                          <a:latin typeface="Times New Roman"/>
                        </a:rPr>
                        <a:t>   </a:t>
                      </a:r>
                      <a:r>
                        <a:rPr sz="1100" b="0" i="0">
                          <a:solidFill>
                            <a:srgbClr val="000000"/>
                          </a:solidFill>
                          <a:latin typeface="Calibri"/>
                        </a:rPr>
                        <a:t>Average Selling Price per Supplement SKU</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1" i="0">
                          <a:solidFill>
                            <a:srgbClr val="000000"/>
                          </a:solidFill>
                          <a:latin typeface="Calibri"/>
                        </a:rPr>
                        <a:t>Section 1: Global Market Outlook</a:t>
                      </a:r>
                      <a:endParaRPr sz="1100"/>
                    </a:p>
                  </a:txBody>
                  <a:tcPr marL="9525" marR="9525" marT="9525" marB="0" anchor="ctr"/>
                </a:tc>
                <a:extLst>
                  <a:ext uri="{0D108BD9-81ED-4DB2-BD59-A6C34878D82A}">
                    <a16:rowId xmlns:a16="http://schemas.microsoft.com/office/drawing/2014/main" val="10021"/>
                  </a:ext>
                </a:extLst>
              </a:tr>
              <a:tr h="175260">
                <a:tc>
                  <a:txBody>
                    <a:bodyPr/>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Global Market Size (Value &amp; Volume) 2021–2036</a:t>
                      </a:r>
                      <a:endParaRPr sz="1100"/>
                    </a:p>
                  </a:txBody>
                  <a:tcPr marL="171450" marR="9525" marT="9525" marB="0" anchor="ctr"/>
                </a:tc>
                <a:extLst>
                  <a:ext uri="{0D108BD9-81ED-4DB2-BD59-A6C34878D82A}">
                    <a16:rowId xmlns:a16="http://schemas.microsoft.com/office/drawing/2014/main" val="10022"/>
                  </a:ext>
                </a:extLst>
              </a:tr>
              <a:tr h="175260">
                <a:tc>
                  <a:txBody>
                    <a:bodyPr/>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24"/>
                  </a:ext>
                </a:extLst>
              </a:tr>
              <a:tr h="175260">
                <a:tc>
                  <a:txBody>
                    <a:bodyPr/>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26"/>
                  </a:ext>
                </a:extLst>
              </a:tr>
              <a:tr h="175260">
                <a:tc>
                  <a:txBody>
                    <a:bodyPr/>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(Value- Volume) Analysis 2021-2036, By Form Type</a:t>
                      </a:r>
                      <a:endParaRPr sz="1100"/>
                    </a:p>
                  </a:txBody>
                  <a:tcPr marL="171450" marR="9525" marT="9525" marB="0" anchor="ctr"/>
                </a:tc>
                <a:extLst>
                  <a:ext uri="{0D108BD9-81ED-4DB2-BD59-A6C34878D82A}">
                    <a16:rowId xmlns:a16="http://schemas.microsoft.com/office/drawing/2014/main" val="10027"/>
                  </a:ext>
                </a:extLst>
              </a:tr>
              <a:tr h="175260">
                <a:tc>
                  <a:txBody>
                    <a:bodyPr/>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28"/>
                  </a:ext>
                </a:extLst>
              </a:tr>
              <a:tr h="175260">
                <a:tc>
                  <a:txBody>
                    <a:bodyPr/>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70C0"/>
                          </a:solidFill>
                          <a:latin typeface="Calibri"/>
                        </a:rPr>
                        <a:t>3.5.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0000"/>
                          </a:solidFill>
                          <a:latin typeface="Calibri"/>
                        </a:rPr>
                        <a:t>3.5.1.</a:t>
                      </a:r>
                      <a:r>
                        <a:rPr sz="700" b="0" i="0">
                          <a:solidFill>
                            <a:srgbClr val="000000"/>
                          </a:solidFill>
                          <a:latin typeface="Times New Roman"/>
                        </a:rPr>
                        <a:t>   </a:t>
                      </a:r>
                      <a:r>
                        <a:rPr sz="1100" b="0" i="0">
                          <a:solidFill>
                            <a:srgbClr val="000000"/>
                          </a:solidFill>
                          <a:latin typeface="Calibri"/>
                        </a:rPr>
                        <a:t>Chewables</a:t>
                      </a:r>
                      <a:endParaRPr sz="1100"/>
                    </a:p>
                  </a:txBody>
                  <a:tcPr marL="7715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0000"/>
                          </a:solidFill>
                          <a:latin typeface="Calibri"/>
                        </a:rPr>
                        <a:t>3.5.2.</a:t>
                      </a:r>
                      <a:r>
                        <a:rPr sz="700" b="0" i="0">
                          <a:solidFill>
                            <a:srgbClr val="000000"/>
                          </a:solidFill>
                          <a:latin typeface="Times New Roman"/>
                        </a:rPr>
                        <a:t>   </a:t>
                      </a:r>
                      <a:r>
                        <a:rPr sz="1100" b="0" i="0">
                          <a:solidFill>
                            <a:srgbClr val="000000"/>
                          </a:solidFill>
                          <a:latin typeface="Calibri"/>
                        </a:rPr>
                        <a:t>Tablets</a:t>
                      </a:r>
                      <a:endParaRPr sz="1100"/>
                    </a:p>
                  </a:txBody>
                  <a:tcPr marL="7715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0000"/>
                          </a:solidFill>
                          <a:latin typeface="Calibri"/>
                        </a:rPr>
                        <a:t>3.5.3.</a:t>
                      </a:r>
                      <a:r>
                        <a:rPr sz="700" b="0" i="0">
                          <a:solidFill>
                            <a:srgbClr val="000000"/>
                          </a:solidFill>
                          <a:latin typeface="Times New Roman"/>
                        </a:rPr>
                        <a:t>   </a:t>
                      </a:r>
                      <a:r>
                        <a:rPr sz="1100" b="0" i="0">
                          <a:solidFill>
                            <a:srgbClr val="000000"/>
                          </a:solidFill>
                          <a:latin typeface="Calibri"/>
                        </a:rPr>
                        <a:t>Capsules and Softgels</a:t>
                      </a:r>
                      <a:endParaRPr sz="1100"/>
                    </a:p>
                  </a:txBody>
                  <a:tcPr marL="7715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0000"/>
                          </a:solidFill>
                          <a:latin typeface="Calibri"/>
                        </a:rPr>
                        <a:t>3.5.4.</a:t>
                      </a:r>
                      <a:r>
                        <a:rPr sz="700" b="0" i="0">
                          <a:solidFill>
                            <a:srgbClr val="000000"/>
                          </a:solidFill>
                          <a:latin typeface="Times New Roman"/>
                        </a:rPr>
                        <a:t>   </a:t>
                      </a:r>
                      <a:r>
                        <a:rPr sz="1100" b="0" i="0">
                          <a:solidFill>
                            <a:srgbClr val="000000"/>
                          </a:solidFill>
                          <a:latin typeface="Calibri"/>
                        </a:rPr>
                        <a:t>Powders and Granules</a:t>
                      </a:r>
                      <a:endParaRPr sz="1100"/>
                    </a:p>
                  </a:txBody>
                  <a:tcPr marL="7715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0000"/>
                          </a:solidFill>
                          <a:latin typeface="Calibri"/>
                        </a:rPr>
                        <a:t>3.5.5.</a:t>
                      </a:r>
                      <a:r>
                        <a:rPr sz="700" b="0" i="0">
                          <a:solidFill>
                            <a:srgbClr val="000000"/>
                          </a:solidFill>
                          <a:latin typeface="Times New Roman"/>
                        </a:rPr>
                        <a:t>   </a:t>
                      </a:r>
                      <a:r>
                        <a:rPr sz="1100" b="0" i="0">
                          <a:solidFill>
                            <a:srgbClr val="000000"/>
                          </a:solidFill>
                          <a:latin typeface="Calibri"/>
                        </a:rPr>
                        <a:t>Liquids</a:t>
                      </a:r>
                      <a:endParaRPr sz="1100"/>
                    </a:p>
                  </a:txBody>
                  <a:tcPr marL="7715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0000"/>
                          </a:solidFill>
                          <a:latin typeface="Calibri"/>
                        </a:rPr>
                        <a:t>3.5.6.</a:t>
                      </a:r>
                      <a:r>
                        <a:rPr sz="700" b="0" i="0">
                          <a:solidFill>
                            <a:srgbClr val="000000"/>
                          </a:solidFill>
                          <a:latin typeface="Times New Roman"/>
                        </a:rPr>
                        <a:t>   </a:t>
                      </a:r>
                      <a:r>
                        <a:rPr sz="1100" b="0" i="0">
                          <a:solidFill>
                            <a:srgbClr val="000000"/>
                          </a:solidFill>
                          <a:latin typeface="Calibri"/>
                        </a:rPr>
                        <a:t>Gels and Pastes</a:t>
                      </a:r>
                      <a:endParaRPr sz="1100"/>
                    </a:p>
                  </a:txBody>
                  <a:tcPr marL="771525" marR="9525" marT="9525" marB="0" anchor="ctr"/>
                </a:tc>
                <a:extLst>
                  <a:ext uri="{0D108BD9-81ED-4DB2-BD59-A6C34878D82A}">
                    <a16:rowId xmlns:a16="http://schemas.microsoft.com/office/drawing/2014/main" val="10008"/>
                  </a:ext>
                </a:extLst>
              </a:tr>
              <a:tr h="175260">
                <a:tc>
                  <a:txBody>
                    <a:bodyPr/>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Market (Value- Volume) Analysis 2021–2036, By Active Ingredient</a:t>
                      </a:r>
                      <a:endParaRPr sz="1100"/>
                    </a:p>
                  </a:txBody>
                  <a:tcPr marL="171450" marR="9525" marT="9525" marB="0" anchor="ctr"/>
                </a:tc>
                <a:extLst>
                  <a:ext uri="{0D108BD9-81ED-4DB2-BD59-A6C34878D82A}">
                    <a16:rowId xmlns:a16="http://schemas.microsoft.com/office/drawing/2014/main" val="10009"/>
                  </a:ext>
                </a:extLst>
              </a:tr>
              <a:tr h="175260">
                <a:tc>
                  <a:txBody>
                    <a:bodyPr/>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Omega-3 Fatty Acids</a:t>
                      </a:r>
                      <a:endParaRPr sz="1100"/>
                    </a:p>
                  </a:txBody>
                  <a:tcPr marL="771525" marR="9525" marT="9525" marB="0" anchor="ctr"/>
                </a:tc>
                <a:extLst>
                  <a:ext uri="{0D108BD9-81ED-4DB2-BD59-A6C34878D82A}">
                    <a16:rowId xmlns:a16="http://schemas.microsoft.com/office/drawing/2014/main" val="10015"/>
                  </a:ext>
                </a:extLst>
              </a:tr>
              <a:tr h="175260">
                <a:tc>
                  <a:txBody>
                    <a:bodyPr/>
                    <a:lstStyle/>
                    <a:p>
                      <a:pPr algn="l"/>
                      <a:r>
                        <a:rPr sz="1100" b="0" i="1">
                          <a:solidFill>
                            <a:srgbClr val="000000"/>
                          </a:solidFill>
                          <a:latin typeface="Calibri"/>
                        </a:rPr>
                        <a:t>4.5.1.1.</a:t>
                      </a:r>
                      <a:r>
                        <a:rPr sz="700" b="0" i="1">
                          <a:solidFill>
                            <a:srgbClr val="000000"/>
                          </a:solidFill>
                          <a:latin typeface="Times New Roman"/>
                        </a:rPr>
                        <a:t>    </a:t>
                      </a:r>
                      <a:r>
                        <a:rPr sz="1100" b="0" i="1">
                          <a:solidFill>
                            <a:srgbClr val="000000"/>
                          </a:solidFill>
                          <a:latin typeface="Calibri"/>
                        </a:rPr>
                        <a:t>DHA</a:t>
                      </a:r>
                      <a:endParaRPr sz="1100"/>
                    </a:p>
                  </a:txBody>
                  <a:tcPr marL="1028700" marR="9525" marT="9525" marB="0" anchor="ctr"/>
                </a:tc>
                <a:extLst>
                  <a:ext uri="{0D108BD9-81ED-4DB2-BD59-A6C34878D82A}">
                    <a16:rowId xmlns:a16="http://schemas.microsoft.com/office/drawing/2014/main" val="10016"/>
                  </a:ext>
                </a:extLst>
              </a:tr>
              <a:tr h="175260">
                <a:tc>
                  <a:txBody>
                    <a:bodyPr/>
                    <a:lstStyle/>
                    <a:p>
                      <a:pPr algn="l"/>
                      <a:r>
                        <a:rPr sz="1100" b="0" i="1">
                          <a:solidFill>
                            <a:srgbClr val="000000"/>
                          </a:solidFill>
                          <a:latin typeface="Calibri"/>
                        </a:rPr>
                        <a:t>4.5.1.2.</a:t>
                      </a:r>
                      <a:r>
                        <a:rPr sz="700" b="0" i="1">
                          <a:solidFill>
                            <a:srgbClr val="000000"/>
                          </a:solidFill>
                          <a:latin typeface="Times New Roman"/>
                        </a:rPr>
                        <a:t>    </a:t>
                      </a:r>
                      <a:r>
                        <a:rPr sz="1100" b="0" i="1">
                          <a:solidFill>
                            <a:srgbClr val="000000"/>
                          </a:solidFill>
                          <a:latin typeface="Calibri"/>
                        </a:rPr>
                        <a:t>EPA</a:t>
                      </a:r>
                      <a:endParaRPr sz="1100"/>
                    </a:p>
                  </a:txBody>
                  <a:tcPr marL="1028700" marR="9525" marT="9525" marB="0" anchor="ctr"/>
                </a:tc>
                <a:extLst>
                  <a:ext uri="{0D108BD9-81ED-4DB2-BD59-A6C34878D82A}">
                    <a16:rowId xmlns:a16="http://schemas.microsoft.com/office/drawing/2014/main" val="10017"/>
                  </a:ext>
                </a:extLst>
              </a:tr>
              <a:tr h="175260">
                <a:tc>
                  <a:txBody>
                    <a:bodyPr/>
                    <a:lstStyle/>
                    <a:p>
                      <a:pPr algn="l"/>
                      <a:r>
                        <a:rPr sz="1100" b="0" i="1">
                          <a:solidFill>
                            <a:srgbClr val="000000"/>
                          </a:solidFill>
                          <a:latin typeface="Calibri"/>
                        </a:rPr>
                        <a:t>4.5.1.3.</a:t>
                      </a:r>
                      <a:r>
                        <a:rPr sz="700" b="0" i="1">
                          <a:solidFill>
                            <a:srgbClr val="000000"/>
                          </a:solidFill>
                          <a:latin typeface="Times New Roman"/>
                        </a:rPr>
                        <a:t>    </a:t>
                      </a:r>
                      <a:r>
                        <a:rPr sz="1100" b="0" i="1">
                          <a:solidFill>
                            <a:srgbClr val="000000"/>
                          </a:solidFill>
                          <a:latin typeface="Calibri"/>
                        </a:rPr>
                        <a:t>DHA–EPA Combinations</a:t>
                      </a:r>
                      <a:endParaRPr sz="1100"/>
                    </a:p>
                  </a:txBody>
                  <a:tcPr marL="1028700" marR="9525" marT="9525" marB="0" anchor="ctr"/>
                </a:tc>
                <a:extLst>
                  <a:ext uri="{0D108BD9-81ED-4DB2-BD59-A6C34878D82A}">
                    <a16:rowId xmlns:a16="http://schemas.microsoft.com/office/drawing/2014/main" val="10018"/>
                  </a:ext>
                </a:extLst>
              </a:tr>
              <a:tr h="175260">
                <a:tc>
                  <a:txBody>
                    <a:bodyPr/>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Antioxidant Ingredients</a:t>
                      </a:r>
                      <a:endParaRPr sz="1100"/>
                    </a:p>
                  </a:txBody>
                  <a:tcPr marL="771525" marR="9525" marT="9525" marB="0" anchor="ctr"/>
                </a:tc>
                <a:extLst>
                  <a:ext uri="{0D108BD9-81ED-4DB2-BD59-A6C34878D82A}">
                    <a16:rowId xmlns:a16="http://schemas.microsoft.com/office/drawing/2014/main" val="10019"/>
                  </a:ext>
                </a:extLst>
              </a:tr>
              <a:tr h="175260">
                <a:tc>
                  <a:txBody>
                    <a:bodyPr/>
                    <a:lstStyle/>
                    <a:p>
                      <a:pPr algn="l"/>
                      <a:r>
                        <a:rPr sz="1100" b="0" i="1">
                          <a:solidFill>
                            <a:srgbClr val="000000"/>
                          </a:solidFill>
                          <a:latin typeface="Calibri"/>
                        </a:rPr>
                        <a:t>4.5.2.1.</a:t>
                      </a:r>
                      <a:r>
                        <a:rPr sz="700" b="0" i="1">
                          <a:solidFill>
                            <a:srgbClr val="000000"/>
                          </a:solidFill>
                          <a:latin typeface="Times New Roman"/>
                        </a:rPr>
                        <a:t>    </a:t>
                      </a:r>
                      <a:r>
                        <a:rPr sz="1100" b="0" i="1">
                          <a:solidFill>
                            <a:srgbClr val="000000"/>
                          </a:solidFill>
                          <a:latin typeface="Calibri"/>
                        </a:rPr>
                        <a:t>Vitamin E</a:t>
                      </a:r>
                      <a:endParaRPr sz="1100"/>
                    </a:p>
                  </a:txBody>
                  <a:tcPr marL="1028700" marR="9525" marT="9525" marB="0" anchor="ctr"/>
                </a:tc>
                <a:extLst>
                  <a:ext uri="{0D108BD9-81ED-4DB2-BD59-A6C34878D82A}">
                    <a16:rowId xmlns:a16="http://schemas.microsoft.com/office/drawing/2014/main" val="10020"/>
                  </a:ext>
                </a:extLst>
              </a:tr>
              <a:tr h="175260">
                <a:tc>
                  <a:txBody>
                    <a:bodyPr/>
                    <a:lstStyle/>
                    <a:p>
                      <a:pPr algn="l"/>
                      <a:r>
                        <a:rPr sz="1100" b="0" i="1">
                          <a:solidFill>
                            <a:srgbClr val="000000"/>
                          </a:solidFill>
                          <a:latin typeface="Calibri"/>
                        </a:rPr>
                        <a:t>4.5.2.2.</a:t>
                      </a:r>
                      <a:r>
                        <a:rPr sz="700" b="0" i="1">
                          <a:solidFill>
                            <a:srgbClr val="000000"/>
                          </a:solidFill>
                          <a:latin typeface="Times New Roman"/>
                        </a:rPr>
                        <a:t>    </a:t>
                      </a:r>
                      <a:r>
                        <a:rPr sz="1100" b="0" i="1">
                          <a:solidFill>
                            <a:srgbClr val="000000"/>
                          </a:solidFill>
                          <a:latin typeface="Calibri"/>
                        </a:rPr>
                        <a:t>Vitamin C</a:t>
                      </a:r>
                      <a:endParaRPr sz="1100"/>
                    </a:p>
                  </a:txBody>
                  <a:tcPr marL="1028700"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4.5.2.3.</a:t>
                      </a:r>
                      <a:r>
                        <a:rPr sz="700" b="0" i="1">
                          <a:solidFill>
                            <a:srgbClr val="000000"/>
                          </a:solidFill>
                          <a:latin typeface="Times New Roman"/>
                        </a:rPr>
                        <a:t>    </a:t>
                      </a:r>
                      <a:r>
                        <a:rPr sz="1100" b="0" i="1">
                          <a:solidFill>
                            <a:srgbClr val="000000"/>
                          </a:solidFill>
                          <a:latin typeface="Calibri"/>
                        </a:rPr>
                        <a:t>Selenium</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1">
                          <a:solidFill>
                            <a:srgbClr val="000000"/>
                          </a:solidFill>
                          <a:latin typeface="Calibri"/>
                        </a:rPr>
                        <a:t>4.5.2.4.</a:t>
                      </a:r>
                      <a:r>
                        <a:rPr sz="700" b="0" i="1">
                          <a:solidFill>
                            <a:srgbClr val="000000"/>
                          </a:solidFill>
                          <a:latin typeface="Times New Roman"/>
                        </a:rPr>
                        <a:t>    </a:t>
                      </a:r>
                      <a:r>
                        <a:rPr sz="1100" b="0" i="1">
                          <a:solidFill>
                            <a:srgbClr val="000000"/>
                          </a:solidFill>
                          <a:latin typeface="Calibri"/>
                        </a:rPr>
                        <a:t>Other Antioxidants</a:t>
                      </a:r>
                      <a:endParaRPr sz="1100"/>
                    </a:p>
                  </a:txBody>
                  <a:tcPr marL="1028700" marR="9525" marT="9525" marB="0" anchor="ctr"/>
                </a:tc>
                <a:extLst>
                  <a:ext uri="{0D108BD9-81ED-4DB2-BD59-A6C34878D82A}">
                    <a16:rowId xmlns:a16="http://schemas.microsoft.com/office/drawing/2014/main" val="10023"/>
                  </a:ext>
                </a:extLst>
              </a:tr>
              <a:tr h="175260">
                <a:tc>
                  <a:txBody>
                    <a:bodyPr/>
                    <a:lstStyle/>
                    <a:p>
                      <a:pPr algn="l"/>
                      <a:r>
                        <a:rPr sz="1100" b="0" i="0">
                          <a:solidFill>
                            <a:srgbClr val="000000"/>
                          </a:solidFill>
                          <a:latin typeface="Calibri"/>
                        </a:rPr>
                        <a:t>4.5.3.</a:t>
                      </a:r>
                      <a:r>
                        <a:rPr sz="700" b="0" i="0">
                          <a:solidFill>
                            <a:srgbClr val="000000"/>
                          </a:solidFill>
                          <a:latin typeface="Times New Roman"/>
                        </a:rPr>
                        <a:t>   </a:t>
                      </a:r>
                      <a:r>
                        <a:rPr sz="1100" b="0" i="0">
                          <a:solidFill>
                            <a:srgbClr val="000000"/>
                          </a:solidFill>
                          <a:latin typeface="Calibri"/>
                        </a:rPr>
                        <a:t>Neurofunctional Nutrients</a:t>
                      </a:r>
                      <a:endParaRPr sz="1100"/>
                    </a:p>
                  </a:txBody>
                  <a:tcPr marL="771525" marR="9525" marT="9525" marB="0" anchor="ctr"/>
                </a:tc>
                <a:extLst>
                  <a:ext uri="{0D108BD9-81ED-4DB2-BD59-A6C34878D82A}">
                    <a16:rowId xmlns:a16="http://schemas.microsoft.com/office/drawing/2014/main" val="10024"/>
                  </a:ext>
                </a:extLst>
              </a:tr>
              <a:tr h="175260">
                <a:tc>
                  <a:txBody>
                    <a:bodyPr/>
                    <a:lstStyle/>
                    <a:p>
                      <a:pPr algn="l"/>
                      <a:r>
                        <a:rPr sz="1100" b="0" i="1">
                          <a:solidFill>
                            <a:srgbClr val="000000"/>
                          </a:solidFill>
                          <a:latin typeface="Calibri"/>
                        </a:rPr>
                        <a:t>4.5.3.1.</a:t>
                      </a:r>
                      <a:r>
                        <a:rPr sz="700" b="0" i="1">
                          <a:solidFill>
                            <a:srgbClr val="000000"/>
                          </a:solidFill>
                          <a:latin typeface="Times New Roman"/>
                        </a:rPr>
                        <a:t>    </a:t>
                      </a:r>
                      <a:r>
                        <a:rPr sz="1100" b="0" i="1">
                          <a:solidFill>
                            <a:srgbClr val="000000"/>
                          </a:solidFill>
                          <a:latin typeface="Calibri"/>
                        </a:rPr>
                        <a:t>Phosphatidylserine</a:t>
                      </a:r>
                      <a:endParaRPr sz="1100"/>
                    </a:p>
                  </a:txBody>
                  <a:tcPr marL="1028700" marR="9525" marT="9525" marB="0" anchor="ctr"/>
                </a:tc>
                <a:extLst>
                  <a:ext uri="{0D108BD9-81ED-4DB2-BD59-A6C34878D82A}">
                    <a16:rowId xmlns:a16="http://schemas.microsoft.com/office/drawing/2014/main" val="10025"/>
                  </a:ext>
                </a:extLst>
              </a:tr>
              <a:tr h="175260">
                <a:tc>
                  <a:txBody>
                    <a:bodyPr/>
                    <a:lstStyle/>
                    <a:p>
                      <a:pPr algn="l"/>
                      <a:r>
                        <a:rPr sz="1100" b="0" i="1">
                          <a:solidFill>
                            <a:srgbClr val="000000"/>
                          </a:solidFill>
                          <a:latin typeface="Calibri"/>
                        </a:rPr>
                        <a:t>4.5.3.2.</a:t>
                      </a:r>
                      <a:r>
                        <a:rPr sz="700" b="0" i="1">
                          <a:solidFill>
                            <a:srgbClr val="000000"/>
                          </a:solidFill>
                          <a:latin typeface="Times New Roman"/>
                        </a:rPr>
                        <a:t>    </a:t>
                      </a:r>
                      <a:r>
                        <a:rPr sz="1100" b="0" i="1">
                          <a:solidFill>
                            <a:srgbClr val="000000"/>
                          </a:solidFill>
                          <a:latin typeface="Calibri"/>
                        </a:rPr>
                        <a:t>B Vitamins</a:t>
                      </a:r>
                      <a:endParaRPr sz="1100"/>
                    </a:p>
                  </a:txBody>
                  <a:tcPr marL="1028700" marR="9525" marT="9525" marB="0" anchor="ctr"/>
                </a:tc>
                <a:extLst>
                  <a:ext uri="{0D108BD9-81ED-4DB2-BD59-A6C34878D82A}">
                    <a16:rowId xmlns:a16="http://schemas.microsoft.com/office/drawing/2014/main" val="10026"/>
                  </a:ext>
                </a:extLst>
              </a:tr>
              <a:tr h="175260">
                <a:tc>
                  <a:txBody>
                    <a:bodyPr/>
                    <a:lstStyle/>
                    <a:p>
                      <a:pPr algn="l"/>
                      <a:r>
                        <a:rPr sz="1100" b="0" i="1">
                          <a:solidFill>
                            <a:srgbClr val="000000"/>
                          </a:solidFill>
                          <a:latin typeface="Calibri"/>
                        </a:rPr>
                        <a:t>4.5.3.3.</a:t>
                      </a:r>
                      <a:r>
                        <a:rPr sz="700" b="0" i="1">
                          <a:solidFill>
                            <a:srgbClr val="000000"/>
                          </a:solidFill>
                          <a:latin typeface="Times New Roman"/>
                        </a:rPr>
                        <a:t>    </a:t>
                      </a:r>
                      <a:r>
                        <a:rPr sz="1100" b="0" i="1">
                          <a:solidFill>
                            <a:srgbClr val="000000"/>
                          </a:solidFill>
                          <a:latin typeface="Calibri"/>
                        </a:rPr>
                        <a:t>Choline-Related Ingredients</a:t>
                      </a:r>
                      <a:endParaRPr sz="1100"/>
                    </a:p>
                  </a:txBody>
                  <a:tcPr marL="1028700" marR="9525" marT="9525" marB="0" anchor="ctr"/>
                </a:tc>
                <a:extLst>
                  <a:ext uri="{0D108BD9-81ED-4DB2-BD59-A6C34878D82A}">
                    <a16:rowId xmlns:a16="http://schemas.microsoft.com/office/drawing/2014/main" val="10027"/>
                  </a:ext>
                </a:extLst>
              </a:tr>
              <a:tr h="175260">
                <a:tc>
                  <a:txBody>
                    <a:bodyPr/>
                    <a:lstStyle/>
                    <a:p>
                      <a:pPr algn="l"/>
                      <a:r>
                        <a:rPr sz="1100" b="0" i="0">
                          <a:solidFill>
                            <a:srgbClr val="000000"/>
                          </a:solidFill>
                          <a:latin typeface="Calibri"/>
                        </a:rPr>
                        <a:t>4.5.4.</a:t>
                      </a:r>
                      <a:r>
                        <a:rPr sz="700" b="0" i="0">
                          <a:solidFill>
                            <a:srgbClr val="000000"/>
                          </a:solidFill>
                          <a:latin typeface="Times New Roman"/>
                        </a:rPr>
                        <a:t>   </a:t>
                      </a:r>
                      <a:r>
                        <a:rPr sz="1100" b="0" i="0">
                          <a:solidFill>
                            <a:srgbClr val="000000"/>
                          </a:solidFill>
                          <a:latin typeface="Calibri"/>
                        </a:rPr>
                        <a:t>Cellular Energy Support Ingredients</a:t>
                      </a:r>
                      <a:endParaRPr sz="1100"/>
                    </a:p>
                  </a:txBody>
                  <a:tcPr marL="771525" marR="9525" marT="9525" marB="0" anchor="ctr"/>
                </a:tc>
                <a:extLst>
                  <a:ext uri="{0D108BD9-81ED-4DB2-BD59-A6C34878D82A}">
                    <a16:rowId xmlns:a16="http://schemas.microsoft.com/office/drawing/2014/main" val="10028"/>
                  </a:ext>
                </a:extLst>
              </a:tr>
              <a:tr h="175260">
                <a:tc>
                  <a:txBody>
                    <a:bodyPr/>
                    <a:lstStyle/>
                    <a:p>
                      <a:pPr algn="l"/>
                      <a:r>
                        <a:rPr sz="1100" b="0" i="1">
                          <a:solidFill>
                            <a:srgbClr val="000000"/>
                          </a:solidFill>
                          <a:latin typeface="Calibri"/>
                        </a:rPr>
                        <a:t>4.5.4.1.</a:t>
                      </a:r>
                      <a:r>
                        <a:rPr sz="700" b="0" i="1">
                          <a:solidFill>
                            <a:srgbClr val="000000"/>
                          </a:solidFill>
                          <a:latin typeface="Times New Roman"/>
                        </a:rPr>
                        <a:t>    </a:t>
                      </a:r>
                      <a:r>
                        <a:rPr sz="1100" b="0" i="1">
                          <a:solidFill>
                            <a:srgbClr val="000000"/>
                          </a:solidFill>
                          <a:latin typeface="Calibri"/>
                        </a:rPr>
                        <a:t>L-Carnitine</a:t>
                      </a:r>
                      <a:endParaRPr sz="1100"/>
                    </a:p>
                  </a:txBody>
                  <a:tcPr marL="1028700"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(2/8)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1">
                          <a:solidFill>
                            <a:srgbClr val="000000"/>
                          </a:solidFill>
                          <a:latin typeface="Calibri"/>
                        </a:rPr>
                        <a:t>4.5.4.2.</a:t>
                      </a:r>
                      <a:r>
                        <a:rPr sz="700" b="0" i="1">
                          <a:solidFill>
                            <a:srgbClr val="000000"/>
                          </a:solidFill>
                          <a:latin typeface="Times New Roman"/>
                        </a:rPr>
                        <a:t>    </a:t>
                      </a:r>
                      <a:r>
                        <a:rPr sz="1100" b="0" i="1">
                          <a:solidFill>
                            <a:srgbClr val="000000"/>
                          </a:solidFill>
                          <a:latin typeface="Calibri"/>
                        </a:rPr>
                        <a:t>Acetyl-L-Carnitine</a:t>
                      </a:r>
                      <a:endParaRPr sz="1100"/>
                    </a:p>
                  </a:txBody>
                  <a:tcPr marL="1028700" marR="9525" marT="9525" marB="0" anchor="ctr"/>
                </a:tc>
                <a:extLst>
                  <a:ext uri="{0D108BD9-81ED-4DB2-BD59-A6C34878D82A}">
                    <a16:rowId xmlns:a16="http://schemas.microsoft.com/office/drawing/2014/main" val="10000"/>
                  </a:ext>
                </a:extLst>
              </a:tr>
              <a:tr h="175260">
                <a:tc>
                  <a:txBody>
                    <a:bodyPr/>
                    <a:lstStyle/>
                    <a:p>
                      <a:pPr algn="l"/>
                      <a:r>
                        <a:rPr sz="1100" b="0" i="1">
                          <a:solidFill>
                            <a:srgbClr val="000000"/>
                          </a:solidFill>
                          <a:latin typeface="Calibri"/>
                        </a:rPr>
                        <a:t>4.5.4.3.</a:t>
                      </a:r>
                      <a:r>
                        <a:rPr sz="700" b="0" i="1">
                          <a:solidFill>
                            <a:srgbClr val="000000"/>
                          </a:solidFill>
                          <a:latin typeface="Times New Roman"/>
                        </a:rPr>
                        <a:t>    </a:t>
                      </a:r>
                      <a:r>
                        <a:rPr sz="1100" b="0" i="1">
                          <a:solidFill>
                            <a:srgbClr val="000000"/>
                          </a:solidFill>
                          <a:latin typeface="Calibri"/>
                        </a:rPr>
                        <a:t>Coenzyme Q10</a:t>
                      </a:r>
                      <a:endParaRPr sz="1100"/>
                    </a:p>
                  </a:txBody>
                  <a:tcPr marL="1028700" marR="9525" marT="9525" marB="0" anchor="ctr"/>
                </a:tc>
                <a:extLst>
                  <a:ext uri="{0D108BD9-81ED-4DB2-BD59-A6C34878D82A}">
                    <a16:rowId xmlns:a16="http://schemas.microsoft.com/office/drawing/2014/main" val="10001"/>
                  </a:ext>
                </a:extLst>
              </a:tr>
              <a:tr h="175260">
                <a:tc>
                  <a:txBody>
                    <a:bodyPr/>
                    <a:lstStyle/>
                    <a:p>
                      <a:pPr algn="l"/>
                      <a:r>
                        <a:rPr sz="1100" b="0" i="1">
                          <a:solidFill>
                            <a:srgbClr val="000000"/>
                          </a:solidFill>
                          <a:latin typeface="Calibri"/>
                        </a:rPr>
                        <a:t>4.5.4.4.</a:t>
                      </a:r>
                      <a:r>
                        <a:rPr sz="700" b="0" i="1">
                          <a:solidFill>
                            <a:srgbClr val="000000"/>
                          </a:solidFill>
                          <a:latin typeface="Times New Roman"/>
                        </a:rPr>
                        <a:t>    </a:t>
                      </a:r>
                      <a:r>
                        <a:rPr sz="1100" b="0" i="1">
                          <a:solidFill>
                            <a:srgbClr val="000000"/>
                          </a:solidFill>
                          <a:latin typeface="Calibri"/>
                        </a:rPr>
                        <a:t>Alpha-Lipoic Acid</a:t>
                      </a:r>
                      <a:endParaRPr sz="1100"/>
                    </a:p>
                  </a:txBody>
                  <a:tcPr marL="1028700" marR="9525" marT="9525" marB="0" anchor="ctr"/>
                </a:tc>
                <a:extLst>
                  <a:ext uri="{0D108BD9-81ED-4DB2-BD59-A6C34878D82A}">
                    <a16:rowId xmlns:a16="http://schemas.microsoft.com/office/drawing/2014/main" val="10002"/>
                  </a:ext>
                </a:extLst>
              </a:tr>
              <a:tr h="175260">
                <a:tc>
                  <a:txBody>
                    <a:bodyPr/>
                    <a:lstStyle/>
                    <a:p>
                      <a:pPr algn="l"/>
                      <a:r>
                        <a:rPr sz="1100" b="0" i="0">
                          <a:solidFill>
                            <a:srgbClr val="000000"/>
                          </a:solidFill>
                          <a:latin typeface="Calibri"/>
                        </a:rPr>
                        <a:t>4.5.5.</a:t>
                      </a:r>
                      <a:r>
                        <a:rPr sz="700" b="0" i="0">
                          <a:solidFill>
                            <a:srgbClr val="000000"/>
                          </a:solidFill>
                          <a:latin typeface="Times New Roman"/>
                        </a:rPr>
                        <a:t>   </a:t>
                      </a:r>
                      <a:r>
                        <a:rPr sz="1100" b="0" i="0">
                          <a:solidFill>
                            <a:srgbClr val="000000"/>
                          </a:solidFill>
                          <a:latin typeface="Calibri"/>
                        </a:rPr>
                        <a:t>Botanical Ingredients</a:t>
                      </a:r>
                      <a:endParaRPr sz="1100"/>
                    </a:p>
                  </a:txBody>
                  <a:tcPr marL="771525" marR="9525" marT="9525" marB="0" anchor="ctr"/>
                </a:tc>
                <a:extLst>
                  <a:ext uri="{0D108BD9-81ED-4DB2-BD59-A6C34878D82A}">
                    <a16:rowId xmlns:a16="http://schemas.microsoft.com/office/drawing/2014/main" val="10003"/>
                  </a:ext>
                </a:extLst>
              </a:tr>
              <a:tr h="175260">
                <a:tc>
                  <a:txBody>
                    <a:bodyPr/>
                    <a:lstStyle/>
                    <a:p>
                      <a:pPr algn="l"/>
                      <a:r>
                        <a:rPr sz="1100" b="0" i="1">
                          <a:solidFill>
                            <a:srgbClr val="000000"/>
                          </a:solidFill>
                          <a:latin typeface="Calibri"/>
                        </a:rPr>
                        <a:t>4.5.5.1.</a:t>
                      </a:r>
                      <a:r>
                        <a:rPr sz="700" b="0" i="1">
                          <a:solidFill>
                            <a:srgbClr val="000000"/>
                          </a:solidFill>
                          <a:latin typeface="Times New Roman"/>
                        </a:rPr>
                        <a:t>    </a:t>
                      </a:r>
                      <a:r>
                        <a:rPr sz="1100" b="0" i="1">
                          <a:solidFill>
                            <a:srgbClr val="000000"/>
                          </a:solidFill>
                          <a:latin typeface="Calibri"/>
                        </a:rPr>
                        <a:t>Ginkgo Biloba</a:t>
                      </a:r>
                      <a:endParaRPr sz="1100"/>
                    </a:p>
                  </a:txBody>
                  <a:tcPr marL="1028700" marR="9525" marT="9525" marB="0" anchor="ctr"/>
                </a:tc>
                <a:extLst>
                  <a:ext uri="{0D108BD9-81ED-4DB2-BD59-A6C34878D82A}">
                    <a16:rowId xmlns:a16="http://schemas.microsoft.com/office/drawing/2014/main" val="10004"/>
                  </a:ext>
                </a:extLst>
              </a:tr>
              <a:tr h="175260">
                <a:tc>
                  <a:txBody>
                    <a:bodyPr/>
                    <a:lstStyle/>
                    <a:p>
                      <a:pPr algn="l"/>
                      <a:r>
                        <a:rPr sz="1100" b="0" i="1">
                          <a:solidFill>
                            <a:srgbClr val="000000"/>
                          </a:solidFill>
                          <a:latin typeface="Calibri"/>
                        </a:rPr>
                        <a:t>4.5.5.2.</a:t>
                      </a:r>
                      <a:r>
                        <a:rPr sz="700" b="0" i="1">
                          <a:solidFill>
                            <a:srgbClr val="000000"/>
                          </a:solidFill>
                          <a:latin typeface="Times New Roman"/>
                        </a:rPr>
                        <a:t>    </a:t>
                      </a:r>
                      <a:r>
                        <a:rPr sz="1100" b="0" i="1">
                          <a:solidFill>
                            <a:srgbClr val="000000"/>
                          </a:solidFill>
                          <a:latin typeface="Calibri"/>
                        </a:rPr>
                        <a:t>Resveratrol</a:t>
                      </a:r>
                      <a:endParaRPr sz="1100"/>
                    </a:p>
                  </a:txBody>
                  <a:tcPr marL="1028700" marR="9525" marT="9525" marB="0" anchor="ctr"/>
                </a:tc>
                <a:extLst>
                  <a:ext uri="{0D108BD9-81ED-4DB2-BD59-A6C34878D82A}">
                    <a16:rowId xmlns:a16="http://schemas.microsoft.com/office/drawing/2014/main" val="10005"/>
                  </a:ext>
                </a:extLst>
              </a:tr>
              <a:tr h="175260">
                <a:tc>
                  <a:txBody>
                    <a:bodyPr/>
                    <a:lstStyle/>
                    <a:p>
                      <a:pPr algn="l"/>
                      <a:r>
                        <a:rPr sz="1100" b="0" i="1">
                          <a:solidFill>
                            <a:srgbClr val="000000"/>
                          </a:solidFill>
                          <a:latin typeface="Calibri"/>
                        </a:rPr>
                        <a:t>4.5.5.3.</a:t>
                      </a:r>
                      <a:r>
                        <a:rPr sz="700" b="0" i="1">
                          <a:solidFill>
                            <a:srgbClr val="000000"/>
                          </a:solidFill>
                          <a:latin typeface="Times New Roman"/>
                        </a:rPr>
                        <a:t>    </a:t>
                      </a:r>
                      <a:r>
                        <a:rPr sz="1100" b="0" i="1">
                          <a:solidFill>
                            <a:srgbClr val="000000"/>
                          </a:solidFill>
                          <a:latin typeface="Calibri"/>
                        </a:rPr>
                        <a:t>Other Cognitive-Support Botanicals</a:t>
                      </a:r>
                      <a:endParaRPr sz="1100"/>
                    </a:p>
                  </a:txBody>
                  <a:tcPr marL="1028700" marR="9525" marT="9525" marB="0" anchor="ctr"/>
                </a:tc>
                <a:extLst>
                  <a:ext uri="{0D108BD9-81ED-4DB2-BD59-A6C34878D82A}">
                    <a16:rowId xmlns:a16="http://schemas.microsoft.com/office/drawing/2014/main" val="10006"/>
                  </a:ext>
                </a:extLst>
              </a:tr>
              <a:tr h="175260">
                <a:tc>
                  <a:txBody>
                    <a:bodyPr/>
                    <a:lstStyle/>
                    <a:p>
                      <a:pPr algn="l"/>
                      <a:r>
                        <a:rPr sz="1100" b="0" i="0">
                          <a:solidFill>
                            <a:srgbClr val="000000"/>
                          </a:solidFill>
                          <a:latin typeface="Calibri"/>
                        </a:rPr>
                        <a:t>4.5.6.</a:t>
                      </a:r>
                      <a:r>
                        <a:rPr sz="700" b="0" i="0">
                          <a:solidFill>
                            <a:srgbClr val="000000"/>
                          </a:solidFill>
                          <a:latin typeface="Times New Roman"/>
                        </a:rPr>
                        <a:t>   </a:t>
                      </a:r>
                      <a:r>
                        <a:rPr sz="1100" b="0" i="0">
                          <a:solidFill>
                            <a:srgbClr val="000000"/>
                          </a:solidFill>
                          <a:latin typeface="Calibri"/>
                        </a:rPr>
                        <a:t>Microbiome-Targeted Ingredients</a:t>
                      </a:r>
                      <a:endParaRPr sz="1100"/>
                    </a:p>
                  </a:txBody>
                  <a:tcPr marL="771525" marR="9525" marT="9525" marB="0" anchor="ctr"/>
                </a:tc>
                <a:extLst>
                  <a:ext uri="{0D108BD9-81ED-4DB2-BD59-A6C34878D82A}">
                    <a16:rowId xmlns:a16="http://schemas.microsoft.com/office/drawing/2014/main" val="10007"/>
                  </a:ext>
                </a:extLst>
              </a:tr>
              <a:tr h="175260">
                <a:tc>
                  <a:txBody>
                    <a:bodyPr/>
                    <a:lstStyle/>
                    <a:p>
                      <a:pPr algn="l"/>
                      <a:r>
                        <a:rPr sz="1100" b="0" i="1">
                          <a:solidFill>
                            <a:srgbClr val="000000"/>
                          </a:solidFill>
                          <a:latin typeface="Calibri"/>
                        </a:rPr>
                        <a:t>4.5.6.1.</a:t>
                      </a:r>
                      <a:r>
                        <a:rPr sz="700" b="0" i="1">
                          <a:solidFill>
                            <a:srgbClr val="000000"/>
                          </a:solidFill>
                          <a:latin typeface="Times New Roman"/>
                        </a:rPr>
                        <a:t>    </a:t>
                      </a:r>
                      <a:r>
                        <a:rPr sz="1100" b="0" i="1">
                          <a:solidFill>
                            <a:srgbClr val="000000"/>
                          </a:solidFill>
                          <a:latin typeface="Calibri"/>
                        </a:rPr>
                        <a:t>Prebiotics</a:t>
                      </a:r>
                      <a:endParaRPr sz="1100"/>
                    </a:p>
                  </a:txBody>
                  <a:tcPr marL="1028700" marR="9525" marT="9525" marB="0" anchor="ctr"/>
                </a:tc>
                <a:extLst>
                  <a:ext uri="{0D108BD9-81ED-4DB2-BD59-A6C34878D82A}">
                    <a16:rowId xmlns:a16="http://schemas.microsoft.com/office/drawing/2014/main" val="10008"/>
                  </a:ext>
                </a:extLst>
              </a:tr>
              <a:tr h="175260">
                <a:tc>
                  <a:txBody>
                    <a:bodyPr/>
                    <a:lstStyle/>
                    <a:p>
                      <a:pPr algn="l"/>
                      <a:r>
                        <a:rPr sz="1100" b="0" i="1">
                          <a:solidFill>
                            <a:srgbClr val="000000"/>
                          </a:solidFill>
                          <a:latin typeface="Calibri"/>
                        </a:rPr>
                        <a:t>4.5.6.2.</a:t>
                      </a:r>
                      <a:r>
                        <a:rPr sz="700" b="0" i="1">
                          <a:solidFill>
                            <a:srgbClr val="000000"/>
                          </a:solidFill>
                          <a:latin typeface="Times New Roman"/>
                        </a:rPr>
                        <a:t>    </a:t>
                      </a:r>
                      <a:r>
                        <a:rPr sz="1100" b="0" i="1">
                          <a:solidFill>
                            <a:srgbClr val="000000"/>
                          </a:solidFill>
                          <a:latin typeface="Calibri"/>
                        </a:rPr>
                        <a:t>Probiotics</a:t>
                      </a:r>
                      <a:endParaRPr sz="1100"/>
                    </a:p>
                  </a:txBody>
                  <a:tcPr marL="1028700" marR="9525" marT="9525" marB="0" anchor="ctr"/>
                </a:tc>
                <a:extLst>
                  <a:ext uri="{0D108BD9-81ED-4DB2-BD59-A6C34878D82A}">
                    <a16:rowId xmlns:a16="http://schemas.microsoft.com/office/drawing/2014/main" val="10009"/>
                  </a:ext>
                </a:extLst>
              </a:tr>
              <a:tr h="175260">
                <a:tc>
                  <a:txBody>
                    <a:bodyPr/>
                    <a:lstStyle/>
                    <a:p>
                      <a:pPr algn="l"/>
                      <a:r>
                        <a:rPr sz="1100" b="0" i="1">
                          <a:solidFill>
                            <a:srgbClr val="000000"/>
                          </a:solidFill>
                          <a:latin typeface="Calibri"/>
                        </a:rPr>
                        <a:t>4.5.6.3.</a:t>
                      </a:r>
                      <a:r>
                        <a:rPr sz="700" b="0" i="1">
                          <a:solidFill>
                            <a:srgbClr val="000000"/>
                          </a:solidFill>
                          <a:latin typeface="Times New Roman"/>
                        </a:rPr>
                        <a:t>    </a:t>
                      </a:r>
                      <a:r>
                        <a:rPr sz="1100" b="0" i="1">
                          <a:solidFill>
                            <a:srgbClr val="000000"/>
                          </a:solidFill>
                          <a:latin typeface="Calibri"/>
                        </a:rPr>
                        <a:t>Postbiotics</a:t>
                      </a:r>
                      <a:endParaRPr sz="1100"/>
                    </a:p>
                  </a:txBody>
                  <a:tcPr marL="1028700" marR="9525" marT="9525" marB="0" anchor="ctr"/>
                </a:tc>
                <a:extLst>
                  <a:ext uri="{0D108BD9-81ED-4DB2-BD59-A6C34878D82A}">
                    <a16:rowId xmlns:a16="http://schemas.microsoft.com/office/drawing/2014/main" val="10010"/>
                  </a:ext>
                </a:extLst>
              </a:tr>
              <a:tr h="175260">
                <a:tc>
                  <a:txBody>
                    <a:bodyPr/>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Market (Value- Volume) Analysis 2021–2036, By End-use Application</a:t>
                      </a:r>
                      <a:endParaRPr sz="1100"/>
                    </a:p>
                  </a:txBody>
                  <a:tcPr marL="171450" marR="9525" marT="9525" marB="0" anchor="ctr"/>
                </a:tc>
                <a:extLst>
                  <a:ext uri="{0D108BD9-81ED-4DB2-BD59-A6C34878D82A}">
                    <a16:rowId xmlns:a16="http://schemas.microsoft.com/office/drawing/2014/main" val="10011"/>
                  </a:ext>
                </a:extLst>
              </a:tr>
              <a:tr h="175260">
                <a:tc>
                  <a:txBody>
                    <a:bodyPr/>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Routine Cognitive Wellness</a:t>
                      </a:r>
                      <a:endParaRPr sz="1100"/>
                    </a:p>
                  </a:txBody>
                  <a:tcPr marL="7715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Preventive Cognitive Support for Senior Dogs</a:t>
                      </a:r>
                      <a:endParaRPr sz="1100"/>
                    </a:p>
                  </a:txBody>
                  <a:tcPr marL="7715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0000"/>
                          </a:solidFill>
                          <a:latin typeface="Calibri"/>
                        </a:rPr>
                        <a:t>5.5.3.</a:t>
                      </a:r>
                      <a:r>
                        <a:rPr sz="700" b="0" i="0">
                          <a:solidFill>
                            <a:srgbClr val="000000"/>
                          </a:solidFill>
                          <a:latin typeface="Times New Roman"/>
                        </a:rPr>
                        <a:t>   </a:t>
                      </a:r>
                      <a:r>
                        <a:rPr sz="1100" b="0" i="0">
                          <a:solidFill>
                            <a:srgbClr val="000000"/>
                          </a:solidFill>
                          <a:latin typeface="Calibri"/>
                        </a:rPr>
                        <a:t>Support for Observable Age-Related Cognitive Changes</a:t>
                      </a:r>
                      <a:endParaRPr sz="1100"/>
                    </a:p>
                  </a:txBody>
                  <a:tcPr marL="7715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5.5.4.</a:t>
                      </a:r>
                      <a:r>
                        <a:rPr sz="700" b="0" i="0">
                          <a:solidFill>
                            <a:srgbClr val="000000"/>
                          </a:solidFill>
                          <a:latin typeface="Times New Roman"/>
                        </a:rPr>
                        <a:t>   </a:t>
                      </a:r>
                      <a:r>
                        <a:rPr sz="1100" b="0" i="0">
                          <a:solidFill>
                            <a:srgbClr val="000000"/>
                          </a:solidFill>
                          <a:latin typeface="Calibri"/>
                        </a:rPr>
                        <a:t>Veterinary-Guided Cognitive Dysfunction Support</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(Value- Volume) Analysis 2021–2036, By Packaging Format</a:t>
                      </a:r>
                      <a:endParaRPr sz="1100"/>
                    </a:p>
                  </a:txBody>
                  <a:tcPr marL="171450"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24"/>
                  </a:ext>
                </a:extLst>
              </a:tr>
              <a:tr h="175260">
                <a:tc>
                  <a:txBody>
                    <a:bodyPr/>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26"/>
                  </a:ext>
                </a:extLst>
              </a:tr>
              <a:tr h="175260">
                <a:tc>
                  <a:txBody>
                    <a:bodyPr/>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Bottles</a:t>
                      </a:r>
                      <a:endParaRPr sz="1100"/>
                    </a:p>
                  </a:txBody>
                  <a:tcPr marL="771525" marR="9525" marT="9525" marB="0" anchor="ctr"/>
                </a:tc>
                <a:extLst>
                  <a:ext uri="{0D108BD9-81ED-4DB2-BD59-A6C34878D82A}">
                    <a16:rowId xmlns:a16="http://schemas.microsoft.com/office/drawing/2014/main" val="10027"/>
                  </a:ext>
                </a:extLst>
              </a:tr>
              <a:tr h="175260">
                <a:tc>
                  <a:txBody>
                    <a:bodyPr/>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Jars and Tubs</a:t>
                      </a:r>
                      <a:endParaRPr sz="1100"/>
                    </a:p>
                  </a:txBody>
                  <a:tcPr marL="771525" marR="9525" marT="9525" marB="0" anchor="ctr"/>
                </a:tc>
                <a:extLst>
                  <a:ext uri="{0D108BD9-81ED-4DB2-BD59-A6C34878D82A}">
                    <a16:rowId xmlns:a16="http://schemas.microsoft.com/office/drawing/2014/main" val="10028"/>
                  </a:ext>
                </a:extLst>
              </a:tr>
              <a:tr h="175260">
                <a:tc>
                  <a:txBody>
                    <a:bodyPr/>
                    <a:lstStyle/>
                    <a:p>
                      <a:pPr algn="l"/>
                      <a:r>
                        <a:rPr sz="1100" b="0" i="0">
                          <a:solidFill>
                            <a:srgbClr val="000000"/>
                          </a:solidFill>
                          <a:latin typeface="Calibri"/>
                        </a:rPr>
                        <a:t>6.5.3.</a:t>
                      </a:r>
                      <a:r>
                        <a:rPr sz="700" b="0" i="0">
                          <a:solidFill>
                            <a:srgbClr val="000000"/>
                          </a:solidFill>
                          <a:latin typeface="Times New Roman"/>
                        </a:rPr>
                        <a:t>   </a:t>
                      </a:r>
                      <a:r>
                        <a:rPr sz="1100" b="0" i="0">
                          <a:solidFill>
                            <a:srgbClr val="000000"/>
                          </a:solidFill>
                          <a:latin typeface="Calibri"/>
                        </a:rPr>
                        <a:t>Pouches</a:t>
                      </a:r>
                      <a:endParaRPr sz="1100"/>
                    </a:p>
                  </a:txBody>
                  <a:tcPr marL="771525"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0000"/>
                          </a:solidFill>
                          <a:latin typeface="Calibri"/>
                        </a:rPr>
                        <a:t>6.5.4.</a:t>
                      </a:r>
                      <a:r>
                        <a:rPr sz="700" b="0" i="0">
                          <a:solidFill>
                            <a:srgbClr val="000000"/>
                          </a:solidFill>
                          <a:latin typeface="Times New Roman"/>
                        </a:rPr>
                        <a:t>   </a:t>
                      </a:r>
                      <a:r>
                        <a:rPr sz="1100" b="0" i="0">
                          <a:solidFill>
                            <a:srgbClr val="000000"/>
                          </a:solidFill>
                          <a:latin typeface="Calibri"/>
                        </a:rPr>
                        <a:t>Sachets</a:t>
                      </a:r>
                      <a:endParaRPr sz="1100"/>
                    </a:p>
                  </a:txBody>
                  <a:tcPr marL="7715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0000"/>
                          </a:solidFill>
                          <a:latin typeface="Calibri"/>
                        </a:rPr>
                        <a:t>6.5.5.</a:t>
                      </a:r>
                      <a:r>
                        <a:rPr sz="700" b="0" i="0">
                          <a:solidFill>
                            <a:srgbClr val="000000"/>
                          </a:solidFill>
                          <a:latin typeface="Times New Roman"/>
                        </a:rPr>
                        <a:t>   </a:t>
                      </a:r>
                      <a:r>
                        <a:rPr sz="1100" b="0" i="0">
                          <a:solidFill>
                            <a:srgbClr val="000000"/>
                          </a:solidFill>
                          <a:latin typeface="Calibri"/>
                        </a:rPr>
                        <a:t>Blister Packs</a:t>
                      </a:r>
                      <a:endParaRPr sz="1100"/>
                    </a:p>
                  </a:txBody>
                  <a:tcPr marL="7715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0000"/>
                          </a:solidFill>
                          <a:latin typeface="Calibri"/>
                        </a:rPr>
                        <a:t>6.5.6.</a:t>
                      </a:r>
                      <a:r>
                        <a:rPr sz="700" b="0" i="0">
                          <a:solidFill>
                            <a:srgbClr val="000000"/>
                          </a:solidFill>
                          <a:latin typeface="Times New Roman"/>
                        </a:rPr>
                        <a:t>   </a:t>
                      </a:r>
                      <a:r>
                        <a:rPr sz="1100" b="0" i="0">
                          <a:solidFill>
                            <a:srgbClr val="000000"/>
                          </a:solidFill>
                          <a:latin typeface="Calibri"/>
                        </a:rPr>
                        <a:t>Canisters</a:t>
                      </a:r>
                      <a:endParaRPr sz="1100"/>
                    </a:p>
                  </a:txBody>
                  <a:tcPr marL="771525" marR="9525" marT="9525" marB="0" anchor="ctr"/>
                </a:tc>
                <a:extLst>
                  <a:ext uri="{0D108BD9-81ED-4DB2-BD59-A6C34878D82A}">
                    <a16:rowId xmlns:a16="http://schemas.microsoft.com/office/drawing/2014/main" val="10002"/>
                  </a:ext>
                </a:extLst>
              </a:tr>
              <a:tr h="175260">
                <a:tc>
                  <a:txBody>
                    <a:bodyPr/>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Market (Value- Volume) Analysis 2021–2036, By Sales Channel</a:t>
                      </a:r>
                      <a:endParaRPr sz="1100"/>
                    </a:p>
                  </a:txBody>
                  <a:tcPr marL="171450" marR="9525" marT="9525" marB="0" anchor="ctr"/>
                </a:tc>
                <a:extLst>
                  <a:ext uri="{0D108BD9-81ED-4DB2-BD59-A6C34878D82A}">
                    <a16:rowId xmlns:a16="http://schemas.microsoft.com/office/drawing/2014/main" val="10003"/>
                  </a:ext>
                </a:extLst>
              </a:tr>
              <a:tr h="175260">
                <a:tc>
                  <a:txBody>
                    <a:bodyPr/>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7.3.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70C0"/>
                          </a:solidFill>
                          <a:latin typeface="Calibri"/>
                        </a:rPr>
                        <a:t>7.4.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7.5.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0000"/>
                          </a:solidFill>
                          <a:latin typeface="Calibri"/>
                        </a:rPr>
                        <a:t>7.5.1.</a:t>
                      </a:r>
                      <a:r>
                        <a:rPr sz="700" b="0" i="0">
                          <a:solidFill>
                            <a:srgbClr val="000000"/>
                          </a:solidFill>
                          <a:latin typeface="Times New Roman"/>
                        </a:rPr>
                        <a:t>   </a:t>
                      </a:r>
                      <a:r>
                        <a:rPr sz="1100" b="0" i="0">
                          <a:solidFill>
                            <a:srgbClr val="000000"/>
                          </a:solidFill>
                          <a:latin typeface="Calibri"/>
                        </a:rPr>
                        <a:t>Veterinary Channels</a:t>
                      </a:r>
                      <a:endParaRPr sz="1100"/>
                    </a:p>
                  </a:txBody>
                  <a:tcPr marL="7715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7.5.2.</a:t>
                      </a:r>
                      <a:r>
                        <a:rPr sz="700" b="0" i="0">
                          <a:solidFill>
                            <a:srgbClr val="000000"/>
                          </a:solidFill>
                          <a:latin typeface="Times New Roman"/>
                        </a:rPr>
                        <a:t>   </a:t>
                      </a:r>
                      <a:r>
                        <a:rPr sz="1100" b="0" i="0">
                          <a:solidFill>
                            <a:srgbClr val="000000"/>
                          </a:solidFill>
                          <a:latin typeface="Calibri"/>
                        </a:rPr>
                        <a:t>Specialist Pet Retail</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7.5.3.</a:t>
                      </a:r>
                      <a:r>
                        <a:rPr sz="700" b="0" i="0">
                          <a:solidFill>
                            <a:srgbClr val="000000"/>
                          </a:solidFill>
                          <a:latin typeface="Times New Roman"/>
                        </a:rPr>
                        <a:t>   </a:t>
                      </a:r>
                      <a:r>
                        <a:rPr sz="1100" b="0" i="0">
                          <a:solidFill>
                            <a:srgbClr val="000000"/>
                          </a:solidFill>
                          <a:latin typeface="Calibri"/>
                        </a:rPr>
                        <a:t>General Retail</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7.5.4.</a:t>
                      </a:r>
                      <a:r>
                        <a:rPr sz="700" b="0" i="0">
                          <a:solidFill>
                            <a:srgbClr val="000000"/>
                          </a:solidFill>
                          <a:latin typeface="Times New Roman"/>
                        </a:rPr>
                        <a:t>   </a:t>
                      </a:r>
                      <a:r>
                        <a:rPr sz="1100" b="0" i="0">
                          <a:solidFill>
                            <a:srgbClr val="000000"/>
                          </a:solidFill>
                          <a:latin typeface="Calibri"/>
                        </a:rPr>
                        <a:t>Brand-Owned E-commerce</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0000"/>
                          </a:solidFill>
                          <a:latin typeface="Calibri"/>
                        </a:rPr>
                        <a:t>7.5.5.</a:t>
                      </a:r>
                      <a:r>
                        <a:rPr sz="700" b="0" i="0">
                          <a:solidFill>
                            <a:srgbClr val="000000"/>
                          </a:solidFill>
                          <a:latin typeface="Times New Roman"/>
                        </a:rPr>
                        <a:t>   </a:t>
                      </a:r>
                      <a:r>
                        <a:rPr sz="1100" b="0" i="0">
                          <a:solidFill>
                            <a:srgbClr val="000000"/>
                          </a:solidFill>
                          <a:latin typeface="Calibri"/>
                        </a:rPr>
                        <a:t>Third-Party E-commerce</a:t>
                      </a:r>
                      <a:endParaRPr sz="1100"/>
                    </a:p>
                  </a:txBody>
                  <a:tcPr marL="7715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0000"/>
                          </a:solidFill>
                          <a:latin typeface="Calibri"/>
                        </a:rPr>
                        <a:t>7.5.6.</a:t>
                      </a:r>
                      <a:r>
                        <a:rPr sz="700" b="0" i="0">
                          <a:solidFill>
                            <a:srgbClr val="000000"/>
                          </a:solidFill>
                          <a:latin typeface="Times New Roman"/>
                        </a:rPr>
                        <a:t>   </a:t>
                      </a:r>
                      <a:r>
                        <a:rPr sz="1100" b="0" i="0">
                          <a:solidFill>
                            <a:srgbClr val="000000"/>
                          </a:solidFill>
                          <a:latin typeface="Calibri"/>
                        </a:rPr>
                        <a:t>Other Direct Sales</a:t>
                      </a:r>
                      <a:endParaRPr sz="1100"/>
                    </a:p>
                  </a:txBody>
                  <a:tcPr marL="771525" marR="9525" marT="9525" marB="0" anchor="ctr"/>
                </a:tc>
                <a:extLst>
                  <a:ext uri="{0D108BD9-81ED-4DB2-BD59-A6C34878D82A}">
                    <a16:rowId xmlns:a16="http://schemas.microsoft.com/office/drawing/2014/main" val="10014"/>
                  </a:ext>
                </a:extLst>
              </a:tr>
              <a:tr h="175260">
                <a:tc>
                  <a:txBody>
                    <a:bodyPr/>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0000"/>
                          </a:solidFill>
                          <a:latin typeface="Calibri"/>
                        </a:rPr>
                        <a:t>8.5.1.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8.5.1.1.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1">
                          <a:solidFill>
                            <a:srgbClr val="000000"/>
                          </a:solidFill>
                          <a:latin typeface="Calibri"/>
                        </a:rPr>
                        <a:t>8.5.1.2.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extLst>
                  <a:ext uri="{0D108BD9-81ED-4DB2-BD59-A6C34878D82A}">
                    <a16:rowId xmlns:a16="http://schemas.microsoft.com/office/drawing/2014/main" val="10023"/>
                  </a:ext>
                </a:extLst>
              </a:tr>
              <a:tr h="175260">
                <a:tc>
                  <a:txBody>
                    <a:bodyPr/>
                    <a:lstStyle/>
                    <a:p>
                      <a:pPr algn="l"/>
                      <a:r>
                        <a:rPr sz="1100" b="0" i="0">
                          <a:solidFill>
                            <a:srgbClr val="000000"/>
                          </a:solidFill>
                          <a:latin typeface="Calibri"/>
                        </a:rPr>
                        <a:t>8.5.2.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extLst>
                  <a:ext uri="{0D108BD9-81ED-4DB2-BD59-A6C34878D82A}">
                    <a16:rowId xmlns:a16="http://schemas.microsoft.com/office/drawing/2014/main" val="10024"/>
                  </a:ext>
                </a:extLst>
              </a:tr>
              <a:tr h="175260">
                <a:tc>
                  <a:txBody>
                    <a:bodyPr/>
                    <a:lstStyle/>
                    <a:p>
                      <a:pPr algn="l"/>
                      <a:r>
                        <a:rPr sz="1100" b="0" i="1">
                          <a:solidFill>
                            <a:srgbClr val="000000"/>
                          </a:solidFill>
                          <a:latin typeface="Calibri"/>
                        </a:rPr>
                        <a:t>8.5.2.1.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extLst>
                  <a:ext uri="{0D108BD9-81ED-4DB2-BD59-A6C34878D82A}">
                    <a16:rowId xmlns:a16="http://schemas.microsoft.com/office/drawing/2014/main" val="10025"/>
                  </a:ext>
                </a:extLst>
              </a:tr>
              <a:tr h="175260">
                <a:tc>
                  <a:txBody>
                    <a:bodyPr/>
                    <a:lstStyle/>
                    <a:p>
                      <a:pPr algn="l"/>
                      <a:r>
                        <a:rPr sz="1100" b="0" i="1">
                          <a:solidFill>
                            <a:srgbClr val="000000"/>
                          </a:solidFill>
                          <a:latin typeface="Calibri"/>
                        </a:rPr>
                        <a:t>8.5.2.2.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extLst>
                  <a:ext uri="{0D108BD9-81ED-4DB2-BD59-A6C34878D82A}">
                    <a16:rowId xmlns:a16="http://schemas.microsoft.com/office/drawing/2014/main" val="10026"/>
                  </a:ext>
                </a:extLst>
              </a:tr>
              <a:tr h="175260">
                <a:tc>
                  <a:txBody>
                    <a:bodyPr/>
                    <a:lstStyle/>
                    <a:p>
                      <a:pPr algn="l"/>
                      <a:r>
                        <a:rPr sz="1100" b="0" i="1">
                          <a:solidFill>
                            <a:srgbClr val="000000"/>
                          </a:solidFill>
                          <a:latin typeface="Calibri"/>
                        </a:rPr>
                        <a:t>8.5.2.3.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extLst>
                  <a:ext uri="{0D108BD9-81ED-4DB2-BD59-A6C34878D82A}">
                    <a16:rowId xmlns:a16="http://schemas.microsoft.com/office/drawing/2014/main" val="10027"/>
                  </a:ext>
                </a:extLst>
              </a:tr>
              <a:tr h="175260">
                <a:tc>
                  <a:txBody>
                    <a:bodyPr/>
                    <a:lstStyle/>
                    <a:p>
                      <a:pPr algn="l"/>
                      <a:r>
                        <a:rPr sz="1100" b="0" i="0">
                          <a:solidFill>
                            <a:srgbClr val="000000"/>
                          </a:solidFill>
                          <a:latin typeface="Calibri"/>
                        </a:rPr>
                        <a:t>8.5.3.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extLst>
                  <a:ext uri="{0D108BD9-81ED-4DB2-BD59-A6C34878D82A}">
                    <a16:rowId xmlns:a16="http://schemas.microsoft.com/office/drawing/2014/main" val="10028"/>
                  </a:ext>
                </a:extLst>
              </a:tr>
              <a:tr h="175260">
                <a:tc>
                  <a:txBody>
                    <a:bodyPr/>
                    <a:lstStyle/>
                    <a:p>
                      <a:pPr algn="l"/>
                      <a:r>
                        <a:rPr sz="1100" b="0" i="1">
                          <a:solidFill>
                            <a:srgbClr val="000000"/>
                          </a:solidFill>
                          <a:latin typeface="Calibri"/>
                        </a:rPr>
                        <a:t>8.5.3.1.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(3/8)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1">
                          <a:solidFill>
                            <a:srgbClr val="000000"/>
                          </a:solidFill>
                          <a:latin typeface="Calibri"/>
                        </a:rPr>
                        <a:t>8.5.3.2.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extLst>
                  <a:ext uri="{0D108BD9-81ED-4DB2-BD59-A6C34878D82A}">
                    <a16:rowId xmlns:a16="http://schemas.microsoft.com/office/drawing/2014/main" val="10000"/>
                  </a:ext>
                </a:extLst>
              </a:tr>
              <a:tr h="175260">
                <a:tc>
                  <a:txBody>
                    <a:bodyPr/>
                    <a:lstStyle/>
                    <a:p>
                      <a:pPr algn="l"/>
                      <a:r>
                        <a:rPr sz="1100" b="0" i="1">
                          <a:solidFill>
                            <a:srgbClr val="000000"/>
                          </a:solidFill>
                          <a:latin typeface="Calibri"/>
                        </a:rPr>
                        <a:t>8.5.3.3.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extLst>
                  <a:ext uri="{0D108BD9-81ED-4DB2-BD59-A6C34878D82A}">
                    <a16:rowId xmlns:a16="http://schemas.microsoft.com/office/drawing/2014/main" val="10001"/>
                  </a:ext>
                </a:extLst>
              </a:tr>
              <a:tr h="175260">
                <a:tc>
                  <a:txBody>
                    <a:bodyPr/>
                    <a:lstStyle/>
                    <a:p>
                      <a:pPr algn="l"/>
                      <a:r>
                        <a:rPr sz="1100" b="0" i="0">
                          <a:solidFill>
                            <a:srgbClr val="000000"/>
                          </a:solidFill>
                          <a:latin typeface="Calibri"/>
                        </a:rPr>
                        <a:t>8.5.4.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extLst>
                  <a:ext uri="{0D108BD9-81ED-4DB2-BD59-A6C34878D82A}">
                    <a16:rowId xmlns:a16="http://schemas.microsoft.com/office/drawing/2014/main" val="10002"/>
                  </a:ext>
                </a:extLst>
              </a:tr>
              <a:tr h="175260">
                <a:tc>
                  <a:txBody>
                    <a:bodyPr/>
                    <a:lstStyle/>
                    <a:p>
                      <a:pPr algn="l"/>
                      <a:r>
                        <a:rPr sz="1100" b="0" i="1">
                          <a:solidFill>
                            <a:srgbClr val="000000"/>
                          </a:solidFill>
                          <a:latin typeface="Calibri"/>
                        </a:rPr>
                        <a:t>8.5.4.1.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extLst>
                  <a:ext uri="{0D108BD9-81ED-4DB2-BD59-A6C34878D82A}">
                    <a16:rowId xmlns:a16="http://schemas.microsoft.com/office/drawing/2014/main" val="10003"/>
                  </a:ext>
                </a:extLst>
              </a:tr>
              <a:tr h="175260">
                <a:tc>
                  <a:txBody>
                    <a:bodyPr/>
                    <a:lstStyle/>
                    <a:p>
                      <a:pPr algn="l"/>
                      <a:r>
                        <a:rPr sz="1100" b="0" i="1">
                          <a:solidFill>
                            <a:srgbClr val="000000"/>
                          </a:solidFill>
                          <a:latin typeface="Calibri"/>
                        </a:rPr>
                        <a:t>8.5.4.2.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extLst>
                  <a:ext uri="{0D108BD9-81ED-4DB2-BD59-A6C34878D82A}">
                    <a16:rowId xmlns:a16="http://schemas.microsoft.com/office/drawing/2014/main" val="10004"/>
                  </a:ext>
                </a:extLst>
              </a:tr>
              <a:tr h="175260">
                <a:tc>
                  <a:txBody>
                    <a:bodyPr/>
                    <a:lstStyle/>
                    <a:p>
                      <a:pPr algn="l"/>
                      <a:r>
                        <a:rPr sz="1100" b="0" i="1">
                          <a:solidFill>
                            <a:srgbClr val="000000"/>
                          </a:solidFill>
                          <a:latin typeface="Calibri"/>
                        </a:rPr>
                        <a:t>8.5.4.3.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extLst>
                  <a:ext uri="{0D108BD9-81ED-4DB2-BD59-A6C34878D82A}">
                    <a16:rowId xmlns:a16="http://schemas.microsoft.com/office/drawing/2014/main" val="10005"/>
                  </a:ext>
                </a:extLst>
              </a:tr>
              <a:tr h="175260">
                <a:tc>
                  <a:txBody>
                    <a:bodyPr/>
                    <a:lstStyle/>
                    <a:p>
                      <a:pPr algn="l"/>
                      <a:r>
                        <a:rPr sz="1100" b="0" i="1">
                          <a:solidFill>
                            <a:srgbClr val="000000"/>
                          </a:solidFill>
                          <a:latin typeface="Calibri"/>
                        </a:rPr>
                        <a:t>8.5.4.4.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extLst>
                  <a:ext uri="{0D108BD9-81ED-4DB2-BD59-A6C34878D82A}">
                    <a16:rowId xmlns:a16="http://schemas.microsoft.com/office/drawing/2014/main" val="10006"/>
                  </a:ext>
                </a:extLst>
              </a:tr>
              <a:tr h="175260">
                <a:tc>
                  <a:txBody>
                    <a:bodyPr/>
                    <a:lstStyle/>
                    <a:p>
                      <a:pPr algn="l"/>
                      <a:r>
                        <a:rPr sz="1100" b="0" i="1">
                          <a:solidFill>
                            <a:srgbClr val="000000"/>
                          </a:solidFill>
                          <a:latin typeface="Calibri"/>
                        </a:rPr>
                        <a:t>8.5.4.5.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extLst>
                  <a:ext uri="{0D108BD9-81ED-4DB2-BD59-A6C34878D82A}">
                    <a16:rowId xmlns:a16="http://schemas.microsoft.com/office/drawing/2014/main" val="10007"/>
                  </a:ext>
                </a:extLst>
              </a:tr>
              <a:tr h="175260">
                <a:tc>
                  <a:txBody>
                    <a:bodyPr/>
                    <a:lstStyle/>
                    <a:p>
                      <a:pPr algn="l"/>
                      <a:r>
                        <a:rPr sz="1100" b="0" i="1">
                          <a:solidFill>
                            <a:srgbClr val="000000"/>
                          </a:solidFill>
                          <a:latin typeface="Calibri"/>
                        </a:rPr>
                        <a:t>8.5.4.6.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extLst>
                  <a:ext uri="{0D108BD9-81ED-4DB2-BD59-A6C34878D82A}">
                    <a16:rowId xmlns:a16="http://schemas.microsoft.com/office/drawing/2014/main" val="10008"/>
                  </a:ext>
                </a:extLst>
              </a:tr>
              <a:tr h="175260">
                <a:tc>
                  <a:txBody>
                    <a:bodyPr/>
                    <a:lstStyle/>
                    <a:p>
                      <a:pPr algn="l"/>
                      <a:r>
                        <a:rPr sz="1100" b="0" i="1">
                          <a:solidFill>
                            <a:srgbClr val="000000"/>
                          </a:solidFill>
                          <a:latin typeface="Calibri"/>
                        </a:rPr>
                        <a:t>8.5.4.7.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extLst>
                  <a:ext uri="{0D108BD9-81ED-4DB2-BD59-A6C34878D82A}">
                    <a16:rowId xmlns:a16="http://schemas.microsoft.com/office/drawing/2014/main" val="10009"/>
                  </a:ext>
                </a:extLst>
              </a:tr>
              <a:tr h="175260">
                <a:tc>
                  <a:txBody>
                    <a:bodyPr/>
                    <a:lstStyle/>
                    <a:p>
                      <a:pPr algn="l"/>
                      <a:r>
                        <a:rPr sz="1100" b="0" i="1">
                          <a:solidFill>
                            <a:srgbClr val="000000"/>
                          </a:solidFill>
                          <a:latin typeface="Calibri"/>
                        </a:rPr>
                        <a:t>8.5.4.8.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extLst>
                  <a:ext uri="{0D108BD9-81ED-4DB2-BD59-A6C34878D82A}">
                    <a16:rowId xmlns:a16="http://schemas.microsoft.com/office/drawing/2014/main" val="10010"/>
                  </a:ext>
                </a:extLst>
              </a:tr>
              <a:tr h="175260">
                <a:tc>
                  <a:txBody>
                    <a:bodyPr/>
                    <a:lstStyle/>
                    <a:p>
                      <a:pPr algn="l"/>
                      <a:r>
                        <a:rPr sz="1100" b="0" i="1">
                          <a:solidFill>
                            <a:srgbClr val="000000"/>
                          </a:solidFill>
                          <a:latin typeface="Calibri"/>
                        </a:rPr>
                        <a:t>8.5.4.9.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8.5.5.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0" i="1">
                          <a:solidFill>
                            <a:srgbClr val="000000"/>
                          </a:solidFill>
                          <a:latin typeface="Calibri"/>
                        </a:rPr>
                        <a:t>8.5.5.1.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extLst>
                  <a:ext uri="{0D108BD9-81ED-4DB2-BD59-A6C34878D82A}">
                    <a16:rowId xmlns:a16="http://schemas.microsoft.com/office/drawing/2014/main" val="10013"/>
                  </a:ext>
                </a:extLst>
              </a:tr>
              <a:tr h="175260">
                <a:tc>
                  <a:txBody>
                    <a:bodyPr/>
                    <a:lstStyle/>
                    <a:p>
                      <a:pPr algn="l"/>
                      <a:r>
                        <a:rPr sz="1100" b="0" i="1">
                          <a:solidFill>
                            <a:srgbClr val="000000"/>
                          </a:solidFill>
                          <a:latin typeface="Calibri"/>
                        </a:rPr>
                        <a:t>8.5.5.2.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extLst>
                  <a:ext uri="{0D108BD9-81ED-4DB2-BD59-A6C34878D82A}">
                    <a16:rowId xmlns:a16="http://schemas.microsoft.com/office/drawing/2014/main" val="10014"/>
                  </a:ext>
                </a:extLst>
              </a:tr>
              <a:tr h="175260">
                <a:tc>
                  <a:txBody>
                    <a:bodyPr/>
                    <a:lstStyle/>
                    <a:p>
                      <a:pPr algn="l"/>
                      <a:r>
                        <a:rPr sz="1100" b="0" i="1">
                          <a:solidFill>
                            <a:srgbClr val="000000"/>
                          </a:solidFill>
                          <a:latin typeface="Calibri"/>
                        </a:rPr>
                        <a:t>8.5.5.3.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extLst>
                  <a:ext uri="{0D108BD9-81ED-4DB2-BD59-A6C34878D82A}">
                    <a16:rowId xmlns:a16="http://schemas.microsoft.com/office/drawing/2014/main" val="10015"/>
                  </a:ext>
                </a:extLst>
              </a:tr>
              <a:tr h="175260">
                <a:tc>
                  <a:txBody>
                    <a:bodyPr/>
                    <a:lstStyle/>
                    <a:p>
                      <a:pPr algn="l"/>
                      <a:r>
                        <a:rPr sz="1100" b="0" i="1">
                          <a:solidFill>
                            <a:srgbClr val="000000"/>
                          </a:solidFill>
                          <a:latin typeface="Calibri"/>
                        </a:rPr>
                        <a:t>8.5.5.4.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extLst>
                  <a:ext uri="{0D108BD9-81ED-4DB2-BD59-A6C34878D82A}">
                    <a16:rowId xmlns:a16="http://schemas.microsoft.com/office/drawing/2014/main" val="10016"/>
                  </a:ext>
                </a:extLst>
              </a:tr>
              <a:tr h="175260">
                <a:tc>
                  <a:txBody>
                    <a:bodyPr/>
                    <a:lstStyle/>
                    <a:p>
                      <a:pPr algn="l"/>
                      <a:r>
                        <a:rPr sz="1100" b="0" i="1">
                          <a:solidFill>
                            <a:srgbClr val="000000"/>
                          </a:solidFill>
                          <a:latin typeface="Calibri"/>
                        </a:rPr>
                        <a:t>8.5.5.5.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extLst>
                  <a:ext uri="{0D108BD9-81ED-4DB2-BD59-A6C34878D82A}">
                    <a16:rowId xmlns:a16="http://schemas.microsoft.com/office/drawing/2014/main" val="10017"/>
                  </a:ext>
                </a:extLst>
              </a:tr>
              <a:tr h="175260">
                <a:tc>
                  <a:txBody>
                    <a:bodyPr/>
                    <a:lstStyle/>
                    <a:p>
                      <a:pPr algn="l"/>
                      <a:r>
                        <a:rPr sz="1100" b="0" i="1">
                          <a:solidFill>
                            <a:srgbClr val="000000"/>
                          </a:solidFill>
                          <a:latin typeface="Calibri"/>
                        </a:rPr>
                        <a:t>8.5.5.6.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extLst>
                  <a:ext uri="{0D108BD9-81ED-4DB2-BD59-A6C34878D82A}">
                    <a16:rowId xmlns:a16="http://schemas.microsoft.com/office/drawing/2014/main" val="10018"/>
                  </a:ext>
                </a:extLst>
              </a:tr>
              <a:tr h="175260">
                <a:tc>
                  <a:txBody>
                    <a:bodyPr/>
                    <a:lstStyle/>
                    <a:p>
                      <a:pPr algn="l"/>
                      <a:r>
                        <a:rPr sz="1100" b="0" i="1">
                          <a:solidFill>
                            <a:srgbClr val="000000"/>
                          </a:solidFill>
                          <a:latin typeface="Calibri"/>
                        </a:rPr>
                        <a:t>8.5.5.7.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extLst>
                  <a:ext uri="{0D108BD9-81ED-4DB2-BD59-A6C34878D82A}">
                    <a16:rowId xmlns:a16="http://schemas.microsoft.com/office/drawing/2014/main" val="10019"/>
                  </a:ext>
                </a:extLst>
              </a:tr>
              <a:tr h="175260">
                <a:tc>
                  <a:txBody>
                    <a:bodyPr/>
                    <a:lstStyle/>
                    <a:p>
                      <a:pPr algn="l"/>
                      <a:r>
                        <a:rPr sz="1100" b="0" i="1">
                          <a:solidFill>
                            <a:srgbClr val="000000"/>
                          </a:solidFill>
                          <a:latin typeface="Calibri"/>
                        </a:rPr>
                        <a:t>8.5.5.8.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extLst>
                  <a:ext uri="{0D108BD9-81ED-4DB2-BD59-A6C34878D82A}">
                    <a16:rowId xmlns:a16="http://schemas.microsoft.com/office/drawing/2014/main" val="10020"/>
                  </a:ext>
                </a:extLst>
              </a:tr>
              <a:tr h="175260">
                <a:tc>
                  <a:txBody>
                    <a:bodyPr/>
                    <a:lstStyle/>
                    <a:p>
                      <a:pPr algn="l"/>
                      <a:r>
                        <a:rPr sz="1100" b="0" i="1">
                          <a:solidFill>
                            <a:srgbClr val="000000"/>
                          </a:solidFill>
                          <a:latin typeface="Calibri"/>
                        </a:rPr>
                        <a:t>8.5.5.9.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8.5.5.10.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1">
                          <a:solidFill>
                            <a:srgbClr val="000000"/>
                          </a:solidFill>
                          <a:latin typeface="Calibri"/>
                        </a:rPr>
                        <a:t>8.5.5.11.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extLst>
                  <a:ext uri="{0D108BD9-81ED-4DB2-BD59-A6C34878D82A}">
                    <a16:rowId xmlns:a16="http://schemas.microsoft.com/office/drawing/2014/main" val="10023"/>
                  </a:ext>
                </a:extLst>
              </a:tr>
              <a:tr h="175260">
                <a:tc>
                  <a:txBody>
                    <a:bodyPr/>
                    <a:lstStyle/>
                    <a:p>
                      <a:pPr algn="l"/>
                      <a:r>
                        <a:rPr sz="1100" b="0" i="1">
                          <a:solidFill>
                            <a:srgbClr val="000000"/>
                          </a:solidFill>
                          <a:latin typeface="Calibri"/>
                        </a:rPr>
                        <a:t>8.5.5.12.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extLst>
                  <a:ext uri="{0D108BD9-81ED-4DB2-BD59-A6C34878D82A}">
                    <a16:rowId xmlns:a16="http://schemas.microsoft.com/office/drawing/2014/main" val="10024"/>
                  </a:ext>
                </a:extLst>
              </a:tr>
              <a:tr h="175260">
                <a:tc>
                  <a:txBody>
                    <a:bodyPr/>
                    <a:lstStyle/>
                    <a:p>
                      <a:pPr algn="l"/>
                      <a:r>
                        <a:rPr sz="1100" b="0" i="0">
                          <a:solidFill>
                            <a:srgbClr val="000000"/>
                          </a:solidFill>
                          <a:latin typeface="Calibri"/>
                        </a:rPr>
                        <a:t>8.5.6.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extLst>
                  <a:ext uri="{0D108BD9-81ED-4DB2-BD59-A6C34878D82A}">
                    <a16:rowId xmlns:a16="http://schemas.microsoft.com/office/drawing/2014/main" val="10025"/>
                  </a:ext>
                </a:extLst>
              </a:tr>
              <a:tr h="175260">
                <a:tc>
                  <a:txBody>
                    <a:bodyPr/>
                    <a:lstStyle/>
                    <a:p>
                      <a:pPr algn="l"/>
                      <a:r>
                        <a:rPr sz="1100" b="0" i="1">
                          <a:solidFill>
                            <a:srgbClr val="000000"/>
                          </a:solidFill>
                          <a:latin typeface="Calibri"/>
                        </a:rPr>
                        <a:t>8.5.6.1.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extLst>
                  <a:ext uri="{0D108BD9-81ED-4DB2-BD59-A6C34878D82A}">
                    <a16:rowId xmlns:a16="http://schemas.microsoft.com/office/drawing/2014/main" val="10026"/>
                  </a:ext>
                </a:extLst>
              </a:tr>
              <a:tr h="175260">
                <a:tc>
                  <a:txBody>
                    <a:bodyPr/>
                    <a:lstStyle/>
                    <a:p>
                      <a:pPr algn="l"/>
                      <a:r>
                        <a:rPr sz="1100" b="0" i="1">
                          <a:solidFill>
                            <a:srgbClr val="000000"/>
                          </a:solidFill>
                          <a:latin typeface="Calibri"/>
                        </a:rPr>
                        <a:t>8.5.6.2.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extLst>
                  <a:ext uri="{0D108BD9-81ED-4DB2-BD59-A6C34878D82A}">
                    <a16:rowId xmlns:a16="http://schemas.microsoft.com/office/drawing/2014/main" val="10027"/>
                  </a:ext>
                </a:extLst>
              </a:tr>
              <a:tr h="175260">
                <a:tc>
                  <a:txBody>
                    <a:bodyPr/>
                    <a:lstStyle/>
                    <a:p>
                      <a:pPr algn="l"/>
                      <a:r>
                        <a:rPr sz="1100" b="0" i="1">
                          <a:solidFill>
                            <a:srgbClr val="000000"/>
                          </a:solidFill>
                          <a:latin typeface="Calibri"/>
                        </a:rPr>
                        <a:t>8.5.6.3.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extLst>
                  <a:ext uri="{0D108BD9-81ED-4DB2-BD59-A6C34878D82A}">
                    <a16:rowId xmlns:a16="http://schemas.microsoft.com/office/drawing/2014/main" val="10028"/>
                  </a:ext>
                </a:extLst>
              </a:tr>
              <a:tr h="175260">
                <a:tc>
                  <a:txBody>
                    <a:bodyPr/>
                    <a:lstStyle/>
                    <a:p>
                      <a:pPr algn="l"/>
                      <a:r>
                        <a:rPr sz="1100" b="0" i="1">
                          <a:solidFill>
                            <a:srgbClr val="000000"/>
                          </a:solidFill>
                          <a:latin typeface="Calibri"/>
                        </a:rPr>
                        <a:t>8.5.6.4.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1">
                          <a:solidFill>
                            <a:srgbClr val="000000"/>
                          </a:solidFill>
                          <a:latin typeface="Calibri"/>
                        </a:rPr>
                        <a:t>8.5.6.5.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extLst>
                  <a:ext uri="{0D108BD9-81ED-4DB2-BD59-A6C34878D82A}">
                    <a16:rowId xmlns:a16="http://schemas.microsoft.com/office/drawing/2014/main" val="10000"/>
                  </a:ext>
                </a:extLst>
              </a:tr>
              <a:tr h="175260">
                <a:tc>
                  <a:txBody>
                    <a:bodyPr/>
                    <a:lstStyle/>
                    <a:p>
                      <a:pPr algn="l"/>
                      <a:r>
                        <a:rPr sz="1100" b="0" i="1">
                          <a:solidFill>
                            <a:srgbClr val="000000"/>
                          </a:solidFill>
                          <a:latin typeface="Calibri"/>
                        </a:rPr>
                        <a:t>8.5.6.6.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extLst>
                  <a:ext uri="{0D108BD9-81ED-4DB2-BD59-A6C34878D82A}">
                    <a16:rowId xmlns:a16="http://schemas.microsoft.com/office/drawing/2014/main" val="10001"/>
                  </a:ext>
                </a:extLst>
              </a:tr>
              <a:tr h="175260">
                <a:tc>
                  <a:txBody>
                    <a:bodyPr/>
                    <a:lstStyle/>
                    <a:p>
                      <a:pPr algn="l"/>
                      <a:r>
                        <a:rPr sz="1100" b="0" i="1">
                          <a:solidFill>
                            <a:srgbClr val="000000"/>
                          </a:solidFill>
                          <a:latin typeface="Calibri"/>
                        </a:rPr>
                        <a:t>8.5.6.7.</a:t>
                      </a:r>
                      <a:r>
                        <a:rPr sz="700" b="0" i="1">
                          <a:solidFill>
                            <a:srgbClr val="000000"/>
                          </a:solidFill>
                          <a:latin typeface="Times New Roman"/>
                        </a:rPr>
                        <a:t>    </a:t>
                      </a:r>
                      <a:r>
                        <a:rPr sz="1100" b="0" i="1">
                          <a:solidFill>
                            <a:srgbClr val="000000"/>
                          </a:solidFill>
                          <a:latin typeface="Calibri"/>
                        </a:rPr>
                        <a:t>Rest of MEA</a:t>
                      </a:r>
                      <a:endParaRPr sz="1100"/>
                    </a:p>
                  </a:txBody>
                  <a:tcPr marL="1028700" marR="9525" marT="9525" marB="0" anchor="ctr"/>
                </a:tc>
                <a:extLst>
                  <a:ext uri="{0D108BD9-81ED-4DB2-BD59-A6C34878D82A}">
                    <a16:rowId xmlns:a16="http://schemas.microsoft.com/office/drawing/2014/main" val="10002"/>
                  </a:ext>
                </a:extLst>
              </a:tr>
              <a:tr h="175260">
                <a:tc>
                  <a:txBody>
                    <a:bodyPr/>
                    <a:lstStyle/>
                    <a:p>
                      <a:pPr algn="l"/>
                      <a:r>
                        <a:rPr sz="1100" b="0" i="1">
                          <a:solidFill>
                            <a:srgbClr val="EE0000"/>
                          </a:solidFill>
                          <a:latin typeface="Calibri"/>
                        </a:rPr>
                        <a:t>Note: Value &amp; Volume (US$ Mn / MT) for all segments will be provided for each region/ Country</a:t>
                      </a:r>
                      <a:endParaRPr sz="1100"/>
                    </a:p>
                  </a:txBody>
                  <a:tcPr marL="9525" marR="9525" marT="9525" marB="0" anchor="ctr"/>
                </a:tc>
                <a:extLst>
                  <a:ext uri="{0D108BD9-81ED-4DB2-BD59-A6C34878D82A}">
                    <a16:rowId xmlns:a16="http://schemas.microsoft.com/office/drawing/2014/main" val="10003"/>
                  </a:ext>
                </a:extLst>
              </a:tr>
              <a:tr h="175260">
                <a:tc>
                  <a:txBody>
                    <a:bodyPr/>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Form Type × Active Ingredient</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End-use Application × Active Ingredient</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Sales Channel × End-use Application</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0" i="1">
                          <a:solidFill>
                            <a:srgbClr val="EE0000"/>
                          </a:solidFill>
                          <a:latin typeface="Calibri"/>
                        </a:rPr>
                        <a:t>Note: Cross Sectional Assessment shall be provided on custom request</a:t>
                      </a:r>
                      <a:endParaRPr sz="1100"/>
                    </a:p>
                  </a:txBody>
                  <a:tcPr marL="9525" marR="9525" marT="9525" marB="0" anchor="ctr"/>
                </a:tc>
                <a:extLst>
                  <a:ext uri="{0D108BD9-81ED-4DB2-BD59-A6C34878D82A}">
                    <a16:rowId xmlns:a16="http://schemas.microsoft.com/office/drawing/2014/main" val="10008"/>
                  </a:ext>
                </a:extLst>
              </a:tr>
              <a:tr h="175260">
                <a:tc>
                  <a:txBody>
                    <a:bodyPr/>
                    <a:lstStyle/>
                    <a:p>
                      <a:pPr algn="l"/>
                      <a:r>
                        <a:rPr sz="1100" b="1" i="0">
                          <a:solidFill>
                            <a:srgbClr val="000000"/>
                          </a:solidFill>
                          <a:latin typeface="Calibri"/>
                        </a:rPr>
                        <a:t>Section 2: Regional and Country Market Outlook</a:t>
                      </a:r>
                      <a:endParaRPr sz="1100"/>
                    </a:p>
                  </a:txBody>
                  <a:tcPr marL="9525" marR="9525" marT="9525" marB="0" anchor="ctr"/>
                </a:tc>
                <a:extLst>
                  <a:ext uri="{0D108BD9-81ED-4DB2-BD59-A6C34878D82A}">
                    <a16:rowId xmlns:a16="http://schemas.microsoft.com/office/drawing/2014/main" val="10009"/>
                  </a:ext>
                </a:extLst>
              </a:tr>
              <a:tr h="175260">
                <a:tc>
                  <a:txBody>
                    <a:bodyPr/>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extLst>
                  <a:ext uri="{0D108BD9-81ED-4DB2-BD59-A6C34878D82A}">
                    <a16:rowId xmlns:a16="http://schemas.microsoft.com/office/drawing/2014/main" val="10010"/>
                  </a:ext>
                </a:extLst>
              </a:tr>
              <a:tr h="175260">
                <a:tc>
                  <a:txBody>
                    <a:bodyPr/>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0000"/>
                          </a:solidFill>
                          <a:latin typeface="Calibri"/>
                        </a:rPr>
                        <a:t>10.4.1.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0000"/>
                          </a:solidFill>
                          <a:latin typeface="Calibri"/>
                        </a:rPr>
                        <a:t>10.4.2.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0000"/>
                          </a:solidFill>
                          <a:latin typeface="Calibri"/>
                        </a:rPr>
                        <a:t>10.4.3.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0000"/>
                          </a:solidFill>
                          <a:latin typeface="Calibri"/>
                        </a:rPr>
                        <a:t>10.4.4.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0000"/>
                          </a:solidFill>
                          <a:latin typeface="Calibri"/>
                        </a:rPr>
                        <a:t>10.4.5.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10.4.6.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24"/>
                  </a:ext>
                </a:extLst>
              </a:tr>
              <a:tr h="175260">
                <a:tc>
                  <a:txBody>
                    <a:bodyPr/>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extLst>
                  <a:ext uri="{0D108BD9-81ED-4DB2-BD59-A6C34878D82A}">
                    <a16:rowId xmlns:a16="http://schemas.microsoft.com/office/drawing/2014/main" val="10026"/>
                  </a:ext>
                </a:extLst>
              </a:tr>
              <a:tr h="175260">
                <a:tc>
                  <a:txBody>
                    <a:bodyPr/>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extLst>
                  <a:ext uri="{0D108BD9-81ED-4DB2-BD59-A6C34878D82A}">
                    <a16:rowId xmlns:a16="http://schemas.microsoft.com/office/drawing/2014/main" val="10027"/>
                  </a:ext>
                </a:extLst>
              </a:tr>
              <a:tr h="175260">
                <a:tc>
                  <a:txBody>
                    <a:bodyPr/>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extLst>
                  <a:ext uri="{0D108BD9-81ED-4DB2-BD59-A6C34878D82A}">
                    <a16:rowId xmlns:a16="http://schemas.microsoft.com/office/drawing/2014/main" val="10028"/>
                  </a:ext>
                </a:extLst>
              </a:tr>
              <a:tr h="175260">
                <a:tc>
                  <a:txBody>
                    <a:bodyPr/>
                    <a:lstStyle/>
                    <a:p>
                      <a:pPr algn="l"/>
                      <a:r>
                        <a:rPr sz="1100" b="0" i="0">
                          <a:solidFill>
                            <a:srgbClr val="000000"/>
                          </a:solidFill>
                          <a:latin typeface="Calibri"/>
                        </a:rPr>
                        <a:t>11.4.4.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(4/8)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0000"/>
                          </a:solidFill>
                          <a:latin typeface="Calibri"/>
                        </a:rPr>
                        <a:t>11.4.5.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0000"/>
                          </a:solidFill>
                          <a:latin typeface="Calibri"/>
                        </a:rPr>
                        <a:t>11.4.6.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extLst>
                  <a:ext uri="{0D108BD9-81ED-4DB2-BD59-A6C34878D82A}">
                    <a16:rowId xmlns:a16="http://schemas.microsoft.com/office/drawing/2014/main" val="10001"/>
                  </a:ext>
                </a:extLst>
              </a:tr>
              <a:tr h="175260">
                <a:tc>
                  <a:txBody>
                    <a:bodyPr/>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extLst>
                  <a:ext uri="{0D108BD9-81ED-4DB2-BD59-A6C34878D82A}">
                    <a16:rowId xmlns:a16="http://schemas.microsoft.com/office/drawing/2014/main" val="10002"/>
                  </a:ext>
                </a:extLst>
              </a:tr>
              <a:tr h="175260">
                <a:tc>
                  <a:txBody>
                    <a:bodyPr/>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0000"/>
                          </a:solidFill>
                          <a:latin typeface="Calibri"/>
                        </a:rPr>
                        <a:t>12.4.1.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0000"/>
                          </a:solidFill>
                          <a:latin typeface="Calibri"/>
                        </a:rPr>
                        <a:t>12.4.2.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0000"/>
                          </a:solidFill>
                          <a:latin typeface="Calibri"/>
                        </a:rPr>
                        <a:t>12.4.3.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12.4.4.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12.4.5.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12.4.6.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0000"/>
                          </a:solidFill>
                          <a:latin typeface="Calibri"/>
                        </a:rPr>
                        <a:t>13.4.4.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extLst>
                  <a:ext uri="{0D108BD9-81ED-4DB2-BD59-A6C34878D82A}">
                    <a16:rowId xmlns:a16="http://schemas.microsoft.com/office/drawing/2014/main" val="10021"/>
                  </a:ext>
                </a:extLst>
              </a:tr>
              <a:tr h="175260">
                <a:tc>
                  <a:txBody>
                    <a:bodyPr/>
                    <a:lstStyle/>
                    <a:p>
                      <a:pPr algn="l"/>
                      <a:r>
                        <a:rPr sz="1100" b="0" i="0">
                          <a:solidFill>
                            <a:srgbClr val="000000"/>
                          </a:solidFill>
                          <a:latin typeface="Calibri"/>
                        </a:rPr>
                        <a:t>13.4.5.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0000"/>
                          </a:solidFill>
                          <a:latin typeface="Calibri"/>
                        </a:rPr>
                        <a:t>13.4.6.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extLst>
                  <a:ext uri="{0D108BD9-81ED-4DB2-BD59-A6C34878D82A}">
                    <a16:rowId xmlns:a16="http://schemas.microsoft.com/office/drawing/2014/main" val="10023"/>
                  </a:ext>
                </a:extLst>
              </a:tr>
              <a:tr h="175260">
                <a:tc>
                  <a:txBody>
                    <a:bodyPr/>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extLst>
                  <a:ext uri="{0D108BD9-81ED-4DB2-BD59-A6C34878D82A}">
                    <a16:rowId xmlns:a16="http://schemas.microsoft.com/office/drawing/2014/main" val="10024"/>
                  </a:ext>
                </a:extLst>
              </a:tr>
              <a:tr h="175260">
                <a:tc>
                  <a:txBody>
                    <a:bodyPr/>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26"/>
                  </a:ext>
                </a:extLst>
              </a:tr>
              <a:tr h="175260">
                <a:tc>
                  <a:txBody>
                    <a:bodyPr/>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27"/>
                  </a:ext>
                </a:extLst>
              </a:tr>
              <a:tr h="175260">
                <a:tc>
                  <a:txBody>
                    <a:bodyPr/>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28"/>
                  </a:ext>
                </a:extLst>
              </a:tr>
              <a:tr h="175260">
                <a:tc>
                  <a:txBody>
                    <a:bodyPr/>
                    <a:lstStyle/>
                    <a:p>
                      <a:pPr algn="l"/>
                      <a:r>
                        <a:rPr sz="1100" b="0" i="0">
                          <a:solidFill>
                            <a:srgbClr val="000000"/>
                          </a:solidFill>
                          <a:latin typeface="Calibri"/>
                        </a:rPr>
                        <a:t>14.4.1.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0000"/>
                          </a:solidFill>
                          <a:latin typeface="Calibri"/>
                        </a:rPr>
                        <a:t>14.4.2.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0000"/>
                          </a:solidFill>
                          <a:latin typeface="Calibri"/>
                        </a:rPr>
                        <a:t>14.4.3.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0000"/>
                          </a:solidFill>
                          <a:latin typeface="Calibri"/>
                        </a:rPr>
                        <a:t>14.4.4.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0000"/>
                          </a:solidFill>
                          <a:latin typeface="Calibri"/>
                        </a:rPr>
                        <a:t>14.4.5.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0000"/>
                          </a:solidFill>
                          <a:latin typeface="Calibri"/>
                        </a:rPr>
                        <a:t>14.4.6.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extLst>
                  <a:ext uri="{0D108BD9-81ED-4DB2-BD59-A6C34878D82A}">
                    <a16:rowId xmlns:a16="http://schemas.microsoft.com/office/drawing/2014/main" val="10004"/>
                  </a:ext>
                </a:extLst>
              </a:tr>
              <a:tr h="175260">
                <a:tc>
                  <a:txBody>
                    <a:bodyPr/>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0000"/>
                          </a:solidFill>
                          <a:latin typeface="Calibri"/>
                        </a:rPr>
                        <a:t>15.4.6.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extLst>
                  <a:ext uri="{0D108BD9-81ED-4DB2-BD59-A6C34878D82A}">
                    <a16:rowId xmlns:a16="http://schemas.microsoft.com/office/drawing/2014/main" val="10015"/>
                  </a:ext>
                </a:extLst>
              </a:tr>
              <a:tr h="175260">
                <a:tc>
                  <a:txBody>
                    <a:bodyPr/>
                    <a:lstStyle/>
                    <a:p>
                      <a:pPr algn="l"/>
                      <a:r>
                        <a:rPr sz="1100" b="1" i="0">
                          <a:solidFill>
                            <a:srgbClr val="000000"/>
                          </a:solidFill>
                          <a:latin typeface="Calibri"/>
                        </a:rPr>
                        <a:t>Section 3: Pricing Assessment</a:t>
                      </a:r>
                      <a:endParaRPr sz="1100"/>
                    </a:p>
                  </a:txBody>
                  <a:tcPr marL="9525" marR="9525" marT="9525" marB="0" anchor="ctr"/>
                </a:tc>
                <a:extLst>
                  <a:ext uri="{0D108BD9-81ED-4DB2-BD59-A6C34878D82A}">
                    <a16:rowId xmlns:a16="http://schemas.microsoft.com/office/drawing/2014/main" val="10016"/>
                  </a:ext>
                </a:extLst>
              </a:tr>
              <a:tr h="175260">
                <a:tc>
                  <a:txBody>
                    <a:bodyPr/>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extLst>
                  <a:ext uri="{0D108BD9-81ED-4DB2-BD59-A6C34878D82A}">
                    <a16:rowId xmlns:a16="http://schemas.microsoft.com/office/drawing/2014/main" val="10017"/>
                  </a:ext>
                </a:extLst>
              </a:tr>
              <a:tr h="175260">
                <a:tc>
                  <a:txBody>
                    <a:bodyPr/>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0000"/>
                          </a:solidFill>
                          <a:latin typeface="Calibri"/>
                        </a:rPr>
                        <a:t>16.1.1.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16.1.2.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0000"/>
                          </a:solidFill>
                          <a:latin typeface="Calibri"/>
                        </a:rPr>
                        <a:t>16.1.3.</a:t>
                      </a:r>
                      <a:r>
                        <a:rPr sz="700" b="0" i="0">
                          <a:solidFill>
                            <a:srgbClr val="000000"/>
                          </a:solidFill>
                          <a:latin typeface="Times New Roman"/>
                        </a:rPr>
                        <a:t> </a:t>
                      </a:r>
                      <a:r>
                        <a:rPr sz="1100" b="0" i="0">
                          <a:solidFill>
                            <a:srgbClr val="000000"/>
                          </a:solidFill>
                          <a:latin typeface="Calibri"/>
                        </a:rPr>
                        <a:t>Retail Pricing (where applicable)</a:t>
                      </a:r>
                      <a:endParaRPr sz="1100"/>
                    </a:p>
                  </a:txBody>
                  <a:tcPr marL="771525"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Segment-wise Price Comparison (Form Type vs Active Ingredient)</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Country-wise Price Comparison (Functionality)</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Price Forecast till 2036</a:t>
                      </a:r>
                      <a:endParaRPr sz="1100"/>
                    </a:p>
                  </a:txBody>
                  <a:tcPr marL="428625" marR="9525" marT="9525" marB="0" anchor="ctr"/>
                </a:tc>
                <a:extLst>
                  <a:ext uri="{0D108BD9-81ED-4DB2-BD59-A6C34878D82A}">
                    <a16:rowId xmlns:a16="http://schemas.microsoft.com/office/drawing/2014/main" val="10024"/>
                  </a:ext>
                </a:extLst>
              </a:tr>
              <a:tr h="175260">
                <a:tc>
                  <a:txBody>
                    <a:bodyPr/>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extLst>
                  <a:ext uri="{0D108BD9-81ED-4DB2-BD59-A6C34878D82A}">
                    <a16:rowId xmlns:a16="http://schemas.microsoft.com/office/drawing/2014/main" val="10026"/>
                  </a:ext>
                </a:extLst>
              </a:tr>
              <a:tr h="175260">
                <a:tc>
                  <a:txBody>
                    <a:bodyPr/>
                    <a:lstStyle/>
                    <a:p>
                      <a:pPr algn="l"/>
                      <a:r>
                        <a:rPr sz="1100" b="1" i="0">
                          <a:solidFill>
                            <a:srgbClr val="000000"/>
                          </a:solidFill>
                          <a:latin typeface="Calibri"/>
                        </a:rPr>
                        <a:t>Section 4: Market Dynamics</a:t>
                      </a:r>
                      <a:endParaRPr sz="1100"/>
                    </a:p>
                  </a:txBody>
                  <a:tcPr marL="9525" marR="9525" marT="9525" marB="0" anchor="ctr"/>
                </a:tc>
                <a:extLst>
                  <a:ext uri="{0D108BD9-81ED-4DB2-BD59-A6C34878D82A}">
                    <a16:rowId xmlns:a16="http://schemas.microsoft.com/office/drawing/2014/main" val="10027"/>
                  </a:ext>
                </a:extLst>
              </a:tr>
              <a:tr h="175260">
                <a:tc>
                  <a:txBody>
                    <a:bodyPr/>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extLst>
                  <a:ext uri="{0D108BD9-81ED-4DB2-BD59-A6C34878D82A}">
                    <a16:rowId xmlns:a16="http://schemas.microsoft.com/office/drawing/2014/main" val="10028"/>
                  </a:ext>
                </a:extLst>
              </a:tr>
              <a:tr h="175260">
                <a:tc>
                  <a:txBody>
                    <a:bodyPr/>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(5/8)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0000"/>
                          </a:solidFill>
                          <a:latin typeface="Calibri"/>
                        </a:rPr>
                        <a:t>17.1.1.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0000"/>
                          </a:solidFill>
                          <a:latin typeface="Calibri"/>
                        </a:rPr>
                        <a:t>17.1.2.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0000"/>
                          </a:solidFill>
                          <a:latin typeface="Calibri"/>
                        </a:rPr>
                        <a:t>17.1.3.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Product Launches &amp; Development</a:t>
                      </a:r>
                      <a:endParaRPr sz="1100"/>
                    </a:p>
                  </a:txBody>
                  <a:tcPr marL="428625" marR="9525" marT="9525" marB="0" anchor="ctr"/>
                </a:tc>
                <a:extLst>
                  <a:ext uri="{0D108BD9-81ED-4DB2-BD59-A6C34878D82A}">
                    <a16:rowId xmlns:a16="http://schemas.microsoft.com/office/drawing/2014/main" val="10003"/>
                  </a:ext>
                </a:extLst>
              </a:tr>
              <a:tr h="175260">
                <a:tc>
                  <a:txBody>
                    <a:bodyPr/>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0000"/>
                          </a:solidFill>
                          <a:latin typeface="Calibri"/>
                        </a:rPr>
                        <a:t>18.1.1.</a:t>
                      </a:r>
                      <a:r>
                        <a:rPr sz="700" b="0" i="0">
                          <a:solidFill>
                            <a:srgbClr val="000000"/>
                          </a:solidFill>
                          <a:latin typeface="Times New Roman"/>
                        </a:rPr>
                        <a:t> </a:t>
                      </a:r>
                      <a:r>
                        <a:rPr sz="1100" b="0" i="0">
                          <a:solidFill>
                            <a:srgbClr val="000000"/>
                          </a:solidFill>
                          <a:latin typeface="Calibri"/>
                        </a:rPr>
                        <a:t>Manufacturers</a:t>
                      </a:r>
                      <a:endParaRPr sz="1100"/>
                    </a:p>
                  </a:txBody>
                  <a:tcPr marL="7715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0000"/>
                          </a:solidFill>
                          <a:latin typeface="Calibri"/>
                        </a:rPr>
                        <a:t>18.1.2.</a:t>
                      </a:r>
                      <a:r>
                        <a:rPr sz="700" b="0" i="0">
                          <a:solidFill>
                            <a:srgbClr val="000000"/>
                          </a:solidFill>
                          <a:latin typeface="Times New Roman"/>
                        </a:rPr>
                        <a:t> </a:t>
                      </a:r>
                      <a:r>
                        <a:rPr sz="1100" b="0" i="0">
                          <a:solidFill>
                            <a:srgbClr val="000000"/>
                          </a:solidFill>
                          <a:latin typeface="Calibri"/>
                        </a:rPr>
                        <a:t>Customers</a:t>
                      </a:r>
                      <a:endParaRPr sz="1100"/>
                    </a:p>
                  </a:txBody>
                  <a:tcPr marL="7715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0000"/>
                          </a:solidFill>
                          <a:latin typeface="Calibri"/>
                        </a:rPr>
                        <a:t>18.1.3.</a:t>
                      </a:r>
                      <a:r>
                        <a:rPr sz="700" b="0" i="0">
                          <a:solidFill>
                            <a:srgbClr val="000000"/>
                          </a:solidFill>
                          <a:latin typeface="Times New Roman"/>
                        </a:rPr>
                        <a:t> </a:t>
                      </a:r>
                      <a:r>
                        <a:rPr sz="1100" b="0" i="0">
                          <a:solidFill>
                            <a:srgbClr val="000000"/>
                          </a:solidFill>
                          <a:latin typeface="Calibri"/>
                        </a:rPr>
                        <a:t>Distributors</a:t>
                      </a:r>
                      <a:endParaRPr sz="1100"/>
                    </a:p>
                  </a:txBody>
                  <a:tcPr marL="7715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18.2.1.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18.2.2.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18.2.3.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18.5.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18.6.</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18.7.</a:t>
                      </a:r>
                      <a:r>
                        <a:rPr sz="700" b="0" i="0">
                          <a:solidFill>
                            <a:srgbClr val="0070C0"/>
                          </a:solidFill>
                          <a:latin typeface="Times New Roman"/>
                        </a:rPr>
                        <a:t>  </a:t>
                      </a:r>
                      <a:r>
                        <a:rPr sz="1100" b="0" i="0">
                          <a:solidFill>
                            <a:srgbClr val="0070C0"/>
                          </a:solidFill>
                          <a:latin typeface="Calibri"/>
                        </a:rPr>
                        <a:t>PESTEL Analysis</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70C0"/>
                          </a:solidFill>
                          <a:latin typeface="Calibri"/>
                        </a:rPr>
                        <a:t>18.8.</a:t>
                      </a:r>
                      <a:r>
                        <a:rPr sz="700" b="0" i="0">
                          <a:solidFill>
                            <a:srgbClr val="0070C0"/>
                          </a:solidFill>
                          <a:latin typeface="Times New Roman"/>
                        </a:rPr>
                        <a:t>  </a:t>
                      </a:r>
                      <a:r>
                        <a:rPr sz="1100" b="0" i="0">
                          <a:solidFill>
                            <a:srgbClr val="0070C0"/>
                          </a:solidFill>
                          <a:latin typeface="Calibri"/>
                        </a:rPr>
                        <a:t>Porter’s Analysis</a:t>
                      </a:r>
                      <a:endParaRPr sz="1100"/>
                    </a:p>
                  </a:txBody>
                  <a:tcPr marL="428625" marR="9525" marT="9525" marB="0" anchor="ctr"/>
                </a:tc>
                <a:extLst>
                  <a:ext uri="{0D108BD9-81ED-4DB2-BD59-A6C34878D82A}">
                    <a16:rowId xmlns:a16="http://schemas.microsoft.com/office/drawing/2014/main" val="10018"/>
                  </a:ext>
                </a:extLst>
              </a:tr>
              <a:tr h="175260">
                <a:tc>
                  <a:txBody>
                    <a:bodyPr/>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Regulations</a:t>
                      </a:r>
                      <a:endParaRPr sz="1100"/>
                    </a:p>
                  </a:txBody>
                  <a:tcPr marL="171450" marR="9525" marT="9525" marB="0" anchor="ctr"/>
                </a:tc>
                <a:extLst>
                  <a:ext uri="{0D108BD9-81ED-4DB2-BD59-A6C34878D82A}">
                    <a16:rowId xmlns:a16="http://schemas.microsoft.com/office/drawing/2014/main" val="10019"/>
                  </a:ext>
                </a:extLst>
              </a:tr>
              <a:tr h="175260">
                <a:tc>
                  <a:txBody>
                    <a:bodyPr/>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Certifications and Certifying Agency Overview</a:t>
                      </a:r>
                      <a:endParaRPr sz="1100"/>
                    </a:p>
                  </a:txBody>
                  <a:tcPr marL="4286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Import/Export Policies</a:t>
                      </a:r>
                      <a:endParaRPr sz="1100"/>
                    </a:p>
                  </a:txBody>
                  <a:tcPr marL="428625"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Formula Requirements</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Standards as per institutions</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0000"/>
                          </a:solidFill>
                          <a:latin typeface="Calibri"/>
                        </a:rPr>
                        <a:t>19.4.1.</a:t>
                      </a:r>
                      <a:r>
                        <a:rPr sz="700" b="0" i="0">
                          <a:solidFill>
                            <a:srgbClr val="000000"/>
                          </a:solidFill>
                          <a:latin typeface="Times New Roman"/>
                        </a:rPr>
                        <a:t> </a:t>
                      </a:r>
                      <a:r>
                        <a:rPr sz="1100" b="0" i="0">
                          <a:solidFill>
                            <a:srgbClr val="000000"/>
                          </a:solidFill>
                          <a:latin typeface="Calibri"/>
                        </a:rPr>
                        <a:t>FDA</a:t>
                      </a:r>
                      <a:endParaRPr sz="1100"/>
                    </a:p>
                  </a:txBody>
                  <a:tcPr marL="771525" marR="9525" marT="9525" marB="0" anchor="ctr"/>
                </a:tc>
                <a:extLst>
                  <a:ext uri="{0D108BD9-81ED-4DB2-BD59-A6C34878D82A}">
                    <a16:rowId xmlns:a16="http://schemas.microsoft.com/office/drawing/2014/main" val="10024"/>
                  </a:ext>
                </a:extLst>
              </a:tr>
              <a:tr h="175260">
                <a:tc>
                  <a:txBody>
                    <a:bodyPr/>
                    <a:lstStyle/>
                    <a:p>
                      <a:pPr algn="l"/>
                      <a:r>
                        <a:rPr sz="1100" b="0" i="0">
                          <a:solidFill>
                            <a:srgbClr val="000000"/>
                          </a:solidFill>
                          <a:latin typeface="Calibri"/>
                        </a:rPr>
                        <a:t>19.4.2.</a:t>
                      </a:r>
                      <a:r>
                        <a:rPr sz="700" b="0" i="0">
                          <a:solidFill>
                            <a:srgbClr val="000000"/>
                          </a:solidFill>
                          <a:latin typeface="Times New Roman"/>
                        </a:rPr>
                        <a:t> </a:t>
                      </a:r>
                      <a:r>
                        <a:rPr sz="1100" b="0" i="0">
                          <a:solidFill>
                            <a:srgbClr val="000000"/>
                          </a:solidFill>
                          <a:latin typeface="Calibri"/>
                        </a:rPr>
                        <a:t>USDA</a:t>
                      </a:r>
                      <a:endParaRPr sz="1100"/>
                    </a:p>
                  </a:txBody>
                  <a:tcPr marL="7715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0000"/>
                          </a:solidFill>
                          <a:latin typeface="Calibri"/>
                        </a:rPr>
                        <a:t>19.4.3.</a:t>
                      </a:r>
                      <a:r>
                        <a:rPr sz="700" b="0" i="0">
                          <a:solidFill>
                            <a:srgbClr val="000000"/>
                          </a:solidFill>
                          <a:latin typeface="Times New Roman"/>
                        </a:rPr>
                        <a:t> </a:t>
                      </a:r>
                      <a:r>
                        <a:rPr sz="1100" b="0" i="0">
                          <a:solidFill>
                            <a:srgbClr val="000000"/>
                          </a:solidFill>
                          <a:latin typeface="Calibri"/>
                        </a:rPr>
                        <a:t>FSSAI</a:t>
                      </a:r>
                      <a:endParaRPr sz="1100"/>
                    </a:p>
                  </a:txBody>
                  <a:tcPr marL="771525" marR="9525" marT="9525" marB="0" anchor="ctr"/>
                </a:tc>
                <a:extLst>
                  <a:ext uri="{0D108BD9-81ED-4DB2-BD59-A6C34878D82A}">
                    <a16:rowId xmlns:a16="http://schemas.microsoft.com/office/drawing/2014/main" val="10026"/>
                  </a:ext>
                </a:extLst>
              </a:tr>
              <a:tr h="175260">
                <a:tc>
                  <a:txBody>
                    <a:bodyPr/>
                    <a:lstStyle/>
                    <a:p>
                      <a:pPr algn="l"/>
                      <a:r>
                        <a:rPr sz="1100" b="0" i="0">
                          <a:solidFill>
                            <a:srgbClr val="000000"/>
                          </a:solidFill>
                          <a:latin typeface="Calibri"/>
                        </a:rPr>
                        <a:t>19.4.4.</a:t>
                      </a:r>
                      <a:r>
                        <a:rPr sz="700" b="0" i="0">
                          <a:solidFill>
                            <a:srgbClr val="000000"/>
                          </a:solidFill>
                          <a:latin typeface="Times New Roman"/>
                        </a:rPr>
                        <a:t> </a:t>
                      </a:r>
                      <a:r>
                        <a:rPr sz="1100" b="0" i="0">
                          <a:solidFill>
                            <a:srgbClr val="000000"/>
                          </a:solidFill>
                          <a:latin typeface="Calibri"/>
                        </a:rPr>
                        <a:t>EU Commissions</a:t>
                      </a:r>
                      <a:endParaRPr sz="1100"/>
                    </a:p>
                  </a:txBody>
                  <a:tcPr marL="771525" marR="9525" marT="9525" marB="0" anchor="ctr"/>
                </a:tc>
                <a:extLst>
                  <a:ext uri="{0D108BD9-81ED-4DB2-BD59-A6C34878D82A}">
                    <a16:rowId xmlns:a16="http://schemas.microsoft.com/office/drawing/2014/main" val="10027"/>
                  </a:ext>
                </a:extLst>
              </a:tr>
              <a:tr h="175260">
                <a:tc>
                  <a:txBody>
                    <a:bodyPr/>
                    <a:lstStyle/>
                    <a:p>
                      <a:pPr algn="l"/>
                      <a:r>
                        <a:rPr sz="1100" b="1" i="0">
                          <a:solidFill>
                            <a:srgbClr val="000000"/>
                          </a:solidFill>
                          <a:latin typeface="Calibri"/>
                        </a:rPr>
                        <a:t>Section 5: Production and Trade Outlook</a:t>
                      </a:r>
                      <a:endParaRPr sz="1100"/>
                    </a:p>
                  </a:txBody>
                  <a:tcPr marL="9525" marR="9525" marT="9525" marB="0" anchor="ctr"/>
                </a:tc>
                <a:extLst>
                  <a:ext uri="{0D108BD9-81ED-4DB2-BD59-A6C34878D82A}">
                    <a16:rowId xmlns:a16="http://schemas.microsoft.com/office/drawing/2014/main" val="10028"/>
                  </a:ext>
                </a:extLst>
              </a:tr>
              <a:tr h="175260">
                <a:tc>
                  <a:txBody>
                    <a:bodyPr/>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Global Market- Production and Trade Analysis</a:t>
                      </a:r>
                      <a:endParaRPr sz="1100"/>
                    </a:p>
                  </a:txBody>
                  <a:tcPr marL="171450"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Production Landscape by Key Country</a:t>
                      </a:r>
                      <a:endParaRPr sz="1100"/>
                    </a:p>
                  </a:txBody>
                  <a:tcPr marL="4286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Key Exporting and Importing Countries</a:t>
                      </a:r>
                      <a:endParaRPr sz="1100"/>
                    </a:p>
                  </a:txBody>
                  <a:tcPr marL="4286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Trade Flow Analysis of Cognitive Supplements and Key Ingredients</a:t>
                      </a:r>
                      <a:endParaRPr sz="1100"/>
                    </a:p>
                  </a:txBody>
                  <a:tcPr marL="4286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Global Supply Chain and Sourcing Assessment</a:t>
                      </a:r>
                      <a:endParaRPr sz="1100"/>
                    </a:p>
                  </a:txBody>
                  <a:tcPr marL="428625" marR="9525" marT="9525" marB="0" anchor="ctr"/>
                </a:tc>
                <a:extLst>
                  <a:ext uri="{0D108BD9-81ED-4DB2-BD59-A6C34878D82A}">
                    <a16:rowId xmlns:a16="http://schemas.microsoft.com/office/drawing/2014/main" val="10003"/>
                  </a:ext>
                </a:extLst>
              </a:tr>
              <a:tr h="175260">
                <a:tc>
                  <a:txBody>
                    <a:bodyPr/>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0000"/>
                          </a:solidFill>
                          <a:latin typeface="Calibri"/>
                        </a:rPr>
                        <a:t>21.1.1.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0000"/>
                          </a:solidFill>
                          <a:latin typeface="Calibri"/>
                        </a:rPr>
                        <a:t>21.1.2.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21.3.1.</a:t>
                      </a:r>
                      <a:r>
                        <a:rPr sz="700" b="0" i="0">
                          <a:solidFill>
                            <a:srgbClr val="000000"/>
                          </a:solidFill>
                          <a:latin typeface="Times New Roman"/>
                        </a:rPr>
                        <a:t> </a:t>
                      </a:r>
                      <a:r>
                        <a:rPr sz="1100" b="0" i="0">
                          <a:solidFill>
                            <a:srgbClr val="000000"/>
                          </a:solidFill>
                          <a:latin typeface="Calibri"/>
                        </a:rPr>
                        <a:t>Product Manufacturers/ Key Brands</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21.3.2.</a:t>
                      </a:r>
                      <a:r>
                        <a:rPr sz="700" b="0" i="0">
                          <a:solidFill>
                            <a:srgbClr val="000000"/>
                          </a:solidFill>
                          <a:latin typeface="Times New Roman"/>
                        </a:rPr>
                        <a:t> </a:t>
                      </a:r>
                      <a:r>
                        <a:rPr sz="1100" b="0" i="0">
                          <a:solidFill>
                            <a:srgbClr val="000000"/>
                          </a:solidFill>
                          <a:latin typeface="Calibri"/>
                        </a:rPr>
                        <a:t>Distributors/Suppliers</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21.3.3.</a:t>
                      </a:r>
                      <a:r>
                        <a:rPr sz="700" b="0" i="0">
                          <a:solidFill>
                            <a:srgbClr val="000000"/>
                          </a:solidFill>
                          <a:latin typeface="Times New Roman"/>
                        </a:rPr>
                        <a:t> </a:t>
                      </a:r>
                      <a:r>
                        <a:rPr sz="1100" b="0" i="0">
                          <a:solidFill>
                            <a:srgbClr val="000000"/>
                          </a:solidFill>
                          <a:latin typeface="Calibri"/>
                        </a:rPr>
                        <a:t>End Users</a:t>
                      </a:r>
                      <a:endParaRPr sz="1100"/>
                    </a:p>
                  </a:txBody>
                  <a:tcPr marL="771525" marR="9525" marT="9525" marB="0" anchor="ctr"/>
                </a:tc>
                <a:extLst>
                  <a:ext uri="{0D108BD9-81ED-4DB2-BD59-A6C34878D82A}">
                    <a16:rowId xmlns:a16="http://schemas.microsoft.com/office/drawing/2014/main" val="10012"/>
                  </a:ext>
                </a:extLst>
              </a:tr>
              <a:tr h="350520">
                <a:tc>
                  <a:txBody>
                    <a:bodyPr/>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extLst>
                  <a:ext uri="{0D108BD9-81ED-4DB2-BD59-A6C34878D82A}">
                    <a16:rowId xmlns:a16="http://schemas.microsoft.com/office/drawing/2014/main" val="10013"/>
                  </a:ext>
                </a:extLst>
              </a:tr>
              <a:tr h="175260">
                <a:tc>
                  <a:txBody>
                    <a:bodyPr/>
                    <a:lstStyle/>
                    <a:p>
                      <a:pPr algn="l"/>
                      <a:r>
                        <a:rPr sz="1100" b="1" i="0">
                          <a:solidFill>
                            <a:srgbClr val="000000"/>
                          </a:solidFill>
                          <a:latin typeface="Calibri"/>
                        </a:rPr>
                        <a:t>Section 6: Veterinary Influence, Consumer Purchase Behaviour and Scientific Claims Assessment</a:t>
                      </a:r>
                      <a:endParaRPr sz="1100"/>
                    </a:p>
                  </a:txBody>
                  <a:tcPr marL="9525" marR="9525" marT="9525" marB="0" anchor="ctr"/>
                </a:tc>
                <a:extLst>
                  <a:ext uri="{0D108BD9-81ED-4DB2-BD59-A6C34878D82A}">
                    <a16:rowId xmlns:a16="http://schemas.microsoft.com/office/drawing/2014/main" val="10014"/>
                  </a:ext>
                </a:extLst>
              </a:tr>
              <a:tr h="175260">
                <a:tc>
                  <a:txBody>
                    <a:bodyPr/>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Cognitive Supplement Functionality and Benefit-wise Demand Analysis</a:t>
                      </a:r>
                      <a:endParaRPr sz="1100"/>
                    </a:p>
                  </a:txBody>
                  <a:tcPr marL="171450" marR="9525" marT="9525" marB="0" anchor="ctr"/>
                </a:tc>
                <a:extLst>
                  <a:ext uri="{0D108BD9-81ED-4DB2-BD59-A6C34878D82A}">
                    <a16:rowId xmlns:a16="http://schemas.microsoft.com/office/drawing/2014/main" val="10015"/>
                  </a:ext>
                </a:extLst>
              </a:tr>
              <a:tr h="350520">
                <a:tc>
                  <a:txBody>
                    <a:bodyPr/>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Memory and Learning Support Claim Penetration, Consumer Preference and Purchase Intent (%)</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Mental Alertness and Awareness Support Claim Adoption and Willingness to Pay (%)</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Antioxidant and Neuronal Protection Benefit Awareness and Purchase Preference (%)</a:t>
                      </a:r>
                      <a:endParaRPr sz="1100"/>
                    </a:p>
                  </a:txBody>
                  <a:tcPr marL="4286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Brain Energy Metabolism Support Claim Acceptance and Premium Price Potential (%)</a:t>
                      </a:r>
                      <a:endParaRPr sz="1100"/>
                    </a:p>
                  </a:txBody>
                  <a:tcPr marL="4286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Gut–Brain Health Support Awareness, Perceived Relevance and Adoption Intent (%)</a:t>
                      </a:r>
                      <a:endParaRPr sz="1100"/>
                    </a:p>
                  </a:txBody>
                  <a:tcPr marL="428625" marR="9525" marT="9525" marB="0" anchor="ctr"/>
                </a:tc>
                <a:extLst>
                  <a:ext uri="{0D108BD9-81ED-4DB2-BD59-A6C34878D82A}">
                    <a16:rowId xmlns:a16="http://schemas.microsoft.com/office/drawing/2014/main" val="10020"/>
                  </a:ext>
                </a:extLst>
              </a:tr>
              <a:tr h="350520">
                <a:tc>
                  <a:txBody>
                    <a:bodyPr/>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Behavioural Stability and Sleep–Wake Support Need Prevalence and Purchase Intent (%)</a:t>
                      </a:r>
                      <a:endParaRPr sz="1100"/>
                    </a:p>
                  </a:txBody>
                  <a:tcPr marL="428625" marR="9525" marT="9525" marB="0" anchor="ctr"/>
                </a:tc>
                <a:extLst>
                  <a:ext uri="{0D108BD9-81ED-4DB2-BD59-A6C34878D82A}">
                    <a16:rowId xmlns:a16="http://schemas.microsoft.com/office/drawing/2014/main" val="10021"/>
                  </a:ext>
                </a:extLst>
              </a:tr>
              <a:tr h="350520">
                <a:tc>
                  <a:txBody>
                    <a:bodyPr/>
                    <a:lstStyle/>
                    <a:p>
                      <a:pPr algn="l"/>
                      <a:r>
                        <a:rPr sz="1100" b="0" i="0">
                          <a:solidFill>
                            <a:srgbClr val="0070C0"/>
                          </a:solidFill>
                          <a:latin typeface="Calibri"/>
                        </a:rPr>
                        <a:t>22.7.</a:t>
                      </a:r>
                      <a:r>
                        <a:rPr sz="700" b="0" i="0">
                          <a:solidFill>
                            <a:srgbClr val="0070C0"/>
                          </a:solidFill>
                          <a:latin typeface="Times New Roman"/>
                        </a:rPr>
                        <a:t>  </a:t>
                      </a:r>
                      <a:r>
                        <a:rPr sz="1100" b="0" i="0">
                          <a:solidFill>
                            <a:srgbClr val="0070C0"/>
                          </a:solidFill>
                          <a:latin typeface="Calibri"/>
                        </a:rPr>
                        <a:t>Anxiety, Disorientation and Cognitive Decline Support Needs and Supplement Adoption (%)</a:t>
                      </a:r>
                      <a:endParaRPr sz="1100"/>
                    </a:p>
                  </a:txBody>
                  <a:tcPr marL="428625" marR="9525" marT="9525" marB="0" anchor="ctr"/>
                </a:tc>
                <a:extLst>
                  <a:ext uri="{0D108BD9-81ED-4DB2-BD59-A6C34878D82A}">
                    <a16:rowId xmlns:a16="http://schemas.microsoft.com/office/drawing/2014/main" val="10022"/>
                  </a:ext>
                </a:extLst>
              </a:tr>
              <a:tr h="350520">
                <a:tc>
                  <a:txBody>
                    <a:bodyPr/>
                    <a:lstStyle/>
                    <a:p>
                      <a:pPr algn="l"/>
                      <a:r>
                        <a:rPr sz="1100" b="0" i="0">
                          <a:solidFill>
                            <a:srgbClr val="0070C0"/>
                          </a:solidFill>
                          <a:latin typeface="Calibri"/>
                        </a:rPr>
                        <a:t>22.8.</a:t>
                      </a:r>
                      <a:r>
                        <a:rPr sz="700" b="0" i="0">
                          <a:solidFill>
                            <a:srgbClr val="0070C0"/>
                          </a:solidFill>
                          <a:latin typeface="Times New Roman"/>
                        </a:rPr>
                        <a:t>  </a:t>
                      </a:r>
                      <a:r>
                        <a:rPr sz="1100" b="0" i="0">
                          <a:solidFill>
                            <a:srgbClr val="0070C0"/>
                          </a:solidFill>
                          <a:latin typeface="Calibri"/>
                        </a:rPr>
                        <a:t>Multi-functional Cognitive Benefit Preference, Claim Credibility and Repeat Purchase Intent (%)</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Veterinary Recommendation and Pet-owner Purchase Journey Analysis</a:t>
                      </a:r>
                      <a:endParaRPr sz="1100"/>
                    </a:p>
                  </a:txBody>
                  <a:tcPr marL="171450" marR="9525" marT="9525" marB="0" anchor="ctr"/>
                </a:tc>
                <a:extLst>
                  <a:ext uri="{0D108BD9-81ED-4DB2-BD59-A6C34878D82A}">
                    <a16:rowId xmlns:a16="http://schemas.microsoft.com/office/drawing/2014/main" val="10024"/>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(6/8)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350520">
                <a:tc>
                  <a:txBody>
                    <a:bodyPr/>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Veterinary Recommendation Rates for Cognitive Health Supplements by Senior Dog Age Group and Cognitive Symptom</a:t>
                      </a:r>
                      <a:endParaRPr sz="1100"/>
                    </a:p>
                  </a:txBody>
                  <a:tcPr marL="428625" marR="9525" marT="9525" marB="0" anchor="ctr"/>
                </a:tc>
                <a:extLst>
                  <a:ext uri="{0D108BD9-81ED-4DB2-BD59-A6C34878D82A}">
                    <a16:rowId xmlns:a16="http://schemas.microsoft.com/office/drawing/2014/main" val="10000"/>
                  </a:ext>
                </a:extLst>
              </a:tr>
              <a:tr h="350520">
                <a:tc>
                  <a:txBody>
                    <a:bodyPr/>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Pet-owner Purchase Conversion Rates by Recommendation Source, Including Veterinarians, Online Reviews and Pet-specialty Retailers</a:t>
                      </a:r>
                      <a:endParaRPr sz="1100"/>
                    </a:p>
                  </a:txBody>
                  <a:tcPr marL="428625" marR="9525" marT="9525" marB="0" anchor="ctr"/>
                </a:tc>
                <a:extLst>
                  <a:ext uri="{0D108BD9-81ED-4DB2-BD59-A6C34878D82A}">
                    <a16:rowId xmlns:a16="http://schemas.microsoft.com/office/drawing/2014/main" val="10001"/>
                  </a:ext>
                </a:extLst>
              </a:tr>
              <a:tr h="350520">
                <a:tc>
                  <a:txBody>
                    <a:bodyPr/>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Purchase Decision Drivers by Ingredient Credibility, Expected Efficacy, Price and Brand Trust</a:t>
                      </a:r>
                      <a:endParaRPr sz="1100"/>
                    </a:p>
                  </a:txBody>
                  <a:tcPr marL="428625" marR="9525" marT="9525" marB="0" anchor="ctr"/>
                </a:tc>
                <a:extLst>
                  <a:ext uri="{0D108BD9-81ED-4DB2-BD59-A6C34878D82A}">
                    <a16:rowId xmlns:a16="http://schemas.microsoft.com/office/drawing/2014/main" val="10002"/>
                  </a:ext>
                </a:extLst>
              </a:tr>
              <a:tr h="350520">
                <a:tc>
                  <a:txBody>
                    <a:bodyPr/>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Purchase Frequency and Repeat Purchase Rates by Veterinary-recommended and Self-selected Supplement Users</a:t>
                      </a:r>
                      <a:endParaRPr sz="1100"/>
                    </a:p>
                  </a:txBody>
                  <a:tcPr marL="428625" marR="9525" marT="9525" marB="0" anchor="ctr"/>
                </a:tc>
                <a:extLst>
                  <a:ext uri="{0D108BD9-81ED-4DB2-BD59-A6C34878D82A}">
                    <a16:rowId xmlns:a16="http://schemas.microsoft.com/office/drawing/2014/main" val="10003"/>
                  </a:ext>
                </a:extLst>
              </a:tr>
              <a:tr h="350520">
                <a:tc>
                  <a:txBody>
                    <a:bodyPr/>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Purchase Journey Conversion by Awareness Source, Product Research, Brand Consideration and Final Purchase Channel</a:t>
                      </a:r>
                      <a:endParaRPr sz="1100"/>
                    </a:p>
                  </a:txBody>
                  <a:tcPr marL="428625" marR="9525" marT="9525" marB="0" anchor="ctr"/>
                </a:tc>
                <a:extLst>
                  <a:ext uri="{0D108BD9-81ED-4DB2-BD59-A6C34878D82A}">
                    <a16:rowId xmlns:a16="http://schemas.microsoft.com/office/drawing/2014/main" val="10004"/>
                  </a:ext>
                </a:extLst>
              </a:tr>
              <a:tr h="350520">
                <a:tc>
                  <a:txBody>
                    <a:bodyPr/>
                    <a:lstStyle/>
                    <a:p>
                      <a:pPr algn="l"/>
                      <a:r>
                        <a:rPr sz="1100" b="0" i="0">
                          <a:solidFill>
                            <a:srgbClr val="0070C0"/>
                          </a:solidFill>
                          <a:latin typeface="Calibri"/>
                        </a:rPr>
                        <a:t>23.6.</a:t>
                      </a:r>
                      <a:r>
                        <a:rPr sz="700" b="0" i="0">
                          <a:solidFill>
                            <a:srgbClr val="0070C0"/>
                          </a:solidFill>
                          <a:latin typeface="Times New Roman"/>
                        </a:rPr>
                        <a:t>  </a:t>
                      </a:r>
                      <a:r>
                        <a:rPr sz="1100" b="0" i="0">
                          <a:solidFill>
                            <a:srgbClr val="0070C0"/>
                          </a:solidFill>
                          <a:latin typeface="Calibri"/>
                        </a:rPr>
                        <a:t>Brand Preference and Switching Rates by Veterinary Endorsement, Product Performance and Pet-owner Satisfaction</a:t>
                      </a:r>
                      <a:endParaRPr sz="1100"/>
                    </a:p>
                  </a:txBody>
                  <a:tcPr marL="428625" marR="9525" marT="9525" marB="0" anchor="ctr"/>
                </a:tc>
                <a:extLst>
                  <a:ext uri="{0D108BD9-81ED-4DB2-BD59-A6C34878D82A}">
                    <a16:rowId xmlns:a16="http://schemas.microsoft.com/office/drawing/2014/main" val="10005"/>
                  </a:ext>
                </a:extLst>
              </a:tr>
              <a:tr h="350520">
                <a:tc>
                  <a:txBody>
                    <a:bodyPr/>
                    <a:lstStyle/>
                    <a:p>
                      <a:pPr algn="l"/>
                      <a:r>
                        <a:rPr sz="1100" b="0" i="0">
                          <a:solidFill>
                            <a:srgbClr val="0070C0"/>
                          </a:solidFill>
                          <a:latin typeface="Calibri"/>
                        </a:rPr>
                        <a:t>23.7.</a:t>
                      </a:r>
                      <a:r>
                        <a:rPr sz="700" b="0" i="0">
                          <a:solidFill>
                            <a:srgbClr val="0070C0"/>
                          </a:solidFill>
                          <a:latin typeface="Times New Roman"/>
                        </a:rPr>
                        <a:t>  </a:t>
                      </a:r>
                      <a:r>
                        <a:rPr sz="1100" b="0" i="0">
                          <a:solidFill>
                            <a:srgbClr val="0070C0"/>
                          </a:solidFill>
                          <a:latin typeface="Calibri"/>
                        </a:rPr>
                        <a:t>Retail Channel Preference and Purchase Share across Veterinary Clinics, Pet-specialty Stores and E-commerce Platforms</a:t>
                      </a:r>
                      <a:endParaRPr sz="1100"/>
                    </a:p>
                  </a:txBody>
                  <a:tcPr marL="428625" marR="9525" marT="9525" marB="0" anchor="ctr"/>
                </a:tc>
                <a:extLst>
                  <a:ext uri="{0D108BD9-81ED-4DB2-BD59-A6C34878D82A}">
                    <a16:rowId xmlns:a16="http://schemas.microsoft.com/office/drawing/2014/main" val="10006"/>
                  </a:ext>
                </a:extLst>
              </a:tr>
              <a:tr h="350520">
                <a:tc>
                  <a:txBody>
                    <a:bodyPr/>
                    <a:lstStyle/>
                    <a:p>
                      <a:pPr algn="l"/>
                      <a:r>
                        <a:rPr sz="1100" b="0" i="0">
                          <a:solidFill>
                            <a:srgbClr val="0070C0"/>
                          </a:solidFill>
                          <a:latin typeface="Calibri"/>
                        </a:rPr>
                        <a:t>23.8.</a:t>
                      </a:r>
                      <a:r>
                        <a:rPr sz="700" b="0" i="0">
                          <a:solidFill>
                            <a:srgbClr val="0070C0"/>
                          </a:solidFill>
                          <a:latin typeface="Times New Roman"/>
                        </a:rPr>
                        <a:t>  </a:t>
                      </a:r>
                      <a:r>
                        <a:rPr sz="1100" b="0" i="0">
                          <a:solidFill>
                            <a:srgbClr val="0070C0"/>
                          </a:solidFill>
                          <a:latin typeface="Calibri"/>
                        </a:rPr>
                        <a:t>Purchase Barriers by Price Sensitivity, Evidence Awareness, Perceived Efficacy and Administration Challenges</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Cognitive Health Claims and Scientific Evidence Benchmarking</a:t>
                      </a:r>
                      <a:endParaRPr sz="1100"/>
                    </a:p>
                  </a:txBody>
                  <a:tcPr marL="171450" marR="9525" marT="9525" marB="0" anchor="ctr"/>
                </a:tc>
                <a:extLst>
                  <a:ext uri="{0D108BD9-81ED-4DB2-BD59-A6C34878D82A}">
                    <a16:rowId xmlns:a16="http://schemas.microsoft.com/office/drawing/2014/main" val="10008"/>
                  </a:ext>
                </a:extLst>
              </a:tr>
              <a:tr h="350520">
                <a:tc>
                  <a:txBody>
                    <a:bodyPr/>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Cognitive Health Claims by Brand, SKU, Active Ingredient and Target Senior Dog Age Group</a:t>
                      </a:r>
                      <a:endParaRPr sz="1100"/>
                    </a:p>
                  </a:txBody>
                  <a:tcPr marL="428625" marR="9525" marT="9525" marB="0" anchor="ctr"/>
                </a:tc>
                <a:extLst>
                  <a:ext uri="{0D108BD9-81ED-4DB2-BD59-A6C34878D82A}">
                    <a16:rowId xmlns:a16="http://schemas.microsoft.com/office/drawing/2014/main" val="10009"/>
                  </a:ext>
                </a:extLst>
              </a:tr>
              <a:tr h="350520">
                <a:tc>
                  <a:txBody>
                    <a:bodyPr/>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Active Ingredient Concentration and Inclusion Rates across Products Claiming Memory, Alertness and Cognitive Support</a:t>
                      </a:r>
                      <a:endParaRPr sz="1100"/>
                    </a:p>
                  </a:txBody>
                  <a:tcPr marL="428625" marR="9525" marT="9525" marB="0" anchor="ctr"/>
                </a:tc>
                <a:extLst>
                  <a:ext uri="{0D108BD9-81ED-4DB2-BD59-A6C34878D82A}">
                    <a16:rowId xmlns:a16="http://schemas.microsoft.com/office/drawing/2014/main" val="10010"/>
                  </a:ext>
                </a:extLst>
              </a:tr>
              <a:tr h="350520">
                <a:tc>
                  <a:txBody>
                    <a:bodyPr/>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Published Clinical Study Coverage by Ingredient, Dosage, Study Design and Cognitive Outcome Measure</a:t>
                      </a:r>
                      <a:endParaRPr sz="1100"/>
                    </a:p>
                  </a:txBody>
                  <a:tcPr marL="428625" marR="9525" marT="9525" marB="0" anchor="ctr"/>
                </a:tc>
                <a:extLst>
                  <a:ext uri="{0D108BD9-81ED-4DB2-BD59-A6C34878D82A}">
                    <a16:rowId xmlns:a16="http://schemas.microsoft.com/office/drawing/2014/main" val="10011"/>
                  </a:ext>
                </a:extLst>
              </a:tr>
              <a:tr h="350520">
                <a:tc>
                  <a:txBody>
                    <a:bodyPr/>
                    <a:lstStyle/>
                    <a:p>
                      <a:pPr algn="l"/>
                      <a:r>
                        <a:rPr sz="1100" b="0" i="0">
                          <a:solidFill>
                            <a:srgbClr val="0070C0"/>
                          </a:solidFill>
                          <a:latin typeface="Calibri"/>
                        </a:rPr>
                        <a:t>24.4.</a:t>
                      </a:r>
                      <a:r>
                        <a:rPr sz="700" b="0" i="0">
                          <a:solidFill>
                            <a:srgbClr val="0070C0"/>
                          </a:solidFill>
                          <a:latin typeface="Times New Roman"/>
                        </a:rPr>
                        <a:t>  </a:t>
                      </a:r>
                      <a:r>
                        <a:rPr sz="1100" b="0" i="0">
                          <a:solidFill>
                            <a:srgbClr val="0070C0"/>
                          </a:solidFill>
                          <a:latin typeface="Calibri"/>
                        </a:rPr>
                        <a:t>Scientific Evidence Strength by Ingredient Combination, Cognitive Benefit and Target Dog Population</a:t>
                      </a:r>
                      <a:endParaRPr sz="1100"/>
                    </a:p>
                  </a:txBody>
                  <a:tcPr marL="428625" marR="9525" marT="9525" marB="0" anchor="ctr"/>
                </a:tc>
                <a:extLst>
                  <a:ext uri="{0D108BD9-81ED-4DB2-BD59-A6C34878D82A}">
                    <a16:rowId xmlns:a16="http://schemas.microsoft.com/office/drawing/2014/main" val="10012"/>
                  </a:ext>
                </a:extLst>
              </a:tr>
              <a:tr h="350520">
                <a:tc>
                  <a:txBody>
                    <a:bodyPr/>
                    <a:lstStyle/>
                    <a:p>
                      <a:pPr algn="l"/>
                      <a:r>
                        <a:rPr sz="1100" b="0" i="0">
                          <a:solidFill>
                            <a:srgbClr val="0070C0"/>
                          </a:solidFill>
                          <a:latin typeface="Calibri"/>
                        </a:rPr>
                        <a:t>24.5.</a:t>
                      </a:r>
                      <a:r>
                        <a:rPr sz="700" b="0" i="0">
                          <a:solidFill>
                            <a:srgbClr val="0070C0"/>
                          </a:solidFill>
                          <a:latin typeface="Times New Roman"/>
                        </a:rPr>
                        <a:t>  </a:t>
                      </a:r>
                      <a:r>
                        <a:rPr sz="1100" b="0" i="0">
                          <a:solidFill>
                            <a:srgbClr val="0070C0"/>
                          </a:solidFill>
                          <a:latin typeface="Calibri"/>
                        </a:rPr>
                        <a:t>Claim Prevalence by Benefit Type, Including Memory Support, Behavioral Stability, Alertness and Healthy Aging</a:t>
                      </a:r>
                      <a:endParaRPr sz="1100"/>
                    </a:p>
                  </a:txBody>
                  <a:tcPr marL="428625" marR="9525" marT="9525" marB="0" anchor="ctr"/>
                </a:tc>
                <a:extLst>
                  <a:ext uri="{0D108BD9-81ED-4DB2-BD59-A6C34878D82A}">
                    <a16:rowId xmlns:a16="http://schemas.microsoft.com/office/drawing/2014/main" val="10013"/>
                  </a:ext>
                </a:extLst>
              </a:tr>
              <a:tr h="350520">
                <a:tc>
                  <a:txBody>
                    <a:bodyPr/>
                    <a:lstStyle/>
                    <a:p>
                      <a:pPr algn="l"/>
                      <a:r>
                        <a:rPr sz="1100" b="0" i="0">
                          <a:solidFill>
                            <a:srgbClr val="0070C0"/>
                          </a:solidFill>
                          <a:latin typeface="Calibri"/>
                        </a:rPr>
                        <a:t>24.6.</a:t>
                      </a:r>
                      <a:r>
                        <a:rPr sz="700" b="0" i="0">
                          <a:solidFill>
                            <a:srgbClr val="0070C0"/>
                          </a:solidFill>
                          <a:latin typeface="Times New Roman"/>
                        </a:rPr>
                        <a:t>  </a:t>
                      </a:r>
                      <a:r>
                        <a:rPr sz="1100" b="0" i="0">
                          <a:solidFill>
                            <a:srgbClr val="0070C0"/>
                          </a:solidFill>
                          <a:latin typeface="Calibri"/>
                        </a:rPr>
                        <a:t>Product Differentiation by Clinically Studied Ingredients, Published Evidence and Evidence-backed Formulation Combinations</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endParaRPr sz="1100"/>
                    </a:p>
                  </a:txBody>
                  <a:tcPr marL="9525" marR="9525" marT="9525" marB="0" anchor="ctr"/>
                </a:tc>
                <a:extLst>
                  <a:ext uri="{0D108BD9-81ED-4DB2-BD59-A6C34878D82A}">
                    <a16:rowId xmlns:a16="http://schemas.microsoft.com/office/drawing/2014/main" val="10015"/>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350520">
                <a:tc>
                  <a:txBody>
                    <a:bodyPr/>
                    <a:lstStyle/>
                    <a:p>
                      <a:pPr algn="l"/>
                      <a:r>
                        <a:rPr sz="1100" b="0" i="0">
                          <a:solidFill>
                            <a:srgbClr val="0070C0"/>
                          </a:solidFill>
                          <a:latin typeface="Calibri"/>
                        </a:rPr>
                        <a:t>24.7.</a:t>
                      </a:r>
                      <a:r>
                        <a:rPr sz="700" b="0" i="0">
                          <a:solidFill>
                            <a:srgbClr val="0070C0"/>
                          </a:solidFill>
                          <a:latin typeface="Times New Roman"/>
                        </a:rPr>
                        <a:t>  </a:t>
                      </a:r>
                      <a:r>
                        <a:rPr sz="1100" b="0" i="0">
                          <a:solidFill>
                            <a:srgbClr val="0070C0"/>
                          </a:solidFill>
                          <a:latin typeface="Calibri"/>
                        </a:rPr>
                        <a:t>Cognitive Health Claim Language by Brand, Product Format, Target Need-State and Evidence Level</a:t>
                      </a:r>
                      <a:endParaRPr sz="1100"/>
                    </a:p>
                  </a:txBody>
                  <a:tcPr marL="428625" marR="9525" marT="9525" marB="0" anchor="ctr"/>
                </a:tc>
                <a:extLst>
                  <a:ext uri="{0D108BD9-81ED-4DB2-BD59-A6C34878D82A}">
                    <a16:rowId xmlns:a16="http://schemas.microsoft.com/office/drawing/2014/main" val="10000"/>
                  </a:ext>
                </a:extLst>
              </a:tr>
              <a:tr h="350520">
                <a:tc>
                  <a:txBody>
                    <a:bodyPr/>
                    <a:lstStyle/>
                    <a:p>
                      <a:pPr algn="l"/>
                      <a:r>
                        <a:rPr sz="1100" b="0" i="0">
                          <a:solidFill>
                            <a:srgbClr val="0070C0"/>
                          </a:solidFill>
                          <a:latin typeface="Calibri"/>
                        </a:rPr>
                        <a:t>24.8.</a:t>
                      </a:r>
                      <a:r>
                        <a:rPr sz="700" b="0" i="0">
                          <a:solidFill>
                            <a:srgbClr val="0070C0"/>
                          </a:solidFill>
                          <a:latin typeface="Times New Roman"/>
                        </a:rPr>
                        <a:t>  </a:t>
                      </a:r>
                      <a:r>
                        <a:rPr sz="1100" b="0" i="0">
                          <a:solidFill>
                            <a:srgbClr val="0070C0"/>
                          </a:solidFill>
                          <a:latin typeface="Calibri"/>
                        </a:rPr>
                        <a:t>Claim Substantiation Gaps by Ingredient, Cognitive Benefit, Clinical Evidence Availability and Target Market</a:t>
                      </a:r>
                      <a:endParaRPr sz="1100"/>
                    </a:p>
                  </a:txBody>
                  <a:tcPr marL="428625" marR="9525" marT="9525" marB="0" anchor="ctr"/>
                </a:tc>
                <a:extLst>
                  <a:ext uri="{0D108BD9-81ED-4DB2-BD59-A6C34878D82A}">
                    <a16:rowId xmlns:a16="http://schemas.microsoft.com/office/drawing/2014/main" val="10001"/>
                  </a:ext>
                </a:extLst>
              </a:tr>
              <a:tr h="175260">
                <a:tc>
                  <a:txBody>
                    <a:bodyPr/>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Shift Toward Science-Backed &amp; Clinically Validated Ingredients</a:t>
                      </a:r>
                      <a:endParaRPr sz="1100"/>
                    </a:p>
                  </a:txBody>
                  <a:tcPr marL="171450" marR="9525" marT="9525" marB="0" anchor="ctr"/>
                </a:tc>
                <a:extLst>
                  <a:ext uri="{0D108BD9-81ED-4DB2-BD59-A6C34878D82A}">
                    <a16:rowId xmlns:a16="http://schemas.microsoft.com/office/drawing/2014/main" val="10002"/>
                  </a:ext>
                </a:extLst>
              </a:tr>
              <a:tr h="175260">
                <a:tc>
                  <a:txBody>
                    <a:bodyPr/>
                    <a:lstStyle/>
                    <a:p>
                      <a:pPr algn="l"/>
                      <a:r>
                        <a:rPr sz="1100" b="0" i="0">
                          <a:solidFill>
                            <a:srgbClr val="0070C0"/>
                          </a:solidFill>
                          <a:latin typeface="Calibri"/>
                        </a:rPr>
                        <a:t>25.1.</a:t>
                      </a:r>
                      <a:r>
                        <a:rPr sz="700" b="0" i="0">
                          <a:solidFill>
                            <a:srgbClr val="0070C0"/>
                          </a:solidFill>
                          <a:latin typeface="Times New Roman"/>
                        </a:rPr>
                        <a:t>  </a:t>
                      </a:r>
                      <a:r>
                        <a:rPr sz="1100" b="0" i="0">
                          <a:solidFill>
                            <a:srgbClr val="0070C0"/>
                          </a:solidFill>
                          <a:latin typeface="Calibri"/>
                        </a:rPr>
                        <a:t>What new ingredients are global manufacturers prioritizing?</a:t>
                      </a:r>
                      <a:endParaRPr sz="1100"/>
                    </a:p>
                  </a:txBody>
                  <a:tcPr marL="428625" marR="9525" marT="9525" marB="0" anchor="ctr"/>
                </a:tc>
                <a:extLst>
                  <a:ext uri="{0D108BD9-81ED-4DB2-BD59-A6C34878D82A}">
                    <a16:rowId xmlns:a16="http://schemas.microsoft.com/office/drawing/2014/main" val="10003"/>
                  </a:ext>
                </a:extLst>
              </a:tr>
              <a:tr h="350520">
                <a:tc>
                  <a:txBody>
                    <a:bodyPr/>
                    <a:lstStyle/>
                    <a:p>
                      <a:pPr algn="l"/>
                      <a:r>
                        <a:rPr sz="1100" b="0" i="0">
                          <a:solidFill>
                            <a:srgbClr val="0070C0"/>
                          </a:solidFill>
                          <a:latin typeface="Calibri"/>
                        </a:rPr>
                        <a:t>25.2.</a:t>
                      </a:r>
                      <a:r>
                        <a:rPr sz="700" b="0" i="0">
                          <a:solidFill>
                            <a:srgbClr val="0070C0"/>
                          </a:solidFill>
                          <a:latin typeface="Times New Roman"/>
                        </a:rPr>
                        <a:t>  </a:t>
                      </a:r>
                      <a:r>
                        <a:rPr sz="1100" b="0" i="0">
                          <a:solidFill>
                            <a:srgbClr val="0070C0"/>
                          </a:solidFill>
                          <a:latin typeface="Calibri"/>
                        </a:rPr>
                        <a:t>How quickly are clinically validated and functional ingredients replacing basic formulations?</a:t>
                      </a:r>
                      <a:endParaRPr sz="1100"/>
                    </a:p>
                  </a:txBody>
                  <a:tcPr marL="4286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25.3.</a:t>
                      </a:r>
                      <a:r>
                        <a:rPr sz="700" b="0" i="0">
                          <a:solidFill>
                            <a:srgbClr val="0070C0"/>
                          </a:solidFill>
                          <a:latin typeface="Times New Roman"/>
                        </a:rPr>
                        <a:t>  </a:t>
                      </a:r>
                      <a:r>
                        <a:rPr sz="1100" b="0" i="0">
                          <a:solidFill>
                            <a:srgbClr val="0070C0"/>
                          </a:solidFill>
                          <a:latin typeface="Calibri"/>
                        </a:rPr>
                        <a:t>Are manufacturers shifting from single-ingredient to multi-benefit formulations?</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25.4.</a:t>
                      </a:r>
                      <a:r>
                        <a:rPr sz="700" b="0" i="0">
                          <a:solidFill>
                            <a:srgbClr val="0070C0"/>
                          </a:solidFill>
                          <a:latin typeface="Times New Roman"/>
                        </a:rPr>
                        <a:t>  </a:t>
                      </a:r>
                      <a:r>
                        <a:rPr sz="1100" b="0" i="0">
                          <a:solidFill>
                            <a:srgbClr val="0070C0"/>
                          </a:solidFill>
                          <a:latin typeface="Calibri"/>
                        </a:rPr>
                        <a:t>Which ingredient categories are gaining importance?</a:t>
                      </a:r>
                      <a:endParaRPr sz="1100"/>
                    </a:p>
                  </a:txBody>
                  <a:tcPr marL="428625" marR="9525" marT="9525" marB="0" anchor="ctr"/>
                </a:tc>
                <a:extLst>
                  <a:ext uri="{0D108BD9-81ED-4DB2-BD59-A6C34878D82A}">
                    <a16:rowId xmlns:a16="http://schemas.microsoft.com/office/drawing/2014/main" val="10006"/>
                  </a:ext>
                </a:extLst>
              </a:tr>
              <a:tr h="350520">
                <a:tc>
                  <a:txBody>
                    <a:bodyPr/>
                    <a:lstStyle/>
                    <a:p>
                      <a:pPr algn="l"/>
                      <a:r>
                        <a:rPr sz="1100" b="0" i="0">
                          <a:solidFill>
                            <a:srgbClr val="0070C0"/>
                          </a:solidFill>
                          <a:latin typeface="Calibri"/>
                        </a:rPr>
                        <a:t>25.5.</a:t>
                      </a:r>
                      <a:r>
                        <a:rPr sz="700" b="0" i="0">
                          <a:solidFill>
                            <a:srgbClr val="0070C0"/>
                          </a:solidFill>
                          <a:latin typeface="Times New Roman"/>
                        </a:rPr>
                        <a:t>  </a:t>
                      </a:r>
                      <a:r>
                        <a:rPr sz="1100" b="0" i="0">
                          <a:solidFill>
                            <a:srgbClr val="0070C0"/>
                          </a:solidFill>
                          <a:latin typeface="Calibri"/>
                        </a:rPr>
                        <a:t>How are delivery technologies (encapsulation, fermentation, stability-enhancing formats) influencing product development?</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25.6.</a:t>
                      </a:r>
                      <a:r>
                        <a:rPr sz="700" b="0" i="0">
                          <a:solidFill>
                            <a:srgbClr val="0070C0"/>
                          </a:solidFill>
                          <a:latin typeface="Times New Roman"/>
                        </a:rPr>
                        <a:t>  </a:t>
                      </a:r>
                      <a:r>
                        <a:rPr sz="1100" b="0" i="0">
                          <a:solidFill>
                            <a:srgbClr val="0070C0"/>
                          </a:solidFill>
                          <a:latin typeface="Calibri"/>
                        </a:rPr>
                        <a:t>How fast are EMEA and India shifting from basic to premium and functional variants?</a:t>
                      </a:r>
                      <a:endParaRPr sz="1100"/>
                    </a:p>
                  </a:txBody>
                  <a:tcPr marL="428625" marR="9525" marT="9525" marB="0" anchor="ctr"/>
                </a:tc>
                <a:extLst>
                  <a:ext uri="{0D108BD9-81ED-4DB2-BD59-A6C34878D82A}">
                    <a16:rowId xmlns:a16="http://schemas.microsoft.com/office/drawing/2014/main" val="10008"/>
                  </a:ext>
                </a:extLst>
              </a:tr>
              <a:tr h="350520">
                <a:tc>
                  <a:txBody>
                    <a:bodyPr/>
                    <a:lstStyle/>
                    <a:p>
                      <a:pPr algn="l"/>
                      <a:r>
                        <a:rPr sz="1100" b="0" i="0">
                          <a:solidFill>
                            <a:srgbClr val="0070C0"/>
                          </a:solidFill>
                          <a:latin typeface="Calibri"/>
                        </a:rPr>
                        <a:t>25.7.</a:t>
                      </a:r>
                      <a:r>
                        <a:rPr sz="700" b="0" i="0">
                          <a:solidFill>
                            <a:srgbClr val="0070C0"/>
                          </a:solidFill>
                          <a:latin typeface="Times New Roman"/>
                        </a:rPr>
                        <a:t>  </a:t>
                      </a:r>
                      <a:r>
                        <a:rPr sz="1100" b="0" i="0">
                          <a:solidFill>
                            <a:srgbClr val="0070C0"/>
                          </a:solidFill>
                          <a:latin typeface="Calibri"/>
                        </a:rPr>
                        <a:t>Which ingredients are prioritized due to pharmacy (human) and veterinary (pet) influence?</a:t>
                      </a:r>
                      <a:endParaRPr sz="1100"/>
                    </a:p>
                  </a:txBody>
                  <a:tcPr marL="428625" marR="9525" marT="9525" marB="0" anchor="ctr"/>
                </a:tc>
                <a:extLst>
                  <a:ext uri="{0D108BD9-81ED-4DB2-BD59-A6C34878D82A}">
                    <a16:rowId xmlns:a16="http://schemas.microsoft.com/office/drawing/2014/main" val="10009"/>
                  </a:ext>
                </a:extLst>
              </a:tr>
              <a:tr h="350520">
                <a:tc>
                  <a:txBody>
                    <a:bodyPr/>
                    <a:lstStyle/>
                    <a:p>
                      <a:pPr algn="l"/>
                      <a:r>
                        <a:rPr sz="1100" b="0" i="0">
                          <a:solidFill>
                            <a:srgbClr val="0070C0"/>
                          </a:solidFill>
                          <a:latin typeface="Calibri"/>
                        </a:rPr>
                        <a:t>25.8.</a:t>
                      </a:r>
                      <a:r>
                        <a:rPr sz="700" b="0" i="0">
                          <a:solidFill>
                            <a:srgbClr val="0070C0"/>
                          </a:solidFill>
                          <a:latin typeface="Times New Roman"/>
                        </a:rPr>
                        <a:t>  </a:t>
                      </a:r>
                      <a:r>
                        <a:rPr sz="1100" b="0" i="0">
                          <a:solidFill>
                            <a:srgbClr val="0070C0"/>
                          </a:solidFill>
                          <a:latin typeface="Calibri"/>
                        </a:rPr>
                        <a:t>Where do EMEA and Indian manufacturers remain conservative compared to global peers?</a:t>
                      </a:r>
                      <a:endParaRPr sz="1100"/>
                    </a:p>
                  </a:txBody>
                  <a:tcPr marL="428625" marR="9525" marT="9525" marB="0" anchor="ctr"/>
                </a:tc>
                <a:extLst>
                  <a:ext uri="{0D108BD9-81ED-4DB2-BD59-A6C34878D82A}">
                    <a16:rowId xmlns:a16="http://schemas.microsoft.com/office/drawing/2014/main" val="10010"/>
                  </a:ext>
                </a:extLst>
              </a:tr>
              <a:tr h="175260">
                <a:tc>
                  <a:txBody>
                    <a:bodyPr/>
                    <a:lstStyle/>
                    <a:p>
                      <a:pPr algn="l"/>
                      <a:r>
                        <a:rPr sz="1100" b="1" i="0">
                          <a:solidFill>
                            <a:srgbClr val="000000"/>
                          </a:solidFill>
                          <a:latin typeface="Calibri"/>
                        </a:rPr>
                        <a:t>Section 7: Competition Assessment</a:t>
                      </a:r>
                      <a:endParaRPr sz="1100"/>
                    </a:p>
                  </a:txBody>
                  <a:tcPr marL="9525" marR="9525" marT="9525" marB="0" anchor="ctr"/>
                </a:tc>
                <a:extLst>
                  <a:ext uri="{0D108BD9-81ED-4DB2-BD59-A6C34878D82A}">
                    <a16:rowId xmlns:a16="http://schemas.microsoft.com/office/drawing/2014/main" val="10011"/>
                  </a:ext>
                </a:extLst>
              </a:tr>
              <a:tr h="175260">
                <a:tc>
                  <a:txBody>
                    <a:bodyPr/>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extLst>
                  <a:ext uri="{0D108BD9-81ED-4DB2-BD59-A6C34878D82A}">
                    <a16:rowId xmlns:a16="http://schemas.microsoft.com/office/drawing/2014/main" val="10012"/>
                  </a:ext>
                </a:extLst>
              </a:tr>
              <a:tr h="175260">
                <a:tc>
                  <a:txBody>
                    <a:bodyPr/>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Company Share (%) Analysis, 2023, 2025, 2026</a:t>
                      </a:r>
                      <a:endParaRPr sz="1100"/>
                    </a:p>
                  </a:txBody>
                  <a:tcPr marL="171450"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27.1.</a:t>
                      </a:r>
                      <a:r>
                        <a:rPr sz="700" b="0" i="0">
                          <a:solidFill>
                            <a:srgbClr val="0070C0"/>
                          </a:solidFill>
                          <a:latin typeface="Times New Roman"/>
                        </a:rPr>
                        <a:t>  </a:t>
                      </a:r>
                      <a:r>
                        <a:rPr sz="1100" b="0" i="0">
                          <a:solidFill>
                            <a:srgbClr val="0070C0"/>
                          </a:solidFill>
                          <a:latin typeface="Calibri"/>
                        </a:rPr>
                        <a:t>By Region</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27.2.</a:t>
                      </a:r>
                      <a:r>
                        <a:rPr sz="700" b="0" i="0">
                          <a:solidFill>
                            <a:srgbClr val="0070C0"/>
                          </a:solidFill>
                          <a:latin typeface="Times New Roman"/>
                        </a:rPr>
                        <a:t>  </a:t>
                      </a:r>
                      <a:r>
                        <a:rPr sz="1100" b="0" i="0">
                          <a:solidFill>
                            <a:srgbClr val="0070C0"/>
                          </a:solidFill>
                          <a:latin typeface="Calibri"/>
                        </a:rPr>
                        <a:t>By Product Type</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27.3.</a:t>
                      </a:r>
                      <a:r>
                        <a:rPr sz="700" b="0" i="0">
                          <a:solidFill>
                            <a:srgbClr val="0070C0"/>
                          </a:solidFill>
                          <a:latin typeface="Times New Roman"/>
                        </a:rPr>
                        <a:t>  </a:t>
                      </a:r>
                      <a:r>
                        <a:rPr sz="1100" b="0" i="0">
                          <a:solidFill>
                            <a:srgbClr val="0070C0"/>
                          </a:solidFill>
                          <a:latin typeface="Calibri"/>
                        </a:rPr>
                        <a:t>By End Use Application/ Sales Channel</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1" i="0">
                          <a:solidFill>
                            <a:srgbClr val="000000"/>
                          </a:solidFill>
                          <a:latin typeface="Calibri"/>
                        </a:rPr>
                        <a:t>28.</a:t>
                      </a:r>
                      <a:r>
                        <a:rPr sz="700" b="1" i="0">
                          <a:solidFill>
                            <a:srgbClr val="000000"/>
                          </a:solidFill>
                          <a:latin typeface="Times New Roman"/>
                        </a:rPr>
                        <a:t>    </a:t>
                      </a:r>
                      <a:r>
                        <a:rPr sz="1100" b="1" i="0">
                          <a:solidFill>
                            <a:srgbClr val="000000"/>
                          </a:solidFill>
                          <a:latin typeface="Calibri"/>
                        </a:rPr>
                        <a:t>Company Share Breakdown (2026)</a:t>
                      </a:r>
                      <a:endParaRPr sz="1100"/>
                    </a:p>
                  </a:txBody>
                  <a:tcPr marL="171450" marR="9525" marT="9525" marB="0" anchor="ctr"/>
                </a:tc>
                <a:extLst>
                  <a:ext uri="{0D108BD9-81ED-4DB2-BD59-A6C34878D82A}">
                    <a16:rowId xmlns:a16="http://schemas.microsoft.com/office/drawing/2014/main" val="10017"/>
                  </a:ext>
                </a:extLst>
              </a:tr>
              <a:tr h="175260">
                <a:tc>
                  <a:txBody>
                    <a:bodyPr/>
                    <a:lstStyle/>
                    <a:p>
                      <a:pPr algn="l"/>
                      <a:r>
                        <a:rPr sz="1100" b="0" i="0">
                          <a:solidFill>
                            <a:srgbClr val="0070C0"/>
                          </a:solidFill>
                          <a:latin typeface="Calibri"/>
                        </a:rPr>
                        <a:t>28.1.</a:t>
                      </a:r>
                      <a:r>
                        <a:rPr sz="700" b="0" i="0">
                          <a:solidFill>
                            <a:srgbClr val="0070C0"/>
                          </a:solidFill>
                          <a:latin typeface="Times New Roman"/>
                        </a:rPr>
                        <a:t>  </a:t>
                      </a:r>
                      <a:r>
                        <a:rPr sz="1100" b="0" i="0">
                          <a:solidFill>
                            <a:srgbClr val="0070C0"/>
                          </a:solidFill>
                          <a:latin typeface="Calibri"/>
                        </a:rPr>
                        <a:t>Top Players (Tier 1)</a:t>
                      </a:r>
                      <a:endParaRPr sz="1100"/>
                    </a:p>
                  </a:txBody>
                  <a:tcPr marL="4286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70C0"/>
                          </a:solidFill>
                          <a:latin typeface="Calibri"/>
                        </a:rPr>
                        <a:t>28.2.</a:t>
                      </a:r>
                      <a:r>
                        <a:rPr sz="700" b="0" i="0">
                          <a:solidFill>
                            <a:srgbClr val="0070C0"/>
                          </a:solidFill>
                          <a:latin typeface="Times New Roman"/>
                        </a:rPr>
                        <a:t>  </a:t>
                      </a:r>
                      <a:r>
                        <a:rPr sz="1100" b="0" i="0">
                          <a:solidFill>
                            <a:srgbClr val="0070C0"/>
                          </a:solidFill>
                          <a:latin typeface="Calibri"/>
                        </a:rPr>
                        <a:t>Mid-Sized Players (Tier 2)</a:t>
                      </a:r>
                      <a:endParaRPr sz="1100"/>
                    </a:p>
                  </a:txBody>
                  <a:tcPr marL="4286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70C0"/>
                          </a:solidFill>
                          <a:latin typeface="Calibri"/>
                        </a:rPr>
                        <a:t>28.3.</a:t>
                      </a:r>
                      <a:r>
                        <a:rPr sz="700" b="0" i="0">
                          <a:solidFill>
                            <a:srgbClr val="0070C0"/>
                          </a:solidFill>
                          <a:latin typeface="Times New Roman"/>
                        </a:rPr>
                        <a:t>  </a:t>
                      </a:r>
                      <a:r>
                        <a:rPr sz="1100" b="0" i="0">
                          <a:solidFill>
                            <a:srgbClr val="0070C0"/>
                          </a:solidFill>
                          <a:latin typeface="Calibri"/>
                        </a:rPr>
                        <a:t>Emerging/Local Players (Tier 3)</a:t>
                      </a:r>
                      <a:endParaRPr sz="1100"/>
                    </a:p>
                  </a:txBody>
                  <a:tcPr marL="428625" marR="9525" marT="9525" marB="0" anchor="ctr"/>
                </a:tc>
                <a:extLst>
                  <a:ext uri="{0D108BD9-81ED-4DB2-BD59-A6C34878D82A}">
                    <a16:rowId xmlns:a16="http://schemas.microsoft.com/office/drawing/2014/main" val="10020"/>
                  </a:ext>
                </a:extLst>
              </a:tr>
              <a:tr h="175260">
                <a:tc>
                  <a:txBody>
                    <a:bodyPr/>
                    <a:lstStyle/>
                    <a:p>
                      <a:pPr algn="l"/>
                      <a:r>
                        <a:rPr sz="1100" b="1" i="0">
                          <a:solidFill>
                            <a:srgbClr val="000000"/>
                          </a:solidFill>
                          <a:latin typeface="Calibri"/>
                        </a:rPr>
                        <a:t>29.</a:t>
                      </a:r>
                      <a:r>
                        <a:rPr sz="700" b="1" i="0">
                          <a:solidFill>
                            <a:srgbClr val="000000"/>
                          </a:solidFill>
                          <a:latin typeface="Times New Roman"/>
                        </a:rPr>
                        <a:t>    </a:t>
                      </a:r>
                      <a:r>
                        <a:rPr sz="1100" b="1" i="0">
                          <a:solidFill>
                            <a:srgbClr val="000000"/>
                          </a:solidFill>
                          <a:latin typeface="Calibri"/>
                        </a:rPr>
                        <a:t>Company Profile- American-based</a:t>
                      </a:r>
                      <a:endParaRPr sz="1100"/>
                    </a:p>
                  </a:txBody>
                  <a:tcPr marL="171450"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29.1.</a:t>
                      </a:r>
                      <a:r>
                        <a:rPr sz="700" b="0" i="0">
                          <a:solidFill>
                            <a:srgbClr val="0070C0"/>
                          </a:solidFill>
                          <a:latin typeface="Times New Roman"/>
                        </a:rPr>
                        <a:t>  </a:t>
                      </a:r>
                      <a:r>
                        <a:rPr sz="1100" b="0" i="0">
                          <a:solidFill>
                            <a:srgbClr val="0070C0"/>
                          </a:solidFill>
                          <a:latin typeface="Calibri"/>
                        </a:rPr>
                        <a:t>Standard Process</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0000"/>
                          </a:solidFill>
                          <a:latin typeface="Calibri"/>
                        </a:rPr>
                        <a:t>29.1.1.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extLst>
                  <a:ext uri="{0D108BD9-81ED-4DB2-BD59-A6C34878D82A}">
                    <a16:rowId xmlns:a16="http://schemas.microsoft.com/office/drawing/2014/main" val="10023"/>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(7/8)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0000"/>
                          </a:solidFill>
                          <a:latin typeface="Calibri"/>
                        </a:rPr>
                        <a:t>29.1.2.</a:t>
                      </a:r>
                      <a:r>
                        <a:rPr sz="700" b="0" i="0">
                          <a:solidFill>
                            <a:srgbClr val="000000"/>
                          </a:solidFill>
                          <a:latin typeface="Times New Roman"/>
                        </a:rPr>
                        <a:t> </a:t>
                      </a:r>
                      <a:r>
                        <a:rPr sz="1100" b="0" i="0">
                          <a:solidFill>
                            <a:srgbClr val="000000"/>
                          </a:solidFill>
                          <a:latin typeface="Calibri"/>
                        </a:rPr>
                        <a:t>Apparent Production Capacity / Manufacturing Footprint</a:t>
                      </a:r>
                      <a:endParaRPr sz="1100"/>
                    </a:p>
                  </a:txBody>
                  <a:tcPr marL="7715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0000"/>
                          </a:solidFill>
                          <a:latin typeface="Calibri"/>
                        </a:rPr>
                        <a:t>29.1.3.</a:t>
                      </a:r>
                      <a:r>
                        <a:rPr sz="700" b="0" i="0">
                          <a:solidFill>
                            <a:srgbClr val="000000"/>
                          </a:solidFill>
                          <a:latin typeface="Times New Roman"/>
                        </a:rPr>
                        <a:t> </a:t>
                      </a:r>
                      <a:r>
                        <a:rPr sz="1100" b="0" i="0">
                          <a:solidFill>
                            <a:srgbClr val="000000"/>
                          </a:solidFill>
                          <a:latin typeface="Calibri"/>
                        </a:rPr>
                        <a:t>Pricing Analysis (USD Per Unit) By Product Type</a:t>
                      </a:r>
                      <a:endParaRPr sz="1100"/>
                    </a:p>
                  </a:txBody>
                  <a:tcPr marL="7715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0000"/>
                          </a:solidFill>
                          <a:latin typeface="Calibri"/>
                        </a:rPr>
                        <a:t>29.1.4.</a:t>
                      </a:r>
                      <a:r>
                        <a:rPr sz="700" b="0" i="0">
                          <a:solidFill>
                            <a:srgbClr val="000000"/>
                          </a:solidFill>
                          <a:latin typeface="Times New Roman"/>
                        </a:rPr>
                        <a:t> </a:t>
                      </a:r>
                      <a:r>
                        <a:rPr sz="1100" b="0" i="0">
                          <a:solidFill>
                            <a:srgbClr val="000000"/>
                          </a:solidFill>
                          <a:latin typeface="Calibri"/>
                        </a:rPr>
                        <a:t>Revenue (USD Mn) and Market Share by Market Segments</a:t>
                      </a:r>
                      <a:endParaRPr sz="1100"/>
                    </a:p>
                  </a:txBody>
                  <a:tcPr marL="771525" marR="9525" marT="9525" marB="0" anchor="ctr"/>
                </a:tc>
                <a:extLst>
                  <a:ext uri="{0D108BD9-81ED-4DB2-BD59-A6C34878D82A}">
                    <a16:rowId xmlns:a16="http://schemas.microsoft.com/office/drawing/2014/main" val="10002"/>
                  </a:ext>
                </a:extLst>
              </a:tr>
              <a:tr h="175260">
                <a:tc>
                  <a:txBody>
                    <a:bodyPr/>
                    <a:lstStyle/>
                    <a:p>
                      <a:pPr algn="l"/>
                      <a:r>
                        <a:rPr sz="1100" b="0" i="1">
                          <a:solidFill>
                            <a:srgbClr val="000000"/>
                          </a:solidFill>
                          <a:latin typeface="Calibri"/>
                        </a:rPr>
                        <a:t>29.1.4.1.</a:t>
                      </a:r>
                      <a:r>
                        <a:rPr sz="700" b="0" i="1">
                          <a:solidFill>
                            <a:srgbClr val="000000"/>
                          </a:solidFill>
                          <a:latin typeface="Times New Roman"/>
                        </a:rPr>
                        <a:t> </a:t>
                      </a:r>
                      <a:r>
                        <a:rPr sz="1100" b="0" i="1">
                          <a:solidFill>
                            <a:srgbClr val="000000"/>
                          </a:solidFill>
                          <a:latin typeface="Calibri"/>
                        </a:rPr>
                        <a:t>Product Sales</a:t>
                      </a:r>
                      <a:endParaRPr sz="1100"/>
                    </a:p>
                  </a:txBody>
                  <a:tcPr marL="1028700" marR="9525" marT="9525" marB="0" anchor="ctr"/>
                </a:tc>
                <a:extLst>
                  <a:ext uri="{0D108BD9-81ED-4DB2-BD59-A6C34878D82A}">
                    <a16:rowId xmlns:a16="http://schemas.microsoft.com/office/drawing/2014/main" val="10003"/>
                  </a:ext>
                </a:extLst>
              </a:tr>
              <a:tr h="175260">
                <a:tc>
                  <a:txBody>
                    <a:bodyPr/>
                    <a:lstStyle/>
                    <a:p>
                      <a:pPr algn="l"/>
                      <a:r>
                        <a:rPr sz="1100" b="0" i="1">
                          <a:solidFill>
                            <a:srgbClr val="000000"/>
                          </a:solidFill>
                          <a:latin typeface="Calibri"/>
                        </a:rPr>
                        <a:t>29.1.4.2.</a:t>
                      </a:r>
                      <a:r>
                        <a:rPr sz="700" b="0" i="1">
                          <a:solidFill>
                            <a:srgbClr val="000000"/>
                          </a:solidFill>
                          <a:latin typeface="Times New Roman"/>
                        </a:rPr>
                        <a:t> </a:t>
                      </a:r>
                      <a:r>
                        <a:rPr sz="1100" b="0" i="1">
                          <a:solidFill>
                            <a:srgbClr val="000000"/>
                          </a:solidFill>
                          <a:latin typeface="Calibri"/>
                        </a:rPr>
                        <a:t>Channel Sales</a:t>
                      </a:r>
                      <a:endParaRPr sz="1100"/>
                    </a:p>
                  </a:txBody>
                  <a:tcPr marL="1028700" marR="9525" marT="9525" marB="0" anchor="ctr"/>
                </a:tc>
                <a:extLst>
                  <a:ext uri="{0D108BD9-81ED-4DB2-BD59-A6C34878D82A}">
                    <a16:rowId xmlns:a16="http://schemas.microsoft.com/office/drawing/2014/main" val="10004"/>
                  </a:ext>
                </a:extLst>
              </a:tr>
              <a:tr h="175260">
                <a:tc>
                  <a:txBody>
                    <a:bodyPr/>
                    <a:lstStyle/>
                    <a:p>
                      <a:pPr algn="l"/>
                      <a:r>
                        <a:rPr sz="1100" b="0" i="1">
                          <a:solidFill>
                            <a:srgbClr val="000000"/>
                          </a:solidFill>
                          <a:latin typeface="Calibri"/>
                        </a:rPr>
                        <a:t>29.1.4.3.</a:t>
                      </a:r>
                      <a:r>
                        <a:rPr sz="700" b="0" i="1">
                          <a:solidFill>
                            <a:srgbClr val="000000"/>
                          </a:solidFill>
                          <a:latin typeface="Times New Roman"/>
                        </a:rPr>
                        <a:t> </a:t>
                      </a:r>
                      <a:r>
                        <a:rPr sz="1100" b="0" i="1">
                          <a:solidFill>
                            <a:srgbClr val="000000"/>
                          </a:solidFill>
                          <a:latin typeface="Calibri"/>
                        </a:rPr>
                        <a:t>Regional Sales</a:t>
                      </a:r>
                      <a:endParaRPr sz="1100"/>
                    </a:p>
                  </a:txBody>
                  <a:tcPr marL="1028700" marR="9525" marT="9525" marB="0" anchor="ctr"/>
                </a:tc>
                <a:extLst>
                  <a:ext uri="{0D108BD9-81ED-4DB2-BD59-A6C34878D82A}">
                    <a16:rowId xmlns:a16="http://schemas.microsoft.com/office/drawing/2014/main" val="10005"/>
                  </a:ext>
                </a:extLst>
              </a:tr>
              <a:tr h="175260">
                <a:tc>
                  <a:txBody>
                    <a:bodyPr/>
                    <a:lstStyle/>
                    <a:p>
                      <a:pPr algn="l"/>
                      <a:r>
                        <a:rPr sz="1100" b="0" i="0">
                          <a:solidFill>
                            <a:srgbClr val="000000"/>
                          </a:solidFill>
                          <a:latin typeface="Calibri"/>
                        </a:rPr>
                        <a:t>29.1.5.</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0000"/>
                          </a:solidFill>
                          <a:latin typeface="Calibri"/>
                        </a:rPr>
                        <a:t>29.1.6.</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extLst>
                  <a:ext uri="{0D108BD9-81ED-4DB2-BD59-A6C34878D82A}">
                    <a16:rowId xmlns:a16="http://schemas.microsoft.com/office/drawing/2014/main" val="10007"/>
                  </a:ext>
                </a:extLst>
              </a:tr>
              <a:tr h="175260">
                <a:tc>
                  <a:txBody>
                    <a:bodyPr/>
                    <a:lstStyle/>
                    <a:p>
                      <a:pPr algn="l"/>
                      <a:r>
                        <a:rPr sz="1100" b="0" i="1">
                          <a:solidFill>
                            <a:srgbClr val="000000"/>
                          </a:solidFill>
                          <a:latin typeface="Calibri"/>
                        </a:rPr>
                        <a:t>29.1.6.1.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extLst>
                  <a:ext uri="{0D108BD9-81ED-4DB2-BD59-A6C34878D82A}">
                    <a16:rowId xmlns:a16="http://schemas.microsoft.com/office/drawing/2014/main" val="10008"/>
                  </a:ext>
                </a:extLst>
              </a:tr>
              <a:tr h="175260">
                <a:tc>
                  <a:txBody>
                    <a:bodyPr/>
                    <a:lstStyle/>
                    <a:p>
                      <a:pPr algn="l"/>
                      <a:r>
                        <a:rPr sz="1100" b="0" i="1">
                          <a:solidFill>
                            <a:srgbClr val="000000"/>
                          </a:solidFill>
                          <a:latin typeface="Calibri"/>
                        </a:rPr>
                        <a:t>29.1.6.2.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extLst>
                  <a:ext uri="{0D108BD9-81ED-4DB2-BD59-A6C34878D82A}">
                    <a16:rowId xmlns:a16="http://schemas.microsoft.com/office/drawing/2014/main" val="10009"/>
                  </a:ext>
                </a:extLst>
              </a:tr>
              <a:tr h="175260">
                <a:tc>
                  <a:txBody>
                    <a:bodyPr/>
                    <a:lstStyle/>
                    <a:p>
                      <a:pPr algn="l"/>
                      <a:r>
                        <a:rPr sz="1100" b="0" i="1">
                          <a:solidFill>
                            <a:srgbClr val="000000"/>
                          </a:solidFill>
                          <a:latin typeface="Calibri"/>
                        </a:rPr>
                        <a:t>29.1.6.3.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extLst>
                  <a:ext uri="{0D108BD9-81ED-4DB2-BD59-A6C34878D82A}">
                    <a16:rowId xmlns:a16="http://schemas.microsoft.com/office/drawing/2014/main" val="10010"/>
                  </a:ext>
                </a:extLst>
              </a:tr>
              <a:tr h="175260">
                <a:tc>
                  <a:txBody>
                    <a:bodyPr/>
                    <a:lstStyle/>
                    <a:p>
                      <a:pPr algn="l"/>
                      <a:r>
                        <a:rPr sz="1100" b="0" i="1">
                          <a:solidFill>
                            <a:srgbClr val="000000"/>
                          </a:solidFill>
                          <a:latin typeface="Calibri"/>
                        </a:rPr>
                        <a:t>29.1.6.4.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29.1.7.</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0000"/>
                          </a:solidFill>
                          <a:latin typeface="Calibri"/>
                        </a:rPr>
                        <a:t>29.1.8.</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extLst>
                  <a:ext uri="{0D108BD9-81ED-4DB2-BD59-A6C34878D82A}">
                    <a16:rowId xmlns:a16="http://schemas.microsoft.com/office/drawing/2014/main" val="10013"/>
                  </a:ext>
                </a:extLst>
              </a:tr>
              <a:tr h="175260">
                <a:tc>
                  <a:txBody>
                    <a:bodyPr/>
                    <a:lstStyle/>
                    <a:p>
                      <a:pPr algn="l"/>
                      <a:r>
                        <a:rPr sz="1100" b="0" i="1">
                          <a:solidFill>
                            <a:srgbClr val="EE0000"/>
                          </a:solidFill>
                          <a:latin typeface="Calibri"/>
                        </a:rPr>
                        <a:t>Note: All companies shall be indicated in similar manner</a:t>
                      </a:r>
                      <a:endParaRPr sz="1100"/>
                    </a:p>
                  </a:txBody>
                  <a:tcPr marL="95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29.2.</a:t>
                      </a:r>
                      <a:r>
                        <a:rPr sz="700" b="0" i="0">
                          <a:solidFill>
                            <a:srgbClr val="0070C0"/>
                          </a:solidFill>
                          <a:latin typeface="Times New Roman"/>
                        </a:rPr>
                        <a:t>  </a:t>
                      </a:r>
                      <a:r>
                        <a:rPr sz="1100" b="0" i="0">
                          <a:solidFill>
                            <a:srgbClr val="0070C0"/>
                          </a:solidFill>
                          <a:latin typeface="Calibri"/>
                        </a:rPr>
                        <a:t>VetriScience</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29.3.</a:t>
                      </a:r>
                      <a:r>
                        <a:rPr sz="700" b="0" i="0">
                          <a:solidFill>
                            <a:srgbClr val="0070C0"/>
                          </a:solidFill>
                          <a:latin typeface="Times New Roman"/>
                        </a:rPr>
                        <a:t>  </a:t>
                      </a:r>
                      <a:r>
                        <a:rPr sz="1100" b="0" i="0">
                          <a:solidFill>
                            <a:srgbClr val="0070C0"/>
                          </a:solidFill>
                          <a:latin typeface="Calibri"/>
                        </a:rPr>
                        <a:t>Dr. Fossum's</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29.4.</a:t>
                      </a:r>
                      <a:r>
                        <a:rPr sz="700" b="0" i="0">
                          <a:solidFill>
                            <a:srgbClr val="0070C0"/>
                          </a:solidFill>
                          <a:latin typeface="Times New Roman"/>
                        </a:rPr>
                        <a:t>  </a:t>
                      </a:r>
                      <a:r>
                        <a:rPr sz="1100" b="0" i="0">
                          <a:solidFill>
                            <a:srgbClr val="0070C0"/>
                          </a:solidFill>
                          <a:latin typeface="Calibri"/>
                        </a:rPr>
                        <a:t>Nestlé Purina PetCare</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70C0"/>
                          </a:solidFill>
                          <a:latin typeface="Calibri"/>
                        </a:rPr>
                        <a:t>29.5.</a:t>
                      </a:r>
                      <a:r>
                        <a:rPr sz="700" b="0" i="0">
                          <a:solidFill>
                            <a:srgbClr val="0070C0"/>
                          </a:solidFill>
                          <a:latin typeface="Times New Roman"/>
                        </a:rPr>
                        <a:t>  </a:t>
                      </a:r>
                      <a:r>
                        <a:rPr sz="1100" b="0" i="0">
                          <a:solidFill>
                            <a:srgbClr val="0070C0"/>
                          </a:solidFill>
                          <a:latin typeface="Calibri"/>
                        </a:rPr>
                        <a:t>PetHeal</a:t>
                      </a:r>
                      <a:endParaRPr sz="1100"/>
                    </a:p>
                  </a:txBody>
                  <a:tcPr marL="4286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70C0"/>
                          </a:solidFill>
                          <a:latin typeface="Calibri"/>
                        </a:rPr>
                        <a:t>29.6.</a:t>
                      </a:r>
                      <a:r>
                        <a:rPr sz="700" b="0" i="0">
                          <a:solidFill>
                            <a:srgbClr val="0070C0"/>
                          </a:solidFill>
                          <a:latin typeface="Times New Roman"/>
                        </a:rPr>
                        <a:t>  </a:t>
                      </a:r>
                      <a:r>
                        <a:rPr sz="1100" b="0" i="0">
                          <a:solidFill>
                            <a:srgbClr val="0070C0"/>
                          </a:solidFill>
                          <a:latin typeface="Calibri"/>
                        </a:rPr>
                        <a:t>Senior Dogs Club</a:t>
                      </a:r>
                      <a:endParaRPr sz="1100"/>
                    </a:p>
                  </a:txBody>
                  <a:tcPr marL="4286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70C0"/>
                          </a:solidFill>
                          <a:latin typeface="Calibri"/>
                        </a:rPr>
                        <a:t>29.7.</a:t>
                      </a:r>
                      <a:r>
                        <a:rPr sz="700" b="0" i="0">
                          <a:solidFill>
                            <a:srgbClr val="0070C0"/>
                          </a:solidFill>
                          <a:latin typeface="Times New Roman"/>
                        </a:rPr>
                        <a:t>  </a:t>
                      </a:r>
                      <a:r>
                        <a:rPr sz="1100" b="0" i="0">
                          <a:solidFill>
                            <a:srgbClr val="0070C0"/>
                          </a:solidFill>
                          <a:latin typeface="Calibri"/>
                        </a:rPr>
                        <a:t>VISYO Corporation</a:t>
                      </a:r>
                      <a:endParaRPr sz="1100"/>
                    </a:p>
                  </a:txBody>
                  <a:tcPr marL="4286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70C0"/>
                          </a:solidFill>
                          <a:latin typeface="Calibri"/>
                        </a:rPr>
                        <a:t>29.8.</a:t>
                      </a:r>
                      <a:r>
                        <a:rPr sz="700" b="0" i="0">
                          <a:solidFill>
                            <a:srgbClr val="0070C0"/>
                          </a:solidFill>
                          <a:latin typeface="Times New Roman"/>
                        </a:rPr>
                        <a:t>  </a:t>
                      </a:r>
                      <a:r>
                        <a:rPr sz="1100" b="0" i="0">
                          <a:solidFill>
                            <a:srgbClr val="0070C0"/>
                          </a:solidFill>
                          <a:latin typeface="Calibri"/>
                        </a:rPr>
                        <a:t>NaturVet</a:t>
                      </a:r>
                      <a:endParaRPr sz="1100"/>
                    </a:p>
                  </a:txBody>
                  <a:tcPr marL="428625"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29.9.</a:t>
                      </a:r>
                      <a:r>
                        <a:rPr sz="700" b="0" i="0">
                          <a:solidFill>
                            <a:srgbClr val="0070C0"/>
                          </a:solidFill>
                          <a:latin typeface="Times New Roman"/>
                        </a:rPr>
                        <a:t>  </a:t>
                      </a:r>
                      <a:r>
                        <a:rPr sz="1100" b="0" i="0">
                          <a:solidFill>
                            <a:srgbClr val="0070C0"/>
                          </a:solidFill>
                          <a:latin typeface="Calibri"/>
                        </a:rPr>
                        <a:t>Zesty Paws</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70C0"/>
                          </a:solidFill>
                          <a:latin typeface="Calibri"/>
                        </a:rPr>
                        <a:t>29.10.</a:t>
                      </a:r>
                      <a:r>
                        <a:rPr sz="700" b="0" i="0">
                          <a:solidFill>
                            <a:srgbClr val="0070C0"/>
                          </a:solidFill>
                          <a:latin typeface="Times New Roman"/>
                        </a:rPr>
                        <a:t> </a:t>
                      </a:r>
                      <a:r>
                        <a:rPr sz="1100" b="0" i="0">
                          <a:solidFill>
                            <a:srgbClr val="0070C0"/>
                          </a:solidFill>
                          <a:latin typeface="Calibri"/>
                        </a:rPr>
                        <a:t>Ark Naturals</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70C0"/>
                          </a:solidFill>
                          <a:latin typeface="Calibri"/>
                        </a:rPr>
                        <a:t>29.11.</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extLst>
                  <a:ext uri="{0D108BD9-81ED-4DB2-BD59-A6C34878D82A}">
                    <a16:rowId xmlns:a16="http://schemas.microsoft.com/office/drawing/2014/main" val="10024"/>
                  </a:ext>
                </a:extLst>
              </a:tr>
              <a:tr h="175260">
                <a:tc>
                  <a:txBody>
                    <a:bodyPr/>
                    <a:lstStyle/>
                    <a:p>
                      <a:pPr algn="l"/>
                      <a:r>
                        <a:rPr sz="1100" b="1" i="0">
                          <a:solidFill>
                            <a:srgbClr val="000000"/>
                          </a:solidFill>
                          <a:latin typeface="Calibri"/>
                        </a:rPr>
                        <a:t>30.</a:t>
                      </a:r>
                      <a:r>
                        <a:rPr sz="700" b="1" i="0">
                          <a:solidFill>
                            <a:srgbClr val="000000"/>
                          </a:solidFill>
                          <a:latin typeface="Times New Roman"/>
                        </a:rPr>
                        <a:t>    </a:t>
                      </a:r>
                      <a:r>
                        <a:rPr sz="1100" b="1" i="0">
                          <a:solidFill>
                            <a:srgbClr val="000000"/>
                          </a:solidFill>
                          <a:latin typeface="Calibri"/>
                        </a:rPr>
                        <a:t>Company Profile- Europe based</a:t>
                      </a:r>
                      <a:endParaRPr sz="1100"/>
                    </a:p>
                  </a:txBody>
                  <a:tcPr marL="171450" marR="9525" marT="9525" marB="0" anchor="ctr"/>
                </a:tc>
                <a:extLst>
                  <a:ext uri="{0D108BD9-81ED-4DB2-BD59-A6C34878D82A}">
                    <a16:rowId xmlns:a16="http://schemas.microsoft.com/office/drawing/2014/main" val="10025"/>
                  </a:ext>
                </a:extLst>
              </a:tr>
              <a:tr h="175260">
                <a:tc>
                  <a:txBody>
                    <a:bodyPr/>
                    <a:lstStyle/>
                    <a:p>
                      <a:pPr algn="l"/>
                      <a:r>
                        <a:rPr sz="1100" b="0" i="0">
                          <a:solidFill>
                            <a:srgbClr val="0070C0"/>
                          </a:solidFill>
                          <a:latin typeface="Calibri"/>
                        </a:rPr>
                        <a:t>30.1.</a:t>
                      </a:r>
                      <a:r>
                        <a:rPr sz="700" b="0" i="0">
                          <a:solidFill>
                            <a:srgbClr val="0070C0"/>
                          </a:solidFill>
                          <a:latin typeface="Times New Roman"/>
                        </a:rPr>
                        <a:t>  </a:t>
                      </a:r>
                      <a:r>
                        <a:rPr sz="1100" b="0" i="0">
                          <a:solidFill>
                            <a:srgbClr val="0070C0"/>
                          </a:solidFill>
                          <a:latin typeface="Calibri"/>
                        </a:rPr>
                        <a:t>Protexin</a:t>
                      </a:r>
                      <a:endParaRPr sz="1100"/>
                    </a:p>
                  </a:txBody>
                  <a:tcPr marL="428625" marR="9525" marT="9525" marB="0" anchor="ctr"/>
                </a:tc>
                <a:extLst>
                  <a:ext uri="{0D108BD9-81ED-4DB2-BD59-A6C34878D82A}">
                    <a16:rowId xmlns:a16="http://schemas.microsoft.com/office/drawing/2014/main" val="10026"/>
                  </a:ext>
                </a:extLst>
              </a:tr>
              <a:tr h="175260">
                <a:tc>
                  <a:txBody>
                    <a:bodyPr/>
                    <a:lstStyle/>
                    <a:p>
                      <a:pPr algn="l"/>
                      <a:r>
                        <a:rPr sz="1100" b="0" i="0">
                          <a:solidFill>
                            <a:srgbClr val="0070C0"/>
                          </a:solidFill>
                          <a:latin typeface="Calibri"/>
                        </a:rPr>
                        <a:t>30.2.</a:t>
                      </a:r>
                      <a:r>
                        <a:rPr sz="700" b="0" i="0">
                          <a:solidFill>
                            <a:srgbClr val="0070C0"/>
                          </a:solidFill>
                          <a:latin typeface="Times New Roman"/>
                        </a:rPr>
                        <a:t>  </a:t>
                      </a:r>
                      <a:r>
                        <a:rPr sz="1100" b="0" i="0">
                          <a:solidFill>
                            <a:srgbClr val="0070C0"/>
                          </a:solidFill>
                          <a:latin typeface="Calibri"/>
                        </a:rPr>
                        <a:t>Ceva Animal Health</a:t>
                      </a:r>
                      <a:endParaRPr sz="1100"/>
                    </a:p>
                  </a:txBody>
                  <a:tcPr marL="428625" marR="9525" marT="9525" marB="0" anchor="ctr"/>
                </a:tc>
                <a:extLst>
                  <a:ext uri="{0D108BD9-81ED-4DB2-BD59-A6C34878D82A}">
                    <a16:rowId xmlns:a16="http://schemas.microsoft.com/office/drawing/2014/main" val="10027"/>
                  </a:ext>
                </a:extLst>
              </a:tr>
              <a:tr h="175260">
                <a:tc>
                  <a:txBody>
                    <a:bodyPr/>
                    <a:lstStyle/>
                    <a:p>
                      <a:pPr algn="l"/>
                      <a:r>
                        <a:rPr sz="1100" b="0" i="0">
                          <a:solidFill>
                            <a:srgbClr val="0070C0"/>
                          </a:solidFill>
                          <a:latin typeface="Calibri"/>
                        </a:rPr>
                        <a:t>30.3.</a:t>
                      </a:r>
                      <a:r>
                        <a:rPr sz="700" b="0" i="0">
                          <a:solidFill>
                            <a:srgbClr val="0070C0"/>
                          </a:solidFill>
                          <a:latin typeface="Times New Roman"/>
                        </a:rPr>
                        <a:t>  </a:t>
                      </a:r>
                      <a:r>
                        <a:rPr sz="1100" b="0" i="0">
                          <a:solidFill>
                            <a:srgbClr val="0070C0"/>
                          </a:solidFill>
                          <a:latin typeface="Calibri"/>
                        </a:rPr>
                        <a:t>VetPlus</a:t>
                      </a:r>
                      <a:endParaRPr sz="1100"/>
                    </a:p>
                  </a:txBody>
                  <a:tcPr marL="428625" marR="9525" marT="9525" marB="0" anchor="ctr"/>
                </a:tc>
                <a:extLst>
                  <a:ext uri="{0D108BD9-81ED-4DB2-BD59-A6C34878D82A}">
                    <a16:rowId xmlns:a16="http://schemas.microsoft.com/office/drawing/2014/main" val="10028"/>
                  </a:ext>
                </a:extLst>
              </a:tr>
              <a:tr h="175260">
                <a:tc>
                  <a:txBody>
                    <a:bodyPr/>
                    <a:lstStyle/>
                    <a:p>
                      <a:pPr algn="l"/>
                      <a:r>
                        <a:rPr sz="1100" b="0" i="0">
                          <a:solidFill>
                            <a:srgbClr val="0070C0"/>
                          </a:solidFill>
                          <a:latin typeface="Calibri"/>
                        </a:rPr>
                        <a:t>30.4.</a:t>
                      </a:r>
                      <a:r>
                        <a:rPr sz="700" b="0" i="0">
                          <a:solidFill>
                            <a:srgbClr val="0070C0"/>
                          </a:solidFill>
                          <a:latin typeface="Times New Roman"/>
                        </a:rPr>
                        <a:t>  </a:t>
                      </a:r>
                      <a:r>
                        <a:rPr sz="1100" b="0" i="0">
                          <a:solidFill>
                            <a:srgbClr val="0070C0"/>
                          </a:solidFill>
                          <a:latin typeface="Calibri"/>
                        </a:rPr>
                        <a:t>Dorwest Herbs</a:t>
                      </a:r>
                      <a:endParaRPr sz="1100"/>
                    </a:p>
                  </a:txBody>
                  <a:tcPr marL="428625"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70C0"/>
                          </a:solidFill>
                          <a:latin typeface="Calibri"/>
                        </a:rPr>
                        <a:t>30.5.</a:t>
                      </a:r>
                      <a:r>
                        <a:rPr sz="700" b="0" i="0">
                          <a:solidFill>
                            <a:srgbClr val="0070C0"/>
                          </a:solidFill>
                          <a:latin typeface="Times New Roman"/>
                        </a:rPr>
                        <a:t>  </a:t>
                      </a:r>
                      <a:r>
                        <a:rPr sz="1100" b="0" i="0">
                          <a:solidFill>
                            <a:srgbClr val="0070C0"/>
                          </a:solidFill>
                          <a:latin typeface="Calibri"/>
                        </a:rPr>
                        <a:t>Virbac</a:t>
                      </a:r>
                      <a:endParaRPr sz="1100"/>
                    </a:p>
                  </a:txBody>
                  <a:tcPr marL="4286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70C0"/>
                          </a:solidFill>
                          <a:latin typeface="Calibri"/>
                        </a:rPr>
                        <a:t>30.6.</a:t>
                      </a:r>
                      <a:r>
                        <a:rPr sz="700" b="0" i="0">
                          <a:solidFill>
                            <a:srgbClr val="0070C0"/>
                          </a:solidFill>
                          <a:latin typeface="Times New Roman"/>
                        </a:rPr>
                        <a:t>  </a:t>
                      </a:r>
                      <a:r>
                        <a:rPr sz="1100" b="0" i="0">
                          <a:solidFill>
                            <a:srgbClr val="0070C0"/>
                          </a:solidFill>
                          <a:latin typeface="Calibri"/>
                        </a:rPr>
                        <a:t>Dechra Pharmaceuticals</a:t>
                      </a:r>
                      <a:endParaRPr sz="1100"/>
                    </a:p>
                  </a:txBody>
                  <a:tcPr marL="4286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70C0"/>
                          </a:solidFill>
                          <a:latin typeface="Calibri"/>
                        </a:rPr>
                        <a:t>30.7.</a:t>
                      </a:r>
                      <a:r>
                        <a:rPr sz="700" b="0" i="0">
                          <a:solidFill>
                            <a:srgbClr val="0070C0"/>
                          </a:solidFill>
                          <a:latin typeface="Times New Roman"/>
                        </a:rPr>
                        <a:t>  </a:t>
                      </a:r>
                      <a:r>
                        <a:rPr sz="1100" b="0" i="0">
                          <a:solidFill>
                            <a:srgbClr val="0070C0"/>
                          </a:solidFill>
                          <a:latin typeface="Calibri"/>
                        </a:rPr>
                        <a:t>Beaphar</a:t>
                      </a:r>
                      <a:endParaRPr sz="1100"/>
                    </a:p>
                  </a:txBody>
                  <a:tcPr marL="4286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70C0"/>
                          </a:solidFill>
                          <a:latin typeface="Calibri"/>
                        </a:rPr>
                        <a:t>30.8.</a:t>
                      </a:r>
                      <a:r>
                        <a:rPr sz="700" b="0" i="0">
                          <a:solidFill>
                            <a:srgbClr val="0070C0"/>
                          </a:solidFill>
                          <a:latin typeface="Times New Roman"/>
                        </a:rPr>
                        <a:t>  </a:t>
                      </a:r>
                      <a:r>
                        <a:rPr sz="1100" b="0" i="0">
                          <a:solidFill>
                            <a:srgbClr val="0070C0"/>
                          </a:solidFill>
                          <a:latin typeface="Calibri"/>
                        </a:rPr>
                        <a:t>Laboratoire Biové</a:t>
                      </a:r>
                      <a:endParaRPr sz="1100"/>
                    </a:p>
                  </a:txBody>
                  <a:tcPr marL="4286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70C0"/>
                          </a:solidFill>
                          <a:latin typeface="Calibri"/>
                        </a:rPr>
                        <a:t>30.9.</a:t>
                      </a:r>
                      <a:r>
                        <a:rPr sz="700" b="0" i="0">
                          <a:solidFill>
                            <a:srgbClr val="0070C0"/>
                          </a:solidFill>
                          <a:latin typeface="Times New Roman"/>
                        </a:rPr>
                        <a:t>  </a:t>
                      </a:r>
                      <a:r>
                        <a:rPr sz="1100" b="0" i="0">
                          <a:solidFill>
                            <a:srgbClr val="0070C0"/>
                          </a:solidFill>
                          <a:latin typeface="Calibri"/>
                        </a:rPr>
                        <a:t>Laboratoire Biogance</a:t>
                      </a:r>
                      <a:endParaRPr sz="1100"/>
                    </a:p>
                  </a:txBody>
                  <a:tcPr marL="4286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30.10.</a:t>
                      </a:r>
                      <a:r>
                        <a:rPr sz="700" b="0" i="0">
                          <a:solidFill>
                            <a:srgbClr val="0070C0"/>
                          </a:solidFill>
                          <a:latin typeface="Times New Roman"/>
                        </a:rPr>
                        <a:t> </a:t>
                      </a:r>
                      <a:r>
                        <a:rPr sz="1100" b="0" i="0">
                          <a:solidFill>
                            <a:srgbClr val="0070C0"/>
                          </a:solidFill>
                          <a:latin typeface="Calibri"/>
                        </a:rPr>
                        <a:t>Anibio</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30.11.</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1" i="0">
                          <a:solidFill>
                            <a:srgbClr val="000000"/>
                          </a:solidFill>
                          <a:latin typeface="Calibri"/>
                        </a:rPr>
                        <a:t>31.</a:t>
                      </a:r>
                      <a:r>
                        <a:rPr sz="700" b="1" i="0">
                          <a:solidFill>
                            <a:srgbClr val="000000"/>
                          </a:solidFill>
                          <a:latin typeface="Times New Roman"/>
                        </a:rPr>
                        <a:t>    </a:t>
                      </a:r>
                      <a:r>
                        <a:rPr sz="1100" b="1" i="0">
                          <a:solidFill>
                            <a:srgbClr val="000000"/>
                          </a:solidFill>
                          <a:latin typeface="Calibri"/>
                        </a:rPr>
                        <a:t>Company Profile- Asia-based</a:t>
                      </a:r>
                      <a:endParaRPr sz="1100"/>
                    </a:p>
                  </a:txBody>
                  <a:tcPr marL="171450"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31.1.</a:t>
                      </a:r>
                      <a:r>
                        <a:rPr sz="700" b="0" i="0">
                          <a:solidFill>
                            <a:srgbClr val="0070C0"/>
                          </a:solidFill>
                          <a:latin typeface="Times New Roman"/>
                        </a:rPr>
                        <a:t>  </a:t>
                      </a:r>
                      <a:r>
                        <a:rPr sz="1100" b="0" i="0">
                          <a:solidFill>
                            <a:srgbClr val="0070C0"/>
                          </a:solidFill>
                          <a:latin typeface="Calibri"/>
                        </a:rPr>
                        <a:t>TRIZA</a:t>
                      </a:r>
                      <a:endParaRPr sz="1100"/>
                    </a:p>
                  </a:txBody>
                  <a:tcPr marL="4286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31.2.</a:t>
                      </a:r>
                      <a:r>
                        <a:rPr sz="700" b="0" i="0">
                          <a:solidFill>
                            <a:srgbClr val="0070C0"/>
                          </a:solidFill>
                          <a:latin typeface="Times New Roman"/>
                        </a:rPr>
                        <a:t>  </a:t>
                      </a:r>
                      <a:r>
                        <a:rPr sz="1100" b="0" i="0">
                          <a:solidFill>
                            <a:srgbClr val="0070C0"/>
                          </a:solidFill>
                          <a:latin typeface="Calibri"/>
                        </a:rPr>
                        <a:t>MIND UP Corp.</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70C0"/>
                          </a:solidFill>
                          <a:latin typeface="Calibri"/>
                        </a:rPr>
                        <a:t>31.3.</a:t>
                      </a:r>
                      <a:r>
                        <a:rPr sz="700" b="0" i="0">
                          <a:solidFill>
                            <a:srgbClr val="0070C0"/>
                          </a:solidFill>
                          <a:latin typeface="Times New Roman"/>
                        </a:rPr>
                        <a:t>  </a:t>
                      </a:r>
                      <a:r>
                        <a:rPr sz="1100" b="0" i="0">
                          <a:solidFill>
                            <a:srgbClr val="0070C0"/>
                          </a:solidFill>
                          <a:latin typeface="Calibri"/>
                        </a:rPr>
                        <a:t>Theymatter</a:t>
                      </a:r>
                      <a:endParaRPr sz="1100"/>
                    </a:p>
                  </a:txBody>
                  <a:tcPr marL="4286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70C0"/>
                          </a:solidFill>
                          <a:latin typeface="Calibri"/>
                        </a:rPr>
                        <a:t>31.4.</a:t>
                      </a:r>
                      <a:r>
                        <a:rPr sz="700" b="0" i="0">
                          <a:solidFill>
                            <a:srgbClr val="0070C0"/>
                          </a:solidFill>
                          <a:latin typeface="Times New Roman"/>
                        </a:rPr>
                        <a:t>  </a:t>
                      </a:r>
                      <a:r>
                        <a:rPr sz="1100" b="0" i="0">
                          <a:solidFill>
                            <a:srgbClr val="0070C0"/>
                          </a:solidFill>
                          <a:latin typeface="Calibri"/>
                        </a:rPr>
                        <a:t>DHC Corporation</a:t>
                      </a:r>
                      <a:endParaRPr sz="1100"/>
                    </a:p>
                  </a:txBody>
                  <a:tcPr marL="4286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70C0"/>
                          </a:solidFill>
                          <a:latin typeface="Calibri"/>
                        </a:rPr>
                        <a:t>31.5.</a:t>
                      </a:r>
                      <a:r>
                        <a:rPr sz="700" b="0" i="0">
                          <a:solidFill>
                            <a:srgbClr val="0070C0"/>
                          </a:solidFill>
                          <a:latin typeface="Times New Roman"/>
                        </a:rPr>
                        <a:t>  </a:t>
                      </a:r>
                      <a:r>
                        <a:rPr sz="1100" b="0" i="0">
                          <a:solidFill>
                            <a:srgbClr val="0070C0"/>
                          </a:solidFill>
                          <a:latin typeface="Calibri"/>
                        </a:rPr>
                        <a:t>DoggyMan H.A. Co., Ltd.</a:t>
                      </a:r>
                      <a:endParaRPr sz="1100"/>
                    </a:p>
                  </a:txBody>
                  <a:tcPr marL="4286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31.6.</a:t>
                      </a:r>
                      <a:r>
                        <a:rPr sz="700" b="0" i="0">
                          <a:solidFill>
                            <a:srgbClr val="0070C0"/>
                          </a:solidFill>
                          <a:latin typeface="Times New Roman"/>
                        </a:rPr>
                        <a:t>  </a:t>
                      </a:r>
                      <a:r>
                        <a:rPr sz="1100" b="0" i="0">
                          <a:solidFill>
                            <a:srgbClr val="0070C0"/>
                          </a:solidFill>
                          <a:latin typeface="Calibri"/>
                        </a:rPr>
                        <a:t>Petline Corporation</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31.7.</a:t>
                      </a:r>
                      <a:r>
                        <a:rPr sz="700" b="0" i="0">
                          <a:solidFill>
                            <a:srgbClr val="0070C0"/>
                          </a:solidFill>
                          <a:latin typeface="Times New Roman"/>
                        </a:rPr>
                        <a:t>  </a:t>
                      </a:r>
                      <a:r>
                        <a:rPr sz="1100" b="0" i="0">
                          <a:solidFill>
                            <a:srgbClr val="0070C0"/>
                          </a:solidFill>
                          <a:latin typeface="Calibri"/>
                        </a:rPr>
                        <a:t>Inaba Petfood Co., Ltd.</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31.8.</a:t>
                      </a:r>
                      <a:r>
                        <a:rPr sz="700" b="0" i="0">
                          <a:solidFill>
                            <a:srgbClr val="0070C0"/>
                          </a:solidFill>
                          <a:latin typeface="Times New Roman"/>
                        </a:rPr>
                        <a:t>  </a:t>
                      </a:r>
                      <a:r>
                        <a:rPr sz="1100" b="0" i="0">
                          <a:solidFill>
                            <a:srgbClr val="0070C0"/>
                          </a:solidFill>
                          <a:latin typeface="Calibri"/>
                        </a:rPr>
                        <a:t>Drools</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31.9.</a:t>
                      </a:r>
                      <a:r>
                        <a:rPr sz="700" b="0" i="0">
                          <a:solidFill>
                            <a:srgbClr val="0070C0"/>
                          </a:solidFill>
                          <a:latin typeface="Times New Roman"/>
                        </a:rPr>
                        <a:t>  </a:t>
                      </a:r>
                      <a:r>
                        <a:rPr sz="1100" b="0" i="0">
                          <a:solidFill>
                            <a:srgbClr val="0070C0"/>
                          </a:solidFill>
                          <a:latin typeface="Calibri"/>
                        </a:rPr>
                        <a:t>Himalaya Wellness Company</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31.10.</a:t>
                      </a:r>
                      <a:r>
                        <a:rPr sz="700" b="0" i="0">
                          <a:solidFill>
                            <a:srgbClr val="0070C0"/>
                          </a:solidFill>
                          <a:latin typeface="Times New Roman"/>
                        </a:rPr>
                        <a:t> </a:t>
                      </a:r>
                      <a:r>
                        <a:rPr sz="1100" b="0" i="0">
                          <a:solidFill>
                            <a:srgbClr val="0070C0"/>
                          </a:solidFill>
                          <a:latin typeface="Calibri"/>
                        </a:rPr>
                        <a:t>Nippon Zenyaku Kogyo</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70C0"/>
                          </a:solidFill>
                          <a:latin typeface="Calibri"/>
                        </a:rPr>
                        <a:t>31.11.</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extLst>
                  <a:ext uri="{0D108BD9-81ED-4DB2-BD59-A6C34878D82A}">
                    <a16:rowId xmlns:a16="http://schemas.microsoft.com/office/drawing/2014/main" val="10018"/>
                  </a:ext>
                </a:extLst>
              </a:tr>
              <a:tr h="175260">
                <a:tc>
                  <a:txBody>
                    <a:bodyPr/>
                    <a:lstStyle/>
                    <a:p>
                      <a:pPr algn="l"/>
                      <a:r>
                        <a:rPr sz="1100" b="1" i="0">
                          <a:solidFill>
                            <a:srgbClr val="000000"/>
                          </a:solidFill>
                          <a:latin typeface="Calibri"/>
                        </a:rPr>
                        <a:t>32.</a:t>
                      </a:r>
                      <a:r>
                        <a:rPr sz="700" b="1" i="0">
                          <a:solidFill>
                            <a:srgbClr val="000000"/>
                          </a:solidFill>
                          <a:latin typeface="Times New Roman"/>
                        </a:rPr>
                        <a:t>    </a:t>
                      </a:r>
                      <a:r>
                        <a:rPr sz="1100" b="1" i="0">
                          <a:solidFill>
                            <a:srgbClr val="000000"/>
                          </a:solidFill>
                          <a:latin typeface="Calibri"/>
                        </a:rPr>
                        <a:t>Innovation Acceptance and Cognitive Wellness White-space Analysis</a:t>
                      </a:r>
                      <a:endParaRPr sz="1100"/>
                    </a:p>
                  </a:txBody>
                  <a:tcPr marL="171450" marR="9525" marT="9525" marB="0" anchor="ctr"/>
                </a:tc>
                <a:extLst>
                  <a:ext uri="{0D108BD9-81ED-4DB2-BD59-A6C34878D82A}">
                    <a16:rowId xmlns:a16="http://schemas.microsoft.com/office/drawing/2014/main" val="10019"/>
                  </a:ext>
                </a:extLst>
              </a:tr>
              <a:tr h="175260">
                <a:tc>
                  <a:txBody>
                    <a:bodyPr/>
                    <a:lstStyle/>
                    <a:p>
                      <a:pPr algn="l"/>
                      <a:r>
                        <a:rPr sz="1100" b="0" i="0">
                          <a:solidFill>
                            <a:srgbClr val="0070C0"/>
                          </a:solidFill>
                          <a:latin typeface="Calibri"/>
                        </a:rPr>
                        <a:t>32.1.</a:t>
                      </a:r>
                      <a:r>
                        <a:rPr sz="700" b="0" i="0">
                          <a:solidFill>
                            <a:srgbClr val="0070C0"/>
                          </a:solidFill>
                          <a:latin typeface="Times New Roman"/>
                        </a:rPr>
                        <a:t>  </a:t>
                      </a:r>
                      <a:r>
                        <a:rPr sz="1100" b="0" i="0">
                          <a:solidFill>
                            <a:srgbClr val="0070C0"/>
                          </a:solidFill>
                          <a:latin typeface="Calibri"/>
                        </a:rPr>
                        <a:t>Senior Dog Cognitive Wellness Needs by Age Group (7–9, 10–12, 13+ Years)</a:t>
                      </a:r>
                      <a:endParaRPr sz="1100"/>
                    </a:p>
                  </a:txBody>
                  <a:tcPr marL="4286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70C0"/>
                          </a:solidFill>
                          <a:latin typeface="Calibri"/>
                        </a:rPr>
                        <a:t>32.2.</a:t>
                      </a:r>
                      <a:r>
                        <a:rPr sz="700" b="0" i="0">
                          <a:solidFill>
                            <a:srgbClr val="0070C0"/>
                          </a:solidFill>
                          <a:latin typeface="Times New Roman"/>
                        </a:rPr>
                        <a:t>  </a:t>
                      </a:r>
                      <a:r>
                        <a:rPr sz="1100" b="0" i="0">
                          <a:solidFill>
                            <a:srgbClr val="0070C0"/>
                          </a:solidFill>
                          <a:latin typeface="Calibri"/>
                        </a:rPr>
                        <a:t>Cognitive Symptom Prevalence and Supplement Adoption Rate</a:t>
                      </a:r>
                      <a:endParaRPr sz="1100"/>
                    </a:p>
                  </a:txBody>
                  <a:tcPr marL="428625"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32.3.</a:t>
                      </a:r>
                      <a:r>
                        <a:rPr sz="700" b="0" i="0">
                          <a:solidFill>
                            <a:srgbClr val="0070C0"/>
                          </a:solidFill>
                          <a:latin typeface="Times New Roman"/>
                        </a:rPr>
                        <a:t>  </a:t>
                      </a:r>
                      <a:r>
                        <a:rPr sz="1100" b="0" i="0">
                          <a:solidFill>
                            <a:srgbClr val="0070C0"/>
                          </a:solidFill>
                          <a:latin typeface="Calibri"/>
                        </a:rPr>
                        <a:t>Active Ingredient Combination and Pet-owner Purchase Preference</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70C0"/>
                          </a:solidFill>
                          <a:latin typeface="Calibri"/>
                        </a:rPr>
                        <a:t>32.4.</a:t>
                      </a:r>
                      <a:r>
                        <a:rPr sz="700" b="0" i="0">
                          <a:solidFill>
                            <a:srgbClr val="0070C0"/>
                          </a:solidFill>
                          <a:latin typeface="Times New Roman"/>
                        </a:rPr>
                        <a:t>  </a:t>
                      </a:r>
                      <a:r>
                        <a:rPr sz="1100" b="0" i="0">
                          <a:solidFill>
                            <a:srgbClr val="0070C0"/>
                          </a:solidFill>
                          <a:latin typeface="Calibri"/>
                        </a:rPr>
                        <a:t>Novel Formulation Concept and Purchase Intent (%)</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70C0"/>
                          </a:solidFill>
                          <a:latin typeface="Calibri"/>
                        </a:rPr>
                        <a:t>32.5.</a:t>
                      </a:r>
                      <a:r>
                        <a:rPr sz="700" b="0" i="0">
                          <a:solidFill>
                            <a:srgbClr val="0070C0"/>
                          </a:solidFill>
                          <a:latin typeface="Times New Roman"/>
                        </a:rPr>
                        <a:t>  </a:t>
                      </a:r>
                      <a:r>
                        <a:rPr sz="1100" b="0" i="0">
                          <a:solidFill>
                            <a:srgbClr val="0070C0"/>
                          </a:solidFill>
                          <a:latin typeface="Calibri"/>
                        </a:rPr>
                        <a:t>Cognitive Health Claim Preference, Consumer Trust and Willingness to Pay</a:t>
                      </a:r>
                      <a:endParaRPr sz="1100"/>
                    </a:p>
                  </a:txBody>
                  <a:tcPr marL="428625" marR="9525" marT="9525" marB="0" anchor="ctr"/>
                </a:tc>
                <a:extLst>
                  <a:ext uri="{0D108BD9-81ED-4DB2-BD59-A6C34878D82A}">
                    <a16:rowId xmlns:a16="http://schemas.microsoft.com/office/drawing/2014/main" val="10024"/>
                  </a:ext>
                </a:extLst>
              </a:tr>
              <a:tr h="175260">
                <a:tc>
                  <a:txBody>
                    <a:bodyPr/>
                    <a:lstStyle/>
                    <a:p>
                      <a:pPr algn="l"/>
                      <a:r>
                        <a:rPr sz="1100" b="0" i="0">
                          <a:solidFill>
                            <a:srgbClr val="0070C0"/>
                          </a:solidFill>
                          <a:latin typeface="Calibri"/>
                        </a:rPr>
                        <a:t>32.6.</a:t>
                      </a:r>
                      <a:r>
                        <a:rPr sz="700" b="0" i="0">
                          <a:solidFill>
                            <a:srgbClr val="0070C0"/>
                          </a:solidFill>
                          <a:latin typeface="Times New Roman"/>
                        </a:rPr>
                        <a:t>  </a:t>
                      </a:r>
                      <a:r>
                        <a:rPr sz="1100" b="0" i="0">
                          <a:solidFill>
                            <a:srgbClr val="0070C0"/>
                          </a:solidFill>
                          <a:latin typeface="Calibri"/>
                        </a:rPr>
                        <a:t>Supplement Format Preference, Palatability and Repeat Purchase Rate (%)</a:t>
                      </a:r>
                      <a:endParaRPr sz="1100"/>
                    </a:p>
                  </a:txBody>
                  <a:tcPr marL="4286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70C0"/>
                          </a:solidFill>
                          <a:latin typeface="Calibri"/>
                        </a:rPr>
                        <a:t>32.7.</a:t>
                      </a:r>
                      <a:r>
                        <a:rPr sz="700" b="0" i="0">
                          <a:solidFill>
                            <a:srgbClr val="0070C0"/>
                          </a:solidFill>
                          <a:latin typeface="Times New Roman"/>
                        </a:rPr>
                        <a:t>  </a:t>
                      </a:r>
                      <a:r>
                        <a:rPr sz="1100" b="0" i="0">
                          <a:solidFill>
                            <a:srgbClr val="0070C0"/>
                          </a:solidFill>
                          <a:latin typeface="Calibri"/>
                        </a:rPr>
                        <a:t>Unmet Cognitive Wellness Needs and Current Product Coverage (%)</a:t>
                      </a:r>
                      <a:endParaRPr sz="1100"/>
                    </a:p>
                  </a:txBody>
                  <a:tcPr marL="428625" marR="9525" marT="9525" marB="0" anchor="ctr"/>
                </a:tc>
                <a:extLst>
                  <a:ext uri="{0D108BD9-81ED-4DB2-BD59-A6C34878D82A}">
                    <a16:rowId xmlns:a16="http://schemas.microsoft.com/office/drawing/2014/main" val="10026"/>
                  </a:ext>
                </a:extLst>
              </a:tr>
              <a:tr h="350520">
                <a:tc>
                  <a:txBody>
                    <a:bodyPr/>
                    <a:lstStyle/>
                    <a:p>
                      <a:pPr algn="l"/>
                      <a:r>
                        <a:rPr sz="1100" b="0" i="0">
                          <a:solidFill>
                            <a:srgbClr val="0070C0"/>
                          </a:solidFill>
                          <a:latin typeface="Calibri"/>
                        </a:rPr>
                        <a:t>32.8.</a:t>
                      </a:r>
                      <a:r>
                        <a:rPr sz="700" b="0" i="0">
                          <a:solidFill>
                            <a:srgbClr val="0070C0"/>
                          </a:solidFill>
                          <a:latin typeface="Times New Roman"/>
                        </a:rPr>
                        <a:t>  </a:t>
                      </a:r>
                      <a:r>
                        <a:rPr sz="1100" b="0" i="0">
                          <a:solidFill>
                            <a:srgbClr val="0070C0"/>
                          </a:solidFill>
                          <a:latin typeface="Calibri"/>
                        </a:rPr>
                        <a:t>Innovation Concept, Premium Price Acceptance and Incremental Revenue Opportunity</a:t>
                      </a:r>
                      <a:endParaRPr sz="1100"/>
                    </a:p>
                  </a:txBody>
                  <a:tcPr marL="428625" marR="9525" marT="9525" marB="0" anchor="ctr"/>
                </a:tc>
                <a:extLst>
                  <a:ext uri="{0D108BD9-81ED-4DB2-BD59-A6C34878D82A}">
                    <a16:rowId xmlns:a16="http://schemas.microsoft.com/office/drawing/2014/main" val="10027"/>
                  </a:ext>
                </a:extLst>
              </a:tr>
              <a:tr h="175260">
                <a:tc>
                  <a:txBody>
                    <a:bodyPr/>
                    <a:lstStyle/>
                    <a:p>
                      <a:pPr algn="l"/>
                      <a:r>
                        <a:rPr sz="1100" b="1" i="0">
                          <a:solidFill>
                            <a:srgbClr val="000000"/>
                          </a:solidFill>
                          <a:latin typeface="Calibri"/>
                        </a:rPr>
                        <a:t>33.</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extLst>
                  <a:ext uri="{0D108BD9-81ED-4DB2-BD59-A6C34878D82A}">
                    <a16:rowId xmlns:a16="http://schemas.microsoft.com/office/drawing/2014/main" val="10028"/>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(8/8)</a:t>
            </a:r>
          </a:p>
        </p:txBody>
      </p:sp>
      <p:graphicFrame>
        <p:nvGraphicFramePr>
          <p:cNvPr id="9" name="FMI Contents Table"/>
          <p:cNvGraphicFramePr>
            <a:graphicFrameLocks noGrp="1"/>
          </p:cNvGraphicFramePr>
          <p:nvPr/>
        </p:nvGraphicFramePr>
        <p:xfrm>
          <a:off x="142875" y="981075"/>
          <a:ext cx="5876925" cy="17526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1" i="0">
                          <a:solidFill>
                            <a:srgbClr val="000000"/>
                          </a:solidFill>
                          <a:latin typeface="Calibri"/>
                        </a:rPr>
                        <a:t>34.</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extLst>
                  <a:ext uri="{0D108BD9-81ED-4DB2-BD59-A6C34878D82A}">
                    <a16:rowId xmlns:a16="http://schemas.microsoft.com/office/drawing/2014/main" val="10000"/>
                  </a:ext>
                </a:extLst>
              </a:tr>
            </a:tbl>
          </a:graphicData>
        </a:graphic>
      </p:graphicFrame>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292475"/>
            <a:ext cx="8572500" cy="514350"/>
          </a:xfrm>
          <a:prstGeom prst="rect">
            <a:avLst/>
          </a:prstGeom>
          <a:noFill/>
        </p:spPr>
        <p:txBody>
          <a:bodyPr wrap="square" lIns="0" tIns="0" r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Every figure in the full study, by analysis block</a:t>
            </a:r>
          </a:p>
          <a:p>
            <a:pPr marL="342900" indent="-323850">
              <a:lnSpc>
                <a:spcPct val="100000"/>
              </a:lnSpc>
              <a:spcAft>
                <a:spcPts val="800"/>
              </a:spcAft>
            </a:pPr>
            <a:r>
              <a:rPr sz="2000" b="0">
                <a:solidFill>
                  <a:srgbClr val="000000"/>
                </a:solidFill>
                <a:latin typeface="Calibri"/>
              </a:rPr>
              <a:t>➤	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Figure 1: Global Market Value and YoY Growth, US$ Mn and %, 2021–2036</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Figure 2: Global Market Value Snapshot, US$ Mn, 2026 and 2036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Figure 3: Global Market Taxonomy by Segment, 2026</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Figure 4: Global Market Share by Form Type, %, 2026</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Figure 5: Global Market Share by Active Ingredient, %, 2026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Figure 6: Global Market Share by End-use Application, %, 2026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Figure 7: Global Market Share by Packaging Format, %, 2026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Figure 8: Global Market Share by Sales Channel, %, 2026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Figure 9: Global Market Share by Region, %, 2026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Figure 10: Global Market Incremental $ Opportunity, US$ Mn, 2026–2036</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Figure 11: Global Market Historical Value, US$ Mn, 2021–2025</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Figure 12: Global Market Forecast Value, US$ Mn, 2026–2036</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Figure 13: Global Market YoY Growth, %, 2021–2036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Figure 14: Global Market Volume and YoY Growth, MT and %, 2021–2036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Figure 15: Global Market Volume vs Value CAGR Comparison, %, 2026–2036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Figure 16: Global Market Average Selling Price, US$/MT, 2021–2036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Figure 17: Global Market Absolute $ Opportunity, US$ Mn, 2026–2036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Figure 18: Global Market Incremental Opportunity by Year, US$ Mn, 2026–2036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Figure 19: Global Market Historical vs Forecast CAGR, %, 2021–2036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Figure 20: Global Market Value by Scenario (Optimistic, Likely, Pessimistic), US$ Mn, 2026–2036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Figure 21: Global Market Size Evolution Index, 2025=100, 2021–2036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Figure 22: Global Market Value by Form Type, US$ Mn, 2021–2036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Figure 23: Global Market Value by Active Ingredient, US$ Mn, 2021–2036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Figure 24: Global Market Value by End-use Application, US$ Mn, 2021–2036</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Figure 25: Global Market Value by Packaging Format, US$ Mn, 2021–2036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Figure 26: Global Market Value by Sales Channel, US$ Mn, 2021–2036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Figure 27: Global Market Share by Form Type, %, 2026 and 2036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Figure 28: Global Market Share by Active Ingredient, %, 2026 and 2036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Figure 29: Global Market Share by End-use Application, %, 2026 and 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Figure 30: Global Market Share by Packaging Format, %, 2026 and 2036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Figure 31: Global Market Share by Sales Channel, %, 2026 and 2036</a:t>
                      </a:r>
                      <a:endParaRPr sz="1050"/>
                    </a:p>
                  </a:txBody>
                  <a:tcPr marL="9525" marR="9525" marT="9525" marB="0" anchor="ctr"/>
                </a:tc>
                <a:extLst>
                  <a:ext uri="{0D108BD9-81ED-4DB2-BD59-A6C34878D82A}">
                    <a16:rowId xmlns:a16="http://schemas.microsoft.com/office/drawing/2014/main" val="10030"/>
                  </a:ext>
                </a:extLst>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Figure 32: Global Market Absolute $ Opportunity by Form Type, US$ Mn, 2026–2036</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Figure 33: Global Market Absolute $ Opportunity by Active Ingredient, US$ Mn, 2026–2036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Figure 34: Global Market Absolute $ Opportunity by End-use Application, US$ Mn, 2026–2036</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Figure 35: Global Market Absolute $ Opportunity by Packaging Format, US$ Mn, 2026–2036</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Figure 36: Global Market Absolute $ Opportunity by Sales Channel, US$ Mn, 2026–2036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Figure 37: Global Market BPS Share Change by Form Type, 2026–2036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Figure 38: Global Market BPS Share Change by Active Ingredient, 2026–2036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Figure 39: Global Market BPS Share Change by End-use Application, 2026–2036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Figure 40: Global Market BPS Share Change by Packaging Format, 2026–2036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Figure 41: Global Market BPS Share Change by Sales Channel, 2026–2036</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Figure 42: Global Market YoY Growth by Form Type, %, 2026–2036</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Figure 43: Global Market YoY Growth by Active Ingredient, %, 2026–2036</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Figure 44: Global Market YoY Growth by End-use Application, %, 2026–2036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Figure 45: Global Market YoY Growth by Packaging Format, %, 2026–2036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Figure 46: Global Market YoY Growth by Sales Channel, %, 2026–2036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Figure 47: Global Market Attractiveness by Form Type, 2026–2036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Figure 48: Global Market Attractiveness by Active Ingredient, 2026–2036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Figure 49: Global Market Attractiveness by End-use Application, 2026–2036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Figure 50: Global Market Attractiveness by Packaging Format, 2026–2036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Figure 51: Global Market Attractiveness by Sales Channel, 2026–2036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Figure 52: Global Market Volume by Form Type, MT, 2021–2036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Figure 53: Global Market Volume by Active Ingredient, MT, 2021–2036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Figure 54: Global Market Volume by End-use Application, MT, 2021–2036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Figure 55: Global Market Volume by Packaging Format, MT, 2021–2036</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Figure 56: Global Market Volume by Sales Channel, MT, 2021–2036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Figure 57: Global Market Average Selling Price by Form Type, US$/MT, 2021–2036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Figure 58: Global Market Average Selling Price by Active Ingredient, US$/MT, 2021–2036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Figure 59: Global Market Average Selling Price by End-use Application, US$/MT, 2021–2036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Figure 60: Global Market Average Selling Price by Packaging Format, US$/MT, 2021–2036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Figure 61: Global Market Average Selling Price by Sales Channel, US$/MT, 2021–2036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Figure 62: Form Type × Active Ingredient Opportunity Matrix, 2026–2036</a:t>
                      </a:r>
                      <a:endParaRPr sz="1050"/>
                    </a:p>
                  </a:txBody>
                  <a:tcPr marL="9525" marR="9525" marT="9525" marB="0" anchor="ctr"/>
                </a:tc>
                <a:extLst>
                  <a:ext uri="{0D108BD9-81ED-4DB2-BD59-A6C34878D82A}">
                    <a16:rowId xmlns:a16="http://schemas.microsoft.com/office/drawing/2014/main" val="10030"/>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Figure 63: Form Type × End-use Application Opportunity Matrix, 2026–2036</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Figure 64: Form Type × Packaging Format Opportunity Matrix, 2026–2036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Figure 65: Form Type × Sales Channel Opportunity Matrix, 2026–2036</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Figure 66: Active Ingredient × End-use Application Opportunity Matrix, 2026–2036</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Figure 67: Active Ingredient × Packaging Format Opportunity Matrix, 2026–2036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Figure 68: Active Ingredient × Sales Channel Opportunity Matrix, 2026–2036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Figure 69: End-use Application × Packaging Format Opportunity Matrix, 2026–2036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Figure 70: End-use Application × Sales Channel Opportunity Matrix, 2026–2036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Figure 71: Packaging Format × Sales Channel Opportunity Matrix, 2026–2036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Figure 72: Region × Form Type Opportunity Matrix, 2026–2036</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Figure 73: Region × Active Ingredient Opportunity Matrix, 2026–2036</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Figure 74: Region × End-use Application Opportunity Matrix, 2026–2036</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Figure 75: Region × Packaging Format Opportunity Matrix, 2026–2036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Figure 76: Region × Sales Channel Opportunity Matrix, 2026–2036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Figure 77: Global Market Value by Form Type and Active Ingredient, US$ Mn, 2036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Figure 78: Global Market Value by Form Type and End-use Application, US$ Mn, 2036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Figure 79: Global Market Value by Form Type and Packaging Format, US$ Mn, 2036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Figure 80: Global Market Value by Region, US$ Mn, 2021–2036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Figure 81: Global Market Share by Region, %, 2026 and 2036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Figure 82: Global Market CAGR by Region, %, 2026–2036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Figure 83: Global Market Absolute $ Opportunity by Region, US$ Mn, 2026–2036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Figure 84: Global Market Attractiveness by Region, 2026–2036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Figure 85: Global Market BPS Share Change by Region, 2026–2036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Figure 86: North America Market Value and YoY Growth, US$ Mn and %, 2021–2036</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Figure 87: Latin America Market Value and YoY Growth, US$ Mn and %, 2021–2036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Figure 88: Europe Market Value and YoY Growth, US$ Mn and %, 2021–2036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Figure 89: East Asia Market Value and YoY Growth, US$ Mn and %, 2021–2036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Figure 90: South Asia &amp; Pacific Market Value and YoY Growth, US$ Mn and %, 2021–2036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Figure 91: Middle East &amp; Africa Market Value and YoY Growth, US$ Mn and %, 2021–2036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Figure 92: North America Market Share of Global Market, %, 2026 and 2036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Figure 93: Latin America Market Share of Global Market, %, 2026 and 2036</a:t>
                      </a:r>
                      <a:endParaRPr sz="1050"/>
                    </a:p>
                  </a:txBody>
                  <a:tcPr marL="9525" marR="9525" marT="9525" marB="0" anchor="ctr"/>
                </a:tc>
                <a:extLst>
                  <a:ext uri="{0D108BD9-81ED-4DB2-BD59-A6C34878D82A}">
                    <a16:rowId xmlns:a16="http://schemas.microsoft.com/office/drawing/2014/main" val="10030"/>
                  </a:ext>
                </a:extLst>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Figure 94: Europe Market Share of Global Market, %, 2026 and 2036</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Figure 95: East Asia Market Share of Global Market, %, 2026 and 2036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Figure 96: South Asia &amp; Pacific Market Share of Global Market, %, 2026 and 2036</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Figure 97: Middle East &amp; Africa Market Share of Global Market, %, 2026 and 2036</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Figure 98: North America Market Value by Country, US$ Mn, 2026 and 2036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Figure 99: Latin America Market Value by Country, US$ Mn, 2026 and 2036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Figure 100: Europe Market Value by Country, US$ Mn, 2026 and 2036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Figure 101: East Asia Market Value by Country, US$ Mn, 2026 and 2036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Figure 102: South Asia &amp; Pacific Market Value by Country, US$ Mn, 2026 and 2036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Figure 103: Middle East &amp; Africa Market Value by Country, US$ Mn, 2026 and 2036</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Figure 104: North America Market Absolute $ Opportunity, US$ Mn, 2026–2036</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Figure 105: Latin America Market Absolute $ Opportunity, US$ Mn, 2026–2036</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Figure 106: Europe Market Absolute $ Opportunity, US$ Mn, 2026–2036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Figure 107: East Asia Market Absolute $ Opportunity, US$ Mn, 2026–2036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Figure 108: South Asia &amp; Pacific Market Absolute $ Opportunity, US$ Mn, 2026–2036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Figure 109: U.S. Market Value and YoY Growth, US$ Mn and %, 2021–2036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Figure 110: U.S. Market Value by Form Type, US$ Mn, 2026 and 2036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Figure 111: U.S. Market Value by End-use Application, US$ Mn, 2026 and 2036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Figure 112: U.S. Market Share within North America, %, 2026 and 2036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Figure 113: U.S. Market Value by Active Ingredient, US$ Mn, 2026 and 2036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Figure 114: U.S. Market Value by Packaging Format, US$ Mn, 2026 and 2036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Figure 115: U.S. Market Value by Sales Channel, US$ Mn, 2026 and 2036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Figure 116: U.S. Market Volume and YoY Growth, MT and %, 2021–2036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Figure 117: Germany Market Value and YoY Growth, US$ Mn and %, 2021–2036</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Figure 118: Germany Market Value by Form Type, US$ Mn, 2026 and 2036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Figure 119: Germany Market Value by End-use Application, US$ Mn, 2026 and 2036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Figure 120: Germany Market Share within Europe, %, 2026 and 2036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Figure 121: Germany Market Value by Active Ingredient, US$ Mn, 2026 and 2036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Figure 122: Germany Market Value by Packaging Format, US$ Mn, 2026 and 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Figure 123: Germany Market Value by Sales Channel, US$ Mn, 2026 and 2036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Figure 124: Germany Market Volume and YoY Growth, MT and %, 2021–2036</a:t>
                      </a:r>
                      <a:endParaRPr sz="1050"/>
                    </a:p>
                  </a:txBody>
                  <a:tcPr marL="9525" marR="9525" marT="9525" marB="0" anchor="ctr"/>
                </a:tc>
                <a:extLst>
                  <a:ext uri="{0D108BD9-81ED-4DB2-BD59-A6C34878D82A}">
                    <a16:rowId xmlns:a16="http://schemas.microsoft.com/office/drawing/2014/main" val="10030"/>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Figure 125: Canada Market Value and YoY Growth, US$ Mn and %, 2021–2036</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Figure 126: Canada Market Value by Form Type, US$ Mn, 2026 and 2036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Figure 127: Canada Market Value by End-use Application, US$ Mn, 2026 and 2036</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Figure 128: Canada Market Share within North America, %, 2026 and 2036</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Figure 129: Canada Market Value by Active Ingredient, US$ Mn, 2026 and 2036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Figure 130: Canada Market Value by Packaging Format, US$ Mn, 2026 and 2036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Figure 131: Canada Market Value by Sales Channel, US$ Mn, 2026 and 2036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Figure 132: Canada Market Volume and YoY Growth, MT and %, 2021–2036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Figure 133: China Market Value and YoY Growth, US$ Mn and %, 2021–2036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Figure 134: China Market Value by Form Type, US$ Mn, 2026 and 2036</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Figure 135: India Market Value and YoY Growth, US$ Mn and %, 2021–2036</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Figure 136: India Market Value by Form Type, US$ Mn, 2026 and 2036</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Figure 137: Brazil Market Value and YoY Growth, US$ Mn and %, 2021–2036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Figure 138: Brazil Market Value by Form Type, US$ Mn, 2026 and 2036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Figure 139: U.K. Market Value and YoY Growth, US$ Mn and %, 2021–2036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Figure 140: U.K. Market Value by Form Type, US$ Mn, 2026 and 2036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Figure 141: Japan Market Value and YoY Growth, US$ Mn and %, 2021–2036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Figure 142: Japan Market Value by Form Type, US$ Mn, 2026 and 2036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Figure 143: France Market Value and YoY Growth, US$ Mn and %, 2021–2036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Figure 144: France Market Value by Form Type, US$ Mn, 2026 and 2036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Figure 145: UAE Market Value and YoY Growth, US$ Mn and %, 2021–2036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Figure 146: UAE Market Value by Form Type, US$ Mn, 2026 and 2036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Figure 147: Global Market Average Selling Price Trend, US$/MT, 2021–2036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Figure 148: Global Market Average Selling Price by Region, US$/MT, 2026 and 2036</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Figure 149: Global Market Average Selling Price by Form Type, US$/MT, 2026 and 2036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Figure 150: Global Market Average Selling Price by Active Ingredient, US$/MT, 2026 and 2036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Figure 151: Global Market Average Selling Price by End-use Application, US$/MT, 2026 and 2036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Figure 152: Global Market Average Selling Price by Packaging Format, US$/MT, 2026 and 2036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Figure 153: Global Market Average Selling Price by Sales Channel, US$/MT, 2026 and 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Figure 154: Global Market Value Chain Structure, 2026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Figure 155: Global Market Margin Distribution across the Value Chain, %, 2026</a:t>
                      </a:r>
                      <a:endParaRPr sz="1050"/>
                    </a:p>
                  </a:txBody>
                  <a:tcPr marL="9525" marR="9525" marT="9525" marB="0" anchor="ctr"/>
                </a:tc>
                <a:extLst>
                  <a:ext uri="{0D108BD9-81ED-4DB2-BD59-A6C34878D82A}">
                    <a16:rowId xmlns:a16="http://schemas.microsoft.com/office/drawing/2014/main" val="10030"/>
                  </a:ext>
                </a:extLst>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Figure 156: Global Market Cost Structure Breakdown, %, 2026</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Figure 157: Global Market Pricing Pressure Assessment by Form Type, 2026–2036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Figure 158: Global Market Import and Export Share by Region, %, 2025</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Figure 159: Global Market Trade Balance by Leading Country, US$ Mn, 2025</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Figure 160: Global Market Raw Material Price Index, 2025=100, 2021–2036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Figure 161: Company Market Share in the Global Market, %, 2026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Figure 162: Competitive Positioning of Leading Senior Dog Cognitive Supplement Manufacturers, 2026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Figure 163: Company Revenue from the Global Market, US$ Mn, 2026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Figure 164: Global Market Concentration by Company Tier, %, 2026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Figure 165: Global Market Competitive Intensity Assessment, 2026</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Figure 166: Company Market Share in the North America Market, %, 2026</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Figure 167: Company Market Share in the Latin America Market, %, 2026</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Figure 168: Company Market Share in the Europe Market, %, 2026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Figure 169: Company Market Share in the East Asia Market, %, 2026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Figure 170: Company Market Share in the South Asia &amp; Pacific Market, %, 2026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Figure 171: Company Market Share in the Middle East &amp; Africa Market, %, 2026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Figure 172: Standard Process: Revenue from the Global Market and Share, US$ Mn and %, 2026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Figure 173: VetriScience: Revenue from the Global Market and Share, US$ Mn and %, 2026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Figure 174: Dr. Fossum's: Revenue from the Global Market and Share, US$ Mn and %, 2026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Figure 175: Nestlé Purina PetCare: Revenue from the Global Market and Share, US$ Mn and %, 2026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Figure 176: PetHeal: Revenue from the Global Market and Share, US$ Mn and %, 2026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Figure 177: Senior Dogs Club: Revenue from the Global Market and Share, US$ Mn and %, 2026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Figure 178: VISYO Corporation: Revenue from the Global Market and Share, US$ Mn and %, 2026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Figure 179: NaturVet: Revenue from the Global Market and Share, US$ Mn and %, 2026</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Figure 180: Zesty Paws: Revenue from the Global Market and Share, US$ Mn and %, 2026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Figure 181: Ark Naturals: Revenue from the Global Market and Share, US$ Mn and %, 2026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Figure 182: Global Market Strategic Developments by Type, %, 2025–2026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Figure 183: Global Market Company Footprint by Region, 2026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Figure 184: Global Market Value Forecast by Scenario, US$ Mn, 2026–2036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Figure 185: Global Market YoY Growth by Scenario, %, 2026–2036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Figure 186: Global Market Key Trends Impact Assessment, 2026–2036</a:t>
                      </a:r>
                      <a:endParaRPr sz="1050"/>
                    </a:p>
                  </a:txBody>
                  <a:tcPr marL="9525" marR="9525" marT="9525" marB="0" anchor="ctr"/>
                </a:tc>
                <a:extLst>
                  <a:ext uri="{0D108BD9-81ED-4DB2-BD59-A6C34878D82A}">
                    <a16:rowId xmlns:a16="http://schemas.microsoft.com/office/drawing/2014/main" val="10030"/>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2333632"/>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6688">
                <a:tc>
                  <a:txBody>
                    <a:bodyPr/>
                    <a:lstStyle/>
                    <a:p>
                      <a:pPr algn="l"/>
                      <a:r>
                        <a:rPr sz="1050" b="0" i="0">
                          <a:solidFill>
                            <a:srgbClr val="000000"/>
                          </a:solidFill>
                          <a:latin typeface="Calibri"/>
                        </a:rPr>
                        <a:t>Figure 187: Global Market Drivers, Restraints and Opportunities Impact, 2026–2036</a:t>
                      </a:r>
                      <a:endParaRPr sz="1050"/>
                    </a:p>
                  </a:txBody>
                  <a:tcPr marL="9525" marR="9525" marT="9525" marB="0" anchor="ctr"/>
                </a:tc>
                <a:extLst>
                  <a:ext uri="{0D108BD9-81ED-4DB2-BD59-A6C34878D82A}">
                    <a16:rowId xmlns:a16="http://schemas.microsoft.com/office/drawing/2014/main" val="10000"/>
                  </a:ext>
                </a:extLst>
              </a:tr>
              <a:tr h="166688">
                <a:tc>
                  <a:txBody>
                    <a:bodyPr/>
                    <a:lstStyle/>
                    <a:p>
                      <a:pPr algn="l"/>
                      <a:r>
                        <a:rPr sz="1050" b="0" i="0">
                          <a:solidFill>
                            <a:srgbClr val="000000"/>
                          </a:solidFill>
                          <a:latin typeface="Calibri"/>
                        </a:rPr>
                        <a:t>Figure 188: Global Market Opportunity Map by Region and Form Type, 2026–2036</a:t>
                      </a:r>
                      <a:endParaRPr sz="1050"/>
                    </a:p>
                  </a:txBody>
                  <a:tcPr marL="9525" marR="9525" marT="9525" marB="0" anchor="ctr"/>
                </a:tc>
                <a:extLst>
                  <a:ext uri="{0D108BD9-81ED-4DB2-BD59-A6C34878D82A}">
                    <a16:rowId xmlns:a16="http://schemas.microsoft.com/office/drawing/2014/main" val="10001"/>
                  </a:ext>
                </a:extLst>
              </a:tr>
              <a:tr h="166688">
                <a:tc>
                  <a:txBody>
                    <a:bodyPr/>
                    <a:lstStyle/>
                    <a:p>
                      <a:pPr algn="l"/>
                      <a:r>
                        <a:rPr sz="1050" b="0" i="0">
                          <a:solidFill>
                            <a:srgbClr val="000000"/>
                          </a:solidFill>
                          <a:latin typeface="Calibri"/>
                        </a:rPr>
                        <a:t>Figure 189: Global Market Technology Adoption Roadmap, 2021–2036</a:t>
                      </a:r>
                      <a:endParaRPr sz="1050"/>
                    </a:p>
                  </a:txBody>
                  <a:tcPr marL="9525" marR="9525" marT="9525" marB="0" anchor="ctr"/>
                </a:tc>
                <a:extLst>
                  <a:ext uri="{0D108BD9-81ED-4DB2-BD59-A6C34878D82A}">
                    <a16:rowId xmlns:a16="http://schemas.microsoft.com/office/drawing/2014/main" val="10002"/>
                  </a:ext>
                </a:extLst>
              </a:tr>
              <a:tr h="166688">
                <a:tc>
                  <a:txBody>
                    <a:bodyPr/>
                    <a:lstStyle/>
                    <a:p>
                      <a:pPr algn="l"/>
                      <a:r>
                        <a:rPr sz="1050" b="0" i="0">
                          <a:solidFill>
                            <a:srgbClr val="000000"/>
                          </a:solidFill>
                          <a:latin typeface="Calibri"/>
                        </a:rPr>
                        <a:t>Figure 190: Global Market Emerging Opportunity Pockets by Form Type, US$ Mn, 2026–2036</a:t>
                      </a:r>
                      <a:endParaRPr sz="1050"/>
                    </a:p>
                  </a:txBody>
                  <a:tcPr marL="9525" marR="9525" marT="9525" marB="0" anchor="ctr"/>
                </a:tc>
                <a:extLst>
                  <a:ext uri="{0D108BD9-81ED-4DB2-BD59-A6C34878D82A}">
                    <a16:rowId xmlns:a16="http://schemas.microsoft.com/office/drawing/2014/main" val="10003"/>
                  </a:ext>
                </a:extLst>
              </a:tr>
              <a:tr h="166688">
                <a:tc>
                  <a:txBody>
                    <a:bodyPr/>
                    <a:lstStyle/>
                    <a:p>
                      <a:pPr algn="l"/>
                      <a:r>
                        <a:rPr sz="1050" b="0" i="0">
                          <a:solidFill>
                            <a:srgbClr val="000000"/>
                          </a:solidFill>
                          <a:latin typeface="Calibri"/>
                        </a:rPr>
                        <a:t>Figure 191: Global Market Risk and Sensitivity Analysis, %, 2026–2036</a:t>
                      </a:r>
                      <a:endParaRPr sz="1050"/>
                    </a:p>
                  </a:txBody>
                  <a:tcPr marL="9525" marR="9525" marT="9525" marB="0" anchor="ctr"/>
                </a:tc>
                <a:extLst>
                  <a:ext uri="{0D108BD9-81ED-4DB2-BD59-A6C34878D82A}">
                    <a16:rowId xmlns:a16="http://schemas.microsoft.com/office/drawing/2014/main" val="10004"/>
                  </a:ext>
                </a:extLst>
              </a:tr>
              <a:tr h="166688">
                <a:tc>
                  <a:txBody>
                    <a:bodyPr/>
                    <a:lstStyle/>
                    <a:p>
                      <a:pPr algn="l"/>
                      <a:r>
                        <a:rPr sz="1050" b="0" i="0">
                          <a:solidFill>
                            <a:srgbClr val="000000"/>
                          </a:solidFill>
                          <a:latin typeface="Calibri"/>
                        </a:rPr>
                        <a:t>Figure 192: Global Market Regulatory Landscape Timeline, 2021–2036</a:t>
                      </a:r>
                      <a:endParaRPr sz="1050"/>
                    </a:p>
                  </a:txBody>
                  <a:tcPr marL="9525" marR="9525" marT="9525" marB="0" anchor="ctr"/>
                </a:tc>
                <a:extLst>
                  <a:ext uri="{0D108BD9-81ED-4DB2-BD59-A6C34878D82A}">
                    <a16:rowId xmlns:a16="http://schemas.microsoft.com/office/drawing/2014/main" val="10005"/>
                  </a:ext>
                </a:extLst>
              </a:tr>
              <a:tr h="166688">
                <a:tc>
                  <a:txBody>
                    <a:bodyPr/>
                    <a:lstStyle/>
                    <a:p>
                      <a:pPr algn="l"/>
                      <a:r>
                        <a:rPr sz="1050" b="0" i="0">
                          <a:solidFill>
                            <a:srgbClr val="000000"/>
                          </a:solidFill>
                          <a:latin typeface="Calibri"/>
                        </a:rPr>
                        <a:t>Figure 193: Global Market Investment Hotspots by Region, 2026–2036</a:t>
                      </a:r>
                      <a:endParaRPr sz="1050"/>
                    </a:p>
                  </a:txBody>
                  <a:tcPr marL="9525" marR="9525" marT="9525" marB="0" anchor="ctr"/>
                </a:tc>
                <a:extLst>
                  <a:ext uri="{0D108BD9-81ED-4DB2-BD59-A6C34878D82A}">
                    <a16:rowId xmlns:a16="http://schemas.microsoft.com/office/drawing/2014/main" val="10006"/>
                  </a:ext>
                </a:extLst>
              </a:tr>
              <a:tr h="166688">
                <a:tc>
                  <a:txBody>
                    <a:bodyPr/>
                    <a:lstStyle/>
                    <a:p>
                      <a:pPr algn="l"/>
                      <a:r>
                        <a:rPr sz="1050" b="0" i="0">
                          <a:solidFill>
                            <a:srgbClr val="000000"/>
                          </a:solidFill>
                          <a:latin typeface="Calibri"/>
                        </a:rPr>
                        <a:t>Figure 194: Global Market Innovation Pipeline Assessment, 2026</a:t>
                      </a:r>
                      <a:endParaRPr sz="1050"/>
                    </a:p>
                  </a:txBody>
                  <a:tcPr marL="9525" marR="9525" marT="9525" marB="0" anchor="ctr"/>
                </a:tc>
                <a:extLst>
                  <a:ext uri="{0D108BD9-81ED-4DB2-BD59-A6C34878D82A}">
                    <a16:rowId xmlns:a16="http://schemas.microsoft.com/office/drawing/2014/main" val="10007"/>
                  </a:ext>
                </a:extLst>
              </a:tr>
              <a:tr h="166688">
                <a:tc>
                  <a:txBody>
                    <a:bodyPr/>
                    <a:lstStyle/>
                    <a:p>
                      <a:pPr algn="l"/>
                      <a:r>
                        <a:rPr sz="1050" b="0" i="0">
                          <a:solidFill>
                            <a:srgbClr val="000000"/>
                          </a:solidFill>
                          <a:latin typeface="Calibri"/>
                        </a:rPr>
                        <a:t>Figure 195: Global Market White-Space Opportunity Assessment, 2026–2036</a:t>
                      </a:r>
                      <a:endParaRPr sz="1050"/>
                    </a:p>
                  </a:txBody>
                  <a:tcPr marL="9525" marR="9525" marT="9525" marB="0" anchor="ctr"/>
                </a:tc>
                <a:extLst>
                  <a:ext uri="{0D108BD9-81ED-4DB2-BD59-A6C34878D82A}">
                    <a16:rowId xmlns:a16="http://schemas.microsoft.com/office/drawing/2014/main" val="10008"/>
                  </a:ext>
                </a:extLst>
              </a:tr>
              <a:tr h="166688">
                <a:tc>
                  <a:txBody>
                    <a:bodyPr/>
                    <a:lstStyle/>
                    <a:p>
                      <a:pPr algn="l"/>
                      <a:r>
                        <a:rPr sz="1050" b="0" i="0">
                          <a:solidFill>
                            <a:srgbClr val="000000"/>
                          </a:solidFill>
                          <a:latin typeface="Calibri"/>
                        </a:rPr>
                        <a:t>Figure 196: Global Market Customer Purchase Criteria Assessment, 2026</a:t>
                      </a:r>
                      <a:endParaRPr sz="1050"/>
                    </a:p>
                  </a:txBody>
                  <a:tcPr marL="9525" marR="9525" marT="9525" marB="0" anchor="ctr"/>
                </a:tc>
                <a:extLst>
                  <a:ext uri="{0D108BD9-81ED-4DB2-BD59-A6C34878D82A}">
                    <a16:rowId xmlns:a16="http://schemas.microsoft.com/office/drawing/2014/main" val="10009"/>
                  </a:ext>
                </a:extLst>
              </a:tr>
              <a:tr h="166688">
                <a:tc>
                  <a:txBody>
                    <a:bodyPr/>
                    <a:lstStyle/>
                    <a:p>
                      <a:pPr algn="l"/>
                      <a:r>
                        <a:rPr sz="1050" b="0" i="0">
                          <a:solidFill>
                            <a:srgbClr val="000000"/>
                          </a:solidFill>
                          <a:latin typeface="Calibri"/>
                        </a:rPr>
                        <a:t>Figure 197: Global Market Go-to-Market Priority by Region, 2026–2036</a:t>
                      </a:r>
                      <a:endParaRPr sz="1050"/>
                    </a:p>
                  </a:txBody>
                  <a:tcPr marL="9525" marR="9525" marT="9525" marB="0" anchor="ctr"/>
                </a:tc>
                <a:extLst>
                  <a:ext uri="{0D108BD9-81ED-4DB2-BD59-A6C34878D82A}">
                    <a16:rowId xmlns:a16="http://schemas.microsoft.com/office/drawing/2014/main" val="10010"/>
                  </a:ext>
                </a:extLst>
              </a:tr>
              <a:tr h="166688">
                <a:tc>
                  <a:txBody>
                    <a:bodyPr/>
                    <a:lstStyle/>
                    <a:p>
                      <a:pPr algn="l"/>
                      <a:r>
                        <a:rPr sz="1050" b="0" i="0">
                          <a:solidFill>
                            <a:srgbClr val="000000"/>
                          </a:solidFill>
                          <a:latin typeface="Calibri"/>
                        </a:rPr>
                        <a:t>Figure 198: Global Market Unmet Needs Analysis by Form Type, 2026</a:t>
                      </a:r>
                      <a:endParaRPr sz="1050"/>
                    </a:p>
                  </a:txBody>
                  <a:tcPr marL="9525" marR="9525" marT="9525" marB="0" anchor="ctr"/>
                </a:tc>
                <a:extLst>
                  <a:ext uri="{0D108BD9-81ED-4DB2-BD59-A6C34878D82A}">
                    <a16:rowId xmlns:a16="http://schemas.microsoft.com/office/drawing/2014/main" val="10011"/>
                  </a:ext>
                </a:extLst>
              </a:tr>
              <a:tr h="166688">
                <a:tc>
                  <a:txBody>
                    <a:bodyPr/>
                    <a:lstStyle/>
                    <a:p>
                      <a:pPr algn="l"/>
                      <a:r>
                        <a:rPr sz="1050" b="0" i="0">
                          <a:solidFill>
                            <a:srgbClr val="000000"/>
                          </a:solidFill>
                          <a:latin typeface="Calibri"/>
                        </a:rPr>
                        <a:t>Figure 199: Global Market Right-to-Win Assessment, 2026</a:t>
                      </a:r>
                      <a:endParaRPr sz="1050"/>
                    </a:p>
                  </a:txBody>
                  <a:tcPr marL="9525" marR="9525" marT="9525" marB="0" anchor="ctr"/>
                </a:tc>
                <a:extLst>
                  <a:ext uri="{0D108BD9-81ED-4DB2-BD59-A6C34878D82A}">
                    <a16:rowId xmlns:a16="http://schemas.microsoft.com/office/drawing/2014/main" val="10012"/>
                  </a:ext>
                </a:extLst>
              </a:tr>
              <a:tr h="166688">
                <a:tc>
                  <a:txBody>
                    <a:bodyPr/>
                    <a:lstStyle/>
                    <a:p>
                      <a:pPr algn="l"/>
                      <a:r>
                        <a:rPr sz="1050" b="0" i="0">
                          <a:solidFill>
                            <a:srgbClr val="000000"/>
                          </a:solidFill>
                          <a:latin typeface="Calibri"/>
                        </a:rPr>
                        <a:t>Figure 200: Global Market Entry Strategy Scorecard, 2026–2036</a:t>
                      </a:r>
                      <a:endParaRPr sz="1050"/>
                    </a:p>
                  </a:txBody>
                  <a:tcPr marL="9525" marR="9525" marT="9525" marB="0" anchor="ctr"/>
                </a:tc>
                <a:extLst>
                  <a:ext uri="{0D108BD9-81ED-4DB2-BD59-A6C34878D82A}">
                    <a16:rowId xmlns:a16="http://schemas.microsoft.com/office/drawing/2014/main" val="10013"/>
                  </a:ext>
                </a:extLst>
              </a:tr>
            </a:tbl>
          </a:graphicData>
        </a:graphic>
      </p:graphicFrame>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0045">
                <a:tc>
                  <a:txBody>
                    <a:bodyPr/>
                    <a:lstStyle/>
                    <a:p>
                      <a:pPr algn="l"/>
                      <a:r>
                        <a:rPr sz="1050" b="0" i="0">
                          <a:solidFill>
                            <a:srgbClr val="000000"/>
                          </a:solidFill>
                          <a:latin typeface="Calibri"/>
                        </a:rPr>
                        <a:t>Table 1: Global Market Snapshot: Value, Volume and CAGR, US$ Mn, 2025–2036</a:t>
                      </a:r>
                      <a:endParaRPr sz="1050"/>
                    </a:p>
                  </a:txBody>
                  <a:tcPr marL="9525" marR="9525" marT="9525" marB="0" anchor="ctr"/>
                </a:tc>
                <a:extLst>
                  <a:ext uri="{0D108BD9-81ED-4DB2-BD59-A6C34878D82A}">
                    <a16:rowId xmlns:a16="http://schemas.microsoft.com/office/drawing/2014/main" val="10000"/>
                  </a:ext>
                </a:extLst>
              </a:tr>
              <a:tr h="170045">
                <a:tc>
                  <a:txBody>
                    <a:bodyPr/>
                    <a:lstStyle/>
                    <a:p>
                      <a:pPr algn="l"/>
                      <a:r>
                        <a:rPr sz="1050" b="0" i="0">
                          <a:solidFill>
                            <a:srgbClr val="000000"/>
                          </a:solidFill>
                          <a:latin typeface="Calibri"/>
                        </a:rPr>
                        <a:t>Table 2: Global Market Taxonomy by Segment, 2026</a:t>
                      </a:r>
                      <a:endParaRPr sz="1050"/>
                    </a:p>
                  </a:txBody>
                  <a:tcPr marL="9525" marR="9525" marT="9525" marB="0" anchor="ctr"/>
                </a:tc>
                <a:extLst>
                  <a:ext uri="{0D108BD9-81ED-4DB2-BD59-A6C34878D82A}">
                    <a16:rowId xmlns:a16="http://schemas.microsoft.com/office/drawing/2014/main" val="10001"/>
                  </a:ext>
                </a:extLst>
              </a:tr>
              <a:tr h="170045">
                <a:tc>
                  <a:txBody>
                    <a:bodyPr/>
                    <a:lstStyle/>
                    <a:p>
                      <a:pPr algn="l"/>
                      <a:r>
                        <a:rPr sz="1050" b="0" i="0">
                          <a:solidFill>
                            <a:srgbClr val="000000"/>
                          </a:solidFill>
                          <a:latin typeface="Calibri"/>
                        </a:rPr>
                        <a:t>Table 3: Global Market Scope: Inclusions and Exclusions by Segment, 2026</a:t>
                      </a:r>
                      <a:endParaRPr sz="1050"/>
                    </a:p>
                  </a:txBody>
                  <a:tcPr marL="9525" marR="9525" marT="9525" marB="0" anchor="ctr"/>
                </a:tc>
                <a:extLst>
                  <a:ext uri="{0D108BD9-81ED-4DB2-BD59-A6C34878D82A}">
                    <a16:rowId xmlns:a16="http://schemas.microsoft.com/office/drawing/2014/main" val="10002"/>
                  </a:ext>
                </a:extLst>
              </a:tr>
              <a:tr h="170045">
                <a:tc>
                  <a:txBody>
                    <a:bodyPr/>
                    <a:lstStyle/>
                    <a:p>
                      <a:pPr algn="l"/>
                      <a:r>
                        <a:rPr sz="1050" b="0" i="0">
                          <a:solidFill>
                            <a:srgbClr val="000000"/>
                          </a:solidFill>
                          <a:latin typeface="Calibri"/>
                        </a:rPr>
                        <a:t>Table 4: Global Market Key Demand Drivers and Impact Rating, 2026–2036</a:t>
                      </a:r>
                      <a:endParaRPr sz="1050"/>
                    </a:p>
                  </a:txBody>
                  <a:tcPr marL="9525" marR="9525" marT="9525" marB="0" anchor="ctr"/>
                </a:tc>
                <a:extLst>
                  <a:ext uri="{0D108BD9-81ED-4DB2-BD59-A6C34878D82A}">
                    <a16:rowId xmlns:a16="http://schemas.microsoft.com/office/drawing/2014/main" val="10003"/>
                  </a:ext>
                </a:extLst>
              </a:tr>
              <a:tr h="170045">
                <a:tc>
                  <a:txBody>
                    <a:bodyPr/>
                    <a:lstStyle/>
                    <a:p>
                      <a:pPr algn="l"/>
                      <a:r>
                        <a:rPr sz="1050" b="0" i="0">
                          <a:solidFill>
                            <a:srgbClr val="000000"/>
                          </a:solidFill>
                          <a:latin typeface="Calibri"/>
                        </a:rPr>
                        <a:t>Table 5: Global Market Key Restraints and Impact Rating, 2026–2036</a:t>
                      </a:r>
                      <a:endParaRPr sz="1050"/>
                    </a:p>
                  </a:txBody>
                  <a:tcPr marL="9525" marR="9525" marT="9525" marB="0" anchor="ctr"/>
                </a:tc>
                <a:extLst>
                  <a:ext uri="{0D108BD9-81ED-4DB2-BD59-A6C34878D82A}">
                    <a16:rowId xmlns:a16="http://schemas.microsoft.com/office/drawing/2014/main" val="10004"/>
                  </a:ext>
                </a:extLst>
              </a:tr>
              <a:tr h="170045">
                <a:tc>
                  <a:txBody>
                    <a:bodyPr/>
                    <a:lstStyle/>
                    <a:p>
                      <a:pPr algn="l"/>
                      <a:r>
                        <a:rPr sz="1050" b="0" i="0">
                          <a:solidFill>
                            <a:srgbClr val="000000"/>
                          </a:solidFill>
                          <a:latin typeface="Calibri"/>
                        </a:rPr>
                        <a:t>Table 6: Global Market Analyst Recommendations by Segment, 2026–2036</a:t>
                      </a:r>
                      <a:endParaRPr sz="1050"/>
                    </a:p>
                  </a:txBody>
                  <a:tcPr marL="9525" marR="9525" marT="9525" marB="0" anchor="ctr"/>
                </a:tc>
                <a:extLst>
                  <a:ext uri="{0D108BD9-81ED-4DB2-BD59-A6C34878D82A}">
                    <a16:rowId xmlns:a16="http://schemas.microsoft.com/office/drawing/2014/main" val="10005"/>
                  </a:ext>
                </a:extLst>
              </a:tr>
              <a:tr h="170045">
                <a:tc>
                  <a:txBody>
                    <a:bodyPr/>
                    <a:lstStyle/>
                    <a:p>
                      <a:pPr algn="l"/>
                      <a:r>
                        <a:rPr sz="1050" b="0" i="0">
                          <a:solidFill>
                            <a:srgbClr val="000000"/>
                          </a:solidFill>
                          <a:latin typeface="Calibri"/>
                        </a:rPr>
                        <a:t>Table 7: Global Market Key Market Signals and Data Points, 2026</a:t>
                      </a:r>
                      <a:endParaRPr sz="1050"/>
                    </a:p>
                  </a:txBody>
                  <a:tcPr marL="9525" marR="9525" marT="9525" marB="0" anchor="ctr"/>
                </a:tc>
                <a:extLst>
                  <a:ext uri="{0D108BD9-81ED-4DB2-BD59-A6C34878D82A}">
                    <a16:rowId xmlns:a16="http://schemas.microsoft.com/office/drawing/2014/main" val="10006"/>
                  </a:ext>
                </a:extLst>
              </a:tr>
              <a:tr h="170045">
                <a:tc>
                  <a:txBody>
                    <a:bodyPr/>
                    <a:lstStyle/>
                    <a:p>
                      <a:pPr algn="l"/>
                      <a:r>
                        <a:rPr sz="1050" b="0" i="0">
                          <a:solidFill>
                            <a:srgbClr val="000000"/>
                          </a:solidFill>
                          <a:latin typeface="Calibri"/>
                        </a:rPr>
                        <a:t>Table 8: Global Market Value and YoY Growth, US$ Mn and %, 2021–2036</a:t>
                      </a:r>
                      <a:endParaRPr sz="1050"/>
                    </a:p>
                  </a:txBody>
                  <a:tcPr marL="9525" marR="9525" marT="9525" marB="0" anchor="ctr"/>
                </a:tc>
                <a:extLst>
                  <a:ext uri="{0D108BD9-81ED-4DB2-BD59-A6C34878D82A}">
                    <a16:rowId xmlns:a16="http://schemas.microsoft.com/office/drawing/2014/main" val="10007"/>
                  </a:ext>
                </a:extLst>
              </a:tr>
              <a:tr h="170045">
                <a:tc>
                  <a:txBody>
                    <a:bodyPr/>
                    <a:lstStyle/>
                    <a:p>
                      <a:pPr algn="l"/>
                      <a:r>
                        <a:rPr sz="1050" b="0" i="0">
                          <a:solidFill>
                            <a:srgbClr val="000000"/>
                          </a:solidFill>
                          <a:latin typeface="Calibri"/>
                        </a:rPr>
                        <a:t>Table 9: Global Market Historical Value Analysis, US$ Mn, 2021–2025</a:t>
                      </a:r>
                      <a:endParaRPr sz="1050"/>
                    </a:p>
                  </a:txBody>
                  <a:tcPr marL="9525" marR="9525" marT="9525" marB="0" anchor="ctr"/>
                </a:tc>
                <a:extLst>
                  <a:ext uri="{0D108BD9-81ED-4DB2-BD59-A6C34878D82A}">
                    <a16:rowId xmlns:a16="http://schemas.microsoft.com/office/drawing/2014/main" val="10008"/>
                  </a:ext>
                </a:extLst>
              </a:tr>
              <a:tr h="170045">
                <a:tc>
                  <a:txBody>
                    <a:bodyPr/>
                    <a:lstStyle/>
                    <a:p>
                      <a:pPr algn="l"/>
                      <a:r>
                        <a:rPr sz="1050" b="0" i="0">
                          <a:solidFill>
                            <a:srgbClr val="000000"/>
                          </a:solidFill>
                          <a:latin typeface="Calibri"/>
                        </a:rPr>
                        <a:t>Table 10: Global Market Forecast Value Analysis, US$ Mn, 2026–2036</a:t>
                      </a:r>
                      <a:endParaRPr sz="1050"/>
                    </a:p>
                  </a:txBody>
                  <a:tcPr marL="9525" marR="9525" marT="9525" marB="0" anchor="ctr"/>
                </a:tc>
                <a:extLst>
                  <a:ext uri="{0D108BD9-81ED-4DB2-BD59-A6C34878D82A}">
                    <a16:rowId xmlns:a16="http://schemas.microsoft.com/office/drawing/2014/main" val="10009"/>
                  </a:ext>
                </a:extLst>
              </a:tr>
              <a:tr h="170045">
                <a:tc>
                  <a:txBody>
                    <a:bodyPr/>
                    <a:lstStyle/>
                    <a:p>
                      <a:pPr algn="l"/>
                      <a:r>
                        <a:rPr sz="1050" b="0" i="0">
                          <a:solidFill>
                            <a:srgbClr val="000000"/>
                          </a:solidFill>
                          <a:latin typeface="Calibri"/>
                        </a:rPr>
                        <a:t>Table 11: Global Market Volume and YoY Growth, MT and %, 2021–2036</a:t>
                      </a:r>
                      <a:endParaRPr sz="1050"/>
                    </a:p>
                  </a:txBody>
                  <a:tcPr marL="9525" marR="9525" marT="9525" marB="0" anchor="ctr"/>
                </a:tc>
                <a:extLst>
                  <a:ext uri="{0D108BD9-81ED-4DB2-BD59-A6C34878D82A}">
                    <a16:rowId xmlns:a16="http://schemas.microsoft.com/office/drawing/2014/main" val="10010"/>
                  </a:ext>
                </a:extLst>
              </a:tr>
              <a:tr h="170045">
                <a:tc>
                  <a:txBody>
                    <a:bodyPr/>
                    <a:lstStyle/>
                    <a:p>
                      <a:pPr algn="l"/>
                      <a:r>
                        <a:rPr sz="1050" b="0" i="0">
                          <a:solidFill>
                            <a:srgbClr val="000000"/>
                          </a:solidFill>
                          <a:latin typeface="Calibri"/>
                        </a:rPr>
                        <a:t>Table 12: Global Market Volume Forecast, MT, 2026–2036</a:t>
                      </a:r>
                      <a:endParaRPr sz="1050"/>
                    </a:p>
                  </a:txBody>
                  <a:tcPr marL="9525" marR="9525" marT="9525" marB="0" anchor="ctr"/>
                </a:tc>
                <a:extLst>
                  <a:ext uri="{0D108BD9-81ED-4DB2-BD59-A6C34878D82A}">
                    <a16:rowId xmlns:a16="http://schemas.microsoft.com/office/drawing/2014/main" val="10011"/>
                  </a:ext>
                </a:extLst>
              </a:tr>
              <a:tr h="170045">
                <a:tc>
                  <a:txBody>
                    <a:bodyPr/>
                    <a:lstStyle/>
                    <a:p>
                      <a:pPr algn="l"/>
                      <a:r>
                        <a:rPr sz="1050" b="0" i="0">
                          <a:solidFill>
                            <a:srgbClr val="000000"/>
                          </a:solidFill>
                          <a:latin typeface="Calibri"/>
                        </a:rPr>
                        <a:t>Table 13: Global Market Average Selling Price, US$/MT, 2021–2036</a:t>
                      </a:r>
                      <a:endParaRPr sz="1050"/>
                    </a:p>
                  </a:txBody>
                  <a:tcPr marL="9525" marR="9525" marT="9525" marB="0" anchor="ctr"/>
                </a:tc>
                <a:extLst>
                  <a:ext uri="{0D108BD9-81ED-4DB2-BD59-A6C34878D82A}">
                    <a16:rowId xmlns:a16="http://schemas.microsoft.com/office/drawing/2014/main" val="10012"/>
                  </a:ext>
                </a:extLst>
              </a:tr>
              <a:tr h="170045">
                <a:tc>
                  <a:txBody>
                    <a:bodyPr/>
                    <a:lstStyle/>
                    <a:p>
                      <a:pPr algn="l"/>
                      <a:r>
                        <a:rPr sz="1050" b="0" i="0">
                          <a:solidFill>
                            <a:srgbClr val="000000"/>
                          </a:solidFill>
                          <a:latin typeface="Calibri"/>
                        </a:rPr>
                        <a:t>Table 14: Global Market Average Selling Price YoY Change, %, 2026–2036</a:t>
                      </a:r>
                      <a:endParaRPr sz="1050"/>
                    </a:p>
                  </a:txBody>
                  <a:tcPr marL="9525" marR="9525" marT="9525" marB="0" anchor="ctr"/>
                </a:tc>
                <a:extLst>
                  <a:ext uri="{0D108BD9-81ED-4DB2-BD59-A6C34878D82A}">
                    <a16:rowId xmlns:a16="http://schemas.microsoft.com/office/drawing/2014/main" val="10013"/>
                  </a:ext>
                </a:extLst>
              </a:tr>
              <a:tr h="170045">
                <a:tc>
                  <a:txBody>
                    <a:bodyPr/>
                    <a:lstStyle/>
                    <a:p>
                      <a:pPr algn="l"/>
                      <a:r>
                        <a:rPr sz="1050" b="0" i="0">
                          <a:solidFill>
                            <a:srgbClr val="000000"/>
                          </a:solidFill>
                          <a:latin typeface="Calibri"/>
                        </a:rPr>
                        <a:t>Table 15: Global Market CAGR and Absolute $ Opportunity, %, US$ Mn, 2026–2036</a:t>
                      </a:r>
                      <a:endParaRPr sz="1050"/>
                    </a:p>
                  </a:txBody>
                  <a:tcPr marL="9525" marR="9525" marT="9525" marB="0" anchor="ctr"/>
                </a:tc>
                <a:extLst>
                  <a:ext uri="{0D108BD9-81ED-4DB2-BD59-A6C34878D82A}">
                    <a16:rowId xmlns:a16="http://schemas.microsoft.com/office/drawing/2014/main" val="10014"/>
                  </a:ext>
                </a:extLst>
              </a:tr>
              <a:tr h="170045">
                <a:tc>
                  <a:txBody>
                    <a:bodyPr/>
                    <a:lstStyle/>
                    <a:p>
                      <a:pPr algn="l"/>
                      <a:r>
                        <a:rPr sz="1050" b="0" i="0">
                          <a:solidFill>
                            <a:srgbClr val="000000"/>
                          </a:solidFill>
                          <a:latin typeface="Calibri"/>
                        </a:rPr>
                        <a:t>Table 16: Global Market Absolute $ Opportunity by Year, US$ Mn, 2026–2036</a:t>
                      </a:r>
                      <a:endParaRPr sz="1050"/>
                    </a:p>
                  </a:txBody>
                  <a:tcPr marL="9525" marR="9525" marT="9525" marB="0" anchor="ctr"/>
                </a:tc>
                <a:extLst>
                  <a:ext uri="{0D108BD9-81ED-4DB2-BD59-A6C34878D82A}">
                    <a16:rowId xmlns:a16="http://schemas.microsoft.com/office/drawing/2014/main" val="10015"/>
                  </a:ext>
                </a:extLst>
              </a:tr>
              <a:tr h="170045">
                <a:tc>
                  <a:txBody>
                    <a:bodyPr/>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extLst>
                  <a:ext uri="{0D108BD9-81ED-4DB2-BD59-A6C34878D82A}">
                    <a16:rowId xmlns:a16="http://schemas.microsoft.com/office/drawing/2014/main" val="10016"/>
                  </a:ext>
                </a:extLst>
              </a:tr>
              <a:tr h="170045">
                <a:tc>
                  <a:txBody>
                    <a:bodyPr/>
                    <a:lstStyle/>
                    <a:p>
                      <a:pPr algn="l"/>
                      <a:r>
                        <a:rPr sz="1050" b="0" i="0">
                          <a:solidFill>
                            <a:srgbClr val="000000"/>
                          </a:solidFill>
                          <a:latin typeface="Calibri"/>
                        </a:rPr>
                        <a:t>Table 18: Global Market Scenario CAGR Comparison, %, 2026–2036</a:t>
                      </a:r>
                      <a:endParaRPr sz="1050"/>
                    </a:p>
                  </a:txBody>
                  <a:tcPr marL="9525" marR="9525" marT="9525" marB="0" anchor="ctr"/>
                </a:tc>
                <a:extLst>
                  <a:ext uri="{0D108BD9-81ED-4DB2-BD59-A6C34878D82A}">
                    <a16:rowId xmlns:a16="http://schemas.microsoft.com/office/drawing/2014/main" val="10017"/>
                  </a:ext>
                </a:extLst>
              </a:tr>
              <a:tr h="170045">
                <a:tc>
                  <a:txBody>
                    <a:bodyPr/>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extLst>
                  <a:ext uri="{0D108BD9-81ED-4DB2-BD59-A6C34878D82A}">
                    <a16:rowId xmlns:a16="http://schemas.microsoft.com/office/drawing/2014/main" val="10018"/>
                  </a:ext>
                </a:extLst>
              </a:tr>
              <a:tr h="170045">
                <a:tc>
                  <a:txBody>
                    <a:bodyPr/>
                    <a:lstStyle/>
                    <a:p>
                      <a:pPr algn="l"/>
                      <a:r>
                        <a:rPr sz="1050" b="0" i="0">
                          <a:solidFill>
                            <a:srgbClr val="000000"/>
                          </a:solidFill>
                          <a:latin typeface="Calibri"/>
                        </a:rPr>
                        <a:t>Table 20: Global Market Five-Year Block Value Summary, US$ Mn, 2021–2036</a:t>
                      </a:r>
                      <a:endParaRPr sz="1050"/>
                    </a:p>
                  </a:txBody>
                  <a:tcPr marL="9525" marR="9525" marT="9525" marB="0" anchor="ctr"/>
                </a:tc>
                <a:extLst>
                  <a:ext uri="{0D108BD9-81ED-4DB2-BD59-A6C34878D82A}">
                    <a16:rowId xmlns:a16="http://schemas.microsoft.com/office/drawing/2014/main" val="10019"/>
                  </a:ext>
                </a:extLst>
              </a:tr>
              <a:tr h="170045">
                <a:tc>
                  <a:txBody>
                    <a:bodyPr/>
                    <a:lstStyle/>
                    <a:p>
                      <a:pPr algn="l"/>
                      <a:r>
                        <a:rPr sz="1050" b="0" i="0">
                          <a:solidFill>
                            <a:srgbClr val="000000"/>
                          </a:solidFill>
                          <a:latin typeface="Calibri"/>
                        </a:rPr>
                        <a:t>Table 21: Global Market Size Evolution Index, 2025=100, 2021–2036</a:t>
                      </a:r>
                      <a:endParaRPr sz="1050"/>
                    </a:p>
                  </a:txBody>
                  <a:tcPr marL="9525" marR="9525" marT="9525" marB="0" anchor="ctr"/>
                </a:tc>
                <a:extLst>
                  <a:ext uri="{0D108BD9-81ED-4DB2-BD59-A6C34878D82A}">
                    <a16:rowId xmlns:a16="http://schemas.microsoft.com/office/drawing/2014/main" val="10020"/>
                  </a:ext>
                </a:extLst>
              </a:tr>
              <a:tr h="170045">
                <a:tc>
                  <a:txBody>
                    <a:bodyPr/>
                    <a:lstStyle/>
                    <a:p>
                      <a:pPr algn="l"/>
                      <a:r>
                        <a:rPr sz="1050" b="0" i="0">
                          <a:solidFill>
                            <a:srgbClr val="000000"/>
                          </a:solidFill>
                          <a:latin typeface="Calibri"/>
                        </a:rPr>
                        <a:t>Table 22: Global Market Value by Form Type, US$ Mn, 2021–2036</a:t>
                      </a:r>
                      <a:endParaRPr sz="1050"/>
                    </a:p>
                  </a:txBody>
                  <a:tcPr marL="9525" marR="9525" marT="9525" marB="0" anchor="ctr"/>
                </a:tc>
                <a:extLst>
                  <a:ext uri="{0D108BD9-81ED-4DB2-BD59-A6C34878D82A}">
                    <a16:rowId xmlns:a16="http://schemas.microsoft.com/office/drawing/2014/main" val="10021"/>
                  </a:ext>
                </a:extLst>
              </a:tr>
              <a:tr h="170045">
                <a:tc>
                  <a:txBody>
                    <a:bodyPr/>
                    <a:lstStyle/>
                    <a:p>
                      <a:pPr algn="l"/>
                      <a:r>
                        <a:rPr sz="1050" b="0" i="0">
                          <a:solidFill>
                            <a:srgbClr val="000000"/>
                          </a:solidFill>
                          <a:latin typeface="Calibri"/>
                        </a:rPr>
                        <a:t>Table 23: Global Market Value by Active Ingredient, US$ Mn, 2021–2036</a:t>
                      </a:r>
                      <a:endParaRPr sz="1050"/>
                    </a:p>
                  </a:txBody>
                  <a:tcPr marL="9525" marR="9525" marT="9525" marB="0" anchor="ctr"/>
                </a:tc>
                <a:extLst>
                  <a:ext uri="{0D108BD9-81ED-4DB2-BD59-A6C34878D82A}">
                    <a16:rowId xmlns:a16="http://schemas.microsoft.com/office/drawing/2014/main" val="10022"/>
                  </a:ext>
                </a:extLst>
              </a:tr>
              <a:tr h="170045">
                <a:tc>
                  <a:txBody>
                    <a:bodyPr/>
                    <a:lstStyle/>
                    <a:p>
                      <a:pPr algn="l"/>
                      <a:r>
                        <a:rPr sz="1050" b="0" i="0">
                          <a:solidFill>
                            <a:srgbClr val="000000"/>
                          </a:solidFill>
                          <a:latin typeface="Calibri"/>
                        </a:rPr>
                        <a:t>Table 24: Global Market Value by End-use Application, US$ Mn, 2021–2036</a:t>
                      </a:r>
                      <a:endParaRPr sz="1050"/>
                    </a:p>
                  </a:txBody>
                  <a:tcPr marL="9525" marR="9525" marT="9525" marB="0" anchor="ctr"/>
                </a:tc>
                <a:extLst>
                  <a:ext uri="{0D108BD9-81ED-4DB2-BD59-A6C34878D82A}">
                    <a16:rowId xmlns:a16="http://schemas.microsoft.com/office/drawing/2014/main" val="10023"/>
                  </a:ext>
                </a:extLst>
              </a:tr>
              <a:tr h="170045">
                <a:tc>
                  <a:txBody>
                    <a:bodyPr/>
                    <a:lstStyle/>
                    <a:p>
                      <a:pPr algn="l"/>
                      <a:r>
                        <a:rPr sz="1050" b="0" i="0">
                          <a:solidFill>
                            <a:srgbClr val="000000"/>
                          </a:solidFill>
                          <a:latin typeface="Calibri"/>
                        </a:rPr>
                        <a:t>Table 25: Global Market Value by Packaging Format, US$ Mn, 2021–2036</a:t>
                      </a:r>
                      <a:endParaRPr sz="1050"/>
                    </a:p>
                  </a:txBody>
                  <a:tcPr marL="9525" marR="9525" marT="9525" marB="0" anchor="ctr"/>
                </a:tc>
                <a:extLst>
                  <a:ext uri="{0D108BD9-81ED-4DB2-BD59-A6C34878D82A}">
                    <a16:rowId xmlns:a16="http://schemas.microsoft.com/office/drawing/2014/main" val="10024"/>
                  </a:ext>
                </a:extLst>
              </a:tr>
              <a:tr h="170045">
                <a:tc>
                  <a:txBody>
                    <a:bodyPr/>
                    <a:lstStyle/>
                    <a:p>
                      <a:pPr algn="l"/>
                      <a:r>
                        <a:rPr sz="1050" b="0" i="0">
                          <a:solidFill>
                            <a:srgbClr val="000000"/>
                          </a:solidFill>
                          <a:latin typeface="Calibri"/>
                        </a:rPr>
                        <a:t>Table 26: Global Market Value by Sales Channel, US$ Mn, 2021–2036</a:t>
                      </a:r>
                      <a:endParaRPr sz="1050"/>
                    </a:p>
                  </a:txBody>
                  <a:tcPr marL="9525" marR="9525" marT="9525" marB="0" anchor="ctr"/>
                </a:tc>
                <a:extLst>
                  <a:ext uri="{0D108BD9-81ED-4DB2-BD59-A6C34878D82A}">
                    <a16:rowId xmlns:a16="http://schemas.microsoft.com/office/drawing/2014/main" val="10025"/>
                  </a:ext>
                </a:extLst>
              </a:tr>
              <a:tr h="170045">
                <a:tc>
                  <a:txBody>
                    <a:bodyPr/>
                    <a:lstStyle/>
                    <a:p>
                      <a:pPr algn="l"/>
                      <a:r>
                        <a:rPr sz="1050" b="0" i="0">
                          <a:solidFill>
                            <a:srgbClr val="000000"/>
                          </a:solidFill>
                          <a:latin typeface="Calibri"/>
                        </a:rPr>
                        <a:t>Table 27: Global Market CAGR and Absolute $ Opportunity by Form Type, %, US$ Mn, 2026–2036</a:t>
                      </a:r>
                      <a:endParaRPr sz="1050"/>
                    </a:p>
                  </a:txBody>
                  <a:tcPr marL="9525" marR="9525" marT="9525" marB="0" anchor="ctr"/>
                </a:tc>
                <a:extLst>
                  <a:ext uri="{0D108BD9-81ED-4DB2-BD59-A6C34878D82A}">
                    <a16:rowId xmlns:a16="http://schemas.microsoft.com/office/drawing/2014/main" val="10026"/>
                  </a:ext>
                </a:extLst>
              </a:tr>
              <a:tr h="333289">
                <a:tc>
                  <a:txBody>
                    <a:bodyPr/>
                    <a:lstStyle/>
                    <a:p>
                      <a:pPr algn="l"/>
                      <a:r>
                        <a:rPr sz="1050" b="0" i="0">
                          <a:solidFill>
                            <a:srgbClr val="000000"/>
                          </a:solidFill>
                          <a:latin typeface="Calibri"/>
                        </a:rPr>
                        <a:t>Table 28: Global Market CAGR and Absolute $ Opportunity by Active Ingredient, %, US$ Mn, 2026–2036</a:t>
                      </a:r>
                      <a:endParaRPr sz="1050"/>
                    </a:p>
                  </a:txBody>
                  <a:tcPr marL="9525" marR="9525" marT="9525" marB="0" anchor="ctr"/>
                </a:tc>
                <a:extLst>
                  <a:ext uri="{0D108BD9-81ED-4DB2-BD59-A6C34878D82A}">
                    <a16:rowId xmlns:a16="http://schemas.microsoft.com/office/drawing/2014/main" val="10027"/>
                  </a:ext>
                </a:extLst>
              </a:tr>
              <a:tr h="333289">
                <a:tc>
                  <a:txBody>
                    <a:bodyPr/>
                    <a:lstStyle/>
                    <a:p>
                      <a:pPr algn="l"/>
                      <a:r>
                        <a:rPr sz="1050" b="0" i="0">
                          <a:solidFill>
                            <a:srgbClr val="000000"/>
                          </a:solidFill>
                          <a:latin typeface="Calibri"/>
                        </a:rPr>
                        <a:t>Table 29: Global Market CAGR and Absolute $ Opportunity by End-use Application, %, US$ Mn, 2026–2036</a:t>
                      </a:r>
                      <a:endParaRPr sz="1050"/>
                    </a:p>
                  </a:txBody>
                  <a:tcPr marL="9525" marR="9525" marT="9525" marB="0" anchor="ctr"/>
                </a:tc>
                <a:extLst>
                  <a:ext uri="{0D108BD9-81ED-4DB2-BD59-A6C34878D82A}">
                    <a16:rowId xmlns:a16="http://schemas.microsoft.com/office/drawing/2014/main" val="10028"/>
                  </a:ext>
                </a:extLst>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332858">
                <a:tc>
                  <a:txBody>
                    <a:bodyPr/>
                    <a:lstStyle/>
                    <a:p>
                      <a:pPr algn="l"/>
                      <a:r>
                        <a:rPr sz="1050" b="0" i="0">
                          <a:solidFill>
                            <a:srgbClr val="000000"/>
                          </a:solidFill>
                          <a:latin typeface="Calibri"/>
                        </a:rPr>
                        <a:t>Table 30: Global Market CAGR and Absolute $ Opportunity by Packaging Format, %, US$ Mn, 2026–2036</a:t>
                      </a:r>
                      <a:endParaRPr sz="1050"/>
                    </a:p>
                  </a:txBody>
                  <a:tcPr marL="9525" marR="9525" marT="9525" marB="0" anchor="ctr"/>
                </a:tc>
                <a:extLst>
                  <a:ext uri="{0D108BD9-81ED-4DB2-BD59-A6C34878D82A}">
                    <a16:rowId xmlns:a16="http://schemas.microsoft.com/office/drawing/2014/main" val="10000"/>
                  </a:ext>
                </a:extLst>
              </a:tr>
              <a:tr h="169826">
                <a:tc>
                  <a:txBody>
                    <a:bodyPr/>
                    <a:lstStyle/>
                    <a:p>
                      <a:pPr algn="l"/>
                      <a:r>
                        <a:rPr sz="1050" b="0" i="0">
                          <a:solidFill>
                            <a:srgbClr val="000000"/>
                          </a:solidFill>
                          <a:latin typeface="Calibri"/>
                        </a:rPr>
                        <a:t>Table 31: Global Market CAGR and Absolute $ Opportunity by Sales Channel, %, US$ Mn, 2026–2036</a:t>
                      </a:r>
                      <a:endParaRPr sz="1050"/>
                    </a:p>
                  </a:txBody>
                  <a:tcPr marL="9525" marR="9525" marT="9525" marB="0" anchor="ctr"/>
                </a:tc>
                <a:extLst>
                  <a:ext uri="{0D108BD9-81ED-4DB2-BD59-A6C34878D82A}">
                    <a16:rowId xmlns:a16="http://schemas.microsoft.com/office/drawing/2014/main" val="10001"/>
                  </a:ext>
                </a:extLst>
              </a:tr>
              <a:tr h="169826">
                <a:tc>
                  <a:txBody>
                    <a:bodyPr/>
                    <a:lstStyle/>
                    <a:p>
                      <a:pPr algn="l"/>
                      <a:r>
                        <a:rPr sz="1050" b="0" i="0">
                          <a:solidFill>
                            <a:srgbClr val="000000"/>
                          </a:solidFill>
                          <a:latin typeface="Calibri"/>
                        </a:rPr>
                        <a:t>Table 32: Global Market Share and BPS Change by Form Type, %, 2025, 2026 and 2036</a:t>
                      </a:r>
                      <a:endParaRPr sz="1050"/>
                    </a:p>
                  </a:txBody>
                  <a:tcPr marL="9525" marR="9525" marT="9525" marB="0" anchor="ctr"/>
                </a:tc>
                <a:extLst>
                  <a:ext uri="{0D108BD9-81ED-4DB2-BD59-A6C34878D82A}">
                    <a16:rowId xmlns:a16="http://schemas.microsoft.com/office/drawing/2014/main" val="10002"/>
                  </a:ext>
                </a:extLst>
              </a:tr>
              <a:tr h="169826">
                <a:tc>
                  <a:txBody>
                    <a:bodyPr/>
                    <a:lstStyle/>
                    <a:p>
                      <a:pPr algn="l"/>
                      <a:r>
                        <a:rPr sz="1050" b="0" i="0">
                          <a:solidFill>
                            <a:srgbClr val="000000"/>
                          </a:solidFill>
                          <a:latin typeface="Calibri"/>
                        </a:rPr>
                        <a:t>Table 33: Global Market Share and BPS Change by Active Ingredient, %, 2025, 2026 and 2036</a:t>
                      </a:r>
                      <a:endParaRPr sz="1050"/>
                    </a:p>
                  </a:txBody>
                  <a:tcPr marL="9525" marR="9525" marT="9525" marB="0" anchor="ctr"/>
                </a:tc>
                <a:extLst>
                  <a:ext uri="{0D108BD9-81ED-4DB2-BD59-A6C34878D82A}">
                    <a16:rowId xmlns:a16="http://schemas.microsoft.com/office/drawing/2014/main" val="10003"/>
                  </a:ext>
                </a:extLst>
              </a:tr>
              <a:tr h="169826">
                <a:tc>
                  <a:txBody>
                    <a:bodyPr/>
                    <a:lstStyle/>
                    <a:p>
                      <a:pPr algn="l"/>
                      <a:r>
                        <a:rPr sz="1050" b="0" i="0">
                          <a:solidFill>
                            <a:srgbClr val="000000"/>
                          </a:solidFill>
                          <a:latin typeface="Calibri"/>
                        </a:rPr>
                        <a:t>Table 34: Global Market Share and BPS Change by End-use Application, %, 2025, 2026 and 2036</a:t>
                      </a:r>
                      <a:endParaRPr sz="1050"/>
                    </a:p>
                  </a:txBody>
                  <a:tcPr marL="9525" marR="9525" marT="9525" marB="0" anchor="ctr"/>
                </a:tc>
                <a:extLst>
                  <a:ext uri="{0D108BD9-81ED-4DB2-BD59-A6C34878D82A}">
                    <a16:rowId xmlns:a16="http://schemas.microsoft.com/office/drawing/2014/main" val="10004"/>
                  </a:ext>
                </a:extLst>
              </a:tr>
              <a:tr h="169826">
                <a:tc>
                  <a:txBody>
                    <a:bodyPr/>
                    <a:lstStyle/>
                    <a:p>
                      <a:pPr algn="l"/>
                      <a:r>
                        <a:rPr sz="1050" b="0" i="0">
                          <a:solidFill>
                            <a:srgbClr val="000000"/>
                          </a:solidFill>
                          <a:latin typeface="Calibri"/>
                        </a:rPr>
                        <a:t>Table 35: Global Market Share and BPS Change by Packaging Format, %, 2025, 2026 and 2036</a:t>
                      </a:r>
                      <a:endParaRPr sz="1050"/>
                    </a:p>
                  </a:txBody>
                  <a:tcPr marL="9525" marR="9525" marT="9525" marB="0" anchor="ctr"/>
                </a:tc>
                <a:extLst>
                  <a:ext uri="{0D108BD9-81ED-4DB2-BD59-A6C34878D82A}">
                    <a16:rowId xmlns:a16="http://schemas.microsoft.com/office/drawing/2014/main" val="10005"/>
                  </a:ext>
                </a:extLst>
              </a:tr>
              <a:tr h="169826">
                <a:tc>
                  <a:txBody>
                    <a:bodyPr/>
                    <a:lstStyle/>
                    <a:p>
                      <a:pPr algn="l"/>
                      <a:r>
                        <a:rPr sz="1050" b="0" i="0">
                          <a:solidFill>
                            <a:srgbClr val="000000"/>
                          </a:solidFill>
                          <a:latin typeface="Calibri"/>
                        </a:rPr>
                        <a:t>Table 36: Global Market Share and BPS Change by Sales Channel, %, 2025, 2026 and 2036</a:t>
                      </a:r>
                      <a:endParaRPr sz="1050"/>
                    </a:p>
                  </a:txBody>
                  <a:tcPr marL="9525" marR="9525" marT="9525" marB="0" anchor="ctr"/>
                </a:tc>
                <a:extLst>
                  <a:ext uri="{0D108BD9-81ED-4DB2-BD59-A6C34878D82A}">
                    <a16:rowId xmlns:a16="http://schemas.microsoft.com/office/drawing/2014/main" val="10006"/>
                  </a:ext>
                </a:extLst>
              </a:tr>
              <a:tr h="169826">
                <a:tc>
                  <a:txBody>
                    <a:bodyPr/>
                    <a:lstStyle/>
                    <a:p>
                      <a:pPr algn="l"/>
                      <a:r>
                        <a:rPr sz="1050" b="0" i="0">
                          <a:solidFill>
                            <a:srgbClr val="000000"/>
                          </a:solidFill>
                          <a:latin typeface="Calibri"/>
                        </a:rPr>
                        <a:t>Table 37: Global Market YoY Growth by Form Type, %, 2026–2036</a:t>
                      </a:r>
                      <a:endParaRPr sz="1050"/>
                    </a:p>
                  </a:txBody>
                  <a:tcPr marL="9525" marR="9525" marT="9525" marB="0" anchor="ctr"/>
                </a:tc>
                <a:extLst>
                  <a:ext uri="{0D108BD9-81ED-4DB2-BD59-A6C34878D82A}">
                    <a16:rowId xmlns:a16="http://schemas.microsoft.com/office/drawing/2014/main" val="10007"/>
                  </a:ext>
                </a:extLst>
              </a:tr>
              <a:tr h="169826">
                <a:tc>
                  <a:txBody>
                    <a:bodyPr/>
                    <a:lstStyle/>
                    <a:p>
                      <a:pPr algn="l"/>
                      <a:r>
                        <a:rPr sz="1050" b="0" i="0">
                          <a:solidFill>
                            <a:srgbClr val="000000"/>
                          </a:solidFill>
                          <a:latin typeface="Calibri"/>
                        </a:rPr>
                        <a:t>Table 38: Global Market YoY Growth by Active Ingredient, %, 2026–2036</a:t>
                      </a:r>
                      <a:endParaRPr sz="1050"/>
                    </a:p>
                  </a:txBody>
                  <a:tcPr marL="9525" marR="9525" marT="9525" marB="0" anchor="ctr"/>
                </a:tc>
                <a:extLst>
                  <a:ext uri="{0D108BD9-81ED-4DB2-BD59-A6C34878D82A}">
                    <a16:rowId xmlns:a16="http://schemas.microsoft.com/office/drawing/2014/main" val="10008"/>
                  </a:ext>
                </a:extLst>
              </a:tr>
              <a:tr h="169826">
                <a:tc>
                  <a:txBody>
                    <a:bodyPr/>
                    <a:lstStyle/>
                    <a:p>
                      <a:pPr algn="l"/>
                      <a:r>
                        <a:rPr sz="1050" b="0" i="0">
                          <a:solidFill>
                            <a:srgbClr val="000000"/>
                          </a:solidFill>
                          <a:latin typeface="Calibri"/>
                        </a:rPr>
                        <a:t>Table 39: Global Market YoY Growth by End-use Application, %, 2026–2036</a:t>
                      </a:r>
                      <a:endParaRPr sz="1050"/>
                    </a:p>
                  </a:txBody>
                  <a:tcPr marL="9525" marR="9525" marT="9525" marB="0" anchor="ctr"/>
                </a:tc>
                <a:extLst>
                  <a:ext uri="{0D108BD9-81ED-4DB2-BD59-A6C34878D82A}">
                    <a16:rowId xmlns:a16="http://schemas.microsoft.com/office/drawing/2014/main" val="10009"/>
                  </a:ext>
                </a:extLst>
              </a:tr>
              <a:tr h="169826">
                <a:tc>
                  <a:txBody>
                    <a:bodyPr/>
                    <a:lstStyle/>
                    <a:p>
                      <a:pPr algn="l"/>
                      <a:r>
                        <a:rPr sz="1050" b="0" i="0">
                          <a:solidFill>
                            <a:srgbClr val="000000"/>
                          </a:solidFill>
                          <a:latin typeface="Calibri"/>
                        </a:rPr>
                        <a:t>Table 40: Global Market YoY Growth by Packaging Format, %, 2026–2036</a:t>
                      </a:r>
                      <a:endParaRPr sz="1050"/>
                    </a:p>
                  </a:txBody>
                  <a:tcPr marL="9525" marR="9525" marT="9525" marB="0" anchor="ctr"/>
                </a:tc>
                <a:extLst>
                  <a:ext uri="{0D108BD9-81ED-4DB2-BD59-A6C34878D82A}">
                    <a16:rowId xmlns:a16="http://schemas.microsoft.com/office/drawing/2014/main" val="10010"/>
                  </a:ext>
                </a:extLst>
              </a:tr>
              <a:tr h="169826">
                <a:tc>
                  <a:txBody>
                    <a:bodyPr/>
                    <a:lstStyle/>
                    <a:p>
                      <a:pPr algn="l"/>
                      <a:r>
                        <a:rPr sz="1050" b="0" i="0">
                          <a:solidFill>
                            <a:srgbClr val="000000"/>
                          </a:solidFill>
                          <a:latin typeface="Calibri"/>
                        </a:rPr>
                        <a:t>Table 41: Global Market YoY Growth by Sales Channel, %, 2026–2036</a:t>
                      </a:r>
                      <a:endParaRPr sz="1050"/>
                    </a:p>
                  </a:txBody>
                  <a:tcPr marL="9525" marR="9525" marT="9525" marB="0" anchor="ctr"/>
                </a:tc>
                <a:extLst>
                  <a:ext uri="{0D108BD9-81ED-4DB2-BD59-A6C34878D82A}">
                    <a16:rowId xmlns:a16="http://schemas.microsoft.com/office/drawing/2014/main" val="10011"/>
                  </a:ext>
                </a:extLst>
              </a:tr>
              <a:tr h="169826">
                <a:tc>
                  <a:txBody>
                    <a:bodyPr/>
                    <a:lstStyle/>
                    <a:p>
                      <a:pPr algn="l"/>
                      <a:r>
                        <a:rPr sz="1050" b="0" i="0">
                          <a:solidFill>
                            <a:srgbClr val="000000"/>
                          </a:solidFill>
                          <a:latin typeface="Calibri"/>
                        </a:rPr>
                        <a:t>Table 42: Global Market Volume by Form Type, MT, 2021–2036</a:t>
                      </a:r>
                      <a:endParaRPr sz="1050"/>
                    </a:p>
                  </a:txBody>
                  <a:tcPr marL="9525" marR="9525" marT="9525" marB="0" anchor="ctr"/>
                </a:tc>
                <a:extLst>
                  <a:ext uri="{0D108BD9-81ED-4DB2-BD59-A6C34878D82A}">
                    <a16:rowId xmlns:a16="http://schemas.microsoft.com/office/drawing/2014/main" val="10012"/>
                  </a:ext>
                </a:extLst>
              </a:tr>
              <a:tr h="169826">
                <a:tc>
                  <a:txBody>
                    <a:bodyPr/>
                    <a:lstStyle/>
                    <a:p>
                      <a:pPr algn="l"/>
                      <a:r>
                        <a:rPr sz="1050" b="0" i="0">
                          <a:solidFill>
                            <a:srgbClr val="000000"/>
                          </a:solidFill>
                          <a:latin typeface="Calibri"/>
                        </a:rPr>
                        <a:t>Table 43: Global Market Volume by Active Ingredient, MT, 2021–2036</a:t>
                      </a:r>
                      <a:endParaRPr sz="1050"/>
                    </a:p>
                  </a:txBody>
                  <a:tcPr marL="9525" marR="9525" marT="9525" marB="0" anchor="ctr"/>
                </a:tc>
                <a:extLst>
                  <a:ext uri="{0D108BD9-81ED-4DB2-BD59-A6C34878D82A}">
                    <a16:rowId xmlns:a16="http://schemas.microsoft.com/office/drawing/2014/main" val="10013"/>
                  </a:ext>
                </a:extLst>
              </a:tr>
              <a:tr h="169826">
                <a:tc>
                  <a:txBody>
                    <a:bodyPr/>
                    <a:lstStyle/>
                    <a:p>
                      <a:pPr algn="l"/>
                      <a:r>
                        <a:rPr sz="1050" b="0" i="0">
                          <a:solidFill>
                            <a:srgbClr val="000000"/>
                          </a:solidFill>
                          <a:latin typeface="Calibri"/>
                        </a:rPr>
                        <a:t>Table 44: Global Market Volume by End-use Application, MT, 2021–2036</a:t>
                      </a:r>
                      <a:endParaRPr sz="1050"/>
                    </a:p>
                  </a:txBody>
                  <a:tcPr marL="9525" marR="9525" marT="9525" marB="0" anchor="ctr"/>
                </a:tc>
                <a:extLst>
                  <a:ext uri="{0D108BD9-81ED-4DB2-BD59-A6C34878D82A}">
                    <a16:rowId xmlns:a16="http://schemas.microsoft.com/office/drawing/2014/main" val="10014"/>
                  </a:ext>
                </a:extLst>
              </a:tr>
              <a:tr h="169826">
                <a:tc>
                  <a:txBody>
                    <a:bodyPr/>
                    <a:lstStyle/>
                    <a:p>
                      <a:pPr algn="l"/>
                      <a:r>
                        <a:rPr sz="1050" b="0" i="0">
                          <a:solidFill>
                            <a:srgbClr val="000000"/>
                          </a:solidFill>
                          <a:latin typeface="Calibri"/>
                        </a:rPr>
                        <a:t>Table 45: Global Market Volume by Packaging Format, MT, 2021–2036</a:t>
                      </a:r>
                      <a:endParaRPr sz="1050"/>
                    </a:p>
                  </a:txBody>
                  <a:tcPr marL="9525" marR="9525" marT="9525" marB="0" anchor="ctr"/>
                </a:tc>
                <a:extLst>
                  <a:ext uri="{0D108BD9-81ED-4DB2-BD59-A6C34878D82A}">
                    <a16:rowId xmlns:a16="http://schemas.microsoft.com/office/drawing/2014/main" val="10015"/>
                  </a:ext>
                </a:extLst>
              </a:tr>
              <a:tr h="169826">
                <a:tc>
                  <a:txBody>
                    <a:bodyPr/>
                    <a:lstStyle/>
                    <a:p>
                      <a:pPr algn="l"/>
                      <a:r>
                        <a:rPr sz="1050" b="0" i="0">
                          <a:solidFill>
                            <a:srgbClr val="000000"/>
                          </a:solidFill>
                          <a:latin typeface="Calibri"/>
                        </a:rPr>
                        <a:t>Table 46: Global Market Volume by Sales Channel, MT, 2021–2036</a:t>
                      </a:r>
                      <a:endParaRPr sz="1050"/>
                    </a:p>
                  </a:txBody>
                  <a:tcPr marL="9525" marR="9525" marT="9525" marB="0" anchor="ctr"/>
                </a:tc>
                <a:extLst>
                  <a:ext uri="{0D108BD9-81ED-4DB2-BD59-A6C34878D82A}">
                    <a16:rowId xmlns:a16="http://schemas.microsoft.com/office/drawing/2014/main" val="10016"/>
                  </a:ext>
                </a:extLst>
              </a:tr>
              <a:tr h="169826">
                <a:tc>
                  <a:txBody>
                    <a:bodyPr/>
                    <a:lstStyle/>
                    <a:p>
                      <a:pPr algn="l"/>
                      <a:r>
                        <a:rPr sz="1050" b="0" i="0">
                          <a:solidFill>
                            <a:srgbClr val="000000"/>
                          </a:solidFill>
                          <a:latin typeface="Calibri"/>
                        </a:rPr>
                        <a:t>Table 47: Global Market Average Selling Price by Form Type, US$/MT, 2021–2036</a:t>
                      </a:r>
                      <a:endParaRPr sz="1050"/>
                    </a:p>
                  </a:txBody>
                  <a:tcPr marL="9525" marR="9525" marT="9525" marB="0" anchor="ctr"/>
                </a:tc>
                <a:extLst>
                  <a:ext uri="{0D108BD9-81ED-4DB2-BD59-A6C34878D82A}">
                    <a16:rowId xmlns:a16="http://schemas.microsoft.com/office/drawing/2014/main" val="10017"/>
                  </a:ext>
                </a:extLst>
              </a:tr>
              <a:tr h="169826">
                <a:tc>
                  <a:txBody>
                    <a:bodyPr/>
                    <a:lstStyle/>
                    <a:p>
                      <a:pPr algn="l"/>
                      <a:r>
                        <a:rPr sz="1050" b="0" i="0">
                          <a:solidFill>
                            <a:srgbClr val="000000"/>
                          </a:solidFill>
                          <a:latin typeface="Calibri"/>
                        </a:rPr>
                        <a:t>Table 48: Global Market Average Selling Price by Active Ingredient, US$/MT, 2021–2036</a:t>
                      </a:r>
                      <a:endParaRPr sz="1050"/>
                    </a:p>
                  </a:txBody>
                  <a:tcPr marL="9525" marR="9525" marT="9525" marB="0" anchor="ctr"/>
                </a:tc>
                <a:extLst>
                  <a:ext uri="{0D108BD9-81ED-4DB2-BD59-A6C34878D82A}">
                    <a16:rowId xmlns:a16="http://schemas.microsoft.com/office/drawing/2014/main" val="10018"/>
                  </a:ext>
                </a:extLst>
              </a:tr>
              <a:tr h="169826">
                <a:tc>
                  <a:txBody>
                    <a:bodyPr/>
                    <a:lstStyle/>
                    <a:p>
                      <a:pPr algn="l"/>
                      <a:r>
                        <a:rPr sz="1050" b="0" i="0">
                          <a:solidFill>
                            <a:srgbClr val="000000"/>
                          </a:solidFill>
                          <a:latin typeface="Calibri"/>
                        </a:rPr>
                        <a:t>Table 49: Global Market Average Selling Price by End-use Application, US$/MT, 2021–2036</a:t>
                      </a:r>
                      <a:endParaRPr sz="1050"/>
                    </a:p>
                  </a:txBody>
                  <a:tcPr marL="9525" marR="9525" marT="9525" marB="0" anchor="ctr"/>
                </a:tc>
                <a:extLst>
                  <a:ext uri="{0D108BD9-81ED-4DB2-BD59-A6C34878D82A}">
                    <a16:rowId xmlns:a16="http://schemas.microsoft.com/office/drawing/2014/main" val="10019"/>
                  </a:ext>
                </a:extLst>
              </a:tr>
              <a:tr h="169826">
                <a:tc>
                  <a:txBody>
                    <a:bodyPr/>
                    <a:lstStyle/>
                    <a:p>
                      <a:pPr algn="l"/>
                      <a:r>
                        <a:rPr sz="1050" b="0" i="0">
                          <a:solidFill>
                            <a:srgbClr val="000000"/>
                          </a:solidFill>
                          <a:latin typeface="Calibri"/>
                        </a:rPr>
                        <a:t>Table 50: Global Market Average Selling Price by Packaging Format, US$/MT, 2021–2036</a:t>
                      </a:r>
                      <a:endParaRPr sz="1050"/>
                    </a:p>
                  </a:txBody>
                  <a:tcPr marL="9525" marR="9525" marT="9525" marB="0" anchor="ctr"/>
                </a:tc>
                <a:extLst>
                  <a:ext uri="{0D108BD9-81ED-4DB2-BD59-A6C34878D82A}">
                    <a16:rowId xmlns:a16="http://schemas.microsoft.com/office/drawing/2014/main" val="10020"/>
                  </a:ext>
                </a:extLst>
              </a:tr>
              <a:tr h="169826">
                <a:tc>
                  <a:txBody>
                    <a:bodyPr/>
                    <a:lstStyle/>
                    <a:p>
                      <a:pPr algn="l"/>
                      <a:r>
                        <a:rPr sz="1050" b="0" i="0">
                          <a:solidFill>
                            <a:srgbClr val="000000"/>
                          </a:solidFill>
                          <a:latin typeface="Calibri"/>
                        </a:rPr>
                        <a:t>Table 51: Global Market Average Selling Price by Sales Channel, US$/MT, 2021–2036</a:t>
                      </a:r>
                      <a:endParaRPr sz="1050"/>
                    </a:p>
                  </a:txBody>
                  <a:tcPr marL="9525" marR="9525" marT="9525" marB="0" anchor="ctr"/>
                </a:tc>
                <a:extLst>
                  <a:ext uri="{0D108BD9-81ED-4DB2-BD59-A6C34878D82A}">
                    <a16:rowId xmlns:a16="http://schemas.microsoft.com/office/drawing/2014/main" val="10021"/>
                  </a:ext>
                </a:extLst>
              </a:tr>
              <a:tr h="169826">
                <a:tc>
                  <a:txBody>
                    <a:bodyPr/>
                    <a:lstStyle/>
                    <a:p>
                      <a:pPr algn="l"/>
                      <a:r>
                        <a:rPr sz="1050" b="0" i="0">
                          <a:solidFill>
                            <a:srgbClr val="000000"/>
                          </a:solidFill>
                          <a:latin typeface="Calibri"/>
                        </a:rPr>
                        <a:t>Table 52: Global Market Attractiveness Index by Form Type, 2026–2036</a:t>
                      </a:r>
                      <a:endParaRPr sz="1050"/>
                    </a:p>
                  </a:txBody>
                  <a:tcPr marL="9525" marR="9525" marT="9525" marB="0" anchor="ctr"/>
                </a:tc>
                <a:extLst>
                  <a:ext uri="{0D108BD9-81ED-4DB2-BD59-A6C34878D82A}">
                    <a16:rowId xmlns:a16="http://schemas.microsoft.com/office/drawing/2014/main" val="10022"/>
                  </a:ext>
                </a:extLst>
              </a:tr>
              <a:tr h="169826">
                <a:tc>
                  <a:txBody>
                    <a:bodyPr/>
                    <a:lstStyle/>
                    <a:p>
                      <a:pPr algn="l"/>
                      <a:r>
                        <a:rPr sz="1050" b="0" i="0">
                          <a:solidFill>
                            <a:srgbClr val="000000"/>
                          </a:solidFill>
                          <a:latin typeface="Calibri"/>
                        </a:rPr>
                        <a:t>Table 53: Global Market Attractiveness Index by Active Ingredient, 2026–2036</a:t>
                      </a:r>
                      <a:endParaRPr sz="1050"/>
                    </a:p>
                  </a:txBody>
                  <a:tcPr marL="9525" marR="9525" marT="9525" marB="0" anchor="ctr"/>
                </a:tc>
                <a:extLst>
                  <a:ext uri="{0D108BD9-81ED-4DB2-BD59-A6C34878D82A}">
                    <a16:rowId xmlns:a16="http://schemas.microsoft.com/office/drawing/2014/main" val="10023"/>
                  </a:ext>
                </a:extLst>
              </a:tr>
              <a:tr h="169826">
                <a:tc>
                  <a:txBody>
                    <a:bodyPr/>
                    <a:lstStyle/>
                    <a:p>
                      <a:pPr algn="l"/>
                      <a:r>
                        <a:rPr sz="1050" b="0" i="0">
                          <a:solidFill>
                            <a:srgbClr val="000000"/>
                          </a:solidFill>
                          <a:latin typeface="Calibri"/>
                        </a:rPr>
                        <a:t>Table 54: Global Market Attractiveness Index by End-use Application, 2026–2036</a:t>
                      </a:r>
                      <a:endParaRPr sz="1050"/>
                    </a:p>
                  </a:txBody>
                  <a:tcPr marL="9525" marR="9525" marT="9525" marB="0" anchor="ctr"/>
                </a:tc>
                <a:extLst>
                  <a:ext uri="{0D108BD9-81ED-4DB2-BD59-A6C34878D82A}">
                    <a16:rowId xmlns:a16="http://schemas.microsoft.com/office/drawing/2014/main" val="10024"/>
                  </a:ext>
                </a:extLst>
              </a:tr>
              <a:tr h="169826">
                <a:tc>
                  <a:txBody>
                    <a:bodyPr/>
                    <a:lstStyle/>
                    <a:p>
                      <a:pPr algn="l"/>
                      <a:r>
                        <a:rPr sz="1050" b="0" i="0">
                          <a:solidFill>
                            <a:srgbClr val="000000"/>
                          </a:solidFill>
                          <a:latin typeface="Calibri"/>
                        </a:rPr>
                        <a:t>Table 55: Global Market Attractiveness Index by Packaging Format, 2026–2036</a:t>
                      </a:r>
                      <a:endParaRPr sz="1050"/>
                    </a:p>
                  </a:txBody>
                  <a:tcPr marL="9525" marR="9525" marT="9525" marB="0" anchor="ctr"/>
                </a:tc>
                <a:extLst>
                  <a:ext uri="{0D108BD9-81ED-4DB2-BD59-A6C34878D82A}">
                    <a16:rowId xmlns:a16="http://schemas.microsoft.com/office/drawing/2014/main" val="10025"/>
                  </a:ext>
                </a:extLst>
              </a:tr>
              <a:tr h="169826">
                <a:tc>
                  <a:txBody>
                    <a:bodyPr/>
                    <a:lstStyle/>
                    <a:p>
                      <a:pPr algn="l"/>
                      <a:r>
                        <a:rPr sz="1050" b="0" i="0">
                          <a:solidFill>
                            <a:srgbClr val="000000"/>
                          </a:solidFill>
                          <a:latin typeface="Calibri"/>
                        </a:rPr>
                        <a:t>Table 56: Global Market Attractiveness Index by Sales Channel, 2026–2036</a:t>
                      </a:r>
                      <a:endParaRPr sz="1050"/>
                    </a:p>
                  </a:txBody>
                  <a:tcPr marL="9525" marR="9525" marT="9525" marB="0" anchor="ctr"/>
                </a:tc>
                <a:extLst>
                  <a:ext uri="{0D108BD9-81ED-4DB2-BD59-A6C34878D82A}">
                    <a16:rowId xmlns:a16="http://schemas.microsoft.com/office/drawing/2014/main" val="10026"/>
                  </a:ext>
                </a:extLst>
              </a:tr>
              <a:tr h="169826">
                <a:tc>
                  <a:txBody>
                    <a:bodyPr/>
                    <a:lstStyle/>
                    <a:p>
                      <a:pPr algn="l"/>
                      <a:r>
                        <a:rPr sz="1050" b="0" i="0">
                          <a:solidFill>
                            <a:srgbClr val="000000"/>
                          </a:solidFill>
                          <a:latin typeface="Calibri"/>
                        </a:rPr>
                        <a:t>Table 57: Global Market Value of Chewables by Region, US$ Mn, 2021–2036</a:t>
                      </a:r>
                      <a:endParaRPr sz="1050"/>
                    </a:p>
                  </a:txBody>
                  <a:tcPr marL="9525" marR="9525" marT="9525" marB="0" anchor="ctr"/>
                </a:tc>
                <a:extLst>
                  <a:ext uri="{0D108BD9-81ED-4DB2-BD59-A6C34878D82A}">
                    <a16:rowId xmlns:a16="http://schemas.microsoft.com/office/drawing/2014/main" val="10027"/>
                  </a:ext>
                </a:extLst>
              </a:tr>
              <a:tr h="169826">
                <a:tc>
                  <a:txBody>
                    <a:bodyPr/>
                    <a:lstStyle/>
                    <a:p>
                      <a:pPr algn="l"/>
                      <a:r>
                        <a:rPr sz="1050" b="0" i="0">
                          <a:solidFill>
                            <a:srgbClr val="000000"/>
                          </a:solidFill>
                          <a:latin typeface="Calibri"/>
                        </a:rPr>
                        <a:t>Table 58: Global Market Value of Omega-3 Fatty Acids by Region, US$ Mn, 2021–2036</a:t>
                      </a:r>
                      <a:endParaRPr sz="1050"/>
                    </a:p>
                  </a:txBody>
                  <a:tcPr marL="9525" marR="9525" marT="9525" marB="0" anchor="ctr"/>
                </a:tc>
                <a:extLst>
                  <a:ext uri="{0D108BD9-81ED-4DB2-BD59-A6C34878D82A}">
                    <a16:rowId xmlns:a16="http://schemas.microsoft.com/office/drawing/2014/main" val="10028"/>
                  </a:ext>
                </a:extLst>
              </a:tr>
              <a:tr h="169826">
                <a:tc>
                  <a:txBody>
                    <a:bodyPr/>
                    <a:lstStyle/>
                    <a:p>
                      <a:pPr algn="l"/>
                      <a:r>
                        <a:rPr sz="1050" b="0" i="0">
                          <a:solidFill>
                            <a:srgbClr val="000000"/>
                          </a:solidFill>
                          <a:latin typeface="Calibri"/>
                        </a:rPr>
                        <a:t>Table 59: Global Market Value of Routine Cognitive Wellness by Region, US$ Mn, 2021–2036</a:t>
                      </a:r>
                      <a:endParaRPr sz="1050"/>
                    </a:p>
                  </a:txBody>
                  <a:tcPr marL="9525"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0045">
                <a:tc>
                  <a:txBody>
                    <a:bodyPr/>
                    <a:lstStyle/>
                    <a:p>
                      <a:pPr algn="l"/>
                      <a:r>
                        <a:rPr sz="1050" b="0" i="0">
                          <a:solidFill>
                            <a:srgbClr val="000000"/>
                          </a:solidFill>
                          <a:latin typeface="Calibri"/>
                        </a:rPr>
                        <a:t>Table 60: Global Market Value of Bottles by Region, US$ Mn, 2021–2036</a:t>
                      </a:r>
                      <a:endParaRPr sz="1050"/>
                    </a:p>
                  </a:txBody>
                  <a:tcPr marL="9525" marR="9525" marT="9525" marB="0" anchor="ctr"/>
                </a:tc>
                <a:extLst>
                  <a:ext uri="{0D108BD9-81ED-4DB2-BD59-A6C34878D82A}">
                    <a16:rowId xmlns:a16="http://schemas.microsoft.com/office/drawing/2014/main" val="10000"/>
                  </a:ext>
                </a:extLst>
              </a:tr>
              <a:tr h="170045">
                <a:tc>
                  <a:txBody>
                    <a:bodyPr/>
                    <a:lstStyle/>
                    <a:p>
                      <a:pPr algn="l"/>
                      <a:r>
                        <a:rPr sz="1050" b="0" i="0">
                          <a:solidFill>
                            <a:srgbClr val="000000"/>
                          </a:solidFill>
                          <a:latin typeface="Calibri"/>
                        </a:rPr>
                        <a:t>Table 61: Global Market Value of Veterinary Channels by Region, US$ Mn, 2021–2036</a:t>
                      </a:r>
                      <a:endParaRPr sz="1050"/>
                    </a:p>
                  </a:txBody>
                  <a:tcPr marL="9525" marR="9525" marT="9525" marB="0" anchor="ctr"/>
                </a:tc>
                <a:extLst>
                  <a:ext uri="{0D108BD9-81ED-4DB2-BD59-A6C34878D82A}">
                    <a16:rowId xmlns:a16="http://schemas.microsoft.com/office/drawing/2014/main" val="10001"/>
                  </a:ext>
                </a:extLst>
              </a:tr>
              <a:tr h="170045">
                <a:tc>
                  <a:txBody>
                    <a:bodyPr/>
                    <a:lstStyle/>
                    <a:p>
                      <a:pPr algn="l"/>
                      <a:r>
                        <a:rPr sz="1050" b="0" i="0">
                          <a:solidFill>
                            <a:srgbClr val="000000"/>
                          </a:solidFill>
                          <a:latin typeface="Calibri"/>
                        </a:rPr>
                        <a:t>Table 62: Global Market Value of Tablets by Region, US$ Mn, 2021–2036</a:t>
                      </a:r>
                      <a:endParaRPr sz="1050"/>
                    </a:p>
                  </a:txBody>
                  <a:tcPr marL="9525" marR="9525" marT="9525" marB="0" anchor="ctr"/>
                </a:tc>
                <a:extLst>
                  <a:ext uri="{0D108BD9-81ED-4DB2-BD59-A6C34878D82A}">
                    <a16:rowId xmlns:a16="http://schemas.microsoft.com/office/drawing/2014/main" val="10002"/>
                  </a:ext>
                </a:extLst>
              </a:tr>
              <a:tr h="170045">
                <a:tc>
                  <a:txBody>
                    <a:bodyPr/>
                    <a:lstStyle/>
                    <a:p>
                      <a:pPr algn="l"/>
                      <a:r>
                        <a:rPr sz="1050" b="0" i="0">
                          <a:solidFill>
                            <a:srgbClr val="000000"/>
                          </a:solidFill>
                          <a:latin typeface="Calibri"/>
                        </a:rPr>
                        <a:t>Table 63: Global Market Value of Antioxidant Ingredients by Region, US$ Mn, 2021–2036</a:t>
                      </a:r>
                      <a:endParaRPr sz="1050"/>
                    </a:p>
                  </a:txBody>
                  <a:tcPr marL="9525" marR="9525" marT="9525" marB="0" anchor="ctr"/>
                </a:tc>
                <a:extLst>
                  <a:ext uri="{0D108BD9-81ED-4DB2-BD59-A6C34878D82A}">
                    <a16:rowId xmlns:a16="http://schemas.microsoft.com/office/drawing/2014/main" val="10003"/>
                  </a:ext>
                </a:extLst>
              </a:tr>
              <a:tr h="333289">
                <a:tc>
                  <a:txBody>
                    <a:bodyPr/>
                    <a:lstStyle/>
                    <a:p>
                      <a:pPr algn="l"/>
                      <a:r>
                        <a:rPr sz="1050" b="0" i="0">
                          <a:solidFill>
                            <a:srgbClr val="000000"/>
                          </a:solidFill>
                          <a:latin typeface="Calibri"/>
                        </a:rPr>
                        <a:t>Table 64: Global Market Value of Preventive Cognitive Support for Senior Dogs by Region, US$ Mn, 2021–2036</a:t>
                      </a:r>
                      <a:endParaRPr sz="1050"/>
                    </a:p>
                  </a:txBody>
                  <a:tcPr marL="9525" marR="9525" marT="9525" marB="0" anchor="ctr"/>
                </a:tc>
                <a:extLst>
                  <a:ext uri="{0D108BD9-81ED-4DB2-BD59-A6C34878D82A}">
                    <a16:rowId xmlns:a16="http://schemas.microsoft.com/office/drawing/2014/main" val="10004"/>
                  </a:ext>
                </a:extLst>
              </a:tr>
              <a:tr h="170045">
                <a:tc>
                  <a:txBody>
                    <a:bodyPr/>
                    <a:lstStyle/>
                    <a:p>
                      <a:pPr algn="l"/>
                      <a:r>
                        <a:rPr sz="1050" b="0" i="0">
                          <a:solidFill>
                            <a:srgbClr val="000000"/>
                          </a:solidFill>
                          <a:latin typeface="Calibri"/>
                        </a:rPr>
                        <a:t>Table 65: Global Market Value of Jars and Tubs by Region, US$ Mn, 2021–2036</a:t>
                      </a:r>
                      <a:endParaRPr sz="1050"/>
                    </a:p>
                  </a:txBody>
                  <a:tcPr marL="9525" marR="9525" marT="9525" marB="0" anchor="ctr"/>
                </a:tc>
                <a:extLst>
                  <a:ext uri="{0D108BD9-81ED-4DB2-BD59-A6C34878D82A}">
                    <a16:rowId xmlns:a16="http://schemas.microsoft.com/office/drawing/2014/main" val="10005"/>
                  </a:ext>
                </a:extLst>
              </a:tr>
              <a:tr h="170045">
                <a:tc>
                  <a:txBody>
                    <a:bodyPr/>
                    <a:lstStyle/>
                    <a:p>
                      <a:pPr algn="l"/>
                      <a:r>
                        <a:rPr sz="1050" b="0" i="0">
                          <a:solidFill>
                            <a:srgbClr val="000000"/>
                          </a:solidFill>
                          <a:latin typeface="Calibri"/>
                        </a:rPr>
                        <a:t>Table 66: Global Market Value of Specialist Pet Retail by Region, US$ Mn, 2021–2036</a:t>
                      </a:r>
                      <a:endParaRPr sz="1050"/>
                    </a:p>
                  </a:txBody>
                  <a:tcPr marL="9525" marR="9525" marT="9525" marB="0" anchor="ctr"/>
                </a:tc>
                <a:extLst>
                  <a:ext uri="{0D108BD9-81ED-4DB2-BD59-A6C34878D82A}">
                    <a16:rowId xmlns:a16="http://schemas.microsoft.com/office/drawing/2014/main" val="10006"/>
                  </a:ext>
                </a:extLst>
              </a:tr>
              <a:tr h="170045">
                <a:tc>
                  <a:txBody>
                    <a:bodyPr/>
                    <a:lstStyle/>
                    <a:p>
                      <a:pPr algn="l"/>
                      <a:r>
                        <a:rPr sz="1050" b="0" i="0">
                          <a:solidFill>
                            <a:srgbClr val="000000"/>
                          </a:solidFill>
                          <a:latin typeface="Calibri"/>
                        </a:rPr>
                        <a:t>Table 67: Global Market Value of Capsules and Softgels by Region, US$ Mn, 2021–2036</a:t>
                      </a:r>
                      <a:endParaRPr sz="1050"/>
                    </a:p>
                  </a:txBody>
                  <a:tcPr marL="9525" marR="9525" marT="9525" marB="0" anchor="ctr"/>
                </a:tc>
                <a:extLst>
                  <a:ext uri="{0D108BD9-81ED-4DB2-BD59-A6C34878D82A}">
                    <a16:rowId xmlns:a16="http://schemas.microsoft.com/office/drawing/2014/main" val="10007"/>
                  </a:ext>
                </a:extLst>
              </a:tr>
              <a:tr h="170045">
                <a:tc>
                  <a:txBody>
                    <a:bodyPr/>
                    <a:lstStyle/>
                    <a:p>
                      <a:pPr algn="l"/>
                      <a:r>
                        <a:rPr sz="1050" b="0" i="0">
                          <a:solidFill>
                            <a:srgbClr val="000000"/>
                          </a:solidFill>
                          <a:latin typeface="Calibri"/>
                        </a:rPr>
                        <a:t>Table 68: Global Market Value of Neurofunctional Nutrients by Region, US$ Mn, 2021–2036</a:t>
                      </a:r>
                      <a:endParaRPr sz="1050"/>
                    </a:p>
                  </a:txBody>
                  <a:tcPr marL="9525" marR="9525" marT="9525" marB="0" anchor="ctr"/>
                </a:tc>
                <a:extLst>
                  <a:ext uri="{0D108BD9-81ED-4DB2-BD59-A6C34878D82A}">
                    <a16:rowId xmlns:a16="http://schemas.microsoft.com/office/drawing/2014/main" val="10008"/>
                  </a:ext>
                </a:extLst>
              </a:tr>
              <a:tr h="333289">
                <a:tc>
                  <a:txBody>
                    <a:bodyPr/>
                    <a:lstStyle/>
                    <a:p>
                      <a:pPr algn="l"/>
                      <a:r>
                        <a:rPr sz="1050" b="0" i="0">
                          <a:solidFill>
                            <a:srgbClr val="000000"/>
                          </a:solidFill>
                          <a:latin typeface="Calibri"/>
                        </a:rPr>
                        <a:t>Table 69: Global Market Value of Support for Observable Age-Related Cognitive Changes by Region, US$ Mn, 2021–2036</a:t>
                      </a:r>
                      <a:endParaRPr sz="1050"/>
                    </a:p>
                  </a:txBody>
                  <a:tcPr marL="9525" marR="9525" marT="9525" marB="0" anchor="ctr"/>
                </a:tc>
                <a:extLst>
                  <a:ext uri="{0D108BD9-81ED-4DB2-BD59-A6C34878D82A}">
                    <a16:rowId xmlns:a16="http://schemas.microsoft.com/office/drawing/2014/main" val="10009"/>
                  </a:ext>
                </a:extLst>
              </a:tr>
              <a:tr h="170045">
                <a:tc>
                  <a:txBody>
                    <a:bodyPr/>
                    <a:lstStyle/>
                    <a:p>
                      <a:pPr algn="l"/>
                      <a:r>
                        <a:rPr sz="1050" b="0" i="0">
                          <a:solidFill>
                            <a:srgbClr val="000000"/>
                          </a:solidFill>
                          <a:latin typeface="Calibri"/>
                        </a:rPr>
                        <a:t>Table 70: Global Market Value of Pouches by Region, US$ Mn, 2021–2036</a:t>
                      </a:r>
                      <a:endParaRPr sz="1050"/>
                    </a:p>
                  </a:txBody>
                  <a:tcPr marL="9525" marR="9525" marT="9525" marB="0" anchor="ctr"/>
                </a:tc>
                <a:extLst>
                  <a:ext uri="{0D108BD9-81ED-4DB2-BD59-A6C34878D82A}">
                    <a16:rowId xmlns:a16="http://schemas.microsoft.com/office/drawing/2014/main" val="10010"/>
                  </a:ext>
                </a:extLst>
              </a:tr>
              <a:tr h="170045">
                <a:tc>
                  <a:txBody>
                    <a:bodyPr/>
                    <a:lstStyle/>
                    <a:p>
                      <a:pPr algn="l"/>
                      <a:r>
                        <a:rPr sz="1050" b="0" i="0">
                          <a:solidFill>
                            <a:srgbClr val="000000"/>
                          </a:solidFill>
                          <a:latin typeface="Calibri"/>
                        </a:rPr>
                        <a:t>Table 71: Global Market Value of General Retail by Region, US$ Mn, 2021–2036</a:t>
                      </a:r>
                      <a:endParaRPr sz="1050"/>
                    </a:p>
                  </a:txBody>
                  <a:tcPr marL="9525" marR="9525" marT="9525" marB="0" anchor="ctr"/>
                </a:tc>
                <a:extLst>
                  <a:ext uri="{0D108BD9-81ED-4DB2-BD59-A6C34878D82A}">
                    <a16:rowId xmlns:a16="http://schemas.microsoft.com/office/drawing/2014/main" val="10011"/>
                  </a:ext>
                </a:extLst>
              </a:tr>
              <a:tr h="170045">
                <a:tc>
                  <a:txBody>
                    <a:bodyPr/>
                    <a:lstStyle/>
                    <a:p>
                      <a:pPr algn="l"/>
                      <a:r>
                        <a:rPr sz="1050" b="0" i="0">
                          <a:solidFill>
                            <a:srgbClr val="000000"/>
                          </a:solidFill>
                          <a:latin typeface="Calibri"/>
                        </a:rPr>
                        <a:t>Table 72: Global Market Value of Powders and Granules by Region, US$ Mn, 2021–2036</a:t>
                      </a:r>
                      <a:endParaRPr sz="1050"/>
                    </a:p>
                  </a:txBody>
                  <a:tcPr marL="9525" marR="9525" marT="9525" marB="0" anchor="ctr"/>
                </a:tc>
                <a:extLst>
                  <a:ext uri="{0D108BD9-81ED-4DB2-BD59-A6C34878D82A}">
                    <a16:rowId xmlns:a16="http://schemas.microsoft.com/office/drawing/2014/main" val="10012"/>
                  </a:ext>
                </a:extLst>
              </a:tr>
              <a:tr h="170045">
                <a:tc>
                  <a:txBody>
                    <a:bodyPr/>
                    <a:lstStyle/>
                    <a:p>
                      <a:pPr algn="l"/>
                      <a:r>
                        <a:rPr sz="1050" b="0" i="0">
                          <a:solidFill>
                            <a:srgbClr val="000000"/>
                          </a:solidFill>
                          <a:latin typeface="Calibri"/>
                        </a:rPr>
                        <a:t>Table 73: Global Market Value by Form Type and Active Ingredient, US$ Mn, 2026–2036</a:t>
                      </a:r>
                      <a:endParaRPr sz="1050"/>
                    </a:p>
                  </a:txBody>
                  <a:tcPr marL="9525" marR="9525" marT="9525" marB="0" anchor="ctr"/>
                </a:tc>
                <a:extLst>
                  <a:ext uri="{0D108BD9-81ED-4DB2-BD59-A6C34878D82A}">
                    <a16:rowId xmlns:a16="http://schemas.microsoft.com/office/drawing/2014/main" val="10013"/>
                  </a:ext>
                </a:extLst>
              </a:tr>
              <a:tr h="170045">
                <a:tc>
                  <a:txBody>
                    <a:bodyPr/>
                    <a:lstStyle/>
                    <a:p>
                      <a:pPr algn="l"/>
                      <a:r>
                        <a:rPr sz="1050" b="0" i="0">
                          <a:solidFill>
                            <a:srgbClr val="000000"/>
                          </a:solidFill>
                          <a:latin typeface="Calibri"/>
                        </a:rPr>
                        <a:t>Table 74: Global Market Value by Form Type and End-use Application, US$ Mn, 2026–2036</a:t>
                      </a:r>
                      <a:endParaRPr sz="1050"/>
                    </a:p>
                  </a:txBody>
                  <a:tcPr marL="9525" marR="9525" marT="9525" marB="0" anchor="ctr"/>
                </a:tc>
                <a:extLst>
                  <a:ext uri="{0D108BD9-81ED-4DB2-BD59-A6C34878D82A}">
                    <a16:rowId xmlns:a16="http://schemas.microsoft.com/office/drawing/2014/main" val="10014"/>
                  </a:ext>
                </a:extLst>
              </a:tr>
              <a:tr h="170045">
                <a:tc>
                  <a:txBody>
                    <a:bodyPr/>
                    <a:lstStyle/>
                    <a:p>
                      <a:pPr algn="l"/>
                      <a:r>
                        <a:rPr sz="1050" b="0" i="0">
                          <a:solidFill>
                            <a:srgbClr val="000000"/>
                          </a:solidFill>
                          <a:latin typeface="Calibri"/>
                        </a:rPr>
                        <a:t>Table 75: Global Market Value by Form Type and Packaging Format, US$ Mn, 2026–2036</a:t>
                      </a:r>
                      <a:endParaRPr sz="1050"/>
                    </a:p>
                  </a:txBody>
                  <a:tcPr marL="9525" marR="9525" marT="9525" marB="0" anchor="ctr"/>
                </a:tc>
                <a:extLst>
                  <a:ext uri="{0D108BD9-81ED-4DB2-BD59-A6C34878D82A}">
                    <a16:rowId xmlns:a16="http://schemas.microsoft.com/office/drawing/2014/main" val="10015"/>
                  </a:ext>
                </a:extLst>
              </a:tr>
              <a:tr h="170045">
                <a:tc>
                  <a:txBody>
                    <a:bodyPr/>
                    <a:lstStyle/>
                    <a:p>
                      <a:pPr algn="l"/>
                      <a:r>
                        <a:rPr sz="1050" b="0" i="0">
                          <a:solidFill>
                            <a:srgbClr val="000000"/>
                          </a:solidFill>
                          <a:latin typeface="Calibri"/>
                        </a:rPr>
                        <a:t>Table 76: Global Market Value by Form Type and Sales Channel, US$ Mn, 2026–2036</a:t>
                      </a:r>
                      <a:endParaRPr sz="1050"/>
                    </a:p>
                  </a:txBody>
                  <a:tcPr marL="9525" marR="9525" marT="9525" marB="0" anchor="ctr"/>
                </a:tc>
                <a:extLst>
                  <a:ext uri="{0D108BD9-81ED-4DB2-BD59-A6C34878D82A}">
                    <a16:rowId xmlns:a16="http://schemas.microsoft.com/office/drawing/2014/main" val="10016"/>
                  </a:ext>
                </a:extLst>
              </a:tr>
              <a:tr h="170045">
                <a:tc>
                  <a:txBody>
                    <a:bodyPr/>
                    <a:lstStyle/>
                    <a:p>
                      <a:pPr algn="l"/>
                      <a:r>
                        <a:rPr sz="1050" b="0" i="0">
                          <a:solidFill>
                            <a:srgbClr val="000000"/>
                          </a:solidFill>
                          <a:latin typeface="Calibri"/>
                        </a:rPr>
                        <a:t>Table 77: Global Market Value by Active Ingredient and End-use Application, US$ Mn, 2026–2036</a:t>
                      </a:r>
                      <a:endParaRPr sz="1050"/>
                    </a:p>
                  </a:txBody>
                  <a:tcPr marL="9525" marR="9525" marT="9525" marB="0" anchor="ctr"/>
                </a:tc>
                <a:extLst>
                  <a:ext uri="{0D108BD9-81ED-4DB2-BD59-A6C34878D82A}">
                    <a16:rowId xmlns:a16="http://schemas.microsoft.com/office/drawing/2014/main" val="10017"/>
                  </a:ext>
                </a:extLst>
              </a:tr>
              <a:tr h="170045">
                <a:tc>
                  <a:txBody>
                    <a:bodyPr/>
                    <a:lstStyle/>
                    <a:p>
                      <a:pPr algn="l"/>
                      <a:r>
                        <a:rPr sz="1050" b="0" i="0">
                          <a:solidFill>
                            <a:srgbClr val="000000"/>
                          </a:solidFill>
                          <a:latin typeface="Calibri"/>
                        </a:rPr>
                        <a:t>Table 78: Global Market Value by Active Ingredient and Packaging Format, US$ Mn, 2026–2036</a:t>
                      </a:r>
                      <a:endParaRPr sz="1050"/>
                    </a:p>
                  </a:txBody>
                  <a:tcPr marL="9525" marR="9525" marT="9525" marB="0" anchor="ctr"/>
                </a:tc>
                <a:extLst>
                  <a:ext uri="{0D108BD9-81ED-4DB2-BD59-A6C34878D82A}">
                    <a16:rowId xmlns:a16="http://schemas.microsoft.com/office/drawing/2014/main" val="10018"/>
                  </a:ext>
                </a:extLst>
              </a:tr>
              <a:tr h="170045">
                <a:tc>
                  <a:txBody>
                    <a:bodyPr/>
                    <a:lstStyle/>
                    <a:p>
                      <a:pPr algn="l"/>
                      <a:r>
                        <a:rPr sz="1050" b="0" i="0">
                          <a:solidFill>
                            <a:srgbClr val="000000"/>
                          </a:solidFill>
                          <a:latin typeface="Calibri"/>
                        </a:rPr>
                        <a:t>Table 79: Global Market Value by Active Ingredient and Sales Channel, US$ Mn, 2026–2036</a:t>
                      </a:r>
                      <a:endParaRPr sz="1050"/>
                    </a:p>
                  </a:txBody>
                  <a:tcPr marL="9525" marR="9525" marT="9525" marB="0" anchor="ctr"/>
                </a:tc>
                <a:extLst>
                  <a:ext uri="{0D108BD9-81ED-4DB2-BD59-A6C34878D82A}">
                    <a16:rowId xmlns:a16="http://schemas.microsoft.com/office/drawing/2014/main" val="10019"/>
                  </a:ext>
                </a:extLst>
              </a:tr>
              <a:tr h="170045">
                <a:tc>
                  <a:txBody>
                    <a:bodyPr/>
                    <a:lstStyle/>
                    <a:p>
                      <a:pPr algn="l"/>
                      <a:r>
                        <a:rPr sz="1050" b="0" i="0">
                          <a:solidFill>
                            <a:srgbClr val="000000"/>
                          </a:solidFill>
                          <a:latin typeface="Calibri"/>
                        </a:rPr>
                        <a:t>Table 80: Global Market Value by End-use Application and Packaging Format, US$ Mn, 2026–2036</a:t>
                      </a:r>
                      <a:endParaRPr sz="1050"/>
                    </a:p>
                  </a:txBody>
                  <a:tcPr marL="9525" marR="9525" marT="9525" marB="0" anchor="ctr"/>
                </a:tc>
                <a:extLst>
                  <a:ext uri="{0D108BD9-81ED-4DB2-BD59-A6C34878D82A}">
                    <a16:rowId xmlns:a16="http://schemas.microsoft.com/office/drawing/2014/main" val="10020"/>
                  </a:ext>
                </a:extLst>
              </a:tr>
              <a:tr h="170045">
                <a:tc>
                  <a:txBody>
                    <a:bodyPr/>
                    <a:lstStyle/>
                    <a:p>
                      <a:pPr algn="l"/>
                      <a:r>
                        <a:rPr sz="1050" b="0" i="0">
                          <a:solidFill>
                            <a:srgbClr val="000000"/>
                          </a:solidFill>
                          <a:latin typeface="Calibri"/>
                        </a:rPr>
                        <a:t>Table 81: Global Market Value by End-use Application and Sales Channel, US$ Mn, 2026–2036</a:t>
                      </a:r>
                      <a:endParaRPr sz="1050"/>
                    </a:p>
                  </a:txBody>
                  <a:tcPr marL="9525" marR="9525" marT="9525" marB="0" anchor="ctr"/>
                </a:tc>
                <a:extLst>
                  <a:ext uri="{0D108BD9-81ED-4DB2-BD59-A6C34878D82A}">
                    <a16:rowId xmlns:a16="http://schemas.microsoft.com/office/drawing/2014/main" val="10021"/>
                  </a:ext>
                </a:extLst>
              </a:tr>
              <a:tr h="170045">
                <a:tc>
                  <a:txBody>
                    <a:bodyPr/>
                    <a:lstStyle/>
                    <a:p>
                      <a:pPr algn="l"/>
                      <a:r>
                        <a:rPr sz="1050" b="0" i="0">
                          <a:solidFill>
                            <a:srgbClr val="000000"/>
                          </a:solidFill>
                          <a:latin typeface="Calibri"/>
                        </a:rPr>
                        <a:t>Table 82: Global Market Value by Packaging Format and Sales Channel, US$ Mn, 2026–2036</a:t>
                      </a:r>
                      <a:endParaRPr sz="1050"/>
                    </a:p>
                  </a:txBody>
                  <a:tcPr marL="9525" marR="9525" marT="9525" marB="0" anchor="ctr"/>
                </a:tc>
                <a:extLst>
                  <a:ext uri="{0D108BD9-81ED-4DB2-BD59-A6C34878D82A}">
                    <a16:rowId xmlns:a16="http://schemas.microsoft.com/office/drawing/2014/main" val="10022"/>
                  </a:ext>
                </a:extLst>
              </a:tr>
              <a:tr h="170045">
                <a:tc>
                  <a:txBody>
                    <a:bodyPr/>
                    <a:lstStyle/>
                    <a:p>
                      <a:pPr algn="l"/>
                      <a:r>
                        <a:rPr sz="1050" b="0" i="0">
                          <a:solidFill>
                            <a:srgbClr val="000000"/>
                          </a:solidFill>
                          <a:latin typeface="Calibri"/>
                        </a:rPr>
                        <a:t>Table 83: Global Market Value by Region and Form Type, US$ Mn, 2026–2036</a:t>
                      </a:r>
                      <a:endParaRPr sz="1050"/>
                    </a:p>
                  </a:txBody>
                  <a:tcPr marL="9525" marR="9525" marT="9525" marB="0" anchor="ctr"/>
                </a:tc>
                <a:extLst>
                  <a:ext uri="{0D108BD9-81ED-4DB2-BD59-A6C34878D82A}">
                    <a16:rowId xmlns:a16="http://schemas.microsoft.com/office/drawing/2014/main" val="10023"/>
                  </a:ext>
                </a:extLst>
              </a:tr>
              <a:tr h="170045">
                <a:tc>
                  <a:txBody>
                    <a:bodyPr/>
                    <a:lstStyle/>
                    <a:p>
                      <a:pPr algn="l"/>
                      <a:r>
                        <a:rPr sz="1050" b="0" i="0">
                          <a:solidFill>
                            <a:srgbClr val="000000"/>
                          </a:solidFill>
                          <a:latin typeface="Calibri"/>
                        </a:rPr>
                        <a:t>Table 84: Global Market Value by Region and Active Ingredient, US$ Mn, 2026–2036</a:t>
                      </a:r>
                      <a:endParaRPr sz="1050"/>
                    </a:p>
                  </a:txBody>
                  <a:tcPr marL="9525" marR="9525" marT="9525" marB="0" anchor="ctr"/>
                </a:tc>
                <a:extLst>
                  <a:ext uri="{0D108BD9-81ED-4DB2-BD59-A6C34878D82A}">
                    <a16:rowId xmlns:a16="http://schemas.microsoft.com/office/drawing/2014/main" val="10024"/>
                  </a:ext>
                </a:extLst>
              </a:tr>
              <a:tr h="170045">
                <a:tc>
                  <a:txBody>
                    <a:bodyPr/>
                    <a:lstStyle/>
                    <a:p>
                      <a:pPr algn="l"/>
                      <a:r>
                        <a:rPr sz="1050" b="0" i="0">
                          <a:solidFill>
                            <a:srgbClr val="000000"/>
                          </a:solidFill>
                          <a:latin typeface="Calibri"/>
                        </a:rPr>
                        <a:t>Table 85: Global Market Value by Region and End-use Application, US$ Mn, 2026–2036</a:t>
                      </a:r>
                      <a:endParaRPr sz="1050"/>
                    </a:p>
                  </a:txBody>
                  <a:tcPr marL="9525" marR="9525" marT="9525" marB="0" anchor="ctr"/>
                </a:tc>
                <a:extLst>
                  <a:ext uri="{0D108BD9-81ED-4DB2-BD59-A6C34878D82A}">
                    <a16:rowId xmlns:a16="http://schemas.microsoft.com/office/drawing/2014/main" val="10025"/>
                  </a:ext>
                </a:extLst>
              </a:tr>
              <a:tr h="170045">
                <a:tc>
                  <a:txBody>
                    <a:bodyPr/>
                    <a:lstStyle/>
                    <a:p>
                      <a:pPr algn="l"/>
                      <a:r>
                        <a:rPr sz="1050" b="0" i="0">
                          <a:solidFill>
                            <a:srgbClr val="000000"/>
                          </a:solidFill>
                          <a:latin typeface="Calibri"/>
                        </a:rPr>
                        <a:t>Table 86: Global Market Value by Region and Packaging Format, US$ Mn, 2026–2036</a:t>
                      </a:r>
                      <a:endParaRPr sz="1050"/>
                    </a:p>
                  </a:txBody>
                  <a:tcPr marL="9525" marR="9525" marT="9525" marB="0" anchor="ctr"/>
                </a:tc>
                <a:extLst>
                  <a:ext uri="{0D108BD9-81ED-4DB2-BD59-A6C34878D82A}">
                    <a16:rowId xmlns:a16="http://schemas.microsoft.com/office/drawing/2014/main" val="10026"/>
                  </a:ext>
                </a:extLst>
              </a:tr>
              <a:tr h="170045">
                <a:tc>
                  <a:txBody>
                    <a:bodyPr/>
                    <a:lstStyle/>
                    <a:p>
                      <a:pPr algn="l"/>
                      <a:r>
                        <a:rPr sz="1050" b="0" i="0">
                          <a:solidFill>
                            <a:srgbClr val="000000"/>
                          </a:solidFill>
                          <a:latin typeface="Calibri"/>
                        </a:rPr>
                        <a:t>Table 87: Global Market Value by Region and Sales Channel, US$ Mn, 2026–2036</a:t>
                      </a:r>
                      <a:endParaRPr sz="1050"/>
                    </a:p>
                  </a:txBody>
                  <a:tcPr marL="9525" marR="9525" marT="9525" marB="0" anchor="ctr"/>
                </a:tc>
                <a:extLst>
                  <a:ext uri="{0D108BD9-81ED-4DB2-BD59-A6C34878D82A}">
                    <a16:rowId xmlns:a16="http://schemas.microsoft.com/office/drawing/2014/main" val="10027"/>
                  </a:ext>
                </a:extLst>
              </a:tr>
              <a:tr h="170045">
                <a:tc>
                  <a:txBody>
                    <a:bodyPr/>
                    <a:lstStyle/>
                    <a:p>
                      <a:pPr algn="l"/>
                      <a:r>
                        <a:rPr sz="1050" b="0" i="0">
                          <a:solidFill>
                            <a:srgbClr val="000000"/>
                          </a:solidFill>
                          <a:latin typeface="Calibri"/>
                        </a:rPr>
                        <a:t>Table 88: Global Market CAGR by Form Type and Active Ingredient, %, 2026–2036</a:t>
                      </a:r>
                      <a:endParaRPr sz="1050"/>
                    </a:p>
                  </a:txBody>
                  <a:tcPr marL="9525" marR="9525" marT="9525" marB="0" anchor="ctr"/>
                </a:tc>
                <a:extLst>
                  <a:ext uri="{0D108BD9-81ED-4DB2-BD59-A6C34878D82A}">
                    <a16:rowId xmlns:a16="http://schemas.microsoft.com/office/drawing/2014/main" val="10028"/>
                  </a:ext>
                </a:extLst>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0266">
                <a:tc>
                  <a:txBody>
                    <a:bodyPr/>
                    <a:lstStyle/>
                    <a:p>
                      <a:pPr algn="l"/>
                      <a:r>
                        <a:rPr sz="1050" b="0" i="0">
                          <a:solidFill>
                            <a:srgbClr val="000000"/>
                          </a:solidFill>
                          <a:latin typeface="Calibri"/>
                        </a:rPr>
                        <a:t>Table 89: Global Market CAGR by Form Type and End-use Application, %, 2026–2036</a:t>
                      </a:r>
                      <a:endParaRPr sz="1050"/>
                    </a:p>
                  </a:txBody>
                  <a:tcPr marL="9525" marR="9525" marT="9525" marB="0" anchor="ctr"/>
                </a:tc>
                <a:extLst>
                  <a:ext uri="{0D108BD9-81ED-4DB2-BD59-A6C34878D82A}">
                    <a16:rowId xmlns:a16="http://schemas.microsoft.com/office/drawing/2014/main" val="10000"/>
                  </a:ext>
                </a:extLst>
              </a:tr>
              <a:tr h="170266">
                <a:tc>
                  <a:txBody>
                    <a:bodyPr/>
                    <a:lstStyle/>
                    <a:p>
                      <a:pPr algn="l"/>
                      <a:r>
                        <a:rPr sz="1050" b="0" i="0">
                          <a:solidFill>
                            <a:srgbClr val="000000"/>
                          </a:solidFill>
                          <a:latin typeface="Calibri"/>
                        </a:rPr>
                        <a:t>Table 90: Global Market CAGR by Form Type and Packaging Format, %, 2026–2036</a:t>
                      </a:r>
                      <a:endParaRPr sz="1050"/>
                    </a:p>
                  </a:txBody>
                  <a:tcPr marL="9525" marR="9525" marT="9525" marB="0" anchor="ctr"/>
                </a:tc>
                <a:extLst>
                  <a:ext uri="{0D108BD9-81ED-4DB2-BD59-A6C34878D82A}">
                    <a16:rowId xmlns:a16="http://schemas.microsoft.com/office/drawing/2014/main" val="10001"/>
                  </a:ext>
                </a:extLst>
              </a:tr>
              <a:tr h="170266">
                <a:tc>
                  <a:txBody>
                    <a:bodyPr/>
                    <a:lstStyle/>
                    <a:p>
                      <a:pPr algn="l"/>
                      <a:r>
                        <a:rPr sz="1050" b="0" i="0">
                          <a:solidFill>
                            <a:srgbClr val="000000"/>
                          </a:solidFill>
                          <a:latin typeface="Calibri"/>
                        </a:rPr>
                        <a:t>Table 91: Global Market CAGR by Form Type and Sales Channel, %, 2026–2036</a:t>
                      </a:r>
                      <a:endParaRPr sz="1050"/>
                    </a:p>
                  </a:txBody>
                  <a:tcPr marL="9525" marR="9525" marT="9525" marB="0" anchor="ctr"/>
                </a:tc>
                <a:extLst>
                  <a:ext uri="{0D108BD9-81ED-4DB2-BD59-A6C34878D82A}">
                    <a16:rowId xmlns:a16="http://schemas.microsoft.com/office/drawing/2014/main" val="10002"/>
                  </a:ext>
                </a:extLst>
              </a:tr>
              <a:tr h="170266">
                <a:tc>
                  <a:txBody>
                    <a:bodyPr/>
                    <a:lstStyle/>
                    <a:p>
                      <a:pPr algn="l"/>
                      <a:r>
                        <a:rPr sz="1050" b="0" i="0">
                          <a:solidFill>
                            <a:srgbClr val="000000"/>
                          </a:solidFill>
                          <a:latin typeface="Calibri"/>
                        </a:rPr>
                        <a:t>Table 92: Global Market CAGR by Active Ingredient and End-use Application, %, 2026–2036</a:t>
                      </a:r>
                      <a:endParaRPr sz="1050"/>
                    </a:p>
                  </a:txBody>
                  <a:tcPr marL="9525" marR="9525" marT="9525" marB="0" anchor="ctr"/>
                </a:tc>
                <a:extLst>
                  <a:ext uri="{0D108BD9-81ED-4DB2-BD59-A6C34878D82A}">
                    <a16:rowId xmlns:a16="http://schemas.microsoft.com/office/drawing/2014/main" val="10003"/>
                  </a:ext>
                </a:extLst>
              </a:tr>
              <a:tr h="170266">
                <a:tc>
                  <a:txBody>
                    <a:bodyPr/>
                    <a:lstStyle/>
                    <a:p>
                      <a:pPr algn="l"/>
                      <a:r>
                        <a:rPr sz="1050" b="0" i="0">
                          <a:solidFill>
                            <a:srgbClr val="000000"/>
                          </a:solidFill>
                          <a:latin typeface="Calibri"/>
                        </a:rPr>
                        <a:t>Table 93: Global Market CAGR by Active Ingredient and Packaging Format, %, 2026–2036</a:t>
                      </a:r>
                      <a:endParaRPr sz="1050"/>
                    </a:p>
                  </a:txBody>
                  <a:tcPr marL="9525" marR="9525" marT="9525" marB="0" anchor="ctr"/>
                </a:tc>
                <a:extLst>
                  <a:ext uri="{0D108BD9-81ED-4DB2-BD59-A6C34878D82A}">
                    <a16:rowId xmlns:a16="http://schemas.microsoft.com/office/drawing/2014/main" val="10004"/>
                  </a:ext>
                </a:extLst>
              </a:tr>
              <a:tr h="170266">
                <a:tc>
                  <a:txBody>
                    <a:bodyPr/>
                    <a:lstStyle/>
                    <a:p>
                      <a:pPr algn="l"/>
                      <a:r>
                        <a:rPr sz="1050" b="0" i="0">
                          <a:solidFill>
                            <a:srgbClr val="000000"/>
                          </a:solidFill>
                          <a:latin typeface="Calibri"/>
                        </a:rPr>
                        <a:t>Table 94: Global Market CAGR by Active Ingredient and Sales Channel, %, 2026–2036</a:t>
                      </a:r>
                      <a:endParaRPr sz="1050"/>
                    </a:p>
                  </a:txBody>
                  <a:tcPr marL="9525" marR="9525" marT="9525" marB="0" anchor="ctr"/>
                </a:tc>
                <a:extLst>
                  <a:ext uri="{0D108BD9-81ED-4DB2-BD59-A6C34878D82A}">
                    <a16:rowId xmlns:a16="http://schemas.microsoft.com/office/drawing/2014/main" val="10005"/>
                  </a:ext>
                </a:extLst>
              </a:tr>
              <a:tr h="170266">
                <a:tc>
                  <a:txBody>
                    <a:bodyPr/>
                    <a:lstStyle/>
                    <a:p>
                      <a:pPr algn="l"/>
                      <a:r>
                        <a:rPr sz="1050" b="0" i="0">
                          <a:solidFill>
                            <a:srgbClr val="000000"/>
                          </a:solidFill>
                          <a:latin typeface="Calibri"/>
                        </a:rPr>
                        <a:t>Table 95: Global Market CAGR by End-use Application and Packaging Format, %, 2026–2036</a:t>
                      </a:r>
                      <a:endParaRPr sz="1050"/>
                    </a:p>
                  </a:txBody>
                  <a:tcPr marL="9525" marR="9525" marT="9525" marB="0" anchor="ctr"/>
                </a:tc>
                <a:extLst>
                  <a:ext uri="{0D108BD9-81ED-4DB2-BD59-A6C34878D82A}">
                    <a16:rowId xmlns:a16="http://schemas.microsoft.com/office/drawing/2014/main" val="10006"/>
                  </a:ext>
                </a:extLst>
              </a:tr>
              <a:tr h="170266">
                <a:tc>
                  <a:txBody>
                    <a:bodyPr/>
                    <a:lstStyle/>
                    <a:p>
                      <a:pPr algn="l"/>
                      <a:r>
                        <a:rPr sz="1050" b="0" i="0">
                          <a:solidFill>
                            <a:srgbClr val="000000"/>
                          </a:solidFill>
                          <a:latin typeface="Calibri"/>
                        </a:rPr>
                        <a:t>Table 96: Global Market CAGR by End-use Application and Sales Channel, %, 2026–2036</a:t>
                      </a:r>
                      <a:endParaRPr sz="1050"/>
                    </a:p>
                  </a:txBody>
                  <a:tcPr marL="9525" marR="9525" marT="9525" marB="0" anchor="ctr"/>
                </a:tc>
                <a:extLst>
                  <a:ext uri="{0D108BD9-81ED-4DB2-BD59-A6C34878D82A}">
                    <a16:rowId xmlns:a16="http://schemas.microsoft.com/office/drawing/2014/main" val="10007"/>
                  </a:ext>
                </a:extLst>
              </a:tr>
              <a:tr h="170266">
                <a:tc>
                  <a:txBody>
                    <a:bodyPr/>
                    <a:lstStyle/>
                    <a:p>
                      <a:pPr algn="l"/>
                      <a:r>
                        <a:rPr sz="1050" b="0" i="0">
                          <a:solidFill>
                            <a:srgbClr val="000000"/>
                          </a:solidFill>
                          <a:latin typeface="Calibri"/>
                        </a:rPr>
                        <a:t>Table 97: Global Market CAGR by Packaging Format and Sales Channel, %, 2026–2036</a:t>
                      </a:r>
                      <a:endParaRPr sz="1050"/>
                    </a:p>
                  </a:txBody>
                  <a:tcPr marL="9525" marR="9525" marT="9525" marB="0" anchor="ctr"/>
                </a:tc>
                <a:extLst>
                  <a:ext uri="{0D108BD9-81ED-4DB2-BD59-A6C34878D82A}">
                    <a16:rowId xmlns:a16="http://schemas.microsoft.com/office/drawing/2014/main" val="10008"/>
                  </a:ext>
                </a:extLst>
              </a:tr>
              <a:tr h="170266">
                <a:tc>
                  <a:txBody>
                    <a:bodyPr/>
                    <a:lstStyle/>
                    <a:p>
                      <a:pPr algn="l"/>
                      <a:r>
                        <a:rPr sz="1050" b="0" i="0">
                          <a:solidFill>
                            <a:srgbClr val="000000"/>
                          </a:solidFill>
                          <a:latin typeface="Calibri"/>
                        </a:rPr>
                        <a:t>Table 98: Global Market Value by Region, US$ Mn, 2021–2036</a:t>
                      </a:r>
                      <a:endParaRPr sz="1050"/>
                    </a:p>
                  </a:txBody>
                  <a:tcPr marL="9525" marR="9525" marT="9525" marB="0" anchor="ctr"/>
                </a:tc>
                <a:extLst>
                  <a:ext uri="{0D108BD9-81ED-4DB2-BD59-A6C34878D82A}">
                    <a16:rowId xmlns:a16="http://schemas.microsoft.com/office/drawing/2014/main" val="10009"/>
                  </a:ext>
                </a:extLst>
              </a:tr>
              <a:tr h="170266">
                <a:tc>
                  <a:txBody>
                    <a:bodyPr/>
                    <a:lstStyle/>
                    <a:p>
                      <a:pPr algn="l"/>
                      <a:r>
                        <a:rPr sz="1050" b="0" i="0">
                          <a:solidFill>
                            <a:srgbClr val="000000"/>
                          </a:solidFill>
                          <a:latin typeface="Calibri"/>
                        </a:rPr>
                        <a:t>Table 99: Global Market CAGR and Absolute $ Opportunity by Region, %, US$ Mn, 2026–2036</a:t>
                      </a:r>
                      <a:endParaRPr sz="1050"/>
                    </a:p>
                  </a:txBody>
                  <a:tcPr marL="9525" marR="9525" marT="9525" marB="0" anchor="ctr"/>
                </a:tc>
                <a:extLst>
                  <a:ext uri="{0D108BD9-81ED-4DB2-BD59-A6C34878D82A}">
                    <a16:rowId xmlns:a16="http://schemas.microsoft.com/office/drawing/2014/main" val="10010"/>
                  </a:ext>
                </a:extLst>
              </a:tr>
              <a:tr h="170266">
                <a:tc>
                  <a:txBody>
                    <a:bodyPr/>
                    <a:lstStyle/>
                    <a:p>
                      <a:pPr algn="l"/>
                      <a:r>
                        <a:rPr sz="1050" b="0" i="0">
                          <a:solidFill>
                            <a:srgbClr val="000000"/>
                          </a:solidFill>
                          <a:latin typeface="Calibri"/>
                        </a:rPr>
                        <a:t>Table 100: Global Market Share and BPS Change by Region, %, 2026 and 2036</a:t>
                      </a:r>
                      <a:endParaRPr sz="1050"/>
                    </a:p>
                  </a:txBody>
                  <a:tcPr marL="9525" marR="9525" marT="9525" marB="0" anchor="ctr"/>
                </a:tc>
                <a:extLst>
                  <a:ext uri="{0D108BD9-81ED-4DB2-BD59-A6C34878D82A}">
                    <a16:rowId xmlns:a16="http://schemas.microsoft.com/office/drawing/2014/main" val="10011"/>
                  </a:ext>
                </a:extLst>
              </a:tr>
              <a:tr h="170266">
                <a:tc>
                  <a:txBody>
                    <a:bodyPr/>
                    <a:lstStyle/>
                    <a:p>
                      <a:pPr algn="l"/>
                      <a:r>
                        <a:rPr sz="1050" b="0" i="0">
                          <a:solidFill>
                            <a:srgbClr val="000000"/>
                          </a:solidFill>
                          <a:latin typeface="Calibri"/>
                        </a:rPr>
                        <a:t>Table 101: Global Market Volume by Region, MT, 2021–2036</a:t>
                      </a:r>
                      <a:endParaRPr sz="1050"/>
                    </a:p>
                  </a:txBody>
                  <a:tcPr marL="9525" marR="9525" marT="9525" marB="0" anchor="ctr"/>
                </a:tc>
                <a:extLst>
                  <a:ext uri="{0D108BD9-81ED-4DB2-BD59-A6C34878D82A}">
                    <a16:rowId xmlns:a16="http://schemas.microsoft.com/office/drawing/2014/main" val="10012"/>
                  </a:ext>
                </a:extLst>
              </a:tr>
              <a:tr h="170266">
                <a:tc>
                  <a:txBody>
                    <a:bodyPr/>
                    <a:lstStyle/>
                    <a:p>
                      <a:pPr algn="l"/>
                      <a:r>
                        <a:rPr sz="1050" b="0" i="0">
                          <a:solidFill>
                            <a:srgbClr val="000000"/>
                          </a:solidFill>
                          <a:latin typeface="Calibri"/>
                        </a:rPr>
                        <a:t>Table 102: North America Market Value by Country, US$ Mn, 2021–2036</a:t>
                      </a:r>
                      <a:endParaRPr sz="1050"/>
                    </a:p>
                  </a:txBody>
                  <a:tcPr marL="9525" marR="9525" marT="9525" marB="0" anchor="ctr"/>
                </a:tc>
                <a:extLst>
                  <a:ext uri="{0D108BD9-81ED-4DB2-BD59-A6C34878D82A}">
                    <a16:rowId xmlns:a16="http://schemas.microsoft.com/office/drawing/2014/main" val="10013"/>
                  </a:ext>
                </a:extLst>
              </a:tr>
              <a:tr h="170266">
                <a:tc>
                  <a:txBody>
                    <a:bodyPr/>
                    <a:lstStyle/>
                    <a:p>
                      <a:pPr algn="l"/>
                      <a:r>
                        <a:rPr sz="1050" b="0" i="0">
                          <a:solidFill>
                            <a:srgbClr val="000000"/>
                          </a:solidFill>
                          <a:latin typeface="Calibri"/>
                        </a:rPr>
                        <a:t>Table 103: Latin America Market Value by Country, US$ Mn, 2021–2036</a:t>
                      </a:r>
                      <a:endParaRPr sz="1050"/>
                    </a:p>
                  </a:txBody>
                  <a:tcPr marL="9525" marR="9525" marT="9525" marB="0" anchor="ctr"/>
                </a:tc>
                <a:extLst>
                  <a:ext uri="{0D108BD9-81ED-4DB2-BD59-A6C34878D82A}">
                    <a16:rowId xmlns:a16="http://schemas.microsoft.com/office/drawing/2014/main" val="10014"/>
                  </a:ext>
                </a:extLst>
              </a:tr>
              <a:tr h="170266">
                <a:tc>
                  <a:txBody>
                    <a:bodyPr/>
                    <a:lstStyle/>
                    <a:p>
                      <a:pPr algn="l"/>
                      <a:r>
                        <a:rPr sz="1050" b="0" i="0">
                          <a:solidFill>
                            <a:srgbClr val="000000"/>
                          </a:solidFill>
                          <a:latin typeface="Calibri"/>
                        </a:rPr>
                        <a:t>Table 104: Europe Market Value by Country, US$ Mn, 2021–2036</a:t>
                      </a:r>
                      <a:endParaRPr sz="1050"/>
                    </a:p>
                  </a:txBody>
                  <a:tcPr marL="9525" marR="9525" marT="9525" marB="0" anchor="ctr"/>
                </a:tc>
                <a:extLst>
                  <a:ext uri="{0D108BD9-81ED-4DB2-BD59-A6C34878D82A}">
                    <a16:rowId xmlns:a16="http://schemas.microsoft.com/office/drawing/2014/main" val="10015"/>
                  </a:ext>
                </a:extLst>
              </a:tr>
              <a:tr h="170266">
                <a:tc>
                  <a:txBody>
                    <a:bodyPr/>
                    <a:lstStyle/>
                    <a:p>
                      <a:pPr algn="l"/>
                      <a:r>
                        <a:rPr sz="1050" b="0" i="0">
                          <a:solidFill>
                            <a:srgbClr val="000000"/>
                          </a:solidFill>
                          <a:latin typeface="Calibri"/>
                        </a:rPr>
                        <a:t>Table 105: East Asia Market Value by Country, US$ Mn, 2021–2036</a:t>
                      </a:r>
                      <a:endParaRPr sz="1050"/>
                    </a:p>
                  </a:txBody>
                  <a:tcPr marL="9525" marR="9525" marT="9525" marB="0" anchor="ctr"/>
                </a:tc>
                <a:extLst>
                  <a:ext uri="{0D108BD9-81ED-4DB2-BD59-A6C34878D82A}">
                    <a16:rowId xmlns:a16="http://schemas.microsoft.com/office/drawing/2014/main" val="10016"/>
                  </a:ext>
                </a:extLst>
              </a:tr>
              <a:tr h="170266">
                <a:tc>
                  <a:txBody>
                    <a:bodyPr/>
                    <a:lstStyle/>
                    <a:p>
                      <a:pPr algn="l"/>
                      <a:r>
                        <a:rPr sz="1050" b="0" i="0">
                          <a:solidFill>
                            <a:srgbClr val="000000"/>
                          </a:solidFill>
                          <a:latin typeface="Calibri"/>
                        </a:rPr>
                        <a:t>Table 106: South Asia &amp; Pacific Market Value by Country, US$ Mn, 2021–2036</a:t>
                      </a:r>
                      <a:endParaRPr sz="1050"/>
                    </a:p>
                  </a:txBody>
                  <a:tcPr marL="9525" marR="9525" marT="9525" marB="0" anchor="ctr"/>
                </a:tc>
                <a:extLst>
                  <a:ext uri="{0D108BD9-81ED-4DB2-BD59-A6C34878D82A}">
                    <a16:rowId xmlns:a16="http://schemas.microsoft.com/office/drawing/2014/main" val="10017"/>
                  </a:ext>
                </a:extLst>
              </a:tr>
              <a:tr h="170266">
                <a:tc>
                  <a:txBody>
                    <a:bodyPr/>
                    <a:lstStyle/>
                    <a:p>
                      <a:pPr algn="l"/>
                      <a:r>
                        <a:rPr sz="1050" b="0" i="0">
                          <a:solidFill>
                            <a:srgbClr val="000000"/>
                          </a:solidFill>
                          <a:latin typeface="Calibri"/>
                        </a:rPr>
                        <a:t>Table 107: Middle East &amp; Africa Market Value by Country, US$ Mn, 2021–2036</a:t>
                      </a:r>
                      <a:endParaRPr sz="1050"/>
                    </a:p>
                  </a:txBody>
                  <a:tcPr marL="9525" marR="9525" marT="9525" marB="0" anchor="ctr"/>
                </a:tc>
                <a:extLst>
                  <a:ext uri="{0D108BD9-81ED-4DB2-BD59-A6C34878D82A}">
                    <a16:rowId xmlns:a16="http://schemas.microsoft.com/office/drawing/2014/main" val="10018"/>
                  </a:ext>
                </a:extLst>
              </a:tr>
              <a:tr h="333720">
                <a:tc>
                  <a:txBody>
                    <a:bodyPr/>
                    <a:lstStyle/>
                    <a:p>
                      <a:pPr algn="l"/>
                      <a:r>
                        <a:rPr sz="1050" b="0" i="0">
                          <a:solidFill>
                            <a:srgbClr val="000000"/>
                          </a:solidFill>
                          <a:latin typeface="Calibri"/>
                        </a:rPr>
                        <a:t>Table 108: North America Market CAGR and Absolute $ Opportunity by Country, %, US$ Mn, 2026–2036</a:t>
                      </a:r>
                      <a:endParaRPr sz="1050"/>
                    </a:p>
                  </a:txBody>
                  <a:tcPr marL="9525" marR="9525" marT="9525" marB="0" anchor="ctr"/>
                </a:tc>
                <a:extLst>
                  <a:ext uri="{0D108BD9-81ED-4DB2-BD59-A6C34878D82A}">
                    <a16:rowId xmlns:a16="http://schemas.microsoft.com/office/drawing/2014/main" val="10019"/>
                  </a:ext>
                </a:extLst>
              </a:tr>
              <a:tr h="170266">
                <a:tc>
                  <a:txBody>
                    <a:bodyPr/>
                    <a:lstStyle/>
                    <a:p>
                      <a:pPr algn="l"/>
                      <a:r>
                        <a:rPr sz="1050" b="0" i="0">
                          <a:solidFill>
                            <a:srgbClr val="000000"/>
                          </a:solidFill>
                          <a:latin typeface="Calibri"/>
                        </a:rPr>
                        <a:t>Table 109: Latin America Market CAGR and Absolute $ Opportunity by Country, %, US$ Mn, 2026–2036</a:t>
                      </a:r>
                      <a:endParaRPr sz="1050"/>
                    </a:p>
                  </a:txBody>
                  <a:tcPr marL="9525" marR="9525" marT="9525" marB="0" anchor="ctr"/>
                </a:tc>
                <a:extLst>
                  <a:ext uri="{0D108BD9-81ED-4DB2-BD59-A6C34878D82A}">
                    <a16:rowId xmlns:a16="http://schemas.microsoft.com/office/drawing/2014/main" val="10020"/>
                  </a:ext>
                </a:extLst>
              </a:tr>
              <a:tr h="170266">
                <a:tc>
                  <a:txBody>
                    <a:bodyPr/>
                    <a:lstStyle/>
                    <a:p>
                      <a:pPr algn="l"/>
                      <a:r>
                        <a:rPr sz="1050" b="0" i="0">
                          <a:solidFill>
                            <a:srgbClr val="000000"/>
                          </a:solidFill>
                          <a:latin typeface="Calibri"/>
                        </a:rPr>
                        <a:t>Table 110: Europe Market CAGR and Absolute $ Opportunity by Country, %, US$ Mn, 2026–2036</a:t>
                      </a:r>
                      <a:endParaRPr sz="1050"/>
                    </a:p>
                  </a:txBody>
                  <a:tcPr marL="9525" marR="9525" marT="9525" marB="0" anchor="ctr"/>
                </a:tc>
                <a:extLst>
                  <a:ext uri="{0D108BD9-81ED-4DB2-BD59-A6C34878D82A}">
                    <a16:rowId xmlns:a16="http://schemas.microsoft.com/office/drawing/2014/main" val="10021"/>
                  </a:ext>
                </a:extLst>
              </a:tr>
              <a:tr h="170266">
                <a:tc>
                  <a:txBody>
                    <a:bodyPr/>
                    <a:lstStyle/>
                    <a:p>
                      <a:pPr algn="l"/>
                      <a:r>
                        <a:rPr sz="1050" b="0" i="0">
                          <a:solidFill>
                            <a:srgbClr val="000000"/>
                          </a:solidFill>
                          <a:latin typeface="Calibri"/>
                        </a:rPr>
                        <a:t>Table 111: East Asia Market CAGR and Absolute $ Opportunity by Country, %, US$ Mn, 2026–2036</a:t>
                      </a:r>
                      <a:endParaRPr sz="1050"/>
                    </a:p>
                  </a:txBody>
                  <a:tcPr marL="9525" marR="9525" marT="9525" marB="0" anchor="ctr"/>
                </a:tc>
                <a:extLst>
                  <a:ext uri="{0D108BD9-81ED-4DB2-BD59-A6C34878D82A}">
                    <a16:rowId xmlns:a16="http://schemas.microsoft.com/office/drawing/2014/main" val="10022"/>
                  </a:ext>
                </a:extLst>
              </a:tr>
              <a:tr h="333720">
                <a:tc>
                  <a:txBody>
                    <a:bodyPr/>
                    <a:lstStyle/>
                    <a:p>
                      <a:pPr algn="l"/>
                      <a:r>
                        <a:rPr sz="1050" b="0" i="0">
                          <a:solidFill>
                            <a:srgbClr val="000000"/>
                          </a:solidFill>
                          <a:latin typeface="Calibri"/>
                        </a:rPr>
                        <a:t>Table 112: South Asia &amp; Pacific Market CAGR and Absolute $ Opportunity by Country, %, US$ Mn, 2026–2036</a:t>
                      </a:r>
                      <a:endParaRPr sz="1050"/>
                    </a:p>
                  </a:txBody>
                  <a:tcPr marL="9525" marR="9525" marT="9525" marB="0" anchor="ctr"/>
                </a:tc>
                <a:extLst>
                  <a:ext uri="{0D108BD9-81ED-4DB2-BD59-A6C34878D82A}">
                    <a16:rowId xmlns:a16="http://schemas.microsoft.com/office/drawing/2014/main" val="10023"/>
                  </a:ext>
                </a:extLst>
              </a:tr>
              <a:tr h="333720">
                <a:tc>
                  <a:txBody>
                    <a:bodyPr/>
                    <a:lstStyle/>
                    <a:p>
                      <a:pPr algn="l"/>
                      <a:r>
                        <a:rPr sz="1050" b="0" i="0">
                          <a:solidFill>
                            <a:srgbClr val="000000"/>
                          </a:solidFill>
                          <a:latin typeface="Calibri"/>
                        </a:rPr>
                        <a:t>Table 113: Middle East &amp; Africa Market CAGR and Absolute $ Opportunity by Country, %, US$ Mn, 2026–2036</a:t>
                      </a:r>
                      <a:endParaRPr sz="1050"/>
                    </a:p>
                  </a:txBody>
                  <a:tcPr marL="9525" marR="9525" marT="9525" marB="0" anchor="ctr"/>
                </a:tc>
                <a:extLst>
                  <a:ext uri="{0D108BD9-81ED-4DB2-BD59-A6C34878D82A}">
                    <a16:rowId xmlns:a16="http://schemas.microsoft.com/office/drawing/2014/main" val="10024"/>
                  </a:ext>
                </a:extLst>
              </a:tr>
              <a:tr h="170266">
                <a:tc>
                  <a:txBody>
                    <a:bodyPr/>
                    <a:lstStyle/>
                    <a:p>
                      <a:pPr algn="l"/>
                      <a:r>
                        <a:rPr sz="1050" b="0" i="0">
                          <a:solidFill>
                            <a:srgbClr val="000000"/>
                          </a:solidFill>
                          <a:latin typeface="Calibri"/>
                        </a:rPr>
                        <a:t>Table 114: North America Market Value by Form Type, US$ Mn, 2021–2036</a:t>
                      </a:r>
                      <a:endParaRPr sz="1050"/>
                    </a:p>
                  </a:txBody>
                  <a:tcPr marL="9525" marR="9525" marT="9525" marB="0" anchor="ctr"/>
                </a:tc>
                <a:extLst>
                  <a:ext uri="{0D108BD9-81ED-4DB2-BD59-A6C34878D82A}">
                    <a16:rowId xmlns:a16="http://schemas.microsoft.com/office/drawing/2014/main" val="10025"/>
                  </a:ext>
                </a:extLst>
              </a:tr>
              <a:tr h="170266">
                <a:tc>
                  <a:txBody>
                    <a:bodyPr/>
                    <a:lstStyle/>
                    <a:p>
                      <a:pPr algn="l"/>
                      <a:r>
                        <a:rPr sz="1050" b="0" i="0">
                          <a:solidFill>
                            <a:srgbClr val="000000"/>
                          </a:solidFill>
                          <a:latin typeface="Calibri"/>
                        </a:rPr>
                        <a:t>Table 115: Latin America Market Value by Form Type, US$ Mn, 2021–2036</a:t>
                      </a:r>
                      <a:endParaRPr sz="1050"/>
                    </a:p>
                  </a:txBody>
                  <a:tcPr marL="9525" marR="9525" marT="9525" marB="0" anchor="ctr"/>
                </a:tc>
                <a:extLst>
                  <a:ext uri="{0D108BD9-81ED-4DB2-BD59-A6C34878D82A}">
                    <a16:rowId xmlns:a16="http://schemas.microsoft.com/office/drawing/2014/main" val="10026"/>
                  </a:ext>
                </a:extLst>
              </a:tr>
              <a:tr h="170266">
                <a:tc>
                  <a:txBody>
                    <a:bodyPr/>
                    <a:lstStyle/>
                    <a:p>
                      <a:pPr algn="l"/>
                      <a:r>
                        <a:rPr sz="1050" b="0" i="0">
                          <a:solidFill>
                            <a:srgbClr val="000000"/>
                          </a:solidFill>
                          <a:latin typeface="Calibri"/>
                        </a:rPr>
                        <a:t>Table 116: Europe Market Value by Form Type, US$ Mn, 2021–2036</a:t>
                      </a:r>
                      <a:endParaRPr sz="1050"/>
                    </a:p>
                  </a:txBody>
                  <a:tcPr marL="9525" marR="9525" marT="9525" marB="0" anchor="ctr"/>
                </a:tc>
                <a:extLst>
                  <a:ext uri="{0D108BD9-81ED-4DB2-BD59-A6C34878D82A}">
                    <a16:rowId xmlns:a16="http://schemas.microsoft.com/office/drawing/2014/main" val="10027"/>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Table 117: East Asia Market Value by Form Type, US$ Mn, 2021–2036</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Table 118: South Asia &amp; Pacific Market Value by Form Type, US$ Mn, 2021–2036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Table 119: Middle East &amp; Africa Market Value by Form Type, US$ Mn, 2021–2036</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Table 120: North America Market Value by Active Ingredient, US$ Mn, 2021–2036</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Table 121: Latin America Market Value by Active Ingredient, US$ Mn, 2021–2036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Table 122: Europe Market Value by Active Ingredient, US$ Mn, 2021–2036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Table 123: East Asia Market Value by Active Ingredient, US$ Mn, 2021–2036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Table 124: South Asia &amp; Pacific Market Value by Active Ingredient, US$ Mn, 2021–2036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Table 125: U.S. Market Value by Form Type, US$ Mn, 2021–2036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Table 126: U.S. Market Historical and Forecast Growth, %, 2021–2036</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Table 127: U.S. Market Value by End-use Application, US$ Mn, 2021–2036</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Table 128: U.S. Market Share within North America, %, 2025, 2026 and 2036</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Table 129: U.S. Market Value by Active Ingredient, US$ Mn, 2021–2036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Table 130: U.S. Market Value by Packaging Format, US$ Mn, 2021–2036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Table 131: U.S. Market Value by Sales Channel, US$ Mn, 2021–2036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Table 132: U.S. Market Volume by Form Type, MT, 2021–2036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Table 133: Germany Market Value by Form Type, US$ Mn, 2021–2036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Table 134: Germany Market Historical and Forecast Growth, %, 2021–2036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Table 135: Germany Market Value by End-use Application, US$ Mn, 2021–2036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Table 136: Germany Market Share within Europe, %, 2025, 2026 and 2036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Table 137: Germany Market Value by Active Ingredient, US$ Mn, 2021–2036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Table 138: Germany Market Value by Packaging Format, US$ Mn, 2021–2036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Table 139: Germany Market Value by Sales Channel, US$ Mn, 2021–2036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Table 140: Germany Market Volume by Form Type, MT, 2021–2036</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Table 141: Canada Market Value by Form Type, US$ Mn, 2021–2036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Table 142: Canada Market Historical and Forecast Growth, %, 2021–2036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Table 143: Canada Market Value by End-use Application, US$ Mn, 2021–2036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Table 144: Canada Market Share within North America, %, 2025, 2026 and 2036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Table 145: Canada Market Value by Active Ingredient, US$ Mn, 2021–2036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Table 146: Canada Market Value by Packaging Format, US$ Mn, 2021–2036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Table 147: Canada Market Value by Sales Channel, US$ Mn, 2021–2036</a:t>
                      </a:r>
                      <a:endParaRPr sz="1050"/>
                    </a:p>
                  </a:txBody>
                  <a:tcPr marL="9525" marR="9525" marT="9525" marB="0" anchor="ctr"/>
                </a:tc>
                <a:extLst>
                  <a:ext uri="{0D108BD9-81ED-4DB2-BD59-A6C34878D82A}">
                    <a16:rowId xmlns:a16="http://schemas.microsoft.com/office/drawing/2014/main" val="10030"/>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050" b="0" i="0">
                          <a:solidFill>
                            <a:srgbClr val="000000"/>
                          </a:solidFill>
                          <a:latin typeface="Calibri"/>
                        </a:rPr>
                        <a:t>Table 148: Canada Market Volume by Form Type, MT, 2021–2036</a:t>
                      </a:r>
                      <a:endParaRPr sz="1050"/>
                    </a:p>
                  </a:txBody>
                  <a:tcPr marL="9525" marR="9525" marT="9525" marB="0" anchor="ctr"/>
                </a:tc>
                <a:extLst>
                  <a:ext uri="{0D108BD9-81ED-4DB2-BD59-A6C34878D82A}">
                    <a16:rowId xmlns:a16="http://schemas.microsoft.com/office/drawing/2014/main" val="10000"/>
                  </a:ext>
                </a:extLst>
              </a:tr>
              <a:tr h="175260">
                <a:tc>
                  <a:txBody>
                    <a:bodyPr/>
                    <a:lstStyle/>
                    <a:p>
                      <a:pPr algn="l"/>
                      <a:r>
                        <a:rPr sz="1050" b="0" i="0">
                          <a:solidFill>
                            <a:srgbClr val="000000"/>
                          </a:solidFill>
                          <a:latin typeface="Calibri"/>
                        </a:rPr>
                        <a:t>Table 149: China Market Value by Form Type, US$ Mn, 2021–2036</a:t>
                      </a:r>
                      <a:endParaRPr sz="1050"/>
                    </a:p>
                  </a:txBody>
                  <a:tcPr marL="9525" marR="9525" marT="9525" marB="0" anchor="ctr"/>
                </a:tc>
                <a:extLst>
                  <a:ext uri="{0D108BD9-81ED-4DB2-BD59-A6C34878D82A}">
                    <a16:rowId xmlns:a16="http://schemas.microsoft.com/office/drawing/2014/main" val="10001"/>
                  </a:ext>
                </a:extLst>
              </a:tr>
              <a:tr h="175260">
                <a:tc>
                  <a:txBody>
                    <a:bodyPr/>
                    <a:lstStyle/>
                    <a:p>
                      <a:pPr algn="l"/>
                      <a:r>
                        <a:rPr sz="1050" b="0" i="0">
                          <a:solidFill>
                            <a:srgbClr val="000000"/>
                          </a:solidFill>
                          <a:latin typeface="Calibri"/>
                        </a:rPr>
                        <a:t>Table 150: China Market Historical and Forecast Growth, %, 2021–2036</a:t>
                      </a:r>
                      <a:endParaRPr sz="1050"/>
                    </a:p>
                  </a:txBody>
                  <a:tcPr marL="9525" marR="9525" marT="9525" marB="0" anchor="ctr"/>
                </a:tc>
                <a:extLst>
                  <a:ext uri="{0D108BD9-81ED-4DB2-BD59-A6C34878D82A}">
                    <a16:rowId xmlns:a16="http://schemas.microsoft.com/office/drawing/2014/main" val="10002"/>
                  </a:ext>
                </a:extLst>
              </a:tr>
              <a:tr h="175260">
                <a:tc>
                  <a:txBody>
                    <a:bodyPr/>
                    <a:lstStyle/>
                    <a:p>
                      <a:pPr algn="l"/>
                      <a:r>
                        <a:rPr sz="1050" b="0" i="0">
                          <a:solidFill>
                            <a:srgbClr val="000000"/>
                          </a:solidFill>
                          <a:latin typeface="Calibri"/>
                        </a:rPr>
                        <a:t>Table 151: China Market Value by End-use Application, US$ Mn, 2021–2036</a:t>
                      </a:r>
                      <a:endParaRPr sz="1050"/>
                    </a:p>
                  </a:txBody>
                  <a:tcPr marL="9525" marR="9525" marT="9525" marB="0" anchor="ctr"/>
                </a:tc>
                <a:extLst>
                  <a:ext uri="{0D108BD9-81ED-4DB2-BD59-A6C34878D82A}">
                    <a16:rowId xmlns:a16="http://schemas.microsoft.com/office/drawing/2014/main" val="10003"/>
                  </a:ext>
                </a:extLst>
              </a:tr>
              <a:tr h="175260">
                <a:tc>
                  <a:txBody>
                    <a:bodyPr/>
                    <a:lstStyle/>
                    <a:p>
                      <a:pPr algn="l"/>
                      <a:r>
                        <a:rPr sz="1050" b="0" i="0">
                          <a:solidFill>
                            <a:srgbClr val="000000"/>
                          </a:solidFill>
                          <a:latin typeface="Calibri"/>
                        </a:rPr>
                        <a:t>Table 152: India Market Value by Form Type, US$ Mn, 2021–2036</a:t>
                      </a:r>
                      <a:endParaRPr sz="1050"/>
                    </a:p>
                  </a:txBody>
                  <a:tcPr marL="9525" marR="9525" marT="9525" marB="0" anchor="ctr"/>
                </a:tc>
                <a:extLst>
                  <a:ext uri="{0D108BD9-81ED-4DB2-BD59-A6C34878D82A}">
                    <a16:rowId xmlns:a16="http://schemas.microsoft.com/office/drawing/2014/main" val="10004"/>
                  </a:ext>
                </a:extLst>
              </a:tr>
              <a:tr h="175260">
                <a:tc>
                  <a:txBody>
                    <a:bodyPr/>
                    <a:lstStyle/>
                    <a:p>
                      <a:pPr algn="l"/>
                      <a:r>
                        <a:rPr sz="1050" b="0" i="0">
                          <a:solidFill>
                            <a:srgbClr val="000000"/>
                          </a:solidFill>
                          <a:latin typeface="Calibri"/>
                        </a:rPr>
                        <a:t>Table 153: India Market Historical and Forecast Growth, %, 2021–2036</a:t>
                      </a:r>
                      <a:endParaRPr sz="1050"/>
                    </a:p>
                  </a:txBody>
                  <a:tcPr marL="9525" marR="9525" marT="9525" marB="0" anchor="ctr"/>
                </a:tc>
                <a:extLst>
                  <a:ext uri="{0D108BD9-81ED-4DB2-BD59-A6C34878D82A}">
                    <a16:rowId xmlns:a16="http://schemas.microsoft.com/office/drawing/2014/main" val="10005"/>
                  </a:ext>
                </a:extLst>
              </a:tr>
              <a:tr h="175260">
                <a:tc>
                  <a:txBody>
                    <a:bodyPr/>
                    <a:lstStyle/>
                    <a:p>
                      <a:pPr algn="l"/>
                      <a:r>
                        <a:rPr sz="1050" b="0" i="0">
                          <a:solidFill>
                            <a:srgbClr val="000000"/>
                          </a:solidFill>
                          <a:latin typeface="Calibri"/>
                        </a:rPr>
                        <a:t>Table 154: Brazil Market Value by Form Type, US$ Mn, 2021–2036</a:t>
                      </a:r>
                      <a:endParaRPr sz="1050"/>
                    </a:p>
                  </a:txBody>
                  <a:tcPr marL="9525" marR="9525" marT="9525" marB="0" anchor="ctr"/>
                </a:tc>
                <a:extLst>
                  <a:ext uri="{0D108BD9-81ED-4DB2-BD59-A6C34878D82A}">
                    <a16:rowId xmlns:a16="http://schemas.microsoft.com/office/drawing/2014/main" val="10006"/>
                  </a:ext>
                </a:extLst>
              </a:tr>
              <a:tr h="175260">
                <a:tc>
                  <a:txBody>
                    <a:bodyPr/>
                    <a:lstStyle/>
                    <a:p>
                      <a:pPr algn="l"/>
                      <a:r>
                        <a:rPr sz="1050" b="0" i="0">
                          <a:solidFill>
                            <a:srgbClr val="000000"/>
                          </a:solidFill>
                          <a:latin typeface="Calibri"/>
                        </a:rPr>
                        <a:t>Table 155: Brazil Market Historical and Forecast Growth, %, 2021–2036</a:t>
                      </a:r>
                      <a:endParaRPr sz="1050"/>
                    </a:p>
                  </a:txBody>
                  <a:tcPr marL="9525" marR="9525" marT="9525" marB="0" anchor="ctr"/>
                </a:tc>
                <a:extLst>
                  <a:ext uri="{0D108BD9-81ED-4DB2-BD59-A6C34878D82A}">
                    <a16:rowId xmlns:a16="http://schemas.microsoft.com/office/drawing/2014/main" val="10007"/>
                  </a:ext>
                </a:extLst>
              </a:tr>
              <a:tr h="175260">
                <a:tc>
                  <a:txBody>
                    <a:bodyPr/>
                    <a:lstStyle/>
                    <a:p>
                      <a:pPr algn="l"/>
                      <a:r>
                        <a:rPr sz="1050" b="0" i="0">
                          <a:solidFill>
                            <a:srgbClr val="000000"/>
                          </a:solidFill>
                          <a:latin typeface="Calibri"/>
                        </a:rPr>
                        <a:t>Table 156: U.K. Market Value by Form Type, US$ Mn, 2021–2036</a:t>
                      </a:r>
                      <a:endParaRPr sz="1050"/>
                    </a:p>
                  </a:txBody>
                  <a:tcPr marL="9525" marR="9525" marT="9525" marB="0" anchor="ctr"/>
                </a:tc>
                <a:extLst>
                  <a:ext uri="{0D108BD9-81ED-4DB2-BD59-A6C34878D82A}">
                    <a16:rowId xmlns:a16="http://schemas.microsoft.com/office/drawing/2014/main" val="10008"/>
                  </a:ext>
                </a:extLst>
              </a:tr>
              <a:tr h="175260">
                <a:tc>
                  <a:txBody>
                    <a:bodyPr/>
                    <a:lstStyle/>
                    <a:p>
                      <a:pPr algn="l"/>
                      <a:r>
                        <a:rPr sz="1050" b="0" i="0">
                          <a:solidFill>
                            <a:srgbClr val="000000"/>
                          </a:solidFill>
                          <a:latin typeface="Calibri"/>
                        </a:rPr>
                        <a:t>Table 157: U.K. Market Historical and Forecast Growth, %, 2021–2036</a:t>
                      </a:r>
                      <a:endParaRPr sz="1050"/>
                    </a:p>
                  </a:txBody>
                  <a:tcPr marL="9525" marR="9525" marT="9525" marB="0" anchor="ctr"/>
                </a:tc>
                <a:extLst>
                  <a:ext uri="{0D108BD9-81ED-4DB2-BD59-A6C34878D82A}">
                    <a16:rowId xmlns:a16="http://schemas.microsoft.com/office/drawing/2014/main" val="10009"/>
                  </a:ext>
                </a:extLst>
              </a:tr>
              <a:tr h="175260">
                <a:tc>
                  <a:txBody>
                    <a:bodyPr/>
                    <a:lstStyle/>
                    <a:p>
                      <a:pPr algn="l"/>
                      <a:r>
                        <a:rPr sz="1050" b="0" i="0">
                          <a:solidFill>
                            <a:srgbClr val="000000"/>
                          </a:solidFill>
                          <a:latin typeface="Calibri"/>
                        </a:rPr>
                        <a:t>Table 158: Japan Market Value by Form Type, US$ Mn, 2021–2036</a:t>
                      </a:r>
                      <a:endParaRPr sz="1050"/>
                    </a:p>
                  </a:txBody>
                  <a:tcPr marL="9525" marR="9525" marT="9525" marB="0" anchor="ctr"/>
                </a:tc>
                <a:extLst>
                  <a:ext uri="{0D108BD9-81ED-4DB2-BD59-A6C34878D82A}">
                    <a16:rowId xmlns:a16="http://schemas.microsoft.com/office/drawing/2014/main" val="10010"/>
                  </a:ext>
                </a:extLst>
              </a:tr>
              <a:tr h="175260">
                <a:tc>
                  <a:txBody>
                    <a:bodyPr/>
                    <a:lstStyle/>
                    <a:p>
                      <a:pPr algn="l"/>
                      <a:r>
                        <a:rPr sz="1050" b="0" i="0">
                          <a:solidFill>
                            <a:srgbClr val="000000"/>
                          </a:solidFill>
                          <a:latin typeface="Calibri"/>
                        </a:rPr>
                        <a:t>Table 159: Japan Market Historical and Forecast Growth, %, 2021–2036</a:t>
                      </a:r>
                      <a:endParaRPr sz="1050"/>
                    </a:p>
                  </a:txBody>
                  <a:tcPr marL="9525" marR="9525" marT="9525" marB="0" anchor="ctr"/>
                </a:tc>
                <a:extLst>
                  <a:ext uri="{0D108BD9-81ED-4DB2-BD59-A6C34878D82A}">
                    <a16:rowId xmlns:a16="http://schemas.microsoft.com/office/drawing/2014/main" val="10011"/>
                  </a:ext>
                </a:extLst>
              </a:tr>
              <a:tr h="175260">
                <a:tc>
                  <a:txBody>
                    <a:bodyPr/>
                    <a:lstStyle/>
                    <a:p>
                      <a:pPr algn="l"/>
                      <a:r>
                        <a:rPr sz="1050" b="0" i="0">
                          <a:solidFill>
                            <a:srgbClr val="000000"/>
                          </a:solidFill>
                          <a:latin typeface="Calibri"/>
                        </a:rPr>
                        <a:t>Table 160: Market Product Price Comparison by Company and Form Type, US$/MT, 2026</a:t>
                      </a:r>
                      <a:endParaRPr sz="1050"/>
                    </a:p>
                  </a:txBody>
                  <a:tcPr marL="9525" marR="9525" marT="9525" marB="0" anchor="ctr"/>
                </a:tc>
                <a:extLst>
                  <a:ext uri="{0D108BD9-81ED-4DB2-BD59-A6C34878D82A}">
                    <a16:rowId xmlns:a16="http://schemas.microsoft.com/office/drawing/2014/main" val="10012"/>
                  </a:ext>
                </a:extLst>
              </a:tr>
              <a:tr h="175260">
                <a:tc>
                  <a:txBody>
                    <a:bodyPr/>
                    <a:lstStyle/>
                    <a:p>
                      <a:pPr algn="l"/>
                      <a:r>
                        <a:rPr sz="1050" b="0" i="0">
                          <a:solidFill>
                            <a:srgbClr val="000000"/>
                          </a:solidFill>
                          <a:latin typeface="Calibri"/>
                        </a:rPr>
                        <a:t>Table 161: Global Market Average Selling Price by Region, US$/MT, 2021–2036</a:t>
                      </a:r>
                      <a:endParaRPr sz="1050"/>
                    </a:p>
                  </a:txBody>
                  <a:tcPr marL="9525" marR="9525" marT="9525" marB="0" anchor="ctr"/>
                </a:tc>
                <a:extLst>
                  <a:ext uri="{0D108BD9-81ED-4DB2-BD59-A6C34878D82A}">
                    <a16:rowId xmlns:a16="http://schemas.microsoft.com/office/drawing/2014/main" val="10013"/>
                  </a:ext>
                </a:extLst>
              </a:tr>
              <a:tr h="175260">
                <a:tc>
                  <a:txBody>
                    <a:bodyPr/>
                    <a:lstStyle/>
                    <a:p>
                      <a:pPr algn="l"/>
                      <a:r>
                        <a:rPr sz="1050" b="0" i="0">
                          <a:solidFill>
                            <a:srgbClr val="000000"/>
                          </a:solidFill>
                          <a:latin typeface="Calibri"/>
                        </a:rPr>
                        <a:t>Table 162: Global Market Average Selling Price by Form Type, US$/MT, 2021–2036</a:t>
                      </a:r>
                      <a:endParaRPr sz="1050"/>
                    </a:p>
                  </a:txBody>
                  <a:tcPr marL="9525" marR="9525" marT="9525" marB="0" anchor="ctr"/>
                </a:tc>
                <a:extLst>
                  <a:ext uri="{0D108BD9-81ED-4DB2-BD59-A6C34878D82A}">
                    <a16:rowId xmlns:a16="http://schemas.microsoft.com/office/drawing/2014/main" val="10014"/>
                  </a:ext>
                </a:extLst>
              </a:tr>
              <a:tr h="175260">
                <a:tc>
                  <a:txBody>
                    <a:bodyPr/>
                    <a:lstStyle/>
                    <a:p>
                      <a:pPr algn="l"/>
                      <a:r>
                        <a:rPr sz="1050" b="0" i="0">
                          <a:solidFill>
                            <a:srgbClr val="000000"/>
                          </a:solidFill>
                          <a:latin typeface="Calibri"/>
                        </a:rPr>
                        <a:t>Table 163: Global Market Average Selling Price by Active Ingredient, US$/MT, 2021–2036</a:t>
                      </a:r>
                      <a:endParaRPr sz="1050"/>
                    </a:p>
                  </a:txBody>
                  <a:tcPr marL="9525" marR="9525" marT="9525" marB="0" anchor="ctr"/>
                </a:tc>
                <a:extLst>
                  <a:ext uri="{0D108BD9-81ED-4DB2-BD59-A6C34878D82A}">
                    <a16:rowId xmlns:a16="http://schemas.microsoft.com/office/drawing/2014/main" val="10015"/>
                  </a:ext>
                </a:extLst>
              </a:tr>
              <a:tr h="175260">
                <a:tc>
                  <a:txBody>
                    <a:bodyPr/>
                    <a:lstStyle/>
                    <a:p>
                      <a:pPr algn="l"/>
                      <a:r>
                        <a:rPr sz="1050" b="0" i="0">
                          <a:solidFill>
                            <a:srgbClr val="000000"/>
                          </a:solidFill>
                          <a:latin typeface="Calibri"/>
                        </a:rPr>
                        <a:t>Table 164: Global Market Average Selling Price by End-use Application, US$/MT, 2021–2036</a:t>
                      </a:r>
                      <a:endParaRPr sz="1050"/>
                    </a:p>
                  </a:txBody>
                  <a:tcPr marL="9525" marR="9525" marT="9525" marB="0" anchor="ctr"/>
                </a:tc>
                <a:extLst>
                  <a:ext uri="{0D108BD9-81ED-4DB2-BD59-A6C34878D82A}">
                    <a16:rowId xmlns:a16="http://schemas.microsoft.com/office/drawing/2014/main" val="10016"/>
                  </a:ext>
                </a:extLst>
              </a:tr>
              <a:tr h="175260">
                <a:tc>
                  <a:txBody>
                    <a:bodyPr/>
                    <a:lstStyle/>
                    <a:p>
                      <a:pPr algn="l"/>
                      <a:r>
                        <a:rPr sz="1050" b="0" i="0">
                          <a:solidFill>
                            <a:srgbClr val="000000"/>
                          </a:solidFill>
                          <a:latin typeface="Calibri"/>
                        </a:rPr>
                        <a:t>Table 165: Global Market Average Selling Price by Packaging Format, US$/MT, 2021–2036</a:t>
                      </a:r>
                      <a:endParaRPr sz="1050"/>
                    </a:p>
                  </a:txBody>
                  <a:tcPr marL="9525" marR="9525" marT="9525" marB="0" anchor="ctr"/>
                </a:tc>
                <a:extLst>
                  <a:ext uri="{0D108BD9-81ED-4DB2-BD59-A6C34878D82A}">
                    <a16:rowId xmlns:a16="http://schemas.microsoft.com/office/drawing/2014/main" val="10017"/>
                  </a:ext>
                </a:extLst>
              </a:tr>
              <a:tr h="175260">
                <a:tc>
                  <a:txBody>
                    <a:bodyPr/>
                    <a:lstStyle/>
                    <a:p>
                      <a:pPr algn="l"/>
                      <a:r>
                        <a:rPr sz="1050" b="0" i="0">
                          <a:solidFill>
                            <a:srgbClr val="000000"/>
                          </a:solidFill>
                          <a:latin typeface="Calibri"/>
                        </a:rPr>
                        <a:t>Table 166: Global Market Average Selling Price by Sales Channel, US$/MT, 2021–2036</a:t>
                      </a:r>
                      <a:endParaRPr sz="1050"/>
                    </a:p>
                  </a:txBody>
                  <a:tcPr marL="9525" marR="9525" marT="9525" marB="0" anchor="ctr"/>
                </a:tc>
                <a:extLst>
                  <a:ext uri="{0D108BD9-81ED-4DB2-BD59-A6C34878D82A}">
                    <a16:rowId xmlns:a16="http://schemas.microsoft.com/office/drawing/2014/main" val="10018"/>
                  </a:ext>
                </a:extLst>
              </a:tr>
              <a:tr h="175260">
                <a:tc>
                  <a:txBody>
                    <a:bodyPr/>
                    <a:lstStyle/>
                    <a:p>
                      <a:pPr algn="l"/>
                      <a:r>
                        <a:rPr sz="1050" b="0" i="0">
                          <a:solidFill>
                            <a:srgbClr val="000000"/>
                          </a:solidFill>
                          <a:latin typeface="Calibri"/>
                        </a:rPr>
                        <a:t>Table 167: Supplier-to-Customer Relationship Mapping in U.S., 2026</a:t>
                      </a:r>
                      <a:endParaRPr sz="1050"/>
                    </a:p>
                  </a:txBody>
                  <a:tcPr marL="9525" marR="9525" marT="9525" marB="0" anchor="ctr"/>
                </a:tc>
                <a:extLst>
                  <a:ext uri="{0D108BD9-81ED-4DB2-BD59-A6C34878D82A}">
                    <a16:rowId xmlns:a16="http://schemas.microsoft.com/office/drawing/2014/main" val="10019"/>
                  </a:ext>
                </a:extLst>
              </a:tr>
              <a:tr h="175260">
                <a:tc>
                  <a:txBody>
                    <a:bodyPr/>
                    <a:lstStyle/>
                    <a:p>
                      <a:pPr algn="l"/>
                      <a:r>
                        <a:rPr sz="1050" b="0" i="0">
                          <a:solidFill>
                            <a:srgbClr val="000000"/>
                          </a:solidFill>
                          <a:latin typeface="Calibri"/>
                        </a:rPr>
                        <a:t>Table 168: Global Market Value Chain Participants by Stage, 2026</a:t>
                      </a:r>
                      <a:endParaRPr sz="1050"/>
                    </a:p>
                  </a:txBody>
                  <a:tcPr marL="9525" marR="9525" marT="9525" marB="0" anchor="ctr"/>
                </a:tc>
                <a:extLst>
                  <a:ext uri="{0D108BD9-81ED-4DB2-BD59-A6C34878D82A}">
                    <a16:rowId xmlns:a16="http://schemas.microsoft.com/office/drawing/2014/main" val="10020"/>
                  </a:ext>
                </a:extLst>
              </a:tr>
              <a:tr h="175260">
                <a:tc>
                  <a:txBody>
                    <a:bodyPr/>
                    <a:lstStyle/>
                    <a:p>
                      <a:pPr algn="l"/>
                      <a:r>
                        <a:rPr sz="1050" b="0" i="0">
                          <a:solidFill>
                            <a:srgbClr val="000000"/>
                          </a:solidFill>
                          <a:latin typeface="Calibri"/>
                        </a:rPr>
                        <a:t>Table 169: Global Market Margin Analysis by Value Chain Stage, %, 2026</a:t>
                      </a:r>
                      <a:endParaRPr sz="1050"/>
                    </a:p>
                  </a:txBody>
                  <a:tcPr marL="9525" marR="9525" marT="9525" marB="0" anchor="ctr"/>
                </a:tc>
                <a:extLst>
                  <a:ext uri="{0D108BD9-81ED-4DB2-BD59-A6C34878D82A}">
                    <a16:rowId xmlns:a16="http://schemas.microsoft.com/office/drawing/2014/main" val="10021"/>
                  </a:ext>
                </a:extLst>
              </a:tr>
              <a:tr h="175260">
                <a:tc>
                  <a:txBody>
                    <a:bodyPr/>
                    <a:lstStyle/>
                    <a:p>
                      <a:pPr algn="l"/>
                      <a:r>
                        <a:rPr sz="1050" b="0" i="0">
                          <a:solidFill>
                            <a:srgbClr val="000000"/>
                          </a:solidFill>
                          <a:latin typeface="Calibri"/>
                        </a:rPr>
                        <a:t>Table 170: Global Market Cost Structure by Component, %, 2026</a:t>
                      </a:r>
                      <a:endParaRPr sz="1050"/>
                    </a:p>
                  </a:txBody>
                  <a:tcPr marL="9525" marR="9525" marT="9525" marB="0" anchor="ctr"/>
                </a:tc>
                <a:extLst>
                  <a:ext uri="{0D108BD9-81ED-4DB2-BD59-A6C34878D82A}">
                    <a16:rowId xmlns:a16="http://schemas.microsoft.com/office/drawing/2014/main" val="10022"/>
                  </a:ext>
                </a:extLst>
              </a:tr>
              <a:tr h="175260">
                <a:tc>
                  <a:txBody>
                    <a:bodyPr/>
                    <a:lstStyle/>
                    <a:p>
                      <a:pPr algn="l"/>
                      <a:r>
                        <a:rPr sz="1050" b="0" i="0">
                          <a:solidFill>
                            <a:srgbClr val="000000"/>
                          </a:solidFill>
                          <a:latin typeface="Calibri"/>
                        </a:rPr>
                        <a:t>Table 171: Global Market Import Value by Leading Country, US$ Mn, 2021–2025</a:t>
                      </a:r>
                      <a:endParaRPr sz="1050"/>
                    </a:p>
                  </a:txBody>
                  <a:tcPr marL="9525" marR="9525" marT="9525" marB="0" anchor="ctr"/>
                </a:tc>
                <a:extLst>
                  <a:ext uri="{0D108BD9-81ED-4DB2-BD59-A6C34878D82A}">
                    <a16:rowId xmlns:a16="http://schemas.microsoft.com/office/drawing/2014/main" val="10023"/>
                  </a:ext>
                </a:extLst>
              </a:tr>
              <a:tr h="175260">
                <a:tc>
                  <a:txBody>
                    <a:bodyPr/>
                    <a:lstStyle/>
                    <a:p>
                      <a:pPr algn="l"/>
                      <a:r>
                        <a:rPr sz="1050" b="0" i="0">
                          <a:solidFill>
                            <a:srgbClr val="000000"/>
                          </a:solidFill>
                          <a:latin typeface="Calibri"/>
                        </a:rPr>
                        <a:t>Table 172: Global Market Export Value by Leading Country, US$ Mn, 2021–2025</a:t>
                      </a:r>
                      <a:endParaRPr sz="1050"/>
                    </a:p>
                  </a:txBody>
                  <a:tcPr marL="9525" marR="9525" marT="9525" marB="0" anchor="ctr"/>
                </a:tc>
                <a:extLst>
                  <a:ext uri="{0D108BD9-81ED-4DB2-BD59-A6C34878D82A}">
                    <a16:rowId xmlns:a16="http://schemas.microsoft.com/office/drawing/2014/main" val="10024"/>
                  </a:ext>
                </a:extLst>
              </a:tr>
              <a:tr h="175260">
                <a:tc>
                  <a:txBody>
                    <a:bodyPr/>
                    <a:lstStyle/>
                    <a:p>
                      <a:pPr algn="l"/>
                      <a:r>
                        <a:rPr sz="1050" b="0" i="0">
                          <a:solidFill>
                            <a:srgbClr val="000000"/>
                          </a:solidFill>
                          <a:latin typeface="Calibri"/>
                        </a:rPr>
                        <a:t>Table 173: Global Market Trade Flow Matrix by Region, US$ Mn, 2025</a:t>
                      </a:r>
                      <a:endParaRPr sz="1050"/>
                    </a:p>
                  </a:txBody>
                  <a:tcPr marL="9525" marR="9525" marT="9525" marB="0" anchor="ctr"/>
                </a:tc>
                <a:extLst>
                  <a:ext uri="{0D108BD9-81ED-4DB2-BD59-A6C34878D82A}">
                    <a16:rowId xmlns:a16="http://schemas.microsoft.com/office/drawing/2014/main" val="10025"/>
                  </a:ext>
                </a:extLst>
              </a:tr>
              <a:tr h="175260">
                <a:tc>
                  <a:txBody>
                    <a:bodyPr/>
                    <a:lstStyle/>
                    <a:p>
                      <a:pPr algn="l"/>
                      <a:r>
                        <a:rPr sz="1050" b="0" i="0">
                          <a:solidFill>
                            <a:srgbClr val="000000"/>
                          </a:solidFill>
                          <a:latin typeface="Calibri"/>
                        </a:rPr>
                        <a:t>Table 174: Global Market Pricing Factors and Impact Rating, 2026–2036</a:t>
                      </a:r>
                      <a:endParaRPr sz="1050"/>
                    </a:p>
                  </a:txBody>
                  <a:tcPr marL="9525" marR="9525" marT="9525" marB="0" anchor="ctr"/>
                </a:tc>
                <a:extLst>
                  <a:ext uri="{0D108BD9-81ED-4DB2-BD59-A6C34878D82A}">
                    <a16:rowId xmlns:a16="http://schemas.microsoft.com/office/drawing/2014/main" val="10026"/>
                  </a:ext>
                </a:extLst>
              </a:tr>
              <a:tr h="175260">
                <a:tc>
                  <a:txBody>
                    <a:bodyPr/>
                    <a:lstStyle/>
                    <a:p>
                      <a:pPr algn="l"/>
                      <a:r>
                        <a:rPr sz="1050" b="0" i="0">
                          <a:solidFill>
                            <a:srgbClr val="000000"/>
                          </a:solidFill>
                          <a:latin typeface="Calibri"/>
                        </a:rPr>
                        <a:t>Table 175: Global Market Raw Material Price Trend, US$, 2021–2036</a:t>
                      </a:r>
                      <a:endParaRPr sz="1050"/>
                    </a:p>
                  </a:txBody>
                  <a:tcPr marL="9525" marR="9525" marT="9525" marB="0" anchor="ctr"/>
                </a:tc>
                <a:extLst>
                  <a:ext uri="{0D108BD9-81ED-4DB2-BD59-A6C34878D82A}">
                    <a16:rowId xmlns:a16="http://schemas.microsoft.com/office/drawing/2014/main" val="10027"/>
                  </a:ext>
                </a:extLst>
              </a:tr>
              <a:tr h="175260">
                <a:tc>
                  <a:txBody>
                    <a:bodyPr/>
                    <a:lstStyle/>
                    <a:p>
                      <a:pPr algn="l"/>
                      <a:r>
                        <a:rPr sz="1050" b="0" i="0">
                          <a:solidFill>
                            <a:srgbClr val="000000"/>
                          </a:solidFill>
                          <a:latin typeface="Calibri"/>
                        </a:rPr>
                        <a:t>Table 176: Global Market Distribution Channel Margin Structure, %, 2026</a:t>
                      </a:r>
                      <a:endParaRPr sz="1050"/>
                    </a:p>
                  </a:txBody>
                  <a:tcPr marL="9525" marR="9525" marT="9525" marB="0" anchor="ctr"/>
                </a:tc>
                <a:extLst>
                  <a:ext uri="{0D108BD9-81ED-4DB2-BD59-A6C34878D82A}">
                    <a16:rowId xmlns:a16="http://schemas.microsoft.com/office/drawing/2014/main" val="10028"/>
                  </a:ext>
                </a:extLst>
              </a:tr>
              <a:tr h="175260">
                <a:tc>
                  <a:txBody>
                    <a:bodyPr/>
                    <a:lstStyle/>
                    <a:p>
                      <a:pPr algn="l"/>
                      <a:r>
                        <a:rPr sz="1050" b="0" i="0">
                          <a:solidFill>
                            <a:srgbClr val="000000"/>
                          </a:solidFill>
                          <a:latin typeface="Calibri"/>
                        </a:rPr>
                        <a:t>Table 177: Global Market Regulatory and Tariff Overview by Country, 2026</a:t>
                      </a:r>
                      <a:endParaRPr sz="1050"/>
                    </a:p>
                  </a:txBody>
                  <a:tcPr marL="9525"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3993844"/>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326708">
                <a:tc>
                  <a:txBody>
                    <a:bodyPr/>
                    <a:lstStyle/>
                    <a:p>
                      <a:pPr algn="l"/>
                      <a:r>
                        <a:rPr sz="1050" b="0" i="0">
                          <a:solidFill>
                            <a:srgbClr val="000000"/>
                          </a:solidFill>
                          <a:latin typeface="Calibri"/>
                        </a:rPr>
                        <a:t>Table 178: Leading Senior Dog Cognitive Supplement Manufacturers: Product Portfolio and Geographic Presence, 2026</a:t>
                      </a:r>
                      <a:endParaRPr sz="1050"/>
                    </a:p>
                  </a:txBody>
                  <a:tcPr marL="9525" marR="9525" marT="9525" marB="0" anchor="ctr"/>
                </a:tc>
                <a:extLst>
                  <a:ext uri="{0D108BD9-81ED-4DB2-BD59-A6C34878D82A}">
                    <a16:rowId xmlns:a16="http://schemas.microsoft.com/office/drawing/2014/main" val="10000"/>
                  </a:ext>
                </a:extLst>
              </a:tr>
              <a:tr h="166688">
                <a:tc>
                  <a:txBody>
                    <a:bodyPr/>
                    <a:lstStyle/>
                    <a:p>
                      <a:pPr algn="l"/>
                      <a:r>
                        <a:rPr sz="1050" b="0" i="0">
                          <a:solidFill>
                            <a:srgbClr val="000000"/>
                          </a:solidFill>
                          <a:latin typeface="Calibri"/>
                        </a:rPr>
                        <a:t>Table 179: Company Revenue from the Global Market, US$ Mn, 2025–2026</a:t>
                      </a:r>
                      <a:endParaRPr sz="1050"/>
                    </a:p>
                  </a:txBody>
                  <a:tcPr marL="9525" marR="9525" marT="9525" marB="0" anchor="ctr"/>
                </a:tc>
                <a:extLst>
                  <a:ext uri="{0D108BD9-81ED-4DB2-BD59-A6C34878D82A}">
                    <a16:rowId xmlns:a16="http://schemas.microsoft.com/office/drawing/2014/main" val="10001"/>
                  </a:ext>
                </a:extLst>
              </a:tr>
              <a:tr h="166688">
                <a:tc>
                  <a:txBody>
                    <a:bodyPr/>
                    <a:lstStyle/>
                    <a:p>
                      <a:pPr algn="l"/>
                      <a:r>
                        <a:rPr sz="1050" b="0" i="0">
                          <a:solidFill>
                            <a:srgbClr val="000000"/>
                          </a:solidFill>
                          <a:latin typeface="Calibri"/>
                        </a:rPr>
                        <a:t>Table 180: Company Market Share in the Global Market by Region, %, 2026</a:t>
                      </a:r>
                      <a:endParaRPr sz="1050"/>
                    </a:p>
                  </a:txBody>
                  <a:tcPr marL="9525" marR="9525" marT="9525" marB="0" anchor="ctr"/>
                </a:tc>
                <a:extLst>
                  <a:ext uri="{0D108BD9-81ED-4DB2-BD59-A6C34878D82A}">
                    <a16:rowId xmlns:a16="http://schemas.microsoft.com/office/drawing/2014/main" val="10002"/>
                  </a:ext>
                </a:extLst>
              </a:tr>
              <a:tr h="166688">
                <a:tc>
                  <a:txBody>
                    <a:bodyPr/>
                    <a:lstStyle/>
                    <a:p>
                      <a:pPr algn="l"/>
                      <a:r>
                        <a:rPr sz="1050" b="0" i="0">
                          <a:solidFill>
                            <a:srgbClr val="000000"/>
                          </a:solidFill>
                          <a:latin typeface="Calibri"/>
                        </a:rPr>
                        <a:t>Table 181: Global Market Competitive Benchmarking Matrix, 2026</a:t>
                      </a:r>
                      <a:endParaRPr sz="1050"/>
                    </a:p>
                  </a:txBody>
                  <a:tcPr marL="9525" marR="9525" marT="9525" marB="0" anchor="ctr"/>
                </a:tc>
                <a:extLst>
                  <a:ext uri="{0D108BD9-81ED-4DB2-BD59-A6C34878D82A}">
                    <a16:rowId xmlns:a16="http://schemas.microsoft.com/office/drawing/2014/main" val="10003"/>
                  </a:ext>
                </a:extLst>
              </a:tr>
              <a:tr h="166688">
                <a:tc>
                  <a:txBody>
                    <a:bodyPr/>
                    <a:lstStyle/>
                    <a:p>
                      <a:pPr algn="l"/>
                      <a:r>
                        <a:rPr sz="1050" b="0" i="0">
                          <a:solidFill>
                            <a:srgbClr val="000000"/>
                          </a:solidFill>
                          <a:latin typeface="Calibri"/>
                        </a:rPr>
                        <a:t>Table 182: Global Market Mergers, Acquisitions and Partnerships, 2021–2026</a:t>
                      </a:r>
                      <a:endParaRPr sz="1050"/>
                    </a:p>
                  </a:txBody>
                  <a:tcPr marL="9525" marR="9525" marT="9525" marB="0" anchor="ctr"/>
                </a:tc>
                <a:extLst>
                  <a:ext uri="{0D108BD9-81ED-4DB2-BD59-A6C34878D82A}">
                    <a16:rowId xmlns:a16="http://schemas.microsoft.com/office/drawing/2014/main" val="10004"/>
                  </a:ext>
                </a:extLst>
              </a:tr>
              <a:tr h="166688">
                <a:tc>
                  <a:txBody>
                    <a:bodyPr/>
                    <a:lstStyle/>
                    <a:p>
                      <a:pPr algn="l"/>
                      <a:r>
                        <a:rPr sz="1050" b="0" i="0">
                          <a:solidFill>
                            <a:srgbClr val="000000"/>
                          </a:solidFill>
                          <a:latin typeface="Calibri"/>
                        </a:rPr>
                        <a:t>Table 183: Standard Process: Company Overview, Products and Strategy, 2026</a:t>
                      </a:r>
                      <a:endParaRPr sz="1050"/>
                    </a:p>
                  </a:txBody>
                  <a:tcPr marL="9525" marR="9525" marT="9525" marB="0" anchor="ctr"/>
                </a:tc>
                <a:extLst>
                  <a:ext uri="{0D108BD9-81ED-4DB2-BD59-A6C34878D82A}">
                    <a16:rowId xmlns:a16="http://schemas.microsoft.com/office/drawing/2014/main" val="10005"/>
                  </a:ext>
                </a:extLst>
              </a:tr>
              <a:tr h="166688">
                <a:tc>
                  <a:txBody>
                    <a:bodyPr/>
                    <a:lstStyle/>
                    <a:p>
                      <a:pPr algn="l"/>
                      <a:r>
                        <a:rPr sz="1050" b="0" i="0">
                          <a:solidFill>
                            <a:srgbClr val="000000"/>
                          </a:solidFill>
                          <a:latin typeface="Calibri"/>
                        </a:rPr>
                        <a:t>Table 184: VetriScience: Company Overview, Products and Strategy, 2026</a:t>
                      </a:r>
                      <a:endParaRPr sz="1050"/>
                    </a:p>
                  </a:txBody>
                  <a:tcPr marL="9525" marR="9525" marT="9525" marB="0" anchor="ctr"/>
                </a:tc>
                <a:extLst>
                  <a:ext uri="{0D108BD9-81ED-4DB2-BD59-A6C34878D82A}">
                    <a16:rowId xmlns:a16="http://schemas.microsoft.com/office/drawing/2014/main" val="10006"/>
                  </a:ext>
                </a:extLst>
              </a:tr>
              <a:tr h="166688">
                <a:tc>
                  <a:txBody>
                    <a:bodyPr/>
                    <a:lstStyle/>
                    <a:p>
                      <a:pPr algn="l"/>
                      <a:r>
                        <a:rPr sz="1050" b="0" i="0">
                          <a:solidFill>
                            <a:srgbClr val="000000"/>
                          </a:solidFill>
                          <a:latin typeface="Calibri"/>
                        </a:rPr>
                        <a:t>Table 185: Dr. Fossum's: Company Overview, Products and Strategy, 2026</a:t>
                      </a:r>
                      <a:endParaRPr sz="1050"/>
                    </a:p>
                  </a:txBody>
                  <a:tcPr marL="9525" marR="9525" marT="9525" marB="0" anchor="ctr"/>
                </a:tc>
                <a:extLst>
                  <a:ext uri="{0D108BD9-81ED-4DB2-BD59-A6C34878D82A}">
                    <a16:rowId xmlns:a16="http://schemas.microsoft.com/office/drawing/2014/main" val="10007"/>
                  </a:ext>
                </a:extLst>
              </a:tr>
              <a:tr h="166688">
                <a:tc>
                  <a:txBody>
                    <a:bodyPr/>
                    <a:lstStyle/>
                    <a:p>
                      <a:pPr algn="l"/>
                      <a:r>
                        <a:rPr sz="1050" b="0" i="0">
                          <a:solidFill>
                            <a:srgbClr val="000000"/>
                          </a:solidFill>
                          <a:latin typeface="Calibri"/>
                        </a:rPr>
                        <a:t>Table 186: Nestlé Purina PetCare: Company Overview, Products and Strategy, 2026</a:t>
                      </a:r>
                      <a:endParaRPr sz="1050"/>
                    </a:p>
                  </a:txBody>
                  <a:tcPr marL="9525" marR="9525" marT="9525" marB="0" anchor="ctr"/>
                </a:tc>
                <a:extLst>
                  <a:ext uri="{0D108BD9-81ED-4DB2-BD59-A6C34878D82A}">
                    <a16:rowId xmlns:a16="http://schemas.microsoft.com/office/drawing/2014/main" val="10008"/>
                  </a:ext>
                </a:extLst>
              </a:tr>
              <a:tr h="166688">
                <a:tc>
                  <a:txBody>
                    <a:bodyPr/>
                    <a:lstStyle/>
                    <a:p>
                      <a:pPr algn="l"/>
                      <a:r>
                        <a:rPr sz="1050" b="0" i="0">
                          <a:solidFill>
                            <a:srgbClr val="000000"/>
                          </a:solidFill>
                          <a:latin typeface="Calibri"/>
                        </a:rPr>
                        <a:t>Table 187: PetHeal: Company Overview, Products and Strategy, 2026</a:t>
                      </a:r>
                      <a:endParaRPr sz="1050"/>
                    </a:p>
                  </a:txBody>
                  <a:tcPr marL="9525" marR="9525" marT="9525" marB="0" anchor="ctr"/>
                </a:tc>
                <a:extLst>
                  <a:ext uri="{0D108BD9-81ED-4DB2-BD59-A6C34878D82A}">
                    <a16:rowId xmlns:a16="http://schemas.microsoft.com/office/drawing/2014/main" val="10009"/>
                  </a:ext>
                </a:extLst>
              </a:tr>
              <a:tr h="166688">
                <a:tc>
                  <a:txBody>
                    <a:bodyPr/>
                    <a:lstStyle/>
                    <a:p>
                      <a:pPr algn="l"/>
                      <a:r>
                        <a:rPr sz="1050" b="0" i="0">
                          <a:solidFill>
                            <a:srgbClr val="000000"/>
                          </a:solidFill>
                          <a:latin typeface="Calibri"/>
                        </a:rPr>
                        <a:t>Table 188: Senior Dogs Club: Company Overview, Products and Strategy, 2026</a:t>
                      </a:r>
                      <a:endParaRPr sz="1050"/>
                    </a:p>
                  </a:txBody>
                  <a:tcPr marL="9525" marR="9525" marT="9525" marB="0" anchor="ctr"/>
                </a:tc>
                <a:extLst>
                  <a:ext uri="{0D108BD9-81ED-4DB2-BD59-A6C34878D82A}">
                    <a16:rowId xmlns:a16="http://schemas.microsoft.com/office/drawing/2014/main" val="10010"/>
                  </a:ext>
                </a:extLst>
              </a:tr>
              <a:tr h="166688">
                <a:tc>
                  <a:txBody>
                    <a:bodyPr/>
                    <a:lstStyle/>
                    <a:p>
                      <a:pPr algn="l"/>
                      <a:r>
                        <a:rPr sz="1050" b="0" i="0">
                          <a:solidFill>
                            <a:srgbClr val="000000"/>
                          </a:solidFill>
                          <a:latin typeface="Calibri"/>
                        </a:rPr>
                        <a:t>Table 189: VISYO Corporation: Company Overview, Products and Strategy, 2026</a:t>
                      </a:r>
                      <a:endParaRPr sz="1050"/>
                    </a:p>
                  </a:txBody>
                  <a:tcPr marL="9525" marR="9525" marT="9525" marB="0" anchor="ctr"/>
                </a:tc>
                <a:extLst>
                  <a:ext uri="{0D108BD9-81ED-4DB2-BD59-A6C34878D82A}">
                    <a16:rowId xmlns:a16="http://schemas.microsoft.com/office/drawing/2014/main" val="10011"/>
                  </a:ext>
                </a:extLst>
              </a:tr>
              <a:tr h="166688">
                <a:tc>
                  <a:txBody>
                    <a:bodyPr/>
                    <a:lstStyle/>
                    <a:p>
                      <a:pPr algn="l"/>
                      <a:r>
                        <a:rPr sz="1050" b="0" i="0">
                          <a:solidFill>
                            <a:srgbClr val="000000"/>
                          </a:solidFill>
                          <a:latin typeface="Calibri"/>
                        </a:rPr>
                        <a:t>Table 190: NaturVet: Company Overview, Products and Strategy, 2026</a:t>
                      </a:r>
                      <a:endParaRPr sz="1050"/>
                    </a:p>
                  </a:txBody>
                  <a:tcPr marL="9525" marR="9525" marT="9525" marB="0" anchor="ctr"/>
                </a:tc>
                <a:extLst>
                  <a:ext uri="{0D108BD9-81ED-4DB2-BD59-A6C34878D82A}">
                    <a16:rowId xmlns:a16="http://schemas.microsoft.com/office/drawing/2014/main" val="10012"/>
                  </a:ext>
                </a:extLst>
              </a:tr>
              <a:tr h="166688">
                <a:tc>
                  <a:txBody>
                    <a:bodyPr/>
                    <a:lstStyle/>
                    <a:p>
                      <a:pPr algn="l"/>
                      <a:r>
                        <a:rPr sz="1050" b="0" i="0">
                          <a:solidFill>
                            <a:srgbClr val="000000"/>
                          </a:solidFill>
                          <a:latin typeface="Calibri"/>
                        </a:rPr>
                        <a:t>Table 191: Zesty Paws: Company Overview, Products and Strategy, 2026</a:t>
                      </a:r>
                      <a:endParaRPr sz="1050"/>
                    </a:p>
                  </a:txBody>
                  <a:tcPr marL="9525" marR="9525" marT="9525" marB="0" anchor="ctr"/>
                </a:tc>
                <a:extLst>
                  <a:ext uri="{0D108BD9-81ED-4DB2-BD59-A6C34878D82A}">
                    <a16:rowId xmlns:a16="http://schemas.microsoft.com/office/drawing/2014/main" val="10013"/>
                  </a:ext>
                </a:extLst>
              </a:tr>
              <a:tr h="166688">
                <a:tc>
                  <a:txBody>
                    <a:bodyPr/>
                    <a:lstStyle/>
                    <a:p>
                      <a:pPr algn="l"/>
                      <a:r>
                        <a:rPr sz="1050" b="0" i="0">
                          <a:solidFill>
                            <a:srgbClr val="000000"/>
                          </a:solidFill>
                          <a:latin typeface="Calibri"/>
                        </a:rPr>
                        <a:t>Table 192: Ark Naturals: Company Overview, Products and Strategy, 2026</a:t>
                      </a:r>
                      <a:endParaRPr sz="1050"/>
                    </a:p>
                  </a:txBody>
                  <a:tcPr marL="9525" marR="9525" marT="9525" marB="0" anchor="ctr"/>
                </a:tc>
                <a:extLst>
                  <a:ext uri="{0D108BD9-81ED-4DB2-BD59-A6C34878D82A}">
                    <a16:rowId xmlns:a16="http://schemas.microsoft.com/office/drawing/2014/main" val="10014"/>
                  </a:ext>
                </a:extLst>
              </a:tr>
              <a:tr h="166688">
                <a:tc>
                  <a:txBody>
                    <a:bodyPr/>
                    <a:lstStyle/>
                    <a:p>
                      <a:pPr algn="l"/>
                      <a:r>
                        <a:rPr sz="1050" b="0" i="0">
                          <a:solidFill>
                            <a:srgbClr val="000000"/>
                          </a:solidFill>
                          <a:latin typeface="Calibri"/>
                        </a:rPr>
                        <a:t>Table 193: Global Market Value by Scenario and Region, US$ Mn, 2026–2036</a:t>
                      </a:r>
                      <a:endParaRPr sz="1050"/>
                    </a:p>
                  </a:txBody>
                  <a:tcPr marL="9525" marR="9525" marT="9525" marB="0" anchor="ctr"/>
                </a:tc>
                <a:extLst>
                  <a:ext uri="{0D108BD9-81ED-4DB2-BD59-A6C34878D82A}">
                    <a16:rowId xmlns:a16="http://schemas.microsoft.com/office/drawing/2014/main" val="10015"/>
                  </a:ext>
                </a:extLst>
              </a:tr>
              <a:tr h="166688">
                <a:tc>
                  <a:txBody>
                    <a:bodyPr/>
                    <a:lstStyle/>
                    <a:p>
                      <a:pPr algn="l"/>
                      <a:r>
                        <a:rPr sz="1050" b="0" i="0">
                          <a:solidFill>
                            <a:srgbClr val="000000"/>
                          </a:solidFill>
                          <a:latin typeface="Calibri"/>
                        </a:rPr>
                        <a:t>Table 194: Global Market Key Trends and Impact Rating, 2026–2036</a:t>
                      </a:r>
                      <a:endParaRPr sz="1050"/>
                    </a:p>
                  </a:txBody>
                  <a:tcPr marL="9525" marR="9525" marT="9525" marB="0" anchor="ctr"/>
                </a:tc>
                <a:extLst>
                  <a:ext uri="{0D108BD9-81ED-4DB2-BD59-A6C34878D82A}">
                    <a16:rowId xmlns:a16="http://schemas.microsoft.com/office/drawing/2014/main" val="10016"/>
                  </a:ext>
                </a:extLst>
              </a:tr>
              <a:tr h="166688">
                <a:tc>
                  <a:txBody>
                    <a:bodyPr/>
                    <a:lstStyle/>
                    <a:p>
                      <a:pPr algn="l"/>
                      <a:r>
                        <a:rPr sz="1050" b="0" i="0">
                          <a:solidFill>
                            <a:srgbClr val="000000"/>
                          </a:solidFill>
                          <a:latin typeface="Calibri"/>
                        </a:rPr>
                        <a:t>Table 195: Global Market Opportunity Assessment by Form Type, US$ Mn, 2026–2036</a:t>
                      </a:r>
                      <a:endParaRPr sz="1050"/>
                    </a:p>
                  </a:txBody>
                  <a:tcPr marL="9525" marR="9525" marT="9525" marB="0" anchor="ctr"/>
                </a:tc>
                <a:extLst>
                  <a:ext uri="{0D108BD9-81ED-4DB2-BD59-A6C34878D82A}">
                    <a16:rowId xmlns:a16="http://schemas.microsoft.com/office/drawing/2014/main" val="10017"/>
                  </a:ext>
                </a:extLst>
              </a:tr>
              <a:tr h="166688">
                <a:tc>
                  <a:txBody>
                    <a:bodyPr/>
                    <a:lstStyle/>
                    <a:p>
                      <a:pPr algn="l"/>
                      <a:r>
                        <a:rPr sz="1050" b="0" i="0">
                          <a:solidFill>
                            <a:srgbClr val="000000"/>
                          </a:solidFill>
                          <a:latin typeface="Calibri"/>
                        </a:rPr>
                        <a:t>Table 196: Global Market Scenario Assumptions, 2026–2036</a:t>
                      </a:r>
                      <a:endParaRPr sz="1050"/>
                    </a:p>
                  </a:txBody>
                  <a:tcPr marL="9525" marR="9525" marT="9525" marB="0" anchor="ctr"/>
                </a:tc>
                <a:extLst>
                  <a:ext uri="{0D108BD9-81ED-4DB2-BD59-A6C34878D82A}">
                    <a16:rowId xmlns:a16="http://schemas.microsoft.com/office/drawing/2014/main" val="10018"/>
                  </a:ext>
                </a:extLst>
              </a:tr>
              <a:tr h="166688">
                <a:tc>
                  <a:txBody>
                    <a:bodyPr/>
                    <a:lstStyle/>
                    <a:p>
                      <a:pPr algn="l"/>
                      <a:r>
                        <a:rPr sz="1050" b="0" i="0">
                          <a:solidFill>
                            <a:srgbClr val="000000"/>
                          </a:solidFill>
                          <a:latin typeface="Calibri"/>
                        </a:rPr>
                        <a:t>Table 197: Global Market Risk Register and Mitigation, 2026–2036</a:t>
                      </a:r>
                      <a:endParaRPr sz="1050"/>
                    </a:p>
                  </a:txBody>
                  <a:tcPr marL="9525" marR="9525" marT="9525" marB="0" anchor="ctr"/>
                </a:tc>
                <a:extLst>
                  <a:ext uri="{0D108BD9-81ED-4DB2-BD59-A6C34878D82A}">
                    <a16:rowId xmlns:a16="http://schemas.microsoft.com/office/drawing/2014/main" val="10019"/>
                  </a:ext>
                </a:extLst>
              </a:tr>
              <a:tr h="166688">
                <a:tc>
                  <a:txBody>
                    <a:bodyPr/>
                    <a:lstStyle/>
                    <a:p>
                      <a:pPr algn="l"/>
                      <a:r>
                        <a:rPr sz="1050" b="0" i="0">
                          <a:solidFill>
                            <a:srgbClr val="000000"/>
                          </a:solidFill>
                          <a:latin typeface="Calibri"/>
                        </a:rPr>
                        <a:t>Table 198: Global Market Client Opportunity Prioritisation by Form Type, 2026–2036</a:t>
                      </a:r>
                      <a:endParaRPr sz="1050"/>
                    </a:p>
                  </a:txBody>
                  <a:tcPr marL="9525" marR="9525" marT="9525" marB="0" anchor="ctr"/>
                </a:tc>
                <a:extLst>
                  <a:ext uri="{0D108BD9-81ED-4DB2-BD59-A6C34878D82A}">
                    <a16:rowId xmlns:a16="http://schemas.microsoft.com/office/drawing/2014/main" val="10020"/>
                  </a:ext>
                </a:extLst>
              </a:tr>
              <a:tr h="166688">
                <a:tc>
                  <a:txBody>
                    <a:bodyPr/>
                    <a:lstStyle/>
                    <a:p>
                      <a:pPr algn="l"/>
                      <a:r>
                        <a:rPr sz="1050" b="0" i="0">
                          <a:solidFill>
                            <a:srgbClr val="000000"/>
                          </a:solidFill>
                          <a:latin typeface="Calibri"/>
                        </a:rPr>
                        <a:t>Table 199: Global Market Customer Purchase Criteria by Form Type, 2026</a:t>
                      </a:r>
                      <a:endParaRPr sz="1050"/>
                    </a:p>
                  </a:txBody>
                  <a:tcPr marL="9525" marR="9525" marT="9525" marB="0" anchor="ctr"/>
                </a:tc>
                <a:extLst>
                  <a:ext uri="{0D108BD9-81ED-4DB2-BD59-A6C34878D82A}">
                    <a16:rowId xmlns:a16="http://schemas.microsoft.com/office/drawing/2014/main" val="10021"/>
                  </a:ext>
                </a:extLst>
              </a:tr>
              <a:tr h="166688">
                <a:tc>
                  <a:txBody>
                    <a:bodyPr/>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extLst>
                  <a:ext uri="{0D108BD9-81ED-4DB2-BD59-A6C34878D82A}">
                    <a16:rowId xmlns:a16="http://schemas.microsoft.com/office/drawing/2014/main" val="10022"/>
                  </a:ext>
                </a:extLst>
              </a:tr>
            </a:tbl>
          </a:graphicData>
        </a:graphic>
      </p:graphicFrame>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170116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2005965"/>
            <a:ext cx="7239000" cy="514350"/>
          </a:xfrm>
          <a:prstGeom prst="rect">
            <a:avLst/>
          </a:prstGeom>
          <a:noFill/>
        </p:spPr>
        <p:txBody>
          <a:bodyPr wrap="square" lIns="0" tIns="0" rIns="0">
            <a:spAutoFit/>
          </a:bodyPr>
          <a:lstStyle/>
          <a:p>
            <a:r>
              <a:rPr sz="3000" b="1" cap="all" spc="400">
                <a:solidFill>
                  <a:srgbClr val="FFFFFF"/>
                </a:solidFill>
                <a:latin typeface="Calibri"/>
              </a:rPr>
              <a:t>Global Market Outlook</a:t>
            </a:r>
          </a:p>
        </p:txBody>
      </p:sp>
      <p:sp>
        <p:nvSpPr>
          <p:cNvPr id="7" name="TextBox 6"/>
          <p:cNvSpPr txBox="1"/>
          <p:nvPr/>
        </p:nvSpPr>
        <p:spPr>
          <a:xfrm>
            <a:off x="914400" y="2710815"/>
            <a:ext cx="7124700" cy="387477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Global Overview</a:t>
            </a:r>
          </a:p>
          <a:p>
            <a:pPr marL="342900" indent="-323850">
              <a:lnSpc>
                <a:spcPct val="100000"/>
              </a:lnSpc>
              <a:spcAft>
                <a:spcPts val="800"/>
              </a:spcAft>
            </a:pPr>
            <a:r>
              <a:rPr sz="2000" b="0">
                <a:solidFill>
                  <a:srgbClr val="FFD447"/>
                </a:solidFill>
                <a:latin typeface="Calibri"/>
              </a:rPr>
              <a:t>➤	Global Market Analysis By Region</a:t>
            </a:r>
          </a:p>
          <a:p>
            <a:pPr marL="342900" indent="-323850">
              <a:lnSpc>
                <a:spcPct val="100000"/>
              </a:lnSpc>
              <a:spcAft>
                <a:spcPts val="800"/>
              </a:spcAft>
            </a:pPr>
            <a:r>
              <a:rPr sz="2000" b="0">
                <a:solidFill>
                  <a:srgbClr val="FFD447"/>
                </a:solidFill>
                <a:latin typeface="Calibri"/>
              </a:rPr>
              <a:t>➤	Global Market Analysis By Segments</a:t>
            </a:r>
          </a:p>
          <a:p>
            <a:pPr marL="685800" indent="-323850">
              <a:lnSpc>
                <a:spcPct val="100000"/>
              </a:lnSpc>
              <a:spcAft>
                <a:spcPts val="560"/>
              </a:spcAft>
            </a:pPr>
            <a:r>
              <a:rPr sz="1400" b="0">
                <a:solidFill>
                  <a:srgbClr val="FFD447"/>
                </a:solidFill>
                <a:latin typeface="Calibri"/>
              </a:rPr>
              <a:t>›	By Form Type</a:t>
            </a:r>
          </a:p>
          <a:p>
            <a:pPr marL="685800" indent="-323850">
              <a:lnSpc>
                <a:spcPct val="100000"/>
              </a:lnSpc>
              <a:spcAft>
                <a:spcPts val="560"/>
              </a:spcAft>
            </a:pPr>
            <a:r>
              <a:rPr sz="1400" b="0">
                <a:solidFill>
                  <a:srgbClr val="FFD447"/>
                </a:solidFill>
                <a:latin typeface="Calibri"/>
              </a:rPr>
              <a:t>›	By Active Ingredient</a:t>
            </a:r>
          </a:p>
          <a:p>
            <a:pPr marL="685800" indent="-323850">
              <a:lnSpc>
                <a:spcPct val="100000"/>
              </a:lnSpc>
              <a:spcAft>
                <a:spcPts val="560"/>
              </a:spcAft>
            </a:pPr>
            <a:r>
              <a:rPr sz="1400" b="0">
                <a:solidFill>
                  <a:srgbClr val="FFD447"/>
                </a:solidFill>
                <a:latin typeface="Calibri"/>
              </a:rPr>
              <a:t>›	By End-use Application</a:t>
            </a:r>
          </a:p>
          <a:p>
            <a:pPr marL="685800" indent="-323850">
              <a:lnSpc>
                <a:spcPct val="100000"/>
              </a:lnSpc>
              <a:spcAft>
                <a:spcPts val="560"/>
              </a:spcAft>
            </a:pPr>
            <a:r>
              <a:rPr sz="1400" b="0">
                <a:solidFill>
                  <a:srgbClr val="FFD447"/>
                </a:solidFill>
                <a:latin typeface="Calibri"/>
              </a:rPr>
              <a:t>›	By Packaging Format</a:t>
            </a:r>
          </a:p>
          <a:p>
            <a:pPr marL="685800" indent="-323850">
              <a:lnSpc>
                <a:spcPct val="100000"/>
              </a:lnSpc>
              <a:spcAft>
                <a:spcPts val="560"/>
              </a:spcAft>
            </a:pPr>
            <a:r>
              <a:rPr sz="1400" b="0">
                <a:solidFill>
                  <a:srgbClr val="FFD447"/>
                </a:solidFill>
                <a:latin typeface="Calibri"/>
              </a:rPr>
              <a:t>›	By Sales Channel</a:t>
            </a:r>
          </a:p>
          <a:p>
            <a:pPr marL="342900" indent="-323850">
              <a:lnSpc>
                <a:spcPct val="100000"/>
              </a:lnSpc>
              <a:spcAft>
                <a:spcPts val="800"/>
              </a:spcAft>
            </a:pPr>
            <a:r>
              <a:rPr sz="2000" b="0">
                <a:solidFill>
                  <a:srgbClr val="FFD447"/>
                </a:solidFill>
                <a:latin typeface="Calibri"/>
              </a:rPr>
              <a:t>➤	Cross-sectional Assessment</a:t>
            </a:r>
          </a:p>
          <a:p>
            <a:pPr marL="685800" indent="-323850">
              <a:lnSpc>
                <a:spcPct val="100000"/>
              </a:lnSpc>
              <a:spcAft>
                <a:spcPts val="560"/>
              </a:spcAft>
            </a:pPr>
            <a:r>
              <a:rPr sz="1400" b="0">
                <a:solidFill>
                  <a:srgbClr val="FFD447"/>
                </a:solidFill>
                <a:latin typeface="Calibri"/>
              </a:rPr>
              <a:t>›	Form Type × Active Ingredient</a:t>
            </a:r>
          </a:p>
          <a:p>
            <a:pPr marL="685800" indent="-323850">
              <a:lnSpc>
                <a:spcPct val="100000"/>
              </a:lnSpc>
              <a:spcAft>
                <a:spcPts val="560"/>
              </a:spcAft>
            </a:pPr>
            <a:r>
              <a:rPr sz="1400" b="0">
                <a:solidFill>
                  <a:srgbClr val="FFD447"/>
                </a:solidFill>
                <a:latin typeface="Calibri"/>
              </a:rPr>
              <a:t>›	End-use Application × Active Ingredient</a:t>
            </a:r>
          </a:p>
          <a:p>
            <a:pPr marL="685800" indent="-323850">
              <a:lnSpc>
                <a:spcPct val="100000"/>
              </a:lnSpc>
              <a:spcAft>
                <a:spcPts val="560"/>
              </a:spcAft>
            </a:pPr>
            <a:r>
              <a:rPr sz="1400" b="0">
                <a:solidFill>
                  <a:srgbClr val="FFD447"/>
                </a:solidFill>
                <a:latin typeface="Calibri"/>
              </a:rPr>
              <a:t>›	Sales Channel × End-use Application</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Advice for Vendors &amp; Suppliers</a:t>
            </a:r>
          </a:p>
          <a:p>
            <a:pPr marL="342900" indent="-323850">
              <a:lnSpc>
                <a:spcPct val="100000"/>
              </a:lnSpc>
              <a:spcAft>
                <a:spcPts val="800"/>
              </a:spcAft>
            </a:pPr>
            <a:r>
              <a:rPr sz="2000" b="0">
                <a:solidFill>
                  <a:srgbClr val="000000"/>
                </a:solidFill>
                <a:latin typeface="Calibri"/>
              </a:rPr>
              <a:t>➤	Company Value Share</a:t>
            </a:r>
          </a:p>
          <a:p>
            <a:pPr marL="342900" indent="-323850">
              <a:lnSpc>
                <a:spcPct val="100000"/>
              </a:lnSpc>
              <a:spcAft>
                <a:spcPts val="800"/>
              </a:spcAft>
            </a:pPr>
            <a:r>
              <a:rPr sz="2000" b="0">
                <a:solidFill>
                  <a:srgbClr val="000000"/>
                </a:solidFill>
                <a:latin typeface="Calibri"/>
              </a:rPr>
              <a:t>➤	Company Share by Product Type</a:t>
            </a:r>
          </a:p>
          <a:p>
            <a:pPr marL="342900" indent="-323850">
              <a:lnSpc>
                <a:spcPct val="100000"/>
              </a:lnSpc>
              <a:spcAft>
                <a:spcPts val="800"/>
              </a:spcAft>
            </a:pPr>
            <a:r>
              <a:rPr sz="2000" b="0">
                <a:solidFill>
                  <a:srgbClr val="000000"/>
                </a:solidFill>
                <a:latin typeface="Calibri"/>
              </a:rPr>
              <a:t>➤	Company Share by Region</a:t>
            </a:r>
          </a:p>
          <a:p>
            <a:pPr marL="342900" indent="-323850">
              <a:lnSpc>
                <a:spcPct val="100000"/>
              </a:lnSpc>
              <a:spcAft>
                <a:spcPts val="800"/>
              </a:spcAft>
            </a:pPr>
            <a:r>
              <a:rPr sz="2000" b="0">
                <a:solidFill>
                  <a:srgbClr val="000000"/>
                </a:solidFill>
                <a:latin typeface="Calibri"/>
              </a:rPr>
              <a:t>➤	Who Shaped Growth</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Strategic advice for vendors and suppliers where to compete, how to price, and which risks to manage across the Senior Dog Cognitive Supplement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6225" y="1439806"/>
            <a:ext cx="5591175" cy="209550"/>
          </a:xfrm>
          <a:prstGeom prst="rect">
            <a:avLst/>
          </a:prstGeom>
          <a:noFill/>
        </p:spPr>
        <p:txBody>
          <a:bodyPr wrap="square" lIns="0" tIns="9525" rIns="19050"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6225" y="1763656"/>
            <a:ext cx="5591175" cy="2115377"/>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24600" y="1439806"/>
            <a:ext cx="5591175" cy="209550"/>
          </a:xfrm>
          <a:prstGeom prst="rect">
            <a:avLst/>
          </a:prstGeom>
          <a:noFill/>
        </p:spPr>
        <p:txBody>
          <a:bodyPr wrap="square" lIns="0" tIns="9525" rIns="19050"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24600" y="1763656"/>
            <a:ext cx="5591175" cy="2115377"/>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6225" y="4132227"/>
            <a:ext cx="5591175" cy="209550"/>
          </a:xfrm>
          <a:prstGeom prst="rect">
            <a:avLst/>
          </a:prstGeom>
          <a:noFill/>
        </p:spPr>
        <p:txBody>
          <a:bodyPr wrap="square" lIns="0" tIns="9525" rIns="19050"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6225" y="4456077"/>
            <a:ext cx="5591175" cy="2024108"/>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24600" y="4132227"/>
            <a:ext cx="5591175" cy="209550"/>
          </a:xfrm>
          <a:prstGeom prst="rect">
            <a:avLst/>
          </a:prstGeom>
          <a:noFill/>
        </p:spPr>
        <p:txBody>
          <a:bodyPr wrap="square" lIns="0" tIns="9525" rIns="19050"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24600" y="4456077"/>
            <a:ext cx="5591175" cy="2024108"/>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7" name="TextBox 2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tIns="0" r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tIns="0" r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tIns="0" r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488892" cy="194310"/>
          </a:xfrm>
          <a:prstGeom prst="rect">
            <a:avLst/>
          </a:prstGeom>
          <a:noFill/>
        </p:spPr>
        <p:txBody>
          <a:bodyPr wrap="none" lIns="0" tIns="0" rIns="0" bIns="0">
            <a:spAutoFit/>
          </a:bodyPr>
          <a:lstStyle/>
          <a:p>
            <a:r>
              <a:rPr sz="1150" b="0">
                <a:solidFill>
                  <a:srgbClr val="2E2E2E"/>
                </a:solidFill>
                <a:latin typeface="Calibri"/>
              </a:rPr>
              <a:t>▪ Premiumise toward higher-value formulations (e.g. 'Capsules and Softgels') to lift blended</a:t>
            </a:r>
          </a:p>
        </p:txBody>
      </p:sp>
      <p:sp>
        <p:nvSpPr>
          <p:cNvPr id="33" name="TextBox 32"/>
          <p:cNvSpPr txBox="1"/>
          <p:nvPr/>
        </p:nvSpPr>
        <p:spPr>
          <a:xfrm>
            <a:off x="276225" y="2351539"/>
            <a:ext cx="2706241" cy="194310"/>
          </a:xfrm>
          <a:prstGeom prst="rect">
            <a:avLst/>
          </a:prstGeom>
          <a:noFill/>
        </p:spPr>
        <p:txBody>
          <a:bodyPr wrap="none" lIns="0" tIns="0" rIns="0" bIns="0">
            <a:spAutoFit/>
          </a:bodyPr>
          <a:lstStyle/>
          <a:p>
            <a:r>
              <a:rPr sz="1150" b="0">
                <a:solidFill>
                  <a:srgbClr val="2E2E2E"/>
                </a:solidFill>
                <a:latin typeface="Calibri"/>
              </a:rPr>
              <a:t>ASP and defend margin as input costs move.</a:t>
            </a:r>
          </a:p>
        </p:txBody>
      </p:sp>
      <p:sp>
        <p:nvSpPr>
          <p:cNvPr id="34" name="TextBox 33"/>
          <p:cNvSpPr txBox="1"/>
          <p:nvPr/>
        </p:nvSpPr>
        <p:spPr>
          <a:xfrm>
            <a:off x="276225" y="2579377"/>
            <a:ext cx="4816264" cy="194310"/>
          </a:xfrm>
          <a:prstGeom prst="rect">
            <a:avLst/>
          </a:prstGeom>
          <a:noFill/>
        </p:spPr>
        <p:txBody>
          <a:bodyPr wrap="none" lIns="0" tIns="0" r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tIns="0" r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tIns="0" r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tIns="0" r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tIns="0" r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tIns="0" r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tIns="0" r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3270473" cy="194310"/>
          </a:xfrm>
          <a:prstGeom prst="rect">
            <a:avLst/>
          </a:prstGeom>
          <a:noFill/>
        </p:spPr>
        <p:txBody>
          <a:bodyPr wrap="none" lIns="0" tIns="0" rIns="0" bIns="0">
            <a:spAutoFit/>
          </a:bodyPr>
          <a:lstStyle/>
          <a:p>
            <a:r>
              <a:rPr sz="1150" b="0">
                <a:solidFill>
                  <a:srgbClr val="2E2E2E"/>
                </a:solidFill>
                <a:latin typeface="Calibri"/>
              </a:rPr>
              <a:t>▪ Benchmark relentlessly against 'Standard Process' (~</a:t>
            </a:r>
          </a:p>
        </p:txBody>
      </p:sp>
      <p:pic>
        <p:nvPicPr>
          <p:cNvPr id="43" name="Picture 42" descr="lock.png"/>
          <p:cNvPicPr>
            <a:picLocks noChangeAspect="1"/>
          </p:cNvPicPr>
          <p:nvPr/>
        </p:nvPicPr>
        <p:blipFill>
          <a:blip r:embed="rId4"/>
          <a:stretch>
            <a:fillRect/>
          </a:stretch>
        </p:blipFill>
        <p:spPr>
          <a:xfrm>
            <a:off x="9544227" y="4455378"/>
            <a:ext cx="134549" cy="195707"/>
          </a:xfrm>
          <a:prstGeom prst="rect">
            <a:avLst/>
          </a:prstGeom>
        </p:spPr>
      </p:pic>
      <p:sp>
        <p:nvSpPr>
          <p:cNvPr id="44" name="TextBox 43"/>
          <p:cNvSpPr txBox="1"/>
          <p:nvPr/>
        </p:nvSpPr>
        <p:spPr>
          <a:xfrm>
            <a:off x="9719336" y="4465602"/>
            <a:ext cx="2032756" cy="194310"/>
          </a:xfrm>
          <a:prstGeom prst="rect">
            <a:avLst/>
          </a:prstGeom>
          <a:noFill/>
        </p:spPr>
        <p:txBody>
          <a:bodyPr wrap="none" lIns="0" tIns="0" rIns="0" bIns="0">
            <a:spAutoFit/>
          </a:bodyPr>
          <a:lstStyle/>
          <a:p>
            <a:r>
              <a:rPr sz="1150" b="0">
                <a:solidFill>
                  <a:srgbClr val="2E2E2E"/>
                </a:solidFill>
                <a:latin typeface="Calibri"/>
              </a:rPr>
              <a:t>share) match on service and lead</a:t>
            </a:r>
          </a:p>
        </p:txBody>
      </p:sp>
      <p:sp>
        <p:nvSpPr>
          <p:cNvPr id="45" name="TextBox 44"/>
          <p:cNvSpPr txBox="1"/>
          <p:nvPr/>
        </p:nvSpPr>
        <p:spPr>
          <a:xfrm>
            <a:off x="6324600" y="4640861"/>
            <a:ext cx="1747217" cy="194310"/>
          </a:xfrm>
          <a:prstGeom prst="rect">
            <a:avLst/>
          </a:prstGeom>
          <a:noFill/>
        </p:spPr>
        <p:txBody>
          <a:bodyPr wrap="none" lIns="0" tIns="0" rIns="0" bIns="0">
            <a:spAutoFit/>
          </a:bodyPr>
          <a:lstStyle/>
          <a:p>
            <a:r>
              <a:rPr sz="1150" b="0">
                <a:solidFill>
                  <a:srgbClr val="2E2E2E"/>
                </a:solidFill>
                <a:latin typeface="Calibri"/>
              </a:rPr>
              <a:t>on innovation to take share.</a:t>
            </a:r>
          </a:p>
        </p:txBody>
      </p:sp>
      <p:sp>
        <p:nvSpPr>
          <p:cNvPr id="46" name="TextBox 45"/>
          <p:cNvSpPr txBox="1"/>
          <p:nvPr/>
        </p:nvSpPr>
        <p:spPr>
          <a:xfrm>
            <a:off x="6324600" y="4868699"/>
            <a:ext cx="5455518" cy="194310"/>
          </a:xfrm>
          <a:prstGeom prst="rect">
            <a:avLst/>
          </a:prstGeom>
          <a:noFill/>
        </p:spPr>
        <p:txBody>
          <a:bodyPr wrap="none" lIns="0" tIns="0" r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tIns="0" r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tIns="0" r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tIns="0" rIns="0" bIns="0">
            <a:spAutoFit/>
          </a:bodyPr>
          <a:lstStyle/>
          <a:p>
            <a:r>
              <a:rPr sz="1150" b="0">
                <a:solidFill>
                  <a:srgbClr val="2E2E2E"/>
                </a:solidFill>
                <a:latin typeface="Calibri"/>
              </a:rPr>
              <a:t>sourcing.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Company Value Share (Global)</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1" name="Rounded Rectangle 10"/>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411231"/>
            <a:ext cx="73533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3" name="Chart 12"/>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2049780" y="3878635"/>
            <a:ext cx="1524000" cy="400050"/>
          </a:xfrm>
          <a:prstGeom prst="rect">
            <a:avLst/>
          </a:prstGeom>
          <a:noFill/>
        </p:spPr>
        <p:txBody>
          <a:bodyPr wrap="square" lIns="28575" tIns="9525" rIns="28575" bIns="9525" anchor="ctr">
            <a:spAutoFit/>
          </a:bodyPr>
          <a:lstStyle/>
          <a:p>
            <a:pPr algn="ctr"/>
            <a:endParaRPr/>
          </a:p>
          <a:p>
            <a:pPr algn="ctr"/>
            <a:endParaRPr/>
          </a:p>
        </p:txBody>
      </p:sp>
      <p:sp>
        <p:nvSpPr>
          <p:cNvPr id="15" name="Rounded Rectangle 14"/>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34325" y="1439806"/>
            <a:ext cx="39814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17" name="Rectangle 16"/>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34325" y="1763656"/>
            <a:ext cx="3981450" cy="4734783"/>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5"/>
          <a:stretch>
            <a:fillRect/>
          </a:stretch>
        </p:blipFill>
        <p:spPr>
          <a:xfrm>
            <a:off x="2533173" y="3678610"/>
            <a:ext cx="523875" cy="762000"/>
          </a:xfrm>
          <a:prstGeom prst="rect">
            <a:avLst/>
          </a:prstGeom>
        </p:spPr>
      </p:pic>
      <p:sp>
        <p:nvSpPr>
          <p:cNvPr id="21" name="TextBox 20"/>
          <p:cNvSpPr txBox="1"/>
          <p:nvPr/>
        </p:nvSpPr>
        <p:spPr>
          <a:xfrm>
            <a:off x="2634865" y="3914616"/>
            <a:ext cx="430029" cy="161696"/>
          </a:xfrm>
          <a:prstGeom prst="rect">
            <a:avLst/>
          </a:prstGeom>
          <a:noFill/>
        </p:spPr>
        <p:txBody>
          <a:bodyPr wrap="none" lIns="0" tIns="0" rIns="0" bIns="0">
            <a:spAutoFit/>
          </a:bodyPr>
          <a:lstStyle/>
          <a:p>
            <a:r>
              <a:rPr sz="935" b="1">
                <a:solidFill>
                  <a:srgbClr val="2E2E2E"/>
                </a:solidFill>
                <a:latin typeface="Calibri"/>
              </a:rPr>
              <a:t>100% =</a:t>
            </a:r>
          </a:p>
        </p:txBody>
      </p:sp>
      <p:pic>
        <p:nvPicPr>
          <p:cNvPr id="22" name="Picture 21" descr="lock.png"/>
          <p:cNvPicPr>
            <a:picLocks noChangeAspect="1"/>
          </p:cNvPicPr>
          <p:nvPr/>
        </p:nvPicPr>
        <p:blipFill>
          <a:blip r:embed="rId5"/>
          <a:stretch>
            <a:fillRect/>
          </a:stretch>
        </p:blipFill>
        <p:spPr>
          <a:xfrm>
            <a:off x="2540344" y="4091735"/>
            <a:ext cx="109510" cy="159288"/>
          </a:xfrm>
          <a:prstGeom prst="rect">
            <a:avLst/>
          </a:prstGeom>
        </p:spPr>
      </p:pic>
      <p:sp>
        <p:nvSpPr>
          <p:cNvPr id="23" name="TextBox 22"/>
          <p:cNvSpPr txBox="1"/>
          <p:nvPr/>
        </p:nvSpPr>
        <p:spPr>
          <a:xfrm>
            <a:off x="2682868" y="4100056"/>
            <a:ext cx="465087" cy="161696"/>
          </a:xfrm>
          <a:prstGeom prst="rect">
            <a:avLst/>
          </a:prstGeom>
          <a:noFill/>
        </p:spPr>
        <p:txBody>
          <a:bodyPr wrap="none" lIns="0" tIns="0" rIns="0" bIns="0">
            <a:spAutoFit/>
          </a:bodyPr>
          <a:lstStyle/>
          <a:p>
            <a:r>
              <a:rPr sz="935" b="1">
                <a:solidFill>
                  <a:srgbClr val="2E2E2E"/>
                </a:solidFill>
                <a:latin typeface="Calibri"/>
              </a:rPr>
              <a:t>US$ Mn</a:t>
            </a:r>
          </a:p>
        </p:txBody>
      </p:sp>
      <p:sp>
        <p:nvSpPr>
          <p:cNvPr id="24" name="TextBox 23"/>
          <p:cNvSpPr txBox="1"/>
          <p:nvPr/>
        </p:nvSpPr>
        <p:spPr>
          <a:xfrm>
            <a:off x="7934325" y="1773181"/>
            <a:ext cx="3766815" cy="194310"/>
          </a:xfrm>
          <a:prstGeom prst="rect">
            <a:avLst/>
          </a:prstGeom>
          <a:noFill/>
        </p:spPr>
        <p:txBody>
          <a:bodyPr wrap="none" lIns="0" tIns="0" rIns="0" bIns="0">
            <a:spAutoFit/>
          </a:bodyPr>
          <a:lstStyle/>
          <a:p>
            <a:r>
              <a:rPr sz="1150" b="0">
                <a:solidFill>
                  <a:srgbClr val="2E2E2E"/>
                </a:solidFill>
                <a:latin typeface="Calibri"/>
              </a:rPr>
              <a:t>Standard Process accounted for the largest share of the global</a:t>
            </a:r>
          </a:p>
        </p:txBody>
      </p:sp>
      <p:sp>
        <p:nvSpPr>
          <p:cNvPr id="25" name="TextBox 24"/>
          <p:cNvSpPr txBox="1"/>
          <p:nvPr/>
        </p:nvSpPr>
        <p:spPr>
          <a:xfrm>
            <a:off x="7934325" y="1948441"/>
            <a:ext cx="3962400" cy="194310"/>
          </a:xfrm>
          <a:prstGeom prst="rect">
            <a:avLst/>
          </a:prstGeom>
          <a:noFill/>
        </p:spPr>
        <p:txBody>
          <a:bodyPr wrap="none" lIns="0" tIns="0" rIns="0" bIns="0">
            <a:spAutoFit/>
          </a:bodyPr>
          <a:lstStyle/>
          <a:p>
            <a:r>
              <a:rPr sz="1150" b="0">
                <a:solidFill>
                  <a:srgbClr val="2E2E2E"/>
                </a:solidFill>
                <a:latin typeface="Calibri"/>
              </a:rPr>
              <a:t>senior dog cognitive supplement market in 2026. The global senior</a:t>
            </a:r>
          </a:p>
        </p:txBody>
      </p:sp>
      <p:sp>
        <p:nvSpPr>
          <p:cNvPr id="26" name="TextBox 25"/>
          <p:cNvSpPr txBox="1"/>
          <p:nvPr/>
        </p:nvSpPr>
        <p:spPr>
          <a:xfrm>
            <a:off x="7934325" y="2123701"/>
            <a:ext cx="3728876" cy="194310"/>
          </a:xfrm>
          <a:prstGeom prst="rect">
            <a:avLst/>
          </a:prstGeom>
          <a:noFill/>
        </p:spPr>
        <p:txBody>
          <a:bodyPr wrap="none" lIns="0" tIns="0" rIns="0" bIns="0">
            <a:spAutoFit/>
          </a:bodyPr>
          <a:lstStyle/>
          <a:p>
            <a:r>
              <a:rPr sz="1150" b="0">
                <a:solidFill>
                  <a:srgbClr val="2E2E2E"/>
                </a:solidFill>
                <a:latin typeface="Calibri"/>
              </a:rPr>
              <a:t>dog cognitive supplement market is fragmented, with the top</a:t>
            </a:r>
          </a:p>
        </p:txBody>
      </p:sp>
      <p:sp>
        <p:nvSpPr>
          <p:cNvPr id="27" name="TextBox 26"/>
          <p:cNvSpPr txBox="1"/>
          <p:nvPr/>
        </p:nvSpPr>
        <p:spPr>
          <a:xfrm>
            <a:off x="7934325" y="2298961"/>
            <a:ext cx="2560476" cy="194310"/>
          </a:xfrm>
          <a:prstGeom prst="rect">
            <a:avLst/>
          </a:prstGeom>
          <a:noFill/>
        </p:spPr>
        <p:txBody>
          <a:bodyPr wrap="none" lIns="0" tIns="0" rIns="0" bIns="0">
            <a:spAutoFit/>
          </a:bodyPr>
          <a:lstStyle/>
          <a:p>
            <a:r>
              <a:rPr sz="1150" b="0">
                <a:solidFill>
                  <a:srgbClr val="2E2E2E"/>
                </a:solidFill>
                <a:latin typeface="Calibri"/>
              </a:rPr>
              <a:t>three players accounting for an estimated</a:t>
            </a:r>
          </a:p>
        </p:txBody>
      </p:sp>
      <p:pic>
        <p:nvPicPr>
          <p:cNvPr id="28" name="Picture 27" descr="lock.png"/>
          <p:cNvPicPr>
            <a:picLocks noChangeAspect="1"/>
          </p:cNvPicPr>
          <p:nvPr/>
        </p:nvPicPr>
        <p:blipFill>
          <a:blip r:embed="rId5"/>
          <a:stretch>
            <a:fillRect/>
          </a:stretch>
        </p:blipFill>
        <p:spPr>
          <a:xfrm>
            <a:off x="10443955" y="2288737"/>
            <a:ext cx="134549" cy="195707"/>
          </a:xfrm>
          <a:prstGeom prst="rect">
            <a:avLst/>
          </a:prstGeom>
        </p:spPr>
      </p:pic>
      <p:sp>
        <p:nvSpPr>
          <p:cNvPr id="29" name="TextBox 28"/>
          <p:cNvSpPr txBox="1"/>
          <p:nvPr/>
        </p:nvSpPr>
        <p:spPr>
          <a:xfrm>
            <a:off x="10619064" y="2298961"/>
            <a:ext cx="789905" cy="194310"/>
          </a:xfrm>
          <a:prstGeom prst="rect">
            <a:avLst/>
          </a:prstGeom>
          <a:noFill/>
        </p:spPr>
        <p:txBody>
          <a:bodyPr wrap="none" lIns="0" tIns="0" rIns="0" bIns="0">
            <a:spAutoFit/>
          </a:bodyPr>
          <a:lstStyle/>
          <a:p>
            <a:r>
              <a:rPr sz="1150" b="0">
                <a:solidFill>
                  <a:srgbClr val="2E2E2E"/>
                </a:solidFill>
                <a:latin typeface="Calibri"/>
              </a:rPr>
              <a:t>share of the</a:t>
            </a:r>
          </a:p>
        </p:txBody>
      </p:sp>
      <p:sp>
        <p:nvSpPr>
          <p:cNvPr id="30" name="TextBox 29"/>
          <p:cNvSpPr txBox="1"/>
          <p:nvPr/>
        </p:nvSpPr>
        <p:spPr>
          <a:xfrm>
            <a:off x="7934325" y="2474221"/>
            <a:ext cx="1012118" cy="194310"/>
          </a:xfrm>
          <a:prstGeom prst="rect">
            <a:avLst/>
          </a:prstGeom>
          <a:noFill/>
        </p:spPr>
        <p:txBody>
          <a:bodyPr wrap="none" lIns="0" tIns="0" rIns="0" bIns="0">
            <a:spAutoFit/>
          </a:bodyPr>
          <a:lstStyle/>
          <a:p>
            <a:r>
              <a:rPr sz="1150" b="0">
                <a:solidFill>
                  <a:srgbClr val="2E2E2E"/>
                </a:solidFill>
                <a:latin typeface="Calibri"/>
              </a:rPr>
              <a:t>market in 2026.</a:t>
            </a:r>
          </a:p>
        </p:txBody>
      </p:sp>
      <p:sp>
        <p:nvSpPr>
          <p:cNvPr id="31" name="TextBox 30"/>
          <p:cNvSpPr txBox="1"/>
          <p:nvPr/>
        </p:nvSpPr>
        <p:spPr>
          <a:xfrm>
            <a:off x="7934325" y="2702058"/>
            <a:ext cx="2770708" cy="194310"/>
          </a:xfrm>
          <a:prstGeom prst="rect">
            <a:avLst/>
          </a:prstGeom>
          <a:noFill/>
        </p:spPr>
        <p:txBody>
          <a:bodyPr wrap="none" lIns="0" tIns="0" rIns="0" bIns="0">
            <a:spAutoFit/>
          </a:bodyPr>
          <a:lstStyle/>
          <a:p>
            <a:r>
              <a:rPr sz="1150" b="0">
                <a:solidFill>
                  <a:srgbClr val="2E2E2E"/>
                </a:solidFill>
                <a:latin typeface="Calibri"/>
              </a:rPr>
              <a:t>Standard Process accounted for an estimated</a:t>
            </a:r>
          </a:p>
        </p:txBody>
      </p:sp>
      <p:pic>
        <p:nvPicPr>
          <p:cNvPr id="32" name="Picture 31" descr="lock.png"/>
          <p:cNvPicPr>
            <a:picLocks noChangeAspect="1"/>
          </p:cNvPicPr>
          <p:nvPr/>
        </p:nvPicPr>
        <p:blipFill>
          <a:blip r:embed="rId5"/>
          <a:stretch>
            <a:fillRect/>
          </a:stretch>
        </p:blipFill>
        <p:spPr>
          <a:xfrm>
            <a:off x="10654187" y="2691835"/>
            <a:ext cx="134549" cy="195707"/>
          </a:xfrm>
          <a:prstGeom prst="rect">
            <a:avLst/>
          </a:prstGeom>
        </p:spPr>
      </p:pic>
      <p:sp>
        <p:nvSpPr>
          <p:cNvPr id="33" name="TextBox 32"/>
          <p:cNvSpPr txBox="1"/>
          <p:nvPr/>
        </p:nvSpPr>
        <p:spPr>
          <a:xfrm>
            <a:off x="10829296" y="2702058"/>
            <a:ext cx="789905" cy="194310"/>
          </a:xfrm>
          <a:prstGeom prst="rect">
            <a:avLst/>
          </a:prstGeom>
          <a:noFill/>
        </p:spPr>
        <p:txBody>
          <a:bodyPr wrap="none" lIns="0" tIns="0" rIns="0" bIns="0">
            <a:spAutoFit/>
          </a:bodyPr>
          <a:lstStyle/>
          <a:p>
            <a:r>
              <a:rPr sz="1150" b="0">
                <a:solidFill>
                  <a:srgbClr val="2E2E2E"/>
                </a:solidFill>
                <a:latin typeface="Calibri"/>
              </a:rPr>
              <a:t>share of the</a:t>
            </a:r>
          </a:p>
        </p:txBody>
      </p:sp>
      <p:sp>
        <p:nvSpPr>
          <p:cNvPr id="34" name="TextBox 33"/>
          <p:cNvSpPr txBox="1"/>
          <p:nvPr/>
        </p:nvSpPr>
        <p:spPr>
          <a:xfrm>
            <a:off x="7934325" y="2877318"/>
            <a:ext cx="2333699" cy="194310"/>
          </a:xfrm>
          <a:prstGeom prst="rect">
            <a:avLst/>
          </a:prstGeom>
          <a:noFill/>
        </p:spPr>
        <p:txBody>
          <a:bodyPr wrap="none" lIns="0" tIns="0" rIns="0" bIns="0">
            <a:spAutoFit/>
          </a:bodyPr>
          <a:lstStyle/>
          <a:p>
            <a:r>
              <a:rPr sz="1150" b="0">
                <a:solidFill>
                  <a:srgbClr val="2E2E2E"/>
                </a:solidFill>
                <a:latin typeface="Calibri"/>
              </a:rPr>
              <a:t>market, followed by VetriScience with</a:t>
            </a:r>
          </a:p>
        </p:txBody>
      </p:sp>
      <p:pic>
        <p:nvPicPr>
          <p:cNvPr id="35" name="Picture 34" descr="lock.png"/>
          <p:cNvPicPr>
            <a:picLocks noChangeAspect="1"/>
          </p:cNvPicPr>
          <p:nvPr/>
        </p:nvPicPr>
        <p:blipFill>
          <a:blip r:embed="rId5"/>
          <a:stretch>
            <a:fillRect/>
          </a:stretch>
        </p:blipFill>
        <p:spPr>
          <a:xfrm>
            <a:off x="10217178" y="2867095"/>
            <a:ext cx="134549" cy="195707"/>
          </a:xfrm>
          <a:prstGeom prst="rect">
            <a:avLst/>
          </a:prstGeom>
        </p:spPr>
      </p:pic>
      <p:sp>
        <p:nvSpPr>
          <p:cNvPr id="36" name="TextBox 35"/>
          <p:cNvSpPr txBox="1"/>
          <p:nvPr/>
        </p:nvSpPr>
        <p:spPr>
          <a:xfrm>
            <a:off x="10392287" y="2877318"/>
            <a:ext cx="1048019" cy="194310"/>
          </a:xfrm>
          <a:prstGeom prst="rect">
            <a:avLst/>
          </a:prstGeom>
          <a:noFill/>
        </p:spPr>
        <p:txBody>
          <a:bodyPr wrap="none" lIns="0" tIns="0" rIns="0" bIns="0">
            <a:spAutoFit/>
          </a:bodyPr>
          <a:lstStyle/>
          <a:p>
            <a:r>
              <a:rPr sz="1150" b="0">
                <a:solidFill>
                  <a:srgbClr val="2E2E2E"/>
                </a:solidFill>
                <a:latin typeface="Calibri"/>
              </a:rPr>
              <a:t>. Key players are</a:t>
            </a:r>
          </a:p>
        </p:txBody>
      </p:sp>
      <p:sp>
        <p:nvSpPr>
          <p:cNvPr id="37" name="TextBox 36"/>
          <p:cNvSpPr txBox="1"/>
          <p:nvPr/>
        </p:nvSpPr>
        <p:spPr>
          <a:xfrm>
            <a:off x="7934325" y="3052578"/>
            <a:ext cx="3551448" cy="194310"/>
          </a:xfrm>
          <a:prstGeom prst="rect">
            <a:avLst/>
          </a:prstGeom>
          <a:noFill/>
        </p:spPr>
        <p:txBody>
          <a:bodyPr wrap="none" lIns="0" tIns="0" rIns="0" bIns="0">
            <a:spAutoFit/>
          </a:bodyPr>
          <a:lstStyle/>
          <a:p>
            <a:r>
              <a:rPr sz="1150" b="0">
                <a:solidFill>
                  <a:srgbClr val="2E2E2E"/>
                </a:solidFill>
                <a:latin typeface="Calibri"/>
              </a:rPr>
              <a:t>focusing on product innovation, geographic expansion and</a:t>
            </a:r>
          </a:p>
        </p:txBody>
      </p:sp>
      <p:sp>
        <p:nvSpPr>
          <p:cNvPr id="38" name="TextBox 37"/>
          <p:cNvSpPr txBox="1"/>
          <p:nvPr/>
        </p:nvSpPr>
        <p:spPr>
          <a:xfrm>
            <a:off x="7934325" y="3227838"/>
            <a:ext cx="3540038" cy="194310"/>
          </a:xfrm>
          <a:prstGeom prst="rect">
            <a:avLst/>
          </a:prstGeom>
          <a:noFill/>
        </p:spPr>
        <p:txBody>
          <a:bodyPr wrap="none" lIns="0" tIns="0" rIns="0" bIns="0">
            <a:spAutoFit/>
          </a:bodyPr>
          <a:lstStyle/>
          <a:p>
            <a:r>
              <a:rPr sz="1150" b="0">
                <a:solidFill>
                  <a:srgbClr val="2E2E2E"/>
                </a:solidFill>
                <a:latin typeface="Calibri"/>
              </a:rPr>
              <a:t>strategic partnerships to strengthen their market position.</a:t>
            </a:r>
          </a:p>
        </p:txBody>
      </p:sp>
      <p:sp>
        <p:nvSpPr>
          <p:cNvPr id="39" name="TextBox 38"/>
          <p:cNvSpPr txBox="1"/>
          <p:nvPr/>
        </p:nvSpPr>
        <p:spPr>
          <a:xfrm>
            <a:off x="7934325" y="3455676"/>
            <a:ext cx="3647864" cy="194310"/>
          </a:xfrm>
          <a:prstGeom prst="rect">
            <a:avLst/>
          </a:prstGeom>
          <a:noFill/>
        </p:spPr>
        <p:txBody>
          <a:bodyPr wrap="none" lIns="0" tIns="0" rIns="0" bIns="0">
            <a:spAutoFit/>
          </a:bodyPr>
          <a:lstStyle/>
          <a:p>
            <a:r>
              <a:rPr sz="1150" b="0">
                <a:solidFill>
                  <a:srgbClr val="2E2E2E"/>
                </a:solidFill>
                <a:latin typeface="Calibri"/>
              </a:rPr>
              <a:t>Regional share differs from the global picture use the region</a:t>
            </a:r>
          </a:p>
        </p:txBody>
      </p:sp>
      <p:sp>
        <p:nvSpPr>
          <p:cNvPr id="40" name="TextBox 39"/>
          <p:cNvSpPr txBox="1"/>
          <p:nvPr/>
        </p:nvSpPr>
        <p:spPr>
          <a:xfrm>
            <a:off x="7934325" y="3630936"/>
            <a:ext cx="3444763" cy="194310"/>
          </a:xfrm>
          <a:prstGeom prst="rect">
            <a:avLst/>
          </a:prstGeom>
          <a:noFill/>
        </p:spPr>
        <p:txBody>
          <a:bodyPr wrap="none" lIns="0" tIns="0" rIns="0" bIns="0">
            <a:spAutoFit/>
          </a:bodyPr>
          <a:lstStyle/>
          <a:p>
            <a:r>
              <a:rPr sz="1150" b="0">
                <a:solidFill>
                  <a:srgbClr val="2E2E2E"/>
                </a:solidFill>
                <a:latin typeface="Calibri"/>
              </a:rPr>
              <a:t>selector to see how leadership shifts across geographies.</a:t>
            </a:r>
          </a:p>
        </p:txBody>
      </p:sp>
      <p:sp>
        <p:nvSpPr>
          <p:cNvPr id="41" name="lockshield_13"/>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company value share within each leading form type,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56470"/>
            <a:ext cx="36385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Capsules and Softgels</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xmlns:r="http://schemas.openxmlformats.org/officeDocument/2006/relationships" r:id="rId4"/>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19575" y="1356470"/>
            <a:ext cx="36385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Tablets</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xmlns:r="http://schemas.openxmlformats.org/officeDocument/2006/relationships" r:id="rId5"/>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01025" y="1356470"/>
            <a:ext cx="37528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Chewables</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xmlns:r="http://schemas.openxmlformats.org/officeDocument/2006/relationships" r:id="rId6"/>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4688965"/>
            <a:ext cx="11639550" cy="209550"/>
          </a:xfrm>
          <a:prstGeom prst="rect">
            <a:avLst/>
          </a:prstGeom>
          <a:noFill/>
        </p:spPr>
        <p:txBody>
          <a:bodyPr wrap="square" lIns="0" tIns="9525" rIns="19050"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6225" y="5012815"/>
            <a:ext cx="11639550" cy="1485624"/>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3202297" cy="194310"/>
          </a:xfrm>
          <a:prstGeom prst="rect">
            <a:avLst/>
          </a:prstGeom>
          <a:noFill/>
        </p:spPr>
        <p:txBody>
          <a:bodyPr wrap="none" lIns="0" tIns="0" rIns="0" bIns="0">
            <a:spAutoFit/>
          </a:bodyPr>
          <a:lstStyle/>
          <a:p>
            <a:r>
              <a:rPr sz="1150" b="0">
                <a:solidFill>
                  <a:srgbClr val="2E2E2E"/>
                </a:solidFill>
                <a:latin typeface="Calibri"/>
              </a:rPr>
              <a:t>▪ Capsules and Softgels: 'Standard Process' leads at ~</a:t>
            </a:r>
          </a:p>
        </p:txBody>
      </p:sp>
      <p:pic>
        <p:nvPicPr>
          <p:cNvPr id="29" name="Picture 28" descr="lock.png"/>
          <p:cNvPicPr>
            <a:picLocks noChangeAspect="1"/>
          </p:cNvPicPr>
          <p:nvPr/>
        </p:nvPicPr>
        <p:blipFill>
          <a:blip r:embed="rId7"/>
          <a:stretch>
            <a:fillRect/>
          </a:stretch>
        </p:blipFill>
        <p:spPr>
          <a:xfrm>
            <a:off x="3427676" y="5012116"/>
            <a:ext cx="134549" cy="195707"/>
          </a:xfrm>
          <a:prstGeom prst="rect">
            <a:avLst/>
          </a:prstGeom>
        </p:spPr>
      </p:pic>
      <p:sp>
        <p:nvSpPr>
          <p:cNvPr id="30" name="TextBox 29"/>
          <p:cNvSpPr txBox="1"/>
          <p:nvPr/>
        </p:nvSpPr>
        <p:spPr>
          <a:xfrm>
            <a:off x="3602785" y="5022340"/>
            <a:ext cx="2212466" cy="194310"/>
          </a:xfrm>
          <a:prstGeom prst="rect">
            <a:avLst/>
          </a:prstGeom>
          <a:noFill/>
        </p:spPr>
        <p:txBody>
          <a:bodyPr wrap="none" lIns="0" tIns="0" rIns="0" bIns="0">
            <a:spAutoFit/>
          </a:bodyPr>
          <a:lstStyle/>
          <a:p>
            <a:r>
              <a:rPr sz="1150" b="0">
                <a:solidFill>
                  <a:srgbClr val="2E2E2E"/>
                </a:solidFill>
                <a:latin typeface="Calibri"/>
              </a:rPr>
              <a:t>, ahead of 'Nestlé Purina PetCare' (~</a:t>
            </a:r>
          </a:p>
        </p:txBody>
      </p:sp>
      <p:pic>
        <p:nvPicPr>
          <p:cNvPr id="31" name="Picture 30" descr="lock.png"/>
          <p:cNvPicPr>
            <a:picLocks noChangeAspect="1"/>
          </p:cNvPicPr>
          <p:nvPr/>
        </p:nvPicPr>
        <p:blipFill>
          <a:blip r:embed="rId7"/>
          <a:stretch>
            <a:fillRect/>
          </a:stretch>
        </p:blipFill>
        <p:spPr>
          <a:xfrm>
            <a:off x="5764406" y="5012116"/>
            <a:ext cx="134549" cy="195707"/>
          </a:xfrm>
          <a:prstGeom prst="rect">
            <a:avLst/>
          </a:prstGeom>
        </p:spPr>
      </p:pic>
      <p:sp>
        <p:nvSpPr>
          <p:cNvPr id="32" name="TextBox 31"/>
          <p:cNvSpPr txBox="1"/>
          <p:nvPr/>
        </p:nvSpPr>
        <p:spPr>
          <a:xfrm>
            <a:off x="5939515" y="5022340"/>
            <a:ext cx="1385515" cy="194310"/>
          </a:xfrm>
          <a:prstGeom prst="rect">
            <a:avLst/>
          </a:prstGeom>
          <a:noFill/>
        </p:spPr>
        <p:txBody>
          <a:bodyPr wrap="none" lIns="0" tIns="0" r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7274184" y="5012116"/>
            <a:ext cx="134549" cy="195707"/>
          </a:xfrm>
          <a:prstGeom prst="rect">
            <a:avLst/>
          </a:prstGeom>
        </p:spPr>
      </p:pic>
      <p:sp>
        <p:nvSpPr>
          <p:cNvPr id="34" name="TextBox 33"/>
          <p:cNvSpPr txBox="1"/>
          <p:nvPr/>
        </p:nvSpPr>
        <p:spPr>
          <a:xfrm>
            <a:off x="7449294" y="5022340"/>
            <a:ext cx="1606301" cy="194310"/>
          </a:xfrm>
          <a:prstGeom prst="rect">
            <a:avLst/>
          </a:prstGeom>
          <a:noFill/>
        </p:spPr>
        <p:txBody>
          <a:bodyPr wrap="none" lIns="0" tIns="0" r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9004750" y="5012116"/>
            <a:ext cx="134549" cy="195707"/>
          </a:xfrm>
          <a:prstGeom prst="rect">
            <a:avLst/>
          </a:prstGeom>
        </p:spPr>
      </p:pic>
      <p:sp>
        <p:nvSpPr>
          <p:cNvPr id="36" name="TextBox 35"/>
          <p:cNvSpPr txBox="1"/>
          <p:nvPr/>
        </p:nvSpPr>
        <p:spPr>
          <a:xfrm>
            <a:off x="9179859" y="5022340"/>
            <a:ext cx="112997" cy="194310"/>
          </a:xfrm>
          <a:prstGeom prst="rect">
            <a:avLst/>
          </a:prstGeom>
          <a:noFill/>
        </p:spPr>
        <p:txBody>
          <a:bodyPr wrap="none" lIns="0" tIns="0" rIns="0" bIns="0">
            <a:spAutoFit/>
          </a:bodyPr>
          <a:lstStyle/>
          <a:p>
            <a:r>
              <a:rPr sz="1150" b="0">
                <a:solidFill>
                  <a:srgbClr val="2E2E2E"/>
                </a:solidFill>
                <a:latin typeface="Calibri"/>
              </a:rPr>
              <a:t>.</a:t>
            </a:r>
          </a:p>
        </p:txBody>
      </p:sp>
      <p:sp>
        <p:nvSpPr>
          <p:cNvPr id="37" name="TextBox 36"/>
          <p:cNvSpPr txBox="1"/>
          <p:nvPr/>
        </p:nvSpPr>
        <p:spPr>
          <a:xfrm>
            <a:off x="276225" y="5250177"/>
            <a:ext cx="2080647" cy="194310"/>
          </a:xfrm>
          <a:prstGeom prst="rect">
            <a:avLst/>
          </a:prstGeom>
          <a:noFill/>
        </p:spPr>
        <p:txBody>
          <a:bodyPr wrap="none" lIns="0" tIns="0" rIns="0" bIns="0">
            <a:spAutoFit/>
          </a:bodyPr>
          <a:lstStyle/>
          <a:p>
            <a:r>
              <a:rPr sz="1150" b="0">
                <a:solidFill>
                  <a:srgbClr val="2E2E2E"/>
                </a:solidFill>
                <a:latin typeface="Calibri"/>
              </a:rPr>
              <a:t>▪ Tablets: 'Dr. Fossum's' leads at ~</a:t>
            </a:r>
          </a:p>
        </p:txBody>
      </p:sp>
      <p:pic>
        <p:nvPicPr>
          <p:cNvPr id="38" name="Picture 37" descr="lock.png"/>
          <p:cNvPicPr>
            <a:picLocks noChangeAspect="1"/>
          </p:cNvPicPr>
          <p:nvPr/>
        </p:nvPicPr>
        <p:blipFill>
          <a:blip r:embed="rId7"/>
          <a:stretch>
            <a:fillRect/>
          </a:stretch>
        </p:blipFill>
        <p:spPr>
          <a:xfrm>
            <a:off x="2306026" y="5239954"/>
            <a:ext cx="134549" cy="195707"/>
          </a:xfrm>
          <a:prstGeom prst="rect">
            <a:avLst/>
          </a:prstGeom>
        </p:spPr>
      </p:pic>
      <p:sp>
        <p:nvSpPr>
          <p:cNvPr id="39" name="TextBox 38"/>
          <p:cNvSpPr txBox="1"/>
          <p:nvPr/>
        </p:nvSpPr>
        <p:spPr>
          <a:xfrm>
            <a:off x="2481136" y="5250177"/>
            <a:ext cx="1650231" cy="194310"/>
          </a:xfrm>
          <a:prstGeom prst="rect">
            <a:avLst/>
          </a:prstGeom>
          <a:noFill/>
        </p:spPr>
        <p:txBody>
          <a:bodyPr wrap="none" lIns="0" tIns="0" rIns="0" bIns="0">
            <a:spAutoFit/>
          </a:bodyPr>
          <a:lstStyle/>
          <a:p>
            <a:r>
              <a:rPr sz="1150" b="0">
                <a:solidFill>
                  <a:srgbClr val="2E2E2E"/>
                </a:solidFill>
                <a:latin typeface="Calibri"/>
              </a:rPr>
              <a:t>, ahead of 'VetriScience' (~</a:t>
            </a:r>
          </a:p>
        </p:txBody>
      </p:sp>
      <p:pic>
        <p:nvPicPr>
          <p:cNvPr id="40" name="Picture 39" descr="lock.png"/>
          <p:cNvPicPr>
            <a:picLocks noChangeAspect="1"/>
          </p:cNvPicPr>
          <p:nvPr/>
        </p:nvPicPr>
        <p:blipFill>
          <a:blip r:embed="rId7"/>
          <a:stretch>
            <a:fillRect/>
          </a:stretch>
        </p:blipFill>
        <p:spPr>
          <a:xfrm>
            <a:off x="4080521" y="5239954"/>
            <a:ext cx="134549" cy="195707"/>
          </a:xfrm>
          <a:prstGeom prst="rect">
            <a:avLst/>
          </a:prstGeom>
        </p:spPr>
      </p:pic>
      <p:sp>
        <p:nvSpPr>
          <p:cNvPr id="41" name="TextBox 40"/>
          <p:cNvSpPr txBox="1"/>
          <p:nvPr/>
        </p:nvSpPr>
        <p:spPr>
          <a:xfrm>
            <a:off x="4255630" y="5250177"/>
            <a:ext cx="1385515" cy="194310"/>
          </a:xfrm>
          <a:prstGeom prst="rect">
            <a:avLst/>
          </a:prstGeom>
          <a:noFill/>
        </p:spPr>
        <p:txBody>
          <a:bodyPr wrap="none" lIns="0" tIns="0" r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5590299" y="5239954"/>
            <a:ext cx="134549" cy="195707"/>
          </a:xfrm>
          <a:prstGeom prst="rect">
            <a:avLst/>
          </a:prstGeom>
        </p:spPr>
      </p:pic>
      <p:sp>
        <p:nvSpPr>
          <p:cNvPr id="43" name="TextBox 42"/>
          <p:cNvSpPr txBox="1"/>
          <p:nvPr/>
        </p:nvSpPr>
        <p:spPr>
          <a:xfrm>
            <a:off x="5765409" y="5250177"/>
            <a:ext cx="1606301" cy="194310"/>
          </a:xfrm>
          <a:prstGeom prst="rect">
            <a:avLst/>
          </a:prstGeom>
          <a:noFill/>
        </p:spPr>
        <p:txBody>
          <a:bodyPr wrap="none" lIns="0" tIns="0" r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7320864" y="5239954"/>
            <a:ext cx="134549" cy="195707"/>
          </a:xfrm>
          <a:prstGeom prst="rect">
            <a:avLst/>
          </a:prstGeom>
        </p:spPr>
      </p:pic>
      <p:sp>
        <p:nvSpPr>
          <p:cNvPr id="45" name="TextBox 44"/>
          <p:cNvSpPr txBox="1"/>
          <p:nvPr/>
        </p:nvSpPr>
        <p:spPr>
          <a:xfrm>
            <a:off x="7495974" y="5250177"/>
            <a:ext cx="112997" cy="194310"/>
          </a:xfrm>
          <a:prstGeom prst="rect">
            <a:avLst/>
          </a:prstGeom>
          <a:noFill/>
        </p:spPr>
        <p:txBody>
          <a:bodyPr wrap="none" lIns="0" tIns="0" rIns="0" bIns="0">
            <a:spAutoFit/>
          </a:bodyPr>
          <a:lstStyle/>
          <a:p>
            <a:r>
              <a:rPr sz="1150" b="0">
                <a:solidFill>
                  <a:srgbClr val="2E2E2E"/>
                </a:solidFill>
                <a:latin typeface="Calibri"/>
              </a:rPr>
              <a:t>.</a:t>
            </a:r>
          </a:p>
        </p:txBody>
      </p:sp>
      <p:sp>
        <p:nvSpPr>
          <p:cNvPr id="46" name="TextBox 45"/>
          <p:cNvSpPr txBox="1"/>
          <p:nvPr/>
        </p:nvSpPr>
        <p:spPr>
          <a:xfrm>
            <a:off x="276225" y="5478015"/>
            <a:ext cx="2563043" cy="194310"/>
          </a:xfrm>
          <a:prstGeom prst="rect">
            <a:avLst/>
          </a:prstGeom>
          <a:noFill/>
        </p:spPr>
        <p:txBody>
          <a:bodyPr wrap="none" lIns="0" tIns="0" rIns="0" bIns="0">
            <a:spAutoFit/>
          </a:bodyPr>
          <a:lstStyle/>
          <a:p>
            <a:r>
              <a:rPr sz="1150" b="0">
                <a:solidFill>
                  <a:srgbClr val="2E2E2E"/>
                </a:solidFill>
                <a:latin typeface="Calibri"/>
              </a:rPr>
              <a:t>▪ Chewables: 'Standard Process' leads at ~</a:t>
            </a:r>
          </a:p>
        </p:txBody>
      </p:sp>
      <p:pic>
        <p:nvPicPr>
          <p:cNvPr id="47" name="Picture 46" descr="lock.png"/>
          <p:cNvPicPr>
            <a:picLocks noChangeAspect="1"/>
          </p:cNvPicPr>
          <p:nvPr/>
        </p:nvPicPr>
        <p:blipFill>
          <a:blip r:embed="rId7"/>
          <a:stretch>
            <a:fillRect/>
          </a:stretch>
        </p:blipFill>
        <p:spPr>
          <a:xfrm>
            <a:off x="2788422" y="5467792"/>
            <a:ext cx="134549" cy="195707"/>
          </a:xfrm>
          <a:prstGeom prst="rect">
            <a:avLst/>
          </a:prstGeom>
        </p:spPr>
      </p:pic>
      <p:sp>
        <p:nvSpPr>
          <p:cNvPr id="48" name="TextBox 47"/>
          <p:cNvSpPr txBox="1"/>
          <p:nvPr/>
        </p:nvSpPr>
        <p:spPr>
          <a:xfrm>
            <a:off x="2963531" y="5478015"/>
            <a:ext cx="1650231" cy="194310"/>
          </a:xfrm>
          <a:prstGeom prst="rect">
            <a:avLst/>
          </a:prstGeom>
          <a:noFill/>
        </p:spPr>
        <p:txBody>
          <a:bodyPr wrap="none" lIns="0" tIns="0" rIns="0" bIns="0">
            <a:spAutoFit/>
          </a:bodyPr>
          <a:lstStyle/>
          <a:p>
            <a:r>
              <a:rPr sz="1150" b="0">
                <a:solidFill>
                  <a:srgbClr val="2E2E2E"/>
                </a:solidFill>
                <a:latin typeface="Calibri"/>
              </a:rPr>
              <a:t>, ahead of 'VetriScience' (~</a:t>
            </a:r>
          </a:p>
        </p:txBody>
      </p:sp>
      <p:pic>
        <p:nvPicPr>
          <p:cNvPr id="49" name="Picture 48" descr="lock.png"/>
          <p:cNvPicPr>
            <a:picLocks noChangeAspect="1"/>
          </p:cNvPicPr>
          <p:nvPr/>
        </p:nvPicPr>
        <p:blipFill>
          <a:blip r:embed="rId7"/>
          <a:stretch>
            <a:fillRect/>
          </a:stretch>
        </p:blipFill>
        <p:spPr>
          <a:xfrm>
            <a:off x="4562916" y="5467792"/>
            <a:ext cx="134549" cy="195707"/>
          </a:xfrm>
          <a:prstGeom prst="rect">
            <a:avLst/>
          </a:prstGeom>
        </p:spPr>
      </p:pic>
      <p:sp>
        <p:nvSpPr>
          <p:cNvPr id="50" name="TextBox 49"/>
          <p:cNvSpPr txBox="1"/>
          <p:nvPr/>
        </p:nvSpPr>
        <p:spPr>
          <a:xfrm>
            <a:off x="4738026" y="5478015"/>
            <a:ext cx="1385515" cy="194310"/>
          </a:xfrm>
          <a:prstGeom prst="rect">
            <a:avLst/>
          </a:prstGeom>
          <a:noFill/>
        </p:spPr>
        <p:txBody>
          <a:bodyPr wrap="none" lIns="0" tIns="0" r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072695" y="5467792"/>
            <a:ext cx="134549" cy="195707"/>
          </a:xfrm>
          <a:prstGeom prst="rect">
            <a:avLst/>
          </a:prstGeom>
        </p:spPr>
      </p:pic>
      <p:sp>
        <p:nvSpPr>
          <p:cNvPr id="52" name="TextBox 51"/>
          <p:cNvSpPr txBox="1"/>
          <p:nvPr/>
        </p:nvSpPr>
        <p:spPr>
          <a:xfrm>
            <a:off x="6247804" y="5478015"/>
            <a:ext cx="1606301" cy="194310"/>
          </a:xfrm>
          <a:prstGeom prst="rect">
            <a:avLst/>
          </a:prstGeom>
          <a:noFill/>
        </p:spPr>
        <p:txBody>
          <a:bodyPr wrap="none" lIns="0" tIns="0" r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7803260" y="5467792"/>
            <a:ext cx="134549" cy="195707"/>
          </a:xfrm>
          <a:prstGeom prst="rect">
            <a:avLst/>
          </a:prstGeom>
        </p:spPr>
      </p:pic>
      <p:sp>
        <p:nvSpPr>
          <p:cNvPr id="54" name="TextBox 53"/>
          <p:cNvSpPr txBox="1"/>
          <p:nvPr/>
        </p:nvSpPr>
        <p:spPr>
          <a:xfrm>
            <a:off x="7978369" y="5478015"/>
            <a:ext cx="112997" cy="194310"/>
          </a:xfrm>
          <a:prstGeom prst="rect">
            <a:avLst/>
          </a:prstGeom>
          <a:noFill/>
        </p:spPr>
        <p:txBody>
          <a:bodyPr wrap="none" lIns="0" tIns="0" rIns="0" bIns="0">
            <a:spAutoFit/>
          </a:bodyPr>
          <a:lstStyle/>
          <a:p>
            <a:r>
              <a:rPr sz="1150" b="0">
                <a:solidFill>
                  <a:srgbClr val="2E2E2E"/>
                </a:solidFill>
                <a:latin typeface="Calibri"/>
              </a:rPr>
              <a:t>.</a:t>
            </a:r>
          </a:p>
        </p:txBody>
      </p:sp>
      <p:sp>
        <p:nvSpPr>
          <p:cNvPr id="55" name="TextBox 54"/>
          <p:cNvSpPr txBox="1"/>
          <p:nvPr/>
        </p:nvSpPr>
        <p:spPr>
          <a:xfrm>
            <a:off x="276225" y="5705853"/>
            <a:ext cx="8908516" cy="194310"/>
          </a:xfrm>
          <a:prstGeom prst="rect">
            <a:avLst/>
          </a:prstGeom>
          <a:noFill/>
        </p:spPr>
        <p:txBody>
          <a:bodyPr wrap="none" lIns="0" tIns="0" r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933691"/>
            <a:ext cx="7218957" cy="194310"/>
          </a:xfrm>
          <a:prstGeom prst="rect">
            <a:avLst/>
          </a:prstGeom>
          <a:noFill/>
        </p:spPr>
        <p:txBody>
          <a:bodyPr wrap="none" lIns="0" tIns="0" r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Company Share by Region (Top 3)</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56470"/>
            <a:ext cx="36385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xmlns:r="http://schemas.openxmlformats.org/officeDocument/2006/relationships" r:id="rId4"/>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19575" y="1356470"/>
            <a:ext cx="36385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xmlns:r="http://schemas.openxmlformats.org/officeDocument/2006/relationships" r:id="rId5"/>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01025" y="1356470"/>
            <a:ext cx="37528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South Asia &amp; Pacific</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xmlns:r="http://schemas.openxmlformats.org/officeDocument/2006/relationships" r:id="rId6"/>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4688965"/>
            <a:ext cx="11639550" cy="209550"/>
          </a:xfrm>
          <a:prstGeom prst="rect">
            <a:avLst/>
          </a:prstGeom>
          <a:noFill/>
        </p:spPr>
        <p:txBody>
          <a:bodyPr wrap="square" lIns="0" tIns="9525" rIns="19050"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6225" y="5012815"/>
            <a:ext cx="11639550" cy="1485624"/>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792958" cy="194310"/>
          </a:xfrm>
          <a:prstGeom prst="rect">
            <a:avLst/>
          </a:prstGeom>
          <a:noFill/>
        </p:spPr>
        <p:txBody>
          <a:bodyPr wrap="none" lIns="0" tIns="0" rIns="0" bIns="0">
            <a:spAutoFit/>
          </a:bodyPr>
          <a:lstStyle/>
          <a:p>
            <a:r>
              <a:rPr sz="1150" b="0">
                <a:solidFill>
                  <a:srgbClr val="2E2E2E"/>
                </a:solidFill>
                <a:latin typeface="Calibri"/>
              </a:rPr>
              <a:t>▪ North America: 'Standard Process' leads at ~</a:t>
            </a:r>
          </a:p>
        </p:txBody>
      </p:sp>
      <p:pic>
        <p:nvPicPr>
          <p:cNvPr id="29" name="Picture 28" descr="lock.png"/>
          <p:cNvPicPr>
            <a:picLocks noChangeAspect="1"/>
          </p:cNvPicPr>
          <p:nvPr/>
        </p:nvPicPr>
        <p:blipFill>
          <a:blip r:embed="rId7"/>
          <a:stretch>
            <a:fillRect/>
          </a:stretch>
        </p:blipFill>
        <p:spPr>
          <a:xfrm>
            <a:off x="3018337" y="5012116"/>
            <a:ext cx="134549" cy="195707"/>
          </a:xfrm>
          <a:prstGeom prst="rect">
            <a:avLst/>
          </a:prstGeom>
        </p:spPr>
      </p:pic>
      <p:sp>
        <p:nvSpPr>
          <p:cNvPr id="30" name="TextBox 29"/>
          <p:cNvSpPr txBox="1"/>
          <p:nvPr/>
        </p:nvSpPr>
        <p:spPr>
          <a:xfrm>
            <a:off x="3193446" y="5022340"/>
            <a:ext cx="1650231" cy="194310"/>
          </a:xfrm>
          <a:prstGeom prst="rect">
            <a:avLst/>
          </a:prstGeom>
          <a:noFill/>
        </p:spPr>
        <p:txBody>
          <a:bodyPr wrap="none" lIns="0" tIns="0" rIns="0" bIns="0">
            <a:spAutoFit/>
          </a:bodyPr>
          <a:lstStyle/>
          <a:p>
            <a:r>
              <a:rPr sz="1150" b="0">
                <a:solidFill>
                  <a:srgbClr val="2E2E2E"/>
                </a:solidFill>
                <a:latin typeface="Calibri"/>
              </a:rPr>
              <a:t>, ahead of 'VetriScience' (~</a:t>
            </a:r>
          </a:p>
        </p:txBody>
      </p:sp>
      <p:pic>
        <p:nvPicPr>
          <p:cNvPr id="31" name="Picture 30" descr="lock.png"/>
          <p:cNvPicPr>
            <a:picLocks noChangeAspect="1"/>
          </p:cNvPicPr>
          <p:nvPr/>
        </p:nvPicPr>
        <p:blipFill>
          <a:blip r:embed="rId7"/>
          <a:stretch>
            <a:fillRect/>
          </a:stretch>
        </p:blipFill>
        <p:spPr>
          <a:xfrm>
            <a:off x="4792831" y="5012116"/>
            <a:ext cx="134549" cy="195707"/>
          </a:xfrm>
          <a:prstGeom prst="rect">
            <a:avLst/>
          </a:prstGeom>
        </p:spPr>
      </p:pic>
      <p:sp>
        <p:nvSpPr>
          <p:cNvPr id="32" name="TextBox 31"/>
          <p:cNvSpPr txBox="1"/>
          <p:nvPr/>
        </p:nvSpPr>
        <p:spPr>
          <a:xfrm>
            <a:off x="4967940" y="5022340"/>
            <a:ext cx="1385515" cy="194310"/>
          </a:xfrm>
          <a:prstGeom prst="rect">
            <a:avLst/>
          </a:prstGeom>
          <a:noFill/>
        </p:spPr>
        <p:txBody>
          <a:bodyPr wrap="none" lIns="0" tIns="0" r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302610" y="5012116"/>
            <a:ext cx="134549" cy="195707"/>
          </a:xfrm>
          <a:prstGeom prst="rect">
            <a:avLst/>
          </a:prstGeom>
        </p:spPr>
      </p:pic>
      <p:sp>
        <p:nvSpPr>
          <p:cNvPr id="34" name="TextBox 33"/>
          <p:cNvSpPr txBox="1"/>
          <p:nvPr/>
        </p:nvSpPr>
        <p:spPr>
          <a:xfrm>
            <a:off x="6477719" y="5022340"/>
            <a:ext cx="1606301" cy="194310"/>
          </a:xfrm>
          <a:prstGeom prst="rect">
            <a:avLst/>
          </a:prstGeom>
          <a:noFill/>
        </p:spPr>
        <p:txBody>
          <a:bodyPr wrap="none" lIns="0" tIns="0" r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033175" y="5012116"/>
            <a:ext cx="134549" cy="195707"/>
          </a:xfrm>
          <a:prstGeom prst="rect">
            <a:avLst/>
          </a:prstGeom>
        </p:spPr>
      </p:pic>
      <p:sp>
        <p:nvSpPr>
          <p:cNvPr id="36" name="TextBox 35"/>
          <p:cNvSpPr txBox="1"/>
          <p:nvPr/>
        </p:nvSpPr>
        <p:spPr>
          <a:xfrm>
            <a:off x="8208284" y="5022340"/>
            <a:ext cx="112997" cy="194310"/>
          </a:xfrm>
          <a:prstGeom prst="rect">
            <a:avLst/>
          </a:prstGeom>
          <a:noFill/>
        </p:spPr>
        <p:txBody>
          <a:bodyPr wrap="none" lIns="0" tIns="0" rIns="0" bIns="0">
            <a:spAutoFit/>
          </a:bodyPr>
          <a:lstStyle/>
          <a:p>
            <a:r>
              <a:rPr sz="1150" b="0">
                <a:solidFill>
                  <a:srgbClr val="2E2E2E"/>
                </a:solidFill>
                <a:latin typeface="Calibri"/>
              </a:rPr>
              <a:t>.</a:t>
            </a:r>
          </a:p>
        </p:txBody>
      </p:sp>
      <p:sp>
        <p:nvSpPr>
          <p:cNvPr id="37" name="TextBox 36"/>
          <p:cNvSpPr txBox="1"/>
          <p:nvPr/>
        </p:nvSpPr>
        <p:spPr>
          <a:xfrm>
            <a:off x="276225" y="5250177"/>
            <a:ext cx="2346821" cy="194310"/>
          </a:xfrm>
          <a:prstGeom prst="rect">
            <a:avLst/>
          </a:prstGeom>
          <a:noFill/>
        </p:spPr>
        <p:txBody>
          <a:bodyPr wrap="none" lIns="0" tIns="0" rIns="0" bIns="0">
            <a:spAutoFit/>
          </a:bodyPr>
          <a:lstStyle/>
          <a:p>
            <a:r>
              <a:rPr sz="1150" b="0">
                <a:solidFill>
                  <a:srgbClr val="2E2E2E"/>
                </a:solidFill>
                <a:latin typeface="Calibri"/>
              </a:rPr>
              <a:t>▪ Europe: 'Standard Process' leads at ~</a:t>
            </a:r>
          </a:p>
        </p:txBody>
      </p:sp>
      <p:pic>
        <p:nvPicPr>
          <p:cNvPr id="38" name="Picture 37" descr="lock.png"/>
          <p:cNvPicPr>
            <a:picLocks noChangeAspect="1"/>
          </p:cNvPicPr>
          <p:nvPr/>
        </p:nvPicPr>
        <p:blipFill>
          <a:blip r:embed="rId7"/>
          <a:stretch>
            <a:fillRect/>
          </a:stretch>
        </p:blipFill>
        <p:spPr>
          <a:xfrm>
            <a:off x="2572200" y="5239954"/>
            <a:ext cx="134549" cy="195707"/>
          </a:xfrm>
          <a:prstGeom prst="rect">
            <a:avLst/>
          </a:prstGeom>
        </p:spPr>
      </p:pic>
      <p:sp>
        <p:nvSpPr>
          <p:cNvPr id="39" name="TextBox 38"/>
          <p:cNvSpPr txBox="1"/>
          <p:nvPr/>
        </p:nvSpPr>
        <p:spPr>
          <a:xfrm>
            <a:off x="2747309" y="5250177"/>
            <a:ext cx="2212466" cy="194310"/>
          </a:xfrm>
          <a:prstGeom prst="rect">
            <a:avLst/>
          </a:prstGeom>
          <a:noFill/>
        </p:spPr>
        <p:txBody>
          <a:bodyPr wrap="none" lIns="0" tIns="0" rIns="0" bIns="0">
            <a:spAutoFit/>
          </a:bodyPr>
          <a:lstStyle/>
          <a:p>
            <a:r>
              <a:rPr sz="1150" b="0">
                <a:solidFill>
                  <a:srgbClr val="2E2E2E"/>
                </a:solidFill>
                <a:latin typeface="Calibri"/>
              </a:rPr>
              <a:t>, ahead of 'Nestlé Purina PetCare' (~</a:t>
            </a:r>
          </a:p>
        </p:txBody>
      </p:sp>
      <p:pic>
        <p:nvPicPr>
          <p:cNvPr id="40" name="Picture 39" descr="lock.png"/>
          <p:cNvPicPr>
            <a:picLocks noChangeAspect="1"/>
          </p:cNvPicPr>
          <p:nvPr/>
        </p:nvPicPr>
        <p:blipFill>
          <a:blip r:embed="rId7"/>
          <a:stretch>
            <a:fillRect/>
          </a:stretch>
        </p:blipFill>
        <p:spPr>
          <a:xfrm>
            <a:off x="4908929" y="5239954"/>
            <a:ext cx="134549" cy="195707"/>
          </a:xfrm>
          <a:prstGeom prst="rect">
            <a:avLst/>
          </a:prstGeom>
        </p:spPr>
      </p:pic>
      <p:sp>
        <p:nvSpPr>
          <p:cNvPr id="41" name="TextBox 40"/>
          <p:cNvSpPr txBox="1"/>
          <p:nvPr/>
        </p:nvSpPr>
        <p:spPr>
          <a:xfrm>
            <a:off x="5084039" y="5250177"/>
            <a:ext cx="1385515" cy="194310"/>
          </a:xfrm>
          <a:prstGeom prst="rect">
            <a:avLst/>
          </a:prstGeom>
          <a:noFill/>
        </p:spPr>
        <p:txBody>
          <a:bodyPr wrap="none" lIns="0" tIns="0" r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418708" y="5239954"/>
            <a:ext cx="134549" cy="195707"/>
          </a:xfrm>
          <a:prstGeom prst="rect">
            <a:avLst/>
          </a:prstGeom>
        </p:spPr>
      </p:pic>
      <p:sp>
        <p:nvSpPr>
          <p:cNvPr id="43" name="TextBox 42"/>
          <p:cNvSpPr txBox="1"/>
          <p:nvPr/>
        </p:nvSpPr>
        <p:spPr>
          <a:xfrm>
            <a:off x="6593817" y="5250177"/>
            <a:ext cx="1606301" cy="194310"/>
          </a:xfrm>
          <a:prstGeom prst="rect">
            <a:avLst/>
          </a:prstGeom>
          <a:noFill/>
        </p:spPr>
        <p:txBody>
          <a:bodyPr wrap="none" lIns="0" tIns="0" r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149273" y="5239954"/>
            <a:ext cx="134549" cy="195707"/>
          </a:xfrm>
          <a:prstGeom prst="rect">
            <a:avLst/>
          </a:prstGeom>
        </p:spPr>
      </p:pic>
      <p:sp>
        <p:nvSpPr>
          <p:cNvPr id="45" name="TextBox 44"/>
          <p:cNvSpPr txBox="1"/>
          <p:nvPr/>
        </p:nvSpPr>
        <p:spPr>
          <a:xfrm>
            <a:off x="8324382" y="5250177"/>
            <a:ext cx="112997" cy="194310"/>
          </a:xfrm>
          <a:prstGeom prst="rect">
            <a:avLst/>
          </a:prstGeom>
          <a:noFill/>
        </p:spPr>
        <p:txBody>
          <a:bodyPr wrap="none" lIns="0" tIns="0" rIns="0" bIns="0">
            <a:spAutoFit/>
          </a:bodyPr>
          <a:lstStyle/>
          <a:p>
            <a:r>
              <a:rPr sz="1150" b="0">
                <a:solidFill>
                  <a:srgbClr val="2E2E2E"/>
                </a:solidFill>
                <a:latin typeface="Calibri"/>
              </a:rPr>
              <a:t>.</a:t>
            </a:r>
          </a:p>
        </p:txBody>
      </p:sp>
      <p:sp>
        <p:nvSpPr>
          <p:cNvPr id="46" name="TextBox 45"/>
          <p:cNvSpPr txBox="1"/>
          <p:nvPr/>
        </p:nvSpPr>
        <p:spPr>
          <a:xfrm>
            <a:off x="276225" y="5478015"/>
            <a:ext cx="2821737" cy="194310"/>
          </a:xfrm>
          <a:prstGeom prst="rect">
            <a:avLst/>
          </a:prstGeom>
          <a:noFill/>
        </p:spPr>
        <p:txBody>
          <a:bodyPr wrap="none" lIns="0" tIns="0" rIns="0" bIns="0">
            <a:spAutoFit/>
          </a:bodyPr>
          <a:lstStyle/>
          <a:p>
            <a:r>
              <a:rPr sz="1150" b="0">
                <a:solidFill>
                  <a:srgbClr val="2E2E2E"/>
                </a:solidFill>
                <a:latin typeface="Calibri"/>
              </a:rPr>
              <a:t>▪ South Asia &amp; Pacific: 'Dr. Fossum's' leads at ~</a:t>
            </a:r>
          </a:p>
        </p:txBody>
      </p:sp>
      <p:pic>
        <p:nvPicPr>
          <p:cNvPr id="47" name="Picture 46" descr="lock.png"/>
          <p:cNvPicPr>
            <a:picLocks noChangeAspect="1"/>
          </p:cNvPicPr>
          <p:nvPr/>
        </p:nvPicPr>
        <p:blipFill>
          <a:blip r:embed="rId7"/>
          <a:stretch>
            <a:fillRect/>
          </a:stretch>
        </p:blipFill>
        <p:spPr>
          <a:xfrm>
            <a:off x="3047116" y="5467792"/>
            <a:ext cx="134549" cy="195707"/>
          </a:xfrm>
          <a:prstGeom prst="rect">
            <a:avLst/>
          </a:prstGeom>
        </p:spPr>
      </p:pic>
      <p:sp>
        <p:nvSpPr>
          <p:cNvPr id="48" name="TextBox 47"/>
          <p:cNvSpPr txBox="1"/>
          <p:nvPr/>
        </p:nvSpPr>
        <p:spPr>
          <a:xfrm>
            <a:off x="3222225" y="5478015"/>
            <a:ext cx="1650231" cy="194310"/>
          </a:xfrm>
          <a:prstGeom prst="rect">
            <a:avLst/>
          </a:prstGeom>
          <a:noFill/>
        </p:spPr>
        <p:txBody>
          <a:bodyPr wrap="none" lIns="0" tIns="0" rIns="0" bIns="0">
            <a:spAutoFit/>
          </a:bodyPr>
          <a:lstStyle/>
          <a:p>
            <a:r>
              <a:rPr sz="1150" b="0">
                <a:solidFill>
                  <a:srgbClr val="2E2E2E"/>
                </a:solidFill>
                <a:latin typeface="Calibri"/>
              </a:rPr>
              <a:t>, ahead of 'VetriScience' (~</a:t>
            </a:r>
          </a:p>
        </p:txBody>
      </p:sp>
      <p:pic>
        <p:nvPicPr>
          <p:cNvPr id="49" name="Picture 48" descr="lock.png"/>
          <p:cNvPicPr>
            <a:picLocks noChangeAspect="1"/>
          </p:cNvPicPr>
          <p:nvPr/>
        </p:nvPicPr>
        <p:blipFill>
          <a:blip r:embed="rId7"/>
          <a:stretch>
            <a:fillRect/>
          </a:stretch>
        </p:blipFill>
        <p:spPr>
          <a:xfrm>
            <a:off x="4821610" y="5467792"/>
            <a:ext cx="134549" cy="195707"/>
          </a:xfrm>
          <a:prstGeom prst="rect">
            <a:avLst/>
          </a:prstGeom>
        </p:spPr>
      </p:pic>
      <p:sp>
        <p:nvSpPr>
          <p:cNvPr id="50" name="TextBox 49"/>
          <p:cNvSpPr txBox="1"/>
          <p:nvPr/>
        </p:nvSpPr>
        <p:spPr>
          <a:xfrm>
            <a:off x="4996720" y="5478015"/>
            <a:ext cx="1385515" cy="194310"/>
          </a:xfrm>
          <a:prstGeom prst="rect">
            <a:avLst/>
          </a:prstGeom>
          <a:noFill/>
        </p:spPr>
        <p:txBody>
          <a:bodyPr wrap="none" lIns="0" tIns="0" r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331389" y="5467792"/>
            <a:ext cx="134549" cy="195707"/>
          </a:xfrm>
          <a:prstGeom prst="rect">
            <a:avLst/>
          </a:prstGeom>
        </p:spPr>
      </p:pic>
      <p:sp>
        <p:nvSpPr>
          <p:cNvPr id="52" name="TextBox 51"/>
          <p:cNvSpPr txBox="1"/>
          <p:nvPr/>
        </p:nvSpPr>
        <p:spPr>
          <a:xfrm>
            <a:off x="6506498" y="5478015"/>
            <a:ext cx="1606301" cy="194310"/>
          </a:xfrm>
          <a:prstGeom prst="rect">
            <a:avLst/>
          </a:prstGeom>
          <a:noFill/>
        </p:spPr>
        <p:txBody>
          <a:bodyPr wrap="none" lIns="0" tIns="0" r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061954" y="5467792"/>
            <a:ext cx="134549" cy="195707"/>
          </a:xfrm>
          <a:prstGeom prst="rect">
            <a:avLst/>
          </a:prstGeom>
        </p:spPr>
      </p:pic>
      <p:sp>
        <p:nvSpPr>
          <p:cNvPr id="54" name="TextBox 53"/>
          <p:cNvSpPr txBox="1"/>
          <p:nvPr/>
        </p:nvSpPr>
        <p:spPr>
          <a:xfrm>
            <a:off x="8237063" y="5478015"/>
            <a:ext cx="112997" cy="194310"/>
          </a:xfrm>
          <a:prstGeom prst="rect">
            <a:avLst/>
          </a:prstGeom>
          <a:noFill/>
        </p:spPr>
        <p:txBody>
          <a:bodyPr wrap="none" lIns="0" tIns="0" r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tIns="0" r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tIns="0" r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Who Shaped Growth</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tIns="9525" rIns="28575" bIns="9525" anchor="ctr">
            <a:spAutoFit/>
          </a:bodyPr>
          <a:lstStyle/>
          <a:p>
            <a:pPr algn="l"/>
            <a:r>
              <a:rPr sz="1100" b="0">
                <a:solidFill>
                  <a:srgbClr val="6C7A89"/>
                </a:solidFill>
                <a:latin typeface="Calibri"/>
              </a:rPr>
              <a:t>A framework to identify the companies that most influenced annual Senior Dog Cognitive Supplement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33800" y="1226305"/>
            <a:ext cx="4724400" cy="173410"/>
          </a:xfrm>
          <a:prstGeom prst="rect">
            <a:avLst/>
          </a:prstGeom>
          <a:noFill/>
        </p:spPr>
        <p:txBody>
          <a:bodyPr wrap="square" lIns="28575" tIns="9525" rIns="2857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tIns="9525" rIns="2857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52525" y="1710028"/>
            <a:ext cx="285750" cy="164283"/>
          </a:xfrm>
          <a:prstGeom prst="rect">
            <a:avLst/>
          </a:prstGeom>
          <a:noFill/>
        </p:spPr>
        <p:txBody>
          <a:bodyPr wrap="none" lIns="0" tIns="0" r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7175" y="2065976"/>
            <a:ext cx="228600" cy="164283"/>
          </a:xfrm>
          <a:prstGeom prst="rect">
            <a:avLst/>
          </a:prstGeom>
          <a:noFill/>
        </p:spPr>
        <p:txBody>
          <a:bodyPr wrap="none" lIns="0" tIns="0" r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tIns="9525" rIns="28575" bIns="9525" anchor="ctr">
            <a:spAutoFit/>
          </a:bodyPr>
          <a:lstStyle/>
          <a:p>
            <a:pPr algn="ctr"/>
            <a:r>
              <a:rPr sz="1100" b="1">
                <a:solidFill>
                  <a:srgbClr val="FFFFFF"/>
                </a:solidFill>
                <a:latin typeface="Calibri"/>
              </a:rPr>
              <a:t>Standard Process</a:t>
            </a:r>
          </a:p>
        </p:txBody>
      </p:sp>
      <p:sp>
        <p:nvSpPr>
          <p:cNvPr id="25" name="TextBox 24"/>
          <p:cNvSpPr txBox="1"/>
          <p:nvPr/>
        </p:nvSpPr>
        <p:spPr>
          <a:xfrm>
            <a:off x="238125" y="2376288"/>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tIns="9525" rIns="28575" bIns="9525" anchor="ctr">
            <a:spAutoFit/>
          </a:bodyPr>
          <a:lstStyle/>
          <a:p>
            <a:pPr algn="l"/>
            <a:endParaRP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tIns="9525" rIns="2857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tIns="9525" rIns="2857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552825" y="1710028"/>
            <a:ext cx="285750" cy="164283"/>
          </a:xfrm>
          <a:prstGeom prst="rect">
            <a:avLst/>
          </a:prstGeom>
          <a:noFill/>
        </p:spPr>
        <p:txBody>
          <a:bodyPr wrap="none" lIns="0" tIns="0" r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657475" y="2065976"/>
            <a:ext cx="228600" cy="164283"/>
          </a:xfrm>
          <a:prstGeom prst="rect">
            <a:avLst/>
          </a:prstGeom>
          <a:noFill/>
        </p:spPr>
        <p:txBody>
          <a:bodyPr wrap="none" lIns="0" tIns="0" r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tIns="9525" rIns="28575" bIns="9525" anchor="ctr">
            <a:spAutoFit/>
          </a:bodyPr>
          <a:lstStyle/>
          <a:p>
            <a:pPr algn="ctr"/>
            <a:r>
              <a:rPr sz="1100" b="1">
                <a:solidFill>
                  <a:srgbClr val="FFFFFF"/>
                </a:solidFill>
                <a:latin typeface="Calibri"/>
              </a:rPr>
              <a:t>VetriScience</a:t>
            </a:r>
          </a:p>
        </p:txBody>
      </p:sp>
      <p:sp>
        <p:nvSpPr>
          <p:cNvPr id="46" name="TextBox 45"/>
          <p:cNvSpPr txBox="1"/>
          <p:nvPr/>
        </p:nvSpPr>
        <p:spPr>
          <a:xfrm>
            <a:off x="2638425" y="2376288"/>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tIns="9525" rIns="28575" bIns="9525" anchor="ctr">
            <a:spAutoFit/>
          </a:bodyPr>
          <a:lstStyle/>
          <a:p>
            <a:pPr algn="l"/>
            <a:endParaRP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tIns="9525" rIns="2857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tIns="9525" rIns="2857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53125" y="1710028"/>
            <a:ext cx="285750" cy="164283"/>
          </a:xfrm>
          <a:prstGeom prst="rect">
            <a:avLst/>
          </a:prstGeom>
          <a:noFill/>
        </p:spPr>
        <p:txBody>
          <a:bodyPr wrap="none" lIns="0" tIns="0" r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057775" y="2065976"/>
            <a:ext cx="228600" cy="164283"/>
          </a:xfrm>
          <a:prstGeom prst="rect">
            <a:avLst/>
          </a:prstGeom>
          <a:noFill/>
        </p:spPr>
        <p:txBody>
          <a:bodyPr wrap="none" lIns="0" tIns="0" r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tIns="9525" rIns="28575" bIns="9525" anchor="ctr">
            <a:spAutoFit/>
          </a:bodyPr>
          <a:lstStyle/>
          <a:p>
            <a:pPr algn="ctr"/>
            <a:r>
              <a:rPr sz="1100" b="1">
                <a:solidFill>
                  <a:srgbClr val="FFFFFF"/>
                </a:solidFill>
                <a:latin typeface="Calibri"/>
              </a:rPr>
              <a:t>Dr. Fossum's</a:t>
            </a:r>
          </a:p>
        </p:txBody>
      </p:sp>
      <p:sp>
        <p:nvSpPr>
          <p:cNvPr id="67" name="TextBox 66"/>
          <p:cNvSpPr txBox="1"/>
          <p:nvPr/>
        </p:nvSpPr>
        <p:spPr>
          <a:xfrm>
            <a:off x="5038725" y="2376288"/>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tIns="9525" rIns="28575" bIns="9525" anchor="ctr">
            <a:spAutoFit/>
          </a:bodyPr>
          <a:lstStyle/>
          <a:p>
            <a:pPr algn="l"/>
            <a:endParaRP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tIns="9525" rIns="2857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tIns="9525" rIns="2857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353425" y="1710028"/>
            <a:ext cx="285750" cy="164283"/>
          </a:xfrm>
          <a:prstGeom prst="rect">
            <a:avLst/>
          </a:prstGeom>
          <a:noFill/>
        </p:spPr>
        <p:txBody>
          <a:bodyPr wrap="none" lIns="0" tIns="0" r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458075" y="2065976"/>
            <a:ext cx="228600" cy="164283"/>
          </a:xfrm>
          <a:prstGeom prst="rect">
            <a:avLst/>
          </a:prstGeom>
          <a:noFill/>
        </p:spPr>
        <p:txBody>
          <a:bodyPr wrap="none" lIns="0" tIns="0" r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tIns="9525" rIns="28575" bIns="9525" anchor="ctr">
            <a:spAutoFit/>
          </a:bodyPr>
          <a:lstStyle/>
          <a:p>
            <a:pPr algn="ctr"/>
            <a:r>
              <a:rPr sz="1100" b="1">
                <a:solidFill>
                  <a:srgbClr val="FFFFFF"/>
                </a:solidFill>
                <a:latin typeface="Calibri"/>
              </a:rPr>
              <a:t>Nestlé Purina PetCare</a:t>
            </a:r>
          </a:p>
        </p:txBody>
      </p:sp>
      <p:sp>
        <p:nvSpPr>
          <p:cNvPr id="88" name="TextBox 87"/>
          <p:cNvSpPr txBox="1"/>
          <p:nvPr/>
        </p:nvSpPr>
        <p:spPr>
          <a:xfrm>
            <a:off x="7439025" y="2376288"/>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tIns="9525" rIns="28575" bIns="9525" anchor="ctr">
            <a:spAutoFit/>
          </a:bodyPr>
          <a:lstStyle/>
          <a:p>
            <a:pPr algn="l"/>
            <a:endParaRP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tIns="9525" rIns="2857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tIns="9525" rIns="2857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10753725" y="1710028"/>
            <a:ext cx="285750" cy="164283"/>
          </a:xfrm>
          <a:prstGeom prst="rect">
            <a:avLst/>
          </a:prstGeom>
          <a:noFill/>
        </p:spPr>
        <p:txBody>
          <a:bodyPr wrap="none" lIns="0" tIns="0" r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9858375" y="2065976"/>
            <a:ext cx="228600" cy="164283"/>
          </a:xfrm>
          <a:prstGeom prst="rect">
            <a:avLst/>
          </a:prstGeom>
          <a:noFill/>
        </p:spPr>
        <p:txBody>
          <a:bodyPr wrap="none" lIns="0" tIns="0" r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tIns="9525" rIns="28575" bIns="9525" anchor="ctr">
            <a:spAutoFit/>
          </a:bodyPr>
          <a:lstStyle/>
          <a:p>
            <a:pPr algn="ctr"/>
            <a:r>
              <a:rPr sz="1100" b="1">
                <a:solidFill>
                  <a:srgbClr val="FFFFFF"/>
                </a:solidFill>
                <a:latin typeface="Calibri"/>
              </a:rPr>
              <a:t>PetHeal</a:t>
            </a:r>
          </a:p>
        </p:txBody>
      </p:sp>
      <p:sp>
        <p:nvSpPr>
          <p:cNvPr id="109" name="TextBox 108"/>
          <p:cNvSpPr txBox="1"/>
          <p:nvPr/>
        </p:nvSpPr>
        <p:spPr>
          <a:xfrm>
            <a:off x="9839325" y="2376288"/>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tIns="9525" rIns="28575" bIns="9525" anchor="ctr">
            <a:spAutoFit/>
          </a:bodyPr>
          <a:lstStyle/>
          <a:p>
            <a:pPr algn="l"/>
            <a:endParaRP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tIns="9525" rIns="2857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tIns="9525" rIns="2857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tIns="9525" rIns="2857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142875" y="4311180"/>
            <a:ext cx="7886700" cy="182537"/>
          </a:xfrm>
          <a:prstGeom prst="rect">
            <a:avLst/>
          </a:prstGeom>
          <a:noFill/>
        </p:spPr>
        <p:txBody>
          <a:bodyPr wrap="square" lIns="28575" tIns="9525" rIns="2857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815340" y="4630620"/>
            <a:ext cx="400050" cy="200791"/>
          </a:xfrm>
          <a:prstGeom prst="rect">
            <a:avLst/>
          </a:prstGeom>
          <a:noFill/>
        </p:spPr>
        <p:txBody>
          <a:bodyPr wrap="none" lIns="0" tIns="0" r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tIns="9525" rIns="2857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tIns="9525" rIns="2857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520065" y="6036155"/>
            <a:ext cx="990600" cy="219044"/>
          </a:xfrm>
          <a:prstGeom prst="rect">
            <a:avLst/>
          </a:prstGeom>
          <a:noFill/>
        </p:spPr>
        <p:txBody>
          <a:bodyPr wrap="square" lIns="28575" tIns="9525" rIns="2857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tIns="0" r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2350770" y="4630620"/>
            <a:ext cx="400050" cy="200791"/>
          </a:xfrm>
          <a:prstGeom prst="rect">
            <a:avLst/>
          </a:prstGeom>
          <a:noFill/>
        </p:spPr>
        <p:txBody>
          <a:bodyPr wrap="none" lIns="0" tIns="0" r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tIns="9525" rIns="2857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tIns="9525" rIns="2857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2055495" y="6036155"/>
            <a:ext cx="990600" cy="219044"/>
          </a:xfrm>
          <a:prstGeom prst="rect">
            <a:avLst/>
          </a:prstGeom>
          <a:noFill/>
        </p:spPr>
        <p:txBody>
          <a:bodyPr wrap="square" lIns="28575" tIns="9525" rIns="2857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tIns="0" r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3886200" y="4630620"/>
            <a:ext cx="400050" cy="200791"/>
          </a:xfrm>
          <a:prstGeom prst="rect">
            <a:avLst/>
          </a:prstGeom>
          <a:noFill/>
        </p:spPr>
        <p:txBody>
          <a:bodyPr wrap="none" lIns="0" tIns="0" r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tIns="9525" rIns="2857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tIns="9525" rIns="2857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3590925" y="6036155"/>
            <a:ext cx="990600" cy="219044"/>
          </a:xfrm>
          <a:prstGeom prst="rect">
            <a:avLst/>
          </a:prstGeom>
          <a:noFill/>
        </p:spPr>
        <p:txBody>
          <a:bodyPr wrap="square" lIns="28575" tIns="9525" rIns="2857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tIns="0" r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5421630" y="4630620"/>
            <a:ext cx="400050" cy="200791"/>
          </a:xfrm>
          <a:prstGeom prst="rect">
            <a:avLst/>
          </a:prstGeom>
          <a:noFill/>
        </p:spPr>
        <p:txBody>
          <a:bodyPr wrap="none" lIns="0" tIns="0" r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tIns="9525" rIns="2857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tIns="9525" rIns="2857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5126355" y="6036155"/>
            <a:ext cx="990600" cy="219044"/>
          </a:xfrm>
          <a:prstGeom prst="rect">
            <a:avLst/>
          </a:prstGeom>
          <a:noFill/>
        </p:spPr>
        <p:txBody>
          <a:bodyPr wrap="square" lIns="28575" tIns="9525" rIns="2857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tIns="0" r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6957060" y="4630620"/>
            <a:ext cx="400050" cy="200791"/>
          </a:xfrm>
          <a:prstGeom prst="rect">
            <a:avLst/>
          </a:prstGeom>
          <a:noFill/>
        </p:spPr>
        <p:txBody>
          <a:bodyPr wrap="none" lIns="0" tIns="0" r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tIns="9525" rIns="2857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tIns="9525" rIns="2857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6661785" y="6036155"/>
            <a:ext cx="990600" cy="219044"/>
          </a:xfrm>
          <a:prstGeom prst="rect">
            <a:avLst/>
          </a:prstGeom>
          <a:noFill/>
        </p:spPr>
        <p:txBody>
          <a:bodyPr wrap="square" lIns="28575" tIns="9525" rIns="2857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8191500" y="4311180"/>
            <a:ext cx="3857625" cy="182537"/>
          </a:xfrm>
          <a:prstGeom prst="rect">
            <a:avLst/>
          </a:prstGeom>
          <a:noFill/>
        </p:spPr>
        <p:txBody>
          <a:bodyPr wrap="square" lIns="28575" tIns="9525" rIns="2857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p:cNvSpPr txBox="1"/>
          <p:nvPr/>
        </p:nvSpPr>
        <p:spPr>
          <a:xfrm>
            <a:off x="8372475" y="4767523"/>
            <a:ext cx="285750" cy="182537"/>
          </a:xfrm>
          <a:prstGeom prst="rect">
            <a:avLst/>
          </a:prstGeom>
          <a:noFill/>
        </p:spPr>
        <p:txBody>
          <a:bodyPr wrap="none" lIns="0" tIns="0" r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8372475" y="5406402"/>
            <a:ext cx="285750" cy="182537"/>
          </a:xfrm>
          <a:prstGeom prst="rect">
            <a:avLst/>
          </a:prstGeom>
          <a:noFill/>
        </p:spPr>
        <p:txBody>
          <a:bodyPr wrap="none" lIns="0" tIns="0" r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8372475" y="6045282"/>
            <a:ext cx="285750" cy="182537"/>
          </a:xfrm>
          <a:prstGeom prst="rect">
            <a:avLst/>
          </a:prstGeom>
          <a:noFill/>
        </p:spPr>
        <p:txBody>
          <a:bodyPr wrap="none" lIns="0" tIns="0" r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tIns="0" r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tIns="0" r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tIns="0" r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tIns="0" r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tIns="0" r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Standard Process Snapshot</a:t>
            </a:r>
          </a:p>
          <a:p>
            <a:pPr marL="342900" indent="-323850">
              <a:lnSpc>
                <a:spcPct val="100000"/>
              </a:lnSpc>
              <a:spcAft>
                <a:spcPts val="800"/>
              </a:spcAft>
            </a:pPr>
            <a:r>
              <a:rPr sz="2000" b="0">
                <a:solidFill>
                  <a:srgbClr val="000000"/>
                </a:solidFill>
                <a:latin typeface="Calibri"/>
              </a:rPr>
              <a:t>➤	Standard Process Penetration &amp; Win</a:t>
            </a:r>
          </a:p>
          <a:p>
            <a:pPr marL="342900" indent="-323850">
              <a:lnSpc>
                <a:spcPct val="100000"/>
              </a:lnSpc>
              <a:spcAft>
                <a:spcPts val="800"/>
              </a:spcAft>
            </a:pPr>
            <a:r>
              <a:rPr sz="2000" b="0">
                <a:solidFill>
                  <a:srgbClr val="000000"/>
                </a:solidFill>
                <a:latin typeface="Calibri"/>
              </a:rPr>
              <a:t>➤	Standard Process SWOT Analysis</a:t>
            </a:r>
          </a:p>
          <a:p>
            <a:pPr marL="342900" indent="-323850">
              <a:lnSpc>
                <a:spcPct val="100000"/>
              </a:lnSpc>
              <a:spcAft>
                <a:spcPts val="800"/>
              </a:spcAft>
            </a:pPr>
            <a:r>
              <a:rPr sz="2000" b="0">
                <a:solidFill>
                  <a:srgbClr val="000000"/>
                </a:solidFill>
                <a:latin typeface="Calibri"/>
              </a:rPr>
              <a:t>➤	Standard Process Key Financials</a:t>
            </a:r>
          </a:p>
          <a:p>
            <a:pPr marL="342900" indent="-323850">
              <a:lnSpc>
                <a:spcPct val="100000"/>
              </a:lnSpc>
              <a:spcAft>
                <a:spcPts val="800"/>
              </a:spcAft>
            </a:pPr>
            <a:r>
              <a:rPr sz="2000" b="0">
                <a:solidFill>
                  <a:srgbClr val="000000"/>
                </a:solidFill>
                <a:latin typeface="Calibri"/>
              </a:rPr>
              <a:t>➤	Standard Process Strategy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Standard Process Executive Market Snapshot (1/5)</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Executive snapshot and strategic positioning Standard Process: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a:p>
            <a:pPr algn="ctr">
              <a:lnSpc>
                <a:spcPct val="95000"/>
              </a:lnSpc>
            </a:pPr>
            <a:endParaRP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2123126"/>
            <a:ext cx="36385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xmlns:r="http://schemas.openxmlformats.org/officeDocument/2006/relationships" r:id="rId4"/>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19575" y="2123126"/>
            <a:ext cx="36385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xmlns:r="http://schemas.openxmlformats.org/officeDocument/2006/relationships" r:id="rId5"/>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01025" y="2123126"/>
            <a:ext cx="37528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xmlns:r="http://schemas.openxmlformats.org/officeDocument/2006/relationships" r:id="rId6"/>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6225" y="4871502"/>
            <a:ext cx="116395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6225" y="5195352"/>
            <a:ext cx="11639550" cy="1321341"/>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9" name="TextBox 2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12025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360283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8412956"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10822781" y="1522714"/>
            <a:ext cx="157162" cy="228600"/>
          </a:xfrm>
          <a:prstGeom prst="rect">
            <a:avLst/>
          </a:prstGeom>
        </p:spPr>
      </p:pic>
      <p:pic>
        <p:nvPicPr>
          <p:cNvPr id="34" name="Picture 33" descr="lock.png"/>
          <p:cNvPicPr>
            <a:picLocks noChangeAspect="1"/>
          </p:cNvPicPr>
          <p:nvPr/>
        </p:nvPicPr>
        <p:blipFill>
          <a:blip r:embed="rId7"/>
          <a:stretch>
            <a:fillRect/>
          </a:stretch>
        </p:blipFill>
        <p:spPr>
          <a:xfrm>
            <a:off x="210462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6086073" y="3299104"/>
            <a:ext cx="197242" cy="286897"/>
          </a:xfrm>
          <a:prstGeom prst="rect">
            <a:avLst/>
          </a:prstGeom>
        </p:spPr>
      </p:pic>
      <p:pic>
        <p:nvPicPr>
          <p:cNvPr id="36" name="Picture 35" descr="lock.png"/>
          <p:cNvPicPr>
            <a:picLocks noChangeAspect="1"/>
          </p:cNvPicPr>
          <p:nvPr/>
        </p:nvPicPr>
        <p:blipFill>
          <a:blip r:embed="rId7"/>
          <a:stretch>
            <a:fillRect/>
          </a:stretch>
        </p:blipFill>
        <p:spPr>
          <a:xfrm>
            <a:off x="9278088" y="3145920"/>
            <a:ext cx="444576" cy="646656"/>
          </a:xfrm>
          <a:prstGeom prst="rect">
            <a:avLst/>
          </a:prstGeom>
        </p:spPr>
      </p:pic>
      <p:sp>
        <p:nvSpPr>
          <p:cNvPr id="37" name="TextBox 36"/>
          <p:cNvSpPr txBox="1"/>
          <p:nvPr/>
        </p:nvSpPr>
        <p:spPr>
          <a:xfrm>
            <a:off x="5758516" y="1377568"/>
            <a:ext cx="741641" cy="146456"/>
          </a:xfrm>
          <a:prstGeom prst="rect">
            <a:avLst/>
          </a:prstGeom>
          <a:noFill/>
        </p:spPr>
        <p:txBody>
          <a:bodyPr wrap="none" lIns="0" tIns="0" rIns="0" bIns="0">
            <a:spAutoFit/>
          </a:bodyPr>
          <a:lstStyle/>
          <a:p>
            <a:r>
              <a:rPr sz="835" b="1">
                <a:solidFill>
                  <a:srgbClr val="6C7A89"/>
                </a:solidFill>
                <a:latin typeface="Calibri"/>
              </a:rPr>
              <a:t>SOM (US$ MN)</a:t>
            </a:r>
          </a:p>
        </p:txBody>
      </p:sp>
      <p:pic>
        <p:nvPicPr>
          <p:cNvPr id="38" name="Picture 37" descr="lock.png"/>
          <p:cNvPicPr>
            <a:picLocks noChangeAspect="1"/>
          </p:cNvPicPr>
          <p:nvPr/>
        </p:nvPicPr>
        <p:blipFill>
          <a:blip r:embed="rId7"/>
          <a:stretch>
            <a:fillRect/>
          </a:stretch>
        </p:blipFill>
        <p:spPr>
          <a:xfrm>
            <a:off x="6017010" y="1533061"/>
            <a:ext cx="133378" cy="194005"/>
          </a:xfrm>
          <a:prstGeom prst="rect">
            <a:avLst/>
          </a:prstGeom>
        </p:spPr>
      </p:pic>
      <p:pic>
        <p:nvPicPr>
          <p:cNvPr id="39" name="Picture 38" descr="lock.png"/>
          <p:cNvPicPr>
            <a:picLocks noChangeAspect="1"/>
          </p:cNvPicPr>
          <p:nvPr/>
        </p:nvPicPr>
        <p:blipFill>
          <a:blip r:embed="rId7"/>
          <a:stretch>
            <a:fillRect/>
          </a:stretch>
        </p:blipFill>
        <p:spPr>
          <a:xfrm>
            <a:off x="5865805" y="1761621"/>
            <a:ext cx="97811" cy="142270"/>
          </a:xfrm>
          <a:prstGeom prst="rect">
            <a:avLst/>
          </a:prstGeom>
        </p:spPr>
      </p:pic>
      <p:sp>
        <p:nvSpPr>
          <p:cNvPr id="40" name="TextBox 39"/>
          <p:cNvSpPr txBox="1"/>
          <p:nvPr/>
        </p:nvSpPr>
        <p:spPr>
          <a:xfrm>
            <a:off x="5993102" y="1769053"/>
            <a:ext cx="389531" cy="146456"/>
          </a:xfrm>
          <a:prstGeom prst="rect">
            <a:avLst/>
          </a:prstGeom>
          <a:noFill/>
        </p:spPr>
        <p:txBody>
          <a:bodyPr wrap="none" lIns="0" tIns="0" rIns="0" bIns="0">
            <a:spAutoFit/>
          </a:bodyPr>
          <a:lstStyle/>
          <a:p>
            <a:r>
              <a:rPr sz="835" b="0">
                <a:solidFill>
                  <a:srgbClr val="6C7A89"/>
                </a:solidFill>
                <a:latin typeface="Calibri"/>
              </a:rPr>
              <a:t>of SAM</a:t>
            </a:r>
          </a:p>
        </p:txBody>
      </p:sp>
      <p:sp>
        <p:nvSpPr>
          <p:cNvPr id="41" name="TextBox 40"/>
          <p:cNvSpPr txBox="1"/>
          <p:nvPr/>
        </p:nvSpPr>
        <p:spPr>
          <a:xfrm>
            <a:off x="276225" y="5204877"/>
            <a:ext cx="2856855" cy="194310"/>
          </a:xfrm>
          <a:prstGeom prst="rect">
            <a:avLst/>
          </a:prstGeom>
          <a:noFill/>
        </p:spPr>
        <p:txBody>
          <a:bodyPr wrap="none" lIns="0" tIns="0" rIns="0" bIns="0">
            <a:spAutoFit/>
          </a:bodyPr>
          <a:lstStyle/>
          <a:p>
            <a:r>
              <a:rPr sz="1150" b="0">
                <a:solidFill>
                  <a:srgbClr val="2E2E2E"/>
                </a:solidFill>
                <a:latin typeface="Calibri"/>
              </a:rPr>
              <a:t>▪ Market Position: Standard Process captures ~</a:t>
            </a:r>
          </a:p>
        </p:txBody>
      </p:sp>
      <p:pic>
        <p:nvPicPr>
          <p:cNvPr id="42" name="Picture 41" descr="lock.png"/>
          <p:cNvPicPr>
            <a:picLocks noChangeAspect="1"/>
          </p:cNvPicPr>
          <p:nvPr/>
        </p:nvPicPr>
        <p:blipFill>
          <a:blip r:embed="rId7"/>
          <a:stretch>
            <a:fillRect/>
          </a:stretch>
        </p:blipFill>
        <p:spPr>
          <a:xfrm>
            <a:off x="3082234" y="5194653"/>
            <a:ext cx="134549" cy="195707"/>
          </a:xfrm>
          <a:prstGeom prst="rect">
            <a:avLst/>
          </a:prstGeom>
        </p:spPr>
      </p:pic>
      <p:sp>
        <p:nvSpPr>
          <p:cNvPr id="43" name="TextBox 42"/>
          <p:cNvSpPr txBox="1"/>
          <p:nvPr/>
        </p:nvSpPr>
        <p:spPr>
          <a:xfrm>
            <a:off x="3257343" y="5204877"/>
            <a:ext cx="6156957" cy="194310"/>
          </a:xfrm>
          <a:prstGeom prst="rect">
            <a:avLst/>
          </a:prstGeom>
          <a:noFill/>
        </p:spPr>
        <p:txBody>
          <a:bodyPr wrap="none" lIns="0" tIns="0" rIns="0" bIns="0">
            <a:spAutoFit/>
          </a:bodyPr>
          <a:lstStyle/>
          <a:p>
            <a:r>
              <a:rPr sz="1150" b="0">
                <a:solidFill>
                  <a:srgbClr val="2E2E2E"/>
                </a:solidFill>
                <a:latin typeface="Calibri"/>
              </a:rPr>
              <a:t>of a US$ Mn SAM, with its strongest end-market in 'Veterinary-Guided Cognitive Dysfunction Support'.</a:t>
            </a:r>
          </a:p>
        </p:txBody>
      </p:sp>
      <p:sp>
        <p:nvSpPr>
          <p:cNvPr id="44" name="TextBox 43"/>
          <p:cNvSpPr txBox="1"/>
          <p:nvPr/>
        </p:nvSpPr>
        <p:spPr>
          <a:xfrm>
            <a:off x="276225" y="5432715"/>
            <a:ext cx="7358446" cy="194310"/>
          </a:xfrm>
          <a:prstGeom prst="rect">
            <a:avLst/>
          </a:prstGeom>
          <a:noFill/>
        </p:spPr>
        <p:txBody>
          <a:bodyPr wrap="none" lIns="0" tIns="0" r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5" name="Picture 44" descr="lock.png"/>
          <p:cNvPicPr>
            <a:picLocks noChangeAspect="1"/>
          </p:cNvPicPr>
          <p:nvPr/>
        </p:nvPicPr>
        <p:blipFill>
          <a:blip r:embed="rId7"/>
          <a:stretch>
            <a:fillRect/>
          </a:stretch>
        </p:blipFill>
        <p:spPr>
          <a:xfrm>
            <a:off x="7583825" y="5422491"/>
            <a:ext cx="134549" cy="195707"/>
          </a:xfrm>
          <a:prstGeom prst="rect">
            <a:avLst/>
          </a:prstGeom>
        </p:spPr>
      </p:pic>
      <p:sp>
        <p:nvSpPr>
          <p:cNvPr id="46" name="TextBox 45"/>
          <p:cNvSpPr txBox="1"/>
          <p:nvPr/>
        </p:nvSpPr>
        <p:spPr>
          <a:xfrm>
            <a:off x="7758935" y="5432715"/>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47" name="TextBox 46"/>
          <p:cNvSpPr txBox="1"/>
          <p:nvPr/>
        </p:nvSpPr>
        <p:spPr>
          <a:xfrm>
            <a:off x="276225" y="5660552"/>
            <a:ext cx="1391791" cy="194310"/>
          </a:xfrm>
          <a:prstGeom prst="rect">
            <a:avLst/>
          </a:prstGeom>
          <a:noFill/>
        </p:spPr>
        <p:txBody>
          <a:bodyPr wrap="none" lIns="0" tIns="0" rIns="0" bIns="0">
            <a:spAutoFit/>
          </a:bodyPr>
          <a:lstStyle/>
          <a:p>
            <a:r>
              <a:rPr sz="1150" b="0">
                <a:solidFill>
                  <a:srgbClr val="2E2E2E"/>
                </a:solidFill>
                <a:latin typeface="Calibri"/>
              </a:rPr>
              <a:t>▪ Growth Trajectory: a</a:t>
            </a:r>
          </a:p>
        </p:txBody>
      </p:sp>
      <p:pic>
        <p:nvPicPr>
          <p:cNvPr id="48" name="Picture 47" descr="lock.png"/>
          <p:cNvPicPr>
            <a:picLocks noChangeAspect="1"/>
          </p:cNvPicPr>
          <p:nvPr/>
        </p:nvPicPr>
        <p:blipFill>
          <a:blip r:embed="rId7"/>
          <a:stretch>
            <a:fillRect/>
          </a:stretch>
        </p:blipFill>
        <p:spPr>
          <a:xfrm>
            <a:off x="1617169" y="5650329"/>
            <a:ext cx="134549" cy="195707"/>
          </a:xfrm>
          <a:prstGeom prst="rect">
            <a:avLst/>
          </a:prstGeom>
        </p:spPr>
      </p:pic>
      <p:sp>
        <p:nvSpPr>
          <p:cNvPr id="49" name="TextBox 48"/>
          <p:cNvSpPr txBox="1"/>
          <p:nvPr/>
        </p:nvSpPr>
        <p:spPr>
          <a:xfrm>
            <a:off x="1792279" y="5660552"/>
            <a:ext cx="1129072" cy="194310"/>
          </a:xfrm>
          <a:prstGeom prst="rect">
            <a:avLst/>
          </a:prstGeom>
          <a:noFill/>
        </p:spPr>
        <p:txBody>
          <a:bodyPr wrap="none" lIns="0" tIns="0" rIns="0" bIns="0">
            <a:spAutoFit/>
          </a:bodyPr>
          <a:lstStyle/>
          <a:p>
            <a:r>
              <a:rPr sz="1150" b="0">
                <a:solidFill>
                  <a:srgbClr val="2E2E2E"/>
                </a:solidFill>
                <a:latin typeface="Calibri"/>
              </a:rPr>
              <a:t>book-to-bill and ~</a:t>
            </a:r>
          </a:p>
        </p:txBody>
      </p:sp>
      <p:pic>
        <p:nvPicPr>
          <p:cNvPr id="50" name="Picture 49" descr="lock.png"/>
          <p:cNvPicPr>
            <a:picLocks noChangeAspect="1"/>
          </p:cNvPicPr>
          <p:nvPr/>
        </p:nvPicPr>
        <p:blipFill>
          <a:blip r:embed="rId7"/>
          <a:stretch>
            <a:fillRect/>
          </a:stretch>
        </p:blipFill>
        <p:spPr>
          <a:xfrm>
            <a:off x="2870505" y="5650329"/>
            <a:ext cx="134549" cy="195707"/>
          </a:xfrm>
          <a:prstGeom prst="rect">
            <a:avLst/>
          </a:prstGeom>
        </p:spPr>
      </p:pic>
      <p:sp>
        <p:nvSpPr>
          <p:cNvPr id="51" name="TextBox 50"/>
          <p:cNvSpPr txBox="1"/>
          <p:nvPr/>
        </p:nvSpPr>
        <p:spPr>
          <a:xfrm>
            <a:off x="3045614" y="5660552"/>
            <a:ext cx="4503594" cy="194310"/>
          </a:xfrm>
          <a:prstGeom prst="rect">
            <a:avLst/>
          </a:prstGeom>
          <a:noFill/>
        </p:spPr>
        <p:txBody>
          <a:bodyPr wrap="none" lIns="0" tIns="0" rIns="0" bIns="0">
            <a:spAutoFit/>
          </a:bodyPr>
          <a:lstStyle/>
          <a:p>
            <a:r>
              <a:rPr sz="1150" b="0">
                <a:solidFill>
                  <a:srgbClr val="2E2E2E"/>
                </a:solidFill>
                <a:latin typeface="Calibri"/>
              </a:rPr>
              <a:t>EBITDA margin point to a path to capture more of the addressable market.</a:t>
            </a:r>
          </a:p>
        </p:txBody>
      </p:sp>
      <p:sp>
        <p:nvSpPr>
          <p:cNvPr id="52" name="TextBox 51"/>
          <p:cNvSpPr txBox="1"/>
          <p:nvPr/>
        </p:nvSpPr>
        <p:spPr>
          <a:xfrm>
            <a:off x="276225" y="5888390"/>
            <a:ext cx="1353535" cy="194310"/>
          </a:xfrm>
          <a:prstGeom prst="rect">
            <a:avLst/>
          </a:prstGeom>
          <a:noFill/>
        </p:spPr>
        <p:txBody>
          <a:bodyPr wrap="none" lIns="0" tIns="0" rIns="0" bIns="0">
            <a:spAutoFit/>
          </a:bodyPr>
          <a:lstStyle/>
          <a:p>
            <a:r>
              <a:rPr sz="1150" b="0">
                <a:solidFill>
                  <a:srgbClr val="2E2E2E"/>
                </a:solidFill>
                <a:latin typeface="Calibri"/>
              </a:rPr>
              <a:t>▪ Competitive Edge: ~</a:t>
            </a:r>
          </a:p>
        </p:txBody>
      </p:sp>
      <p:pic>
        <p:nvPicPr>
          <p:cNvPr id="53" name="Picture 52" descr="lock.png"/>
          <p:cNvPicPr>
            <a:picLocks noChangeAspect="1"/>
          </p:cNvPicPr>
          <p:nvPr/>
        </p:nvPicPr>
        <p:blipFill>
          <a:blip r:embed="rId7"/>
          <a:stretch>
            <a:fillRect/>
          </a:stretch>
        </p:blipFill>
        <p:spPr>
          <a:xfrm>
            <a:off x="1578914" y="5878167"/>
            <a:ext cx="134549" cy="195707"/>
          </a:xfrm>
          <a:prstGeom prst="rect">
            <a:avLst/>
          </a:prstGeom>
        </p:spPr>
      </p:pic>
      <p:sp>
        <p:nvSpPr>
          <p:cNvPr id="54" name="TextBox 53"/>
          <p:cNvSpPr txBox="1"/>
          <p:nvPr/>
        </p:nvSpPr>
        <p:spPr>
          <a:xfrm>
            <a:off x="1754024" y="5888390"/>
            <a:ext cx="1072591" cy="194310"/>
          </a:xfrm>
          <a:prstGeom prst="rect">
            <a:avLst/>
          </a:prstGeom>
          <a:noFill/>
        </p:spPr>
        <p:txBody>
          <a:bodyPr wrap="none" lIns="0" tIns="0" rIns="0" bIns="0">
            <a:spAutoFit/>
          </a:bodyPr>
          <a:lstStyle/>
          <a:p>
            <a:r>
              <a:rPr sz="1150" b="0">
                <a:solidFill>
                  <a:srgbClr val="2E2E2E"/>
                </a:solidFill>
                <a:latin typeface="Calibri"/>
              </a:rPr>
              <a:t>win rate with a +</a:t>
            </a:r>
          </a:p>
        </p:txBody>
      </p:sp>
      <p:pic>
        <p:nvPicPr>
          <p:cNvPr id="55" name="Picture 54" descr="lock.png"/>
          <p:cNvPicPr>
            <a:picLocks noChangeAspect="1"/>
          </p:cNvPicPr>
          <p:nvPr/>
        </p:nvPicPr>
        <p:blipFill>
          <a:blip r:embed="rId7"/>
          <a:stretch>
            <a:fillRect/>
          </a:stretch>
        </p:blipFill>
        <p:spPr>
          <a:xfrm>
            <a:off x="2775769" y="5878167"/>
            <a:ext cx="134549" cy="195707"/>
          </a:xfrm>
          <a:prstGeom prst="rect">
            <a:avLst/>
          </a:prstGeom>
        </p:spPr>
      </p:pic>
      <p:sp>
        <p:nvSpPr>
          <p:cNvPr id="56" name="TextBox 55"/>
          <p:cNvSpPr txBox="1"/>
          <p:nvPr/>
        </p:nvSpPr>
        <p:spPr>
          <a:xfrm>
            <a:off x="2950879" y="5888390"/>
            <a:ext cx="1137059" cy="194310"/>
          </a:xfrm>
          <a:prstGeom prst="rect">
            <a:avLst/>
          </a:prstGeom>
          <a:noFill/>
        </p:spPr>
        <p:txBody>
          <a:bodyPr wrap="none" lIns="0" tIns="0" rIns="0" bIns="0">
            <a:spAutoFit/>
          </a:bodyPr>
          <a:lstStyle/>
          <a:p>
            <a:r>
              <a:rPr sz="1150" b="0">
                <a:solidFill>
                  <a:srgbClr val="2E2E2E"/>
                </a:solidFill>
                <a:latin typeface="Calibri"/>
              </a:rPr>
              <a:t>ASP premium and</a:t>
            </a:r>
          </a:p>
        </p:txBody>
      </p:sp>
      <p:pic>
        <p:nvPicPr>
          <p:cNvPr id="57" name="Picture 56" descr="lock.png"/>
          <p:cNvPicPr>
            <a:picLocks noChangeAspect="1"/>
          </p:cNvPicPr>
          <p:nvPr/>
        </p:nvPicPr>
        <p:blipFill>
          <a:blip r:embed="rId7"/>
          <a:stretch>
            <a:fillRect/>
          </a:stretch>
        </p:blipFill>
        <p:spPr>
          <a:xfrm>
            <a:off x="4037092" y="5878167"/>
            <a:ext cx="134549" cy="195707"/>
          </a:xfrm>
          <a:prstGeom prst="rect">
            <a:avLst/>
          </a:prstGeom>
        </p:spPr>
      </p:pic>
      <p:sp>
        <p:nvSpPr>
          <p:cNvPr id="58" name="TextBox 57"/>
          <p:cNvSpPr txBox="1"/>
          <p:nvPr/>
        </p:nvSpPr>
        <p:spPr>
          <a:xfrm>
            <a:off x="4212201" y="5888390"/>
            <a:ext cx="1259147" cy="194310"/>
          </a:xfrm>
          <a:prstGeom prst="rect">
            <a:avLst/>
          </a:prstGeom>
          <a:noFill/>
        </p:spPr>
        <p:txBody>
          <a:bodyPr wrap="none" lIns="0" tIns="0" rIns="0" bIns="0">
            <a:spAutoFit/>
          </a:bodyPr>
          <a:lstStyle/>
          <a:p>
            <a:r>
              <a:rPr sz="1150" b="0">
                <a:solidFill>
                  <a:srgbClr val="2E2E2E"/>
                </a:solidFill>
                <a:latin typeface="Calibri"/>
              </a:rPr>
              <a:t>x pipeline coverage.</a:t>
            </a:r>
          </a:p>
        </p:txBody>
      </p:sp>
      <p:sp>
        <p:nvSpPr>
          <p:cNvPr id="59"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Standard Process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Regional penetration and competitive positioning Standard Process: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56470"/>
            <a:ext cx="5715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xmlns:r="http://schemas.openxmlformats.org/officeDocument/2006/relationships" r:id="rId4"/>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57925" y="1356470"/>
            <a:ext cx="56959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tIns="0" r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tIns="0" r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tIns="0" r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tIns="0" r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tIns="9525" rIns="2857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tIns="9525" rIns="2857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45037" y="2017974"/>
            <a:ext cx="1428750" cy="171450"/>
          </a:xfrm>
          <a:prstGeom prst="rect">
            <a:avLst/>
          </a:prstGeom>
          <a:noFill/>
        </p:spPr>
        <p:txBody>
          <a:bodyPr wrap="square" lIns="28575" tIns="9525" rIns="28575" bIns="9525" anchor="ctr">
            <a:spAutoFit/>
          </a:bodyPr>
          <a:lstStyle/>
          <a:p>
            <a:pPr algn="l"/>
            <a:r>
              <a:rPr sz="1100" b="1">
                <a:solidFill>
                  <a:srgbClr val="2E2E2E"/>
                </a:solidFill>
                <a:latin typeface="Calibri"/>
              </a:rPr>
              <a:t>Standard Process</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26509" y="1979485"/>
            <a:ext cx="1428750" cy="171450"/>
          </a:xfrm>
          <a:prstGeom prst="rect">
            <a:avLst/>
          </a:prstGeom>
          <a:noFill/>
        </p:spPr>
        <p:txBody>
          <a:bodyPr wrap="square" lIns="28575" tIns="9525" rIns="2857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706100" y="2749264"/>
            <a:ext cx="1428750" cy="171450"/>
          </a:xfrm>
          <a:prstGeom prst="rect">
            <a:avLst/>
          </a:prstGeom>
          <a:noFill/>
        </p:spPr>
        <p:txBody>
          <a:bodyPr wrap="square" lIns="28575" tIns="9525" rIns="2857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8125" y="3692944"/>
            <a:ext cx="5715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14300" tIns="19050" rIns="57150" bIns="19050" rtlCol="0" anchor="ctr"/>
          <a:lstStyle/>
          <a:p>
            <a:pPr algn="l"/>
            <a:endParaRP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14300" tIns="19050" rIns="57150" bIns="19050" rtlCol="0" anchor="ctr"/>
          <a:lstStyle/>
          <a:p>
            <a:pPr algn="l"/>
            <a:endParaRP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14300" tIns="19050" rIns="57150" bIns="19050" rtlCol="0" anchor="ctr"/>
          <a:lstStyle/>
          <a:p>
            <a:pPr algn="l"/>
            <a:endParaRP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57925" y="3692944"/>
            <a:ext cx="56959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06075" y="3912019"/>
            <a:ext cx="571500" cy="133350"/>
          </a:xfrm>
          <a:prstGeom prst="rect">
            <a:avLst/>
          </a:prstGeom>
          <a:noFill/>
        </p:spPr>
        <p:txBody>
          <a:bodyPr wrap="square" lIns="28575" tIns="9525" rIns="2857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249025" y="3912019"/>
            <a:ext cx="571500" cy="133350"/>
          </a:xfrm>
          <a:prstGeom prst="rect">
            <a:avLst/>
          </a:prstGeom>
          <a:noFill/>
        </p:spPr>
        <p:txBody>
          <a:bodyPr wrap="square" lIns="28575" tIns="9525" rIns="2857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tIns="9525" rIns="2857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276975" y="4466337"/>
            <a:ext cx="1066800" cy="228600"/>
          </a:xfrm>
          <a:prstGeom prst="rect">
            <a:avLst/>
          </a:prstGeom>
          <a:noFill/>
        </p:spPr>
        <p:txBody>
          <a:bodyPr wrap="square" lIns="28575" tIns="9525" rIns="2857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76975" y="4778732"/>
            <a:ext cx="1066800" cy="228600"/>
          </a:xfrm>
          <a:prstGeom prst="rect">
            <a:avLst/>
          </a:prstGeom>
          <a:noFill/>
        </p:spPr>
        <p:txBody>
          <a:bodyPr wrap="square" lIns="28575" tIns="9525" rIns="2857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76225" y="5455620"/>
            <a:ext cx="116395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76225" y="5779470"/>
            <a:ext cx="11639550" cy="77373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54" name="TextBox 5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015511"/>
            <a:ext cx="871202" cy="194310"/>
          </a:xfrm>
          <a:prstGeom prst="rect">
            <a:avLst/>
          </a:prstGeom>
          <a:noFill/>
        </p:spPr>
        <p:txBody>
          <a:bodyPr wrap="none" lIns="0" tIns="0" rIns="0" bIns="0">
            <a:spAutoFit/>
          </a:bodyPr>
          <a:lstStyle/>
          <a:p>
            <a:r>
              <a:rPr sz="1150" b="1">
                <a:solidFill>
                  <a:srgbClr val="FFFFFF"/>
                </a:solidFill>
                <a:latin typeface="Calibri"/>
              </a:rPr>
              <a:t>TAM · 100% ·</a:t>
            </a:r>
          </a:p>
        </p:txBody>
      </p:sp>
      <p:pic>
        <p:nvPicPr>
          <p:cNvPr id="57" name="Picture 56" descr="lock.png"/>
          <p:cNvPicPr>
            <a:picLocks noChangeAspect="1"/>
          </p:cNvPicPr>
          <p:nvPr/>
        </p:nvPicPr>
        <p:blipFill>
          <a:blip r:embed="rId5"/>
          <a:stretch>
            <a:fillRect/>
          </a:stretch>
        </p:blipFill>
        <p:spPr>
          <a:xfrm>
            <a:off x="1172781" y="4005288"/>
            <a:ext cx="134549" cy="195707"/>
          </a:xfrm>
          <a:prstGeom prst="rect">
            <a:avLst/>
          </a:prstGeom>
        </p:spPr>
      </p:pic>
      <p:sp>
        <p:nvSpPr>
          <p:cNvPr id="58" name="TextBox 57"/>
          <p:cNvSpPr txBox="1"/>
          <p:nvPr/>
        </p:nvSpPr>
        <p:spPr>
          <a:xfrm>
            <a:off x="1347890" y="4015511"/>
            <a:ext cx="554000" cy="194310"/>
          </a:xfrm>
          <a:prstGeom prst="rect">
            <a:avLst/>
          </a:prstGeom>
          <a:noFill/>
        </p:spPr>
        <p:txBody>
          <a:bodyPr wrap="none" lIns="0" tIns="0" rIns="0" bIns="0">
            <a:spAutoFit/>
          </a:bodyPr>
          <a:lstStyle/>
          <a:p>
            <a:r>
              <a:rPr sz="1150" b="1">
                <a:solidFill>
                  <a:srgbClr val="FFFFFF"/>
                </a:solidFill>
                <a:latin typeface="Calibri"/>
              </a:rPr>
              <a:t>US$ Mn</a:t>
            </a:r>
          </a:p>
        </p:txBody>
      </p:sp>
      <p:sp>
        <p:nvSpPr>
          <p:cNvPr id="59" name="TextBox 58"/>
          <p:cNvSpPr txBox="1"/>
          <p:nvPr/>
        </p:nvSpPr>
        <p:spPr>
          <a:xfrm>
            <a:off x="352425" y="4493006"/>
            <a:ext cx="433623" cy="194310"/>
          </a:xfrm>
          <a:prstGeom prst="rect">
            <a:avLst/>
          </a:prstGeom>
          <a:noFill/>
        </p:spPr>
        <p:txBody>
          <a:bodyPr wrap="none" lIns="0" tIns="0" rIns="0" bIns="0">
            <a:spAutoFit/>
          </a:bodyPr>
          <a:lstStyle/>
          <a:p>
            <a:r>
              <a:rPr sz="1150" b="1">
                <a:solidFill>
                  <a:srgbClr val="FFFFFF"/>
                </a:solidFill>
                <a:latin typeface="Calibri"/>
              </a:rPr>
              <a:t>SAM ·</a:t>
            </a:r>
          </a:p>
        </p:txBody>
      </p:sp>
      <p:pic>
        <p:nvPicPr>
          <p:cNvPr id="60" name="Picture 59" descr="lock.png"/>
          <p:cNvPicPr>
            <a:picLocks noChangeAspect="1"/>
          </p:cNvPicPr>
          <p:nvPr/>
        </p:nvPicPr>
        <p:blipFill>
          <a:blip r:embed="rId5"/>
          <a:stretch>
            <a:fillRect/>
          </a:stretch>
        </p:blipFill>
        <p:spPr>
          <a:xfrm>
            <a:off x="735202" y="4482783"/>
            <a:ext cx="134549" cy="195707"/>
          </a:xfrm>
          <a:prstGeom prst="rect">
            <a:avLst/>
          </a:prstGeom>
        </p:spPr>
      </p:pic>
      <p:sp>
        <p:nvSpPr>
          <p:cNvPr id="61" name="TextBox 60"/>
          <p:cNvSpPr txBox="1"/>
          <p:nvPr/>
        </p:nvSpPr>
        <p:spPr>
          <a:xfrm>
            <a:off x="910311" y="4493006"/>
            <a:ext cx="594791" cy="194310"/>
          </a:xfrm>
          <a:prstGeom prst="rect">
            <a:avLst/>
          </a:prstGeom>
          <a:noFill/>
        </p:spPr>
        <p:txBody>
          <a:bodyPr wrap="none" lIns="0" tIns="0" rIns="0" bIns="0">
            <a:spAutoFit/>
          </a:bodyPr>
          <a:lstStyle/>
          <a:p>
            <a:r>
              <a:rPr sz="1150" b="1">
                <a:solidFill>
                  <a:srgbClr val="FFFFFF"/>
                </a:solidFill>
                <a:latin typeface="Calibri"/>
              </a:rPr>
              <a:t>of TAM ·</a:t>
            </a:r>
          </a:p>
        </p:txBody>
      </p:sp>
      <p:pic>
        <p:nvPicPr>
          <p:cNvPr id="62" name="Picture 61" descr="lock.png"/>
          <p:cNvPicPr>
            <a:picLocks noChangeAspect="1"/>
          </p:cNvPicPr>
          <p:nvPr/>
        </p:nvPicPr>
        <p:blipFill>
          <a:blip r:embed="rId5"/>
          <a:stretch>
            <a:fillRect/>
          </a:stretch>
        </p:blipFill>
        <p:spPr>
          <a:xfrm>
            <a:off x="1454256" y="4482783"/>
            <a:ext cx="134549" cy="195707"/>
          </a:xfrm>
          <a:prstGeom prst="rect">
            <a:avLst/>
          </a:prstGeom>
        </p:spPr>
      </p:pic>
      <p:sp>
        <p:nvSpPr>
          <p:cNvPr id="63" name="TextBox 62"/>
          <p:cNvSpPr txBox="1"/>
          <p:nvPr/>
        </p:nvSpPr>
        <p:spPr>
          <a:xfrm>
            <a:off x="1629366" y="4493006"/>
            <a:ext cx="554000" cy="194310"/>
          </a:xfrm>
          <a:prstGeom prst="rect">
            <a:avLst/>
          </a:prstGeom>
          <a:noFill/>
        </p:spPr>
        <p:txBody>
          <a:bodyPr wrap="none" lIns="0" tIns="0" rIns="0" bIns="0">
            <a:spAutoFit/>
          </a:bodyPr>
          <a:lstStyle/>
          <a:p>
            <a:r>
              <a:rPr sz="1150" b="1">
                <a:solidFill>
                  <a:srgbClr val="FFFFFF"/>
                </a:solidFill>
                <a:latin typeface="Calibri"/>
              </a:rPr>
              <a:t>US$ Mn</a:t>
            </a:r>
          </a:p>
        </p:txBody>
      </p:sp>
      <p:sp>
        <p:nvSpPr>
          <p:cNvPr id="64" name="TextBox 63"/>
          <p:cNvSpPr txBox="1"/>
          <p:nvPr/>
        </p:nvSpPr>
        <p:spPr>
          <a:xfrm>
            <a:off x="352425" y="4970502"/>
            <a:ext cx="443892" cy="194310"/>
          </a:xfrm>
          <a:prstGeom prst="rect">
            <a:avLst/>
          </a:prstGeom>
          <a:noFill/>
        </p:spPr>
        <p:txBody>
          <a:bodyPr wrap="none" lIns="0" tIns="0" rIns="0" bIns="0">
            <a:spAutoFit/>
          </a:bodyPr>
          <a:lstStyle/>
          <a:p>
            <a:r>
              <a:rPr sz="1150" b="1">
                <a:solidFill>
                  <a:srgbClr val="FFFFFF"/>
                </a:solidFill>
                <a:latin typeface="Calibri"/>
              </a:rPr>
              <a:t>SOM ·</a:t>
            </a:r>
          </a:p>
        </p:txBody>
      </p:sp>
      <p:pic>
        <p:nvPicPr>
          <p:cNvPr id="65" name="Picture 64" descr="lock.png"/>
          <p:cNvPicPr>
            <a:picLocks noChangeAspect="1"/>
          </p:cNvPicPr>
          <p:nvPr/>
        </p:nvPicPr>
        <p:blipFill>
          <a:blip r:embed="rId5"/>
          <a:stretch>
            <a:fillRect/>
          </a:stretch>
        </p:blipFill>
        <p:spPr>
          <a:xfrm>
            <a:off x="745471" y="4960279"/>
            <a:ext cx="134549" cy="195707"/>
          </a:xfrm>
          <a:prstGeom prst="rect">
            <a:avLst/>
          </a:prstGeom>
        </p:spPr>
      </p:pic>
      <p:sp>
        <p:nvSpPr>
          <p:cNvPr id="66" name="TextBox 65"/>
          <p:cNvSpPr txBox="1"/>
          <p:nvPr/>
        </p:nvSpPr>
        <p:spPr>
          <a:xfrm>
            <a:off x="920580" y="4970502"/>
            <a:ext cx="591368" cy="194310"/>
          </a:xfrm>
          <a:prstGeom prst="rect">
            <a:avLst/>
          </a:prstGeom>
          <a:noFill/>
        </p:spPr>
        <p:txBody>
          <a:bodyPr wrap="none" lIns="0" tIns="0" rIns="0" bIns="0">
            <a:spAutoFit/>
          </a:bodyPr>
          <a:lstStyle/>
          <a:p>
            <a:r>
              <a:rPr sz="1150" b="1">
                <a:solidFill>
                  <a:srgbClr val="FFFFFF"/>
                </a:solidFill>
                <a:latin typeface="Calibri"/>
              </a:rPr>
              <a:t>of SAM ·</a:t>
            </a:r>
          </a:p>
        </p:txBody>
      </p:sp>
      <p:pic>
        <p:nvPicPr>
          <p:cNvPr id="67" name="Picture 66" descr="lock.png"/>
          <p:cNvPicPr>
            <a:picLocks noChangeAspect="1"/>
          </p:cNvPicPr>
          <p:nvPr/>
        </p:nvPicPr>
        <p:blipFill>
          <a:blip r:embed="rId5"/>
          <a:stretch>
            <a:fillRect/>
          </a:stretch>
        </p:blipFill>
        <p:spPr>
          <a:xfrm>
            <a:off x="1461102" y="4960279"/>
            <a:ext cx="134549" cy="195707"/>
          </a:xfrm>
          <a:prstGeom prst="rect">
            <a:avLst/>
          </a:prstGeom>
        </p:spPr>
      </p:pic>
      <p:sp>
        <p:nvSpPr>
          <p:cNvPr id="68" name="TextBox 67"/>
          <p:cNvSpPr txBox="1"/>
          <p:nvPr/>
        </p:nvSpPr>
        <p:spPr>
          <a:xfrm>
            <a:off x="1636212" y="4970502"/>
            <a:ext cx="554000" cy="194310"/>
          </a:xfrm>
          <a:prstGeom prst="rect">
            <a:avLst/>
          </a:prstGeom>
          <a:noFill/>
        </p:spPr>
        <p:txBody>
          <a:bodyPr wrap="none" lIns="0" tIns="0" rIns="0" bIns="0">
            <a:spAutoFit/>
          </a:bodyPr>
          <a:lstStyle/>
          <a:p>
            <a:r>
              <a:rPr sz="1150" b="1">
                <a:solidFill>
                  <a:srgbClr val="FFFFFF"/>
                </a:solidFill>
                <a:latin typeface="Calibri"/>
              </a:rPr>
              <a:t>US$ Mn</a:t>
            </a:r>
          </a:p>
        </p:txBody>
      </p:sp>
      <p:sp>
        <p:nvSpPr>
          <p:cNvPr id="69" name="TextBox 68"/>
          <p:cNvSpPr txBox="1"/>
          <p:nvPr/>
        </p:nvSpPr>
        <p:spPr>
          <a:xfrm>
            <a:off x="276225" y="5788995"/>
            <a:ext cx="7663656" cy="186689"/>
          </a:xfrm>
          <a:prstGeom prst="rect">
            <a:avLst/>
          </a:prstGeom>
          <a:noFill/>
        </p:spPr>
        <p:txBody>
          <a:bodyPr wrap="none" lIns="0" tIns="0" r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70" name="TextBox 69"/>
          <p:cNvSpPr txBox="1"/>
          <p:nvPr/>
        </p:nvSpPr>
        <p:spPr>
          <a:xfrm>
            <a:off x="276225" y="6006927"/>
            <a:ext cx="1297999" cy="186689"/>
          </a:xfrm>
          <a:prstGeom prst="rect">
            <a:avLst/>
          </a:prstGeom>
          <a:noFill/>
        </p:spPr>
        <p:txBody>
          <a:bodyPr wrap="none" lIns="0" tIns="0" rIns="0" bIns="0">
            <a:spAutoFit/>
          </a:bodyPr>
          <a:lstStyle/>
          <a:p>
            <a:r>
              <a:rPr sz="1100" b="0">
                <a:solidFill>
                  <a:srgbClr val="2E2E2E"/>
                </a:solidFill>
                <a:latin typeface="Calibri"/>
              </a:rPr>
              <a:t>▪ Competitive Edge: ~</a:t>
            </a:r>
          </a:p>
        </p:txBody>
      </p:sp>
      <p:pic>
        <p:nvPicPr>
          <p:cNvPr id="71" name="Picture 70" descr="lock.png"/>
          <p:cNvPicPr>
            <a:picLocks noChangeAspect="1"/>
          </p:cNvPicPr>
          <p:nvPr/>
        </p:nvPicPr>
        <p:blipFill>
          <a:blip r:embed="rId5"/>
          <a:stretch>
            <a:fillRect/>
          </a:stretch>
        </p:blipFill>
        <p:spPr>
          <a:xfrm>
            <a:off x="1522276" y="5997147"/>
            <a:ext cx="128699" cy="187198"/>
          </a:xfrm>
          <a:prstGeom prst="rect">
            <a:avLst/>
          </a:prstGeom>
        </p:spPr>
      </p:pic>
      <p:sp>
        <p:nvSpPr>
          <p:cNvPr id="72" name="TextBox 71"/>
          <p:cNvSpPr txBox="1"/>
          <p:nvPr/>
        </p:nvSpPr>
        <p:spPr>
          <a:xfrm>
            <a:off x="1689771" y="6006927"/>
            <a:ext cx="1029270" cy="186689"/>
          </a:xfrm>
          <a:prstGeom prst="rect">
            <a:avLst/>
          </a:prstGeom>
          <a:noFill/>
        </p:spPr>
        <p:txBody>
          <a:bodyPr wrap="none" lIns="0" tIns="0" rIns="0" bIns="0">
            <a:spAutoFit/>
          </a:bodyPr>
          <a:lstStyle/>
          <a:p>
            <a:r>
              <a:rPr sz="1100" b="0">
                <a:solidFill>
                  <a:srgbClr val="2E2E2E"/>
                </a:solidFill>
                <a:latin typeface="Calibri"/>
              </a:rPr>
              <a:t>win rate with a +</a:t>
            </a:r>
          </a:p>
        </p:txBody>
      </p:sp>
      <p:pic>
        <p:nvPicPr>
          <p:cNvPr id="73" name="Picture 72" descr="lock.png"/>
          <p:cNvPicPr>
            <a:picLocks noChangeAspect="1"/>
          </p:cNvPicPr>
          <p:nvPr/>
        </p:nvPicPr>
        <p:blipFill>
          <a:blip r:embed="rId5"/>
          <a:stretch>
            <a:fillRect/>
          </a:stretch>
        </p:blipFill>
        <p:spPr>
          <a:xfrm>
            <a:off x="2667093" y="5997147"/>
            <a:ext cx="128699" cy="187198"/>
          </a:xfrm>
          <a:prstGeom prst="rect">
            <a:avLst/>
          </a:prstGeom>
        </p:spPr>
      </p:pic>
      <p:sp>
        <p:nvSpPr>
          <p:cNvPr id="74" name="TextBox 73"/>
          <p:cNvSpPr txBox="1"/>
          <p:nvPr/>
        </p:nvSpPr>
        <p:spPr>
          <a:xfrm>
            <a:off x="2834589" y="6006927"/>
            <a:ext cx="2311400" cy="186689"/>
          </a:xfrm>
          <a:prstGeom prst="rect">
            <a:avLst/>
          </a:prstGeom>
          <a:noFill/>
        </p:spPr>
        <p:txBody>
          <a:bodyPr wrap="none" lIns="0" tIns="0" rIns="0" bIns="0">
            <a:spAutoFit/>
          </a:bodyPr>
          <a:lstStyle/>
          <a:p>
            <a:r>
              <a:rPr sz="1100" b="0">
                <a:solidFill>
                  <a:srgbClr val="2E2E2E"/>
                </a:solidFill>
                <a:latin typeface="Calibri"/>
              </a:rPr>
              <a:t>ASP premium signals value recognition;</a:t>
            </a:r>
          </a:p>
        </p:txBody>
      </p:sp>
      <p:pic>
        <p:nvPicPr>
          <p:cNvPr id="75" name="Picture 74" descr="lock.png"/>
          <p:cNvPicPr>
            <a:picLocks noChangeAspect="1"/>
          </p:cNvPicPr>
          <p:nvPr/>
        </p:nvPicPr>
        <p:blipFill>
          <a:blip r:embed="rId5"/>
          <a:stretch>
            <a:fillRect/>
          </a:stretch>
        </p:blipFill>
        <p:spPr>
          <a:xfrm>
            <a:off x="5094041" y="5997147"/>
            <a:ext cx="128699" cy="187198"/>
          </a:xfrm>
          <a:prstGeom prst="rect">
            <a:avLst/>
          </a:prstGeom>
        </p:spPr>
      </p:pic>
      <p:sp>
        <p:nvSpPr>
          <p:cNvPr id="76" name="TextBox 75"/>
          <p:cNvSpPr txBox="1"/>
          <p:nvPr/>
        </p:nvSpPr>
        <p:spPr>
          <a:xfrm>
            <a:off x="5261537" y="6006927"/>
            <a:ext cx="2251645" cy="186689"/>
          </a:xfrm>
          <a:prstGeom prst="rect">
            <a:avLst/>
          </a:prstGeom>
          <a:noFill/>
        </p:spPr>
        <p:txBody>
          <a:bodyPr wrap="none" lIns="0" tIns="0" rIns="0" bIns="0">
            <a:spAutoFit/>
          </a:bodyPr>
          <a:lstStyle/>
          <a:p>
            <a:r>
              <a:rPr sz="1100" b="0">
                <a:solidFill>
                  <a:srgbClr val="2E2E2E"/>
                </a:solidFill>
                <a:latin typeface="Calibri"/>
              </a:rPr>
              <a:t>x pipeline coverage underpins growth.</a:t>
            </a:r>
          </a:p>
        </p:txBody>
      </p:sp>
      <p:sp>
        <p:nvSpPr>
          <p:cNvPr id="77" name="TextBox 76"/>
          <p:cNvSpPr txBox="1"/>
          <p:nvPr/>
        </p:nvSpPr>
        <p:spPr>
          <a:xfrm>
            <a:off x="276225" y="6224859"/>
            <a:ext cx="2615015" cy="186689"/>
          </a:xfrm>
          <a:prstGeom prst="rect">
            <a:avLst/>
          </a:prstGeom>
          <a:noFill/>
        </p:spPr>
        <p:txBody>
          <a:bodyPr wrap="none" lIns="0" tIns="0" rIns="0" bIns="0">
            <a:spAutoFit/>
          </a:bodyPr>
          <a:lstStyle/>
          <a:p>
            <a:r>
              <a:rPr sz="1100" b="0">
                <a:solidFill>
                  <a:srgbClr val="2E2E2E"/>
                </a:solidFill>
                <a:latin typeface="Calibri"/>
              </a:rPr>
              <a:t>▪ Sales Efficiency: a ~95-day sales cycle and ~</a:t>
            </a:r>
          </a:p>
        </p:txBody>
      </p:sp>
      <p:pic>
        <p:nvPicPr>
          <p:cNvPr id="78" name="Picture 77" descr="lock.png"/>
          <p:cNvPicPr>
            <a:picLocks noChangeAspect="1"/>
          </p:cNvPicPr>
          <p:nvPr/>
        </p:nvPicPr>
        <p:blipFill>
          <a:blip r:embed="rId5"/>
          <a:stretch>
            <a:fillRect/>
          </a:stretch>
        </p:blipFill>
        <p:spPr>
          <a:xfrm>
            <a:off x="2839292" y="6215079"/>
            <a:ext cx="128699" cy="187198"/>
          </a:xfrm>
          <a:prstGeom prst="rect">
            <a:avLst/>
          </a:prstGeom>
        </p:spPr>
      </p:pic>
      <p:sp>
        <p:nvSpPr>
          <p:cNvPr id="79" name="TextBox 78"/>
          <p:cNvSpPr txBox="1"/>
          <p:nvPr/>
        </p:nvSpPr>
        <p:spPr>
          <a:xfrm>
            <a:off x="3006787" y="6224859"/>
            <a:ext cx="2384524" cy="186689"/>
          </a:xfrm>
          <a:prstGeom prst="rect">
            <a:avLst/>
          </a:prstGeom>
          <a:noFill/>
        </p:spPr>
        <p:txBody>
          <a:bodyPr wrap="none" lIns="0" tIns="0" rIns="0" bIns="0">
            <a:spAutoFit/>
          </a:bodyPr>
          <a:lstStyle/>
          <a:p>
            <a:r>
              <a:rPr sz="1100" b="0">
                <a:solidFill>
                  <a:srgbClr val="2E2E2E"/>
                </a:solidFill>
                <a:latin typeface="Calibri"/>
              </a:rPr>
              <a:t>conversion support faster share capture.</a:t>
            </a:r>
          </a:p>
        </p:txBody>
      </p:sp>
      <p:sp>
        <p:nvSpPr>
          <p:cNvPr id="80"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Standard Process SWOT Analysis (3/5)</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SWOT assessment of Standard Process: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tIns="9525" rIns="28575" bIns="9525" anchor="ctr">
            <a:spAutoFit/>
          </a:bodyPr>
          <a:lstStyle/>
          <a:p>
            <a:pPr algn="l"/>
            <a:r>
              <a:rPr sz="1150" b="0">
                <a:solidFill>
                  <a:srgbClr val="2E2E2E"/>
                </a:solidFill>
                <a:latin typeface="Calibri"/>
              </a:rPr>
              <a:t>SWOT assessment Standard Process: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86450" y="3243339"/>
            <a:ext cx="419100" cy="273805"/>
          </a:xfrm>
          <a:prstGeom prst="rect">
            <a:avLst/>
          </a:prstGeom>
          <a:noFill/>
        </p:spPr>
        <p:txBody>
          <a:bodyPr wrap="none" lIns="0" tIns="0" r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tIns="0" r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tIns="0" r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tIns="0" r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tIns="9525" rIns="2857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3375" y="1573126"/>
            <a:ext cx="3505200" cy="474596"/>
          </a:xfrm>
          <a:prstGeom prst="rect">
            <a:avLst/>
          </a:prstGeom>
          <a:noFill/>
        </p:spPr>
        <p:txBody>
          <a:bodyPr wrap="square" lIns="28575" tIns="9525" rIns="28575" bIns="9525" anchor="ctr">
            <a:spAutoFit/>
          </a:bodyPr>
          <a:lstStyle/>
          <a:p>
            <a:pPr algn="l">
              <a:lnSpc>
                <a:spcPct val="115000"/>
              </a:lnSpc>
            </a:pPr>
            <a:endParaRP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33375" y="2084229"/>
            <a:ext cx="3505200"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33375" y="2595333"/>
            <a:ext cx="3505200" cy="474596"/>
          </a:xfrm>
          <a:prstGeom prst="rect">
            <a:avLst/>
          </a:prstGeom>
          <a:noFill/>
        </p:spPr>
        <p:txBody>
          <a:bodyPr wrap="square" lIns="28575" tIns="9525" rIns="28575" bIns="9525" anchor="ctr">
            <a:spAutoFit/>
          </a:bodyPr>
          <a:lstStyle/>
          <a:p>
            <a:pPr algn="l">
              <a:lnSpc>
                <a:spcPct val="115000"/>
              </a:lnSpc>
            </a:pPr>
            <a:endParaRPr/>
          </a:p>
        </p:txBody>
      </p:sp>
      <p:sp>
        <p:nvSpPr>
          <p:cNvPr id="37" name="TextBox 36"/>
          <p:cNvSpPr txBox="1"/>
          <p:nvPr/>
        </p:nvSpPr>
        <p:spPr>
          <a:xfrm>
            <a:off x="8334375" y="1299320"/>
            <a:ext cx="3667125" cy="182537"/>
          </a:xfrm>
          <a:prstGeom prst="rect">
            <a:avLst/>
          </a:prstGeom>
          <a:noFill/>
        </p:spPr>
        <p:txBody>
          <a:bodyPr wrap="square" lIns="28575" tIns="9525" rIns="2857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77250" y="1573126"/>
            <a:ext cx="3505200" cy="474596"/>
          </a:xfrm>
          <a:prstGeom prst="rect">
            <a:avLst/>
          </a:prstGeom>
          <a:noFill/>
        </p:spPr>
        <p:txBody>
          <a:bodyPr wrap="square" lIns="28575" tIns="9525" rIns="28575" bIns="9525" anchor="ctr">
            <a:spAutoFit/>
          </a:bodyPr>
          <a:lstStyle/>
          <a:p>
            <a:pPr algn="l">
              <a:lnSpc>
                <a:spcPct val="115000"/>
              </a:lnSpc>
            </a:pPr>
            <a:endParaRP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77250" y="2084229"/>
            <a:ext cx="3505200"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477250" y="2595333"/>
            <a:ext cx="3505200"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tIns="9525" rIns="2857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33375" y="4329434"/>
            <a:ext cx="3505200" cy="474596"/>
          </a:xfrm>
          <a:prstGeom prst="rect">
            <a:avLst/>
          </a:prstGeom>
          <a:noFill/>
        </p:spPr>
        <p:txBody>
          <a:bodyPr wrap="square" lIns="28575" tIns="9525" rIns="28575" bIns="9525" anchor="ctr">
            <a:spAutoFit/>
          </a:bodyPr>
          <a:lstStyle/>
          <a:p>
            <a:pPr algn="l">
              <a:lnSpc>
                <a:spcPct val="115000"/>
              </a:lnSpc>
            </a:pPr>
            <a:endParaRP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33375" y="4840538"/>
            <a:ext cx="3505200"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33375" y="5351641"/>
            <a:ext cx="3505200"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tIns="9525" rIns="2857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477250" y="4329434"/>
            <a:ext cx="3505200"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Premiumisation headroom in 'Capsules and Softgels'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477250" y="4840538"/>
            <a:ext cx="3505200"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477250" y="5351641"/>
            <a:ext cx="3505200"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tIns="9525" rIns="2857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tIns="0" r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tIns="0" r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tIns="0" r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tIns="0" r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tIns="0" r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tIns="0" r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tIns="0" r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tIns="0" r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tIns="0" r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tIns="0" r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tIns="0" rIns="0" bIns="0">
            <a:spAutoFit/>
          </a:bodyPr>
          <a:lstStyle/>
          <a:p>
            <a:r>
              <a:rPr sz="1100" b="0">
                <a:solidFill>
                  <a:srgbClr val="2E2E2E"/>
                </a:solidFill>
                <a:latin typeface="Calibri"/>
              </a:rPr>
              <a:t>x pipeline needed to convert.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Standard Process Key Financials (4/5)</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Standard Process's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Key financials and pricing Standard Process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411231"/>
            <a:ext cx="5715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Standard Process Financial Performance</a:t>
            </a:r>
          </a:p>
        </p:txBody>
      </p:sp>
      <p:graphicFrame>
        <p:nvGraphicFramePr>
          <p:cNvPr id="13" name="Table 12"/>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extLst>
                    <a:ext uri="{9D8B030D-6E8A-4147-A177-3AD203B41FA5}">
                      <a16:colId xmlns:a16="http://schemas.microsoft.com/office/drawing/2014/main" val="20000"/>
                    </a:ext>
                  </a:extLst>
                </a:gridCol>
                <a:gridCol w="687960">
                  <a:extLst>
                    <a:ext uri="{9D8B030D-6E8A-4147-A177-3AD203B41FA5}">
                      <a16:colId xmlns:a16="http://schemas.microsoft.com/office/drawing/2014/main" val="20001"/>
                    </a:ext>
                  </a:extLst>
                </a:gridCol>
                <a:gridCol w="687960">
                  <a:extLst>
                    <a:ext uri="{9D8B030D-6E8A-4147-A177-3AD203B41FA5}">
                      <a16:colId xmlns:a16="http://schemas.microsoft.com/office/drawing/2014/main" val="20002"/>
                    </a:ext>
                  </a:extLst>
                </a:gridCol>
                <a:gridCol w="687960">
                  <a:extLst>
                    <a:ext uri="{9D8B030D-6E8A-4147-A177-3AD203B41FA5}">
                      <a16:colId xmlns:a16="http://schemas.microsoft.com/office/drawing/2014/main" val="20003"/>
                    </a:ext>
                  </a:extLst>
                </a:gridCol>
                <a:gridCol w="687960">
                  <a:extLst>
                    <a:ext uri="{9D8B030D-6E8A-4147-A177-3AD203B41FA5}">
                      <a16:colId xmlns:a16="http://schemas.microsoft.com/office/drawing/2014/main" val="20004"/>
                    </a:ext>
                  </a:extLst>
                </a:gridCol>
                <a:gridCol w="687960">
                  <a:extLst>
                    <a:ext uri="{9D8B030D-6E8A-4147-A177-3AD203B41FA5}">
                      <a16:colId xmlns:a16="http://schemas.microsoft.com/office/drawing/2014/main" val="20005"/>
                    </a:ext>
                  </a:extLst>
                </a:gridCol>
              </a:tblGrid>
              <a:tr h="246126">
                <a:tc>
                  <a:txBody>
                    <a:bodyPr/>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00947">
                <a:tc>
                  <a:txBody>
                    <a:bodyPr/>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00947">
                <a:tc>
                  <a:txBody>
                    <a:bodyPr/>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00947">
                <a:tc>
                  <a:txBody>
                    <a:bodyPr/>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00947">
                <a:tc>
                  <a:txBody>
                    <a:bodyPr/>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219075" y="3070695"/>
            <a:ext cx="575310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3455645"/>
            <a:ext cx="5715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Standard Process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extLst>
                    <a:ext uri="{9D8B030D-6E8A-4147-A177-3AD203B41FA5}">
                      <a16:colId xmlns:a16="http://schemas.microsoft.com/office/drawing/2014/main" val="20000"/>
                    </a:ext>
                  </a:extLst>
                </a:gridCol>
                <a:gridCol w="805438">
                  <a:extLst>
                    <a:ext uri="{9D8B030D-6E8A-4147-A177-3AD203B41FA5}">
                      <a16:colId xmlns:a16="http://schemas.microsoft.com/office/drawing/2014/main" val="20001"/>
                    </a:ext>
                  </a:extLst>
                </a:gridCol>
                <a:gridCol w="805438">
                  <a:extLst>
                    <a:ext uri="{9D8B030D-6E8A-4147-A177-3AD203B41FA5}">
                      <a16:colId xmlns:a16="http://schemas.microsoft.com/office/drawing/2014/main" val="20002"/>
                    </a:ext>
                  </a:extLst>
                </a:gridCol>
                <a:gridCol w="805438">
                  <a:extLst>
                    <a:ext uri="{9D8B030D-6E8A-4147-A177-3AD203B41FA5}">
                      <a16:colId xmlns:a16="http://schemas.microsoft.com/office/drawing/2014/main" val="20003"/>
                    </a:ext>
                  </a:extLst>
                </a:gridCol>
                <a:gridCol w="805438">
                  <a:extLst>
                    <a:ext uri="{9D8B030D-6E8A-4147-A177-3AD203B41FA5}">
                      <a16:colId xmlns:a16="http://schemas.microsoft.com/office/drawing/2014/main" val="20004"/>
                    </a:ext>
                  </a:extLst>
                </a:gridCol>
                <a:gridCol w="805438">
                  <a:extLst>
                    <a:ext uri="{9D8B030D-6E8A-4147-A177-3AD203B41FA5}">
                      <a16:colId xmlns:a16="http://schemas.microsoft.com/office/drawing/2014/main" val="20005"/>
                    </a:ext>
                  </a:extLst>
                </a:gridCol>
              </a:tblGrid>
              <a:tr h="246126">
                <a:tc>
                  <a:txBody>
                    <a:bodyPr/>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496309">
                <a:tc>
                  <a:txBody>
                    <a:bodyPr/>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496309">
                <a:tc>
                  <a:txBody>
                    <a:bodyPr/>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496309">
                <a:tc>
                  <a:txBody>
                    <a:bodyPr/>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496309">
                <a:tc>
                  <a:txBody>
                    <a:bodyPr/>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496309">
                <a:tc>
                  <a:txBody>
                    <a:bodyPr/>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18" name="TextBox 17"/>
          <p:cNvSpPr txBox="1"/>
          <p:nvPr/>
        </p:nvSpPr>
        <p:spPr>
          <a:xfrm>
            <a:off x="219075" y="6392868"/>
            <a:ext cx="575310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96025" y="1411231"/>
            <a:ext cx="56578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Standard Process Pricing Analysis (US$/MT)</a:t>
            </a:r>
          </a:p>
        </p:txBody>
      </p:sp>
      <p:graphicFrame>
        <p:nvGraphicFramePr>
          <p:cNvPr id="21" name="Table 20"/>
          <p:cNvGraphicFramePr>
            <a:graphicFrameLocks noGrp="1"/>
          </p:cNvGraphicFramePr>
          <p:nvPr/>
        </p:nvGraphicFramePr>
        <p:xfrm>
          <a:off x="6210300" y="1611256"/>
          <a:ext cx="5829301" cy="4772086"/>
        </p:xfrm>
        <a:graphic>
          <a:graphicData uri="http://schemas.openxmlformats.org/drawingml/2006/table">
            <a:tbl>
              <a:tblPr>
                <a:tableStyleId>{5C22544A-7EE6-4342-B048-85BDC9FD1C3A}</a:tableStyleId>
              </a:tblPr>
              <a:tblGrid>
                <a:gridCol w="3441251">
                  <a:extLst>
                    <a:ext uri="{9D8B030D-6E8A-4147-A177-3AD203B41FA5}">
                      <a16:colId xmlns:a16="http://schemas.microsoft.com/office/drawing/2014/main" val="20000"/>
                    </a:ext>
                  </a:extLst>
                </a:gridCol>
                <a:gridCol w="1194025">
                  <a:extLst>
                    <a:ext uri="{9D8B030D-6E8A-4147-A177-3AD203B41FA5}">
                      <a16:colId xmlns:a16="http://schemas.microsoft.com/office/drawing/2014/main" val="20001"/>
                    </a:ext>
                  </a:extLst>
                </a:gridCol>
                <a:gridCol w="1194025">
                  <a:extLst>
                    <a:ext uri="{9D8B030D-6E8A-4147-A177-3AD203B41FA5}">
                      <a16:colId xmlns:a16="http://schemas.microsoft.com/office/drawing/2014/main" val="20002"/>
                    </a:ext>
                  </a:extLst>
                </a:gridCol>
              </a:tblGrid>
              <a:tr h="246126">
                <a:tc>
                  <a:txBody>
                    <a:bodyPr/>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1131490">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1131490">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1131490">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1131490">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bl>
          </a:graphicData>
        </a:graphic>
      </p:graphicFrame>
      <p:sp>
        <p:nvSpPr>
          <p:cNvPr id="22" name="TextBox 21"/>
          <p:cNvSpPr txBox="1"/>
          <p:nvPr/>
        </p:nvSpPr>
        <p:spPr>
          <a:xfrm>
            <a:off x="6276975" y="6392868"/>
            <a:ext cx="56959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50927" y="2219246"/>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658886" y="3853662"/>
            <a:ext cx="366712" cy="5334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Standard Process Strategy Analysis (5/5)</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Standard Process's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Strategy analysis Standard Process: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2169954"/>
            <a:ext cx="5638800" cy="209550"/>
          </a:xfrm>
          <a:prstGeom prst="rect">
            <a:avLst/>
          </a:prstGeom>
          <a:noFill/>
        </p:spPr>
        <p:txBody>
          <a:bodyPr wrap="square" lIns="0" tIns="9525" rIns="19050"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2493804"/>
            <a:ext cx="5638800" cy="400463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34125" y="2169954"/>
            <a:ext cx="5581650" cy="209550"/>
          </a:xfrm>
          <a:prstGeom prst="rect">
            <a:avLst/>
          </a:prstGeom>
          <a:noFill/>
        </p:spPr>
        <p:txBody>
          <a:bodyPr wrap="square" lIns="0" tIns="9525" rIns="19050"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4125" y="2493804"/>
            <a:ext cx="5581650" cy="400463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128331" cy="194310"/>
          </a:xfrm>
          <a:prstGeom prst="rect">
            <a:avLst/>
          </a:prstGeom>
          <a:noFill/>
        </p:spPr>
        <p:txBody>
          <a:bodyPr wrap="none" lIns="0" tIns="0" rIns="0" bIns="0">
            <a:spAutoFit/>
          </a:bodyPr>
          <a:lstStyle/>
          <a:p>
            <a:r>
              <a:rPr sz="1150" b="0">
                <a:solidFill>
                  <a:srgbClr val="2E2E2E"/>
                </a:solidFill>
                <a:latin typeface="Calibri"/>
              </a:rPr>
              <a:t>▪ Defend and extend leadership in 'Veterinary-Guided Cognitive Dysfunction Support'</a:t>
            </a:r>
          </a:p>
        </p:txBody>
      </p:sp>
      <p:sp>
        <p:nvSpPr>
          <p:cNvPr id="31" name="TextBox 30"/>
          <p:cNvSpPr txBox="1"/>
          <p:nvPr/>
        </p:nvSpPr>
        <p:spPr>
          <a:xfrm>
            <a:off x="276225" y="2678589"/>
            <a:ext cx="4911538" cy="194310"/>
          </a:xfrm>
          <a:prstGeom prst="rect">
            <a:avLst/>
          </a:prstGeom>
          <a:noFill/>
        </p:spPr>
        <p:txBody>
          <a:bodyPr wrap="none" lIns="0" tIns="0" rIns="0" bIns="0">
            <a:spAutoFit/>
          </a:bodyPr>
          <a:lstStyle/>
          <a:p>
            <a:r>
              <a:rPr sz="1150" b="0">
                <a:solidFill>
                  <a:srgbClr val="2E2E2E"/>
                </a:solidFill>
                <a:latin typeface="Calibri"/>
              </a:rPr>
              <a:t>Standard Process's strongest end-market while scaling the next-best applications.</a:t>
            </a:r>
          </a:p>
        </p:txBody>
      </p:sp>
      <p:sp>
        <p:nvSpPr>
          <p:cNvPr id="32" name="TextBox 31"/>
          <p:cNvSpPr txBox="1"/>
          <p:nvPr/>
        </p:nvSpPr>
        <p:spPr>
          <a:xfrm>
            <a:off x="276225" y="2906426"/>
            <a:ext cx="909997" cy="194310"/>
          </a:xfrm>
          <a:prstGeom prst="rect">
            <a:avLst/>
          </a:prstGeom>
          <a:noFill/>
        </p:spPr>
        <p:txBody>
          <a:bodyPr wrap="none" lIns="0" tIns="0" r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tIns="0" r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tIns="0" r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tIns="0" r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tIns="0" r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tIns="0" r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tIns="0" r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tIns="0" r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tIns="0" r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562600" cy="194310"/>
          </a:xfrm>
          <a:prstGeom prst="rect">
            <a:avLst/>
          </a:prstGeom>
          <a:noFill/>
        </p:spPr>
        <p:txBody>
          <a:bodyPr wrap="none" lIns="0" tIns="0" rIns="0" bIns="0">
            <a:spAutoFit/>
          </a:bodyPr>
          <a:lstStyle/>
          <a:p>
            <a:r>
              <a:rPr sz="1150" b="0">
                <a:solidFill>
                  <a:srgbClr val="2E2E2E"/>
                </a:solidFill>
                <a:latin typeface="Calibri"/>
              </a:rPr>
              <a:t>▪ Premiumise the portfolio around 'Capsules and Softgels' and adjacent high-value lines to lift</a:t>
            </a:r>
          </a:p>
        </p:txBody>
      </p:sp>
      <p:sp>
        <p:nvSpPr>
          <p:cNvPr id="46" name="TextBox 45"/>
          <p:cNvSpPr txBox="1"/>
          <p:nvPr/>
        </p:nvSpPr>
        <p:spPr>
          <a:xfrm>
            <a:off x="6334125" y="2678589"/>
            <a:ext cx="1034653" cy="194310"/>
          </a:xfrm>
          <a:prstGeom prst="rect">
            <a:avLst/>
          </a:prstGeom>
          <a:noFill/>
        </p:spPr>
        <p:txBody>
          <a:bodyPr wrap="none" lIns="0" tIns="0" rIns="0" bIns="0">
            <a:spAutoFit/>
          </a:bodyPr>
          <a:lstStyle/>
          <a:p>
            <a:r>
              <a:rPr sz="1150" b="0">
                <a:solidFill>
                  <a:srgbClr val="2E2E2E"/>
                </a:solidFill>
                <a:latin typeface="Calibri"/>
              </a:rPr>
              <a:t>blended pricing.</a:t>
            </a:r>
          </a:p>
        </p:txBody>
      </p:sp>
      <p:sp>
        <p:nvSpPr>
          <p:cNvPr id="47" name="TextBox 46"/>
          <p:cNvSpPr txBox="1"/>
          <p:nvPr/>
        </p:nvSpPr>
        <p:spPr>
          <a:xfrm>
            <a:off x="6334125" y="2906426"/>
            <a:ext cx="5219613" cy="194310"/>
          </a:xfrm>
          <a:prstGeom prst="rect">
            <a:avLst/>
          </a:prstGeom>
          <a:noFill/>
        </p:spPr>
        <p:txBody>
          <a:bodyPr wrap="none" lIns="0" tIns="0" r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tIns="0" r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tIns="0" r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tIns="0" r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tIns="0" r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tIns="0" r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tIns="0" r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tIns="0" rIns="0" bIns="0">
            <a:spAutoFit/>
          </a:bodyPr>
          <a:lstStyle/>
          <a:p>
            <a:r>
              <a:rPr sz="1150" b="0">
                <a:solidFill>
                  <a:srgbClr val="2E2E2E"/>
                </a:solidFill>
                <a:latin typeface="Calibri"/>
              </a:rPr>
              <a:t>conversion speed share capture.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Form Type × Active Ingredient</a:t>
            </a:r>
          </a:p>
          <a:p>
            <a:pPr marL="342900" indent="-323850">
              <a:lnSpc>
                <a:spcPct val="100000"/>
              </a:lnSpc>
              <a:spcAft>
                <a:spcPts val="800"/>
              </a:spcAft>
            </a:pPr>
            <a:r>
              <a:rPr sz="2000" b="0">
                <a:solidFill>
                  <a:srgbClr val="000000"/>
                </a:solidFill>
                <a:latin typeface="Calibri"/>
              </a:rPr>
              <a:t>➤	End-use Application × Active Ingredient</a:t>
            </a:r>
          </a:p>
          <a:p>
            <a:pPr marL="342900" indent="-323850">
              <a:lnSpc>
                <a:spcPct val="100000"/>
              </a:lnSpc>
              <a:spcAft>
                <a:spcPts val="800"/>
              </a:spcAft>
            </a:pPr>
            <a:r>
              <a:rPr sz="2000" b="0">
                <a:solidFill>
                  <a:srgbClr val="000000"/>
                </a:solidFill>
                <a:latin typeface="Calibri"/>
              </a:rPr>
              <a:t>➤	Sales Channel × End-use Application</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Form Type × Active Ingredient</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Snapshot</a:t>
            </a:r>
          </a:p>
          <a:p>
            <a:pPr marL="342900" indent="-323850">
              <a:lnSpc>
                <a:spcPct val="100000"/>
              </a:lnSpc>
              <a:spcAft>
                <a:spcPts val="800"/>
              </a:spcAft>
            </a:pPr>
            <a:r>
              <a:rPr sz="2000" b="0">
                <a:solidFill>
                  <a:srgbClr val="000000"/>
                </a:solidFill>
                <a:latin typeface="Calibri"/>
              </a:rPr>
              <a:t>➤	Market Share Analysis</a:t>
            </a:r>
          </a:p>
          <a:p>
            <a:pPr marL="342900" indent="-323850">
              <a:lnSpc>
                <a:spcPct val="100000"/>
              </a:lnSpc>
              <a:spcAft>
                <a:spcPts val="800"/>
              </a:spcAft>
            </a:pPr>
            <a:r>
              <a:rPr sz="2000" b="0">
                <a:solidFill>
                  <a:srgbClr val="000000"/>
                </a:solidFill>
                <a:latin typeface="Calibri"/>
              </a:rPr>
              <a:t>➤	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Snapshot: Form Type × Active Ingredient, 2026E vs 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Global market value (US$ Mn) for each form type sub-segment across active ingredient sub-segments</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Market Value, Form Type × Active Ingredient, 2026E and 2036F (US$ Mn)</a:t>
            </a:r>
          </a:p>
        </p:txBody>
      </p:sp>
      <p:graphicFrame>
        <p:nvGraphicFramePr>
          <p:cNvPr id="12" name="Table 11"/>
          <p:cNvGraphicFramePr>
            <a:graphicFrameLocks noGrp="1"/>
          </p:cNvGraphicFramePr>
          <p:nvPr/>
        </p:nvGraphicFramePr>
        <p:xfrm>
          <a:off x="152400" y="1238250"/>
          <a:ext cx="11887205" cy="2409824"/>
        </p:xfrm>
        <a:graphic>
          <a:graphicData uri="http://schemas.openxmlformats.org/drawingml/2006/table">
            <a:tbl>
              <a:tblPr>
                <a:tableStyleId>{5C22544A-7EE6-4342-B048-85BDC9FD1C3A}</a:tableStyleId>
              </a:tblPr>
              <a:tblGrid>
                <a:gridCol w="2021083">
                  <a:extLst>
                    <a:ext uri="{9D8B030D-6E8A-4147-A177-3AD203B41FA5}">
                      <a16:colId xmlns:a16="http://schemas.microsoft.com/office/drawing/2014/main" val="20000"/>
                    </a:ext>
                  </a:extLst>
                </a:gridCol>
                <a:gridCol w="704723">
                  <a:extLst>
                    <a:ext uri="{9D8B030D-6E8A-4147-A177-3AD203B41FA5}">
                      <a16:colId xmlns:a16="http://schemas.microsoft.com/office/drawing/2014/main" val="20001"/>
                    </a:ext>
                  </a:extLst>
                </a:gridCol>
                <a:gridCol w="704723">
                  <a:extLst>
                    <a:ext uri="{9D8B030D-6E8A-4147-A177-3AD203B41FA5}">
                      <a16:colId xmlns:a16="http://schemas.microsoft.com/office/drawing/2014/main" val="20002"/>
                    </a:ext>
                  </a:extLst>
                </a:gridCol>
                <a:gridCol w="704723">
                  <a:extLst>
                    <a:ext uri="{9D8B030D-6E8A-4147-A177-3AD203B41FA5}">
                      <a16:colId xmlns:a16="http://schemas.microsoft.com/office/drawing/2014/main" val="20003"/>
                    </a:ext>
                  </a:extLst>
                </a:gridCol>
                <a:gridCol w="704723">
                  <a:extLst>
                    <a:ext uri="{9D8B030D-6E8A-4147-A177-3AD203B41FA5}">
                      <a16:colId xmlns:a16="http://schemas.microsoft.com/office/drawing/2014/main" val="20004"/>
                    </a:ext>
                  </a:extLst>
                </a:gridCol>
                <a:gridCol w="704723">
                  <a:extLst>
                    <a:ext uri="{9D8B030D-6E8A-4147-A177-3AD203B41FA5}">
                      <a16:colId xmlns:a16="http://schemas.microsoft.com/office/drawing/2014/main" val="20005"/>
                    </a:ext>
                  </a:extLst>
                </a:gridCol>
                <a:gridCol w="704723">
                  <a:extLst>
                    <a:ext uri="{9D8B030D-6E8A-4147-A177-3AD203B41FA5}">
                      <a16:colId xmlns:a16="http://schemas.microsoft.com/office/drawing/2014/main" val="20006"/>
                    </a:ext>
                  </a:extLst>
                </a:gridCol>
                <a:gridCol w="704723">
                  <a:extLst>
                    <a:ext uri="{9D8B030D-6E8A-4147-A177-3AD203B41FA5}">
                      <a16:colId xmlns:a16="http://schemas.microsoft.com/office/drawing/2014/main" val="20007"/>
                    </a:ext>
                  </a:extLst>
                </a:gridCol>
                <a:gridCol w="704723">
                  <a:extLst>
                    <a:ext uri="{9D8B030D-6E8A-4147-A177-3AD203B41FA5}">
                      <a16:colId xmlns:a16="http://schemas.microsoft.com/office/drawing/2014/main" val="20008"/>
                    </a:ext>
                  </a:extLst>
                </a:gridCol>
                <a:gridCol w="704723">
                  <a:extLst>
                    <a:ext uri="{9D8B030D-6E8A-4147-A177-3AD203B41FA5}">
                      <a16:colId xmlns:a16="http://schemas.microsoft.com/office/drawing/2014/main" val="20009"/>
                    </a:ext>
                  </a:extLst>
                </a:gridCol>
                <a:gridCol w="704723">
                  <a:extLst>
                    <a:ext uri="{9D8B030D-6E8A-4147-A177-3AD203B41FA5}">
                      <a16:colId xmlns:a16="http://schemas.microsoft.com/office/drawing/2014/main" val="20010"/>
                    </a:ext>
                  </a:extLst>
                </a:gridCol>
                <a:gridCol w="704723">
                  <a:extLst>
                    <a:ext uri="{9D8B030D-6E8A-4147-A177-3AD203B41FA5}">
                      <a16:colId xmlns:a16="http://schemas.microsoft.com/office/drawing/2014/main" val="20011"/>
                    </a:ext>
                  </a:extLst>
                </a:gridCol>
                <a:gridCol w="704723">
                  <a:extLst>
                    <a:ext uri="{9D8B030D-6E8A-4147-A177-3AD203B41FA5}">
                      <a16:colId xmlns:a16="http://schemas.microsoft.com/office/drawing/2014/main" val="20012"/>
                    </a:ext>
                  </a:extLst>
                </a:gridCol>
                <a:gridCol w="704723">
                  <a:extLst>
                    <a:ext uri="{9D8B030D-6E8A-4147-A177-3AD203B41FA5}">
                      <a16:colId xmlns:a16="http://schemas.microsoft.com/office/drawing/2014/main" val="20013"/>
                    </a:ext>
                  </a:extLst>
                </a:gridCol>
                <a:gridCol w="704723">
                  <a:extLst>
                    <a:ext uri="{9D8B030D-6E8A-4147-A177-3AD203B41FA5}">
                      <a16:colId xmlns:a16="http://schemas.microsoft.com/office/drawing/2014/main" val="20014"/>
                    </a:ext>
                  </a:extLst>
                </a:gridCol>
              </a:tblGrid>
              <a:tr h="438912">
                <a:tc rowSpan="2">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Cellular Energy</a:t>
                      </a:r>
                      <a:endParaRPr sz="1100"/>
                    </a:p>
                    <a:p>
                      <a:pPr algn="ctr"/>
                      <a:r>
                        <a:rPr sz="1100" b="1">
                          <a:solidFill>
                            <a:srgbClr val="0B2E4A"/>
                          </a:solidFill>
                          <a:latin typeface="Calibri"/>
                        </a:rPr>
                        <a:t>Support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Microbiome-</a:t>
                      </a:r>
                      <a:endParaRPr sz="1100"/>
                    </a:p>
                    <a:p>
                      <a:pPr algn="ctr"/>
                      <a:r>
                        <a:rPr sz="1100" b="1">
                          <a:solidFill>
                            <a:srgbClr val="0B2E4A"/>
                          </a:solidFill>
                          <a:latin typeface="Calibri"/>
                        </a:rPr>
                        <a:t>Targeted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364">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6364">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6364">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6364">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6364">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6364">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6"/>
                  </a:ext>
                </a:extLst>
              </a:tr>
              <a:tr h="246364">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7"/>
                  </a:ext>
                </a:extLst>
              </a:tr>
              <a:tr h="246364">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3" name="TextBox 12"/>
          <p:cNvSpPr txBox="1"/>
          <p:nvPr/>
        </p:nvSpPr>
        <p:spPr>
          <a:xfrm>
            <a:off x="219075" y="36576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7286625"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4048125"/>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Flow, Form Type → Active Ingredient, 2036F (US$ Mn)</a:t>
            </a:r>
          </a:p>
        </p:txBody>
      </p:sp>
      <p:sp>
        <p:nvSpPr>
          <p:cNvPr id="16" name="Freeform 15"/>
          <p:cNvSpPr/>
          <p:nvPr/>
        </p:nvSpPr>
        <p:spPr>
          <a:xfrm>
            <a:off x="2057400" y="4314825"/>
            <a:ext cx="3743325" cy="171450"/>
          </a:xfrm>
          <a:custGeom>
            <a:avLst/>
            <a:gdLst/>
            <a:ahLst/>
            <a:cxnLst/>
            <a:rect l="l" t="t" r="r" b="b"/>
            <a:pathLst>
              <a:path w="393" h="18">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8"/>
                </a:lnTo>
                <a:lnTo>
                  <a:pt x="377" y="18"/>
                </a:lnTo>
                <a:lnTo>
                  <a:pt x="360" y="18"/>
                </a:lnTo>
                <a:lnTo>
                  <a:pt x="344" y="18"/>
                </a:lnTo>
                <a:lnTo>
                  <a:pt x="327" y="18"/>
                </a:lnTo>
                <a:lnTo>
                  <a:pt x="311" y="18"/>
                </a:lnTo>
                <a:lnTo>
                  <a:pt x="295" y="18"/>
                </a:lnTo>
                <a:lnTo>
                  <a:pt x="278" y="18"/>
                </a:lnTo>
                <a:lnTo>
                  <a:pt x="262" y="18"/>
                </a:lnTo>
                <a:lnTo>
                  <a:pt x="246" y="18"/>
                </a:lnTo>
                <a:lnTo>
                  <a:pt x="229" y="18"/>
                </a:lnTo>
                <a:lnTo>
                  <a:pt x="213" y="18"/>
                </a:lnTo>
                <a:lnTo>
                  <a:pt x="196" y="18"/>
                </a:lnTo>
                <a:lnTo>
                  <a:pt x="180" y="18"/>
                </a:lnTo>
                <a:lnTo>
                  <a:pt x="164" y="18"/>
                </a:lnTo>
                <a:lnTo>
                  <a:pt x="147" y="18"/>
                </a:lnTo>
                <a:lnTo>
                  <a:pt x="131" y="18"/>
                </a:lnTo>
                <a:lnTo>
                  <a:pt x="114" y="18"/>
                </a:lnTo>
                <a:lnTo>
                  <a:pt x="98" y="18"/>
                </a:lnTo>
                <a:lnTo>
                  <a:pt x="82" y="18"/>
                </a:lnTo>
                <a:lnTo>
                  <a:pt x="65" y="18"/>
                </a:lnTo>
                <a:lnTo>
                  <a:pt x="49" y="18"/>
                </a:lnTo>
                <a:lnTo>
                  <a:pt x="33" y="18"/>
                </a:lnTo>
                <a:lnTo>
                  <a:pt x="16" y="18"/>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2057400" y="4486275"/>
            <a:ext cx="3743325" cy="485775"/>
          </a:xfrm>
          <a:custGeom>
            <a:avLst/>
            <a:gdLst/>
            <a:ahLst/>
            <a:cxnLst/>
            <a:rect l="l" t="t" r="r" b="b"/>
            <a:pathLst>
              <a:path w="393" h="51">
                <a:moveTo>
                  <a:pt x="0" y="0"/>
                </a:moveTo>
                <a:lnTo>
                  <a:pt x="16" y="0"/>
                </a:lnTo>
                <a:lnTo>
                  <a:pt x="33" y="1"/>
                </a:lnTo>
                <a:lnTo>
                  <a:pt x="49" y="1"/>
                </a:lnTo>
                <a:lnTo>
                  <a:pt x="65" y="3"/>
                </a:lnTo>
                <a:lnTo>
                  <a:pt x="82" y="4"/>
                </a:lnTo>
                <a:lnTo>
                  <a:pt x="98" y="5"/>
                </a:lnTo>
                <a:lnTo>
                  <a:pt x="114" y="7"/>
                </a:lnTo>
                <a:lnTo>
                  <a:pt x="131" y="9"/>
                </a:lnTo>
                <a:lnTo>
                  <a:pt x="147" y="11"/>
                </a:lnTo>
                <a:lnTo>
                  <a:pt x="164" y="13"/>
                </a:lnTo>
                <a:lnTo>
                  <a:pt x="180" y="15"/>
                </a:lnTo>
                <a:lnTo>
                  <a:pt x="196" y="17"/>
                </a:lnTo>
                <a:lnTo>
                  <a:pt x="213" y="19"/>
                </a:lnTo>
                <a:lnTo>
                  <a:pt x="229" y="22"/>
                </a:lnTo>
                <a:lnTo>
                  <a:pt x="246" y="24"/>
                </a:lnTo>
                <a:lnTo>
                  <a:pt x="262" y="26"/>
                </a:lnTo>
                <a:lnTo>
                  <a:pt x="278" y="28"/>
                </a:lnTo>
                <a:lnTo>
                  <a:pt x="295" y="29"/>
                </a:lnTo>
                <a:lnTo>
                  <a:pt x="311" y="31"/>
                </a:lnTo>
                <a:lnTo>
                  <a:pt x="327" y="32"/>
                </a:lnTo>
                <a:lnTo>
                  <a:pt x="344" y="33"/>
                </a:lnTo>
                <a:lnTo>
                  <a:pt x="360" y="34"/>
                </a:lnTo>
                <a:lnTo>
                  <a:pt x="377" y="34"/>
                </a:lnTo>
                <a:lnTo>
                  <a:pt x="393" y="35"/>
                </a:lnTo>
                <a:lnTo>
                  <a:pt x="393" y="51"/>
                </a:lnTo>
                <a:lnTo>
                  <a:pt x="377" y="51"/>
                </a:lnTo>
                <a:lnTo>
                  <a:pt x="360" y="50"/>
                </a:lnTo>
                <a:lnTo>
                  <a:pt x="344" y="50"/>
                </a:lnTo>
                <a:lnTo>
                  <a:pt x="327" y="49"/>
                </a:lnTo>
                <a:lnTo>
                  <a:pt x="311" y="47"/>
                </a:lnTo>
                <a:lnTo>
                  <a:pt x="295" y="46"/>
                </a:lnTo>
                <a:lnTo>
                  <a:pt x="278" y="44"/>
                </a:lnTo>
                <a:lnTo>
                  <a:pt x="262" y="42"/>
                </a:lnTo>
                <a:lnTo>
                  <a:pt x="246" y="40"/>
                </a:lnTo>
                <a:lnTo>
                  <a:pt x="229" y="38"/>
                </a:lnTo>
                <a:lnTo>
                  <a:pt x="213" y="36"/>
                </a:lnTo>
                <a:lnTo>
                  <a:pt x="196" y="34"/>
                </a:lnTo>
                <a:lnTo>
                  <a:pt x="180" y="32"/>
                </a:lnTo>
                <a:lnTo>
                  <a:pt x="164" y="29"/>
                </a:lnTo>
                <a:lnTo>
                  <a:pt x="147" y="27"/>
                </a:lnTo>
                <a:lnTo>
                  <a:pt x="131" y="25"/>
                </a:lnTo>
                <a:lnTo>
                  <a:pt x="114" y="24"/>
                </a:lnTo>
                <a:lnTo>
                  <a:pt x="98" y="22"/>
                </a:lnTo>
                <a:lnTo>
                  <a:pt x="82" y="20"/>
                </a:lnTo>
                <a:lnTo>
                  <a:pt x="65" y="19"/>
                </a:lnTo>
                <a:lnTo>
                  <a:pt x="49" y="18"/>
                </a:lnTo>
                <a:lnTo>
                  <a:pt x="33" y="17"/>
                </a:lnTo>
                <a:lnTo>
                  <a:pt x="16" y="17"/>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2057400" y="4638675"/>
            <a:ext cx="3743325" cy="781050"/>
          </a:xfrm>
          <a:custGeom>
            <a:avLst/>
            <a:gdLst/>
            <a:ahLst/>
            <a:cxnLst/>
            <a:rect l="l" t="t" r="r" b="b"/>
            <a:pathLst>
              <a:path w="393" h="82">
                <a:moveTo>
                  <a:pt x="0" y="0"/>
                </a:moveTo>
                <a:lnTo>
                  <a:pt x="16" y="1"/>
                </a:lnTo>
                <a:lnTo>
                  <a:pt x="33" y="2"/>
                </a:lnTo>
                <a:lnTo>
                  <a:pt x="49" y="3"/>
                </a:lnTo>
                <a:lnTo>
                  <a:pt x="65" y="6"/>
                </a:lnTo>
                <a:lnTo>
                  <a:pt x="82" y="8"/>
                </a:lnTo>
                <a:lnTo>
                  <a:pt x="98" y="11"/>
                </a:lnTo>
                <a:lnTo>
                  <a:pt x="114" y="15"/>
                </a:lnTo>
                <a:lnTo>
                  <a:pt x="131" y="18"/>
                </a:lnTo>
                <a:lnTo>
                  <a:pt x="147" y="22"/>
                </a:lnTo>
                <a:lnTo>
                  <a:pt x="164" y="27"/>
                </a:lnTo>
                <a:lnTo>
                  <a:pt x="180" y="31"/>
                </a:lnTo>
                <a:lnTo>
                  <a:pt x="196" y="35"/>
                </a:lnTo>
                <a:lnTo>
                  <a:pt x="213" y="40"/>
                </a:lnTo>
                <a:lnTo>
                  <a:pt x="229" y="44"/>
                </a:lnTo>
                <a:lnTo>
                  <a:pt x="246" y="48"/>
                </a:lnTo>
                <a:lnTo>
                  <a:pt x="262" y="52"/>
                </a:lnTo>
                <a:lnTo>
                  <a:pt x="278" y="56"/>
                </a:lnTo>
                <a:lnTo>
                  <a:pt x="295" y="59"/>
                </a:lnTo>
                <a:lnTo>
                  <a:pt x="311" y="62"/>
                </a:lnTo>
                <a:lnTo>
                  <a:pt x="327" y="65"/>
                </a:lnTo>
                <a:lnTo>
                  <a:pt x="344" y="67"/>
                </a:lnTo>
                <a:lnTo>
                  <a:pt x="360" y="69"/>
                </a:lnTo>
                <a:lnTo>
                  <a:pt x="377" y="70"/>
                </a:lnTo>
                <a:lnTo>
                  <a:pt x="393" y="70"/>
                </a:lnTo>
                <a:lnTo>
                  <a:pt x="393" y="82"/>
                </a:lnTo>
                <a:lnTo>
                  <a:pt x="377" y="81"/>
                </a:lnTo>
                <a:lnTo>
                  <a:pt x="360" y="80"/>
                </a:lnTo>
                <a:lnTo>
                  <a:pt x="344" y="79"/>
                </a:lnTo>
                <a:lnTo>
                  <a:pt x="327" y="77"/>
                </a:lnTo>
                <a:lnTo>
                  <a:pt x="311" y="74"/>
                </a:lnTo>
                <a:lnTo>
                  <a:pt x="295" y="71"/>
                </a:lnTo>
                <a:lnTo>
                  <a:pt x="278" y="67"/>
                </a:lnTo>
                <a:lnTo>
                  <a:pt x="262" y="64"/>
                </a:lnTo>
                <a:lnTo>
                  <a:pt x="246" y="60"/>
                </a:lnTo>
                <a:lnTo>
                  <a:pt x="229" y="56"/>
                </a:lnTo>
                <a:lnTo>
                  <a:pt x="213" y="51"/>
                </a:lnTo>
                <a:lnTo>
                  <a:pt x="196" y="47"/>
                </a:lnTo>
                <a:lnTo>
                  <a:pt x="180" y="43"/>
                </a:lnTo>
                <a:lnTo>
                  <a:pt x="164" y="38"/>
                </a:lnTo>
                <a:lnTo>
                  <a:pt x="147" y="34"/>
                </a:lnTo>
                <a:lnTo>
                  <a:pt x="131" y="30"/>
                </a:lnTo>
                <a:lnTo>
                  <a:pt x="114" y="27"/>
                </a:lnTo>
                <a:lnTo>
                  <a:pt x="98" y="23"/>
                </a:lnTo>
                <a:lnTo>
                  <a:pt x="82" y="20"/>
                </a:lnTo>
                <a:lnTo>
                  <a:pt x="65" y="17"/>
                </a:lnTo>
                <a:lnTo>
                  <a:pt x="49" y="15"/>
                </a:lnTo>
                <a:lnTo>
                  <a:pt x="33" y="14"/>
                </a:lnTo>
                <a:lnTo>
                  <a:pt x="16" y="13"/>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2057400" y="4752975"/>
            <a:ext cx="3743325" cy="1038225"/>
          </a:xfrm>
          <a:custGeom>
            <a:avLst/>
            <a:gdLst/>
            <a:ahLst/>
            <a:cxnLst/>
            <a:rect l="l" t="t" r="r" b="b"/>
            <a:pathLst>
              <a:path w="393" h="109">
                <a:moveTo>
                  <a:pt x="0" y="0"/>
                </a:moveTo>
                <a:lnTo>
                  <a:pt x="16" y="1"/>
                </a:lnTo>
                <a:lnTo>
                  <a:pt x="33" y="2"/>
                </a:lnTo>
                <a:lnTo>
                  <a:pt x="49" y="4"/>
                </a:lnTo>
                <a:lnTo>
                  <a:pt x="65" y="7"/>
                </a:lnTo>
                <a:lnTo>
                  <a:pt x="82" y="11"/>
                </a:lnTo>
                <a:lnTo>
                  <a:pt x="98" y="15"/>
                </a:lnTo>
                <a:lnTo>
                  <a:pt x="114" y="20"/>
                </a:lnTo>
                <a:lnTo>
                  <a:pt x="131" y="25"/>
                </a:lnTo>
                <a:lnTo>
                  <a:pt x="147" y="31"/>
                </a:lnTo>
                <a:lnTo>
                  <a:pt x="164" y="37"/>
                </a:lnTo>
                <a:lnTo>
                  <a:pt x="180" y="43"/>
                </a:lnTo>
                <a:lnTo>
                  <a:pt x="196" y="49"/>
                </a:lnTo>
                <a:lnTo>
                  <a:pt x="213" y="55"/>
                </a:lnTo>
                <a:lnTo>
                  <a:pt x="229" y="61"/>
                </a:lnTo>
                <a:lnTo>
                  <a:pt x="246" y="67"/>
                </a:lnTo>
                <a:lnTo>
                  <a:pt x="262" y="72"/>
                </a:lnTo>
                <a:lnTo>
                  <a:pt x="278" y="78"/>
                </a:lnTo>
                <a:lnTo>
                  <a:pt x="295" y="82"/>
                </a:lnTo>
                <a:lnTo>
                  <a:pt x="311" y="87"/>
                </a:lnTo>
                <a:lnTo>
                  <a:pt x="327" y="90"/>
                </a:lnTo>
                <a:lnTo>
                  <a:pt x="344" y="93"/>
                </a:lnTo>
                <a:lnTo>
                  <a:pt x="360" y="96"/>
                </a:lnTo>
                <a:lnTo>
                  <a:pt x="377" y="97"/>
                </a:lnTo>
                <a:lnTo>
                  <a:pt x="393" y="98"/>
                </a:lnTo>
                <a:lnTo>
                  <a:pt x="393" y="109"/>
                </a:lnTo>
                <a:lnTo>
                  <a:pt x="377" y="109"/>
                </a:lnTo>
                <a:lnTo>
                  <a:pt x="360" y="107"/>
                </a:lnTo>
                <a:lnTo>
                  <a:pt x="344" y="105"/>
                </a:lnTo>
                <a:lnTo>
                  <a:pt x="327" y="102"/>
                </a:lnTo>
                <a:lnTo>
                  <a:pt x="311" y="98"/>
                </a:lnTo>
                <a:lnTo>
                  <a:pt x="295" y="94"/>
                </a:lnTo>
                <a:lnTo>
                  <a:pt x="278" y="89"/>
                </a:lnTo>
                <a:lnTo>
                  <a:pt x="262" y="84"/>
                </a:lnTo>
                <a:lnTo>
                  <a:pt x="246" y="78"/>
                </a:lnTo>
                <a:lnTo>
                  <a:pt x="229" y="72"/>
                </a:lnTo>
                <a:lnTo>
                  <a:pt x="213" y="66"/>
                </a:lnTo>
                <a:lnTo>
                  <a:pt x="196" y="60"/>
                </a:lnTo>
                <a:lnTo>
                  <a:pt x="180" y="54"/>
                </a:lnTo>
                <a:lnTo>
                  <a:pt x="164" y="48"/>
                </a:lnTo>
                <a:lnTo>
                  <a:pt x="147" y="43"/>
                </a:lnTo>
                <a:lnTo>
                  <a:pt x="131" y="37"/>
                </a:lnTo>
                <a:lnTo>
                  <a:pt x="114" y="32"/>
                </a:lnTo>
                <a:lnTo>
                  <a:pt x="98" y="27"/>
                </a:lnTo>
                <a:lnTo>
                  <a:pt x="82" y="23"/>
                </a:lnTo>
                <a:lnTo>
                  <a:pt x="65" y="19"/>
                </a:lnTo>
                <a:lnTo>
                  <a:pt x="49" y="16"/>
                </a:lnTo>
                <a:lnTo>
                  <a:pt x="33" y="14"/>
                </a:lnTo>
                <a:lnTo>
                  <a:pt x="16" y="12"/>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2057400" y="4867275"/>
            <a:ext cx="3743325" cy="1247775"/>
          </a:xfrm>
          <a:custGeom>
            <a:avLst/>
            <a:gdLst/>
            <a:ahLst/>
            <a:cxnLst/>
            <a:rect l="l" t="t" r="r" b="b"/>
            <a:pathLst>
              <a:path w="393" h="131">
                <a:moveTo>
                  <a:pt x="0" y="0"/>
                </a:moveTo>
                <a:lnTo>
                  <a:pt x="16" y="0"/>
                </a:lnTo>
                <a:lnTo>
                  <a:pt x="33" y="2"/>
                </a:lnTo>
                <a:lnTo>
                  <a:pt x="49" y="5"/>
                </a:lnTo>
                <a:lnTo>
                  <a:pt x="65" y="9"/>
                </a:lnTo>
                <a:lnTo>
                  <a:pt x="82" y="13"/>
                </a:lnTo>
                <a:lnTo>
                  <a:pt x="98" y="19"/>
                </a:lnTo>
                <a:lnTo>
                  <a:pt x="114" y="25"/>
                </a:lnTo>
                <a:lnTo>
                  <a:pt x="131" y="31"/>
                </a:lnTo>
                <a:lnTo>
                  <a:pt x="147" y="38"/>
                </a:lnTo>
                <a:lnTo>
                  <a:pt x="164" y="46"/>
                </a:lnTo>
                <a:lnTo>
                  <a:pt x="180" y="53"/>
                </a:lnTo>
                <a:lnTo>
                  <a:pt x="196" y="61"/>
                </a:lnTo>
                <a:lnTo>
                  <a:pt x="213" y="68"/>
                </a:lnTo>
                <a:lnTo>
                  <a:pt x="229" y="76"/>
                </a:lnTo>
                <a:lnTo>
                  <a:pt x="246" y="83"/>
                </a:lnTo>
                <a:lnTo>
                  <a:pt x="262" y="90"/>
                </a:lnTo>
                <a:lnTo>
                  <a:pt x="278" y="96"/>
                </a:lnTo>
                <a:lnTo>
                  <a:pt x="295" y="103"/>
                </a:lnTo>
                <a:lnTo>
                  <a:pt x="311" y="108"/>
                </a:lnTo>
                <a:lnTo>
                  <a:pt x="327" y="113"/>
                </a:lnTo>
                <a:lnTo>
                  <a:pt x="344" y="116"/>
                </a:lnTo>
                <a:lnTo>
                  <a:pt x="360" y="119"/>
                </a:lnTo>
                <a:lnTo>
                  <a:pt x="377" y="121"/>
                </a:lnTo>
                <a:lnTo>
                  <a:pt x="393" y="122"/>
                </a:lnTo>
                <a:lnTo>
                  <a:pt x="393" y="131"/>
                </a:lnTo>
                <a:lnTo>
                  <a:pt x="377" y="130"/>
                </a:lnTo>
                <a:lnTo>
                  <a:pt x="360" y="128"/>
                </a:lnTo>
                <a:lnTo>
                  <a:pt x="344" y="126"/>
                </a:lnTo>
                <a:lnTo>
                  <a:pt x="327" y="122"/>
                </a:lnTo>
                <a:lnTo>
                  <a:pt x="311" y="117"/>
                </a:lnTo>
                <a:lnTo>
                  <a:pt x="295" y="112"/>
                </a:lnTo>
                <a:lnTo>
                  <a:pt x="278" y="106"/>
                </a:lnTo>
                <a:lnTo>
                  <a:pt x="262" y="99"/>
                </a:lnTo>
                <a:lnTo>
                  <a:pt x="246" y="92"/>
                </a:lnTo>
                <a:lnTo>
                  <a:pt x="229" y="85"/>
                </a:lnTo>
                <a:lnTo>
                  <a:pt x="213" y="77"/>
                </a:lnTo>
                <a:lnTo>
                  <a:pt x="196" y="70"/>
                </a:lnTo>
                <a:lnTo>
                  <a:pt x="180" y="62"/>
                </a:lnTo>
                <a:lnTo>
                  <a:pt x="164" y="55"/>
                </a:lnTo>
                <a:lnTo>
                  <a:pt x="147" y="48"/>
                </a:lnTo>
                <a:lnTo>
                  <a:pt x="131" y="41"/>
                </a:lnTo>
                <a:lnTo>
                  <a:pt x="114" y="34"/>
                </a:lnTo>
                <a:lnTo>
                  <a:pt x="98" y="28"/>
                </a:lnTo>
                <a:lnTo>
                  <a:pt x="82" y="23"/>
                </a:lnTo>
                <a:lnTo>
                  <a:pt x="65" y="18"/>
                </a:lnTo>
                <a:lnTo>
                  <a:pt x="49" y="14"/>
                </a:lnTo>
                <a:lnTo>
                  <a:pt x="33" y="11"/>
                </a:lnTo>
                <a:lnTo>
                  <a:pt x="16" y="10"/>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2057400" y="4953000"/>
            <a:ext cx="3743325" cy="1447800"/>
          </a:xfrm>
          <a:custGeom>
            <a:avLst/>
            <a:gdLst/>
            <a:ahLst/>
            <a:cxnLst/>
            <a:rect l="l" t="t" r="r" b="b"/>
            <a:pathLst>
              <a:path w="393" h="152">
                <a:moveTo>
                  <a:pt x="0" y="0"/>
                </a:moveTo>
                <a:lnTo>
                  <a:pt x="16" y="1"/>
                </a:lnTo>
                <a:lnTo>
                  <a:pt x="33" y="3"/>
                </a:lnTo>
                <a:lnTo>
                  <a:pt x="49" y="6"/>
                </a:lnTo>
                <a:lnTo>
                  <a:pt x="65" y="11"/>
                </a:lnTo>
                <a:lnTo>
                  <a:pt x="82" y="16"/>
                </a:lnTo>
                <a:lnTo>
                  <a:pt x="98" y="22"/>
                </a:lnTo>
                <a:lnTo>
                  <a:pt x="114" y="29"/>
                </a:lnTo>
                <a:lnTo>
                  <a:pt x="131" y="37"/>
                </a:lnTo>
                <a:lnTo>
                  <a:pt x="147" y="45"/>
                </a:lnTo>
                <a:lnTo>
                  <a:pt x="164" y="54"/>
                </a:lnTo>
                <a:lnTo>
                  <a:pt x="180" y="62"/>
                </a:lnTo>
                <a:lnTo>
                  <a:pt x="196" y="71"/>
                </a:lnTo>
                <a:lnTo>
                  <a:pt x="213" y="80"/>
                </a:lnTo>
                <a:lnTo>
                  <a:pt x="229" y="89"/>
                </a:lnTo>
                <a:lnTo>
                  <a:pt x="246" y="97"/>
                </a:lnTo>
                <a:lnTo>
                  <a:pt x="262" y="106"/>
                </a:lnTo>
                <a:lnTo>
                  <a:pt x="278" y="113"/>
                </a:lnTo>
                <a:lnTo>
                  <a:pt x="295" y="120"/>
                </a:lnTo>
                <a:lnTo>
                  <a:pt x="311" y="127"/>
                </a:lnTo>
                <a:lnTo>
                  <a:pt x="327" y="132"/>
                </a:lnTo>
                <a:lnTo>
                  <a:pt x="344" y="137"/>
                </a:lnTo>
                <a:lnTo>
                  <a:pt x="360" y="140"/>
                </a:lnTo>
                <a:lnTo>
                  <a:pt x="377" y="142"/>
                </a:lnTo>
                <a:lnTo>
                  <a:pt x="393" y="143"/>
                </a:lnTo>
                <a:lnTo>
                  <a:pt x="393" y="152"/>
                </a:lnTo>
                <a:lnTo>
                  <a:pt x="377" y="151"/>
                </a:lnTo>
                <a:lnTo>
                  <a:pt x="360" y="149"/>
                </a:lnTo>
                <a:lnTo>
                  <a:pt x="344" y="146"/>
                </a:lnTo>
                <a:lnTo>
                  <a:pt x="327" y="141"/>
                </a:lnTo>
                <a:lnTo>
                  <a:pt x="311" y="136"/>
                </a:lnTo>
                <a:lnTo>
                  <a:pt x="295" y="130"/>
                </a:lnTo>
                <a:lnTo>
                  <a:pt x="278" y="123"/>
                </a:lnTo>
                <a:lnTo>
                  <a:pt x="262" y="115"/>
                </a:lnTo>
                <a:lnTo>
                  <a:pt x="246" y="107"/>
                </a:lnTo>
                <a:lnTo>
                  <a:pt x="229" y="98"/>
                </a:lnTo>
                <a:lnTo>
                  <a:pt x="213" y="90"/>
                </a:lnTo>
                <a:lnTo>
                  <a:pt x="196" y="81"/>
                </a:lnTo>
                <a:lnTo>
                  <a:pt x="180" y="72"/>
                </a:lnTo>
                <a:lnTo>
                  <a:pt x="164" y="63"/>
                </a:lnTo>
                <a:lnTo>
                  <a:pt x="147" y="55"/>
                </a:lnTo>
                <a:lnTo>
                  <a:pt x="131" y="46"/>
                </a:lnTo>
                <a:lnTo>
                  <a:pt x="114" y="39"/>
                </a:lnTo>
                <a:lnTo>
                  <a:pt x="98" y="32"/>
                </a:lnTo>
                <a:lnTo>
                  <a:pt x="82" y="25"/>
                </a:lnTo>
                <a:lnTo>
                  <a:pt x="65" y="20"/>
                </a:lnTo>
                <a:lnTo>
                  <a:pt x="49" y="16"/>
                </a:lnTo>
                <a:lnTo>
                  <a:pt x="33" y="12"/>
                </a:lnTo>
                <a:lnTo>
                  <a:pt x="16" y="10"/>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2057400" y="4486275"/>
            <a:ext cx="3743325" cy="704850"/>
          </a:xfrm>
          <a:custGeom>
            <a:avLst/>
            <a:gdLst/>
            <a:ahLst/>
            <a:cxnLst/>
            <a:rect l="l" t="t" r="r" b="b"/>
            <a:pathLst>
              <a:path w="393" h="74">
                <a:moveTo>
                  <a:pt x="0" y="64"/>
                </a:moveTo>
                <a:lnTo>
                  <a:pt x="16" y="64"/>
                </a:lnTo>
                <a:lnTo>
                  <a:pt x="33" y="63"/>
                </a:lnTo>
                <a:lnTo>
                  <a:pt x="49" y="62"/>
                </a:lnTo>
                <a:lnTo>
                  <a:pt x="65" y="60"/>
                </a:lnTo>
                <a:lnTo>
                  <a:pt x="82" y="57"/>
                </a:lnTo>
                <a:lnTo>
                  <a:pt x="98" y="54"/>
                </a:lnTo>
                <a:lnTo>
                  <a:pt x="114" y="51"/>
                </a:lnTo>
                <a:lnTo>
                  <a:pt x="131" y="48"/>
                </a:lnTo>
                <a:lnTo>
                  <a:pt x="147" y="44"/>
                </a:lnTo>
                <a:lnTo>
                  <a:pt x="164" y="40"/>
                </a:lnTo>
                <a:lnTo>
                  <a:pt x="180" y="36"/>
                </a:lnTo>
                <a:lnTo>
                  <a:pt x="196" y="32"/>
                </a:lnTo>
                <a:lnTo>
                  <a:pt x="213" y="28"/>
                </a:lnTo>
                <a:lnTo>
                  <a:pt x="229" y="24"/>
                </a:lnTo>
                <a:lnTo>
                  <a:pt x="246" y="20"/>
                </a:lnTo>
                <a:lnTo>
                  <a:pt x="262" y="17"/>
                </a:lnTo>
                <a:lnTo>
                  <a:pt x="278" y="13"/>
                </a:lnTo>
                <a:lnTo>
                  <a:pt x="295" y="10"/>
                </a:lnTo>
                <a:lnTo>
                  <a:pt x="311" y="7"/>
                </a:lnTo>
                <a:lnTo>
                  <a:pt x="327" y="5"/>
                </a:lnTo>
                <a:lnTo>
                  <a:pt x="344" y="3"/>
                </a:lnTo>
                <a:lnTo>
                  <a:pt x="360" y="1"/>
                </a:lnTo>
                <a:lnTo>
                  <a:pt x="377" y="0"/>
                </a:lnTo>
                <a:lnTo>
                  <a:pt x="393" y="0"/>
                </a:lnTo>
                <a:lnTo>
                  <a:pt x="393" y="10"/>
                </a:lnTo>
                <a:lnTo>
                  <a:pt x="377" y="10"/>
                </a:lnTo>
                <a:lnTo>
                  <a:pt x="360" y="11"/>
                </a:lnTo>
                <a:lnTo>
                  <a:pt x="344" y="13"/>
                </a:lnTo>
                <a:lnTo>
                  <a:pt x="327" y="15"/>
                </a:lnTo>
                <a:lnTo>
                  <a:pt x="311" y="17"/>
                </a:lnTo>
                <a:lnTo>
                  <a:pt x="295" y="20"/>
                </a:lnTo>
                <a:lnTo>
                  <a:pt x="278" y="23"/>
                </a:lnTo>
                <a:lnTo>
                  <a:pt x="262" y="27"/>
                </a:lnTo>
                <a:lnTo>
                  <a:pt x="246" y="30"/>
                </a:lnTo>
                <a:lnTo>
                  <a:pt x="229" y="34"/>
                </a:lnTo>
                <a:lnTo>
                  <a:pt x="213" y="38"/>
                </a:lnTo>
                <a:lnTo>
                  <a:pt x="196" y="42"/>
                </a:lnTo>
                <a:lnTo>
                  <a:pt x="180" y="46"/>
                </a:lnTo>
                <a:lnTo>
                  <a:pt x="164" y="50"/>
                </a:lnTo>
                <a:lnTo>
                  <a:pt x="147" y="54"/>
                </a:lnTo>
                <a:lnTo>
                  <a:pt x="131" y="58"/>
                </a:lnTo>
                <a:lnTo>
                  <a:pt x="114" y="61"/>
                </a:lnTo>
                <a:lnTo>
                  <a:pt x="98" y="64"/>
                </a:lnTo>
                <a:lnTo>
                  <a:pt x="82" y="67"/>
                </a:lnTo>
                <a:lnTo>
                  <a:pt x="65" y="70"/>
                </a:lnTo>
                <a:lnTo>
                  <a:pt x="49" y="72"/>
                </a:lnTo>
                <a:lnTo>
                  <a:pt x="33" y="73"/>
                </a:lnTo>
                <a:lnTo>
                  <a:pt x="16" y="74"/>
                </a:lnTo>
                <a:lnTo>
                  <a:pt x="0" y="7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2057400" y="4972050"/>
            <a:ext cx="3743325" cy="314325"/>
          </a:xfrm>
          <a:custGeom>
            <a:avLst/>
            <a:gdLst/>
            <a:ahLst/>
            <a:cxnLst/>
            <a:rect l="l" t="t" r="r" b="b"/>
            <a:pathLst>
              <a:path w="393" h="33">
                <a:moveTo>
                  <a:pt x="0" y="23"/>
                </a:moveTo>
                <a:lnTo>
                  <a:pt x="16" y="23"/>
                </a:lnTo>
                <a:lnTo>
                  <a:pt x="33" y="23"/>
                </a:lnTo>
                <a:lnTo>
                  <a:pt x="49" y="22"/>
                </a:lnTo>
                <a:lnTo>
                  <a:pt x="65" y="22"/>
                </a:lnTo>
                <a:lnTo>
                  <a:pt x="82" y="21"/>
                </a:lnTo>
                <a:lnTo>
                  <a:pt x="98" y="20"/>
                </a:lnTo>
                <a:lnTo>
                  <a:pt x="114" y="19"/>
                </a:lnTo>
                <a:lnTo>
                  <a:pt x="131" y="17"/>
                </a:lnTo>
                <a:lnTo>
                  <a:pt x="147" y="16"/>
                </a:lnTo>
                <a:lnTo>
                  <a:pt x="164" y="15"/>
                </a:lnTo>
                <a:lnTo>
                  <a:pt x="180" y="13"/>
                </a:lnTo>
                <a:lnTo>
                  <a:pt x="196" y="12"/>
                </a:lnTo>
                <a:lnTo>
                  <a:pt x="213" y="10"/>
                </a:lnTo>
                <a:lnTo>
                  <a:pt x="229" y="9"/>
                </a:lnTo>
                <a:lnTo>
                  <a:pt x="246" y="7"/>
                </a:lnTo>
                <a:lnTo>
                  <a:pt x="262" y="6"/>
                </a:lnTo>
                <a:lnTo>
                  <a:pt x="278" y="5"/>
                </a:lnTo>
                <a:lnTo>
                  <a:pt x="295" y="4"/>
                </a:lnTo>
                <a:lnTo>
                  <a:pt x="311" y="3"/>
                </a:lnTo>
                <a:lnTo>
                  <a:pt x="327" y="2"/>
                </a:lnTo>
                <a:lnTo>
                  <a:pt x="344" y="1"/>
                </a:lnTo>
                <a:lnTo>
                  <a:pt x="360" y="1"/>
                </a:lnTo>
                <a:lnTo>
                  <a:pt x="377" y="0"/>
                </a:lnTo>
                <a:lnTo>
                  <a:pt x="393" y="0"/>
                </a:lnTo>
                <a:lnTo>
                  <a:pt x="393" y="9"/>
                </a:lnTo>
                <a:lnTo>
                  <a:pt x="377" y="9"/>
                </a:lnTo>
                <a:lnTo>
                  <a:pt x="360" y="10"/>
                </a:lnTo>
                <a:lnTo>
                  <a:pt x="344" y="10"/>
                </a:lnTo>
                <a:lnTo>
                  <a:pt x="327" y="11"/>
                </a:lnTo>
                <a:lnTo>
                  <a:pt x="311" y="12"/>
                </a:lnTo>
                <a:lnTo>
                  <a:pt x="295" y="13"/>
                </a:lnTo>
                <a:lnTo>
                  <a:pt x="278" y="14"/>
                </a:lnTo>
                <a:lnTo>
                  <a:pt x="262" y="15"/>
                </a:lnTo>
                <a:lnTo>
                  <a:pt x="246" y="17"/>
                </a:lnTo>
                <a:lnTo>
                  <a:pt x="229" y="18"/>
                </a:lnTo>
                <a:lnTo>
                  <a:pt x="213" y="19"/>
                </a:lnTo>
                <a:lnTo>
                  <a:pt x="196" y="21"/>
                </a:lnTo>
                <a:lnTo>
                  <a:pt x="180" y="22"/>
                </a:lnTo>
                <a:lnTo>
                  <a:pt x="164" y="24"/>
                </a:lnTo>
                <a:lnTo>
                  <a:pt x="147" y="25"/>
                </a:lnTo>
                <a:lnTo>
                  <a:pt x="131" y="27"/>
                </a:lnTo>
                <a:lnTo>
                  <a:pt x="114" y="28"/>
                </a:lnTo>
                <a:lnTo>
                  <a:pt x="98" y="29"/>
                </a:lnTo>
                <a:lnTo>
                  <a:pt x="82" y="30"/>
                </a:lnTo>
                <a:lnTo>
                  <a:pt x="65" y="31"/>
                </a:lnTo>
                <a:lnTo>
                  <a:pt x="49" y="32"/>
                </a:lnTo>
                <a:lnTo>
                  <a:pt x="33" y="32"/>
                </a:lnTo>
                <a:lnTo>
                  <a:pt x="16" y="32"/>
                </a:lnTo>
                <a:lnTo>
                  <a:pt x="0" y="3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2057400" y="5286375"/>
            <a:ext cx="3743325" cy="200025"/>
          </a:xfrm>
          <a:custGeom>
            <a:avLst/>
            <a:gdLst/>
            <a:ahLst/>
            <a:cxnLst/>
            <a:rect l="l" t="t" r="r" b="b"/>
            <a:pathLst>
              <a:path w="393" h="21">
                <a:moveTo>
                  <a:pt x="0" y="0"/>
                </a:moveTo>
                <a:lnTo>
                  <a:pt x="16" y="0"/>
                </a:lnTo>
                <a:lnTo>
                  <a:pt x="33" y="0"/>
                </a:lnTo>
                <a:lnTo>
                  <a:pt x="49" y="0"/>
                </a:lnTo>
                <a:lnTo>
                  <a:pt x="65" y="1"/>
                </a:lnTo>
                <a:lnTo>
                  <a:pt x="82" y="1"/>
                </a:lnTo>
                <a:lnTo>
                  <a:pt x="98" y="2"/>
                </a:lnTo>
                <a:lnTo>
                  <a:pt x="114" y="2"/>
                </a:lnTo>
                <a:lnTo>
                  <a:pt x="131" y="3"/>
                </a:lnTo>
                <a:lnTo>
                  <a:pt x="147" y="4"/>
                </a:lnTo>
                <a:lnTo>
                  <a:pt x="164" y="5"/>
                </a:lnTo>
                <a:lnTo>
                  <a:pt x="180" y="6"/>
                </a:lnTo>
                <a:lnTo>
                  <a:pt x="196" y="7"/>
                </a:lnTo>
                <a:lnTo>
                  <a:pt x="213" y="8"/>
                </a:lnTo>
                <a:lnTo>
                  <a:pt x="229" y="8"/>
                </a:lnTo>
                <a:lnTo>
                  <a:pt x="246" y="9"/>
                </a:lnTo>
                <a:lnTo>
                  <a:pt x="262" y="10"/>
                </a:lnTo>
                <a:lnTo>
                  <a:pt x="278" y="11"/>
                </a:lnTo>
                <a:lnTo>
                  <a:pt x="295" y="12"/>
                </a:lnTo>
                <a:lnTo>
                  <a:pt x="311" y="12"/>
                </a:lnTo>
                <a:lnTo>
                  <a:pt x="327" y="13"/>
                </a:lnTo>
                <a:lnTo>
                  <a:pt x="344" y="13"/>
                </a:lnTo>
                <a:lnTo>
                  <a:pt x="360" y="13"/>
                </a:lnTo>
                <a:lnTo>
                  <a:pt x="377" y="14"/>
                </a:lnTo>
                <a:lnTo>
                  <a:pt x="393" y="14"/>
                </a:lnTo>
                <a:lnTo>
                  <a:pt x="393" y="21"/>
                </a:lnTo>
                <a:lnTo>
                  <a:pt x="377" y="21"/>
                </a:lnTo>
                <a:lnTo>
                  <a:pt x="360" y="21"/>
                </a:lnTo>
                <a:lnTo>
                  <a:pt x="344" y="21"/>
                </a:lnTo>
                <a:lnTo>
                  <a:pt x="327" y="20"/>
                </a:lnTo>
                <a:lnTo>
                  <a:pt x="311" y="20"/>
                </a:lnTo>
                <a:lnTo>
                  <a:pt x="295" y="19"/>
                </a:lnTo>
                <a:lnTo>
                  <a:pt x="278" y="18"/>
                </a:lnTo>
                <a:lnTo>
                  <a:pt x="262" y="18"/>
                </a:lnTo>
                <a:lnTo>
                  <a:pt x="246" y="17"/>
                </a:lnTo>
                <a:lnTo>
                  <a:pt x="229" y="16"/>
                </a:lnTo>
                <a:lnTo>
                  <a:pt x="213" y="15"/>
                </a:lnTo>
                <a:lnTo>
                  <a:pt x="196" y="14"/>
                </a:lnTo>
                <a:lnTo>
                  <a:pt x="180" y="13"/>
                </a:lnTo>
                <a:lnTo>
                  <a:pt x="164" y="13"/>
                </a:lnTo>
                <a:lnTo>
                  <a:pt x="147" y="12"/>
                </a:lnTo>
                <a:lnTo>
                  <a:pt x="131" y="11"/>
                </a:lnTo>
                <a:lnTo>
                  <a:pt x="114" y="10"/>
                </a:lnTo>
                <a:lnTo>
                  <a:pt x="98" y="9"/>
                </a:lnTo>
                <a:lnTo>
                  <a:pt x="82" y="9"/>
                </a:lnTo>
                <a:lnTo>
                  <a:pt x="65" y="8"/>
                </a:lnTo>
                <a:lnTo>
                  <a:pt x="49" y="8"/>
                </a:lnTo>
                <a:lnTo>
                  <a:pt x="33" y="7"/>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2057400" y="5353050"/>
            <a:ext cx="3743325" cy="504825"/>
          </a:xfrm>
          <a:custGeom>
            <a:avLst/>
            <a:gdLst/>
            <a:ahLst/>
            <a:cxnLst/>
            <a:rect l="l" t="t" r="r" b="b"/>
            <a:pathLst>
              <a:path w="393" h="53">
                <a:moveTo>
                  <a:pt x="0" y="0"/>
                </a:moveTo>
                <a:lnTo>
                  <a:pt x="16" y="0"/>
                </a:lnTo>
                <a:lnTo>
                  <a:pt x="33" y="1"/>
                </a:lnTo>
                <a:lnTo>
                  <a:pt x="49" y="2"/>
                </a:lnTo>
                <a:lnTo>
                  <a:pt x="65" y="4"/>
                </a:lnTo>
                <a:lnTo>
                  <a:pt x="82" y="5"/>
                </a:lnTo>
                <a:lnTo>
                  <a:pt x="98" y="7"/>
                </a:lnTo>
                <a:lnTo>
                  <a:pt x="114" y="10"/>
                </a:lnTo>
                <a:lnTo>
                  <a:pt x="131" y="12"/>
                </a:lnTo>
                <a:lnTo>
                  <a:pt x="147" y="15"/>
                </a:lnTo>
                <a:lnTo>
                  <a:pt x="164" y="17"/>
                </a:lnTo>
                <a:lnTo>
                  <a:pt x="180" y="20"/>
                </a:lnTo>
                <a:lnTo>
                  <a:pt x="196" y="23"/>
                </a:lnTo>
                <a:lnTo>
                  <a:pt x="213" y="26"/>
                </a:lnTo>
                <a:lnTo>
                  <a:pt x="229" y="29"/>
                </a:lnTo>
                <a:lnTo>
                  <a:pt x="246" y="32"/>
                </a:lnTo>
                <a:lnTo>
                  <a:pt x="262" y="34"/>
                </a:lnTo>
                <a:lnTo>
                  <a:pt x="278" y="37"/>
                </a:lnTo>
                <a:lnTo>
                  <a:pt x="295" y="39"/>
                </a:lnTo>
                <a:lnTo>
                  <a:pt x="311" y="41"/>
                </a:lnTo>
                <a:lnTo>
                  <a:pt x="327" y="43"/>
                </a:lnTo>
                <a:lnTo>
                  <a:pt x="344" y="44"/>
                </a:lnTo>
                <a:lnTo>
                  <a:pt x="360" y="45"/>
                </a:lnTo>
                <a:lnTo>
                  <a:pt x="377" y="46"/>
                </a:lnTo>
                <a:lnTo>
                  <a:pt x="393" y="46"/>
                </a:lnTo>
                <a:lnTo>
                  <a:pt x="393" y="53"/>
                </a:lnTo>
                <a:lnTo>
                  <a:pt x="377" y="53"/>
                </a:lnTo>
                <a:lnTo>
                  <a:pt x="360" y="52"/>
                </a:lnTo>
                <a:lnTo>
                  <a:pt x="344" y="51"/>
                </a:lnTo>
                <a:lnTo>
                  <a:pt x="327" y="49"/>
                </a:lnTo>
                <a:lnTo>
                  <a:pt x="311" y="48"/>
                </a:lnTo>
                <a:lnTo>
                  <a:pt x="295" y="46"/>
                </a:lnTo>
                <a:lnTo>
                  <a:pt x="278" y="43"/>
                </a:lnTo>
                <a:lnTo>
                  <a:pt x="262" y="41"/>
                </a:lnTo>
                <a:lnTo>
                  <a:pt x="246" y="38"/>
                </a:lnTo>
                <a:lnTo>
                  <a:pt x="229" y="36"/>
                </a:lnTo>
                <a:lnTo>
                  <a:pt x="213" y="33"/>
                </a:lnTo>
                <a:lnTo>
                  <a:pt x="196" y="30"/>
                </a:lnTo>
                <a:lnTo>
                  <a:pt x="180" y="27"/>
                </a:lnTo>
                <a:lnTo>
                  <a:pt x="164" y="24"/>
                </a:lnTo>
                <a:lnTo>
                  <a:pt x="147" y="21"/>
                </a:lnTo>
                <a:lnTo>
                  <a:pt x="131" y="19"/>
                </a:lnTo>
                <a:lnTo>
                  <a:pt x="114" y="16"/>
                </a:lnTo>
                <a:lnTo>
                  <a:pt x="98" y="14"/>
                </a:lnTo>
                <a:lnTo>
                  <a:pt x="82" y="12"/>
                </a:lnTo>
                <a:lnTo>
                  <a:pt x="65" y="10"/>
                </a:lnTo>
                <a:lnTo>
                  <a:pt x="49" y="9"/>
                </a:lnTo>
                <a:lnTo>
                  <a:pt x="33" y="8"/>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2057400" y="5419725"/>
            <a:ext cx="3743325" cy="742950"/>
          </a:xfrm>
          <a:custGeom>
            <a:avLst/>
            <a:gdLst/>
            <a:ahLst/>
            <a:cxnLst/>
            <a:rect l="l" t="t" r="r" b="b"/>
            <a:pathLst>
              <a:path w="393" h="78">
                <a:moveTo>
                  <a:pt x="0" y="0"/>
                </a:moveTo>
                <a:lnTo>
                  <a:pt x="16" y="0"/>
                </a:lnTo>
                <a:lnTo>
                  <a:pt x="33" y="1"/>
                </a:lnTo>
                <a:lnTo>
                  <a:pt x="49" y="3"/>
                </a:lnTo>
                <a:lnTo>
                  <a:pt x="65" y="5"/>
                </a:lnTo>
                <a:lnTo>
                  <a:pt x="82" y="8"/>
                </a:lnTo>
                <a:lnTo>
                  <a:pt x="98" y="11"/>
                </a:lnTo>
                <a:lnTo>
                  <a:pt x="114" y="15"/>
                </a:lnTo>
                <a:lnTo>
                  <a:pt x="131" y="19"/>
                </a:lnTo>
                <a:lnTo>
                  <a:pt x="147" y="23"/>
                </a:lnTo>
                <a:lnTo>
                  <a:pt x="164" y="27"/>
                </a:lnTo>
                <a:lnTo>
                  <a:pt x="180" y="32"/>
                </a:lnTo>
                <a:lnTo>
                  <a:pt x="196" y="36"/>
                </a:lnTo>
                <a:lnTo>
                  <a:pt x="213" y="41"/>
                </a:lnTo>
                <a:lnTo>
                  <a:pt x="229" y="45"/>
                </a:lnTo>
                <a:lnTo>
                  <a:pt x="246" y="50"/>
                </a:lnTo>
                <a:lnTo>
                  <a:pt x="262" y="54"/>
                </a:lnTo>
                <a:lnTo>
                  <a:pt x="278" y="58"/>
                </a:lnTo>
                <a:lnTo>
                  <a:pt x="295" y="61"/>
                </a:lnTo>
                <a:lnTo>
                  <a:pt x="311" y="65"/>
                </a:lnTo>
                <a:lnTo>
                  <a:pt x="327" y="67"/>
                </a:lnTo>
                <a:lnTo>
                  <a:pt x="344" y="70"/>
                </a:lnTo>
                <a:lnTo>
                  <a:pt x="360" y="71"/>
                </a:lnTo>
                <a:lnTo>
                  <a:pt x="377" y="72"/>
                </a:lnTo>
                <a:lnTo>
                  <a:pt x="393" y="73"/>
                </a:lnTo>
                <a:lnTo>
                  <a:pt x="393" y="78"/>
                </a:lnTo>
                <a:lnTo>
                  <a:pt x="377" y="77"/>
                </a:lnTo>
                <a:lnTo>
                  <a:pt x="360" y="76"/>
                </a:lnTo>
                <a:lnTo>
                  <a:pt x="344" y="74"/>
                </a:lnTo>
                <a:lnTo>
                  <a:pt x="327" y="72"/>
                </a:lnTo>
                <a:lnTo>
                  <a:pt x="311" y="69"/>
                </a:lnTo>
                <a:lnTo>
                  <a:pt x="295" y="66"/>
                </a:lnTo>
                <a:lnTo>
                  <a:pt x="278" y="63"/>
                </a:lnTo>
                <a:lnTo>
                  <a:pt x="262" y="59"/>
                </a:lnTo>
                <a:lnTo>
                  <a:pt x="246" y="55"/>
                </a:lnTo>
                <a:lnTo>
                  <a:pt x="229" y="50"/>
                </a:lnTo>
                <a:lnTo>
                  <a:pt x="213" y="46"/>
                </a:lnTo>
                <a:lnTo>
                  <a:pt x="196" y="41"/>
                </a:lnTo>
                <a:lnTo>
                  <a:pt x="180" y="37"/>
                </a:lnTo>
                <a:lnTo>
                  <a:pt x="164" y="32"/>
                </a:lnTo>
                <a:lnTo>
                  <a:pt x="147" y="28"/>
                </a:lnTo>
                <a:lnTo>
                  <a:pt x="131" y="24"/>
                </a:lnTo>
                <a:lnTo>
                  <a:pt x="114" y="20"/>
                </a:lnTo>
                <a:lnTo>
                  <a:pt x="98" y="16"/>
                </a:lnTo>
                <a:lnTo>
                  <a:pt x="82" y="13"/>
                </a:lnTo>
                <a:lnTo>
                  <a:pt x="65" y="10"/>
                </a:lnTo>
                <a:lnTo>
                  <a:pt x="49" y="8"/>
                </a:lnTo>
                <a:lnTo>
                  <a:pt x="33" y="6"/>
                </a:lnTo>
                <a:lnTo>
                  <a:pt x="16" y="5"/>
                </a:lnTo>
                <a:lnTo>
                  <a:pt x="0" y="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2057400" y="5467350"/>
            <a:ext cx="3743325" cy="981075"/>
          </a:xfrm>
          <a:custGeom>
            <a:avLst/>
            <a:gdLst/>
            <a:ahLst/>
            <a:cxnLst/>
            <a:rect l="l" t="t" r="r" b="b"/>
            <a:pathLst>
              <a:path w="393" h="103">
                <a:moveTo>
                  <a:pt x="0" y="0"/>
                </a:moveTo>
                <a:lnTo>
                  <a:pt x="16" y="0"/>
                </a:lnTo>
                <a:lnTo>
                  <a:pt x="33" y="2"/>
                </a:lnTo>
                <a:lnTo>
                  <a:pt x="49" y="4"/>
                </a:lnTo>
                <a:lnTo>
                  <a:pt x="65" y="7"/>
                </a:lnTo>
                <a:lnTo>
                  <a:pt x="82" y="11"/>
                </a:lnTo>
                <a:lnTo>
                  <a:pt x="98" y="15"/>
                </a:lnTo>
                <a:lnTo>
                  <a:pt x="114" y="20"/>
                </a:lnTo>
                <a:lnTo>
                  <a:pt x="131" y="25"/>
                </a:lnTo>
                <a:lnTo>
                  <a:pt x="147" y="31"/>
                </a:lnTo>
                <a:lnTo>
                  <a:pt x="164" y="37"/>
                </a:lnTo>
                <a:lnTo>
                  <a:pt x="180" y="43"/>
                </a:lnTo>
                <a:lnTo>
                  <a:pt x="196" y="49"/>
                </a:lnTo>
                <a:lnTo>
                  <a:pt x="213" y="55"/>
                </a:lnTo>
                <a:lnTo>
                  <a:pt x="229" y="61"/>
                </a:lnTo>
                <a:lnTo>
                  <a:pt x="246" y="67"/>
                </a:lnTo>
                <a:lnTo>
                  <a:pt x="262" y="73"/>
                </a:lnTo>
                <a:lnTo>
                  <a:pt x="278" y="78"/>
                </a:lnTo>
                <a:lnTo>
                  <a:pt x="295" y="83"/>
                </a:lnTo>
                <a:lnTo>
                  <a:pt x="311" y="87"/>
                </a:lnTo>
                <a:lnTo>
                  <a:pt x="327" y="91"/>
                </a:lnTo>
                <a:lnTo>
                  <a:pt x="344" y="94"/>
                </a:lnTo>
                <a:lnTo>
                  <a:pt x="360" y="96"/>
                </a:lnTo>
                <a:lnTo>
                  <a:pt x="377" y="98"/>
                </a:lnTo>
                <a:lnTo>
                  <a:pt x="393" y="98"/>
                </a:lnTo>
                <a:lnTo>
                  <a:pt x="393" y="103"/>
                </a:lnTo>
                <a:lnTo>
                  <a:pt x="377" y="102"/>
                </a:lnTo>
                <a:lnTo>
                  <a:pt x="360" y="101"/>
                </a:lnTo>
                <a:lnTo>
                  <a:pt x="344" y="98"/>
                </a:lnTo>
                <a:lnTo>
                  <a:pt x="327" y="95"/>
                </a:lnTo>
                <a:lnTo>
                  <a:pt x="311" y="92"/>
                </a:lnTo>
                <a:lnTo>
                  <a:pt x="295" y="87"/>
                </a:lnTo>
                <a:lnTo>
                  <a:pt x="278" y="82"/>
                </a:lnTo>
                <a:lnTo>
                  <a:pt x="262" y="77"/>
                </a:lnTo>
                <a:lnTo>
                  <a:pt x="246" y="71"/>
                </a:lnTo>
                <a:lnTo>
                  <a:pt x="229" y="66"/>
                </a:lnTo>
                <a:lnTo>
                  <a:pt x="213" y="60"/>
                </a:lnTo>
                <a:lnTo>
                  <a:pt x="196" y="53"/>
                </a:lnTo>
                <a:lnTo>
                  <a:pt x="180" y="47"/>
                </a:lnTo>
                <a:lnTo>
                  <a:pt x="164" y="41"/>
                </a:lnTo>
                <a:lnTo>
                  <a:pt x="147" y="35"/>
                </a:lnTo>
                <a:lnTo>
                  <a:pt x="131" y="30"/>
                </a:lnTo>
                <a:lnTo>
                  <a:pt x="114" y="24"/>
                </a:lnTo>
                <a:lnTo>
                  <a:pt x="98" y="20"/>
                </a:lnTo>
                <a:lnTo>
                  <a:pt x="82" y="15"/>
                </a:lnTo>
                <a:lnTo>
                  <a:pt x="65" y="12"/>
                </a:lnTo>
                <a:lnTo>
                  <a:pt x="49" y="8"/>
                </a:lnTo>
                <a:lnTo>
                  <a:pt x="33" y="6"/>
                </a:lnTo>
                <a:lnTo>
                  <a:pt x="16" y="5"/>
                </a:lnTo>
                <a:lnTo>
                  <a:pt x="0" y="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2057400" y="4581525"/>
            <a:ext cx="3743325" cy="1066800"/>
          </a:xfrm>
          <a:custGeom>
            <a:avLst/>
            <a:gdLst/>
            <a:ahLst/>
            <a:cxnLst/>
            <a:rect l="l" t="t" r="r" b="b"/>
            <a:pathLst>
              <a:path w="393" h="112">
                <a:moveTo>
                  <a:pt x="0" y="103"/>
                </a:moveTo>
                <a:lnTo>
                  <a:pt x="16" y="103"/>
                </a:lnTo>
                <a:lnTo>
                  <a:pt x="33" y="101"/>
                </a:lnTo>
                <a:lnTo>
                  <a:pt x="49" y="99"/>
                </a:lnTo>
                <a:lnTo>
                  <a:pt x="65" y="96"/>
                </a:lnTo>
                <a:lnTo>
                  <a:pt x="82" y="92"/>
                </a:lnTo>
                <a:lnTo>
                  <a:pt x="98" y="87"/>
                </a:lnTo>
                <a:lnTo>
                  <a:pt x="114" y="82"/>
                </a:lnTo>
                <a:lnTo>
                  <a:pt x="131" y="76"/>
                </a:lnTo>
                <a:lnTo>
                  <a:pt x="147" y="71"/>
                </a:lnTo>
                <a:lnTo>
                  <a:pt x="164" y="64"/>
                </a:lnTo>
                <a:lnTo>
                  <a:pt x="180" y="58"/>
                </a:lnTo>
                <a:lnTo>
                  <a:pt x="196" y="52"/>
                </a:lnTo>
                <a:lnTo>
                  <a:pt x="213" y="45"/>
                </a:lnTo>
                <a:lnTo>
                  <a:pt x="229" y="39"/>
                </a:lnTo>
                <a:lnTo>
                  <a:pt x="246" y="33"/>
                </a:lnTo>
                <a:lnTo>
                  <a:pt x="262" y="27"/>
                </a:lnTo>
                <a:lnTo>
                  <a:pt x="278" y="21"/>
                </a:lnTo>
                <a:lnTo>
                  <a:pt x="295" y="16"/>
                </a:lnTo>
                <a:lnTo>
                  <a:pt x="311" y="12"/>
                </a:lnTo>
                <a:lnTo>
                  <a:pt x="327" y="8"/>
                </a:lnTo>
                <a:lnTo>
                  <a:pt x="344" y="4"/>
                </a:lnTo>
                <a:lnTo>
                  <a:pt x="360" y="2"/>
                </a:lnTo>
                <a:lnTo>
                  <a:pt x="377" y="1"/>
                </a:lnTo>
                <a:lnTo>
                  <a:pt x="393" y="0"/>
                </a:lnTo>
                <a:lnTo>
                  <a:pt x="393" y="8"/>
                </a:lnTo>
                <a:lnTo>
                  <a:pt x="377" y="9"/>
                </a:lnTo>
                <a:lnTo>
                  <a:pt x="360" y="10"/>
                </a:lnTo>
                <a:lnTo>
                  <a:pt x="344" y="13"/>
                </a:lnTo>
                <a:lnTo>
                  <a:pt x="327" y="16"/>
                </a:lnTo>
                <a:lnTo>
                  <a:pt x="311" y="20"/>
                </a:lnTo>
                <a:lnTo>
                  <a:pt x="295" y="25"/>
                </a:lnTo>
                <a:lnTo>
                  <a:pt x="278" y="30"/>
                </a:lnTo>
                <a:lnTo>
                  <a:pt x="262" y="35"/>
                </a:lnTo>
                <a:lnTo>
                  <a:pt x="246" y="41"/>
                </a:lnTo>
                <a:lnTo>
                  <a:pt x="229" y="47"/>
                </a:lnTo>
                <a:lnTo>
                  <a:pt x="213" y="54"/>
                </a:lnTo>
                <a:lnTo>
                  <a:pt x="196" y="60"/>
                </a:lnTo>
                <a:lnTo>
                  <a:pt x="180" y="66"/>
                </a:lnTo>
                <a:lnTo>
                  <a:pt x="164" y="73"/>
                </a:lnTo>
                <a:lnTo>
                  <a:pt x="147" y="79"/>
                </a:lnTo>
                <a:lnTo>
                  <a:pt x="131" y="85"/>
                </a:lnTo>
                <a:lnTo>
                  <a:pt x="114" y="90"/>
                </a:lnTo>
                <a:lnTo>
                  <a:pt x="98" y="96"/>
                </a:lnTo>
                <a:lnTo>
                  <a:pt x="82" y="100"/>
                </a:lnTo>
                <a:lnTo>
                  <a:pt x="65" y="104"/>
                </a:lnTo>
                <a:lnTo>
                  <a:pt x="49" y="107"/>
                </a:lnTo>
                <a:lnTo>
                  <a:pt x="33" y="110"/>
                </a:lnTo>
                <a:lnTo>
                  <a:pt x="16" y="111"/>
                </a:lnTo>
                <a:lnTo>
                  <a:pt x="0" y="11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2057400" y="5057775"/>
            <a:ext cx="3743325" cy="676275"/>
          </a:xfrm>
          <a:custGeom>
            <a:avLst/>
            <a:gdLst/>
            <a:ahLst/>
            <a:cxnLst/>
            <a:rect l="l" t="t" r="r" b="b"/>
            <a:pathLst>
              <a:path w="393" h="71">
                <a:moveTo>
                  <a:pt x="0" y="62"/>
                </a:moveTo>
                <a:lnTo>
                  <a:pt x="16" y="61"/>
                </a:lnTo>
                <a:lnTo>
                  <a:pt x="33" y="60"/>
                </a:lnTo>
                <a:lnTo>
                  <a:pt x="49" y="59"/>
                </a:lnTo>
                <a:lnTo>
                  <a:pt x="65" y="57"/>
                </a:lnTo>
                <a:lnTo>
                  <a:pt x="82" y="55"/>
                </a:lnTo>
                <a:lnTo>
                  <a:pt x="98" y="52"/>
                </a:lnTo>
                <a:lnTo>
                  <a:pt x="114" y="49"/>
                </a:lnTo>
                <a:lnTo>
                  <a:pt x="131" y="46"/>
                </a:lnTo>
                <a:lnTo>
                  <a:pt x="147" y="42"/>
                </a:lnTo>
                <a:lnTo>
                  <a:pt x="164" y="39"/>
                </a:lnTo>
                <a:lnTo>
                  <a:pt x="180" y="35"/>
                </a:lnTo>
                <a:lnTo>
                  <a:pt x="196" y="31"/>
                </a:lnTo>
                <a:lnTo>
                  <a:pt x="213" y="27"/>
                </a:lnTo>
                <a:lnTo>
                  <a:pt x="229" y="23"/>
                </a:lnTo>
                <a:lnTo>
                  <a:pt x="246" y="20"/>
                </a:lnTo>
                <a:lnTo>
                  <a:pt x="262" y="16"/>
                </a:lnTo>
                <a:lnTo>
                  <a:pt x="278" y="13"/>
                </a:lnTo>
                <a:lnTo>
                  <a:pt x="295" y="10"/>
                </a:lnTo>
                <a:lnTo>
                  <a:pt x="311" y="7"/>
                </a:lnTo>
                <a:lnTo>
                  <a:pt x="327" y="5"/>
                </a:lnTo>
                <a:lnTo>
                  <a:pt x="344" y="3"/>
                </a:lnTo>
                <a:lnTo>
                  <a:pt x="360" y="1"/>
                </a:lnTo>
                <a:lnTo>
                  <a:pt x="377" y="1"/>
                </a:lnTo>
                <a:lnTo>
                  <a:pt x="393" y="0"/>
                </a:lnTo>
                <a:lnTo>
                  <a:pt x="393" y="10"/>
                </a:lnTo>
                <a:lnTo>
                  <a:pt x="377" y="10"/>
                </a:lnTo>
                <a:lnTo>
                  <a:pt x="360" y="11"/>
                </a:lnTo>
                <a:lnTo>
                  <a:pt x="344" y="12"/>
                </a:lnTo>
                <a:lnTo>
                  <a:pt x="327" y="14"/>
                </a:lnTo>
                <a:lnTo>
                  <a:pt x="311" y="16"/>
                </a:lnTo>
                <a:lnTo>
                  <a:pt x="295" y="19"/>
                </a:lnTo>
                <a:lnTo>
                  <a:pt x="278" y="22"/>
                </a:lnTo>
                <a:lnTo>
                  <a:pt x="262" y="25"/>
                </a:lnTo>
                <a:lnTo>
                  <a:pt x="246" y="29"/>
                </a:lnTo>
                <a:lnTo>
                  <a:pt x="229" y="33"/>
                </a:lnTo>
                <a:lnTo>
                  <a:pt x="213" y="36"/>
                </a:lnTo>
                <a:lnTo>
                  <a:pt x="196" y="40"/>
                </a:lnTo>
                <a:lnTo>
                  <a:pt x="180" y="44"/>
                </a:lnTo>
                <a:lnTo>
                  <a:pt x="164" y="48"/>
                </a:lnTo>
                <a:lnTo>
                  <a:pt x="147" y="52"/>
                </a:lnTo>
                <a:lnTo>
                  <a:pt x="131" y="55"/>
                </a:lnTo>
                <a:lnTo>
                  <a:pt x="114" y="58"/>
                </a:lnTo>
                <a:lnTo>
                  <a:pt x="98" y="61"/>
                </a:lnTo>
                <a:lnTo>
                  <a:pt x="82" y="64"/>
                </a:lnTo>
                <a:lnTo>
                  <a:pt x="65" y="66"/>
                </a:lnTo>
                <a:lnTo>
                  <a:pt x="49" y="68"/>
                </a:lnTo>
                <a:lnTo>
                  <a:pt x="33" y="70"/>
                </a:lnTo>
                <a:lnTo>
                  <a:pt x="16" y="71"/>
                </a:lnTo>
                <a:lnTo>
                  <a:pt x="0" y="7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reeform 29"/>
          <p:cNvSpPr/>
          <p:nvPr/>
        </p:nvSpPr>
        <p:spPr>
          <a:xfrm>
            <a:off x="2057400" y="5486400"/>
            <a:ext cx="3743325" cy="304800"/>
          </a:xfrm>
          <a:custGeom>
            <a:avLst/>
            <a:gdLst/>
            <a:ahLst/>
            <a:cxnLst/>
            <a:rect l="l" t="t" r="r" b="b"/>
            <a:pathLst>
              <a:path w="393" h="32">
                <a:moveTo>
                  <a:pt x="0" y="26"/>
                </a:moveTo>
                <a:lnTo>
                  <a:pt x="16" y="26"/>
                </a:lnTo>
                <a:lnTo>
                  <a:pt x="33" y="25"/>
                </a:lnTo>
                <a:lnTo>
                  <a:pt x="49" y="25"/>
                </a:lnTo>
                <a:lnTo>
                  <a:pt x="65" y="24"/>
                </a:lnTo>
                <a:lnTo>
                  <a:pt x="82" y="23"/>
                </a:lnTo>
                <a:lnTo>
                  <a:pt x="98" y="22"/>
                </a:lnTo>
                <a:lnTo>
                  <a:pt x="114" y="21"/>
                </a:lnTo>
                <a:lnTo>
                  <a:pt x="131" y="19"/>
                </a:lnTo>
                <a:lnTo>
                  <a:pt x="147" y="18"/>
                </a:lnTo>
                <a:lnTo>
                  <a:pt x="164" y="16"/>
                </a:lnTo>
                <a:lnTo>
                  <a:pt x="180" y="15"/>
                </a:lnTo>
                <a:lnTo>
                  <a:pt x="196" y="13"/>
                </a:lnTo>
                <a:lnTo>
                  <a:pt x="213" y="12"/>
                </a:lnTo>
                <a:lnTo>
                  <a:pt x="229" y="10"/>
                </a:lnTo>
                <a:lnTo>
                  <a:pt x="246" y="8"/>
                </a:lnTo>
                <a:lnTo>
                  <a:pt x="262" y="7"/>
                </a:lnTo>
                <a:lnTo>
                  <a:pt x="278" y="6"/>
                </a:lnTo>
                <a:lnTo>
                  <a:pt x="295" y="4"/>
                </a:lnTo>
                <a:lnTo>
                  <a:pt x="311" y="3"/>
                </a:lnTo>
                <a:lnTo>
                  <a:pt x="327" y="2"/>
                </a:lnTo>
                <a:lnTo>
                  <a:pt x="344" y="1"/>
                </a:lnTo>
                <a:lnTo>
                  <a:pt x="360" y="1"/>
                </a:lnTo>
                <a:lnTo>
                  <a:pt x="377" y="1"/>
                </a:lnTo>
                <a:lnTo>
                  <a:pt x="393" y="0"/>
                </a:lnTo>
                <a:lnTo>
                  <a:pt x="393" y="7"/>
                </a:lnTo>
                <a:lnTo>
                  <a:pt x="377" y="7"/>
                </a:lnTo>
                <a:lnTo>
                  <a:pt x="360" y="7"/>
                </a:lnTo>
                <a:lnTo>
                  <a:pt x="344" y="8"/>
                </a:lnTo>
                <a:lnTo>
                  <a:pt x="327" y="9"/>
                </a:lnTo>
                <a:lnTo>
                  <a:pt x="311" y="10"/>
                </a:lnTo>
                <a:lnTo>
                  <a:pt x="295" y="11"/>
                </a:lnTo>
                <a:lnTo>
                  <a:pt x="278" y="12"/>
                </a:lnTo>
                <a:lnTo>
                  <a:pt x="262" y="13"/>
                </a:lnTo>
                <a:lnTo>
                  <a:pt x="246" y="15"/>
                </a:lnTo>
                <a:lnTo>
                  <a:pt x="229" y="16"/>
                </a:lnTo>
                <a:lnTo>
                  <a:pt x="213" y="18"/>
                </a:lnTo>
                <a:lnTo>
                  <a:pt x="196" y="19"/>
                </a:lnTo>
                <a:lnTo>
                  <a:pt x="180" y="21"/>
                </a:lnTo>
                <a:lnTo>
                  <a:pt x="164" y="23"/>
                </a:lnTo>
                <a:lnTo>
                  <a:pt x="147" y="24"/>
                </a:lnTo>
                <a:lnTo>
                  <a:pt x="131" y="26"/>
                </a:lnTo>
                <a:lnTo>
                  <a:pt x="114" y="27"/>
                </a:lnTo>
                <a:lnTo>
                  <a:pt x="98" y="28"/>
                </a:lnTo>
                <a:lnTo>
                  <a:pt x="82" y="29"/>
                </a:lnTo>
                <a:lnTo>
                  <a:pt x="65" y="30"/>
                </a:lnTo>
                <a:lnTo>
                  <a:pt x="49" y="31"/>
                </a:lnTo>
                <a:lnTo>
                  <a:pt x="33" y="32"/>
                </a:lnTo>
                <a:lnTo>
                  <a:pt x="16" y="32"/>
                </a:lnTo>
                <a:lnTo>
                  <a:pt x="0" y="3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Freeform 30"/>
          <p:cNvSpPr/>
          <p:nvPr/>
        </p:nvSpPr>
        <p:spPr>
          <a:xfrm>
            <a:off x="2057400" y="5791200"/>
            <a:ext cx="3743325" cy="114300"/>
          </a:xfrm>
          <a:custGeom>
            <a:avLst/>
            <a:gdLst/>
            <a:ahLst/>
            <a:cxnLst/>
            <a:rect l="l" t="t" r="r" b="b"/>
            <a:pathLst>
              <a:path w="393" h="12">
                <a:moveTo>
                  <a:pt x="0" y="0"/>
                </a:moveTo>
                <a:lnTo>
                  <a:pt x="16" y="0"/>
                </a:lnTo>
                <a:lnTo>
                  <a:pt x="33" y="0"/>
                </a:lnTo>
                <a:lnTo>
                  <a:pt x="49" y="1"/>
                </a:lnTo>
                <a:lnTo>
                  <a:pt x="65" y="1"/>
                </a:lnTo>
                <a:lnTo>
                  <a:pt x="82" y="1"/>
                </a:lnTo>
                <a:lnTo>
                  <a:pt x="98" y="1"/>
                </a:lnTo>
                <a:lnTo>
                  <a:pt x="114" y="2"/>
                </a:lnTo>
                <a:lnTo>
                  <a:pt x="131" y="2"/>
                </a:lnTo>
                <a:lnTo>
                  <a:pt x="147" y="2"/>
                </a:lnTo>
                <a:lnTo>
                  <a:pt x="164" y="3"/>
                </a:lnTo>
                <a:lnTo>
                  <a:pt x="180" y="3"/>
                </a:lnTo>
                <a:lnTo>
                  <a:pt x="196" y="4"/>
                </a:lnTo>
                <a:lnTo>
                  <a:pt x="213" y="4"/>
                </a:lnTo>
                <a:lnTo>
                  <a:pt x="229" y="4"/>
                </a:lnTo>
                <a:lnTo>
                  <a:pt x="246" y="5"/>
                </a:lnTo>
                <a:lnTo>
                  <a:pt x="262" y="5"/>
                </a:lnTo>
                <a:lnTo>
                  <a:pt x="278" y="5"/>
                </a:lnTo>
                <a:lnTo>
                  <a:pt x="295" y="6"/>
                </a:lnTo>
                <a:lnTo>
                  <a:pt x="311" y="6"/>
                </a:lnTo>
                <a:lnTo>
                  <a:pt x="327" y="6"/>
                </a:lnTo>
                <a:lnTo>
                  <a:pt x="344" y="7"/>
                </a:lnTo>
                <a:lnTo>
                  <a:pt x="360" y="7"/>
                </a:lnTo>
                <a:lnTo>
                  <a:pt x="377" y="7"/>
                </a:lnTo>
                <a:lnTo>
                  <a:pt x="393" y="7"/>
                </a:lnTo>
                <a:lnTo>
                  <a:pt x="393" y="12"/>
                </a:lnTo>
                <a:lnTo>
                  <a:pt x="377" y="12"/>
                </a:lnTo>
                <a:lnTo>
                  <a:pt x="360" y="12"/>
                </a:lnTo>
                <a:lnTo>
                  <a:pt x="344" y="12"/>
                </a:lnTo>
                <a:lnTo>
                  <a:pt x="327" y="11"/>
                </a:lnTo>
                <a:lnTo>
                  <a:pt x="311" y="11"/>
                </a:lnTo>
                <a:lnTo>
                  <a:pt x="295" y="11"/>
                </a:lnTo>
                <a:lnTo>
                  <a:pt x="278" y="11"/>
                </a:lnTo>
                <a:lnTo>
                  <a:pt x="262" y="10"/>
                </a:lnTo>
                <a:lnTo>
                  <a:pt x="246" y="10"/>
                </a:lnTo>
                <a:lnTo>
                  <a:pt x="229" y="10"/>
                </a:lnTo>
                <a:lnTo>
                  <a:pt x="213" y="9"/>
                </a:lnTo>
                <a:lnTo>
                  <a:pt x="196" y="9"/>
                </a:lnTo>
                <a:lnTo>
                  <a:pt x="180" y="8"/>
                </a:lnTo>
                <a:lnTo>
                  <a:pt x="164" y="8"/>
                </a:lnTo>
                <a:lnTo>
                  <a:pt x="147" y="7"/>
                </a:lnTo>
                <a:lnTo>
                  <a:pt x="131" y="7"/>
                </a:lnTo>
                <a:lnTo>
                  <a:pt x="114" y="7"/>
                </a:lnTo>
                <a:lnTo>
                  <a:pt x="98" y="6"/>
                </a:lnTo>
                <a:lnTo>
                  <a:pt x="82" y="6"/>
                </a:lnTo>
                <a:lnTo>
                  <a:pt x="65" y="6"/>
                </a:lnTo>
                <a:lnTo>
                  <a:pt x="49" y="6"/>
                </a:lnTo>
                <a:lnTo>
                  <a:pt x="33" y="6"/>
                </a:lnTo>
                <a:lnTo>
                  <a:pt x="16" y="5"/>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reeform 31"/>
          <p:cNvSpPr/>
          <p:nvPr/>
        </p:nvSpPr>
        <p:spPr>
          <a:xfrm>
            <a:off x="2057400" y="5838825"/>
            <a:ext cx="3743325" cy="361950"/>
          </a:xfrm>
          <a:custGeom>
            <a:avLst/>
            <a:gdLst/>
            <a:ahLst/>
            <a:cxnLst/>
            <a:rect l="l" t="t" r="r" b="b"/>
            <a:pathLst>
              <a:path w="393" h="38">
                <a:moveTo>
                  <a:pt x="0" y="0"/>
                </a:moveTo>
                <a:lnTo>
                  <a:pt x="16" y="1"/>
                </a:lnTo>
                <a:lnTo>
                  <a:pt x="33" y="1"/>
                </a:lnTo>
                <a:lnTo>
                  <a:pt x="49" y="2"/>
                </a:lnTo>
                <a:lnTo>
                  <a:pt x="65" y="3"/>
                </a:lnTo>
                <a:lnTo>
                  <a:pt x="82" y="4"/>
                </a:lnTo>
                <a:lnTo>
                  <a:pt x="98" y="6"/>
                </a:lnTo>
                <a:lnTo>
                  <a:pt x="114" y="7"/>
                </a:lnTo>
                <a:lnTo>
                  <a:pt x="131" y="9"/>
                </a:lnTo>
                <a:lnTo>
                  <a:pt x="147" y="11"/>
                </a:lnTo>
                <a:lnTo>
                  <a:pt x="164" y="13"/>
                </a:lnTo>
                <a:lnTo>
                  <a:pt x="180" y="15"/>
                </a:lnTo>
                <a:lnTo>
                  <a:pt x="196" y="17"/>
                </a:lnTo>
                <a:lnTo>
                  <a:pt x="213" y="19"/>
                </a:lnTo>
                <a:lnTo>
                  <a:pt x="229" y="21"/>
                </a:lnTo>
                <a:lnTo>
                  <a:pt x="246" y="23"/>
                </a:lnTo>
                <a:lnTo>
                  <a:pt x="262" y="25"/>
                </a:lnTo>
                <a:lnTo>
                  <a:pt x="278" y="27"/>
                </a:lnTo>
                <a:lnTo>
                  <a:pt x="295" y="28"/>
                </a:lnTo>
                <a:lnTo>
                  <a:pt x="311" y="30"/>
                </a:lnTo>
                <a:lnTo>
                  <a:pt x="327" y="31"/>
                </a:lnTo>
                <a:lnTo>
                  <a:pt x="344" y="32"/>
                </a:lnTo>
                <a:lnTo>
                  <a:pt x="360" y="33"/>
                </a:lnTo>
                <a:lnTo>
                  <a:pt x="377" y="33"/>
                </a:lnTo>
                <a:lnTo>
                  <a:pt x="393" y="34"/>
                </a:lnTo>
                <a:lnTo>
                  <a:pt x="393" y="38"/>
                </a:lnTo>
                <a:lnTo>
                  <a:pt x="377" y="38"/>
                </a:lnTo>
                <a:lnTo>
                  <a:pt x="360" y="37"/>
                </a:lnTo>
                <a:lnTo>
                  <a:pt x="344" y="37"/>
                </a:lnTo>
                <a:lnTo>
                  <a:pt x="327" y="36"/>
                </a:lnTo>
                <a:lnTo>
                  <a:pt x="311" y="34"/>
                </a:lnTo>
                <a:lnTo>
                  <a:pt x="295" y="33"/>
                </a:lnTo>
                <a:lnTo>
                  <a:pt x="278" y="31"/>
                </a:lnTo>
                <a:lnTo>
                  <a:pt x="262" y="29"/>
                </a:lnTo>
                <a:lnTo>
                  <a:pt x="246" y="28"/>
                </a:lnTo>
                <a:lnTo>
                  <a:pt x="229" y="26"/>
                </a:lnTo>
                <a:lnTo>
                  <a:pt x="213" y="23"/>
                </a:lnTo>
                <a:lnTo>
                  <a:pt x="196" y="21"/>
                </a:lnTo>
                <a:lnTo>
                  <a:pt x="180" y="19"/>
                </a:lnTo>
                <a:lnTo>
                  <a:pt x="164" y="17"/>
                </a:lnTo>
                <a:lnTo>
                  <a:pt x="147" y="15"/>
                </a:lnTo>
                <a:lnTo>
                  <a:pt x="131" y="13"/>
                </a:lnTo>
                <a:lnTo>
                  <a:pt x="114" y="12"/>
                </a:lnTo>
                <a:lnTo>
                  <a:pt x="98" y="10"/>
                </a:lnTo>
                <a:lnTo>
                  <a:pt x="82" y="9"/>
                </a:lnTo>
                <a:lnTo>
                  <a:pt x="65" y="7"/>
                </a:lnTo>
                <a:lnTo>
                  <a:pt x="49" y="6"/>
                </a:lnTo>
                <a:lnTo>
                  <a:pt x="33" y="5"/>
                </a:lnTo>
                <a:lnTo>
                  <a:pt x="16" y="5"/>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reeform 32"/>
          <p:cNvSpPr/>
          <p:nvPr/>
        </p:nvSpPr>
        <p:spPr>
          <a:xfrm>
            <a:off x="2057400" y="5886450"/>
            <a:ext cx="3743325" cy="600075"/>
          </a:xfrm>
          <a:custGeom>
            <a:avLst/>
            <a:gdLst/>
            <a:ahLst/>
            <a:cxnLst/>
            <a:rect l="l" t="t" r="r" b="b"/>
            <a:pathLst>
              <a:path w="393" h="63">
                <a:moveTo>
                  <a:pt x="0" y="0"/>
                </a:moveTo>
                <a:lnTo>
                  <a:pt x="16" y="0"/>
                </a:lnTo>
                <a:lnTo>
                  <a:pt x="33" y="1"/>
                </a:lnTo>
                <a:lnTo>
                  <a:pt x="49" y="2"/>
                </a:lnTo>
                <a:lnTo>
                  <a:pt x="65" y="4"/>
                </a:lnTo>
                <a:lnTo>
                  <a:pt x="82" y="6"/>
                </a:lnTo>
                <a:lnTo>
                  <a:pt x="98" y="9"/>
                </a:lnTo>
                <a:lnTo>
                  <a:pt x="114" y="12"/>
                </a:lnTo>
                <a:lnTo>
                  <a:pt x="131" y="15"/>
                </a:lnTo>
                <a:lnTo>
                  <a:pt x="147" y="18"/>
                </a:lnTo>
                <a:lnTo>
                  <a:pt x="164" y="22"/>
                </a:lnTo>
                <a:lnTo>
                  <a:pt x="180" y="26"/>
                </a:lnTo>
                <a:lnTo>
                  <a:pt x="196" y="29"/>
                </a:lnTo>
                <a:lnTo>
                  <a:pt x="213" y="33"/>
                </a:lnTo>
                <a:lnTo>
                  <a:pt x="229" y="36"/>
                </a:lnTo>
                <a:lnTo>
                  <a:pt x="246" y="40"/>
                </a:lnTo>
                <a:lnTo>
                  <a:pt x="262" y="43"/>
                </a:lnTo>
                <a:lnTo>
                  <a:pt x="278" y="46"/>
                </a:lnTo>
                <a:lnTo>
                  <a:pt x="295" y="49"/>
                </a:lnTo>
                <a:lnTo>
                  <a:pt x="311" y="52"/>
                </a:lnTo>
                <a:lnTo>
                  <a:pt x="327" y="54"/>
                </a:lnTo>
                <a:lnTo>
                  <a:pt x="344" y="56"/>
                </a:lnTo>
                <a:lnTo>
                  <a:pt x="360" y="57"/>
                </a:lnTo>
                <a:lnTo>
                  <a:pt x="377" y="58"/>
                </a:lnTo>
                <a:lnTo>
                  <a:pt x="393" y="59"/>
                </a:lnTo>
                <a:lnTo>
                  <a:pt x="393" y="63"/>
                </a:lnTo>
                <a:lnTo>
                  <a:pt x="377" y="63"/>
                </a:lnTo>
                <a:lnTo>
                  <a:pt x="360" y="62"/>
                </a:lnTo>
                <a:lnTo>
                  <a:pt x="344" y="60"/>
                </a:lnTo>
                <a:lnTo>
                  <a:pt x="327" y="58"/>
                </a:lnTo>
                <a:lnTo>
                  <a:pt x="311" y="56"/>
                </a:lnTo>
                <a:lnTo>
                  <a:pt x="295" y="54"/>
                </a:lnTo>
                <a:lnTo>
                  <a:pt x="278" y="51"/>
                </a:lnTo>
                <a:lnTo>
                  <a:pt x="262" y="48"/>
                </a:lnTo>
                <a:lnTo>
                  <a:pt x="246" y="44"/>
                </a:lnTo>
                <a:lnTo>
                  <a:pt x="229" y="41"/>
                </a:lnTo>
                <a:lnTo>
                  <a:pt x="213" y="37"/>
                </a:lnTo>
                <a:lnTo>
                  <a:pt x="196" y="33"/>
                </a:lnTo>
                <a:lnTo>
                  <a:pt x="180" y="30"/>
                </a:lnTo>
                <a:lnTo>
                  <a:pt x="164" y="26"/>
                </a:lnTo>
                <a:lnTo>
                  <a:pt x="147" y="23"/>
                </a:lnTo>
                <a:lnTo>
                  <a:pt x="131" y="19"/>
                </a:lnTo>
                <a:lnTo>
                  <a:pt x="114" y="16"/>
                </a:lnTo>
                <a:lnTo>
                  <a:pt x="98" y="13"/>
                </a:lnTo>
                <a:lnTo>
                  <a:pt x="82" y="11"/>
                </a:lnTo>
                <a:lnTo>
                  <a:pt x="65" y="8"/>
                </a:lnTo>
                <a:lnTo>
                  <a:pt x="49" y="7"/>
                </a:lnTo>
                <a:lnTo>
                  <a:pt x="33" y="5"/>
                </a:lnTo>
                <a:lnTo>
                  <a:pt x="16" y="4"/>
                </a:lnTo>
                <a:lnTo>
                  <a:pt x="0" y="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Freeform 33"/>
          <p:cNvSpPr/>
          <p:nvPr/>
        </p:nvSpPr>
        <p:spPr>
          <a:xfrm>
            <a:off x="2057400" y="4657725"/>
            <a:ext cx="3743325" cy="1371600"/>
          </a:xfrm>
          <a:custGeom>
            <a:avLst/>
            <a:gdLst/>
            <a:ahLst/>
            <a:cxnLst/>
            <a:rect l="l" t="t" r="r" b="b"/>
            <a:pathLst>
              <a:path w="393" h="144">
                <a:moveTo>
                  <a:pt x="0" y="139"/>
                </a:moveTo>
                <a:lnTo>
                  <a:pt x="16" y="138"/>
                </a:lnTo>
                <a:lnTo>
                  <a:pt x="33" y="136"/>
                </a:lnTo>
                <a:lnTo>
                  <a:pt x="49" y="133"/>
                </a:lnTo>
                <a:lnTo>
                  <a:pt x="65" y="129"/>
                </a:lnTo>
                <a:lnTo>
                  <a:pt x="82" y="124"/>
                </a:lnTo>
                <a:lnTo>
                  <a:pt x="98" y="117"/>
                </a:lnTo>
                <a:lnTo>
                  <a:pt x="114" y="111"/>
                </a:lnTo>
                <a:lnTo>
                  <a:pt x="131" y="103"/>
                </a:lnTo>
                <a:lnTo>
                  <a:pt x="147" y="95"/>
                </a:lnTo>
                <a:lnTo>
                  <a:pt x="164" y="87"/>
                </a:lnTo>
                <a:lnTo>
                  <a:pt x="180" y="78"/>
                </a:lnTo>
                <a:lnTo>
                  <a:pt x="196" y="70"/>
                </a:lnTo>
                <a:lnTo>
                  <a:pt x="213" y="61"/>
                </a:lnTo>
                <a:lnTo>
                  <a:pt x="229" y="53"/>
                </a:lnTo>
                <a:lnTo>
                  <a:pt x="246" y="44"/>
                </a:lnTo>
                <a:lnTo>
                  <a:pt x="262" y="36"/>
                </a:lnTo>
                <a:lnTo>
                  <a:pt x="278" y="29"/>
                </a:lnTo>
                <a:lnTo>
                  <a:pt x="295" y="22"/>
                </a:lnTo>
                <a:lnTo>
                  <a:pt x="311" y="16"/>
                </a:lnTo>
                <a:lnTo>
                  <a:pt x="327" y="11"/>
                </a:lnTo>
                <a:lnTo>
                  <a:pt x="344" y="6"/>
                </a:lnTo>
                <a:lnTo>
                  <a:pt x="360" y="3"/>
                </a:lnTo>
                <a:lnTo>
                  <a:pt x="377" y="1"/>
                </a:lnTo>
                <a:lnTo>
                  <a:pt x="393" y="0"/>
                </a:lnTo>
                <a:lnTo>
                  <a:pt x="393" y="5"/>
                </a:lnTo>
                <a:lnTo>
                  <a:pt x="377" y="6"/>
                </a:lnTo>
                <a:lnTo>
                  <a:pt x="360" y="8"/>
                </a:lnTo>
                <a:lnTo>
                  <a:pt x="344" y="11"/>
                </a:lnTo>
                <a:lnTo>
                  <a:pt x="327" y="15"/>
                </a:lnTo>
                <a:lnTo>
                  <a:pt x="311" y="20"/>
                </a:lnTo>
                <a:lnTo>
                  <a:pt x="295" y="27"/>
                </a:lnTo>
                <a:lnTo>
                  <a:pt x="278" y="33"/>
                </a:lnTo>
                <a:lnTo>
                  <a:pt x="262" y="41"/>
                </a:lnTo>
                <a:lnTo>
                  <a:pt x="246" y="49"/>
                </a:lnTo>
                <a:lnTo>
                  <a:pt x="229" y="57"/>
                </a:lnTo>
                <a:lnTo>
                  <a:pt x="213" y="66"/>
                </a:lnTo>
                <a:lnTo>
                  <a:pt x="196" y="74"/>
                </a:lnTo>
                <a:lnTo>
                  <a:pt x="180" y="83"/>
                </a:lnTo>
                <a:lnTo>
                  <a:pt x="164" y="91"/>
                </a:lnTo>
                <a:lnTo>
                  <a:pt x="147" y="100"/>
                </a:lnTo>
                <a:lnTo>
                  <a:pt x="131" y="108"/>
                </a:lnTo>
                <a:lnTo>
                  <a:pt x="114" y="115"/>
                </a:lnTo>
                <a:lnTo>
                  <a:pt x="98" y="122"/>
                </a:lnTo>
                <a:lnTo>
                  <a:pt x="82" y="128"/>
                </a:lnTo>
                <a:lnTo>
                  <a:pt x="65" y="133"/>
                </a:lnTo>
                <a:lnTo>
                  <a:pt x="49" y="138"/>
                </a:lnTo>
                <a:lnTo>
                  <a:pt x="33" y="141"/>
                </a:lnTo>
                <a:lnTo>
                  <a:pt x="16" y="143"/>
                </a:lnTo>
                <a:lnTo>
                  <a:pt x="0" y="14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reeform 34"/>
          <p:cNvSpPr/>
          <p:nvPr/>
        </p:nvSpPr>
        <p:spPr>
          <a:xfrm>
            <a:off x="2057400" y="5153025"/>
            <a:ext cx="3743325" cy="923925"/>
          </a:xfrm>
          <a:custGeom>
            <a:avLst/>
            <a:gdLst/>
            <a:ahLst/>
            <a:cxnLst/>
            <a:rect l="l" t="t" r="r" b="b"/>
            <a:pathLst>
              <a:path w="393" h="97">
                <a:moveTo>
                  <a:pt x="0" y="92"/>
                </a:moveTo>
                <a:lnTo>
                  <a:pt x="16" y="91"/>
                </a:lnTo>
                <a:lnTo>
                  <a:pt x="33" y="90"/>
                </a:lnTo>
                <a:lnTo>
                  <a:pt x="49" y="88"/>
                </a:lnTo>
                <a:lnTo>
                  <a:pt x="65" y="85"/>
                </a:lnTo>
                <a:lnTo>
                  <a:pt x="82" y="81"/>
                </a:lnTo>
                <a:lnTo>
                  <a:pt x="98" y="77"/>
                </a:lnTo>
                <a:lnTo>
                  <a:pt x="114" y="73"/>
                </a:lnTo>
                <a:lnTo>
                  <a:pt x="131" y="68"/>
                </a:lnTo>
                <a:lnTo>
                  <a:pt x="147" y="62"/>
                </a:lnTo>
                <a:lnTo>
                  <a:pt x="164" y="57"/>
                </a:lnTo>
                <a:lnTo>
                  <a:pt x="180" y="51"/>
                </a:lnTo>
                <a:lnTo>
                  <a:pt x="196" y="46"/>
                </a:lnTo>
                <a:lnTo>
                  <a:pt x="213" y="40"/>
                </a:lnTo>
                <a:lnTo>
                  <a:pt x="229" y="34"/>
                </a:lnTo>
                <a:lnTo>
                  <a:pt x="246" y="29"/>
                </a:lnTo>
                <a:lnTo>
                  <a:pt x="262" y="23"/>
                </a:lnTo>
                <a:lnTo>
                  <a:pt x="278" y="18"/>
                </a:lnTo>
                <a:lnTo>
                  <a:pt x="295" y="14"/>
                </a:lnTo>
                <a:lnTo>
                  <a:pt x="311" y="10"/>
                </a:lnTo>
                <a:lnTo>
                  <a:pt x="327" y="6"/>
                </a:lnTo>
                <a:lnTo>
                  <a:pt x="344" y="3"/>
                </a:lnTo>
                <a:lnTo>
                  <a:pt x="360" y="1"/>
                </a:lnTo>
                <a:lnTo>
                  <a:pt x="377" y="0"/>
                </a:lnTo>
                <a:lnTo>
                  <a:pt x="393" y="0"/>
                </a:lnTo>
                <a:lnTo>
                  <a:pt x="393" y="4"/>
                </a:lnTo>
                <a:lnTo>
                  <a:pt x="377" y="5"/>
                </a:lnTo>
                <a:lnTo>
                  <a:pt x="360" y="6"/>
                </a:lnTo>
                <a:lnTo>
                  <a:pt x="344" y="8"/>
                </a:lnTo>
                <a:lnTo>
                  <a:pt x="327" y="11"/>
                </a:lnTo>
                <a:lnTo>
                  <a:pt x="311" y="15"/>
                </a:lnTo>
                <a:lnTo>
                  <a:pt x="295" y="19"/>
                </a:lnTo>
                <a:lnTo>
                  <a:pt x="278" y="23"/>
                </a:lnTo>
                <a:lnTo>
                  <a:pt x="262" y="28"/>
                </a:lnTo>
                <a:lnTo>
                  <a:pt x="246" y="34"/>
                </a:lnTo>
                <a:lnTo>
                  <a:pt x="229" y="39"/>
                </a:lnTo>
                <a:lnTo>
                  <a:pt x="213" y="45"/>
                </a:lnTo>
                <a:lnTo>
                  <a:pt x="196" y="50"/>
                </a:lnTo>
                <a:lnTo>
                  <a:pt x="180" y="56"/>
                </a:lnTo>
                <a:lnTo>
                  <a:pt x="164" y="62"/>
                </a:lnTo>
                <a:lnTo>
                  <a:pt x="147" y="67"/>
                </a:lnTo>
                <a:lnTo>
                  <a:pt x="131" y="73"/>
                </a:lnTo>
                <a:lnTo>
                  <a:pt x="114" y="78"/>
                </a:lnTo>
                <a:lnTo>
                  <a:pt x="98" y="82"/>
                </a:lnTo>
                <a:lnTo>
                  <a:pt x="82" y="86"/>
                </a:lnTo>
                <a:lnTo>
                  <a:pt x="65" y="90"/>
                </a:lnTo>
                <a:lnTo>
                  <a:pt x="49" y="93"/>
                </a:lnTo>
                <a:lnTo>
                  <a:pt x="33" y="95"/>
                </a:lnTo>
                <a:lnTo>
                  <a:pt x="16" y="96"/>
                </a:lnTo>
                <a:lnTo>
                  <a:pt x="0" y="9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Freeform 35"/>
          <p:cNvSpPr/>
          <p:nvPr/>
        </p:nvSpPr>
        <p:spPr>
          <a:xfrm>
            <a:off x="2057400" y="5553075"/>
            <a:ext cx="3743325" cy="552450"/>
          </a:xfrm>
          <a:custGeom>
            <a:avLst/>
            <a:gdLst/>
            <a:ahLst/>
            <a:cxnLst/>
            <a:rect l="l" t="t" r="r" b="b"/>
            <a:pathLst>
              <a:path w="393" h="58">
                <a:moveTo>
                  <a:pt x="0" y="55"/>
                </a:moveTo>
                <a:lnTo>
                  <a:pt x="16" y="54"/>
                </a:lnTo>
                <a:lnTo>
                  <a:pt x="33" y="53"/>
                </a:lnTo>
                <a:lnTo>
                  <a:pt x="49" y="52"/>
                </a:lnTo>
                <a:lnTo>
                  <a:pt x="65" y="50"/>
                </a:lnTo>
                <a:lnTo>
                  <a:pt x="82" y="48"/>
                </a:lnTo>
                <a:lnTo>
                  <a:pt x="98" y="46"/>
                </a:lnTo>
                <a:lnTo>
                  <a:pt x="114" y="43"/>
                </a:lnTo>
                <a:lnTo>
                  <a:pt x="131" y="40"/>
                </a:lnTo>
                <a:lnTo>
                  <a:pt x="147" y="37"/>
                </a:lnTo>
                <a:lnTo>
                  <a:pt x="164" y="34"/>
                </a:lnTo>
                <a:lnTo>
                  <a:pt x="180" y="31"/>
                </a:lnTo>
                <a:lnTo>
                  <a:pt x="196" y="27"/>
                </a:lnTo>
                <a:lnTo>
                  <a:pt x="213" y="24"/>
                </a:lnTo>
                <a:lnTo>
                  <a:pt x="229" y="20"/>
                </a:lnTo>
                <a:lnTo>
                  <a:pt x="246" y="17"/>
                </a:lnTo>
                <a:lnTo>
                  <a:pt x="262" y="14"/>
                </a:lnTo>
                <a:lnTo>
                  <a:pt x="278" y="11"/>
                </a:lnTo>
                <a:lnTo>
                  <a:pt x="295" y="8"/>
                </a:lnTo>
                <a:lnTo>
                  <a:pt x="311" y="6"/>
                </a:lnTo>
                <a:lnTo>
                  <a:pt x="327" y="4"/>
                </a:lnTo>
                <a:lnTo>
                  <a:pt x="344" y="2"/>
                </a:lnTo>
                <a:lnTo>
                  <a:pt x="360" y="1"/>
                </a:lnTo>
                <a:lnTo>
                  <a:pt x="377" y="0"/>
                </a:lnTo>
                <a:lnTo>
                  <a:pt x="393" y="0"/>
                </a:lnTo>
                <a:lnTo>
                  <a:pt x="393" y="3"/>
                </a:lnTo>
                <a:lnTo>
                  <a:pt x="377" y="3"/>
                </a:lnTo>
                <a:lnTo>
                  <a:pt x="360" y="4"/>
                </a:lnTo>
                <a:lnTo>
                  <a:pt x="344" y="6"/>
                </a:lnTo>
                <a:lnTo>
                  <a:pt x="327" y="7"/>
                </a:lnTo>
                <a:lnTo>
                  <a:pt x="311" y="9"/>
                </a:lnTo>
                <a:lnTo>
                  <a:pt x="295" y="12"/>
                </a:lnTo>
                <a:lnTo>
                  <a:pt x="278" y="14"/>
                </a:lnTo>
                <a:lnTo>
                  <a:pt x="262" y="17"/>
                </a:lnTo>
                <a:lnTo>
                  <a:pt x="246" y="21"/>
                </a:lnTo>
                <a:lnTo>
                  <a:pt x="229" y="24"/>
                </a:lnTo>
                <a:lnTo>
                  <a:pt x="213" y="27"/>
                </a:lnTo>
                <a:lnTo>
                  <a:pt x="196" y="31"/>
                </a:lnTo>
                <a:lnTo>
                  <a:pt x="180" y="34"/>
                </a:lnTo>
                <a:lnTo>
                  <a:pt x="164" y="37"/>
                </a:lnTo>
                <a:lnTo>
                  <a:pt x="147" y="41"/>
                </a:lnTo>
                <a:lnTo>
                  <a:pt x="131" y="44"/>
                </a:lnTo>
                <a:lnTo>
                  <a:pt x="114" y="47"/>
                </a:lnTo>
                <a:lnTo>
                  <a:pt x="98" y="49"/>
                </a:lnTo>
                <a:lnTo>
                  <a:pt x="82" y="52"/>
                </a:lnTo>
                <a:lnTo>
                  <a:pt x="65" y="54"/>
                </a:lnTo>
                <a:lnTo>
                  <a:pt x="49" y="56"/>
                </a:lnTo>
                <a:lnTo>
                  <a:pt x="33" y="57"/>
                </a:lnTo>
                <a:lnTo>
                  <a:pt x="16" y="58"/>
                </a:lnTo>
                <a:lnTo>
                  <a:pt x="0" y="5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Freeform 36"/>
          <p:cNvSpPr/>
          <p:nvPr/>
        </p:nvSpPr>
        <p:spPr>
          <a:xfrm>
            <a:off x="2057400" y="5905500"/>
            <a:ext cx="3743325" cy="228600"/>
          </a:xfrm>
          <a:custGeom>
            <a:avLst/>
            <a:gdLst/>
            <a:ahLst/>
            <a:cxnLst/>
            <a:rect l="l" t="t" r="r" b="b"/>
            <a:pathLst>
              <a:path w="393" h="24">
                <a:moveTo>
                  <a:pt x="0" y="21"/>
                </a:moveTo>
                <a:lnTo>
                  <a:pt x="16" y="21"/>
                </a:lnTo>
                <a:lnTo>
                  <a:pt x="33" y="21"/>
                </a:lnTo>
                <a:lnTo>
                  <a:pt x="49" y="20"/>
                </a:lnTo>
                <a:lnTo>
                  <a:pt x="65" y="19"/>
                </a:lnTo>
                <a:lnTo>
                  <a:pt x="82" y="19"/>
                </a:lnTo>
                <a:lnTo>
                  <a:pt x="98" y="18"/>
                </a:lnTo>
                <a:lnTo>
                  <a:pt x="114" y="17"/>
                </a:lnTo>
                <a:lnTo>
                  <a:pt x="131" y="16"/>
                </a:lnTo>
                <a:lnTo>
                  <a:pt x="147" y="14"/>
                </a:lnTo>
                <a:lnTo>
                  <a:pt x="164" y="13"/>
                </a:lnTo>
                <a:lnTo>
                  <a:pt x="180" y="12"/>
                </a:lnTo>
                <a:lnTo>
                  <a:pt x="196" y="10"/>
                </a:lnTo>
                <a:lnTo>
                  <a:pt x="213" y="9"/>
                </a:lnTo>
                <a:lnTo>
                  <a:pt x="229" y="8"/>
                </a:lnTo>
                <a:lnTo>
                  <a:pt x="246" y="7"/>
                </a:lnTo>
                <a:lnTo>
                  <a:pt x="262" y="5"/>
                </a:lnTo>
                <a:lnTo>
                  <a:pt x="278" y="4"/>
                </a:lnTo>
                <a:lnTo>
                  <a:pt x="295" y="3"/>
                </a:lnTo>
                <a:lnTo>
                  <a:pt x="311" y="2"/>
                </a:lnTo>
                <a:lnTo>
                  <a:pt x="327" y="2"/>
                </a:lnTo>
                <a:lnTo>
                  <a:pt x="344" y="1"/>
                </a:lnTo>
                <a:lnTo>
                  <a:pt x="360" y="0"/>
                </a:lnTo>
                <a:lnTo>
                  <a:pt x="377" y="0"/>
                </a:lnTo>
                <a:lnTo>
                  <a:pt x="393" y="0"/>
                </a:lnTo>
                <a:lnTo>
                  <a:pt x="393" y="3"/>
                </a:lnTo>
                <a:lnTo>
                  <a:pt x="377" y="3"/>
                </a:lnTo>
                <a:lnTo>
                  <a:pt x="360" y="4"/>
                </a:lnTo>
                <a:lnTo>
                  <a:pt x="344" y="4"/>
                </a:lnTo>
                <a:lnTo>
                  <a:pt x="327" y="5"/>
                </a:lnTo>
                <a:lnTo>
                  <a:pt x="311" y="6"/>
                </a:lnTo>
                <a:lnTo>
                  <a:pt x="295" y="6"/>
                </a:lnTo>
                <a:lnTo>
                  <a:pt x="278" y="7"/>
                </a:lnTo>
                <a:lnTo>
                  <a:pt x="262" y="9"/>
                </a:lnTo>
                <a:lnTo>
                  <a:pt x="246" y="10"/>
                </a:lnTo>
                <a:lnTo>
                  <a:pt x="229" y="11"/>
                </a:lnTo>
                <a:lnTo>
                  <a:pt x="213" y="12"/>
                </a:lnTo>
                <a:lnTo>
                  <a:pt x="196" y="14"/>
                </a:lnTo>
                <a:lnTo>
                  <a:pt x="180" y="15"/>
                </a:lnTo>
                <a:lnTo>
                  <a:pt x="164" y="16"/>
                </a:lnTo>
                <a:lnTo>
                  <a:pt x="147" y="18"/>
                </a:lnTo>
                <a:lnTo>
                  <a:pt x="131" y="19"/>
                </a:lnTo>
                <a:lnTo>
                  <a:pt x="114" y="20"/>
                </a:lnTo>
                <a:lnTo>
                  <a:pt x="98" y="21"/>
                </a:lnTo>
                <a:lnTo>
                  <a:pt x="82" y="22"/>
                </a:lnTo>
                <a:lnTo>
                  <a:pt x="65" y="23"/>
                </a:lnTo>
                <a:lnTo>
                  <a:pt x="49" y="23"/>
                </a:lnTo>
                <a:lnTo>
                  <a:pt x="33" y="24"/>
                </a:lnTo>
                <a:lnTo>
                  <a:pt x="16" y="24"/>
                </a:lnTo>
                <a:lnTo>
                  <a:pt x="0" y="2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Freeform 37"/>
          <p:cNvSpPr/>
          <p:nvPr/>
        </p:nvSpPr>
        <p:spPr>
          <a:xfrm>
            <a:off x="2057400" y="6134100"/>
            <a:ext cx="3743325" cy="95250"/>
          </a:xfrm>
          <a:custGeom>
            <a:avLst/>
            <a:gdLst/>
            <a:ahLst/>
            <a:cxnLst/>
            <a:rect l="l" t="t" r="r" b="b"/>
            <a:pathLst>
              <a:path w="393" h="10">
                <a:moveTo>
                  <a:pt x="0" y="0"/>
                </a:moveTo>
                <a:lnTo>
                  <a:pt x="16" y="0"/>
                </a:lnTo>
                <a:lnTo>
                  <a:pt x="33" y="0"/>
                </a:lnTo>
                <a:lnTo>
                  <a:pt x="49" y="0"/>
                </a:lnTo>
                <a:lnTo>
                  <a:pt x="65" y="1"/>
                </a:lnTo>
                <a:lnTo>
                  <a:pt x="82" y="1"/>
                </a:lnTo>
                <a:lnTo>
                  <a:pt x="98" y="1"/>
                </a:lnTo>
                <a:lnTo>
                  <a:pt x="114" y="2"/>
                </a:lnTo>
                <a:lnTo>
                  <a:pt x="131" y="2"/>
                </a:lnTo>
                <a:lnTo>
                  <a:pt x="147" y="2"/>
                </a:lnTo>
                <a:lnTo>
                  <a:pt x="164" y="3"/>
                </a:lnTo>
                <a:lnTo>
                  <a:pt x="180" y="3"/>
                </a:lnTo>
                <a:lnTo>
                  <a:pt x="196" y="4"/>
                </a:lnTo>
                <a:lnTo>
                  <a:pt x="213" y="4"/>
                </a:lnTo>
                <a:lnTo>
                  <a:pt x="229" y="4"/>
                </a:lnTo>
                <a:lnTo>
                  <a:pt x="246" y="5"/>
                </a:lnTo>
                <a:lnTo>
                  <a:pt x="262" y="5"/>
                </a:lnTo>
                <a:lnTo>
                  <a:pt x="278" y="6"/>
                </a:lnTo>
                <a:lnTo>
                  <a:pt x="295" y="6"/>
                </a:lnTo>
                <a:lnTo>
                  <a:pt x="311" y="6"/>
                </a:lnTo>
                <a:lnTo>
                  <a:pt x="327" y="6"/>
                </a:lnTo>
                <a:lnTo>
                  <a:pt x="344" y="7"/>
                </a:lnTo>
                <a:lnTo>
                  <a:pt x="360" y="7"/>
                </a:lnTo>
                <a:lnTo>
                  <a:pt x="377" y="7"/>
                </a:lnTo>
                <a:lnTo>
                  <a:pt x="393" y="7"/>
                </a:lnTo>
                <a:lnTo>
                  <a:pt x="393" y="10"/>
                </a:lnTo>
                <a:lnTo>
                  <a:pt x="377" y="10"/>
                </a:lnTo>
                <a:lnTo>
                  <a:pt x="360" y="9"/>
                </a:lnTo>
                <a:lnTo>
                  <a:pt x="344" y="9"/>
                </a:lnTo>
                <a:lnTo>
                  <a:pt x="327" y="9"/>
                </a:lnTo>
                <a:lnTo>
                  <a:pt x="311" y="9"/>
                </a:lnTo>
                <a:lnTo>
                  <a:pt x="295" y="8"/>
                </a:lnTo>
                <a:lnTo>
                  <a:pt x="278" y="8"/>
                </a:lnTo>
                <a:lnTo>
                  <a:pt x="262" y="8"/>
                </a:lnTo>
                <a:lnTo>
                  <a:pt x="246" y="7"/>
                </a:lnTo>
                <a:lnTo>
                  <a:pt x="229" y="7"/>
                </a:lnTo>
                <a:lnTo>
                  <a:pt x="213" y="7"/>
                </a:lnTo>
                <a:lnTo>
                  <a:pt x="196" y="6"/>
                </a:lnTo>
                <a:lnTo>
                  <a:pt x="180" y="6"/>
                </a:lnTo>
                <a:lnTo>
                  <a:pt x="164" y="5"/>
                </a:lnTo>
                <a:lnTo>
                  <a:pt x="147" y="5"/>
                </a:lnTo>
                <a:lnTo>
                  <a:pt x="131" y="4"/>
                </a:lnTo>
                <a:lnTo>
                  <a:pt x="114" y="4"/>
                </a:lnTo>
                <a:lnTo>
                  <a:pt x="98" y="4"/>
                </a:lnTo>
                <a:lnTo>
                  <a:pt x="82" y="3"/>
                </a:lnTo>
                <a:lnTo>
                  <a:pt x="65" y="3"/>
                </a:lnTo>
                <a:lnTo>
                  <a:pt x="49" y="3"/>
                </a:lnTo>
                <a:lnTo>
                  <a:pt x="33" y="3"/>
                </a:lnTo>
                <a:lnTo>
                  <a:pt x="16" y="3"/>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Freeform 38"/>
          <p:cNvSpPr/>
          <p:nvPr/>
        </p:nvSpPr>
        <p:spPr>
          <a:xfrm>
            <a:off x="2057400" y="6162675"/>
            <a:ext cx="3743325" cy="342900"/>
          </a:xfrm>
          <a:custGeom>
            <a:avLst/>
            <a:gdLst/>
            <a:ahLst/>
            <a:cxnLst/>
            <a:rect l="l" t="t" r="r" b="b"/>
            <a:pathLst>
              <a:path w="393" h="36">
                <a:moveTo>
                  <a:pt x="0" y="0"/>
                </a:moveTo>
                <a:lnTo>
                  <a:pt x="16" y="0"/>
                </a:lnTo>
                <a:lnTo>
                  <a:pt x="33" y="0"/>
                </a:lnTo>
                <a:lnTo>
                  <a:pt x="49" y="1"/>
                </a:lnTo>
                <a:lnTo>
                  <a:pt x="65" y="2"/>
                </a:lnTo>
                <a:lnTo>
                  <a:pt x="82" y="4"/>
                </a:lnTo>
                <a:lnTo>
                  <a:pt x="98" y="5"/>
                </a:lnTo>
                <a:lnTo>
                  <a:pt x="114" y="7"/>
                </a:lnTo>
                <a:lnTo>
                  <a:pt x="131" y="9"/>
                </a:lnTo>
                <a:lnTo>
                  <a:pt x="147" y="11"/>
                </a:lnTo>
                <a:lnTo>
                  <a:pt x="164" y="13"/>
                </a:lnTo>
                <a:lnTo>
                  <a:pt x="180" y="15"/>
                </a:lnTo>
                <a:lnTo>
                  <a:pt x="196" y="17"/>
                </a:lnTo>
                <a:lnTo>
                  <a:pt x="213" y="19"/>
                </a:lnTo>
                <a:lnTo>
                  <a:pt x="229" y="21"/>
                </a:lnTo>
                <a:lnTo>
                  <a:pt x="246" y="23"/>
                </a:lnTo>
                <a:lnTo>
                  <a:pt x="262" y="25"/>
                </a:lnTo>
                <a:lnTo>
                  <a:pt x="278" y="27"/>
                </a:lnTo>
                <a:lnTo>
                  <a:pt x="295" y="28"/>
                </a:lnTo>
                <a:lnTo>
                  <a:pt x="311" y="30"/>
                </a:lnTo>
                <a:lnTo>
                  <a:pt x="327" y="31"/>
                </a:lnTo>
                <a:lnTo>
                  <a:pt x="344" y="32"/>
                </a:lnTo>
                <a:lnTo>
                  <a:pt x="360" y="33"/>
                </a:lnTo>
                <a:lnTo>
                  <a:pt x="377" y="34"/>
                </a:lnTo>
                <a:lnTo>
                  <a:pt x="393" y="34"/>
                </a:lnTo>
                <a:lnTo>
                  <a:pt x="393" y="36"/>
                </a:lnTo>
                <a:lnTo>
                  <a:pt x="377" y="36"/>
                </a:lnTo>
                <a:lnTo>
                  <a:pt x="360" y="35"/>
                </a:lnTo>
                <a:lnTo>
                  <a:pt x="344" y="35"/>
                </a:lnTo>
                <a:lnTo>
                  <a:pt x="327" y="34"/>
                </a:lnTo>
                <a:lnTo>
                  <a:pt x="311" y="32"/>
                </a:lnTo>
                <a:lnTo>
                  <a:pt x="295" y="31"/>
                </a:lnTo>
                <a:lnTo>
                  <a:pt x="278" y="29"/>
                </a:lnTo>
                <a:lnTo>
                  <a:pt x="262" y="27"/>
                </a:lnTo>
                <a:lnTo>
                  <a:pt x="246" y="25"/>
                </a:lnTo>
                <a:lnTo>
                  <a:pt x="229" y="23"/>
                </a:lnTo>
                <a:lnTo>
                  <a:pt x="213" y="21"/>
                </a:lnTo>
                <a:lnTo>
                  <a:pt x="196" y="19"/>
                </a:lnTo>
                <a:lnTo>
                  <a:pt x="180" y="17"/>
                </a:lnTo>
                <a:lnTo>
                  <a:pt x="164" y="15"/>
                </a:lnTo>
                <a:lnTo>
                  <a:pt x="147" y="13"/>
                </a:lnTo>
                <a:lnTo>
                  <a:pt x="131" y="11"/>
                </a:lnTo>
                <a:lnTo>
                  <a:pt x="114" y="9"/>
                </a:lnTo>
                <a:lnTo>
                  <a:pt x="98" y="7"/>
                </a:lnTo>
                <a:lnTo>
                  <a:pt x="82" y="6"/>
                </a:lnTo>
                <a:lnTo>
                  <a:pt x="65" y="5"/>
                </a:lnTo>
                <a:lnTo>
                  <a:pt x="49" y="4"/>
                </a:lnTo>
                <a:lnTo>
                  <a:pt x="33" y="3"/>
                </a:lnTo>
                <a:lnTo>
                  <a:pt x="16" y="2"/>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Freeform 39"/>
          <p:cNvSpPr/>
          <p:nvPr/>
        </p:nvSpPr>
        <p:spPr>
          <a:xfrm>
            <a:off x="2057400" y="4705350"/>
            <a:ext cx="3743325" cy="1571625"/>
          </a:xfrm>
          <a:custGeom>
            <a:avLst/>
            <a:gdLst/>
            <a:ahLst/>
            <a:cxnLst/>
            <a:rect l="l" t="t" r="r" b="b"/>
            <a:pathLst>
              <a:path w="393" h="165">
                <a:moveTo>
                  <a:pt x="0" y="161"/>
                </a:moveTo>
                <a:lnTo>
                  <a:pt x="16" y="160"/>
                </a:lnTo>
                <a:lnTo>
                  <a:pt x="33" y="158"/>
                </a:lnTo>
                <a:lnTo>
                  <a:pt x="49" y="154"/>
                </a:lnTo>
                <a:lnTo>
                  <a:pt x="65" y="149"/>
                </a:lnTo>
                <a:lnTo>
                  <a:pt x="82" y="143"/>
                </a:lnTo>
                <a:lnTo>
                  <a:pt x="98" y="136"/>
                </a:lnTo>
                <a:lnTo>
                  <a:pt x="114" y="128"/>
                </a:lnTo>
                <a:lnTo>
                  <a:pt x="131" y="119"/>
                </a:lnTo>
                <a:lnTo>
                  <a:pt x="147" y="110"/>
                </a:lnTo>
                <a:lnTo>
                  <a:pt x="164" y="100"/>
                </a:lnTo>
                <a:lnTo>
                  <a:pt x="180" y="91"/>
                </a:lnTo>
                <a:lnTo>
                  <a:pt x="196" y="80"/>
                </a:lnTo>
                <a:lnTo>
                  <a:pt x="213" y="70"/>
                </a:lnTo>
                <a:lnTo>
                  <a:pt x="229" y="61"/>
                </a:lnTo>
                <a:lnTo>
                  <a:pt x="246" y="51"/>
                </a:lnTo>
                <a:lnTo>
                  <a:pt x="262" y="42"/>
                </a:lnTo>
                <a:lnTo>
                  <a:pt x="278" y="33"/>
                </a:lnTo>
                <a:lnTo>
                  <a:pt x="295" y="25"/>
                </a:lnTo>
                <a:lnTo>
                  <a:pt x="311" y="18"/>
                </a:lnTo>
                <a:lnTo>
                  <a:pt x="327" y="12"/>
                </a:lnTo>
                <a:lnTo>
                  <a:pt x="344" y="7"/>
                </a:lnTo>
                <a:lnTo>
                  <a:pt x="360" y="3"/>
                </a:lnTo>
                <a:lnTo>
                  <a:pt x="377" y="1"/>
                </a:lnTo>
                <a:lnTo>
                  <a:pt x="393" y="0"/>
                </a:lnTo>
                <a:lnTo>
                  <a:pt x="393" y="4"/>
                </a:lnTo>
                <a:lnTo>
                  <a:pt x="377" y="4"/>
                </a:lnTo>
                <a:lnTo>
                  <a:pt x="360" y="7"/>
                </a:lnTo>
                <a:lnTo>
                  <a:pt x="344" y="10"/>
                </a:lnTo>
                <a:lnTo>
                  <a:pt x="327" y="15"/>
                </a:lnTo>
                <a:lnTo>
                  <a:pt x="311" y="22"/>
                </a:lnTo>
                <a:lnTo>
                  <a:pt x="295" y="29"/>
                </a:lnTo>
                <a:lnTo>
                  <a:pt x="278" y="37"/>
                </a:lnTo>
                <a:lnTo>
                  <a:pt x="262" y="45"/>
                </a:lnTo>
                <a:lnTo>
                  <a:pt x="246" y="55"/>
                </a:lnTo>
                <a:lnTo>
                  <a:pt x="229" y="64"/>
                </a:lnTo>
                <a:lnTo>
                  <a:pt x="213" y="74"/>
                </a:lnTo>
                <a:lnTo>
                  <a:pt x="196" y="84"/>
                </a:lnTo>
                <a:lnTo>
                  <a:pt x="180" y="94"/>
                </a:lnTo>
                <a:lnTo>
                  <a:pt x="164" y="104"/>
                </a:lnTo>
                <a:lnTo>
                  <a:pt x="147" y="114"/>
                </a:lnTo>
                <a:lnTo>
                  <a:pt x="131" y="123"/>
                </a:lnTo>
                <a:lnTo>
                  <a:pt x="114" y="132"/>
                </a:lnTo>
                <a:lnTo>
                  <a:pt x="98" y="140"/>
                </a:lnTo>
                <a:lnTo>
                  <a:pt x="82" y="147"/>
                </a:lnTo>
                <a:lnTo>
                  <a:pt x="65" y="153"/>
                </a:lnTo>
                <a:lnTo>
                  <a:pt x="49" y="158"/>
                </a:lnTo>
                <a:lnTo>
                  <a:pt x="33" y="162"/>
                </a:lnTo>
                <a:lnTo>
                  <a:pt x="16" y="164"/>
                </a:lnTo>
                <a:lnTo>
                  <a:pt x="0" y="16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Freeform 40"/>
          <p:cNvSpPr/>
          <p:nvPr/>
        </p:nvSpPr>
        <p:spPr>
          <a:xfrm>
            <a:off x="2057400" y="5191125"/>
            <a:ext cx="3743325" cy="1114425"/>
          </a:xfrm>
          <a:custGeom>
            <a:avLst/>
            <a:gdLst/>
            <a:ahLst/>
            <a:cxnLst/>
            <a:rect l="l" t="t" r="r" b="b"/>
            <a:pathLst>
              <a:path w="393" h="117">
                <a:moveTo>
                  <a:pt x="0" y="114"/>
                </a:moveTo>
                <a:lnTo>
                  <a:pt x="16" y="113"/>
                </a:lnTo>
                <a:lnTo>
                  <a:pt x="33" y="111"/>
                </a:lnTo>
                <a:lnTo>
                  <a:pt x="49" y="109"/>
                </a:lnTo>
                <a:lnTo>
                  <a:pt x="65" y="105"/>
                </a:lnTo>
                <a:lnTo>
                  <a:pt x="82" y="101"/>
                </a:lnTo>
                <a:lnTo>
                  <a:pt x="98" y="96"/>
                </a:lnTo>
                <a:lnTo>
                  <a:pt x="114" y="90"/>
                </a:lnTo>
                <a:lnTo>
                  <a:pt x="131" y="84"/>
                </a:lnTo>
                <a:lnTo>
                  <a:pt x="147" y="78"/>
                </a:lnTo>
                <a:lnTo>
                  <a:pt x="164" y="71"/>
                </a:lnTo>
                <a:lnTo>
                  <a:pt x="180" y="64"/>
                </a:lnTo>
                <a:lnTo>
                  <a:pt x="196" y="57"/>
                </a:lnTo>
                <a:lnTo>
                  <a:pt x="213" y="50"/>
                </a:lnTo>
                <a:lnTo>
                  <a:pt x="229" y="43"/>
                </a:lnTo>
                <a:lnTo>
                  <a:pt x="246" y="36"/>
                </a:lnTo>
                <a:lnTo>
                  <a:pt x="262" y="30"/>
                </a:lnTo>
                <a:lnTo>
                  <a:pt x="278" y="24"/>
                </a:lnTo>
                <a:lnTo>
                  <a:pt x="295" y="18"/>
                </a:lnTo>
                <a:lnTo>
                  <a:pt x="311" y="13"/>
                </a:lnTo>
                <a:lnTo>
                  <a:pt x="327" y="9"/>
                </a:lnTo>
                <a:lnTo>
                  <a:pt x="344" y="5"/>
                </a:lnTo>
                <a:lnTo>
                  <a:pt x="360" y="3"/>
                </a:lnTo>
                <a:lnTo>
                  <a:pt x="377" y="1"/>
                </a:lnTo>
                <a:lnTo>
                  <a:pt x="393" y="0"/>
                </a:lnTo>
                <a:lnTo>
                  <a:pt x="393" y="4"/>
                </a:lnTo>
                <a:lnTo>
                  <a:pt x="377" y="4"/>
                </a:lnTo>
                <a:lnTo>
                  <a:pt x="360" y="6"/>
                </a:lnTo>
                <a:lnTo>
                  <a:pt x="344" y="9"/>
                </a:lnTo>
                <a:lnTo>
                  <a:pt x="327" y="12"/>
                </a:lnTo>
                <a:lnTo>
                  <a:pt x="311" y="17"/>
                </a:lnTo>
                <a:lnTo>
                  <a:pt x="295" y="22"/>
                </a:lnTo>
                <a:lnTo>
                  <a:pt x="278" y="27"/>
                </a:lnTo>
                <a:lnTo>
                  <a:pt x="262" y="33"/>
                </a:lnTo>
                <a:lnTo>
                  <a:pt x="246" y="40"/>
                </a:lnTo>
                <a:lnTo>
                  <a:pt x="229" y="47"/>
                </a:lnTo>
                <a:lnTo>
                  <a:pt x="213" y="53"/>
                </a:lnTo>
                <a:lnTo>
                  <a:pt x="196" y="61"/>
                </a:lnTo>
                <a:lnTo>
                  <a:pt x="180" y="68"/>
                </a:lnTo>
                <a:lnTo>
                  <a:pt x="164" y="75"/>
                </a:lnTo>
                <a:lnTo>
                  <a:pt x="147" y="81"/>
                </a:lnTo>
                <a:lnTo>
                  <a:pt x="131" y="88"/>
                </a:lnTo>
                <a:lnTo>
                  <a:pt x="114" y="94"/>
                </a:lnTo>
                <a:lnTo>
                  <a:pt x="98" y="99"/>
                </a:lnTo>
                <a:lnTo>
                  <a:pt x="82" y="104"/>
                </a:lnTo>
                <a:lnTo>
                  <a:pt x="65" y="109"/>
                </a:lnTo>
                <a:lnTo>
                  <a:pt x="49" y="112"/>
                </a:lnTo>
                <a:lnTo>
                  <a:pt x="33" y="115"/>
                </a:lnTo>
                <a:lnTo>
                  <a:pt x="16" y="117"/>
                </a:lnTo>
                <a:lnTo>
                  <a:pt x="0" y="11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Freeform 41"/>
          <p:cNvSpPr/>
          <p:nvPr/>
        </p:nvSpPr>
        <p:spPr>
          <a:xfrm>
            <a:off x="2057400" y="5581650"/>
            <a:ext cx="3743325" cy="752475"/>
          </a:xfrm>
          <a:custGeom>
            <a:avLst/>
            <a:gdLst/>
            <a:ahLst/>
            <a:cxnLst/>
            <a:rect l="l" t="t" r="r" b="b"/>
            <a:pathLst>
              <a:path w="393" h="79">
                <a:moveTo>
                  <a:pt x="0" y="76"/>
                </a:moveTo>
                <a:lnTo>
                  <a:pt x="16" y="76"/>
                </a:lnTo>
                <a:lnTo>
                  <a:pt x="33" y="75"/>
                </a:lnTo>
                <a:lnTo>
                  <a:pt x="49" y="73"/>
                </a:lnTo>
                <a:lnTo>
                  <a:pt x="65" y="71"/>
                </a:lnTo>
                <a:lnTo>
                  <a:pt x="82" y="68"/>
                </a:lnTo>
                <a:lnTo>
                  <a:pt x="98" y="64"/>
                </a:lnTo>
                <a:lnTo>
                  <a:pt x="114" y="61"/>
                </a:lnTo>
                <a:lnTo>
                  <a:pt x="131" y="56"/>
                </a:lnTo>
                <a:lnTo>
                  <a:pt x="147" y="52"/>
                </a:lnTo>
                <a:lnTo>
                  <a:pt x="164" y="48"/>
                </a:lnTo>
                <a:lnTo>
                  <a:pt x="180" y="43"/>
                </a:lnTo>
                <a:lnTo>
                  <a:pt x="196" y="38"/>
                </a:lnTo>
                <a:lnTo>
                  <a:pt x="213" y="33"/>
                </a:lnTo>
                <a:lnTo>
                  <a:pt x="229" y="29"/>
                </a:lnTo>
                <a:lnTo>
                  <a:pt x="246" y="24"/>
                </a:lnTo>
                <a:lnTo>
                  <a:pt x="262" y="20"/>
                </a:lnTo>
                <a:lnTo>
                  <a:pt x="278" y="16"/>
                </a:lnTo>
                <a:lnTo>
                  <a:pt x="295" y="12"/>
                </a:lnTo>
                <a:lnTo>
                  <a:pt x="311" y="9"/>
                </a:lnTo>
                <a:lnTo>
                  <a:pt x="327" y="6"/>
                </a:lnTo>
                <a:lnTo>
                  <a:pt x="344" y="3"/>
                </a:lnTo>
                <a:lnTo>
                  <a:pt x="360" y="2"/>
                </a:lnTo>
                <a:lnTo>
                  <a:pt x="377" y="1"/>
                </a:lnTo>
                <a:lnTo>
                  <a:pt x="393" y="0"/>
                </a:lnTo>
                <a:lnTo>
                  <a:pt x="393" y="3"/>
                </a:lnTo>
                <a:lnTo>
                  <a:pt x="377" y="3"/>
                </a:lnTo>
                <a:lnTo>
                  <a:pt x="360" y="4"/>
                </a:lnTo>
                <a:lnTo>
                  <a:pt x="344" y="6"/>
                </a:lnTo>
                <a:lnTo>
                  <a:pt x="327" y="9"/>
                </a:lnTo>
                <a:lnTo>
                  <a:pt x="311" y="11"/>
                </a:lnTo>
                <a:lnTo>
                  <a:pt x="295" y="15"/>
                </a:lnTo>
                <a:lnTo>
                  <a:pt x="278" y="19"/>
                </a:lnTo>
                <a:lnTo>
                  <a:pt x="262" y="23"/>
                </a:lnTo>
                <a:lnTo>
                  <a:pt x="246" y="27"/>
                </a:lnTo>
                <a:lnTo>
                  <a:pt x="229" y="32"/>
                </a:lnTo>
                <a:lnTo>
                  <a:pt x="213" y="36"/>
                </a:lnTo>
                <a:lnTo>
                  <a:pt x="196" y="41"/>
                </a:lnTo>
                <a:lnTo>
                  <a:pt x="180" y="46"/>
                </a:lnTo>
                <a:lnTo>
                  <a:pt x="164" y="50"/>
                </a:lnTo>
                <a:lnTo>
                  <a:pt x="147" y="55"/>
                </a:lnTo>
                <a:lnTo>
                  <a:pt x="131" y="59"/>
                </a:lnTo>
                <a:lnTo>
                  <a:pt x="114" y="63"/>
                </a:lnTo>
                <a:lnTo>
                  <a:pt x="98" y="67"/>
                </a:lnTo>
                <a:lnTo>
                  <a:pt x="82" y="70"/>
                </a:lnTo>
                <a:lnTo>
                  <a:pt x="65" y="73"/>
                </a:lnTo>
                <a:lnTo>
                  <a:pt x="49" y="76"/>
                </a:lnTo>
                <a:lnTo>
                  <a:pt x="33" y="77"/>
                </a:lnTo>
                <a:lnTo>
                  <a:pt x="16" y="79"/>
                </a:lnTo>
                <a:lnTo>
                  <a:pt x="0" y="7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Freeform 42"/>
          <p:cNvSpPr/>
          <p:nvPr/>
        </p:nvSpPr>
        <p:spPr>
          <a:xfrm>
            <a:off x="2057400" y="5934075"/>
            <a:ext cx="3743325" cy="419100"/>
          </a:xfrm>
          <a:custGeom>
            <a:avLst/>
            <a:gdLst/>
            <a:ahLst/>
            <a:cxnLst/>
            <a:rect l="l" t="t" r="r" b="b"/>
            <a:pathLst>
              <a:path w="393" h="44">
                <a:moveTo>
                  <a:pt x="0" y="42"/>
                </a:moveTo>
                <a:lnTo>
                  <a:pt x="16" y="42"/>
                </a:lnTo>
                <a:lnTo>
                  <a:pt x="33" y="41"/>
                </a:lnTo>
                <a:lnTo>
                  <a:pt x="49" y="40"/>
                </a:lnTo>
                <a:lnTo>
                  <a:pt x="65" y="39"/>
                </a:lnTo>
                <a:lnTo>
                  <a:pt x="82" y="37"/>
                </a:lnTo>
                <a:lnTo>
                  <a:pt x="98" y="35"/>
                </a:lnTo>
                <a:lnTo>
                  <a:pt x="114" y="33"/>
                </a:lnTo>
                <a:lnTo>
                  <a:pt x="131" y="31"/>
                </a:lnTo>
                <a:lnTo>
                  <a:pt x="147" y="29"/>
                </a:lnTo>
                <a:lnTo>
                  <a:pt x="164" y="26"/>
                </a:lnTo>
                <a:lnTo>
                  <a:pt x="180" y="24"/>
                </a:lnTo>
                <a:lnTo>
                  <a:pt x="196" y="21"/>
                </a:lnTo>
                <a:lnTo>
                  <a:pt x="213" y="18"/>
                </a:lnTo>
                <a:lnTo>
                  <a:pt x="229" y="16"/>
                </a:lnTo>
                <a:lnTo>
                  <a:pt x="246" y="13"/>
                </a:lnTo>
                <a:lnTo>
                  <a:pt x="262" y="11"/>
                </a:lnTo>
                <a:lnTo>
                  <a:pt x="278" y="9"/>
                </a:lnTo>
                <a:lnTo>
                  <a:pt x="295" y="7"/>
                </a:lnTo>
                <a:lnTo>
                  <a:pt x="311" y="5"/>
                </a:lnTo>
                <a:lnTo>
                  <a:pt x="327" y="3"/>
                </a:lnTo>
                <a:lnTo>
                  <a:pt x="344" y="2"/>
                </a:lnTo>
                <a:lnTo>
                  <a:pt x="360" y="1"/>
                </a:lnTo>
                <a:lnTo>
                  <a:pt x="377" y="0"/>
                </a:lnTo>
                <a:lnTo>
                  <a:pt x="393" y="0"/>
                </a:lnTo>
                <a:lnTo>
                  <a:pt x="393" y="2"/>
                </a:lnTo>
                <a:lnTo>
                  <a:pt x="377" y="3"/>
                </a:lnTo>
                <a:lnTo>
                  <a:pt x="360" y="3"/>
                </a:lnTo>
                <a:lnTo>
                  <a:pt x="344" y="4"/>
                </a:lnTo>
                <a:lnTo>
                  <a:pt x="327" y="5"/>
                </a:lnTo>
                <a:lnTo>
                  <a:pt x="311" y="7"/>
                </a:lnTo>
                <a:lnTo>
                  <a:pt x="295" y="9"/>
                </a:lnTo>
                <a:lnTo>
                  <a:pt x="278" y="11"/>
                </a:lnTo>
                <a:lnTo>
                  <a:pt x="262" y="13"/>
                </a:lnTo>
                <a:lnTo>
                  <a:pt x="246" y="16"/>
                </a:lnTo>
                <a:lnTo>
                  <a:pt x="229" y="18"/>
                </a:lnTo>
                <a:lnTo>
                  <a:pt x="213" y="21"/>
                </a:lnTo>
                <a:lnTo>
                  <a:pt x="196" y="23"/>
                </a:lnTo>
                <a:lnTo>
                  <a:pt x="180" y="26"/>
                </a:lnTo>
                <a:lnTo>
                  <a:pt x="164" y="28"/>
                </a:lnTo>
                <a:lnTo>
                  <a:pt x="147" y="31"/>
                </a:lnTo>
                <a:lnTo>
                  <a:pt x="131" y="33"/>
                </a:lnTo>
                <a:lnTo>
                  <a:pt x="114" y="35"/>
                </a:lnTo>
                <a:lnTo>
                  <a:pt x="98" y="38"/>
                </a:lnTo>
                <a:lnTo>
                  <a:pt x="82" y="39"/>
                </a:lnTo>
                <a:lnTo>
                  <a:pt x="65" y="41"/>
                </a:lnTo>
                <a:lnTo>
                  <a:pt x="49" y="42"/>
                </a:lnTo>
                <a:lnTo>
                  <a:pt x="33" y="43"/>
                </a:lnTo>
                <a:lnTo>
                  <a:pt x="16" y="44"/>
                </a:lnTo>
                <a:lnTo>
                  <a:pt x="0" y="4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Freeform 43"/>
          <p:cNvSpPr/>
          <p:nvPr/>
        </p:nvSpPr>
        <p:spPr>
          <a:xfrm>
            <a:off x="2057400" y="6229350"/>
            <a:ext cx="3743325" cy="142875"/>
          </a:xfrm>
          <a:custGeom>
            <a:avLst/>
            <a:gdLst/>
            <a:ahLst/>
            <a:cxnLst/>
            <a:rect l="l" t="t" r="r" b="b"/>
            <a:pathLst>
              <a:path w="393" h="15">
                <a:moveTo>
                  <a:pt x="0" y="13"/>
                </a:moveTo>
                <a:lnTo>
                  <a:pt x="16" y="13"/>
                </a:lnTo>
                <a:lnTo>
                  <a:pt x="33" y="13"/>
                </a:lnTo>
                <a:lnTo>
                  <a:pt x="49" y="12"/>
                </a:lnTo>
                <a:lnTo>
                  <a:pt x="65" y="12"/>
                </a:lnTo>
                <a:lnTo>
                  <a:pt x="82" y="12"/>
                </a:lnTo>
                <a:lnTo>
                  <a:pt x="98" y="11"/>
                </a:lnTo>
                <a:lnTo>
                  <a:pt x="114" y="10"/>
                </a:lnTo>
                <a:lnTo>
                  <a:pt x="131" y="10"/>
                </a:lnTo>
                <a:lnTo>
                  <a:pt x="147" y="9"/>
                </a:lnTo>
                <a:lnTo>
                  <a:pt x="164" y="8"/>
                </a:lnTo>
                <a:lnTo>
                  <a:pt x="180" y="7"/>
                </a:lnTo>
                <a:lnTo>
                  <a:pt x="196" y="6"/>
                </a:lnTo>
                <a:lnTo>
                  <a:pt x="213" y="5"/>
                </a:lnTo>
                <a:lnTo>
                  <a:pt x="229" y="5"/>
                </a:lnTo>
                <a:lnTo>
                  <a:pt x="246" y="4"/>
                </a:lnTo>
                <a:lnTo>
                  <a:pt x="262" y="3"/>
                </a:lnTo>
                <a:lnTo>
                  <a:pt x="278" y="2"/>
                </a:lnTo>
                <a:lnTo>
                  <a:pt x="295" y="2"/>
                </a:lnTo>
                <a:lnTo>
                  <a:pt x="311" y="1"/>
                </a:lnTo>
                <a:lnTo>
                  <a:pt x="327" y="1"/>
                </a:lnTo>
                <a:lnTo>
                  <a:pt x="344" y="0"/>
                </a:lnTo>
                <a:lnTo>
                  <a:pt x="360" y="0"/>
                </a:lnTo>
                <a:lnTo>
                  <a:pt x="377" y="0"/>
                </a:lnTo>
                <a:lnTo>
                  <a:pt x="393" y="0"/>
                </a:lnTo>
                <a:lnTo>
                  <a:pt x="393" y="1"/>
                </a:lnTo>
                <a:lnTo>
                  <a:pt x="377" y="2"/>
                </a:lnTo>
                <a:lnTo>
                  <a:pt x="360" y="2"/>
                </a:lnTo>
                <a:lnTo>
                  <a:pt x="344" y="2"/>
                </a:lnTo>
                <a:lnTo>
                  <a:pt x="327" y="2"/>
                </a:lnTo>
                <a:lnTo>
                  <a:pt x="311" y="3"/>
                </a:lnTo>
                <a:lnTo>
                  <a:pt x="295" y="4"/>
                </a:lnTo>
                <a:lnTo>
                  <a:pt x="278" y="4"/>
                </a:lnTo>
                <a:lnTo>
                  <a:pt x="262" y="5"/>
                </a:lnTo>
                <a:lnTo>
                  <a:pt x="246" y="6"/>
                </a:lnTo>
                <a:lnTo>
                  <a:pt x="229" y="7"/>
                </a:lnTo>
                <a:lnTo>
                  <a:pt x="213" y="7"/>
                </a:lnTo>
                <a:lnTo>
                  <a:pt x="196" y="8"/>
                </a:lnTo>
                <a:lnTo>
                  <a:pt x="180" y="9"/>
                </a:lnTo>
                <a:lnTo>
                  <a:pt x="164" y="10"/>
                </a:lnTo>
                <a:lnTo>
                  <a:pt x="147" y="11"/>
                </a:lnTo>
                <a:lnTo>
                  <a:pt x="131" y="11"/>
                </a:lnTo>
                <a:lnTo>
                  <a:pt x="114" y="12"/>
                </a:lnTo>
                <a:lnTo>
                  <a:pt x="98" y="13"/>
                </a:lnTo>
                <a:lnTo>
                  <a:pt x="82" y="13"/>
                </a:lnTo>
                <a:lnTo>
                  <a:pt x="65" y="14"/>
                </a:lnTo>
                <a:lnTo>
                  <a:pt x="49" y="14"/>
                </a:lnTo>
                <a:lnTo>
                  <a:pt x="33" y="15"/>
                </a:lnTo>
                <a:lnTo>
                  <a:pt x="16" y="15"/>
                </a:lnTo>
                <a:lnTo>
                  <a:pt x="0" y="1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Freeform 44"/>
          <p:cNvSpPr/>
          <p:nvPr/>
        </p:nvSpPr>
        <p:spPr>
          <a:xfrm>
            <a:off x="2057400" y="6372225"/>
            <a:ext cx="3743325" cy="152400"/>
          </a:xfrm>
          <a:custGeom>
            <a:avLst/>
            <a:gdLst/>
            <a:ahLst/>
            <a:cxnLst/>
            <a:rect l="l" t="t" r="r" b="b"/>
            <a:pathLst>
              <a:path w="393" h="16">
                <a:moveTo>
                  <a:pt x="0" y="0"/>
                </a:moveTo>
                <a:lnTo>
                  <a:pt x="16" y="0"/>
                </a:lnTo>
                <a:lnTo>
                  <a:pt x="33" y="0"/>
                </a:lnTo>
                <a:lnTo>
                  <a:pt x="49" y="1"/>
                </a:lnTo>
                <a:lnTo>
                  <a:pt x="65" y="1"/>
                </a:lnTo>
                <a:lnTo>
                  <a:pt x="82" y="2"/>
                </a:lnTo>
                <a:lnTo>
                  <a:pt x="98" y="2"/>
                </a:lnTo>
                <a:lnTo>
                  <a:pt x="114" y="3"/>
                </a:lnTo>
                <a:lnTo>
                  <a:pt x="131" y="4"/>
                </a:lnTo>
                <a:lnTo>
                  <a:pt x="147" y="4"/>
                </a:lnTo>
                <a:lnTo>
                  <a:pt x="164" y="5"/>
                </a:lnTo>
                <a:lnTo>
                  <a:pt x="180" y="6"/>
                </a:lnTo>
                <a:lnTo>
                  <a:pt x="196" y="7"/>
                </a:lnTo>
                <a:lnTo>
                  <a:pt x="213" y="8"/>
                </a:lnTo>
                <a:lnTo>
                  <a:pt x="229" y="9"/>
                </a:lnTo>
                <a:lnTo>
                  <a:pt x="246" y="10"/>
                </a:lnTo>
                <a:lnTo>
                  <a:pt x="262" y="10"/>
                </a:lnTo>
                <a:lnTo>
                  <a:pt x="278" y="11"/>
                </a:lnTo>
                <a:lnTo>
                  <a:pt x="295" y="12"/>
                </a:lnTo>
                <a:lnTo>
                  <a:pt x="311" y="13"/>
                </a:lnTo>
                <a:lnTo>
                  <a:pt x="327" y="13"/>
                </a:lnTo>
                <a:lnTo>
                  <a:pt x="344" y="14"/>
                </a:lnTo>
                <a:lnTo>
                  <a:pt x="360" y="14"/>
                </a:lnTo>
                <a:lnTo>
                  <a:pt x="377" y="14"/>
                </a:lnTo>
                <a:lnTo>
                  <a:pt x="393" y="14"/>
                </a:lnTo>
                <a:lnTo>
                  <a:pt x="393" y="16"/>
                </a:lnTo>
                <a:lnTo>
                  <a:pt x="377" y="16"/>
                </a:lnTo>
                <a:lnTo>
                  <a:pt x="360" y="16"/>
                </a:lnTo>
                <a:lnTo>
                  <a:pt x="344" y="15"/>
                </a:lnTo>
                <a:lnTo>
                  <a:pt x="327" y="15"/>
                </a:lnTo>
                <a:lnTo>
                  <a:pt x="311" y="14"/>
                </a:lnTo>
                <a:lnTo>
                  <a:pt x="295" y="14"/>
                </a:lnTo>
                <a:lnTo>
                  <a:pt x="278" y="13"/>
                </a:lnTo>
                <a:lnTo>
                  <a:pt x="262" y="12"/>
                </a:lnTo>
                <a:lnTo>
                  <a:pt x="246" y="11"/>
                </a:lnTo>
                <a:lnTo>
                  <a:pt x="229" y="11"/>
                </a:lnTo>
                <a:lnTo>
                  <a:pt x="213" y="10"/>
                </a:lnTo>
                <a:lnTo>
                  <a:pt x="196" y="9"/>
                </a:lnTo>
                <a:lnTo>
                  <a:pt x="180" y="8"/>
                </a:lnTo>
                <a:lnTo>
                  <a:pt x="164" y="7"/>
                </a:lnTo>
                <a:lnTo>
                  <a:pt x="147" y="6"/>
                </a:lnTo>
                <a:lnTo>
                  <a:pt x="131" y="5"/>
                </a:lnTo>
                <a:lnTo>
                  <a:pt x="114" y="5"/>
                </a:lnTo>
                <a:lnTo>
                  <a:pt x="98" y="4"/>
                </a:lnTo>
                <a:lnTo>
                  <a:pt x="82" y="3"/>
                </a:lnTo>
                <a:lnTo>
                  <a:pt x="65" y="3"/>
                </a:lnTo>
                <a:lnTo>
                  <a:pt x="49" y="2"/>
                </a:lnTo>
                <a:lnTo>
                  <a:pt x="33" y="2"/>
                </a:lnTo>
                <a:lnTo>
                  <a:pt x="16" y="2"/>
                </a:lnTo>
                <a:lnTo>
                  <a:pt x="0" y="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Freeform 45"/>
          <p:cNvSpPr/>
          <p:nvPr/>
        </p:nvSpPr>
        <p:spPr>
          <a:xfrm>
            <a:off x="2057400" y="4743450"/>
            <a:ext cx="3743325" cy="1724025"/>
          </a:xfrm>
          <a:custGeom>
            <a:avLst/>
            <a:gdLst/>
            <a:ahLst/>
            <a:cxnLst/>
            <a:rect l="l" t="t" r="r" b="b"/>
            <a:pathLst>
              <a:path w="393" h="181">
                <a:moveTo>
                  <a:pt x="0" y="179"/>
                </a:moveTo>
                <a:lnTo>
                  <a:pt x="16" y="178"/>
                </a:lnTo>
                <a:lnTo>
                  <a:pt x="33" y="175"/>
                </a:lnTo>
                <a:lnTo>
                  <a:pt x="49" y="171"/>
                </a:lnTo>
                <a:lnTo>
                  <a:pt x="65" y="166"/>
                </a:lnTo>
                <a:lnTo>
                  <a:pt x="82" y="159"/>
                </a:lnTo>
                <a:lnTo>
                  <a:pt x="98" y="151"/>
                </a:lnTo>
                <a:lnTo>
                  <a:pt x="114" y="142"/>
                </a:lnTo>
                <a:lnTo>
                  <a:pt x="131" y="132"/>
                </a:lnTo>
                <a:lnTo>
                  <a:pt x="147" y="122"/>
                </a:lnTo>
                <a:lnTo>
                  <a:pt x="164" y="111"/>
                </a:lnTo>
                <a:lnTo>
                  <a:pt x="180" y="100"/>
                </a:lnTo>
                <a:lnTo>
                  <a:pt x="196" y="89"/>
                </a:lnTo>
                <a:lnTo>
                  <a:pt x="213" y="78"/>
                </a:lnTo>
                <a:lnTo>
                  <a:pt x="229" y="67"/>
                </a:lnTo>
                <a:lnTo>
                  <a:pt x="246" y="56"/>
                </a:lnTo>
                <a:lnTo>
                  <a:pt x="262" y="46"/>
                </a:lnTo>
                <a:lnTo>
                  <a:pt x="278" y="36"/>
                </a:lnTo>
                <a:lnTo>
                  <a:pt x="295" y="28"/>
                </a:lnTo>
                <a:lnTo>
                  <a:pt x="311" y="20"/>
                </a:lnTo>
                <a:lnTo>
                  <a:pt x="327" y="13"/>
                </a:lnTo>
                <a:lnTo>
                  <a:pt x="344" y="7"/>
                </a:lnTo>
                <a:lnTo>
                  <a:pt x="360" y="3"/>
                </a:lnTo>
                <a:lnTo>
                  <a:pt x="377" y="0"/>
                </a:lnTo>
                <a:lnTo>
                  <a:pt x="393" y="0"/>
                </a:lnTo>
                <a:lnTo>
                  <a:pt x="393" y="2"/>
                </a:lnTo>
                <a:lnTo>
                  <a:pt x="377" y="3"/>
                </a:lnTo>
                <a:lnTo>
                  <a:pt x="360" y="5"/>
                </a:lnTo>
                <a:lnTo>
                  <a:pt x="344" y="9"/>
                </a:lnTo>
                <a:lnTo>
                  <a:pt x="327" y="15"/>
                </a:lnTo>
                <a:lnTo>
                  <a:pt x="311" y="22"/>
                </a:lnTo>
                <a:lnTo>
                  <a:pt x="295" y="30"/>
                </a:lnTo>
                <a:lnTo>
                  <a:pt x="278" y="39"/>
                </a:lnTo>
                <a:lnTo>
                  <a:pt x="262" y="48"/>
                </a:lnTo>
                <a:lnTo>
                  <a:pt x="246" y="58"/>
                </a:lnTo>
                <a:lnTo>
                  <a:pt x="229" y="69"/>
                </a:lnTo>
                <a:lnTo>
                  <a:pt x="213" y="80"/>
                </a:lnTo>
                <a:lnTo>
                  <a:pt x="196" y="91"/>
                </a:lnTo>
                <a:lnTo>
                  <a:pt x="180" y="102"/>
                </a:lnTo>
                <a:lnTo>
                  <a:pt x="164" y="114"/>
                </a:lnTo>
                <a:lnTo>
                  <a:pt x="147" y="124"/>
                </a:lnTo>
                <a:lnTo>
                  <a:pt x="131" y="134"/>
                </a:lnTo>
                <a:lnTo>
                  <a:pt x="114" y="144"/>
                </a:lnTo>
                <a:lnTo>
                  <a:pt x="98" y="153"/>
                </a:lnTo>
                <a:lnTo>
                  <a:pt x="82" y="161"/>
                </a:lnTo>
                <a:lnTo>
                  <a:pt x="65" y="168"/>
                </a:lnTo>
                <a:lnTo>
                  <a:pt x="49" y="173"/>
                </a:lnTo>
                <a:lnTo>
                  <a:pt x="33" y="177"/>
                </a:lnTo>
                <a:lnTo>
                  <a:pt x="16" y="180"/>
                </a:lnTo>
                <a:lnTo>
                  <a:pt x="0" y="18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Freeform 46"/>
          <p:cNvSpPr/>
          <p:nvPr/>
        </p:nvSpPr>
        <p:spPr>
          <a:xfrm>
            <a:off x="2057400" y="5229225"/>
            <a:ext cx="3743325" cy="1257300"/>
          </a:xfrm>
          <a:custGeom>
            <a:avLst/>
            <a:gdLst/>
            <a:ahLst/>
            <a:cxnLst/>
            <a:rect l="l" t="t" r="r" b="b"/>
            <a:pathLst>
              <a:path w="393" h="132">
                <a:moveTo>
                  <a:pt x="0" y="130"/>
                </a:moveTo>
                <a:lnTo>
                  <a:pt x="16" y="129"/>
                </a:lnTo>
                <a:lnTo>
                  <a:pt x="33" y="127"/>
                </a:lnTo>
                <a:lnTo>
                  <a:pt x="49" y="124"/>
                </a:lnTo>
                <a:lnTo>
                  <a:pt x="65" y="120"/>
                </a:lnTo>
                <a:lnTo>
                  <a:pt x="82" y="115"/>
                </a:lnTo>
                <a:lnTo>
                  <a:pt x="98" y="110"/>
                </a:lnTo>
                <a:lnTo>
                  <a:pt x="114" y="103"/>
                </a:lnTo>
                <a:lnTo>
                  <a:pt x="131" y="96"/>
                </a:lnTo>
                <a:lnTo>
                  <a:pt x="147" y="89"/>
                </a:lnTo>
                <a:lnTo>
                  <a:pt x="164" y="81"/>
                </a:lnTo>
                <a:lnTo>
                  <a:pt x="180" y="73"/>
                </a:lnTo>
                <a:lnTo>
                  <a:pt x="196" y="65"/>
                </a:lnTo>
                <a:lnTo>
                  <a:pt x="213" y="57"/>
                </a:lnTo>
                <a:lnTo>
                  <a:pt x="229" y="49"/>
                </a:lnTo>
                <a:lnTo>
                  <a:pt x="246" y="41"/>
                </a:lnTo>
                <a:lnTo>
                  <a:pt x="262" y="34"/>
                </a:lnTo>
                <a:lnTo>
                  <a:pt x="278" y="27"/>
                </a:lnTo>
                <a:lnTo>
                  <a:pt x="295" y="20"/>
                </a:lnTo>
                <a:lnTo>
                  <a:pt x="311" y="14"/>
                </a:lnTo>
                <a:lnTo>
                  <a:pt x="327" y="10"/>
                </a:lnTo>
                <a:lnTo>
                  <a:pt x="344" y="5"/>
                </a:lnTo>
                <a:lnTo>
                  <a:pt x="360" y="2"/>
                </a:lnTo>
                <a:lnTo>
                  <a:pt x="377" y="1"/>
                </a:lnTo>
                <a:lnTo>
                  <a:pt x="393" y="0"/>
                </a:lnTo>
                <a:lnTo>
                  <a:pt x="393" y="2"/>
                </a:lnTo>
                <a:lnTo>
                  <a:pt x="377" y="3"/>
                </a:lnTo>
                <a:lnTo>
                  <a:pt x="360" y="4"/>
                </a:lnTo>
                <a:lnTo>
                  <a:pt x="344" y="7"/>
                </a:lnTo>
                <a:lnTo>
                  <a:pt x="327" y="12"/>
                </a:lnTo>
                <a:lnTo>
                  <a:pt x="311" y="16"/>
                </a:lnTo>
                <a:lnTo>
                  <a:pt x="295" y="22"/>
                </a:lnTo>
                <a:lnTo>
                  <a:pt x="278" y="29"/>
                </a:lnTo>
                <a:lnTo>
                  <a:pt x="262" y="36"/>
                </a:lnTo>
                <a:lnTo>
                  <a:pt x="246" y="43"/>
                </a:lnTo>
                <a:lnTo>
                  <a:pt x="229" y="51"/>
                </a:lnTo>
                <a:lnTo>
                  <a:pt x="213" y="59"/>
                </a:lnTo>
                <a:lnTo>
                  <a:pt x="196" y="67"/>
                </a:lnTo>
                <a:lnTo>
                  <a:pt x="180" y="75"/>
                </a:lnTo>
                <a:lnTo>
                  <a:pt x="164" y="83"/>
                </a:lnTo>
                <a:lnTo>
                  <a:pt x="147" y="91"/>
                </a:lnTo>
                <a:lnTo>
                  <a:pt x="131" y="98"/>
                </a:lnTo>
                <a:lnTo>
                  <a:pt x="114" y="105"/>
                </a:lnTo>
                <a:lnTo>
                  <a:pt x="98" y="112"/>
                </a:lnTo>
                <a:lnTo>
                  <a:pt x="82" y="117"/>
                </a:lnTo>
                <a:lnTo>
                  <a:pt x="65" y="122"/>
                </a:lnTo>
                <a:lnTo>
                  <a:pt x="49" y="126"/>
                </a:lnTo>
                <a:lnTo>
                  <a:pt x="33" y="129"/>
                </a:lnTo>
                <a:lnTo>
                  <a:pt x="16" y="131"/>
                </a:lnTo>
                <a:lnTo>
                  <a:pt x="0" y="13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Freeform 47"/>
          <p:cNvSpPr/>
          <p:nvPr/>
        </p:nvSpPr>
        <p:spPr>
          <a:xfrm>
            <a:off x="2057400" y="5610225"/>
            <a:ext cx="3743325" cy="895350"/>
          </a:xfrm>
          <a:custGeom>
            <a:avLst/>
            <a:gdLst/>
            <a:ahLst/>
            <a:cxnLst/>
            <a:rect l="l" t="t" r="r" b="b"/>
            <a:pathLst>
              <a:path w="393" h="94">
                <a:moveTo>
                  <a:pt x="0" y="92"/>
                </a:moveTo>
                <a:lnTo>
                  <a:pt x="16" y="91"/>
                </a:lnTo>
                <a:lnTo>
                  <a:pt x="33" y="90"/>
                </a:lnTo>
                <a:lnTo>
                  <a:pt x="49" y="88"/>
                </a:lnTo>
                <a:lnTo>
                  <a:pt x="65" y="85"/>
                </a:lnTo>
                <a:lnTo>
                  <a:pt x="82" y="82"/>
                </a:lnTo>
                <a:lnTo>
                  <a:pt x="98" y="78"/>
                </a:lnTo>
                <a:lnTo>
                  <a:pt x="114" y="73"/>
                </a:lnTo>
                <a:lnTo>
                  <a:pt x="131" y="68"/>
                </a:lnTo>
                <a:lnTo>
                  <a:pt x="147" y="63"/>
                </a:lnTo>
                <a:lnTo>
                  <a:pt x="164" y="57"/>
                </a:lnTo>
                <a:lnTo>
                  <a:pt x="180" y="52"/>
                </a:lnTo>
                <a:lnTo>
                  <a:pt x="196" y="46"/>
                </a:lnTo>
                <a:lnTo>
                  <a:pt x="213" y="40"/>
                </a:lnTo>
                <a:lnTo>
                  <a:pt x="229" y="35"/>
                </a:lnTo>
                <a:lnTo>
                  <a:pt x="246" y="29"/>
                </a:lnTo>
                <a:lnTo>
                  <a:pt x="262" y="24"/>
                </a:lnTo>
                <a:lnTo>
                  <a:pt x="278" y="19"/>
                </a:lnTo>
                <a:lnTo>
                  <a:pt x="295" y="14"/>
                </a:lnTo>
                <a:lnTo>
                  <a:pt x="311" y="10"/>
                </a:lnTo>
                <a:lnTo>
                  <a:pt x="327" y="7"/>
                </a:lnTo>
                <a:lnTo>
                  <a:pt x="344" y="4"/>
                </a:lnTo>
                <a:lnTo>
                  <a:pt x="360" y="2"/>
                </a:lnTo>
                <a:lnTo>
                  <a:pt x="377" y="0"/>
                </a:lnTo>
                <a:lnTo>
                  <a:pt x="393" y="0"/>
                </a:lnTo>
                <a:lnTo>
                  <a:pt x="393" y="2"/>
                </a:lnTo>
                <a:lnTo>
                  <a:pt x="377" y="2"/>
                </a:lnTo>
                <a:lnTo>
                  <a:pt x="360" y="3"/>
                </a:lnTo>
                <a:lnTo>
                  <a:pt x="344" y="6"/>
                </a:lnTo>
                <a:lnTo>
                  <a:pt x="327" y="8"/>
                </a:lnTo>
                <a:lnTo>
                  <a:pt x="311" y="12"/>
                </a:lnTo>
                <a:lnTo>
                  <a:pt x="295" y="16"/>
                </a:lnTo>
                <a:lnTo>
                  <a:pt x="278" y="20"/>
                </a:lnTo>
                <a:lnTo>
                  <a:pt x="262" y="25"/>
                </a:lnTo>
                <a:lnTo>
                  <a:pt x="246" y="31"/>
                </a:lnTo>
                <a:lnTo>
                  <a:pt x="229" y="36"/>
                </a:lnTo>
                <a:lnTo>
                  <a:pt x="213" y="42"/>
                </a:lnTo>
                <a:lnTo>
                  <a:pt x="196" y="48"/>
                </a:lnTo>
                <a:lnTo>
                  <a:pt x="180" y="53"/>
                </a:lnTo>
                <a:lnTo>
                  <a:pt x="164" y="59"/>
                </a:lnTo>
                <a:lnTo>
                  <a:pt x="147" y="64"/>
                </a:lnTo>
                <a:lnTo>
                  <a:pt x="131" y="70"/>
                </a:lnTo>
                <a:lnTo>
                  <a:pt x="114" y="75"/>
                </a:lnTo>
                <a:lnTo>
                  <a:pt x="98" y="79"/>
                </a:lnTo>
                <a:lnTo>
                  <a:pt x="82" y="83"/>
                </a:lnTo>
                <a:lnTo>
                  <a:pt x="65" y="87"/>
                </a:lnTo>
                <a:lnTo>
                  <a:pt x="49" y="90"/>
                </a:lnTo>
                <a:lnTo>
                  <a:pt x="33" y="92"/>
                </a:lnTo>
                <a:lnTo>
                  <a:pt x="16" y="93"/>
                </a:lnTo>
                <a:lnTo>
                  <a:pt x="0" y="94"/>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Freeform 48"/>
          <p:cNvSpPr/>
          <p:nvPr/>
        </p:nvSpPr>
        <p:spPr>
          <a:xfrm>
            <a:off x="2057400" y="5953125"/>
            <a:ext cx="3743325" cy="561975"/>
          </a:xfrm>
          <a:custGeom>
            <a:avLst/>
            <a:gdLst/>
            <a:ahLst/>
            <a:cxnLst/>
            <a:rect l="l" t="t" r="r" b="b"/>
            <a:pathLst>
              <a:path w="393" h="59">
                <a:moveTo>
                  <a:pt x="0" y="58"/>
                </a:moveTo>
                <a:lnTo>
                  <a:pt x="16" y="57"/>
                </a:lnTo>
                <a:lnTo>
                  <a:pt x="33" y="56"/>
                </a:lnTo>
                <a:lnTo>
                  <a:pt x="49" y="55"/>
                </a:lnTo>
                <a:lnTo>
                  <a:pt x="65" y="53"/>
                </a:lnTo>
                <a:lnTo>
                  <a:pt x="82" y="51"/>
                </a:lnTo>
                <a:lnTo>
                  <a:pt x="98" y="49"/>
                </a:lnTo>
                <a:lnTo>
                  <a:pt x="114" y="46"/>
                </a:lnTo>
                <a:lnTo>
                  <a:pt x="131" y="43"/>
                </a:lnTo>
                <a:lnTo>
                  <a:pt x="147" y="39"/>
                </a:lnTo>
                <a:lnTo>
                  <a:pt x="164" y="36"/>
                </a:lnTo>
                <a:lnTo>
                  <a:pt x="180" y="32"/>
                </a:lnTo>
                <a:lnTo>
                  <a:pt x="196" y="29"/>
                </a:lnTo>
                <a:lnTo>
                  <a:pt x="213" y="25"/>
                </a:lnTo>
                <a:lnTo>
                  <a:pt x="229" y="22"/>
                </a:lnTo>
                <a:lnTo>
                  <a:pt x="246" y="18"/>
                </a:lnTo>
                <a:lnTo>
                  <a:pt x="262" y="15"/>
                </a:lnTo>
                <a:lnTo>
                  <a:pt x="278" y="12"/>
                </a:lnTo>
                <a:lnTo>
                  <a:pt x="295" y="9"/>
                </a:lnTo>
                <a:lnTo>
                  <a:pt x="311" y="7"/>
                </a:lnTo>
                <a:lnTo>
                  <a:pt x="327" y="5"/>
                </a:lnTo>
                <a:lnTo>
                  <a:pt x="344" y="3"/>
                </a:lnTo>
                <a:lnTo>
                  <a:pt x="360" y="1"/>
                </a:lnTo>
                <a:lnTo>
                  <a:pt x="377" y="1"/>
                </a:lnTo>
                <a:lnTo>
                  <a:pt x="393" y="0"/>
                </a:lnTo>
                <a:lnTo>
                  <a:pt x="393" y="2"/>
                </a:lnTo>
                <a:lnTo>
                  <a:pt x="377" y="2"/>
                </a:lnTo>
                <a:lnTo>
                  <a:pt x="360" y="3"/>
                </a:lnTo>
                <a:lnTo>
                  <a:pt x="344" y="4"/>
                </a:lnTo>
                <a:lnTo>
                  <a:pt x="327" y="6"/>
                </a:lnTo>
                <a:lnTo>
                  <a:pt x="311" y="8"/>
                </a:lnTo>
                <a:lnTo>
                  <a:pt x="295" y="10"/>
                </a:lnTo>
                <a:lnTo>
                  <a:pt x="278" y="13"/>
                </a:lnTo>
                <a:lnTo>
                  <a:pt x="262" y="16"/>
                </a:lnTo>
                <a:lnTo>
                  <a:pt x="246" y="20"/>
                </a:lnTo>
                <a:lnTo>
                  <a:pt x="229" y="23"/>
                </a:lnTo>
                <a:lnTo>
                  <a:pt x="213" y="27"/>
                </a:lnTo>
                <a:lnTo>
                  <a:pt x="196" y="30"/>
                </a:lnTo>
                <a:lnTo>
                  <a:pt x="180" y="34"/>
                </a:lnTo>
                <a:lnTo>
                  <a:pt x="164" y="37"/>
                </a:lnTo>
                <a:lnTo>
                  <a:pt x="147" y="41"/>
                </a:lnTo>
                <a:lnTo>
                  <a:pt x="131" y="44"/>
                </a:lnTo>
                <a:lnTo>
                  <a:pt x="114" y="47"/>
                </a:lnTo>
                <a:lnTo>
                  <a:pt x="98" y="50"/>
                </a:lnTo>
                <a:lnTo>
                  <a:pt x="82" y="52"/>
                </a:lnTo>
                <a:lnTo>
                  <a:pt x="65" y="55"/>
                </a:lnTo>
                <a:lnTo>
                  <a:pt x="49" y="56"/>
                </a:lnTo>
                <a:lnTo>
                  <a:pt x="33" y="58"/>
                </a:lnTo>
                <a:lnTo>
                  <a:pt x="16" y="59"/>
                </a:lnTo>
                <a:lnTo>
                  <a:pt x="0" y="5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Freeform 49"/>
          <p:cNvSpPr/>
          <p:nvPr/>
        </p:nvSpPr>
        <p:spPr>
          <a:xfrm>
            <a:off x="2057400" y="6238875"/>
            <a:ext cx="3743325" cy="285750"/>
          </a:xfrm>
          <a:custGeom>
            <a:avLst/>
            <a:gdLst/>
            <a:ahLst/>
            <a:cxnLst/>
            <a:rect l="l" t="t" r="r" b="b"/>
            <a:pathLst>
              <a:path w="393" h="30">
                <a:moveTo>
                  <a:pt x="0" y="29"/>
                </a:moveTo>
                <a:lnTo>
                  <a:pt x="16" y="29"/>
                </a:lnTo>
                <a:lnTo>
                  <a:pt x="33" y="28"/>
                </a:lnTo>
                <a:lnTo>
                  <a:pt x="49" y="28"/>
                </a:lnTo>
                <a:lnTo>
                  <a:pt x="65" y="27"/>
                </a:lnTo>
                <a:lnTo>
                  <a:pt x="82" y="26"/>
                </a:lnTo>
                <a:lnTo>
                  <a:pt x="98" y="24"/>
                </a:lnTo>
                <a:lnTo>
                  <a:pt x="114" y="23"/>
                </a:lnTo>
                <a:lnTo>
                  <a:pt x="131" y="21"/>
                </a:lnTo>
                <a:lnTo>
                  <a:pt x="147" y="20"/>
                </a:lnTo>
                <a:lnTo>
                  <a:pt x="164" y="18"/>
                </a:lnTo>
                <a:lnTo>
                  <a:pt x="180" y="16"/>
                </a:lnTo>
                <a:lnTo>
                  <a:pt x="196" y="15"/>
                </a:lnTo>
                <a:lnTo>
                  <a:pt x="213" y="13"/>
                </a:lnTo>
                <a:lnTo>
                  <a:pt x="229" y="11"/>
                </a:lnTo>
                <a:lnTo>
                  <a:pt x="246" y="9"/>
                </a:lnTo>
                <a:lnTo>
                  <a:pt x="262" y="8"/>
                </a:lnTo>
                <a:lnTo>
                  <a:pt x="278" y="6"/>
                </a:lnTo>
                <a:lnTo>
                  <a:pt x="295" y="5"/>
                </a:lnTo>
                <a:lnTo>
                  <a:pt x="311" y="4"/>
                </a:lnTo>
                <a:lnTo>
                  <a:pt x="327" y="3"/>
                </a:lnTo>
                <a:lnTo>
                  <a:pt x="344" y="2"/>
                </a:lnTo>
                <a:lnTo>
                  <a:pt x="360" y="1"/>
                </a:lnTo>
                <a:lnTo>
                  <a:pt x="377" y="1"/>
                </a:lnTo>
                <a:lnTo>
                  <a:pt x="393" y="0"/>
                </a:lnTo>
                <a:lnTo>
                  <a:pt x="393" y="2"/>
                </a:lnTo>
                <a:lnTo>
                  <a:pt x="377" y="2"/>
                </a:lnTo>
                <a:lnTo>
                  <a:pt x="360" y="2"/>
                </a:lnTo>
                <a:lnTo>
                  <a:pt x="344" y="3"/>
                </a:lnTo>
                <a:lnTo>
                  <a:pt x="327" y="4"/>
                </a:lnTo>
                <a:lnTo>
                  <a:pt x="311" y="5"/>
                </a:lnTo>
                <a:lnTo>
                  <a:pt x="295" y="6"/>
                </a:lnTo>
                <a:lnTo>
                  <a:pt x="278" y="7"/>
                </a:lnTo>
                <a:lnTo>
                  <a:pt x="262" y="9"/>
                </a:lnTo>
                <a:lnTo>
                  <a:pt x="246" y="11"/>
                </a:lnTo>
                <a:lnTo>
                  <a:pt x="229" y="12"/>
                </a:lnTo>
                <a:lnTo>
                  <a:pt x="213" y="14"/>
                </a:lnTo>
                <a:lnTo>
                  <a:pt x="196" y="16"/>
                </a:lnTo>
                <a:lnTo>
                  <a:pt x="180" y="18"/>
                </a:lnTo>
                <a:lnTo>
                  <a:pt x="164" y="19"/>
                </a:lnTo>
                <a:lnTo>
                  <a:pt x="147" y="21"/>
                </a:lnTo>
                <a:lnTo>
                  <a:pt x="131" y="23"/>
                </a:lnTo>
                <a:lnTo>
                  <a:pt x="114" y="24"/>
                </a:lnTo>
                <a:lnTo>
                  <a:pt x="98" y="26"/>
                </a:lnTo>
                <a:lnTo>
                  <a:pt x="82" y="27"/>
                </a:lnTo>
                <a:lnTo>
                  <a:pt x="65" y="28"/>
                </a:lnTo>
                <a:lnTo>
                  <a:pt x="49" y="29"/>
                </a:lnTo>
                <a:lnTo>
                  <a:pt x="33" y="29"/>
                </a:lnTo>
                <a:lnTo>
                  <a:pt x="16" y="30"/>
                </a:lnTo>
                <a:lnTo>
                  <a:pt x="0" y="3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Freeform 50"/>
          <p:cNvSpPr/>
          <p:nvPr/>
        </p:nvSpPr>
        <p:spPr>
          <a:xfrm>
            <a:off x="2057400" y="6524625"/>
            <a:ext cx="3743325" cy="9525"/>
          </a:xfrm>
          <a:custGeom>
            <a:avLst/>
            <a:gdLst/>
            <a:ahLst/>
            <a:cxnLst/>
            <a:rect l="l" t="t" r="r" b="b"/>
            <a:pathLst>
              <a:path w="393" h="1">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
                </a:lnTo>
                <a:lnTo>
                  <a:pt x="377" y="1"/>
                </a:lnTo>
                <a:lnTo>
                  <a:pt x="360" y="1"/>
                </a:lnTo>
                <a:lnTo>
                  <a:pt x="344" y="1"/>
                </a:lnTo>
                <a:lnTo>
                  <a:pt x="327" y="1"/>
                </a:lnTo>
                <a:lnTo>
                  <a:pt x="311" y="1"/>
                </a:lnTo>
                <a:lnTo>
                  <a:pt x="295" y="1"/>
                </a:lnTo>
                <a:lnTo>
                  <a:pt x="278" y="1"/>
                </a:lnTo>
                <a:lnTo>
                  <a:pt x="262" y="1"/>
                </a:lnTo>
                <a:lnTo>
                  <a:pt x="246" y="1"/>
                </a:lnTo>
                <a:lnTo>
                  <a:pt x="229" y="1"/>
                </a:lnTo>
                <a:lnTo>
                  <a:pt x="213" y="1"/>
                </a:lnTo>
                <a:lnTo>
                  <a:pt x="196" y="1"/>
                </a:lnTo>
                <a:lnTo>
                  <a:pt x="180" y="1"/>
                </a:lnTo>
                <a:lnTo>
                  <a:pt x="164" y="1"/>
                </a:lnTo>
                <a:lnTo>
                  <a:pt x="147" y="1"/>
                </a:lnTo>
                <a:lnTo>
                  <a:pt x="131" y="1"/>
                </a:lnTo>
                <a:lnTo>
                  <a:pt x="114" y="1"/>
                </a:lnTo>
                <a:lnTo>
                  <a:pt x="98" y="1"/>
                </a:lnTo>
                <a:lnTo>
                  <a:pt x="82" y="1"/>
                </a:lnTo>
                <a:lnTo>
                  <a:pt x="65" y="1"/>
                </a:lnTo>
                <a:lnTo>
                  <a:pt x="49" y="1"/>
                </a:lnTo>
                <a:lnTo>
                  <a:pt x="33" y="1"/>
                </a:lnTo>
                <a:lnTo>
                  <a:pt x="16" y="1"/>
                </a:lnTo>
                <a:lnTo>
                  <a:pt x="0" y="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941195" y="4314825"/>
            <a:ext cx="114300" cy="727732"/>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57175" y="4314825"/>
            <a:ext cx="1626870" cy="727732"/>
          </a:xfrm>
          <a:prstGeom prst="rect">
            <a:avLst/>
          </a:prstGeom>
          <a:noFill/>
        </p:spPr>
        <p:txBody>
          <a:bodyPr wrap="square" lIns="0" tIns="0" rIns="19050" bIns="0" anchor="ctr">
            <a:spAutoFit/>
          </a:bodyPr>
          <a:lstStyle/>
          <a:p>
            <a:pPr algn="r"/>
            <a:endParaRPr/>
          </a:p>
        </p:txBody>
      </p:sp>
      <p:sp>
        <p:nvSpPr>
          <p:cNvPr id="54" name="Rectangle 53"/>
          <p:cNvSpPr/>
          <p:nvPr/>
        </p:nvSpPr>
        <p:spPr>
          <a:xfrm>
            <a:off x="1941195" y="5099707"/>
            <a:ext cx="114300" cy="408006"/>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57175" y="5099707"/>
            <a:ext cx="1626870" cy="408006"/>
          </a:xfrm>
          <a:prstGeom prst="rect">
            <a:avLst/>
          </a:prstGeom>
          <a:noFill/>
        </p:spPr>
        <p:txBody>
          <a:bodyPr wrap="square" lIns="0" tIns="0" rIns="19050" bIns="0" anchor="ctr">
            <a:spAutoFit/>
          </a:bodyPr>
          <a:lstStyle/>
          <a:p>
            <a:pPr algn="r"/>
            <a:endParaRPr/>
          </a:p>
        </p:txBody>
      </p:sp>
      <p:sp>
        <p:nvSpPr>
          <p:cNvPr id="56" name="Rectangle 55"/>
          <p:cNvSpPr/>
          <p:nvPr/>
        </p:nvSpPr>
        <p:spPr>
          <a:xfrm>
            <a:off x="1941195" y="5564863"/>
            <a:ext cx="114300" cy="36062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7175" y="5564863"/>
            <a:ext cx="1626870" cy="360623"/>
          </a:xfrm>
          <a:prstGeom prst="rect">
            <a:avLst/>
          </a:prstGeom>
          <a:noFill/>
        </p:spPr>
        <p:txBody>
          <a:bodyPr wrap="square" lIns="0" tIns="0" rIns="19050" bIns="0" anchor="ctr">
            <a:spAutoFit/>
          </a:bodyPr>
          <a:lstStyle/>
          <a:p>
            <a:pPr algn="r"/>
            <a:endParaRPr/>
          </a:p>
        </p:txBody>
      </p:sp>
      <p:sp>
        <p:nvSpPr>
          <p:cNvPr id="58" name="Rectangle 57"/>
          <p:cNvSpPr/>
          <p:nvPr/>
        </p:nvSpPr>
        <p:spPr>
          <a:xfrm>
            <a:off x="1941195" y="5982636"/>
            <a:ext cx="114300" cy="199811"/>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57175" y="5982636"/>
            <a:ext cx="1626870" cy="199811"/>
          </a:xfrm>
          <a:prstGeom prst="rect">
            <a:avLst/>
          </a:prstGeom>
          <a:noFill/>
        </p:spPr>
        <p:txBody>
          <a:bodyPr wrap="square" lIns="0" tIns="0" rIns="19050" bIns="0" anchor="ctr">
            <a:spAutoFit/>
          </a:bodyPr>
          <a:lstStyle/>
          <a:p>
            <a:pPr algn="r"/>
            <a:endParaRPr/>
          </a:p>
        </p:txBody>
      </p:sp>
      <p:sp>
        <p:nvSpPr>
          <p:cNvPr id="60" name="Rectangle 59"/>
          <p:cNvSpPr/>
          <p:nvPr/>
        </p:nvSpPr>
        <p:spPr>
          <a:xfrm>
            <a:off x="1941195" y="6239596"/>
            <a:ext cx="114300" cy="14988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57175" y="6238336"/>
            <a:ext cx="1626870" cy="152400"/>
          </a:xfrm>
          <a:prstGeom prst="rect">
            <a:avLst/>
          </a:prstGeom>
          <a:noFill/>
        </p:spPr>
        <p:txBody>
          <a:bodyPr wrap="square" lIns="0" tIns="0" rIns="19050" bIns="0" anchor="ctr">
            <a:spAutoFit/>
          </a:bodyPr>
          <a:lstStyle/>
          <a:p>
            <a:pPr algn="r"/>
            <a:endParaRPr/>
          </a:p>
        </p:txBody>
      </p:sp>
      <p:sp>
        <p:nvSpPr>
          <p:cNvPr id="62" name="Rectangle 61"/>
          <p:cNvSpPr/>
          <p:nvPr/>
        </p:nvSpPr>
        <p:spPr>
          <a:xfrm>
            <a:off x="1941195" y="6446626"/>
            <a:ext cx="114300" cy="87524"/>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57175" y="6414188"/>
            <a:ext cx="1626870" cy="152400"/>
          </a:xfrm>
          <a:prstGeom prst="rect">
            <a:avLst/>
          </a:prstGeom>
          <a:noFill/>
        </p:spPr>
        <p:txBody>
          <a:bodyPr wrap="square" lIns="0" tIns="0" rIns="19050" bIns="0" anchor="ctr">
            <a:spAutoFit/>
          </a:bodyPr>
          <a:lstStyle/>
          <a:p>
            <a:pPr algn="r"/>
            <a:endParaRPr/>
          </a:p>
        </p:txBody>
      </p:sp>
      <p:sp>
        <p:nvSpPr>
          <p:cNvPr id="64" name="Rectangle 63"/>
          <p:cNvSpPr/>
          <p:nvPr/>
        </p:nvSpPr>
        <p:spPr>
          <a:xfrm>
            <a:off x="5800725" y="4314825"/>
            <a:ext cx="114300" cy="44452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972175" y="4314825"/>
            <a:ext cx="1381125" cy="444529"/>
          </a:xfrm>
          <a:prstGeom prst="rect">
            <a:avLst/>
          </a:prstGeom>
          <a:noFill/>
        </p:spPr>
        <p:txBody>
          <a:bodyPr wrap="square" lIns="0" tIns="0" rIns="19050" bIns="0" anchor="ctr">
            <a:spAutoFit/>
          </a:bodyPr>
          <a:lstStyle/>
          <a:p>
            <a:pPr algn="l"/>
            <a:endParaRPr/>
          </a:p>
        </p:txBody>
      </p:sp>
      <p:sp>
        <p:nvSpPr>
          <p:cNvPr id="66" name="Rectangle 65"/>
          <p:cNvSpPr/>
          <p:nvPr/>
        </p:nvSpPr>
        <p:spPr>
          <a:xfrm>
            <a:off x="5800725" y="4816504"/>
            <a:ext cx="114300" cy="43092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972175" y="4816504"/>
            <a:ext cx="1381125" cy="430922"/>
          </a:xfrm>
          <a:prstGeom prst="rect">
            <a:avLst/>
          </a:prstGeom>
          <a:noFill/>
        </p:spPr>
        <p:txBody>
          <a:bodyPr wrap="square" lIns="0" tIns="0" rIns="19050" bIns="0" anchor="ctr">
            <a:spAutoFit/>
          </a:bodyPr>
          <a:lstStyle/>
          <a:p>
            <a:pPr algn="l"/>
            <a:endParaRPr/>
          </a:p>
        </p:txBody>
      </p:sp>
      <p:sp>
        <p:nvSpPr>
          <p:cNvPr id="68" name="Rectangle 67"/>
          <p:cNvSpPr/>
          <p:nvPr/>
        </p:nvSpPr>
        <p:spPr>
          <a:xfrm>
            <a:off x="5800725" y="5304576"/>
            <a:ext cx="114300" cy="32049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972175" y="5304576"/>
            <a:ext cx="1381125" cy="320490"/>
          </a:xfrm>
          <a:prstGeom prst="rect">
            <a:avLst/>
          </a:prstGeom>
          <a:noFill/>
        </p:spPr>
        <p:txBody>
          <a:bodyPr wrap="square" lIns="0" tIns="0" rIns="19050" bIns="0" anchor="ctr">
            <a:spAutoFit/>
          </a:bodyPr>
          <a:lstStyle/>
          <a:p>
            <a:pPr algn="l"/>
            <a:endParaRPr/>
          </a:p>
        </p:txBody>
      </p:sp>
      <p:sp>
        <p:nvSpPr>
          <p:cNvPr id="70" name="Rectangle 69"/>
          <p:cNvSpPr/>
          <p:nvPr/>
        </p:nvSpPr>
        <p:spPr>
          <a:xfrm>
            <a:off x="5800725" y="5682216"/>
            <a:ext cx="114300" cy="28555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972175" y="5682216"/>
            <a:ext cx="1381125" cy="285557"/>
          </a:xfrm>
          <a:prstGeom prst="rect">
            <a:avLst/>
          </a:prstGeom>
          <a:noFill/>
        </p:spPr>
        <p:txBody>
          <a:bodyPr wrap="square" lIns="0" tIns="0" rIns="19050" bIns="0" anchor="ctr">
            <a:spAutoFit/>
          </a:bodyPr>
          <a:lstStyle/>
          <a:p>
            <a:pPr algn="l"/>
            <a:endParaRPr/>
          </a:p>
        </p:txBody>
      </p:sp>
      <p:sp>
        <p:nvSpPr>
          <p:cNvPr id="72" name="Rectangle 71"/>
          <p:cNvSpPr/>
          <p:nvPr/>
        </p:nvSpPr>
        <p:spPr>
          <a:xfrm>
            <a:off x="5800725" y="6024923"/>
            <a:ext cx="114300" cy="22953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972175" y="6024923"/>
            <a:ext cx="1381125" cy="229537"/>
          </a:xfrm>
          <a:prstGeom prst="rect">
            <a:avLst/>
          </a:prstGeom>
          <a:noFill/>
        </p:spPr>
        <p:txBody>
          <a:bodyPr wrap="square" lIns="0" tIns="0" rIns="19050" bIns="0" anchor="ctr">
            <a:spAutoFit/>
          </a:bodyPr>
          <a:lstStyle/>
          <a:p>
            <a:pPr algn="l"/>
            <a:endParaRPr/>
          </a:p>
        </p:txBody>
      </p:sp>
      <p:sp>
        <p:nvSpPr>
          <p:cNvPr id="74" name="Rectangle 73"/>
          <p:cNvSpPr/>
          <p:nvPr/>
        </p:nvSpPr>
        <p:spPr>
          <a:xfrm>
            <a:off x="5800725" y="6311610"/>
            <a:ext cx="114300" cy="22254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972175" y="6311610"/>
            <a:ext cx="1381125" cy="222540"/>
          </a:xfrm>
          <a:prstGeom prst="rect">
            <a:avLst/>
          </a:prstGeom>
          <a:noFill/>
        </p:spPr>
        <p:txBody>
          <a:bodyPr wrap="square" lIns="0" tIns="0" rIns="19050" bIns="0" anchor="ctr">
            <a:spAutoFit/>
          </a:bodyPr>
          <a:lstStyle/>
          <a:p>
            <a:pPr algn="l"/>
            <a:endParaRPr/>
          </a:p>
        </p:txBody>
      </p:sp>
      <p:sp>
        <p:nvSpPr>
          <p:cNvPr id="76" name="Rounded Rectangle 75"/>
          <p:cNvSpPr/>
          <p:nvPr/>
        </p:nvSpPr>
        <p:spPr>
          <a:xfrm>
            <a:off x="7581900" y="3990975"/>
            <a:ext cx="4457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715250" y="4076700"/>
            <a:ext cx="4191000" cy="209550"/>
          </a:xfrm>
          <a:prstGeom prst="rect">
            <a:avLst/>
          </a:prstGeom>
          <a:noFill/>
        </p:spPr>
        <p:txBody>
          <a:bodyPr wrap="square" lIns="0" tIns="9525" rIns="19050" bIns="9525">
            <a:spAutoFit/>
          </a:bodyPr>
          <a:lstStyle/>
          <a:p>
            <a:pPr algn="l"/>
            <a:r>
              <a:rPr sz="1300" b="1">
                <a:solidFill>
                  <a:srgbClr val="0B2E4A"/>
                </a:solidFill>
                <a:latin typeface="Calibri"/>
              </a:rPr>
              <a:t>Key Findings</a:t>
            </a:r>
          </a:p>
        </p:txBody>
      </p:sp>
      <p:sp>
        <p:nvSpPr>
          <p:cNvPr id="78" name="Rectangle 77"/>
          <p:cNvSpPr/>
          <p:nvPr/>
        </p:nvSpPr>
        <p:spPr>
          <a:xfrm>
            <a:off x="7715250" y="43148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715250" y="4400550"/>
            <a:ext cx="41910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80" name="TextBox 7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6919854" y="2519100"/>
            <a:ext cx="366712" cy="533400"/>
          </a:xfrm>
          <a:prstGeom prst="rect">
            <a:avLst/>
          </a:prstGeom>
        </p:spPr>
      </p:pic>
      <p:sp>
        <p:nvSpPr>
          <p:cNvPr id="82" name="TextBox 81"/>
          <p:cNvSpPr txBox="1"/>
          <p:nvPr/>
        </p:nvSpPr>
        <p:spPr>
          <a:xfrm>
            <a:off x="458850" y="4594871"/>
            <a:ext cx="1328315" cy="186689"/>
          </a:xfrm>
          <a:prstGeom prst="rect">
            <a:avLst/>
          </a:prstGeom>
          <a:noFill/>
        </p:spPr>
        <p:txBody>
          <a:bodyPr wrap="none" lIns="0" tIns="0" rIns="0" bIns="0">
            <a:spAutoFit/>
          </a:bodyPr>
          <a:lstStyle/>
          <a:p>
            <a:r>
              <a:rPr sz="1100" b="1">
                <a:solidFill>
                  <a:srgbClr val="2E2E2E"/>
                </a:solidFill>
                <a:latin typeface="Calibri"/>
              </a:rPr>
              <a:t>Capsules and Softgels</a:t>
            </a:r>
          </a:p>
        </p:txBody>
      </p:sp>
      <p:pic>
        <p:nvPicPr>
          <p:cNvPr id="83" name="Picture 82" descr="lock.png"/>
          <p:cNvPicPr>
            <a:picLocks noChangeAspect="1"/>
          </p:cNvPicPr>
          <p:nvPr/>
        </p:nvPicPr>
        <p:blipFill>
          <a:blip r:embed="rId4"/>
          <a:stretch>
            <a:fillRect/>
          </a:stretch>
        </p:blipFill>
        <p:spPr>
          <a:xfrm>
            <a:off x="1735218" y="4585092"/>
            <a:ext cx="128699" cy="187198"/>
          </a:xfrm>
          <a:prstGeom prst="rect">
            <a:avLst/>
          </a:prstGeom>
        </p:spPr>
      </p:pic>
      <p:sp>
        <p:nvSpPr>
          <p:cNvPr id="84" name="TextBox 83"/>
          <p:cNvSpPr txBox="1"/>
          <p:nvPr/>
        </p:nvSpPr>
        <p:spPr>
          <a:xfrm>
            <a:off x="1288592" y="5219890"/>
            <a:ext cx="498574" cy="186689"/>
          </a:xfrm>
          <a:prstGeom prst="rect">
            <a:avLst/>
          </a:prstGeom>
          <a:noFill/>
        </p:spPr>
        <p:txBody>
          <a:bodyPr wrap="none" lIns="0" tIns="0" rIns="0" bIns="0">
            <a:spAutoFit/>
          </a:bodyPr>
          <a:lstStyle/>
          <a:p>
            <a:r>
              <a:rPr sz="1100" b="1">
                <a:solidFill>
                  <a:srgbClr val="2E2E2E"/>
                </a:solidFill>
                <a:latin typeface="Calibri"/>
              </a:rPr>
              <a:t>Tablets</a:t>
            </a:r>
          </a:p>
        </p:txBody>
      </p:sp>
      <p:pic>
        <p:nvPicPr>
          <p:cNvPr id="85" name="Picture 84" descr="lock.png"/>
          <p:cNvPicPr>
            <a:picLocks noChangeAspect="1"/>
          </p:cNvPicPr>
          <p:nvPr/>
        </p:nvPicPr>
        <p:blipFill>
          <a:blip r:embed="rId4"/>
          <a:stretch>
            <a:fillRect/>
          </a:stretch>
        </p:blipFill>
        <p:spPr>
          <a:xfrm>
            <a:off x="1735218" y="5210111"/>
            <a:ext cx="128699" cy="187198"/>
          </a:xfrm>
          <a:prstGeom prst="rect">
            <a:avLst/>
          </a:prstGeom>
        </p:spPr>
      </p:pic>
      <p:sp>
        <p:nvSpPr>
          <p:cNvPr id="86" name="TextBox 85"/>
          <p:cNvSpPr txBox="1"/>
          <p:nvPr/>
        </p:nvSpPr>
        <p:spPr>
          <a:xfrm>
            <a:off x="1082862" y="5661354"/>
            <a:ext cx="704304" cy="186689"/>
          </a:xfrm>
          <a:prstGeom prst="rect">
            <a:avLst/>
          </a:prstGeom>
          <a:noFill/>
        </p:spPr>
        <p:txBody>
          <a:bodyPr wrap="none" lIns="0" tIns="0" rIns="0" bIns="0">
            <a:spAutoFit/>
          </a:bodyPr>
          <a:lstStyle/>
          <a:p>
            <a:r>
              <a:rPr sz="1100" b="1">
                <a:solidFill>
                  <a:srgbClr val="2E2E2E"/>
                </a:solidFill>
                <a:latin typeface="Calibri"/>
              </a:rPr>
              <a:t>Chewables</a:t>
            </a:r>
          </a:p>
        </p:txBody>
      </p:sp>
      <p:pic>
        <p:nvPicPr>
          <p:cNvPr id="87" name="Picture 86" descr="lock.png"/>
          <p:cNvPicPr>
            <a:picLocks noChangeAspect="1"/>
          </p:cNvPicPr>
          <p:nvPr/>
        </p:nvPicPr>
        <p:blipFill>
          <a:blip r:embed="rId4"/>
          <a:stretch>
            <a:fillRect/>
          </a:stretch>
        </p:blipFill>
        <p:spPr>
          <a:xfrm>
            <a:off x="1735218" y="5651575"/>
            <a:ext cx="128699" cy="187198"/>
          </a:xfrm>
          <a:prstGeom prst="rect">
            <a:avLst/>
          </a:prstGeom>
        </p:spPr>
      </p:pic>
      <p:sp>
        <p:nvSpPr>
          <p:cNvPr id="88" name="TextBox 87"/>
          <p:cNvSpPr txBox="1"/>
          <p:nvPr/>
        </p:nvSpPr>
        <p:spPr>
          <a:xfrm>
            <a:off x="1017296" y="6015485"/>
            <a:ext cx="800675" cy="153161"/>
          </a:xfrm>
          <a:prstGeom prst="rect">
            <a:avLst/>
          </a:prstGeom>
          <a:noFill/>
        </p:spPr>
        <p:txBody>
          <a:bodyPr wrap="none" lIns="0" tIns="0" rIns="0" bIns="0">
            <a:spAutoFit/>
          </a:bodyPr>
          <a:lstStyle/>
          <a:p>
            <a:r>
              <a:rPr sz="879" b="1">
                <a:solidFill>
                  <a:srgbClr val="2E2E2E"/>
                </a:solidFill>
                <a:latin typeface="Calibri"/>
              </a:rPr>
              <a:t>Gels and Pastes</a:t>
            </a:r>
          </a:p>
        </p:txBody>
      </p:sp>
      <p:pic>
        <p:nvPicPr>
          <p:cNvPr id="89" name="Picture 88" descr="lock.png"/>
          <p:cNvPicPr>
            <a:picLocks noChangeAspect="1"/>
          </p:cNvPicPr>
          <p:nvPr/>
        </p:nvPicPr>
        <p:blipFill>
          <a:blip r:embed="rId4"/>
          <a:stretch>
            <a:fillRect/>
          </a:stretch>
        </p:blipFill>
        <p:spPr>
          <a:xfrm>
            <a:off x="1761173" y="6007662"/>
            <a:ext cx="102959" cy="149758"/>
          </a:xfrm>
          <a:prstGeom prst="rect">
            <a:avLst/>
          </a:prstGeom>
        </p:spPr>
      </p:pic>
      <p:sp>
        <p:nvSpPr>
          <p:cNvPr id="90" name="TextBox 89"/>
          <p:cNvSpPr txBox="1"/>
          <p:nvPr/>
        </p:nvSpPr>
        <p:spPr>
          <a:xfrm>
            <a:off x="1459807" y="6254185"/>
            <a:ext cx="370486" cy="139750"/>
          </a:xfrm>
          <a:prstGeom prst="rect">
            <a:avLst/>
          </a:prstGeom>
          <a:noFill/>
        </p:spPr>
        <p:txBody>
          <a:bodyPr wrap="none" lIns="0" tIns="0" rIns="0" bIns="0">
            <a:spAutoFit/>
          </a:bodyPr>
          <a:lstStyle/>
          <a:p>
            <a:r>
              <a:rPr sz="791" b="1">
                <a:solidFill>
                  <a:srgbClr val="2E2E2E"/>
                </a:solidFill>
                <a:latin typeface="Calibri"/>
              </a:rPr>
              <a:t>Liquids</a:t>
            </a:r>
          </a:p>
        </p:txBody>
      </p:sp>
      <p:pic>
        <p:nvPicPr>
          <p:cNvPr id="91" name="Picture 90" descr="lock.png"/>
          <p:cNvPicPr>
            <a:picLocks noChangeAspect="1"/>
          </p:cNvPicPr>
          <p:nvPr/>
        </p:nvPicPr>
        <p:blipFill>
          <a:blip r:embed="rId4"/>
          <a:stretch>
            <a:fillRect/>
          </a:stretch>
        </p:blipFill>
        <p:spPr>
          <a:xfrm>
            <a:off x="1771555" y="6247144"/>
            <a:ext cx="92663" cy="134782"/>
          </a:xfrm>
          <a:prstGeom prst="rect">
            <a:avLst/>
          </a:prstGeom>
        </p:spPr>
      </p:pic>
      <p:sp>
        <p:nvSpPr>
          <p:cNvPr id="92" name="TextBox 91"/>
          <p:cNvSpPr txBox="1"/>
          <p:nvPr/>
        </p:nvSpPr>
        <p:spPr>
          <a:xfrm>
            <a:off x="814459" y="6430037"/>
            <a:ext cx="1015835" cy="139750"/>
          </a:xfrm>
          <a:prstGeom prst="rect">
            <a:avLst/>
          </a:prstGeom>
          <a:noFill/>
        </p:spPr>
        <p:txBody>
          <a:bodyPr wrap="none" lIns="0" tIns="0" rIns="0" bIns="0">
            <a:spAutoFit/>
          </a:bodyPr>
          <a:lstStyle/>
          <a:p>
            <a:r>
              <a:rPr sz="791" b="1">
                <a:solidFill>
                  <a:srgbClr val="2E2E2E"/>
                </a:solidFill>
                <a:latin typeface="Calibri"/>
              </a:rPr>
              <a:t>Powders and Granules</a:t>
            </a:r>
          </a:p>
        </p:txBody>
      </p:sp>
      <p:pic>
        <p:nvPicPr>
          <p:cNvPr id="93" name="Picture 92" descr="lock.png"/>
          <p:cNvPicPr>
            <a:picLocks noChangeAspect="1"/>
          </p:cNvPicPr>
          <p:nvPr/>
        </p:nvPicPr>
        <p:blipFill>
          <a:blip r:embed="rId4"/>
          <a:stretch>
            <a:fillRect/>
          </a:stretch>
        </p:blipFill>
        <p:spPr>
          <a:xfrm>
            <a:off x="1771555" y="6422996"/>
            <a:ext cx="92663" cy="134782"/>
          </a:xfrm>
          <a:prstGeom prst="rect">
            <a:avLst/>
          </a:prstGeom>
        </p:spPr>
      </p:pic>
      <p:sp>
        <p:nvSpPr>
          <p:cNvPr id="94" name="TextBox 93"/>
          <p:cNvSpPr txBox="1"/>
          <p:nvPr/>
        </p:nvSpPr>
        <p:spPr>
          <a:xfrm>
            <a:off x="5972175" y="4369449"/>
            <a:ext cx="759966" cy="186689"/>
          </a:xfrm>
          <a:prstGeom prst="rect">
            <a:avLst/>
          </a:prstGeom>
          <a:noFill/>
        </p:spPr>
        <p:txBody>
          <a:bodyPr wrap="none" lIns="0" tIns="0" rIns="0" bIns="0">
            <a:spAutoFit/>
          </a:bodyPr>
          <a:lstStyle/>
          <a:p>
            <a:r>
              <a:rPr sz="1100" b="1">
                <a:solidFill>
                  <a:srgbClr val="2E2E2E"/>
                </a:solidFill>
                <a:latin typeface="Calibri"/>
              </a:rPr>
              <a:t>Antioxidant</a:t>
            </a:r>
          </a:p>
        </p:txBody>
      </p:sp>
      <p:sp>
        <p:nvSpPr>
          <p:cNvPr id="95" name="TextBox 94"/>
          <p:cNvSpPr txBox="1"/>
          <p:nvPr/>
        </p:nvSpPr>
        <p:spPr>
          <a:xfrm>
            <a:off x="5972175" y="4537089"/>
            <a:ext cx="734045" cy="186689"/>
          </a:xfrm>
          <a:prstGeom prst="rect">
            <a:avLst/>
          </a:prstGeom>
          <a:noFill/>
        </p:spPr>
        <p:txBody>
          <a:bodyPr wrap="none" lIns="0" tIns="0" rIns="0" bIns="0">
            <a:spAutoFit/>
          </a:bodyPr>
          <a:lstStyle/>
          <a:p>
            <a:r>
              <a:rPr sz="1100" b="1">
                <a:solidFill>
                  <a:srgbClr val="2E2E2E"/>
                </a:solidFill>
                <a:latin typeface="Calibri"/>
              </a:rPr>
              <a:t>Ingredients</a:t>
            </a:r>
          </a:p>
        </p:txBody>
      </p:sp>
      <p:pic>
        <p:nvPicPr>
          <p:cNvPr id="96" name="Picture 95" descr="lock.png"/>
          <p:cNvPicPr>
            <a:picLocks noChangeAspect="1"/>
          </p:cNvPicPr>
          <p:nvPr/>
        </p:nvPicPr>
        <p:blipFill>
          <a:blip r:embed="rId4"/>
          <a:stretch>
            <a:fillRect/>
          </a:stretch>
        </p:blipFill>
        <p:spPr>
          <a:xfrm>
            <a:off x="6654271" y="4527310"/>
            <a:ext cx="128699" cy="187198"/>
          </a:xfrm>
          <a:prstGeom prst="rect">
            <a:avLst/>
          </a:prstGeom>
        </p:spPr>
      </p:pic>
      <p:sp>
        <p:nvSpPr>
          <p:cNvPr id="97" name="TextBox 96"/>
          <p:cNvSpPr txBox="1"/>
          <p:nvPr/>
        </p:nvSpPr>
        <p:spPr>
          <a:xfrm>
            <a:off x="5972175" y="4871030"/>
            <a:ext cx="1362075" cy="179984"/>
          </a:xfrm>
          <a:prstGeom prst="rect">
            <a:avLst/>
          </a:prstGeom>
          <a:noFill/>
        </p:spPr>
        <p:txBody>
          <a:bodyPr wrap="none" lIns="0" tIns="0" rIns="0" bIns="0">
            <a:spAutoFit/>
          </a:bodyPr>
          <a:lstStyle/>
          <a:p>
            <a:r>
              <a:rPr sz="1055" b="1">
                <a:solidFill>
                  <a:srgbClr val="2E2E2E"/>
                </a:solidFill>
                <a:latin typeface="Calibri"/>
              </a:rPr>
              <a:t>Cellular Energy Support</a:t>
            </a:r>
          </a:p>
        </p:txBody>
      </p:sp>
      <p:sp>
        <p:nvSpPr>
          <p:cNvPr id="98" name="TextBox 97"/>
          <p:cNvSpPr txBox="1"/>
          <p:nvPr/>
        </p:nvSpPr>
        <p:spPr>
          <a:xfrm>
            <a:off x="5972175" y="5031965"/>
            <a:ext cx="707731" cy="179984"/>
          </a:xfrm>
          <a:prstGeom prst="rect">
            <a:avLst/>
          </a:prstGeom>
          <a:noFill/>
        </p:spPr>
        <p:txBody>
          <a:bodyPr wrap="none" lIns="0" tIns="0" rIns="0" bIns="0">
            <a:spAutoFit/>
          </a:bodyPr>
          <a:lstStyle/>
          <a:p>
            <a:r>
              <a:rPr sz="1055" b="1">
                <a:solidFill>
                  <a:srgbClr val="2E2E2E"/>
                </a:solidFill>
                <a:latin typeface="Calibri"/>
              </a:rPr>
              <a:t>Ingredients</a:t>
            </a:r>
          </a:p>
        </p:txBody>
      </p:sp>
      <p:pic>
        <p:nvPicPr>
          <p:cNvPr id="99" name="Picture 98" descr="lock.png"/>
          <p:cNvPicPr>
            <a:picLocks noChangeAspect="1"/>
          </p:cNvPicPr>
          <p:nvPr/>
        </p:nvPicPr>
        <p:blipFill>
          <a:blip r:embed="rId4"/>
          <a:stretch>
            <a:fillRect/>
          </a:stretch>
        </p:blipFill>
        <p:spPr>
          <a:xfrm>
            <a:off x="6626987" y="5022577"/>
            <a:ext cx="123551" cy="179710"/>
          </a:xfrm>
          <a:prstGeom prst="rect">
            <a:avLst/>
          </a:prstGeom>
        </p:spPr>
      </p:pic>
      <p:sp>
        <p:nvSpPr>
          <p:cNvPr id="100" name="TextBox 99"/>
          <p:cNvSpPr txBox="1"/>
          <p:nvPr/>
        </p:nvSpPr>
        <p:spPr>
          <a:xfrm>
            <a:off x="5972175" y="5387706"/>
            <a:ext cx="1176129" cy="173278"/>
          </a:xfrm>
          <a:prstGeom prst="rect">
            <a:avLst/>
          </a:prstGeom>
          <a:noFill/>
        </p:spPr>
        <p:txBody>
          <a:bodyPr wrap="none" lIns="0" tIns="0" rIns="0" bIns="0">
            <a:spAutoFit/>
          </a:bodyPr>
          <a:lstStyle/>
          <a:p>
            <a:r>
              <a:rPr sz="1011" b="1">
                <a:solidFill>
                  <a:srgbClr val="2E2E2E"/>
                </a:solidFill>
                <a:latin typeface="Calibri"/>
              </a:rPr>
              <a:t>Omega-3 Fatty Acids</a:t>
            </a:r>
          </a:p>
        </p:txBody>
      </p:sp>
      <p:pic>
        <p:nvPicPr>
          <p:cNvPr id="101" name="Picture 100" descr="lock.png"/>
          <p:cNvPicPr>
            <a:picLocks noChangeAspect="1"/>
          </p:cNvPicPr>
          <p:nvPr/>
        </p:nvPicPr>
        <p:blipFill>
          <a:blip r:embed="rId4"/>
          <a:stretch>
            <a:fillRect/>
          </a:stretch>
        </p:blipFill>
        <p:spPr>
          <a:xfrm>
            <a:off x="7094416" y="5378709"/>
            <a:ext cx="118403" cy="172222"/>
          </a:xfrm>
          <a:prstGeom prst="rect">
            <a:avLst/>
          </a:prstGeom>
        </p:spPr>
      </p:pic>
      <p:sp>
        <p:nvSpPr>
          <p:cNvPr id="102" name="TextBox 101"/>
          <p:cNvSpPr txBox="1"/>
          <p:nvPr/>
        </p:nvSpPr>
        <p:spPr>
          <a:xfrm>
            <a:off x="5972175" y="5704293"/>
            <a:ext cx="990492" cy="139750"/>
          </a:xfrm>
          <a:prstGeom prst="rect">
            <a:avLst/>
          </a:prstGeom>
          <a:noFill/>
        </p:spPr>
        <p:txBody>
          <a:bodyPr wrap="none" lIns="0" tIns="0" rIns="0" bIns="0">
            <a:spAutoFit/>
          </a:bodyPr>
          <a:lstStyle/>
          <a:p>
            <a:r>
              <a:rPr sz="791" b="1">
                <a:solidFill>
                  <a:srgbClr val="2E2E2E"/>
                </a:solidFill>
                <a:latin typeface="Calibri"/>
              </a:rPr>
              <a:t>Microbiome-Targeted</a:t>
            </a:r>
          </a:p>
        </p:txBody>
      </p:sp>
      <p:sp>
        <p:nvSpPr>
          <p:cNvPr id="103" name="TextBox 102"/>
          <p:cNvSpPr txBox="1"/>
          <p:nvPr/>
        </p:nvSpPr>
        <p:spPr>
          <a:xfrm>
            <a:off x="5972175" y="5824994"/>
            <a:ext cx="549848" cy="139750"/>
          </a:xfrm>
          <a:prstGeom prst="rect">
            <a:avLst/>
          </a:prstGeom>
          <a:noFill/>
        </p:spPr>
        <p:txBody>
          <a:bodyPr wrap="none" lIns="0" tIns="0" rIns="0" bIns="0">
            <a:spAutoFit/>
          </a:bodyPr>
          <a:lstStyle/>
          <a:p>
            <a:r>
              <a:rPr sz="791" b="1">
                <a:solidFill>
                  <a:srgbClr val="2E2E2E"/>
                </a:solidFill>
                <a:latin typeface="Calibri"/>
              </a:rPr>
              <a:t>Ingredients</a:t>
            </a:r>
          </a:p>
        </p:txBody>
      </p:sp>
      <p:pic>
        <p:nvPicPr>
          <p:cNvPr id="104" name="Picture 103" descr="lock.png"/>
          <p:cNvPicPr>
            <a:picLocks noChangeAspect="1"/>
          </p:cNvPicPr>
          <p:nvPr/>
        </p:nvPicPr>
        <p:blipFill>
          <a:blip r:embed="rId4"/>
          <a:stretch>
            <a:fillRect/>
          </a:stretch>
        </p:blipFill>
        <p:spPr>
          <a:xfrm>
            <a:off x="6463284" y="5817953"/>
            <a:ext cx="92663" cy="134782"/>
          </a:xfrm>
          <a:prstGeom prst="rect">
            <a:avLst/>
          </a:prstGeom>
        </p:spPr>
      </p:pic>
      <p:sp>
        <p:nvSpPr>
          <p:cNvPr id="105" name="TextBox 104"/>
          <p:cNvSpPr txBox="1"/>
          <p:nvPr/>
        </p:nvSpPr>
        <p:spPr>
          <a:xfrm>
            <a:off x="5972175" y="6065929"/>
            <a:ext cx="1160053" cy="166573"/>
          </a:xfrm>
          <a:prstGeom prst="rect">
            <a:avLst/>
          </a:prstGeom>
          <a:noFill/>
        </p:spPr>
        <p:txBody>
          <a:bodyPr wrap="none" lIns="0" tIns="0" rIns="0" bIns="0">
            <a:spAutoFit/>
          </a:bodyPr>
          <a:lstStyle/>
          <a:p>
            <a:r>
              <a:rPr sz="968" b="1">
                <a:solidFill>
                  <a:srgbClr val="2E2E2E"/>
                </a:solidFill>
                <a:latin typeface="Calibri"/>
              </a:rPr>
              <a:t>Botanical Ingredients</a:t>
            </a:r>
          </a:p>
        </p:txBody>
      </p:sp>
      <p:pic>
        <p:nvPicPr>
          <p:cNvPr id="106" name="Picture 105" descr="lock.png"/>
          <p:cNvPicPr>
            <a:picLocks noChangeAspect="1"/>
          </p:cNvPicPr>
          <p:nvPr/>
        </p:nvPicPr>
        <p:blipFill>
          <a:blip r:embed="rId4"/>
          <a:stretch>
            <a:fillRect/>
          </a:stretch>
        </p:blipFill>
        <p:spPr>
          <a:xfrm>
            <a:off x="7077370" y="6057324"/>
            <a:ext cx="113255" cy="164734"/>
          </a:xfrm>
          <a:prstGeom prst="rect">
            <a:avLst/>
          </a:prstGeom>
        </p:spPr>
      </p:pic>
      <p:sp>
        <p:nvSpPr>
          <p:cNvPr id="107" name="TextBox 106"/>
          <p:cNvSpPr txBox="1"/>
          <p:nvPr/>
        </p:nvSpPr>
        <p:spPr>
          <a:xfrm>
            <a:off x="5972175" y="6362529"/>
            <a:ext cx="1179284" cy="139750"/>
          </a:xfrm>
          <a:prstGeom prst="rect">
            <a:avLst/>
          </a:prstGeom>
          <a:noFill/>
        </p:spPr>
        <p:txBody>
          <a:bodyPr wrap="none" lIns="0" tIns="0" rIns="0" bIns="0">
            <a:spAutoFit/>
          </a:bodyPr>
          <a:lstStyle/>
          <a:p>
            <a:r>
              <a:rPr sz="791" b="1">
                <a:solidFill>
                  <a:srgbClr val="2E2E2E"/>
                </a:solidFill>
                <a:latin typeface="Calibri"/>
              </a:rPr>
              <a:t>Neurofunctional Nutrients</a:t>
            </a:r>
          </a:p>
        </p:txBody>
      </p:sp>
      <p:pic>
        <p:nvPicPr>
          <p:cNvPr id="108" name="Picture 107" descr="lock.png"/>
          <p:cNvPicPr>
            <a:picLocks noChangeAspect="1"/>
          </p:cNvPicPr>
          <p:nvPr/>
        </p:nvPicPr>
        <p:blipFill>
          <a:blip r:embed="rId4"/>
          <a:stretch>
            <a:fillRect/>
          </a:stretch>
        </p:blipFill>
        <p:spPr>
          <a:xfrm>
            <a:off x="7092720" y="6355488"/>
            <a:ext cx="92663" cy="134782"/>
          </a:xfrm>
          <a:prstGeom prst="rect">
            <a:avLst/>
          </a:prstGeom>
        </p:spPr>
      </p:pic>
      <p:sp>
        <p:nvSpPr>
          <p:cNvPr id="109" name="TextBox 108"/>
          <p:cNvSpPr txBox="1"/>
          <p:nvPr/>
        </p:nvSpPr>
        <p:spPr>
          <a:xfrm>
            <a:off x="7715250" y="4410075"/>
            <a:ext cx="3984525" cy="186689"/>
          </a:xfrm>
          <a:prstGeom prst="rect">
            <a:avLst/>
          </a:prstGeom>
          <a:noFill/>
        </p:spPr>
        <p:txBody>
          <a:bodyPr wrap="none" lIns="0" tIns="0" rIns="0" bIns="0">
            <a:spAutoFit/>
          </a:bodyPr>
          <a:lstStyle/>
          <a:p>
            <a:r>
              <a:rPr sz="1100" b="0">
                <a:solidFill>
                  <a:srgbClr val="2E2E2E"/>
                </a:solidFill>
                <a:latin typeface="Calibri"/>
              </a:rPr>
              <a:t>Capsules and softgels segment is projected to account for the largest</a:t>
            </a:r>
          </a:p>
        </p:txBody>
      </p:sp>
      <p:sp>
        <p:nvSpPr>
          <p:cNvPr id="110" name="TextBox 109"/>
          <p:cNvSpPr txBox="1"/>
          <p:nvPr/>
        </p:nvSpPr>
        <p:spPr>
          <a:xfrm>
            <a:off x="7715250" y="4577715"/>
            <a:ext cx="3869382" cy="186689"/>
          </a:xfrm>
          <a:prstGeom prst="rect">
            <a:avLst/>
          </a:prstGeom>
          <a:noFill/>
        </p:spPr>
        <p:txBody>
          <a:bodyPr wrap="none" lIns="0" tIns="0" rIns="0" bIns="0">
            <a:spAutoFit/>
          </a:bodyPr>
          <a:lstStyle/>
          <a:p>
            <a:r>
              <a:rPr sz="1100" b="0">
                <a:solidFill>
                  <a:srgbClr val="2E2E2E"/>
                </a:solidFill>
                <a:latin typeface="Calibri"/>
              </a:rPr>
              <a:t>share of the global senior dog cognitive supplement market, led by</a:t>
            </a:r>
          </a:p>
        </p:txBody>
      </p:sp>
      <p:sp>
        <p:nvSpPr>
          <p:cNvPr id="111" name="TextBox 110"/>
          <p:cNvSpPr txBox="1"/>
          <p:nvPr/>
        </p:nvSpPr>
        <p:spPr>
          <a:xfrm>
            <a:off x="7715250" y="4745355"/>
            <a:ext cx="1795983" cy="186689"/>
          </a:xfrm>
          <a:prstGeom prst="rect">
            <a:avLst/>
          </a:prstGeom>
          <a:noFill/>
        </p:spPr>
        <p:txBody>
          <a:bodyPr wrap="none" lIns="0" tIns="0" rIns="0" bIns="0">
            <a:spAutoFit/>
          </a:bodyPr>
          <a:lstStyle/>
          <a:p>
            <a:r>
              <a:rPr sz="1100" b="0">
                <a:solidFill>
                  <a:srgbClr val="2E2E2E"/>
                </a:solidFill>
                <a:latin typeface="Calibri"/>
              </a:rPr>
              <a:t>antioxidant ingredients at US$</a:t>
            </a:r>
          </a:p>
        </p:txBody>
      </p:sp>
      <p:pic>
        <p:nvPicPr>
          <p:cNvPr id="112" name="Picture 111" descr="lock.png"/>
          <p:cNvPicPr>
            <a:picLocks noChangeAspect="1"/>
          </p:cNvPicPr>
          <p:nvPr/>
        </p:nvPicPr>
        <p:blipFill>
          <a:blip r:embed="rId4"/>
          <a:stretch>
            <a:fillRect/>
          </a:stretch>
        </p:blipFill>
        <p:spPr>
          <a:xfrm>
            <a:off x="9459284" y="4735576"/>
            <a:ext cx="128699" cy="187198"/>
          </a:xfrm>
          <a:prstGeom prst="rect">
            <a:avLst/>
          </a:prstGeom>
        </p:spPr>
      </p:pic>
      <p:sp>
        <p:nvSpPr>
          <p:cNvPr id="113" name="TextBox 112"/>
          <p:cNvSpPr txBox="1"/>
          <p:nvPr/>
        </p:nvSpPr>
        <p:spPr>
          <a:xfrm>
            <a:off x="9626780" y="4745355"/>
            <a:ext cx="2146051" cy="186689"/>
          </a:xfrm>
          <a:prstGeom prst="rect">
            <a:avLst/>
          </a:prstGeom>
          <a:noFill/>
        </p:spPr>
        <p:txBody>
          <a:bodyPr wrap="none" lIns="0" tIns="0" rIns="0" bIns="0">
            <a:spAutoFit/>
          </a:bodyPr>
          <a:lstStyle/>
          <a:p>
            <a:r>
              <a:rPr sz="1100" b="0">
                <a:solidFill>
                  <a:srgbClr val="2E2E2E"/>
                </a:solidFill>
                <a:latin typeface="Calibri"/>
              </a:rPr>
              <a:t>Mn in 2036. 'Capsules and Softgels ×</a:t>
            </a:r>
          </a:p>
        </p:txBody>
      </p:sp>
      <p:sp>
        <p:nvSpPr>
          <p:cNvPr id="114" name="TextBox 113"/>
          <p:cNvSpPr txBox="1"/>
          <p:nvPr/>
        </p:nvSpPr>
        <p:spPr>
          <a:xfrm>
            <a:off x="7715250" y="4912995"/>
            <a:ext cx="3730228" cy="186689"/>
          </a:xfrm>
          <a:prstGeom prst="rect">
            <a:avLst/>
          </a:prstGeom>
          <a:noFill/>
        </p:spPr>
        <p:txBody>
          <a:bodyPr wrap="none" lIns="0" tIns="0" rIns="0" bIns="0">
            <a:spAutoFit/>
          </a:bodyPr>
          <a:lstStyle/>
          <a:p>
            <a:r>
              <a:rPr sz="1100" b="0">
                <a:solidFill>
                  <a:srgbClr val="2E2E2E"/>
                </a:solidFill>
                <a:latin typeface="Calibri"/>
              </a:rPr>
              <a:t>Antioxidant Ingredients' is the single largest cross-sectional cell (</a:t>
            </a:r>
          </a:p>
        </p:txBody>
      </p:sp>
      <p:pic>
        <p:nvPicPr>
          <p:cNvPr id="115" name="Picture 114" descr="lock.png"/>
          <p:cNvPicPr>
            <a:picLocks noChangeAspect="1"/>
          </p:cNvPicPr>
          <p:nvPr/>
        </p:nvPicPr>
        <p:blipFill>
          <a:blip r:embed="rId4"/>
          <a:stretch>
            <a:fillRect/>
          </a:stretch>
        </p:blipFill>
        <p:spPr>
          <a:xfrm>
            <a:off x="11393529" y="4903216"/>
            <a:ext cx="128699" cy="187198"/>
          </a:xfrm>
          <a:prstGeom prst="rect">
            <a:avLst/>
          </a:prstGeom>
        </p:spPr>
      </p:pic>
      <p:sp>
        <p:nvSpPr>
          <p:cNvPr id="116" name="TextBox 115"/>
          <p:cNvSpPr txBox="1"/>
          <p:nvPr/>
        </p:nvSpPr>
        <p:spPr>
          <a:xfrm>
            <a:off x="11561025" y="4912995"/>
            <a:ext cx="301029" cy="186689"/>
          </a:xfrm>
          <a:prstGeom prst="rect">
            <a:avLst/>
          </a:prstGeom>
          <a:noFill/>
        </p:spPr>
        <p:txBody>
          <a:bodyPr wrap="none" lIns="0" tIns="0" rIns="0" bIns="0">
            <a:spAutoFit/>
          </a:bodyPr>
          <a:lstStyle/>
          <a:p>
            <a:r>
              <a:rPr sz="1100" b="0">
                <a:solidFill>
                  <a:srgbClr val="2E2E2E"/>
                </a:solidFill>
                <a:latin typeface="Calibri"/>
              </a:rPr>
              <a:t>US$</a:t>
            </a:r>
          </a:p>
        </p:txBody>
      </p:sp>
      <p:sp>
        <p:nvSpPr>
          <p:cNvPr id="117" name="TextBox 116"/>
          <p:cNvSpPr txBox="1"/>
          <p:nvPr/>
        </p:nvSpPr>
        <p:spPr>
          <a:xfrm>
            <a:off x="7715250" y="5080635"/>
            <a:ext cx="3959969" cy="186689"/>
          </a:xfrm>
          <a:prstGeom prst="rect">
            <a:avLst/>
          </a:prstGeom>
          <a:noFill/>
        </p:spPr>
        <p:txBody>
          <a:bodyPr wrap="none" lIns="0" tIns="0" rIns="0" bIns="0">
            <a:spAutoFit/>
          </a:bodyPr>
          <a:lstStyle/>
          <a:p>
            <a:r>
              <a:rPr sz="1100" b="0">
                <a:solidFill>
                  <a:srgbClr val="2E2E2E"/>
                </a:solidFill>
                <a:latin typeface="Calibri"/>
              </a:rPr>
              <a:t>Mn, 2026E), while 'Chewables × Antioxidant Ingredients' records the</a:t>
            </a:r>
          </a:p>
        </p:txBody>
      </p:sp>
      <p:sp>
        <p:nvSpPr>
          <p:cNvPr id="118" name="TextBox 117"/>
          <p:cNvSpPr txBox="1"/>
          <p:nvPr/>
        </p:nvSpPr>
        <p:spPr>
          <a:xfrm>
            <a:off x="7715250" y="5248275"/>
            <a:ext cx="1640986" cy="186689"/>
          </a:xfrm>
          <a:prstGeom prst="rect">
            <a:avLst/>
          </a:prstGeom>
          <a:noFill/>
        </p:spPr>
        <p:txBody>
          <a:bodyPr wrap="none" lIns="0" tIns="0" rIns="0" bIns="0">
            <a:spAutoFit/>
          </a:bodyPr>
          <a:lstStyle/>
          <a:p>
            <a:r>
              <a:rPr sz="1100" b="0">
                <a:solidFill>
                  <a:srgbClr val="2E2E2E"/>
                </a:solidFill>
                <a:latin typeface="Calibri"/>
              </a:rPr>
              <a:t>fastest growth at a CAGR of</a:t>
            </a:r>
          </a:p>
        </p:txBody>
      </p:sp>
      <p:pic>
        <p:nvPicPr>
          <p:cNvPr id="119" name="Picture 118" descr="lock.png"/>
          <p:cNvPicPr>
            <a:picLocks noChangeAspect="1"/>
          </p:cNvPicPr>
          <p:nvPr/>
        </p:nvPicPr>
        <p:blipFill>
          <a:blip r:embed="rId4"/>
          <a:stretch>
            <a:fillRect/>
          </a:stretch>
        </p:blipFill>
        <p:spPr>
          <a:xfrm>
            <a:off x="9304288" y="5238496"/>
            <a:ext cx="128699" cy="187198"/>
          </a:xfrm>
          <a:prstGeom prst="rect">
            <a:avLst/>
          </a:prstGeom>
        </p:spPr>
      </p:pic>
      <p:sp>
        <p:nvSpPr>
          <p:cNvPr id="120" name="TextBox 119"/>
          <p:cNvSpPr txBox="1"/>
          <p:nvPr/>
        </p:nvSpPr>
        <p:spPr>
          <a:xfrm>
            <a:off x="9471784" y="5248275"/>
            <a:ext cx="1167401" cy="186689"/>
          </a:xfrm>
          <a:prstGeom prst="rect">
            <a:avLst/>
          </a:prstGeom>
          <a:noFill/>
        </p:spPr>
        <p:txBody>
          <a:bodyPr wrap="none" lIns="0" tIns="0" rIns="0" bIns="0">
            <a:spAutoFit/>
          </a:bodyPr>
          <a:lstStyle/>
          <a:p>
            <a:r>
              <a:rPr sz="1100" b="0">
                <a:solidFill>
                  <a:srgbClr val="2E2E2E"/>
                </a:solidFill>
                <a:latin typeface="Calibri"/>
              </a:rPr>
              <a:t>over 2026E–2036F.</a:t>
            </a:r>
          </a:p>
        </p:txBody>
      </p:sp>
      <p:sp>
        <p:nvSpPr>
          <p:cNvPr id="121" name="TextBox 120"/>
          <p:cNvSpPr txBox="1"/>
          <p:nvPr/>
        </p:nvSpPr>
        <p:spPr>
          <a:xfrm>
            <a:off x="7715250" y="5466207"/>
            <a:ext cx="4154239" cy="186689"/>
          </a:xfrm>
          <a:prstGeom prst="rect">
            <a:avLst/>
          </a:prstGeom>
          <a:noFill/>
        </p:spPr>
        <p:txBody>
          <a:bodyPr wrap="none" lIns="0" tIns="0" rIns="0" bIns="0">
            <a:spAutoFit/>
          </a:bodyPr>
          <a:lstStyle/>
          <a:p>
            <a:r>
              <a:rPr sz="1100" b="0">
                <a:solidFill>
                  <a:srgbClr val="2E2E2E"/>
                </a:solidFill>
                <a:latin typeface="Calibri"/>
              </a:rPr>
              <a:t>Combined, the top three form type × active ingredient cells generate an</a:t>
            </a:r>
          </a:p>
        </p:txBody>
      </p:sp>
      <p:sp>
        <p:nvSpPr>
          <p:cNvPr id="122" name="TextBox 121"/>
          <p:cNvSpPr txBox="1"/>
          <p:nvPr/>
        </p:nvSpPr>
        <p:spPr>
          <a:xfrm>
            <a:off x="7715250" y="5633847"/>
            <a:ext cx="1528043" cy="186689"/>
          </a:xfrm>
          <a:prstGeom prst="rect">
            <a:avLst/>
          </a:prstGeom>
          <a:noFill/>
        </p:spPr>
        <p:txBody>
          <a:bodyPr wrap="none" lIns="0" tIns="0" rIns="0" bIns="0">
            <a:spAutoFit/>
          </a:bodyPr>
          <a:lstStyle/>
          <a:p>
            <a:r>
              <a:rPr sz="1100" b="0">
                <a:solidFill>
                  <a:srgbClr val="2E2E2E"/>
                </a:solidFill>
                <a:latin typeface="Calibri"/>
              </a:rPr>
              <a:t>absolute $ opportunity of</a:t>
            </a:r>
          </a:p>
        </p:txBody>
      </p:sp>
      <p:pic>
        <p:nvPicPr>
          <p:cNvPr id="123" name="Picture 122" descr="lock.png"/>
          <p:cNvPicPr>
            <a:picLocks noChangeAspect="1"/>
          </p:cNvPicPr>
          <p:nvPr/>
        </p:nvPicPr>
        <p:blipFill>
          <a:blip r:embed="rId4"/>
          <a:stretch>
            <a:fillRect/>
          </a:stretch>
        </p:blipFill>
        <p:spPr>
          <a:xfrm>
            <a:off x="9191344" y="5624068"/>
            <a:ext cx="128699" cy="187198"/>
          </a:xfrm>
          <a:prstGeom prst="rect">
            <a:avLst/>
          </a:prstGeom>
        </p:spPr>
      </p:pic>
      <p:sp>
        <p:nvSpPr>
          <p:cNvPr id="124" name="TextBox 123"/>
          <p:cNvSpPr txBox="1"/>
          <p:nvPr/>
        </p:nvSpPr>
        <p:spPr>
          <a:xfrm>
            <a:off x="9358840" y="5633847"/>
            <a:ext cx="1108465" cy="186689"/>
          </a:xfrm>
          <a:prstGeom prst="rect">
            <a:avLst/>
          </a:prstGeom>
          <a:noFill/>
        </p:spPr>
        <p:txBody>
          <a:bodyPr wrap="none" lIns="0" tIns="0" rIns="0" bIns="0">
            <a:spAutoFit/>
          </a:bodyPr>
          <a:lstStyle/>
          <a:p>
            <a:r>
              <a:rPr sz="1100" b="0">
                <a:solidFill>
                  <a:srgbClr val="2E2E2E"/>
                </a:solidFill>
                <a:latin typeface="Calibri"/>
              </a:rPr>
              <a:t>US$ Mn by 2036F.</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Share Analysis: Form Type × Active Ingredient, 2026E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 share of global market value, each row split across all active ingredient sub-segments</a:t>
            </a:r>
          </a:p>
        </p:txBody>
      </p:sp>
      <p:sp>
        <p:nvSpPr>
          <p:cNvPr id="10" name="Rounded Rectangle 9"/>
          <p:cNvSpPr/>
          <p:nvPr/>
        </p:nvSpPr>
        <p:spPr>
          <a:xfrm>
            <a:off x="142875" y="981075"/>
            <a:ext cx="119062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Share, Form Type × Active Ingredient, 2026E (% of each row)</a:t>
            </a:r>
          </a:p>
        </p:txBody>
      </p:sp>
      <p:graphicFrame>
        <p:nvGraphicFramePr>
          <p:cNvPr id="12" name="Table 11"/>
          <p:cNvGraphicFramePr>
            <a:graphicFrameLocks noGrp="1"/>
          </p:cNvGraphicFramePr>
          <p:nvPr/>
        </p:nvGraphicFramePr>
        <p:xfrm>
          <a:off x="152400" y="1238250"/>
          <a:ext cx="11889153" cy="2162172"/>
        </p:xfrm>
        <a:graphic>
          <a:graphicData uri="http://schemas.openxmlformats.org/drawingml/2006/table">
            <a:tbl>
              <a:tblPr>
                <a:tableStyleId>{5C22544A-7EE6-4342-B048-85BDC9FD1C3A}</a:tableStyleId>
              </a:tblPr>
              <a:tblGrid>
                <a:gridCol w="1498600">
                  <a:extLst>
                    <a:ext uri="{9D8B030D-6E8A-4147-A177-3AD203B41FA5}">
                      <a16:colId xmlns:a16="http://schemas.microsoft.com/office/drawing/2014/main" val="20000"/>
                    </a:ext>
                  </a:extLst>
                </a:gridCol>
                <a:gridCol w="1274888">
                  <a:extLst>
                    <a:ext uri="{9D8B030D-6E8A-4147-A177-3AD203B41FA5}">
                      <a16:colId xmlns:a16="http://schemas.microsoft.com/office/drawing/2014/main" val="20001"/>
                    </a:ext>
                  </a:extLst>
                </a:gridCol>
                <a:gridCol w="1464428">
                  <a:extLst>
                    <a:ext uri="{9D8B030D-6E8A-4147-A177-3AD203B41FA5}">
                      <a16:colId xmlns:a16="http://schemas.microsoft.com/office/drawing/2014/main" val="20002"/>
                    </a:ext>
                  </a:extLst>
                </a:gridCol>
                <a:gridCol w="1639852">
                  <a:extLst>
                    <a:ext uri="{9D8B030D-6E8A-4147-A177-3AD203B41FA5}">
                      <a16:colId xmlns:a16="http://schemas.microsoft.com/office/drawing/2014/main" val="20003"/>
                    </a:ext>
                  </a:extLst>
                </a:gridCol>
                <a:gridCol w="2109865">
                  <a:extLst>
                    <a:ext uri="{9D8B030D-6E8A-4147-A177-3AD203B41FA5}">
                      <a16:colId xmlns:a16="http://schemas.microsoft.com/office/drawing/2014/main" val="20004"/>
                    </a:ext>
                  </a:extLst>
                </a:gridCol>
                <a:gridCol w="1327823">
                  <a:extLst>
                    <a:ext uri="{9D8B030D-6E8A-4147-A177-3AD203B41FA5}">
                      <a16:colId xmlns:a16="http://schemas.microsoft.com/office/drawing/2014/main" val="20005"/>
                    </a:ext>
                  </a:extLst>
                </a:gridCol>
                <a:gridCol w="2029891">
                  <a:extLst>
                    <a:ext uri="{9D8B030D-6E8A-4147-A177-3AD203B41FA5}">
                      <a16:colId xmlns:a16="http://schemas.microsoft.com/office/drawing/2014/main" val="20006"/>
                    </a:ext>
                  </a:extLst>
                </a:gridCol>
                <a:gridCol w="543806">
                  <a:extLst>
                    <a:ext uri="{9D8B030D-6E8A-4147-A177-3AD203B41FA5}">
                      <a16:colId xmlns:a16="http://schemas.microsoft.com/office/drawing/2014/main" val="20007"/>
                    </a:ext>
                  </a:extLst>
                </a:gridCol>
              </a:tblGrid>
              <a:tr h="438912">
                <a:tc>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a:txBody>
                    <a:bodyPr/>
                    <a:lstStyle/>
                    <a:p>
                      <a:pPr algn="ctr"/>
                      <a:r>
                        <a:rPr sz="1100" b="1">
                          <a:solidFill>
                            <a:srgbClr val="0B2E4A"/>
                          </a:solidFill>
                          <a:latin typeface="Calibri"/>
                        </a:rPr>
                        <a:t>Antioxidant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Neurofunctional Nutrients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Cellular Energy Support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Microbiome-Targeted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180">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180">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180">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180">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180">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180">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180">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4099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743325"/>
            <a:ext cx="7286625"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3800475"/>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Active Ingredient Mix by Form Type, 2026E (% share)</a:t>
            </a:r>
          </a:p>
        </p:txBody>
      </p:sp>
      <p:graphicFrame>
        <p:nvGraphicFramePr>
          <p:cNvPr id="16" name="Chart 15"/>
          <p:cNvGraphicFramePr>
            <a:graphicFrameLocks noGrp="1"/>
          </p:cNvGraphicFramePr>
          <p:nvPr/>
        </p:nvGraphicFramePr>
        <p:xfrm>
          <a:off x="238125" y="4029075"/>
          <a:ext cx="7096125" cy="2543175"/>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7581900" y="3743325"/>
            <a:ext cx="4457700"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15250" y="3829050"/>
            <a:ext cx="4191000" cy="209550"/>
          </a:xfrm>
          <a:prstGeom prst="rect">
            <a:avLst/>
          </a:prstGeom>
          <a:noFill/>
        </p:spPr>
        <p:txBody>
          <a:bodyPr wrap="square" lIns="0" tIns="9525" rIns="19050" bIns="9525">
            <a:spAutoFit/>
          </a:bodyPr>
          <a:lstStyle/>
          <a:p>
            <a:pPr algn="l"/>
            <a:r>
              <a:rPr sz="1300" b="1">
                <a:solidFill>
                  <a:srgbClr val="0B2E4A"/>
                </a:solidFill>
                <a:latin typeface="Calibri"/>
              </a:rPr>
              <a:t>Share Insights</a:t>
            </a:r>
          </a:p>
        </p:txBody>
      </p:sp>
      <p:sp>
        <p:nvSpPr>
          <p:cNvPr id="19" name="Rectangle 18"/>
          <p:cNvSpPr/>
          <p:nvPr/>
        </p:nvSpPr>
        <p:spPr>
          <a:xfrm>
            <a:off x="7715250" y="40671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5250" y="4152900"/>
            <a:ext cx="4191000" cy="24003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1" name="TextBox 2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639864" y="2272092"/>
            <a:ext cx="366712" cy="533400"/>
          </a:xfrm>
          <a:prstGeom prst="rect">
            <a:avLst/>
          </a:prstGeom>
        </p:spPr>
      </p:pic>
      <p:pic>
        <p:nvPicPr>
          <p:cNvPr id="23" name="Picture 22" descr="lock.png"/>
          <p:cNvPicPr>
            <a:picLocks noChangeAspect="1"/>
          </p:cNvPicPr>
          <p:nvPr/>
        </p:nvPicPr>
        <p:blipFill>
          <a:blip r:embed="rId5"/>
          <a:stretch>
            <a:fillRect/>
          </a:stretch>
        </p:blipFill>
        <p:spPr>
          <a:xfrm>
            <a:off x="3775138" y="4568380"/>
            <a:ext cx="311705" cy="453389"/>
          </a:xfrm>
          <a:prstGeom prst="rect">
            <a:avLst/>
          </a:prstGeom>
        </p:spPr>
      </p:pic>
      <p:sp>
        <p:nvSpPr>
          <p:cNvPr id="24" name="TextBox 23"/>
          <p:cNvSpPr txBox="1"/>
          <p:nvPr/>
        </p:nvSpPr>
        <p:spPr>
          <a:xfrm>
            <a:off x="7715250" y="4162425"/>
            <a:ext cx="3896035" cy="194310"/>
          </a:xfrm>
          <a:prstGeom prst="rect">
            <a:avLst/>
          </a:prstGeom>
          <a:noFill/>
        </p:spPr>
        <p:txBody>
          <a:bodyPr wrap="none" lIns="0" tIns="0" rIns="0" bIns="0">
            <a:spAutoFit/>
          </a:bodyPr>
          <a:lstStyle/>
          <a:p>
            <a:r>
              <a:rPr sz="1150" b="0">
                <a:solidFill>
                  <a:srgbClr val="2E2E2E"/>
                </a:solidFill>
                <a:latin typeface="Calibri"/>
              </a:rPr>
              <a:t>▪ 'Cellular Energy Support Ingredients' holds the highest share of</a:t>
            </a:r>
          </a:p>
        </p:txBody>
      </p:sp>
      <p:sp>
        <p:nvSpPr>
          <p:cNvPr id="25" name="TextBox 24"/>
          <p:cNvSpPr txBox="1"/>
          <p:nvPr/>
        </p:nvSpPr>
        <p:spPr>
          <a:xfrm>
            <a:off x="7715250" y="4337685"/>
            <a:ext cx="934529" cy="194310"/>
          </a:xfrm>
          <a:prstGeom prst="rect">
            <a:avLst/>
          </a:prstGeom>
          <a:noFill/>
        </p:spPr>
        <p:txBody>
          <a:bodyPr wrap="none" lIns="0" tIns="0" rIns="0" bIns="0">
            <a:spAutoFit/>
          </a:bodyPr>
          <a:lstStyle/>
          <a:p>
            <a:r>
              <a:rPr sz="1150" b="0">
                <a:solidFill>
                  <a:srgbClr val="2E2E2E"/>
                </a:solidFill>
                <a:latin typeface="Calibri"/>
              </a:rPr>
              <a:t>'Chewables' at</a:t>
            </a:r>
          </a:p>
        </p:txBody>
      </p:sp>
      <p:pic>
        <p:nvPicPr>
          <p:cNvPr id="26" name="Picture 25" descr="lock.png"/>
          <p:cNvPicPr>
            <a:picLocks noChangeAspect="1"/>
          </p:cNvPicPr>
          <p:nvPr/>
        </p:nvPicPr>
        <p:blipFill>
          <a:blip r:embed="rId5"/>
          <a:stretch>
            <a:fillRect/>
          </a:stretch>
        </p:blipFill>
        <p:spPr>
          <a:xfrm>
            <a:off x="8598932" y="4327461"/>
            <a:ext cx="134549" cy="195707"/>
          </a:xfrm>
          <a:prstGeom prst="rect">
            <a:avLst/>
          </a:prstGeom>
        </p:spPr>
      </p:pic>
      <p:sp>
        <p:nvSpPr>
          <p:cNvPr id="27" name="TextBox 26"/>
          <p:cNvSpPr txBox="1"/>
          <p:nvPr/>
        </p:nvSpPr>
        <p:spPr>
          <a:xfrm>
            <a:off x="8774042" y="4337685"/>
            <a:ext cx="569404" cy="194310"/>
          </a:xfrm>
          <a:prstGeom prst="rect">
            <a:avLst/>
          </a:prstGeom>
          <a:noFill/>
        </p:spPr>
        <p:txBody>
          <a:bodyPr wrap="none" lIns="0" tIns="0" rIns="0" bIns="0">
            <a:spAutoFit/>
          </a:bodyPr>
          <a:lstStyle/>
          <a:p>
            <a:r>
              <a:rPr sz="1150" b="0">
                <a:solidFill>
                  <a:srgbClr val="2E2E2E"/>
                </a:solidFill>
                <a:latin typeface="Calibri"/>
              </a:rPr>
              <a:t>(2026E).</a:t>
            </a:r>
          </a:p>
        </p:txBody>
      </p:sp>
      <p:sp>
        <p:nvSpPr>
          <p:cNvPr id="28" name="TextBox 27"/>
          <p:cNvSpPr txBox="1"/>
          <p:nvPr/>
        </p:nvSpPr>
        <p:spPr>
          <a:xfrm>
            <a:off x="7715250" y="4565522"/>
            <a:ext cx="4139927" cy="194310"/>
          </a:xfrm>
          <a:prstGeom prst="rect">
            <a:avLst/>
          </a:prstGeom>
          <a:noFill/>
        </p:spPr>
        <p:txBody>
          <a:bodyPr wrap="none" lIns="0" tIns="0" rIns="0" bIns="0">
            <a:spAutoFit/>
          </a:bodyPr>
          <a:lstStyle/>
          <a:p>
            <a:r>
              <a:rPr sz="1150" b="0">
                <a:solidFill>
                  <a:srgbClr val="2E2E2E"/>
                </a:solidFill>
                <a:latin typeface="Calibri"/>
              </a:rPr>
              <a:t>▪ 'Chewables' is the most concentrated form type sub-segment, with</a:t>
            </a:r>
          </a:p>
        </p:txBody>
      </p:sp>
      <p:pic>
        <p:nvPicPr>
          <p:cNvPr id="29" name="Picture 28" descr="lock.png"/>
          <p:cNvPicPr>
            <a:picLocks noChangeAspect="1"/>
          </p:cNvPicPr>
          <p:nvPr/>
        </p:nvPicPr>
        <p:blipFill>
          <a:blip r:embed="rId5"/>
          <a:stretch>
            <a:fillRect/>
          </a:stretch>
        </p:blipFill>
        <p:spPr>
          <a:xfrm>
            <a:off x="7701170" y="4730559"/>
            <a:ext cx="134549" cy="195707"/>
          </a:xfrm>
          <a:prstGeom prst="rect">
            <a:avLst/>
          </a:prstGeom>
        </p:spPr>
      </p:pic>
      <p:sp>
        <p:nvSpPr>
          <p:cNvPr id="30" name="TextBox 29"/>
          <p:cNvSpPr txBox="1"/>
          <p:nvPr/>
        </p:nvSpPr>
        <p:spPr>
          <a:xfrm>
            <a:off x="7876279" y="4740782"/>
            <a:ext cx="3161220" cy="194310"/>
          </a:xfrm>
          <a:prstGeom prst="rect">
            <a:avLst/>
          </a:prstGeom>
          <a:noFill/>
        </p:spPr>
        <p:txBody>
          <a:bodyPr wrap="none" lIns="0" tIns="0" rIns="0" bIns="0">
            <a:spAutoFit/>
          </a:bodyPr>
          <a:lstStyle/>
          <a:p>
            <a:r>
              <a:rPr sz="1150" b="0">
                <a:solidFill>
                  <a:srgbClr val="2E2E2E"/>
                </a:solidFill>
                <a:latin typeface="Calibri"/>
              </a:rPr>
              <a:t>of its value via 'Cellular Energy Support Ingredients'.</a:t>
            </a:r>
          </a:p>
        </p:txBody>
      </p:sp>
      <p:sp>
        <p:nvSpPr>
          <p:cNvPr id="31" name="TextBox 30"/>
          <p:cNvSpPr txBox="1"/>
          <p:nvPr/>
        </p:nvSpPr>
        <p:spPr>
          <a:xfrm>
            <a:off x="7715250" y="4968620"/>
            <a:ext cx="2065845" cy="194310"/>
          </a:xfrm>
          <a:prstGeom prst="rect">
            <a:avLst/>
          </a:prstGeom>
          <a:noFill/>
        </p:spPr>
        <p:txBody>
          <a:bodyPr wrap="none" lIns="0" tIns="0" rIns="0" bIns="0">
            <a:spAutoFit/>
          </a:bodyPr>
          <a:lstStyle/>
          <a:p>
            <a:r>
              <a:rPr sz="1150" b="0">
                <a:solidFill>
                  <a:srgbClr val="2E2E2E"/>
                </a:solidFill>
                <a:latin typeface="Calibri"/>
              </a:rPr>
              <a:t>▪ 'Antioxidant Ingredients' gains +</a:t>
            </a:r>
          </a:p>
        </p:txBody>
      </p:sp>
      <p:pic>
        <p:nvPicPr>
          <p:cNvPr id="32" name="Picture 31" descr="lock.png"/>
          <p:cNvPicPr>
            <a:picLocks noChangeAspect="1"/>
          </p:cNvPicPr>
          <p:nvPr/>
        </p:nvPicPr>
        <p:blipFill>
          <a:blip r:embed="rId5"/>
          <a:stretch>
            <a:fillRect/>
          </a:stretch>
        </p:blipFill>
        <p:spPr>
          <a:xfrm>
            <a:off x="9730249" y="4958397"/>
            <a:ext cx="134549" cy="195707"/>
          </a:xfrm>
          <a:prstGeom prst="rect">
            <a:avLst/>
          </a:prstGeom>
        </p:spPr>
      </p:pic>
      <p:sp>
        <p:nvSpPr>
          <p:cNvPr id="33" name="TextBox 32"/>
          <p:cNvSpPr txBox="1"/>
          <p:nvPr/>
        </p:nvSpPr>
        <p:spPr>
          <a:xfrm>
            <a:off x="9905359" y="4968620"/>
            <a:ext cx="1616000" cy="194310"/>
          </a:xfrm>
          <a:prstGeom prst="rect">
            <a:avLst/>
          </a:prstGeom>
          <a:noFill/>
        </p:spPr>
        <p:txBody>
          <a:bodyPr wrap="none" lIns="0" tIns="0" rIns="0" bIns="0">
            <a:spAutoFit/>
          </a:bodyPr>
          <a:lstStyle/>
          <a:p>
            <a:r>
              <a:rPr sz="1150" b="0">
                <a:solidFill>
                  <a:srgbClr val="2E2E2E"/>
                </a:solidFill>
                <a:latin typeface="Calibri"/>
              </a:rPr>
              <a:t>BPS of share of the Global</a:t>
            </a:r>
          </a:p>
        </p:txBody>
      </p:sp>
      <p:sp>
        <p:nvSpPr>
          <p:cNvPr id="34" name="TextBox 33"/>
          <p:cNvSpPr txBox="1"/>
          <p:nvPr/>
        </p:nvSpPr>
        <p:spPr>
          <a:xfrm>
            <a:off x="7715250" y="5143880"/>
            <a:ext cx="1462605" cy="194310"/>
          </a:xfrm>
          <a:prstGeom prst="rect">
            <a:avLst/>
          </a:prstGeom>
          <a:noFill/>
        </p:spPr>
        <p:txBody>
          <a:bodyPr wrap="none" lIns="0" tIns="0" rIns="0" bIns="0">
            <a:spAutoFit/>
          </a:bodyPr>
          <a:lstStyle/>
          <a:p>
            <a:r>
              <a:rPr sz="1150" b="0">
                <a:solidFill>
                  <a:srgbClr val="2E2E2E"/>
                </a:solidFill>
                <a:latin typeface="Calibri"/>
              </a:rPr>
              <a:t>cross-section by 2036F.</a:t>
            </a:r>
          </a:p>
        </p:txBody>
      </p:sp>
      <p:sp>
        <p:nvSpPr>
          <p:cNvPr id="35" name="lockshield_16"/>
          <p:cNvSpPr/>
          <p:nvPr/>
        </p:nvSpPr>
        <p:spPr>
          <a:xfrm>
            <a:off x="238125" y="4029075"/>
            <a:ext cx="7096125" cy="2543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&amp; Attractiveness: Form Type × Active Ingredient, 2026E–2036F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 Opportunity (US$ Mn) and Value CAGR, Form Type × Active Ingredient, 2026E–2036F</a:t>
            </a:r>
          </a:p>
        </p:txBody>
      </p:sp>
      <p:graphicFrame>
        <p:nvGraphicFramePr>
          <p:cNvPr id="12" name="Table 11"/>
          <p:cNvGraphicFramePr>
            <a:graphicFrameLocks noGrp="1"/>
          </p:cNvGraphicFramePr>
          <p:nvPr/>
        </p:nvGraphicFramePr>
        <p:xfrm>
          <a:off x="152400" y="1238250"/>
          <a:ext cx="11887205" cy="2409824"/>
        </p:xfrm>
        <a:graphic>
          <a:graphicData uri="http://schemas.openxmlformats.org/drawingml/2006/table">
            <a:tbl>
              <a:tblPr>
                <a:tableStyleId>{5C22544A-7EE6-4342-B048-85BDC9FD1C3A}</a:tableStyleId>
              </a:tblPr>
              <a:tblGrid>
                <a:gridCol w="1811209">
                  <a:extLst>
                    <a:ext uri="{9D8B030D-6E8A-4147-A177-3AD203B41FA5}">
                      <a16:colId xmlns:a16="http://schemas.microsoft.com/office/drawing/2014/main" val="20000"/>
                    </a:ext>
                  </a:extLst>
                </a:gridCol>
                <a:gridCol w="719714">
                  <a:extLst>
                    <a:ext uri="{9D8B030D-6E8A-4147-A177-3AD203B41FA5}">
                      <a16:colId xmlns:a16="http://schemas.microsoft.com/office/drawing/2014/main" val="20001"/>
                    </a:ext>
                  </a:extLst>
                </a:gridCol>
                <a:gridCol w="719714">
                  <a:extLst>
                    <a:ext uri="{9D8B030D-6E8A-4147-A177-3AD203B41FA5}">
                      <a16:colId xmlns:a16="http://schemas.microsoft.com/office/drawing/2014/main" val="20002"/>
                    </a:ext>
                  </a:extLst>
                </a:gridCol>
                <a:gridCol w="719714">
                  <a:extLst>
                    <a:ext uri="{9D8B030D-6E8A-4147-A177-3AD203B41FA5}">
                      <a16:colId xmlns:a16="http://schemas.microsoft.com/office/drawing/2014/main" val="20003"/>
                    </a:ext>
                  </a:extLst>
                </a:gridCol>
                <a:gridCol w="719714">
                  <a:extLst>
                    <a:ext uri="{9D8B030D-6E8A-4147-A177-3AD203B41FA5}">
                      <a16:colId xmlns:a16="http://schemas.microsoft.com/office/drawing/2014/main" val="20004"/>
                    </a:ext>
                  </a:extLst>
                </a:gridCol>
                <a:gridCol w="719714">
                  <a:extLst>
                    <a:ext uri="{9D8B030D-6E8A-4147-A177-3AD203B41FA5}">
                      <a16:colId xmlns:a16="http://schemas.microsoft.com/office/drawing/2014/main" val="20005"/>
                    </a:ext>
                  </a:extLst>
                </a:gridCol>
                <a:gridCol w="719714">
                  <a:extLst>
                    <a:ext uri="{9D8B030D-6E8A-4147-A177-3AD203B41FA5}">
                      <a16:colId xmlns:a16="http://schemas.microsoft.com/office/drawing/2014/main" val="20006"/>
                    </a:ext>
                  </a:extLst>
                </a:gridCol>
                <a:gridCol w="719714">
                  <a:extLst>
                    <a:ext uri="{9D8B030D-6E8A-4147-A177-3AD203B41FA5}">
                      <a16:colId xmlns:a16="http://schemas.microsoft.com/office/drawing/2014/main" val="20007"/>
                    </a:ext>
                  </a:extLst>
                </a:gridCol>
                <a:gridCol w="719714">
                  <a:extLst>
                    <a:ext uri="{9D8B030D-6E8A-4147-A177-3AD203B41FA5}">
                      <a16:colId xmlns:a16="http://schemas.microsoft.com/office/drawing/2014/main" val="20008"/>
                    </a:ext>
                  </a:extLst>
                </a:gridCol>
                <a:gridCol w="719714">
                  <a:extLst>
                    <a:ext uri="{9D8B030D-6E8A-4147-A177-3AD203B41FA5}">
                      <a16:colId xmlns:a16="http://schemas.microsoft.com/office/drawing/2014/main" val="20009"/>
                    </a:ext>
                  </a:extLst>
                </a:gridCol>
                <a:gridCol w="719714">
                  <a:extLst>
                    <a:ext uri="{9D8B030D-6E8A-4147-A177-3AD203B41FA5}">
                      <a16:colId xmlns:a16="http://schemas.microsoft.com/office/drawing/2014/main" val="20010"/>
                    </a:ext>
                  </a:extLst>
                </a:gridCol>
                <a:gridCol w="719714">
                  <a:extLst>
                    <a:ext uri="{9D8B030D-6E8A-4147-A177-3AD203B41FA5}">
                      <a16:colId xmlns:a16="http://schemas.microsoft.com/office/drawing/2014/main" val="20011"/>
                    </a:ext>
                  </a:extLst>
                </a:gridCol>
                <a:gridCol w="719714">
                  <a:extLst>
                    <a:ext uri="{9D8B030D-6E8A-4147-A177-3AD203B41FA5}">
                      <a16:colId xmlns:a16="http://schemas.microsoft.com/office/drawing/2014/main" val="20012"/>
                    </a:ext>
                  </a:extLst>
                </a:gridCol>
                <a:gridCol w="719714">
                  <a:extLst>
                    <a:ext uri="{9D8B030D-6E8A-4147-A177-3AD203B41FA5}">
                      <a16:colId xmlns:a16="http://schemas.microsoft.com/office/drawing/2014/main" val="20013"/>
                    </a:ext>
                  </a:extLst>
                </a:gridCol>
                <a:gridCol w="719714">
                  <a:extLst>
                    <a:ext uri="{9D8B030D-6E8A-4147-A177-3AD203B41FA5}">
                      <a16:colId xmlns:a16="http://schemas.microsoft.com/office/drawing/2014/main" val="20014"/>
                    </a:ext>
                  </a:extLst>
                </a:gridCol>
              </a:tblGrid>
              <a:tr h="438912">
                <a:tc rowSpan="2">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Cellular Energy</a:t>
                      </a:r>
                      <a:endParaRPr sz="1100"/>
                    </a:p>
                    <a:p>
                      <a:pPr algn="ctr"/>
                      <a:r>
                        <a:rPr sz="1100" b="1">
                          <a:solidFill>
                            <a:srgbClr val="0B2E4A"/>
                          </a:solidFill>
                          <a:latin typeface="Calibri"/>
                        </a:rPr>
                        <a:t>Support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Microbiome-Targeted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364">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6364">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6364">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6364">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6364">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6364">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6"/>
                  </a:ext>
                </a:extLst>
              </a:tr>
              <a:tr h="246364">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7"/>
                  </a:ext>
                </a:extLst>
              </a:tr>
              <a:tr h="246364">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3" name="TextBox 12"/>
          <p:cNvSpPr txBox="1"/>
          <p:nvPr/>
        </p:nvSpPr>
        <p:spPr>
          <a:xfrm>
            <a:off x="219075" y="36576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5600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076700"/>
            <a:ext cx="5334000" cy="209550"/>
          </a:xfrm>
          <a:prstGeom prst="rect">
            <a:avLst/>
          </a:prstGeom>
          <a:noFill/>
        </p:spPr>
        <p:txBody>
          <a:bodyPr wrap="square" lIns="0" tIns="9525" rIns="19050"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148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400550"/>
            <a:ext cx="53340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5895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293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Largest Pool</a:t>
            </a:r>
          </a:p>
        </p:txBody>
      </p:sp>
      <p:sp>
        <p:nvSpPr>
          <p:cNvPr id="20" name="Rectangle 19"/>
          <p:cNvSpPr/>
          <p:nvPr/>
        </p:nvSpPr>
        <p:spPr>
          <a:xfrm>
            <a:off x="6029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293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2" name="Rounded Rectangle 21"/>
          <p:cNvSpPr/>
          <p:nvPr/>
        </p:nvSpPr>
        <p:spPr>
          <a:xfrm>
            <a:off x="79914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248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Fastest Growth</a:t>
            </a:r>
          </a:p>
        </p:txBody>
      </p:sp>
      <p:sp>
        <p:nvSpPr>
          <p:cNvPr id="24" name="Rectangle 23"/>
          <p:cNvSpPr/>
          <p:nvPr/>
        </p:nvSpPr>
        <p:spPr>
          <a:xfrm>
            <a:off x="81248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248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6" name="Rounded Rectangle 25"/>
          <p:cNvSpPr/>
          <p:nvPr/>
        </p:nvSpPr>
        <p:spPr>
          <a:xfrm>
            <a:off x="10086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203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Where to Play</a:t>
            </a:r>
          </a:p>
        </p:txBody>
      </p:sp>
      <p:sp>
        <p:nvSpPr>
          <p:cNvPr id="28" name="Rectangle 27"/>
          <p:cNvSpPr/>
          <p:nvPr/>
        </p:nvSpPr>
        <p:spPr>
          <a:xfrm>
            <a:off x="10220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203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'Chewables × Antioxidant Ingredients' ranks highest (5/5); 'Powders and Granules × Neurofunctional Nutrients' lowest (1/5), a deprioritised cell.</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6814916" y="2519100"/>
            <a:ext cx="366712" cy="533400"/>
          </a:xfrm>
          <a:prstGeom prst="rect">
            <a:avLst/>
          </a:prstGeom>
        </p:spPr>
      </p:pic>
      <p:sp>
        <p:nvSpPr>
          <p:cNvPr id="32" name="TextBox 31"/>
          <p:cNvSpPr txBox="1"/>
          <p:nvPr/>
        </p:nvSpPr>
        <p:spPr>
          <a:xfrm>
            <a:off x="276225" y="4410075"/>
            <a:ext cx="3226258" cy="194310"/>
          </a:xfrm>
          <a:prstGeom prst="rect">
            <a:avLst/>
          </a:prstGeom>
          <a:noFill/>
        </p:spPr>
        <p:txBody>
          <a:bodyPr wrap="none" lIns="0" tIns="0" rIns="0" bIns="0">
            <a:spAutoFit/>
          </a:bodyPr>
          <a:lstStyle/>
          <a:p>
            <a:r>
              <a:rPr sz="1150" b="0">
                <a:solidFill>
                  <a:srgbClr val="2E2E2E"/>
                </a:solidFill>
                <a:latin typeface="Calibri"/>
              </a:rPr>
              <a:t>▪ 1. Capsules and Softgels × Antioxidant Ingredients –</a:t>
            </a:r>
          </a:p>
        </p:txBody>
      </p:sp>
      <p:pic>
        <p:nvPicPr>
          <p:cNvPr id="33" name="Picture 32" descr="lock.png"/>
          <p:cNvPicPr>
            <a:picLocks noChangeAspect="1"/>
          </p:cNvPicPr>
          <p:nvPr/>
        </p:nvPicPr>
        <p:blipFill>
          <a:blip r:embed="rId4"/>
          <a:stretch>
            <a:fillRect/>
          </a:stretch>
        </p:blipFill>
        <p:spPr>
          <a:xfrm>
            <a:off x="3451637" y="4399851"/>
            <a:ext cx="134549" cy="195707"/>
          </a:xfrm>
          <a:prstGeom prst="rect">
            <a:avLst/>
          </a:prstGeom>
        </p:spPr>
      </p:pic>
      <p:sp>
        <p:nvSpPr>
          <p:cNvPr id="34" name="TextBox 33"/>
          <p:cNvSpPr txBox="1"/>
          <p:nvPr/>
        </p:nvSpPr>
        <p:spPr>
          <a:xfrm>
            <a:off x="3626747" y="4410075"/>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688898" y="4399851"/>
            <a:ext cx="134549" cy="195707"/>
          </a:xfrm>
          <a:prstGeom prst="rect">
            <a:avLst/>
          </a:prstGeom>
        </p:spPr>
      </p:pic>
      <p:sp>
        <p:nvSpPr>
          <p:cNvPr id="36" name="TextBox 35"/>
          <p:cNvSpPr txBox="1"/>
          <p:nvPr/>
        </p:nvSpPr>
        <p:spPr>
          <a:xfrm>
            <a:off x="3864008" y="4410075"/>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37" name="TextBox 36"/>
          <p:cNvSpPr txBox="1"/>
          <p:nvPr/>
        </p:nvSpPr>
        <p:spPr>
          <a:xfrm>
            <a:off x="276225" y="4637913"/>
            <a:ext cx="3932547" cy="194310"/>
          </a:xfrm>
          <a:prstGeom prst="rect">
            <a:avLst/>
          </a:prstGeom>
          <a:noFill/>
        </p:spPr>
        <p:txBody>
          <a:bodyPr wrap="none" lIns="0" tIns="0" rIns="0" bIns="0">
            <a:spAutoFit/>
          </a:bodyPr>
          <a:lstStyle/>
          <a:p>
            <a:r>
              <a:rPr sz="1150" b="0">
                <a:solidFill>
                  <a:srgbClr val="2E2E2E"/>
                </a:solidFill>
                <a:latin typeface="Calibri"/>
              </a:rPr>
              <a:t>▪ 2. Capsules and Softgels × Cellular Energy Support Ingredients –</a:t>
            </a:r>
          </a:p>
        </p:txBody>
      </p:sp>
      <p:pic>
        <p:nvPicPr>
          <p:cNvPr id="38" name="Picture 37" descr="lock.png"/>
          <p:cNvPicPr>
            <a:picLocks noChangeAspect="1"/>
          </p:cNvPicPr>
          <p:nvPr/>
        </p:nvPicPr>
        <p:blipFill>
          <a:blip r:embed="rId4"/>
          <a:stretch>
            <a:fillRect/>
          </a:stretch>
        </p:blipFill>
        <p:spPr>
          <a:xfrm>
            <a:off x="4157926" y="4627689"/>
            <a:ext cx="134549" cy="195707"/>
          </a:xfrm>
          <a:prstGeom prst="rect">
            <a:avLst/>
          </a:prstGeom>
        </p:spPr>
      </p:pic>
      <p:sp>
        <p:nvSpPr>
          <p:cNvPr id="39" name="TextBox 38"/>
          <p:cNvSpPr txBox="1"/>
          <p:nvPr/>
        </p:nvSpPr>
        <p:spPr>
          <a:xfrm>
            <a:off x="4333035" y="4637913"/>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4395187" y="4627689"/>
            <a:ext cx="134549" cy="195707"/>
          </a:xfrm>
          <a:prstGeom prst="rect">
            <a:avLst/>
          </a:prstGeom>
        </p:spPr>
      </p:pic>
      <p:sp>
        <p:nvSpPr>
          <p:cNvPr id="41" name="TextBox 40"/>
          <p:cNvSpPr txBox="1"/>
          <p:nvPr/>
        </p:nvSpPr>
        <p:spPr>
          <a:xfrm>
            <a:off x="4570296" y="4637913"/>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42" name="TextBox 41"/>
          <p:cNvSpPr txBox="1"/>
          <p:nvPr/>
        </p:nvSpPr>
        <p:spPr>
          <a:xfrm>
            <a:off x="276225" y="4865750"/>
            <a:ext cx="3055614" cy="194310"/>
          </a:xfrm>
          <a:prstGeom prst="rect">
            <a:avLst/>
          </a:prstGeom>
          <a:noFill/>
        </p:spPr>
        <p:txBody>
          <a:bodyPr wrap="none" lIns="0" tIns="0" rIns="0" bIns="0">
            <a:spAutoFit/>
          </a:bodyPr>
          <a:lstStyle/>
          <a:p>
            <a:r>
              <a:rPr sz="1150" b="0">
                <a:solidFill>
                  <a:srgbClr val="2E2E2E"/>
                </a:solidFill>
                <a:latin typeface="Calibri"/>
              </a:rPr>
              <a:t>▪ 3. Capsules and Softgels × Omega-3 Fatty Acids –</a:t>
            </a:r>
          </a:p>
        </p:txBody>
      </p:sp>
      <p:pic>
        <p:nvPicPr>
          <p:cNvPr id="43" name="Picture 42" descr="lock.png"/>
          <p:cNvPicPr>
            <a:picLocks noChangeAspect="1"/>
          </p:cNvPicPr>
          <p:nvPr/>
        </p:nvPicPr>
        <p:blipFill>
          <a:blip r:embed="rId4"/>
          <a:stretch>
            <a:fillRect/>
          </a:stretch>
        </p:blipFill>
        <p:spPr>
          <a:xfrm>
            <a:off x="3280993" y="4855527"/>
            <a:ext cx="134549" cy="195707"/>
          </a:xfrm>
          <a:prstGeom prst="rect">
            <a:avLst/>
          </a:prstGeom>
        </p:spPr>
      </p:pic>
      <p:sp>
        <p:nvSpPr>
          <p:cNvPr id="44" name="TextBox 43"/>
          <p:cNvSpPr txBox="1"/>
          <p:nvPr/>
        </p:nvSpPr>
        <p:spPr>
          <a:xfrm>
            <a:off x="3456102" y="4865750"/>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518254" y="4855527"/>
            <a:ext cx="134549" cy="195707"/>
          </a:xfrm>
          <a:prstGeom prst="rect">
            <a:avLst/>
          </a:prstGeom>
        </p:spPr>
      </p:pic>
      <p:sp>
        <p:nvSpPr>
          <p:cNvPr id="46" name="TextBox 45"/>
          <p:cNvSpPr txBox="1"/>
          <p:nvPr/>
        </p:nvSpPr>
        <p:spPr>
          <a:xfrm>
            <a:off x="3693363" y="4865750"/>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47" name="TextBox 46"/>
          <p:cNvSpPr txBox="1"/>
          <p:nvPr/>
        </p:nvSpPr>
        <p:spPr>
          <a:xfrm>
            <a:off x="276225" y="5093588"/>
            <a:ext cx="3293293" cy="194310"/>
          </a:xfrm>
          <a:prstGeom prst="rect">
            <a:avLst/>
          </a:prstGeom>
          <a:noFill/>
        </p:spPr>
        <p:txBody>
          <a:bodyPr wrap="none" lIns="0" tIns="0" rIns="0" bIns="0">
            <a:spAutoFit/>
          </a:bodyPr>
          <a:lstStyle/>
          <a:p>
            <a:r>
              <a:rPr sz="1150" b="0">
                <a:solidFill>
                  <a:srgbClr val="2E2E2E"/>
                </a:solidFill>
                <a:latin typeface="Calibri"/>
              </a:rPr>
              <a:t>▪ 4. Chewables × Cellular Energy Support Ingredients –</a:t>
            </a:r>
          </a:p>
        </p:txBody>
      </p:sp>
      <p:pic>
        <p:nvPicPr>
          <p:cNvPr id="48" name="Picture 47" descr="lock.png"/>
          <p:cNvPicPr>
            <a:picLocks noChangeAspect="1"/>
          </p:cNvPicPr>
          <p:nvPr/>
        </p:nvPicPr>
        <p:blipFill>
          <a:blip r:embed="rId4"/>
          <a:stretch>
            <a:fillRect/>
          </a:stretch>
        </p:blipFill>
        <p:spPr>
          <a:xfrm>
            <a:off x="3518672" y="5083365"/>
            <a:ext cx="134549" cy="195707"/>
          </a:xfrm>
          <a:prstGeom prst="rect">
            <a:avLst/>
          </a:prstGeom>
        </p:spPr>
      </p:pic>
      <p:sp>
        <p:nvSpPr>
          <p:cNvPr id="49" name="TextBox 48"/>
          <p:cNvSpPr txBox="1"/>
          <p:nvPr/>
        </p:nvSpPr>
        <p:spPr>
          <a:xfrm>
            <a:off x="3693781" y="5093588"/>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755933" y="5083365"/>
            <a:ext cx="134549" cy="195707"/>
          </a:xfrm>
          <a:prstGeom prst="rect">
            <a:avLst/>
          </a:prstGeom>
        </p:spPr>
      </p:pic>
      <p:sp>
        <p:nvSpPr>
          <p:cNvPr id="51" name="TextBox 50"/>
          <p:cNvSpPr txBox="1"/>
          <p:nvPr/>
        </p:nvSpPr>
        <p:spPr>
          <a:xfrm>
            <a:off x="3931042" y="5093588"/>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52" name="TextBox 51"/>
          <p:cNvSpPr txBox="1"/>
          <p:nvPr/>
        </p:nvSpPr>
        <p:spPr>
          <a:xfrm>
            <a:off x="276225" y="5321426"/>
            <a:ext cx="3838413" cy="194310"/>
          </a:xfrm>
          <a:prstGeom prst="rect">
            <a:avLst/>
          </a:prstGeom>
          <a:noFill/>
        </p:spPr>
        <p:txBody>
          <a:bodyPr wrap="none" lIns="0" tIns="0" rIns="0" bIns="0">
            <a:spAutoFit/>
          </a:bodyPr>
          <a:lstStyle/>
          <a:p>
            <a:r>
              <a:rPr sz="1150" b="0">
                <a:solidFill>
                  <a:srgbClr val="2E2E2E"/>
                </a:solidFill>
                <a:latin typeface="Calibri"/>
              </a:rPr>
              <a:t>▪ 5. Capsules and Softgels × Microbiome-Targeted Ingredients –</a:t>
            </a:r>
          </a:p>
        </p:txBody>
      </p:sp>
      <p:pic>
        <p:nvPicPr>
          <p:cNvPr id="53" name="Picture 52" descr="lock.png"/>
          <p:cNvPicPr>
            <a:picLocks noChangeAspect="1"/>
          </p:cNvPicPr>
          <p:nvPr/>
        </p:nvPicPr>
        <p:blipFill>
          <a:blip r:embed="rId4"/>
          <a:stretch>
            <a:fillRect/>
          </a:stretch>
        </p:blipFill>
        <p:spPr>
          <a:xfrm>
            <a:off x="4063792" y="5311203"/>
            <a:ext cx="134549" cy="195707"/>
          </a:xfrm>
          <a:prstGeom prst="rect">
            <a:avLst/>
          </a:prstGeom>
        </p:spPr>
      </p:pic>
      <p:sp>
        <p:nvSpPr>
          <p:cNvPr id="54" name="TextBox 53"/>
          <p:cNvSpPr txBox="1"/>
          <p:nvPr/>
        </p:nvSpPr>
        <p:spPr>
          <a:xfrm>
            <a:off x="4238901" y="5321426"/>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4301053" y="5311203"/>
            <a:ext cx="134549" cy="195707"/>
          </a:xfrm>
          <a:prstGeom prst="rect">
            <a:avLst/>
          </a:prstGeom>
        </p:spPr>
      </p:pic>
      <p:sp>
        <p:nvSpPr>
          <p:cNvPr id="56" name="TextBox 55"/>
          <p:cNvSpPr txBox="1"/>
          <p:nvPr/>
        </p:nvSpPr>
        <p:spPr>
          <a:xfrm>
            <a:off x="4476162" y="5321426"/>
            <a:ext cx="350899" cy="194310"/>
          </a:xfrm>
          <a:prstGeom prst="rect">
            <a:avLst/>
          </a:prstGeom>
          <a:noFill/>
        </p:spPr>
        <p:txBody>
          <a:bodyPr wrap="none" lIns="0" tIns="0" rIns="0" bIns="0">
            <a:spAutoFit/>
          </a:bodyPr>
          <a:lstStyle/>
          <a:p>
            <a:r>
              <a:rPr sz="1150" b="0">
                <a:solidFill>
                  <a:srgbClr val="2E2E2E"/>
                </a:solidFill>
                <a:latin typeface="Calibri"/>
              </a:rPr>
              <a:t>· 4/5</a:t>
            </a:r>
          </a:p>
        </p:txBody>
      </p:sp>
      <p:sp>
        <p:nvSpPr>
          <p:cNvPr id="57" name="TextBox 56"/>
          <p:cNvSpPr txBox="1"/>
          <p:nvPr/>
        </p:nvSpPr>
        <p:spPr>
          <a:xfrm>
            <a:off x="6029325" y="4410075"/>
            <a:ext cx="1580058" cy="194310"/>
          </a:xfrm>
          <a:prstGeom prst="rect">
            <a:avLst/>
          </a:prstGeom>
          <a:noFill/>
        </p:spPr>
        <p:txBody>
          <a:bodyPr wrap="none" lIns="0" tIns="0" rIns="0" bIns="0">
            <a:spAutoFit/>
          </a:bodyPr>
          <a:lstStyle/>
          <a:p>
            <a:r>
              <a:rPr sz="1150" b="0">
                <a:solidFill>
                  <a:srgbClr val="2E2E2E"/>
                </a:solidFill>
                <a:latin typeface="Calibri"/>
              </a:rPr>
              <a:t>▪ 'Capsules and Softgels ×</a:t>
            </a:r>
          </a:p>
        </p:txBody>
      </p:sp>
      <p:sp>
        <p:nvSpPr>
          <p:cNvPr id="58" name="TextBox 57"/>
          <p:cNvSpPr txBox="1"/>
          <p:nvPr/>
        </p:nvSpPr>
        <p:spPr>
          <a:xfrm>
            <a:off x="6029325" y="4585335"/>
            <a:ext cx="1503895" cy="194310"/>
          </a:xfrm>
          <a:prstGeom prst="rect">
            <a:avLst/>
          </a:prstGeom>
          <a:noFill/>
        </p:spPr>
        <p:txBody>
          <a:bodyPr wrap="none" lIns="0" tIns="0" rIns="0" bIns="0">
            <a:spAutoFit/>
          </a:bodyPr>
          <a:lstStyle/>
          <a:p>
            <a:r>
              <a:rPr sz="1150" b="0">
                <a:solidFill>
                  <a:srgbClr val="2E2E2E"/>
                </a:solidFill>
                <a:latin typeface="Calibri"/>
              </a:rPr>
              <a:t>Antioxidant Ingredients'</a:t>
            </a:r>
          </a:p>
        </p:txBody>
      </p:sp>
      <p:sp>
        <p:nvSpPr>
          <p:cNvPr id="59" name="TextBox 58"/>
          <p:cNvSpPr txBox="1"/>
          <p:nvPr/>
        </p:nvSpPr>
        <p:spPr>
          <a:xfrm>
            <a:off x="6029325" y="4760595"/>
            <a:ext cx="356604" cy="194310"/>
          </a:xfrm>
          <a:prstGeom prst="rect">
            <a:avLst/>
          </a:prstGeom>
          <a:noFill/>
        </p:spPr>
        <p:txBody>
          <a:bodyPr wrap="none" lIns="0" tIns="0" rIns="0" bIns="0">
            <a:spAutoFit/>
          </a:bodyPr>
          <a:lstStyle/>
          <a:p>
            <a:r>
              <a:rPr sz="1150" b="0">
                <a:solidFill>
                  <a:srgbClr val="2E2E2E"/>
                </a:solidFill>
                <a:latin typeface="Calibri"/>
              </a:rPr>
              <a:t>adds</a:t>
            </a:r>
          </a:p>
        </p:txBody>
      </p:sp>
      <p:pic>
        <p:nvPicPr>
          <p:cNvPr id="60" name="Picture 59" descr="lock.png"/>
          <p:cNvPicPr>
            <a:picLocks noChangeAspect="1"/>
          </p:cNvPicPr>
          <p:nvPr/>
        </p:nvPicPr>
        <p:blipFill>
          <a:blip r:embed="rId4"/>
          <a:stretch>
            <a:fillRect/>
          </a:stretch>
        </p:blipFill>
        <p:spPr>
          <a:xfrm>
            <a:off x="6335083" y="4750371"/>
            <a:ext cx="134549" cy="195707"/>
          </a:xfrm>
          <a:prstGeom prst="rect">
            <a:avLst/>
          </a:prstGeom>
        </p:spPr>
      </p:pic>
      <p:sp>
        <p:nvSpPr>
          <p:cNvPr id="61" name="TextBox 60"/>
          <p:cNvSpPr txBox="1"/>
          <p:nvPr/>
        </p:nvSpPr>
        <p:spPr>
          <a:xfrm>
            <a:off x="6510192" y="4760595"/>
            <a:ext cx="1118803" cy="194310"/>
          </a:xfrm>
          <a:prstGeom prst="rect">
            <a:avLst/>
          </a:prstGeom>
          <a:noFill/>
        </p:spPr>
        <p:txBody>
          <a:bodyPr wrap="none" lIns="0" tIns="0" rIns="0" bIns="0">
            <a:spAutoFit/>
          </a:bodyPr>
          <a:lstStyle/>
          <a:p>
            <a:r>
              <a:rPr sz="1150" b="0">
                <a:solidFill>
                  <a:srgbClr val="2E2E2E"/>
                </a:solidFill>
                <a:latin typeface="Calibri"/>
              </a:rPr>
              <a:t>US$ Mn by 2036F</a:t>
            </a:r>
          </a:p>
        </p:txBody>
      </p:sp>
      <p:sp>
        <p:nvSpPr>
          <p:cNvPr id="62" name="TextBox 61"/>
          <p:cNvSpPr txBox="1"/>
          <p:nvPr/>
        </p:nvSpPr>
        <p:spPr>
          <a:xfrm>
            <a:off x="6029325" y="4935854"/>
            <a:ext cx="148939"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63" name="Picture 62" descr="lock.png"/>
          <p:cNvPicPr>
            <a:picLocks noChangeAspect="1"/>
          </p:cNvPicPr>
          <p:nvPr/>
        </p:nvPicPr>
        <p:blipFill>
          <a:blip r:embed="rId4"/>
          <a:stretch>
            <a:fillRect/>
          </a:stretch>
        </p:blipFill>
        <p:spPr>
          <a:xfrm>
            <a:off x="6127418" y="4925631"/>
            <a:ext cx="134549" cy="195707"/>
          </a:xfrm>
          <a:prstGeom prst="rect">
            <a:avLst/>
          </a:prstGeom>
        </p:spPr>
      </p:pic>
      <p:sp>
        <p:nvSpPr>
          <p:cNvPr id="64" name="TextBox 63"/>
          <p:cNvSpPr txBox="1"/>
          <p:nvPr/>
        </p:nvSpPr>
        <p:spPr>
          <a:xfrm>
            <a:off x="6302527" y="4935854"/>
            <a:ext cx="741126" cy="194310"/>
          </a:xfrm>
          <a:prstGeom prst="rect">
            <a:avLst/>
          </a:prstGeom>
          <a:noFill/>
        </p:spPr>
        <p:txBody>
          <a:bodyPr wrap="none" lIns="0" tIns="0" rIns="0" bIns="0">
            <a:spAutoFit/>
          </a:bodyPr>
          <a:lstStyle/>
          <a:p>
            <a:r>
              <a:rPr sz="1150" b="0">
                <a:solidFill>
                  <a:srgbClr val="2E2E2E"/>
                </a:solidFill>
                <a:latin typeface="Calibri"/>
              </a:rPr>
              <a:t>of the total</a:t>
            </a:r>
          </a:p>
        </p:txBody>
      </p:sp>
      <p:sp>
        <p:nvSpPr>
          <p:cNvPr id="65" name="TextBox 64"/>
          <p:cNvSpPr txBox="1"/>
          <p:nvPr/>
        </p:nvSpPr>
        <p:spPr>
          <a:xfrm>
            <a:off x="6029325" y="5111114"/>
            <a:ext cx="822994" cy="194310"/>
          </a:xfrm>
          <a:prstGeom prst="rect">
            <a:avLst/>
          </a:prstGeom>
          <a:noFill/>
        </p:spPr>
        <p:txBody>
          <a:bodyPr wrap="none" lIns="0" tIns="0" rIns="0" bIns="0">
            <a:spAutoFit/>
          </a:bodyPr>
          <a:lstStyle/>
          <a:p>
            <a:r>
              <a:rPr sz="1150" b="0">
                <a:solidFill>
                  <a:srgbClr val="2E2E2E"/>
                </a:solidFill>
                <a:latin typeface="Calibri"/>
              </a:rPr>
              <a:t>opportunity.</a:t>
            </a:r>
          </a:p>
        </p:txBody>
      </p:sp>
      <p:sp>
        <p:nvSpPr>
          <p:cNvPr id="66" name="TextBox 65"/>
          <p:cNvSpPr txBox="1"/>
          <p:nvPr/>
        </p:nvSpPr>
        <p:spPr>
          <a:xfrm>
            <a:off x="8124825" y="4410075"/>
            <a:ext cx="1657350" cy="194310"/>
          </a:xfrm>
          <a:prstGeom prst="rect">
            <a:avLst/>
          </a:prstGeom>
          <a:noFill/>
        </p:spPr>
        <p:txBody>
          <a:bodyPr wrap="none" lIns="0" tIns="0" rIns="0" bIns="0">
            <a:spAutoFit/>
          </a:bodyPr>
          <a:lstStyle/>
          <a:p>
            <a:r>
              <a:rPr sz="1150" b="0">
                <a:solidFill>
                  <a:srgbClr val="2E2E2E"/>
                </a:solidFill>
                <a:latin typeface="Calibri"/>
              </a:rPr>
              <a:t>▪ 'Chewables × Antioxidant</a:t>
            </a:r>
          </a:p>
        </p:txBody>
      </p:sp>
      <p:sp>
        <p:nvSpPr>
          <p:cNvPr id="67" name="TextBox 66"/>
          <p:cNvSpPr txBox="1"/>
          <p:nvPr/>
        </p:nvSpPr>
        <p:spPr>
          <a:xfrm>
            <a:off x="8124825" y="4585335"/>
            <a:ext cx="1426877" cy="194310"/>
          </a:xfrm>
          <a:prstGeom prst="rect">
            <a:avLst/>
          </a:prstGeom>
          <a:noFill/>
        </p:spPr>
        <p:txBody>
          <a:bodyPr wrap="none" lIns="0" tIns="0" rIns="0" bIns="0">
            <a:spAutoFit/>
          </a:bodyPr>
          <a:lstStyle/>
          <a:p>
            <a:r>
              <a:rPr sz="1150" b="0">
                <a:solidFill>
                  <a:srgbClr val="2E2E2E"/>
                </a:solidFill>
                <a:latin typeface="Calibri"/>
              </a:rPr>
              <a:t>Ingredients' grows at a</a:t>
            </a:r>
          </a:p>
        </p:txBody>
      </p:sp>
      <p:pic>
        <p:nvPicPr>
          <p:cNvPr id="68" name="Picture 67" descr="lock.png"/>
          <p:cNvPicPr>
            <a:picLocks noChangeAspect="1"/>
          </p:cNvPicPr>
          <p:nvPr/>
        </p:nvPicPr>
        <p:blipFill>
          <a:blip r:embed="rId4"/>
          <a:stretch>
            <a:fillRect/>
          </a:stretch>
        </p:blipFill>
        <p:spPr>
          <a:xfrm>
            <a:off x="9500856" y="4575111"/>
            <a:ext cx="134549" cy="195707"/>
          </a:xfrm>
          <a:prstGeom prst="rect">
            <a:avLst/>
          </a:prstGeom>
        </p:spPr>
      </p:pic>
      <p:sp>
        <p:nvSpPr>
          <p:cNvPr id="69" name="TextBox 68"/>
          <p:cNvSpPr txBox="1"/>
          <p:nvPr/>
        </p:nvSpPr>
        <p:spPr>
          <a:xfrm>
            <a:off x="8124825" y="4760595"/>
            <a:ext cx="446441" cy="194310"/>
          </a:xfrm>
          <a:prstGeom prst="rect">
            <a:avLst/>
          </a:prstGeom>
          <a:noFill/>
        </p:spPr>
        <p:txBody>
          <a:bodyPr wrap="none" lIns="0" tIns="0" rIns="0" bIns="0">
            <a:spAutoFit/>
          </a:bodyPr>
          <a:lstStyle/>
          <a:p>
            <a:r>
              <a:rPr sz="1150" b="0">
                <a:solidFill>
                  <a:srgbClr val="2E2E2E"/>
                </a:solidFill>
                <a:latin typeface="Calibri"/>
              </a:rPr>
              <a:t>CAGR,</a:t>
            </a:r>
          </a:p>
        </p:txBody>
      </p:sp>
      <p:pic>
        <p:nvPicPr>
          <p:cNvPr id="70" name="Picture 69" descr="lock.png"/>
          <p:cNvPicPr>
            <a:picLocks noChangeAspect="1"/>
          </p:cNvPicPr>
          <p:nvPr/>
        </p:nvPicPr>
        <p:blipFill>
          <a:blip r:embed="rId4"/>
          <a:stretch>
            <a:fillRect/>
          </a:stretch>
        </p:blipFill>
        <p:spPr>
          <a:xfrm>
            <a:off x="8520420" y="4750371"/>
            <a:ext cx="134549" cy="195707"/>
          </a:xfrm>
          <a:prstGeom prst="rect">
            <a:avLst/>
          </a:prstGeom>
        </p:spPr>
      </p:pic>
      <p:sp>
        <p:nvSpPr>
          <p:cNvPr id="71" name="TextBox 70"/>
          <p:cNvSpPr txBox="1"/>
          <p:nvPr/>
        </p:nvSpPr>
        <p:spPr>
          <a:xfrm>
            <a:off x="8695529" y="4760595"/>
            <a:ext cx="925400" cy="194310"/>
          </a:xfrm>
          <a:prstGeom prst="rect">
            <a:avLst/>
          </a:prstGeom>
          <a:noFill/>
        </p:spPr>
        <p:txBody>
          <a:bodyPr wrap="none" lIns="0" tIns="0" rIns="0" bIns="0">
            <a:spAutoFit/>
          </a:bodyPr>
          <a:lstStyle/>
          <a:p>
            <a:r>
              <a:rPr sz="1150" b="0">
                <a:solidFill>
                  <a:srgbClr val="2E2E2E"/>
                </a:solidFill>
                <a:latin typeface="Calibri"/>
              </a:rPr>
              <a:t>BPS above the</a:t>
            </a:r>
          </a:p>
        </p:txBody>
      </p:sp>
      <p:sp>
        <p:nvSpPr>
          <p:cNvPr id="72" name="TextBox 71"/>
          <p:cNvSpPr txBox="1"/>
          <p:nvPr/>
        </p:nvSpPr>
        <p:spPr>
          <a:xfrm>
            <a:off x="8124825" y="4935854"/>
            <a:ext cx="890029" cy="194310"/>
          </a:xfrm>
          <a:prstGeom prst="rect">
            <a:avLst/>
          </a:prstGeom>
          <a:noFill/>
        </p:spPr>
        <p:txBody>
          <a:bodyPr wrap="none" lIns="0" tIns="0" rIns="0" bIns="0">
            <a:spAutoFit/>
          </a:bodyPr>
          <a:lstStyle/>
          <a:p>
            <a:r>
              <a:rPr sz="1150" b="0">
                <a:solidFill>
                  <a:srgbClr val="2E2E2E"/>
                </a:solidFill>
                <a:latin typeface="Calibri"/>
              </a:rPr>
              <a:t>cross-section.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End-use Application × Active Ingredient</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Snapshot</a:t>
            </a:r>
          </a:p>
          <a:p>
            <a:pPr marL="342900" indent="-323850">
              <a:lnSpc>
                <a:spcPct val="100000"/>
              </a:lnSpc>
              <a:spcAft>
                <a:spcPts val="800"/>
              </a:spcAft>
            </a:pPr>
            <a:r>
              <a:rPr sz="2000" b="0">
                <a:solidFill>
                  <a:srgbClr val="000000"/>
                </a:solidFill>
                <a:latin typeface="Calibri"/>
              </a:rPr>
              <a:t>➤	Market Share Analysis</a:t>
            </a:r>
          </a:p>
          <a:p>
            <a:pPr marL="342900" indent="-323850">
              <a:lnSpc>
                <a:spcPct val="100000"/>
              </a:lnSpc>
              <a:spcAft>
                <a:spcPts val="800"/>
              </a:spcAft>
            </a:pPr>
            <a:r>
              <a:rPr sz="2000" b="0">
                <a:solidFill>
                  <a:srgbClr val="000000"/>
                </a:solidFill>
                <a:latin typeface="Calibri"/>
              </a:rPr>
              <a:t>➤	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Snapshot: End-use Application × Active Ingredient, 2026E vs 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Global market value (US$ Mn) for each end-use application sub-segment across active ingredient sub-segments</a:t>
            </a:r>
          </a:p>
        </p:txBody>
      </p:sp>
      <p:sp>
        <p:nvSpPr>
          <p:cNvPr id="10" name="Rounded Rectangle 9"/>
          <p:cNvSpPr/>
          <p:nvPr/>
        </p:nvSpPr>
        <p:spPr>
          <a:xfrm>
            <a:off x="142875" y="98107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Market Value, End-use Application × Active Ingredient, 2026E and 2036F (US$ Mn)</a:t>
            </a:r>
          </a:p>
        </p:txBody>
      </p:sp>
      <p:graphicFrame>
        <p:nvGraphicFramePr>
          <p:cNvPr id="12" name="Table 11"/>
          <p:cNvGraphicFramePr>
            <a:graphicFrameLocks noGrp="1"/>
          </p:cNvGraphicFramePr>
          <p:nvPr/>
        </p:nvGraphicFramePr>
        <p:xfrm>
          <a:off x="152400" y="1238250"/>
          <a:ext cx="11887197" cy="2114549"/>
        </p:xfrm>
        <a:graphic>
          <a:graphicData uri="http://schemas.openxmlformats.org/drawingml/2006/table">
            <a:tbl>
              <a:tblPr>
                <a:tableStyleId>{5C22544A-7EE6-4342-B048-85BDC9FD1C3A}</a:tableStyleId>
              </a:tblPr>
              <a:tblGrid>
                <a:gridCol w="3847557">
                  <a:extLst>
                    <a:ext uri="{9D8B030D-6E8A-4147-A177-3AD203B41FA5}">
                      <a16:colId xmlns:a16="http://schemas.microsoft.com/office/drawing/2014/main" val="20000"/>
                    </a:ext>
                  </a:extLst>
                </a:gridCol>
                <a:gridCol w="574260">
                  <a:extLst>
                    <a:ext uri="{9D8B030D-6E8A-4147-A177-3AD203B41FA5}">
                      <a16:colId xmlns:a16="http://schemas.microsoft.com/office/drawing/2014/main" val="20001"/>
                    </a:ext>
                  </a:extLst>
                </a:gridCol>
                <a:gridCol w="574260">
                  <a:extLst>
                    <a:ext uri="{9D8B030D-6E8A-4147-A177-3AD203B41FA5}">
                      <a16:colId xmlns:a16="http://schemas.microsoft.com/office/drawing/2014/main" val="20002"/>
                    </a:ext>
                  </a:extLst>
                </a:gridCol>
                <a:gridCol w="574260">
                  <a:extLst>
                    <a:ext uri="{9D8B030D-6E8A-4147-A177-3AD203B41FA5}">
                      <a16:colId xmlns:a16="http://schemas.microsoft.com/office/drawing/2014/main" val="20003"/>
                    </a:ext>
                  </a:extLst>
                </a:gridCol>
                <a:gridCol w="574260">
                  <a:extLst>
                    <a:ext uri="{9D8B030D-6E8A-4147-A177-3AD203B41FA5}">
                      <a16:colId xmlns:a16="http://schemas.microsoft.com/office/drawing/2014/main" val="20004"/>
                    </a:ext>
                  </a:extLst>
                </a:gridCol>
                <a:gridCol w="574260">
                  <a:extLst>
                    <a:ext uri="{9D8B030D-6E8A-4147-A177-3AD203B41FA5}">
                      <a16:colId xmlns:a16="http://schemas.microsoft.com/office/drawing/2014/main" val="20005"/>
                    </a:ext>
                  </a:extLst>
                </a:gridCol>
                <a:gridCol w="574260">
                  <a:extLst>
                    <a:ext uri="{9D8B030D-6E8A-4147-A177-3AD203B41FA5}">
                      <a16:colId xmlns:a16="http://schemas.microsoft.com/office/drawing/2014/main" val="20006"/>
                    </a:ext>
                  </a:extLst>
                </a:gridCol>
                <a:gridCol w="574260">
                  <a:extLst>
                    <a:ext uri="{9D8B030D-6E8A-4147-A177-3AD203B41FA5}">
                      <a16:colId xmlns:a16="http://schemas.microsoft.com/office/drawing/2014/main" val="20007"/>
                    </a:ext>
                  </a:extLst>
                </a:gridCol>
                <a:gridCol w="574260">
                  <a:extLst>
                    <a:ext uri="{9D8B030D-6E8A-4147-A177-3AD203B41FA5}">
                      <a16:colId xmlns:a16="http://schemas.microsoft.com/office/drawing/2014/main" val="20008"/>
                    </a:ext>
                  </a:extLst>
                </a:gridCol>
                <a:gridCol w="574260">
                  <a:extLst>
                    <a:ext uri="{9D8B030D-6E8A-4147-A177-3AD203B41FA5}">
                      <a16:colId xmlns:a16="http://schemas.microsoft.com/office/drawing/2014/main" val="20009"/>
                    </a:ext>
                  </a:extLst>
                </a:gridCol>
                <a:gridCol w="574260">
                  <a:extLst>
                    <a:ext uri="{9D8B030D-6E8A-4147-A177-3AD203B41FA5}">
                      <a16:colId xmlns:a16="http://schemas.microsoft.com/office/drawing/2014/main" val="20010"/>
                    </a:ext>
                  </a:extLst>
                </a:gridCol>
                <a:gridCol w="574260">
                  <a:extLst>
                    <a:ext uri="{9D8B030D-6E8A-4147-A177-3AD203B41FA5}">
                      <a16:colId xmlns:a16="http://schemas.microsoft.com/office/drawing/2014/main" val="20011"/>
                    </a:ext>
                  </a:extLst>
                </a:gridCol>
                <a:gridCol w="574260">
                  <a:extLst>
                    <a:ext uri="{9D8B030D-6E8A-4147-A177-3AD203B41FA5}">
                      <a16:colId xmlns:a16="http://schemas.microsoft.com/office/drawing/2014/main" val="20012"/>
                    </a:ext>
                  </a:extLst>
                </a:gridCol>
                <a:gridCol w="574260">
                  <a:extLst>
                    <a:ext uri="{9D8B030D-6E8A-4147-A177-3AD203B41FA5}">
                      <a16:colId xmlns:a16="http://schemas.microsoft.com/office/drawing/2014/main" val="20013"/>
                    </a:ext>
                  </a:extLst>
                </a:gridCol>
                <a:gridCol w="574260">
                  <a:extLst>
                    <a:ext uri="{9D8B030D-6E8A-4147-A177-3AD203B41FA5}">
                      <a16:colId xmlns:a16="http://schemas.microsoft.com/office/drawing/2014/main" val="20014"/>
                    </a:ext>
                  </a:extLst>
                </a:gridCol>
              </a:tblGrid>
              <a:tr h="631697">
                <a:tc rowSpan="2">
                  <a:txBody>
                    <a:bodyPr/>
                    <a:lstStyle/>
                    <a:p>
                      <a:pPr algn="l"/>
                      <a:r>
                        <a:rPr sz="1100" b="1">
                          <a:solidFill>
                            <a:srgbClr val="0B2E4A"/>
                          </a:solidFill>
                          <a:latin typeface="Calibri"/>
                        </a:rPr>
                        <a:t>End-use Application</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Omega-3 Fatty</a:t>
                      </a:r>
                      <a:endParaRPr sz="1100"/>
                    </a:p>
                    <a:p>
                      <a:pPr algn="ctr"/>
                      <a:r>
                        <a:rPr sz="1100" b="1">
                          <a:solidFill>
                            <a:srgbClr val="0B2E4A"/>
                          </a:solidFill>
                          <a:latin typeface="Calibri"/>
                        </a:rPr>
                        <a:t>Acids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Cellular Energy</a:t>
                      </a:r>
                      <a:endParaRPr sz="1100"/>
                    </a:p>
                    <a:p>
                      <a:pPr algn="ctr"/>
                      <a:r>
                        <a:rPr sz="1100" b="1">
                          <a:solidFill>
                            <a:srgbClr val="0B2E4A"/>
                          </a:solidFill>
                          <a:latin typeface="Calibri"/>
                        </a:rPr>
                        <a:t>Support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Botanical</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Microbiome-</a:t>
                      </a:r>
                      <a:endParaRPr sz="1100"/>
                    </a:p>
                    <a:p>
                      <a:pPr algn="ctr"/>
                      <a:r>
                        <a:rPr sz="1100" b="1">
                          <a:solidFill>
                            <a:srgbClr val="0B2E4A"/>
                          </a:solidFill>
                          <a:latin typeface="Calibri"/>
                        </a:rPr>
                        <a:t>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142">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7142">
                <a:tc>
                  <a:txBody>
                    <a:bodyPr/>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7142">
                <a:tc>
                  <a:txBody>
                    <a:bodyPr/>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7142">
                <a:tc>
                  <a:txBody>
                    <a:bodyPr/>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7142">
                <a:tc>
                  <a:txBody>
                    <a:bodyPr/>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7142">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219075" y="336232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695700"/>
            <a:ext cx="72866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3752850"/>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Flow, End-use Application → Active Ingredient, 2036F (US$ Mn)</a:t>
            </a:r>
          </a:p>
        </p:txBody>
      </p:sp>
      <p:sp>
        <p:nvSpPr>
          <p:cNvPr id="16" name="Freeform 15"/>
          <p:cNvSpPr/>
          <p:nvPr/>
        </p:nvSpPr>
        <p:spPr>
          <a:xfrm>
            <a:off x="2057400" y="4019550"/>
            <a:ext cx="3743325" cy="352425"/>
          </a:xfrm>
          <a:custGeom>
            <a:avLst/>
            <a:gdLst/>
            <a:ahLst/>
            <a:cxnLst/>
            <a:rect l="l" t="t" r="r" b="b"/>
            <a:pathLst>
              <a:path w="393" h="37">
                <a:moveTo>
                  <a:pt x="0" y="6"/>
                </a:moveTo>
                <a:lnTo>
                  <a:pt x="16" y="6"/>
                </a:lnTo>
                <a:lnTo>
                  <a:pt x="33" y="6"/>
                </a:lnTo>
                <a:lnTo>
                  <a:pt x="49" y="6"/>
                </a:lnTo>
                <a:lnTo>
                  <a:pt x="65" y="6"/>
                </a:lnTo>
                <a:lnTo>
                  <a:pt x="82" y="5"/>
                </a:lnTo>
                <a:lnTo>
                  <a:pt x="98" y="5"/>
                </a:lnTo>
                <a:lnTo>
                  <a:pt x="114" y="5"/>
                </a:lnTo>
                <a:lnTo>
                  <a:pt x="131" y="4"/>
                </a:lnTo>
                <a:lnTo>
                  <a:pt x="147" y="4"/>
                </a:lnTo>
                <a:lnTo>
                  <a:pt x="164" y="4"/>
                </a:lnTo>
                <a:lnTo>
                  <a:pt x="180" y="3"/>
                </a:lnTo>
                <a:lnTo>
                  <a:pt x="196" y="3"/>
                </a:lnTo>
                <a:lnTo>
                  <a:pt x="213" y="3"/>
                </a:lnTo>
                <a:lnTo>
                  <a:pt x="229" y="2"/>
                </a:lnTo>
                <a:lnTo>
                  <a:pt x="246" y="2"/>
                </a:lnTo>
                <a:lnTo>
                  <a:pt x="262" y="2"/>
                </a:lnTo>
                <a:lnTo>
                  <a:pt x="278" y="1"/>
                </a:lnTo>
                <a:lnTo>
                  <a:pt x="295" y="1"/>
                </a:lnTo>
                <a:lnTo>
                  <a:pt x="311" y="1"/>
                </a:lnTo>
                <a:lnTo>
                  <a:pt x="327" y="0"/>
                </a:lnTo>
                <a:lnTo>
                  <a:pt x="344" y="0"/>
                </a:lnTo>
                <a:lnTo>
                  <a:pt x="360" y="0"/>
                </a:lnTo>
                <a:lnTo>
                  <a:pt x="377" y="0"/>
                </a:lnTo>
                <a:lnTo>
                  <a:pt x="393" y="0"/>
                </a:lnTo>
                <a:lnTo>
                  <a:pt x="393" y="31"/>
                </a:lnTo>
                <a:lnTo>
                  <a:pt x="377" y="31"/>
                </a:lnTo>
                <a:lnTo>
                  <a:pt x="360" y="31"/>
                </a:lnTo>
                <a:lnTo>
                  <a:pt x="344" y="31"/>
                </a:lnTo>
                <a:lnTo>
                  <a:pt x="327" y="32"/>
                </a:lnTo>
                <a:lnTo>
                  <a:pt x="311" y="32"/>
                </a:lnTo>
                <a:lnTo>
                  <a:pt x="295" y="32"/>
                </a:lnTo>
                <a:lnTo>
                  <a:pt x="278" y="32"/>
                </a:lnTo>
                <a:lnTo>
                  <a:pt x="262" y="33"/>
                </a:lnTo>
                <a:lnTo>
                  <a:pt x="246" y="33"/>
                </a:lnTo>
                <a:lnTo>
                  <a:pt x="229" y="33"/>
                </a:lnTo>
                <a:lnTo>
                  <a:pt x="213" y="34"/>
                </a:lnTo>
                <a:lnTo>
                  <a:pt x="196" y="34"/>
                </a:lnTo>
                <a:lnTo>
                  <a:pt x="180" y="35"/>
                </a:lnTo>
                <a:lnTo>
                  <a:pt x="164" y="35"/>
                </a:lnTo>
                <a:lnTo>
                  <a:pt x="147" y="35"/>
                </a:lnTo>
                <a:lnTo>
                  <a:pt x="131" y="36"/>
                </a:lnTo>
                <a:lnTo>
                  <a:pt x="114" y="36"/>
                </a:lnTo>
                <a:lnTo>
                  <a:pt x="98" y="36"/>
                </a:lnTo>
                <a:lnTo>
                  <a:pt x="82" y="37"/>
                </a:lnTo>
                <a:lnTo>
                  <a:pt x="65" y="37"/>
                </a:lnTo>
                <a:lnTo>
                  <a:pt x="49" y="37"/>
                </a:lnTo>
                <a:lnTo>
                  <a:pt x="33" y="37"/>
                </a:lnTo>
                <a:lnTo>
                  <a:pt x="16" y="37"/>
                </a:lnTo>
                <a:lnTo>
                  <a:pt x="0" y="3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2057400" y="4371975"/>
            <a:ext cx="3743325" cy="495300"/>
          </a:xfrm>
          <a:custGeom>
            <a:avLst/>
            <a:gdLst/>
            <a:ahLst/>
            <a:cxnLst/>
            <a:rect l="l" t="t" r="r" b="b"/>
            <a:pathLst>
              <a:path w="393" h="52">
                <a:moveTo>
                  <a:pt x="0" y="0"/>
                </a:moveTo>
                <a:lnTo>
                  <a:pt x="16" y="0"/>
                </a:lnTo>
                <a:lnTo>
                  <a:pt x="33" y="1"/>
                </a:lnTo>
                <a:lnTo>
                  <a:pt x="49" y="1"/>
                </a:lnTo>
                <a:lnTo>
                  <a:pt x="65" y="2"/>
                </a:lnTo>
                <a:lnTo>
                  <a:pt x="82" y="3"/>
                </a:lnTo>
                <a:lnTo>
                  <a:pt x="98" y="4"/>
                </a:lnTo>
                <a:lnTo>
                  <a:pt x="114" y="5"/>
                </a:lnTo>
                <a:lnTo>
                  <a:pt x="131" y="6"/>
                </a:lnTo>
                <a:lnTo>
                  <a:pt x="147" y="7"/>
                </a:lnTo>
                <a:lnTo>
                  <a:pt x="164" y="9"/>
                </a:lnTo>
                <a:lnTo>
                  <a:pt x="180" y="10"/>
                </a:lnTo>
                <a:lnTo>
                  <a:pt x="196" y="12"/>
                </a:lnTo>
                <a:lnTo>
                  <a:pt x="213" y="13"/>
                </a:lnTo>
                <a:lnTo>
                  <a:pt x="229" y="14"/>
                </a:lnTo>
                <a:lnTo>
                  <a:pt x="246" y="16"/>
                </a:lnTo>
                <a:lnTo>
                  <a:pt x="262" y="17"/>
                </a:lnTo>
                <a:lnTo>
                  <a:pt x="278" y="18"/>
                </a:lnTo>
                <a:lnTo>
                  <a:pt x="295" y="19"/>
                </a:lnTo>
                <a:lnTo>
                  <a:pt x="311" y="20"/>
                </a:lnTo>
                <a:lnTo>
                  <a:pt x="327" y="21"/>
                </a:lnTo>
                <a:lnTo>
                  <a:pt x="344" y="22"/>
                </a:lnTo>
                <a:lnTo>
                  <a:pt x="360" y="22"/>
                </a:lnTo>
                <a:lnTo>
                  <a:pt x="377" y="23"/>
                </a:lnTo>
                <a:lnTo>
                  <a:pt x="393" y="23"/>
                </a:lnTo>
                <a:lnTo>
                  <a:pt x="393" y="52"/>
                </a:lnTo>
                <a:lnTo>
                  <a:pt x="377" y="52"/>
                </a:lnTo>
                <a:lnTo>
                  <a:pt x="360" y="52"/>
                </a:lnTo>
                <a:lnTo>
                  <a:pt x="344" y="51"/>
                </a:lnTo>
                <a:lnTo>
                  <a:pt x="327" y="50"/>
                </a:lnTo>
                <a:lnTo>
                  <a:pt x="311" y="50"/>
                </a:lnTo>
                <a:lnTo>
                  <a:pt x="295" y="49"/>
                </a:lnTo>
                <a:lnTo>
                  <a:pt x="278" y="47"/>
                </a:lnTo>
                <a:lnTo>
                  <a:pt x="262" y="46"/>
                </a:lnTo>
                <a:lnTo>
                  <a:pt x="246" y="45"/>
                </a:lnTo>
                <a:lnTo>
                  <a:pt x="229" y="44"/>
                </a:lnTo>
                <a:lnTo>
                  <a:pt x="213" y="42"/>
                </a:lnTo>
                <a:lnTo>
                  <a:pt x="196" y="41"/>
                </a:lnTo>
                <a:lnTo>
                  <a:pt x="180" y="39"/>
                </a:lnTo>
                <a:lnTo>
                  <a:pt x="164" y="38"/>
                </a:lnTo>
                <a:lnTo>
                  <a:pt x="147" y="37"/>
                </a:lnTo>
                <a:lnTo>
                  <a:pt x="131" y="35"/>
                </a:lnTo>
                <a:lnTo>
                  <a:pt x="114" y="34"/>
                </a:lnTo>
                <a:lnTo>
                  <a:pt x="98" y="33"/>
                </a:lnTo>
                <a:lnTo>
                  <a:pt x="82" y="32"/>
                </a:lnTo>
                <a:lnTo>
                  <a:pt x="65" y="31"/>
                </a:lnTo>
                <a:lnTo>
                  <a:pt x="49" y="31"/>
                </a:lnTo>
                <a:lnTo>
                  <a:pt x="33" y="30"/>
                </a:lnTo>
                <a:lnTo>
                  <a:pt x="16" y="30"/>
                </a:lnTo>
                <a:lnTo>
                  <a:pt x="0" y="3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2057400" y="4657725"/>
            <a:ext cx="3743325" cy="685800"/>
          </a:xfrm>
          <a:custGeom>
            <a:avLst/>
            <a:gdLst/>
            <a:ahLst/>
            <a:cxnLst/>
            <a:rect l="l" t="t" r="r" b="b"/>
            <a:pathLst>
              <a:path w="393" h="72">
                <a:moveTo>
                  <a:pt x="0" y="0"/>
                </a:moveTo>
                <a:lnTo>
                  <a:pt x="16" y="0"/>
                </a:lnTo>
                <a:lnTo>
                  <a:pt x="33" y="1"/>
                </a:lnTo>
                <a:lnTo>
                  <a:pt x="49" y="2"/>
                </a:lnTo>
                <a:lnTo>
                  <a:pt x="65" y="3"/>
                </a:lnTo>
                <a:lnTo>
                  <a:pt x="82" y="5"/>
                </a:lnTo>
                <a:lnTo>
                  <a:pt x="98" y="8"/>
                </a:lnTo>
                <a:lnTo>
                  <a:pt x="114" y="10"/>
                </a:lnTo>
                <a:lnTo>
                  <a:pt x="131" y="13"/>
                </a:lnTo>
                <a:lnTo>
                  <a:pt x="147" y="16"/>
                </a:lnTo>
                <a:lnTo>
                  <a:pt x="164" y="19"/>
                </a:lnTo>
                <a:lnTo>
                  <a:pt x="180" y="22"/>
                </a:lnTo>
                <a:lnTo>
                  <a:pt x="196" y="25"/>
                </a:lnTo>
                <a:lnTo>
                  <a:pt x="213" y="28"/>
                </a:lnTo>
                <a:lnTo>
                  <a:pt x="229" y="32"/>
                </a:lnTo>
                <a:lnTo>
                  <a:pt x="246" y="35"/>
                </a:lnTo>
                <a:lnTo>
                  <a:pt x="262" y="38"/>
                </a:lnTo>
                <a:lnTo>
                  <a:pt x="278" y="40"/>
                </a:lnTo>
                <a:lnTo>
                  <a:pt x="295" y="43"/>
                </a:lnTo>
                <a:lnTo>
                  <a:pt x="311" y="45"/>
                </a:lnTo>
                <a:lnTo>
                  <a:pt x="327" y="47"/>
                </a:lnTo>
                <a:lnTo>
                  <a:pt x="344" y="49"/>
                </a:lnTo>
                <a:lnTo>
                  <a:pt x="360" y="50"/>
                </a:lnTo>
                <a:lnTo>
                  <a:pt x="377" y="51"/>
                </a:lnTo>
                <a:lnTo>
                  <a:pt x="393" y="51"/>
                </a:lnTo>
                <a:lnTo>
                  <a:pt x="393" y="72"/>
                </a:lnTo>
                <a:lnTo>
                  <a:pt x="377" y="72"/>
                </a:lnTo>
                <a:lnTo>
                  <a:pt x="360" y="71"/>
                </a:lnTo>
                <a:lnTo>
                  <a:pt x="344" y="70"/>
                </a:lnTo>
                <a:lnTo>
                  <a:pt x="327" y="68"/>
                </a:lnTo>
                <a:lnTo>
                  <a:pt x="311" y="66"/>
                </a:lnTo>
                <a:lnTo>
                  <a:pt x="295" y="64"/>
                </a:lnTo>
                <a:lnTo>
                  <a:pt x="278" y="61"/>
                </a:lnTo>
                <a:lnTo>
                  <a:pt x="262" y="59"/>
                </a:lnTo>
                <a:lnTo>
                  <a:pt x="246" y="56"/>
                </a:lnTo>
                <a:lnTo>
                  <a:pt x="229" y="53"/>
                </a:lnTo>
                <a:lnTo>
                  <a:pt x="213" y="49"/>
                </a:lnTo>
                <a:lnTo>
                  <a:pt x="196" y="46"/>
                </a:lnTo>
                <a:lnTo>
                  <a:pt x="180" y="43"/>
                </a:lnTo>
                <a:lnTo>
                  <a:pt x="164" y="40"/>
                </a:lnTo>
                <a:lnTo>
                  <a:pt x="147" y="37"/>
                </a:lnTo>
                <a:lnTo>
                  <a:pt x="131" y="34"/>
                </a:lnTo>
                <a:lnTo>
                  <a:pt x="114" y="31"/>
                </a:lnTo>
                <a:lnTo>
                  <a:pt x="98" y="29"/>
                </a:lnTo>
                <a:lnTo>
                  <a:pt x="82" y="26"/>
                </a:lnTo>
                <a:lnTo>
                  <a:pt x="65" y="24"/>
                </a:lnTo>
                <a:lnTo>
                  <a:pt x="49" y="23"/>
                </a:lnTo>
                <a:lnTo>
                  <a:pt x="33" y="22"/>
                </a:lnTo>
                <a:lnTo>
                  <a:pt x="16" y="21"/>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2057400" y="4857750"/>
            <a:ext cx="3743325" cy="895350"/>
          </a:xfrm>
          <a:custGeom>
            <a:avLst/>
            <a:gdLst/>
            <a:ahLst/>
            <a:cxnLst/>
            <a:rect l="l" t="t" r="r" b="b"/>
            <a:pathLst>
              <a:path w="393" h="94">
                <a:moveTo>
                  <a:pt x="0" y="0"/>
                </a:moveTo>
                <a:lnTo>
                  <a:pt x="16" y="0"/>
                </a:lnTo>
                <a:lnTo>
                  <a:pt x="33" y="1"/>
                </a:lnTo>
                <a:lnTo>
                  <a:pt x="49" y="3"/>
                </a:lnTo>
                <a:lnTo>
                  <a:pt x="65" y="5"/>
                </a:lnTo>
                <a:lnTo>
                  <a:pt x="82" y="8"/>
                </a:lnTo>
                <a:lnTo>
                  <a:pt x="98" y="11"/>
                </a:lnTo>
                <a:lnTo>
                  <a:pt x="114" y="15"/>
                </a:lnTo>
                <a:lnTo>
                  <a:pt x="131" y="19"/>
                </a:lnTo>
                <a:lnTo>
                  <a:pt x="147" y="23"/>
                </a:lnTo>
                <a:lnTo>
                  <a:pt x="164" y="28"/>
                </a:lnTo>
                <a:lnTo>
                  <a:pt x="180" y="32"/>
                </a:lnTo>
                <a:lnTo>
                  <a:pt x="196" y="37"/>
                </a:lnTo>
                <a:lnTo>
                  <a:pt x="213" y="42"/>
                </a:lnTo>
                <a:lnTo>
                  <a:pt x="229" y="46"/>
                </a:lnTo>
                <a:lnTo>
                  <a:pt x="246" y="51"/>
                </a:lnTo>
                <a:lnTo>
                  <a:pt x="262" y="55"/>
                </a:lnTo>
                <a:lnTo>
                  <a:pt x="278" y="59"/>
                </a:lnTo>
                <a:lnTo>
                  <a:pt x="295" y="63"/>
                </a:lnTo>
                <a:lnTo>
                  <a:pt x="311" y="66"/>
                </a:lnTo>
                <a:lnTo>
                  <a:pt x="327" y="69"/>
                </a:lnTo>
                <a:lnTo>
                  <a:pt x="344" y="72"/>
                </a:lnTo>
                <a:lnTo>
                  <a:pt x="360" y="73"/>
                </a:lnTo>
                <a:lnTo>
                  <a:pt x="377" y="74"/>
                </a:lnTo>
                <a:lnTo>
                  <a:pt x="393" y="75"/>
                </a:lnTo>
                <a:lnTo>
                  <a:pt x="393" y="94"/>
                </a:lnTo>
                <a:lnTo>
                  <a:pt x="377" y="93"/>
                </a:lnTo>
                <a:lnTo>
                  <a:pt x="360" y="92"/>
                </a:lnTo>
                <a:lnTo>
                  <a:pt x="344" y="90"/>
                </a:lnTo>
                <a:lnTo>
                  <a:pt x="327" y="88"/>
                </a:lnTo>
                <a:lnTo>
                  <a:pt x="311" y="85"/>
                </a:lnTo>
                <a:lnTo>
                  <a:pt x="295" y="82"/>
                </a:lnTo>
                <a:lnTo>
                  <a:pt x="278" y="78"/>
                </a:lnTo>
                <a:lnTo>
                  <a:pt x="262" y="74"/>
                </a:lnTo>
                <a:lnTo>
                  <a:pt x="246" y="70"/>
                </a:lnTo>
                <a:lnTo>
                  <a:pt x="229" y="65"/>
                </a:lnTo>
                <a:lnTo>
                  <a:pt x="213" y="61"/>
                </a:lnTo>
                <a:lnTo>
                  <a:pt x="196" y="56"/>
                </a:lnTo>
                <a:lnTo>
                  <a:pt x="180" y="51"/>
                </a:lnTo>
                <a:lnTo>
                  <a:pt x="164" y="47"/>
                </a:lnTo>
                <a:lnTo>
                  <a:pt x="147" y="42"/>
                </a:lnTo>
                <a:lnTo>
                  <a:pt x="131" y="38"/>
                </a:lnTo>
                <a:lnTo>
                  <a:pt x="114" y="34"/>
                </a:lnTo>
                <a:lnTo>
                  <a:pt x="98" y="30"/>
                </a:lnTo>
                <a:lnTo>
                  <a:pt x="82" y="27"/>
                </a:lnTo>
                <a:lnTo>
                  <a:pt x="65" y="24"/>
                </a:lnTo>
                <a:lnTo>
                  <a:pt x="49" y="22"/>
                </a:lnTo>
                <a:lnTo>
                  <a:pt x="33" y="20"/>
                </a:lnTo>
                <a:lnTo>
                  <a:pt x="16" y="19"/>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2057400" y="5029200"/>
            <a:ext cx="3743325" cy="1076325"/>
          </a:xfrm>
          <a:custGeom>
            <a:avLst/>
            <a:gdLst/>
            <a:ahLst/>
            <a:cxnLst/>
            <a:rect l="l" t="t" r="r" b="b"/>
            <a:pathLst>
              <a:path w="393" h="113">
                <a:moveTo>
                  <a:pt x="0" y="0"/>
                </a:moveTo>
                <a:lnTo>
                  <a:pt x="16" y="1"/>
                </a:lnTo>
                <a:lnTo>
                  <a:pt x="33" y="2"/>
                </a:lnTo>
                <a:lnTo>
                  <a:pt x="49" y="5"/>
                </a:lnTo>
                <a:lnTo>
                  <a:pt x="65" y="8"/>
                </a:lnTo>
                <a:lnTo>
                  <a:pt x="82" y="11"/>
                </a:lnTo>
                <a:lnTo>
                  <a:pt x="98" y="16"/>
                </a:lnTo>
                <a:lnTo>
                  <a:pt x="114" y="20"/>
                </a:lnTo>
                <a:lnTo>
                  <a:pt x="131" y="25"/>
                </a:lnTo>
                <a:lnTo>
                  <a:pt x="147" y="31"/>
                </a:lnTo>
                <a:lnTo>
                  <a:pt x="164" y="37"/>
                </a:lnTo>
                <a:lnTo>
                  <a:pt x="180" y="43"/>
                </a:lnTo>
                <a:lnTo>
                  <a:pt x="196" y="49"/>
                </a:lnTo>
                <a:lnTo>
                  <a:pt x="213" y="55"/>
                </a:lnTo>
                <a:lnTo>
                  <a:pt x="229" y="61"/>
                </a:lnTo>
                <a:lnTo>
                  <a:pt x="246" y="67"/>
                </a:lnTo>
                <a:lnTo>
                  <a:pt x="262" y="72"/>
                </a:lnTo>
                <a:lnTo>
                  <a:pt x="278" y="77"/>
                </a:lnTo>
                <a:lnTo>
                  <a:pt x="295" y="82"/>
                </a:lnTo>
                <a:lnTo>
                  <a:pt x="311" y="86"/>
                </a:lnTo>
                <a:lnTo>
                  <a:pt x="327" y="90"/>
                </a:lnTo>
                <a:lnTo>
                  <a:pt x="344" y="93"/>
                </a:lnTo>
                <a:lnTo>
                  <a:pt x="360" y="95"/>
                </a:lnTo>
                <a:lnTo>
                  <a:pt x="377" y="97"/>
                </a:lnTo>
                <a:lnTo>
                  <a:pt x="393" y="97"/>
                </a:lnTo>
                <a:lnTo>
                  <a:pt x="393" y="113"/>
                </a:lnTo>
                <a:lnTo>
                  <a:pt x="377" y="112"/>
                </a:lnTo>
                <a:lnTo>
                  <a:pt x="360" y="111"/>
                </a:lnTo>
                <a:lnTo>
                  <a:pt x="344" y="109"/>
                </a:lnTo>
                <a:lnTo>
                  <a:pt x="327" y="106"/>
                </a:lnTo>
                <a:lnTo>
                  <a:pt x="311" y="102"/>
                </a:lnTo>
                <a:lnTo>
                  <a:pt x="295" y="98"/>
                </a:lnTo>
                <a:lnTo>
                  <a:pt x="278" y="93"/>
                </a:lnTo>
                <a:lnTo>
                  <a:pt x="262" y="88"/>
                </a:lnTo>
                <a:lnTo>
                  <a:pt x="246" y="82"/>
                </a:lnTo>
                <a:lnTo>
                  <a:pt x="229" y="76"/>
                </a:lnTo>
                <a:lnTo>
                  <a:pt x="213" y="70"/>
                </a:lnTo>
                <a:lnTo>
                  <a:pt x="196" y="64"/>
                </a:lnTo>
                <a:lnTo>
                  <a:pt x="180" y="58"/>
                </a:lnTo>
                <a:lnTo>
                  <a:pt x="164" y="52"/>
                </a:lnTo>
                <a:lnTo>
                  <a:pt x="147" y="47"/>
                </a:lnTo>
                <a:lnTo>
                  <a:pt x="131" y="41"/>
                </a:lnTo>
                <a:lnTo>
                  <a:pt x="114" y="36"/>
                </a:lnTo>
                <a:lnTo>
                  <a:pt x="98" y="31"/>
                </a:lnTo>
                <a:lnTo>
                  <a:pt x="82" y="27"/>
                </a:lnTo>
                <a:lnTo>
                  <a:pt x="65" y="23"/>
                </a:lnTo>
                <a:lnTo>
                  <a:pt x="49" y="20"/>
                </a:lnTo>
                <a:lnTo>
                  <a:pt x="33" y="18"/>
                </a:lnTo>
                <a:lnTo>
                  <a:pt x="16" y="16"/>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2057400" y="5181600"/>
            <a:ext cx="3743325" cy="1247775"/>
          </a:xfrm>
          <a:custGeom>
            <a:avLst/>
            <a:gdLst/>
            <a:ahLst/>
            <a:cxnLst/>
            <a:rect l="l" t="t" r="r" b="b"/>
            <a:pathLst>
              <a:path w="393" h="131">
                <a:moveTo>
                  <a:pt x="0" y="0"/>
                </a:moveTo>
                <a:lnTo>
                  <a:pt x="16" y="1"/>
                </a:lnTo>
                <a:lnTo>
                  <a:pt x="33" y="2"/>
                </a:lnTo>
                <a:lnTo>
                  <a:pt x="49" y="5"/>
                </a:lnTo>
                <a:lnTo>
                  <a:pt x="65" y="9"/>
                </a:lnTo>
                <a:lnTo>
                  <a:pt x="82" y="13"/>
                </a:lnTo>
                <a:lnTo>
                  <a:pt x="98" y="18"/>
                </a:lnTo>
                <a:lnTo>
                  <a:pt x="114" y="24"/>
                </a:lnTo>
                <a:lnTo>
                  <a:pt x="131" y="30"/>
                </a:lnTo>
                <a:lnTo>
                  <a:pt x="147" y="36"/>
                </a:lnTo>
                <a:lnTo>
                  <a:pt x="164" y="43"/>
                </a:lnTo>
                <a:lnTo>
                  <a:pt x="180" y="50"/>
                </a:lnTo>
                <a:lnTo>
                  <a:pt x="196" y="58"/>
                </a:lnTo>
                <a:lnTo>
                  <a:pt x="213" y="65"/>
                </a:lnTo>
                <a:lnTo>
                  <a:pt x="229" y="72"/>
                </a:lnTo>
                <a:lnTo>
                  <a:pt x="246" y="79"/>
                </a:lnTo>
                <a:lnTo>
                  <a:pt x="262" y="85"/>
                </a:lnTo>
                <a:lnTo>
                  <a:pt x="278" y="91"/>
                </a:lnTo>
                <a:lnTo>
                  <a:pt x="295" y="97"/>
                </a:lnTo>
                <a:lnTo>
                  <a:pt x="311" y="102"/>
                </a:lnTo>
                <a:lnTo>
                  <a:pt x="327" y="107"/>
                </a:lnTo>
                <a:lnTo>
                  <a:pt x="344" y="110"/>
                </a:lnTo>
                <a:lnTo>
                  <a:pt x="360" y="113"/>
                </a:lnTo>
                <a:lnTo>
                  <a:pt x="377" y="114"/>
                </a:lnTo>
                <a:lnTo>
                  <a:pt x="393" y="115"/>
                </a:lnTo>
                <a:lnTo>
                  <a:pt x="393" y="131"/>
                </a:lnTo>
                <a:lnTo>
                  <a:pt x="377" y="130"/>
                </a:lnTo>
                <a:lnTo>
                  <a:pt x="360" y="129"/>
                </a:lnTo>
                <a:lnTo>
                  <a:pt x="344" y="126"/>
                </a:lnTo>
                <a:lnTo>
                  <a:pt x="327" y="122"/>
                </a:lnTo>
                <a:lnTo>
                  <a:pt x="311" y="118"/>
                </a:lnTo>
                <a:lnTo>
                  <a:pt x="295" y="113"/>
                </a:lnTo>
                <a:lnTo>
                  <a:pt x="278" y="107"/>
                </a:lnTo>
                <a:lnTo>
                  <a:pt x="262" y="101"/>
                </a:lnTo>
                <a:lnTo>
                  <a:pt x="246" y="94"/>
                </a:lnTo>
                <a:lnTo>
                  <a:pt x="229" y="88"/>
                </a:lnTo>
                <a:lnTo>
                  <a:pt x="213" y="80"/>
                </a:lnTo>
                <a:lnTo>
                  <a:pt x="196" y="73"/>
                </a:lnTo>
                <a:lnTo>
                  <a:pt x="180" y="66"/>
                </a:lnTo>
                <a:lnTo>
                  <a:pt x="164" y="59"/>
                </a:lnTo>
                <a:lnTo>
                  <a:pt x="147" y="52"/>
                </a:lnTo>
                <a:lnTo>
                  <a:pt x="131" y="46"/>
                </a:lnTo>
                <a:lnTo>
                  <a:pt x="114" y="39"/>
                </a:lnTo>
                <a:lnTo>
                  <a:pt x="98" y="34"/>
                </a:lnTo>
                <a:lnTo>
                  <a:pt x="82" y="29"/>
                </a:lnTo>
                <a:lnTo>
                  <a:pt x="65" y="24"/>
                </a:lnTo>
                <a:lnTo>
                  <a:pt x="49" y="21"/>
                </a:lnTo>
                <a:lnTo>
                  <a:pt x="33" y="18"/>
                </a:lnTo>
                <a:lnTo>
                  <a:pt x="16" y="16"/>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2057400" y="4314825"/>
            <a:ext cx="3743325" cy="1181100"/>
          </a:xfrm>
          <a:custGeom>
            <a:avLst/>
            <a:gdLst/>
            <a:ahLst/>
            <a:cxnLst/>
            <a:rect l="l" t="t" r="r" b="b"/>
            <a:pathLst>
              <a:path w="393" h="124">
                <a:moveTo>
                  <a:pt x="0" y="113"/>
                </a:moveTo>
                <a:lnTo>
                  <a:pt x="16" y="112"/>
                </a:lnTo>
                <a:lnTo>
                  <a:pt x="33" y="110"/>
                </a:lnTo>
                <a:lnTo>
                  <a:pt x="49" y="108"/>
                </a:lnTo>
                <a:lnTo>
                  <a:pt x="65" y="104"/>
                </a:lnTo>
                <a:lnTo>
                  <a:pt x="82" y="100"/>
                </a:lnTo>
                <a:lnTo>
                  <a:pt x="98" y="95"/>
                </a:lnTo>
                <a:lnTo>
                  <a:pt x="114" y="90"/>
                </a:lnTo>
                <a:lnTo>
                  <a:pt x="131" y="84"/>
                </a:lnTo>
                <a:lnTo>
                  <a:pt x="147" y="77"/>
                </a:lnTo>
                <a:lnTo>
                  <a:pt x="164" y="70"/>
                </a:lnTo>
                <a:lnTo>
                  <a:pt x="180" y="63"/>
                </a:lnTo>
                <a:lnTo>
                  <a:pt x="196" y="56"/>
                </a:lnTo>
                <a:lnTo>
                  <a:pt x="213" y="49"/>
                </a:lnTo>
                <a:lnTo>
                  <a:pt x="229" y="43"/>
                </a:lnTo>
                <a:lnTo>
                  <a:pt x="246" y="36"/>
                </a:lnTo>
                <a:lnTo>
                  <a:pt x="262" y="29"/>
                </a:lnTo>
                <a:lnTo>
                  <a:pt x="278" y="23"/>
                </a:lnTo>
                <a:lnTo>
                  <a:pt x="295" y="18"/>
                </a:lnTo>
                <a:lnTo>
                  <a:pt x="311" y="13"/>
                </a:lnTo>
                <a:lnTo>
                  <a:pt x="327" y="9"/>
                </a:lnTo>
                <a:lnTo>
                  <a:pt x="344" y="5"/>
                </a:lnTo>
                <a:lnTo>
                  <a:pt x="360" y="2"/>
                </a:lnTo>
                <a:lnTo>
                  <a:pt x="377" y="1"/>
                </a:lnTo>
                <a:lnTo>
                  <a:pt x="393" y="0"/>
                </a:lnTo>
                <a:lnTo>
                  <a:pt x="393" y="11"/>
                </a:lnTo>
                <a:lnTo>
                  <a:pt x="377" y="12"/>
                </a:lnTo>
                <a:lnTo>
                  <a:pt x="360" y="14"/>
                </a:lnTo>
                <a:lnTo>
                  <a:pt x="344" y="16"/>
                </a:lnTo>
                <a:lnTo>
                  <a:pt x="327" y="20"/>
                </a:lnTo>
                <a:lnTo>
                  <a:pt x="311" y="24"/>
                </a:lnTo>
                <a:lnTo>
                  <a:pt x="295" y="29"/>
                </a:lnTo>
                <a:lnTo>
                  <a:pt x="278" y="34"/>
                </a:lnTo>
                <a:lnTo>
                  <a:pt x="262" y="41"/>
                </a:lnTo>
                <a:lnTo>
                  <a:pt x="246" y="47"/>
                </a:lnTo>
                <a:lnTo>
                  <a:pt x="229" y="54"/>
                </a:lnTo>
                <a:lnTo>
                  <a:pt x="213" y="61"/>
                </a:lnTo>
                <a:lnTo>
                  <a:pt x="196" y="68"/>
                </a:lnTo>
                <a:lnTo>
                  <a:pt x="180" y="75"/>
                </a:lnTo>
                <a:lnTo>
                  <a:pt x="164" y="82"/>
                </a:lnTo>
                <a:lnTo>
                  <a:pt x="147" y="88"/>
                </a:lnTo>
                <a:lnTo>
                  <a:pt x="131" y="95"/>
                </a:lnTo>
                <a:lnTo>
                  <a:pt x="114" y="101"/>
                </a:lnTo>
                <a:lnTo>
                  <a:pt x="98" y="106"/>
                </a:lnTo>
                <a:lnTo>
                  <a:pt x="82" y="111"/>
                </a:lnTo>
                <a:lnTo>
                  <a:pt x="65" y="116"/>
                </a:lnTo>
                <a:lnTo>
                  <a:pt x="49" y="119"/>
                </a:lnTo>
                <a:lnTo>
                  <a:pt x="33" y="122"/>
                </a:lnTo>
                <a:lnTo>
                  <a:pt x="16" y="123"/>
                </a:lnTo>
                <a:lnTo>
                  <a:pt x="0" y="12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2057400" y="4867275"/>
            <a:ext cx="3743325" cy="742950"/>
          </a:xfrm>
          <a:custGeom>
            <a:avLst/>
            <a:gdLst/>
            <a:ahLst/>
            <a:cxnLst/>
            <a:rect l="l" t="t" r="r" b="b"/>
            <a:pathLst>
              <a:path w="393" h="78">
                <a:moveTo>
                  <a:pt x="0" y="66"/>
                </a:moveTo>
                <a:lnTo>
                  <a:pt x="16" y="66"/>
                </a:lnTo>
                <a:lnTo>
                  <a:pt x="33" y="65"/>
                </a:lnTo>
                <a:lnTo>
                  <a:pt x="49" y="63"/>
                </a:lnTo>
                <a:lnTo>
                  <a:pt x="65" y="61"/>
                </a:lnTo>
                <a:lnTo>
                  <a:pt x="82" y="58"/>
                </a:lnTo>
                <a:lnTo>
                  <a:pt x="98" y="56"/>
                </a:lnTo>
                <a:lnTo>
                  <a:pt x="114" y="52"/>
                </a:lnTo>
                <a:lnTo>
                  <a:pt x="131" y="49"/>
                </a:lnTo>
                <a:lnTo>
                  <a:pt x="147" y="45"/>
                </a:lnTo>
                <a:lnTo>
                  <a:pt x="164" y="41"/>
                </a:lnTo>
                <a:lnTo>
                  <a:pt x="180" y="37"/>
                </a:lnTo>
                <a:lnTo>
                  <a:pt x="196" y="33"/>
                </a:lnTo>
                <a:lnTo>
                  <a:pt x="213" y="29"/>
                </a:lnTo>
                <a:lnTo>
                  <a:pt x="229" y="25"/>
                </a:lnTo>
                <a:lnTo>
                  <a:pt x="246" y="21"/>
                </a:lnTo>
                <a:lnTo>
                  <a:pt x="262" y="17"/>
                </a:lnTo>
                <a:lnTo>
                  <a:pt x="278" y="14"/>
                </a:lnTo>
                <a:lnTo>
                  <a:pt x="295" y="10"/>
                </a:lnTo>
                <a:lnTo>
                  <a:pt x="311" y="7"/>
                </a:lnTo>
                <a:lnTo>
                  <a:pt x="327" y="5"/>
                </a:lnTo>
                <a:lnTo>
                  <a:pt x="344" y="3"/>
                </a:lnTo>
                <a:lnTo>
                  <a:pt x="360" y="1"/>
                </a:lnTo>
                <a:lnTo>
                  <a:pt x="377" y="0"/>
                </a:lnTo>
                <a:lnTo>
                  <a:pt x="393" y="0"/>
                </a:lnTo>
                <a:lnTo>
                  <a:pt x="393" y="12"/>
                </a:lnTo>
                <a:lnTo>
                  <a:pt x="377" y="12"/>
                </a:lnTo>
                <a:lnTo>
                  <a:pt x="360" y="13"/>
                </a:lnTo>
                <a:lnTo>
                  <a:pt x="344" y="15"/>
                </a:lnTo>
                <a:lnTo>
                  <a:pt x="327" y="17"/>
                </a:lnTo>
                <a:lnTo>
                  <a:pt x="311" y="19"/>
                </a:lnTo>
                <a:lnTo>
                  <a:pt x="295" y="22"/>
                </a:lnTo>
                <a:lnTo>
                  <a:pt x="278" y="25"/>
                </a:lnTo>
                <a:lnTo>
                  <a:pt x="262" y="29"/>
                </a:lnTo>
                <a:lnTo>
                  <a:pt x="246" y="33"/>
                </a:lnTo>
                <a:lnTo>
                  <a:pt x="229" y="37"/>
                </a:lnTo>
                <a:lnTo>
                  <a:pt x="213" y="41"/>
                </a:lnTo>
                <a:lnTo>
                  <a:pt x="196" y="45"/>
                </a:lnTo>
                <a:lnTo>
                  <a:pt x="180" y="49"/>
                </a:lnTo>
                <a:lnTo>
                  <a:pt x="164" y="53"/>
                </a:lnTo>
                <a:lnTo>
                  <a:pt x="147" y="57"/>
                </a:lnTo>
                <a:lnTo>
                  <a:pt x="131" y="61"/>
                </a:lnTo>
                <a:lnTo>
                  <a:pt x="114" y="64"/>
                </a:lnTo>
                <a:lnTo>
                  <a:pt x="98" y="67"/>
                </a:lnTo>
                <a:lnTo>
                  <a:pt x="82" y="70"/>
                </a:lnTo>
                <a:lnTo>
                  <a:pt x="65" y="73"/>
                </a:lnTo>
                <a:lnTo>
                  <a:pt x="49" y="75"/>
                </a:lnTo>
                <a:lnTo>
                  <a:pt x="33" y="76"/>
                </a:lnTo>
                <a:lnTo>
                  <a:pt x="16" y="77"/>
                </a:lnTo>
                <a:lnTo>
                  <a:pt x="0" y="7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2057400" y="5343525"/>
            <a:ext cx="3743325" cy="352425"/>
          </a:xfrm>
          <a:custGeom>
            <a:avLst/>
            <a:gdLst/>
            <a:ahLst/>
            <a:cxnLst/>
            <a:rect l="l" t="t" r="r" b="b"/>
            <a:pathLst>
              <a:path w="393" h="37">
                <a:moveTo>
                  <a:pt x="0" y="28"/>
                </a:moveTo>
                <a:lnTo>
                  <a:pt x="16" y="28"/>
                </a:lnTo>
                <a:lnTo>
                  <a:pt x="33" y="27"/>
                </a:lnTo>
                <a:lnTo>
                  <a:pt x="49" y="26"/>
                </a:lnTo>
                <a:lnTo>
                  <a:pt x="65" y="26"/>
                </a:lnTo>
                <a:lnTo>
                  <a:pt x="82" y="25"/>
                </a:lnTo>
                <a:lnTo>
                  <a:pt x="98" y="23"/>
                </a:lnTo>
                <a:lnTo>
                  <a:pt x="114" y="22"/>
                </a:lnTo>
                <a:lnTo>
                  <a:pt x="131" y="20"/>
                </a:lnTo>
                <a:lnTo>
                  <a:pt x="147" y="19"/>
                </a:lnTo>
                <a:lnTo>
                  <a:pt x="164" y="17"/>
                </a:lnTo>
                <a:lnTo>
                  <a:pt x="180" y="16"/>
                </a:lnTo>
                <a:lnTo>
                  <a:pt x="196" y="14"/>
                </a:lnTo>
                <a:lnTo>
                  <a:pt x="213" y="12"/>
                </a:lnTo>
                <a:lnTo>
                  <a:pt x="229" y="10"/>
                </a:lnTo>
                <a:lnTo>
                  <a:pt x="246" y="9"/>
                </a:lnTo>
                <a:lnTo>
                  <a:pt x="262" y="7"/>
                </a:lnTo>
                <a:lnTo>
                  <a:pt x="278" y="6"/>
                </a:lnTo>
                <a:lnTo>
                  <a:pt x="295" y="4"/>
                </a:lnTo>
                <a:lnTo>
                  <a:pt x="311" y="3"/>
                </a:lnTo>
                <a:lnTo>
                  <a:pt x="327" y="2"/>
                </a:lnTo>
                <a:lnTo>
                  <a:pt x="344" y="1"/>
                </a:lnTo>
                <a:lnTo>
                  <a:pt x="360" y="0"/>
                </a:lnTo>
                <a:lnTo>
                  <a:pt x="377" y="0"/>
                </a:lnTo>
                <a:lnTo>
                  <a:pt x="393" y="0"/>
                </a:lnTo>
                <a:lnTo>
                  <a:pt x="393" y="9"/>
                </a:lnTo>
                <a:lnTo>
                  <a:pt x="377" y="9"/>
                </a:lnTo>
                <a:lnTo>
                  <a:pt x="360" y="9"/>
                </a:lnTo>
                <a:lnTo>
                  <a:pt x="344" y="10"/>
                </a:lnTo>
                <a:lnTo>
                  <a:pt x="327" y="11"/>
                </a:lnTo>
                <a:lnTo>
                  <a:pt x="311" y="12"/>
                </a:lnTo>
                <a:lnTo>
                  <a:pt x="295" y="13"/>
                </a:lnTo>
                <a:lnTo>
                  <a:pt x="278" y="14"/>
                </a:lnTo>
                <a:lnTo>
                  <a:pt x="262" y="16"/>
                </a:lnTo>
                <a:lnTo>
                  <a:pt x="246" y="18"/>
                </a:lnTo>
                <a:lnTo>
                  <a:pt x="229" y="19"/>
                </a:lnTo>
                <a:lnTo>
                  <a:pt x="213" y="21"/>
                </a:lnTo>
                <a:lnTo>
                  <a:pt x="196" y="23"/>
                </a:lnTo>
                <a:lnTo>
                  <a:pt x="180" y="24"/>
                </a:lnTo>
                <a:lnTo>
                  <a:pt x="164" y="26"/>
                </a:lnTo>
                <a:lnTo>
                  <a:pt x="147" y="28"/>
                </a:lnTo>
                <a:lnTo>
                  <a:pt x="131" y="29"/>
                </a:lnTo>
                <a:lnTo>
                  <a:pt x="114" y="31"/>
                </a:lnTo>
                <a:lnTo>
                  <a:pt x="98" y="32"/>
                </a:lnTo>
                <a:lnTo>
                  <a:pt x="82" y="33"/>
                </a:lnTo>
                <a:lnTo>
                  <a:pt x="65" y="34"/>
                </a:lnTo>
                <a:lnTo>
                  <a:pt x="49" y="35"/>
                </a:lnTo>
                <a:lnTo>
                  <a:pt x="33" y="36"/>
                </a:lnTo>
                <a:lnTo>
                  <a:pt x="16" y="36"/>
                </a:lnTo>
                <a:lnTo>
                  <a:pt x="0" y="3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2057400" y="5695950"/>
            <a:ext cx="3743325" cy="133350"/>
          </a:xfrm>
          <a:custGeom>
            <a:avLst/>
            <a:gdLst/>
            <a:ahLst/>
            <a:cxnLst/>
            <a:rect l="l" t="t" r="r" b="b"/>
            <a:pathLst>
              <a:path w="393" h="14">
                <a:moveTo>
                  <a:pt x="0" y="0"/>
                </a:moveTo>
                <a:lnTo>
                  <a:pt x="16" y="0"/>
                </a:lnTo>
                <a:lnTo>
                  <a:pt x="33" y="0"/>
                </a:lnTo>
                <a:lnTo>
                  <a:pt x="49" y="0"/>
                </a:lnTo>
                <a:lnTo>
                  <a:pt x="65" y="0"/>
                </a:lnTo>
                <a:lnTo>
                  <a:pt x="82" y="0"/>
                </a:lnTo>
                <a:lnTo>
                  <a:pt x="98" y="0"/>
                </a:lnTo>
                <a:lnTo>
                  <a:pt x="114" y="1"/>
                </a:lnTo>
                <a:lnTo>
                  <a:pt x="131" y="1"/>
                </a:lnTo>
                <a:lnTo>
                  <a:pt x="147" y="1"/>
                </a:lnTo>
                <a:lnTo>
                  <a:pt x="164" y="2"/>
                </a:lnTo>
                <a:lnTo>
                  <a:pt x="180" y="2"/>
                </a:lnTo>
                <a:lnTo>
                  <a:pt x="196" y="3"/>
                </a:lnTo>
                <a:lnTo>
                  <a:pt x="213" y="3"/>
                </a:lnTo>
                <a:lnTo>
                  <a:pt x="229" y="3"/>
                </a:lnTo>
                <a:lnTo>
                  <a:pt x="246" y="4"/>
                </a:lnTo>
                <a:lnTo>
                  <a:pt x="262" y="4"/>
                </a:lnTo>
                <a:lnTo>
                  <a:pt x="278" y="4"/>
                </a:lnTo>
                <a:lnTo>
                  <a:pt x="295" y="5"/>
                </a:lnTo>
                <a:lnTo>
                  <a:pt x="311" y="5"/>
                </a:lnTo>
                <a:lnTo>
                  <a:pt x="327" y="5"/>
                </a:lnTo>
                <a:lnTo>
                  <a:pt x="344" y="5"/>
                </a:lnTo>
                <a:lnTo>
                  <a:pt x="360" y="5"/>
                </a:lnTo>
                <a:lnTo>
                  <a:pt x="377" y="6"/>
                </a:lnTo>
                <a:lnTo>
                  <a:pt x="393" y="6"/>
                </a:lnTo>
                <a:lnTo>
                  <a:pt x="393" y="14"/>
                </a:lnTo>
                <a:lnTo>
                  <a:pt x="377" y="14"/>
                </a:lnTo>
                <a:lnTo>
                  <a:pt x="360" y="14"/>
                </a:lnTo>
                <a:lnTo>
                  <a:pt x="344" y="14"/>
                </a:lnTo>
                <a:lnTo>
                  <a:pt x="327" y="14"/>
                </a:lnTo>
                <a:lnTo>
                  <a:pt x="311" y="13"/>
                </a:lnTo>
                <a:lnTo>
                  <a:pt x="295" y="13"/>
                </a:lnTo>
                <a:lnTo>
                  <a:pt x="278" y="13"/>
                </a:lnTo>
                <a:lnTo>
                  <a:pt x="262" y="12"/>
                </a:lnTo>
                <a:lnTo>
                  <a:pt x="246" y="12"/>
                </a:lnTo>
                <a:lnTo>
                  <a:pt x="229" y="12"/>
                </a:lnTo>
                <a:lnTo>
                  <a:pt x="213" y="11"/>
                </a:lnTo>
                <a:lnTo>
                  <a:pt x="196" y="11"/>
                </a:lnTo>
                <a:lnTo>
                  <a:pt x="180" y="11"/>
                </a:lnTo>
                <a:lnTo>
                  <a:pt x="164" y="10"/>
                </a:lnTo>
                <a:lnTo>
                  <a:pt x="147" y="10"/>
                </a:lnTo>
                <a:lnTo>
                  <a:pt x="131" y="10"/>
                </a:lnTo>
                <a:lnTo>
                  <a:pt x="114" y="9"/>
                </a:lnTo>
                <a:lnTo>
                  <a:pt x="98" y="9"/>
                </a:lnTo>
                <a:lnTo>
                  <a:pt x="82" y="9"/>
                </a:lnTo>
                <a:lnTo>
                  <a:pt x="65" y="8"/>
                </a:lnTo>
                <a:lnTo>
                  <a:pt x="49" y="8"/>
                </a:lnTo>
                <a:lnTo>
                  <a:pt x="33" y="8"/>
                </a:lnTo>
                <a:lnTo>
                  <a:pt x="16" y="8"/>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2057400" y="5772150"/>
            <a:ext cx="3743325" cy="390525"/>
          </a:xfrm>
          <a:custGeom>
            <a:avLst/>
            <a:gdLst/>
            <a:ahLst/>
            <a:cxnLst/>
            <a:rect l="l" t="t" r="r" b="b"/>
            <a:pathLst>
              <a:path w="393" h="41">
                <a:moveTo>
                  <a:pt x="0" y="0"/>
                </a:moveTo>
                <a:lnTo>
                  <a:pt x="16" y="0"/>
                </a:lnTo>
                <a:lnTo>
                  <a:pt x="33" y="1"/>
                </a:lnTo>
                <a:lnTo>
                  <a:pt x="49" y="1"/>
                </a:lnTo>
                <a:lnTo>
                  <a:pt x="65" y="3"/>
                </a:lnTo>
                <a:lnTo>
                  <a:pt x="82" y="4"/>
                </a:lnTo>
                <a:lnTo>
                  <a:pt x="98" y="5"/>
                </a:lnTo>
                <a:lnTo>
                  <a:pt x="114" y="7"/>
                </a:lnTo>
                <a:lnTo>
                  <a:pt x="131" y="9"/>
                </a:lnTo>
                <a:lnTo>
                  <a:pt x="147" y="11"/>
                </a:lnTo>
                <a:lnTo>
                  <a:pt x="164" y="13"/>
                </a:lnTo>
                <a:lnTo>
                  <a:pt x="180" y="15"/>
                </a:lnTo>
                <a:lnTo>
                  <a:pt x="196" y="17"/>
                </a:lnTo>
                <a:lnTo>
                  <a:pt x="213" y="20"/>
                </a:lnTo>
                <a:lnTo>
                  <a:pt x="229" y="22"/>
                </a:lnTo>
                <a:lnTo>
                  <a:pt x="246" y="24"/>
                </a:lnTo>
                <a:lnTo>
                  <a:pt x="262" y="26"/>
                </a:lnTo>
                <a:lnTo>
                  <a:pt x="278" y="28"/>
                </a:lnTo>
                <a:lnTo>
                  <a:pt x="295" y="29"/>
                </a:lnTo>
                <a:lnTo>
                  <a:pt x="311" y="31"/>
                </a:lnTo>
                <a:lnTo>
                  <a:pt x="327" y="32"/>
                </a:lnTo>
                <a:lnTo>
                  <a:pt x="344" y="33"/>
                </a:lnTo>
                <a:lnTo>
                  <a:pt x="360" y="34"/>
                </a:lnTo>
                <a:lnTo>
                  <a:pt x="377" y="35"/>
                </a:lnTo>
                <a:lnTo>
                  <a:pt x="393" y="35"/>
                </a:lnTo>
                <a:lnTo>
                  <a:pt x="393" y="41"/>
                </a:lnTo>
                <a:lnTo>
                  <a:pt x="377" y="41"/>
                </a:lnTo>
                <a:lnTo>
                  <a:pt x="360" y="40"/>
                </a:lnTo>
                <a:lnTo>
                  <a:pt x="344" y="39"/>
                </a:lnTo>
                <a:lnTo>
                  <a:pt x="327" y="38"/>
                </a:lnTo>
                <a:lnTo>
                  <a:pt x="311" y="37"/>
                </a:lnTo>
                <a:lnTo>
                  <a:pt x="295" y="36"/>
                </a:lnTo>
                <a:lnTo>
                  <a:pt x="278" y="34"/>
                </a:lnTo>
                <a:lnTo>
                  <a:pt x="262" y="32"/>
                </a:lnTo>
                <a:lnTo>
                  <a:pt x="246" y="30"/>
                </a:lnTo>
                <a:lnTo>
                  <a:pt x="229" y="28"/>
                </a:lnTo>
                <a:lnTo>
                  <a:pt x="213" y="26"/>
                </a:lnTo>
                <a:lnTo>
                  <a:pt x="196" y="24"/>
                </a:lnTo>
                <a:lnTo>
                  <a:pt x="180" y="21"/>
                </a:lnTo>
                <a:lnTo>
                  <a:pt x="164" y="19"/>
                </a:lnTo>
                <a:lnTo>
                  <a:pt x="147" y="17"/>
                </a:lnTo>
                <a:lnTo>
                  <a:pt x="131" y="15"/>
                </a:lnTo>
                <a:lnTo>
                  <a:pt x="114" y="13"/>
                </a:lnTo>
                <a:lnTo>
                  <a:pt x="98" y="12"/>
                </a:lnTo>
                <a:lnTo>
                  <a:pt x="82" y="10"/>
                </a:lnTo>
                <a:lnTo>
                  <a:pt x="65" y="9"/>
                </a:lnTo>
                <a:lnTo>
                  <a:pt x="49" y="8"/>
                </a:lnTo>
                <a:lnTo>
                  <a:pt x="33" y="7"/>
                </a:lnTo>
                <a:lnTo>
                  <a:pt x="16" y="6"/>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2057400" y="5829300"/>
            <a:ext cx="3743325" cy="657225"/>
          </a:xfrm>
          <a:custGeom>
            <a:avLst/>
            <a:gdLst/>
            <a:ahLst/>
            <a:cxnLst/>
            <a:rect l="l" t="t" r="r" b="b"/>
            <a:pathLst>
              <a:path w="393" h="69">
                <a:moveTo>
                  <a:pt x="0" y="0"/>
                </a:moveTo>
                <a:lnTo>
                  <a:pt x="16" y="0"/>
                </a:lnTo>
                <a:lnTo>
                  <a:pt x="33" y="1"/>
                </a:lnTo>
                <a:lnTo>
                  <a:pt x="49" y="3"/>
                </a:lnTo>
                <a:lnTo>
                  <a:pt x="65" y="5"/>
                </a:lnTo>
                <a:lnTo>
                  <a:pt x="82" y="7"/>
                </a:lnTo>
                <a:lnTo>
                  <a:pt x="98" y="10"/>
                </a:lnTo>
                <a:lnTo>
                  <a:pt x="114" y="13"/>
                </a:lnTo>
                <a:lnTo>
                  <a:pt x="131" y="16"/>
                </a:lnTo>
                <a:lnTo>
                  <a:pt x="147" y="20"/>
                </a:lnTo>
                <a:lnTo>
                  <a:pt x="164" y="24"/>
                </a:lnTo>
                <a:lnTo>
                  <a:pt x="180" y="28"/>
                </a:lnTo>
                <a:lnTo>
                  <a:pt x="196" y="31"/>
                </a:lnTo>
                <a:lnTo>
                  <a:pt x="213" y="35"/>
                </a:lnTo>
                <a:lnTo>
                  <a:pt x="229" y="39"/>
                </a:lnTo>
                <a:lnTo>
                  <a:pt x="246" y="43"/>
                </a:lnTo>
                <a:lnTo>
                  <a:pt x="262" y="47"/>
                </a:lnTo>
                <a:lnTo>
                  <a:pt x="278" y="50"/>
                </a:lnTo>
                <a:lnTo>
                  <a:pt x="295" y="53"/>
                </a:lnTo>
                <a:lnTo>
                  <a:pt x="311" y="56"/>
                </a:lnTo>
                <a:lnTo>
                  <a:pt x="327" y="58"/>
                </a:lnTo>
                <a:lnTo>
                  <a:pt x="344" y="60"/>
                </a:lnTo>
                <a:lnTo>
                  <a:pt x="360" y="62"/>
                </a:lnTo>
                <a:lnTo>
                  <a:pt x="377" y="62"/>
                </a:lnTo>
                <a:lnTo>
                  <a:pt x="393" y="63"/>
                </a:lnTo>
                <a:lnTo>
                  <a:pt x="393" y="69"/>
                </a:lnTo>
                <a:lnTo>
                  <a:pt x="377" y="68"/>
                </a:lnTo>
                <a:lnTo>
                  <a:pt x="360" y="68"/>
                </a:lnTo>
                <a:lnTo>
                  <a:pt x="344" y="66"/>
                </a:lnTo>
                <a:lnTo>
                  <a:pt x="327" y="64"/>
                </a:lnTo>
                <a:lnTo>
                  <a:pt x="311" y="62"/>
                </a:lnTo>
                <a:lnTo>
                  <a:pt x="295" y="59"/>
                </a:lnTo>
                <a:lnTo>
                  <a:pt x="278" y="56"/>
                </a:lnTo>
                <a:lnTo>
                  <a:pt x="262" y="53"/>
                </a:lnTo>
                <a:lnTo>
                  <a:pt x="246" y="49"/>
                </a:lnTo>
                <a:lnTo>
                  <a:pt x="229" y="45"/>
                </a:lnTo>
                <a:lnTo>
                  <a:pt x="213" y="41"/>
                </a:lnTo>
                <a:lnTo>
                  <a:pt x="196" y="37"/>
                </a:lnTo>
                <a:lnTo>
                  <a:pt x="180" y="34"/>
                </a:lnTo>
                <a:lnTo>
                  <a:pt x="164" y="30"/>
                </a:lnTo>
                <a:lnTo>
                  <a:pt x="147" y="26"/>
                </a:lnTo>
                <a:lnTo>
                  <a:pt x="131" y="22"/>
                </a:lnTo>
                <a:lnTo>
                  <a:pt x="114" y="19"/>
                </a:lnTo>
                <a:lnTo>
                  <a:pt x="98" y="16"/>
                </a:lnTo>
                <a:lnTo>
                  <a:pt x="82" y="13"/>
                </a:lnTo>
                <a:lnTo>
                  <a:pt x="65" y="11"/>
                </a:lnTo>
                <a:lnTo>
                  <a:pt x="49" y="9"/>
                </a:lnTo>
                <a:lnTo>
                  <a:pt x="33" y="7"/>
                </a:lnTo>
                <a:lnTo>
                  <a:pt x="16" y="6"/>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2057400" y="4419600"/>
            <a:ext cx="3743325" cy="1581150"/>
          </a:xfrm>
          <a:custGeom>
            <a:avLst/>
            <a:gdLst/>
            <a:ahLst/>
            <a:cxnLst/>
            <a:rect l="l" t="t" r="r" b="b"/>
            <a:pathLst>
              <a:path w="393" h="166">
                <a:moveTo>
                  <a:pt x="0" y="160"/>
                </a:moveTo>
                <a:lnTo>
                  <a:pt x="16" y="159"/>
                </a:lnTo>
                <a:lnTo>
                  <a:pt x="33" y="157"/>
                </a:lnTo>
                <a:lnTo>
                  <a:pt x="49" y="153"/>
                </a:lnTo>
                <a:lnTo>
                  <a:pt x="65" y="148"/>
                </a:lnTo>
                <a:lnTo>
                  <a:pt x="82" y="142"/>
                </a:lnTo>
                <a:lnTo>
                  <a:pt x="98" y="135"/>
                </a:lnTo>
                <a:lnTo>
                  <a:pt x="114" y="127"/>
                </a:lnTo>
                <a:lnTo>
                  <a:pt x="131" y="119"/>
                </a:lnTo>
                <a:lnTo>
                  <a:pt x="147" y="110"/>
                </a:lnTo>
                <a:lnTo>
                  <a:pt x="164" y="100"/>
                </a:lnTo>
                <a:lnTo>
                  <a:pt x="180" y="90"/>
                </a:lnTo>
                <a:lnTo>
                  <a:pt x="196" y="80"/>
                </a:lnTo>
                <a:lnTo>
                  <a:pt x="213" y="70"/>
                </a:lnTo>
                <a:lnTo>
                  <a:pt x="229" y="60"/>
                </a:lnTo>
                <a:lnTo>
                  <a:pt x="246" y="51"/>
                </a:lnTo>
                <a:lnTo>
                  <a:pt x="262" y="42"/>
                </a:lnTo>
                <a:lnTo>
                  <a:pt x="278" y="33"/>
                </a:lnTo>
                <a:lnTo>
                  <a:pt x="295" y="25"/>
                </a:lnTo>
                <a:lnTo>
                  <a:pt x="311" y="18"/>
                </a:lnTo>
                <a:lnTo>
                  <a:pt x="327" y="12"/>
                </a:lnTo>
                <a:lnTo>
                  <a:pt x="344" y="7"/>
                </a:lnTo>
                <a:lnTo>
                  <a:pt x="360" y="4"/>
                </a:lnTo>
                <a:lnTo>
                  <a:pt x="377" y="1"/>
                </a:lnTo>
                <a:lnTo>
                  <a:pt x="393" y="0"/>
                </a:lnTo>
                <a:lnTo>
                  <a:pt x="393" y="6"/>
                </a:lnTo>
                <a:lnTo>
                  <a:pt x="377" y="7"/>
                </a:lnTo>
                <a:lnTo>
                  <a:pt x="360" y="9"/>
                </a:lnTo>
                <a:lnTo>
                  <a:pt x="344" y="13"/>
                </a:lnTo>
                <a:lnTo>
                  <a:pt x="327" y="18"/>
                </a:lnTo>
                <a:lnTo>
                  <a:pt x="311" y="24"/>
                </a:lnTo>
                <a:lnTo>
                  <a:pt x="295" y="31"/>
                </a:lnTo>
                <a:lnTo>
                  <a:pt x="278" y="39"/>
                </a:lnTo>
                <a:lnTo>
                  <a:pt x="262" y="48"/>
                </a:lnTo>
                <a:lnTo>
                  <a:pt x="246" y="57"/>
                </a:lnTo>
                <a:lnTo>
                  <a:pt x="229" y="66"/>
                </a:lnTo>
                <a:lnTo>
                  <a:pt x="213" y="76"/>
                </a:lnTo>
                <a:lnTo>
                  <a:pt x="196" y="86"/>
                </a:lnTo>
                <a:lnTo>
                  <a:pt x="180" y="96"/>
                </a:lnTo>
                <a:lnTo>
                  <a:pt x="164" y="106"/>
                </a:lnTo>
                <a:lnTo>
                  <a:pt x="147" y="115"/>
                </a:lnTo>
                <a:lnTo>
                  <a:pt x="131" y="125"/>
                </a:lnTo>
                <a:lnTo>
                  <a:pt x="114" y="133"/>
                </a:lnTo>
                <a:lnTo>
                  <a:pt x="98" y="141"/>
                </a:lnTo>
                <a:lnTo>
                  <a:pt x="82" y="148"/>
                </a:lnTo>
                <a:lnTo>
                  <a:pt x="65" y="154"/>
                </a:lnTo>
                <a:lnTo>
                  <a:pt x="49" y="159"/>
                </a:lnTo>
                <a:lnTo>
                  <a:pt x="33" y="163"/>
                </a:lnTo>
                <a:lnTo>
                  <a:pt x="16" y="165"/>
                </a:lnTo>
                <a:lnTo>
                  <a:pt x="0" y="16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2057400" y="4981575"/>
            <a:ext cx="3743325" cy="1076325"/>
          </a:xfrm>
          <a:custGeom>
            <a:avLst/>
            <a:gdLst/>
            <a:ahLst/>
            <a:cxnLst/>
            <a:rect l="l" t="t" r="r" b="b"/>
            <a:pathLst>
              <a:path w="393" h="113">
                <a:moveTo>
                  <a:pt x="0" y="107"/>
                </a:moveTo>
                <a:lnTo>
                  <a:pt x="16" y="106"/>
                </a:lnTo>
                <a:lnTo>
                  <a:pt x="33" y="105"/>
                </a:lnTo>
                <a:lnTo>
                  <a:pt x="49" y="102"/>
                </a:lnTo>
                <a:lnTo>
                  <a:pt x="65" y="99"/>
                </a:lnTo>
                <a:lnTo>
                  <a:pt x="82" y="95"/>
                </a:lnTo>
                <a:lnTo>
                  <a:pt x="98" y="90"/>
                </a:lnTo>
                <a:lnTo>
                  <a:pt x="114" y="85"/>
                </a:lnTo>
                <a:lnTo>
                  <a:pt x="131" y="79"/>
                </a:lnTo>
                <a:lnTo>
                  <a:pt x="147" y="73"/>
                </a:lnTo>
                <a:lnTo>
                  <a:pt x="164" y="67"/>
                </a:lnTo>
                <a:lnTo>
                  <a:pt x="180" y="60"/>
                </a:lnTo>
                <a:lnTo>
                  <a:pt x="196" y="53"/>
                </a:lnTo>
                <a:lnTo>
                  <a:pt x="213" y="47"/>
                </a:lnTo>
                <a:lnTo>
                  <a:pt x="229" y="40"/>
                </a:lnTo>
                <a:lnTo>
                  <a:pt x="246" y="34"/>
                </a:lnTo>
                <a:lnTo>
                  <a:pt x="262" y="28"/>
                </a:lnTo>
                <a:lnTo>
                  <a:pt x="278" y="22"/>
                </a:lnTo>
                <a:lnTo>
                  <a:pt x="295" y="17"/>
                </a:lnTo>
                <a:lnTo>
                  <a:pt x="311" y="12"/>
                </a:lnTo>
                <a:lnTo>
                  <a:pt x="327" y="8"/>
                </a:lnTo>
                <a:lnTo>
                  <a:pt x="344" y="5"/>
                </a:lnTo>
                <a:lnTo>
                  <a:pt x="360" y="2"/>
                </a:lnTo>
                <a:lnTo>
                  <a:pt x="377" y="0"/>
                </a:lnTo>
                <a:lnTo>
                  <a:pt x="393" y="0"/>
                </a:lnTo>
                <a:lnTo>
                  <a:pt x="393" y="6"/>
                </a:lnTo>
                <a:lnTo>
                  <a:pt x="377" y="6"/>
                </a:lnTo>
                <a:lnTo>
                  <a:pt x="360" y="8"/>
                </a:lnTo>
                <a:lnTo>
                  <a:pt x="344" y="10"/>
                </a:lnTo>
                <a:lnTo>
                  <a:pt x="327" y="14"/>
                </a:lnTo>
                <a:lnTo>
                  <a:pt x="311" y="18"/>
                </a:lnTo>
                <a:lnTo>
                  <a:pt x="295" y="22"/>
                </a:lnTo>
                <a:lnTo>
                  <a:pt x="278" y="28"/>
                </a:lnTo>
                <a:lnTo>
                  <a:pt x="262" y="33"/>
                </a:lnTo>
                <a:lnTo>
                  <a:pt x="246" y="39"/>
                </a:lnTo>
                <a:lnTo>
                  <a:pt x="229" y="46"/>
                </a:lnTo>
                <a:lnTo>
                  <a:pt x="213" y="52"/>
                </a:lnTo>
                <a:lnTo>
                  <a:pt x="196" y="59"/>
                </a:lnTo>
                <a:lnTo>
                  <a:pt x="180" y="66"/>
                </a:lnTo>
                <a:lnTo>
                  <a:pt x="164" y="72"/>
                </a:lnTo>
                <a:lnTo>
                  <a:pt x="147" y="79"/>
                </a:lnTo>
                <a:lnTo>
                  <a:pt x="131" y="85"/>
                </a:lnTo>
                <a:lnTo>
                  <a:pt x="114" y="91"/>
                </a:lnTo>
                <a:lnTo>
                  <a:pt x="98" y="96"/>
                </a:lnTo>
                <a:lnTo>
                  <a:pt x="82" y="101"/>
                </a:lnTo>
                <a:lnTo>
                  <a:pt x="65" y="105"/>
                </a:lnTo>
                <a:lnTo>
                  <a:pt x="49" y="108"/>
                </a:lnTo>
                <a:lnTo>
                  <a:pt x="33" y="111"/>
                </a:lnTo>
                <a:lnTo>
                  <a:pt x="16" y="112"/>
                </a:lnTo>
                <a:lnTo>
                  <a:pt x="0" y="11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reeform 29"/>
          <p:cNvSpPr/>
          <p:nvPr/>
        </p:nvSpPr>
        <p:spPr>
          <a:xfrm>
            <a:off x="2057400" y="5429250"/>
            <a:ext cx="3743325" cy="666750"/>
          </a:xfrm>
          <a:custGeom>
            <a:avLst/>
            <a:gdLst/>
            <a:ahLst/>
            <a:cxnLst/>
            <a:rect l="l" t="t" r="r" b="b"/>
            <a:pathLst>
              <a:path w="393" h="70">
                <a:moveTo>
                  <a:pt x="0" y="66"/>
                </a:moveTo>
                <a:lnTo>
                  <a:pt x="16" y="65"/>
                </a:lnTo>
                <a:lnTo>
                  <a:pt x="33" y="64"/>
                </a:lnTo>
                <a:lnTo>
                  <a:pt x="49" y="63"/>
                </a:lnTo>
                <a:lnTo>
                  <a:pt x="65" y="61"/>
                </a:lnTo>
                <a:lnTo>
                  <a:pt x="82" y="58"/>
                </a:lnTo>
                <a:lnTo>
                  <a:pt x="98" y="55"/>
                </a:lnTo>
                <a:lnTo>
                  <a:pt x="114" y="52"/>
                </a:lnTo>
                <a:lnTo>
                  <a:pt x="131" y="49"/>
                </a:lnTo>
                <a:lnTo>
                  <a:pt x="147" y="45"/>
                </a:lnTo>
                <a:lnTo>
                  <a:pt x="164" y="41"/>
                </a:lnTo>
                <a:lnTo>
                  <a:pt x="180" y="37"/>
                </a:lnTo>
                <a:lnTo>
                  <a:pt x="196" y="33"/>
                </a:lnTo>
                <a:lnTo>
                  <a:pt x="213" y="29"/>
                </a:lnTo>
                <a:lnTo>
                  <a:pt x="229" y="25"/>
                </a:lnTo>
                <a:lnTo>
                  <a:pt x="246" y="21"/>
                </a:lnTo>
                <a:lnTo>
                  <a:pt x="262" y="17"/>
                </a:lnTo>
                <a:lnTo>
                  <a:pt x="278" y="13"/>
                </a:lnTo>
                <a:lnTo>
                  <a:pt x="295" y="10"/>
                </a:lnTo>
                <a:lnTo>
                  <a:pt x="311" y="7"/>
                </a:lnTo>
                <a:lnTo>
                  <a:pt x="327" y="5"/>
                </a:lnTo>
                <a:lnTo>
                  <a:pt x="344" y="3"/>
                </a:lnTo>
                <a:lnTo>
                  <a:pt x="360" y="1"/>
                </a:lnTo>
                <a:lnTo>
                  <a:pt x="377" y="0"/>
                </a:lnTo>
                <a:lnTo>
                  <a:pt x="393" y="0"/>
                </a:lnTo>
                <a:lnTo>
                  <a:pt x="393" y="4"/>
                </a:lnTo>
                <a:lnTo>
                  <a:pt x="377" y="4"/>
                </a:lnTo>
                <a:lnTo>
                  <a:pt x="360" y="5"/>
                </a:lnTo>
                <a:lnTo>
                  <a:pt x="344" y="7"/>
                </a:lnTo>
                <a:lnTo>
                  <a:pt x="327" y="9"/>
                </a:lnTo>
                <a:lnTo>
                  <a:pt x="311" y="12"/>
                </a:lnTo>
                <a:lnTo>
                  <a:pt x="295" y="14"/>
                </a:lnTo>
                <a:lnTo>
                  <a:pt x="278" y="18"/>
                </a:lnTo>
                <a:lnTo>
                  <a:pt x="262" y="21"/>
                </a:lnTo>
                <a:lnTo>
                  <a:pt x="246" y="25"/>
                </a:lnTo>
                <a:lnTo>
                  <a:pt x="229" y="29"/>
                </a:lnTo>
                <a:lnTo>
                  <a:pt x="213" y="33"/>
                </a:lnTo>
                <a:lnTo>
                  <a:pt x="196" y="37"/>
                </a:lnTo>
                <a:lnTo>
                  <a:pt x="180" y="41"/>
                </a:lnTo>
                <a:lnTo>
                  <a:pt x="164" y="45"/>
                </a:lnTo>
                <a:lnTo>
                  <a:pt x="147" y="49"/>
                </a:lnTo>
                <a:lnTo>
                  <a:pt x="131" y="53"/>
                </a:lnTo>
                <a:lnTo>
                  <a:pt x="114" y="56"/>
                </a:lnTo>
                <a:lnTo>
                  <a:pt x="98" y="60"/>
                </a:lnTo>
                <a:lnTo>
                  <a:pt x="82" y="63"/>
                </a:lnTo>
                <a:lnTo>
                  <a:pt x="65" y="65"/>
                </a:lnTo>
                <a:lnTo>
                  <a:pt x="49" y="67"/>
                </a:lnTo>
                <a:lnTo>
                  <a:pt x="33" y="69"/>
                </a:lnTo>
                <a:lnTo>
                  <a:pt x="16" y="70"/>
                </a:lnTo>
                <a:lnTo>
                  <a:pt x="0" y="7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Freeform 30"/>
          <p:cNvSpPr/>
          <p:nvPr/>
        </p:nvSpPr>
        <p:spPr>
          <a:xfrm>
            <a:off x="2057400" y="5829300"/>
            <a:ext cx="3743325" cy="304800"/>
          </a:xfrm>
          <a:custGeom>
            <a:avLst/>
            <a:gdLst/>
            <a:ahLst/>
            <a:cxnLst/>
            <a:rect l="l" t="t" r="r" b="b"/>
            <a:pathLst>
              <a:path w="393" h="32">
                <a:moveTo>
                  <a:pt x="0" y="28"/>
                </a:moveTo>
                <a:lnTo>
                  <a:pt x="16" y="28"/>
                </a:lnTo>
                <a:lnTo>
                  <a:pt x="33" y="27"/>
                </a:lnTo>
                <a:lnTo>
                  <a:pt x="49" y="27"/>
                </a:lnTo>
                <a:lnTo>
                  <a:pt x="65" y="26"/>
                </a:lnTo>
                <a:lnTo>
                  <a:pt x="82" y="25"/>
                </a:lnTo>
                <a:lnTo>
                  <a:pt x="98" y="24"/>
                </a:lnTo>
                <a:lnTo>
                  <a:pt x="114" y="22"/>
                </a:lnTo>
                <a:lnTo>
                  <a:pt x="131" y="21"/>
                </a:lnTo>
                <a:lnTo>
                  <a:pt x="147" y="19"/>
                </a:lnTo>
                <a:lnTo>
                  <a:pt x="164" y="17"/>
                </a:lnTo>
                <a:lnTo>
                  <a:pt x="180" y="16"/>
                </a:lnTo>
                <a:lnTo>
                  <a:pt x="196" y="14"/>
                </a:lnTo>
                <a:lnTo>
                  <a:pt x="213" y="12"/>
                </a:lnTo>
                <a:lnTo>
                  <a:pt x="229" y="11"/>
                </a:lnTo>
                <a:lnTo>
                  <a:pt x="246" y="9"/>
                </a:lnTo>
                <a:lnTo>
                  <a:pt x="262" y="7"/>
                </a:lnTo>
                <a:lnTo>
                  <a:pt x="278" y="6"/>
                </a:lnTo>
                <a:lnTo>
                  <a:pt x="295" y="4"/>
                </a:lnTo>
                <a:lnTo>
                  <a:pt x="311" y="3"/>
                </a:lnTo>
                <a:lnTo>
                  <a:pt x="327" y="2"/>
                </a:lnTo>
                <a:lnTo>
                  <a:pt x="344" y="1"/>
                </a:lnTo>
                <a:lnTo>
                  <a:pt x="360" y="1"/>
                </a:lnTo>
                <a:lnTo>
                  <a:pt x="377" y="0"/>
                </a:lnTo>
                <a:lnTo>
                  <a:pt x="393" y="0"/>
                </a:lnTo>
                <a:lnTo>
                  <a:pt x="393" y="4"/>
                </a:lnTo>
                <a:lnTo>
                  <a:pt x="377" y="4"/>
                </a:lnTo>
                <a:lnTo>
                  <a:pt x="360" y="4"/>
                </a:lnTo>
                <a:lnTo>
                  <a:pt x="344" y="5"/>
                </a:lnTo>
                <a:lnTo>
                  <a:pt x="327" y="6"/>
                </a:lnTo>
                <a:lnTo>
                  <a:pt x="311" y="7"/>
                </a:lnTo>
                <a:lnTo>
                  <a:pt x="295" y="8"/>
                </a:lnTo>
                <a:lnTo>
                  <a:pt x="278" y="9"/>
                </a:lnTo>
                <a:lnTo>
                  <a:pt x="262" y="11"/>
                </a:lnTo>
                <a:lnTo>
                  <a:pt x="246" y="12"/>
                </a:lnTo>
                <a:lnTo>
                  <a:pt x="229" y="14"/>
                </a:lnTo>
                <a:lnTo>
                  <a:pt x="213" y="16"/>
                </a:lnTo>
                <a:lnTo>
                  <a:pt x="196" y="18"/>
                </a:lnTo>
                <a:lnTo>
                  <a:pt x="180" y="19"/>
                </a:lnTo>
                <a:lnTo>
                  <a:pt x="164" y="21"/>
                </a:lnTo>
                <a:lnTo>
                  <a:pt x="147" y="23"/>
                </a:lnTo>
                <a:lnTo>
                  <a:pt x="131" y="24"/>
                </a:lnTo>
                <a:lnTo>
                  <a:pt x="114" y="26"/>
                </a:lnTo>
                <a:lnTo>
                  <a:pt x="98" y="27"/>
                </a:lnTo>
                <a:lnTo>
                  <a:pt x="82" y="28"/>
                </a:lnTo>
                <a:lnTo>
                  <a:pt x="65" y="30"/>
                </a:lnTo>
                <a:lnTo>
                  <a:pt x="49" y="30"/>
                </a:lnTo>
                <a:lnTo>
                  <a:pt x="33" y="31"/>
                </a:lnTo>
                <a:lnTo>
                  <a:pt x="16" y="31"/>
                </a:lnTo>
                <a:lnTo>
                  <a:pt x="0" y="3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reeform 31"/>
          <p:cNvSpPr/>
          <p:nvPr/>
        </p:nvSpPr>
        <p:spPr>
          <a:xfrm>
            <a:off x="2057400" y="6134100"/>
            <a:ext cx="3743325" cy="57150"/>
          </a:xfrm>
          <a:custGeom>
            <a:avLst/>
            <a:gdLst/>
            <a:ahLst/>
            <a:cxnLst/>
            <a:rect l="l" t="t" r="r" b="b"/>
            <a:pathLst>
              <a:path w="393" h="6">
                <a:moveTo>
                  <a:pt x="0" y="0"/>
                </a:moveTo>
                <a:lnTo>
                  <a:pt x="16" y="0"/>
                </a:lnTo>
                <a:lnTo>
                  <a:pt x="33" y="0"/>
                </a:lnTo>
                <a:lnTo>
                  <a:pt x="49" y="0"/>
                </a:lnTo>
                <a:lnTo>
                  <a:pt x="65" y="0"/>
                </a:lnTo>
                <a:lnTo>
                  <a:pt x="82" y="0"/>
                </a:lnTo>
                <a:lnTo>
                  <a:pt x="98" y="0"/>
                </a:lnTo>
                <a:lnTo>
                  <a:pt x="114" y="0"/>
                </a:lnTo>
                <a:lnTo>
                  <a:pt x="131" y="0"/>
                </a:lnTo>
                <a:lnTo>
                  <a:pt x="147" y="1"/>
                </a:lnTo>
                <a:lnTo>
                  <a:pt x="164" y="1"/>
                </a:lnTo>
                <a:lnTo>
                  <a:pt x="180" y="1"/>
                </a:lnTo>
                <a:lnTo>
                  <a:pt x="196" y="1"/>
                </a:lnTo>
                <a:lnTo>
                  <a:pt x="213" y="1"/>
                </a:lnTo>
                <a:lnTo>
                  <a:pt x="229" y="2"/>
                </a:lnTo>
                <a:lnTo>
                  <a:pt x="246" y="2"/>
                </a:lnTo>
                <a:lnTo>
                  <a:pt x="262" y="2"/>
                </a:lnTo>
                <a:lnTo>
                  <a:pt x="278" y="2"/>
                </a:lnTo>
                <a:lnTo>
                  <a:pt x="295" y="2"/>
                </a:lnTo>
                <a:lnTo>
                  <a:pt x="311" y="3"/>
                </a:lnTo>
                <a:lnTo>
                  <a:pt x="327" y="3"/>
                </a:lnTo>
                <a:lnTo>
                  <a:pt x="344" y="3"/>
                </a:lnTo>
                <a:lnTo>
                  <a:pt x="360" y="3"/>
                </a:lnTo>
                <a:lnTo>
                  <a:pt x="377" y="3"/>
                </a:lnTo>
                <a:lnTo>
                  <a:pt x="393" y="3"/>
                </a:lnTo>
                <a:lnTo>
                  <a:pt x="393" y="6"/>
                </a:lnTo>
                <a:lnTo>
                  <a:pt x="377" y="6"/>
                </a:lnTo>
                <a:lnTo>
                  <a:pt x="360" y="6"/>
                </a:lnTo>
                <a:lnTo>
                  <a:pt x="344" y="6"/>
                </a:lnTo>
                <a:lnTo>
                  <a:pt x="327" y="6"/>
                </a:lnTo>
                <a:lnTo>
                  <a:pt x="311" y="6"/>
                </a:lnTo>
                <a:lnTo>
                  <a:pt x="295" y="6"/>
                </a:lnTo>
                <a:lnTo>
                  <a:pt x="278" y="5"/>
                </a:lnTo>
                <a:lnTo>
                  <a:pt x="262" y="5"/>
                </a:lnTo>
                <a:lnTo>
                  <a:pt x="246" y="5"/>
                </a:lnTo>
                <a:lnTo>
                  <a:pt x="229" y="5"/>
                </a:lnTo>
                <a:lnTo>
                  <a:pt x="213" y="5"/>
                </a:lnTo>
                <a:lnTo>
                  <a:pt x="196" y="4"/>
                </a:lnTo>
                <a:lnTo>
                  <a:pt x="180" y="4"/>
                </a:lnTo>
                <a:lnTo>
                  <a:pt x="164" y="4"/>
                </a:lnTo>
                <a:lnTo>
                  <a:pt x="147" y="4"/>
                </a:lnTo>
                <a:lnTo>
                  <a:pt x="131" y="4"/>
                </a:lnTo>
                <a:lnTo>
                  <a:pt x="114" y="3"/>
                </a:lnTo>
                <a:lnTo>
                  <a:pt x="98" y="3"/>
                </a:lnTo>
                <a:lnTo>
                  <a:pt x="82" y="3"/>
                </a:lnTo>
                <a:lnTo>
                  <a:pt x="65" y="3"/>
                </a:lnTo>
                <a:lnTo>
                  <a:pt x="49" y="3"/>
                </a:lnTo>
                <a:lnTo>
                  <a:pt x="33" y="3"/>
                </a:lnTo>
                <a:lnTo>
                  <a:pt x="16" y="3"/>
                </a:lnTo>
                <a:lnTo>
                  <a:pt x="0" y="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reeform 32"/>
          <p:cNvSpPr/>
          <p:nvPr/>
        </p:nvSpPr>
        <p:spPr>
          <a:xfrm>
            <a:off x="2057400" y="6162675"/>
            <a:ext cx="3743325" cy="342900"/>
          </a:xfrm>
          <a:custGeom>
            <a:avLst/>
            <a:gdLst/>
            <a:ahLst/>
            <a:cxnLst/>
            <a:rect l="l" t="t" r="r" b="b"/>
            <a:pathLst>
              <a:path w="393" h="36">
                <a:moveTo>
                  <a:pt x="0" y="0"/>
                </a:moveTo>
                <a:lnTo>
                  <a:pt x="16" y="0"/>
                </a:lnTo>
                <a:lnTo>
                  <a:pt x="33" y="0"/>
                </a:lnTo>
                <a:lnTo>
                  <a:pt x="49" y="1"/>
                </a:lnTo>
                <a:lnTo>
                  <a:pt x="65" y="2"/>
                </a:lnTo>
                <a:lnTo>
                  <a:pt x="82" y="4"/>
                </a:lnTo>
                <a:lnTo>
                  <a:pt x="98" y="5"/>
                </a:lnTo>
                <a:lnTo>
                  <a:pt x="114" y="7"/>
                </a:lnTo>
                <a:lnTo>
                  <a:pt x="131" y="9"/>
                </a:lnTo>
                <a:lnTo>
                  <a:pt x="147" y="11"/>
                </a:lnTo>
                <a:lnTo>
                  <a:pt x="164" y="13"/>
                </a:lnTo>
                <a:lnTo>
                  <a:pt x="180" y="15"/>
                </a:lnTo>
                <a:lnTo>
                  <a:pt x="196" y="17"/>
                </a:lnTo>
                <a:lnTo>
                  <a:pt x="213" y="19"/>
                </a:lnTo>
                <a:lnTo>
                  <a:pt x="229" y="21"/>
                </a:lnTo>
                <a:lnTo>
                  <a:pt x="246" y="23"/>
                </a:lnTo>
                <a:lnTo>
                  <a:pt x="262" y="25"/>
                </a:lnTo>
                <a:lnTo>
                  <a:pt x="278" y="27"/>
                </a:lnTo>
                <a:lnTo>
                  <a:pt x="295" y="28"/>
                </a:lnTo>
                <a:lnTo>
                  <a:pt x="311" y="30"/>
                </a:lnTo>
                <a:lnTo>
                  <a:pt x="327" y="31"/>
                </a:lnTo>
                <a:lnTo>
                  <a:pt x="344" y="32"/>
                </a:lnTo>
                <a:lnTo>
                  <a:pt x="360" y="33"/>
                </a:lnTo>
                <a:lnTo>
                  <a:pt x="377" y="34"/>
                </a:lnTo>
                <a:lnTo>
                  <a:pt x="393" y="34"/>
                </a:lnTo>
                <a:lnTo>
                  <a:pt x="393" y="36"/>
                </a:lnTo>
                <a:lnTo>
                  <a:pt x="377" y="36"/>
                </a:lnTo>
                <a:lnTo>
                  <a:pt x="360" y="36"/>
                </a:lnTo>
                <a:lnTo>
                  <a:pt x="344" y="35"/>
                </a:lnTo>
                <a:lnTo>
                  <a:pt x="327" y="34"/>
                </a:lnTo>
                <a:lnTo>
                  <a:pt x="311" y="32"/>
                </a:lnTo>
                <a:lnTo>
                  <a:pt x="295" y="31"/>
                </a:lnTo>
                <a:lnTo>
                  <a:pt x="278" y="29"/>
                </a:lnTo>
                <a:lnTo>
                  <a:pt x="262" y="27"/>
                </a:lnTo>
                <a:lnTo>
                  <a:pt x="246" y="26"/>
                </a:lnTo>
                <a:lnTo>
                  <a:pt x="229" y="23"/>
                </a:lnTo>
                <a:lnTo>
                  <a:pt x="213" y="21"/>
                </a:lnTo>
                <a:lnTo>
                  <a:pt x="196" y="19"/>
                </a:lnTo>
                <a:lnTo>
                  <a:pt x="180" y="17"/>
                </a:lnTo>
                <a:lnTo>
                  <a:pt x="164" y="15"/>
                </a:lnTo>
                <a:lnTo>
                  <a:pt x="147" y="13"/>
                </a:lnTo>
                <a:lnTo>
                  <a:pt x="131" y="11"/>
                </a:lnTo>
                <a:lnTo>
                  <a:pt x="114" y="9"/>
                </a:lnTo>
                <a:lnTo>
                  <a:pt x="98" y="8"/>
                </a:lnTo>
                <a:lnTo>
                  <a:pt x="82" y="6"/>
                </a:lnTo>
                <a:lnTo>
                  <a:pt x="65" y="5"/>
                </a:lnTo>
                <a:lnTo>
                  <a:pt x="49" y="4"/>
                </a:lnTo>
                <a:lnTo>
                  <a:pt x="33" y="3"/>
                </a:lnTo>
                <a:lnTo>
                  <a:pt x="16" y="2"/>
                </a:lnTo>
                <a:lnTo>
                  <a:pt x="0" y="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Freeform 33"/>
          <p:cNvSpPr/>
          <p:nvPr/>
        </p:nvSpPr>
        <p:spPr>
          <a:xfrm>
            <a:off x="2057400" y="4476750"/>
            <a:ext cx="3743325" cy="1819275"/>
          </a:xfrm>
          <a:custGeom>
            <a:avLst/>
            <a:gdLst/>
            <a:ahLst/>
            <a:cxnLst/>
            <a:rect l="l" t="t" r="r" b="b"/>
            <a:pathLst>
              <a:path w="393" h="191">
                <a:moveTo>
                  <a:pt x="0" y="185"/>
                </a:moveTo>
                <a:lnTo>
                  <a:pt x="16" y="184"/>
                </a:lnTo>
                <a:lnTo>
                  <a:pt x="33" y="182"/>
                </a:lnTo>
                <a:lnTo>
                  <a:pt x="49" y="177"/>
                </a:lnTo>
                <a:lnTo>
                  <a:pt x="65" y="172"/>
                </a:lnTo>
                <a:lnTo>
                  <a:pt x="82" y="164"/>
                </a:lnTo>
                <a:lnTo>
                  <a:pt x="98" y="156"/>
                </a:lnTo>
                <a:lnTo>
                  <a:pt x="114" y="147"/>
                </a:lnTo>
                <a:lnTo>
                  <a:pt x="131" y="137"/>
                </a:lnTo>
                <a:lnTo>
                  <a:pt x="147" y="127"/>
                </a:lnTo>
                <a:lnTo>
                  <a:pt x="164" y="116"/>
                </a:lnTo>
                <a:lnTo>
                  <a:pt x="180" y="104"/>
                </a:lnTo>
                <a:lnTo>
                  <a:pt x="196" y="93"/>
                </a:lnTo>
                <a:lnTo>
                  <a:pt x="213" y="81"/>
                </a:lnTo>
                <a:lnTo>
                  <a:pt x="229" y="70"/>
                </a:lnTo>
                <a:lnTo>
                  <a:pt x="246" y="59"/>
                </a:lnTo>
                <a:lnTo>
                  <a:pt x="262" y="48"/>
                </a:lnTo>
                <a:lnTo>
                  <a:pt x="278" y="38"/>
                </a:lnTo>
                <a:lnTo>
                  <a:pt x="295" y="29"/>
                </a:lnTo>
                <a:lnTo>
                  <a:pt x="311" y="21"/>
                </a:lnTo>
                <a:lnTo>
                  <a:pt x="327" y="14"/>
                </a:lnTo>
                <a:lnTo>
                  <a:pt x="344" y="8"/>
                </a:lnTo>
                <a:lnTo>
                  <a:pt x="360" y="4"/>
                </a:lnTo>
                <a:lnTo>
                  <a:pt x="377" y="1"/>
                </a:lnTo>
                <a:lnTo>
                  <a:pt x="393" y="0"/>
                </a:lnTo>
                <a:lnTo>
                  <a:pt x="393" y="6"/>
                </a:lnTo>
                <a:lnTo>
                  <a:pt x="377" y="7"/>
                </a:lnTo>
                <a:lnTo>
                  <a:pt x="360" y="9"/>
                </a:lnTo>
                <a:lnTo>
                  <a:pt x="344" y="14"/>
                </a:lnTo>
                <a:lnTo>
                  <a:pt x="327" y="19"/>
                </a:lnTo>
                <a:lnTo>
                  <a:pt x="311" y="27"/>
                </a:lnTo>
                <a:lnTo>
                  <a:pt x="295" y="35"/>
                </a:lnTo>
                <a:lnTo>
                  <a:pt x="278" y="44"/>
                </a:lnTo>
                <a:lnTo>
                  <a:pt x="262" y="54"/>
                </a:lnTo>
                <a:lnTo>
                  <a:pt x="246" y="64"/>
                </a:lnTo>
                <a:lnTo>
                  <a:pt x="229" y="75"/>
                </a:lnTo>
                <a:lnTo>
                  <a:pt x="213" y="87"/>
                </a:lnTo>
                <a:lnTo>
                  <a:pt x="196" y="98"/>
                </a:lnTo>
                <a:lnTo>
                  <a:pt x="180" y="110"/>
                </a:lnTo>
                <a:lnTo>
                  <a:pt x="164" y="121"/>
                </a:lnTo>
                <a:lnTo>
                  <a:pt x="147" y="132"/>
                </a:lnTo>
                <a:lnTo>
                  <a:pt x="131" y="143"/>
                </a:lnTo>
                <a:lnTo>
                  <a:pt x="114" y="153"/>
                </a:lnTo>
                <a:lnTo>
                  <a:pt x="98" y="162"/>
                </a:lnTo>
                <a:lnTo>
                  <a:pt x="82" y="170"/>
                </a:lnTo>
                <a:lnTo>
                  <a:pt x="65" y="177"/>
                </a:lnTo>
                <a:lnTo>
                  <a:pt x="49" y="183"/>
                </a:lnTo>
                <a:lnTo>
                  <a:pt x="33" y="187"/>
                </a:lnTo>
                <a:lnTo>
                  <a:pt x="16" y="190"/>
                </a:lnTo>
                <a:lnTo>
                  <a:pt x="0" y="191"/>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reeform 34"/>
          <p:cNvSpPr/>
          <p:nvPr/>
        </p:nvSpPr>
        <p:spPr>
          <a:xfrm>
            <a:off x="2057400" y="5038725"/>
            <a:ext cx="3743325" cy="1304925"/>
          </a:xfrm>
          <a:custGeom>
            <a:avLst/>
            <a:gdLst/>
            <a:ahLst/>
            <a:cxnLst/>
            <a:rect l="l" t="t" r="r" b="b"/>
            <a:pathLst>
              <a:path w="393" h="137">
                <a:moveTo>
                  <a:pt x="0" y="132"/>
                </a:moveTo>
                <a:lnTo>
                  <a:pt x="16" y="131"/>
                </a:lnTo>
                <a:lnTo>
                  <a:pt x="33" y="129"/>
                </a:lnTo>
                <a:lnTo>
                  <a:pt x="49" y="126"/>
                </a:lnTo>
                <a:lnTo>
                  <a:pt x="65" y="122"/>
                </a:lnTo>
                <a:lnTo>
                  <a:pt x="82" y="117"/>
                </a:lnTo>
                <a:lnTo>
                  <a:pt x="98" y="111"/>
                </a:lnTo>
                <a:lnTo>
                  <a:pt x="114" y="105"/>
                </a:lnTo>
                <a:lnTo>
                  <a:pt x="131" y="97"/>
                </a:lnTo>
                <a:lnTo>
                  <a:pt x="147" y="90"/>
                </a:lnTo>
                <a:lnTo>
                  <a:pt x="164" y="82"/>
                </a:lnTo>
                <a:lnTo>
                  <a:pt x="180" y="74"/>
                </a:lnTo>
                <a:lnTo>
                  <a:pt x="196" y="66"/>
                </a:lnTo>
                <a:lnTo>
                  <a:pt x="213" y="57"/>
                </a:lnTo>
                <a:lnTo>
                  <a:pt x="229" y="49"/>
                </a:lnTo>
                <a:lnTo>
                  <a:pt x="246" y="41"/>
                </a:lnTo>
                <a:lnTo>
                  <a:pt x="262" y="34"/>
                </a:lnTo>
                <a:lnTo>
                  <a:pt x="278" y="27"/>
                </a:lnTo>
                <a:lnTo>
                  <a:pt x="295" y="20"/>
                </a:lnTo>
                <a:lnTo>
                  <a:pt x="311" y="14"/>
                </a:lnTo>
                <a:lnTo>
                  <a:pt x="327" y="9"/>
                </a:lnTo>
                <a:lnTo>
                  <a:pt x="344" y="5"/>
                </a:lnTo>
                <a:lnTo>
                  <a:pt x="360" y="2"/>
                </a:lnTo>
                <a:lnTo>
                  <a:pt x="377" y="0"/>
                </a:lnTo>
                <a:lnTo>
                  <a:pt x="393" y="0"/>
                </a:lnTo>
                <a:lnTo>
                  <a:pt x="393" y="5"/>
                </a:lnTo>
                <a:lnTo>
                  <a:pt x="377" y="6"/>
                </a:lnTo>
                <a:lnTo>
                  <a:pt x="360" y="8"/>
                </a:lnTo>
                <a:lnTo>
                  <a:pt x="344" y="11"/>
                </a:lnTo>
                <a:lnTo>
                  <a:pt x="327" y="15"/>
                </a:lnTo>
                <a:lnTo>
                  <a:pt x="311" y="20"/>
                </a:lnTo>
                <a:lnTo>
                  <a:pt x="295" y="26"/>
                </a:lnTo>
                <a:lnTo>
                  <a:pt x="278" y="32"/>
                </a:lnTo>
                <a:lnTo>
                  <a:pt x="262" y="39"/>
                </a:lnTo>
                <a:lnTo>
                  <a:pt x="246" y="47"/>
                </a:lnTo>
                <a:lnTo>
                  <a:pt x="229" y="55"/>
                </a:lnTo>
                <a:lnTo>
                  <a:pt x="213" y="63"/>
                </a:lnTo>
                <a:lnTo>
                  <a:pt x="196" y="71"/>
                </a:lnTo>
                <a:lnTo>
                  <a:pt x="180" y="79"/>
                </a:lnTo>
                <a:lnTo>
                  <a:pt x="164" y="87"/>
                </a:lnTo>
                <a:lnTo>
                  <a:pt x="147" y="95"/>
                </a:lnTo>
                <a:lnTo>
                  <a:pt x="131" y="103"/>
                </a:lnTo>
                <a:lnTo>
                  <a:pt x="114" y="110"/>
                </a:lnTo>
                <a:lnTo>
                  <a:pt x="98" y="116"/>
                </a:lnTo>
                <a:lnTo>
                  <a:pt x="82" y="122"/>
                </a:lnTo>
                <a:lnTo>
                  <a:pt x="65" y="127"/>
                </a:lnTo>
                <a:lnTo>
                  <a:pt x="49" y="131"/>
                </a:lnTo>
                <a:lnTo>
                  <a:pt x="33" y="134"/>
                </a:lnTo>
                <a:lnTo>
                  <a:pt x="16" y="136"/>
                </a:lnTo>
                <a:lnTo>
                  <a:pt x="0" y="13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Freeform 35"/>
          <p:cNvSpPr/>
          <p:nvPr/>
        </p:nvSpPr>
        <p:spPr>
          <a:xfrm>
            <a:off x="2057400" y="5467350"/>
            <a:ext cx="3743325" cy="923925"/>
          </a:xfrm>
          <a:custGeom>
            <a:avLst/>
            <a:gdLst/>
            <a:ahLst/>
            <a:cxnLst/>
            <a:rect l="l" t="t" r="r" b="b"/>
            <a:pathLst>
              <a:path w="393" h="97">
                <a:moveTo>
                  <a:pt x="0" y="92"/>
                </a:moveTo>
                <a:lnTo>
                  <a:pt x="16" y="92"/>
                </a:lnTo>
                <a:lnTo>
                  <a:pt x="33" y="90"/>
                </a:lnTo>
                <a:lnTo>
                  <a:pt x="49" y="88"/>
                </a:lnTo>
                <a:lnTo>
                  <a:pt x="65" y="85"/>
                </a:lnTo>
                <a:lnTo>
                  <a:pt x="82" y="82"/>
                </a:lnTo>
                <a:lnTo>
                  <a:pt x="98" y="78"/>
                </a:lnTo>
                <a:lnTo>
                  <a:pt x="114" y="73"/>
                </a:lnTo>
                <a:lnTo>
                  <a:pt x="131" y="68"/>
                </a:lnTo>
                <a:lnTo>
                  <a:pt x="147" y="63"/>
                </a:lnTo>
                <a:lnTo>
                  <a:pt x="164" y="58"/>
                </a:lnTo>
                <a:lnTo>
                  <a:pt x="180" y="52"/>
                </a:lnTo>
                <a:lnTo>
                  <a:pt x="196" y="46"/>
                </a:lnTo>
                <a:lnTo>
                  <a:pt x="213" y="40"/>
                </a:lnTo>
                <a:lnTo>
                  <a:pt x="229" y="35"/>
                </a:lnTo>
                <a:lnTo>
                  <a:pt x="246" y="29"/>
                </a:lnTo>
                <a:lnTo>
                  <a:pt x="262" y="24"/>
                </a:lnTo>
                <a:lnTo>
                  <a:pt x="278" y="19"/>
                </a:lnTo>
                <a:lnTo>
                  <a:pt x="295" y="14"/>
                </a:lnTo>
                <a:lnTo>
                  <a:pt x="311" y="10"/>
                </a:lnTo>
                <a:lnTo>
                  <a:pt x="327" y="7"/>
                </a:lnTo>
                <a:lnTo>
                  <a:pt x="344" y="4"/>
                </a:lnTo>
                <a:lnTo>
                  <a:pt x="360" y="2"/>
                </a:lnTo>
                <a:lnTo>
                  <a:pt x="377" y="1"/>
                </a:lnTo>
                <a:lnTo>
                  <a:pt x="393" y="0"/>
                </a:lnTo>
                <a:lnTo>
                  <a:pt x="393" y="5"/>
                </a:lnTo>
                <a:lnTo>
                  <a:pt x="377" y="5"/>
                </a:lnTo>
                <a:lnTo>
                  <a:pt x="360" y="7"/>
                </a:lnTo>
                <a:lnTo>
                  <a:pt x="344" y="9"/>
                </a:lnTo>
                <a:lnTo>
                  <a:pt x="327" y="12"/>
                </a:lnTo>
                <a:lnTo>
                  <a:pt x="311" y="15"/>
                </a:lnTo>
                <a:lnTo>
                  <a:pt x="295" y="19"/>
                </a:lnTo>
                <a:lnTo>
                  <a:pt x="278" y="24"/>
                </a:lnTo>
                <a:lnTo>
                  <a:pt x="262" y="29"/>
                </a:lnTo>
                <a:lnTo>
                  <a:pt x="246" y="34"/>
                </a:lnTo>
                <a:lnTo>
                  <a:pt x="229" y="39"/>
                </a:lnTo>
                <a:lnTo>
                  <a:pt x="213" y="45"/>
                </a:lnTo>
                <a:lnTo>
                  <a:pt x="196" y="51"/>
                </a:lnTo>
                <a:lnTo>
                  <a:pt x="180" y="56"/>
                </a:lnTo>
                <a:lnTo>
                  <a:pt x="164" y="62"/>
                </a:lnTo>
                <a:lnTo>
                  <a:pt x="147" y="68"/>
                </a:lnTo>
                <a:lnTo>
                  <a:pt x="131" y="73"/>
                </a:lnTo>
                <a:lnTo>
                  <a:pt x="114" y="78"/>
                </a:lnTo>
                <a:lnTo>
                  <a:pt x="98" y="82"/>
                </a:lnTo>
                <a:lnTo>
                  <a:pt x="82" y="86"/>
                </a:lnTo>
                <a:lnTo>
                  <a:pt x="65" y="90"/>
                </a:lnTo>
                <a:lnTo>
                  <a:pt x="49" y="93"/>
                </a:lnTo>
                <a:lnTo>
                  <a:pt x="33" y="95"/>
                </a:lnTo>
                <a:lnTo>
                  <a:pt x="16" y="96"/>
                </a:lnTo>
                <a:lnTo>
                  <a:pt x="0" y="9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Freeform 36"/>
          <p:cNvSpPr/>
          <p:nvPr/>
        </p:nvSpPr>
        <p:spPr>
          <a:xfrm>
            <a:off x="2057400" y="5867400"/>
            <a:ext cx="3743325" cy="552450"/>
          </a:xfrm>
          <a:custGeom>
            <a:avLst/>
            <a:gdLst/>
            <a:ahLst/>
            <a:cxnLst/>
            <a:rect l="l" t="t" r="r" b="b"/>
            <a:pathLst>
              <a:path w="393" h="58">
                <a:moveTo>
                  <a:pt x="0" y="55"/>
                </a:moveTo>
                <a:lnTo>
                  <a:pt x="16" y="54"/>
                </a:lnTo>
                <a:lnTo>
                  <a:pt x="33" y="54"/>
                </a:lnTo>
                <a:lnTo>
                  <a:pt x="49" y="52"/>
                </a:lnTo>
                <a:lnTo>
                  <a:pt x="65" y="51"/>
                </a:lnTo>
                <a:lnTo>
                  <a:pt x="82" y="49"/>
                </a:lnTo>
                <a:lnTo>
                  <a:pt x="98" y="46"/>
                </a:lnTo>
                <a:lnTo>
                  <a:pt x="114" y="43"/>
                </a:lnTo>
                <a:lnTo>
                  <a:pt x="131" y="40"/>
                </a:lnTo>
                <a:lnTo>
                  <a:pt x="147" y="37"/>
                </a:lnTo>
                <a:lnTo>
                  <a:pt x="164" y="34"/>
                </a:lnTo>
                <a:lnTo>
                  <a:pt x="180" y="31"/>
                </a:lnTo>
                <a:lnTo>
                  <a:pt x="196" y="27"/>
                </a:lnTo>
                <a:lnTo>
                  <a:pt x="213" y="24"/>
                </a:lnTo>
                <a:lnTo>
                  <a:pt x="229" y="20"/>
                </a:lnTo>
                <a:lnTo>
                  <a:pt x="246" y="17"/>
                </a:lnTo>
                <a:lnTo>
                  <a:pt x="262" y="14"/>
                </a:lnTo>
                <a:lnTo>
                  <a:pt x="278" y="11"/>
                </a:lnTo>
                <a:lnTo>
                  <a:pt x="295" y="8"/>
                </a:lnTo>
                <a:lnTo>
                  <a:pt x="311" y="6"/>
                </a:lnTo>
                <a:lnTo>
                  <a:pt x="327" y="4"/>
                </a:lnTo>
                <a:lnTo>
                  <a:pt x="344" y="2"/>
                </a:lnTo>
                <a:lnTo>
                  <a:pt x="360" y="1"/>
                </a:lnTo>
                <a:lnTo>
                  <a:pt x="377" y="0"/>
                </a:lnTo>
                <a:lnTo>
                  <a:pt x="393" y="0"/>
                </a:lnTo>
                <a:lnTo>
                  <a:pt x="393" y="3"/>
                </a:lnTo>
                <a:lnTo>
                  <a:pt x="377" y="4"/>
                </a:lnTo>
                <a:lnTo>
                  <a:pt x="360" y="4"/>
                </a:lnTo>
                <a:lnTo>
                  <a:pt x="344" y="6"/>
                </a:lnTo>
                <a:lnTo>
                  <a:pt x="327" y="7"/>
                </a:lnTo>
                <a:lnTo>
                  <a:pt x="311" y="9"/>
                </a:lnTo>
                <a:lnTo>
                  <a:pt x="295" y="12"/>
                </a:lnTo>
                <a:lnTo>
                  <a:pt x="278" y="15"/>
                </a:lnTo>
                <a:lnTo>
                  <a:pt x="262" y="18"/>
                </a:lnTo>
                <a:lnTo>
                  <a:pt x="246" y="21"/>
                </a:lnTo>
                <a:lnTo>
                  <a:pt x="229" y="24"/>
                </a:lnTo>
                <a:lnTo>
                  <a:pt x="213" y="27"/>
                </a:lnTo>
                <a:lnTo>
                  <a:pt x="196" y="31"/>
                </a:lnTo>
                <a:lnTo>
                  <a:pt x="180" y="34"/>
                </a:lnTo>
                <a:lnTo>
                  <a:pt x="164" y="38"/>
                </a:lnTo>
                <a:lnTo>
                  <a:pt x="147" y="41"/>
                </a:lnTo>
                <a:lnTo>
                  <a:pt x="131" y="44"/>
                </a:lnTo>
                <a:lnTo>
                  <a:pt x="114" y="47"/>
                </a:lnTo>
                <a:lnTo>
                  <a:pt x="98" y="50"/>
                </a:lnTo>
                <a:lnTo>
                  <a:pt x="82" y="52"/>
                </a:lnTo>
                <a:lnTo>
                  <a:pt x="65" y="54"/>
                </a:lnTo>
                <a:lnTo>
                  <a:pt x="49" y="56"/>
                </a:lnTo>
                <a:lnTo>
                  <a:pt x="33" y="57"/>
                </a:lnTo>
                <a:lnTo>
                  <a:pt x="16" y="58"/>
                </a:lnTo>
                <a:lnTo>
                  <a:pt x="0" y="5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Freeform 37"/>
          <p:cNvSpPr/>
          <p:nvPr/>
        </p:nvSpPr>
        <p:spPr>
          <a:xfrm>
            <a:off x="2057400" y="6191250"/>
            <a:ext cx="3743325" cy="257175"/>
          </a:xfrm>
          <a:custGeom>
            <a:avLst/>
            <a:gdLst/>
            <a:ahLst/>
            <a:cxnLst/>
            <a:rect l="l" t="t" r="r" b="b"/>
            <a:pathLst>
              <a:path w="393" h="27">
                <a:moveTo>
                  <a:pt x="0" y="24"/>
                </a:moveTo>
                <a:lnTo>
                  <a:pt x="16" y="24"/>
                </a:lnTo>
                <a:lnTo>
                  <a:pt x="33" y="24"/>
                </a:lnTo>
                <a:lnTo>
                  <a:pt x="49" y="23"/>
                </a:lnTo>
                <a:lnTo>
                  <a:pt x="65" y="23"/>
                </a:lnTo>
                <a:lnTo>
                  <a:pt x="82" y="22"/>
                </a:lnTo>
                <a:lnTo>
                  <a:pt x="98" y="21"/>
                </a:lnTo>
                <a:lnTo>
                  <a:pt x="114" y="19"/>
                </a:lnTo>
                <a:lnTo>
                  <a:pt x="131" y="18"/>
                </a:lnTo>
                <a:lnTo>
                  <a:pt x="147" y="17"/>
                </a:lnTo>
                <a:lnTo>
                  <a:pt x="164" y="15"/>
                </a:lnTo>
                <a:lnTo>
                  <a:pt x="180" y="14"/>
                </a:lnTo>
                <a:lnTo>
                  <a:pt x="196" y="12"/>
                </a:lnTo>
                <a:lnTo>
                  <a:pt x="213" y="11"/>
                </a:lnTo>
                <a:lnTo>
                  <a:pt x="229" y="9"/>
                </a:lnTo>
                <a:lnTo>
                  <a:pt x="246" y="8"/>
                </a:lnTo>
                <a:lnTo>
                  <a:pt x="262" y="6"/>
                </a:lnTo>
                <a:lnTo>
                  <a:pt x="278" y="5"/>
                </a:lnTo>
                <a:lnTo>
                  <a:pt x="295" y="4"/>
                </a:lnTo>
                <a:lnTo>
                  <a:pt x="311" y="3"/>
                </a:lnTo>
                <a:lnTo>
                  <a:pt x="327" y="2"/>
                </a:lnTo>
                <a:lnTo>
                  <a:pt x="344" y="1"/>
                </a:lnTo>
                <a:lnTo>
                  <a:pt x="360" y="1"/>
                </a:lnTo>
                <a:lnTo>
                  <a:pt x="377" y="0"/>
                </a:lnTo>
                <a:lnTo>
                  <a:pt x="393" y="0"/>
                </a:lnTo>
                <a:lnTo>
                  <a:pt x="393" y="3"/>
                </a:lnTo>
                <a:lnTo>
                  <a:pt x="377" y="3"/>
                </a:lnTo>
                <a:lnTo>
                  <a:pt x="360" y="4"/>
                </a:lnTo>
                <a:lnTo>
                  <a:pt x="344" y="4"/>
                </a:lnTo>
                <a:lnTo>
                  <a:pt x="327" y="5"/>
                </a:lnTo>
                <a:lnTo>
                  <a:pt x="311" y="6"/>
                </a:lnTo>
                <a:lnTo>
                  <a:pt x="295" y="7"/>
                </a:lnTo>
                <a:lnTo>
                  <a:pt x="278" y="8"/>
                </a:lnTo>
                <a:lnTo>
                  <a:pt x="262" y="9"/>
                </a:lnTo>
                <a:lnTo>
                  <a:pt x="246" y="11"/>
                </a:lnTo>
                <a:lnTo>
                  <a:pt x="229" y="12"/>
                </a:lnTo>
                <a:lnTo>
                  <a:pt x="213" y="14"/>
                </a:lnTo>
                <a:lnTo>
                  <a:pt x="196" y="15"/>
                </a:lnTo>
                <a:lnTo>
                  <a:pt x="180" y="17"/>
                </a:lnTo>
                <a:lnTo>
                  <a:pt x="164" y="18"/>
                </a:lnTo>
                <a:lnTo>
                  <a:pt x="147" y="20"/>
                </a:lnTo>
                <a:lnTo>
                  <a:pt x="131" y="21"/>
                </a:lnTo>
                <a:lnTo>
                  <a:pt x="114" y="22"/>
                </a:lnTo>
                <a:lnTo>
                  <a:pt x="98" y="24"/>
                </a:lnTo>
                <a:lnTo>
                  <a:pt x="82" y="25"/>
                </a:lnTo>
                <a:lnTo>
                  <a:pt x="65" y="26"/>
                </a:lnTo>
                <a:lnTo>
                  <a:pt x="49" y="26"/>
                </a:lnTo>
                <a:lnTo>
                  <a:pt x="33" y="27"/>
                </a:lnTo>
                <a:lnTo>
                  <a:pt x="16" y="27"/>
                </a:lnTo>
                <a:lnTo>
                  <a:pt x="0" y="2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Freeform 38"/>
          <p:cNvSpPr/>
          <p:nvPr/>
        </p:nvSpPr>
        <p:spPr>
          <a:xfrm>
            <a:off x="2057400" y="6448425"/>
            <a:ext cx="3743325" cy="85725"/>
          </a:xfrm>
          <a:custGeom>
            <a:avLst/>
            <a:gdLst/>
            <a:ahLst/>
            <a:cxnLst/>
            <a:rect l="l" t="t" r="r" b="b"/>
            <a:pathLst>
              <a:path w="393" h="9">
                <a:moveTo>
                  <a:pt x="0" y="0"/>
                </a:moveTo>
                <a:lnTo>
                  <a:pt x="16" y="0"/>
                </a:lnTo>
                <a:lnTo>
                  <a:pt x="33" y="0"/>
                </a:lnTo>
                <a:lnTo>
                  <a:pt x="49" y="1"/>
                </a:lnTo>
                <a:lnTo>
                  <a:pt x="65" y="1"/>
                </a:lnTo>
                <a:lnTo>
                  <a:pt x="82" y="1"/>
                </a:lnTo>
                <a:lnTo>
                  <a:pt x="98" y="1"/>
                </a:lnTo>
                <a:lnTo>
                  <a:pt x="114" y="2"/>
                </a:lnTo>
                <a:lnTo>
                  <a:pt x="131" y="2"/>
                </a:lnTo>
                <a:lnTo>
                  <a:pt x="147" y="2"/>
                </a:lnTo>
                <a:lnTo>
                  <a:pt x="164" y="3"/>
                </a:lnTo>
                <a:lnTo>
                  <a:pt x="180" y="3"/>
                </a:lnTo>
                <a:lnTo>
                  <a:pt x="196" y="3"/>
                </a:lnTo>
                <a:lnTo>
                  <a:pt x="213" y="4"/>
                </a:lnTo>
                <a:lnTo>
                  <a:pt x="229" y="4"/>
                </a:lnTo>
                <a:lnTo>
                  <a:pt x="246" y="4"/>
                </a:lnTo>
                <a:lnTo>
                  <a:pt x="262" y="5"/>
                </a:lnTo>
                <a:lnTo>
                  <a:pt x="278" y="5"/>
                </a:lnTo>
                <a:lnTo>
                  <a:pt x="295" y="5"/>
                </a:lnTo>
                <a:lnTo>
                  <a:pt x="311" y="6"/>
                </a:lnTo>
                <a:lnTo>
                  <a:pt x="327" y="6"/>
                </a:lnTo>
                <a:lnTo>
                  <a:pt x="344" y="6"/>
                </a:lnTo>
                <a:lnTo>
                  <a:pt x="360" y="6"/>
                </a:lnTo>
                <a:lnTo>
                  <a:pt x="377" y="6"/>
                </a:lnTo>
                <a:lnTo>
                  <a:pt x="393" y="6"/>
                </a:lnTo>
                <a:lnTo>
                  <a:pt x="393" y="9"/>
                </a:lnTo>
                <a:lnTo>
                  <a:pt x="377" y="9"/>
                </a:lnTo>
                <a:lnTo>
                  <a:pt x="360" y="9"/>
                </a:lnTo>
                <a:lnTo>
                  <a:pt x="344" y="9"/>
                </a:lnTo>
                <a:lnTo>
                  <a:pt x="327" y="9"/>
                </a:lnTo>
                <a:lnTo>
                  <a:pt x="311" y="8"/>
                </a:lnTo>
                <a:lnTo>
                  <a:pt x="295" y="8"/>
                </a:lnTo>
                <a:lnTo>
                  <a:pt x="278" y="8"/>
                </a:lnTo>
                <a:lnTo>
                  <a:pt x="262" y="7"/>
                </a:lnTo>
                <a:lnTo>
                  <a:pt x="246" y="7"/>
                </a:lnTo>
                <a:lnTo>
                  <a:pt x="229" y="7"/>
                </a:lnTo>
                <a:lnTo>
                  <a:pt x="213" y="6"/>
                </a:lnTo>
                <a:lnTo>
                  <a:pt x="196" y="6"/>
                </a:lnTo>
                <a:lnTo>
                  <a:pt x="180" y="6"/>
                </a:lnTo>
                <a:lnTo>
                  <a:pt x="164" y="5"/>
                </a:lnTo>
                <a:lnTo>
                  <a:pt x="147" y="5"/>
                </a:lnTo>
                <a:lnTo>
                  <a:pt x="131" y="5"/>
                </a:lnTo>
                <a:lnTo>
                  <a:pt x="114" y="4"/>
                </a:lnTo>
                <a:lnTo>
                  <a:pt x="98" y="4"/>
                </a:lnTo>
                <a:lnTo>
                  <a:pt x="82" y="4"/>
                </a:lnTo>
                <a:lnTo>
                  <a:pt x="65" y="3"/>
                </a:lnTo>
                <a:lnTo>
                  <a:pt x="49" y="3"/>
                </a:lnTo>
                <a:lnTo>
                  <a:pt x="33" y="3"/>
                </a:lnTo>
                <a:lnTo>
                  <a:pt x="16" y="3"/>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941195" y="4076700"/>
            <a:ext cx="114300" cy="1254564"/>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7175" y="4076700"/>
            <a:ext cx="1626870" cy="1254564"/>
          </a:xfrm>
          <a:prstGeom prst="rect">
            <a:avLst/>
          </a:prstGeom>
          <a:noFill/>
        </p:spPr>
        <p:txBody>
          <a:bodyPr wrap="square" lIns="0" tIns="0" rIns="19050" bIns="0" anchor="ctr">
            <a:spAutoFit/>
          </a:bodyPr>
          <a:lstStyle/>
          <a:p>
            <a:pPr algn="r"/>
            <a:endParaRPr/>
          </a:p>
        </p:txBody>
      </p:sp>
      <p:sp>
        <p:nvSpPr>
          <p:cNvPr id="42" name="Rectangle 41"/>
          <p:cNvSpPr/>
          <p:nvPr/>
        </p:nvSpPr>
        <p:spPr>
          <a:xfrm>
            <a:off x="1941195" y="5388414"/>
            <a:ext cx="114300" cy="498488"/>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57175" y="5388414"/>
            <a:ext cx="1626870" cy="498488"/>
          </a:xfrm>
          <a:prstGeom prst="rect">
            <a:avLst/>
          </a:prstGeom>
          <a:noFill/>
        </p:spPr>
        <p:txBody>
          <a:bodyPr wrap="square" lIns="0" tIns="0" rIns="19050" bIns="0" anchor="ctr">
            <a:spAutoFit/>
          </a:bodyPr>
          <a:lstStyle/>
          <a:p>
            <a:pPr algn="r"/>
            <a:endParaRPr/>
          </a:p>
        </p:txBody>
      </p:sp>
      <p:sp>
        <p:nvSpPr>
          <p:cNvPr id="44" name="Rectangle 43"/>
          <p:cNvSpPr/>
          <p:nvPr/>
        </p:nvSpPr>
        <p:spPr>
          <a:xfrm>
            <a:off x="1941195" y="5944052"/>
            <a:ext cx="114300" cy="23992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7175" y="5944052"/>
            <a:ext cx="1626870" cy="239927"/>
          </a:xfrm>
          <a:prstGeom prst="rect">
            <a:avLst/>
          </a:prstGeom>
          <a:noFill/>
        </p:spPr>
        <p:txBody>
          <a:bodyPr wrap="square" lIns="0" tIns="0" rIns="19050" bIns="0" anchor="ctr">
            <a:spAutoFit/>
          </a:bodyPr>
          <a:lstStyle/>
          <a:p>
            <a:pPr algn="r"/>
            <a:endParaRPr/>
          </a:p>
        </p:txBody>
      </p:sp>
      <p:sp>
        <p:nvSpPr>
          <p:cNvPr id="46" name="Rectangle 45"/>
          <p:cNvSpPr/>
          <p:nvPr/>
        </p:nvSpPr>
        <p:spPr>
          <a:xfrm>
            <a:off x="1941195" y="6241129"/>
            <a:ext cx="114300" cy="235871"/>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7175" y="6241129"/>
            <a:ext cx="1626870" cy="235871"/>
          </a:xfrm>
          <a:prstGeom prst="rect">
            <a:avLst/>
          </a:prstGeom>
          <a:noFill/>
        </p:spPr>
        <p:txBody>
          <a:bodyPr wrap="square" lIns="0" tIns="0" rIns="19050" bIns="0" anchor="ctr">
            <a:spAutoFit/>
          </a:bodyPr>
          <a:lstStyle/>
          <a:p>
            <a:pPr algn="r"/>
            <a:endParaRPr/>
          </a:p>
        </p:txBody>
      </p:sp>
      <p:sp>
        <p:nvSpPr>
          <p:cNvPr id="48" name="Rectangle 47"/>
          <p:cNvSpPr/>
          <p:nvPr/>
        </p:nvSpPr>
        <p:spPr>
          <a:xfrm>
            <a:off x="5800725" y="4019550"/>
            <a:ext cx="114300" cy="51241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72175" y="4019550"/>
            <a:ext cx="1381125" cy="512413"/>
          </a:xfrm>
          <a:prstGeom prst="rect">
            <a:avLst/>
          </a:prstGeom>
          <a:noFill/>
        </p:spPr>
        <p:txBody>
          <a:bodyPr wrap="square" lIns="0" tIns="0" rIns="19050" bIns="0" anchor="ctr">
            <a:spAutoFit/>
          </a:bodyPr>
          <a:lstStyle/>
          <a:p>
            <a:pPr algn="l"/>
            <a:endParaRPr/>
          </a:p>
        </p:txBody>
      </p:sp>
      <p:sp>
        <p:nvSpPr>
          <p:cNvPr id="50" name="Rectangle 49"/>
          <p:cNvSpPr/>
          <p:nvPr/>
        </p:nvSpPr>
        <p:spPr>
          <a:xfrm>
            <a:off x="5800725" y="4589113"/>
            <a:ext cx="114300" cy="49672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972175" y="4589113"/>
            <a:ext cx="1381125" cy="496727"/>
          </a:xfrm>
          <a:prstGeom prst="rect">
            <a:avLst/>
          </a:prstGeom>
          <a:noFill/>
        </p:spPr>
        <p:txBody>
          <a:bodyPr wrap="square" lIns="0" tIns="0" rIns="19050" bIns="0" anchor="ctr">
            <a:spAutoFit/>
          </a:bodyPr>
          <a:lstStyle/>
          <a:p>
            <a:pPr algn="l"/>
            <a:endParaRPr/>
          </a:p>
        </p:txBody>
      </p:sp>
      <p:sp>
        <p:nvSpPr>
          <p:cNvPr id="52" name="Rectangle 51"/>
          <p:cNvSpPr/>
          <p:nvPr/>
        </p:nvSpPr>
        <p:spPr>
          <a:xfrm>
            <a:off x="5800725" y="5142990"/>
            <a:ext cx="114300" cy="36943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72175" y="5142990"/>
            <a:ext cx="1381125" cy="369433"/>
          </a:xfrm>
          <a:prstGeom prst="rect">
            <a:avLst/>
          </a:prstGeom>
          <a:noFill/>
        </p:spPr>
        <p:txBody>
          <a:bodyPr wrap="square" lIns="0" tIns="0" rIns="19050" bIns="0" anchor="ctr">
            <a:spAutoFit/>
          </a:bodyPr>
          <a:lstStyle/>
          <a:p>
            <a:pPr algn="l"/>
            <a:endParaRPr/>
          </a:p>
        </p:txBody>
      </p:sp>
      <p:sp>
        <p:nvSpPr>
          <p:cNvPr id="54" name="Rectangle 53"/>
          <p:cNvSpPr/>
          <p:nvPr/>
        </p:nvSpPr>
        <p:spPr>
          <a:xfrm>
            <a:off x="5800725" y="5569573"/>
            <a:ext cx="114300" cy="32916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972175" y="5569573"/>
            <a:ext cx="1381125" cy="329164"/>
          </a:xfrm>
          <a:prstGeom prst="rect">
            <a:avLst/>
          </a:prstGeom>
          <a:noFill/>
        </p:spPr>
        <p:txBody>
          <a:bodyPr wrap="square" lIns="0" tIns="0" rIns="19050" bIns="0" anchor="ctr">
            <a:spAutoFit/>
          </a:bodyPr>
          <a:lstStyle/>
          <a:p>
            <a:pPr algn="l"/>
            <a:endParaRPr/>
          </a:p>
        </p:txBody>
      </p:sp>
      <p:sp>
        <p:nvSpPr>
          <p:cNvPr id="56" name="Rectangle 55"/>
          <p:cNvSpPr/>
          <p:nvPr/>
        </p:nvSpPr>
        <p:spPr>
          <a:xfrm>
            <a:off x="5800725" y="5955887"/>
            <a:ext cx="114300" cy="26458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72175" y="5955887"/>
            <a:ext cx="1381125" cy="264589"/>
          </a:xfrm>
          <a:prstGeom prst="rect">
            <a:avLst/>
          </a:prstGeom>
          <a:noFill/>
        </p:spPr>
        <p:txBody>
          <a:bodyPr wrap="square" lIns="0" tIns="0" rIns="19050" bIns="0" anchor="ctr">
            <a:spAutoFit/>
          </a:bodyPr>
          <a:lstStyle/>
          <a:p>
            <a:pPr algn="l"/>
            <a:endParaRPr/>
          </a:p>
        </p:txBody>
      </p:sp>
      <p:sp>
        <p:nvSpPr>
          <p:cNvPr id="58" name="Rectangle 57"/>
          <p:cNvSpPr/>
          <p:nvPr/>
        </p:nvSpPr>
        <p:spPr>
          <a:xfrm>
            <a:off x="5800725" y="6277626"/>
            <a:ext cx="114300" cy="25652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972175" y="6277626"/>
            <a:ext cx="1381125" cy="256524"/>
          </a:xfrm>
          <a:prstGeom prst="rect">
            <a:avLst/>
          </a:prstGeom>
          <a:noFill/>
        </p:spPr>
        <p:txBody>
          <a:bodyPr wrap="square" lIns="0" tIns="0" rIns="19050" bIns="0" anchor="ctr">
            <a:spAutoFit/>
          </a:bodyPr>
          <a:lstStyle/>
          <a:p>
            <a:pPr algn="l"/>
            <a:endParaRPr/>
          </a:p>
        </p:txBody>
      </p:sp>
      <p:sp>
        <p:nvSpPr>
          <p:cNvPr id="60" name="Rounded Rectangle 59"/>
          <p:cNvSpPr/>
          <p:nvPr/>
        </p:nvSpPr>
        <p:spPr>
          <a:xfrm>
            <a:off x="7581900" y="3695700"/>
            <a:ext cx="445770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715250" y="3781425"/>
            <a:ext cx="4191000" cy="209550"/>
          </a:xfrm>
          <a:prstGeom prst="rect">
            <a:avLst/>
          </a:prstGeom>
          <a:noFill/>
        </p:spPr>
        <p:txBody>
          <a:bodyPr wrap="square" lIns="0" tIns="9525" rIns="19050" bIns="9525">
            <a:spAutoFit/>
          </a:bodyPr>
          <a:lstStyle/>
          <a:p>
            <a:pPr algn="l"/>
            <a:r>
              <a:rPr sz="1300" b="1">
                <a:solidFill>
                  <a:srgbClr val="0B2E4A"/>
                </a:solidFill>
                <a:latin typeface="Calibri"/>
              </a:rPr>
              <a:t>Key Findings</a:t>
            </a:r>
          </a:p>
        </p:txBody>
      </p:sp>
      <p:sp>
        <p:nvSpPr>
          <p:cNvPr id="62" name="Rectangle 61"/>
          <p:cNvSpPr/>
          <p:nvPr/>
        </p:nvSpPr>
        <p:spPr>
          <a:xfrm>
            <a:off x="7715250" y="40195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715250" y="4105275"/>
            <a:ext cx="4191000" cy="24479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4" name="TextBox 6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65" name="Picture 64" descr="lock.png"/>
          <p:cNvPicPr>
            <a:picLocks noChangeAspect="1"/>
          </p:cNvPicPr>
          <p:nvPr/>
        </p:nvPicPr>
        <p:blipFill>
          <a:blip r:embed="rId4"/>
          <a:stretch>
            <a:fillRect/>
          </a:stretch>
        </p:blipFill>
        <p:spPr>
          <a:xfrm>
            <a:off x="7833087" y="2468245"/>
            <a:ext cx="366712" cy="533399"/>
          </a:xfrm>
          <a:prstGeom prst="rect">
            <a:avLst/>
          </a:prstGeom>
        </p:spPr>
      </p:pic>
      <p:sp>
        <p:nvSpPr>
          <p:cNvPr id="66" name="TextBox 65"/>
          <p:cNvSpPr txBox="1"/>
          <p:nvPr/>
        </p:nvSpPr>
        <p:spPr>
          <a:xfrm>
            <a:off x="508377" y="4452522"/>
            <a:ext cx="1356617" cy="186689"/>
          </a:xfrm>
          <a:prstGeom prst="rect">
            <a:avLst/>
          </a:prstGeom>
          <a:noFill/>
        </p:spPr>
        <p:txBody>
          <a:bodyPr wrap="none" lIns="0" tIns="0" rIns="0" bIns="0">
            <a:spAutoFit/>
          </a:bodyPr>
          <a:lstStyle/>
          <a:p>
            <a:r>
              <a:rPr sz="1100" b="1">
                <a:solidFill>
                  <a:srgbClr val="2E2E2E"/>
                </a:solidFill>
                <a:latin typeface="Calibri"/>
              </a:rPr>
              <a:t>Support for Observable</a:t>
            </a:r>
          </a:p>
        </p:txBody>
      </p:sp>
      <p:sp>
        <p:nvSpPr>
          <p:cNvPr id="67" name="TextBox 66"/>
          <p:cNvSpPr txBox="1"/>
          <p:nvPr/>
        </p:nvSpPr>
        <p:spPr>
          <a:xfrm>
            <a:off x="578772" y="4620162"/>
            <a:ext cx="1286222" cy="186689"/>
          </a:xfrm>
          <a:prstGeom prst="rect">
            <a:avLst/>
          </a:prstGeom>
          <a:noFill/>
        </p:spPr>
        <p:txBody>
          <a:bodyPr wrap="none" lIns="0" tIns="0" rIns="0" bIns="0">
            <a:spAutoFit/>
          </a:bodyPr>
          <a:lstStyle/>
          <a:p>
            <a:r>
              <a:rPr sz="1100" b="1">
                <a:solidFill>
                  <a:srgbClr val="2E2E2E"/>
                </a:solidFill>
                <a:latin typeface="Calibri"/>
              </a:rPr>
              <a:t>Age-Related Cognitive</a:t>
            </a:r>
          </a:p>
        </p:txBody>
      </p:sp>
      <p:sp>
        <p:nvSpPr>
          <p:cNvPr id="68" name="TextBox 67"/>
          <p:cNvSpPr txBox="1"/>
          <p:nvPr/>
        </p:nvSpPr>
        <p:spPr>
          <a:xfrm>
            <a:off x="1225563" y="4787802"/>
            <a:ext cx="561602" cy="186689"/>
          </a:xfrm>
          <a:prstGeom prst="rect">
            <a:avLst/>
          </a:prstGeom>
          <a:noFill/>
        </p:spPr>
        <p:txBody>
          <a:bodyPr wrap="none" lIns="0" tIns="0" rIns="0" bIns="0">
            <a:spAutoFit/>
          </a:bodyPr>
          <a:lstStyle/>
          <a:p>
            <a:r>
              <a:rPr sz="1100" b="1">
                <a:solidFill>
                  <a:srgbClr val="2E2E2E"/>
                </a:solidFill>
                <a:latin typeface="Calibri"/>
              </a:rPr>
              <a:t>Changes</a:t>
            </a:r>
          </a:p>
        </p:txBody>
      </p:sp>
      <p:pic>
        <p:nvPicPr>
          <p:cNvPr id="69" name="Picture 68" descr="lock.png"/>
          <p:cNvPicPr>
            <a:picLocks noChangeAspect="1"/>
          </p:cNvPicPr>
          <p:nvPr/>
        </p:nvPicPr>
        <p:blipFill>
          <a:blip r:embed="rId4"/>
          <a:stretch>
            <a:fillRect/>
          </a:stretch>
        </p:blipFill>
        <p:spPr>
          <a:xfrm>
            <a:off x="1735218" y="4778023"/>
            <a:ext cx="128699" cy="187198"/>
          </a:xfrm>
          <a:prstGeom prst="rect">
            <a:avLst/>
          </a:prstGeom>
        </p:spPr>
      </p:pic>
      <p:sp>
        <p:nvSpPr>
          <p:cNvPr id="70" name="TextBox 69"/>
          <p:cNvSpPr txBox="1"/>
          <p:nvPr/>
        </p:nvSpPr>
        <p:spPr>
          <a:xfrm>
            <a:off x="278090" y="5470018"/>
            <a:ext cx="1586904" cy="186689"/>
          </a:xfrm>
          <a:prstGeom prst="rect">
            <a:avLst/>
          </a:prstGeom>
          <a:noFill/>
        </p:spPr>
        <p:txBody>
          <a:bodyPr wrap="none" lIns="0" tIns="0" rIns="0" bIns="0">
            <a:spAutoFit/>
          </a:bodyPr>
          <a:lstStyle/>
          <a:p>
            <a:r>
              <a:rPr sz="1100" b="1">
                <a:solidFill>
                  <a:srgbClr val="2E2E2E"/>
                </a:solidFill>
                <a:latin typeface="Calibri"/>
              </a:rPr>
              <a:t>Routine Cognitive Wellness</a:t>
            </a:r>
          </a:p>
        </p:txBody>
      </p:sp>
      <p:pic>
        <p:nvPicPr>
          <p:cNvPr id="71" name="Picture 70" descr="lock.png"/>
          <p:cNvPicPr>
            <a:picLocks noChangeAspect="1"/>
          </p:cNvPicPr>
          <p:nvPr/>
        </p:nvPicPr>
        <p:blipFill>
          <a:blip r:embed="rId4"/>
          <a:stretch>
            <a:fillRect/>
          </a:stretch>
        </p:blipFill>
        <p:spPr>
          <a:xfrm>
            <a:off x="1735218" y="5627878"/>
            <a:ext cx="128699" cy="187198"/>
          </a:xfrm>
          <a:prstGeom prst="rect">
            <a:avLst/>
          </a:prstGeom>
        </p:spPr>
      </p:pic>
      <p:sp>
        <p:nvSpPr>
          <p:cNvPr id="72" name="TextBox 71"/>
          <p:cNvSpPr txBox="1"/>
          <p:nvPr/>
        </p:nvSpPr>
        <p:spPr>
          <a:xfrm>
            <a:off x="498663" y="5944052"/>
            <a:ext cx="1366331" cy="139750"/>
          </a:xfrm>
          <a:prstGeom prst="rect">
            <a:avLst/>
          </a:prstGeom>
          <a:noFill/>
        </p:spPr>
        <p:txBody>
          <a:bodyPr wrap="none" lIns="0" tIns="0" rIns="0" bIns="0">
            <a:spAutoFit/>
          </a:bodyPr>
          <a:lstStyle/>
          <a:p>
            <a:r>
              <a:rPr sz="791" b="1">
                <a:solidFill>
                  <a:srgbClr val="2E2E2E"/>
                </a:solidFill>
                <a:latin typeface="Calibri"/>
              </a:rPr>
              <a:t>Preventive Cognitive Support for</a:t>
            </a:r>
          </a:p>
        </p:txBody>
      </p:sp>
      <p:sp>
        <p:nvSpPr>
          <p:cNvPr id="73" name="TextBox 72"/>
          <p:cNvSpPr txBox="1"/>
          <p:nvPr/>
        </p:nvSpPr>
        <p:spPr>
          <a:xfrm>
            <a:off x="1259229" y="6064752"/>
            <a:ext cx="571065" cy="139750"/>
          </a:xfrm>
          <a:prstGeom prst="rect">
            <a:avLst/>
          </a:prstGeom>
          <a:noFill/>
        </p:spPr>
        <p:txBody>
          <a:bodyPr wrap="none" lIns="0" tIns="0" rIns="0" bIns="0">
            <a:spAutoFit/>
          </a:bodyPr>
          <a:lstStyle/>
          <a:p>
            <a:r>
              <a:rPr sz="791" b="1">
                <a:solidFill>
                  <a:srgbClr val="2E2E2E"/>
                </a:solidFill>
                <a:latin typeface="Calibri"/>
              </a:rPr>
              <a:t>Senior Dogs</a:t>
            </a:r>
          </a:p>
        </p:txBody>
      </p:sp>
      <p:pic>
        <p:nvPicPr>
          <p:cNvPr id="74" name="Picture 73" descr="lock.png"/>
          <p:cNvPicPr>
            <a:picLocks noChangeAspect="1"/>
          </p:cNvPicPr>
          <p:nvPr/>
        </p:nvPicPr>
        <p:blipFill>
          <a:blip r:embed="rId4"/>
          <a:stretch>
            <a:fillRect/>
          </a:stretch>
        </p:blipFill>
        <p:spPr>
          <a:xfrm>
            <a:off x="1771555" y="6057711"/>
            <a:ext cx="92663" cy="134782"/>
          </a:xfrm>
          <a:prstGeom prst="rect">
            <a:avLst/>
          </a:prstGeom>
        </p:spPr>
      </p:pic>
      <p:sp>
        <p:nvSpPr>
          <p:cNvPr id="75" name="TextBox 74"/>
          <p:cNvSpPr txBox="1"/>
          <p:nvPr/>
        </p:nvSpPr>
        <p:spPr>
          <a:xfrm>
            <a:off x="674489" y="6241129"/>
            <a:ext cx="1190505" cy="139750"/>
          </a:xfrm>
          <a:prstGeom prst="rect">
            <a:avLst/>
          </a:prstGeom>
          <a:noFill/>
        </p:spPr>
        <p:txBody>
          <a:bodyPr wrap="none" lIns="0" tIns="0" rIns="0" bIns="0">
            <a:spAutoFit/>
          </a:bodyPr>
          <a:lstStyle/>
          <a:p>
            <a:r>
              <a:rPr sz="791" b="1">
                <a:solidFill>
                  <a:srgbClr val="2E2E2E"/>
                </a:solidFill>
                <a:latin typeface="Calibri"/>
              </a:rPr>
              <a:t>Veterinary-Guided Cognitive</a:t>
            </a:r>
          </a:p>
        </p:txBody>
      </p:sp>
      <p:sp>
        <p:nvSpPr>
          <p:cNvPr id="76" name="TextBox 75"/>
          <p:cNvSpPr txBox="1"/>
          <p:nvPr/>
        </p:nvSpPr>
        <p:spPr>
          <a:xfrm>
            <a:off x="895987" y="6361829"/>
            <a:ext cx="934307" cy="139750"/>
          </a:xfrm>
          <a:prstGeom prst="rect">
            <a:avLst/>
          </a:prstGeom>
          <a:noFill/>
        </p:spPr>
        <p:txBody>
          <a:bodyPr wrap="none" lIns="0" tIns="0" rIns="0" bIns="0">
            <a:spAutoFit/>
          </a:bodyPr>
          <a:lstStyle/>
          <a:p>
            <a:r>
              <a:rPr sz="791" b="1">
                <a:solidFill>
                  <a:srgbClr val="2E2E2E"/>
                </a:solidFill>
                <a:latin typeface="Calibri"/>
              </a:rPr>
              <a:t>Dysfunction Support</a:t>
            </a:r>
          </a:p>
        </p:txBody>
      </p:sp>
      <p:pic>
        <p:nvPicPr>
          <p:cNvPr id="77" name="Picture 76" descr="lock.png"/>
          <p:cNvPicPr>
            <a:picLocks noChangeAspect="1"/>
          </p:cNvPicPr>
          <p:nvPr/>
        </p:nvPicPr>
        <p:blipFill>
          <a:blip r:embed="rId4"/>
          <a:stretch>
            <a:fillRect/>
          </a:stretch>
        </p:blipFill>
        <p:spPr>
          <a:xfrm>
            <a:off x="1771555" y="6354788"/>
            <a:ext cx="92663" cy="134782"/>
          </a:xfrm>
          <a:prstGeom prst="rect">
            <a:avLst/>
          </a:prstGeom>
        </p:spPr>
      </p:pic>
      <p:sp>
        <p:nvSpPr>
          <p:cNvPr id="78" name="TextBox 77"/>
          <p:cNvSpPr txBox="1"/>
          <p:nvPr/>
        </p:nvSpPr>
        <p:spPr>
          <a:xfrm>
            <a:off x="5972175" y="4108116"/>
            <a:ext cx="759966" cy="186689"/>
          </a:xfrm>
          <a:prstGeom prst="rect">
            <a:avLst/>
          </a:prstGeom>
          <a:noFill/>
        </p:spPr>
        <p:txBody>
          <a:bodyPr wrap="none" lIns="0" tIns="0" rIns="0" bIns="0">
            <a:spAutoFit/>
          </a:bodyPr>
          <a:lstStyle/>
          <a:p>
            <a:r>
              <a:rPr sz="1100" b="1">
                <a:solidFill>
                  <a:srgbClr val="2E2E2E"/>
                </a:solidFill>
                <a:latin typeface="Calibri"/>
              </a:rPr>
              <a:t>Antioxidant</a:t>
            </a:r>
          </a:p>
        </p:txBody>
      </p:sp>
      <p:sp>
        <p:nvSpPr>
          <p:cNvPr id="79" name="TextBox 78"/>
          <p:cNvSpPr txBox="1"/>
          <p:nvPr/>
        </p:nvSpPr>
        <p:spPr>
          <a:xfrm>
            <a:off x="5972175" y="4275756"/>
            <a:ext cx="734045" cy="186689"/>
          </a:xfrm>
          <a:prstGeom prst="rect">
            <a:avLst/>
          </a:prstGeom>
          <a:noFill/>
        </p:spPr>
        <p:txBody>
          <a:bodyPr wrap="none" lIns="0" tIns="0" rIns="0" bIns="0">
            <a:spAutoFit/>
          </a:bodyPr>
          <a:lstStyle/>
          <a:p>
            <a:r>
              <a:rPr sz="1100" b="1">
                <a:solidFill>
                  <a:srgbClr val="2E2E2E"/>
                </a:solidFill>
                <a:latin typeface="Calibri"/>
              </a:rPr>
              <a:t>Ingredients</a:t>
            </a:r>
          </a:p>
        </p:txBody>
      </p:sp>
      <p:pic>
        <p:nvPicPr>
          <p:cNvPr id="80" name="Picture 79" descr="lock.png"/>
          <p:cNvPicPr>
            <a:picLocks noChangeAspect="1"/>
          </p:cNvPicPr>
          <p:nvPr/>
        </p:nvPicPr>
        <p:blipFill>
          <a:blip r:embed="rId4"/>
          <a:stretch>
            <a:fillRect/>
          </a:stretch>
        </p:blipFill>
        <p:spPr>
          <a:xfrm>
            <a:off x="6654271" y="4265977"/>
            <a:ext cx="128699" cy="187198"/>
          </a:xfrm>
          <a:prstGeom prst="rect">
            <a:avLst/>
          </a:prstGeom>
        </p:spPr>
      </p:pic>
      <p:sp>
        <p:nvSpPr>
          <p:cNvPr id="81" name="TextBox 80"/>
          <p:cNvSpPr txBox="1"/>
          <p:nvPr/>
        </p:nvSpPr>
        <p:spPr>
          <a:xfrm>
            <a:off x="5972175" y="4676542"/>
            <a:ext cx="1362075" cy="179984"/>
          </a:xfrm>
          <a:prstGeom prst="rect">
            <a:avLst/>
          </a:prstGeom>
          <a:noFill/>
        </p:spPr>
        <p:txBody>
          <a:bodyPr wrap="none" lIns="0" tIns="0" rIns="0" bIns="0">
            <a:spAutoFit/>
          </a:bodyPr>
          <a:lstStyle/>
          <a:p>
            <a:r>
              <a:rPr sz="1055" b="1">
                <a:solidFill>
                  <a:srgbClr val="2E2E2E"/>
                </a:solidFill>
                <a:latin typeface="Calibri"/>
              </a:rPr>
              <a:t>Cellular Energy Support</a:t>
            </a:r>
          </a:p>
        </p:txBody>
      </p:sp>
      <p:sp>
        <p:nvSpPr>
          <p:cNvPr id="82" name="TextBox 81"/>
          <p:cNvSpPr txBox="1"/>
          <p:nvPr/>
        </p:nvSpPr>
        <p:spPr>
          <a:xfrm>
            <a:off x="5972175" y="4837476"/>
            <a:ext cx="707731" cy="179984"/>
          </a:xfrm>
          <a:prstGeom prst="rect">
            <a:avLst/>
          </a:prstGeom>
          <a:noFill/>
        </p:spPr>
        <p:txBody>
          <a:bodyPr wrap="none" lIns="0" tIns="0" rIns="0" bIns="0">
            <a:spAutoFit/>
          </a:bodyPr>
          <a:lstStyle/>
          <a:p>
            <a:r>
              <a:rPr sz="1055" b="1">
                <a:solidFill>
                  <a:srgbClr val="2E2E2E"/>
                </a:solidFill>
                <a:latin typeface="Calibri"/>
              </a:rPr>
              <a:t>Ingredients</a:t>
            </a:r>
          </a:p>
        </p:txBody>
      </p:sp>
      <p:pic>
        <p:nvPicPr>
          <p:cNvPr id="83" name="Picture 82" descr="lock.png"/>
          <p:cNvPicPr>
            <a:picLocks noChangeAspect="1"/>
          </p:cNvPicPr>
          <p:nvPr/>
        </p:nvPicPr>
        <p:blipFill>
          <a:blip r:embed="rId4"/>
          <a:stretch>
            <a:fillRect/>
          </a:stretch>
        </p:blipFill>
        <p:spPr>
          <a:xfrm>
            <a:off x="6626987" y="4828088"/>
            <a:ext cx="123551" cy="179710"/>
          </a:xfrm>
          <a:prstGeom prst="rect">
            <a:avLst/>
          </a:prstGeom>
        </p:spPr>
      </p:pic>
      <p:sp>
        <p:nvSpPr>
          <p:cNvPr id="84" name="TextBox 83"/>
          <p:cNvSpPr txBox="1"/>
          <p:nvPr/>
        </p:nvSpPr>
        <p:spPr>
          <a:xfrm>
            <a:off x="5972175" y="5250592"/>
            <a:ext cx="1176129" cy="173278"/>
          </a:xfrm>
          <a:prstGeom prst="rect">
            <a:avLst/>
          </a:prstGeom>
          <a:noFill/>
        </p:spPr>
        <p:txBody>
          <a:bodyPr wrap="none" lIns="0" tIns="0" rIns="0" bIns="0">
            <a:spAutoFit/>
          </a:bodyPr>
          <a:lstStyle/>
          <a:p>
            <a:r>
              <a:rPr sz="1011" b="1">
                <a:solidFill>
                  <a:srgbClr val="2E2E2E"/>
                </a:solidFill>
                <a:latin typeface="Calibri"/>
              </a:rPr>
              <a:t>Omega-3 Fatty Acids</a:t>
            </a:r>
          </a:p>
        </p:txBody>
      </p:sp>
      <p:pic>
        <p:nvPicPr>
          <p:cNvPr id="85" name="Picture 84" descr="lock.png"/>
          <p:cNvPicPr>
            <a:picLocks noChangeAspect="1"/>
          </p:cNvPicPr>
          <p:nvPr/>
        </p:nvPicPr>
        <p:blipFill>
          <a:blip r:embed="rId4"/>
          <a:stretch>
            <a:fillRect/>
          </a:stretch>
        </p:blipFill>
        <p:spPr>
          <a:xfrm>
            <a:off x="7094416" y="5241595"/>
            <a:ext cx="118403" cy="172222"/>
          </a:xfrm>
          <a:prstGeom prst="rect">
            <a:avLst/>
          </a:prstGeom>
        </p:spPr>
      </p:pic>
      <p:sp>
        <p:nvSpPr>
          <p:cNvPr id="86" name="TextBox 85"/>
          <p:cNvSpPr txBox="1"/>
          <p:nvPr/>
        </p:nvSpPr>
        <p:spPr>
          <a:xfrm>
            <a:off x="5972175" y="5600042"/>
            <a:ext cx="1092080" cy="153161"/>
          </a:xfrm>
          <a:prstGeom prst="rect">
            <a:avLst/>
          </a:prstGeom>
          <a:noFill/>
        </p:spPr>
        <p:txBody>
          <a:bodyPr wrap="none" lIns="0" tIns="0" rIns="0" bIns="0">
            <a:spAutoFit/>
          </a:bodyPr>
          <a:lstStyle/>
          <a:p>
            <a:r>
              <a:rPr sz="879" b="1">
                <a:solidFill>
                  <a:srgbClr val="2E2E2E"/>
                </a:solidFill>
                <a:latin typeface="Calibri"/>
              </a:rPr>
              <a:t>Microbiome-Targeted</a:t>
            </a:r>
          </a:p>
        </p:txBody>
      </p:sp>
      <p:sp>
        <p:nvSpPr>
          <p:cNvPr id="87" name="TextBox 86"/>
          <p:cNvSpPr txBox="1"/>
          <p:nvPr/>
        </p:nvSpPr>
        <p:spPr>
          <a:xfrm>
            <a:off x="5972175" y="5734155"/>
            <a:ext cx="602476" cy="153161"/>
          </a:xfrm>
          <a:prstGeom prst="rect">
            <a:avLst/>
          </a:prstGeom>
          <a:noFill/>
        </p:spPr>
        <p:txBody>
          <a:bodyPr wrap="none" lIns="0" tIns="0" rIns="0" bIns="0">
            <a:spAutoFit/>
          </a:bodyPr>
          <a:lstStyle/>
          <a:p>
            <a:r>
              <a:rPr sz="879" b="1">
                <a:solidFill>
                  <a:srgbClr val="2E2E2E"/>
                </a:solidFill>
                <a:latin typeface="Calibri"/>
              </a:rPr>
              <a:t>Ingredients</a:t>
            </a:r>
          </a:p>
        </p:txBody>
      </p:sp>
      <p:pic>
        <p:nvPicPr>
          <p:cNvPr id="88" name="Picture 87" descr="lock.png"/>
          <p:cNvPicPr>
            <a:picLocks noChangeAspect="1"/>
          </p:cNvPicPr>
          <p:nvPr/>
        </p:nvPicPr>
        <p:blipFill>
          <a:blip r:embed="rId4"/>
          <a:stretch>
            <a:fillRect/>
          </a:stretch>
        </p:blipFill>
        <p:spPr>
          <a:xfrm>
            <a:off x="6517852" y="5726331"/>
            <a:ext cx="102959" cy="149758"/>
          </a:xfrm>
          <a:prstGeom prst="rect">
            <a:avLst/>
          </a:prstGeom>
        </p:spPr>
      </p:pic>
      <p:sp>
        <p:nvSpPr>
          <p:cNvPr id="89" name="TextBox 88"/>
          <p:cNvSpPr txBox="1"/>
          <p:nvPr/>
        </p:nvSpPr>
        <p:spPr>
          <a:xfrm>
            <a:off x="5972175" y="6014419"/>
            <a:ext cx="1160053" cy="166573"/>
          </a:xfrm>
          <a:prstGeom prst="rect">
            <a:avLst/>
          </a:prstGeom>
          <a:noFill/>
        </p:spPr>
        <p:txBody>
          <a:bodyPr wrap="none" lIns="0" tIns="0" rIns="0" bIns="0">
            <a:spAutoFit/>
          </a:bodyPr>
          <a:lstStyle/>
          <a:p>
            <a:r>
              <a:rPr sz="968" b="1">
                <a:solidFill>
                  <a:srgbClr val="2E2E2E"/>
                </a:solidFill>
                <a:latin typeface="Calibri"/>
              </a:rPr>
              <a:t>Botanical Ingredients</a:t>
            </a:r>
          </a:p>
        </p:txBody>
      </p:sp>
      <p:pic>
        <p:nvPicPr>
          <p:cNvPr id="90" name="Picture 89" descr="lock.png"/>
          <p:cNvPicPr>
            <a:picLocks noChangeAspect="1"/>
          </p:cNvPicPr>
          <p:nvPr/>
        </p:nvPicPr>
        <p:blipFill>
          <a:blip r:embed="rId4"/>
          <a:stretch>
            <a:fillRect/>
          </a:stretch>
        </p:blipFill>
        <p:spPr>
          <a:xfrm>
            <a:off x="7077370" y="6005814"/>
            <a:ext cx="113255" cy="164734"/>
          </a:xfrm>
          <a:prstGeom prst="rect">
            <a:avLst/>
          </a:prstGeom>
        </p:spPr>
      </p:pic>
      <p:sp>
        <p:nvSpPr>
          <p:cNvPr id="91" name="TextBox 90"/>
          <p:cNvSpPr txBox="1"/>
          <p:nvPr/>
        </p:nvSpPr>
        <p:spPr>
          <a:xfrm>
            <a:off x="5972175" y="6345537"/>
            <a:ext cx="1179284" cy="139750"/>
          </a:xfrm>
          <a:prstGeom prst="rect">
            <a:avLst/>
          </a:prstGeom>
          <a:noFill/>
        </p:spPr>
        <p:txBody>
          <a:bodyPr wrap="none" lIns="0" tIns="0" rIns="0" bIns="0">
            <a:spAutoFit/>
          </a:bodyPr>
          <a:lstStyle/>
          <a:p>
            <a:r>
              <a:rPr sz="791" b="1">
                <a:solidFill>
                  <a:srgbClr val="2E2E2E"/>
                </a:solidFill>
                <a:latin typeface="Calibri"/>
              </a:rPr>
              <a:t>Neurofunctional Nutrients</a:t>
            </a:r>
          </a:p>
        </p:txBody>
      </p:sp>
      <p:pic>
        <p:nvPicPr>
          <p:cNvPr id="92" name="Picture 91" descr="lock.png"/>
          <p:cNvPicPr>
            <a:picLocks noChangeAspect="1"/>
          </p:cNvPicPr>
          <p:nvPr/>
        </p:nvPicPr>
        <p:blipFill>
          <a:blip r:embed="rId4"/>
          <a:stretch>
            <a:fillRect/>
          </a:stretch>
        </p:blipFill>
        <p:spPr>
          <a:xfrm>
            <a:off x="7092720" y="6338496"/>
            <a:ext cx="92663" cy="134782"/>
          </a:xfrm>
          <a:prstGeom prst="rect">
            <a:avLst/>
          </a:prstGeom>
        </p:spPr>
      </p:pic>
      <p:sp>
        <p:nvSpPr>
          <p:cNvPr id="93" name="TextBox 92"/>
          <p:cNvSpPr txBox="1"/>
          <p:nvPr/>
        </p:nvSpPr>
        <p:spPr>
          <a:xfrm>
            <a:off x="7715250" y="4114800"/>
            <a:ext cx="3750964" cy="186689"/>
          </a:xfrm>
          <a:prstGeom prst="rect">
            <a:avLst/>
          </a:prstGeom>
          <a:noFill/>
        </p:spPr>
        <p:txBody>
          <a:bodyPr wrap="none" lIns="0" tIns="0" rIns="0" bIns="0">
            <a:spAutoFit/>
          </a:bodyPr>
          <a:lstStyle/>
          <a:p>
            <a:r>
              <a:rPr sz="1100" b="0">
                <a:solidFill>
                  <a:srgbClr val="2E2E2E"/>
                </a:solidFill>
                <a:latin typeface="Calibri"/>
              </a:rPr>
              <a:t>Support for observable age-related cognitive changes segment is</a:t>
            </a:r>
          </a:p>
        </p:txBody>
      </p:sp>
      <p:sp>
        <p:nvSpPr>
          <p:cNvPr id="94" name="TextBox 93"/>
          <p:cNvSpPr txBox="1"/>
          <p:nvPr/>
        </p:nvSpPr>
        <p:spPr>
          <a:xfrm>
            <a:off x="7715250" y="4282440"/>
            <a:ext cx="3813993" cy="186689"/>
          </a:xfrm>
          <a:prstGeom prst="rect">
            <a:avLst/>
          </a:prstGeom>
          <a:noFill/>
        </p:spPr>
        <p:txBody>
          <a:bodyPr wrap="none" lIns="0" tIns="0" rIns="0" bIns="0">
            <a:spAutoFit/>
          </a:bodyPr>
          <a:lstStyle/>
          <a:p>
            <a:r>
              <a:rPr sz="1100" b="0">
                <a:solidFill>
                  <a:srgbClr val="2E2E2E"/>
                </a:solidFill>
                <a:latin typeface="Calibri"/>
              </a:rPr>
              <a:t>projected to account for the largest share of the global senior dog</a:t>
            </a:r>
          </a:p>
        </p:txBody>
      </p:sp>
      <p:sp>
        <p:nvSpPr>
          <p:cNvPr id="95" name="TextBox 94"/>
          <p:cNvSpPr txBox="1"/>
          <p:nvPr/>
        </p:nvSpPr>
        <p:spPr>
          <a:xfrm>
            <a:off x="7715250" y="4450080"/>
            <a:ext cx="3902397" cy="186689"/>
          </a:xfrm>
          <a:prstGeom prst="rect">
            <a:avLst/>
          </a:prstGeom>
          <a:noFill/>
        </p:spPr>
        <p:txBody>
          <a:bodyPr wrap="none" lIns="0" tIns="0" rIns="0" bIns="0">
            <a:spAutoFit/>
          </a:bodyPr>
          <a:lstStyle/>
          <a:p>
            <a:r>
              <a:rPr sz="1100" b="0">
                <a:solidFill>
                  <a:srgbClr val="2E2E2E"/>
                </a:solidFill>
                <a:latin typeface="Calibri"/>
              </a:rPr>
              <a:t>cognitive supplement market, led by antioxidant ingredients at US$</a:t>
            </a:r>
          </a:p>
        </p:txBody>
      </p:sp>
      <p:pic>
        <p:nvPicPr>
          <p:cNvPr id="96" name="Picture 95" descr="lock.png"/>
          <p:cNvPicPr>
            <a:picLocks noChangeAspect="1"/>
          </p:cNvPicPr>
          <p:nvPr/>
        </p:nvPicPr>
        <p:blipFill>
          <a:blip r:embed="rId4"/>
          <a:stretch>
            <a:fillRect/>
          </a:stretch>
        </p:blipFill>
        <p:spPr>
          <a:xfrm>
            <a:off x="7701782" y="4607941"/>
            <a:ext cx="128699" cy="187198"/>
          </a:xfrm>
          <a:prstGeom prst="rect">
            <a:avLst/>
          </a:prstGeom>
        </p:spPr>
      </p:pic>
      <p:sp>
        <p:nvSpPr>
          <p:cNvPr id="97" name="TextBox 96"/>
          <p:cNvSpPr txBox="1"/>
          <p:nvPr/>
        </p:nvSpPr>
        <p:spPr>
          <a:xfrm>
            <a:off x="7869278" y="4617720"/>
            <a:ext cx="3943052" cy="186689"/>
          </a:xfrm>
          <a:prstGeom prst="rect">
            <a:avLst/>
          </a:prstGeom>
          <a:noFill/>
        </p:spPr>
        <p:txBody>
          <a:bodyPr wrap="none" lIns="0" tIns="0" rIns="0" bIns="0">
            <a:spAutoFit/>
          </a:bodyPr>
          <a:lstStyle/>
          <a:p>
            <a:r>
              <a:rPr sz="1100" b="0">
                <a:solidFill>
                  <a:srgbClr val="2E2E2E"/>
                </a:solidFill>
                <a:latin typeface="Calibri"/>
              </a:rPr>
              <a:t>Mn in 2036. 'Support for Observable Age-Related Cognitive Changes</a:t>
            </a:r>
          </a:p>
        </p:txBody>
      </p:sp>
      <p:sp>
        <p:nvSpPr>
          <p:cNvPr id="98" name="TextBox 97"/>
          <p:cNvSpPr txBox="1"/>
          <p:nvPr/>
        </p:nvSpPr>
        <p:spPr>
          <a:xfrm>
            <a:off x="7715250" y="4785360"/>
            <a:ext cx="3831456" cy="186689"/>
          </a:xfrm>
          <a:prstGeom prst="rect">
            <a:avLst/>
          </a:prstGeom>
          <a:noFill/>
        </p:spPr>
        <p:txBody>
          <a:bodyPr wrap="none" lIns="0" tIns="0" rIns="0" bIns="0">
            <a:spAutoFit/>
          </a:bodyPr>
          <a:lstStyle/>
          <a:p>
            <a:r>
              <a:rPr sz="1100" b="0">
                <a:solidFill>
                  <a:srgbClr val="2E2E2E"/>
                </a:solidFill>
                <a:latin typeface="Calibri"/>
              </a:rPr>
              <a:t>× Antioxidant Ingredients' is the single largest cross-sectional cell (</a:t>
            </a:r>
          </a:p>
        </p:txBody>
      </p:sp>
      <p:pic>
        <p:nvPicPr>
          <p:cNvPr id="99" name="Picture 98" descr="lock.png"/>
          <p:cNvPicPr>
            <a:picLocks noChangeAspect="1"/>
          </p:cNvPicPr>
          <p:nvPr/>
        </p:nvPicPr>
        <p:blipFill>
          <a:blip r:embed="rId4"/>
          <a:stretch>
            <a:fillRect/>
          </a:stretch>
        </p:blipFill>
        <p:spPr>
          <a:xfrm>
            <a:off x="11494757" y="4775581"/>
            <a:ext cx="128699" cy="187198"/>
          </a:xfrm>
          <a:prstGeom prst="rect">
            <a:avLst/>
          </a:prstGeom>
        </p:spPr>
      </p:pic>
      <p:sp>
        <p:nvSpPr>
          <p:cNvPr id="100" name="TextBox 99"/>
          <p:cNvSpPr txBox="1"/>
          <p:nvPr/>
        </p:nvSpPr>
        <p:spPr>
          <a:xfrm>
            <a:off x="7715250" y="4953000"/>
            <a:ext cx="4171950" cy="186689"/>
          </a:xfrm>
          <a:prstGeom prst="rect">
            <a:avLst/>
          </a:prstGeom>
          <a:noFill/>
        </p:spPr>
        <p:txBody>
          <a:bodyPr wrap="none" lIns="0" tIns="0" rIns="0" bIns="0">
            <a:spAutoFit/>
          </a:bodyPr>
          <a:lstStyle/>
          <a:p>
            <a:r>
              <a:rPr sz="1100" b="0">
                <a:solidFill>
                  <a:srgbClr val="2E2E2E"/>
                </a:solidFill>
                <a:latin typeface="Calibri"/>
              </a:rPr>
              <a:t>US$ Mn, 2026E), while 'Veterinary-Guided Cognitive Dysfunction Support</a:t>
            </a:r>
          </a:p>
        </p:txBody>
      </p:sp>
      <p:sp>
        <p:nvSpPr>
          <p:cNvPr id="101" name="TextBox 100"/>
          <p:cNvSpPr txBox="1"/>
          <p:nvPr/>
        </p:nvSpPr>
        <p:spPr>
          <a:xfrm>
            <a:off x="7715250" y="5120640"/>
            <a:ext cx="3820797" cy="186689"/>
          </a:xfrm>
          <a:prstGeom prst="rect">
            <a:avLst/>
          </a:prstGeom>
          <a:noFill/>
        </p:spPr>
        <p:txBody>
          <a:bodyPr wrap="none" lIns="0" tIns="0" rIns="0" bIns="0">
            <a:spAutoFit/>
          </a:bodyPr>
          <a:lstStyle/>
          <a:p>
            <a:r>
              <a:rPr sz="1100" b="0">
                <a:solidFill>
                  <a:srgbClr val="2E2E2E"/>
                </a:solidFill>
                <a:latin typeface="Calibri"/>
              </a:rPr>
              <a:t>× Antioxidant Ingredients' records the fastest growth at a CAGR of</a:t>
            </a:r>
          </a:p>
        </p:txBody>
      </p:sp>
      <p:pic>
        <p:nvPicPr>
          <p:cNvPr id="102" name="Picture 101" descr="lock.png"/>
          <p:cNvPicPr>
            <a:picLocks noChangeAspect="1"/>
          </p:cNvPicPr>
          <p:nvPr/>
        </p:nvPicPr>
        <p:blipFill>
          <a:blip r:embed="rId4"/>
          <a:stretch>
            <a:fillRect/>
          </a:stretch>
        </p:blipFill>
        <p:spPr>
          <a:xfrm>
            <a:off x="11484099" y="5110861"/>
            <a:ext cx="128699" cy="187198"/>
          </a:xfrm>
          <a:prstGeom prst="rect">
            <a:avLst/>
          </a:prstGeom>
        </p:spPr>
      </p:pic>
      <p:sp>
        <p:nvSpPr>
          <p:cNvPr id="103" name="TextBox 102"/>
          <p:cNvSpPr txBox="1"/>
          <p:nvPr/>
        </p:nvSpPr>
        <p:spPr>
          <a:xfrm>
            <a:off x="7715250" y="5288280"/>
            <a:ext cx="1167401" cy="186689"/>
          </a:xfrm>
          <a:prstGeom prst="rect">
            <a:avLst/>
          </a:prstGeom>
          <a:noFill/>
        </p:spPr>
        <p:txBody>
          <a:bodyPr wrap="none" lIns="0" tIns="0" rIns="0" bIns="0">
            <a:spAutoFit/>
          </a:bodyPr>
          <a:lstStyle/>
          <a:p>
            <a:r>
              <a:rPr sz="1100" b="0">
                <a:solidFill>
                  <a:srgbClr val="2E2E2E"/>
                </a:solidFill>
                <a:latin typeface="Calibri"/>
              </a:rPr>
              <a:t>over 2026E–2036F.</a:t>
            </a:r>
          </a:p>
        </p:txBody>
      </p:sp>
      <p:sp>
        <p:nvSpPr>
          <p:cNvPr id="104" name="TextBox 103"/>
          <p:cNvSpPr txBox="1"/>
          <p:nvPr/>
        </p:nvSpPr>
        <p:spPr>
          <a:xfrm>
            <a:off x="7715250" y="5506212"/>
            <a:ext cx="3997349" cy="186689"/>
          </a:xfrm>
          <a:prstGeom prst="rect">
            <a:avLst/>
          </a:prstGeom>
          <a:noFill/>
        </p:spPr>
        <p:txBody>
          <a:bodyPr wrap="none" lIns="0" tIns="0" rIns="0" bIns="0">
            <a:spAutoFit/>
          </a:bodyPr>
          <a:lstStyle/>
          <a:p>
            <a:r>
              <a:rPr sz="1100" b="0">
                <a:solidFill>
                  <a:srgbClr val="2E2E2E"/>
                </a:solidFill>
                <a:latin typeface="Calibri"/>
              </a:rPr>
              <a:t>Combined, the top three end-use application × active ingredient cells</a:t>
            </a:r>
          </a:p>
        </p:txBody>
      </p:sp>
      <p:sp>
        <p:nvSpPr>
          <p:cNvPr id="105" name="TextBox 104"/>
          <p:cNvSpPr txBox="1"/>
          <p:nvPr/>
        </p:nvSpPr>
        <p:spPr>
          <a:xfrm>
            <a:off x="7715250" y="5673852"/>
            <a:ext cx="2242095" cy="186689"/>
          </a:xfrm>
          <a:prstGeom prst="rect">
            <a:avLst/>
          </a:prstGeom>
          <a:noFill/>
        </p:spPr>
        <p:txBody>
          <a:bodyPr wrap="none" lIns="0" tIns="0" rIns="0" bIns="0">
            <a:spAutoFit/>
          </a:bodyPr>
          <a:lstStyle/>
          <a:p>
            <a:r>
              <a:rPr sz="1100" b="0">
                <a:solidFill>
                  <a:srgbClr val="2E2E2E"/>
                </a:solidFill>
                <a:latin typeface="Calibri"/>
              </a:rPr>
              <a:t>generate an absolute $ opportunity of</a:t>
            </a:r>
          </a:p>
        </p:txBody>
      </p:sp>
      <p:pic>
        <p:nvPicPr>
          <p:cNvPr id="106" name="Picture 105" descr="lock.png"/>
          <p:cNvPicPr>
            <a:picLocks noChangeAspect="1"/>
          </p:cNvPicPr>
          <p:nvPr/>
        </p:nvPicPr>
        <p:blipFill>
          <a:blip r:embed="rId4"/>
          <a:stretch>
            <a:fillRect/>
          </a:stretch>
        </p:blipFill>
        <p:spPr>
          <a:xfrm>
            <a:off x="9905397" y="5664073"/>
            <a:ext cx="128699" cy="187198"/>
          </a:xfrm>
          <a:prstGeom prst="rect">
            <a:avLst/>
          </a:prstGeom>
        </p:spPr>
      </p:pic>
      <p:sp>
        <p:nvSpPr>
          <p:cNvPr id="107" name="TextBox 106"/>
          <p:cNvSpPr txBox="1"/>
          <p:nvPr/>
        </p:nvSpPr>
        <p:spPr>
          <a:xfrm>
            <a:off x="10072893" y="5673852"/>
            <a:ext cx="1108465" cy="186689"/>
          </a:xfrm>
          <a:prstGeom prst="rect">
            <a:avLst/>
          </a:prstGeom>
          <a:noFill/>
        </p:spPr>
        <p:txBody>
          <a:bodyPr wrap="none" lIns="0" tIns="0" rIns="0" bIns="0">
            <a:spAutoFit/>
          </a:bodyPr>
          <a:lstStyle/>
          <a:p>
            <a:r>
              <a:rPr sz="1100" b="0">
                <a:solidFill>
                  <a:srgbClr val="2E2E2E"/>
                </a:solidFill>
                <a:latin typeface="Calibri"/>
              </a:rPr>
              <a:t>US$ Mn by 2036F.</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Share Analysis: End-use Application × Active Ingredient, 2026E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 share of global market value, each row split across all active ingredient sub-segments</a:t>
            </a:r>
          </a:p>
        </p:txBody>
      </p:sp>
      <p:sp>
        <p:nvSpPr>
          <p:cNvPr id="10" name="Rounded Rectangle 9"/>
          <p:cNvSpPr/>
          <p:nvPr/>
        </p:nvSpPr>
        <p:spPr>
          <a:xfrm>
            <a:off x="142875" y="9810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Share, End-use Application × Active Ingredient, 2026E (% of each row)</a:t>
            </a:r>
          </a:p>
        </p:txBody>
      </p:sp>
      <p:graphicFrame>
        <p:nvGraphicFramePr>
          <p:cNvPr id="12" name="Table 11"/>
          <p:cNvGraphicFramePr>
            <a:graphicFrameLocks noGrp="1"/>
          </p:cNvGraphicFramePr>
          <p:nvPr/>
        </p:nvGraphicFramePr>
        <p:xfrm>
          <a:off x="152400" y="1238250"/>
          <a:ext cx="11887200" cy="1866897"/>
        </p:xfrm>
        <a:graphic>
          <a:graphicData uri="http://schemas.openxmlformats.org/drawingml/2006/table">
            <a:tbl>
              <a:tblPr>
                <a:tableStyleId>{5C22544A-7EE6-4342-B048-85BDC9FD1C3A}</a:tableStyleId>
              </a:tblPr>
              <a:tblGrid>
                <a:gridCol w="3413450">
                  <a:extLst>
                    <a:ext uri="{9D8B030D-6E8A-4147-A177-3AD203B41FA5}">
                      <a16:colId xmlns:a16="http://schemas.microsoft.com/office/drawing/2014/main" val="20000"/>
                    </a:ext>
                  </a:extLst>
                </a:gridCol>
                <a:gridCol w="1002136">
                  <a:extLst>
                    <a:ext uri="{9D8B030D-6E8A-4147-A177-3AD203B41FA5}">
                      <a16:colId xmlns:a16="http://schemas.microsoft.com/office/drawing/2014/main" val="20001"/>
                    </a:ext>
                  </a:extLst>
                </a:gridCol>
                <a:gridCol w="1209278">
                  <a:extLst>
                    <a:ext uri="{9D8B030D-6E8A-4147-A177-3AD203B41FA5}">
                      <a16:colId xmlns:a16="http://schemas.microsoft.com/office/drawing/2014/main" val="20002"/>
                    </a:ext>
                  </a:extLst>
                </a:gridCol>
                <a:gridCol w="1427255">
                  <a:extLst>
                    <a:ext uri="{9D8B030D-6E8A-4147-A177-3AD203B41FA5}">
                      <a16:colId xmlns:a16="http://schemas.microsoft.com/office/drawing/2014/main" val="20003"/>
                    </a:ext>
                  </a:extLst>
                </a:gridCol>
                <a:gridCol w="1592151">
                  <a:extLst>
                    <a:ext uri="{9D8B030D-6E8A-4147-A177-3AD203B41FA5}">
                      <a16:colId xmlns:a16="http://schemas.microsoft.com/office/drawing/2014/main" val="20004"/>
                    </a:ext>
                  </a:extLst>
                </a:gridCol>
                <a:gridCol w="1117668">
                  <a:extLst>
                    <a:ext uri="{9D8B030D-6E8A-4147-A177-3AD203B41FA5}">
                      <a16:colId xmlns:a16="http://schemas.microsoft.com/office/drawing/2014/main" val="20005"/>
                    </a:ext>
                  </a:extLst>
                </a:gridCol>
                <a:gridCol w="1581456">
                  <a:extLst>
                    <a:ext uri="{9D8B030D-6E8A-4147-A177-3AD203B41FA5}">
                      <a16:colId xmlns:a16="http://schemas.microsoft.com/office/drawing/2014/main" val="20006"/>
                    </a:ext>
                  </a:extLst>
                </a:gridCol>
                <a:gridCol w="543806">
                  <a:extLst>
                    <a:ext uri="{9D8B030D-6E8A-4147-A177-3AD203B41FA5}">
                      <a16:colId xmlns:a16="http://schemas.microsoft.com/office/drawing/2014/main" val="20007"/>
                    </a:ext>
                  </a:extLst>
                </a:gridCol>
              </a:tblGrid>
              <a:tr h="631697">
                <a:tc>
                  <a:txBody>
                    <a:bodyPr/>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a:txBody>
                    <a:bodyPr/>
                    <a:lstStyle/>
                    <a:p>
                      <a:pPr algn="ctr"/>
                      <a:r>
                        <a:rPr sz="1100" b="1">
                          <a:solidFill>
                            <a:srgbClr val="0B2E4A"/>
                          </a:solidFill>
                          <a:latin typeface="Calibri"/>
                        </a:rPr>
                        <a:t>Antioxidant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Neurofunctional Nutrients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Cellular Energy Support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Microbiome-Targeted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040">
                <a:tc>
                  <a:txBody>
                    <a:bodyPr/>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7040">
                <a:tc>
                  <a:txBody>
                    <a:bodyPr/>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7040">
                <a:tc>
                  <a:txBody>
                    <a:bodyPr/>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7040">
                <a:tc>
                  <a:txBody>
                    <a:bodyPr/>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7040">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219075" y="31146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448050"/>
            <a:ext cx="7286625"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3505200"/>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Active Ingredient Mix by End-use Application, 2026E (% share)</a:t>
            </a:r>
          </a:p>
        </p:txBody>
      </p:sp>
      <p:graphicFrame>
        <p:nvGraphicFramePr>
          <p:cNvPr id="16" name="Chart 15"/>
          <p:cNvGraphicFramePr>
            <a:graphicFrameLocks noGrp="1"/>
          </p:cNvGraphicFramePr>
          <p:nvPr/>
        </p:nvGraphicFramePr>
        <p:xfrm>
          <a:off x="238125" y="3733800"/>
          <a:ext cx="7096125" cy="2838450"/>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7581900" y="3448050"/>
            <a:ext cx="44577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15250" y="3533775"/>
            <a:ext cx="4191000" cy="209550"/>
          </a:xfrm>
          <a:prstGeom prst="rect">
            <a:avLst/>
          </a:prstGeom>
          <a:noFill/>
        </p:spPr>
        <p:txBody>
          <a:bodyPr wrap="square" lIns="0" tIns="9525" rIns="19050" bIns="9525">
            <a:spAutoFit/>
          </a:bodyPr>
          <a:lstStyle/>
          <a:p>
            <a:pPr algn="l"/>
            <a:r>
              <a:rPr sz="1300" b="1">
                <a:solidFill>
                  <a:srgbClr val="0B2E4A"/>
                </a:solidFill>
                <a:latin typeface="Calibri"/>
              </a:rPr>
              <a:t>Share Insights</a:t>
            </a:r>
          </a:p>
        </p:txBody>
      </p:sp>
      <p:sp>
        <p:nvSpPr>
          <p:cNvPr id="19" name="Rectangle 18"/>
          <p:cNvSpPr/>
          <p:nvPr/>
        </p:nvSpPr>
        <p:spPr>
          <a:xfrm>
            <a:off x="7715250" y="37719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5250" y="3857625"/>
            <a:ext cx="4191000" cy="269557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1" name="TextBox 2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616034" y="2220847"/>
            <a:ext cx="366712" cy="533400"/>
          </a:xfrm>
          <a:prstGeom prst="rect">
            <a:avLst/>
          </a:prstGeom>
        </p:spPr>
      </p:pic>
      <p:pic>
        <p:nvPicPr>
          <p:cNvPr id="23" name="Picture 22" descr="lock.png"/>
          <p:cNvPicPr>
            <a:picLocks noChangeAspect="1"/>
          </p:cNvPicPr>
          <p:nvPr/>
        </p:nvPicPr>
        <p:blipFill>
          <a:blip r:embed="rId5"/>
          <a:stretch>
            <a:fillRect/>
          </a:stretch>
        </p:blipFill>
        <p:spPr>
          <a:xfrm>
            <a:off x="3745414" y="4331036"/>
            <a:ext cx="370092" cy="538315"/>
          </a:xfrm>
          <a:prstGeom prst="rect">
            <a:avLst/>
          </a:prstGeom>
        </p:spPr>
      </p:pic>
      <p:sp>
        <p:nvSpPr>
          <p:cNvPr id="24" name="TextBox 23"/>
          <p:cNvSpPr txBox="1"/>
          <p:nvPr/>
        </p:nvSpPr>
        <p:spPr>
          <a:xfrm>
            <a:off x="7715250" y="3867150"/>
            <a:ext cx="3935114" cy="194310"/>
          </a:xfrm>
          <a:prstGeom prst="rect">
            <a:avLst/>
          </a:prstGeom>
          <a:noFill/>
        </p:spPr>
        <p:txBody>
          <a:bodyPr wrap="none" lIns="0" tIns="0" rIns="0" bIns="0">
            <a:spAutoFit/>
          </a:bodyPr>
          <a:lstStyle/>
          <a:p>
            <a:r>
              <a:rPr sz="1150" b="0">
                <a:solidFill>
                  <a:srgbClr val="2E2E2E"/>
                </a:solidFill>
                <a:latin typeface="Calibri"/>
              </a:rPr>
              <a:t>▪ 'Antioxidant Ingredients' holds the highest share of 'Support for</a:t>
            </a:r>
          </a:p>
        </p:txBody>
      </p:sp>
      <p:sp>
        <p:nvSpPr>
          <p:cNvPr id="25" name="TextBox 24"/>
          <p:cNvSpPr txBox="1"/>
          <p:nvPr/>
        </p:nvSpPr>
        <p:spPr>
          <a:xfrm>
            <a:off x="7715250" y="4042410"/>
            <a:ext cx="2812925" cy="194310"/>
          </a:xfrm>
          <a:prstGeom prst="rect">
            <a:avLst/>
          </a:prstGeom>
          <a:noFill/>
        </p:spPr>
        <p:txBody>
          <a:bodyPr wrap="none" lIns="0" tIns="0" rIns="0" bIns="0">
            <a:spAutoFit/>
          </a:bodyPr>
          <a:lstStyle/>
          <a:p>
            <a:r>
              <a:rPr sz="1150" b="0">
                <a:solidFill>
                  <a:srgbClr val="2E2E2E"/>
                </a:solidFill>
                <a:latin typeface="Calibri"/>
              </a:rPr>
              <a:t>Observable Age-Related Cognitive Changes' at</a:t>
            </a:r>
          </a:p>
        </p:txBody>
      </p:sp>
      <p:pic>
        <p:nvPicPr>
          <p:cNvPr id="26" name="Picture 25" descr="lock.png"/>
          <p:cNvPicPr>
            <a:picLocks noChangeAspect="1"/>
          </p:cNvPicPr>
          <p:nvPr/>
        </p:nvPicPr>
        <p:blipFill>
          <a:blip r:embed="rId5"/>
          <a:stretch>
            <a:fillRect/>
          </a:stretch>
        </p:blipFill>
        <p:spPr>
          <a:xfrm>
            <a:off x="10477329" y="4032186"/>
            <a:ext cx="134549" cy="195707"/>
          </a:xfrm>
          <a:prstGeom prst="rect">
            <a:avLst/>
          </a:prstGeom>
        </p:spPr>
      </p:pic>
      <p:sp>
        <p:nvSpPr>
          <p:cNvPr id="27" name="TextBox 26"/>
          <p:cNvSpPr txBox="1"/>
          <p:nvPr/>
        </p:nvSpPr>
        <p:spPr>
          <a:xfrm>
            <a:off x="10652439" y="4042410"/>
            <a:ext cx="569404" cy="194310"/>
          </a:xfrm>
          <a:prstGeom prst="rect">
            <a:avLst/>
          </a:prstGeom>
          <a:noFill/>
        </p:spPr>
        <p:txBody>
          <a:bodyPr wrap="none" lIns="0" tIns="0" rIns="0" bIns="0">
            <a:spAutoFit/>
          </a:bodyPr>
          <a:lstStyle/>
          <a:p>
            <a:r>
              <a:rPr sz="1150" b="0">
                <a:solidFill>
                  <a:srgbClr val="2E2E2E"/>
                </a:solidFill>
                <a:latin typeface="Calibri"/>
              </a:rPr>
              <a:t>(2026E).</a:t>
            </a:r>
          </a:p>
        </p:txBody>
      </p:sp>
      <p:sp>
        <p:nvSpPr>
          <p:cNvPr id="28" name="TextBox 27"/>
          <p:cNvSpPr txBox="1"/>
          <p:nvPr/>
        </p:nvSpPr>
        <p:spPr>
          <a:xfrm>
            <a:off x="7715250" y="4270247"/>
            <a:ext cx="4171950" cy="194310"/>
          </a:xfrm>
          <a:prstGeom prst="rect">
            <a:avLst/>
          </a:prstGeom>
          <a:noFill/>
        </p:spPr>
        <p:txBody>
          <a:bodyPr wrap="none" lIns="0" tIns="0" rIns="0" bIns="0">
            <a:spAutoFit/>
          </a:bodyPr>
          <a:lstStyle/>
          <a:p>
            <a:r>
              <a:rPr sz="1150" b="0">
                <a:solidFill>
                  <a:srgbClr val="2E2E2E"/>
                </a:solidFill>
                <a:latin typeface="Calibri"/>
              </a:rPr>
              <a:t>▪ 'Support for Observable Age-Related Cognitive Changes' is the most</a:t>
            </a:r>
          </a:p>
        </p:txBody>
      </p:sp>
      <p:sp>
        <p:nvSpPr>
          <p:cNvPr id="29" name="TextBox 28"/>
          <p:cNvSpPr txBox="1"/>
          <p:nvPr/>
        </p:nvSpPr>
        <p:spPr>
          <a:xfrm>
            <a:off x="7715250" y="4445507"/>
            <a:ext cx="3209999" cy="194310"/>
          </a:xfrm>
          <a:prstGeom prst="rect">
            <a:avLst/>
          </a:prstGeom>
          <a:noFill/>
        </p:spPr>
        <p:txBody>
          <a:bodyPr wrap="none" lIns="0" tIns="0" rIns="0" bIns="0">
            <a:spAutoFit/>
          </a:bodyPr>
          <a:lstStyle/>
          <a:p>
            <a:r>
              <a:rPr sz="1150" b="0">
                <a:solidFill>
                  <a:srgbClr val="2E2E2E"/>
                </a:solidFill>
                <a:latin typeface="Calibri"/>
              </a:rPr>
              <a:t>concentrated end-use application sub-segment, with</a:t>
            </a:r>
          </a:p>
        </p:txBody>
      </p:sp>
      <p:pic>
        <p:nvPicPr>
          <p:cNvPr id="30" name="Picture 29" descr="lock.png"/>
          <p:cNvPicPr>
            <a:picLocks noChangeAspect="1"/>
          </p:cNvPicPr>
          <p:nvPr/>
        </p:nvPicPr>
        <p:blipFill>
          <a:blip r:embed="rId5"/>
          <a:stretch>
            <a:fillRect/>
          </a:stretch>
        </p:blipFill>
        <p:spPr>
          <a:xfrm>
            <a:off x="10874403" y="4435284"/>
            <a:ext cx="134549" cy="195707"/>
          </a:xfrm>
          <a:prstGeom prst="rect">
            <a:avLst/>
          </a:prstGeom>
        </p:spPr>
      </p:pic>
      <p:sp>
        <p:nvSpPr>
          <p:cNvPr id="31" name="TextBox 30"/>
          <p:cNvSpPr txBox="1"/>
          <p:nvPr/>
        </p:nvSpPr>
        <p:spPr>
          <a:xfrm>
            <a:off x="11049512" y="4445507"/>
            <a:ext cx="722585" cy="194310"/>
          </a:xfrm>
          <a:prstGeom prst="rect">
            <a:avLst/>
          </a:prstGeom>
          <a:noFill/>
        </p:spPr>
        <p:txBody>
          <a:bodyPr wrap="none" lIns="0" tIns="0" rIns="0" bIns="0">
            <a:spAutoFit/>
          </a:bodyPr>
          <a:lstStyle/>
          <a:p>
            <a:r>
              <a:rPr sz="1150" b="0">
                <a:solidFill>
                  <a:srgbClr val="2E2E2E"/>
                </a:solidFill>
                <a:latin typeface="Calibri"/>
              </a:rPr>
              <a:t>of its value</a:t>
            </a:r>
          </a:p>
        </p:txBody>
      </p:sp>
      <p:sp>
        <p:nvSpPr>
          <p:cNvPr id="32" name="TextBox 31"/>
          <p:cNvSpPr txBox="1"/>
          <p:nvPr/>
        </p:nvSpPr>
        <p:spPr>
          <a:xfrm>
            <a:off x="7715250" y="4620767"/>
            <a:ext cx="1775457" cy="194310"/>
          </a:xfrm>
          <a:prstGeom prst="rect">
            <a:avLst/>
          </a:prstGeom>
          <a:noFill/>
        </p:spPr>
        <p:txBody>
          <a:bodyPr wrap="none" lIns="0" tIns="0" rIns="0" bIns="0">
            <a:spAutoFit/>
          </a:bodyPr>
          <a:lstStyle/>
          <a:p>
            <a:r>
              <a:rPr sz="1150" b="0">
                <a:solidFill>
                  <a:srgbClr val="2E2E2E"/>
                </a:solidFill>
                <a:latin typeface="Calibri"/>
              </a:rPr>
              <a:t>via 'Antioxidant Ingredients'.</a:t>
            </a:r>
          </a:p>
        </p:txBody>
      </p:sp>
      <p:sp>
        <p:nvSpPr>
          <p:cNvPr id="33" name="TextBox 32"/>
          <p:cNvSpPr txBox="1"/>
          <p:nvPr/>
        </p:nvSpPr>
        <p:spPr>
          <a:xfrm>
            <a:off x="7715250" y="4848605"/>
            <a:ext cx="2065845" cy="194310"/>
          </a:xfrm>
          <a:prstGeom prst="rect">
            <a:avLst/>
          </a:prstGeom>
          <a:noFill/>
        </p:spPr>
        <p:txBody>
          <a:bodyPr wrap="none" lIns="0" tIns="0" rIns="0" bIns="0">
            <a:spAutoFit/>
          </a:bodyPr>
          <a:lstStyle/>
          <a:p>
            <a:r>
              <a:rPr sz="1150" b="0">
                <a:solidFill>
                  <a:srgbClr val="2E2E2E"/>
                </a:solidFill>
                <a:latin typeface="Calibri"/>
              </a:rPr>
              <a:t>▪ 'Antioxidant Ingredients' gains +</a:t>
            </a:r>
          </a:p>
        </p:txBody>
      </p:sp>
      <p:pic>
        <p:nvPicPr>
          <p:cNvPr id="34" name="Picture 33" descr="lock.png"/>
          <p:cNvPicPr>
            <a:picLocks noChangeAspect="1"/>
          </p:cNvPicPr>
          <p:nvPr/>
        </p:nvPicPr>
        <p:blipFill>
          <a:blip r:embed="rId5"/>
          <a:stretch>
            <a:fillRect/>
          </a:stretch>
        </p:blipFill>
        <p:spPr>
          <a:xfrm>
            <a:off x="9730249" y="4838382"/>
            <a:ext cx="134549" cy="195707"/>
          </a:xfrm>
          <a:prstGeom prst="rect">
            <a:avLst/>
          </a:prstGeom>
        </p:spPr>
      </p:pic>
      <p:sp>
        <p:nvSpPr>
          <p:cNvPr id="35" name="TextBox 34"/>
          <p:cNvSpPr txBox="1"/>
          <p:nvPr/>
        </p:nvSpPr>
        <p:spPr>
          <a:xfrm>
            <a:off x="9905359" y="4848605"/>
            <a:ext cx="1616000" cy="194310"/>
          </a:xfrm>
          <a:prstGeom prst="rect">
            <a:avLst/>
          </a:prstGeom>
          <a:noFill/>
        </p:spPr>
        <p:txBody>
          <a:bodyPr wrap="none" lIns="0" tIns="0" rIns="0" bIns="0">
            <a:spAutoFit/>
          </a:bodyPr>
          <a:lstStyle/>
          <a:p>
            <a:r>
              <a:rPr sz="1150" b="0">
                <a:solidFill>
                  <a:srgbClr val="2E2E2E"/>
                </a:solidFill>
                <a:latin typeface="Calibri"/>
              </a:rPr>
              <a:t>BPS of share of the Global</a:t>
            </a:r>
          </a:p>
        </p:txBody>
      </p:sp>
      <p:sp>
        <p:nvSpPr>
          <p:cNvPr id="36" name="TextBox 35"/>
          <p:cNvSpPr txBox="1"/>
          <p:nvPr/>
        </p:nvSpPr>
        <p:spPr>
          <a:xfrm>
            <a:off x="7715250" y="5023865"/>
            <a:ext cx="1462605" cy="194310"/>
          </a:xfrm>
          <a:prstGeom prst="rect">
            <a:avLst/>
          </a:prstGeom>
          <a:noFill/>
        </p:spPr>
        <p:txBody>
          <a:bodyPr wrap="none" lIns="0" tIns="0" rIns="0" bIns="0">
            <a:spAutoFit/>
          </a:bodyPr>
          <a:lstStyle/>
          <a:p>
            <a:r>
              <a:rPr sz="1150" b="0">
                <a:solidFill>
                  <a:srgbClr val="2E2E2E"/>
                </a:solidFill>
                <a:latin typeface="Calibri"/>
              </a:rPr>
              <a:t>cross-section by 2036F.</a:t>
            </a:r>
          </a:p>
        </p:txBody>
      </p:sp>
      <p:sp>
        <p:nvSpPr>
          <p:cNvPr id="37" name="lockshield_16"/>
          <p:cNvSpPr/>
          <p:nvPr/>
        </p:nvSpPr>
        <p:spPr>
          <a:xfrm>
            <a:off x="238125" y="3733800"/>
            <a:ext cx="7096125" cy="2838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&amp; Attractiveness: End-use Application × Active Ingredient, 2026E–2036F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 Opportunity (US$ Mn) and Value CAGR, End-use Application × Active Ingredient, 2026E–2036F</a:t>
            </a:r>
          </a:p>
        </p:txBody>
      </p:sp>
      <p:graphicFrame>
        <p:nvGraphicFramePr>
          <p:cNvPr id="12" name="Table 11"/>
          <p:cNvGraphicFramePr>
            <a:graphicFrameLocks noGrp="1"/>
          </p:cNvGraphicFramePr>
          <p:nvPr/>
        </p:nvGraphicFramePr>
        <p:xfrm>
          <a:off x="152400" y="1238250"/>
          <a:ext cx="11887195" cy="2114549"/>
        </p:xfrm>
        <a:graphic>
          <a:graphicData uri="http://schemas.openxmlformats.org/drawingml/2006/table">
            <a:tbl>
              <a:tblPr>
                <a:tableStyleId>{5C22544A-7EE6-4342-B048-85BDC9FD1C3A}</a:tableStyleId>
              </a:tblPr>
              <a:tblGrid>
                <a:gridCol w="3515601">
                  <a:extLst>
                    <a:ext uri="{9D8B030D-6E8A-4147-A177-3AD203B41FA5}">
                      <a16:colId xmlns:a16="http://schemas.microsoft.com/office/drawing/2014/main" val="20000"/>
                    </a:ext>
                  </a:extLst>
                </a:gridCol>
                <a:gridCol w="597971">
                  <a:extLst>
                    <a:ext uri="{9D8B030D-6E8A-4147-A177-3AD203B41FA5}">
                      <a16:colId xmlns:a16="http://schemas.microsoft.com/office/drawing/2014/main" val="20001"/>
                    </a:ext>
                  </a:extLst>
                </a:gridCol>
                <a:gridCol w="597971">
                  <a:extLst>
                    <a:ext uri="{9D8B030D-6E8A-4147-A177-3AD203B41FA5}">
                      <a16:colId xmlns:a16="http://schemas.microsoft.com/office/drawing/2014/main" val="20002"/>
                    </a:ext>
                  </a:extLst>
                </a:gridCol>
                <a:gridCol w="597971">
                  <a:extLst>
                    <a:ext uri="{9D8B030D-6E8A-4147-A177-3AD203B41FA5}">
                      <a16:colId xmlns:a16="http://schemas.microsoft.com/office/drawing/2014/main" val="20003"/>
                    </a:ext>
                  </a:extLst>
                </a:gridCol>
                <a:gridCol w="597971">
                  <a:extLst>
                    <a:ext uri="{9D8B030D-6E8A-4147-A177-3AD203B41FA5}">
                      <a16:colId xmlns:a16="http://schemas.microsoft.com/office/drawing/2014/main" val="20004"/>
                    </a:ext>
                  </a:extLst>
                </a:gridCol>
                <a:gridCol w="597971">
                  <a:extLst>
                    <a:ext uri="{9D8B030D-6E8A-4147-A177-3AD203B41FA5}">
                      <a16:colId xmlns:a16="http://schemas.microsoft.com/office/drawing/2014/main" val="20005"/>
                    </a:ext>
                  </a:extLst>
                </a:gridCol>
                <a:gridCol w="597971">
                  <a:extLst>
                    <a:ext uri="{9D8B030D-6E8A-4147-A177-3AD203B41FA5}">
                      <a16:colId xmlns:a16="http://schemas.microsoft.com/office/drawing/2014/main" val="20006"/>
                    </a:ext>
                  </a:extLst>
                </a:gridCol>
                <a:gridCol w="597971">
                  <a:extLst>
                    <a:ext uri="{9D8B030D-6E8A-4147-A177-3AD203B41FA5}">
                      <a16:colId xmlns:a16="http://schemas.microsoft.com/office/drawing/2014/main" val="20007"/>
                    </a:ext>
                  </a:extLst>
                </a:gridCol>
                <a:gridCol w="597971">
                  <a:extLst>
                    <a:ext uri="{9D8B030D-6E8A-4147-A177-3AD203B41FA5}">
                      <a16:colId xmlns:a16="http://schemas.microsoft.com/office/drawing/2014/main" val="20008"/>
                    </a:ext>
                  </a:extLst>
                </a:gridCol>
                <a:gridCol w="597971">
                  <a:extLst>
                    <a:ext uri="{9D8B030D-6E8A-4147-A177-3AD203B41FA5}">
                      <a16:colId xmlns:a16="http://schemas.microsoft.com/office/drawing/2014/main" val="20009"/>
                    </a:ext>
                  </a:extLst>
                </a:gridCol>
                <a:gridCol w="597971">
                  <a:extLst>
                    <a:ext uri="{9D8B030D-6E8A-4147-A177-3AD203B41FA5}">
                      <a16:colId xmlns:a16="http://schemas.microsoft.com/office/drawing/2014/main" val="20010"/>
                    </a:ext>
                  </a:extLst>
                </a:gridCol>
                <a:gridCol w="597971">
                  <a:extLst>
                    <a:ext uri="{9D8B030D-6E8A-4147-A177-3AD203B41FA5}">
                      <a16:colId xmlns:a16="http://schemas.microsoft.com/office/drawing/2014/main" val="20011"/>
                    </a:ext>
                  </a:extLst>
                </a:gridCol>
                <a:gridCol w="597971">
                  <a:extLst>
                    <a:ext uri="{9D8B030D-6E8A-4147-A177-3AD203B41FA5}">
                      <a16:colId xmlns:a16="http://schemas.microsoft.com/office/drawing/2014/main" val="20012"/>
                    </a:ext>
                  </a:extLst>
                </a:gridCol>
                <a:gridCol w="597971">
                  <a:extLst>
                    <a:ext uri="{9D8B030D-6E8A-4147-A177-3AD203B41FA5}">
                      <a16:colId xmlns:a16="http://schemas.microsoft.com/office/drawing/2014/main" val="20013"/>
                    </a:ext>
                  </a:extLst>
                </a:gridCol>
                <a:gridCol w="597971">
                  <a:extLst>
                    <a:ext uri="{9D8B030D-6E8A-4147-A177-3AD203B41FA5}">
                      <a16:colId xmlns:a16="http://schemas.microsoft.com/office/drawing/2014/main" val="20014"/>
                    </a:ext>
                  </a:extLst>
                </a:gridCol>
              </a:tblGrid>
              <a:tr h="631697">
                <a:tc rowSpan="2">
                  <a:txBody>
                    <a:bodyPr/>
                    <a:lstStyle/>
                    <a:p>
                      <a:pPr algn="l"/>
                      <a:r>
                        <a:rPr sz="1100" b="1">
                          <a:solidFill>
                            <a:srgbClr val="0B2E4A"/>
                          </a:solidFill>
                          <a:latin typeface="Calibri"/>
                        </a:rPr>
                        <a:t>End-use Application</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Omega-3 Fatty</a:t>
                      </a:r>
                      <a:endParaRPr sz="1100"/>
                    </a:p>
                    <a:p>
                      <a:pPr algn="ctr"/>
                      <a:r>
                        <a:rPr sz="1100" b="1">
                          <a:solidFill>
                            <a:srgbClr val="0B2E4A"/>
                          </a:solidFill>
                          <a:latin typeface="Calibri"/>
                        </a:rPr>
                        <a:t>Acids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Cellular Energy</a:t>
                      </a:r>
                      <a:endParaRPr sz="1100"/>
                    </a:p>
                    <a:p>
                      <a:pPr algn="ctr"/>
                      <a:r>
                        <a:rPr sz="1100" b="1">
                          <a:solidFill>
                            <a:srgbClr val="0B2E4A"/>
                          </a:solidFill>
                          <a:latin typeface="Calibri"/>
                        </a:rPr>
                        <a:t>Support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Botanical</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Microbiome-</a:t>
                      </a:r>
                      <a:endParaRPr sz="1100"/>
                    </a:p>
                    <a:p>
                      <a:pPr algn="ctr"/>
                      <a:r>
                        <a:rPr sz="1100" b="1">
                          <a:solidFill>
                            <a:srgbClr val="0B2E4A"/>
                          </a:solidFill>
                          <a:latin typeface="Calibri"/>
                        </a:rPr>
                        <a:t>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142">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7142">
                <a:tc>
                  <a:txBody>
                    <a:bodyPr/>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7142">
                <a:tc>
                  <a:txBody>
                    <a:bodyPr/>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7142">
                <a:tc>
                  <a:txBody>
                    <a:bodyPr/>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7142">
                <a:tc>
                  <a:txBody>
                    <a:bodyPr/>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7142">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219075" y="336232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695700"/>
            <a:ext cx="560070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781425"/>
            <a:ext cx="5334000" cy="209550"/>
          </a:xfrm>
          <a:prstGeom prst="rect">
            <a:avLst/>
          </a:prstGeom>
          <a:noFill/>
        </p:spPr>
        <p:txBody>
          <a:bodyPr wrap="square" lIns="0" tIns="9525" rIns="19050"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0195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105275"/>
            <a:ext cx="5334000" cy="24479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58959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29325" y="3781425"/>
            <a:ext cx="1676400" cy="209550"/>
          </a:xfrm>
          <a:prstGeom prst="rect">
            <a:avLst/>
          </a:prstGeom>
          <a:noFill/>
        </p:spPr>
        <p:txBody>
          <a:bodyPr wrap="square" lIns="0" tIns="9525" rIns="19050" bIns="9525">
            <a:spAutoFit/>
          </a:bodyPr>
          <a:lstStyle/>
          <a:p>
            <a:pPr algn="l"/>
            <a:r>
              <a:rPr sz="1300" b="1">
                <a:solidFill>
                  <a:srgbClr val="0B2E4A"/>
                </a:solidFill>
                <a:latin typeface="Calibri"/>
              </a:rPr>
              <a:t>Largest Pool</a:t>
            </a:r>
          </a:p>
        </p:txBody>
      </p:sp>
      <p:sp>
        <p:nvSpPr>
          <p:cNvPr id="20" name="Rectangle 19"/>
          <p:cNvSpPr/>
          <p:nvPr/>
        </p:nvSpPr>
        <p:spPr>
          <a:xfrm>
            <a:off x="60293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29325" y="4105275"/>
            <a:ext cx="1676400" cy="2447925"/>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2" name="Rounded Rectangle 21"/>
          <p:cNvSpPr/>
          <p:nvPr/>
        </p:nvSpPr>
        <p:spPr>
          <a:xfrm>
            <a:off x="79914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24825" y="3781425"/>
            <a:ext cx="1676400" cy="209550"/>
          </a:xfrm>
          <a:prstGeom prst="rect">
            <a:avLst/>
          </a:prstGeom>
          <a:noFill/>
        </p:spPr>
        <p:txBody>
          <a:bodyPr wrap="square" lIns="0" tIns="9525" rIns="19050" bIns="9525">
            <a:spAutoFit/>
          </a:bodyPr>
          <a:lstStyle/>
          <a:p>
            <a:pPr algn="l"/>
            <a:r>
              <a:rPr sz="1300" b="1">
                <a:solidFill>
                  <a:srgbClr val="0B2E4A"/>
                </a:solidFill>
                <a:latin typeface="Calibri"/>
              </a:rPr>
              <a:t>Fastest Growth</a:t>
            </a:r>
          </a:p>
        </p:txBody>
      </p:sp>
      <p:sp>
        <p:nvSpPr>
          <p:cNvPr id="24" name="Rectangle 23"/>
          <p:cNvSpPr/>
          <p:nvPr/>
        </p:nvSpPr>
        <p:spPr>
          <a:xfrm>
            <a:off x="81248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24825" y="4105275"/>
            <a:ext cx="1676400" cy="2447925"/>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6" name="Rounded Rectangle 25"/>
          <p:cNvSpPr/>
          <p:nvPr/>
        </p:nvSpPr>
        <p:spPr>
          <a:xfrm>
            <a:off x="100869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20325" y="3781425"/>
            <a:ext cx="1676400" cy="209550"/>
          </a:xfrm>
          <a:prstGeom prst="rect">
            <a:avLst/>
          </a:prstGeom>
          <a:noFill/>
        </p:spPr>
        <p:txBody>
          <a:bodyPr wrap="square" lIns="0" tIns="9525" rIns="19050" bIns="9525">
            <a:spAutoFit/>
          </a:bodyPr>
          <a:lstStyle/>
          <a:p>
            <a:pPr algn="l"/>
            <a:r>
              <a:rPr sz="1300" b="1">
                <a:solidFill>
                  <a:srgbClr val="0B2E4A"/>
                </a:solidFill>
                <a:latin typeface="Calibri"/>
              </a:rPr>
              <a:t>Where to Play</a:t>
            </a:r>
          </a:p>
        </p:txBody>
      </p:sp>
      <p:sp>
        <p:nvSpPr>
          <p:cNvPr id="28" name="Rectangle 27"/>
          <p:cNvSpPr/>
          <p:nvPr/>
        </p:nvSpPr>
        <p:spPr>
          <a:xfrm>
            <a:off x="102203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20325" y="4105275"/>
            <a:ext cx="1676400" cy="24479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'Routine Cognitive Wellness × Cellular Energy Support Ingredients' ranks highest (5/5); 'Routine Cognitive Wellness × Neurofunctional Nutrients' lowest (1/5), a deprioritised cell.</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667108" y="2468245"/>
            <a:ext cx="366712" cy="533400"/>
          </a:xfrm>
          <a:prstGeom prst="rect">
            <a:avLst/>
          </a:prstGeom>
        </p:spPr>
      </p:pic>
      <p:sp>
        <p:nvSpPr>
          <p:cNvPr id="32" name="TextBox 31"/>
          <p:cNvSpPr txBox="1"/>
          <p:nvPr/>
        </p:nvSpPr>
        <p:spPr>
          <a:xfrm>
            <a:off x="276225" y="4114800"/>
            <a:ext cx="5210770" cy="194310"/>
          </a:xfrm>
          <a:prstGeom prst="rect">
            <a:avLst/>
          </a:prstGeom>
          <a:noFill/>
        </p:spPr>
        <p:txBody>
          <a:bodyPr wrap="none" lIns="0" tIns="0" rIns="0" bIns="0">
            <a:spAutoFit/>
          </a:bodyPr>
          <a:lstStyle/>
          <a:p>
            <a:r>
              <a:rPr sz="1150" b="0">
                <a:solidFill>
                  <a:srgbClr val="2E2E2E"/>
                </a:solidFill>
                <a:latin typeface="Calibri"/>
              </a:rPr>
              <a:t>▪ 1. Support for Observable Age-Related Cognitive Changes × Antioxidant Ingredients –</a:t>
            </a:r>
          </a:p>
        </p:txBody>
      </p:sp>
      <p:pic>
        <p:nvPicPr>
          <p:cNvPr id="33" name="Picture 32" descr="lock.png"/>
          <p:cNvPicPr>
            <a:picLocks noChangeAspect="1"/>
          </p:cNvPicPr>
          <p:nvPr/>
        </p:nvPicPr>
        <p:blipFill>
          <a:blip r:embed="rId4"/>
          <a:stretch>
            <a:fillRect/>
          </a:stretch>
        </p:blipFill>
        <p:spPr>
          <a:xfrm>
            <a:off x="262145" y="4279836"/>
            <a:ext cx="134549" cy="195707"/>
          </a:xfrm>
          <a:prstGeom prst="rect">
            <a:avLst/>
          </a:prstGeom>
        </p:spPr>
      </p:pic>
      <p:sp>
        <p:nvSpPr>
          <p:cNvPr id="34" name="TextBox 33"/>
          <p:cNvSpPr txBox="1"/>
          <p:nvPr/>
        </p:nvSpPr>
        <p:spPr>
          <a:xfrm>
            <a:off x="437254" y="4290060"/>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99406" y="4279836"/>
            <a:ext cx="134549" cy="195707"/>
          </a:xfrm>
          <a:prstGeom prst="rect">
            <a:avLst/>
          </a:prstGeom>
        </p:spPr>
      </p:pic>
      <p:sp>
        <p:nvSpPr>
          <p:cNvPr id="36" name="TextBox 35"/>
          <p:cNvSpPr txBox="1"/>
          <p:nvPr/>
        </p:nvSpPr>
        <p:spPr>
          <a:xfrm>
            <a:off x="674515" y="4290060"/>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37" name="TextBox 36"/>
          <p:cNvSpPr txBox="1"/>
          <p:nvPr/>
        </p:nvSpPr>
        <p:spPr>
          <a:xfrm>
            <a:off x="276225" y="4517897"/>
            <a:ext cx="5106082" cy="194310"/>
          </a:xfrm>
          <a:prstGeom prst="rect">
            <a:avLst/>
          </a:prstGeom>
          <a:noFill/>
        </p:spPr>
        <p:txBody>
          <a:bodyPr wrap="none" lIns="0" tIns="0" rIns="0" bIns="0">
            <a:spAutoFit/>
          </a:bodyPr>
          <a:lstStyle/>
          <a:p>
            <a:r>
              <a:rPr sz="1150" b="0">
                <a:solidFill>
                  <a:srgbClr val="2E2E2E"/>
                </a:solidFill>
                <a:latin typeface="Calibri"/>
              </a:rPr>
              <a:t>▪ 2. Support for Observable Age-Related Cognitive Changes × Cellular Energy Support</a:t>
            </a:r>
          </a:p>
        </p:txBody>
      </p:sp>
      <p:sp>
        <p:nvSpPr>
          <p:cNvPr id="38" name="TextBox 37"/>
          <p:cNvSpPr txBox="1"/>
          <p:nvPr/>
        </p:nvSpPr>
        <p:spPr>
          <a:xfrm>
            <a:off x="276225" y="4693157"/>
            <a:ext cx="854087" cy="194310"/>
          </a:xfrm>
          <a:prstGeom prst="rect">
            <a:avLst/>
          </a:prstGeom>
          <a:noFill/>
        </p:spPr>
        <p:txBody>
          <a:bodyPr wrap="none" lIns="0" tIns="0" rIns="0" bIns="0">
            <a:spAutoFit/>
          </a:bodyPr>
          <a:lstStyle/>
          <a:p>
            <a:r>
              <a:rPr sz="1150" b="0">
                <a:solidFill>
                  <a:srgbClr val="2E2E2E"/>
                </a:solidFill>
                <a:latin typeface="Calibri"/>
              </a:rPr>
              <a:t>Ingredients –</a:t>
            </a:r>
          </a:p>
        </p:txBody>
      </p:sp>
      <p:pic>
        <p:nvPicPr>
          <p:cNvPr id="39" name="Picture 38" descr="lock.png"/>
          <p:cNvPicPr>
            <a:picLocks noChangeAspect="1"/>
          </p:cNvPicPr>
          <p:nvPr/>
        </p:nvPicPr>
        <p:blipFill>
          <a:blip r:embed="rId4"/>
          <a:stretch>
            <a:fillRect/>
          </a:stretch>
        </p:blipFill>
        <p:spPr>
          <a:xfrm>
            <a:off x="1079466" y="4682934"/>
            <a:ext cx="134549" cy="195707"/>
          </a:xfrm>
          <a:prstGeom prst="rect">
            <a:avLst/>
          </a:prstGeom>
        </p:spPr>
      </p:pic>
      <p:sp>
        <p:nvSpPr>
          <p:cNvPr id="40" name="TextBox 39"/>
          <p:cNvSpPr txBox="1"/>
          <p:nvPr/>
        </p:nvSpPr>
        <p:spPr>
          <a:xfrm>
            <a:off x="1254575" y="4693157"/>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1" name="Picture 40" descr="lock.png"/>
          <p:cNvPicPr>
            <a:picLocks noChangeAspect="1"/>
          </p:cNvPicPr>
          <p:nvPr/>
        </p:nvPicPr>
        <p:blipFill>
          <a:blip r:embed="rId4"/>
          <a:stretch>
            <a:fillRect/>
          </a:stretch>
        </p:blipFill>
        <p:spPr>
          <a:xfrm>
            <a:off x="1316727" y="4682934"/>
            <a:ext cx="134549" cy="195707"/>
          </a:xfrm>
          <a:prstGeom prst="rect">
            <a:avLst/>
          </a:prstGeom>
        </p:spPr>
      </p:pic>
      <p:sp>
        <p:nvSpPr>
          <p:cNvPr id="42" name="TextBox 41"/>
          <p:cNvSpPr txBox="1"/>
          <p:nvPr/>
        </p:nvSpPr>
        <p:spPr>
          <a:xfrm>
            <a:off x="1491836" y="4693157"/>
            <a:ext cx="350899" cy="194310"/>
          </a:xfrm>
          <a:prstGeom prst="rect">
            <a:avLst/>
          </a:prstGeom>
          <a:noFill/>
        </p:spPr>
        <p:txBody>
          <a:bodyPr wrap="none" lIns="0" tIns="0" rIns="0" bIns="0">
            <a:spAutoFit/>
          </a:bodyPr>
          <a:lstStyle/>
          <a:p>
            <a:r>
              <a:rPr sz="1150" b="0">
                <a:solidFill>
                  <a:srgbClr val="2E2E2E"/>
                </a:solidFill>
                <a:latin typeface="Calibri"/>
              </a:rPr>
              <a:t>· 4/5</a:t>
            </a:r>
          </a:p>
        </p:txBody>
      </p:sp>
      <p:sp>
        <p:nvSpPr>
          <p:cNvPr id="43" name="TextBox 42"/>
          <p:cNvSpPr txBox="1"/>
          <p:nvPr/>
        </p:nvSpPr>
        <p:spPr>
          <a:xfrm>
            <a:off x="276225" y="4920995"/>
            <a:ext cx="5040126" cy="194310"/>
          </a:xfrm>
          <a:prstGeom prst="rect">
            <a:avLst/>
          </a:prstGeom>
          <a:noFill/>
        </p:spPr>
        <p:txBody>
          <a:bodyPr wrap="none" lIns="0" tIns="0" rIns="0" bIns="0">
            <a:spAutoFit/>
          </a:bodyPr>
          <a:lstStyle/>
          <a:p>
            <a:r>
              <a:rPr sz="1150" b="0">
                <a:solidFill>
                  <a:srgbClr val="2E2E2E"/>
                </a:solidFill>
                <a:latin typeface="Calibri"/>
              </a:rPr>
              <a:t>▪ 3. Support for Observable Age-Related Cognitive Changes × Omega-3 Fatty Acids –</a:t>
            </a:r>
          </a:p>
        </p:txBody>
      </p:sp>
      <p:pic>
        <p:nvPicPr>
          <p:cNvPr id="44" name="Picture 43" descr="lock.png"/>
          <p:cNvPicPr>
            <a:picLocks noChangeAspect="1"/>
          </p:cNvPicPr>
          <p:nvPr/>
        </p:nvPicPr>
        <p:blipFill>
          <a:blip r:embed="rId4"/>
          <a:stretch>
            <a:fillRect/>
          </a:stretch>
        </p:blipFill>
        <p:spPr>
          <a:xfrm>
            <a:off x="5265505" y="4910772"/>
            <a:ext cx="134549" cy="195707"/>
          </a:xfrm>
          <a:prstGeom prst="rect">
            <a:avLst/>
          </a:prstGeom>
        </p:spPr>
      </p:pic>
      <p:sp>
        <p:nvSpPr>
          <p:cNvPr id="45" name="TextBox 44"/>
          <p:cNvSpPr txBox="1"/>
          <p:nvPr/>
        </p:nvSpPr>
        <p:spPr>
          <a:xfrm>
            <a:off x="276225" y="5096255"/>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6" name="Picture 45" descr="lock.png"/>
          <p:cNvPicPr>
            <a:picLocks noChangeAspect="1"/>
          </p:cNvPicPr>
          <p:nvPr/>
        </p:nvPicPr>
        <p:blipFill>
          <a:blip r:embed="rId4"/>
          <a:stretch>
            <a:fillRect/>
          </a:stretch>
        </p:blipFill>
        <p:spPr>
          <a:xfrm>
            <a:off x="338376" y="5086032"/>
            <a:ext cx="134549" cy="195707"/>
          </a:xfrm>
          <a:prstGeom prst="rect">
            <a:avLst/>
          </a:prstGeom>
        </p:spPr>
      </p:pic>
      <p:sp>
        <p:nvSpPr>
          <p:cNvPr id="47" name="TextBox 46"/>
          <p:cNvSpPr txBox="1"/>
          <p:nvPr/>
        </p:nvSpPr>
        <p:spPr>
          <a:xfrm>
            <a:off x="513485" y="5096255"/>
            <a:ext cx="350899" cy="194310"/>
          </a:xfrm>
          <a:prstGeom prst="rect">
            <a:avLst/>
          </a:prstGeom>
          <a:noFill/>
        </p:spPr>
        <p:txBody>
          <a:bodyPr wrap="none" lIns="0" tIns="0" rIns="0" bIns="0">
            <a:spAutoFit/>
          </a:bodyPr>
          <a:lstStyle/>
          <a:p>
            <a:r>
              <a:rPr sz="1150" b="0">
                <a:solidFill>
                  <a:srgbClr val="2E2E2E"/>
                </a:solidFill>
                <a:latin typeface="Calibri"/>
              </a:rPr>
              <a:t>· 4/5</a:t>
            </a:r>
          </a:p>
        </p:txBody>
      </p:sp>
      <p:sp>
        <p:nvSpPr>
          <p:cNvPr id="48" name="TextBox 47"/>
          <p:cNvSpPr txBox="1"/>
          <p:nvPr/>
        </p:nvSpPr>
        <p:spPr>
          <a:xfrm>
            <a:off x="276225" y="5324093"/>
            <a:ext cx="4271999" cy="194310"/>
          </a:xfrm>
          <a:prstGeom prst="rect">
            <a:avLst/>
          </a:prstGeom>
          <a:noFill/>
        </p:spPr>
        <p:txBody>
          <a:bodyPr wrap="none" lIns="0" tIns="0" rIns="0" bIns="0">
            <a:spAutoFit/>
          </a:bodyPr>
          <a:lstStyle/>
          <a:p>
            <a:r>
              <a:rPr sz="1150" b="0">
                <a:solidFill>
                  <a:srgbClr val="2E2E2E"/>
                </a:solidFill>
                <a:latin typeface="Calibri"/>
              </a:rPr>
              <a:t>▪ 4. Routine Cognitive Wellness × Cellular Energy Support Ingredients –</a:t>
            </a:r>
          </a:p>
        </p:txBody>
      </p:sp>
      <p:pic>
        <p:nvPicPr>
          <p:cNvPr id="49" name="Picture 48" descr="lock.png"/>
          <p:cNvPicPr>
            <a:picLocks noChangeAspect="1"/>
          </p:cNvPicPr>
          <p:nvPr/>
        </p:nvPicPr>
        <p:blipFill>
          <a:blip r:embed="rId4"/>
          <a:stretch>
            <a:fillRect/>
          </a:stretch>
        </p:blipFill>
        <p:spPr>
          <a:xfrm>
            <a:off x="4497378" y="5313870"/>
            <a:ext cx="134549" cy="195707"/>
          </a:xfrm>
          <a:prstGeom prst="rect">
            <a:avLst/>
          </a:prstGeom>
        </p:spPr>
      </p:pic>
      <p:sp>
        <p:nvSpPr>
          <p:cNvPr id="50" name="TextBox 49"/>
          <p:cNvSpPr txBox="1"/>
          <p:nvPr/>
        </p:nvSpPr>
        <p:spPr>
          <a:xfrm>
            <a:off x="4672487" y="5324093"/>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1" name="Picture 50" descr="lock.png"/>
          <p:cNvPicPr>
            <a:picLocks noChangeAspect="1"/>
          </p:cNvPicPr>
          <p:nvPr/>
        </p:nvPicPr>
        <p:blipFill>
          <a:blip r:embed="rId4"/>
          <a:stretch>
            <a:fillRect/>
          </a:stretch>
        </p:blipFill>
        <p:spPr>
          <a:xfrm>
            <a:off x="4734639" y="5313870"/>
            <a:ext cx="134549" cy="195707"/>
          </a:xfrm>
          <a:prstGeom prst="rect">
            <a:avLst/>
          </a:prstGeom>
        </p:spPr>
      </p:pic>
      <p:sp>
        <p:nvSpPr>
          <p:cNvPr id="52" name="TextBox 51"/>
          <p:cNvSpPr txBox="1"/>
          <p:nvPr/>
        </p:nvSpPr>
        <p:spPr>
          <a:xfrm>
            <a:off x="4909748" y="5324093"/>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53" name="TextBox 52"/>
          <p:cNvSpPr txBox="1"/>
          <p:nvPr/>
        </p:nvSpPr>
        <p:spPr>
          <a:xfrm>
            <a:off x="276225" y="5551931"/>
            <a:ext cx="5011948" cy="194310"/>
          </a:xfrm>
          <a:prstGeom prst="rect">
            <a:avLst/>
          </a:prstGeom>
          <a:noFill/>
        </p:spPr>
        <p:txBody>
          <a:bodyPr wrap="none" lIns="0" tIns="0" rIns="0" bIns="0">
            <a:spAutoFit/>
          </a:bodyPr>
          <a:lstStyle/>
          <a:p>
            <a:r>
              <a:rPr sz="1150" b="0">
                <a:solidFill>
                  <a:srgbClr val="2E2E2E"/>
                </a:solidFill>
                <a:latin typeface="Calibri"/>
              </a:rPr>
              <a:t>▪ 5. Support for Observable Age-Related Cognitive Changes × Microbiome-Targeted</a:t>
            </a:r>
          </a:p>
        </p:txBody>
      </p:sp>
      <p:sp>
        <p:nvSpPr>
          <p:cNvPr id="54" name="TextBox 53"/>
          <p:cNvSpPr txBox="1"/>
          <p:nvPr/>
        </p:nvSpPr>
        <p:spPr>
          <a:xfrm>
            <a:off x="276225" y="5727191"/>
            <a:ext cx="854087" cy="194310"/>
          </a:xfrm>
          <a:prstGeom prst="rect">
            <a:avLst/>
          </a:prstGeom>
          <a:noFill/>
        </p:spPr>
        <p:txBody>
          <a:bodyPr wrap="none" lIns="0" tIns="0" rIns="0" bIns="0">
            <a:spAutoFit/>
          </a:bodyPr>
          <a:lstStyle/>
          <a:p>
            <a:r>
              <a:rPr sz="1150" b="0">
                <a:solidFill>
                  <a:srgbClr val="2E2E2E"/>
                </a:solidFill>
                <a:latin typeface="Calibri"/>
              </a:rPr>
              <a:t>Ingredients –</a:t>
            </a:r>
          </a:p>
        </p:txBody>
      </p:sp>
      <p:pic>
        <p:nvPicPr>
          <p:cNvPr id="55" name="Picture 54" descr="lock.png"/>
          <p:cNvPicPr>
            <a:picLocks noChangeAspect="1"/>
          </p:cNvPicPr>
          <p:nvPr/>
        </p:nvPicPr>
        <p:blipFill>
          <a:blip r:embed="rId4"/>
          <a:stretch>
            <a:fillRect/>
          </a:stretch>
        </p:blipFill>
        <p:spPr>
          <a:xfrm>
            <a:off x="1079466" y="5716968"/>
            <a:ext cx="134549" cy="195707"/>
          </a:xfrm>
          <a:prstGeom prst="rect">
            <a:avLst/>
          </a:prstGeom>
        </p:spPr>
      </p:pic>
      <p:sp>
        <p:nvSpPr>
          <p:cNvPr id="56" name="TextBox 55"/>
          <p:cNvSpPr txBox="1"/>
          <p:nvPr/>
        </p:nvSpPr>
        <p:spPr>
          <a:xfrm>
            <a:off x="1254575" y="5727191"/>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7" name="Picture 56" descr="lock.png"/>
          <p:cNvPicPr>
            <a:picLocks noChangeAspect="1"/>
          </p:cNvPicPr>
          <p:nvPr/>
        </p:nvPicPr>
        <p:blipFill>
          <a:blip r:embed="rId4"/>
          <a:stretch>
            <a:fillRect/>
          </a:stretch>
        </p:blipFill>
        <p:spPr>
          <a:xfrm>
            <a:off x="1316727" y="5716968"/>
            <a:ext cx="134549" cy="195707"/>
          </a:xfrm>
          <a:prstGeom prst="rect">
            <a:avLst/>
          </a:prstGeom>
        </p:spPr>
      </p:pic>
      <p:sp>
        <p:nvSpPr>
          <p:cNvPr id="58" name="TextBox 57"/>
          <p:cNvSpPr txBox="1"/>
          <p:nvPr/>
        </p:nvSpPr>
        <p:spPr>
          <a:xfrm>
            <a:off x="1491836" y="5727191"/>
            <a:ext cx="350899" cy="194310"/>
          </a:xfrm>
          <a:prstGeom prst="rect">
            <a:avLst/>
          </a:prstGeom>
          <a:noFill/>
        </p:spPr>
        <p:txBody>
          <a:bodyPr wrap="none" lIns="0" tIns="0" rIns="0" bIns="0">
            <a:spAutoFit/>
          </a:bodyPr>
          <a:lstStyle/>
          <a:p>
            <a:r>
              <a:rPr sz="1150" b="0">
                <a:solidFill>
                  <a:srgbClr val="2E2E2E"/>
                </a:solidFill>
                <a:latin typeface="Calibri"/>
              </a:rPr>
              <a:t>· 3/5</a:t>
            </a:r>
          </a:p>
        </p:txBody>
      </p:sp>
      <p:sp>
        <p:nvSpPr>
          <p:cNvPr id="59" name="TextBox 58"/>
          <p:cNvSpPr txBox="1"/>
          <p:nvPr/>
        </p:nvSpPr>
        <p:spPr>
          <a:xfrm>
            <a:off x="6029325" y="4114800"/>
            <a:ext cx="1579488" cy="194310"/>
          </a:xfrm>
          <a:prstGeom prst="rect">
            <a:avLst/>
          </a:prstGeom>
          <a:noFill/>
        </p:spPr>
        <p:txBody>
          <a:bodyPr wrap="none" lIns="0" tIns="0" rIns="0" bIns="0">
            <a:spAutoFit/>
          </a:bodyPr>
          <a:lstStyle/>
          <a:p>
            <a:r>
              <a:rPr sz="1150" b="0">
                <a:solidFill>
                  <a:srgbClr val="2E2E2E"/>
                </a:solidFill>
                <a:latin typeface="Calibri"/>
              </a:rPr>
              <a:t>▪ 'Support for Observable</a:t>
            </a:r>
          </a:p>
        </p:txBody>
      </p:sp>
      <p:sp>
        <p:nvSpPr>
          <p:cNvPr id="60" name="TextBox 59"/>
          <p:cNvSpPr txBox="1"/>
          <p:nvPr/>
        </p:nvSpPr>
        <p:spPr>
          <a:xfrm>
            <a:off x="6029325" y="4290060"/>
            <a:ext cx="1389508" cy="194310"/>
          </a:xfrm>
          <a:prstGeom prst="rect">
            <a:avLst/>
          </a:prstGeom>
          <a:noFill/>
        </p:spPr>
        <p:txBody>
          <a:bodyPr wrap="none" lIns="0" tIns="0" rIns="0" bIns="0">
            <a:spAutoFit/>
          </a:bodyPr>
          <a:lstStyle/>
          <a:p>
            <a:r>
              <a:rPr sz="1150" b="0">
                <a:solidFill>
                  <a:srgbClr val="2E2E2E"/>
                </a:solidFill>
                <a:latin typeface="Calibri"/>
              </a:rPr>
              <a:t>Age-Related Cognitive</a:t>
            </a:r>
          </a:p>
        </p:txBody>
      </p:sp>
      <p:sp>
        <p:nvSpPr>
          <p:cNvPr id="61" name="TextBox 60"/>
          <p:cNvSpPr txBox="1"/>
          <p:nvPr/>
        </p:nvSpPr>
        <p:spPr>
          <a:xfrm>
            <a:off x="6029325" y="4465320"/>
            <a:ext cx="1405197" cy="194310"/>
          </a:xfrm>
          <a:prstGeom prst="rect">
            <a:avLst/>
          </a:prstGeom>
          <a:noFill/>
        </p:spPr>
        <p:txBody>
          <a:bodyPr wrap="none" lIns="0" tIns="0" rIns="0" bIns="0">
            <a:spAutoFit/>
          </a:bodyPr>
          <a:lstStyle/>
          <a:p>
            <a:r>
              <a:rPr sz="1150" b="0">
                <a:solidFill>
                  <a:srgbClr val="2E2E2E"/>
                </a:solidFill>
                <a:latin typeface="Calibri"/>
              </a:rPr>
              <a:t>Changes × Antioxidant</a:t>
            </a:r>
          </a:p>
        </p:txBody>
      </p:sp>
      <p:sp>
        <p:nvSpPr>
          <p:cNvPr id="62" name="TextBox 61"/>
          <p:cNvSpPr txBox="1"/>
          <p:nvPr/>
        </p:nvSpPr>
        <p:spPr>
          <a:xfrm>
            <a:off x="6029325" y="4640579"/>
            <a:ext cx="1093985" cy="194310"/>
          </a:xfrm>
          <a:prstGeom prst="rect">
            <a:avLst/>
          </a:prstGeom>
          <a:noFill/>
        </p:spPr>
        <p:txBody>
          <a:bodyPr wrap="none" lIns="0" tIns="0" rIns="0" bIns="0">
            <a:spAutoFit/>
          </a:bodyPr>
          <a:lstStyle/>
          <a:p>
            <a:r>
              <a:rPr sz="1150" b="0">
                <a:solidFill>
                  <a:srgbClr val="2E2E2E"/>
                </a:solidFill>
                <a:latin typeface="Calibri"/>
              </a:rPr>
              <a:t>Ingredients' adds</a:t>
            </a:r>
          </a:p>
        </p:txBody>
      </p:sp>
      <p:pic>
        <p:nvPicPr>
          <p:cNvPr id="63" name="Picture 62" descr="lock.png"/>
          <p:cNvPicPr>
            <a:picLocks noChangeAspect="1"/>
          </p:cNvPicPr>
          <p:nvPr/>
        </p:nvPicPr>
        <p:blipFill>
          <a:blip r:embed="rId4"/>
          <a:stretch>
            <a:fillRect/>
          </a:stretch>
        </p:blipFill>
        <p:spPr>
          <a:xfrm>
            <a:off x="7072464" y="4630356"/>
            <a:ext cx="134549" cy="195707"/>
          </a:xfrm>
          <a:prstGeom prst="rect">
            <a:avLst/>
          </a:prstGeom>
        </p:spPr>
      </p:pic>
      <p:sp>
        <p:nvSpPr>
          <p:cNvPr id="64" name="TextBox 63"/>
          <p:cNvSpPr txBox="1"/>
          <p:nvPr/>
        </p:nvSpPr>
        <p:spPr>
          <a:xfrm>
            <a:off x="7247574" y="4640579"/>
            <a:ext cx="311249" cy="194310"/>
          </a:xfrm>
          <a:prstGeom prst="rect">
            <a:avLst/>
          </a:prstGeom>
          <a:noFill/>
        </p:spPr>
        <p:txBody>
          <a:bodyPr wrap="none" lIns="0" tIns="0" rIns="0" bIns="0">
            <a:spAutoFit/>
          </a:bodyPr>
          <a:lstStyle/>
          <a:p>
            <a:r>
              <a:rPr sz="1150" b="0">
                <a:solidFill>
                  <a:srgbClr val="2E2E2E"/>
                </a:solidFill>
                <a:latin typeface="Calibri"/>
              </a:rPr>
              <a:t>US$</a:t>
            </a:r>
          </a:p>
        </p:txBody>
      </p:sp>
      <p:sp>
        <p:nvSpPr>
          <p:cNvPr id="65" name="TextBox 64"/>
          <p:cNvSpPr txBox="1"/>
          <p:nvPr/>
        </p:nvSpPr>
        <p:spPr>
          <a:xfrm>
            <a:off x="6029325" y="4815839"/>
            <a:ext cx="956493" cy="194310"/>
          </a:xfrm>
          <a:prstGeom prst="rect">
            <a:avLst/>
          </a:prstGeom>
          <a:noFill/>
        </p:spPr>
        <p:txBody>
          <a:bodyPr wrap="none" lIns="0" tIns="0" rIns="0" bIns="0">
            <a:spAutoFit/>
          </a:bodyPr>
          <a:lstStyle/>
          <a:p>
            <a:r>
              <a:rPr sz="1150" b="0">
                <a:solidFill>
                  <a:srgbClr val="2E2E2E"/>
                </a:solidFill>
                <a:latin typeface="Calibri"/>
              </a:rPr>
              <a:t>Mn by 2036F –</a:t>
            </a:r>
          </a:p>
        </p:txBody>
      </p:sp>
      <p:pic>
        <p:nvPicPr>
          <p:cNvPr id="66" name="Picture 65" descr="lock.png"/>
          <p:cNvPicPr>
            <a:picLocks noChangeAspect="1"/>
          </p:cNvPicPr>
          <p:nvPr/>
        </p:nvPicPr>
        <p:blipFill>
          <a:blip r:embed="rId4"/>
          <a:stretch>
            <a:fillRect/>
          </a:stretch>
        </p:blipFill>
        <p:spPr>
          <a:xfrm>
            <a:off x="6934972" y="4805616"/>
            <a:ext cx="134549" cy="195707"/>
          </a:xfrm>
          <a:prstGeom prst="rect">
            <a:avLst/>
          </a:prstGeom>
        </p:spPr>
      </p:pic>
      <p:sp>
        <p:nvSpPr>
          <p:cNvPr id="67" name="TextBox 66"/>
          <p:cNvSpPr txBox="1"/>
          <p:nvPr/>
        </p:nvSpPr>
        <p:spPr>
          <a:xfrm>
            <a:off x="7110081" y="4815839"/>
            <a:ext cx="429344" cy="194310"/>
          </a:xfrm>
          <a:prstGeom prst="rect">
            <a:avLst/>
          </a:prstGeom>
          <a:noFill/>
        </p:spPr>
        <p:txBody>
          <a:bodyPr wrap="none" lIns="0" tIns="0" rIns="0" bIns="0">
            <a:spAutoFit/>
          </a:bodyPr>
          <a:lstStyle/>
          <a:p>
            <a:r>
              <a:rPr sz="1150" b="0">
                <a:solidFill>
                  <a:srgbClr val="2E2E2E"/>
                </a:solidFill>
                <a:latin typeface="Calibri"/>
              </a:rPr>
              <a:t>of the</a:t>
            </a:r>
          </a:p>
        </p:txBody>
      </p:sp>
      <p:sp>
        <p:nvSpPr>
          <p:cNvPr id="68" name="TextBox 67"/>
          <p:cNvSpPr txBox="1"/>
          <p:nvPr/>
        </p:nvSpPr>
        <p:spPr>
          <a:xfrm>
            <a:off x="6029325" y="4991099"/>
            <a:ext cx="1134777" cy="194310"/>
          </a:xfrm>
          <a:prstGeom prst="rect">
            <a:avLst/>
          </a:prstGeom>
          <a:noFill/>
        </p:spPr>
        <p:txBody>
          <a:bodyPr wrap="none" lIns="0" tIns="0" rIns="0" bIns="0">
            <a:spAutoFit/>
          </a:bodyPr>
          <a:lstStyle/>
          <a:p>
            <a:r>
              <a:rPr sz="1150" b="0">
                <a:solidFill>
                  <a:srgbClr val="2E2E2E"/>
                </a:solidFill>
                <a:latin typeface="Calibri"/>
              </a:rPr>
              <a:t>total opportunity.</a:t>
            </a:r>
          </a:p>
        </p:txBody>
      </p:sp>
      <p:sp>
        <p:nvSpPr>
          <p:cNvPr id="69" name="TextBox 68"/>
          <p:cNvSpPr txBox="1"/>
          <p:nvPr/>
        </p:nvSpPr>
        <p:spPr>
          <a:xfrm>
            <a:off x="8124825" y="4114800"/>
            <a:ext cx="1292807" cy="194310"/>
          </a:xfrm>
          <a:prstGeom prst="rect">
            <a:avLst/>
          </a:prstGeom>
          <a:noFill/>
        </p:spPr>
        <p:txBody>
          <a:bodyPr wrap="none" lIns="0" tIns="0" rIns="0" bIns="0">
            <a:spAutoFit/>
          </a:bodyPr>
          <a:lstStyle/>
          <a:p>
            <a:r>
              <a:rPr sz="1150" b="0">
                <a:solidFill>
                  <a:srgbClr val="2E2E2E"/>
                </a:solidFill>
                <a:latin typeface="Calibri"/>
              </a:rPr>
              <a:t>▪ 'Veterinary-Guided</a:t>
            </a:r>
          </a:p>
        </p:txBody>
      </p:sp>
      <p:sp>
        <p:nvSpPr>
          <p:cNvPr id="70" name="TextBox 69"/>
          <p:cNvSpPr txBox="1"/>
          <p:nvPr/>
        </p:nvSpPr>
        <p:spPr>
          <a:xfrm>
            <a:off x="8124825" y="4290060"/>
            <a:ext cx="1374105" cy="194310"/>
          </a:xfrm>
          <a:prstGeom prst="rect">
            <a:avLst/>
          </a:prstGeom>
          <a:noFill/>
        </p:spPr>
        <p:txBody>
          <a:bodyPr wrap="none" lIns="0" tIns="0" rIns="0" bIns="0">
            <a:spAutoFit/>
          </a:bodyPr>
          <a:lstStyle/>
          <a:p>
            <a:r>
              <a:rPr sz="1150" b="0">
                <a:solidFill>
                  <a:srgbClr val="2E2E2E"/>
                </a:solidFill>
                <a:latin typeface="Calibri"/>
              </a:rPr>
              <a:t>Cognitive Dysfunction</a:t>
            </a:r>
          </a:p>
        </p:txBody>
      </p:sp>
      <p:sp>
        <p:nvSpPr>
          <p:cNvPr id="71" name="TextBox 70"/>
          <p:cNvSpPr txBox="1"/>
          <p:nvPr/>
        </p:nvSpPr>
        <p:spPr>
          <a:xfrm>
            <a:off x="8124825" y="4465320"/>
            <a:ext cx="1379810" cy="194310"/>
          </a:xfrm>
          <a:prstGeom prst="rect">
            <a:avLst/>
          </a:prstGeom>
          <a:noFill/>
        </p:spPr>
        <p:txBody>
          <a:bodyPr wrap="none" lIns="0" tIns="0" rIns="0" bIns="0">
            <a:spAutoFit/>
          </a:bodyPr>
          <a:lstStyle/>
          <a:p>
            <a:r>
              <a:rPr sz="1150" b="0">
                <a:solidFill>
                  <a:srgbClr val="2E2E2E"/>
                </a:solidFill>
                <a:latin typeface="Calibri"/>
              </a:rPr>
              <a:t>Support × Antioxidant</a:t>
            </a:r>
          </a:p>
        </p:txBody>
      </p:sp>
      <p:sp>
        <p:nvSpPr>
          <p:cNvPr id="72" name="TextBox 71"/>
          <p:cNvSpPr txBox="1"/>
          <p:nvPr/>
        </p:nvSpPr>
        <p:spPr>
          <a:xfrm>
            <a:off x="8124825" y="4640579"/>
            <a:ext cx="1426877" cy="194310"/>
          </a:xfrm>
          <a:prstGeom prst="rect">
            <a:avLst/>
          </a:prstGeom>
          <a:noFill/>
        </p:spPr>
        <p:txBody>
          <a:bodyPr wrap="none" lIns="0" tIns="0" rIns="0" bIns="0">
            <a:spAutoFit/>
          </a:bodyPr>
          <a:lstStyle/>
          <a:p>
            <a:r>
              <a:rPr sz="1150" b="0">
                <a:solidFill>
                  <a:srgbClr val="2E2E2E"/>
                </a:solidFill>
                <a:latin typeface="Calibri"/>
              </a:rPr>
              <a:t>Ingredients' grows at a</a:t>
            </a:r>
          </a:p>
        </p:txBody>
      </p:sp>
      <p:pic>
        <p:nvPicPr>
          <p:cNvPr id="73" name="Picture 72" descr="lock.png"/>
          <p:cNvPicPr>
            <a:picLocks noChangeAspect="1"/>
          </p:cNvPicPr>
          <p:nvPr/>
        </p:nvPicPr>
        <p:blipFill>
          <a:blip r:embed="rId4"/>
          <a:stretch>
            <a:fillRect/>
          </a:stretch>
        </p:blipFill>
        <p:spPr>
          <a:xfrm>
            <a:off x="9500856" y="4630356"/>
            <a:ext cx="134549" cy="195707"/>
          </a:xfrm>
          <a:prstGeom prst="rect">
            <a:avLst/>
          </a:prstGeom>
        </p:spPr>
      </p:pic>
      <p:sp>
        <p:nvSpPr>
          <p:cNvPr id="74" name="TextBox 73"/>
          <p:cNvSpPr txBox="1"/>
          <p:nvPr/>
        </p:nvSpPr>
        <p:spPr>
          <a:xfrm>
            <a:off x="8124825" y="4815839"/>
            <a:ext cx="446441" cy="194310"/>
          </a:xfrm>
          <a:prstGeom prst="rect">
            <a:avLst/>
          </a:prstGeom>
          <a:noFill/>
        </p:spPr>
        <p:txBody>
          <a:bodyPr wrap="none" lIns="0" tIns="0" rIns="0" bIns="0">
            <a:spAutoFit/>
          </a:bodyPr>
          <a:lstStyle/>
          <a:p>
            <a:r>
              <a:rPr sz="1150" b="0">
                <a:solidFill>
                  <a:srgbClr val="2E2E2E"/>
                </a:solidFill>
                <a:latin typeface="Calibri"/>
              </a:rPr>
              <a:t>CAGR,</a:t>
            </a:r>
          </a:p>
        </p:txBody>
      </p:sp>
      <p:pic>
        <p:nvPicPr>
          <p:cNvPr id="75" name="Picture 74" descr="lock.png"/>
          <p:cNvPicPr>
            <a:picLocks noChangeAspect="1"/>
          </p:cNvPicPr>
          <p:nvPr/>
        </p:nvPicPr>
        <p:blipFill>
          <a:blip r:embed="rId4"/>
          <a:stretch>
            <a:fillRect/>
          </a:stretch>
        </p:blipFill>
        <p:spPr>
          <a:xfrm>
            <a:off x="8520420" y="4805616"/>
            <a:ext cx="134549" cy="195707"/>
          </a:xfrm>
          <a:prstGeom prst="rect">
            <a:avLst/>
          </a:prstGeom>
        </p:spPr>
      </p:pic>
      <p:sp>
        <p:nvSpPr>
          <p:cNvPr id="76" name="TextBox 75"/>
          <p:cNvSpPr txBox="1"/>
          <p:nvPr/>
        </p:nvSpPr>
        <p:spPr>
          <a:xfrm>
            <a:off x="8695529" y="4815839"/>
            <a:ext cx="925400" cy="194310"/>
          </a:xfrm>
          <a:prstGeom prst="rect">
            <a:avLst/>
          </a:prstGeom>
          <a:noFill/>
        </p:spPr>
        <p:txBody>
          <a:bodyPr wrap="none" lIns="0" tIns="0" rIns="0" bIns="0">
            <a:spAutoFit/>
          </a:bodyPr>
          <a:lstStyle/>
          <a:p>
            <a:r>
              <a:rPr sz="1150" b="0">
                <a:solidFill>
                  <a:srgbClr val="2E2E2E"/>
                </a:solidFill>
                <a:latin typeface="Calibri"/>
              </a:rPr>
              <a:t>BPS above the</a:t>
            </a:r>
          </a:p>
        </p:txBody>
      </p:sp>
      <p:sp>
        <p:nvSpPr>
          <p:cNvPr id="77" name="TextBox 76"/>
          <p:cNvSpPr txBox="1"/>
          <p:nvPr/>
        </p:nvSpPr>
        <p:spPr>
          <a:xfrm>
            <a:off x="8124825" y="4991099"/>
            <a:ext cx="890029" cy="194310"/>
          </a:xfrm>
          <a:prstGeom prst="rect">
            <a:avLst/>
          </a:prstGeom>
          <a:noFill/>
        </p:spPr>
        <p:txBody>
          <a:bodyPr wrap="none" lIns="0" tIns="0" rIns="0" bIns="0">
            <a:spAutoFit/>
          </a:bodyPr>
          <a:lstStyle/>
          <a:p>
            <a:r>
              <a:rPr sz="1150" b="0">
                <a:solidFill>
                  <a:srgbClr val="2E2E2E"/>
                </a:solidFill>
                <a:latin typeface="Calibri"/>
              </a:rPr>
              <a:t>cross-section.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Sales Channel × End-use Application</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Snapshot</a:t>
            </a:r>
          </a:p>
          <a:p>
            <a:pPr marL="342900" indent="-323850">
              <a:lnSpc>
                <a:spcPct val="100000"/>
              </a:lnSpc>
              <a:spcAft>
                <a:spcPts val="800"/>
              </a:spcAft>
            </a:pPr>
            <a:r>
              <a:rPr sz="2000" b="0">
                <a:solidFill>
                  <a:srgbClr val="000000"/>
                </a:solidFill>
                <a:latin typeface="Calibri"/>
              </a:rPr>
              <a:t>➤	Market Share Analysis</a:t>
            </a:r>
          </a:p>
          <a:p>
            <a:pPr marL="342900" indent="-323850">
              <a:lnSpc>
                <a:spcPct val="100000"/>
              </a:lnSpc>
              <a:spcAft>
                <a:spcPts val="800"/>
              </a:spcAft>
            </a:pPr>
            <a:r>
              <a:rPr sz="2000" b="0">
                <a:solidFill>
                  <a:srgbClr val="000000"/>
                </a:solidFill>
                <a:latin typeface="Calibri"/>
              </a:rPr>
              <a:t>➤	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Snapshot: Sales Channel × End-use Application, 2026E vs 2036F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Global market value (US$ Mn) for each sales channel sub-segment across end-use application sub-segments</a:t>
            </a:r>
          </a:p>
        </p:txBody>
      </p:sp>
      <p:sp>
        <p:nvSpPr>
          <p:cNvPr id="10" name="Rounded Rectangle 9"/>
          <p:cNvSpPr/>
          <p:nvPr/>
        </p:nvSpPr>
        <p:spPr>
          <a:xfrm>
            <a:off x="142875" y="98107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Market Value, Sales Channel × End-use Application, 2026E and 2036F (US$ Mn)</a:t>
            </a:r>
          </a:p>
        </p:txBody>
      </p:sp>
      <p:graphicFrame>
        <p:nvGraphicFramePr>
          <p:cNvPr id="12" name="Table 11"/>
          <p:cNvGraphicFramePr>
            <a:graphicFrameLocks noGrp="1"/>
          </p:cNvGraphicFramePr>
          <p:nvPr/>
        </p:nvGraphicFramePr>
        <p:xfrm>
          <a:off x="152400" y="1238250"/>
          <a:ext cx="11887205" cy="2609849"/>
        </p:xfrm>
        <a:graphic>
          <a:graphicData uri="http://schemas.openxmlformats.org/drawingml/2006/table">
            <a:tbl>
              <a:tblPr>
                <a:tableStyleId>{5C22544A-7EE6-4342-B048-85BDC9FD1C3A}</a:tableStyleId>
              </a:tblPr>
              <a:tblGrid>
                <a:gridCol w="3011245">
                  <a:extLst>
                    <a:ext uri="{9D8B030D-6E8A-4147-A177-3AD203B41FA5}">
                      <a16:colId xmlns:a16="http://schemas.microsoft.com/office/drawing/2014/main" val="20000"/>
                    </a:ext>
                  </a:extLst>
                </a:gridCol>
                <a:gridCol w="887596">
                  <a:extLst>
                    <a:ext uri="{9D8B030D-6E8A-4147-A177-3AD203B41FA5}">
                      <a16:colId xmlns:a16="http://schemas.microsoft.com/office/drawing/2014/main" val="20001"/>
                    </a:ext>
                  </a:extLst>
                </a:gridCol>
                <a:gridCol w="887596">
                  <a:extLst>
                    <a:ext uri="{9D8B030D-6E8A-4147-A177-3AD203B41FA5}">
                      <a16:colId xmlns:a16="http://schemas.microsoft.com/office/drawing/2014/main" val="20002"/>
                    </a:ext>
                  </a:extLst>
                </a:gridCol>
                <a:gridCol w="887596">
                  <a:extLst>
                    <a:ext uri="{9D8B030D-6E8A-4147-A177-3AD203B41FA5}">
                      <a16:colId xmlns:a16="http://schemas.microsoft.com/office/drawing/2014/main" val="20003"/>
                    </a:ext>
                  </a:extLst>
                </a:gridCol>
                <a:gridCol w="887596">
                  <a:extLst>
                    <a:ext uri="{9D8B030D-6E8A-4147-A177-3AD203B41FA5}">
                      <a16:colId xmlns:a16="http://schemas.microsoft.com/office/drawing/2014/main" val="20004"/>
                    </a:ext>
                  </a:extLst>
                </a:gridCol>
                <a:gridCol w="887596">
                  <a:extLst>
                    <a:ext uri="{9D8B030D-6E8A-4147-A177-3AD203B41FA5}">
                      <a16:colId xmlns:a16="http://schemas.microsoft.com/office/drawing/2014/main" val="20005"/>
                    </a:ext>
                  </a:extLst>
                </a:gridCol>
                <a:gridCol w="887596">
                  <a:extLst>
                    <a:ext uri="{9D8B030D-6E8A-4147-A177-3AD203B41FA5}">
                      <a16:colId xmlns:a16="http://schemas.microsoft.com/office/drawing/2014/main" val="20006"/>
                    </a:ext>
                  </a:extLst>
                </a:gridCol>
                <a:gridCol w="887596">
                  <a:extLst>
                    <a:ext uri="{9D8B030D-6E8A-4147-A177-3AD203B41FA5}">
                      <a16:colId xmlns:a16="http://schemas.microsoft.com/office/drawing/2014/main" val="20007"/>
                    </a:ext>
                  </a:extLst>
                </a:gridCol>
                <a:gridCol w="887596">
                  <a:extLst>
                    <a:ext uri="{9D8B030D-6E8A-4147-A177-3AD203B41FA5}">
                      <a16:colId xmlns:a16="http://schemas.microsoft.com/office/drawing/2014/main" val="20008"/>
                    </a:ext>
                  </a:extLst>
                </a:gridCol>
                <a:gridCol w="887596">
                  <a:extLst>
                    <a:ext uri="{9D8B030D-6E8A-4147-A177-3AD203B41FA5}">
                      <a16:colId xmlns:a16="http://schemas.microsoft.com/office/drawing/2014/main" val="20009"/>
                    </a:ext>
                  </a:extLst>
                </a:gridCol>
                <a:gridCol w="887596">
                  <a:extLst>
                    <a:ext uri="{9D8B030D-6E8A-4147-A177-3AD203B41FA5}">
                      <a16:colId xmlns:a16="http://schemas.microsoft.com/office/drawing/2014/main" val="20010"/>
                    </a:ext>
                  </a:extLst>
                </a:gridCol>
              </a:tblGrid>
              <a:tr h="631697">
                <a:tc rowSpan="2">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Preventive Cognitive</a:t>
                      </a:r>
                      <a:endParaRPr sz="1100"/>
                    </a:p>
                    <a:p>
                      <a:pPr algn="ctr"/>
                      <a:r>
                        <a:rPr sz="1100" b="1">
                          <a:solidFill>
                            <a:srgbClr val="0B2E4A"/>
                          </a:solidFill>
                          <a:latin typeface="Calibri"/>
                        </a:rPr>
                        <a:t>Support for Senior Dogs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Support for Observable</a:t>
                      </a:r>
                      <a:endParaRPr sz="1100"/>
                    </a:p>
                    <a:p>
                      <a:pPr algn="ctr"/>
                      <a:r>
                        <a:rPr sz="1100" b="1">
                          <a:solidFill>
                            <a:srgbClr val="0B2E4A"/>
                          </a:solidFill>
                          <a:latin typeface="Calibri"/>
                        </a:rPr>
                        <a:t>Age-Related Cognitive</a:t>
                      </a:r>
                      <a:endParaRPr sz="1100"/>
                    </a:p>
                    <a:p>
                      <a:pPr algn="ctr"/>
                      <a:r>
                        <a:rPr sz="1100" b="1">
                          <a:solidFill>
                            <a:srgbClr val="0B2E4A"/>
                          </a:solidFill>
                          <a:latin typeface="Calibri"/>
                        </a:rPr>
                        <a:t>Changes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Veterinary-Guided</a:t>
                      </a:r>
                      <a:endParaRPr sz="1100"/>
                    </a:p>
                    <a:p>
                      <a:pPr algn="ctr"/>
                      <a:r>
                        <a:rPr sz="1100" b="1">
                          <a:solidFill>
                            <a:srgbClr val="0B2E4A"/>
                          </a:solidFill>
                          <a:latin typeface="Calibri"/>
                        </a:rPr>
                        <a:t>Cognitive Dysfunction</a:t>
                      </a:r>
                      <a:endParaRPr sz="1100"/>
                    </a:p>
                    <a:p>
                      <a:pPr algn="ctr"/>
                      <a:r>
                        <a:rPr sz="1100" b="1">
                          <a:solidFill>
                            <a:srgbClr val="0B2E4A"/>
                          </a:solidFill>
                          <a:latin typeface="Calibri"/>
                        </a:rPr>
                        <a:t>Support</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269">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7269">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7269">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7269">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7269">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7269">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6"/>
                  </a:ext>
                </a:extLst>
              </a:tr>
              <a:tr h="247269">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7"/>
                  </a:ext>
                </a:extLst>
              </a:tr>
              <a:tr h="247269">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3" name="TextBox 12"/>
          <p:cNvSpPr txBox="1"/>
          <p:nvPr/>
        </p:nvSpPr>
        <p:spPr>
          <a:xfrm>
            <a:off x="219075" y="385762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414935" y="2715958"/>
            <a:ext cx="366712" cy="53339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Snapshot: Sales Channel × End-use Application, 2026E vs 2036F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Global market value (US$ Mn) for each sales channel sub-segment across end-use application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Flow, Sales Channel → End-use Application, 2036F (US$ Mn)</a:t>
            </a:r>
          </a:p>
        </p:txBody>
      </p:sp>
      <p:sp>
        <p:nvSpPr>
          <p:cNvPr id="12" name="Freeform 11"/>
          <p:cNvSpPr/>
          <p:nvPr/>
        </p:nvSpPr>
        <p:spPr>
          <a:xfrm>
            <a:off x="2057400" y="1304925"/>
            <a:ext cx="3743325" cy="733425"/>
          </a:xfrm>
          <a:custGeom>
            <a:avLst/>
            <a:gdLst/>
            <a:ahLst/>
            <a:cxnLst/>
            <a:rect l="l" t="t" r="r" b="b"/>
            <a:pathLst>
              <a:path w="393" h="77">
                <a:moveTo>
                  <a:pt x="0" y="0"/>
                </a:moveTo>
                <a:lnTo>
                  <a:pt x="16" y="0"/>
                </a:lnTo>
                <a:lnTo>
                  <a:pt x="33" y="0"/>
                </a:lnTo>
                <a:lnTo>
                  <a:pt x="49" y="0"/>
                </a:lnTo>
                <a:lnTo>
                  <a:pt x="65" y="0"/>
                </a:lnTo>
                <a:lnTo>
                  <a:pt x="82" y="1"/>
                </a:lnTo>
                <a:lnTo>
                  <a:pt x="98" y="1"/>
                </a:lnTo>
                <a:lnTo>
                  <a:pt x="114" y="1"/>
                </a:lnTo>
                <a:lnTo>
                  <a:pt x="131" y="2"/>
                </a:lnTo>
                <a:lnTo>
                  <a:pt x="147" y="2"/>
                </a:lnTo>
                <a:lnTo>
                  <a:pt x="164" y="2"/>
                </a:lnTo>
                <a:lnTo>
                  <a:pt x="180" y="3"/>
                </a:lnTo>
                <a:lnTo>
                  <a:pt x="196" y="3"/>
                </a:lnTo>
                <a:lnTo>
                  <a:pt x="213" y="3"/>
                </a:lnTo>
                <a:lnTo>
                  <a:pt x="229" y="4"/>
                </a:lnTo>
                <a:lnTo>
                  <a:pt x="246" y="4"/>
                </a:lnTo>
                <a:lnTo>
                  <a:pt x="262" y="4"/>
                </a:lnTo>
                <a:lnTo>
                  <a:pt x="278" y="5"/>
                </a:lnTo>
                <a:lnTo>
                  <a:pt x="295" y="5"/>
                </a:lnTo>
                <a:lnTo>
                  <a:pt x="311" y="5"/>
                </a:lnTo>
                <a:lnTo>
                  <a:pt x="327" y="6"/>
                </a:lnTo>
                <a:lnTo>
                  <a:pt x="344" y="6"/>
                </a:lnTo>
                <a:lnTo>
                  <a:pt x="360" y="6"/>
                </a:lnTo>
                <a:lnTo>
                  <a:pt x="377" y="6"/>
                </a:lnTo>
                <a:lnTo>
                  <a:pt x="393" y="6"/>
                </a:lnTo>
                <a:lnTo>
                  <a:pt x="393" y="77"/>
                </a:lnTo>
                <a:lnTo>
                  <a:pt x="377" y="77"/>
                </a:lnTo>
                <a:lnTo>
                  <a:pt x="360" y="77"/>
                </a:lnTo>
                <a:lnTo>
                  <a:pt x="344" y="77"/>
                </a:lnTo>
                <a:lnTo>
                  <a:pt x="327" y="77"/>
                </a:lnTo>
                <a:lnTo>
                  <a:pt x="311" y="76"/>
                </a:lnTo>
                <a:lnTo>
                  <a:pt x="295" y="76"/>
                </a:lnTo>
                <a:lnTo>
                  <a:pt x="278" y="76"/>
                </a:lnTo>
                <a:lnTo>
                  <a:pt x="262" y="75"/>
                </a:lnTo>
                <a:lnTo>
                  <a:pt x="246" y="75"/>
                </a:lnTo>
                <a:lnTo>
                  <a:pt x="229" y="75"/>
                </a:lnTo>
                <a:lnTo>
                  <a:pt x="213" y="74"/>
                </a:lnTo>
                <a:lnTo>
                  <a:pt x="196" y="74"/>
                </a:lnTo>
                <a:lnTo>
                  <a:pt x="180" y="74"/>
                </a:lnTo>
                <a:lnTo>
                  <a:pt x="164" y="73"/>
                </a:lnTo>
                <a:lnTo>
                  <a:pt x="147" y="73"/>
                </a:lnTo>
                <a:lnTo>
                  <a:pt x="131" y="73"/>
                </a:lnTo>
                <a:lnTo>
                  <a:pt x="114" y="72"/>
                </a:lnTo>
                <a:lnTo>
                  <a:pt x="98" y="72"/>
                </a:lnTo>
                <a:lnTo>
                  <a:pt x="82" y="72"/>
                </a:lnTo>
                <a:lnTo>
                  <a:pt x="65" y="71"/>
                </a:lnTo>
                <a:lnTo>
                  <a:pt x="49" y="71"/>
                </a:lnTo>
                <a:lnTo>
                  <a:pt x="33" y="71"/>
                </a:lnTo>
                <a:lnTo>
                  <a:pt x="16" y="71"/>
                </a:lnTo>
                <a:lnTo>
                  <a:pt x="0" y="7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2057400" y="1981200"/>
            <a:ext cx="3743325" cy="2486025"/>
          </a:xfrm>
          <a:custGeom>
            <a:avLst/>
            <a:gdLst/>
            <a:ahLst/>
            <a:cxnLst/>
            <a:rect l="l" t="t" r="r" b="b"/>
            <a:pathLst>
              <a:path w="393" h="261">
                <a:moveTo>
                  <a:pt x="0" y="0"/>
                </a:moveTo>
                <a:lnTo>
                  <a:pt x="16" y="1"/>
                </a:lnTo>
                <a:lnTo>
                  <a:pt x="33" y="5"/>
                </a:lnTo>
                <a:lnTo>
                  <a:pt x="49" y="10"/>
                </a:lnTo>
                <a:lnTo>
                  <a:pt x="65" y="17"/>
                </a:lnTo>
                <a:lnTo>
                  <a:pt x="82" y="26"/>
                </a:lnTo>
                <a:lnTo>
                  <a:pt x="98" y="36"/>
                </a:lnTo>
                <a:lnTo>
                  <a:pt x="114" y="48"/>
                </a:lnTo>
                <a:lnTo>
                  <a:pt x="131" y="60"/>
                </a:lnTo>
                <a:lnTo>
                  <a:pt x="147" y="74"/>
                </a:lnTo>
                <a:lnTo>
                  <a:pt x="164" y="88"/>
                </a:lnTo>
                <a:lnTo>
                  <a:pt x="180" y="102"/>
                </a:lnTo>
                <a:lnTo>
                  <a:pt x="196" y="117"/>
                </a:lnTo>
                <a:lnTo>
                  <a:pt x="213" y="131"/>
                </a:lnTo>
                <a:lnTo>
                  <a:pt x="229" y="145"/>
                </a:lnTo>
                <a:lnTo>
                  <a:pt x="246" y="159"/>
                </a:lnTo>
                <a:lnTo>
                  <a:pt x="262" y="173"/>
                </a:lnTo>
                <a:lnTo>
                  <a:pt x="278" y="185"/>
                </a:lnTo>
                <a:lnTo>
                  <a:pt x="295" y="197"/>
                </a:lnTo>
                <a:lnTo>
                  <a:pt x="311" y="207"/>
                </a:lnTo>
                <a:lnTo>
                  <a:pt x="327" y="216"/>
                </a:lnTo>
                <a:lnTo>
                  <a:pt x="344" y="223"/>
                </a:lnTo>
                <a:lnTo>
                  <a:pt x="360" y="229"/>
                </a:lnTo>
                <a:lnTo>
                  <a:pt x="377" y="232"/>
                </a:lnTo>
                <a:lnTo>
                  <a:pt x="393" y="233"/>
                </a:lnTo>
                <a:lnTo>
                  <a:pt x="393" y="261"/>
                </a:lnTo>
                <a:lnTo>
                  <a:pt x="377" y="260"/>
                </a:lnTo>
                <a:lnTo>
                  <a:pt x="360" y="256"/>
                </a:lnTo>
                <a:lnTo>
                  <a:pt x="344" y="251"/>
                </a:lnTo>
                <a:lnTo>
                  <a:pt x="327" y="244"/>
                </a:lnTo>
                <a:lnTo>
                  <a:pt x="311" y="235"/>
                </a:lnTo>
                <a:lnTo>
                  <a:pt x="295" y="225"/>
                </a:lnTo>
                <a:lnTo>
                  <a:pt x="278" y="213"/>
                </a:lnTo>
                <a:lnTo>
                  <a:pt x="262" y="201"/>
                </a:lnTo>
                <a:lnTo>
                  <a:pt x="246" y="187"/>
                </a:lnTo>
                <a:lnTo>
                  <a:pt x="229" y="173"/>
                </a:lnTo>
                <a:lnTo>
                  <a:pt x="213" y="159"/>
                </a:lnTo>
                <a:lnTo>
                  <a:pt x="196" y="144"/>
                </a:lnTo>
                <a:lnTo>
                  <a:pt x="180" y="130"/>
                </a:lnTo>
                <a:lnTo>
                  <a:pt x="164" y="116"/>
                </a:lnTo>
                <a:lnTo>
                  <a:pt x="147" y="102"/>
                </a:lnTo>
                <a:lnTo>
                  <a:pt x="131" y="88"/>
                </a:lnTo>
                <a:lnTo>
                  <a:pt x="114" y="76"/>
                </a:lnTo>
                <a:lnTo>
                  <a:pt x="98" y="64"/>
                </a:lnTo>
                <a:lnTo>
                  <a:pt x="82" y="54"/>
                </a:lnTo>
                <a:lnTo>
                  <a:pt x="65" y="45"/>
                </a:lnTo>
                <a:lnTo>
                  <a:pt x="49" y="38"/>
                </a:lnTo>
                <a:lnTo>
                  <a:pt x="33" y="32"/>
                </a:lnTo>
                <a:lnTo>
                  <a:pt x="16" y="29"/>
                </a:lnTo>
                <a:lnTo>
                  <a:pt x="0" y="2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2057400" y="2247900"/>
            <a:ext cx="3743325" cy="3257550"/>
          </a:xfrm>
          <a:custGeom>
            <a:avLst/>
            <a:gdLst/>
            <a:ahLst/>
            <a:cxnLst/>
            <a:rect l="l" t="t" r="r" b="b"/>
            <a:pathLst>
              <a:path w="393" h="342">
                <a:moveTo>
                  <a:pt x="0" y="0"/>
                </a:moveTo>
                <a:lnTo>
                  <a:pt x="16" y="2"/>
                </a:lnTo>
                <a:lnTo>
                  <a:pt x="33" y="6"/>
                </a:lnTo>
                <a:lnTo>
                  <a:pt x="49" y="14"/>
                </a:lnTo>
                <a:lnTo>
                  <a:pt x="65" y="24"/>
                </a:lnTo>
                <a:lnTo>
                  <a:pt x="82" y="37"/>
                </a:lnTo>
                <a:lnTo>
                  <a:pt x="98" y="51"/>
                </a:lnTo>
                <a:lnTo>
                  <a:pt x="114" y="67"/>
                </a:lnTo>
                <a:lnTo>
                  <a:pt x="131" y="85"/>
                </a:lnTo>
                <a:lnTo>
                  <a:pt x="147" y="103"/>
                </a:lnTo>
                <a:lnTo>
                  <a:pt x="164" y="123"/>
                </a:lnTo>
                <a:lnTo>
                  <a:pt x="180" y="143"/>
                </a:lnTo>
                <a:lnTo>
                  <a:pt x="196" y="164"/>
                </a:lnTo>
                <a:lnTo>
                  <a:pt x="213" y="184"/>
                </a:lnTo>
                <a:lnTo>
                  <a:pt x="229" y="204"/>
                </a:lnTo>
                <a:lnTo>
                  <a:pt x="246" y="224"/>
                </a:lnTo>
                <a:lnTo>
                  <a:pt x="262" y="242"/>
                </a:lnTo>
                <a:lnTo>
                  <a:pt x="278" y="260"/>
                </a:lnTo>
                <a:lnTo>
                  <a:pt x="295" y="276"/>
                </a:lnTo>
                <a:lnTo>
                  <a:pt x="311" y="291"/>
                </a:lnTo>
                <a:lnTo>
                  <a:pt x="327" y="303"/>
                </a:lnTo>
                <a:lnTo>
                  <a:pt x="344" y="313"/>
                </a:lnTo>
                <a:lnTo>
                  <a:pt x="360" y="321"/>
                </a:lnTo>
                <a:lnTo>
                  <a:pt x="377" y="326"/>
                </a:lnTo>
                <a:lnTo>
                  <a:pt x="393" y="327"/>
                </a:lnTo>
                <a:lnTo>
                  <a:pt x="393" y="342"/>
                </a:lnTo>
                <a:lnTo>
                  <a:pt x="377" y="340"/>
                </a:lnTo>
                <a:lnTo>
                  <a:pt x="360" y="335"/>
                </a:lnTo>
                <a:lnTo>
                  <a:pt x="344" y="328"/>
                </a:lnTo>
                <a:lnTo>
                  <a:pt x="327" y="318"/>
                </a:lnTo>
                <a:lnTo>
                  <a:pt x="311" y="305"/>
                </a:lnTo>
                <a:lnTo>
                  <a:pt x="295" y="291"/>
                </a:lnTo>
                <a:lnTo>
                  <a:pt x="278" y="275"/>
                </a:lnTo>
                <a:lnTo>
                  <a:pt x="262" y="257"/>
                </a:lnTo>
                <a:lnTo>
                  <a:pt x="246" y="238"/>
                </a:lnTo>
                <a:lnTo>
                  <a:pt x="229" y="219"/>
                </a:lnTo>
                <a:lnTo>
                  <a:pt x="213" y="199"/>
                </a:lnTo>
                <a:lnTo>
                  <a:pt x="196" y="178"/>
                </a:lnTo>
                <a:lnTo>
                  <a:pt x="180" y="158"/>
                </a:lnTo>
                <a:lnTo>
                  <a:pt x="164" y="138"/>
                </a:lnTo>
                <a:lnTo>
                  <a:pt x="147" y="118"/>
                </a:lnTo>
                <a:lnTo>
                  <a:pt x="131" y="99"/>
                </a:lnTo>
                <a:lnTo>
                  <a:pt x="114" y="82"/>
                </a:lnTo>
                <a:lnTo>
                  <a:pt x="98" y="66"/>
                </a:lnTo>
                <a:lnTo>
                  <a:pt x="82" y="51"/>
                </a:lnTo>
                <a:lnTo>
                  <a:pt x="65" y="39"/>
                </a:lnTo>
                <a:lnTo>
                  <a:pt x="49" y="29"/>
                </a:lnTo>
                <a:lnTo>
                  <a:pt x="33" y="21"/>
                </a:lnTo>
                <a:lnTo>
                  <a:pt x="16" y="16"/>
                </a:lnTo>
                <a:lnTo>
                  <a:pt x="0" y="1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2057400" y="2390775"/>
            <a:ext cx="3743325" cy="3705225"/>
          </a:xfrm>
          <a:custGeom>
            <a:avLst/>
            <a:gdLst/>
            <a:ahLst/>
            <a:cxnLst/>
            <a:rect l="l" t="t" r="r" b="b"/>
            <a:pathLst>
              <a:path w="393" h="389">
                <a:moveTo>
                  <a:pt x="0" y="0"/>
                </a:moveTo>
                <a:lnTo>
                  <a:pt x="16" y="1"/>
                </a:lnTo>
                <a:lnTo>
                  <a:pt x="33" y="7"/>
                </a:lnTo>
                <a:lnTo>
                  <a:pt x="49" y="16"/>
                </a:lnTo>
                <a:lnTo>
                  <a:pt x="65" y="27"/>
                </a:lnTo>
                <a:lnTo>
                  <a:pt x="82" y="42"/>
                </a:lnTo>
                <a:lnTo>
                  <a:pt x="98" y="58"/>
                </a:lnTo>
                <a:lnTo>
                  <a:pt x="114" y="77"/>
                </a:lnTo>
                <a:lnTo>
                  <a:pt x="131" y="97"/>
                </a:lnTo>
                <a:lnTo>
                  <a:pt x="147" y="118"/>
                </a:lnTo>
                <a:lnTo>
                  <a:pt x="164" y="140"/>
                </a:lnTo>
                <a:lnTo>
                  <a:pt x="180" y="163"/>
                </a:lnTo>
                <a:lnTo>
                  <a:pt x="196" y="187"/>
                </a:lnTo>
                <a:lnTo>
                  <a:pt x="213" y="210"/>
                </a:lnTo>
                <a:lnTo>
                  <a:pt x="229" y="233"/>
                </a:lnTo>
                <a:lnTo>
                  <a:pt x="246" y="256"/>
                </a:lnTo>
                <a:lnTo>
                  <a:pt x="262" y="277"/>
                </a:lnTo>
                <a:lnTo>
                  <a:pt x="278" y="297"/>
                </a:lnTo>
                <a:lnTo>
                  <a:pt x="295" y="316"/>
                </a:lnTo>
                <a:lnTo>
                  <a:pt x="311" y="332"/>
                </a:lnTo>
                <a:lnTo>
                  <a:pt x="327" y="346"/>
                </a:lnTo>
                <a:lnTo>
                  <a:pt x="344" y="358"/>
                </a:lnTo>
                <a:lnTo>
                  <a:pt x="360" y="367"/>
                </a:lnTo>
                <a:lnTo>
                  <a:pt x="377" y="372"/>
                </a:lnTo>
                <a:lnTo>
                  <a:pt x="393" y="374"/>
                </a:lnTo>
                <a:lnTo>
                  <a:pt x="393" y="389"/>
                </a:lnTo>
                <a:lnTo>
                  <a:pt x="377" y="387"/>
                </a:lnTo>
                <a:lnTo>
                  <a:pt x="360" y="382"/>
                </a:lnTo>
                <a:lnTo>
                  <a:pt x="344" y="373"/>
                </a:lnTo>
                <a:lnTo>
                  <a:pt x="327" y="361"/>
                </a:lnTo>
                <a:lnTo>
                  <a:pt x="311" y="347"/>
                </a:lnTo>
                <a:lnTo>
                  <a:pt x="295" y="331"/>
                </a:lnTo>
                <a:lnTo>
                  <a:pt x="278" y="312"/>
                </a:lnTo>
                <a:lnTo>
                  <a:pt x="262" y="292"/>
                </a:lnTo>
                <a:lnTo>
                  <a:pt x="246" y="271"/>
                </a:lnTo>
                <a:lnTo>
                  <a:pt x="229" y="248"/>
                </a:lnTo>
                <a:lnTo>
                  <a:pt x="213" y="225"/>
                </a:lnTo>
                <a:lnTo>
                  <a:pt x="196" y="202"/>
                </a:lnTo>
                <a:lnTo>
                  <a:pt x="180" y="178"/>
                </a:lnTo>
                <a:lnTo>
                  <a:pt x="164" y="155"/>
                </a:lnTo>
                <a:lnTo>
                  <a:pt x="147" y="133"/>
                </a:lnTo>
                <a:lnTo>
                  <a:pt x="131" y="112"/>
                </a:lnTo>
                <a:lnTo>
                  <a:pt x="114" y="92"/>
                </a:lnTo>
                <a:lnTo>
                  <a:pt x="98" y="73"/>
                </a:lnTo>
                <a:lnTo>
                  <a:pt x="82" y="57"/>
                </a:lnTo>
                <a:lnTo>
                  <a:pt x="65" y="42"/>
                </a:lnTo>
                <a:lnTo>
                  <a:pt x="49" y="31"/>
                </a:lnTo>
                <a:lnTo>
                  <a:pt x="33" y="22"/>
                </a:lnTo>
                <a:lnTo>
                  <a:pt x="16" y="16"/>
                </a:lnTo>
                <a:lnTo>
                  <a:pt x="0" y="1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2057400" y="2038350"/>
            <a:ext cx="3743325" cy="1200150"/>
          </a:xfrm>
          <a:custGeom>
            <a:avLst/>
            <a:gdLst/>
            <a:ahLst/>
            <a:cxnLst/>
            <a:rect l="l" t="t" r="r" b="b"/>
            <a:pathLst>
              <a:path w="393" h="126">
                <a:moveTo>
                  <a:pt x="0" y="58"/>
                </a:moveTo>
                <a:lnTo>
                  <a:pt x="16" y="57"/>
                </a:lnTo>
                <a:lnTo>
                  <a:pt x="33" y="56"/>
                </a:lnTo>
                <a:lnTo>
                  <a:pt x="49" y="55"/>
                </a:lnTo>
                <a:lnTo>
                  <a:pt x="65" y="53"/>
                </a:lnTo>
                <a:lnTo>
                  <a:pt x="82" y="51"/>
                </a:lnTo>
                <a:lnTo>
                  <a:pt x="98" y="49"/>
                </a:lnTo>
                <a:lnTo>
                  <a:pt x="114" y="46"/>
                </a:lnTo>
                <a:lnTo>
                  <a:pt x="131" y="43"/>
                </a:lnTo>
                <a:lnTo>
                  <a:pt x="147" y="39"/>
                </a:lnTo>
                <a:lnTo>
                  <a:pt x="164" y="36"/>
                </a:lnTo>
                <a:lnTo>
                  <a:pt x="180" y="32"/>
                </a:lnTo>
                <a:lnTo>
                  <a:pt x="196" y="29"/>
                </a:lnTo>
                <a:lnTo>
                  <a:pt x="213" y="25"/>
                </a:lnTo>
                <a:lnTo>
                  <a:pt x="229" y="22"/>
                </a:lnTo>
                <a:lnTo>
                  <a:pt x="246" y="18"/>
                </a:lnTo>
                <a:lnTo>
                  <a:pt x="262" y="15"/>
                </a:lnTo>
                <a:lnTo>
                  <a:pt x="278" y="12"/>
                </a:lnTo>
                <a:lnTo>
                  <a:pt x="295" y="9"/>
                </a:lnTo>
                <a:lnTo>
                  <a:pt x="311" y="6"/>
                </a:lnTo>
                <a:lnTo>
                  <a:pt x="327" y="4"/>
                </a:lnTo>
                <a:lnTo>
                  <a:pt x="344" y="2"/>
                </a:lnTo>
                <a:lnTo>
                  <a:pt x="360" y="1"/>
                </a:lnTo>
                <a:lnTo>
                  <a:pt x="377" y="0"/>
                </a:lnTo>
                <a:lnTo>
                  <a:pt x="393" y="0"/>
                </a:lnTo>
                <a:lnTo>
                  <a:pt x="393" y="69"/>
                </a:lnTo>
                <a:lnTo>
                  <a:pt x="377" y="69"/>
                </a:lnTo>
                <a:lnTo>
                  <a:pt x="360" y="70"/>
                </a:lnTo>
                <a:lnTo>
                  <a:pt x="344" y="71"/>
                </a:lnTo>
                <a:lnTo>
                  <a:pt x="327" y="73"/>
                </a:lnTo>
                <a:lnTo>
                  <a:pt x="311" y="75"/>
                </a:lnTo>
                <a:lnTo>
                  <a:pt x="295" y="78"/>
                </a:lnTo>
                <a:lnTo>
                  <a:pt x="278" y="81"/>
                </a:lnTo>
                <a:lnTo>
                  <a:pt x="262" y="84"/>
                </a:lnTo>
                <a:lnTo>
                  <a:pt x="246" y="87"/>
                </a:lnTo>
                <a:lnTo>
                  <a:pt x="229" y="91"/>
                </a:lnTo>
                <a:lnTo>
                  <a:pt x="213" y="94"/>
                </a:lnTo>
                <a:lnTo>
                  <a:pt x="196" y="98"/>
                </a:lnTo>
                <a:lnTo>
                  <a:pt x="180" y="101"/>
                </a:lnTo>
                <a:lnTo>
                  <a:pt x="164" y="105"/>
                </a:lnTo>
                <a:lnTo>
                  <a:pt x="147" y="108"/>
                </a:lnTo>
                <a:lnTo>
                  <a:pt x="131" y="112"/>
                </a:lnTo>
                <a:lnTo>
                  <a:pt x="114" y="115"/>
                </a:lnTo>
                <a:lnTo>
                  <a:pt x="98" y="118"/>
                </a:lnTo>
                <a:lnTo>
                  <a:pt x="82" y="120"/>
                </a:lnTo>
                <a:lnTo>
                  <a:pt x="65" y="122"/>
                </a:lnTo>
                <a:lnTo>
                  <a:pt x="49" y="124"/>
                </a:lnTo>
                <a:lnTo>
                  <a:pt x="33" y="125"/>
                </a:lnTo>
                <a:lnTo>
                  <a:pt x="16" y="126"/>
                </a:lnTo>
                <a:lnTo>
                  <a:pt x="0" y="12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2057400" y="3238500"/>
            <a:ext cx="3743325" cy="1466850"/>
          </a:xfrm>
          <a:custGeom>
            <a:avLst/>
            <a:gdLst/>
            <a:ahLst/>
            <a:cxnLst/>
            <a:rect l="l" t="t" r="r" b="b"/>
            <a:pathLst>
              <a:path w="393" h="154">
                <a:moveTo>
                  <a:pt x="0" y="0"/>
                </a:moveTo>
                <a:lnTo>
                  <a:pt x="16" y="1"/>
                </a:lnTo>
                <a:lnTo>
                  <a:pt x="33" y="3"/>
                </a:lnTo>
                <a:lnTo>
                  <a:pt x="49" y="6"/>
                </a:lnTo>
                <a:lnTo>
                  <a:pt x="65" y="10"/>
                </a:lnTo>
                <a:lnTo>
                  <a:pt x="82" y="15"/>
                </a:lnTo>
                <a:lnTo>
                  <a:pt x="98" y="21"/>
                </a:lnTo>
                <a:lnTo>
                  <a:pt x="114" y="27"/>
                </a:lnTo>
                <a:lnTo>
                  <a:pt x="131" y="34"/>
                </a:lnTo>
                <a:lnTo>
                  <a:pt x="147" y="41"/>
                </a:lnTo>
                <a:lnTo>
                  <a:pt x="164" y="49"/>
                </a:lnTo>
                <a:lnTo>
                  <a:pt x="180" y="57"/>
                </a:lnTo>
                <a:lnTo>
                  <a:pt x="196" y="65"/>
                </a:lnTo>
                <a:lnTo>
                  <a:pt x="213" y="73"/>
                </a:lnTo>
                <a:lnTo>
                  <a:pt x="229" y="81"/>
                </a:lnTo>
                <a:lnTo>
                  <a:pt x="246" y="88"/>
                </a:lnTo>
                <a:lnTo>
                  <a:pt x="262" y="96"/>
                </a:lnTo>
                <a:lnTo>
                  <a:pt x="278" y="103"/>
                </a:lnTo>
                <a:lnTo>
                  <a:pt x="295" y="109"/>
                </a:lnTo>
                <a:lnTo>
                  <a:pt x="311" y="115"/>
                </a:lnTo>
                <a:lnTo>
                  <a:pt x="327" y="119"/>
                </a:lnTo>
                <a:lnTo>
                  <a:pt x="344" y="123"/>
                </a:lnTo>
                <a:lnTo>
                  <a:pt x="360" y="126"/>
                </a:lnTo>
                <a:lnTo>
                  <a:pt x="377" y="128"/>
                </a:lnTo>
                <a:lnTo>
                  <a:pt x="393" y="129"/>
                </a:lnTo>
                <a:lnTo>
                  <a:pt x="393" y="154"/>
                </a:lnTo>
                <a:lnTo>
                  <a:pt x="377" y="153"/>
                </a:lnTo>
                <a:lnTo>
                  <a:pt x="360" y="152"/>
                </a:lnTo>
                <a:lnTo>
                  <a:pt x="344" y="149"/>
                </a:lnTo>
                <a:lnTo>
                  <a:pt x="327" y="145"/>
                </a:lnTo>
                <a:lnTo>
                  <a:pt x="311" y="140"/>
                </a:lnTo>
                <a:lnTo>
                  <a:pt x="295" y="134"/>
                </a:lnTo>
                <a:lnTo>
                  <a:pt x="278" y="128"/>
                </a:lnTo>
                <a:lnTo>
                  <a:pt x="262" y="121"/>
                </a:lnTo>
                <a:lnTo>
                  <a:pt x="246" y="113"/>
                </a:lnTo>
                <a:lnTo>
                  <a:pt x="229" y="106"/>
                </a:lnTo>
                <a:lnTo>
                  <a:pt x="213" y="98"/>
                </a:lnTo>
                <a:lnTo>
                  <a:pt x="196" y="90"/>
                </a:lnTo>
                <a:lnTo>
                  <a:pt x="180" y="82"/>
                </a:lnTo>
                <a:lnTo>
                  <a:pt x="164" y="74"/>
                </a:lnTo>
                <a:lnTo>
                  <a:pt x="147" y="66"/>
                </a:lnTo>
                <a:lnTo>
                  <a:pt x="131" y="59"/>
                </a:lnTo>
                <a:lnTo>
                  <a:pt x="114" y="52"/>
                </a:lnTo>
                <a:lnTo>
                  <a:pt x="98" y="46"/>
                </a:lnTo>
                <a:lnTo>
                  <a:pt x="82" y="40"/>
                </a:lnTo>
                <a:lnTo>
                  <a:pt x="65" y="35"/>
                </a:lnTo>
                <a:lnTo>
                  <a:pt x="49" y="31"/>
                </a:lnTo>
                <a:lnTo>
                  <a:pt x="33" y="28"/>
                </a:lnTo>
                <a:lnTo>
                  <a:pt x="16" y="26"/>
                </a:lnTo>
                <a:lnTo>
                  <a:pt x="0" y="2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2057400" y="3486150"/>
            <a:ext cx="3743325" cy="2114550"/>
          </a:xfrm>
          <a:custGeom>
            <a:avLst/>
            <a:gdLst/>
            <a:ahLst/>
            <a:cxnLst/>
            <a:rect l="l" t="t" r="r" b="b"/>
            <a:pathLst>
              <a:path w="393" h="222">
                <a:moveTo>
                  <a:pt x="0" y="0"/>
                </a:moveTo>
                <a:lnTo>
                  <a:pt x="16" y="1"/>
                </a:lnTo>
                <a:lnTo>
                  <a:pt x="33" y="4"/>
                </a:lnTo>
                <a:lnTo>
                  <a:pt x="49" y="9"/>
                </a:lnTo>
                <a:lnTo>
                  <a:pt x="65" y="15"/>
                </a:lnTo>
                <a:lnTo>
                  <a:pt x="82" y="23"/>
                </a:lnTo>
                <a:lnTo>
                  <a:pt x="98" y="33"/>
                </a:lnTo>
                <a:lnTo>
                  <a:pt x="114" y="43"/>
                </a:lnTo>
                <a:lnTo>
                  <a:pt x="131" y="55"/>
                </a:lnTo>
                <a:lnTo>
                  <a:pt x="147" y="67"/>
                </a:lnTo>
                <a:lnTo>
                  <a:pt x="164" y="79"/>
                </a:lnTo>
                <a:lnTo>
                  <a:pt x="180" y="92"/>
                </a:lnTo>
                <a:lnTo>
                  <a:pt x="196" y="106"/>
                </a:lnTo>
                <a:lnTo>
                  <a:pt x="213" y="119"/>
                </a:lnTo>
                <a:lnTo>
                  <a:pt x="229" y="132"/>
                </a:lnTo>
                <a:lnTo>
                  <a:pt x="246" y="145"/>
                </a:lnTo>
                <a:lnTo>
                  <a:pt x="262" y="157"/>
                </a:lnTo>
                <a:lnTo>
                  <a:pt x="278" y="168"/>
                </a:lnTo>
                <a:lnTo>
                  <a:pt x="295" y="179"/>
                </a:lnTo>
                <a:lnTo>
                  <a:pt x="311" y="188"/>
                </a:lnTo>
                <a:lnTo>
                  <a:pt x="327" y="196"/>
                </a:lnTo>
                <a:lnTo>
                  <a:pt x="344" y="203"/>
                </a:lnTo>
                <a:lnTo>
                  <a:pt x="360" y="208"/>
                </a:lnTo>
                <a:lnTo>
                  <a:pt x="377" y="211"/>
                </a:lnTo>
                <a:lnTo>
                  <a:pt x="393" y="212"/>
                </a:lnTo>
                <a:lnTo>
                  <a:pt x="393" y="222"/>
                </a:lnTo>
                <a:lnTo>
                  <a:pt x="377" y="221"/>
                </a:lnTo>
                <a:lnTo>
                  <a:pt x="360" y="218"/>
                </a:lnTo>
                <a:lnTo>
                  <a:pt x="344" y="213"/>
                </a:lnTo>
                <a:lnTo>
                  <a:pt x="327" y="206"/>
                </a:lnTo>
                <a:lnTo>
                  <a:pt x="311" y="198"/>
                </a:lnTo>
                <a:lnTo>
                  <a:pt x="295" y="189"/>
                </a:lnTo>
                <a:lnTo>
                  <a:pt x="278" y="178"/>
                </a:lnTo>
                <a:lnTo>
                  <a:pt x="262" y="167"/>
                </a:lnTo>
                <a:lnTo>
                  <a:pt x="246" y="155"/>
                </a:lnTo>
                <a:lnTo>
                  <a:pt x="229" y="142"/>
                </a:lnTo>
                <a:lnTo>
                  <a:pt x="213" y="129"/>
                </a:lnTo>
                <a:lnTo>
                  <a:pt x="196" y="116"/>
                </a:lnTo>
                <a:lnTo>
                  <a:pt x="180" y="103"/>
                </a:lnTo>
                <a:lnTo>
                  <a:pt x="164" y="90"/>
                </a:lnTo>
                <a:lnTo>
                  <a:pt x="147" y="77"/>
                </a:lnTo>
                <a:lnTo>
                  <a:pt x="131" y="65"/>
                </a:lnTo>
                <a:lnTo>
                  <a:pt x="114" y="53"/>
                </a:lnTo>
                <a:lnTo>
                  <a:pt x="98" y="43"/>
                </a:lnTo>
                <a:lnTo>
                  <a:pt x="82" y="34"/>
                </a:lnTo>
                <a:lnTo>
                  <a:pt x="65" y="26"/>
                </a:lnTo>
                <a:lnTo>
                  <a:pt x="49" y="19"/>
                </a:lnTo>
                <a:lnTo>
                  <a:pt x="33" y="14"/>
                </a:lnTo>
                <a:lnTo>
                  <a:pt x="16" y="11"/>
                </a:lnTo>
                <a:lnTo>
                  <a:pt x="0" y="1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2057400" y="3581400"/>
            <a:ext cx="3743325" cy="2628900"/>
          </a:xfrm>
          <a:custGeom>
            <a:avLst/>
            <a:gdLst/>
            <a:ahLst/>
            <a:cxnLst/>
            <a:rect l="l" t="t" r="r" b="b"/>
            <a:pathLst>
              <a:path w="393" h="276">
                <a:moveTo>
                  <a:pt x="0" y="0"/>
                </a:moveTo>
                <a:lnTo>
                  <a:pt x="16" y="1"/>
                </a:lnTo>
                <a:lnTo>
                  <a:pt x="33" y="5"/>
                </a:lnTo>
                <a:lnTo>
                  <a:pt x="49" y="11"/>
                </a:lnTo>
                <a:lnTo>
                  <a:pt x="65" y="19"/>
                </a:lnTo>
                <a:lnTo>
                  <a:pt x="82" y="29"/>
                </a:lnTo>
                <a:lnTo>
                  <a:pt x="98" y="41"/>
                </a:lnTo>
                <a:lnTo>
                  <a:pt x="114" y="54"/>
                </a:lnTo>
                <a:lnTo>
                  <a:pt x="131" y="68"/>
                </a:lnTo>
                <a:lnTo>
                  <a:pt x="147" y="83"/>
                </a:lnTo>
                <a:lnTo>
                  <a:pt x="164" y="99"/>
                </a:lnTo>
                <a:lnTo>
                  <a:pt x="180" y="115"/>
                </a:lnTo>
                <a:lnTo>
                  <a:pt x="196" y="132"/>
                </a:lnTo>
                <a:lnTo>
                  <a:pt x="213" y="148"/>
                </a:lnTo>
                <a:lnTo>
                  <a:pt x="229" y="165"/>
                </a:lnTo>
                <a:lnTo>
                  <a:pt x="246" y="180"/>
                </a:lnTo>
                <a:lnTo>
                  <a:pt x="262" y="196"/>
                </a:lnTo>
                <a:lnTo>
                  <a:pt x="278" y="210"/>
                </a:lnTo>
                <a:lnTo>
                  <a:pt x="295" y="223"/>
                </a:lnTo>
                <a:lnTo>
                  <a:pt x="311" y="234"/>
                </a:lnTo>
                <a:lnTo>
                  <a:pt x="327" y="244"/>
                </a:lnTo>
                <a:lnTo>
                  <a:pt x="344" y="253"/>
                </a:lnTo>
                <a:lnTo>
                  <a:pt x="360" y="259"/>
                </a:lnTo>
                <a:lnTo>
                  <a:pt x="377" y="263"/>
                </a:lnTo>
                <a:lnTo>
                  <a:pt x="393" y="264"/>
                </a:lnTo>
                <a:lnTo>
                  <a:pt x="393" y="276"/>
                </a:lnTo>
                <a:lnTo>
                  <a:pt x="377" y="274"/>
                </a:lnTo>
                <a:lnTo>
                  <a:pt x="360" y="270"/>
                </a:lnTo>
                <a:lnTo>
                  <a:pt x="344" y="264"/>
                </a:lnTo>
                <a:lnTo>
                  <a:pt x="327" y="256"/>
                </a:lnTo>
                <a:lnTo>
                  <a:pt x="311" y="246"/>
                </a:lnTo>
                <a:lnTo>
                  <a:pt x="295" y="234"/>
                </a:lnTo>
                <a:lnTo>
                  <a:pt x="278" y="221"/>
                </a:lnTo>
                <a:lnTo>
                  <a:pt x="262" y="207"/>
                </a:lnTo>
                <a:lnTo>
                  <a:pt x="246" y="192"/>
                </a:lnTo>
                <a:lnTo>
                  <a:pt x="229" y="176"/>
                </a:lnTo>
                <a:lnTo>
                  <a:pt x="213" y="160"/>
                </a:lnTo>
                <a:lnTo>
                  <a:pt x="196" y="143"/>
                </a:lnTo>
                <a:lnTo>
                  <a:pt x="180" y="127"/>
                </a:lnTo>
                <a:lnTo>
                  <a:pt x="164" y="111"/>
                </a:lnTo>
                <a:lnTo>
                  <a:pt x="147" y="95"/>
                </a:lnTo>
                <a:lnTo>
                  <a:pt x="131" y="80"/>
                </a:lnTo>
                <a:lnTo>
                  <a:pt x="114" y="66"/>
                </a:lnTo>
                <a:lnTo>
                  <a:pt x="98" y="53"/>
                </a:lnTo>
                <a:lnTo>
                  <a:pt x="82" y="41"/>
                </a:lnTo>
                <a:lnTo>
                  <a:pt x="65" y="31"/>
                </a:lnTo>
                <a:lnTo>
                  <a:pt x="49" y="23"/>
                </a:lnTo>
                <a:lnTo>
                  <a:pt x="33" y="16"/>
                </a:lnTo>
                <a:lnTo>
                  <a:pt x="16" y="13"/>
                </a:lnTo>
                <a:lnTo>
                  <a:pt x="0" y="1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2057400" y="2695575"/>
            <a:ext cx="3743325" cy="1647825"/>
          </a:xfrm>
          <a:custGeom>
            <a:avLst/>
            <a:gdLst/>
            <a:ahLst/>
            <a:cxnLst/>
            <a:rect l="l" t="t" r="r" b="b"/>
            <a:pathLst>
              <a:path w="393" h="173">
                <a:moveTo>
                  <a:pt x="0" y="110"/>
                </a:moveTo>
                <a:lnTo>
                  <a:pt x="16" y="110"/>
                </a:lnTo>
                <a:lnTo>
                  <a:pt x="33" y="108"/>
                </a:lnTo>
                <a:lnTo>
                  <a:pt x="49" y="106"/>
                </a:lnTo>
                <a:lnTo>
                  <a:pt x="65" y="102"/>
                </a:lnTo>
                <a:lnTo>
                  <a:pt x="82" y="98"/>
                </a:lnTo>
                <a:lnTo>
                  <a:pt x="98" y="93"/>
                </a:lnTo>
                <a:lnTo>
                  <a:pt x="114" y="88"/>
                </a:lnTo>
                <a:lnTo>
                  <a:pt x="131" y="82"/>
                </a:lnTo>
                <a:lnTo>
                  <a:pt x="147" y="75"/>
                </a:lnTo>
                <a:lnTo>
                  <a:pt x="164" y="69"/>
                </a:lnTo>
                <a:lnTo>
                  <a:pt x="180" y="62"/>
                </a:lnTo>
                <a:lnTo>
                  <a:pt x="196" y="55"/>
                </a:lnTo>
                <a:lnTo>
                  <a:pt x="213" y="48"/>
                </a:lnTo>
                <a:lnTo>
                  <a:pt x="229" y="41"/>
                </a:lnTo>
                <a:lnTo>
                  <a:pt x="246" y="35"/>
                </a:lnTo>
                <a:lnTo>
                  <a:pt x="262" y="29"/>
                </a:lnTo>
                <a:lnTo>
                  <a:pt x="278" y="23"/>
                </a:lnTo>
                <a:lnTo>
                  <a:pt x="295" y="17"/>
                </a:lnTo>
                <a:lnTo>
                  <a:pt x="311" y="12"/>
                </a:lnTo>
                <a:lnTo>
                  <a:pt x="327" y="8"/>
                </a:lnTo>
                <a:lnTo>
                  <a:pt x="344" y="5"/>
                </a:lnTo>
                <a:lnTo>
                  <a:pt x="360" y="2"/>
                </a:lnTo>
                <a:lnTo>
                  <a:pt x="377" y="1"/>
                </a:lnTo>
                <a:lnTo>
                  <a:pt x="393" y="0"/>
                </a:lnTo>
                <a:lnTo>
                  <a:pt x="393" y="63"/>
                </a:lnTo>
                <a:lnTo>
                  <a:pt x="377" y="63"/>
                </a:lnTo>
                <a:lnTo>
                  <a:pt x="360" y="65"/>
                </a:lnTo>
                <a:lnTo>
                  <a:pt x="344" y="67"/>
                </a:lnTo>
                <a:lnTo>
                  <a:pt x="327" y="71"/>
                </a:lnTo>
                <a:lnTo>
                  <a:pt x="311" y="75"/>
                </a:lnTo>
                <a:lnTo>
                  <a:pt x="295" y="80"/>
                </a:lnTo>
                <a:lnTo>
                  <a:pt x="278" y="85"/>
                </a:lnTo>
                <a:lnTo>
                  <a:pt x="262" y="91"/>
                </a:lnTo>
                <a:lnTo>
                  <a:pt x="246" y="97"/>
                </a:lnTo>
                <a:lnTo>
                  <a:pt x="229" y="104"/>
                </a:lnTo>
                <a:lnTo>
                  <a:pt x="213" y="111"/>
                </a:lnTo>
                <a:lnTo>
                  <a:pt x="196" y="118"/>
                </a:lnTo>
                <a:lnTo>
                  <a:pt x="180" y="125"/>
                </a:lnTo>
                <a:lnTo>
                  <a:pt x="164" y="131"/>
                </a:lnTo>
                <a:lnTo>
                  <a:pt x="147" y="138"/>
                </a:lnTo>
                <a:lnTo>
                  <a:pt x="131" y="144"/>
                </a:lnTo>
                <a:lnTo>
                  <a:pt x="114" y="150"/>
                </a:lnTo>
                <a:lnTo>
                  <a:pt x="98" y="156"/>
                </a:lnTo>
                <a:lnTo>
                  <a:pt x="82" y="161"/>
                </a:lnTo>
                <a:lnTo>
                  <a:pt x="65" y="165"/>
                </a:lnTo>
                <a:lnTo>
                  <a:pt x="49" y="168"/>
                </a:lnTo>
                <a:lnTo>
                  <a:pt x="33" y="171"/>
                </a:lnTo>
                <a:lnTo>
                  <a:pt x="16" y="172"/>
                </a:lnTo>
                <a:lnTo>
                  <a:pt x="0" y="17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2057400" y="4343400"/>
            <a:ext cx="3743325" cy="600075"/>
          </a:xfrm>
          <a:custGeom>
            <a:avLst/>
            <a:gdLst/>
            <a:ahLst/>
            <a:cxnLst/>
            <a:rect l="l" t="t" r="r" b="b"/>
            <a:pathLst>
              <a:path w="393" h="63">
                <a:moveTo>
                  <a:pt x="0" y="0"/>
                </a:moveTo>
                <a:lnTo>
                  <a:pt x="16" y="0"/>
                </a:lnTo>
                <a:lnTo>
                  <a:pt x="33" y="1"/>
                </a:lnTo>
                <a:lnTo>
                  <a:pt x="49" y="2"/>
                </a:lnTo>
                <a:lnTo>
                  <a:pt x="65" y="3"/>
                </a:lnTo>
                <a:lnTo>
                  <a:pt x="82" y="4"/>
                </a:lnTo>
                <a:lnTo>
                  <a:pt x="98" y="6"/>
                </a:lnTo>
                <a:lnTo>
                  <a:pt x="114" y="8"/>
                </a:lnTo>
                <a:lnTo>
                  <a:pt x="131" y="10"/>
                </a:lnTo>
                <a:lnTo>
                  <a:pt x="147" y="12"/>
                </a:lnTo>
                <a:lnTo>
                  <a:pt x="164" y="14"/>
                </a:lnTo>
                <a:lnTo>
                  <a:pt x="180" y="17"/>
                </a:lnTo>
                <a:lnTo>
                  <a:pt x="196" y="19"/>
                </a:lnTo>
                <a:lnTo>
                  <a:pt x="213" y="21"/>
                </a:lnTo>
                <a:lnTo>
                  <a:pt x="229" y="24"/>
                </a:lnTo>
                <a:lnTo>
                  <a:pt x="246" y="26"/>
                </a:lnTo>
                <a:lnTo>
                  <a:pt x="262" y="28"/>
                </a:lnTo>
                <a:lnTo>
                  <a:pt x="278" y="30"/>
                </a:lnTo>
                <a:lnTo>
                  <a:pt x="295" y="32"/>
                </a:lnTo>
                <a:lnTo>
                  <a:pt x="311" y="34"/>
                </a:lnTo>
                <a:lnTo>
                  <a:pt x="327" y="35"/>
                </a:lnTo>
                <a:lnTo>
                  <a:pt x="344" y="36"/>
                </a:lnTo>
                <a:lnTo>
                  <a:pt x="360" y="37"/>
                </a:lnTo>
                <a:lnTo>
                  <a:pt x="377" y="38"/>
                </a:lnTo>
                <a:lnTo>
                  <a:pt x="393" y="38"/>
                </a:lnTo>
                <a:lnTo>
                  <a:pt x="393" y="63"/>
                </a:lnTo>
                <a:lnTo>
                  <a:pt x="377" y="63"/>
                </a:lnTo>
                <a:lnTo>
                  <a:pt x="360" y="62"/>
                </a:lnTo>
                <a:lnTo>
                  <a:pt x="344" y="61"/>
                </a:lnTo>
                <a:lnTo>
                  <a:pt x="327" y="60"/>
                </a:lnTo>
                <a:lnTo>
                  <a:pt x="311" y="59"/>
                </a:lnTo>
                <a:lnTo>
                  <a:pt x="295" y="57"/>
                </a:lnTo>
                <a:lnTo>
                  <a:pt x="278" y="55"/>
                </a:lnTo>
                <a:lnTo>
                  <a:pt x="262" y="53"/>
                </a:lnTo>
                <a:lnTo>
                  <a:pt x="246" y="51"/>
                </a:lnTo>
                <a:lnTo>
                  <a:pt x="229" y="49"/>
                </a:lnTo>
                <a:lnTo>
                  <a:pt x="213" y="46"/>
                </a:lnTo>
                <a:lnTo>
                  <a:pt x="196" y="44"/>
                </a:lnTo>
                <a:lnTo>
                  <a:pt x="180" y="41"/>
                </a:lnTo>
                <a:lnTo>
                  <a:pt x="164" y="39"/>
                </a:lnTo>
                <a:lnTo>
                  <a:pt x="147" y="37"/>
                </a:lnTo>
                <a:lnTo>
                  <a:pt x="131" y="35"/>
                </a:lnTo>
                <a:lnTo>
                  <a:pt x="114" y="33"/>
                </a:lnTo>
                <a:lnTo>
                  <a:pt x="98" y="31"/>
                </a:lnTo>
                <a:lnTo>
                  <a:pt x="82" y="29"/>
                </a:lnTo>
                <a:lnTo>
                  <a:pt x="65" y="28"/>
                </a:lnTo>
                <a:lnTo>
                  <a:pt x="49" y="26"/>
                </a:lnTo>
                <a:lnTo>
                  <a:pt x="33" y="25"/>
                </a:lnTo>
                <a:lnTo>
                  <a:pt x="16" y="25"/>
                </a:lnTo>
                <a:lnTo>
                  <a:pt x="0" y="2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2057400" y="4581525"/>
            <a:ext cx="3743325" cy="1133475"/>
          </a:xfrm>
          <a:custGeom>
            <a:avLst/>
            <a:gdLst/>
            <a:ahLst/>
            <a:cxnLst/>
            <a:rect l="l" t="t" r="r" b="b"/>
            <a:pathLst>
              <a:path w="393" h="119">
                <a:moveTo>
                  <a:pt x="0" y="0"/>
                </a:moveTo>
                <a:lnTo>
                  <a:pt x="16" y="0"/>
                </a:lnTo>
                <a:lnTo>
                  <a:pt x="33" y="2"/>
                </a:lnTo>
                <a:lnTo>
                  <a:pt x="49" y="4"/>
                </a:lnTo>
                <a:lnTo>
                  <a:pt x="65" y="8"/>
                </a:lnTo>
                <a:lnTo>
                  <a:pt x="82" y="12"/>
                </a:lnTo>
                <a:lnTo>
                  <a:pt x="98" y="16"/>
                </a:lnTo>
                <a:lnTo>
                  <a:pt x="114" y="22"/>
                </a:lnTo>
                <a:lnTo>
                  <a:pt x="131" y="28"/>
                </a:lnTo>
                <a:lnTo>
                  <a:pt x="147" y="34"/>
                </a:lnTo>
                <a:lnTo>
                  <a:pt x="164" y="40"/>
                </a:lnTo>
                <a:lnTo>
                  <a:pt x="180" y="47"/>
                </a:lnTo>
                <a:lnTo>
                  <a:pt x="196" y="53"/>
                </a:lnTo>
                <a:lnTo>
                  <a:pt x="213" y="60"/>
                </a:lnTo>
                <a:lnTo>
                  <a:pt x="229" y="67"/>
                </a:lnTo>
                <a:lnTo>
                  <a:pt x="246" y="73"/>
                </a:lnTo>
                <a:lnTo>
                  <a:pt x="262" y="79"/>
                </a:lnTo>
                <a:lnTo>
                  <a:pt x="278" y="85"/>
                </a:lnTo>
                <a:lnTo>
                  <a:pt x="295" y="90"/>
                </a:lnTo>
                <a:lnTo>
                  <a:pt x="311" y="95"/>
                </a:lnTo>
                <a:lnTo>
                  <a:pt x="327" y="99"/>
                </a:lnTo>
                <a:lnTo>
                  <a:pt x="344" y="102"/>
                </a:lnTo>
                <a:lnTo>
                  <a:pt x="360" y="105"/>
                </a:lnTo>
                <a:lnTo>
                  <a:pt x="377" y="107"/>
                </a:lnTo>
                <a:lnTo>
                  <a:pt x="393" y="107"/>
                </a:lnTo>
                <a:lnTo>
                  <a:pt x="393" y="119"/>
                </a:lnTo>
                <a:lnTo>
                  <a:pt x="377" y="118"/>
                </a:lnTo>
                <a:lnTo>
                  <a:pt x="360" y="117"/>
                </a:lnTo>
                <a:lnTo>
                  <a:pt x="344" y="114"/>
                </a:lnTo>
                <a:lnTo>
                  <a:pt x="327" y="111"/>
                </a:lnTo>
                <a:lnTo>
                  <a:pt x="311" y="107"/>
                </a:lnTo>
                <a:lnTo>
                  <a:pt x="295" y="102"/>
                </a:lnTo>
                <a:lnTo>
                  <a:pt x="278" y="97"/>
                </a:lnTo>
                <a:lnTo>
                  <a:pt x="262" y="91"/>
                </a:lnTo>
                <a:lnTo>
                  <a:pt x="246" y="85"/>
                </a:lnTo>
                <a:lnTo>
                  <a:pt x="229" y="78"/>
                </a:lnTo>
                <a:lnTo>
                  <a:pt x="213" y="72"/>
                </a:lnTo>
                <a:lnTo>
                  <a:pt x="196" y="65"/>
                </a:lnTo>
                <a:lnTo>
                  <a:pt x="180" y="58"/>
                </a:lnTo>
                <a:lnTo>
                  <a:pt x="164" y="52"/>
                </a:lnTo>
                <a:lnTo>
                  <a:pt x="147" y="45"/>
                </a:lnTo>
                <a:lnTo>
                  <a:pt x="131" y="39"/>
                </a:lnTo>
                <a:lnTo>
                  <a:pt x="114" y="34"/>
                </a:lnTo>
                <a:lnTo>
                  <a:pt x="98" y="28"/>
                </a:lnTo>
                <a:lnTo>
                  <a:pt x="82" y="24"/>
                </a:lnTo>
                <a:lnTo>
                  <a:pt x="65" y="19"/>
                </a:lnTo>
                <a:lnTo>
                  <a:pt x="49" y="16"/>
                </a:lnTo>
                <a:lnTo>
                  <a:pt x="33" y="14"/>
                </a:lnTo>
                <a:lnTo>
                  <a:pt x="16" y="12"/>
                </a:lnTo>
                <a:lnTo>
                  <a:pt x="0" y="1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2057400" y="4686300"/>
            <a:ext cx="3743325" cy="1628775"/>
          </a:xfrm>
          <a:custGeom>
            <a:avLst/>
            <a:gdLst/>
            <a:ahLst/>
            <a:cxnLst/>
            <a:rect l="l" t="t" r="r" b="b"/>
            <a:pathLst>
              <a:path w="393" h="171">
                <a:moveTo>
                  <a:pt x="0" y="0"/>
                </a:moveTo>
                <a:lnTo>
                  <a:pt x="16" y="1"/>
                </a:lnTo>
                <a:lnTo>
                  <a:pt x="33" y="4"/>
                </a:lnTo>
                <a:lnTo>
                  <a:pt x="49" y="7"/>
                </a:lnTo>
                <a:lnTo>
                  <a:pt x="65" y="12"/>
                </a:lnTo>
                <a:lnTo>
                  <a:pt x="82" y="18"/>
                </a:lnTo>
                <a:lnTo>
                  <a:pt x="98" y="25"/>
                </a:lnTo>
                <a:lnTo>
                  <a:pt x="114" y="33"/>
                </a:lnTo>
                <a:lnTo>
                  <a:pt x="131" y="42"/>
                </a:lnTo>
                <a:lnTo>
                  <a:pt x="147" y="51"/>
                </a:lnTo>
                <a:lnTo>
                  <a:pt x="164" y="60"/>
                </a:lnTo>
                <a:lnTo>
                  <a:pt x="180" y="70"/>
                </a:lnTo>
                <a:lnTo>
                  <a:pt x="196" y="80"/>
                </a:lnTo>
                <a:lnTo>
                  <a:pt x="213" y="90"/>
                </a:lnTo>
                <a:lnTo>
                  <a:pt x="229" y="100"/>
                </a:lnTo>
                <a:lnTo>
                  <a:pt x="246" y="109"/>
                </a:lnTo>
                <a:lnTo>
                  <a:pt x="262" y="118"/>
                </a:lnTo>
                <a:lnTo>
                  <a:pt x="278" y="127"/>
                </a:lnTo>
                <a:lnTo>
                  <a:pt x="295" y="135"/>
                </a:lnTo>
                <a:lnTo>
                  <a:pt x="311" y="142"/>
                </a:lnTo>
                <a:lnTo>
                  <a:pt x="327" y="148"/>
                </a:lnTo>
                <a:lnTo>
                  <a:pt x="344" y="153"/>
                </a:lnTo>
                <a:lnTo>
                  <a:pt x="360" y="156"/>
                </a:lnTo>
                <a:lnTo>
                  <a:pt x="377" y="159"/>
                </a:lnTo>
                <a:lnTo>
                  <a:pt x="393" y="160"/>
                </a:lnTo>
                <a:lnTo>
                  <a:pt x="393" y="171"/>
                </a:lnTo>
                <a:lnTo>
                  <a:pt x="377" y="170"/>
                </a:lnTo>
                <a:lnTo>
                  <a:pt x="360" y="168"/>
                </a:lnTo>
                <a:lnTo>
                  <a:pt x="344" y="164"/>
                </a:lnTo>
                <a:lnTo>
                  <a:pt x="327" y="159"/>
                </a:lnTo>
                <a:lnTo>
                  <a:pt x="311" y="153"/>
                </a:lnTo>
                <a:lnTo>
                  <a:pt x="295" y="146"/>
                </a:lnTo>
                <a:lnTo>
                  <a:pt x="278" y="138"/>
                </a:lnTo>
                <a:lnTo>
                  <a:pt x="262" y="130"/>
                </a:lnTo>
                <a:lnTo>
                  <a:pt x="246" y="121"/>
                </a:lnTo>
                <a:lnTo>
                  <a:pt x="229" y="111"/>
                </a:lnTo>
                <a:lnTo>
                  <a:pt x="213" y="102"/>
                </a:lnTo>
                <a:lnTo>
                  <a:pt x="196" y="92"/>
                </a:lnTo>
                <a:lnTo>
                  <a:pt x="180" y="82"/>
                </a:lnTo>
                <a:lnTo>
                  <a:pt x="164" y="72"/>
                </a:lnTo>
                <a:lnTo>
                  <a:pt x="147" y="62"/>
                </a:lnTo>
                <a:lnTo>
                  <a:pt x="131" y="53"/>
                </a:lnTo>
                <a:lnTo>
                  <a:pt x="114" y="45"/>
                </a:lnTo>
                <a:lnTo>
                  <a:pt x="98" y="37"/>
                </a:lnTo>
                <a:lnTo>
                  <a:pt x="82" y="30"/>
                </a:lnTo>
                <a:lnTo>
                  <a:pt x="65" y="24"/>
                </a:lnTo>
                <a:lnTo>
                  <a:pt x="49" y="19"/>
                </a:lnTo>
                <a:lnTo>
                  <a:pt x="33" y="15"/>
                </a:lnTo>
                <a:lnTo>
                  <a:pt x="16" y="13"/>
                </a:lnTo>
                <a:lnTo>
                  <a:pt x="0" y="1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2057400" y="3295650"/>
            <a:ext cx="3743325" cy="2028825"/>
          </a:xfrm>
          <a:custGeom>
            <a:avLst/>
            <a:gdLst/>
            <a:ahLst/>
            <a:cxnLst/>
            <a:rect l="l" t="t" r="r" b="b"/>
            <a:pathLst>
              <a:path w="393" h="213">
                <a:moveTo>
                  <a:pt x="0" y="164"/>
                </a:moveTo>
                <a:lnTo>
                  <a:pt x="16" y="163"/>
                </a:lnTo>
                <a:lnTo>
                  <a:pt x="33" y="161"/>
                </a:lnTo>
                <a:lnTo>
                  <a:pt x="49" y="157"/>
                </a:lnTo>
                <a:lnTo>
                  <a:pt x="65" y="152"/>
                </a:lnTo>
                <a:lnTo>
                  <a:pt x="82" y="146"/>
                </a:lnTo>
                <a:lnTo>
                  <a:pt x="98" y="138"/>
                </a:lnTo>
                <a:lnTo>
                  <a:pt x="114" y="130"/>
                </a:lnTo>
                <a:lnTo>
                  <a:pt x="131" y="121"/>
                </a:lnTo>
                <a:lnTo>
                  <a:pt x="147" y="112"/>
                </a:lnTo>
                <a:lnTo>
                  <a:pt x="164" y="102"/>
                </a:lnTo>
                <a:lnTo>
                  <a:pt x="180" y="92"/>
                </a:lnTo>
                <a:lnTo>
                  <a:pt x="196" y="82"/>
                </a:lnTo>
                <a:lnTo>
                  <a:pt x="213" y="72"/>
                </a:lnTo>
                <a:lnTo>
                  <a:pt x="229" y="61"/>
                </a:lnTo>
                <a:lnTo>
                  <a:pt x="246" y="52"/>
                </a:lnTo>
                <a:lnTo>
                  <a:pt x="262" y="42"/>
                </a:lnTo>
                <a:lnTo>
                  <a:pt x="278" y="33"/>
                </a:lnTo>
                <a:lnTo>
                  <a:pt x="295" y="25"/>
                </a:lnTo>
                <a:lnTo>
                  <a:pt x="311" y="18"/>
                </a:lnTo>
                <a:lnTo>
                  <a:pt x="327" y="12"/>
                </a:lnTo>
                <a:lnTo>
                  <a:pt x="344" y="7"/>
                </a:lnTo>
                <a:lnTo>
                  <a:pt x="360" y="3"/>
                </a:lnTo>
                <a:lnTo>
                  <a:pt x="377" y="0"/>
                </a:lnTo>
                <a:lnTo>
                  <a:pt x="393" y="0"/>
                </a:lnTo>
                <a:lnTo>
                  <a:pt x="393" y="48"/>
                </a:lnTo>
                <a:lnTo>
                  <a:pt x="377" y="49"/>
                </a:lnTo>
                <a:lnTo>
                  <a:pt x="360" y="51"/>
                </a:lnTo>
                <a:lnTo>
                  <a:pt x="344" y="55"/>
                </a:lnTo>
                <a:lnTo>
                  <a:pt x="327" y="60"/>
                </a:lnTo>
                <a:lnTo>
                  <a:pt x="311" y="67"/>
                </a:lnTo>
                <a:lnTo>
                  <a:pt x="295" y="74"/>
                </a:lnTo>
                <a:lnTo>
                  <a:pt x="278" y="82"/>
                </a:lnTo>
                <a:lnTo>
                  <a:pt x="262" y="91"/>
                </a:lnTo>
                <a:lnTo>
                  <a:pt x="246" y="100"/>
                </a:lnTo>
                <a:lnTo>
                  <a:pt x="229" y="110"/>
                </a:lnTo>
                <a:lnTo>
                  <a:pt x="213" y="120"/>
                </a:lnTo>
                <a:lnTo>
                  <a:pt x="196" y="130"/>
                </a:lnTo>
                <a:lnTo>
                  <a:pt x="180" y="141"/>
                </a:lnTo>
                <a:lnTo>
                  <a:pt x="164" y="151"/>
                </a:lnTo>
                <a:lnTo>
                  <a:pt x="147" y="161"/>
                </a:lnTo>
                <a:lnTo>
                  <a:pt x="131" y="170"/>
                </a:lnTo>
                <a:lnTo>
                  <a:pt x="114" y="179"/>
                </a:lnTo>
                <a:lnTo>
                  <a:pt x="98" y="187"/>
                </a:lnTo>
                <a:lnTo>
                  <a:pt x="82" y="194"/>
                </a:lnTo>
                <a:lnTo>
                  <a:pt x="65" y="201"/>
                </a:lnTo>
                <a:lnTo>
                  <a:pt x="49" y="206"/>
                </a:lnTo>
                <a:lnTo>
                  <a:pt x="33" y="209"/>
                </a:lnTo>
                <a:lnTo>
                  <a:pt x="16" y="212"/>
                </a:lnTo>
                <a:lnTo>
                  <a:pt x="0" y="21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2057400" y="4943475"/>
            <a:ext cx="3743325" cy="571500"/>
          </a:xfrm>
          <a:custGeom>
            <a:avLst/>
            <a:gdLst/>
            <a:ahLst/>
            <a:cxnLst/>
            <a:rect l="l" t="t" r="r" b="b"/>
            <a:pathLst>
              <a:path w="393" h="60">
                <a:moveTo>
                  <a:pt x="0" y="40"/>
                </a:moveTo>
                <a:lnTo>
                  <a:pt x="16" y="40"/>
                </a:lnTo>
                <a:lnTo>
                  <a:pt x="33" y="39"/>
                </a:lnTo>
                <a:lnTo>
                  <a:pt x="49" y="38"/>
                </a:lnTo>
                <a:lnTo>
                  <a:pt x="65" y="37"/>
                </a:lnTo>
                <a:lnTo>
                  <a:pt x="82" y="35"/>
                </a:lnTo>
                <a:lnTo>
                  <a:pt x="98" y="33"/>
                </a:lnTo>
                <a:lnTo>
                  <a:pt x="114" y="32"/>
                </a:lnTo>
                <a:lnTo>
                  <a:pt x="131" y="29"/>
                </a:lnTo>
                <a:lnTo>
                  <a:pt x="147" y="27"/>
                </a:lnTo>
                <a:lnTo>
                  <a:pt x="164" y="25"/>
                </a:lnTo>
                <a:lnTo>
                  <a:pt x="180" y="22"/>
                </a:lnTo>
                <a:lnTo>
                  <a:pt x="196" y="20"/>
                </a:lnTo>
                <a:lnTo>
                  <a:pt x="213" y="17"/>
                </a:lnTo>
                <a:lnTo>
                  <a:pt x="229" y="15"/>
                </a:lnTo>
                <a:lnTo>
                  <a:pt x="246" y="12"/>
                </a:lnTo>
                <a:lnTo>
                  <a:pt x="262" y="10"/>
                </a:lnTo>
                <a:lnTo>
                  <a:pt x="278" y="8"/>
                </a:lnTo>
                <a:lnTo>
                  <a:pt x="295" y="6"/>
                </a:lnTo>
                <a:lnTo>
                  <a:pt x="311" y="4"/>
                </a:lnTo>
                <a:lnTo>
                  <a:pt x="327" y="3"/>
                </a:lnTo>
                <a:lnTo>
                  <a:pt x="344" y="2"/>
                </a:lnTo>
                <a:lnTo>
                  <a:pt x="360" y="1"/>
                </a:lnTo>
                <a:lnTo>
                  <a:pt x="377" y="0"/>
                </a:lnTo>
                <a:lnTo>
                  <a:pt x="393" y="0"/>
                </a:lnTo>
                <a:lnTo>
                  <a:pt x="393" y="20"/>
                </a:lnTo>
                <a:lnTo>
                  <a:pt x="377" y="20"/>
                </a:lnTo>
                <a:lnTo>
                  <a:pt x="360" y="21"/>
                </a:lnTo>
                <a:lnTo>
                  <a:pt x="344" y="22"/>
                </a:lnTo>
                <a:lnTo>
                  <a:pt x="327" y="23"/>
                </a:lnTo>
                <a:lnTo>
                  <a:pt x="311" y="25"/>
                </a:lnTo>
                <a:lnTo>
                  <a:pt x="295" y="26"/>
                </a:lnTo>
                <a:lnTo>
                  <a:pt x="278" y="28"/>
                </a:lnTo>
                <a:lnTo>
                  <a:pt x="262" y="30"/>
                </a:lnTo>
                <a:lnTo>
                  <a:pt x="246" y="33"/>
                </a:lnTo>
                <a:lnTo>
                  <a:pt x="229" y="35"/>
                </a:lnTo>
                <a:lnTo>
                  <a:pt x="213" y="38"/>
                </a:lnTo>
                <a:lnTo>
                  <a:pt x="196" y="40"/>
                </a:lnTo>
                <a:lnTo>
                  <a:pt x="180" y="42"/>
                </a:lnTo>
                <a:lnTo>
                  <a:pt x="164" y="45"/>
                </a:lnTo>
                <a:lnTo>
                  <a:pt x="147" y="47"/>
                </a:lnTo>
                <a:lnTo>
                  <a:pt x="131" y="50"/>
                </a:lnTo>
                <a:lnTo>
                  <a:pt x="114" y="52"/>
                </a:lnTo>
                <a:lnTo>
                  <a:pt x="98" y="54"/>
                </a:lnTo>
                <a:lnTo>
                  <a:pt x="82" y="55"/>
                </a:lnTo>
                <a:lnTo>
                  <a:pt x="65" y="57"/>
                </a:lnTo>
                <a:lnTo>
                  <a:pt x="49" y="58"/>
                </a:lnTo>
                <a:lnTo>
                  <a:pt x="33" y="59"/>
                </a:lnTo>
                <a:lnTo>
                  <a:pt x="16" y="60"/>
                </a:lnTo>
                <a:lnTo>
                  <a:pt x="0" y="6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2057400" y="5514975"/>
            <a:ext cx="3743325" cy="295275"/>
          </a:xfrm>
          <a:custGeom>
            <a:avLst/>
            <a:gdLst/>
            <a:ahLst/>
            <a:cxnLst/>
            <a:rect l="l" t="t" r="r" b="b"/>
            <a:pathLst>
              <a:path w="393" h="31">
                <a:moveTo>
                  <a:pt x="0" y="0"/>
                </a:moveTo>
                <a:lnTo>
                  <a:pt x="16" y="0"/>
                </a:lnTo>
                <a:lnTo>
                  <a:pt x="33" y="0"/>
                </a:lnTo>
                <a:lnTo>
                  <a:pt x="49" y="1"/>
                </a:lnTo>
                <a:lnTo>
                  <a:pt x="65" y="1"/>
                </a:lnTo>
                <a:lnTo>
                  <a:pt x="82" y="2"/>
                </a:lnTo>
                <a:lnTo>
                  <a:pt x="98" y="3"/>
                </a:lnTo>
                <a:lnTo>
                  <a:pt x="114" y="4"/>
                </a:lnTo>
                <a:lnTo>
                  <a:pt x="131" y="5"/>
                </a:lnTo>
                <a:lnTo>
                  <a:pt x="147" y="7"/>
                </a:lnTo>
                <a:lnTo>
                  <a:pt x="164" y="8"/>
                </a:lnTo>
                <a:lnTo>
                  <a:pt x="180" y="9"/>
                </a:lnTo>
                <a:lnTo>
                  <a:pt x="196" y="10"/>
                </a:lnTo>
                <a:lnTo>
                  <a:pt x="213" y="12"/>
                </a:lnTo>
                <a:lnTo>
                  <a:pt x="229" y="13"/>
                </a:lnTo>
                <a:lnTo>
                  <a:pt x="246" y="14"/>
                </a:lnTo>
                <a:lnTo>
                  <a:pt x="262" y="15"/>
                </a:lnTo>
                <a:lnTo>
                  <a:pt x="278" y="17"/>
                </a:lnTo>
                <a:lnTo>
                  <a:pt x="295" y="18"/>
                </a:lnTo>
                <a:lnTo>
                  <a:pt x="311" y="19"/>
                </a:lnTo>
                <a:lnTo>
                  <a:pt x="327" y="19"/>
                </a:lnTo>
                <a:lnTo>
                  <a:pt x="344" y="20"/>
                </a:lnTo>
                <a:lnTo>
                  <a:pt x="360" y="20"/>
                </a:lnTo>
                <a:lnTo>
                  <a:pt x="377" y="21"/>
                </a:lnTo>
                <a:lnTo>
                  <a:pt x="393" y="21"/>
                </a:lnTo>
                <a:lnTo>
                  <a:pt x="393" y="31"/>
                </a:lnTo>
                <a:lnTo>
                  <a:pt x="377" y="31"/>
                </a:lnTo>
                <a:lnTo>
                  <a:pt x="360" y="31"/>
                </a:lnTo>
                <a:lnTo>
                  <a:pt x="344" y="30"/>
                </a:lnTo>
                <a:lnTo>
                  <a:pt x="327" y="30"/>
                </a:lnTo>
                <a:lnTo>
                  <a:pt x="311" y="29"/>
                </a:lnTo>
                <a:lnTo>
                  <a:pt x="295" y="28"/>
                </a:lnTo>
                <a:lnTo>
                  <a:pt x="278" y="27"/>
                </a:lnTo>
                <a:lnTo>
                  <a:pt x="262" y="26"/>
                </a:lnTo>
                <a:lnTo>
                  <a:pt x="246" y="25"/>
                </a:lnTo>
                <a:lnTo>
                  <a:pt x="229" y="23"/>
                </a:lnTo>
                <a:lnTo>
                  <a:pt x="213" y="22"/>
                </a:lnTo>
                <a:lnTo>
                  <a:pt x="196" y="21"/>
                </a:lnTo>
                <a:lnTo>
                  <a:pt x="180" y="19"/>
                </a:lnTo>
                <a:lnTo>
                  <a:pt x="164" y="18"/>
                </a:lnTo>
                <a:lnTo>
                  <a:pt x="147" y="17"/>
                </a:lnTo>
                <a:lnTo>
                  <a:pt x="131" y="16"/>
                </a:lnTo>
                <a:lnTo>
                  <a:pt x="114" y="15"/>
                </a:lnTo>
                <a:lnTo>
                  <a:pt x="98" y="14"/>
                </a:lnTo>
                <a:lnTo>
                  <a:pt x="82" y="13"/>
                </a:lnTo>
                <a:lnTo>
                  <a:pt x="65" y="12"/>
                </a:lnTo>
                <a:lnTo>
                  <a:pt x="49" y="11"/>
                </a:lnTo>
                <a:lnTo>
                  <a:pt x="33" y="11"/>
                </a:lnTo>
                <a:lnTo>
                  <a:pt x="16" y="10"/>
                </a:lnTo>
                <a:lnTo>
                  <a:pt x="0" y="1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2057400" y="5610225"/>
            <a:ext cx="3743325" cy="790575"/>
          </a:xfrm>
          <a:custGeom>
            <a:avLst/>
            <a:gdLst/>
            <a:ahLst/>
            <a:cxnLst/>
            <a:rect l="l" t="t" r="r" b="b"/>
            <a:pathLst>
              <a:path w="393" h="83">
                <a:moveTo>
                  <a:pt x="0" y="0"/>
                </a:moveTo>
                <a:lnTo>
                  <a:pt x="16" y="1"/>
                </a:lnTo>
                <a:lnTo>
                  <a:pt x="33" y="2"/>
                </a:lnTo>
                <a:lnTo>
                  <a:pt x="49" y="3"/>
                </a:lnTo>
                <a:lnTo>
                  <a:pt x="65" y="6"/>
                </a:lnTo>
                <a:lnTo>
                  <a:pt x="82" y="9"/>
                </a:lnTo>
                <a:lnTo>
                  <a:pt x="98" y="12"/>
                </a:lnTo>
                <a:lnTo>
                  <a:pt x="114" y="15"/>
                </a:lnTo>
                <a:lnTo>
                  <a:pt x="131" y="19"/>
                </a:lnTo>
                <a:lnTo>
                  <a:pt x="147" y="24"/>
                </a:lnTo>
                <a:lnTo>
                  <a:pt x="164" y="28"/>
                </a:lnTo>
                <a:lnTo>
                  <a:pt x="180" y="33"/>
                </a:lnTo>
                <a:lnTo>
                  <a:pt x="196" y="37"/>
                </a:lnTo>
                <a:lnTo>
                  <a:pt x="213" y="42"/>
                </a:lnTo>
                <a:lnTo>
                  <a:pt x="229" y="46"/>
                </a:lnTo>
                <a:lnTo>
                  <a:pt x="246" y="51"/>
                </a:lnTo>
                <a:lnTo>
                  <a:pt x="262" y="55"/>
                </a:lnTo>
                <a:lnTo>
                  <a:pt x="278" y="59"/>
                </a:lnTo>
                <a:lnTo>
                  <a:pt x="295" y="63"/>
                </a:lnTo>
                <a:lnTo>
                  <a:pt x="311" y="66"/>
                </a:lnTo>
                <a:lnTo>
                  <a:pt x="327" y="69"/>
                </a:lnTo>
                <a:lnTo>
                  <a:pt x="344" y="71"/>
                </a:lnTo>
                <a:lnTo>
                  <a:pt x="360" y="73"/>
                </a:lnTo>
                <a:lnTo>
                  <a:pt x="377" y="74"/>
                </a:lnTo>
                <a:lnTo>
                  <a:pt x="393" y="74"/>
                </a:lnTo>
                <a:lnTo>
                  <a:pt x="393" y="83"/>
                </a:lnTo>
                <a:lnTo>
                  <a:pt x="377" y="83"/>
                </a:lnTo>
                <a:lnTo>
                  <a:pt x="360" y="82"/>
                </a:lnTo>
                <a:lnTo>
                  <a:pt x="344" y="80"/>
                </a:lnTo>
                <a:lnTo>
                  <a:pt x="327" y="78"/>
                </a:lnTo>
                <a:lnTo>
                  <a:pt x="311" y="75"/>
                </a:lnTo>
                <a:lnTo>
                  <a:pt x="295" y="72"/>
                </a:lnTo>
                <a:lnTo>
                  <a:pt x="278" y="68"/>
                </a:lnTo>
                <a:lnTo>
                  <a:pt x="262" y="64"/>
                </a:lnTo>
                <a:lnTo>
                  <a:pt x="246" y="60"/>
                </a:lnTo>
                <a:lnTo>
                  <a:pt x="229" y="55"/>
                </a:lnTo>
                <a:lnTo>
                  <a:pt x="213" y="51"/>
                </a:lnTo>
                <a:lnTo>
                  <a:pt x="196" y="46"/>
                </a:lnTo>
                <a:lnTo>
                  <a:pt x="180" y="42"/>
                </a:lnTo>
                <a:lnTo>
                  <a:pt x="164" y="37"/>
                </a:lnTo>
                <a:lnTo>
                  <a:pt x="147" y="33"/>
                </a:lnTo>
                <a:lnTo>
                  <a:pt x="131" y="29"/>
                </a:lnTo>
                <a:lnTo>
                  <a:pt x="114" y="25"/>
                </a:lnTo>
                <a:lnTo>
                  <a:pt x="98" y="21"/>
                </a:lnTo>
                <a:lnTo>
                  <a:pt x="82" y="18"/>
                </a:lnTo>
                <a:lnTo>
                  <a:pt x="65" y="15"/>
                </a:lnTo>
                <a:lnTo>
                  <a:pt x="49" y="13"/>
                </a:lnTo>
                <a:lnTo>
                  <a:pt x="33" y="11"/>
                </a:lnTo>
                <a:lnTo>
                  <a:pt x="16" y="10"/>
                </a:lnTo>
                <a:lnTo>
                  <a:pt x="0" y="9"/>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2057400" y="3752850"/>
            <a:ext cx="3743325" cy="2209800"/>
          </a:xfrm>
          <a:custGeom>
            <a:avLst/>
            <a:gdLst/>
            <a:ahLst/>
            <a:cxnLst/>
            <a:rect l="l" t="t" r="r" b="b"/>
            <a:pathLst>
              <a:path w="393" h="232">
                <a:moveTo>
                  <a:pt x="0" y="210"/>
                </a:moveTo>
                <a:lnTo>
                  <a:pt x="16" y="209"/>
                </a:lnTo>
                <a:lnTo>
                  <a:pt x="33" y="206"/>
                </a:lnTo>
                <a:lnTo>
                  <a:pt x="49" y="201"/>
                </a:lnTo>
                <a:lnTo>
                  <a:pt x="65" y="195"/>
                </a:lnTo>
                <a:lnTo>
                  <a:pt x="82" y="187"/>
                </a:lnTo>
                <a:lnTo>
                  <a:pt x="98" y="178"/>
                </a:lnTo>
                <a:lnTo>
                  <a:pt x="114" y="167"/>
                </a:lnTo>
                <a:lnTo>
                  <a:pt x="131" y="156"/>
                </a:lnTo>
                <a:lnTo>
                  <a:pt x="147" y="144"/>
                </a:lnTo>
                <a:lnTo>
                  <a:pt x="164" y="131"/>
                </a:lnTo>
                <a:lnTo>
                  <a:pt x="180" y="118"/>
                </a:lnTo>
                <a:lnTo>
                  <a:pt x="196" y="105"/>
                </a:lnTo>
                <a:lnTo>
                  <a:pt x="213" y="92"/>
                </a:lnTo>
                <a:lnTo>
                  <a:pt x="229" y="79"/>
                </a:lnTo>
                <a:lnTo>
                  <a:pt x="246" y="67"/>
                </a:lnTo>
                <a:lnTo>
                  <a:pt x="262" y="55"/>
                </a:lnTo>
                <a:lnTo>
                  <a:pt x="278" y="43"/>
                </a:lnTo>
                <a:lnTo>
                  <a:pt x="295" y="33"/>
                </a:lnTo>
                <a:lnTo>
                  <a:pt x="311" y="24"/>
                </a:lnTo>
                <a:lnTo>
                  <a:pt x="327" y="16"/>
                </a:lnTo>
                <a:lnTo>
                  <a:pt x="344" y="9"/>
                </a:lnTo>
                <a:lnTo>
                  <a:pt x="360" y="4"/>
                </a:lnTo>
                <a:lnTo>
                  <a:pt x="377" y="1"/>
                </a:lnTo>
                <a:lnTo>
                  <a:pt x="393" y="0"/>
                </a:lnTo>
                <a:lnTo>
                  <a:pt x="393" y="21"/>
                </a:lnTo>
                <a:lnTo>
                  <a:pt x="377" y="23"/>
                </a:lnTo>
                <a:lnTo>
                  <a:pt x="360" y="26"/>
                </a:lnTo>
                <a:lnTo>
                  <a:pt x="344" y="31"/>
                </a:lnTo>
                <a:lnTo>
                  <a:pt x="327" y="37"/>
                </a:lnTo>
                <a:lnTo>
                  <a:pt x="311" y="45"/>
                </a:lnTo>
                <a:lnTo>
                  <a:pt x="295" y="54"/>
                </a:lnTo>
                <a:lnTo>
                  <a:pt x="278" y="65"/>
                </a:lnTo>
                <a:lnTo>
                  <a:pt x="262" y="76"/>
                </a:lnTo>
                <a:lnTo>
                  <a:pt x="246" y="88"/>
                </a:lnTo>
                <a:lnTo>
                  <a:pt x="229" y="101"/>
                </a:lnTo>
                <a:lnTo>
                  <a:pt x="213" y="113"/>
                </a:lnTo>
                <a:lnTo>
                  <a:pt x="196" y="127"/>
                </a:lnTo>
                <a:lnTo>
                  <a:pt x="180" y="140"/>
                </a:lnTo>
                <a:lnTo>
                  <a:pt x="164" y="153"/>
                </a:lnTo>
                <a:lnTo>
                  <a:pt x="147" y="165"/>
                </a:lnTo>
                <a:lnTo>
                  <a:pt x="131" y="177"/>
                </a:lnTo>
                <a:lnTo>
                  <a:pt x="114" y="188"/>
                </a:lnTo>
                <a:lnTo>
                  <a:pt x="98" y="199"/>
                </a:lnTo>
                <a:lnTo>
                  <a:pt x="82" y="208"/>
                </a:lnTo>
                <a:lnTo>
                  <a:pt x="65" y="216"/>
                </a:lnTo>
                <a:lnTo>
                  <a:pt x="49" y="223"/>
                </a:lnTo>
                <a:lnTo>
                  <a:pt x="33" y="227"/>
                </a:lnTo>
                <a:lnTo>
                  <a:pt x="16" y="231"/>
                </a:lnTo>
                <a:lnTo>
                  <a:pt x="0" y="23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2057400" y="5133975"/>
            <a:ext cx="3743325" cy="914400"/>
          </a:xfrm>
          <a:custGeom>
            <a:avLst/>
            <a:gdLst/>
            <a:ahLst/>
            <a:cxnLst/>
            <a:rect l="l" t="t" r="r" b="b"/>
            <a:pathLst>
              <a:path w="393" h="96">
                <a:moveTo>
                  <a:pt x="0" y="87"/>
                </a:moveTo>
                <a:lnTo>
                  <a:pt x="16" y="86"/>
                </a:lnTo>
                <a:lnTo>
                  <a:pt x="33" y="85"/>
                </a:lnTo>
                <a:lnTo>
                  <a:pt x="49" y="83"/>
                </a:lnTo>
                <a:lnTo>
                  <a:pt x="65" y="80"/>
                </a:lnTo>
                <a:lnTo>
                  <a:pt x="82" y="77"/>
                </a:lnTo>
                <a:lnTo>
                  <a:pt x="98" y="73"/>
                </a:lnTo>
                <a:lnTo>
                  <a:pt x="114" y="69"/>
                </a:lnTo>
                <a:lnTo>
                  <a:pt x="131" y="64"/>
                </a:lnTo>
                <a:lnTo>
                  <a:pt x="147" y="59"/>
                </a:lnTo>
                <a:lnTo>
                  <a:pt x="164" y="54"/>
                </a:lnTo>
                <a:lnTo>
                  <a:pt x="180" y="49"/>
                </a:lnTo>
                <a:lnTo>
                  <a:pt x="196" y="43"/>
                </a:lnTo>
                <a:lnTo>
                  <a:pt x="213" y="38"/>
                </a:lnTo>
                <a:lnTo>
                  <a:pt x="229" y="33"/>
                </a:lnTo>
                <a:lnTo>
                  <a:pt x="246" y="27"/>
                </a:lnTo>
                <a:lnTo>
                  <a:pt x="262" y="23"/>
                </a:lnTo>
                <a:lnTo>
                  <a:pt x="278" y="18"/>
                </a:lnTo>
                <a:lnTo>
                  <a:pt x="295" y="14"/>
                </a:lnTo>
                <a:lnTo>
                  <a:pt x="311" y="10"/>
                </a:lnTo>
                <a:lnTo>
                  <a:pt x="327" y="7"/>
                </a:lnTo>
                <a:lnTo>
                  <a:pt x="344" y="4"/>
                </a:lnTo>
                <a:lnTo>
                  <a:pt x="360" y="2"/>
                </a:lnTo>
                <a:lnTo>
                  <a:pt x="377" y="1"/>
                </a:lnTo>
                <a:lnTo>
                  <a:pt x="393" y="0"/>
                </a:lnTo>
                <a:lnTo>
                  <a:pt x="393" y="10"/>
                </a:lnTo>
                <a:lnTo>
                  <a:pt x="377" y="10"/>
                </a:lnTo>
                <a:lnTo>
                  <a:pt x="360" y="11"/>
                </a:lnTo>
                <a:lnTo>
                  <a:pt x="344" y="13"/>
                </a:lnTo>
                <a:lnTo>
                  <a:pt x="327" y="16"/>
                </a:lnTo>
                <a:lnTo>
                  <a:pt x="311" y="19"/>
                </a:lnTo>
                <a:lnTo>
                  <a:pt x="295" y="23"/>
                </a:lnTo>
                <a:lnTo>
                  <a:pt x="278" y="27"/>
                </a:lnTo>
                <a:lnTo>
                  <a:pt x="262" y="32"/>
                </a:lnTo>
                <a:lnTo>
                  <a:pt x="246" y="37"/>
                </a:lnTo>
                <a:lnTo>
                  <a:pt x="229" y="42"/>
                </a:lnTo>
                <a:lnTo>
                  <a:pt x="213" y="48"/>
                </a:lnTo>
                <a:lnTo>
                  <a:pt x="196" y="53"/>
                </a:lnTo>
                <a:lnTo>
                  <a:pt x="180" y="58"/>
                </a:lnTo>
                <a:lnTo>
                  <a:pt x="164" y="64"/>
                </a:lnTo>
                <a:lnTo>
                  <a:pt x="147" y="69"/>
                </a:lnTo>
                <a:lnTo>
                  <a:pt x="131" y="74"/>
                </a:lnTo>
                <a:lnTo>
                  <a:pt x="114" y="78"/>
                </a:lnTo>
                <a:lnTo>
                  <a:pt x="98" y="83"/>
                </a:lnTo>
                <a:lnTo>
                  <a:pt x="82" y="86"/>
                </a:lnTo>
                <a:lnTo>
                  <a:pt x="65" y="90"/>
                </a:lnTo>
                <a:lnTo>
                  <a:pt x="49" y="92"/>
                </a:lnTo>
                <a:lnTo>
                  <a:pt x="33" y="94"/>
                </a:lnTo>
                <a:lnTo>
                  <a:pt x="16" y="96"/>
                </a:lnTo>
                <a:lnTo>
                  <a:pt x="0" y="96"/>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reeform 29"/>
          <p:cNvSpPr/>
          <p:nvPr/>
        </p:nvSpPr>
        <p:spPr>
          <a:xfrm>
            <a:off x="2057400" y="5810250"/>
            <a:ext cx="3743325" cy="285750"/>
          </a:xfrm>
          <a:custGeom>
            <a:avLst/>
            <a:gdLst/>
            <a:ahLst/>
            <a:cxnLst/>
            <a:rect l="l" t="t" r="r" b="b"/>
            <a:pathLst>
              <a:path w="393" h="30">
                <a:moveTo>
                  <a:pt x="0" y="25"/>
                </a:moveTo>
                <a:lnTo>
                  <a:pt x="16" y="25"/>
                </a:lnTo>
                <a:lnTo>
                  <a:pt x="33" y="25"/>
                </a:lnTo>
                <a:lnTo>
                  <a:pt x="49" y="24"/>
                </a:lnTo>
                <a:lnTo>
                  <a:pt x="65" y="23"/>
                </a:lnTo>
                <a:lnTo>
                  <a:pt x="82" y="22"/>
                </a:lnTo>
                <a:lnTo>
                  <a:pt x="98" y="21"/>
                </a:lnTo>
                <a:lnTo>
                  <a:pt x="114" y="20"/>
                </a:lnTo>
                <a:lnTo>
                  <a:pt x="131" y="19"/>
                </a:lnTo>
                <a:lnTo>
                  <a:pt x="147" y="17"/>
                </a:lnTo>
                <a:lnTo>
                  <a:pt x="164" y="16"/>
                </a:lnTo>
                <a:lnTo>
                  <a:pt x="180" y="14"/>
                </a:lnTo>
                <a:lnTo>
                  <a:pt x="196" y="13"/>
                </a:lnTo>
                <a:lnTo>
                  <a:pt x="213" y="11"/>
                </a:lnTo>
                <a:lnTo>
                  <a:pt x="229" y="10"/>
                </a:lnTo>
                <a:lnTo>
                  <a:pt x="246" y="8"/>
                </a:lnTo>
                <a:lnTo>
                  <a:pt x="262" y="7"/>
                </a:lnTo>
                <a:lnTo>
                  <a:pt x="278" y="5"/>
                </a:lnTo>
                <a:lnTo>
                  <a:pt x="295" y="4"/>
                </a:lnTo>
                <a:lnTo>
                  <a:pt x="311" y="3"/>
                </a:lnTo>
                <a:lnTo>
                  <a:pt x="327" y="2"/>
                </a:lnTo>
                <a:lnTo>
                  <a:pt x="344" y="1"/>
                </a:lnTo>
                <a:lnTo>
                  <a:pt x="360" y="1"/>
                </a:lnTo>
                <a:lnTo>
                  <a:pt x="377" y="0"/>
                </a:lnTo>
                <a:lnTo>
                  <a:pt x="393" y="0"/>
                </a:lnTo>
                <a:lnTo>
                  <a:pt x="393" y="5"/>
                </a:lnTo>
                <a:lnTo>
                  <a:pt x="377" y="5"/>
                </a:lnTo>
                <a:lnTo>
                  <a:pt x="360" y="5"/>
                </a:lnTo>
                <a:lnTo>
                  <a:pt x="344" y="6"/>
                </a:lnTo>
                <a:lnTo>
                  <a:pt x="327" y="7"/>
                </a:lnTo>
                <a:lnTo>
                  <a:pt x="311" y="8"/>
                </a:lnTo>
                <a:lnTo>
                  <a:pt x="295" y="9"/>
                </a:lnTo>
                <a:lnTo>
                  <a:pt x="278" y="10"/>
                </a:lnTo>
                <a:lnTo>
                  <a:pt x="262" y="11"/>
                </a:lnTo>
                <a:lnTo>
                  <a:pt x="246" y="13"/>
                </a:lnTo>
                <a:lnTo>
                  <a:pt x="229" y="14"/>
                </a:lnTo>
                <a:lnTo>
                  <a:pt x="213" y="16"/>
                </a:lnTo>
                <a:lnTo>
                  <a:pt x="196" y="17"/>
                </a:lnTo>
                <a:lnTo>
                  <a:pt x="180" y="19"/>
                </a:lnTo>
                <a:lnTo>
                  <a:pt x="164" y="20"/>
                </a:lnTo>
                <a:lnTo>
                  <a:pt x="147" y="22"/>
                </a:lnTo>
                <a:lnTo>
                  <a:pt x="131" y="23"/>
                </a:lnTo>
                <a:lnTo>
                  <a:pt x="114" y="25"/>
                </a:lnTo>
                <a:lnTo>
                  <a:pt x="98" y="26"/>
                </a:lnTo>
                <a:lnTo>
                  <a:pt x="82" y="27"/>
                </a:lnTo>
                <a:lnTo>
                  <a:pt x="65" y="28"/>
                </a:lnTo>
                <a:lnTo>
                  <a:pt x="49" y="29"/>
                </a:lnTo>
                <a:lnTo>
                  <a:pt x="33" y="29"/>
                </a:lnTo>
                <a:lnTo>
                  <a:pt x="16" y="30"/>
                </a:lnTo>
                <a:lnTo>
                  <a:pt x="0" y="30"/>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Freeform 30"/>
          <p:cNvSpPr/>
          <p:nvPr/>
        </p:nvSpPr>
        <p:spPr>
          <a:xfrm>
            <a:off x="2057400" y="6096000"/>
            <a:ext cx="3743325" cy="342900"/>
          </a:xfrm>
          <a:custGeom>
            <a:avLst/>
            <a:gdLst/>
            <a:ahLst/>
            <a:cxnLst/>
            <a:rect l="l" t="t" r="r" b="b"/>
            <a:pathLst>
              <a:path w="393" h="36">
                <a:moveTo>
                  <a:pt x="0" y="0"/>
                </a:moveTo>
                <a:lnTo>
                  <a:pt x="16" y="0"/>
                </a:lnTo>
                <a:lnTo>
                  <a:pt x="33" y="0"/>
                </a:lnTo>
                <a:lnTo>
                  <a:pt x="49" y="1"/>
                </a:lnTo>
                <a:lnTo>
                  <a:pt x="65" y="2"/>
                </a:lnTo>
                <a:lnTo>
                  <a:pt x="82" y="3"/>
                </a:lnTo>
                <a:lnTo>
                  <a:pt x="98" y="5"/>
                </a:lnTo>
                <a:lnTo>
                  <a:pt x="114" y="6"/>
                </a:lnTo>
                <a:lnTo>
                  <a:pt x="131" y="8"/>
                </a:lnTo>
                <a:lnTo>
                  <a:pt x="147" y="10"/>
                </a:lnTo>
                <a:lnTo>
                  <a:pt x="164" y="12"/>
                </a:lnTo>
                <a:lnTo>
                  <a:pt x="180" y="14"/>
                </a:lnTo>
                <a:lnTo>
                  <a:pt x="196" y="16"/>
                </a:lnTo>
                <a:lnTo>
                  <a:pt x="213" y="18"/>
                </a:lnTo>
                <a:lnTo>
                  <a:pt x="229" y="20"/>
                </a:lnTo>
                <a:lnTo>
                  <a:pt x="246" y="22"/>
                </a:lnTo>
                <a:lnTo>
                  <a:pt x="262" y="24"/>
                </a:lnTo>
                <a:lnTo>
                  <a:pt x="278" y="26"/>
                </a:lnTo>
                <a:lnTo>
                  <a:pt x="295" y="27"/>
                </a:lnTo>
                <a:lnTo>
                  <a:pt x="311" y="29"/>
                </a:lnTo>
                <a:lnTo>
                  <a:pt x="327" y="30"/>
                </a:lnTo>
                <a:lnTo>
                  <a:pt x="344" y="31"/>
                </a:lnTo>
                <a:lnTo>
                  <a:pt x="360" y="32"/>
                </a:lnTo>
                <a:lnTo>
                  <a:pt x="377" y="32"/>
                </a:lnTo>
                <a:lnTo>
                  <a:pt x="393" y="32"/>
                </a:lnTo>
                <a:lnTo>
                  <a:pt x="393" y="36"/>
                </a:lnTo>
                <a:lnTo>
                  <a:pt x="377" y="36"/>
                </a:lnTo>
                <a:lnTo>
                  <a:pt x="360" y="36"/>
                </a:lnTo>
                <a:lnTo>
                  <a:pt x="344" y="35"/>
                </a:lnTo>
                <a:lnTo>
                  <a:pt x="327" y="34"/>
                </a:lnTo>
                <a:lnTo>
                  <a:pt x="311" y="33"/>
                </a:lnTo>
                <a:lnTo>
                  <a:pt x="295" y="31"/>
                </a:lnTo>
                <a:lnTo>
                  <a:pt x="278" y="30"/>
                </a:lnTo>
                <a:lnTo>
                  <a:pt x="262" y="28"/>
                </a:lnTo>
                <a:lnTo>
                  <a:pt x="246" y="26"/>
                </a:lnTo>
                <a:lnTo>
                  <a:pt x="229" y="24"/>
                </a:lnTo>
                <a:lnTo>
                  <a:pt x="213" y="22"/>
                </a:lnTo>
                <a:lnTo>
                  <a:pt x="196" y="20"/>
                </a:lnTo>
                <a:lnTo>
                  <a:pt x="180" y="18"/>
                </a:lnTo>
                <a:lnTo>
                  <a:pt x="164" y="16"/>
                </a:lnTo>
                <a:lnTo>
                  <a:pt x="147" y="14"/>
                </a:lnTo>
                <a:lnTo>
                  <a:pt x="131" y="12"/>
                </a:lnTo>
                <a:lnTo>
                  <a:pt x="114" y="10"/>
                </a:lnTo>
                <a:lnTo>
                  <a:pt x="98" y="9"/>
                </a:lnTo>
                <a:lnTo>
                  <a:pt x="82" y="7"/>
                </a:lnTo>
                <a:lnTo>
                  <a:pt x="65" y="6"/>
                </a:lnTo>
                <a:lnTo>
                  <a:pt x="49" y="5"/>
                </a:lnTo>
                <a:lnTo>
                  <a:pt x="33" y="4"/>
                </a:lnTo>
                <a:lnTo>
                  <a:pt x="16" y="4"/>
                </a:lnTo>
                <a:lnTo>
                  <a:pt x="0" y="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reeform 31"/>
          <p:cNvSpPr/>
          <p:nvPr/>
        </p:nvSpPr>
        <p:spPr>
          <a:xfrm>
            <a:off x="2057400" y="3952875"/>
            <a:ext cx="3743325" cy="2419350"/>
          </a:xfrm>
          <a:custGeom>
            <a:avLst/>
            <a:gdLst/>
            <a:ahLst/>
            <a:cxnLst/>
            <a:rect l="l" t="t" r="r" b="b"/>
            <a:pathLst>
              <a:path w="393" h="254">
                <a:moveTo>
                  <a:pt x="0" y="235"/>
                </a:moveTo>
                <a:lnTo>
                  <a:pt x="16" y="234"/>
                </a:lnTo>
                <a:lnTo>
                  <a:pt x="33" y="230"/>
                </a:lnTo>
                <a:lnTo>
                  <a:pt x="49" y="225"/>
                </a:lnTo>
                <a:lnTo>
                  <a:pt x="65" y="217"/>
                </a:lnTo>
                <a:lnTo>
                  <a:pt x="82" y="209"/>
                </a:lnTo>
                <a:lnTo>
                  <a:pt x="98" y="198"/>
                </a:lnTo>
                <a:lnTo>
                  <a:pt x="114" y="187"/>
                </a:lnTo>
                <a:lnTo>
                  <a:pt x="131" y="174"/>
                </a:lnTo>
                <a:lnTo>
                  <a:pt x="147" y="161"/>
                </a:lnTo>
                <a:lnTo>
                  <a:pt x="164" y="147"/>
                </a:lnTo>
                <a:lnTo>
                  <a:pt x="180" y="132"/>
                </a:lnTo>
                <a:lnTo>
                  <a:pt x="196" y="118"/>
                </a:lnTo>
                <a:lnTo>
                  <a:pt x="213" y="103"/>
                </a:lnTo>
                <a:lnTo>
                  <a:pt x="229" y="89"/>
                </a:lnTo>
                <a:lnTo>
                  <a:pt x="246" y="75"/>
                </a:lnTo>
                <a:lnTo>
                  <a:pt x="262" y="61"/>
                </a:lnTo>
                <a:lnTo>
                  <a:pt x="278" y="49"/>
                </a:lnTo>
                <a:lnTo>
                  <a:pt x="295" y="37"/>
                </a:lnTo>
                <a:lnTo>
                  <a:pt x="311" y="27"/>
                </a:lnTo>
                <a:lnTo>
                  <a:pt x="327" y="18"/>
                </a:lnTo>
                <a:lnTo>
                  <a:pt x="344" y="11"/>
                </a:lnTo>
                <a:lnTo>
                  <a:pt x="360" y="5"/>
                </a:lnTo>
                <a:lnTo>
                  <a:pt x="377" y="2"/>
                </a:lnTo>
                <a:lnTo>
                  <a:pt x="393" y="0"/>
                </a:lnTo>
                <a:lnTo>
                  <a:pt x="393" y="20"/>
                </a:lnTo>
                <a:lnTo>
                  <a:pt x="377" y="21"/>
                </a:lnTo>
                <a:lnTo>
                  <a:pt x="360" y="25"/>
                </a:lnTo>
                <a:lnTo>
                  <a:pt x="344" y="30"/>
                </a:lnTo>
                <a:lnTo>
                  <a:pt x="327" y="37"/>
                </a:lnTo>
                <a:lnTo>
                  <a:pt x="311" y="46"/>
                </a:lnTo>
                <a:lnTo>
                  <a:pt x="295" y="57"/>
                </a:lnTo>
                <a:lnTo>
                  <a:pt x="278" y="68"/>
                </a:lnTo>
                <a:lnTo>
                  <a:pt x="262" y="81"/>
                </a:lnTo>
                <a:lnTo>
                  <a:pt x="246" y="94"/>
                </a:lnTo>
                <a:lnTo>
                  <a:pt x="229" y="108"/>
                </a:lnTo>
                <a:lnTo>
                  <a:pt x="213" y="123"/>
                </a:lnTo>
                <a:lnTo>
                  <a:pt x="196" y="137"/>
                </a:lnTo>
                <a:lnTo>
                  <a:pt x="180" y="152"/>
                </a:lnTo>
                <a:lnTo>
                  <a:pt x="164" y="166"/>
                </a:lnTo>
                <a:lnTo>
                  <a:pt x="147" y="180"/>
                </a:lnTo>
                <a:lnTo>
                  <a:pt x="131" y="194"/>
                </a:lnTo>
                <a:lnTo>
                  <a:pt x="114" y="206"/>
                </a:lnTo>
                <a:lnTo>
                  <a:pt x="98" y="218"/>
                </a:lnTo>
                <a:lnTo>
                  <a:pt x="82" y="228"/>
                </a:lnTo>
                <a:lnTo>
                  <a:pt x="65" y="237"/>
                </a:lnTo>
                <a:lnTo>
                  <a:pt x="49" y="244"/>
                </a:lnTo>
                <a:lnTo>
                  <a:pt x="33" y="250"/>
                </a:lnTo>
                <a:lnTo>
                  <a:pt x="16" y="253"/>
                </a:lnTo>
                <a:lnTo>
                  <a:pt x="0" y="254"/>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reeform 32"/>
          <p:cNvSpPr/>
          <p:nvPr/>
        </p:nvSpPr>
        <p:spPr>
          <a:xfrm>
            <a:off x="2057400" y="5229225"/>
            <a:ext cx="3743325" cy="1228725"/>
          </a:xfrm>
          <a:custGeom>
            <a:avLst/>
            <a:gdLst/>
            <a:ahLst/>
            <a:cxnLst/>
            <a:rect l="l" t="t" r="r" b="b"/>
            <a:pathLst>
              <a:path w="393" h="129">
                <a:moveTo>
                  <a:pt x="0" y="120"/>
                </a:moveTo>
                <a:lnTo>
                  <a:pt x="16" y="120"/>
                </a:lnTo>
                <a:lnTo>
                  <a:pt x="33" y="118"/>
                </a:lnTo>
                <a:lnTo>
                  <a:pt x="49" y="115"/>
                </a:lnTo>
                <a:lnTo>
                  <a:pt x="65" y="112"/>
                </a:lnTo>
                <a:lnTo>
                  <a:pt x="82" y="107"/>
                </a:lnTo>
                <a:lnTo>
                  <a:pt x="98" y="102"/>
                </a:lnTo>
                <a:lnTo>
                  <a:pt x="114" y="96"/>
                </a:lnTo>
                <a:lnTo>
                  <a:pt x="131" y="89"/>
                </a:lnTo>
                <a:lnTo>
                  <a:pt x="147" y="82"/>
                </a:lnTo>
                <a:lnTo>
                  <a:pt x="164" y="75"/>
                </a:lnTo>
                <a:lnTo>
                  <a:pt x="180" y="68"/>
                </a:lnTo>
                <a:lnTo>
                  <a:pt x="196" y="60"/>
                </a:lnTo>
                <a:lnTo>
                  <a:pt x="213" y="53"/>
                </a:lnTo>
                <a:lnTo>
                  <a:pt x="229" y="45"/>
                </a:lnTo>
                <a:lnTo>
                  <a:pt x="246" y="38"/>
                </a:lnTo>
                <a:lnTo>
                  <a:pt x="262" y="31"/>
                </a:lnTo>
                <a:lnTo>
                  <a:pt x="278" y="25"/>
                </a:lnTo>
                <a:lnTo>
                  <a:pt x="295" y="19"/>
                </a:lnTo>
                <a:lnTo>
                  <a:pt x="311" y="13"/>
                </a:lnTo>
                <a:lnTo>
                  <a:pt x="327" y="9"/>
                </a:lnTo>
                <a:lnTo>
                  <a:pt x="344" y="5"/>
                </a:lnTo>
                <a:lnTo>
                  <a:pt x="360" y="2"/>
                </a:lnTo>
                <a:lnTo>
                  <a:pt x="377" y="0"/>
                </a:lnTo>
                <a:lnTo>
                  <a:pt x="393" y="0"/>
                </a:lnTo>
                <a:lnTo>
                  <a:pt x="393" y="8"/>
                </a:lnTo>
                <a:lnTo>
                  <a:pt x="377" y="9"/>
                </a:lnTo>
                <a:lnTo>
                  <a:pt x="360" y="11"/>
                </a:lnTo>
                <a:lnTo>
                  <a:pt x="344" y="13"/>
                </a:lnTo>
                <a:lnTo>
                  <a:pt x="327" y="17"/>
                </a:lnTo>
                <a:lnTo>
                  <a:pt x="311" y="22"/>
                </a:lnTo>
                <a:lnTo>
                  <a:pt x="295" y="27"/>
                </a:lnTo>
                <a:lnTo>
                  <a:pt x="278" y="33"/>
                </a:lnTo>
                <a:lnTo>
                  <a:pt x="262" y="40"/>
                </a:lnTo>
                <a:lnTo>
                  <a:pt x="246" y="46"/>
                </a:lnTo>
                <a:lnTo>
                  <a:pt x="229" y="54"/>
                </a:lnTo>
                <a:lnTo>
                  <a:pt x="213" y="61"/>
                </a:lnTo>
                <a:lnTo>
                  <a:pt x="196" y="69"/>
                </a:lnTo>
                <a:lnTo>
                  <a:pt x="180" y="76"/>
                </a:lnTo>
                <a:lnTo>
                  <a:pt x="164" y="84"/>
                </a:lnTo>
                <a:lnTo>
                  <a:pt x="147" y="91"/>
                </a:lnTo>
                <a:lnTo>
                  <a:pt x="131" y="98"/>
                </a:lnTo>
                <a:lnTo>
                  <a:pt x="114" y="104"/>
                </a:lnTo>
                <a:lnTo>
                  <a:pt x="98" y="110"/>
                </a:lnTo>
                <a:lnTo>
                  <a:pt x="82" y="115"/>
                </a:lnTo>
                <a:lnTo>
                  <a:pt x="65" y="120"/>
                </a:lnTo>
                <a:lnTo>
                  <a:pt x="49" y="124"/>
                </a:lnTo>
                <a:lnTo>
                  <a:pt x="33" y="127"/>
                </a:lnTo>
                <a:lnTo>
                  <a:pt x="16" y="128"/>
                </a:lnTo>
                <a:lnTo>
                  <a:pt x="0" y="12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Freeform 33"/>
          <p:cNvSpPr/>
          <p:nvPr/>
        </p:nvSpPr>
        <p:spPr>
          <a:xfrm>
            <a:off x="2057400" y="5857875"/>
            <a:ext cx="3743325" cy="638175"/>
          </a:xfrm>
          <a:custGeom>
            <a:avLst/>
            <a:gdLst/>
            <a:ahLst/>
            <a:cxnLst/>
            <a:rect l="l" t="t" r="r" b="b"/>
            <a:pathLst>
              <a:path w="393" h="67">
                <a:moveTo>
                  <a:pt x="0" y="63"/>
                </a:moveTo>
                <a:lnTo>
                  <a:pt x="16" y="63"/>
                </a:lnTo>
                <a:lnTo>
                  <a:pt x="33" y="62"/>
                </a:lnTo>
                <a:lnTo>
                  <a:pt x="49" y="60"/>
                </a:lnTo>
                <a:lnTo>
                  <a:pt x="65" y="58"/>
                </a:lnTo>
                <a:lnTo>
                  <a:pt x="82" y="56"/>
                </a:lnTo>
                <a:lnTo>
                  <a:pt x="98" y="53"/>
                </a:lnTo>
                <a:lnTo>
                  <a:pt x="114" y="50"/>
                </a:lnTo>
                <a:lnTo>
                  <a:pt x="131" y="47"/>
                </a:lnTo>
                <a:lnTo>
                  <a:pt x="147" y="43"/>
                </a:lnTo>
                <a:lnTo>
                  <a:pt x="164" y="39"/>
                </a:lnTo>
                <a:lnTo>
                  <a:pt x="180" y="35"/>
                </a:lnTo>
                <a:lnTo>
                  <a:pt x="196" y="31"/>
                </a:lnTo>
                <a:lnTo>
                  <a:pt x="213" y="27"/>
                </a:lnTo>
                <a:lnTo>
                  <a:pt x="229" y="24"/>
                </a:lnTo>
                <a:lnTo>
                  <a:pt x="246" y="20"/>
                </a:lnTo>
                <a:lnTo>
                  <a:pt x="262" y="16"/>
                </a:lnTo>
                <a:lnTo>
                  <a:pt x="278" y="13"/>
                </a:lnTo>
                <a:lnTo>
                  <a:pt x="295" y="10"/>
                </a:lnTo>
                <a:lnTo>
                  <a:pt x="311" y="7"/>
                </a:lnTo>
                <a:lnTo>
                  <a:pt x="327" y="4"/>
                </a:lnTo>
                <a:lnTo>
                  <a:pt x="344" y="2"/>
                </a:lnTo>
                <a:lnTo>
                  <a:pt x="360" y="1"/>
                </a:lnTo>
                <a:lnTo>
                  <a:pt x="377" y="0"/>
                </a:lnTo>
                <a:lnTo>
                  <a:pt x="393" y="0"/>
                </a:lnTo>
                <a:lnTo>
                  <a:pt x="393" y="4"/>
                </a:lnTo>
                <a:lnTo>
                  <a:pt x="377" y="4"/>
                </a:lnTo>
                <a:lnTo>
                  <a:pt x="360" y="5"/>
                </a:lnTo>
                <a:lnTo>
                  <a:pt x="344" y="7"/>
                </a:lnTo>
                <a:lnTo>
                  <a:pt x="327" y="9"/>
                </a:lnTo>
                <a:lnTo>
                  <a:pt x="311" y="11"/>
                </a:lnTo>
                <a:lnTo>
                  <a:pt x="295" y="14"/>
                </a:lnTo>
                <a:lnTo>
                  <a:pt x="278" y="17"/>
                </a:lnTo>
                <a:lnTo>
                  <a:pt x="262" y="20"/>
                </a:lnTo>
                <a:lnTo>
                  <a:pt x="246" y="24"/>
                </a:lnTo>
                <a:lnTo>
                  <a:pt x="229" y="28"/>
                </a:lnTo>
                <a:lnTo>
                  <a:pt x="213" y="32"/>
                </a:lnTo>
                <a:lnTo>
                  <a:pt x="196" y="36"/>
                </a:lnTo>
                <a:lnTo>
                  <a:pt x="180" y="40"/>
                </a:lnTo>
                <a:lnTo>
                  <a:pt x="164" y="44"/>
                </a:lnTo>
                <a:lnTo>
                  <a:pt x="147" y="47"/>
                </a:lnTo>
                <a:lnTo>
                  <a:pt x="131" y="51"/>
                </a:lnTo>
                <a:lnTo>
                  <a:pt x="114" y="54"/>
                </a:lnTo>
                <a:lnTo>
                  <a:pt x="98" y="57"/>
                </a:lnTo>
                <a:lnTo>
                  <a:pt x="82" y="60"/>
                </a:lnTo>
                <a:lnTo>
                  <a:pt x="65" y="63"/>
                </a:lnTo>
                <a:lnTo>
                  <a:pt x="49" y="65"/>
                </a:lnTo>
                <a:lnTo>
                  <a:pt x="33" y="66"/>
                </a:lnTo>
                <a:lnTo>
                  <a:pt x="16" y="67"/>
                </a:lnTo>
                <a:lnTo>
                  <a:pt x="0" y="67"/>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reeform 34"/>
          <p:cNvSpPr/>
          <p:nvPr/>
        </p:nvSpPr>
        <p:spPr>
          <a:xfrm>
            <a:off x="2057400" y="6438900"/>
            <a:ext cx="3743325" cy="95250"/>
          </a:xfrm>
          <a:custGeom>
            <a:avLst/>
            <a:gdLst/>
            <a:ahLst/>
            <a:cxnLst/>
            <a:rect l="l" t="t" r="r" b="b"/>
            <a:pathLst>
              <a:path w="393" h="10">
                <a:moveTo>
                  <a:pt x="0" y="6"/>
                </a:moveTo>
                <a:lnTo>
                  <a:pt x="16" y="6"/>
                </a:lnTo>
                <a:lnTo>
                  <a:pt x="33" y="6"/>
                </a:lnTo>
                <a:lnTo>
                  <a:pt x="49" y="6"/>
                </a:lnTo>
                <a:lnTo>
                  <a:pt x="65" y="6"/>
                </a:lnTo>
                <a:lnTo>
                  <a:pt x="82" y="6"/>
                </a:lnTo>
                <a:lnTo>
                  <a:pt x="98" y="5"/>
                </a:lnTo>
                <a:lnTo>
                  <a:pt x="114" y="5"/>
                </a:lnTo>
                <a:lnTo>
                  <a:pt x="131" y="5"/>
                </a:lnTo>
                <a:lnTo>
                  <a:pt x="147" y="4"/>
                </a:lnTo>
                <a:lnTo>
                  <a:pt x="164" y="4"/>
                </a:lnTo>
                <a:lnTo>
                  <a:pt x="180" y="4"/>
                </a:lnTo>
                <a:lnTo>
                  <a:pt x="196" y="3"/>
                </a:lnTo>
                <a:lnTo>
                  <a:pt x="213" y="3"/>
                </a:lnTo>
                <a:lnTo>
                  <a:pt x="229" y="3"/>
                </a:lnTo>
                <a:lnTo>
                  <a:pt x="246" y="2"/>
                </a:lnTo>
                <a:lnTo>
                  <a:pt x="262" y="2"/>
                </a:lnTo>
                <a:lnTo>
                  <a:pt x="278" y="2"/>
                </a:lnTo>
                <a:lnTo>
                  <a:pt x="295" y="1"/>
                </a:lnTo>
                <a:lnTo>
                  <a:pt x="311" y="1"/>
                </a:lnTo>
                <a:lnTo>
                  <a:pt x="327" y="1"/>
                </a:lnTo>
                <a:lnTo>
                  <a:pt x="344" y="1"/>
                </a:lnTo>
                <a:lnTo>
                  <a:pt x="360" y="0"/>
                </a:lnTo>
                <a:lnTo>
                  <a:pt x="377" y="0"/>
                </a:lnTo>
                <a:lnTo>
                  <a:pt x="393" y="0"/>
                </a:lnTo>
                <a:lnTo>
                  <a:pt x="393" y="4"/>
                </a:lnTo>
                <a:lnTo>
                  <a:pt x="377" y="4"/>
                </a:lnTo>
                <a:lnTo>
                  <a:pt x="360" y="4"/>
                </a:lnTo>
                <a:lnTo>
                  <a:pt x="344" y="4"/>
                </a:lnTo>
                <a:lnTo>
                  <a:pt x="327" y="4"/>
                </a:lnTo>
                <a:lnTo>
                  <a:pt x="311" y="5"/>
                </a:lnTo>
                <a:lnTo>
                  <a:pt x="295" y="5"/>
                </a:lnTo>
                <a:lnTo>
                  <a:pt x="278" y="5"/>
                </a:lnTo>
                <a:lnTo>
                  <a:pt x="262" y="6"/>
                </a:lnTo>
                <a:lnTo>
                  <a:pt x="246" y="6"/>
                </a:lnTo>
                <a:lnTo>
                  <a:pt x="229" y="6"/>
                </a:lnTo>
                <a:lnTo>
                  <a:pt x="213" y="7"/>
                </a:lnTo>
                <a:lnTo>
                  <a:pt x="196" y="7"/>
                </a:lnTo>
                <a:lnTo>
                  <a:pt x="180" y="7"/>
                </a:lnTo>
                <a:lnTo>
                  <a:pt x="164" y="8"/>
                </a:lnTo>
                <a:lnTo>
                  <a:pt x="147" y="8"/>
                </a:lnTo>
                <a:lnTo>
                  <a:pt x="131" y="8"/>
                </a:lnTo>
                <a:lnTo>
                  <a:pt x="114" y="9"/>
                </a:lnTo>
                <a:lnTo>
                  <a:pt x="98" y="9"/>
                </a:lnTo>
                <a:lnTo>
                  <a:pt x="82" y="9"/>
                </a:lnTo>
                <a:lnTo>
                  <a:pt x="65" y="10"/>
                </a:lnTo>
                <a:lnTo>
                  <a:pt x="49" y="10"/>
                </a:lnTo>
                <a:lnTo>
                  <a:pt x="33" y="10"/>
                </a:lnTo>
                <a:lnTo>
                  <a:pt x="16" y="10"/>
                </a:lnTo>
                <a:lnTo>
                  <a:pt x="0" y="1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941195" y="1304925"/>
            <a:ext cx="114300" cy="1224100"/>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7175" y="1304925"/>
            <a:ext cx="1626870" cy="1224100"/>
          </a:xfrm>
          <a:prstGeom prst="rect">
            <a:avLst/>
          </a:prstGeom>
          <a:noFill/>
        </p:spPr>
        <p:txBody>
          <a:bodyPr wrap="square" lIns="0" tIns="0" rIns="19050" bIns="0" anchor="ctr">
            <a:spAutoFit/>
          </a:bodyPr>
          <a:lstStyle/>
          <a:p>
            <a:pPr algn="r"/>
            <a:endParaRPr/>
          </a:p>
        </p:txBody>
      </p:sp>
      <p:sp>
        <p:nvSpPr>
          <p:cNvPr id="38" name="Rectangle 37"/>
          <p:cNvSpPr/>
          <p:nvPr/>
        </p:nvSpPr>
        <p:spPr>
          <a:xfrm>
            <a:off x="1941195" y="2586175"/>
            <a:ext cx="114300" cy="1102774"/>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7175" y="2586175"/>
            <a:ext cx="1626870" cy="1102774"/>
          </a:xfrm>
          <a:prstGeom prst="rect">
            <a:avLst/>
          </a:prstGeom>
          <a:noFill/>
        </p:spPr>
        <p:txBody>
          <a:bodyPr wrap="square" lIns="0" tIns="0" rIns="19050" bIns="0" anchor="ctr">
            <a:spAutoFit/>
          </a:bodyPr>
          <a:lstStyle/>
          <a:p>
            <a:pPr algn="r"/>
            <a:endParaRPr/>
          </a:p>
        </p:txBody>
      </p:sp>
      <p:sp>
        <p:nvSpPr>
          <p:cNvPr id="40" name="Rectangle 39"/>
          <p:cNvSpPr/>
          <p:nvPr/>
        </p:nvSpPr>
        <p:spPr>
          <a:xfrm>
            <a:off x="1941195" y="3746099"/>
            <a:ext cx="114300" cy="105499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7175" y="3746099"/>
            <a:ext cx="1626870" cy="1054996"/>
          </a:xfrm>
          <a:prstGeom prst="rect">
            <a:avLst/>
          </a:prstGeom>
          <a:noFill/>
        </p:spPr>
        <p:txBody>
          <a:bodyPr wrap="square" lIns="0" tIns="0" rIns="19050" bIns="0" anchor="ctr">
            <a:spAutoFit/>
          </a:bodyPr>
          <a:lstStyle/>
          <a:p>
            <a:pPr algn="r"/>
            <a:endParaRPr/>
          </a:p>
        </p:txBody>
      </p:sp>
      <p:sp>
        <p:nvSpPr>
          <p:cNvPr id="42" name="Rectangle 41"/>
          <p:cNvSpPr/>
          <p:nvPr/>
        </p:nvSpPr>
        <p:spPr>
          <a:xfrm>
            <a:off x="1941195" y="4858246"/>
            <a:ext cx="114300" cy="841319"/>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57175" y="4858246"/>
            <a:ext cx="1626870" cy="841319"/>
          </a:xfrm>
          <a:prstGeom prst="rect">
            <a:avLst/>
          </a:prstGeom>
          <a:noFill/>
        </p:spPr>
        <p:txBody>
          <a:bodyPr wrap="square" lIns="0" tIns="0" rIns="19050" bIns="0" anchor="ctr">
            <a:spAutoFit/>
          </a:bodyPr>
          <a:lstStyle/>
          <a:p>
            <a:pPr algn="r"/>
            <a:endParaRPr/>
          </a:p>
        </p:txBody>
      </p:sp>
      <p:sp>
        <p:nvSpPr>
          <p:cNvPr id="44" name="Rectangle 43"/>
          <p:cNvSpPr/>
          <p:nvPr/>
        </p:nvSpPr>
        <p:spPr>
          <a:xfrm>
            <a:off x="1941195" y="5756715"/>
            <a:ext cx="114300" cy="37542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7175" y="5756715"/>
            <a:ext cx="1626870" cy="375424"/>
          </a:xfrm>
          <a:prstGeom prst="rect">
            <a:avLst/>
          </a:prstGeom>
          <a:noFill/>
        </p:spPr>
        <p:txBody>
          <a:bodyPr wrap="square" lIns="0" tIns="0" rIns="19050" bIns="0" anchor="ctr">
            <a:spAutoFit/>
          </a:bodyPr>
          <a:lstStyle/>
          <a:p>
            <a:pPr algn="r"/>
            <a:endParaRPr/>
          </a:p>
        </p:txBody>
      </p:sp>
      <p:sp>
        <p:nvSpPr>
          <p:cNvPr id="46" name="Rectangle 45"/>
          <p:cNvSpPr/>
          <p:nvPr/>
        </p:nvSpPr>
        <p:spPr>
          <a:xfrm>
            <a:off x="1941195" y="6189289"/>
            <a:ext cx="114300" cy="344861"/>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7175" y="6189289"/>
            <a:ext cx="1626870" cy="344861"/>
          </a:xfrm>
          <a:prstGeom prst="rect">
            <a:avLst/>
          </a:prstGeom>
          <a:noFill/>
        </p:spPr>
        <p:txBody>
          <a:bodyPr wrap="square" lIns="0" tIns="0" rIns="19050" bIns="0" anchor="ctr">
            <a:spAutoFit/>
          </a:bodyPr>
          <a:lstStyle/>
          <a:p>
            <a:pPr algn="r"/>
            <a:endParaRPr/>
          </a:p>
        </p:txBody>
      </p:sp>
      <p:sp>
        <p:nvSpPr>
          <p:cNvPr id="48" name="Rectangle 47"/>
          <p:cNvSpPr/>
          <p:nvPr/>
        </p:nvSpPr>
        <p:spPr>
          <a:xfrm>
            <a:off x="5800725" y="1362075"/>
            <a:ext cx="114300" cy="278255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72175" y="1362075"/>
            <a:ext cx="1381125" cy="2782557"/>
          </a:xfrm>
          <a:prstGeom prst="rect">
            <a:avLst/>
          </a:prstGeom>
          <a:noFill/>
        </p:spPr>
        <p:txBody>
          <a:bodyPr wrap="square" lIns="0" tIns="0" rIns="19050" bIns="0" anchor="ctr">
            <a:spAutoFit/>
          </a:bodyPr>
          <a:lstStyle/>
          <a:p>
            <a:pPr algn="l"/>
            <a:endParaRPr/>
          </a:p>
        </p:txBody>
      </p:sp>
      <p:sp>
        <p:nvSpPr>
          <p:cNvPr id="50" name="Rectangle 49"/>
          <p:cNvSpPr/>
          <p:nvPr/>
        </p:nvSpPr>
        <p:spPr>
          <a:xfrm>
            <a:off x="5800725" y="4201782"/>
            <a:ext cx="114300" cy="110562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972175" y="4201782"/>
            <a:ext cx="1381125" cy="1105622"/>
          </a:xfrm>
          <a:prstGeom prst="rect">
            <a:avLst/>
          </a:prstGeom>
          <a:noFill/>
        </p:spPr>
        <p:txBody>
          <a:bodyPr wrap="square" lIns="0" tIns="0" rIns="19050" bIns="0" anchor="ctr">
            <a:spAutoFit/>
          </a:bodyPr>
          <a:lstStyle/>
          <a:p>
            <a:pPr algn="l"/>
            <a:endParaRPr/>
          </a:p>
        </p:txBody>
      </p:sp>
      <p:sp>
        <p:nvSpPr>
          <p:cNvPr id="52" name="Rectangle 51"/>
          <p:cNvSpPr/>
          <p:nvPr/>
        </p:nvSpPr>
        <p:spPr>
          <a:xfrm>
            <a:off x="5800725" y="5364554"/>
            <a:ext cx="114300" cy="53214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72175" y="5364554"/>
            <a:ext cx="1381125" cy="532145"/>
          </a:xfrm>
          <a:prstGeom prst="rect">
            <a:avLst/>
          </a:prstGeom>
          <a:noFill/>
        </p:spPr>
        <p:txBody>
          <a:bodyPr wrap="square" lIns="0" tIns="0" rIns="19050" bIns="0" anchor="ctr">
            <a:spAutoFit/>
          </a:bodyPr>
          <a:lstStyle/>
          <a:p>
            <a:pPr algn="l"/>
            <a:endParaRPr/>
          </a:p>
        </p:txBody>
      </p:sp>
      <p:sp>
        <p:nvSpPr>
          <p:cNvPr id="54" name="Rectangle 53"/>
          <p:cNvSpPr/>
          <p:nvPr/>
        </p:nvSpPr>
        <p:spPr>
          <a:xfrm>
            <a:off x="5800725" y="5953849"/>
            <a:ext cx="114300" cy="52315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972175" y="5953849"/>
            <a:ext cx="1381125" cy="523151"/>
          </a:xfrm>
          <a:prstGeom prst="rect">
            <a:avLst/>
          </a:prstGeom>
          <a:noFill/>
        </p:spPr>
        <p:txBody>
          <a:bodyPr wrap="square" lIns="0" tIns="0" rIns="19050" bIns="0" anchor="ctr">
            <a:spAutoFit/>
          </a:bodyPr>
          <a:lstStyle/>
          <a:p>
            <a:pPr algn="l"/>
            <a:endParaRPr/>
          </a:p>
        </p:txBody>
      </p:sp>
      <p:sp>
        <p:nvSpPr>
          <p:cNvPr id="56" name="Rounded Rectangle 55"/>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715250" y="1066800"/>
            <a:ext cx="4191000" cy="209550"/>
          </a:xfrm>
          <a:prstGeom prst="rect">
            <a:avLst/>
          </a:prstGeom>
          <a:noFill/>
        </p:spPr>
        <p:txBody>
          <a:bodyPr wrap="square" lIns="0" tIns="9525" rIns="19050" bIns="9525">
            <a:spAutoFit/>
          </a:bodyPr>
          <a:lstStyle/>
          <a:p>
            <a:pPr algn="l"/>
            <a:r>
              <a:rPr sz="1300" b="1">
                <a:solidFill>
                  <a:srgbClr val="0B2E4A"/>
                </a:solidFill>
                <a:latin typeface="Calibri"/>
              </a:rPr>
              <a:t>Key Findings</a:t>
            </a:r>
          </a:p>
        </p:txBody>
      </p:sp>
      <p:sp>
        <p:nvSpPr>
          <p:cNvPr id="58" name="Rectangle 57"/>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715250" y="1390650"/>
            <a:ext cx="41910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0" name="TextBox 5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61" name="TextBox 60"/>
          <p:cNvSpPr txBox="1"/>
          <p:nvPr/>
        </p:nvSpPr>
        <p:spPr>
          <a:xfrm>
            <a:off x="534703" y="1833154"/>
            <a:ext cx="1252463" cy="186689"/>
          </a:xfrm>
          <a:prstGeom prst="rect">
            <a:avLst/>
          </a:prstGeom>
          <a:noFill/>
        </p:spPr>
        <p:txBody>
          <a:bodyPr wrap="none" lIns="0" tIns="0" rIns="0" bIns="0">
            <a:spAutoFit/>
          </a:bodyPr>
          <a:lstStyle/>
          <a:p>
            <a:r>
              <a:rPr sz="1100" b="1">
                <a:solidFill>
                  <a:srgbClr val="2E2E2E"/>
                </a:solidFill>
                <a:latin typeface="Calibri"/>
              </a:rPr>
              <a:t>Veterinary Channels</a:t>
            </a:r>
          </a:p>
        </p:txBody>
      </p:sp>
      <p:pic>
        <p:nvPicPr>
          <p:cNvPr id="62" name="Picture 61" descr="lock.png"/>
          <p:cNvPicPr>
            <a:picLocks noChangeAspect="1"/>
          </p:cNvPicPr>
          <p:nvPr/>
        </p:nvPicPr>
        <p:blipFill>
          <a:blip r:embed="rId4"/>
          <a:stretch>
            <a:fillRect/>
          </a:stretch>
        </p:blipFill>
        <p:spPr>
          <a:xfrm>
            <a:off x="1735218" y="1823376"/>
            <a:ext cx="128699" cy="187198"/>
          </a:xfrm>
          <a:prstGeom prst="rect">
            <a:avLst/>
          </a:prstGeom>
        </p:spPr>
      </p:pic>
      <p:sp>
        <p:nvSpPr>
          <p:cNvPr id="63" name="TextBox 62"/>
          <p:cNvSpPr txBox="1"/>
          <p:nvPr/>
        </p:nvSpPr>
        <p:spPr>
          <a:xfrm>
            <a:off x="458214" y="2969922"/>
            <a:ext cx="1406780" cy="186689"/>
          </a:xfrm>
          <a:prstGeom prst="rect">
            <a:avLst/>
          </a:prstGeom>
          <a:noFill/>
        </p:spPr>
        <p:txBody>
          <a:bodyPr wrap="none" lIns="0" tIns="0" rIns="0" bIns="0">
            <a:spAutoFit/>
          </a:bodyPr>
          <a:lstStyle/>
          <a:p>
            <a:r>
              <a:rPr sz="1100" b="1">
                <a:solidFill>
                  <a:srgbClr val="2E2E2E"/>
                </a:solidFill>
                <a:latin typeface="Calibri"/>
              </a:rPr>
              <a:t>Third-Party E-commerce</a:t>
            </a:r>
          </a:p>
        </p:txBody>
      </p:sp>
      <p:pic>
        <p:nvPicPr>
          <p:cNvPr id="64" name="Picture 63" descr="lock.png"/>
          <p:cNvPicPr>
            <a:picLocks noChangeAspect="1"/>
          </p:cNvPicPr>
          <p:nvPr/>
        </p:nvPicPr>
        <p:blipFill>
          <a:blip r:embed="rId4"/>
          <a:stretch>
            <a:fillRect/>
          </a:stretch>
        </p:blipFill>
        <p:spPr>
          <a:xfrm>
            <a:off x="1735218" y="3127783"/>
            <a:ext cx="128699" cy="187198"/>
          </a:xfrm>
          <a:prstGeom prst="rect">
            <a:avLst/>
          </a:prstGeom>
        </p:spPr>
      </p:pic>
      <p:sp>
        <p:nvSpPr>
          <p:cNvPr id="65" name="TextBox 64"/>
          <p:cNvSpPr txBox="1"/>
          <p:nvPr/>
        </p:nvSpPr>
        <p:spPr>
          <a:xfrm>
            <a:off x="572629" y="4189777"/>
            <a:ext cx="1214536" cy="186689"/>
          </a:xfrm>
          <a:prstGeom prst="rect">
            <a:avLst/>
          </a:prstGeom>
          <a:noFill/>
        </p:spPr>
        <p:txBody>
          <a:bodyPr wrap="none" lIns="0" tIns="0" rIns="0" bIns="0">
            <a:spAutoFit/>
          </a:bodyPr>
          <a:lstStyle/>
          <a:p>
            <a:r>
              <a:rPr sz="1100" b="1">
                <a:solidFill>
                  <a:srgbClr val="2E2E2E"/>
                </a:solidFill>
                <a:latin typeface="Calibri"/>
              </a:rPr>
              <a:t>Specialist Pet Retail</a:t>
            </a:r>
          </a:p>
        </p:txBody>
      </p:sp>
      <p:pic>
        <p:nvPicPr>
          <p:cNvPr id="66" name="Picture 65" descr="lock.png"/>
          <p:cNvPicPr>
            <a:picLocks noChangeAspect="1"/>
          </p:cNvPicPr>
          <p:nvPr/>
        </p:nvPicPr>
        <p:blipFill>
          <a:blip r:embed="rId4"/>
          <a:stretch>
            <a:fillRect/>
          </a:stretch>
        </p:blipFill>
        <p:spPr>
          <a:xfrm>
            <a:off x="1735218" y="4179998"/>
            <a:ext cx="128699" cy="187198"/>
          </a:xfrm>
          <a:prstGeom prst="rect">
            <a:avLst/>
          </a:prstGeom>
        </p:spPr>
      </p:pic>
      <p:sp>
        <p:nvSpPr>
          <p:cNvPr id="67" name="TextBox 66"/>
          <p:cNvSpPr txBox="1"/>
          <p:nvPr/>
        </p:nvSpPr>
        <p:spPr>
          <a:xfrm>
            <a:off x="303508" y="5111265"/>
            <a:ext cx="1561486" cy="186689"/>
          </a:xfrm>
          <a:prstGeom prst="rect">
            <a:avLst/>
          </a:prstGeom>
          <a:noFill/>
        </p:spPr>
        <p:txBody>
          <a:bodyPr wrap="none" lIns="0" tIns="0" rIns="0" bIns="0">
            <a:spAutoFit/>
          </a:bodyPr>
          <a:lstStyle/>
          <a:p>
            <a:r>
              <a:rPr sz="1100" b="1">
                <a:solidFill>
                  <a:srgbClr val="2E2E2E"/>
                </a:solidFill>
                <a:latin typeface="Calibri"/>
              </a:rPr>
              <a:t>Brand-Owned E-commerce</a:t>
            </a:r>
          </a:p>
        </p:txBody>
      </p:sp>
      <p:pic>
        <p:nvPicPr>
          <p:cNvPr id="68" name="Picture 67" descr="lock.png"/>
          <p:cNvPicPr>
            <a:picLocks noChangeAspect="1"/>
          </p:cNvPicPr>
          <p:nvPr/>
        </p:nvPicPr>
        <p:blipFill>
          <a:blip r:embed="rId4"/>
          <a:stretch>
            <a:fillRect/>
          </a:stretch>
        </p:blipFill>
        <p:spPr>
          <a:xfrm>
            <a:off x="1735218" y="5269126"/>
            <a:ext cx="128699" cy="187198"/>
          </a:xfrm>
          <a:prstGeom prst="rect">
            <a:avLst/>
          </a:prstGeom>
        </p:spPr>
      </p:pic>
      <p:sp>
        <p:nvSpPr>
          <p:cNvPr id="69" name="TextBox 68"/>
          <p:cNvSpPr txBox="1"/>
          <p:nvPr/>
        </p:nvSpPr>
        <p:spPr>
          <a:xfrm>
            <a:off x="664580" y="5860607"/>
            <a:ext cx="1122585" cy="186689"/>
          </a:xfrm>
          <a:prstGeom prst="rect">
            <a:avLst/>
          </a:prstGeom>
          <a:noFill/>
        </p:spPr>
        <p:txBody>
          <a:bodyPr wrap="none" lIns="0" tIns="0" rIns="0" bIns="0">
            <a:spAutoFit/>
          </a:bodyPr>
          <a:lstStyle/>
          <a:p>
            <a:r>
              <a:rPr sz="1100" b="1">
                <a:solidFill>
                  <a:srgbClr val="2E2E2E"/>
                </a:solidFill>
                <a:latin typeface="Calibri"/>
              </a:rPr>
              <a:t>Other Direct Sales</a:t>
            </a:r>
          </a:p>
        </p:txBody>
      </p:sp>
      <p:pic>
        <p:nvPicPr>
          <p:cNvPr id="70" name="Picture 69" descr="lock.png"/>
          <p:cNvPicPr>
            <a:picLocks noChangeAspect="1"/>
          </p:cNvPicPr>
          <p:nvPr/>
        </p:nvPicPr>
        <p:blipFill>
          <a:blip r:embed="rId4"/>
          <a:stretch>
            <a:fillRect/>
          </a:stretch>
        </p:blipFill>
        <p:spPr>
          <a:xfrm>
            <a:off x="1735218" y="5850827"/>
            <a:ext cx="128699" cy="187198"/>
          </a:xfrm>
          <a:prstGeom prst="rect">
            <a:avLst/>
          </a:prstGeom>
        </p:spPr>
      </p:pic>
      <p:sp>
        <p:nvSpPr>
          <p:cNvPr id="71" name="TextBox 70"/>
          <p:cNvSpPr txBox="1"/>
          <p:nvPr/>
        </p:nvSpPr>
        <p:spPr>
          <a:xfrm>
            <a:off x="886136" y="6277899"/>
            <a:ext cx="901030" cy="186689"/>
          </a:xfrm>
          <a:prstGeom prst="rect">
            <a:avLst/>
          </a:prstGeom>
          <a:noFill/>
        </p:spPr>
        <p:txBody>
          <a:bodyPr wrap="none" lIns="0" tIns="0" rIns="0" bIns="0">
            <a:spAutoFit/>
          </a:bodyPr>
          <a:lstStyle/>
          <a:p>
            <a:r>
              <a:rPr sz="1100" b="1">
                <a:solidFill>
                  <a:srgbClr val="2E2E2E"/>
                </a:solidFill>
                <a:latin typeface="Calibri"/>
              </a:rPr>
              <a:t>General Retail</a:t>
            </a:r>
          </a:p>
        </p:txBody>
      </p:sp>
      <p:pic>
        <p:nvPicPr>
          <p:cNvPr id="72" name="Picture 71" descr="lock.png"/>
          <p:cNvPicPr>
            <a:picLocks noChangeAspect="1"/>
          </p:cNvPicPr>
          <p:nvPr/>
        </p:nvPicPr>
        <p:blipFill>
          <a:blip r:embed="rId4"/>
          <a:stretch>
            <a:fillRect/>
          </a:stretch>
        </p:blipFill>
        <p:spPr>
          <a:xfrm>
            <a:off x="1735218" y="6268120"/>
            <a:ext cx="128699" cy="187198"/>
          </a:xfrm>
          <a:prstGeom prst="rect">
            <a:avLst/>
          </a:prstGeom>
        </p:spPr>
      </p:pic>
      <p:sp>
        <p:nvSpPr>
          <p:cNvPr id="73" name="TextBox 72"/>
          <p:cNvSpPr txBox="1"/>
          <p:nvPr/>
        </p:nvSpPr>
        <p:spPr>
          <a:xfrm>
            <a:off x="5972175" y="2501893"/>
            <a:ext cx="1362075" cy="186689"/>
          </a:xfrm>
          <a:prstGeom prst="rect">
            <a:avLst/>
          </a:prstGeom>
          <a:noFill/>
        </p:spPr>
        <p:txBody>
          <a:bodyPr wrap="none" lIns="0" tIns="0" rIns="0" bIns="0">
            <a:spAutoFit/>
          </a:bodyPr>
          <a:lstStyle/>
          <a:p>
            <a:r>
              <a:rPr sz="1100" b="1">
                <a:solidFill>
                  <a:srgbClr val="2E2E2E"/>
                </a:solidFill>
                <a:latin typeface="Calibri"/>
              </a:rPr>
              <a:t>Support for Observable</a:t>
            </a:r>
          </a:p>
        </p:txBody>
      </p:sp>
      <p:sp>
        <p:nvSpPr>
          <p:cNvPr id="74" name="TextBox 73"/>
          <p:cNvSpPr txBox="1"/>
          <p:nvPr/>
        </p:nvSpPr>
        <p:spPr>
          <a:xfrm>
            <a:off x="5972175" y="2669533"/>
            <a:ext cx="1362075" cy="186689"/>
          </a:xfrm>
          <a:prstGeom prst="rect">
            <a:avLst/>
          </a:prstGeom>
          <a:noFill/>
        </p:spPr>
        <p:txBody>
          <a:bodyPr wrap="none" lIns="0" tIns="0" rIns="0" bIns="0">
            <a:spAutoFit/>
          </a:bodyPr>
          <a:lstStyle/>
          <a:p>
            <a:r>
              <a:rPr sz="1100" b="1">
                <a:solidFill>
                  <a:srgbClr val="2E2E2E"/>
                </a:solidFill>
                <a:latin typeface="Calibri"/>
              </a:rPr>
              <a:t>Age-Related Cognitive</a:t>
            </a:r>
          </a:p>
        </p:txBody>
      </p:sp>
      <p:sp>
        <p:nvSpPr>
          <p:cNvPr id="75" name="TextBox 74"/>
          <p:cNvSpPr txBox="1"/>
          <p:nvPr/>
        </p:nvSpPr>
        <p:spPr>
          <a:xfrm>
            <a:off x="5972175" y="2837173"/>
            <a:ext cx="561602" cy="186689"/>
          </a:xfrm>
          <a:prstGeom prst="rect">
            <a:avLst/>
          </a:prstGeom>
          <a:noFill/>
        </p:spPr>
        <p:txBody>
          <a:bodyPr wrap="none" lIns="0" tIns="0" rIns="0" bIns="0">
            <a:spAutoFit/>
          </a:bodyPr>
          <a:lstStyle/>
          <a:p>
            <a:r>
              <a:rPr sz="1100" b="1">
                <a:solidFill>
                  <a:srgbClr val="2E2E2E"/>
                </a:solidFill>
                <a:latin typeface="Calibri"/>
              </a:rPr>
              <a:t>Changes</a:t>
            </a:r>
          </a:p>
        </p:txBody>
      </p:sp>
      <p:pic>
        <p:nvPicPr>
          <p:cNvPr id="76" name="Picture 75" descr="lock.png"/>
          <p:cNvPicPr>
            <a:picLocks noChangeAspect="1"/>
          </p:cNvPicPr>
          <p:nvPr/>
        </p:nvPicPr>
        <p:blipFill>
          <a:blip r:embed="rId4"/>
          <a:stretch>
            <a:fillRect/>
          </a:stretch>
        </p:blipFill>
        <p:spPr>
          <a:xfrm>
            <a:off x="6481829" y="2827394"/>
            <a:ext cx="128699" cy="187198"/>
          </a:xfrm>
          <a:prstGeom prst="rect">
            <a:avLst/>
          </a:prstGeom>
        </p:spPr>
      </p:pic>
      <p:sp>
        <p:nvSpPr>
          <p:cNvPr id="77" name="TextBox 76"/>
          <p:cNvSpPr txBox="1"/>
          <p:nvPr/>
        </p:nvSpPr>
        <p:spPr>
          <a:xfrm>
            <a:off x="5972175" y="4586953"/>
            <a:ext cx="1108943" cy="186689"/>
          </a:xfrm>
          <a:prstGeom prst="rect">
            <a:avLst/>
          </a:prstGeom>
          <a:noFill/>
        </p:spPr>
        <p:txBody>
          <a:bodyPr wrap="none" lIns="0" tIns="0" rIns="0" bIns="0">
            <a:spAutoFit/>
          </a:bodyPr>
          <a:lstStyle/>
          <a:p>
            <a:r>
              <a:rPr sz="1100" b="1">
                <a:solidFill>
                  <a:srgbClr val="2E2E2E"/>
                </a:solidFill>
                <a:latin typeface="Calibri"/>
              </a:rPr>
              <a:t>Routine Cognitive</a:t>
            </a:r>
          </a:p>
        </p:txBody>
      </p:sp>
      <p:sp>
        <p:nvSpPr>
          <p:cNvPr id="78" name="TextBox 77"/>
          <p:cNvSpPr txBox="1"/>
          <p:nvPr/>
        </p:nvSpPr>
        <p:spPr>
          <a:xfrm>
            <a:off x="5972175" y="4754593"/>
            <a:ext cx="598710" cy="186689"/>
          </a:xfrm>
          <a:prstGeom prst="rect">
            <a:avLst/>
          </a:prstGeom>
          <a:noFill/>
        </p:spPr>
        <p:txBody>
          <a:bodyPr wrap="none" lIns="0" tIns="0" rIns="0" bIns="0">
            <a:spAutoFit/>
          </a:bodyPr>
          <a:lstStyle/>
          <a:p>
            <a:r>
              <a:rPr sz="1100" b="1">
                <a:solidFill>
                  <a:srgbClr val="2E2E2E"/>
                </a:solidFill>
                <a:latin typeface="Calibri"/>
              </a:rPr>
              <a:t>Wellness</a:t>
            </a:r>
          </a:p>
        </p:txBody>
      </p:sp>
      <p:pic>
        <p:nvPicPr>
          <p:cNvPr id="79" name="Picture 78" descr="lock.png"/>
          <p:cNvPicPr>
            <a:picLocks noChangeAspect="1"/>
          </p:cNvPicPr>
          <p:nvPr/>
        </p:nvPicPr>
        <p:blipFill>
          <a:blip r:embed="rId4"/>
          <a:stretch>
            <a:fillRect/>
          </a:stretch>
        </p:blipFill>
        <p:spPr>
          <a:xfrm>
            <a:off x="6518937" y="4744814"/>
            <a:ext cx="128699" cy="187198"/>
          </a:xfrm>
          <a:prstGeom prst="rect">
            <a:avLst/>
          </a:prstGeom>
        </p:spPr>
      </p:pic>
      <p:sp>
        <p:nvSpPr>
          <p:cNvPr id="80" name="TextBox 79"/>
          <p:cNvSpPr txBox="1"/>
          <p:nvPr/>
        </p:nvSpPr>
        <p:spPr>
          <a:xfrm>
            <a:off x="5972175" y="5399283"/>
            <a:ext cx="1181205" cy="173278"/>
          </a:xfrm>
          <a:prstGeom prst="rect">
            <a:avLst/>
          </a:prstGeom>
          <a:noFill/>
        </p:spPr>
        <p:txBody>
          <a:bodyPr wrap="none" lIns="0" tIns="0" rIns="0" bIns="0">
            <a:spAutoFit/>
          </a:bodyPr>
          <a:lstStyle/>
          <a:p>
            <a:r>
              <a:rPr sz="1011" b="1">
                <a:solidFill>
                  <a:srgbClr val="2E2E2E"/>
                </a:solidFill>
                <a:latin typeface="Calibri"/>
              </a:rPr>
              <a:t>Preventive Cognitive</a:t>
            </a:r>
          </a:p>
        </p:txBody>
      </p:sp>
      <p:sp>
        <p:nvSpPr>
          <p:cNvPr id="81" name="TextBox 80"/>
          <p:cNvSpPr txBox="1"/>
          <p:nvPr/>
        </p:nvSpPr>
        <p:spPr>
          <a:xfrm>
            <a:off x="5972175" y="5553512"/>
            <a:ext cx="1349390" cy="173278"/>
          </a:xfrm>
          <a:prstGeom prst="rect">
            <a:avLst/>
          </a:prstGeom>
          <a:noFill/>
        </p:spPr>
        <p:txBody>
          <a:bodyPr wrap="none" lIns="0" tIns="0" rIns="0" bIns="0">
            <a:spAutoFit/>
          </a:bodyPr>
          <a:lstStyle/>
          <a:p>
            <a:r>
              <a:rPr sz="1011" b="1">
                <a:solidFill>
                  <a:srgbClr val="2E2E2E"/>
                </a:solidFill>
                <a:latin typeface="Calibri"/>
              </a:rPr>
              <a:t>Support for Senior Dogs</a:t>
            </a:r>
          </a:p>
        </p:txBody>
      </p:sp>
      <p:pic>
        <p:nvPicPr>
          <p:cNvPr id="82" name="Picture 81" descr="lock.png"/>
          <p:cNvPicPr>
            <a:picLocks noChangeAspect="1"/>
          </p:cNvPicPr>
          <p:nvPr/>
        </p:nvPicPr>
        <p:blipFill>
          <a:blip r:embed="rId4"/>
          <a:stretch>
            <a:fillRect/>
          </a:stretch>
        </p:blipFill>
        <p:spPr>
          <a:xfrm>
            <a:off x="5959784" y="5698744"/>
            <a:ext cx="118403" cy="172222"/>
          </a:xfrm>
          <a:prstGeom prst="rect">
            <a:avLst/>
          </a:prstGeom>
        </p:spPr>
      </p:pic>
      <p:sp>
        <p:nvSpPr>
          <p:cNvPr id="83" name="TextBox 82"/>
          <p:cNvSpPr txBox="1"/>
          <p:nvPr/>
        </p:nvSpPr>
        <p:spPr>
          <a:xfrm>
            <a:off x="5972175" y="5994139"/>
            <a:ext cx="1024632" cy="166573"/>
          </a:xfrm>
          <a:prstGeom prst="rect">
            <a:avLst/>
          </a:prstGeom>
          <a:noFill/>
        </p:spPr>
        <p:txBody>
          <a:bodyPr wrap="none" lIns="0" tIns="0" rIns="0" bIns="0">
            <a:spAutoFit/>
          </a:bodyPr>
          <a:lstStyle/>
          <a:p>
            <a:r>
              <a:rPr sz="968" b="1">
                <a:solidFill>
                  <a:srgbClr val="2E2E2E"/>
                </a:solidFill>
                <a:latin typeface="Calibri"/>
              </a:rPr>
              <a:t>Veterinary-Guided</a:t>
            </a:r>
          </a:p>
        </p:txBody>
      </p:sp>
      <p:sp>
        <p:nvSpPr>
          <p:cNvPr id="84" name="TextBox 83"/>
          <p:cNvSpPr txBox="1"/>
          <p:nvPr/>
        </p:nvSpPr>
        <p:spPr>
          <a:xfrm>
            <a:off x="5972175" y="6141662"/>
            <a:ext cx="1195109" cy="166573"/>
          </a:xfrm>
          <a:prstGeom prst="rect">
            <a:avLst/>
          </a:prstGeom>
          <a:noFill/>
        </p:spPr>
        <p:txBody>
          <a:bodyPr wrap="none" lIns="0" tIns="0" rIns="0" bIns="0">
            <a:spAutoFit/>
          </a:bodyPr>
          <a:lstStyle/>
          <a:p>
            <a:r>
              <a:rPr sz="968" b="1">
                <a:solidFill>
                  <a:srgbClr val="2E2E2E"/>
                </a:solidFill>
                <a:latin typeface="Calibri"/>
              </a:rPr>
              <a:t>Cognitive Dysfunction</a:t>
            </a:r>
          </a:p>
        </p:txBody>
      </p:sp>
      <p:sp>
        <p:nvSpPr>
          <p:cNvPr id="85" name="TextBox 84"/>
          <p:cNvSpPr txBox="1"/>
          <p:nvPr/>
        </p:nvSpPr>
        <p:spPr>
          <a:xfrm>
            <a:off x="5972175" y="6289186"/>
            <a:ext cx="484866" cy="166573"/>
          </a:xfrm>
          <a:prstGeom prst="rect">
            <a:avLst/>
          </a:prstGeom>
          <a:noFill/>
        </p:spPr>
        <p:txBody>
          <a:bodyPr wrap="none" lIns="0" tIns="0" rIns="0" bIns="0">
            <a:spAutoFit/>
          </a:bodyPr>
          <a:lstStyle/>
          <a:p>
            <a:r>
              <a:rPr sz="968" b="1">
                <a:solidFill>
                  <a:srgbClr val="2E2E2E"/>
                </a:solidFill>
                <a:latin typeface="Calibri"/>
              </a:rPr>
              <a:t>Support</a:t>
            </a:r>
          </a:p>
        </p:txBody>
      </p:sp>
      <p:pic>
        <p:nvPicPr>
          <p:cNvPr id="86" name="Picture 85" descr="lock.png"/>
          <p:cNvPicPr>
            <a:picLocks noChangeAspect="1"/>
          </p:cNvPicPr>
          <p:nvPr/>
        </p:nvPicPr>
        <p:blipFill>
          <a:blip r:embed="rId4"/>
          <a:stretch>
            <a:fillRect/>
          </a:stretch>
        </p:blipFill>
        <p:spPr>
          <a:xfrm>
            <a:off x="6402182" y="6280580"/>
            <a:ext cx="113255" cy="164734"/>
          </a:xfrm>
          <a:prstGeom prst="rect">
            <a:avLst/>
          </a:prstGeom>
        </p:spPr>
      </p:pic>
      <p:sp>
        <p:nvSpPr>
          <p:cNvPr id="87" name="TextBox 86"/>
          <p:cNvSpPr txBox="1"/>
          <p:nvPr/>
        </p:nvSpPr>
        <p:spPr>
          <a:xfrm>
            <a:off x="7715250" y="1400175"/>
            <a:ext cx="4075745" cy="194310"/>
          </a:xfrm>
          <a:prstGeom prst="rect">
            <a:avLst/>
          </a:prstGeom>
          <a:noFill/>
        </p:spPr>
        <p:txBody>
          <a:bodyPr wrap="none" lIns="0" tIns="0" rIns="0" bIns="0">
            <a:spAutoFit/>
          </a:bodyPr>
          <a:lstStyle/>
          <a:p>
            <a:r>
              <a:rPr sz="1150" b="0">
                <a:solidFill>
                  <a:srgbClr val="2E2E2E"/>
                </a:solidFill>
                <a:latin typeface="Calibri"/>
              </a:rPr>
              <a:t>Veterinary channels segment is projected to account for the largest</a:t>
            </a:r>
          </a:p>
        </p:txBody>
      </p:sp>
      <p:sp>
        <p:nvSpPr>
          <p:cNvPr id="88" name="TextBox 87"/>
          <p:cNvSpPr txBox="1"/>
          <p:nvPr/>
        </p:nvSpPr>
        <p:spPr>
          <a:xfrm>
            <a:off x="7715250" y="1575435"/>
            <a:ext cx="4041799" cy="194310"/>
          </a:xfrm>
          <a:prstGeom prst="rect">
            <a:avLst/>
          </a:prstGeom>
          <a:noFill/>
        </p:spPr>
        <p:txBody>
          <a:bodyPr wrap="none" lIns="0" tIns="0" rIns="0" bIns="0">
            <a:spAutoFit/>
          </a:bodyPr>
          <a:lstStyle/>
          <a:p>
            <a:r>
              <a:rPr sz="1150" b="0">
                <a:solidFill>
                  <a:srgbClr val="2E2E2E"/>
                </a:solidFill>
                <a:latin typeface="Calibri"/>
              </a:rPr>
              <a:t>share of the global senior dog cognitive supplement market, led by</a:t>
            </a:r>
          </a:p>
        </p:txBody>
      </p:sp>
      <p:sp>
        <p:nvSpPr>
          <p:cNvPr id="89" name="TextBox 88"/>
          <p:cNvSpPr txBox="1"/>
          <p:nvPr/>
        </p:nvSpPr>
        <p:spPr>
          <a:xfrm>
            <a:off x="7715250" y="1750695"/>
            <a:ext cx="3657562" cy="194310"/>
          </a:xfrm>
          <a:prstGeom prst="rect">
            <a:avLst/>
          </a:prstGeom>
          <a:noFill/>
        </p:spPr>
        <p:txBody>
          <a:bodyPr wrap="none" lIns="0" tIns="0" rIns="0" bIns="0">
            <a:spAutoFit/>
          </a:bodyPr>
          <a:lstStyle/>
          <a:p>
            <a:r>
              <a:rPr sz="1150" b="0">
                <a:solidFill>
                  <a:srgbClr val="2E2E2E"/>
                </a:solidFill>
                <a:latin typeface="Calibri"/>
              </a:rPr>
              <a:t>support for observable age-related cognitive changes at US$</a:t>
            </a:r>
          </a:p>
        </p:txBody>
      </p:sp>
      <p:pic>
        <p:nvPicPr>
          <p:cNvPr id="90" name="Picture 89" descr="lock.png"/>
          <p:cNvPicPr>
            <a:picLocks noChangeAspect="1"/>
          </p:cNvPicPr>
          <p:nvPr/>
        </p:nvPicPr>
        <p:blipFill>
          <a:blip r:embed="rId4"/>
          <a:stretch>
            <a:fillRect/>
          </a:stretch>
        </p:blipFill>
        <p:spPr>
          <a:xfrm>
            <a:off x="11321966" y="1740471"/>
            <a:ext cx="134549" cy="195707"/>
          </a:xfrm>
          <a:prstGeom prst="rect">
            <a:avLst/>
          </a:prstGeom>
        </p:spPr>
      </p:pic>
      <p:sp>
        <p:nvSpPr>
          <p:cNvPr id="91" name="TextBox 90"/>
          <p:cNvSpPr txBox="1"/>
          <p:nvPr/>
        </p:nvSpPr>
        <p:spPr>
          <a:xfrm>
            <a:off x="11497076" y="1750695"/>
            <a:ext cx="277874" cy="194310"/>
          </a:xfrm>
          <a:prstGeom prst="rect">
            <a:avLst/>
          </a:prstGeom>
          <a:noFill/>
        </p:spPr>
        <p:txBody>
          <a:bodyPr wrap="none" lIns="0" tIns="0" rIns="0" bIns="0">
            <a:spAutoFit/>
          </a:bodyPr>
          <a:lstStyle/>
          <a:p>
            <a:r>
              <a:rPr sz="1150" b="0">
                <a:solidFill>
                  <a:srgbClr val="2E2E2E"/>
                </a:solidFill>
                <a:latin typeface="Calibri"/>
              </a:rPr>
              <a:t>Mn</a:t>
            </a:r>
          </a:p>
        </p:txBody>
      </p:sp>
      <p:sp>
        <p:nvSpPr>
          <p:cNvPr id="92" name="TextBox 91"/>
          <p:cNvSpPr txBox="1"/>
          <p:nvPr/>
        </p:nvSpPr>
        <p:spPr>
          <a:xfrm>
            <a:off x="7715250" y="1925955"/>
            <a:ext cx="4102273" cy="194310"/>
          </a:xfrm>
          <a:prstGeom prst="rect">
            <a:avLst/>
          </a:prstGeom>
          <a:noFill/>
        </p:spPr>
        <p:txBody>
          <a:bodyPr wrap="none" lIns="0" tIns="0" rIns="0" bIns="0">
            <a:spAutoFit/>
          </a:bodyPr>
          <a:lstStyle/>
          <a:p>
            <a:r>
              <a:rPr sz="1150" b="0">
                <a:solidFill>
                  <a:srgbClr val="2E2E2E"/>
                </a:solidFill>
                <a:latin typeface="Calibri"/>
              </a:rPr>
              <a:t>in 2036. 'Veterinary Channels × Support for Observable Age-Related</a:t>
            </a:r>
          </a:p>
        </p:txBody>
      </p:sp>
      <p:sp>
        <p:nvSpPr>
          <p:cNvPr id="93" name="TextBox 92"/>
          <p:cNvSpPr txBox="1"/>
          <p:nvPr/>
        </p:nvSpPr>
        <p:spPr>
          <a:xfrm>
            <a:off x="7715250" y="2101215"/>
            <a:ext cx="3589101" cy="194310"/>
          </a:xfrm>
          <a:prstGeom prst="rect">
            <a:avLst/>
          </a:prstGeom>
          <a:noFill/>
        </p:spPr>
        <p:txBody>
          <a:bodyPr wrap="none" lIns="0" tIns="0" rIns="0" bIns="0">
            <a:spAutoFit/>
          </a:bodyPr>
          <a:lstStyle/>
          <a:p>
            <a:r>
              <a:rPr sz="1150" b="0">
                <a:solidFill>
                  <a:srgbClr val="2E2E2E"/>
                </a:solidFill>
                <a:latin typeface="Calibri"/>
              </a:rPr>
              <a:t>Cognitive Changes' is the single largest cross-sectional cell (</a:t>
            </a:r>
          </a:p>
        </p:txBody>
      </p:sp>
      <p:pic>
        <p:nvPicPr>
          <p:cNvPr id="94" name="Picture 93" descr="lock.png"/>
          <p:cNvPicPr>
            <a:picLocks noChangeAspect="1"/>
          </p:cNvPicPr>
          <p:nvPr/>
        </p:nvPicPr>
        <p:blipFill>
          <a:blip r:embed="rId4"/>
          <a:stretch>
            <a:fillRect/>
          </a:stretch>
        </p:blipFill>
        <p:spPr>
          <a:xfrm>
            <a:off x="11253505" y="2090991"/>
            <a:ext cx="134549" cy="195707"/>
          </a:xfrm>
          <a:prstGeom prst="rect">
            <a:avLst/>
          </a:prstGeom>
        </p:spPr>
      </p:pic>
      <p:sp>
        <p:nvSpPr>
          <p:cNvPr id="95" name="TextBox 94"/>
          <p:cNvSpPr txBox="1"/>
          <p:nvPr/>
        </p:nvSpPr>
        <p:spPr>
          <a:xfrm>
            <a:off x="11428615" y="2101215"/>
            <a:ext cx="311249" cy="194310"/>
          </a:xfrm>
          <a:prstGeom prst="rect">
            <a:avLst/>
          </a:prstGeom>
          <a:noFill/>
        </p:spPr>
        <p:txBody>
          <a:bodyPr wrap="none" lIns="0" tIns="0" rIns="0" bIns="0">
            <a:spAutoFit/>
          </a:bodyPr>
          <a:lstStyle/>
          <a:p>
            <a:r>
              <a:rPr sz="1150" b="0">
                <a:solidFill>
                  <a:srgbClr val="2E2E2E"/>
                </a:solidFill>
                <a:latin typeface="Calibri"/>
              </a:rPr>
              <a:t>US$</a:t>
            </a:r>
          </a:p>
        </p:txBody>
      </p:sp>
      <p:sp>
        <p:nvSpPr>
          <p:cNvPr id="96" name="TextBox 95"/>
          <p:cNvSpPr txBox="1"/>
          <p:nvPr/>
        </p:nvSpPr>
        <p:spPr>
          <a:xfrm>
            <a:off x="7715250" y="2276475"/>
            <a:ext cx="3900282" cy="194310"/>
          </a:xfrm>
          <a:prstGeom prst="rect">
            <a:avLst/>
          </a:prstGeom>
          <a:noFill/>
        </p:spPr>
        <p:txBody>
          <a:bodyPr wrap="none" lIns="0" tIns="0" rIns="0" bIns="0">
            <a:spAutoFit/>
          </a:bodyPr>
          <a:lstStyle/>
          <a:p>
            <a:r>
              <a:rPr sz="1150" b="0">
                <a:solidFill>
                  <a:srgbClr val="2E2E2E"/>
                </a:solidFill>
                <a:latin typeface="Calibri"/>
              </a:rPr>
              <a:t>Mn, 2026E), while 'Third-Party E-commerce × Veterinary-Guided</a:t>
            </a:r>
          </a:p>
        </p:txBody>
      </p:sp>
      <p:sp>
        <p:nvSpPr>
          <p:cNvPr id="97" name="TextBox 96"/>
          <p:cNvSpPr txBox="1"/>
          <p:nvPr/>
        </p:nvSpPr>
        <p:spPr>
          <a:xfrm>
            <a:off x="7715250" y="2451735"/>
            <a:ext cx="4140479" cy="194310"/>
          </a:xfrm>
          <a:prstGeom prst="rect">
            <a:avLst/>
          </a:prstGeom>
          <a:noFill/>
        </p:spPr>
        <p:txBody>
          <a:bodyPr wrap="none" lIns="0" tIns="0" rIns="0" bIns="0">
            <a:spAutoFit/>
          </a:bodyPr>
          <a:lstStyle/>
          <a:p>
            <a:r>
              <a:rPr sz="1150" b="0">
                <a:solidFill>
                  <a:srgbClr val="2E2E2E"/>
                </a:solidFill>
                <a:latin typeface="Calibri"/>
              </a:rPr>
              <a:t>Cognitive Dysfunction Support' records the fastest growth at a CAGR</a:t>
            </a:r>
          </a:p>
        </p:txBody>
      </p:sp>
      <p:sp>
        <p:nvSpPr>
          <p:cNvPr id="98" name="TextBox 97"/>
          <p:cNvSpPr txBox="1"/>
          <p:nvPr/>
        </p:nvSpPr>
        <p:spPr>
          <a:xfrm>
            <a:off x="7715250" y="2626995"/>
            <a:ext cx="197718" cy="194310"/>
          </a:xfrm>
          <a:prstGeom prst="rect">
            <a:avLst/>
          </a:prstGeom>
          <a:noFill/>
        </p:spPr>
        <p:txBody>
          <a:bodyPr wrap="none" lIns="0" tIns="0" rIns="0" bIns="0">
            <a:spAutoFit/>
          </a:bodyPr>
          <a:lstStyle/>
          <a:p>
            <a:r>
              <a:rPr sz="1150" b="0">
                <a:solidFill>
                  <a:srgbClr val="2E2E2E"/>
                </a:solidFill>
                <a:latin typeface="Calibri"/>
              </a:rPr>
              <a:t>of</a:t>
            </a:r>
          </a:p>
        </p:txBody>
      </p:sp>
      <p:pic>
        <p:nvPicPr>
          <p:cNvPr id="99" name="Picture 98" descr="lock.png"/>
          <p:cNvPicPr>
            <a:picLocks noChangeAspect="1"/>
          </p:cNvPicPr>
          <p:nvPr/>
        </p:nvPicPr>
        <p:blipFill>
          <a:blip r:embed="rId4"/>
          <a:stretch>
            <a:fillRect/>
          </a:stretch>
        </p:blipFill>
        <p:spPr>
          <a:xfrm>
            <a:off x="7862122" y="2616771"/>
            <a:ext cx="134549" cy="195707"/>
          </a:xfrm>
          <a:prstGeom prst="rect">
            <a:avLst/>
          </a:prstGeom>
        </p:spPr>
      </p:pic>
      <p:sp>
        <p:nvSpPr>
          <p:cNvPr id="100" name="TextBox 99"/>
          <p:cNvSpPr txBox="1"/>
          <p:nvPr/>
        </p:nvSpPr>
        <p:spPr>
          <a:xfrm>
            <a:off x="8037231" y="2626995"/>
            <a:ext cx="1217001" cy="194310"/>
          </a:xfrm>
          <a:prstGeom prst="rect">
            <a:avLst/>
          </a:prstGeom>
          <a:noFill/>
        </p:spPr>
        <p:txBody>
          <a:bodyPr wrap="none" lIns="0" tIns="0" rIns="0" bIns="0">
            <a:spAutoFit/>
          </a:bodyPr>
          <a:lstStyle/>
          <a:p>
            <a:r>
              <a:rPr sz="1150" b="0">
                <a:solidFill>
                  <a:srgbClr val="2E2E2E"/>
                </a:solidFill>
                <a:latin typeface="Calibri"/>
              </a:rPr>
              <a:t>over 2026E–2036F.</a:t>
            </a:r>
          </a:p>
        </p:txBody>
      </p:sp>
      <p:sp>
        <p:nvSpPr>
          <p:cNvPr id="101" name="TextBox 100"/>
          <p:cNvSpPr txBox="1"/>
          <p:nvPr/>
        </p:nvSpPr>
        <p:spPr>
          <a:xfrm>
            <a:off x="7715250" y="2854832"/>
            <a:ext cx="3969345" cy="194310"/>
          </a:xfrm>
          <a:prstGeom prst="rect">
            <a:avLst/>
          </a:prstGeom>
          <a:noFill/>
        </p:spPr>
        <p:txBody>
          <a:bodyPr wrap="none" lIns="0" tIns="0" rIns="0" bIns="0">
            <a:spAutoFit/>
          </a:bodyPr>
          <a:lstStyle/>
          <a:p>
            <a:r>
              <a:rPr sz="1150" b="0">
                <a:solidFill>
                  <a:srgbClr val="2E2E2E"/>
                </a:solidFill>
                <a:latin typeface="Calibri"/>
              </a:rPr>
              <a:t>Combined, the top three sales channel × end-use application cells</a:t>
            </a:r>
          </a:p>
        </p:txBody>
      </p:sp>
      <p:sp>
        <p:nvSpPr>
          <p:cNvPr id="102" name="TextBox 101"/>
          <p:cNvSpPr txBox="1"/>
          <p:nvPr/>
        </p:nvSpPr>
        <p:spPr>
          <a:xfrm>
            <a:off x="7715250" y="3030092"/>
            <a:ext cx="2340545" cy="194310"/>
          </a:xfrm>
          <a:prstGeom prst="rect">
            <a:avLst/>
          </a:prstGeom>
          <a:noFill/>
        </p:spPr>
        <p:txBody>
          <a:bodyPr wrap="none" lIns="0" tIns="0" rIns="0" bIns="0">
            <a:spAutoFit/>
          </a:bodyPr>
          <a:lstStyle/>
          <a:p>
            <a:r>
              <a:rPr sz="1150" b="0">
                <a:solidFill>
                  <a:srgbClr val="2E2E2E"/>
                </a:solidFill>
                <a:latin typeface="Calibri"/>
              </a:rPr>
              <a:t>generate an absolute $ opportunity of</a:t>
            </a:r>
          </a:p>
        </p:txBody>
      </p:sp>
      <p:pic>
        <p:nvPicPr>
          <p:cNvPr id="103" name="Picture 102" descr="lock.png"/>
          <p:cNvPicPr>
            <a:picLocks noChangeAspect="1"/>
          </p:cNvPicPr>
          <p:nvPr/>
        </p:nvPicPr>
        <p:blipFill>
          <a:blip r:embed="rId4"/>
          <a:stretch>
            <a:fillRect/>
          </a:stretch>
        </p:blipFill>
        <p:spPr>
          <a:xfrm>
            <a:off x="10004949" y="3019869"/>
            <a:ext cx="134549" cy="195707"/>
          </a:xfrm>
          <a:prstGeom prst="rect">
            <a:avLst/>
          </a:prstGeom>
        </p:spPr>
      </p:pic>
      <p:sp>
        <p:nvSpPr>
          <p:cNvPr id="104" name="TextBox 103"/>
          <p:cNvSpPr txBox="1"/>
          <p:nvPr/>
        </p:nvSpPr>
        <p:spPr>
          <a:xfrm>
            <a:off x="10180058" y="3030092"/>
            <a:ext cx="1155386" cy="194310"/>
          </a:xfrm>
          <a:prstGeom prst="rect">
            <a:avLst/>
          </a:prstGeom>
          <a:noFill/>
        </p:spPr>
        <p:txBody>
          <a:bodyPr wrap="none" lIns="0" tIns="0" rIns="0" bIns="0">
            <a:spAutoFit/>
          </a:bodyPr>
          <a:lstStyle/>
          <a:p>
            <a:r>
              <a:rPr sz="1150" b="0">
                <a:solidFill>
                  <a:srgbClr val="2E2E2E"/>
                </a:solidFill>
                <a:latin typeface="Calibri"/>
              </a:rPr>
              <a:t>US$ Mn by 2036F.</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Share Analysis: Sales Channel × End-use Application, 2026E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 share of global market value, each row split across all end-use application sub-segments</a:t>
            </a:r>
          </a:p>
        </p:txBody>
      </p:sp>
      <p:sp>
        <p:nvSpPr>
          <p:cNvPr id="10" name="Rounded Rectangle 9"/>
          <p:cNvSpPr/>
          <p:nvPr/>
        </p:nvSpPr>
        <p:spPr>
          <a:xfrm>
            <a:off x="142875" y="981075"/>
            <a:ext cx="119062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Share, Sales Channel × End-use Application, 2026E (% of each row)</a:t>
            </a:r>
          </a:p>
        </p:txBody>
      </p:sp>
      <p:graphicFrame>
        <p:nvGraphicFramePr>
          <p:cNvPr id="12" name="Table 11"/>
          <p:cNvGraphicFramePr>
            <a:graphicFrameLocks noGrp="1"/>
          </p:cNvGraphicFramePr>
          <p:nvPr/>
        </p:nvGraphicFramePr>
        <p:xfrm>
          <a:off x="152400" y="1238250"/>
          <a:ext cx="11887718" cy="2162172"/>
        </p:xfrm>
        <a:graphic>
          <a:graphicData uri="http://schemas.openxmlformats.org/drawingml/2006/table">
            <a:tbl>
              <a:tblPr>
                <a:tableStyleId>{5C22544A-7EE6-4342-B048-85BDC9FD1C3A}</a:tableStyleId>
              </a:tblPr>
              <a:tblGrid>
                <a:gridCol w="1738086">
                  <a:extLst>
                    <a:ext uri="{9D8B030D-6E8A-4147-A177-3AD203B41FA5}">
                      <a16:colId xmlns:a16="http://schemas.microsoft.com/office/drawing/2014/main" val="20000"/>
                    </a:ext>
                  </a:extLst>
                </a:gridCol>
                <a:gridCol w="1549593">
                  <a:extLst>
                    <a:ext uri="{9D8B030D-6E8A-4147-A177-3AD203B41FA5}">
                      <a16:colId xmlns:a16="http://schemas.microsoft.com/office/drawing/2014/main" val="20001"/>
                    </a:ext>
                  </a:extLst>
                </a:gridCol>
                <a:gridCol w="2440805">
                  <a:extLst>
                    <a:ext uri="{9D8B030D-6E8A-4147-A177-3AD203B41FA5}">
                      <a16:colId xmlns:a16="http://schemas.microsoft.com/office/drawing/2014/main" val="20002"/>
                    </a:ext>
                  </a:extLst>
                </a:gridCol>
                <a:gridCol w="2937973">
                  <a:extLst>
                    <a:ext uri="{9D8B030D-6E8A-4147-A177-3AD203B41FA5}">
                      <a16:colId xmlns:a16="http://schemas.microsoft.com/office/drawing/2014/main" val="20003"/>
                    </a:ext>
                  </a:extLst>
                </a:gridCol>
                <a:gridCol w="2677455">
                  <a:extLst>
                    <a:ext uri="{9D8B030D-6E8A-4147-A177-3AD203B41FA5}">
                      <a16:colId xmlns:a16="http://schemas.microsoft.com/office/drawing/2014/main" val="20004"/>
                    </a:ext>
                  </a:extLst>
                </a:gridCol>
                <a:gridCol w="543806">
                  <a:extLst>
                    <a:ext uri="{9D8B030D-6E8A-4147-A177-3AD203B41FA5}">
                      <a16:colId xmlns:a16="http://schemas.microsoft.com/office/drawing/2014/main" val="20005"/>
                    </a:ext>
                  </a:extLst>
                </a:gridCol>
              </a:tblGrid>
              <a:tr h="438912">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a:txBody>
                    <a:bodyPr/>
                    <a:lstStyle/>
                    <a:p>
                      <a:pPr algn="ctr"/>
                      <a:r>
                        <a:rPr sz="1100" b="1">
                          <a:solidFill>
                            <a:srgbClr val="0B2E4A"/>
                          </a:solidFill>
                          <a:latin typeface="Calibri"/>
                        </a:rPr>
                        <a:t>Preventive Cognitive Support for Senior Dogs</a:t>
                      </a:r>
                      <a:endParaRPr sz="1100"/>
                    </a:p>
                  </a:txBody>
                  <a:tcPr marL="47625" marR="38100" marT="19050" marB="19050" anchor="ctr">
                    <a:solidFill>
                      <a:srgbClr val="E0E8EF"/>
                    </a:solidFill>
                  </a:tcPr>
                </a:tc>
                <a:tc>
                  <a:txBody>
                    <a:bodyPr/>
                    <a:lstStyle/>
                    <a:p>
                      <a:pPr algn="ctr"/>
                      <a:r>
                        <a:rPr sz="1100" b="1">
                          <a:solidFill>
                            <a:srgbClr val="0B2E4A"/>
                          </a:solidFill>
                          <a:latin typeface="Calibri"/>
                        </a:rPr>
                        <a:t>Support for Observable Age-Related Cognitive Changes</a:t>
                      </a:r>
                      <a:endParaRPr sz="1100"/>
                    </a:p>
                  </a:txBody>
                  <a:tcPr marL="47625" marR="38100" marT="19050" marB="19050" anchor="ctr">
                    <a:solidFill>
                      <a:srgbClr val="E0E8EF"/>
                    </a:solidFill>
                  </a:tcPr>
                </a:tc>
                <a:tc>
                  <a:txBody>
                    <a:bodyPr/>
                    <a:lstStyle/>
                    <a:p>
                      <a:pPr algn="ctr"/>
                      <a:r>
                        <a:rPr sz="1100" b="1">
                          <a:solidFill>
                            <a:srgbClr val="0B2E4A"/>
                          </a:solidFill>
                          <a:latin typeface="Calibri"/>
                        </a:rPr>
                        <a:t>Veterinary-Guided Cognitive Dysfunction Support</a:t>
                      </a:r>
                      <a:endParaRPr sz="1100"/>
                    </a:p>
                  </a:txBody>
                  <a:tcPr marL="47625" marR="38100" marT="19050" marB="19050" anchor="ctr">
                    <a:solidFill>
                      <a:srgbClr val="E0E8EF"/>
                    </a:solidFill>
                  </a:tcPr>
                </a:tc>
                <a:tc>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180">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180">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180">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180">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180">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180">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180">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4099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743325"/>
            <a:ext cx="7286625"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3800475"/>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End-use Application Mix by Sales Channel, 2026E (% share)</a:t>
            </a:r>
          </a:p>
        </p:txBody>
      </p:sp>
      <p:graphicFrame>
        <p:nvGraphicFramePr>
          <p:cNvPr id="16" name="Chart 15"/>
          <p:cNvGraphicFramePr>
            <a:graphicFrameLocks noGrp="1"/>
          </p:cNvGraphicFramePr>
          <p:nvPr/>
        </p:nvGraphicFramePr>
        <p:xfrm>
          <a:off x="238125" y="4029075"/>
          <a:ext cx="7096125" cy="2543175"/>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7581900" y="3743325"/>
            <a:ext cx="4457700"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15250" y="3829050"/>
            <a:ext cx="4191000" cy="209550"/>
          </a:xfrm>
          <a:prstGeom prst="rect">
            <a:avLst/>
          </a:prstGeom>
          <a:noFill/>
        </p:spPr>
        <p:txBody>
          <a:bodyPr wrap="square" lIns="0" tIns="9525" rIns="19050" bIns="9525">
            <a:spAutoFit/>
          </a:bodyPr>
          <a:lstStyle/>
          <a:p>
            <a:pPr algn="l"/>
            <a:r>
              <a:rPr sz="1300" b="1">
                <a:solidFill>
                  <a:srgbClr val="0B2E4A"/>
                </a:solidFill>
                <a:latin typeface="Calibri"/>
              </a:rPr>
              <a:t>Share Insights</a:t>
            </a:r>
          </a:p>
        </p:txBody>
      </p:sp>
      <p:sp>
        <p:nvSpPr>
          <p:cNvPr id="19" name="Rectangle 18"/>
          <p:cNvSpPr/>
          <p:nvPr/>
        </p:nvSpPr>
        <p:spPr>
          <a:xfrm>
            <a:off x="7715250" y="40671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5250" y="4152900"/>
            <a:ext cx="4191000" cy="24003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1" name="TextBox 2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773517" y="2272092"/>
            <a:ext cx="366712" cy="533400"/>
          </a:xfrm>
          <a:prstGeom prst="rect">
            <a:avLst/>
          </a:prstGeom>
        </p:spPr>
      </p:pic>
      <p:pic>
        <p:nvPicPr>
          <p:cNvPr id="23" name="Picture 22" descr="lock.png"/>
          <p:cNvPicPr>
            <a:picLocks noChangeAspect="1"/>
          </p:cNvPicPr>
          <p:nvPr/>
        </p:nvPicPr>
        <p:blipFill>
          <a:blip r:embed="rId5"/>
          <a:stretch>
            <a:fillRect/>
          </a:stretch>
        </p:blipFill>
        <p:spPr>
          <a:xfrm>
            <a:off x="3775138" y="4568380"/>
            <a:ext cx="311705" cy="453389"/>
          </a:xfrm>
          <a:prstGeom prst="rect">
            <a:avLst/>
          </a:prstGeom>
        </p:spPr>
      </p:pic>
      <p:sp>
        <p:nvSpPr>
          <p:cNvPr id="24" name="TextBox 23"/>
          <p:cNvSpPr txBox="1"/>
          <p:nvPr/>
        </p:nvSpPr>
        <p:spPr>
          <a:xfrm>
            <a:off x="7715250" y="4162425"/>
            <a:ext cx="4076886" cy="194310"/>
          </a:xfrm>
          <a:prstGeom prst="rect">
            <a:avLst/>
          </a:prstGeom>
          <a:noFill/>
        </p:spPr>
        <p:txBody>
          <a:bodyPr wrap="none" lIns="0" tIns="0" rIns="0" bIns="0">
            <a:spAutoFit/>
          </a:bodyPr>
          <a:lstStyle/>
          <a:p>
            <a:r>
              <a:rPr sz="1150" b="0">
                <a:solidFill>
                  <a:srgbClr val="2E2E2E"/>
                </a:solidFill>
                <a:latin typeface="Calibri"/>
              </a:rPr>
              <a:t>▪ 'Support for Observable Age-Related Cognitive Changes' holds the</a:t>
            </a:r>
          </a:p>
        </p:txBody>
      </p:sp>
      <p:sp>
        <p:nvSpPr>
          <p:cNvPr id="25" name="TextBox 24"/>
          <p:cNvSpPr txBox="1"/>
          <p:nvPr/>
        </p:nvSpPr>
        <p:spPr>
          <a:xfrm>
            <a:off x="7715250" y="4337685"/>
            <a:ext cx="2721613" cy="194310"/>
          </a:xfrm>
          <a:prstGeom prst="rect">
            <a:avLst/>
          </a:prstGeom>
          <a:noFill/>
        </p:spPr>
        <p:txBody>
          <a:bodyPr wrap="none" lIns="0" tIns="0" rIns="0" bIns="0">
            <a:spAutoFit/>
          </a:bodyPr>
          <a:lstStyle/>
          <a:p>
            <a:r>
              <a:rPr sz="1150" b="0">
                <a:solidFill>
                  <a:srgbClr val="2E2E2E"/>
                </a:solidFill>
                <a:latin typeface="Calibri"/>
              </a:rPr>
              <a:t>highest share of 'Third-Party E-commerce' at</a:t>
            </a:r>
          </a:p>
        </p:txBody>
      </p:sp>
      <p:pic>
        <p:nvPicPr>
          <p:cNvPr id="26" name="Picture 25" descr="lock.png"/>
          <p:cNvPicPr>
            <a:picLocks noChangeAspect="1"/>
          </p:cNvPicPr>
          <p:nvPr/>
        </p:nvPicPr>
        <p:blipFill>
          <a:blip r:embed="rId5"/>
          <a:stretch>
            <a:fillRect/>
          </a:stretch>
        </p:blipFill>
        <p:spPr>
          <a:xfrm>
            <a:off x="10386017" y="4327461"/>
            <a:ext cx="134549" cy="195707"/>
          </a:xfrm>
          <a:prstGeom prst="rect">
            <a:avLst/>
          </a:prstGeom>
        </p:spPr>
      </p:pic>
      <p:sp>
        <p:nvSpPr>
          <p:cNvPr id="27" name="TextBox 26"/>
          <p:cNvSpPr txBox="1"/>
          <p:nvPr/>
        </p:nvSpPr>
        <p:spPr>
          <a:xfrm>
            <a:off x="10561126" y="4337685"/>
            <a:ext cx="569404" cy="194310"/>
          </a:xfrm>
          <a:prstGeom prst="rect">
            <a:avLst/>
          </a:prstGeom>
          <a:noFill/>
        </p:spPr>
        <p:txBody>
          <a:bodyPr wrap="none" lIns="0" tIns="0" rIns="0" bIns="0">
            <a:spAutoFit/>
          </a:bodyPr>
          <a:lstStyle/>
          <a:p>
            <a:r>
              <a:rPr sz="1150" b="0">
                <a:solidFill>
                  <a:srgbClr val="2E2E2E"/>
                </a:solidFill>
                <a:latin typeface="Calibri"/>
              </a:rPr>
              <a:t>(2026E).</a:t>
            </a:r>
          </a:p>
        </p:txBody>
      </p:sp>
      <p:sp>
        <p:nvSpPr>
          <p:cNvPr id="28" name="TextBox 27"/>
          <p:cNvSpPr txBox="1"/>
          <p:nvPr/>
        </p:nvSpPr>
        <p:spPr>
          <a:xfrm>
            <a:off x="7715250" y="4565522"/>
            <a:ext cx="4013243" cy="194310"/>
          </a:xfrm>
          <a:prstGeom prst="rect">
            <a:avLst/>
          </a:prstGeom>
          <a:noFill/>
        </p:spPr>
        <p:txBody>
          <a:bodyPr wrap="none" lIns="0" tIns="0" rIns="0" bIns="0">
            <a:spAutoFit/>
          </a:bodyPr>
          <a:lstStyle/>
          <a:p>
            <a:r>
              <a:rPr sz="1150" b="0">
                <a:solidFill>
                  <a:srgbClr val="2E2E2E"/>
                </a:solidFill>
                <a:latin typeface="Calibri"/>
              </a:rPr>
              <a:t>▪ 'Third-Party E-commerce' is the most concentrated sales channel</a:t>
            </a:r>
          </a:p>
        </p:txBody>
      </p:sp>
      <p:sp>
        <p:nvSpPr>
          <p:cNvPr id="29" name="TextBox 28"/>
          <p:cNvSpPr txBox="1"/>
          <p:nvPr/>
        </p:nvSpPr>
        <p:spPr>
          <a:xfrm>
            <a:off x="7715250" y="4740782"/>
            <a:ext cx="1178706" cy="194310"/>
          </a:xfrm>
          <a:prstGeom prst="rect">
            <a:avLst/>
          </a:prstGeom>
          <a:noFill/>
        </p:spPr>
        <p:txBody>
          <a:bodyPr wrap="none" lIns="0" tIns="0" rIns="0" bIns="0">
            <a:spAutoFit/>
          </a:bodyPr>
          <a:lstStyle/>
          <a:p>
            <a:r>
              <a:rPr sz="1150" b="0">
                <a:solidFill>
                  <a:srgbClr val="2E2E2E"/>
                </a:solidFill>
                <a:latin typeface="Calibri"/>
              </a:rPr>
              <a:t>sub-segment, with</a:t>
            </a:r>
          </a:p>
        </p:txBody>
      </p:sp>
      <p:pic>
        <p:nvPicPr>
          <p:cNvPr id="30" name="Picture 29" descr="lock.png"/>
          <p:cNvPicPr>
            <a:picLocks noChangeAspect="1"/>
          </p:cNvPicPr>
          <p:nvPr/>
        </p:nvPicPr>
        <p:blipFill>
          <a:blip r:embed="rId5"/>
          <a:stretch>
            <a:fillRect/>
          </a:stretch>
        </p:blipFill>
        <p:spPr>
          <a:xfrm>
            <a:off x="8843110" y="4730559"/>
            <a:ext cx="134549" cy="195707"/>
          </a:xfrm>
          <a:prstGeom prst="rect">
            <a:avLst/>
          </a:prstGeom>
        </p:spPr>
      </p:pic>
      <p:sp>
        <p:nvSpPr>
          <p:cNvPr id="31" name="TextBox 30"/>
          <p:cNvSpPr txBox="1"/>
          <p:nvPr/>
        </p:nvSpPr>
        <p:spPr>
          <a:xfrm>
            <a:off x="9018219" y="4740782"/>
            <a:ext cx="2376772" cy="194310"/>
          </a:xfrm>
          <a:prstGeom prst="rect">
            <a:avLst/>
          </a:prstGeom>
          <a:noFill/>
        </p:spPr>
        <p:txBody>
          <a:bodyPr wrap="none" lIns="0" tIns="0" rIns="0" bIns="0">
            <a:spAutoFit/>
          </a:bodyPr>
          <a:lstStyle/>
          <a:p>
            <a:r>
              <a:rPr sz="1150" b="0">
                <a:solidFill>
                  <a:srgbClr val="2E2E2E"/>
                </a:solidFill>
                <a:latin typeface="Calibri"/>
              </a:rPr>
              <a:t>of its value via 'Support for Observable</a:t>
            </a:r>
          </a:p>
        </p:txBody>
      </p:sp>
      <p:sp>
        <p:nvSpPr>
          <p:cNvPr id="32" name="TextBox 31"/>
          <p:cNvSpPr txBox="1"/>
          <p:nvPr/>
        </p:nvSpPr>
        <p:spPr>
          <a:xfrm>
            <a:off x="7715250" y="4916042"/>
            <a:ext cx="1991394" cy="194310"/>
          </a:xfrm>
          <a:prstGeom prst="rect">
            <a:avLst/>
          </a:prstGeom>
          <a:noFill/>
        </p:spPr>
        <p:txBody>
          <a:bodyPr wrap="none" lIns="0" tIns="0" rIns="0" bIns="0">
            <a:spAutoFit/>
          </a:bodyPr>
          <a:lstStyle/>
          <a:p>
            <a:r>
              <a:rPr sz="1150" b="0">
                <a:solidFill>
                  <a:srgbClr val="2E2E2E"/>
                </a:solidFill>
                <a:latin typeface="Calibri"/>
              </a:rPr>
              <a:t>Age-Related Cognitive Changes'.</a:t>
            </a:r>
          </a:p>
        </p:txBody>
      </p:sp>
      <p:sp>
        <p:nvSpPr>
          <p:cNvPr id="33" name="TextBox 32"/>
          <p:cNvSpPr txBox="1"/>
          <p:nvPr/>
        </p:nvSpPr>
        <p:spPr>
          <a:xfrm>
            <a:off x="7715250" y="5143880"/>
            <a:ext cx="3608499" cy="194310"/>
          </a:xfrm>
          <a:prstGeom prst="rect">
            <a:avLst/>
          </a:prstGeom>
          <a:noFill/>
        </p:spPr>
        <p:txBody>
          <a:bodyPr wrap="none" lIns="0" tIns="0" rIns="0" bIns="0">
            <a:spAutoFit/>
          </a:bodyPr>
          <a:lstStyle/>
          <a:p>
            <a:r>
              <a:rPr sz="1150" b="0">
                <a:solidFill>
                  <a:srgbClr val="2E2E2E"/>
                </a:solidFill>
                <a:latin typeface="Calibri"/>
              </a:rPr>
              <a:t>▪ 'Veterinary-Guided Cognitive Dysfunction Support' gains +</a:t>
            </a:r>
          </a:p>
        </p:txBody>
      </p:sp>
      <p:pic>
        <p:nvPicPr>
          <p:cNvPr id="34" name="Picture 33" descr="lock.png"/>
          <p:cNvPicPr>
            <a:picLocks noChangeAspect="1"/>
          </p:cNvPicPr>
          <p:nvPr/>
        </p:nvPicPr>
        <p:blipFill>
          <a:blip r:embed="rId5"/>
          <a:stretch>
            <a:fillRect/>
          </a:stretch>
        </p:blipFill>
        <p:spPr>
          <a:xfrm>
            <a:off x="11272903" y="5133657"/>
            <a:ext cx="134549" cy="195707"/>
          </a:xfrm>
          <a:prstGeom prst="rect">
            <a:avLst/>
          </a:prstGeom>
        </p:spPr>
      </p:pic>
      <p:sp>
        <p:nvSpPr>
          <p:cNvPr id="35" name="TextBox 34"/>
          <p:cNvSpPr txBox="1"/>
          <p:nvPr/>
        </p:nvSpPr>
        <p:spPr>
          <a:xfrm>
            <a:off x="11448012" y="5143880"/>
            <a:ext cx="298412" cy="194310"/>
          </a:xfrm>
          <a:prstGeom prst="rect">
            <a:avLst/>
          </a:prstGeom>
          <a:noFill/>
        </p:spPr>
        <p:txBody>
          <a:bodyPr wrap="none" lIns="0" tIns="0" rIns="0" bIns="0">
            <a:spAutoFit/>
          </a:bodyPr>
          <a:lstStyle/>
          <a:p>
            <a:r>
              <a:rPr sz="1150" b="0">
                <a:solidFill>
                  <a:srgbClr val="2E2E2E"/>
                </a:solidFill>
                <a:latin typeface="Calibri"/>
              </a:rPr>
              <a:t>BPS</a:t>
            </a:r>
          </a:p>
        </p:txBody>
      </p:sp>
      <p:sp>
        <p:nvSpPr>
          <p:cNvPr id="36" name="TextBox 35"/>
          <p:cNvSpPr txBox="1"/>
          <p:nvPr/>
        </p:nvSpPr>
        <p:spPr>
          <a:xfrm>
            <a:off x="7715250" y="5319140"/>
            <a:ext cx="2780193" cy="194310"/>
          </a:xfrm>
          <a:prstGeom prst="rect">
            <a:avLst/>
          </a:prstGeom>
          <a:noFill/>
        </p:spPr>
        <p:txBody>
          <a:bodyPr wrap="none" lIns="0" tIns="0" rIns="0" bIns="0">
            <a:spAutoFit/>
          </a:bodyPr>
          <a:lstStyle/>
          <a:p>
            <a:r>
              <a:rPr sz="1150" b="0">
                <a:solidFill>
                  <a:srgbClr val="2E2E2E"/>
                </a:solidFill>
                <a:latin typeface="Calibri"/>
              </a:rPr>
              <a:t>of share of the Global cross-section by 2036F.</a:t>
            </a:r>
          </a:p>
        </p:txBody>
      </p:sp>
      <p:sp>
        <p:nvSpPr>
          <p:cNvPr id="37" name="lockshield_16"/>
          <p:cNvSpPr/>
          <p:nvPr/>
        </p:nvSpPr>
        <p:spPr>
          <a:xfrm>
            <a:off x="238125" y="4029075"/>
            <a:ext cx="7096125" cy="2543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&amp; Attractiveness: Sales Channel × End-use Application, 2026E–2036F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 Opportunity (US$ Mn) and Value CAGR, Sales Channel × End-use Application, 2026E–2036F</a:t>
            </a:r>
          </a:p>
        </p:txBody>
      </p:sp>
      <p:graphicFrame>
        <p:nvGraphicFramePr>
          <p:cNvPr id="12" name="Table 11"/>
          <p:cNvGraphicFramePr>
            <a:graphicFrameLocks noGrp="1"/>
          </p:cNvGraphicFramePr>
          <p:nvPr/>
        </p:nvGraphicFramePr>
        <p:xfrm>
          <a:off x="152400" y="1238250"/>
          <a:ext cx="11887200" cy="2409824"/>
        </p:xfrm>
        <a:graphic>
          <a:graphicData uri="http://schemas.openxmlformats.org/drawingml/2006/table">
            <a:tbl>
              <a:tblPr>
                <a:tableStyleId>{5C22544A-7EE6-4342-B048-85BDC9FD1C3A}</a:tableStyleId>
              </a:tblPr>
              <a:tblGrid>
                <a:gridCol w="2726970">
                  <a:extLst>
                    <a:ext uri="{9D8B030D-6E8A-4147-A177-3AD203B41FA5}">
                      <a16:colId xmlns:a16="http://schemas.microsoft.com/office/drawing/2014/main" val="20000"/>
                    </a:ext>
                  </a:extLst>
                </a:gridCol>
                <a:gridCol w="916023">
                  <a:extLst>
                    <a:ext uri="{9D8B030D-6E8A-4147-A177-3AD203B41FA5}">
                      <a16:colId xmlns:a16="http://schemas.microsoft.com/office/drawing/2014/main" val="20001"/>
                    </a:ext>
                  </a:extLst>
                </a:gridCol>
                <a:gridCol w="916023">
                  <a:extLst>
                    <a:ext uri="{9D8B030D-6E8A-4147-A177-3AD203B41FA5}">
                      <a16:colId xmlns:a16="http://schemas.microsoft.com/office/drawing/2014/main" val="20002"/>
                    </a:ext>
                  </a:extLst>
                </a:gridCol>
                <a:gridCol w="916023">
                  <a:extLst>
                    <a:ext uri="{9D8B030D-6E8A-4147-A177-3AD203B41FA5}">
                      <a16:colId xmlns:a16="http://schemas.microsoft.com/office/drawing/2014/main" val="20003"/>
                    </a:ext>
                  </a:extLst>
                </a:gridCol>
                <a:gridCol w="916023">
                  <a:extLst>
                    <a:ext uri="{9D8B030D-6E8A-4147-A177-3AD203B41FA5}">
                      <a16:colId xmlns:a16="http://schemas.microsoft.com/office/drawing/2014/main" val="20004"/>
                    </a:ext>
                  </a:extLst>
                </a:gridCol>
                <a:gridCol w="916023">
                  <a:extLst>
                    <a:ext uri="{9D8B030D-6E8A-4147-A177-3AD203B41FA5}">
                      <a16:colId xmlns:a16="http://schemas.microsoft.com/office/drawing/2014/main" val="20005"/>
                    </a:ext>
                  </a:extLst>
                </a:gridCol>
                <a:gridCol w="916023">
                  <a:extLst>
                    <a:ext uri="{9D8B030D-6E8A-4147-A177-3AD203B41FA5}">
                      <a16:colId xmlns:a16="http://schemas.microsoft.com/office/drawing/2014/main" val="20006"/>
                    </a:ext>
                  </a:extLst>
                </a:gridCol>
                <a:gridCol w="916023">
                  <a:extLst>
                    <a:ext uri="{9D8B030D-6E8A-4147-A177-3AD203B41FA5}">
                      <a16:colId xmlns:a16="http://schemas.microsoft.com/office/drawing/2014/main" val="20007"/>
                    </a:ext>
                  </a:extLst>
                </a:gridCol>
                <a:gridCol w="916023">
                  <a:extLst>
                    <a:ext uri="{9D8B030D-6E8A-4147-A177-3AD203B41FA5}">
                      <a16:colId xmlns:a16="http://schemas.microsoft.com/office/drawing/2014/main" val="20008"/>
                    </a:ext>
                  </a:extLst>
                </a:gridCol>
                <a:gridCol w="916023">
                  <a:extLst>
                    <a:ext uri="{9D8B030D-6E8A-4147-A177-3AD203B41FA5}">
                      <a16:colId xmlns:a16="http://schemas.microsoft.com/office/drawing/2014/main" val="20009"/>
                    </a:ext>
                  </a:extLst>
                </a:gridCol>
                <a:gridCol w="916023">
                  <a:extLst>
                    <a:ext uri="{9D8B030D-6E8A-4147-A177-3AD203B41FA5}">
                      <a16:colId xmlns:a16="http://schemas.microsoft.com/office/drawing/2014/main" val="20010"/>
                    </a:ext>
                  </a:extLst>
                </a:gridCol>
              </a:tblGrid>
              <a:tr h="438912">
                <a:tc rowSpan="2">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Preventive Cognitive</a:t>
                      </a:r>
                      <a:endParaRPr sz="1100"/>
                    </a:p>
                    <a:p>
                      <a:pPr algn="ctr"/>
                      <a:r>
                        <a:rPr sz="1100" b="1">
                          <a:solidFill>
                            <a:srgbClr val="0B2E4A"/>
                          </a:solidFill>
                          <a:latin typeface="Calibri"/>
                        </a:rPr>
                        <a:t>Support for Senior Dogs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Support for Observable Age-</a:t>
                      </a:r>
                      <a:endParaRPr sz="1100"/>
                    </a:p>
                    <a:p>
                      <a:pPr algn="ctr"/>
                      <a:r>
                        <a:rPr sz="1100" b="1">
                          <a:solidFill>
                            <a:srgbClr val="0B2E4A"/>
                          </a:solidFill>
                          <a:latin typeface="Calibri"/>
                        </a:rPr>
                        <a:t>Related Cognitive Changes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Veterinary-Guided Cognitive</a:t>
                      </a:r>
                      <a:endParaRPr sz="1100"/>
                    </a:p>
                    <a:p>
                      <a:pPr algn="ctr"/>
                      <a:r>
                        <a:rPr sz="1100" b="1">
                          <a:solidFill>
                            <a:srgbClr val="0B2E4A"/>
                          </a:solidFill>
                          <a:latin typeface="Calibri"/>
                        </a:rPr>
                        <a:t>Dysfunction Support</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364">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6364">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6364">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6364">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6364">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6364">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6"/>
                  </a:ext>
                </a:extLst>
              </a:tr>
              <a:tr h="246364">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7"/>
                  </a:ext>
                </a:extLst>
              </a:tr>
              <a:tr h="246364">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3" name="TextBox 12"/>
          <p:cNvSpPr txBox="1"/>
          <p:nvPr/>
        </p:nvSpPr>
        <p:spPr>
          <a:xfrm>
            <a:off x="219075" y="36576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5600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076700"/>
            <a:ext cx="5334000" cy="209550"/>
          </a:xfrm>
          <a:prstGeom prst="rect">
            <a:avLst/>
          </a:prstGeom>
          <a:noFill/>
        </p:spPr>
        <p:txBody>
          <a:bodyPr wrap="square" lIns="0" tIns="9525" rIns="19050"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148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400550"/>
            <a:ext cx="53340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5895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293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Largest Pool</a:t>
            </a:r>
          </a:p>
        </p:txBody>
      </p:sp>
      <p:sp>
        <p:nvSpPr>
          <p:cNvPr id="20" name="Rectangle 19"/>
          <p:cNvSpPr/>
          <p:nvPr/>
        </p:nvSpPr>
        <p:spPr>
          <a:xfrm>
            <a:off x="6029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293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2" name="Rounded Rectangle 21"/>
          <p:cNvSpPr/>
          <p:nvPr/>
        </p:nvSpPr>
        <p:spPr>
          <a:xfrm>
            <a:off x="79914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248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Fastest Growth</a:t>
            </a:r>
          </a:p>
        </p:txBody>
      </p:sp>
      <p:sp>
        <p:nvSpPr>
          <p:cNvPr id="24" name="Rectangle 23"/>
          <p:cNvSpPr/>
          <p:nvPr/>
        </p:nvSpPr>
        <p:spPr>
          <a:xfrm>
            <a:off x="81248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248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6" name="Rounded Rectangle 25"/>
          <p:cNvSpPr/>
          <p:nvPr/>
        </p:nvSpPr>
        <p:spPr>
          <a:xfrm>
            <a:off x="10086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203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Where to Play</a:t>
            </a:r>
          </a:p>
        </p:txBody>
      </p:sp>
      <p:sp>
        <p:nvSpPr>
          <p:cNvPr id="28" name="Rectangle 27"/>
          <p:cNvSpPr/>
          <p:nvPr/>
        </p:nvSpPr>
        <p:spPr>
          <a:xfrm>
            <a:off x="10220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203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'Veterinary Channels × Veterinary-Guided Cognitive Dysfunction Support' ranks highest (5/5); 'General Retail × Support for Observable Age-Related Cognitive Changes' lowest (1/5), a deprioritised cell.</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272794" y="2519100"/>
            <a:ext cx="366712" cy="533400"/>
          </a:xfrm>
          <a:prstGeom prst="rect">
            <a:avLst/>
          </a:prstGeom>
        </p:spPr>
      </p:pic>
      <p:sp>
        <p:nvSpPr>
          <p:cNvPr id="32" name="TextBox 31"/>
          <p:cNvSpPr txBox="1"/>
          <p:nvPr/>
        </p:nvSpPr>
        <p:spPr>
          <a:xfrm>
            <a:off x="276225" y="4410075"/>
            <a:ext cx="5261229" cy="194310"/>
          </a:xfrm>
          <a:prstGeom prst="rect">
            <a:avLst/>
          </a:prstGeom>
          <a:noFill/>
        </p:spPr>
        <p:txBody>
          <a:bodyPr wrap="none" lIns="0" tIns="0" rIns="0" bIns="0">
            <a:spAutoFit/>
          </a:bodyPr>
          <a:lstStyle/>
          <a:p>
            <a:r>
              <a:rPr sz="1150" b="0">
                <a:solidFill>
                  <a:srgbClr val="2E2E2E"/>
                </a:solidFill>
                <a:latin typeface="Calibri"/>
              </a:rPr>
              <a:t>▪ 1. Third-Party E-commerce × Support for Observable Age-Related Cognitive Changes –</a:t>
            </a:r>
          </a:p>
        </p:txBody>
      </p:sp>
      <p:pic>
        <p:nvPicPr>
          <p:cNvPr id="33" name="Picture 32" descr="lock.png"/>
          <p:cNvPicPr>
            <a:picLocks noChangeAspect="1"/>
          </p:cNvPicPr>
          <p:nvPr/>
        </p:nvPicPr>
        <p:blipFill>
          <a:blip r:embed="rId4"/>
          <a:stretch>
            <a:fillRect/>
          </a:stretch>
        </p:blipFill>
        <p:spPr>
          <a:xfrm>
            <a:off x="262145" y="4575111"/>
            <a:ext cx="134549" cy="195707"/>
          </a:xfrm>
          <a:prstGeom prst="rect">
            <a:avLst/>
          </a:prstGeom>
        </p:spPr>
      </p:pic>
      <p:sp>
        <p:nvSpPr>
          <p:cNvPr id="34" name="TextBox 33"/>
          <p:cNvSpPr txBox="1"/>
          <p:nvPr/>
        </p:nvSpPr>
        <p:spPr>
          <a:xfrm>
            <a:off x="437254" y="4585335"/>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99406" y="4575111"/>
            <a:ext cx="134549" cy="195707"/>
          </a:xfrm>
          <a:prstGeom prst="rect">
            <a:avLst/>
          </a:prstGeom>
        </p:spPr>
      </p:pic>
      <p:sp>
        <p:nvSpPr>
          <p:cNvPr id="36" name="TextBox 35"/>
          <p:cNvSpPr txBox="1"/>
          <p:nvPr/>
        </p:nvSpPr>
        <p:spPr>
          <a:xfrm>
            <a:off x="674515" y="4585335"/>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37" name="TextBox 36"/>
          <p:cNvSpPr txBox="1"/>
          <p:nvPr/>
        </p:nvSpPr>
        <p:spPr>
          <a:xfrm>
            <a:off x="276225" y="4813172"/>
            <a:ext cx="4972583" cy="194310"/>
          </a:xfrm>
          <a:prstGeom prst="rect">
            <a:avLst/>
          </a:prstGeom>
          <a:noFill/>
        </p:spPr>
        <p:txBody>
          <a:bodyPr wrap="none" lIns="0" tIns="0" rIns="0" bIns="0">
            <a:spAutoFit/>
          </a:bodyPr>
          <a:lstStyle/>
          <a:p>
            <a:r>
              <a:rPr sz="1150" b="0">
                <a:solidFill>
                  <a:srgbClr val="2E2E2E"/>
                </a:solidFill>
                <a:latin typeface="Calibri"/>
              </a:rPr>
              <a:t>▪ 2. Specialist Pet Retail × Support for Observable Age-Related Cognitive Changes –</a:t>
            </a:r>
          </a:p>
        </p:txBody>
      </p:sp>
      <p:pic>
        <p:nvPicPr>
          <p:cNvPr id="38" name="Picture 37" descr="lock.png"/>
          <p:cNvPicPr>
            <a:picLocks noChangeAspect="1"/>
          </p:cNvPicPr>
          <p:nvPr/>
        </p:nvPicPr>
        <p:blipFill>
          <a:blip r:embed="rId4"/>
          <a:stretch>
            <a:fillRect/>
          </a:stretch>
        </p:blipFill>
        <p:spPr>
          <a:xfrm>
            <a:off x="5197962" y="4802949"/>
            <a:ext cx="134549" cy="195707"/>
          </a:xfrm>
          <a:prstGeom prst="rect">
            <a:avLst/>
          </a:prstGeom>
        </p:spPr>
      </p:pic>
      <p:sp>
        <p:nvSpPr>
          <p:cNvPr id="39" name="TextBox 38"/>
          <p:cNvSpPr txBox="1"/>
          <p:nvPr/>
        </p:nvSpPr>
        <p:spPr>
          <a:xfrm>
            <a:off x="5373071" y="4813172"/>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262145" y="4978209"/>
            <a:ext cx="134549" cy="195707"/>
          </a:xfrm>
          <a:prstGeom prst="rect">
            <a:avLst/>
          </a:prstGeom>
        </p:spPr>
      </p:pic>
      <p:sp>
        <p:nvSpPr>
          <p:cNvPr id="41" name="TextBox 40"/>
          <p:cNvSpPr txBox="1"/>
          <p:nvPr/>
        </p:nvSpPr>
        <p:spPr>
          <a:xfrm>
            <a:off x="437254" y="4988432"/>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42" name="TextBox 41"/>
          <p:cNvSpPr txBox="1"/>
          <p:nvPr/>
        </p:nvSpPr>
        <p:spPr>
          <a:xfrm>
            <a:off x="276225" y="5216270"/>
            <a:ext cx="5015941" cy="194310"/>
          </a:xfrm>
          <a:prstGeom prst="rect">
            <a:avLst/>
          </a:prstGeom>
          <a:noFill/>
        </p:spPr>
        <p:txBody>
          <a:bodyPr wrap="none" lIns="0" tIns="0" rIns="0" bIns="0">
            <a:spAutoFit/>
          </a:bodyPr>
          <a:lstStyle/>
          <a:p>
            <a:r>
              <a:rPr sz="1150" b="0">
                <a:solidFill>
                  <a:srgbClr val="2E2E2E"/>
                </a:solidFill>
                <a:latin typeface="Calibri"/>
              </a:rPr>
              <a:t>▪ 3. Veterinary Channels × Support for Observable Age-Related Cognitive Changes –</a:t>
            </a:r>
          </a:p>
        </p:txBody>
      </p:sp>
      <p:pic>
        <p:nvPicPr>
          <p:cNvPr id="43" name="Picture 42" descr="lock.png"/>
          <p:cNvPicPr>
            <a:picLocks noChangeAspect="1"/>
          </p:cNvPicPr>
          <p:nvPr/>
        </p:nvPicPr>
        <p:blipFill>
          <a:blip r:embed="rId4"/>
          <a:stretch>
            <a:fillRect/>
          </a:stretch>
        </p:blipFill>
        <p:spPr>
          <a:xfrm>
            <a:off x="5241320" y="5206047"/>
            <a:ext cx="134549" cy="195707"/>
          </a:xfrm>
          <a:prstGeom prst="rect">
            <a:avLst/>
          </a:prstGeom>
        </p:spPr>
      </p:pic>
      <p:sp>
        <p:nvSpPr>
          <p:cNvPr id="44" name="TextBox 43"/>
          <p:cNvSpPr txBox="1"/>
          <p:nvPr/>
        </p:nvSpPr>
        <p:spPr>
          <a:xfrm>
            <a:off x="5416430" y="5216270"/>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262145" y="5381307"/>
            <a:ext cx="134549" cy="195707"/>
          </a:xfrm>
          <a:prstGeom prst="rect">
            <a:avLst/>
          </a:prstGeom>
        </p:spPr>
      </p:pic>
      <p:sp>
        <p:nvSpPr>
          <p:cNvPr id="46" name="TextBox 45"/>
          <p:cNvSpPr txBox="1"/>
          <p:nvPr/>
        </p:nvSpPr>
        <p:spPr>
          <a:xfrm>
            <a:off x="437254" y="5391530"/>
            <a:ext cx="350899" cy="194310"/>
          </a:xfrm>
          <a:prstGeom prst="rect">
            <a:avLst/>
          </a:prstGeom>
          <a:noFill/>
        </p:spPr>
        <p:txBody>
          <a:bodyPr wrap="none" lIns="0" tIns="0" rIns="0" bIns="0">
            <a:spAutoFit/>
          </a:bodyPr>
          <a:lstStyle/>
          <a:p>
            <a:r>
              <a:rPr sz="1150" b="0">
                <a:solidFill>
                  <a:srgbClr val="2E2E2E"/>
                </a:solidFill>
                <a:latin typeface="Calibri"/>
              </a:rPr>
              <a:t>· 4/5</a:t>
            </a:r>
          </a:p>
        </p:txBody>
      </p:sp>
      <p:sp>
        <p:nvSpPr>
          <p:cNvPr id="47" name="TextBox 46"/>
          <p:cNvSpPr txBox="1"/>
          <p:nvPr/>
        </p:nvSpPr>
        <p:spPr>
          <a:xfrm>
            <a:off x="276225" y="5619368"/>
            <a:ext cx="3616169" cy="194310"/>
          </a:xfrm>
          <a:prstGeom prst="rect">
            <a:avLst/>
          </a:prstGeom>
          <a:noFill/>
        </p:spPr>
        <p:txBody>
          <a:bodyPr wrap="none" lIns="0" tIns="0" rIns="0" bIns="0">
            <a:spAutoFit/>
          </a:bodyPr>
          <a:lstStyle/>
          <a:p>
            <a:r>
              <a:rPr sz="1150" b="0">
                <a:solidFill>
                  <a:srgbClr val="2E2E2E"/>
                </a:solidFill>
                <a:latin typeface="Calibri"/>
              </a:rPr>
              <a:t>▪ 4. Third-Party E-commerce × Routine Cognitive Wellness –</a:t>
            </a:r>
          </a:p>
        </p:txBody>
      </p:sp>
      <p:pic>
        <p:nvPicPr>
          <p:cNvPr id="48" name="Picture 47" descr="lock.png"/>
          <p:cNvPicPr>
            <a:picLocks noChangeAspect="1"/>
          </p:cNvPicPr>
          <p:nvPr/>
        </p:nvPicPr>
        <p:blipFill>
          <a:blip r:embed="rId4"/>
          <a:stretch>
            <a:fillRect/>
          </a:stretch>
        </p:blipFill>
        <p:spPr>
          <a:xfrm>
            <a:off x="3841548" y="5609145"/>
            <a:ext cx="134549" cy="195707"/>
          </a:xfrm>
          <a:prstGeom prst="rect">
            <a:avLst/>
          </a:prstGeom>
        </p:spPr>
      </p:pic>
      <p:sp>
        <p:nvSpPr>
          <p:cNvPr id="49" name="TextBox 48"/>
          <p:cNvSpPr txBox="1"/>
          <p:nvPr/>
        </p:nvSpPr>
        <p:spPr>
          <a:xfrm>
            <a:off x="4016657" y="5619368"/>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4078809" y="5609145"/>
            <a:ext cx="134549" cy="195707"/>
          </a:xfrm>
          <a:prstGeom prst="rect">
            <a:avLst/>
          </a:prstGeom>
        </p:spPr>
      </p:pic>
      <p:sp>
        <p:nvSpPr>
          <p:cNvPr id="51" name="TextBox 50"/>
          <p:cNvSpPr txBox="1"/>
          <p:nvPr/>
        </p:nvSpPr>
        <p:spPr>
          <a:xfrm>
            <a:off x="4253918" y="5619368"/>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52" name="TextBox 51"/>
          <p:cNvSpPr txBox="1"/>
          <p:nvPr/>
        </p:nvSpPr>
        <p:spPr>
          <a:xfrm>
            <a:off x="276225" y="5847206"/>
            <a:ext cx="3327524" cy="194310"/>
          </a:xfrm>
          <a:prstGeom prst="rect">
            <a:avLst/>
          </a:prstGeom>
          <a:noFill/>
        </p:spPr>
        <p:txBody>
          <a:bodyPr wrap="none" lIns="0" tIns="0" rIns="0" bIns="0">
            <a:spAutoFit/>
          </a:bodyPr>
          <a:lstStyle/>
          <a:p>
            <a:r>
              <a:rPr sz="1150" b="0">
                <a:solidFill>
                  <a:srgbClr val="2E2E2E"/>
                </a:solidFill>
                <a:latin typeface="Calibri"/>
              </a:rPr>
              <a:t>▪ 5. Specialist Pet Retail × Routine Cognitive Wellness –</a:t>
            </a:r>
          </a:p>
        </p:txBody>
      </p:sp>
      <p:pic>
        <p:nvPicPr>
          <p:cNvPr id="53" name="Picture 52" descr="lock.png"/>
          <p:cNvPicPr>
            <a:picLocks noChangeAspect="1"/>
          </p:cNvPicPr>
          <p:nvPr/>
        </p:nvPicPr>
        <p:blipFill>
          <a:blip r:embed="rId4"/>
          <a:stretch>
            <a:fillRect/>
          </a:stretch>
        </p:blipFill>
        <p:spPr>
          <a:xfrm>
            <a:off x="3552902" y="5836983"/>
            <a:ext cx="134549" cy="195707"/>
          </a:xfrm>
          <a:prstGeom prst="rect">
            <a:avLst/>
          </a:prstGeom>
        </p:spPr>
      </p:pic>
      <p:sp>
        <p:nvSpPr>
          <p:cNvPr id="54" name="TextBox 53"/>
          <p:cNvSpPr txBox="1"/>
          <p:nvPr/>
        </p:nvSpPr>
        <p:spPr>
          <a:xfrm>
            <a:off x="3728012" y="5847206"/>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790163" y="5836983"/>
            <a:ext cx="134549" cy="195707"/>
          </a:xfrm>
          <a:prstGeom prst="rect">
            <a:avLst/>
          </a:prstGeom>
        </p:spPr>
      </p:pic>
      <p:sp>
        <p:nvSpPr>
          <p:cNvPr id="56" name="TextBox 55"/>
          <p:cNvSpPr txBox="1"/>
          <p:nvPr/>
        </p:nvSpPr>
        <p:spPr>
          <a:xfrm>
            <a:off x="3965273" y="5847206"/>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57" name="TextBox 56"/>
          <p:cNvSpPr txBox="1"/>
          <p:nvPr/>
        </p:nvSpPr>
        <p:spPr>
          <a:xfrm>
            <a:off x="6029325" y="4410075"/>
            <a:ext cx="1639074" cy="194310"/>
          </a:xfrm>
          <a:prstGeom prst="rect">
            <a:avLst/>
          </a:prstGeom>
          <a:noFill/>
        </p:spPr>
        <p:txBody>
          <a:bodyPr wrap="none" lIns="0" tIns="0" rIns="0" bIns="0">
            <a:spAutoFit/>
          </a:bodyPr>
          <a:lstStyle/>
          <a:p>
            <a:r>
              <a:rPr sz="1150" b="0">
                <a:solidFill>
                  <a:srgbClr val="2E2E2E"/>
                </a:solidFill>
                <a:latin typeface="Calibri"/>
              </a:rPr>
              <a:t>▪ 'Third-Party E-commerce</a:t>
            </a:r>
          </a:p>
        </p:txBody>
      </p:sp>
      <p:sp>
        <p:nvSpPr>
          <p:cNvPr id="58" name="TextBox 57"/>
          <p:cNvSpPr txBox="1"/>
          <p:nvPr/>
        </p:nvSpPr>
        <p:spPr>
          <a:xfrm>
            <a:off x="6029325" y="4585335"/>
            <a:ext cx="1568363" cy="194310"/>
          </a:xfrm>
          <a:prstGeom prst="rect">
            <a:avLst/>
          </a:prstGeom>
          <a:noFill/>
        </p:spPr>
        <p:txBody>
          <a:bodyPr wrap="none" lIns="0" tIns="0" rIns="0" bIns="0">
            <a:spAutoFit/>
          </a:bodyPr>
          <a:lstStyle/>
          <a:p>
            <a:r>
              <a:rPr sz="1150" b="0">
                <a:solidFill>
                  <a:srgbClr val="2E2E2E"/>
                </a:solidFill>
                <a:latin typeface="Calibri"/>
              </a:rPr>
              <a:t>× Support for Observable</a:t>
            </a:r>
          </a:p>
        </p:txBody>
      </p:sp>
      <p:sp>
        <p:nvSpPr>
          <p:cNvPr id="59" name="TextBox 58"/>
          <p:cNvSpPr txBox="1"/>
          <p:nvPr/>
        </p:nvSpPr>
        <p:spPr>
          <a:xfrm>
            <a:off x="6029325" y="4760595"/>
            <a:ext cx="1389508" cy="194310"/>
          </a:xfrm>
          <a:prstGeom prst="rect">
            <a:avLst/>
          </a:prstGeom>
          <a:noFill/>
        </p:spPr>
        <p:txBody>
          <a:bodyPr wrap="none" lIns="0" tIns="0" rIns="0" bIns="0">
            <a:spAutoFit/>
          </a:bodyPr>
          <a:lstStyle/>
          <a:p>
            <a:r>
              <a:rPr sz="1150" b="0">
                <a:solidFill>
                  <a:srgbClr val="2E2E2E"/>
                </a:solidFill>
                <a:latin typeface="Calibri"/>
              </a:rPr>
              <a:t>Age-Related Cognitive</a:t>
            </a:r>
          </a:p>
        </p:txBody>
      </p:sp>
      <p:sp>
        <p:nvSpPr>
          <p:cNvPr id="60" name="TextBox 59"/>
          <p:cNvSpPr txBox="1"/>
          <p:nvPr/>
        </p:nvSpPr>
        <p:spPr>
          <a:xfrm>
            <a:off x="6029325" y="4935854"/>
            <a:ext cx="921692" cy="194310"/>
          </a:xfrm>
          <a:prstGeom prst="rect">
            <a:avLst/>
          </a:prstGeom>
          <a:noFill/>
        </p:spPr>
        <p:txBody>
          <a:bodyPr wrap="none" lIns="0" tIns="0" rIns="0" bIns="0">
            <a:spAutoFit/>
          </a:bodyPr>
          <a:lstStyle/>
          <a:p>
            <a:r>
              <a:rPr sz="1150" b="0">
                <a:solidFill>
                  <a:srgbClr val="2E2E2E"/>
                </a:solidFill>
                <a:latin typeface="Calibri"/>
              </a:rPr>
              <a:t>Changes' adds</a:t>
            </a:r>
          </a:p>
        </p:txBody>
      </p:sp>
      <p:pic>
        <p:nvPicPr>
          <p:cNvPr id="61" name="Picture 60" descr="lock.png"/>
          <p:cNvPicPr>
            <a:picLocks noChangeAspect="1"/>
          </p:cNvPicPr>
          <p:nvPr/>
        </p:nvPicPr>
        <p:blipFill>
          <a:blip r:embed="rId4"/>
          <a:stretch>
            <a:fillRect/>
          </a:stretch>
        </p:blipFill>
        <p:spPr>
          <a:xfrm>
            <a:off x="6900171" y="4925631"/>
            <a:ext cx="134549" cy="195707"/>
          </a:xfrm>
          <a:prstGeom prst="rect">
            <a:avLst/>
          </a:prstGeom>
        </p:spPr>
      </p:pic>
      <p:sp>
        <p:nvSpPr>
          <p:cNvPr id="62" name="TextBox 61"/>
          <p:cNvSpPr txBox="1"/>
          <p:nvPr/>
        </p:nvSpPr>
        <p:spPr>
          <a:xfrm>
            <a:off x="7075280" y="4935854"/>
            <a:ext cx="546013" cy="194310"/>
          </a:xfrm>
          <a:prstGeom prst="rect">
            <a:avLst/>
          </a:prstGeom>
          <a:noFill/>
        </p:spPr>
        <p:txBody>
          <a:bodyPr wrap="none" lIns="0" tIns="0" rIns="0" bIns="0">
            <a:spAutoFit/>
          </a:bodyPr>
          <a:lstStyle/>
          <a:p>
            <a:r>
              <a:rPr sz="1150" b="0">
                <a:solidFill>
                  <a:srgbClr val="2E2E2E"/>
                </a:solidFill>
                <a:latin typeface="Calibri"/>
              </a:rPr>
              <a:t>US$ Mn</a:t>
            </a:r>
          </a:p>
        </p:txBody>
      </p:sp>
      <p:sp>
        <p:nvSpPr>
          <p:cNvPr id="63" name="TextBox 62"/>
          <p:cNvSpPr txBox="1"/>
          <p:nvPr/>
        </p:nvSpPr>
        <p:spPr>
          <a:xfrm>
            <a:off x="6029325" y="5111114"/>
            <a:ext cx="721729" cy="194310"/>
          </a:xfrm>
          <a:prstGeom prst="rect">
            <a:avLst/>
          </a:prstGeom>
          <a:noFill/>
        </p:spPr>
        <p:txBody>
          <a:bodyPr wrap="none" lIns="0" tIns="0" rIns="0" bIns="0">
            <a:spAutoFit/>
          </a:bodyPr>
          <a:lstStyle/>
          <a:p>
            <a:r>
              <a:rPr sz="1150" b="0">
                <a:solidFill>
                  <a:srgbClr val="2E2E2E"/>
                </a:solidFill>
                <a:latin typeface="Calibri"/>
              </a:rPr>
              <a:t>by 2036F –</a:t>
            </a:r>
          </a:p>
        </p:txBody>
      </p:sp>
      <p:pic>
        <p:nvPicPr>
          <p:cNvPr id="64" name="Picture 63" descr="lock.png"/>
          <p:cNvPicPr>
            <a:picLocks noChangeAspect="1"/>
          </p:cNvPicPr>
          <p:nvPr/>
        </p:nvPicPr>
        <p:blipFill>
          <a:blip r:embed="rId4"/>
          <a:stretch>
            <a:fillRect/>
          </a:stretch>
        </p:blipFill>
        <p:spPr>
          <a:xfrm>
            <a:off x="6700208" y="5100891"/>
            <a:ext cx="134549" cy="195707"/>
          </a:xfrm>
          <a:prstGeom prst="rect">
            <a:avLst/>
          </a:prstGeom>
        </p:spPr>
      </p:pic>
      <p:sp>
        <p:nvSpPr>
          <p:cNvPr id="65" name="TextBox 64"/>
          <p:cNvSpPr txBox="1"/>
          <p:nvPr/>
        </p:nvSpPr>
        <p:spPr>
          <a:xfrm>
            <a:off x="6875317" y="5111114"/>
            <a:ext cx="741126" cy="194310"/>
          </a:xfrm>
          <a:prstGeom prst="rect">
            <a:avLst/>
          </a:prstGeom>
          <a:noFill/>
        </p:spPr>
        <p:txBody>
          <a:bodyPr wrap="none" lIns="0" tIns="0" rIns="0" bIns="0">
            <a:spAutoFit/>
          </a:bodyPr>
          <a:lstStyle/>
          <a:p>
            <a:r>
              <a:rPr sz="1150" b="0">
                <a:solidFill>
                  <a:srgbClr val="2E2E2E"/>
                </a:solidFill>
                <a:latin typeface="Calibri"/>
              </a:rPr>
              <a:t>of the total</a:t>
            </a:r>
          </a:p>
        </p:txBody>
      </p:sp>
      <p:sp>
        <p:nvSpPr>
          <p:cNvPr id="66" name="TextBox 65"/>
          <p:cNvSpPr txBox="1"/>
          <p:nvPr/>
        </p:nvSpPr>
        <p:spPr>
          <a:xfrm>
            <a:off x="6029325" y="5286374"/>
            <a:ext cx="822994" cy="194310"/>
          </a:xfrm>
          <a:prstGeom prst="rect">
            <a:avLst/>
          </a:prstGeom>
          <a:noFill/>
        </p:spPr>
        <p:txBody>
          <a:bodyPr wrap="none" lIns="0" tIns="0" rIns="0" bIns="0">
            <a:spAutoFit/>
          </a:bodyPr>
          <a:lstStyle/>
          <a:p>
            <a:r>
              <a:rPr sz="1150" b="0">
                <a:solidFill>
                  <a:srgbClr val="2E2E2E"/>
                </a:solidFill>
                <a:latin typeface="Calibri"/>
              </a:rPr>
              <a:t>opportunity.</a:t>
            </a:r>
          </a:p>
        </p:txBody>
      </p:sp>
      <p:sp>
        <p:nvSpPr>
          <p:cNvPr id="67" name="TextBox 66"/>
          <p:cNvSpPr txBox="1"/>
          <p:nvPr/>
        </p:nvSpPr>
        <p:spPr>
          <a:xfrm>
            <a:off x="8124825" y="4410075"/>
            <a:ext cx="1639074" cy="194310"/>
          </a:xfrm>
          <a:prstGeom prst="rect">
            <a:avLst/>
          </a:prstGeom>
          <a:noFill/>
        </p:spPr>
        <p:txBody>
          <a:bodyPr wrap="none" lIns="0" tIns="0" rIns="0" bIns="0">
            <a:spAutoFit/>
          </a:bodyPr>
          <a:lstStyle/>
          <a:p>
            <a:r>
              <a:rPr sz="1150" b="0">
                <a:solidFill>
                  <a:srgbClr val="2E2E2E"/>
                </a:solidFill>
                <a:latin typeface="Calibri"/>
              </a:rPr>
              <a:t>▪ 'Third-Party E-commerce</a:t>
            </a:r>
          </a:p>
        </p:txBody>
      </p:sp>
      <p:sp>
        <p:nvSpPr>
          <p:cNvPr id="68" name="TextBox 67"/>
          <p:cNvSpPr txBox="1"/>
          <p:nvPr/>
        </p:nvSpPr>
        <p:spPr>
          <a:xfrm>
            <a:off x="8124825" y="4585335"/>
            <a:ext cx="1281683" cy="194310"/>
          </a:xfrm>
          <a:prstGeom prst="rect">
            <a:avLst/>
          </a:prstGeom>
          <a:noFill/>
        </p:spPr>
        <p:txBody>
          <a:bodyPr wrap="none" lIns="0" tIns="0" rIns="0" bIns="0">
            <a:spAutoFit/>
          </a:bodyPr>
          <a:lstStyle/>
          <a:p>
            <a:r>
              <a:rPr sz="1150" b="0">
                <a:solidFill>
                  <a:srgbClr val="2E2E2E"/>
                </a:solidFill>
                <a:latin typeface="Calibri"/>
              </a:rPr>
              <a:t>× Veterinary-Guided</a:t>
            </a:r>
          </a:p>
        </p:txBody>
      </p:sp>
      <p:sp>
        <p:nvSpPr>
          <p:cNvPr id="69" name="TextBox 68"/>
          <p:cNvSpPr txBox="1"/>
          <p:nvPr/>
        </p:nvSpPr>
        <p:spPr>
          <a:xfrm>
            <a:off x="8124825" y="4760595"/>
            <a:ext cx="1374105" cy="194310"/>
          </a:xfrm>
          <a:prstGeom prst="rect">
            <a:avLst/>
          </a:prstGeom>
          <a:noFill/>
        </p:spPr>
        <p:txBody>
          <a:bodyPr wrap="none" lIns="0" tIns="0" rIns="0" bIns="0">
            <a:spAutoFit/>
          </a:bodyPr>
          <a:lstStyle/>
          <a:p>
            <a:r>
              <a:rPr sz="1150" b="0">
                <a:solidFill>
                  <a:srgbClr val="2E2E2E"/>
                </a:solidFill>
                <a:latin typeface="Calibri"/>
              </a:rPr>
              <a:t>Cognitive Dysfunction</a:t>
            </a:r>
          </a:p>
        </p:txBody>
      </p:sp>
      <p:sp>
        <p:nvSpPr>
          <p:cNvPr id="70" name="TextBox 69"/>
          <p:cNvSpPr txBox="1"/>
          <p:nvPr/>
        </p:nvSpPr>
        <p:spPr>
          <a:xfrm>
            <a:off x="8124825" y="4935854"/>
            <a:ext cx="1229196" cy="194310"/>
          </a:xfrm>
          <a:prstGeom prst="rect">
            <a:avLst/>
          </a:prstGeom>
          <a:noFill/>
        </p:spPr>
        <p:txBody>
          <a:bodyPr wrap="none" lIns="0" tIns="0" rIns="0" bIns="0">
            <a:spAutoFit/>
          </a:bodyPr>
          <a:lstStyle/>
          <a:p>
            <a:r>
              <a:rPr sz="1150" b="0">
                <a:solidFill>
                  <a:srgbClr val="2E2E2E"/>
                </a:solidFill>
                <a:latin typeface="Calibri"/>
              </a:rPr>
              <a:t>Support' grows at a</a:t>
            </a:r>
          </a:p>
        </p:txBody>
      </p:sp>
      <p:pic>
        <p:nvPicPr>
          <p:cNvPr id="71" name="Picture 70" descr="lock.png"/>
          <p:cNvPicPr>
            <a:picLocks noChangeAspect="1"/>
          </p:cNvPicPr>
          <p:nvPr/>
        </p:nvPicPr>
        <p:blipFill>
          <a:blip r:embed="rId4"/>
          <a:stretch>
            <a:fillRect/>
          </a:stretch>
        </p:blipFill>
        <p:spPr>
          <a:xfrm>
            <a:off x="9303175" y="4925631"/>
            <a:ext cx="134549" cy="195707"/>
          </a:xfrm>
          <a:prstGeom prst="rect">
            <a:avLst/>
          </a:prstGeom>
        </p:spPr>
      </p:pic>
      <p:sp>
        <p:nvSpPr>
          <p:cNvPr id="72" name="TextBox 71"/>
          <p:cNvSpPr txBox="1"/>
          <p:nvPr/>
        </p:nvSpPr>
        <p:spPr>
          <a:xfrm>
            <a:off x="8124825" y="5111114"/>
            <a:ext cx="446441" cy="194310"/>
          </a:xfrm>
          <a:prstGeom prst="rect">
            <a:avLst/>
          </a:prstGeom>
          <a:noFill/>
        </p:spPr>
        <p:txBody>
          <a:bodyPr wrap="none" lIns="0" tIns="0" rIns="0" bIns="0">
            <a:spAutoFit/>
          </a:bodyPr>
          <a:lstStyle/>
          <a:p>
            <a:r>
              <a:rPr sz="1150" b="0">
                <a:solidFill>
                  <a:srgbClr val="2E2E2E"/>
                </a:solidFill>
                <a:latin typeface="Calibri"/>
              </a:rPr>
              <a:t>CAGR,</a:t>
            </a:r>
          </a:p>
        </p:txBody>
      </p:sp>
      <p:pic>
        <p:nvPicPr>
          <p:cNvPr id="73" name="Picture 72" descr="lock.png"/>
          <p:cNvPicPr>
            <a:picLocks noChangeAspect="1"/>
          </p:cNvPicPr>
          <p:nvPr/>
        </p:nvPicPr>
        <p:blipFill>
          <a:blip r:embed="rId4"/>
          <a:stretch>
            <a:fillRect/>
          </a:stretch>
        </p:blipFill>
        <p:spPr>
          <a:xfrm>
            <a:off x="8520420" y="5100891"/>
            <a:ext cx="134549" cy="195707"/>
          </a:xfrm>
          <a:prstGeom prst="rect">
            <a:avLst/>
          </a:prstGeom>
        </p:spPr>
      </p:pic>
      <p:sp>
        <p:nvSpPr>
          <p:cNvPr id="74" name="TextBox 73"/>
          <p:cNvSpPr txBox="1"/>
          <p:nvPr/>
        </p:nvSpPr>
        <p:spPr>
          <a:xfrm>
            <a:off x="8695529" y="5111114"/>
            <a:ext cx="925400" cy="194310"/>
          </a:xfrm>
          <a:prstGeom prst="rect">
            <a:avLst/>
          </a:prstGeom>
          <a:noFill/>
        </p:spPr>
        <p:txBody>
          <a:bodyPr wrap="none" lIns="0" tIns="0" rIns="0" bIns="0">
            <a:spAutoFit/>
          </a:bodyPr>
          <a:lstStyle/>
          <a:p>
            <a:r>
              <a:rPr sz="1150" b="0">
                <a:solidFill>
                  <a:srgbClr val="2E2E2E"/>
                </a:solidFill>
                <a:latin typeface="Calibri"/>
              </a:rPr>
              <a:t>BPS above the</a:t>
            </a:r>
          </a:p>
        </p:txBody>
      </p:sp>
      <p:sp>
        <p:nvSpPr>
          <p:cNvPr id="75" name="TextBox 74"/>
          <p:cNvSpPr txBox="1"/>
          <p:nvPr/>
        </p:nvSpPr>
        <p:spPr>
          <a:xfrm>
            <a:off x="8124825" y="5286374"/>
            <a:ext cx="890029" cy="194310"/>
          </a:xfrm>
          <a:prstGeom prst="rect">
            <a:avLst/>
          </a:prstGeom>
          <a:noFill/>
        </p:spPr>
        <p:txBody>
          <a:bodyPr wrap="none" lIns="0" tIns="0" rIns="0" bIns="0">
            <a:spAutoFit/>
          </a:bodyPr>
          <a:lstStyle/>
          <a:p>
            <a:r>
              <a:rPr sz="1150" b="0">
                <a:solidFill>
                  <a:srgbClr val="2E2E2E"/>
                </a:solidFill>
                <a:latin typeface="Calibri"/>
              </a:rPr>
              <a:t>cross-section.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Volume Market Summary</a:t>
            </a:r>
          </a:p>
          <a:p>
            <a:pPr marL="342900" indent="-323850">
              <a:lnSpc>
                <a:spcPct val="100000"/>
              </a:lnSpc>
              <a:spcAft>
                <a:spcPts val="800"/>
              </a:spcAft>
            </a:pPr>
            <a:r>
              <a:rPr sz="2000" b="0">
                <a:solidFill>
                  <a:srgbClr val="000000"/>
                </a:solidFill>
                <a:latin typeface="Calibri"/>
              </a:rPr>
              <a:t>➤	Pricing &amp; Price Index</a:t>
            </a:r>
          </a:p>
          <a:p>
            <a:pPr marL="342900" indent="-323850">
              <a:lnSpc>
                <a:spcPct val="100000"/>
              </a:lnSpc>
              <a:spcAft>
                <a:spcPts val="800"/>
              </a:spcAft>
            </a:pPr>
            <a:r>
              <a:rPr sz="2000" b="0">
                <a:solidFill>
                  <a:srgbClr val="000000"/>
                </a:solidFill>
                <a:latin typeface="Calibri"/>
              </a:rPr>
              <a:t>➤	Value Market Summary</a:t>
            </a:r>
          </a:p>
          <a:p>
            <a:pPr marL="342900" indent="-323850">
              <a:lnSpc>
                <a:spcPct val="100000"/>
              </a:lnSpc>
              <a:spcAft>
                <a:spcPts val="800"/>
              </a:spcAft>
            </a:pPr>
            <a:r>
              <a:rPr sz="2000" b="0">
                <a:solidFill>
                  <a:srgbClr val="000000"/>
                </a:solidFill>
                <a:latin typeface="Calibri"/>
              </a:rPr>
              <a:t>➤	Market Volume &amp; Value Analysis</a:t>
            </a:r>
          </a:p>
          <a:p>
            <a:pPr marL="342900" indent="-323850">
              <a:lnSpc>
                <a:spcPct val="100000"/>
              </a:lnSpc>
              <a:spcAft>
                <a:spcPts val="800"/>
              </a:spcAft>
            </a:pPr>
            <a:r>
              <a:rPr sz="2000" b="0">
                <a:solidFill>
                  <a:srgbClr val="000000"/>
                </a:solidFill>
                <a:latin typeface="Calibri"/>
              </a:rPr>
              <a:t>➤	Country Outlook</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Summary, By Volume (MT)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MARKET SIZE (MT)</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MARKET SIZE (MT)</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685037"/>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4094525"/>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Market Addition (MT)</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xmlns:r="http://schemas.openxmlformats.org/officeDocument/2006/relationships" r:id="rId5"/>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8625" y="1713612"/>
            <a:ext cx="3867150" cy="209550"/>
          </a:xfrm>
          <a:prstGeom prst="rect">
            <a:avLst/>
          </a:prstGeom>
          <a:noFill/>
        </p:spPr>
        <p:txBody>
          <a:bodyPr wrap="square" lIns="0" tIns="9525" rIns="19050"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8625" y="2037462"/>
            <a:ext cx="3867150" cy="1868952"/>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8625" y="4123100"/>
            <a:ext cx="3867150" cy="209550"/>
          </a:xfrm>
          <a:prstGeom prst="rect">
            <a:avLst/>
          </a:prstGeom>
          <a:noFill/>
        </p:spPr>
        <p:txBody>
          <a:bodyPr wrap="square" lIns="0" tIns="9525" rIns="19050"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8625" y="4446950"/>
            <a:ext cx="3867150" cy="203323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8" name="TextBox 2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617813" cy="186689"/>
          </a:xfrm>
          <a:prstGeom prst="rect">
            <a:avLst/>
          </a:prstGeom>
          <a:noFill/>
        </p:spPr>
        <p:txBody>
          <a:bodyPr wrap="none" lIns="0" tIns="0" rIns="0" bIns="0">
            <a:spAutoFit/>
          </a:bodyPr>
          <a:lstStyle/>
          <a:p>
            <a:r>
              <a:rPr sz="1100" b="0">
                <a:solidFill>
                  <a:srgbClr val="2E2E2E"/>
                </a:solidFill>
                <a:latin typeface="Calibri"/>
              </a:rPr>
              <a:t>Global senior dog cognitive supplement market is projected to</a:t>
            </a:r>
          </a:p>
        </p:txBody>
      </p:sp>
      <p:sp>
        <p:nvSpPr>
          <p:cNvPr id="35" name="TextBox 34"/>
          <p:cNvSpPr txBox="1"/>
          <p:nvPr/>
        </p:nvSpPr>
        <p:spPr>
          <a:xfrm>
            <a:off x="8048625" y="2214627"/>
            <a:ext cx="512489" cy="186689"/>
          </a:xfrm>
          <a:prstGeom prst="rect">
            <a:avLst/>
          </a:prstGeom>
          <a:noFill/>
        </p:spPr>
        <p:txBody>
          <a:bodyPr wrap="none" lIns="0" tIns="0" rIns="0" bIns="0">
            <a:spAutoFit/>
          </a:bodyPr>
          <a:lstStyle/>
          <a:p>
            <a:r>
              <a:rPr sz="1100" b="0">
                <a:solidFill>
                  <a:srgbClr val="2E2E2E"/>
                </a:solidFill>
                <a:latin typeface="Calibri"/>
              </a:rPr>
              <a:t>register</a:t>
            </a:r>
          </a:p>
        </p:txBody>
      </p:sp>
      <p:pic>
        <p:nvPicPr>
          <p:cNvPr id="36" name="Picture 35" descr="lock.png"/>
          <p:cNvPicPr>
            <a:picLocks noChangeAspect="1"/>
          </p:cNvPicPr>
          <p:nvPr/>
        </p:nvPicPr>
        <p:blipFill>
          <a:blip r:embed="rId6"/>
          <a:stretch>
            <a:fillRect/>
          </a:stretch>
        </p:blipFill>
        <p:spPr>
          <a:xfrm>
            <a:off x="8509166" y="2204848"/>
            <a:ext cx="128699" cy="187198"/>
          </a:xfrm>
          <a:prstGeom prst="rect">
            <a:avLst/>
          </a:prstGeom>
        </p:spPr>
      </p:pic>
      <p:sp>
        <p:nvSpPr>
          <p:cNvPr id="37" name="TextBox 36"/>
          <p:cNvSpPr txBox="1"/>
          <p:nvPr/>
        </p:nvSpPr>
        <p:spPr>
          <a:xfrm>
            <a:off x="8676662" y="2214627"/>
            <a:ext cx="2964333" cy="186689"/>
          </a:xfrm>
          <a:prstGeom prst="rect">
            <a:avLst/>
          </a:prstGeom>
          <a:noFill/>
        </p:spPr>
        <p:txBody>
          <a:bodyPr wrap="none" lIns="0" tIns="0" rIns="0" bIns="0">
            <a:spAutoFit/>
          </a:bodyPr>
          <a:lstStyle/>
          <a:p>
            <a:r>
              <a:rPr sz="1100" b="0">
                <a:solidFill>
                  <a:srgbClr val="2E2E2E"/>
                </a:solidFill>
                <a:latin typeface="Calibri"/>
              </a:rPr>
              <a:t>X increase in volume by the end of forecast period,</a:t>
            </a:r>
          </a:p>
        </p:txBody>
      </p:sp>
      <p:sp>
        <p:nvSpPr>
          <p:cNvPr id="38" name="TextBox 37"/>
          <p:cNvSpPr txBox="1"/>
          <p:nvPr/>
        </p:nvSpPr>
        <p:spPr>
          <a:xfrm>
            <a:off x="8048625" y="2382267"/>
            <a:ext cx="3573065" cy="186689"/>
          </a:xfrm>
          <a:prstGeom prst="rect">
            <a:avLst/>
          </a:prstGeom>
          <a:noFill/>
        </p:spPr>
        <p:txBody>
          <a:bodyPr wrap="none" lIns="0" tIns="0" rIns="0" bIns="0">
            <a:spAutoFit/>
          </a:bodyPr>
          <a:lstStyle/>
          <a:p>
            <a:r>
              <a:rPr sz="1100" b="0">
                <a:solidFill>
                  <a:srgbClr val="2E2E2E"/>
                </a:solidFill>
                <a:latin typeface="Calibri"/>
              </a:rPr>
              <a:t>2036. Global senior dog cognitive supplement market volume</a:t>
            </a:r>
          </a:p>
        </p:txBody>
      </p:sp>
      <p:sp>
        <p:nvSpPr>
          <p:cNvPr id="39" name="TextBox 38"/>
          <p:cNvSpPr txBox="1"/>
          <p:nvPr/>
        </p:nvSpPr>
        <p:spPr>
          <a:xfrm>
            <a:off x="8048625" y="2549907"/>
            <a:ext cx="543867" cy="186689"/>
          </a:xfrm>
          <a:prstGeom prst="rect">
            <a:avLst/>
          </a:prstGeom>
          <a:noFill/>
        </p:spPr>
        <p:txBody>
          <a:bodyPr wrap="none" lIns="0" tIns="0" rIns="0" bIns="0">
            <a:spAutoFit/>
          </a:bodyPr>
          <a:lstStyle/>
          <a:p>
            <a:r>
              <a:rPr sz="1100" b="0">
                <a:solidFill>
                  <a:srgbClr val="2E2E2E"/>
                </a:solidFill>
                <a:latin typeface="Calibri"/>
              </a:rPr>
              <a:t>stood at</a:t>
            </a:r>
          </a:p>
        </p:txBody>
      </p:sp>
      <p:pic>
        <p:nvPicPr>
          <p:cNvPr id="40" name="Picture 39" descr="lock.png"/>
          <p:cNvPicPr>
            <a:picLocks noChangeAspect="1"/>
          </p:cNvPicPr>
          <p:nvPr/>
        </p:nvPicPr>
        <p:blipFill>
          <a:blip r:embed="rId6"/>
          <a:stretch>
            <a:fillRect/>
          </a:stretch>
        </p:blipFill>
        <p:spPr>
          <a:xfrm>
            <a:off x="8540544" y="2540128"/>
            <a:ext cx="128699" cy="187198"/>
          </a:xfrm>
          <a:prstGeom prst="rect">
            <a:avLst/>
          </a:prstGeom>
        </p:spPr>
      </p:pic>
      <p:sp>
        <p:nvSpPr>
          <p:cNvPr id="41" name="TextBox 40"/>
          <p:cNvSpPr txBox="1"/>
          <p:nvPr/>
        </p:nvSpPr>
        <p:spPr>
          <a:xfrm>
            <a:off x="8708039" y="2549907"/>
            <a:ext cx="2135956" cy="186689"/>
          </a:xfrm>
          <a:prstGeom prst="rect">
            <a:avLst/>
          </a:prstGeom>
          <a:noFill/>
        </p:spPr>
        <p:txBody>
          <a:bodyPr wrap="none" lIns="0" tIns="0" rIns="0" bIns="0">
            <a:spAutoFit/>
          </a:bodyPr>
          <a:lstStyle/>
          <a:p>
            <a:r>
              <a:rPr sz="1100" b="0">
                <a:solidFill>
                  <a:srgbClr val="2E2E2E"/>
                </a:solidFill>
                <a:latin typeface="Calibri"/>
              </a:rPr>
              <a:t>MT in 2025 and is expected to reach</a:t>
            </a:r>
          </a:p>
        </p:txBody>
      </p:sp>
      <p:pic>
        <p:nvPicPr>
          <p:cNvPr id="42" name="Picture 41" descr="lock.png"/>
          <p:cNvPicPr>
            <a:picLocks noChangeAspect="1"/>
          </p:cNvPicPr>
          <p:nvPr/>
        </p:nvPicPr>
        <p:blipFill>
          <a:blip r:embed="rId6"/>
          <a:stretch>
            <a:fillRect/>
          </a:stretch>
        </p:blipFill>
        <p:spPr>
          <a:xfrm>
            <a:off x="10792048" y="2540128"/>
            <a:ext cx="128699" cy="187198"/>
          </a:xfrm>
          <a:prstGeom prst="rect">
            <a:avLst/>
          </a:prstGeom>
        </p:spPr>
      </p:pic>
      <p:sp>
        <p:nvSpPr>
          <p:cNvPr id="43" name="TextBox 42"/>
          <p:cNvSpPr txBox="1"/>
          <p:nvPr/>
        </p:nvSpPr>
        <p:spPr>
          <a:xfrm>
            <a:off x="10959543" y="2549907"/>
            <a:ext cx="747687" cy="186689"/>
          </a:xfrm>
          <a:prstGeom prst="rect">
            <a:avLst/>
          </a:prstGeom>
          <a:noFill/>
        </p:spPr>
        <p:txBody>
          <a:bodyPr wrap="none" lIns="0" tIns="0" rIns="0" bIns="0">
            <a:spAutoFit/>
          </a:bodyPr>
          <a:lstStyle/>
          <a:p>
            <a:r>
              <a:rPr sz="1100" b="0">
                <a:solidFill>
                  <a:srgbClr val="2E2E2E"/>
                </a:solidFill>
                <a:latin typeface="Calibri"/>
              </a:rPr>
              <a:t>MT by 2036</a:t>
            </a:r>
          </a:p>
        </p:txBody>
      </p:sp>
      <p:sp>
        <p:nvSpPr>
          <p:cNvPr id="44" name="TextBox 43"/>
          <p:cNvSpPr txBox="1"/>
          <p:nvPr/>
        </p:nvSpPr>
        <p:spPr>
          <a:xfrm>
            <a:off x="8048625" y="2717547"/>
            <a:ext cx="1070181" cy="186689"/>
          </a:xfrm>
          <a:prstGeom prst="rect">
            <a:avLst/>
          </a:prstGeom>
          <a:noFill/>
        </p:spPr>
        <p:txBody>
          <a:bodyPr wrap="none" lIns="0" tIns="0" rIns="0" bIns="0">
            <a:spAutoFit/>
          </a:bodyPr>
          <a:lstStyle/>
          <a:p>
            <a:r>
              <a:rPr sz="1100" b="0">
                <a:solidFill>
                  <a:srgbClr val="2E2E2E"/>
                </a:solidFill>
                <a:latin typeface="Calibri"/>
              </a:rPr>
              <a:t>end, at a CAGR of</a:t>
            </a:r>
          </a:p>
        </p:txBody>
      </p:sp>
      <p:pic>
        <p:nvPicPr>
          <p:cNvPr id="45" name="Picture 44" descr="lock.png"/>
          <p:cNvPicPr>
            <a:picLocks noChangeAspect="1"/>
          </p:cNvPicPr>
          <p:nvPr/>
        </p:nvPicPr>
        <p:blipFill>
          <a:blip r:embed="rId6"/>
          <a:stretch>
            <a:fillRect/>
          </a:stretch>
        </p:blipFill>
        <p:spPr>
          <a:xfrm>
            <a:off x="9066857" y="2707768"/>
            <a:ext cx="128699" cy="187198"/>
          </a:xfrm>
          <a:prstGeom prst="rect">
            <a:avLst/>
          </a:prstGeom>
        </p:spPr>
      </p:pic>
      <p:sp>
        <p:nvSpPr>
          <p:cNvPr id="46" name="TextBox 45"/>
          <p:cNvSpPr txBox="1"/>
          <p:nvPr/>
        </p:nvSpPr>
        <p:spPr>
          <a:xfrm>
            <a:off x="9234353" y="2717547"/>
            <a:ext cx="111397" cy="186689"/>
          </a:xfrm>
          <a:prstGeom prst="rect">
            <a:avLst/>
          </a:prstGeom>
          <a:noFill/>
        </p:spPr>
        <p:txBody>
          <a:bodyPr wrap="none" lIns="0" tIns="0" rIns="0" bIns="0">
            <a:spAutoFit/>
          </a:bodyPr>
          <a:lstStyle/>
          <a:p>
            <a:r>
              <a:rPr sz="1100" b="0">
                <a:solidFill>
                  <a:srgbClr val="2E2E2E"/>
                </a:solidFill>
                <a:latin typeface="Calibri"/>
              </a:rPr>
              <a:t>.</a:t>
            </a:r>
          </a:p>
        </p:txBody>
      </p:sp>
      <p:sp>
        <p:nvSpPr>
          <p:cNvPr id="47" name="TextBox 46"/>
          <p:cNvSpPr txBox="1"/>
          <p:nvPr/>
        </p:nvSpPr>
        <p:spPr>
          <a:xfrm>
            <a:off x="8048625" y="2935479"/>
            <a:ext cx="3678386" cy="186689"/>
          </a:xfrm>
          <a:prstGeom prst="rect">
            <a:avLst/>
          </a:prstGeom>
          <a:noFill/>
        </p:spPr>
        <p:txBody>
          <a:bodyPr wrap="none" lIns="0" tIns="0" rIns="0" bIns="0">
            <a:spAutoFit/>
          </a:bodyPr>
          <a:lstStyle/>
          <a:p>
            <a:r>
              <a:rPr sz="1100" b="0">
                <a:solidFill>
                  <a:srgbClr val="2E2E2E"/>
                </a:solidFill>
                <a:latin typeface="Calibri"/>
              </a:rPr>
              <a:t>Value is projected to grow faster than volume over the forecast</a:t>
            </a:r>
          </a:p>
        </p:txBody>
      </p:sp>
      <p:sp>
        <p:nvSpPr>
          <p:cNvPr id="48" name="TextBox 47"/>
          <p:cNvSpPr txBox="1"/>
          <p:nvPr/>
        </p:nvSpPr>
        <p:spPr>
          <a:xfrm>
            <a:off x="8048625" y="3103119"/>
            <a:ext cx="3049736" cy="186689"/>
          </a:xfrm>
          <a:prstGeom prst="rect">
            <a:avLst/>
          </a:prstGeom>
          <a:noFill/>
        </p:spPr>
        <p:txBody>
          <a:bodyPr wrap="none" lIns="0" tIns="0" rIns="0" bIns="0">
            <a:spAutoFit/>
          </a:bodyPr>
          <a:lstStyle/>
          <a:p>
            <a:r>
              <a:rPr sz="1100" b="0">
                <a:solidFill>
                  <a:srgbClr val="2E2E2E"/>
                </a:solidFill>
                <a:latin typeface="Calibri"/>
              </a:rPr>
              <a:t>period, owing to an increase in average selling price.</a:t>
            </a:r>
          </a:p>
        </p:txBody>
      </p:sp>
      <p:sp>
        <p:nvSpPr>
          <p:cNvPr id="49" name="TextBox 48"/>
          <p:cNvSpPr txBox="1"/>
          <p:nvPr/>
        </p:nvSpPr>
        <p:spPr>
          <a:xfrm>
            <a:off x="8048625" y="4456475"/>
            <a:ext cx="2868835" cy="194310"/>
          </a:xfrm>
          <a:prstGeom prst="rect">
            <a:avLst/>
          </a:prstGeom>
          <a:noFill/>
        </p:spPr>
        <p:txBody>
          <a:bodyPr wrap="none" lIns="0" tIns="0" rIns="0" bIns="0">
            <a:spAutoFit/>
          </a:bodyPr>
          <a:lstStyle/>
          <a:p>
            <a:r>
              <a:rPr sz="1150" b="0">
                <a:solidFill>
                  <a:srgbClr val="2E2E2E"/>
                </a:solidFill>
                <a:latin typeface="Calibri"/>
              </a:rPr>
              <a:t>▪ 'South Asia &amp; Pacific' leads regional growth at</a:t>
            </a:r>
          </a:p>
        </p:txBody>
      </p:sp>
      <p:pic>
        <p:nvPicPr>
          <p:cNvPr id="50" name="Picture 49" descr="lock.png"/>
          <p:cNvPicPr>
            <a:picLocks noChangeAspect="1"/>
          </p:cNvPicPr>
          <p:nvPr/>
        </p:nvPicPr>
        <p:blipFill>
          <a:blip r:embed="rId6"/>
          <a:stretch>
            <a:fillRect/>
          </a:stretch>
        </p:blipFill>
        <p:spPr>
          <a:xfrm>
            <a:off x="10866614" y="4446251"/>
            <a:ext cx="134549" cy="195707"/>
          </a:xfrm>
          <a:prstGeom prst="rect">
            <a:avLst/>
          </a:prstGeom>
        </p:spPr>
      </p:pic>
      <p:sp>
        <p:nvSpPr>
          <p:cNvPr id="51" name="TextBox 50"/>
          <p:cNvSpPr txBox="1"/>
          <p:nvPr/>
        </p:nvSpPr>
        <p:spPr>
          <a:xfrm>
            <a:off x="11041723" y="4456475"/>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52" name="TextBox 51"/>
          <p:cNvSpPr txBox="1"/>
          <p:nvPr/>
        </p:nvSpPr>
        <p:spPr>
          <a:xfrm>
            <a:off x="8048625" y="4684312"/>
            <a:ext cx="3253041" cy="194310"/>
          </a:xfrm>
          <a:prstGeom prst="rect">
            <a:avLst/>
          </a:prstGeom>
          <a:noFill/>
        </p:spPr>
        <p:txBody>
          <a:bodyPr wrap="none" lIns="0" tIns="0" rIns="0" bIns="0">
            <a:spAutoFit/>
          </a:bodyPr>
          <a:lstStyle/>
          <a:p>
            <a:r>
              <a:rPr sz="1150" b="0">
                <a:solidFill>
                  <a:srgbClr val="2E2E2E"/>
                </a:solidFill>
                <a:latin typeface="Calibri"/>
              </a:rPr>
              <a:t>▪ Demand concentrates in 'Tablets' within Form Type.</a:t>
            </a:r>
          </a:p>
        </p:txBody>
      </p:sp>
      <p:sp>
        <p:nvSpPr>
          <p:cNvPr id="53" name="TextBox 52"/>
          <p:cNvSpPr txBox="1"/>
          <p:nvPr/>
        </p:nvSpPr>
        <p:spPr>
          <a:xfrm>
            <a:off x="8048625" y="4912150"/>
            <a:ext cx="3291296" cy="194310"/>
          </a:xfrm>
          <a:prstGeom prst="rect">
            <a:avLst/>
          </a:prstGeom>
          <a:noFill/>
        </p:spPr>
        <p:txBody>
          <a:bodyPr wrap="none" lIns="0" tIns="0" rIns="0" bIns="0">
            <a:spAutoFit/>
          </a:bodyPr>
          <a:lstStyle/>
          <a:p>
            <a:r>
              <a:rPr sz="1150" b="0">
                <a:solidFill>
                  <a:srgbClr val="2E2E2E"/>
                </a:solidFill>
                <a:latin typeface="Calibri"/>
              </a:rPr>
              <a:t>▪ Product innovation and premiumisation lifting value.</a:t>
            </a:r>
          </a:p>
        </p:txBody>
      </p:sp>
      <p:sp>
        <p:nvSpPr>
          <p:cNvPr id="54" name="TextBox 53"/>
          <p:cNvSpPr txBox="1"/>
          <p:nvPr/>
        </p:nvSpPr>
        <p:spPr>
          <a:xfrm>
            <a:off x="8048625" y="5139988"/>
            <a:ext cx="2741327" cy="194310"/>
          </a:xfrm>
          <a:prstGeom prst="rect">
            <a:avLst/>
          </a:prstGeom>
          <a:noFill/>
        </p:spPr>
        <p:txBody>
          <a:bodyPr wrap="none" lIns="0" tIns="0" rIns="0" bIns="0">
            <a:spAutoFit/>
          </a:bodyPr>
          <a:lstStyle/>
          <a:p>
            <a:r>
              <a:rPr sz="1150" b="0">
                <a:solidFill>
                  <a:srgbClr val="2E2E2E"/>
                </a:solidFill>
                <a:latin typeface="Calibri"/>
              </a:rPr>
              <a:t>▪ Expanding end-use applications and access.</a:t>
            </a:r>
          </a:p>
        </p:txBody>
      </p:sp>
      <p:sp>
        <p:nvSpPr>
          <p:cNvPr id="5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110045"/>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Average Price by Form Type  ·  range across 2021–2036 (US$/MT)</a:t>
            </a:r>
          </a:p>
        </p:txBody>
      </p:sp>
      <p:cxnSp>
        <p:nvCxnSpPr>
          <p:cNvPr id="12" name="Connector 11"/>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01680"/>
            <a:ext cx="381000" cy="133350"/>
          </a:xfrm>
          <a:prstGeom prst="rect">
            <a:avLst/>
          </a:prstGeom>
          <a:noFill/>
        </p:spPr>
        <p:txBody>
          <a:bodyPr wrap="square" lIns="28575" tIns="9525" rIns="28575" bIns="9525" anchor="ctr">
            <a:spAutoFit/>
          </a:bodyPr>
          <a:lstStyle/>
          <a:p>
            <a:pPr algn="r"/>
            <a:endParaRPr/>
          </a:p>
        </p:txBody>
      </p:sp>
      <p:sp>
        <p:nvSpPr>
          <p:cNvPr id="24" name="FMI Scale tick"/>
          <p:cNvSpPr txBox="1"/>
          <p:nvPr/>
        </p:nvSpPr>
        <p:spPr>
          <a:xfrm>
            <a:off x="183356" y="2293975"/>
            <a:ext cx="416719" cy="133350"/>
          </a:xfrm>
          <a:prstGeom prst="rect">
            <a:avLst/>
          </a:prstGeom>
          <a:noFill/>
        </p:spPr>
        <p:txBody>
          <a:bodyPr wrap="square" lIns="28575" tIns="9525" rIns="28575" bIns="9525" anchor="ctr">
            <a:spAutoFit/>
          </a:bodyPr>
          <a:lstStyle/>
          <a:p>
            <a:pPr algn="r"/>
            <a:endParaRPr/>
          </a:p>
        </p:txBody>
      </p:sp>
      <p:sp>
        <p:nvSpPr>
          <p:cNvPr id="25" name="FMI Scale tick"/>
          <p:cNvSpPr txBox="1"/>
          <p:nvPr/>
        </p:nvSpPr>
        <p:spPr>
          <a:xfrm>
            <a:off x="219075" y="1386270"/>
            <a:ext cx="381000" cy="133350"/>
          </a:xfrm>
          <a:prstGeom prst="rect">
            <a:avLst/>
          </a:prstGeom>
          <a:noFill/>
        </p:spPr>
        <p:txBody>
          <a:bodyPr wrap="square" lIns="28575" tIns="9525" rIns="28575" bIns="9525" anchor="ctr">
            <a:spAutoFit/>
          </a:bodyPr>
          <a:lstStyle/>
          <a:p>
            <a:pPr algn="r"/>
            <a:endParaRPr/>
          </a:p>
        </p:txBody>
      </p:sp>
      <p:cxnSp>
        <p:nvCxnSpPr>
          <p:cNvPr id="26" name="Connector 25"/>
          <p:cNvCxnSpPr/>
          <p:nvPr/>
        </p:nvCxnSpPr>
        <p:spPr>
          <a:xfrm flipV="1">
            <a:off x="1241425" y="2788697"/>
            <a:ext cx="0" cy="12880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09980" y="291749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9980" y="278869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022350" y="2819594"/>
            <a:ext cx="438150" cy="6445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a:off x="1022350" y="285139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636297"/>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32" name="Connector 31"/>
          <p:cNvCxnSpPr/>
          <p:nvPr/>
        </p:nvCxnSpPr>
        <p:spPr>
          <a:xfrm flipV="1">
            <a:off x="2409825" y="2953729"/>
            <a:ext cx="0" cy="10515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27838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278380" y="29537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190750" y="2978827"/>
            <a:ext cx="438150" cy="5261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a:off x="2190750" y="300474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825625" y="2801329"/>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38" name="Connector 37"/>
          <p:cNvCxnSpPr/>
          <p:nvPr/>
        </p:nvCxnSpPr>
        <p:spPr>
          <a:xfrm flipV="1">
            <a:off x="3578225" y="1662416"/>
            <a:ext cx="0" cy="22794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446780" y="189035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4467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3359150" y="1717633"/>
            <a:ext cx="438150" cy="11404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a:off x="3359150" y="177408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994025" y="1510016"/>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44" name="Connector 43"/>
          <p:cNvCxnSpPr/>
          <p:nvPr/>
        </p:nvCxnSpPr>
        <p:spPr>
          <a:xfrm flipV="1">
            <a:off x="4746625" y="1747757"/>
            <a:ext cx="0" cy="18210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615180" y="192985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615180" y="174775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527550" y="1791326"/>
            <a:ext cx="438150" cy="9109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a:off x="4527550" y="183622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162425" y="1595357"/>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50" name="Connector 49"/>
          <p:cNvCxnSpPr/>
          <p:nvPr/>
        </p:nvCxnSpPr>
        <p:spPr>
          <a:xfrm flipV="1">
            <a:off x="5915025" y="1780343"/>
            <a:ext cx="0" cy="19121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783580" y="197155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783580" y="178034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695950" y="1826330"/>
            <a:ext cx="438150" cy="9564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a:off x="5695950" y="187355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330825" y="1627943"/>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56" name="Connector 55"/>
          <p:cNvCxnSpPr/>
          <p:nvPr/>
        </p:nvCxnSpPr>
        <p:spPr>
          <a:xfrm flipV="1">
            <a:off x="7083425" y="2571449"/>
            <a:ext cx="0" cy="14751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951980" y="271896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51980" y="257144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6864350" y="2607506"/>
            <a:ext cx="438150" cy="7378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6864350" y="264412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99225" y="2419049"/>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sp>
        <p:nvSpPr>
          <p:cNvPr id="62" name="TextBox 61"/>
          <p:cNvSpPr txBox="1"/>
          <p:nvPr/>
        </p:nvSpPr>
        <p:spPr>
          <a:xfrm>
            <a:off x="6572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Chewables</a:t>
            </a:r>
          </a:p>
        </p:txBody>
      </p:sp>
      <p:sp>
        <p:nvSpPr>
          <p:cNvPr id="63" name="TextBox 62"/>
          <p:cNvSpPr txBox="1"/>
          <p:nvPr/>
        </p:nvSpPr>
        <p:spPr>
          <a:xfrm>
            <a:off x="18256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Tablets</a:t>
            </a:r>
          </a:p>
        </p:txBody>
      </p:sp>
      <p:sp>
        <p:nvSpPr>
          <p:cNvPr id="64" name="TextBox 63"/>
          <p:cNvSpPr txBox="1"/>
          <p:nvPr/>
        </p:nvSpPr>
        <p:spPr>
          <a:xfrm>
            <a:off x="29940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Capsules and Softgels</a:t>
            </a:r>
          </a:p>
        </p:txBody>
      </p:sp>
      <p:sp>
        <p:nvSpPr>
          <p:cNvPr id="65" name="TextBox 64"/>
          <p:cNvSpPr txBox="1"/>
          <p:nvPr/>
        </p:nvSpPr>
        <p:spPr>
          <a:xfrm>
            <a:off x="41624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Powders and Granules</a:t>
            </a:r>
          </a:p>
        </p:txBody>
      </p:sp>
      <p:sp>
        <p:nvSpPr>
          <p:cNvPr id="66" name="TextBox 65"/>
          <p:cNvSpPr txBox="1"/>
          <p:nvPr/>
        </p:nvSpPr>
        <p:spPr>
          <a:xfrm>
            <a:off x="53308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Liquids</a:t>
            </a:r>
          </a:p>
        </p:txBody>
      </p:sp>
      <p:sp>
        <p:nvSpPr>
          <p:cNvPr id="67" name="TextBox 66"/>
          <p:cNvSpPr txBox="1"/>
          <p:nvPr/>
        </p:nvSpPr>
        <p:spPr>
          <a:xfrm>
            <a:off x="64992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Gels and Pastes</a:t>
            </a:r>
          </a:p>
        </p:txBody>
      </p:sp>
      <p:sp>
        <p:nvSpPr>
          <p:cNvPr id="68" name="Rounded Rectangle 67"/>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38125" y="3829846"/>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Variation by Region vs Global  ·  2026–2036</a:t>
            </a:r>
          </a:p>
        </p:txBody>
      </p:sp>
      <p:cxnSp>
        <p:nvCxnSpPr>
          <p:cNvPr id="70" name="Connector 69"/>
          <p:cNvCxnSpPr/>
          <p:nvPr/>
        </p:nvCxnSpPr>
        <p:spPr>
          <a:xfrm>
            <a:off x="619125" y="43172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19125" y="472849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19125" y="555105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19125" y="596233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19125" y="4317216"/>
            <a:ext cx="0" cy="1645119"/>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90550" y="43172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90550" y="472849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90550" y="555105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90550" y="59623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1" name="FMI Scale tick"/>
          <p:cNvSpPr txBox="1"/>
          <p:nvPr/>
        </p:nvSpPr>
        <p:spPr>
          <a:xfrm>
            <a:off x="219075" y="4250541"/>
            <a:ext cx="361950" cy="133350"/>
          </a:xfrm>
          <a:prstGeom prst="rect">
            <a:avLst/>
          </a:prstGeom>
          <a:noFill/>
        </p:spPr>
        <p:txBody>
          <a:bodyPr wrap="none" lIns="0" tIns="0" rIns="0" bIns="0" anchor="ctr">
            <a:spAutoFit/>
          </a:bodyPr>
          <a:lstStyle/>
          <a:p>
            <a:pPr algn="r"/>
            <a:r>
              <a:rPr sz="1100" b="0">
                <a:solidFill>
                  <a:srgbClr val="6C7A89"/>
                </a:solidFill>
                <a:latin typeface="Calibri"/>
              </a:rPr>
              <a:t>+49%</a:t>
            </a:r>
          </a:p>
        </p:txBody>
      </p:sp>
      <p:sp>
        <p:nvSpPr>
          <p:cNvPr id="82" name="FMI Scale tick"/>
          <p:cNvSpPr txBox="1"/>
          <p:nvPr/>
        </p:nvSpPr>
        <p:spPr>
          <a:xfrm>
            <a:off x="219075" y="4661821"/>
            <a:ext cx="361950" cy="133350"/>
          </a:xfrm>
          <a:prstGeom prst="rect">
            <a:avLst/>
          </a:prstGeom>
          <a:noFill/>
        </p:spPr>
        <p:txBody>
          <a:bodyPr wrap="none" lIns="0" tIns="0" rIns="0" bIns="0" anchor="ctr">
            <a:spAutoFit/>
          </a:bodyPr>
          <a:lstStyle/>
          <a:p>
            <a:pPr algn="r"/>
            <a:r>
              <a:rPr sz="1100" b="0">
                <a:solidFill>
                  <a:srgbClr val="6C7A89"/>
                </a:solidFill>
                <a:latin typeface="Calibri"/>
              </a:rPr>
              <a:t>+25%</a:t>
            </a:r>
          </a:p>
        </p:txBody>
      </p:sp>
      <p:sp>
        <p:nvSpPr>
          <p:cNvPr id="83" name="FMI Scale tick"/>
          <p:cNvSpPr txBox="1"/>
          <p:nvPr/>
        </p:nvSpPr>
        <p:spPr>
          <a:xfrm>
            <a:off x="107156" y="5073101"/>
            <a:ext cx="473869" cy="133350"/>
          </a:xfrm>
          <a:prstGeom prst="rect">
            <a:avLst/>
          </a:prstGeom>
          <a:noFill/>
        </p:spPr>
        <p:txBody>
          <a:bodyPr wrap="square" lIns="28575" tIns="9525" rIns="28575" bIns="9525" anchor="ctr">
            <a:spAutoFit/>
          </a:bodyPr>
          <a:lstStyle/>
          <a:p>
            <a:pPr algn="r"/>
            <a:r>
              <a:rPr sz="1100" b="1">
                <a:solidFill>
                  <a:srgbClr val="6C7A89"/>
                </a:solidFill>
                <a:latin typeface="Calibri"/>
              </a:rPr>
              <a:t>Global</a:t>
            </a:r>
          </a:p>
        </p:txBody>
      </p:sp>
      <p:sp>
        <p:nvSpPr>
          <p:cNvPr id="84" name="FMI Scale tick"/>
          <p:cNvSpPr txBox="1"/>
          <p:nvPr/>
        </p:nvSpPr>
        <p:spPr>
          <a:xfrm>
            <a:off x="219075" y="5484381"/>
            <a:ext cx="361950" cy="133350"/>
          </a:xfrm>
          <a:prstGeom prst="rect">
            <a:avLst/>
          </a:prstGeom>
          <a:noFill/>
        </p:spPr>
        <p:txBody>
          <a:bodyPr wrap="none" lIns="0" tIns="0" rIns="0" bIns="0" anchor="ctr">
            <a:spAutoFit/>
          </a:bodyPr>
          <a:lstStyle/>
          <a:p>
            <a:pPr algn="r"/>
            <a:r>
              <a:rPr sz="1100" b="0">
                <a:solidFill>
                  <a:srgbClr val="6C7A89"/>
                </a:solidFill>
                <a:latin typeface="Calibri"/>
              </a:rPr>
              <a:t>-25%</a:t>
            </a:r>
          </a:p>
        </p:txBody>
      </p:sp>
      <p:sp>
        <p:nvSpPr>
          <p:cNvPr id="85" name="FMI Scale tick"/>
          <p:cNvSpPr txBox="1"/>
          <p:nvPr/>
        </p:nvSpPr>
        <p:spPr>
          <a:xfrm>
            <a:off x="219075" y="5895660"/>
            <a:ext cx="361950" cy="133350"/>
          </a:xfrm>
          <a:prstGeom prst="rect">
            <a:avLst/>
          </a:prstGeom>
          <a:noFill/>
        </p:spPr>
        <p:txBody>
          <a:bodyPr wrap="none" lIns="0" tIns="0" rIns="0" bIns="0" anchor="ctr">
            <a:spAutoFit/>
          </a:bodyPr>
          <a:lstStyle/>
          <a:p>
            <a:pPr algn="r"/>
            <a:r>
              <a:rPr sz="1100" b="0">
                <a:solidFill>
                  <a:srgbClr val="6C7A89"/>
                </a:solidFill>
                <a:latin typeface="Calibri"/>
              </a:rPr>
              <a:t>-49%</a:t>
            </a:r>
          </a:p>
        </p:txBody>
      </p:sp>
      <p:cxnSp>
        <p:nvCxnSpPr>
          <p:cNvPr id="86" name="Connector 85"/>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FMI Data Label"/>
          <p:cNvSpPr txBox="1"/>
          <p:nvPr/>
        </p:nvSpPr>
        <p:spPr>
          <a:xfrm>
            <a:off x="619125" y="4280583"/>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89" name="Rectangle 88"/>
          <p:cNvSpPr/>
          <p:nvPr/>
        </p:nvSpPr>
        <p:spPr>
          <a:xfrm>
            <a:off x="2152650" y="5139776"/>
            <a:ext cx="457200" cy="6113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FMI Data Label"/>
          <p:cNvSpPr txBox="1"/>
          <p:nvPr/>
        </p:nvSpPr>
        <p:spPr>
          <a:xfrm>
            <a:off x="1793875" y="5210436"/>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1" name="Rectangle 90"/>
          <p:cNvSpPr/>
          <p:nvPr/>
        </p:nvSpPr>
        <p:spPr>
          <a:xfrm>
            <a:off x="3327400" y="4702579"/>
            <a:ext cx="457200" cy="43719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FMI Data Label"/>
          <p:cNvSpPr txBox="1"/>
          <p:nvPr/>
        </p:nvSpPr>
        <p:spPr>
          <a:xfrm>
            <a:off x="2968625" y="4559704"/>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3" name="Rectangle 92"/>
          <p:cNvSpPr/>
          <p:nvPr/>
        </p:nvSpPr>
        <p:spPr>
          <a:xfrm>
            <a:off x="4502150" y="5139776"/>
            <a:ext cx="457200" cy="51778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FMI Data Label"/>
          <p:cNvSpPr txBox="1"/>
          <p:nvPr/>
        </p:nvSpPr>
        <p:spPr>
          <a:xfrm>
            <a:off x="4143375" y="5667086"/>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5" name="Rectangle 94"/>
          <p:cNvSpPr/>
          <p:nvPr/>
        </p:nvSpPr>
        <p:spPr>
          <a:xfrm>
            <a:off x="5676900" y="5139776"/>
            <a:ext cx="457200" cy="66979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FMI Data Label"/>
          <p:cNvSpPr txBox="1"/>
          <p:nvPr/>
        </p:nvSpPr>
        <p:spPr>
          <a:xfrm>
            <a:off x="5318125" y="5819097"/>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7" name="Rectangle 96"/>
          <p:cNvSpPr/>
          <p:nvPr/>
        </p:nvSpPr>
        <p:spPr>
          <a:xfrm>
            <a:off x="6851650" y="5139776"/>
            <a:ext cx="457200" cy="14388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FMI Data Label"/>
          <p:cNvSpPr txBox="1"/>
          <p:nvPr/>
        </p:nvSpPr>
        <p:spPr>
          <a:xfrm>
            <a:off x="6492875" y="5293182"/>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9" name="TextBox 98"/>
          <p:cNvSpPr txBox="1"/>
          <p:nvPr/>
        </p:nvSpPr>
        <p:spPr>
          <a:xfrm>
            <a:off x="61912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North America</a:t>
            </a:r>
          </a:p>
        </p:txBody>
      </p:sp>
      <p:sp>
        <p:nvSpPr>
          <p:cNvPr id="100" name="TextBox 99"/>
          <p:cNvSpPr txBox="1"/>
          <p:nvPr/>
        </p:nvSpPr>
        <p:spPr>
          <a:xfrm>
            <a:off x="179387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Latin America</a:t>
            </a:r>
          </a:p>
        </p:txBody>
      </p:sp>
      <p:sp>
        <p:nvSpPr>
          <p:cNvPr id="101" name="TextBox 100"/>
          <p:cNvSpPr txBox="1"/>
          <p:nvPr/>
        </p:nvSpPr>
        <p:spPr>
          <a:xfrm>
            <a:off x="296862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Europe</a:t>
            </a:r>
          </a:p>
        </p:txBody>
      </p:sp>
      <p:sp>
        <p:nvSpPr>
          <p:cNvPr id="102" name="TextBox 101"/>
          <p:cNvSpPr txBox="1"/>
          <p:nvPr/>
        </p:nvSpPr>
        <p:spPr>
          <a:xfrm>
            <a:off x="414337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East Asia</a:t>
            </a:r>
          </a:p>
        </p:txBody>
      </p:sp>
      <p:sp>
        <p:nvSpPr>
          <p:cNvPr id="103" name="TextBox 102"/>
          <p:cNvSpPr txBox="1"/>
          <p:nvPr/>
        </p:nvSpPr>
        <p:spPr>
          <a:xfrm>
            <a:off x="531812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South Asia &amp; Pacific</a:t>
            </a:r>
          </a:p>
        </p:txBody>
      </p:sp>
      <p:sp>
        <p:nvSpPr>
          <p:cNvPr id="104" name="TextBox 103"/>
          <p:cNvSpPr txBox="1"/>
          <p:nvPr/>
        </p:nvSpPr>
        <p:spPr>
          <a:xfrm>
            <a:off x="649287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Middle East &amp; Africa</a:t>
            </a:r>
          </a:p>
        </p:txBody>
      </p:sp>
      <p:sp>
        <p:nvSpPr>
          <p:cNvPr id="105" name="Rounded Rectangle 104"/>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8048625" y="1138620"/>
            <a:ext cx="38671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107" name="Rectangle 106"/>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048625" y="1462470"/>
            <a:ext cx="3867150" cy="501771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09" name="TextBox 10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10" name="Picture 109" descr="lock.png"/>
          <p:cNvPicPr>
            <a:picLocks noChangeAspect="1"/>
          </p:cNvPicPr>
          <p:nvPr/>
        </p:nvPicPr>
        <p:blipFill>
          <a:blip r:embed="rId4"/>
          <a:stretch>
            <a:fillRect/>
          </a:stretch>
        </p:blipFill>
        <p:spPr>
          <a:xfrm>
            <a:off x="1177075" y="2609373"/>
            <a:ext cx="128699" cy="187198"/>
          </a:xfrm>
          <a:prstGeom prst="rect">
            <a:avLst/>
          </a:prstGeom>
        </p:spPr>
      </p:pic>
      <p:pic>
        <p:nvPicPr>
          <p:cNvPr id="111" name="Picture 110" descr="lock.png"/>
          <p:cNvPicPr>
            <a:picLocks noChangeAspect="1"/>
          </p:cNvPicPr>
          <p:nvPr/>
        </p:nvPicPr>
        <p:blipFill>
          <a:blip r:embed="rId4"/>
          <a:stretch>
            <a:fillRect/>
          </a:stretch>
        </p:blipFill>
        <p:spPr>
          <a:xfrm>
            <a:off x="2345475" y="2774405"/>
            <a:ext cx="128699" cy="187198"/>
          </a:xfrm>
          <a:prstGeom prst="rect">
            <a:avLst/>
          </a:prstGeom>
        </p:spPr>
      </p:pic>
      <p:pic>
        <p:nvPicPr>
          <p:cNvPr id="112" name="Picture 111" descr="lock.png"/>
          <p:cNvPicPr>
            <a:picLocks noChangeAspect="1"/>
          </p:cNvPicPr>
          <p:nvPr/>
        </p:nvPicPr>
        <p:blipFill>
          <a:blip r:embed="rId4"/>
          <a:stretch>
            <a:fillRect/>
          </a:stretch>
        </p:blipFill>
        <p:spPr>
          <a:xfrm>
            <a:off x="3513875" y="1483092"/>
            <a:ext cx="128699" cy="187198"/>
          </a:xfrm>
          <a:prstGeom prst="rect">
            <a:avLst/>
          </a:prstGeom>
        </p:spPr>
      </p:pic>
      <p:pic>
        <p:nvPicPr>
          <p:cNvPr id="113" name="Picture 112" descr="lock.png"/>
          <p:cNvPicPr>
            <a:picLocks noChangeAspect="1"/>
          </p:cNvPicPr>
          <p:nvPr/>
        </p:nvPicPr>
        <p:blipFill>
          <a:blip r:embed="rId4"/>
          <a:stretch>
            <a:fillRect/>
          </a:stretch>
        </p:blipFill>
        <p:spPr>
          <a:xfrm>
            <a:off x="4682275" y="1568433"/>
            <a:ext cx="128699" cy="187198"/>
          </a:xfrm>
          <a:prstGeom prst="rect">
            <a:avLst/>
          </a:prstGeom>
        </p:spPr>
      </p:pic>
      <p:pic>
        <p:nvPicPr>
          <p:cNvPr id="114" name="Picture 113" descr="lock.png"/>
          <p:cNvPicPr>
            <a:picLocks noChangeAspect="1"/>
          </p:cNvPicPr>
          <p:nvPr/>
        </p:nvPicPr>
        <p:blipFill>
          <a:blip r:embed="rId4"/>
          <a:stretch>
            <a:fillRect/>
          </a:stretch>
        </p:blipFill>
        <p:spPr>
          <a:xfrm>
            <a:off x="5850675" y="1601019"/>
            <a:ext cx="128699" cy="187198"/>
          </a:xfrm>
          <a:prstGeom prst="rect">
            <a:avLst/>
          </a:prstGeom>
        </p:spPr>
      </p:pic>
      <p:pic>
        <p:nvPicPr>
          <p:cNvPr id="115" name="Picture 114" descr="lock.png"/>
          <p:cNvPicPr>
            <a:picLocks noChangeAspect="1"/>
          </p:cNvPicPr>
          <p:nvPr/>
        </p:nvPicPr>
        <p:blipFill>
          <a:blip r:embed="rId4"/>
          <a:stretch>
            <a:fillRect/>
          </a:stretch>
        </p:blipFill>
        <p:spPr>
          <a:xfrm>
            <a:off x="7019075" y="2392125"/>
            <a:ext cx="128699" cy="187198"/>
          </a:xfrm>
          <a:prstGeom prst="rect">
            <a:avLst/>
          </a:prstGeom>
        </p:spPr>
      </p:pic>
      <p:pic>
        <p:nvPicPr>
          <p:cNvPr id="116" name="Picture 115" descr="lock.png"/>
          <p:cNvPicPr>
            <a:picLocks noChangeAspect="1"/>
          </p:cNvPicPr>
          <p:nvPr/>
        </p:nvPicPr>
        <p:blipFill>
          <a:blip r:embed="rId4"/>
          <a:stretch>
            <a:fillRect/>
          </a:stretch>
        </p:blipFill>
        <p:spPr>
          <a:xfrm>
            <a:off x="1142150" y="4253659"/>
            <a:ext cx="128699" cy="187198"/>
          </a:xfrm>
          <a:prstGeom prst="rect">
            <a:avLst/>
          </a:prstGeom>
        </p:spPr>
      </p:pic>
      <p:pic>
        <p:nvPicPr>
          <p:cNvPr id="117" name="Picture 116" descr="lock.png"/>
          <p:cNvPicPr>
            <a:picLocks noChangeAspect="1"/>
          </p:cNvPicPr>
          <p:nvPr/>
        </p:nvPicPr>
        <p:blipFill>
          <a:blip r:embed="rId4"/>
          <a:stretch>
            <a:fillRect/>
          </a:stretch>
        </p:blipFill>
        <p:spPr>
          <a:xfrm>
            <a:off x="2316900" y="5183511"/>
            <a:ext cx="128699" cy="187198"/>
          </a:xfrm>
          <a:prstGeom prst="rect">
            <a:avLst/>
          </a:prstGeom>
        </p:spPr>
      </p:pic>
      <p:pic>
        <p:nvPicPr>
          <p:cNvPr id="118" name="Picture 117" descr="lock.png"/>
          <p:cNvPicPr>
            <a:picLocks noChangeAspect="1"/>
          </p:cNvPicPr>
          <p:nvPr/>
        </p:nvPicPr>
        <p:blipFill>
          <a:blip r:embed="rId4"/>
          <a:stretch>
            <a:fillRect/>
          </a:stretch>
        </p:blipFill>
        <p:spPr>
          <a:xfrm>
            <a:off x="3491650" y="4532780"/>
            <a:ext cx="128699" cy="187198"/>
          </a:xfrm>
          <a:prstGeom prst="rect">
            <a:avLst/>
          </a:prstGeom>
        </p:spPr>
      </p:pic>
      <p:pic>
        <p:nvPicPr>
          <p:cNvPr id="119" name="Picture 118" descr="lock.png"/>
          <p:cNvPicPr>
            <a:picLocks noChangeAspect="1"/>
          </p:cNvPicPr>
          <p:nvPr/>
        </p:nvPicPr>
        <p:blipFill>
          <a:blip r:embed="rId4"/>
          <a:stretch>
            <a:fillRect/>
          </a:stretch>
        </p:blipFill>
        <p:spPr>
          <a:xfrm>
            <a:off x="4666400" y="5640161"/>
            <a:ext cx="128699" cy="187198"/>
          </a:xfrm>
          <a:prstGeom prst="rect">
            <a:avLst/>
          </a:prstGeom>
        </p:spPr>
      </p:pic>
      <p:pic>
        <p:nvPicPr>
          <p:cNvPr id="120" name="Picture 119" descr="lock.png"/>
          <p:cNvPicPr>
            <a:picLocks noChangeAspect="1"/>
          </p:cNvPicPr>
          <p:nvPr/>
        </p:nvPicPr>
        <p:blipFill>
          <a:blip r:embed="rId4"/>
          <a:stretch>
            <a:fillRect/>
          </a:stretch>
        </p:blipFill>
        <p:spPr>
          <a:xfrm>
            <a:off x="5841150" y="5792173"/>
            <a:ext cx="128699" cy="187198"/>
          </a:xfrm>
          <a:prstGeom prst="rect">
            <a:avLst/>
          </a:prstGeom>
        </p:spPr>
      </p:pic>
      <p:pic>
        <p:nvPicPr>
          <p:cNvPr id="121" name="Picture 120" descr="lock.png"/>
          <p:cNvPicPr>
            <a:picLocks noChangeAspect="1"/>
          </p:cNvPicPr>
          <p:nvPr/>
        </p:nvPicPr>
        <p:blipFill>
          <a:blip r:embed="rId4"/>
          <a:stretch>
            <a:fillRect/>
          </a:stretch>
        </p:blipFill>
        <p:spPr>
          <a:xfrm>
            <a:off x="7015900" y="5266258"/>
            <a:ext cx="128699" cy="187198"/>
          </a:xfrm>
          <a:prstGeom prst="rect">
            <a:avLst/>
          </a:prstGeom>
        </p:spPr>
      </p:pic>
      <p:sp>
        <p:nvSpPr>
          <p:cNvPr id="122" name="TextBox 121"/>
          <p:cNvSpPr txBox="1"/>
          <p:nvPr/>
        </p:nvSpPr>
        <p:spPr>
          <a:xfrm>
            <a:off x="8048625" y="1471995"/>
            <a:ext cx="3616486" cy="194310"/>
          </a:xfrm>
          <a:prstGeom prst="rect">
            <a:avLst/>
          </a:prstGeom>
          <a:noFill/>
        </p:spPr>
        <p:txBody>
          <a:bodyPr wrap="none" lIns="0" tIns="0" rIns="0" bIns="0">
            <a:spAutoFit/>
          </a:bodyPr>
          <a:lstStyle/>
          <a:p>
            <a:r>
              <a:rPr sz="1150" b="0">
                <a:solidFill>
                  <a:srgbClr val="2E2E2E"/>
                </a:solidFill>
                <a:latin typeface="Calibri"/>
              </a:rPr>
              <a:t>Capsules and softgels segment is expected to command the</a:t>
            </a:r>
          </a:p>
        </p:txBody>
      </p:sp>
      <p:sp>
        <p:nvSpPr>
          <p:cNvPr id="123" name="TextBox 122"/>
          <p:cNvSpPr txBox="1"/>
          <p:nvPr/>
        </p:nvSpPr>
        <p:spPr>
          <a:xfrm>
            <a:off x="8048625" y="1647255"/>
            <a:ext cx="1766899" cy="194310"/>
          </a:xfrm>
          <a:prstGeom prst="rect">
            <a:avLst/>
          </a:prstGeom>
          <a:noFill/>
        </p:spPr>
        <p:txBody>
          <a:bodyPr wrap="none" lIns="0" tIns="0" rIns="0" bIns="0">
            <a:spAutoFit/>
          </a:bodyPr>
          <a:lstStyle/>
          <a:p>
            <a:r>
              <a:rPr sz="1150" b="0">
                <a:solidFill>
                  <a:srgbClr val="2E2E2E"/>
                </a:solidFill>
                <a:latin typeface="Calibri"/>
              </a:rPr>
              <a:t>highest average price of US$</a:t>
            </a:r>
          </a:p>
        </p:txBody>
      </p:sp>
      <p:pic>
        <p:nvPicPr>
          <p:cNvPr id="124" name="Picture 123" descr="lock.png"/>
          <p:cNvPicPr>
            <a:picLocks noChangeAspect="1"/>
          </p:cNvPicPr>
          <p:nvPr/>
        </p:nvPicPr>
        <p:blipFill>
          <a:blip r:embed="rId4"/>
          <a:stretch>
            <a:fillRect/>
          </a:stretch>
        </p:blipFill>
        <p:spPr>
          <a:xfrm>
            <a:off x="9764678" y="1637031"/>
            <a:ext cx="134549" cy="195707"/>
          </a:xfrm>
          <a:prstGeom prst="rect">
            <a:avLst/>
          </a:prstGeom>
        </p:spPr>
      </p:pic>
      <p:sp>
        <p:nvSpPr>
          <p:cNvPr id="125" name="TextBox 124"/>
          <p:cNvSpPr txBox="1"/>
          <p:nvPr/>
        </p:nvSpPr>
        <p:spPr>
          <a:xfrm>
            <a:off x="9939788" y="1647255"/>
            <a:ext cx="1534663" cy="194310"/>
          </a:xfrm>
          <a:prstGeom prst="rect">
            <a:avLst/>
          </a:prstGeom>
          <a:noFill/>
        </p:spPr>
        <p:txBody>
          <a:bodyPr wrap="none" lIns="0" tIns="0" rIns="0" bIns="0">
            <a:spAutoFit/>
          </a:bodyPr>
          <a:lstStyle/>
          <a:p>
            <a:r>
              <a:rPr sz="1150" b="0">
                <a:solidFill>
                  <a:srgbClr val="2E2E2E"/>
                </a:solidFill>
                <a:latin typeface="Calibri"/>
              </a:rPr>
              <a:t>per MT in 2036. Average</a:t>
            </a:r>
          </a:p>
        </p:txBody>
      </p:sp>
      <p:sp>
        <p:nvSpPr>
          <p:cNvPr id="126" name="TextBox 125"/>
          <p:cNvSpPr txBox="1"/>
          <p:nvPr/>
        </p:nvSpPr>
        <p:spPr>
          <a:xfrm>
            <a:off x="8048625" y="1822515"/>
            <a:ext cx="3814167" cy="194310"/>
          </a:xfrm>
          <a:prstGeom prst="rect">
            <a:avLst/>
          </a:prstGeom>
          <a:noFill/>
        </p:spPr>
        <p:txBody>
          <a:bodyPr wrap="none" lIns="0" tIns="0" rIns="0" bIns="0">
            <a:spAutoFit/>
          </a:bodyPr>
          <a:lstStyle/>
          <a:p>
            <a:r>
              <a:rPr sz="1150" b="0">
                <a:solidFill>
                  <a:srgbClr val="2E2E2E"/>
                </a:solidFill>
                <a:latin typeface="Calibri"/>
              </a:rPr>
              <a:t>selling price of senior dog cognitive supplement is estimated at</a:t>
            </a:r>
          </a:p>
        </p:txBody>
      </p:sp>
      <p:sp>
        <p:nvSpPr>
          <p:cNvPr id="127" name="TextBox 126"/>
          <p:cNvSpPr txBox="1"/>
          <p:nvPr/>
        </p:nvSpPr>
        <p:spPr>
          <a:xfrm>
            <a:off x="8048625" y="1997775"/>
            <a:ext cx="311249" cy="194310"/>
          </a:xfrm>
          <a:prstGeom prst="rect">
            <a:avLst/>
          </a:prstGeom>
          <a:noFill/>
        </p:spPr>
        <p:txBody>
          <a:bodyPr wrap="none" lIns="0" tIns="0" rIns="0" bIns="0">
            <a:spAutoFit/>
          </a:bodyPr>
          <a:lstStyle/>
          <a:p>
            <a:r>
              <a:rPr sz="1150" b="0">
                <a:solidFill>
                  <a:srgbClr val="2E2E2E"/>
                </a:solidFill>
                <a:latin typeface="Calibri"/>
              </a:rPr>
              <a:t>US$</a:t>
            </a:r>
          </a:p>
        </p:txBody>
      </p:sp>
      <p:pic>
        <p:nvPicPr>
          <p:cNvPr id="128" name="Picture 127" descr="lock.png"/>
          <p:cNvPicPr>
            <a:picLocks noChangeAspect="1"/>
          </p:cNvPicPr>
          <p:nvPr/>
        </p:nvPicPr>
        <p:blipFill>
          <a:blip r:embed="rId4"/>
          <a:stretch>
            <a:fillRect/>
          </a:stretch>
        </p:blipFill>
        <p:spPr>
          <a:xfrm>
            <a:off x="8309028" y="1987551"/>
            <a:ext cx="134549" cy="195707"/>
          </a:xfrm>
          <a:prstGeom prst="rect">
            <a:avLst/>
          </a:prstGeom>
        </p:spPr>
      </p:pic>
      <p:sp>
        <p:nvSpPr>
          <p:cNvPr id="129" name="TextBox 128"/>
          <p:cNvSpPr txBox="1"/>
          <p:nvPr/>
        </p:nvSpPr>
        <p:spPr>
          <a:xfrm>
            <a:off x="8484137" y="1997775"/>
            <a:ext cx="3081064" cy="194310"/>
          </a:xfrm>
          <a:prstGeom prst="rect">
            <a:avLst/>
          </a:prstGeom>
          <a:noFill/>
        </p:spPr>
        <p:txBody>
          <a:bodyPr wrap="none" lIns="0" tIns="0" rIns="0" bIns="0">
            <a:spAutoFit/>
          </a:bodyPr>
          <a:lstStyle/>
          <a:p>
            <a:r>
              <a:rPr sz="1150" b="0">
                <a:solidFill>
                  <a:srgbClr val="2E2E2E"/>
                </a:solidFill>
                <a:latin typeface="Calibri"/>
              </a:rPr>
              <a:t>per MT in 2025 and is projected to increase to US$</a:t>
            </a:r>
          </a:p>
        </p:txBody>
      </p:sp>
      <p:pic>
        <p:nvPicPr>
          <p:cNvPr id="130" name="Picture 129" descr="lock.png"/>
          <p:cNvPicPr>
            <a:picLocks noChangeAspect="1"/>
          </p:cNvPicPr>
          <p:nvPr/>
        </p:nvPicPr>
        <p:blipFill>
          <a:blip r:embed="rId4"/>
          <a:stretch>
            <a:fillRect/>
          </a:stretch>
        </p:blipFill>
        <p:spPr>
          <a:xfrm>
            <a:off x="11514356" y="1987551"/>
            <a:ext cx="134549" cy="195707"/>
          </a:xfrm>
          <a:prstGeom prst="rect">
            <a:avLst/>
          </a:prstGeom>
        </p:spPr>
      </p:pic>
      <p:sp>
        <p:nvSpPr>
          <p:cNvPr id="131" name="TextBox 130"/>
          <p:cNvSpPr txBox="1"/>
          <p:nvPr/>
        </p:nvSpPr>
        <p:spPr>
          <a:xfrm>
            <a:off x="8048625" y="2173035"/>
            <a:ext cx="1048630" cy="194310"/>
          </a:xfrm>
          <a:prstGeom prst="rect">
            <a:avLst/>
          </a:prstGeom>
          <a:noFill/>
        </p:spPr>
        <p:txBody>
          <a:bodyPr wrap="none" lIns="0" tIns="0" rIns="0" bIns="0">
            <a:spAutoFit/>
          </a:bodyPr>
          <a:lstStyle/>
          <a:p>
            <a:r>
              <a:rPr sz="1150" b="0">
                <a:solidFill>
                  <a:srgbClr val="2E2E2E"/>
                </a:solidFill>
                <a:latin typeface="Calibri"/>
              </a:rPr>
              <a:t>per MT by 2036.</a:t>
            </a:r>
          </a:p>
        </p:txBody>
      </p:sp>
      <p:sp>
        <p:nvSpPr>
          <p:cNvPr id="132" name="TextBox 131"/>
          <p:cNvSpPr txBox="1"/>
          <p:nvPr/>
        </p:nvSpPr>
        <p:spPr>
          <a:xfrm>
            <a:off x="8048625" y="2400873"/>
            <a:ext cx="3783074" cy="194310"/>
          </a:xfrm>
          <a:prstGeom prst="rect">
            <a:avLst/>
          </a:prstGeom>
          <a:noFill/>
        </p:spPr>
        <p:txBody>
          <a:bodyPr wrap="none" lIns="0" tIns="0" rIns="0" bIns="0">
            <a:spAutoFit/>
          </a:bodyPr>
          <a:lstStyle/>
          <a:p>
            <a:r>
              <a:rPr sz="1150" b="0">
                <a:solidFill>
                  <a:srgbClr val="2E2E2E"/>
                </a:solidFill>
                <a:latin typeface="Calibri"/>
              </a:rPr>
              <a:t>North America is the highest-priced region, while South Asia &amp;</a:t>
            </a:r>
          </a:p>
        </p:txBody>
      </p:sp>
      <p:sp>
        <p:nvSpPr>
          <p:cNvPr id="133" name="TextBox 132"/>
          <p:cNvSpPr txBox="1"/>
          <p:nvPr/>
        </p:nvSpPr>
        <p:spPr>
          <a:xfrm>
            <a:off x="8048625" y="2576133"/>
            <a:ext cx="3821583" cy="194310"/>
          </a:xfrm>
          <a:prstGeom prst="rect">
            <a:avLst/>
          </a:prstGeom>
          <a:noFill/>
        </p:spPr>
        <p:txBody>
          <a:bodyPr wrap="none" lIns="0" tIns="0" rIns="0" bIns="0">
            <a:spAutoFit/>
          </a:bodyPr>
          <a:lstStyle/>
          <a:p>
            <a:r>
              <a:rPr sz="1150" b="0">
                <a:solidFill>
                  <a:srgbClr val="2E2E2E"/>
                </a:solidFill>
                <a:latin typeface="Calibri"/>
              </a:rPr>
              <a:t>Pacific is the most price-competitive market. Against the global</a:t>
            </a:r>
          </a:p>
        </p:txBody>
      </p:sp>
      <p:sp>
        <p:nvSpPr>
          <p:cNvPr id="134" name="TextBox 133"/>
          <p:cNvSpPr txBox="1"/>
          <p:nvPr/>
        </p:nvSpPr>
        <p:spPr>
          <a:xfrm>
            <a:off x="8048625" y="2751393"/>
            <a:ext cx="526901" cy="194310"/>
          </a:xfrm>
          <a:prstGeom prst="rect">
            <a:avLst/>
          </a:prstGeom>
          <a:noFill/>
        </p:spPr>
        <p:txBody>
          <a:bodyPr wrap="none" lIns="0" tIns="0" rIns="0" bIns="0">
            <a:spAutoFit/>
          </a:bodyPr>
          <a:lstStyle/>
          <a:p>
            <a:r>
              <a:rPr sz="1150" b="0">
                <a:solidFill>
                  <a:srgbClr val="2E2E2E"/>
                </a:solidFill>
                <a:latin typeface="Calibri"/>
              </a:rPr>
              <a:t>price of</a:t>
            </a:r>
          </a:p>
        </p:txBody>
      </p:sp>
      <p:pic>
        <p:nvPicPr>
          <p:cNvPr id="135" name="Picture 134" descr="lock.png"/>
          <p:cNvPicPr>
            <a:picLocks noChangeAspect="1"/>
          </p:cNvPicPr>
          <p:nvPr/>
        </p:nvPicPr>
        <p:blipFill>
          <a:blip r:embed="rId4"/>
          <a:stretch>
            <a:fillRect/>
          </a:stretch>
        </p:blipFill>
        <p:spPr>
          <a:xfrm>
            <a:off x="8524680" y="2741169"/>
            <a:ext cx="134549" cy="195707"/>
          </a:xfrm>
          <a:prstGeom prst="rect">
            <a:avLst/>
          </a:prstGeom>
        </p:spPr>
      </p:pic>
      <p:sp>
        <p:nvSpPr>
          <p:cNvPr id="136" name="TextBox 135"/>
          <p:cNvSpPr txBox="1"/>
          <p:nvPr/>
        </p:nvSpPr>
        <p:spPr>
          <a:xfrm>
            <a:off x="8699789" y="2751393"/>
            <a:ext cx="2962399" cy="194310"/>
          </a:xfrm>
          <a:prstGeom prst="rect">
            <a:avLst/>
          </a:prstGeom>
          <a:noFill/>
        </p:spPr>
        <p:txBody>
          <a:bodyPr wrap="none" lIns="0" tIns="0" rIns="0" bIns="0">
            <a:spAutoFit/>
          </a:bodyPr>
          <a:lstStyle/>
          <a:p>
            <a:r>
              <a:rPr sz="1150" b="0">
                <a:solidFill>
                  <a:srgbClr val="2E2E2E"/>
                </a:solidFill>
                <a:latin typeface="Calibri"/>
              </a:rPr>
              <a:t>US$/MT, 2 of 6 regions price above and 4 below.</a:t>
            </a:r>
          </a:p>
        </p:txBody>
      </p:sp>
      <p:sp>
        <p:nvSpPr>
          <p:cNvPr id="137" name="TextBox 136"/>
          <p:cNvSpPr txBox="1"/>
          <p:nvPr/>
        </p:nvSpPr>
        <p:spPr>
          <a:xfrm>
            <a:off x="8048625" y="2979230"/>
            <a:ext cx="2108063" cy="194310"/>
          </a:xfrm>
          <a:prstGeom prst="rect">
            <a:avLst/>
          </a:prstGeom>
          <a:noFill/>
        </p:spPr>
        <p:txBody>
          <a:bodyPr wrap="none" lIns="0" tIns="0" rIns="0" bIns="0">
            <a:spAutoFit/>
          </a:bodyPr>
          <a:lstStyle/>
          <a:p>
            <a:r>
              <a:rPr sz="1150" b="0">
                <a:solidFill>
                  <a:srgbClr val="2E2E2E"/>
                </a:solidFill>
                <a:latin typeface="Calibri"/>
              </a:rPr>
              <a:t>'North America' is the dearest at +</a:t>
            </a:r>
          </a:p>
        </p:txBody>
      </p:sp>
      <p:pic>
        <p:nvPicPr>
          <p:cNvPr id="138" name="Picture 137" descr="lock.png"/>
          <p:cNvPicPr>
            <a:picLocks noChangeAspect="1"/>
          </p:cNvPicPr>
          <p:nvPr/>
        </p:nvPicPr>
        <p:blipFill>
          <a:blip r:embed="rId4"/>
          <a:stretch>
            <a:fillRect/>
          </a:stretch>
        </p:blipFill>
        <p:spPr>
          <a:xfrm>
            <a:off x="10105842" y="2969007"/>
            <a:ext cx="134549" cy="195707"/>
          </a:xfrm>
          <a:prstGeom prst="rect">
            <a:avLst/>
          </a:prstGeom>
        </p:spPr>
      </p:pic>
      <p:sp>
        <p:nvSpPr>
          <p:cNvPr id="139" name="TextBox 138"/>
          <p:cNvSpPr txBox="1"/>
          <p:nvPr/>
        </p:nvSpPr>
        <p:spPr>
          <a:xfrm>
            <a:off x="10280951" y="2979230"/>
            <a:ext cx="1599455" cy="194310"/>
          </a:xfrm>
          <a:prstGeom prst="rect">
            <a:avLst/>
          </a:prstGeom>
          <a:noFill/>
        </p:spPr>
        <p:txBody>
          <a:bodyPr wrap="none" lIns="0" tIns="0" rIns="0" bIns="0">
            <a:spAutoFit/>
          </a:bodyPr>
          <a:lstStyle/>
          <a:p>
            <a:r>
              <a:rPr sz="1150" b="0">
                <a:solidFill>
                  <a:srgbClr val="2E2E2E"/>
                </a:solidFill>
                <a:latin typeface="Calibri"/>
              </a:rPr>
              <a:t>versus Global, 'South Asia</a:t>
            </a:r>
          </a:p>
        </p:txBody>
      </p:sp>
      <p:sp>
        <p:nvSpPr>
          <p:cNvPr id="140" name="TextBox 139"/>
          <p:cNvSpPr txBox="1"/>
          <p:nvPr/>
        </p:nvSpPr>
        <p:spPr>
          <a:xfrm>
            <a:off x="8048625" y="3154490"/>
            <a:ext cx="1653654" cy="194310"/>
          </a:xfrm>
          <a:prstGeom prst="rect">
            <a:avLst/>
          </a:prstGeom>
          <a:noFill/>
        </p:spPr>
        <p:txBody>
          <a:bodyPr wrap="none" lIns="0" tIns="0" rIns="0" bIns="0">
            <a:spAutoFit/>
          </a:bodyPr>
          <a:lstStyle/>
          <a:p>
            <a:r>
              <a:rPr sz="1150" b="0">
                <a:solidFill>
                  <a:srgbClr val="2E2E2E"/>
                </a:solidFill>
                <a:latin typeface="Calibri"/>
              </a:rPr>
              <a:t>&amp; Pacific' the cheapest at -</a:t>
            </a:r>
          </a:p>
        </p:txBody>
      </p:sp>
      <p:pic>
        <p:nvPicPr>
          <p:cNvPr id="141" name="Picture 140" descr="lock.png"/>
          <p:cNvPicPr>
            <a:picLocks noChangeAspect="1"/>
          </p:cNvPicPr>
          <p:nvPr/>
        </p:nvPicPr>
        <p:blipFill>
          <a:blip r:embed="rId4"/>
          <a:stretch>
            <a:fillRect/>
          </a:stretch>
        </p:blipFill>
        <p:spPr>
          <a:xfrm>
            <a:off x="9651433" y="3144267"/>
            <a:ext cx="134549" cy="195707"/>
          </a:xfrm>
          <a:prstGeom prst="rect">
            <a:avLst/>
          </a:prstGeom>
        </p:spPr>
      </p:pic>
      <p:sp>
        <p:nvSpPr>
          <p:cNvPr id="142" name="TextBox 141"/>
          <p:cNvSpPr txBox="1"/>
          <p:nvPr/>
        </p:nvSpPr>
        <p:spPr>
          <a:xfrm>
            <a:off x="9826542" y="3154490"/>
            <a:ext cx="1702147" cy="194310"/>
          </a:xfrm>
          <a:prstGeom prst="rect">
            <a:avLst/>
          </a:prstGeom>
          <a:noFill/>
        </p:spPr>
        <p:txBody>
          <a:bodyPr wrap="none" lIns="0" tIns="0" rIns="0" bIns="0">
            <a:spAutoFit/>
          </a:bodyPr>
          <a:lstStyle/>
          <a:p>
            <a:r>
              <a:rPr sz="1150" b="0">
                <a:solidFill>
                  <a:srgbClr val="2E2E2E"/>
                </a:solidFill>
                <a:latin typeface="Calibri"/>
              </a:rPr>
              <a:t>pointing to premiumisation</a:t>
            </a:r>
          </a:p>
        </p:txBody>
      </p:sp>
      <p:sp>
        <p:nvSpPr>
          <p:cNvPr id="143" name="TextBox 142"/>
          <p:cNvSpPr txBox="1"/>
          <p:nvPr/>
        </p:nvSpPr>
        <p:spPr>
          <a:xfrm>
            <a:off x="8048625" y="3329750"/>
            <a:ext cx="2365647" cy="194310"/>
          </a:xfrm>
          <a:prstGeom prst="rect">
            <a:avLst/>
          </a:prstGeom>
          <a:noFill/>
        </p:spPr>
        <p:txBody>
          <a:bodyPr wrap="none" lIns="0" tIns="0" rIns="0" bIns="0">
            <a:spAutoFit/>
          </a:bodyPr>
          <a:lstStyle/>
          <a:p>
            <a:r>
              <a:rPr sz="1150" b="0">
                <a:solidFill>
                  <a:srgbClr val="2E2E2E"/>
                </a:solidFill>
                <a:latin typeface="Calibri"/>
              </a:rPr>
              <a:t>headroom in the lower-priced regions.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Summary, By Value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685037"/>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4094525"/>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xmlns:r="http://schemas.openxmlformats.org/officeDocument/2006/relationships" r:id="rId5"/>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8625" y="1713612"/>
            <a:ext cx="3867150" cy="209550"/>
          </a:xfrm>
          <a:prstGeom prst="rect">
            <a:avLst/>
          </a:prstGeom>
          <a:noFill/>
        </p:spPr>
        <p:txBody>
          <a:bodyPr wrap="square" lIns="0" tIns="9525" rIns="19050"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8625" y="2037462"/>
            <a:ext cx="3867150" cy="1868952"/>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8625" y="4123100"/>
            <a:ext cx="3867150" cy="209550"/>
          </a:xfrm>
          <a:prstGeom prst="rect">
            <a:avLst/>
          </a:prstGeom>
          <a:noFill/>
        </p:spPr>
        <p:txBody>
          <a:bodyPr wrap="square" lIns="0" tIns="9525" rIns="19050"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8625" y="4446950"/>
            <a:ext cx="3867150" cy="203323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8" name="TextBox 2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48100" cy="194310"/>
          </a:xfrm>
          <a:prstGeom prst="rect">
            <a:avLst/>
          </a:prstGeom>
          <a:noFill/>
        </p:spPr>
        <p:txBody>
          <a:bodyPr wrap="none" lIns="0" tIns="0" rIns="0" bIns="0">
            <a:spAutoFit/>
          </a:bodyPr>
          <a:lstStyle/>
          <a:p>
            <a:r>
              <a:rPr sz="1150" b="0">
                <a:solidFill>
                  <a:srgbClr val="2E2E2E"/>
                </a:solidFill>
                <a:latin typeface="Calibri"/>
              </a:rPr>
              <a:t>Senior dog cognitive supplement market is projected to register</a:t>
            </a:r>
          </a:p>
        </p:txBody>
      </p:sp>
      <p:pic>
        <p:nvPicPr>
          <p:cNvPr id="35" name="Picture 34" descr="lock.png"/>
          <p:cNvPicPr>
            <a:picLocks noChangeAspect="1"/>
          </p:cNvPicPr>
          <p:nvPr/>
        </p:nvPicPr>
        <p:blipFill>
          <a:blip r:embed="rId6"/>
          <a:stretch>
            <a:fillRect/>
          </a:stretch>
        </p:blipFill>
        <p:spPr>
          <a:xfrm>
            <a:off x="8034545" y="2212023"/>
            <a:ext cx="134549" cy="195707"/>
          </a:xfrm>
          <a:prstGeom prst="rect">
            <a:avLst/>
          </a:prstGeom>
        </p:spPr>
      </p:pic>
      <p:sp>
        <p:nvSpPr>
          <p:cNvPr id="36" name="TextBox 35"/>
          <p:cNvSpPr txBox="1"/>
          <p:nvPr/>
        </p:nvSpPr>
        <p:spPr>
          <a:xfrm>
            <a:off x="8209654" y="2222247"/>
            <a:ext cx="3314402" cy="194310"/>
          </a:xfrm>
          <a:prstGeom prst="rect">
            <a:avLst/>
          </a:prstGeom>
          <a:noFill/>
        </p:spPr>
        <p:txBody>
          <a:bodyPr wrap="none" lIns="0" tIns="0" rIns="0" bIns="0">
            <a:spAutoFit/>
          </a:bodyPr>
          <a:lstStyle/>
          <a:p>
            <a:r>
              <a:rPr sz="1150" b="0">
                <a:solidFill>
                  <a:srgbClr val="2E2E2E"/>
                </a:solidFill>
                <a:latin typeface="Calibri"/>
              </a:rPr>
              <a:t>X increase in its revenue by the end of forecast period,</a:t>
            </a:r>
          </a:p>
        </p:txBody>
      </p:sp>
      <p:sp>
        <p:nvSpPr>
          <p:cNvPr id="37" name="TextBox 36"/>
          <p:cNvSpPr txBox="1"/>
          <p:nvPr/>
        </p:nvSpPr>
        <p:spPr>
          <a:xfrm>
            <a:off x="8048625" y="2397507"/>
            <a:ext cx="3380010" cy="194310"/>
          </a:xfrm>
          <a:prstGeom prst="rect">
            <a:avLst/>
          </a:prstGeom>
          <a:noFill/>
        </p:spPr>
        <p:txBody>
          <a:bodyPr wrap="none" lIns="0" tIns="0" rIns="0" bIns="0">
            <a:spAutoFit/>
          </a:bodyPr>
          <a:lstStyle/>
          <a:p>
            <a:r>
              <a:rPr sz="1150" b="0">
                <a:solidFill>
                  <a:srgbClr val="2E2E2E"/>
                </a:solidFill>
                <a:latin typeface="Calibri"/>
              </a:rPr>
              <a:t>2036. Global senior dog cognitive supplement market is</a:t>
            </a:r>
          </a:p>
        </p:txBody>
      </p:sp>
      <p:sp>
        <p:nvSpPr>
          <p:cNvPr id="38" name="TextBox 37"/>
          <p:cNvSpPr txBox="1"/>
          <p:nvPr/>
        </p:nvSpPr>
        <p:spPr>
          <a:xfrm>
            <a:off x="8048625" y="2572767"/>
            <a:ext cx="1812825" cy="194310"/>
          </a:xfrm>
          <a:prstGeom prst="rect">
            <a:avLst/>
          </a:prstGeom>
          <a:noFill/>
        </p:spPr>
        <p:txBody>
          <a:bodyPr wrap="none" lIns="0" tIns="0" rIns="0" bIns="0">
            <a:spAutoFit/>
          </a:bodyPr>
          <a:lstStyle/>
          <a:p>
            <a:r>
              <a:rPr sz="1150" b="0">
                <a:solidFill>
                  <a:srgbClr val="2E2E2E"/>
                </a:solidFill>
                <a:latin typeface="Calibri"/>
              </a:rPr>
              <a:t>expected to be valued at US$</a:t>
            </a:r>
          </a:p>
        </p:txBody>
      </p:sp>
      <p:pic>
        <p:nvPicPr>
          <p:cNvPr id="39" name="Picture 38" descr="lock.png"/>
          <p:cNvPicPr>
            <a:picLocks noChangeAspect="1"/>
          </p:cNvPicPr>
          <p:nvPr/>
        </p:nvPicPr>
        <p:blipFill>
          <a:blip r:embed="rId6"/>
          <a:stretch>
            <a:fillRect/>
          </a:stretch>
        </p:blipFill>
        <p:spPr>
          <a:xfrm>
            <a:off x="9810604" y="2562543"/>
            <a:ext cx="134549" cy="195707"/>
          </a:xfrm>
          <a:prstGeom prst="rect">
            <a:avLst/>
          </a:prstGeom>
        </p:spPr>
      </p:pic>
      <p:sp>
        <p:nvSpPr>
          <p:cNvPr id="40" name="TextBox 39"/>
          <p:cNvSpPr txBox="1"/>
          <p:nvPr/>
        </p:nvSpPr>
        <p:spPr>
          <a:xfrm>
            <a:off x="9985713" y="2572767"/>
            <a:ext cx="1079723" cy="194310"/>
          </a:xfrm>
          <a:prstGeom prst="rect">
            <a:avLst/>
          </a:prstGeom>
          <a:noFill/>
        </p:spPr>
        <p:txBody>
          <a:bodyPr wrap="none" lIns="0" tIns="0" rIns="0" bIns="0">
            <a:spAutoFit/>
          </a:bodyPr>
          <a:lstStyle/>
          <a:p>
            <a:r>
              <a:rPr sz="1150" b="0">
                <a:solidFill>
                  <a:srgbClr val="2E2E2E"/>
                </a:solidFill>
                <a:latin typeface="Calibri"/>
              </a:rPr>
              <a:t>Mn by 2036 end.</a:t>
            </a:r>
          </a:p>
        </p:txBody>
      </p:sp>
      <p:sp>
        <p:nvSpPr>
          <p:cNvPr id="41" name="TextBox 40"/>
          <p:cNvSpPr txBox="1"/>
          <p:nvPr/>
        </p:nvSpPr>
        <p:spPr>
          <a:xfrm>
            <a:off x="8048625" y="2800604"/>
            <a:ext cx="3812455" cy="194310"/>
          </a:xfrm>
          <a:prstGeom prst="rect">
            <a:avLst/>
          </a:prstGeom>
          <a:noFill/>
        </p:spPr>
        <p:txBody>
          <a:bodyPr wrap="none" lIns="0" tIns="0" rIns="0" bIns="0">
            <a:spAutoFit/>
          </a:bodyPr>
          <a:lstStyle/>
          <a:p>
            <a:r>
              <a:rPr sz="1150" b="0">
                <a:solidFill>
                  <a:srgbClr val="2E2E2E"/>
                </a:solidFill>
                <a:latin typeface="Calibri"/>
              </a:rPr>
              <a:t>It is projected to create overall incremental opportunity of US$</a:t>
            </a:r>
          </a:p>
        </p:txBody>
      </p:sp>
      <p:pic>
        <p:nvPicPr>
          <p:cNvPr id="42" name="Picture 41" descr="lock.png"/>
          <p:cNvPicPr>
            <a:picLocks noChangeAspect="1"/>
          </p:cNvPicPr>
          <p:nvPr/>
        </p:nvPicPr>
        <p:blipFill>
          <a:blip r:embed="rId6"/>
          <a:stretch>
            <a:fillRect/>
          </a:stretch>
        </p:blipFill>
        <p:spPr>
          <a:xfrm>
            <a:off x="8034545" y="2965641"/>
            <a:ext cx="134549" cy="195707"/>
          </a:xfrm>
          <a:prstGeom prst="rect">
            <a:avLst/>
          </a:prstGeom>
        </p:spPr>
      </p:pic>
      <p:sp>
        <p:nvSpPr>
          <p:cNvPr id="43" name="TextBox 42"/>
          <p:cNvSpPr txBox="1"/>
          <p:nvPr/>
        </p:nvSpPr>
        <p:spPr>
          <a:xfrm>
            <a:off x="8209654" y="2975864"/>
            <a:ext cx="1455687" cy="194310"/>
          </a:xfrm>
          <a:prstGeom prst="rect">
            <a:avLst/>
          </a:prstGeom>
          <a:noFill/>
        </p:spPr>
        <p:txBody>
          <a:bodyPr wrap="none" lIns="0" tIns="0" rIns="0" bIns="0">
            <a:spAutoFit/>
          </a:bodyPr>
          <a:lstStyle/>
          <a:p>
            <a:r>
              <a:rPr sz="1150" b="0">
                <a:solidFill>
                  <a:srgbClr val="2E2E2E"/>
                </a:solidFill>
                <a:latin typeface="Calibri"/>
              </a:rPr>
              <a:t>Mn from 2025 to 2036.</a:t>
            </a:r>
          </a:p>
        </p:txBody>
      </p:sp>
      <p:sp>
        <p:nvSpPr>
          <p:cNvPr id="44" name="TextBox 43"/>
          <p:cNvSpPr txBox="1"/>
          <p:nvPr/>
        </p:nvSpPr>
        <p:spPr>
          <a:xfrm>
            <a:off x="8048625" y="4456475"/>
            <a:ext cx="2868835" cy="194310"/>
          </a:xfrm>
          <a:prstGeom prst="rect">
            <a:avLst/>
          </a:prstGeom>
          <a:noFill/>
        </p:spPr>
        <p:txBody>
          <a:bodyPr wrap="none" lIns="0" tIns="0" rIns="0" bIns="0">
            <a:spAutoFit/>
          </a:bodyPr>
          <a:lstStyle/>
          <a:p>
            <a:r>
              <a:rPr sz="1150" b="0">
                <a:solidFill>
                  <a:srgbClr val="2E2E2E"/>
                </a:solidFill>
                <a:latin typeface="Calibri"/>
              </a:rPr>
              <a:t>▪ 'South Asia &amp; Pacific' leads regional growth at</a:t>
            </a:r>
          </a:p>
        </p:txBody>
      </p:sp>
      <p:pic>
        <p:nvPicPr>
          <p:cNvPr id="45" name="Picture 44" descr="lock.png"/>
          <p:cNvPicPr>
            <a:picLocks noChangeAspect="1"/>
          </p:cNvPicPr>
          <p:nvPr/>
        </p:nvPicPr>
        <p:blipFill>
          <a:blip r:embed="rId6"/>
          <a:stretch>
            <a:fillRect/>
          </a:stretch>
        </p:blipFill>
        <p:spPr>
          <a:xfrm>
            <a:off x="10866614" y="4446251"/>
            <a:ext cx="134549" cy="195707"/>
          </a:xfrm>
          <a:prstGeom prst="rect">
            <a:avLst/>
          </a:prstGeom>
        </p:spPr>
      </p:pic>
      <p:sp>
        <p:nvSpPr>
          <p:cNvPr id="46" name="TextBox 45"/>
          <p:cNvSpPr txBox="1"/>
          <p:nvPr/>
        </p:nvSpPr>
        <p:spPr>
          <a:xfrm>
            <a:off x="11041723" y="4456475"/>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47" name="TextBox 46"/>
          <p:cNvSpPr txBox="1"/>
          <p:nvPr/>
        </p:nvSpPr>
        <p:spPr>
          <a:xfrm>
            <a:off x="8048625" y="4684312"/>
            <a:ext cx="3746816" cy="194310"/>
          </a:xfrm>
          <a:prstGeom prst="rect">
            <a:avLst/>
          </a:prstGeom>
          <a:noFill/>
        </p:spPr>
        <p:txBody>
          <a:bodyPr wrap="none" lIns="0" tIns="0" rIns="0" bIns="0">
            <a:spAutoFit/>
          </a:bodyPr>
          <a:lstStyle/>
          <a:p>
            <a:r>
              <a:rPr sz="1150" b="0">
                <a:solidFill>
                  <a:srgbClr val="2E2E2E"/>
                </a:solidFill>
                <a:latin typeface="Calibri"/>
              </a:rPr>
              <a:t>▪ Demand concentrates in 'Capsules and Softgels' within Form</a:t>
            </a:r>
          </a:p>
        </p:txBody>
      </p:sp>
      <p:sp>
        <p:nvSpPr>
          <p:cNvPr id="48" name="TextBox 47"/>
          <p:cNvSpPr txBox="1"/>
          <p:nvPr/>
        </p:nvSpPr>
        <p:spPr>
          <a:xfrm>
            <a:off x="8048625" y="4859572"/>
            <a:ext cx="399963" cy="194310"/>
          </a:xfrm>
          <a:prstGeom prst="rect">
            <a:avLst/>
          </a:prstGeom>
          <a:noFill/>
        </p:spPr>
        <p:txBody>
          <a:bodyPr wrap="none" lIns="0" tIns="0" rIns="0" bIns="0">
            <a:spAutoFit/>
          </a:bodyPr>
          <a:lstStyle/>
          <a:p>
            <a:r>
              <a:rPr sz="1150" b="0">
                <a:solidFill>
                  <a:srgbClr val="2E2E2E"/>
                </a:solidFill>
                <a:latin typeface="Calibri"/>
              </a:rPr>
              <a:t>Type.</a:t>
            </a:r>
          </a:p>
        </p:txBody>
      </p:sp>
      <p:sp>
        <p:nvSpPr>
          <p:cNvPr id="49" name="TextBox 48"/>
          <p:cNvSpPr txBox="1"/>
          <p:nvPr/>
        </p:nvSpPr>
        <p:spPr>
          <a:xfrm>
            <a:off x="8048625" y="5087410"/>
            <a:ext cx="3291296" cy="194310"/>
          </a:xfrm>
          <a:prstGeom prst="rect">
            <a:avLst/>
          </a:prstGeom>
          <a:noFill/>
        </p:spPr>
        <p:txBody>
          <a:bodyPr wrap="none" lIns="0" tIns="0" rIns="0" bIns="0">
            <a:spAutoFit/>
          </a:bodyPr>
          <a:lstStyle/>
          <a:p>
            <a:r>
              <a:rPr sz="1150" b="0">
                <a:solidFill>
                  <a:srgbClr val="2E2E2E"/>
                </a:solidFill>
                <a:latin typeface="Calibri"/>
              </a:rPr>
              <a:t>▪ Product innovation and premiumisation lifting value.</a:t>
            </a:r>
          </a:p>
        </p:txBody>
      </p:sp>
      <p:sp>
        <p:nvSpPr>
          <p:cNvPr id="50" name="TextBox 49"/>
          <p:cNvSpPr txBox="1"/>
          <p:nvPr/>
        </p:nvSpPr>
        <p:spPr>
          <a:xfrm>
            <a:off x="8048625" y="5315248"/>
            <a:ext cx="2741327" cy="194310"/>
          </a:xfrm>
          <a:prstGeom prst="rect">
            <a:avLst/>
          </a:prstGeom>
          <a:noFill/>
        </p:spPr>
        <p:txBody>
          <a:bodyPr wrap="none" lIns="0" tIns="0" rIns="0" bIns="0">
            <a:spAutoFit/>
          </a:bodyPr>
          <a:lstStyle/>
          <a:p>
            <a:r>
              <a:rPr sz="1150" b="0">
                <a:solidFill>
                  <a:srgbClr val="2E2E2E"/>
                </a:solidFill>
                <a:latin typeface="Calibri"/>
              </a:rPr>
              <a:t>▪ Expanding end-use applications and access.</a:t>
            </a:r>
          </a:p>
        </p:txBody>
      </p:sp>
      <p:sp>
        <p:nvSpPr>
          <p:cNvPr id="51"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Volume &amp; Value Analysis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4505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86350" y="1038225"/>
            <a:ext cx="6858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4638675"/>
            <a:ext cx="11639550" cy="209550"/>
          </a:xfrm>
          <a:prstGeom prst="rect">
            <a:avLst/>
          </a:prstGeom>
          <a:noFill/>
        </p:spPr>
        <p:txBody>
          <a:bodyPr wrap="square" lIns="0" tIns="9525" rIns="19050" bIns="9525">
            <a:spAutoFit/>
          </a:bodyPr>
          <a:lstStyle/>
          <a:p>
            <a:pPr algn="l"/>
            <a:r>
              <a:rPr sz="1300" b="1">
                <a:solidFill>
                  <a:srgbClr val="0B2E4A"/>
                </a:solidFill>
                <a:latin typeface="Calibri"/>
              </a:rPr>
              <a:t>Global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6225" y="4962525"/>
            <a:ext cx="11639550" cy="15716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4022407"/>
            <a:ext cx="157162" cy="228600"/>
          </a:xfrm>
          <a:prstGeom prst="rect">
            <a:avLst/>
          </a:prstGeom>
        </p:spPr>
      </p:pic>
      <p:sp>
        <p:nvSpPr>
          <p:cNvPr id="31" name="TextBox 30"/>
          <p:cNvSpPr txBox="1"/>
          <p:nvPr/>
        </p:nvSpPr>
        <p:spPr>
          <a:xfrm>
            <a:off x="276225" y="4972050"/>
            <a:ext cx="3861804" cy="194310"/>
          </a:xfrm>
          <a:prstGeom prst="rect">
            <a:avLst/>
          </a:prstGeom>
          <a:noFill/>
        </p:spPr>
        <p:txBody>
          <a:bodyPr wrap="none" lIns="0" tIns="0" rIns="0" bIns="0">
            <a:spAutoFit/>
          </a:bodyPr>
          <a:lstStyle/>
          <a:p>
            <a:r>
              <a:rPr sz="1150" b="0">
                <a:solidFill>
                  <a:srgbClr val="2E2E2E"/>
                </a:solidFill>
                <a:latin typeface="Calibri"/>
              </a:rPr>
              <a:t>Senior dog cognitive supplement market is projected to register</a:t>
            </a:r>
          </a:p>
        </p:txBody>
      </p:sp>
      <p:pic>
        <p:nvPicPr>
          <p:cNvPr id="32" name="Picture 31" descr="lock.png"/>
          <p:cNvPicPr>
            <a:picLocks noChangeAspect="1"/>
          </p:cNvPicPr>
          <p:nvPr/>
        </p:nvPicPr>
        <p:blipFill>
          <a:blip r:embed="rId6"/>
          <a:stretch>
            <a:fillRect/>
          </a:stretch>
        </p:blipFill>
        <p:spPr>
          <a:xfrm>
            <a:off x="4087183" y="4961826"/>
            <a:ext cx="134549" cy="195707"/>
          </a:xfrm>
          <a:prstGeom prst="rect">
            <a:avLst/>
          </a:prstGeom>
        </p:spPr>
      </p:pic>
      <p:sp>
        <p:nvSpPr>
          <p:cNvPr id="33" name="TextBox 32"/>
          <p:cNvSpPr txBox="1"/>
          <p:nvPr/>
        </p:nvSpPr>
        <p:spPr>
          <a:xfrm>
            <a:off x="4262292" y="4972050"/>
            <a:ext cx="7572102" cy="194310"/>
          </a:xfrm>
          <a:prstGeom prst="rect">
            <a:avLst/>
          </a:prstGeom>
          <a:noFill/>
        </p:spPr>
        <p:txBody>
          <a:bodyPr wrap="none" lIns="0" tIns="0" rIns="0" bIns="0">
            <a:spAutoFit/>
          </a:bodyPr>
          <a:lstStyle/>
          <a:p>
            <a:r>
              <a:rPr sz="1150" b="0">
                <a:solidFill>
                  <a:srgbClr val="2E2E2E"/>
                </a:solidFill>
                <a:latin typeface="Calibri"/>
              </a:rPr>
              <a:t>X increase in its revenue by the end of forecast period, 2036. Global senior dog cognitive supplement market is expected to be</a:t>
            </a:r>
          </a:p>
        </p:txBody>
      </p:sp>
      <p:sp>
        <p:nvSpPr>
          <p:cNvPr id="34" name="TextBox 33"/>
          <p:cNvSpPr txBox="1"/>
          <p:nvPr/>
        </p:nvSpPr>
        <p:spPr>
          <a:xfrm>
            <a:off x="276225" y="5147310"/>
            <a:ext cx="892026" cy="194310"/>
          </a:xfrm>
          <a:prstGeom prst="rect">
            <a:avLst/>
          </a:prstGeom>
          <a:noFill/>
        </p:spPr>
        <p:txBody>
          <a:bodyPr wrap="none" lIns="0" tIns="0" rIns="0" bIns="0">
            <a:spAutoFit/>
          </a:bodyPr>
          <a:lstStyle/>
          <a:p>
            <a:r>
              <a:rPr sz="1150" b="0">
                <a:solidFill>
                  <a:srgbClr val="2E2E2E"/>
                </a:solidFill>
                <a:latin typeface="Calibri"/>
              </a:rPr>
              <a:t>valued at US$</a:t>
            </a:r>
          </a:p>
        </p:txBody>
      </p:sp>
      <p:pic>
        <p:nvPicPr>
          <p:cNvPr id="35" name="Picture 34" descr="lock.png"/>
          <p:cNvPicPr>
            <a:picLocks noChangeAspect="1"/>
          </p:cNvPicPr>
          <p:nvPr/>
        </p:nvPicPr>
        <p:blipFill>
          <a:blip r:embed="rId6"/>
          <a:stretch>
            <a:fillRect/>
          </a:stretch>
        </p:blipFill>
        <p:spPr>
          <a:xfrm>
            <a:off x="1117405" y="5137086"/>
            <a:ext cx="134549" cy="195707"/>
          </a:xfrm>
          <a:prstGeom prst="rect">
            <a:avLst/>
          </a:prstGeom>
        </p:spPr>
      </p:pic>
      <p:sp>
        <p:nvSpPr>
          <p:cNvPr id="36" name="TextBox 35"/>
          <p:cNvSpPr txBox="1"/>
          <p:nvPr/>
        </p:nvSpPr>
        <p:spPr>
          <a:xfrm>
            <a:off x="1292514" y="5147310"/>
            <a:ext cx="1079723" cy="194310"/>
          </a:xfrm>
          <a:prstGeom prst="rect">
            <a:avLst/>
          </a:prstGeom>
          <a:noFill/>
        </p:spPr>
        <p:txBody>
          <a:bodyPr wrap="none" lIns="0" tIns="0" rIns="0" bIns="0">
            <a:spAutoFit/>
          </a:bodyPr>
          <a:lstStyle/>
          <a:p>
            <a:r>
              <a:rPr sz="1150" b="0">
                <a:solidFill>
                  <a:srgbClr val="2E2E2E"/>
                </a:solidFill>
                <a:latin typeface="Calibri"/>
              </a:rPr>
              <a:t>Mn by 2036 end.</a:t>
            </a:r>
          </a:p>
        </p:txBody>
      </p:sp>
      <p:sp>
        <p:nvSpPr>
          <p:cNvPr id="37" name="TextBox 36"/>
          <p:cNvSpPr txBox="1"/>
          <p:nvPr/>
        </p:nvSpPr>
        <p:spPr>
          <a:xfrm>
            <a:off x="276225" y="5375147"/>
            <a:ext cx="3812455" cy="194310"/>
          </a:xfrm>
          <a:prstGeom prst="rect">
            <a:avLst/>
          </a:prstGeom>
          <a:noFill/>
        </p:spPr>
        <p:txBody>
          <a:bodyPr wrap="none" lIns="0" tIns="0" rIns="0" bIns="0">
            <a:spAutoFit/>
          </a:bodyPr>
          <a:lstStyle/>
          <a:p>
            <a:r>
              <a:rPr sz="1150" b="0">
                <a:solidFill>
                  <a:srgbClr val="2E2E2E"/>
                </a:solidFill>
                <a:latin typeface="Calibri"/>
              </a:rPr>
              <a:t>It is projected to create overall incremental opportunity of US$</a:t>
            </a:r>
          </a:p>
        </p:txBody>
      </p:sp>
      <p:pic>
        <p:nvPicPr>
          <p:cNvPr id="38" name="Picture 37" descr="lock.png"/>
          <p:cNvPicPr>
            <a:picLocks noChangeAspect="1"/>
          </p:cNvPicPr>
          <p:nvPr/>
        </p:nvPicPr>
        <p:blipFill>
          <a:blip r:embed="rId6"/>
          <a:stretch>
            <a:fillRect/>
          </a:stretch>
        </p:blipFill>
        <p:spPr>
          <a:xfrm>
            <a:off x="4037834" y="5364924"/>
            <a:ext cx="134549" cy="195707"/>
          </a:xfrm>
          <a:prstGeom prst="rect">
            <a:avLst/>
          </a:prstGeom>
        </p:spPr>
      </p:pic>
      <p:sp>
        <p:nvSpPr>
          <p:cNvPr id="39" name="TextBox 38"/>
          <p:cNvSpPr txBox="1"/>
          <p:nvPr/>
        </p:nvSpPr>
        <p:spPr>
          <a:xfrm>
            <a:off x="4212943" y="5375147"/>
            <a:ext cx="5680583" cy="194310"/>
          </a:xfrm>
          <a:prstGeom prst="rect">
            <a:avLst/>
          </a:prstGeom>
          <a:noFill/>
        </p:spPr>
        <p:txBody>
          <a:bodyPr wrap="none" lIns="0" tIns="0" rIns="0" bIns="0">
            <a:spAutoFit/>
          </a:bodyPr>
          <a:lstStyle/>
          <a:p>
            <a:r>
              <a:rPr sz="1150" b="0">
                <a:solidFill>
                  <a:srgbClr val="2E2E2E"/>
                </a:solidFill>
                <a:latin typeface="Calibri"/>
              </a:rPr>
              <a:t>Mn from 2025 to 2036. Global senior dog cognitive supplement market is projected to register</a:t>
            </a:r>
          </a:p>
        </p:txBody>
      </p:sp>
      <p:pic>
        <p:nvPicPr>
          <p:cNvPr id="40" name="Picture 39" descr="lock.png"/>
          <p:cNvPicPr>
            <a:picLocks noChangeAspect="1"/>
          </p:cNvPicPr>
          <p:nvPr/>
        </p:nvPicPr>
        <p:blipFill>
          <a:blip r:embed="rId6"/>
          <a:stretch>
            <a:fillRect/>
          </a:stretch>
        </p:blipFill>
        <p:spPr>
          <a:xfrm>
            <a:off x="9842681" y="5364924"/>
            <a:ext cx="134549" cy="195707"/>
          </a:xfrm>
          <a:prstGeom prst="rect">
            <a:avLst/>
          </a:prstGeom>
        </p:spPr>
      </p:pic>
      <p:sp>
        <p:nvSpPr>
          <p:cNvPr id="41" name="TextBox 40"/>
          <p:cNvSpPr txBox="1"/>
          <p:nvPr/>
        </p:nvSpPr>
        <p:spPr>
          <a:xfrm>
            <a:off x="10017790" y="5375147"/>
            <a:ext cx="1707852" cy="194310"/>
          </a:xfrm>
          <a:prstGeom prst="rect">
            <a:avLst/>
          </a:prstGeom>
          <a:noFill/>
        </p:spPr>
        <p:txBody>
          <a:bodyPr wrap="none" lIns="0" tIns="0" rIns="0" bIns="0">
            <a:spAutoFit/>
          </a:bodyPr>
          <a:lstStyle/>
          <a:p>
            <a:r>
              <a:rPr sz="1150" b="0">
                <a:solidFill>
                  <a:srgbClr val="2E2E2E"/>
                </a:solidFill>
                <a:latin typeface="Calibri"/>
              </a:rPr>
              <a:t>X increase in volume by the</a:t>
            </a:r>
          </a:p>
        </p:txBody>
      </p:sp>
      <p:sp>
        <p:nvSpPr>
          <p:cNvPr id="42" name="TextBox 41"/>
          <p:cNvSpPr txBox="1"/>
          <p:nvPr/>
        </p:nvSpPr>
        <p:spPr>
          <a:xfrm>
            <a:off x="276225" y="5550407"/>
            <a:ext cx="1797422" cy="194310"/>
          </a:xfrm>
          <a:prstGeom prst="rect">
            <a:avLst/>
          </a:prstGeom>
          <a:noFill/>
        </p:spPr>
        <p:txBody>
          <a:bodyPr wrap="none" lIns="0" tIns="0" rIns="0" bIns="0">
            <a:spAutoFit/>
          </a:bodyPr>
          <a:lstStyle/>
          <a:p>
            <a:r>
              <a:rPr sz="1150" b="0">
                <a:solidFill>
                  <a:srgbClr val="2E2E2E"/>
                </a:solidFill>
                <a:latin typeface="Calibri"/>
              </a:rPr>
              <a:t>end of forecast period, 2036.</a:t>
            </a:r>
          </a:p>
        </p:txBody>
      </p:sp>
      <p:sp>
        <p:nvSpPr>
          <p:cNvPr id="43" name="TextBox 42"/>
          <p:cNvSpPr txBox="1"/>
          <p:nvPr/>
        </p:nvSpPr>
        <p:spPr>
          <a:xfrm>
            <a:off x="276225" y="5778245"/>
            <a:ext cx="3887477" cy="194310"/>
          </a:xfrm>
          <a:prstGeom prst="rect">
            <a:avLst/>
          </a:prstGeom>
          <a:noFill/>
        </p:spPr>
        <p:txBody>
          <a:bodyPr wrap="none" lIns="0" tIns="0" rIns="0" bIns="0">
            <a:spAutoFit/>
          </a:bodyPr>
          <a:lstStyle/>
          <a:p>
            <a:r>
              <a:rPr sz="1150" b="0">
                <a:solidFill>
                  <a:srgbClr val="2E2E2E"/>
                </a:solidFill>
                <a:latin typeface="Calibri"/>
              </a:rPr>
              <a:t>Global senior dog cognitive supplement market volume stood at</a:t>
            </a:r>
          </a:p>
        </p:txBody>
      </p:sp>
      <p:pic>
        <p:nvPicPr>
          <p:cNvPr id="44" name="Picture 43" descr="lock.png"/>
          <p:cNvPicPr>
            <a:picLocks noChangeAspect="1"/>
          </p:cNvPicPr>
          <p:nvPr/>
        </p:nvPicPr>
        <p:blipFill>
          <a:blip r:embed="rId6"/>
          <a:stretch>
            <a:fillRect/>
          </a:stretch>
        </p:blipFill>
        <p:spPr>
          <a:xfrm>
            <a:off x="4112856" y="5768022"/>
            <a:ext cx="134549" cy="195707"/>
          </a:xfrm>
          <a:prstGeom prst="rect">
            <a:avLst/>
          </a:prstGeom>
        </p:spPr>
      </p:pic>
      <p:sp>
        <p:nvSpPr>
          <p:cNvPr id="45" name="TextBox 44"/>
          <p:cNvSpPr txBox="1"/>
          <p:nvPr/>
        </p:nvSpPr>
        <p:spPr>
          <a:xfrm>
            <a:off x="4287965" y="5778245"/>
            <a:ext cx="2229581" cy="194310"/>
          </a:xfrm>
          <a:prstGeom prst="rect">
            <a:avLst/>
          </a:prstGeom>
          <a:noFill/>
        </p:spPr>
        <p:txBody>
          <a:bodyPr wrap="none" lIns="0" tIns="0" rIns="0" bIns="0">
            <a:spAutoFit/>
          </a:bodyPr>
          <a:lstStyle/>
          <a:p>
            <a:r>
              <a:rPr sz="1150" b="0">
                <a:solidFill>
                  <a:srgbClr val="2E2E2E"/>
                </a:solidFill>
                <a:latin typeface="Calibri"/>
              </a:rPr>
              <a:t>MT in 2025 and is expected to reach</a:t>
            </a:r>
          </a:p>
        </p:txBody>
      </p:sp>
      <p:pic>
        <p:nvPicPr>
          <p:cNvPr id="46" name="Picture 45" descr="lock.png"/>
          <p:cNvPicPr>
            <a:picLocks noChangeAspect="1"/>
          </p:cNvPicPr>
          <p:nvPr/>
        </p:nvPicPr>
        <p:blipFill>
          <a:blip r:embed="rId6"/>
          <a:stretch>
            <a:fillRect/>
          </a:stretch>
        </p:blipFill>
        <p:spPr>
          <a:xfrm>
            <a:off x="6466701" y="5768022"/>
            <a:ext cx="134549" cy="195707"/>
          </a:xfrm>
          <a:prstGeom prst="rect">
            <a:avLst/>
          </a:prstGeom>
        </p:spPr>
      </p:pic>
      <p:sp>
        <p:nvSpPr>
          <p:cNvPr id="47" name="TextBox 46"/>
          <p:cNvSpPr txBox="1"/>
          <p:nvPr/>
        </p:nvSpPr>
        <p:spPr>
          <a:xfrm>
            <a:off x="6641810" y="5778245"/>
            <a:ext cx="1850461" cy="194310"/>
          </a:xfrm>
          <a:prstGeom prst="rect">
            <a:avLst/>
          </a:prstGeom>
          <a:noFill/>
        </p:spPr>
        <p:txBody>
          <a:bodyPr wrap="none" lIns="0" tIns="0" rIns="0" bIns="0">
            <a:spAutoFit/>
          </a:bodyPr>
          <a:lstStyle/>
          <a:p>
            <a:r>
              <a:rPr sz="1150" b="0">
                <a:solidFill>
                  <a:srgbClr val="2E2E2E"/>
                </a:solidFill>
                <a:latin typeface="Calibri"/>
              </a:rPr>
              <a:t>MT by 2036 end, at a CAGR of</a:t>
            </a:r>
          </a:p>
        </p:txBody>
      </p:sp>
      <p:pic>
        <p:nvPicPr>
          <p:cNvPr id="48" name="Picture 47" descr="lock.png"/>
          <p:cNvPicPr>
            <a:picLocks noChangeAspect="1"/>
          </p:cNvPicPr>
          <p:nvPr/>
        </p:nvPicPr>
        <p:blipFill>
          <a:blip r:embed="rId6"/>
          <a:stretch>
            <a:fillRect/>
          </a:stretch>
        </p:blipFill>
        <p:spPr>
          <a:xfrm>
            <a:off x="8441426" y="5768022"/>
            <a:ext cx="134549" cy="195707"/>
          </a:xfrm>
          <a:prstGeom prst="rect">
            <a:avLst/>
          </a:prstGeom>
        </p:spPr>
      </p:pic>
      <p:sp>
        <p:nvSpPr>
          <p:cNvPr id="49" name="TextBox 48"/>
          <p:cNvSpPr txBox="1"/>
          <p:nvPr/>
        </p:nvSpPr>
        <p:spPr>
          <a:xfrm>
            <a:off x="8616535" y="5778245"/>
            <a:ext cx="2864271" cy="194310"/>
          </a:xfrm>
          <a:prstGeom prst="rect">
            <a:avLst/>
          </a:prstGeom>
          <a:noFill/>
        </p:spPr>
        <p:txBody>
          <a:bodyPr wrap="none" lIns="0" tIns="0" rIns="0" bIns="0">
            <a:spAutoFit/>
          </a:bodyPr>
          <a:lstStyle/>
          <a:p>
            <a:r>
              <a:rPr sz="1150" b="0">
                <a:solidFill>
                  <a:srgbClr val="2E2E2E"/>
                </a:solidFill>
                <a:latin typeface="Calibri"/>
              </a:rPr>
              <a:t>. Value is projected to grow faster than volume</a:t>
            </a:r>
          </a:p>
        </p:txBody>
      </p:sp>
      <p:sp>
        <p:nvSpPr>
          <p:cNvPr id="50" name="TextBox 49"/>
          <p:cNvSpPr txBox="1"/>
          <p:nvPr/>
        </p:nvSpPr>
        <p:spPr>
          <a:xfrm>
            <a:off x="276225" y="5953505"/>
            <a:ext cx="4232634" cy="194310"/>
          </a:xfrm>
          <a:prstGeom prst="rect">
            <a:avLst/>
          </a:prstGeom>
          <a:noFill/>
        </p:spPr>
        <p:txBody>
          <a:bodyPr wrap="none" lIns="0" tIns="0" rIns="0" bIns="0">
            <a:spAutoFit/>
          </a:bodyPr>
          <a:lstStyle/>
          <a:p>
            <a:r>
              <a:rPr sz="1150" b="0">
                <a:solidFill>
                  <a:srgbClr val="2E2E2E"/>
                </a:solidFill>
                <a:latin typeface="Calibri"/>
              </a:rPr>
              <a:t>over the forecast period, owing to an increase in average selling price.</a:t>
            </a:r>
          </a:p>
        </p:txBody>
      </p:sp>
      <p:sp>
        <p:nvSpPr>
          <p:cNvPr id="51"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64411"/>
            <a:ext cx="3743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26891">
                  <a:extLst>
                    <a:ext uri="{9D8B030D-6E8A-4147-A177-3AD203B41FA5}">
                      <a16:colId xmlns:a16="http://schemas.microsoft.com/office/drawing/2014/main" val="20000"/>
                    </a:ext>
                  </a:extLst>
                </a:gridCol>
                <a:gridCol w="965533">
                  <a:extLst>
                    <a:ext uri="{9D8B030D-6E8A-4147-A177-3AD203B41FA5}">
                      <a16:colId xmlns:a16="http://schemas.microsoft.com/office/drawing/2014/main" val="20001"/>
                    </a:ext>
                  </a:extLst>
                </a:gridCol>
                <a:gridCol w="658971">
                  <a:extLst>
                    <a:ext uri="{9D8B030D-6E8A-4147-A177-3AD203B41FA5}">
                      <a16:colId xmlns:a16="http://schemas.microsoft.com/office/drawing/2014/main" val="20002"/>
                    </a:ext>
                  </a:extLst>
                </a:gridCol>
                <a:gridCol w="1263381">
                  <a:extLst>
                    <a:ext uri="{9D8B030D-6E8A-4147-A177-3AD203B41FA5}">
                      <a16:colId xmlns:a16="http://schemas.microsoft.com/office/drawing/2014/main" val="20003"/>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77189">
                <a:tc>
                  <a:txBody>
                    <a:bodyPr/>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77189">
                <a:tc>
                  <a:txBody>
                    <a:bodyPr/>
                    <a:lstStyle/>
                    <a:p>
                      <a:pPr algn="l"/>
                      <a:r>
                        <a:rPr sz="1100" b="1">
                          <a:solidFill>
                            <a:srgbClr val="2E2E2E"/>
                          </a:solidFill>
                          <a:latin typeface="Calibri"/>
                        </a:rPr>
                        <a:t>Saudi Arabia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77189">
                <a:tc>
                  <a:txBody>
                    <a:bodyPr/>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77189">
                <a:tc>
                  <a:txBody>
                    <a:bodyPr/>
                    <a:lstStyle/>
                    <a:p>
                      <a:pPr algn="l"/>
                      <a:r>
                        <a:rPr sz="1100" b="1">
                          <a:solidFill>
                            <a:srgbClr val="2E2E2E"/>
                          </a:solidFill>
                          <a:latin typeface="Calibri"/>
                        </a:rPr>
                        <a:t>Netherlands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77189">
                <a:tc>
                  <a:txBody>
                    <a:bodyPr/>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219075" y="5707558"/>
            <a:ext cx="37814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10050" y="1064411"/>
            <a:ext cx="3743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374032" cy="1981679"/>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584082" y="1293011"/>
            <a:ext cx="1369293" cy="198167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20" name="Rectangle 19"/>
          <p:cNvSpPr/>
          <p:nvPr/>
        </p:nvSpPr>
        <p:spPr>
          <a:xfrm>
            <a:off x="4210050" y="3274690"/>
            <a:ext cx="1544155" cy="1471924"/>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1" name="Rectangle 20"/>
          <p:cNvSpPr/>
          <p:nvPr/>
        </p:nvSpPr>
        <p:spPr>
          <a:xfrm>
            <a:off x="4210050" y="4746614"/>
            <a:ext cx="1544155" cy="1131996"/>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754205" y="3274690"/>
            <a:ext cx="1130944" cy="1177604"/>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India</a:t>
            </a:r>
          </a:p>
          <a:p>
            <a:pPr algn="ctr"/>
            <a:r>
              <a:rPr sz="1100" b="0">
                <a:solidFill>
                  <a:srgbClr val="FFFFFF"/>
                </a:solidFill>
                <a:latin typeface="Calibri"/>
              </a:rPr>
              <a:t> </a:t>
            </a:r>
          </a:p>
        </p:txBody>
      </p:sp>
      <p:sp>
        <p:nvSpPr>
          <p:cNvPr id="23" name="Rectangle 22"/>
          <p:cNvSpPr/>
          <p:nvPr/>
        </p:nvSpPr>
        <p:spPr>
          <a:xfrm>
            <a:off x="6885149" y="3274690"/>
            <a:ext cx="1068226" cy="1177604"/>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4" name="Rectangle 23"/>
          <p:cNvSpPr/>
          <p:nvPr/>
        </p:nvSpPr>
        <p:spPr>
          <a:xfrm>
            <a:off x="5754205" y="4452295"/>
            <a:ext cx="1192218" cy="795849"/>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U.K.</a:t>
            </a:r>
          </a:p>
          <a:p>
            <a:pPr algn="ctr"/>
            <a:r>
              <a:rPr sz="1100" b="0">
                <a:solidFill>
                  <a:srgbClr val="FFFFFF"/>
                </a:solidFill>
                <a:latin typeface="Calibri"/>
              </a:rPr>
              <a:t> </a:t>
            </a:r>
          </a:p>
        </p:txBody>
      </p:sp>
      <p:sp>
        <p:nvSpPr>
          <p:cNvPr id="25" name="Rectangle 24"/>
          <p:cNvSpPr/>
          <p:nvPr/>
        </p:nvSpPr>
        <p:spPr>
          <a:xfrm>
            <a:off x="5754205" y="5248143"/>
            <a:ext cx="1192218" cy="630466"/>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Japan</a:t>
            </a:r>
          </a:p>
          <a:p>
            <a:pPr algn="ctr"/>
            <a:r>
              <a:rPr sz="1100" b="0">
                <a:solidFill>
                  <a:srgbClr val="FFFFFF"/>
                </a:solidFill>
                <a:latin typeface="Calibri"/>
              </a:rPr>
              <a:t> </a:t>
            </a:r>
          </a:p>
        </p:txBody>
      </p:sp>
      <p:sp>
        <p:nvSpPr>
          <p:cNvPr id="26" name="Rectangle 25"/>
          <p:cNvSpPr/>
          <p:nvPr/>
        </p:nvSpPr>
        <p:spPr>
          <a:xfrm>
            <a:off x="6946423" y="4452295"/>
            <a:ext cx="1006952" cy="733458"/>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7" name="Rectangle 26"/>
          <p:cNvSpPr/>
          <p:nvPr/>
        </p:nvSpPr>
        <p:spPr>
          <a:xfrm>
            <a:off x="6946423" y="5185752"/>
            <a:ext cx="1006952" cy="692857"/>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UAE</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81975" y="1064411"/>
            <a:ext cx="3743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xmlns:r="http://schemas.openxmlformats.org/officeDocument/2006/relationships" r:id="rId5"/>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2" name="Table 31"/>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extLst>
                    <a:ext uri="{9D8B030D-6E8A-4147-A177-3AD203B41FA5}">
                      <a16:colId xmlns:a16="http://schemas.microsoft.com/office/drawing/2014/main" val="20000"/>
                    </a:ext>
                  </a:extLst>
                </a:gridCol>
                <a:gridCol w="1068161">
                  <a:extLst>
                    <a:ext uri="{9D8B030D-6E8A-4147-A177-3AD203B41FA5}">
                      <a16:colId xmlns:a16="http://schemas.microsoft.com/office/drawing/2014/main" val="20001"/>
                    </a:ext>
                  </a:extLst>
                </a:gridCol>
                <a:gridCol w="1068161">
                  <a:extLst>
                    <a:ext uri="{9D8B030D-6E8A-4147-A177-3AD203B41FA5}">
                      <a16:colId xmlns:a16="http://schemas.microsoft.com/office/drawing/2014/main" val="20002"/>
                    </a:ext>
                  </a:extLst>
                </a:gridCol>
                <a:gridCol w="1081131">
                  <a:extLst>
                    <a:ext uri="{9D8B030D-6E8A-4147-A177-3AD203B41FA5}">
                      <a16:colId xmlns:a16="http://schemas.microsoft.com/office/drawing/2014/main" val="20003"/>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82665">
                <a:tc>
                  <a:txBody>
                    <a:bodyPr/>
                    <a:lstStyle/>
                    <a:p>
                      <a:pPr algn="l"/>
                      <a:r>
                        <a:rPr sz="1100" b="1">
                          <a:solidFill>
                            <a:srgbClr val="2E2E2E"/>
                          </a:solidFill>
                          <a:latin typeface="Calibri"/>
                        </a:rPr>
                        <a:t>U.S.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82665">
                <a:tc>
                  <a:txBody>
                    <a:bodyPr/>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82665">
                <a:tc>
                  <a:txBody>
                    <a:bodyPr/>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82665">
                <a:tc>
                  <a:txBody>
                    <a:bodyPr/>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82665">
                <a:tc>
                  <a:txBody>
                    <a:bodyPr/>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33" name="TextBox 32"/>
          <p:cNvSpPr txBox="1"/>
          <p:nvPr/>
        </p:nvSpPr>
        <p:spPr>
          <a:xfrm>
            <a:off x="8162925" y="5716684"/>
            <a:ext cx="37814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35" name="TextBox 34"/>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54153" y="4513519"/>
            <a:ext cx="332122" cy="483086"/>
          </a:xfrm>
          <a:prstGeom prst="rect">
            <a:avLst/>
          </a:prstGeom>
        </p:spPr>
      </p:pic>
      <p:pic>
        <p:nvPicPr>
          <p:cNvPr id="38" name="Picture 37" descr="lock.png"/>
          <p:cNvPicPr>
            <a:picLocks noChangeAspect="1"/>
          </p:cNvPicPr>
          <p:nvPr/>
        </p:nvPicPr>
        <p:blipFill>
          <a:blip r:embed="rId6"/>
          <a:stretch>
            <a:fillRect/>
          </a:stretch>
        </p:blipFill>
        <p:spPr>
          <a:xfrm>
            <a:off x="5339440" y="2283850"/>
            <a:ext cx="115252" cy="167639"/>
          </a:xfrm>
          <a:prstGeom prst="rect">
            <a:avLst/>
          </a:prstGeom>
        </p:spPr>
      </p:pic>
      <p:pic>
        <p:nvPicPr>
          <p:cNvPr id="39" name="Picture 38" descr="lock.png"/>
          <p:cNvPicPr>
            <a:picLocks noChangeAspect="1"/>
          </p:cNvPicPr>
          <p:nvPr/>
        </p:nvPicPr>
        <p:blipFill>
          <a:blip r:embed="rId6"/>
          <a:stretch>
            <a:fillRect/>
          </a:stretch>
        </p:blipFill>
        <p:spPr>
          <a:xfrm>
            <a:off x="7211102" y="2283850"/>
            <a:ext cx="115252" cy="167639"/>
          </a:xfrm>
          <a:prstGeom prst="rect">
            <a:avLst/>
          </a:prstGeom>
        </p:spPr>
      </p:pic>
      <p:pic>
        <p:nvPicPr>
          <p:cNvPr id="40" name="Picture 39" descr="lock.png"/>
          <p:cNvPicPr>
            <a:picLocks noChangeAspect="1"/>
          </p:cNvPicPr>
          <p:nvPr/>
        </p:nvPicPr>
        <p:blipFill>
          <a:blip r:embed="rId6"/>
          <a:stretch>
            <a:fillRect/>
          </a:stretch>
        </p:blipFill>
        <p:spPr>
          <a:xfrm>
            <a:off x="4924501" y="4010652"/>
            <a:ext cx="115252" cy="167639"/>
          </a:xfrm>
          <a:prstGeom prst="rect">
            <a:avLst/>
          </a:prstGeom>
        </p:spPr>
      </p:pic>
      <p:pic>
        <p:nvPicPr>
          <p:cNvPr id="41" name="Picture 40" descr="lock.png"/>
          <p:cNvPicPr>
            <a:picLocks noChangeAspect="1"/>
          </p:cNvPicPr>
          <p:nvPr/>
        </p:nvPicPr>
        <p:blipFill>
          <a:blip r:embed="rId6"/>
          <a:stretch>
            <a:fillRect/>
          </a:stretch>
        </p:blipFill>
        <p:spPr>
          <a:xfrm>
            <a:off x="4924501" y="5312612"/>
            <a:ext cx="115252" cy="167639"/>
          </a:xfrm>
          <a:prstGeom prst="rect">
            <a:avLst/>
          </a:prstGeom>
        </p:spPr>
      </p:pic>
      <p:pic>
        <p:nvPicPr>
          <p:cNvPr id="42" name="Picture 41" descr="lock.png"/>
          <p:cNvPicPr>
            <a:picLocks noChangeAspect="1"/>
          </p:cNvPicPr>
          <p:nvPr/>
        </p:nvPicPr>
        <p:blipFill>
          <a:blip r:embed="rId6"/>
          <a:stretch>
            <a:fillRect/>
          </a:stretch>
        </p:blipFill>
        <p:spPr>
          <a:xfrm>
            <a:off x="6262051" y="3863491"/>
            <a:ext cx="115252" cy="167639"/>
          </a:xfrm>
          <a:prstGeom prst="rect">
            <a:avLst/>
          </a:prstGeom>
        </p:spPr>
      </p:pic>
      <p:pic>
        <p:nvPicPr>
          <p:cNvPr id="43" name="Picture 42" descr="lock.png"/>
          <p:cNvPicPr>
            <a:picLocks noChangeAspect="1"/>
          </p:cNvPicPr>
          <p:nvPr/>
        </p:nvPicPr>
        <p:blipFill>
          <a:blip r:embed="rId6"/>
          <a:stretch>
            <a:fillRect/>
          </a:stretch>
        </p:blipFill>
        <p:spPr>
          <a:xfrm>
            <a:off x="7361636" y="3863491"/>
            <a:ext cx="115252" cy="167639"/>
          </a:xfrm>
          <a:prstGeom prst="rect">
            <a:avLst/>
          </a:prstGeom>
        </p:spPr>
      </p:pic>
      <p:pic>
        <p:nvPicPr>
          <p:cNvPr id="44" name="Picture 43" descr="lock.png"/>
          <p:cNvPicPr>
            <a:picLocks noChangeAspect="1"/>
          </p:cNvPicPr>
          <p:nvPr/>
        </p:nvPicPr>
        <p:blipFill>
          <a:blip r:embed="rId6"/>
          <a:stretch>
            <a:fillRect/>
          </a:stretch>
        </p:blipFill>
        <p:spPr>
          <a:xfrm>
            <a:off x="6292688" y="4850219"/>
            <a:ext cx="115252" cy="167639"/>
          </a:xfrm>
          <a:prstGeom prst="rect">
            <a:avLst/>
          </a:prstGeom>
        </p:spPr>
      </p:pic>
      <p:pic>
        <p:nvPicPr>
          <p:cNvPr id="45" name="Picture 44" descr="lock.png"/>
          <p:cNvPicPr>
            <a:picLocks noChangeAspect="1"/>
          </p:cNvPicPr>
          <p:nvPr/>
        </p:nvPicPr>
        <p:blipFill>
          <a:blip r:embed="rId6"/>
          <a:stretch>
            <a:fillRect/>
          </a:stretch>
        </p:blipFill>
        <p:spPr>
          <a:xfrm>
            <a:off x="6292688" y="5563376"/>
            <a:ext cx="115252" cy="167639"/>
          </a:xfrm>
          <a:prstGeom prst="rect">
            <a:avLst/>
          </a:prstGeom>
        </p:spPr>
      </p:pic>
      <p:pic>
        <p:nvPicPr>
          <p:cNvPr id="46" name="Picture 45" descr="lock.png"/>
          <p:cNvPicPr>
            <a:picLocks noChangeAspect="1"/>
          </p:cNvPicPr>
          <p:nvPr/>
        </p:nvPicPr>
        <p:blipFill>
          <a:blip r:embed="rId6"/>
          <a:stretch>
            <a:fillRect/>
          </a:stretch>
        </p:blipFill>
        <p:spPr>
          <a:xfrm>
            <a:off x="7392273" y="4819024"/>
            <a:ext cx="115252" cy="167639"/>
          </a:xfrm>
          <a:prstGeom prst="rect">
            <a:avLst/>
          </a:prstGeom>
        </p:spPr>
      </p:pic>
      <p:pic>
        <p:nvPicPr>
          <p:cNvPr id="47" name="Picture 46" descr="lock.png"/>
          <p:cNvPicPr>
            <a:picLocks noChangeAspect="1"/>
          </p:cNvPicPr>
          <p:nvPr/>
        </p:nvPicPr>
        <p:blipFill>
          <a:blip r:embed="rId6"/>
          <a:stretch>
            <a:fillRect/>
          </a:stretch>
        </p:blipFill>
        <p:spPr>
          <a:xfrm>
            <a:off x="7392273" y="5532180"/>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208848" y="4492667"/>
            <a:ext cx="354517" cy="515661"/>
          </a:xfrm>
          <a:prstGeom prst="rect">
            <a:avLst/>
          </a:prstGeom>
        </p:spPr>
      </p:pic>
      <p:sp>
        <p:nvSpPr>
          <p:cNvPr id="50" name="TextBox 49"/>
          <p:cNvSpPr txBox="1"/>
          <p:nvPr/>
        </p:nvSpPr>
        <p:spPr>
          <a:xfrm>
            <a:off x="257175" y="6160574"/>
            <a:ext cx="4186435" cy="186689"/>
          </a:xfrm>
          <a:prstGeom prst="rect">
            <a:avLst/>
          </a:prstGeom>
          <a:noFill/>
        </p:spPr>
        <p:txBody>
          <a:bodyPr wrap="none" lIns="0" tIns="0" rIns="0" bIns="0">
            <a:spAutoFit/>
          </a:bodyPr>
          <a:lstStyle/>
          <a:p>
            <a:r>
              <a:rPr sz="1100" b="0">
                <a:solidFill>
                  <a:srgbClr val="2E2E2E"/>
                </a:solidFill>
                <a:latin typeface="Calibri"/>
              </a:rPr>
              <a:t>The U.S. senior dog cognitive supplement market is projected to register</a:t>
            </a:r>
          </a:p>
        </p:txBody>
      </p:sp>
      <p:pic>
        <p:nvPicPr>
          <p:cNvPr id="51" name="Picture 50" descr="lock.png"/>
          <p:cNvPicPr>
            <a:picLocks noChangeAspect="1"/>
          </p:cNvPicPr>
          <p:nvPr/>
        </p:nvPicPr>
        <p:blipFill>
          <a:blip r:embed="rId6"/>
          <a:stretch>
            <a:fillRect/>
          </a:stretch>
        </p:blipFill>
        <p:spPr>
          <a:xfrm>
            <a:off x="4391662" y="6150795"/>
            <a:ext cx="128699" cy="187198"/>
          </a:xfrm>
          <a:prstGeom prst="rect">
            <a:avLst/>
          </a:prstGeom>
        </p:spPr>
      </p:pic>
      <p:sp>
        <p:nvSpPr>
          <p:cNvPr id="52" name="TextBox 51"/>
          <p:cNvSpPr txBox="1"/>
          <p:nvPr/>
        </p:nvSpPr>
        <p:spPr>
          <a:xfrm>
            <a:off x="4559158" y="6160574"/>
            <a:ext cx="4298833" cy="186689"/>
          </a:xfrm>
          <a:prstGeom prst="rect">
            <a:avLst/>
          </a:prstGeom>
          <a:noFill/>
        </p:spPr>
        <p:txBody>
          <a:bodyPr wrap="none" lIns="0" tIns="0" rIns="0" bIns="0">
            <a:spAutoFit/>
          </a:bodyPr>
          <a:lstStyle/>
          <a:p>
            <a:r>
              <a:rPr sz="1100" b="0">
                <a:solidFill>
                  <a:srgbClr val="2E2E2E"/>
                </a:solidFill>
                <a:latin typeface="Calibri"/>
              </a:rPr>
              <a:t>X higher value than Germany in 2036. India posts the highest CAGR Index (</a:t>
            </a:r>
          </a:p>
        </p:txBody>
      </p:sp>
      <p:pic>
        <p:nvPicPr>
          <p:cNvPr id="53" name="Picture 52" descr="lock.png"/>
          <p:cNvPicPr>
            <a:picLocks noChangeAspect="1"/>
          </p:cNvPicPr>
          <p:nvPr/>
        </p:nvPicPr>
        <p:blipFill>
          <a:blip r:embed="rId6"/>
          <a:stretch>
            <a:fillRect/>
          </a:stretch>
        </p:blipFill>
        <p:spPr>
          <a:xfrm>
            <a:off x="8806043" y="6150795"/>
            <a:ext cx="128699" cy="187198"/>
          </a:xfrm>
          <a:prstGeom prst="rect">
            <a:avLst/>
          </a:prstGeom>
        </p:spPr>
      </p:pic>
      <p:sp>
        <p:nvSpPr>
          <p:cNvPr id="54" name="TextBox 53"/>
          <p:cNvSpPr txBox="1"/>
          <p:nvPr/>
        </p:nvSpPr>
        <p:spPr>
          <a:xfrm>
            <a:off x="8973539" y="6160574"/>
            <a:ext cx="789979" cy="186689"/>
          </a:xfrm>
          <a:prstGeom prst="rect">
            <a:avLst/>
          </a:prstGeom>
          <a:noFill/>
        </p:spPr>
        <p:txBody>
          <a:bodyPr wrap="none" lIns="0" tIns="0" r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9711570" y="6150795"/>
            <a:ext cx="128699" cy="187198"/>
          </a:xfrm>
          <a:prstGeom prst="rect">
            <a:avLst/>
          </a:prstGeom>
        </p:spPr>
      </p:pic>
      <p:sp>
        <p:nvSpPr>
          <p:cNvPr id="56" name="TextBox 55"/>
          <p:cNvSpPr txBox="1"/>
          <p:nvPr/>
        </p:nvSpPr>
        <p:spPr>
          <a:xfrm>
            <a:off x="9879066" y="6160574"/>
            <a:ext cx="704304" cy="186689"/>
          </a:xfrm>
          <a:prstGeom prst="rect">
            <a:avLst/>
          </a:prstGeom>
          <a:noFill/>
        </p:spPr>
        <p:txBody>
          <a:bodyPr wrap="none" lIns="0" tIns="0" rIns="0" bIns="0">
            <a:spAutoFit/>
          </a:bodyPr>
          <a:lstStyle/>
          <a:p>
            <a:r>
              <a:rPr sz="1100" b="0">
                <a:solidFill>
                  <a:srgbClr val="2E2E2E"/>
                </a:solidFill>
                <a:latin typeface="Calibri"/>
              </a:rPr>
              <a:t>against the</a:t>
            </a:r>
          </a:p>
        </p:txBody>
      </p:sp>
      <p:sp>
        <p:nvSpPr>
          <p:cNvPr id="57" name="TextBox 56"/>
          <p:cNvSpPr txBox="1"/>
          <p:nvPr/>
        </p:nvSpPr>
        <p:spPr>
          <a:xfrm>
            <a:off x="257175" y="6328214"/>
            <a:ext cx="3955876" cy="186689"/>
          </a:xfrm>
          <a:prstGeom prst="rect">
            <a:avLst/>
          </a:prstGeom>
          <a:noFill/>
        </p:spPr>
        <p:txBody>
          <a:bodyPr wrap="none" lIns="0" tIns="0" rIns="0" bIns="0">
            <a:spAutoFit/>
          </a:bodyPr>
          <a:lstStyle/>
          <a:p>
            <a:r>
              <a:rPr sz="1100" b="0">
                <a:solidFill>
                  <a:srgbClr val="2E2E2E"/>
                </a:solidFill>
                <a:latin typeface="Calibri"/>
              </a:rPr>
              <a:t>global benchmark, while U.S. offers the largest absolute opportunity</a:t>
            </a:r>
          </a:p>
        </p:txBody>
      </p:sp>
      <p:pic>
        <p:nvPicPr>
          <p:cNvPr id="58" name="Picture 57" descr="lock.png"/>
          <p:cNvPicPr>
            <a:picLocks noChangeAspect="1"/>
          </p:cNvPicPr>
          <p:nvPr/>
        </p:nvPicPr>
        <p:blipFill>
          <a:blip r:embed="rId6"/>
          <a:stretch>
            <a:fillRect/>
          </a:stretch>
        </p:blipFill>
        <p:spPr>
          <a:xfrm>
            <a:off x="4161102" y="6318435"/>
            <a:ext cx="128699" cy="187198"/>
          </a:xfrm>
          <a:prstGeom prst="rect">
            <a:avLst/>
          </a:prstGeom>
        </p:spPr>
      </p:pic>
      <p:sp>
        <p:nvSpPr>
          <p:cNvPr id="59" name="TextBox 58"/>
          <p:cNvSpPr txBox="1"/>
          <p:nvPr/>
        </p:nvSpPr>
        <p:spPr>
          <a:xfrm>
            <a:off x="4328598" y="6328214"/>
            <a:ext cx="3311946" cy="186689"/>
          </a:xfrm>
          <a:prstGeom prst="rect">
            <a:avLst/>
          </a:prstGeom>
          <a:noFill/>
        </p:spPr>
        <p:txBody>
          <a:bodyPr wrap="none" lIns="0" tIns="0" r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7588597" y="6318435"/>
            <a:ext cx="128699" cy="187198"/>
          </a:xfrm>
          <a:prstGeom prst="rect">
            <a:avLst/>
          </a:prstGeom>
        </p:spPr>
      </p:pic>
      <p:sp>
        <p:nvSpPr>
          <p:cNvPr id="61" name="TextBox 60"/>
          <p:cNvSpPr txBox="1"/>
          <p:nvPr/>
        </p:nvSpPr>
        <p:spPr>
          <a:xfrm>
            <a:off x="7756092" y="6328214"/>
            <a:ext cx="1483568" cy="186689"/>
          </a:xfrm>
          <a:prstGeom prst="rect">
            <a:avLst/>
          </a:prstGeom>
          <a:noFill/>
        </p:spPr>
        <p:txBody>
          <a:bodyPr wrap="none" lIns="0" tIns="0" r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Table 10"/>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extLst>
                    <a:ext uri="{9D8B030D-6E8A-4147-A177-3AD203B41FA5}">
                      <a16:colId xmlns:a16="http://schemas.microsoft.com/office/drawing/2014/main" val="20000"/>
                    </a:ext>
                  </a:extLst>
                </a:gridCol>
                <a:gridCol w="3297581">
                  <a:extLst>
                    <a:ext uri="{9D8B030D-6E8A-4147-A177-3AD203B41FA5}">
                      <a16:colId xmlns:a16="http://schemas.microsoft.com/office/drawing/2014/main" val="20001"/>
                    </a:ext>
                  </a:extLst>
                </a:gridCol>
                <a:gridCol w="3297581">
                  <a:extLst>
                    <a:ext uri="{9D8B030D-6E8A-4147-A177-3AD203B41FA5}">
                      <a16:colId xmlns:a16="http://schemas.microsoft.com/office/drawing/2014/main" val="20002"/>
                    </a:ext>
                  </a:extLst>
                </a:gridCol>
                <a:gridCol w="3297581">
                  <a:extLst>
                    <a:ext uri="{9D8B030D-6E8A-4147-A177-3AD203B41FA5}">
                      <a16:colId xmlns:a16="http://schemas.microsoft.com/office/drawing/2014/main" val="20003"/>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954">
                <a:tc>
                  <a:txBody>
                    <a:bodyPr/>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7954">
                <a:tc>
                  <a:txBody>
                    <a:bodyPr/>
                    <a:lstStyle/>
                    <a:p>
                      <a:pPr algn="l"/>
                      <a:r>
                        <a:rPr sz="1100" b="1">
                          <a:solidFill>
                            <a:srgbClr val="2E2E2E"/>
                          </a:solidFill>
                          <a:latin typeface="Calibri"/>
                        </a:rPr>
                        <a:t>Thailand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7954">
                <a:tc>
                  <a:txBody>
                    <a:bodyPr/>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7954">
                <a:tc>
                  <a:txBody>
                    <a:bodyPr/>
                    <a:lstStyle/>
                    <a:p>
                      <a:pPr algn="l"/>
                      <a:r>
                        <a:rPr sz="1100" b="1">
                          <a:solidFill>
                            <a:srgbClr val="2E2E2E"/>
                          </a:solidFill>
                          <a:latin typeface="Calibri"/>
                        </a:rPr>
                        <a:t>Malaysia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7954">
                <a:tc>
                  <a:txBody>
                    <a:bodyPr/>
                    <a:lstStyle/>
                    <a:p>
                      <a:pPr algn="l"/>
                      <a:r>
                        <a:rPr sz="1100" b="1">
                          <a:solidFill>
                            <a:srgbClr val="2E2E2E"/>
                          </a:solidFill>
                          <a:latin typeface="Calibri"/>
                        </a:rPr>
                        <a:t>China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219075" y="25527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152400" y="2981325"/>
          <a:ext cx="11887200" cy="1485896"/>
        </p:xfrm>
        <a:graphic>
          <a:graphicData uri="http://schemas.openxmlformats.org/drawingml/2006/table">
            <a:tbl>
              <a:tblPr>
                <a:tableStyleId>{5C22544A-7EE6-4342-B048-85BDC9FD1C3A}</a:tableStyleId>
              </a:tblPr>
              <a:tblGrid>
                <a:gridCol w="1846407">
                  <a:extLst>
                    <a:ext uri="{9D8B030D-6E8A-4147-A177-3AD203B41FA5}">
                      <a16:colId xmlns:a16="http://schemas.microsoft.com/office/drawing/2014/main" val="20000"/>
                    </a:ext>
                  </a:extLst>
                </a:gridCol>
                <a:gridCol w="3346931">
                  <a:extLst>
                    <a:ext uri="{9D8B030D-6E8A-4147-A177-3AD203B41FA5}">
                      <a16:colId xmlns:a16="http://schemas.microsoft.com/office/drawing/2014/main" val="20001"/>
                    </a:ext>
                  </a:extLst>
                </a:gridCol>
                <a:gridCol w="3346931">
                  <a:extLst>
                    <a:ext uri="{9D8B030D-6E8A-4147-A177-3AD203B41FA5}">
                      <a16:colId xmlns:a16="http://schemas.microsoft.com/office/drawing/2014/main" val="20002"/>
                    </a:ext>
                  </a:extLst>
                </a:gridCol>
                <a:gridCol w="3346931">
                  <a:extLst>
                    <a:ext uri="{9D8B030D-6E8A-4147-A177-3AD203B41FA5}">
                      <a16:colId xmlns:a16="http://schemas.microsoft.com/office/drawing/2014/main" val="20003"/>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954">
                <a:tc>
                  <a:txBody>
                    <a:bodyPr/>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7954">
                <a:tc>
                  <a:txBody>
                    <a:bodyPr/>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7954">
                <a:tc>
                  <a:txBody>
                    <a:bodyPr/>
                    <a:lstStyle/>
                    <a:p>
                      <a:pPr algn="l"/>
                      <a:r>
                        <a:rPr sz="1100" b="1">
                          <a:solidFill>
                            <a:srgbClr val="2E2E2E"/>
                          </a:solidFill>
                          <a:latin typeface="Calibri"/>
                        </a:rPr>
                        <a:t>U.K.</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7954">
                <a:tc>
                  <a:txBody>
                    <a:bodyPr/>
                    <a:lstStyle/>
                    <a:p>
                      <a:pPr algn="l"/>
                      <a:r>
                        <a:rPr sz="1100" b="1">
                          <a:solidFill>
                            <a:srgbClr val="2E2E2E"/>
                          </a:solidFill>
                          <a:latin typeface="Calibri"/>
                        </a:rPr>
                        <a:t>Japan</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7954">
                <a:tc>
                  <a:txBody>
                    <a:bodyPr/>
                    <a:lstStyle/>
                    <a:p>
                      <a:pPr algn="l"/>
                      <a:r>
                        <a:rPr sz="1100" b="1">
                          <a:solidFill>
                            <a:srgbClr val="2E2E2E"/>
                          </a:solidFill>
                          <a:latin typeface="Calibri"/>
                        </a:rPr>
                        <a:t>UAE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219075" y="44767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906537"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6832513" y="3580638"/>
            <a:ext cx="366712" cy="5334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876425"/>
          </a:xfrm>
          <a:prstGeom prst="roundRect">
            <a:avLst>
              <a:gd name="adj" fmla="val 4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225" y="1066800"/>
            <a:ext cx="11639550" cy="209550"/>
          </a:xfrm>
          <a:prstGeom prst="rect">
            <a:avLst/>
          </a:prstGeom>
          <a:noFill/>
        </p:spPr>
        <p:txBody>
          <a:bodyPr wrap="square" lIns="0" tIns="9525" rIns="19050"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225" y="1390650"/>
            <a:ext cx="11639550" cy="13906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4" name="Rounded Rectangle 13"/>
          <p:cNvSpPr/>
          <p:nvPr/>
        </p:nvSpPr>
        <p:spPr>
          <a:xfrm>
            <a:off x="142875" y="29908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076575"/>
            <a:ext cx="11639550" cy="209550"/>
          </a:xfrm>
          <a:prstGeom prst="rect">
            <a:avLst/>
          </a:prstGeom>
          <a:noFill/>
        </p:spPr>
        <p:txBody>
          <a:bodyPr wrap="square" lIns="0" tIns="9525" rIns="19050" bIns="9525">
            <a:spAutoFit/>
          </a:bodyPr>
          <a:lstStyle/>
          <a:p>
            <a:pPr algn="l"/>
            <a:r>
              <a:rPr sz="1300" b="1">
                <a:solidFill>
                  <a:srgbClr val="0B2E4A"/>
                </a:solidFill>
                <a:latin typeface="Calibri"/>
              </a:rPr>
              <a:t>Competitive Landscape</a:t>
            </a:r>
          </a:p>
        </p:txBody>
      </p:sp>
      <p:sp>
        <p:nvSpPr>
          <p:cNvPr id="16" name="Rectangle 15"/>
          <p:cNvSpPr/>
          <p:nvPr/>
        </p:nvSpPr>
        <p:spPr>
          <a:xfrm>
            <a:off x="276225" y="3314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400425"/>
            <a:ext cx="11639550" cy="10858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142875" y="4695825"/>
            <a:ext cx="3943350"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4781550"/>
            <a:ext cx="3676650" cy="209550"/>
          </a:xfrm>
          <a:prstGeom prst="rect">
            <a:avLst/>
          </a:prstGeom>
          <a:noFill/>
        </p:spPr>
        <p:txBody>
          <a:bodyPr wrap="square" lIns="0" tIns="9525" rIns="19050" bIns="9525">
            <a:spAutoFit/>
          </a:bodyPr>
          <a:lstStyle/>
          <a:p>
            <a:pPr algn="l"/>
            <a:r>
              <a:rPr sz="1300" b="1">
                <a:solidFill>
                  <a:srgbClr val="0B2E4A"/>
                </a:solidFill>
                <a:latin typeface="Calibri"/>
              </a:rPr>
              <a:t>Drivers</a:t>
            </a:r>
          </a:p>
        </p:txBody>
      </p:sp>
      <p:sp>
        <p:nvSpPr>
          <p:cNvPr id="20" name="Rectangle 19"/>
          <p:cNvSpPr/>
          <p:nvPr/>
        </p:nvSpPr>
        <p:spPr>
          <a:xfrm>
            <a:off x="276225" y="50196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5105400"/>
            <a:ext cx="3676650" cy="1447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2" name="Rounded Rectangle 21"/>
          <p:cNvSpPr/>
          <p:nvPr/>
        </p:nvSpPr>
        <p:spPr>
          <a:xfrm>
            <a:off x="4238625" y="4695825"/>
            <a:ext cx="3819525"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71975" y="4781550"/>
            <a:ext cx="3552825" cy="209550"/>
          </a:xfrm>
          <a:prstGeom prst="rect">
            <a:avLst/>
          </a:prstGeom>
          <a:noFill/>
        </p:spPr>
        <p:txBody>
          <a:bodyPr wrap="square" lIns="0" tIns="9525" rIns="19050" bIns="9525">
            <a:spAutoFit/>
          </a:bodyPr>
          <a:lstStyle/>
          <a:p>
            <a:pPr algn="l"/>
            <a:r>
              <a:rPr sz="1300" b="1">
                <a:solidFill>
                  <a:srgbClr val="0B2E4A"/>
                </a:solidFill>
                <a:latin typeface="Calibri"/>
              </a:rPr>
              <a:t>Restraints</a:t>
            </a:r>
          </a:p>
        </p:txBody>
      </p:sp>
      <p:sp>
        <p:nvSpPr>
          <p:cNvPr id="24" name="Rectangle 23"/>
          <p:cNvSpPr/>
          <p:nvPr/>
        </p:nvSpPr>
        <p:spPr>
          <a:xfrm>
            <a:off x="4371975" y="50196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71975" y="5105400"/>
            <a:ext cx="3552825" cy="1447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6" name="Rounded Rectangle 25"/>
          <p:cNvSpPr/>
          <p:nvPr/>
        </p:nvSpPr>
        <p:spPr>
          <a:xfrm>
            <a:off x="8210550" y="4695825"/>
            <a:ext cx="3819525"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43900" y="4781550"/>
            <a:ext cx="3552825" cy="209550"/>
          </a:xfrm>
          <a:prstGeom prst="rect">
            <a:avLst/>
          </a:prstGeom>
          <a:noFill/>
        </p:spPr>
        <p:txBody>
          <a:bodyPr wrap="square" lIns="0" tIns="9525" rIns="19050" bIns="9525">
            <a:spAutoFit/>
          </a:bodyPr>
          <a:lstStyle/>
          <a:p>
            <a:pPr algn="l"/>
            <a:r>
              <a:rPr sz="1300" b="1">
                <a:solidFill>
                  <a:srgbClr val="0B2E4A"/>
                </a:solidFill>
                <a:latin typeface="Calibri"/>
              </a:rPr>
              <a:t>Trends</a:t>
            </a:r>
          </a:p>
        </p:txBody>
      </p:sp>
      <p:sp>
        <p:nvSpPr>
          <p:cNvPr id="28" name="Rectangle 27"/>
          <p:cNvSpPr/>
          <p:nvPr/>
        </p:nvSpPr>
        <p:spPr>
          <a:xfrm>
            <a:off x="8343900" y="50196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43900" y="5105400"/>
            <a:ext cx="3552825" cy="14478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'Chewables'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6 form type categories.</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235487" cy="194310"/>
          </a:xfrm>
          <a:prstGeom prst="rect">
            <a:avLst/>
          </a:prstGeom>
          <a:noFill/>
        </p:spPr>
        <p:txBody>
          <a:bodyPr wrap="none" lIns="0" tIns="0" rIns="0" bIns="0">
            <a:spAutoFit/>
          </a:bodyPr>
          <a:lstStyle/>
          <a:p>
            <a:r>
              <a:rPr sz="1150" b="0">
                <a:solidFill>
                  <a:srgbClr val="2E2E2E"/>
                </a:solidFill>
                <a:latin typeface="Calibri"/>
              </a:rPr>
              <a:t>Global senior dog cognitive supplement market is expected to witness</a:t>
            </a:r>
          </a:p>
        </p:txBody>
      </p:sp>
      <p:pic>
        <p:nvPicPr>
          <p:cNvPr id="32" name="Picture 31" descr="lock.png"/>
          <p:cNvPicPr>
            <a:picLocks noChangeAspect="1"/>
          </p:cNvPicPr>
          <p:nvPr/>
        </p:nvPicPr>
        <p:blipFill>
          <a:blip r:embed="rId4"/>
          <a:stretch>
            <a:fillRect/>
          </a:stretch>
        </p:blipFill>
        <p:spPr>
          <a:xfrm>
            <a:off x="4460866" y="1389951"/>
            <a:ext cx="134549" cy="195707"/>
          </a:xfrm>
          <a:prstGeom prst="rect">
            <a:avLst/>
          </a:prstGeom>
        </p:spPr>
      </p:pic>
      <p:sp>
        <p:nvSpPr>
          <p:cNvPr id="33" name="TextBox 32"/>
          <p:cNvSpPr txBox="1"/>
          <p:nvPr/>
        </p:nvSpPr>
        <p:spPr>
          <a:xfrm>
            <a:off x="4635975" y="1400175"/>
            <a:ext cx="6124153" cy="194310"/>
          </a:xfrm>
          <a:prstGeom prst="rect">
            <a:avLst/>
          </a:prstGeom>
          <a:noFill/>
        </p:spPr>
        <p:txBody>
          <a:bodyPr wrap="none" lIns="0" tIns="0" rIns="0" bIns="0">
            <a:spAutoFit/>
          </a:bodyPr>
          <a:lstStyle/>
          <a:p>
            <a:r>
              <a:rPr sz="1150" b="0">
                <a:solidFill>
                  <a:srgbClr val="2E2E2E"/>
                </a:solidFill>
                <a:latin typeface="Calibri"/>
              </a:rPr>
              <a:t>X increase in revenue by 2036 end. Global senior dog cognitive supplement market accounted for US$</a:t>
            </a:r>
          </a:p>
        </p:txBody>
      </p:sp>
      <p:pic>
        <p:nvPicPr>
          <p:cNvPr id="34" name="Picture 33" descr="lock.png"/>
          <p:cNvPicPr>
            <a:picLocks noChangeAspect="1"/>
          </p:cNvPicPr>
          <p:nvPr/>
        </p:nvPicPr>
        <p:blipFill>
          <a:blip r:embed="rId4"/>
          <a:stretch>
            <a:fillRect/>
          </a:stretch>
        </p:blipFill>
        <p:spPr>
          <a:xfrm>
            <a:off x="10709282" y="1389951"/>
            <a:ext cx="134549" cy="195707"/>
          </a:xfrm>
          <a:prstGeom prst="rect">
            <a:avLst/>
          </a:prstGeom>
        </p:spPr>
      </p:pic>
      <p:sp>
        <p:nvSpPr>
          <p:cNvPr id="35" name="TextBox 34"/>
          <p:cNvSpPr txBox="1"/>
          <p:nvPr/>
        </p:nvSpPr>
        <p:spPr>
          <a:xfrm>
            <a:off x="10884391" y="1400175"/>
            <a:ext cx="787623" cy="194310"/>
          </a:xfrm>
          <a:prstGeom prst="rect">
            <a:avLst/>
          </a:prstGeom>
          <a:noFill/>
        </p:spPr>
        <p:txBody>
          <a:bodyPr wrap="none" lIns="0" tIns="0" rIns="0" bIns="0">
            <a:spAutoFit/>
          </a:bodyPr>
          <a:lstStyle/>
          <a:p>
            <a:r>
              <a:rPr sz="1150" b="0">
                <a:solidFill>
                  <a:srgbClr val="2E2E2E"/>
                </a:solidFill>
                <a:latin typeface="Calibri"/>
              </a:rPr>
              <a:t>Mn in 2025,</a:t>
            </a:r>
          </a:p>
        </p:txBody>
      </p:sp>
      <p:sp>
        <p:nvSpPr>
          <p:cNvPr id="36" name="TextBox 35"/>
          <p:cNvSpPr txBox="1"/>
          <p:nvPr/>
        </p:nvSpPr>
        <p:spPr>
          <a:xfrm>
            <a:off x="276225" y="1575435"/>
            <a:ext cx="2247837" cy="194310"/>
          </a:xfrm>
          <a:prstGeom prst="rect">
            <a:avLst/>
          </a:prstGeom>
          <a:noFill/>
        </p:spPr>
        <p:txBody>
          <a:bodyPr wrap="none" lIns="0" tIns="0" rIns="0" bIns="0">
            <a:spAutoFit/>
          </a:bodyPr>
          <a:lstStyle/>
          <a:p>
            <a:r>
              <a:rPr sz="1150" b="0">
                <a:solidFill>
                  <a:srgbClr val="2E2E2E"/>
                </a:solidFill>
                <a:latin typeface="Calibri"/>
              </a:rPr>
              <a:t>which is expected to increase to US$</a:t>
            </a:r>
          </a:p>
        </p:txBody>
      </p:sp>
      <p:pic>
        <p:nvPicPr>
          <p:cNvPr id="37" name="Picture 36" descr="lock.png"/>
          <p:cNvPicPr>
            <a:picLocks noChangeAspect="1"/>
          </p:cNvPicPr>
          <p:nvPr/>
        </p:nvPicPr>
        <p:blipFill>
          <a:blip r:embed="rId4"/>
          <a:stretch>
            <a:fillRect/>
          </a:stretch>
        </p:blipFill>
        <p:spPr>
          <a:xfrm>
            <a:off x="2473216" y="1565211"/>
            <a:ext cx="134549" cy="195707"/>
          </a:xfrm>
          <a:prstGeom prst="rect">
            <a:avLst/>
          </a:prstGeom>
        </p:spPr>
      </p:pic>
      <p:sp>
        <p:nvSpPr>
          <p:cNvPr id="38" name="TextBox 37"/>
          <p:cNvSpPr txBox="1"/>
          <p:nvPr/>
        </p:nvSpPr>
        <p:spPr>
          <a:xfrm>
            <a:off x="2648326" y="1575435"/>
            <a:ext cx="1527554" cy="194310"/>
          </a:xfrm>
          <a:prstGeom prst="rect">
            <a:avLst/>
          </a:prstGeom>
          <a:noFill/>
        </p:spPr>
        <p:txBody>
          <a:bodyPr wrap="none" lIns="0" tIns="0" r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4125034" y="1565211"/>
            <a:ext cx="134549" cy="195707"/>
          </a:xfrm>
          <a:prstGeom prst="rect">
            <a:avLst/>
          </a:prstGeom>
        </p:spPr>
      </p:pic>
      <p:sp>
        <p:nvSpPr>
          <p:cNvPr id="40" name="TextBox 39"/>
          <p:cNvSpPr txBox="1"/>
          <p:nvPr/>
        </p:nvSpPr>
        <p:spPr>
          <a:xfrm>
            <a:off x="4300143" y="1575435"/>
            <a:ext cx="112997" cy="194310"/>
          </a:xfrm>
          <a:prstGeom prst="rect">
            <a:avLst/>
          </a:prstGeom>
          <a:noFill/>
        </p:spPr>
        <p:txBody>
          <a:bodyPr wrap="none" lIns="0" tIns="0" rIns="0" bIns="0">
            <a:spAutoFit/>
          </a:bodyPr>
          <a:lstStyle/>
          <a:p>
            <a:r>
              <a:rPr sz="1150" b="0">
                <a:solidFill>
                  <a:srgbClr val="2E2E2E"/>
                </a:solidFill>
                <a:latin typeface="Calibri"/>
              </a:rPr>
              <a:t>.</a:t>
            </a:r>
          </a:p>
        </p:txBody>
      </p:sp>
      <p:sp>
        <p:nvSpPr>
          <p:cNvPr id="41" name="TextBox 40"/>
          <p:cNvSpPr txBox="1"/>
          <p:nvPr/>
        </p:nvSpPr>
        <p:spPr>
          <a:xfrm>
            <a:off x="276225" y="1803273"/>
            <a:ext cx="11462109" cy="194310"/>
          </a:xfrm>
          <a:prstGeom prst="rect">
            <a:avLst/>
          </a:prstGeom>
          <a:noFill/>
        </p:spPr>
        <p:txBody>
          <a:bodyPr wrap="none" lIns="0" tIns="0" rIns="0" bIns="0">
            <a:spAutoFit/>
          </a:bodyPr>
          <a:lstStyle/>
          <a:p>
            <a:r>
              <a:rPr sz="1150" b="0">
                <a:solidFill>
                  <a:srgbClr val="2E2E2E"/>
                </a:solidFill>
                <a:latin typeface="Calibri"/>
              </a:rPr>
              <a:t>The global senior dog cognitive supplement market has been analysed on the basis of form type, active ingredient, end-use application and packaging format across the globe. North America is</a:t>
            </a:r>
          </a:p>
        </p:txBody>
      </p:sp>
      <p:sp>
        <p:nvSpPr>
          <p:cNvPr id="42" name="TextBox 41"/>
          <p:cNvSpPr txBox="1"/>
          <p:nvPr/>
        </p:nvSpPr>
        <p:spPr>
          <a:xfrm>
            <a:off x="276225" y="1978533"/>
            <a:ext cx="9590540" cy="194310"/>
          </a:xfrm>
          <a:prstGeom prst="rect">
            <a:avLst/>
          </a:prstGeom>
          <a:noFill/>
        </p:spPr>
        <p:txBody>
          <a:bodyPr wrap="none" lIns="0" tIns="0" rIns="0" bIns="0">
            <a:spAutoFit/>
          </a:bodyPr>
          <a:lstStyle/>
          <a:p>
            <a:r>
              <a:rPr sz="1150" b="0">
                <a:solidFill>
                  <a:srgbClr val="2E2E2E"/>
                </a:solidFill>
                <a:latin typeface="Calibri"/>
              </a:rPr>
              <a:t>expected to remain the largest market for senior dog cognitive supplement, while demand in South Asia &amp; Pacific is projected to increase at the highest CAGR of</a:t>
            </a:r>
          </a:p>
        </p:txBody>
      </p:sp>
      <p:pic>
        <p:nvPicPr>
          <p:cNvPr id="43" name="Picture 42" descr="lock.png"/>
          <p:cNvPicPr>
            <a:picLocks noChangeAspect="1"/>
          </p:cNvPicPr>
          <p:nvPr/>
        </p:nvPicPr>
        <p:blipFill>
          <a:blip r:embed="rId4"/>
          <a:stretch>
            <a:fillRect/>
          </a:stretch>
        </p:blipFill>
        <p:spPr>
          <a:xfrm>
            <a:off x="9815919" y="1968309"/>
            <a:ext cx="134549" cy="195707"/>
          </a:xfrm>
          <a:prstGeom prst="rect">
            <a:avLst/>
          </a:prstGeom>
        </p:spPr>
      </p:pic>
      <p:sp>
        <p:nvSpPr>
          <p:cNvPr id="44" name="TextBox 43"/>
          <p:cNvSpPr txBox="1"/>
          <p:nvPr/>
        </p:nvSpPr>
        <p:spPr>
          <a:xfrm>
            <a:off x="9991029" y="1978533"/>
            <a:ext cx="1503040" cy="194310"/>
          </a:xfrm>
          <a:prstGeom prst="rect">
            <a:avLst/>
          </a:prstGeom>
          <a:noFill/>
        </p:spPr>
        <p:txBody>
          <a:bodyPr wrap="none" lIns="0" tIns="0" rIns="0" bIns="0">
            <a:spAutoFit/>
          </a:bodyPr>
          <a:lstStyle/>
          <a:p>
            <a:r>
              <a:rPr sz="1150" b="0">
                <a:solidFill>
                  <a:srgbClr val="2E2E2E"/>
                </a:solidFill>
                <a:latin typeface="Calibri"/>
              </a:rPr>
              <a:t>throughout the forecast</a:t>
            </a:r>
          </a:p>
        </p:txBody>
      </p:sp>
      <p:sp>
        <p:nvSpPr>
          <p:cNvPr id="45" name="TextBox 44"/>
          <p:cNvSpPr txBox="1"/>
          <p:nvPr/>
        </p:nvSpPr>
        <p:spPr>
          <a:xfrm>
            <a:off x="276225" y="2153793"/>
            <a:ext cx="500943" cy="194310"/>
          </a:xfrm>
          <a:prstGeom prst="rect">
            <a:avLst/>
          </a:prstGeom>
          <a:noFill/>
        </p:spPr>
        <p:txBody>
          <a:bodyPr wrap="none" lIns="0" tIns="0" rIns="0" bIns="0">
            <a:spAutoFit/>
          </a:bodyPr>
          <a:lstStyle/>
          <a:p>
            <a:r>
              <a:rPr sz="1150" b="0">
                <a:solidFill>
                  <a:srgbClr val="2E2E2E"/>
                </a:solidFill>
                <a:latin typeface="Calibri"/>
              </a:rPr>
              <a:t>period.</a:t>
            </a:r>
          </a:p>
        </p:txBody>
      </p:sp>
      <p:sp>
        <p:nvSpPr>
          <p:cNvPr id="46" name="TextBox 45"/>
          <p:cNvSpPr txBox="1"/>
          <p:nvPr/>
        </p:nvSpPr>
        <p:spPr>
          <a:xfrm>
            <a:off x="276225" y="3409950"/>
            <a:ext cx="6053980" cy="194310"/>
          </a:xfrm>
          <a:prstGeom prst="rect">
            <a:avLst/>
          </a:prstGeom>
          <a:noFill/>
        </p:spPr>
        <p:txBody>
          <a:bodyPr wrap="none" lIns="0" tIns="0" rIns="0" bIns="0">
            <a:spAutoFit/>
          </a:bodyPr>
          <a:lstStyle/>
          <a:p>
            <a:r>
              <a:rPr sz="1150" b="0">
                <a:solidFill>
                  <a:srgbClr val="2E2E2E"/>
                </a:solidFill>
                <a:latin typeface="Calibri"/>
              </a:rPr>
              <a:t>▪ The market is moderately fragmented: the leading form type category 'Capsules and Softgels' holds</a:t>
            </a:r>
          </a:p>
        </p:txBody>
      </p:sp>
      <p:pic>
        <p:nvPicPr>
          <p:cNvPr id="47" name="Picture 46" descr="lock.png"/>
          <p:cNvPicPr>
            <a:picLocks noChangeAspect="1"/>
          </p:cNvPicPr>
          <p:nvPr/>
        </p:nvPicPr>
        <p:blipFill>
          <a:blip r:embed="rId4"/>
          <a:stretch>
            <a:fillRect/>
          </a:stretch>
        </p:blipFill>
        <p:spPr>
          <a:xfrm>
            <a:off x="6279359" y="3399726"/>
            <a:ext cx="134549" cy="195707"/>
          </a:xfrm>
          <a:prstGeom prst="rect">
            <a:avLst/>
          </a:prstGeom>
        </p:spPr>
      </p:pic>
      <p:sp>
        <p:nvSpPr>
          <p:cNvPr id="48" name="TextBox 47"/>
          <p:cNvSpPr txBox="1"/>
          <p:nvPr/>
        </p:nvSpPr>
        <p:spPr>
          <a:xfrm>
            <a:off x="6454469" y="3409950"/>
            <a:ext cx="916272" cy="194310"/>
          </a:xfrm>
          <a:prstGeom prst="rect">
            <a:avLst/>
          </a:prstGeom>
          <a:noFill/>
        </p:spPr>
        <p:txBody>
          <a:bodyPr wrap="none" lIns="0" tIns="0" rIns="0" bIns="0">
            <a:spAutoFit/>
          </a:bodyPr>
          <a:lstStyle/>
          <a:p>
            <a:r>
              <a:rPr sz="1150" b="0">
                <a:solidFill>
                  <a:srgbClr val="2E2E2E"/>
                </a:solidFill>
                <a:latin typeface="Calibri"/>
              </a:rPr>
              <a:t>of 2036 value.</a:t>
            </a:r>
          </a:p>
        </p:txBody>
      </p:sp>
      <p:sp>
        <p:nvSpPr>
          <p:cNvPr id="49" name="TextBox 48"/>
          <p:cNvSpPr txBox="1"/>
          <p:nvPr/>
        </p:nvSpPr>
        <p:spPr>
          <a:xfrm>
            <a:off x="276225" y="3637787"/>
            <a:ext cx="4730973" cy="194310"/>
          </a:xfrm>
          <a:prstGeom prst="rect">
            <a:avLst/>
          </a:prstGeom>
          <a:noFill/>
        </p:spPr>
        <p:txBody>
          <a:bodyPr wrap="none" lIns="0" tIns="0" rIns="0" bIns="0">
            <a:spAutoFit/>
          </a:bodyPr>
          <a:lstStyle/>
          <a:p>
            <a:r>
              <a:rPr sz="1150" b="0">
                <a:solidFill>
                  <a:srgbClr val="2E2E2E"/>
                </a:solidFill>
                <a:latin typeface="Calibri"/>
              </a:rPr>
              <a:t>▪ Demand spans 6 regions and 8 segmentation lenses (6 form type categories).</a:t>
            </a:r>
          </a:p>
        </p:txBody>
      </p:sp>
      <p:sp>
        <p:nvSpPr>
          <p:cNvPr id="50" name="TextBox 49"/>
          <p:cNvSpPr txBox="1"/>
          <p:nvPr/>
        </p:nvSpPr>
        <p:spPr>
          <a:xfrm>
            <a:off x="276225" y="3865625"/>
            <a:ext cx="2950988" cy="194310"/>
          </a:xfrm>
          <a:prstGeom prst="rect">
            <a:avLst/>
          </a:prstGeom>
          <a:noFill/>
        </p:spPr>
        <p:txBody>
          <a:bodyPr wrap="none" lIns="0" tIns="0" rIns="0" bIns="0">
            <a:spAutoFit/>
          </a:bodyPr>
          <a:lstStyle/>
          <a:p>
            <a:r>
              <a:rPr sz="1150" b="0">
                <a:solidFill>
                  <a:srgbClr val="2E2E2E"/>
                </a:solidFill>
                <a:latin typeface="Calibri"/>
              </a:rPr>
              <a:t>▪ North America is the largest regional market at</a:t>
            </a:r>
          </a:p>
        </p:txBody>
      </p:sp>
      <p:pic>
        <p:nvPicPr>
          <p:cNvPr id="51" name="Picture 50" descr="lock.png"/>
          <p:cNvPicPr>
            <a:picLocks noChangeAspect="1"/>
          </p:cNvPicPr>
          <p:nvPr/>
        </p:nvPicPr>
        <p:blipFill>
          <a:blip r:embed="rId4"/>
          <a:stretch>
            <a:fillRect/>
          </a:stretch>
        </p:blipFill>
        <p:spPr>
          <a:xfrm>
            <a:off x="3176367" y="3855402"/>
            <a:ext cx="134549" cy="195707"/>
          </a:xfrm>
          <a:prstGeom prst="rect">
            <a:avLst/>
          </a:prstGeom>
        </p:spPr>
      </p:pic>
      <p:sp>
        <p:nvSpPr>
          <p:cNvPr id="52" name="TextBox 51"/>
          <p:cNvSpPr txBox="1"/>
          <p:nvPr/>
        </p:nvSpPr>
        <p:spPr>
          <a:xfrm>
            <a:off x="3351477" y="3865625"/>
            <a:ext cx="916272" cy="194310"/>
          </a:xfrm>
          <a:prstGeom prst="rect">
            <a:avLst/>
          </a:prstGeom>
          <a:noFill/>
        </p:spPr>
        <p:txBody>
          <a:bodyPr wrap="none" lIns="0" tIns="0" rIns="0" bIns="0">
            <a:spAutoFit/>
          </a:bodyPr>
          <a:lstStyle/>
          <a:p>
            <a:r>
              <a:rPr sz="1150" b="0">
                <a:solidFill>
                  <a:srgbClr val="2E2E2E"/>
                </a:solidFill>
                <a:latin typeface="Calibri"/>
              </a:rPr>
              <a:t>of 2036 value.</a:t>
            </a:r>
          </a:p>
        </p:txBody>
      </p:sp>
      <p:sp>
        <p:nvSpPr>
          <p:cNvPr id="53" name="TextBox 52"/>
          <p:cNvSpPr txBox="1"/>
          <p:nvPr/>
        </p:nvSpPr>
        <p:spPr>
          <a:xfrm>
            <a:off x="276225" y="5114925"/>
            <a:ext cx="2313446" cy="194310"/>
          </a:xfrm>
          <a:prstGeom prst="rect">
            <a:avLst/>
          </a:prstGeom>
          <a:noFill/>
        </p:spPr>
        <p:txBody>
          <a:bodyPr wrap="none" lIns="0" tIns="0" rIns="0" bIns="0">
            <a:spAutoFit/>
          </a:bodyPr>
          <a:lstStyle/>
          <a:p>
            <a:r>
              <a:rPr sz="1150" b="0">
                <a:solidFill>
                  <a:srgbClr val="2E2E2E"/>
                </a:solidFill>
                <a:latin typeface="Calibri"/>
              </a:rPr>
              <a:t>▪ Accelerating uptake of 'Chewables' (</a:t>
            </a:r>
          </a:p>
        </p:txBody>
      </p:sp>
      <p:pic>
        <p:nvPicPr>
          <p:cNvPr id="54" name="Picture 53" descr="lock.png"/>
          <p:cNvPicPr>
            <a:picLocks noChangeAspect="1"/>
          </p:cNvPicPr>
          <p:nvPr/>
        </p:nvPicPr>
        <p:blipFill>
          <a:blip r:embed="rId4"/>
          <a:stretch>
            <a:fillRect/>
          </a:stretch>
        </p:blipFill>
        <p:spPr>
          <a:xfrm>
            <a:off x="2538825" y="5104701"/>
            <a:ext cx="134549" cy="195707"/>
          </a:xfrm>
          <a:prstGeom prst="rect">
            <a:avLst/>
          </a:prstGeom>
        </p:spPr>
      </p:pic>
      <p:sp>
        <p:nvSpPr>
          <p:cNvPr id="55" name="TextBox 54"/>
          <p:cNvSpPr txBox="1"/>
          <p:nvPr/>
        </p:nvSpPr>
        <p:spPr>
          <a:xfrm>
            <a:off x="2713934" y="5114925"/>
            <a:ext cx="490941"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56" name="TextBox 55"/>
          <p:cNvSpPr txBox="1"/>
          <p:nvPr/>
        </p:nvSpPr>
        <p:spPr>
          <a:xfrm>
            <a:off x="276225" y="5342763"/>
            <a:ext cx="2877045" cy="194310"/>
          </a:xfrm>
          <a:prstGeom prst="rect">
            <a:avLst/>
          </a:prstGeom>
          <a:noFill/>
        </p:spPr>
        <p:txBody>
          <a:bodyPr wrap="none" lIns="0" tIns="0" rIns="0" bIns="0">
            <a:spAutoFit/>
          </a:bodyPr>
          <a:lstStyle/>
          <a:p>
            <a:r>
              <a:rPr sz="1150" b="0">
                <a:solidFill>
                  <a:srgbClr val="2E2E2E"/>
                </a:solidFill>
                <a:latin typeface="Calibri"/>
              </a:rPr>
              <a:t>▪ Fast-growing demand in South Asia &amp; Pacific (</a:t>
            </a:r>
          </a:p>
        </p:txBody>
      </p:sp>
      <p:pic>
        <p:nvPicPr>
          <p:cNvPr id="57" name="Picture 56" descr="lock.png"/>
          <p:cNvPicPr>
            <a:picLocks noChangeAspect="1"/>
          </p:cNvPicPr>
          <p:nvPr/>
        </p:nvPicPr>
        <p:blipFill>
          <a:blip r:embed="rId4"/>
          <a:stretch>
            <a:fillRect/>
          </a:stretch>
        </p:blipFill>
        <p:spPr>
          <a:xfrm>
            <a:off x="3102424" y="5332539"/>
            <a:ext cx="134549" cy="195707"/>
          </a:xfrm>
          <a:prstGeom prst="rect">
            <a:avLst/>
          </a:prstGeom>
        </p:spPr>
      </p:pic>
      <p:sp>
        <p:nvSpPr>
          <p:cNvPr id="58" name="TextBox 57"/>
          <p:cNvSpPr txBox="1"/>
          <p:nvPr/>
        </p:nvSpPr>
        <p:spPr>
          <a:xfrm>
            <a:off x="3277533" y="5342763"/>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59" name="TextBox 58"/>
          <p:cNvSpPr txBox="1"/>
          <p:nvPr/>
        </p:nvSpPr>
        <p:spPr>
          <a:xfrm>
            <a:off x="276225" y="5570600"/>
            <a:ext cx="3478708" cy="194310"/>
          </a:xfrm>
          <a:prstGeom prst="rect">
            <a:avLst/>
          </a:prstGeom>
          <a:noFill/>
        </p:spPr>
        <p:txBody>
          <a:bodyPr wrap="none" lIns="0" tIns="0" rIns="0" bIns="0">
            <a:spAutoFit/>
          </a:bodyPr>
          <a:lstStyle/>
          <a:p>
            <a:r>
              <a:rPr sz="1150" b="0">
                <a:solidFill>
                  <a:srgbClr val="2E2E2E"/>
                </a:solidFill>
                <a:latin typeface="Calibri"/>
              </a:rPr>
              <a:t>▪ Momentum in Veterinary-Guided Cognitive Dysfunction</a:t>
            </a:r>
          </a:p>
        </p:txBody>
      </p:sp>
      <p:sp>
        <p:nvSpPr>
          <p:cNvPr id="60" name="TextBox 59"/>
          <p:cNvSpPr txBox="1"/>
          <p:nvPr/>
        </p:nvSpPr>
        <p:spPr>
          <a:xfrm>
            <a:off x="276225" y="5745860"/>
            <a:ext cx="2237854" cy="194310"/>
          </a:xfrm>
          <a:prstGeom prst="rect">
            <a:avLst/>
          </a:prstGeom>
          <a:noFill/>
        </p:spPr>
        <p:txBody>
          <a:bodyPr wrap="none" lIns="0" tIns="0" rIns="0" bIns="0">
            <a:spAutoFit/>
          </a:bodyPr>
          <a:lstStyle/>
          <a:p>
            <a:r>
              <a:rPr sz="1150" b="0">
                <a:solidFill>
                  <a:srgbClr val="2E2E2E"/>
                </a:solidFill>
                <a:latin typeface="Calibri"/>
              </a:rPr>
              <a:t>Support within end-use application (</a:t>
            </a:r>
          </a:p>
        </p:txBody>
      </p:sp>
      <p:pic>
        <p:nvPicPr>
          <p:cNvPr id="61" name="Picture 60" descr="lock.png"/>
          <p:cNvPicPr>
            <a:picLocks noChangeAspect="1"/>
          </p:cNvPicPr>
          <p:nvPr/>
        </p:nvPicPr>
        <p:blipFill>
          <a:blip r:embed="rId4"/>
          <a:stretch>
            <a:fillRect/>
          </a:stretch>
        </p:blipFill>
        <p:spPr>
          <a:xfrm>
            <a:off x="2463233" y="5735637"/>
            <a:ext cx="134549" cy="195707"/>
          </a:xfrm>
          <a:prstGeom prst="rect">
            <a:avLst/>
          </a:prstGeom>
        </p:spPr>
      </p:pic>
      <p:sp>
        <p:nvSpPr>
          <p:cNvPr id="62" name="TextBox 61"/>
          <p:cNvSpPr txBox="1"/>
          <p:nvPr/>
        </p:nvSpPr>
        <p:spPr>
          <a:xfrm>
            <a:off x="2638342" y="5745860"/>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63" name="TextBox 62"/>
          <p:cNvSpPr txBox="1"/>
          <p:nvPr/>
        </p:nvSpPr>
        <p:spPr>
          <a:xfrm>
            <a:off x="4371975" y="5114925"/>
            <a:ext cx="2036464" cy="194310"/>
          </a:xfrm>
          <a:prstGeom prst="rect">
            <a:avLst/>
          </a:prstGeom>
          <a:noFill/>
        </p:spPr>
        <p:txBody>
          <a:bodyPr wrap="none" lIns="0" tIns="0" rIns="0" bIns="0">
            <a:spAutoFit/>
          </a:bodyPr>
          <a:lstStyle/>
          <a:p>
            <a:r>
              <a:rPr sz="1150" b="0">
                <a:solidFill>
                  <a:srgbClr val="2E2E2E"/>
                </a:solidFill>
                <a:latin typeface="Calibri"/>
              </a:rPr>
              <a:t>▪ Slower momentum in 'Liquids' (</a:t>
            </a:r>
          </a:p>
        </p:txBody>
      </p:sp>
      <p:pic>
        <p:nvPicPr>
          <p:cNvPr id="64" name="Picture 63" descr="lock.png"/>
          <p:cNvPicPr>
            <a:picLocks noChangeAspect="1"/>
          </p:cNvPicPr>
          <p:nvPr/>
        </p:nvPicPr>
        <p:blipFill>
          <a:blip r:embed="rId4"/>
          <a:stretch>
            <a:fillRect/>
          </a:stretch>
        </p:blipFill>
        <p:spPr>
          <a:xfrm>
            <a:off x="6357593" y="5104701"/>
            <a:ext cx="134549" cy="195707"/>
          </a:xfrm>
          <a:prstGeom prst="rect">
            <a:avLst/>
          </a:prstGeom>
        </p:spPr>
      </p:pic>
      <p:sp>
        <p:nvSpPr>
          <p:cNvPr id="65" name="TextBox 64"/>
          <p:cNvSpPr txBox="1"/>
          <p:nvPr/>
        </p:nvSpPr>
        <p:spPr>
          <a:xfrm>
            <a:off x="6532703" y="5114925"/>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66" name="TextBox 65"/>
          <p:cNvSpPr txBox="1"/>
          <p:nvPr/>
        </p:nvSpPr>
        <p:spPr>
          <a:xfrm>
            <a:off x="4371975" y="5342763"/>
            <a:ext cx="3264197" cy="194310"/>
          </a:xfrm>
          <a:prstGeom prst="rect">
            <a:avLst/>
          </a:prstGeom>
          <a:noFill/>
        </p:spPr>
        <p:txBody>
          <a:bodyPr wrap="none" lIns="0" tIns="0" rIns="0" bIns="0">
            <a:spAutoFit/>
          </a:bodyPr>
          <a:lstStyle/>
          <a:p>
            <a:r>
              <a:rPr sz="1150" b="0">
                <a:solidFill>
                  <a:srgbClr val="2E2E2E"/>
                </a:solidFill>
                <a:latin typeface="Calibri"/>
              </a:rPr>
              <a:t>▪ Maturing demand in established categories caps the</a:t>
            </a:r>
          </a:p>
        </p:txBody>
      </p:sp>
      <p:sp>
        <p:nvSpPr>
          <p:cNvPr id="67" name="TextBox 66"/>
          <p:cNvSpPr txBox="1"/>
          <p:nvPr/>
        </p:nvSpPr>
        <p:spPr>
          <a:xfrm>
            <a:off x="4371975" y="5518022"/>
            <a:ext cx="562272" cy="194310"/>
          </a:xfrm>
          <a:prstGeom prst="rect">
            <a:avLst/>
          </a:prstGeom>
          <a:noFill/>
        </p:spPr>
        <p:txBody>
          <a:bodyPr wrap="none" lIns="0" tIns="0" rIns="0" bIns="0">
            <a:spAutoFit/>
          </a:bodyPr>
          <a:lstStyle/>
          <a:p>
            <a:r>
              <a:rPr sz="1150" b="0">
                <a:solidFill>
                  <a:srgbClr val="2E2E2E"/>
                </a:solidFill>
                <a:latin typeface="Calibri"/>
              </a:rPr>
              <a:t>blended</a:t>
            </a:r>
          </a:p>
        </p:txBody>
      </p:sp>
      <p:pic>
        <p:nvPicPr>
          <p:cNvPr id="68" name="Picture 67" descr="lock.png"/>
          <p:cNvPicPr>
            <a:picLocks noChangeAspect="1"/>
          </p:cNvPicPr>
          <p:nvPr/>
        </p:nvPicPr>
        <p:blipFill>
          <a:blip r:embed="rId4"/>
          <a:stretch>
            <a:fillRect/>
          </a:stretch>
        </p:blipFill>
        <p:spPr>
          <a:xfrm>
            <a:off x="4883401" y="5507799"/>
            <a:ext cx="134549" cy="195707"/>
          </a:xfrm>
          <a:prstGeom prst="rect">
            <a:avLst/>
          </a:prstGeom>
        </p:spPr>
      </p:pic>
      <p:sp>
        <p:nvSpPr>
          <p:cNvPr id="69" name="TextBox 68"/>
          <p:cNvSpPr txBox="1"/>
          <p:nvPr/>
        </p:nvSpPr>
        <p:spPr>
          <a:xfrm>
            <a:off x="5058510" y="5518022"/>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70" name="TextBox 69"/>
          <p:cNvSpPr txBox="1"/>
          <p:nvPr/>
        </p:nvSpPr>
        <p:spPr>
          <a:xfrm>
            <a:off x="4371975" y="5745860"/>
            <a:ext cx="3260204" cy="194310"/>
          </a:xfrm>
          <a:prstGeom prst="rect">
            <a:avLst/>
          </a:prstGeom>
          <a:noFill/>
        </p:spPr>
        <p:txBody>
          <a:bodyPr wrap="none" lIns="0" tIns="0" rIns="0" bIns="0">
            <a:spAutoFit/>
          </a:bodyPr>
          <a:lstStyle/>
          <a:p>
            <a:r>
              <a:rPr sz="1150" b="0">
                <a:solidFill>
                  <a:srgbClr val="2E2E2E"/>
                </a:solidFill>
                <a:latin typeface="Calibri"/>
              </a:rPr>
              <a:t>▪ Value concentration in 'Capsules and Softgels' raises</a:t>
            </a:r>
          </a:p>
        </p:txBody>
      </p:sp>
      <p:sp>
        <p:nvSpPr>
          <p:cNvPr id="71" name="TextBox 70"/>
          <p:cNvSpPr txBox="1"/>
          <p:nvPr/>
        </p:nvSpPr>
        <p:spPr>
          <a:xfrm>
            <a:off x="4371975" y="5921120"/>
            <a:ext cx="1604305" cy="194310"/>
          </a:xfrm>
          <a:prstGeom prst="rect">
            <a:avLst/>
          </a:prstGeom>
          <a:noFill/>
        </p:spPr>
        <p:txBody>
          <a:bodyPr wrap="none" lIns="0" tIns="0" rIns="0" bIns="0">
            <a:spAutoFit/>
          </a:bodyPr>
          <a:lstStyle/>
          <a:p>
            <a:r>
              <a:rPr sz="1150" b="0">
                <a:solidFill>
                  <a:srgbClr val="2E2E2E"/>
                </a:solidFill>
                <a:latin typeface="Calibri"/>
              </a:rPr>
              <a:t>barriers for new entrants.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225"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225" y="1390650"/>
            <a:ext cx="5610225" cy="12954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'Chewables' and South Asia &amp; Pacific.</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form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North America and South Asia &amp; Pacific.</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390650"/>
            <a:ext cx="5610225" cy="12954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2981325"/>
            <a:ext cx="5610225" cy="209550"/>
          </a:xfrm>
          <a:prstGeom prst="rect">
            <a:avLst/>
          </a:prstGeom>
          <a:noFill/>
        </p:spPr>
        <p:txBody>
          <a:bodyPr wrap="square" lIns="0" tIns="9525" rIns="19050"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3305175"/>
            <a:ext cx="5610225" cy="8001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5550" y="2981325"/>
            <a:ext cx="5610225" cy="209550"/>
          </a:xfrm>
          <a:prstGeom prst="rect">
            <a:avLst/>
          </a:prstGeom>
          <a:noFill/>
        </p:spPr>
        <p:txBody>
          <a:bodyPr wrap="square" lIns="0" tIns="9525" rIns="19050"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5550" y="3305175"/>
            <a:ext cx="5610225" cy="8001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8125" y="437197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structure form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xmlns:r="http://schemas.openxmlformats.org/officeDocument/2006/relationships" r:id="rId4"/>
          </a:graphicData>
        </a:graphic>
      </p:graphicFrame>
      <p:sp>
        <p:nvSpPr>
          <p:cNvPr id="29" name="TextBox 28"/>
          <p:cNvSpPr txBox="1"/>
          <p:nvPr/>
        </p:nvSpPr>
        <p:spPr>
          <a:xfrm>
            <a:off x="3871570" y="5462588"/>
            <a:ext cx="934136" cy="228600"/>
          </a:xfrm>
          <a:prstGeom prst="rect">
            <a:avLst/>
          </a:prstGeom>
          <a:noFill/>
        </p:spPr>
        <p:txBody>
          <a:bodyPr wrap="square" lIns="28575" tIns="9525" rIns="28575" bIns="9525" anchor="ctr">
            <a:spAutoFit/>
          </a:bodyPr>
          <a:lstStyle/>
          <a:p>
            <a:pPr algn="ctr"/>
            <a:endParaRP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tIns="0" r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tIns="0" r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tIns="0" r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tIns="0" r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tIns="0" rIns="0" bIns="0">
            <a:spAutoFit/>
          </a:bodyPr>
          <a:lstStyle/>
          <a:p>
            <a:r>
              <a:rPr sz="1100" b="0">
                <a:solidFill>
                  <a:srgbClr val="2E2E2E"/>
                </a:solidFill>
                <a:latin typeface="Calibri"/>
              </a:rPr>
              <a:t>(2026–2036).</a:t>
            </a:r>
          </a:p>
        </p:txBody>
      </p:sp>
      <p:sp>
        <p:nvSpPr>
          <p:cNvPr id="40" name="TextBox 39"/>
          <p:cNvSpPr txBox="1"/>
          <p:nvPr/>
        </p:nvSpPr>
        <p:spPr>
          <a:xfrm>
            <a:off x="6305550" y="1836039"/>
            <a:ext cx="2270199" cy="186689"/>
          </a:xfrm>
          <a:prstGeom prst="rect">
            <a:avLst/>
          </a:prstGeom>
          <a:noFill/>
        </p:spPr>
        <p:txBody>
          <a:bodyPr wrap="none" lIns="0" tIns="0" rIns="0" bIns="0">
            <a:spAutoFit/>
          </a:bodyPr>
          <a:lstStyle/>
          <a:p>
            <a:r>
              <a:rPr sz="1100" b="0">
                <a:solidFill>
                  <a:srgbClr val="2E2E2E"/>
                </a:solidFill>
                <a:latin typeface="Calibri"/>
              </a:rPr>
              <a:t>▪ Lead category 'Capsules and Softgels'</a:t>
            </a:r>
          </a:p>
        </p:txBody>
      </p:sp>
      <p:pic>
        <p:nvPicPr>
          <p:cNvPr id="41" name="Picture 40" descr="lock.png"/>
          <p:cNvPicPr>
            <a:picLocks noChangeAspect="1"/>
          </p:cNvPicPr>
          <p:nvPr/>
        </p:nvPicPr>
        <p:blipFill>
          <a:blip r:embed="rId5"/>
          <a:stretch>
            <a:fillRect/>
          </a:stretch>
        </p:blipFill>
        <p:spPr>
          <a:xfrm>
            <a:off x="8523801" y="1826260"/>
            <a:ext cx="128699" cy="187198"/>
          </a:xfrm>
          <a:prstGeom prst="rect">
            <a:avLst/>
          </a:prstGeom>
        </p:spPr>
      </p:pic>
      <p:sp>
        <p:nvSpPr>
          <p:cNvPr id="42" name="TextBox 41"/>
          <p:cNvSpPr txBox="1"/>
          <p:nvPr/>
        </p:nvSpPr>
        <p:spPr>
          <a:xfrm>
            <a:off x="8691296" y="1836039"/>
            <a:ext cx="543049" cy="186689"/>
          </a:xfrm>
          <a:prstGeom prst="rect">
            <a:avLst/>
          </a:prstGeom>
          <a:noFill/>
        </p:spPr>
        <p:txBody>
          <a:bodyPr wrap="none" lIns="0" tIns="0" rIns="0" bIns="0">
            <a:spAutoFit/>
          </a:bodyPr>
          <a:lstStyle/>
          <a:p>
            <a:r>
              <a:rPr sz="1100" b="0">
                <a:solidFill>
                  <a:srgbClr val="2E2E2E"/>
                </a:solidFill>
                <a:latin typeface="Calibri"/>
              </a:rPr>
              <a:t>of 2036.</a:t>
            </a:r>
          </a:p>
        </p:txBody>
      </p:sp>
      <p:sp>
        <p:nvSpPr>
          <p:cNvPr id="43" name="TextBox 42"/>
          <p:cNvSpPr txBox="1"/>
          <p:nvPr/>
        </p:nvSpPr>
        <p:spPr>
          <a:xfrm>
            <a:off x="6305550" y="2053970"/>
            <a:ext cx="1686297" cy="186689"/>
          </a:xfrm>
          <a:prstGeom prst="rect">
            <a:avLst/>
          </a:prstGeom>
          <a:noFill/>
        </p:spPr>
        <p:txBody>
          <a:bodyPr wrap="none" lIns="0" tIns="0" rIns="0" bIns="0">
            <a:spAutoFit/>
          </a:bodyPr>
          <a:lstStyle/>
          <a:p>
            <a:r>
              <a:rPr sz="1100" b="0">
                <a:solidFill>
                  <a:srgbClr val="2E2E2E"/>
                </a:solidFill>
                <a:latin typeface="Calibri"/>
              </a:rPr>
              <a:t>▪ Lead region North America</a:t>
            </a:r>
          </a:p>
        </p:txBody>
      </p:sp>
      <p:pic>
        <p:nvPicPr>
          <p:cNvPr id="44" name="Picture 43" descr="lock.png"/>
          <p:cNvPicPr>
            <a:picLocks noChangeAspect="1"/>
          </p:cNvPicPr>
          <p:nvPr/>
        </p:nvPicPr>
        <p:blipFill>
          <a:blip r:embed="rId5"/>
          <a:stretch>
            <a:fillRect/>
          </a:stretch>
        </p:blipFill>
        <p:spPr>
          <a:xfrm>
            <a:off x="7939898" y="2044192"/>
            <a:ext cx="128699" cy="187198"/>
          </a:xfrm>
          <a:prstGeom prst="rect">
            <a:avLst/>
          </a:prstGeom>
        </p:spPr>
      </p:pic>
      <p:sp>
        <p:nvSpPr>
          <p:cNvPr id="45" name="TextBox 44"/>
          <p:cNvSpPr txBox="1"/>
          <p:nvPr/>
        </p:nvSpPr>
        <p:spPr>
          <a:xfrm>
            <a:off x="8107394" y="2053970"/>
            <a:ext cx="111397" cy="186689"/>
          </a:xfrm>
          <a:prstGeom prst="rect">
            <a:avLst/>
          </a:prstGeom>
          <a:noFill/>
        </p:spPr>
        <p:txBody>
          <a:bodyPr wrap="none" lIns="0" tIns="0" r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tIns="0" r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tIns="0" rIns="0" bIns="0">
            <a:spAutoFit/>
          </a:bodyPr>
          <a:lstStyle/>
          <a:p>
            <a:r>
              <a:rPr sz="1100" b="0">
                <a:solidFill>
                  <a:srgbClr val="2E2E2E"/>
                </a:solidFill>
                <a:latin typeface="Calibri"/>
              </a:rPr>
              <a:t>US$ Mn.</a:t>
            </a:r>
          </a:p>
        </p:txBody>
      </p:sp>
      <p:sp>
        <p:nvSpPr>
          <p:cNvPr id="49" name="TextBox 48"/>
          <p:cNvSpPr txBox="1"/>
          <p:nvPr/>
        </p:nvSpPr>
        <p:spPr>
          <a:xfrm>
            <a:off x="276225" y="3314700"/>
            <a:ext cx="4136789" cy="194310"/>
          </a:xfrm>
          <a:prstGeom prst="rect">
            <a:avLst/>
          </a:prstGeom>
          <a:noFill/>
        </p:spPr>
        <p:txBody>
          <a:bodyPr wrap="none" lIns="0" tIns="0" rIns="0" bIns="0">
            <a:spAutoFit/>
          </a:bodyPr>
          <a:lstStyle/>
          <a:p>
            <a:r>
              <a:rPr sz="1150" b="0">
                <a:solidFill>
                  <a:srgbClr val="2E2E2E"/>
                </a:solidFill>
                <a:latin typeface="Calibri"/>
              </a:rPr>
              <a:t>▪ Investment is flowing toward the fastest-growing tier 'Chewables' (</a:t>
            </a:r>
          </a:p>
        </p:txBody>
      </p:sp>
      <p:pic>
        <p:nvPicPr>
          <p:cNvPr id="50" name="Picture 49" descr="lock.png"/>
          <p:cNvPicPr>
            <a:picLocks noChangeAspect="1"/>
          </p:cNvPicPr>
          <p:nvPr/>
        </p:nvPicPr>
        <p:blipFill>
          <a:blip r:embed="rId5"/>
          <a:stretch>
            <a:fillRect/>
          </a:stretch>
        </p:blipFill>
        <p:spPr>
          <a:xfrm>
            <a:off x="4362168" y="3304476"/>
            <a:ext cx="134549" cy="195707"/>
          </a:xfrm>
          <a:prstGeom prst="rect">
            <a:avLst/>
          </a:prstGeom>
        </p:spPr>
      </p:pic>
      <p:sp>
        <p:nvSpPr>
          <p:cNvPr id="51" name="TextBox 50"/>
          <p:cNvSpPr txBox="1"/>
          <p:nvPr/>
        </p:nvSpPr>
        <p:spPr>
          <a:xfrm>
            <a:off x="4537277" y="3314700"/>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52" name="TextBox 51"/>
          <p:cNvSpPr txBox="1"/>
          <p:nvPr/>
        </p:nvSpPr>
        <p:spPr>
          <a:xfrm>
            <a:off x="276225" y="3542537"/>
            <a:ext cx="1409762" cy="194310"/>
          </a:xfrm>
          <a:prstGeom prst="rect">
            <a:avLst/>
          </a:prstGeom>
          <a:noFill/>
        </p:spPr>
        <p:txBody>
          <a:bodyPr wrap="none" lIns="0" tIns="0" rIns="0" bIns="0">
            <a:spAutoFit/>
          </a:bodyPr>
          <a:lstStyle/>
          <a:p>
            <a:r>
              <a:rPr sz="1150" b="0">
                <a:solidFill>
                  <a:srgbClr val="2E2E2E"/>
                </a:solidFill>
                <a:latin typeface="Calibri"/>
              </a:rPr>
              <a:t>▪ South Asia &amp; Pacific (</a:t>
            </a:r>
          </a:p>
        </p:txBody>
      </p:sp>
      <p:pic>
        <p:nvPicPr>
          <p:cNvPr id="53" name="Picture 52" descr="lock.png"/>
          <p:cNvPicPr>
            <a:picLocks noChangeAspect="1"/>
          </p:cNvPicPr>
          <p:nvPr/>
        </p:nvPicPr>
        <p:blipFill>
          <a:blip r:embed="rId5"/>
          <a:stretch>
            <a:fillRect/>
          </a:stretch>
        </p:blipFill>
        <p:spPr>
          <a:xfrm>
            <a:off x="1635140" y="3532314"/>
            <a:ext cx="134549" cy="195707"/>
          </a:xfrm>
          <a:prstGeom prst="rect">
            <a:avLst/>
          </a:prstGeom>
        </p:spPr>
      </p:pic>
      <p:sp>
        <p:nvSpPr>
          <p:cNvPr id="54" name="TextBox 53"/>
          <p:cNvSpPr txBox="1"/>
          <p:nvPr/>
        </p:nvSpPr>
        <p:spPr>
          <a:xfrm>
            <a:off x="1810250" y="3542537"/>
            <a:ext cx="2283494" cy="194310"/>
          </a:xfrm>
          <a:prstGeom prst="rect">
            <a:avLst/>
          </a:prstGeom>
          <a:noFill/>
        </p:spPr>
        <p:txBody>
          <a:bodyPr wrap="none" lIns="0" tIns="0" rIns="0" bIns="0">
            <a:spAutoFit/>
          </a:bodyPr>
          <a:lstStyle/>
          <a:p>
            <a:r>
              <a:rPr sz="1150" b="0">
                <a:solidFill>
                  <a:srgbClr val="2E2E2E"/>
                </a:solidFill>
                <a:latin typeface="Calibri"/>
              </a:rPr>
              <a:t>) is a priority region for new capacity.</a:t>
            </a:r>
          </a:p>
        </p:txBody>
      </p:sp>
      <p:sp>
        <p:nvSpPr>
          <p:cNvPr id="55" name="TextBox 54"/>
          <p:cNvSpPr txBox="1"/>
          <p:nvPr/>
        </p:nvSpPr>
        <p:spPr>
          <a:xfrm>
            <a:off x="276225" y="3770375"/>
            <a:ext cx="3290155" cy="194310"/>
          </a:xfrm>
          <a:prstGeom prst="rect">
            <a:avLst/>
          </a:prstGeom>
          <a:noFill/>
        </p:spPr>
        <p:txBody>
          <a:bodyPr wrap="none" lIns="0" tIns="0" rIns="0" bIns="0">
            <a:spAutoFit/>
          </a:bodyPr>
          <a:lstStyle/>
          <a:p>
            <a:r>
              <a:rPr sz="1150" b="0">
                <a:solidFill>
                  <a:srgbClr val="2E2E2E"/>
                </a:solidFill>
                <a:latin typeface="Calibri"/>
              </a:rPr>
              <a:t>▪ Scale players anchor around 'Capsules and Softgels' (</a:t>
            </a:r>
          </a:p>
        </p:txBody>
      </p:sp>
      <p:pic>
        <p:nvPicPr>
          <p:cNvPr id="56" name="Picture 55" descr="lock.png"/>
          <p:cNvPicPr>
            <a:picLocks noChangeAspect="1"/>
          </p:cNvPicPr>
          <p:nvPr/>
        </p:nvPicPr>
        <p:blipFill>
          <a:blip r:embed="rId5"/>
          <a:stretch>
            <a:fillRect/>
          </a:stretch>
        </p:blipFill>
        <p:spPr>
          <a:xfrm>
            <a:off x="3515534" y="3760152"/>
            <a:ext cx="134549" cy="195707"/>
          </a:xfrm>
          <a:prstGeom prst="rect">
            <a:avLst/>
          </a:prstGeom>
        </p:spPr>
      </p:pic>
      <p:sp>
        <p:nvSpPr>
          <p:cNvPr id="57" name="TextBox 56"/>
          <p:cNvSpPr txBox="1"/>
          <p:nvPr/>
        </p:nvSpPr>
        <p:spPr>
          <a:xfrm>
            <a:off x="3690643" y="3770375"/>
            <a:ext cx="484683" cy="194310"/>
          </a:xfrm>
          <a:prstGeom prst="rect">
            <a:avLst/>
          </a:prstGeom>
          <a:noFill/>
        </p:spPr>
        <p:txBody>
          <a:bodyPr wrap="none" lIns="0" tIns="0" rIns="0" bIns="0">
            <a:spAutoFit/>
          </a:bodyPr>
          <a:lstStyle/>
          <a:p>
            <a:r>
              <a:rPr sz="1150" b="0">
                <a:solidFill>
                  <a:srgbClr val="2E2E2E"/>
                </a:solidFill>
                <a:latin typeface="Calibri"/>
              </a:rPr>
              <a:t>share).</a:t>
            </a:r>
          </a:p>
        </p:txBody>
      </p:sp>
      <p:sp>
        <p:nvSpPr>
          <p:cNvPr id="58" name="TextBox 57"/>
          <p:cNvSpPr txBox="1"/>
          <p:nvPr/>
        </p:nvSpPr>
        <p:spPr>
          <a:xfrm>
            <a:off x="6305550" y="3314700"/>
            <a:ext cx="4551548" cy="194310"/>
          </a:xfrm>
          <a:prstGeom prst="rect">
            <a:avLst/>
          </a:prstGeom>
          <a:noFill/>
        </p:spPr>
        <p:txBody>
          <a:bodyPr wrap="none" lIns="0" tIns="0" rIns="0" bIns="0">
            <a:spAutoFit/>
          </a:bodyPr>
          <a:lstStyle/>
          <a:p>
            <a:r>
              <a:rPr sz="1150" b="0">
                <a:solidFill>
                  <a:srgbClr val="2E2E2E"/>
                </a:solidFill>
                <a:latin typeface="Calibri"/>
              </a:rPr>
              <a:t>▪ R&amp;D aligns with the migration to 'Chewables' and adjacent premium tiers.</a:t>
            </a:r>
          </a:p>
        </p:txBody>
      </p:sp>
      <p:sp>
        <p:nvSpPr>
          <p:cNvPr id="59" name="TextBox 58"/>
          <p:cNvSpPr txBox="1"/>
          <p:nvPr/>
        </p:nvSpPr>
        <p:spPr>
          <a:xfrm>
            <a:off x="6305550" y="3542537"/>
            <a:ext cx="4423184" cy="194310"/>
          </a:xfrm>
          <a:prstGeom prst="rect">
            <a:avLst/>
          </a:prstGeom>
          <a:noFill/>
        </p:spPr>
        <p:txBody>
          <a:bodyPr wrap="none" lIns="0" tIns="0" rIns="0" bIns="0">
            <a:spAutoFit/>
          </a:bodyPr>
          <a:lstStyle/>
          <a:p>
            <a:r>
              <a:rPr sz="1150" b="0">
                <a:solidFill>
                  <a:srgbClr val="2E2E2E"/>
                </a:solidFill>
                <a:latin typeface="Calibri"/>
              </a:rPr>
              <a:t>▪ Development spend targets form type categories gaining share to 2036.</a:t>
            </a:r>
          </a:p>
        </p:txBody>
      </p:sp>
      <p:sp>
        <p:nvSpPr>
          <p:cNvPr id="60" name="TextBox 59"/>
          <p:cNvSpPr txBox="1"/>
          <p:nvPr/>
        </p:nvSpPr>
        <p:spPr>
          <a:xfrm>
            <a:off x="6305550" y="3770375"/>
            <a:ext cx="1663352" cy="194310"/>
          </a:xfrm>
          <a:prstGeom prst="rect">
            <a:avLst/>
          </a:prstGeom>
          <a:noFill/>
        </p:spPr>
        <p:txBody>
          <a:bodyPr wrap="none" lIns="0" tIns="0" rIns="0" bIns="0">
            <a:spAutoFit/>
          </a:bodyPr>
          <a:lstStyle/>
          <a:p>
            <a:r>
              <a:rPr sz="115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918056" y="3760152"/>
            <a:ext cx="134549" cy="195707"/>
          </a:xfrm>
          <a:prstGeom prst="rect">
            <a:avLst/>
          </a:prstGeom>
        </p:spPr>
      </p:pic>
      <p:sp>
        <p:nvSpPr>
          <p:cNvPr id="62" name="TextBox 61"/>
          <p:cNvSpPr txBox="1"/>
          <p:nvPr/>
        </p:nvSpPr>
        <p:spPr>
          <a:xfrm>
            <a:off x="8093165" y="3770375"/>
            <a:ext cx="963036" cy="194310"/>
          </a:xfrm>
          <a:prstGeom prst="rect">
            <a:avLst/>
          </a:prstGeom>
          <a:noFill/>
        </p:spPr>
        <p:txBody>
          <a:bodyPr wrap="none" lIns="0" tIns="0" rIns="0" bIns="0">
            <a:spAutoFit/>
          </a:bodyPr>
          <a:lstStyle/>
          <a:p>
            <a:r>
              <a:rPr sz="115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225"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225" y="1390650"/>
            <a:ext cx="5610225" cy="125730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390650"/>
            <a:ext cx="5610225" cy="12573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'Chewables' tier and Veterinary-Guided Cognitive Dysfunction Support within end-use application.</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2943225"/>
            <a:ext cx="5610225" cy="209550"/>
          </a:xfrm>
          <a:prstGeom prst="rect">
            <a:avLst/>
          </a:prstGeom>
          <a:noFill/>
        </p:spPr>
        <p:txBody>
          <a:bodyPr wrap="square" lIns="0" tIns="9525" rIns="19050"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3267075"/>
            <a:ext cx="5610225" cy="1076325"/>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5550" y="2943225"/>
            <a:ext cx="5610225" cy="209550"/>
          </a:xfrm>
          <a:prstGeom prst="rect">
            <a:avLst/>
          </a:prstGeom>
          <a:noFill/>
        </p:spPr>
        <p:txBody>
          <a:bodyPr wrap="square" lIns="0" tIns="9525" rIns="19050" bIns="9525">
            <a:spAutoFit/>
          </a:bodyPr>
          <a:lstStyle/>
          <a:p>
            <a:pPr algn="l"/>
            <a:r>
              <a:rPr sz="1300" b="1">
                <a:solidFill>
                  <a:srgbClr val="0B2E4A"/>
                </a:solidFill>
                <a:latin typeface="Calibri"/>
              </a:rPr>
              <a:t>Market Region</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5550" y="3267075"/>
            <a:ext cx="5610225" cy="1076325"/>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6225" y="4638675"/>
            <a:ext cx="11639550" cy="209550"/>
          </a:xfrm>
          <a:prstGeom prst="rect">
            <a:avLst/>
          </a:prstGeom>
          <a:noFill/>
        </p:spPr>
        <p:txBody>
          <a:bodyPr wrap="square" lIns="0" tIns="9525" rIns="19050"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6225" y="4962525"/>
            <a:ext cx="11639550" cy="15716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477482" cy="194310"/>
          </a:xfrm>
          <a:prstGeom prst="rect">
            <a:avLst/>
          </a:prstGeom>
          <a:noFill/>
        </p:spPr>
        <p:txBody>
          <a:bodyPr wrap="none" lIns="0" tIns="0" rIns="0" bIns="0">
            <a:spAutoFit/>
          </a:bodyPr>
          <a:lstStyle/>
          <a:p>
            <a:r>
              <a:rPr sz="1150" b="0">
                <a:solidFill>
                  <a:srgbClr val="2E2E2E"/>
                </a:solidFill>
                <a:latin typeface="Calibri"/>
              </a:rPr>
              <a:t>▪ Balance scale in 'Capsules and Softgels' with targeted growth in 'Chewables', pursuing the</a:t>
            </a:r>
          </a:p>
        </p:txBody>
      </p:sp>
      <p:pic>
        <p:nvPicPr>
          <p:cNvPr id="32" name="Picture 31" descr="lock.png"/>
          <p:cNvPicPr>
            <a:picLocks noChangeAspect="1"/>
          </p:cNvPicPr>
          <p:nvPr/>
        </p:nvPicPr>
        <p:blipFill>
          <a:blip r:embed="rId4"/>
          <a:stretch>
            <a:fillRect/>
          </a:stretch>
        </p:blipFill>
        <p:spPr>
          <a:xfrm>
            <a:off x="262145" y="1565211"/>
            <a:ext cx="134549" cy="195707"/>
          </a:xfrm>
          <a:prstGeom prst="rect">
            <a:avLst/>
          </a:prstGeom>
        </p:spPr>
      </p:pic>
      <p:sp>
        <p:nvSpPr>
          <p:cNvPr id="33" name="TextBox 32"/>
          <p:cNvSpPr txBox="1"/>
          <p:nvPr/>
        </p:nvSpPr>
        <p:spPr>
          <a:xfrm>
            <a:off x="437254" y="1575435"/>
            <a:ext cx="1551800" cy="194310"/>
          </a:xfrm>
          <a:prstGeom prst="rect">
            <a:avLst/>
          </a:prstGeom>
          <a:noFill/>
        </p:spPr>
        <p:txBody>
          <a:bodyPr wrap="none" lIns="0" tIns="0" rIns="0" bIns="0">
            <a:spAutoFit/>
          </a:bodyPr>
          <a:lstStyle/>
          <a:p>
            <a:r>
              <a:rPr sz="1150" b="0">
                <a:solidFill>
                  <a:srgbClr val="2E2E2E"/>
                </a:solidFill>
                <a:latin typeface="Calibri"/>
              </a:rPr>
              <a:t>CAGR trajectory to 2036.</a:t>
            </a:r>
          </a:p>
        </p:txBody>
      </p:sp>
      <p:sp>
        <p:nvSpPr>
          <p:cNvPr id="34" name="TextBox 33"/>
          <p:cNvSpPr txBox="1"/>
          <p:nvPr/>
        </p:nvSpPr>
        <p:spPr>
          <a:xfrm>
            <a:off x="276225" y="3276600"/>
            <a:ext cx="1512168" cy="194310"/>
          </a:xfrm>
          <a:prstGeom prst="rect">
            <a:avLst/>
          </a:prstGeom>
          <a:noFill/>
        </p:spPr>
        <p:txBody>
          <a:bodyPr wrap="none" lIns="0" tIns="0" rIns="0" bIns="0">
            <a:spAutoFit/>
          </a:bodyPr>
          <a:lstStyle/>
          <a:p>
            <a:r>
              <a:rPr sz="1150" b="0">
                <a:solidFill>
                  <a:srgbClr val="2E2E2E"/>
                </a:solidFill>
                <a:latin typeface="Calibri"/>
              </a:rPr>
              <a:t>▪ Prioritise 'Chewables' (</a:t>
            </a:r>
          </a:p>
        </p:txBody>
      </p:sp>
      <p:pic>
        <p:nvPicPr>
          <p:cNvPr id="35" name="Picture 34" descr="lock.png"/>
          <p:cNvPicPr>
            <a:picLocks noChangeAspect="1"/>
          </p:cNvPicPr>
          <p:nvPr/>
        </p:nvPicPr>
        <p:blipFill>
          <a:blip r:embed="rId4"/>
          <a:stretch>
            <a:fillRect/>
          </a:stretch>
        </p:blipFill>
        <p:spPr>
          <a:xfrm>
            <a:off x="1737547" y="3266376"/>
            <a:ext cx="134549" cy="195707"/>
          </a:xfrm>
          <a:prstGeom prst="rect">
            <a:avLst/>
          </a:prstGeom>
        </p:spPr>
      </p:pic>
      <p:sp>
        <p:nvSpPr>
          <p:cNvPr id="36" name="TextBox 35"/>
          <p:cNvSpPr txBox="1"/>
          <p:nvPr/>
        </p:nvSpPr>
        <p:spPr>
          <a:xfrm>
            <a:off x="1912656" y="3276600"/>
            <a:ext cx="2041599" cy="194310"/>
          </a:xfrm>
          <a:prstGeom prst="rect">
            <a:avLst/>
          </a:prstGeom>
          <a:noFill/>
        </p:spPr>
        <p:txBody>
          <a:bodyPr wrap="none" lIns="0" tIns="0" rIns="0" bIns="0">
            <a:spAutoFit/>
          </a:bodyPr>
          <a:lstStyle/>
          <a:p>
            <a:r>
              <a:rPr sz="1150" b="0">
                <a:solidFill>
                  <a:srgbClr val="2E2E2E"/>
                </a:solidFill>
                <a:latin typeface="Calibri"/>
              </a:rPr>
              <a:t>); 'Capsules and Softgels' anchors</a:t>
            </a:r>
          </a:p>
        </p:txBody>
      </p:sp>
      <p:pic>
        <p:nvPicPr>
          <p:cNvPr id="37" name="Picture 36" descr="lock.png"/>
          <p:cNvPicPr>
            <a:picLocks noChangeAspect="1"/>
          </p:cNvPicPr>
          <p:nvPr/>
        </p:nvPicPr>
        <p:blipFill>
          <a:blip r:embed="rId4"/>
          <a:stretch>
            <a:fillRect/>
          </a:stretch>
        </p:blipFill>
        <p:spPr>
          <a:xfrm>
            <a:off x="3903409" y="3266376"/>
            <a:ext cx="134549" cy="195707"/>
          </a:xfrm>
          <a:prstGeom prst="rect">
            <a:avLst/>
          </a:prstGeom>
        </p:spPr>
      </p:pic>
      <p:sp>
        <p:nvSpPr>
          <p:cNvPr id="38" name="TextBox 37"/>
          <p:cNvSpPr txBox="1"/>
          <p:nvPr/>
        </p:nvSpPr>
        <p:spPr>
          <a:xfrm>
            <a:off x="4078518" y="3276600"/>
            <a:ext cx="586519" cy="194310"/>
          </a:xfrm>
          <a:prstGeom prst="rect">
            <a:avLst/>
          </a:prstGeom>
          <a:noFill/>
        </p:spPr>
        <p:txBody>
          <a:bodyPr wrap="none" lIns="0" tIns="0" rIns="0" bIns="0">
            <a:spAutoFit/>
          </a:bodyPr>
          <a:lstStyle/>
          <a:p>
            <a:r>
              <a:rPr sz="1150" b="0">
                <a:solidFill>
                  <a:srgbClr val="2E2E2E"/>
                </a:solidFill>
                <a:latin typeface="Calibri"/>
              </a:rPr>
              <a:t>of value.</a:t>
            </a:r>
          </a:p>
        </p:txBody>
      </p:sp>
      <p:sp>
        <p:nvSpPr>
          <p:cNvPr id="39" name="TextBox 38"/>
          <p:cNvSpPr txBox="1"/>
          <p:nvPr/>
        </p:nvSpPr>
        <p:spPr>
          <a:xfrm>
            <a:off x="6305550" y="3276600"/>
            <a:ext cx="1720688" cy="194310"/>
          </a:xfrm>
          <a:prstGeom prst="rect">
            <a:avLst/>
          </a:prstGeom>
          <a:noFill/>
        </p:spPr>
        <p:txBody>
          <a:bodyPr wrap="none" lIns="0" tIns="0" rIns="0" bIns="0">
            <a:spAutoFit/>
          </a:bodyPr>
          <a:lstStyle/>
          <a:p>
            <a:r>
              <a:rPr sz="1150" b="0">
                <a:solidFill>
                  <a:srgbClr val="2E2E2E"/>
                </a:solidFill>
                <a:latin typeface="Calibri"/>
              </a:rPr>
              <a:t>▪ Lead with North America (</a:t>
            </a:r>
          </a:p>
        </p:txBody>
      </p:sp>
      <p:pic>
        <p:nvPicPr>
          <p:cNvPr id="40" name="Picture 39" descr="lock.png"/>
          <p:cNvPicPr>
            <a:picLocks noChangeAspect="1"/>
          </p:cNvPicPr>
          <p:nvPr/>
        </p:nvPicPr>
        <p:blipFill>
          <a:blip r:embed="rId4"/>
          <a:stretch>
            <a:fillRect/>
          </a:stretch>
        </p:blipFill>
        <p:spPr>
          <a:xfrm>
            <a:off x="7975392" y="3266376"/>
            <a:ext cx="134549" cy="195707"/>
          </a:xfrm>
          <a:prstGeom prst="rect">
            <a:avLst/>
          </a:prstGeom>
        </p:spPr>
      </p:pic>
      <p:sp>
        <p:nvSpPr>
          <p:cNvPr id="41" name="TextBox 40"/>
          <p:cNvSpPr txBox="1"/>
          <p:nvPr/>
        </p:nvSpPr>
        <p:spPr>
          <a:xfrm>
            <a:off x="8150501" y="3276600"/>
            <a:ext cx="2502854" cy="194310"/>
          </a:xfrm>
          <a:prstGeom prst="rect">
            <a:avLst/>
          </a:prstGeom>
          <a:noFill/>
        </p:spPr>
        <p:txBody>
          <a:bodyPr wrap="none" lIns="0" tIns="0" rIns="0" bIns="0">
            <a:spAutoFit/>
          </a:bodyPr>
          <a:lstStyle/>
          <a:p>
            <a:r>
              <a:rPr sz="1150" b="0">
                <a:solidFill>
                  <a:srgbClr val="2E2E2E"/>
                </a:solidFill>
                <a:latin typeface="Calibri"/>
              </a:rPr>
              <a:t>); capture upside in South Asia &amp; Pacific (</a:t>
            </a:r>
          </a:p>
        </p:txBody>
      </p:sp>
      <p:pic>
        <p:nvPicPr>
          <p:cNvPr id="42" name="Picture 41" descr="lock.png"/>
          <p:cNvPicPr>
            <a:picLocks noChangeAspect="1"/>
          </p:cNvPicPr>
          <p:nvPr/>
        </p:nvPicPr>
        <p:blipFill>
          <a:blip r:embed="rId4"/>
          <a:stretch>
            <a:fillRect/>
          </a:stretch>
        </p:blipFill>
        <p:spPr>
          <a:xfrm>
            <a:off x="10602510" y="3266376"/>
            <a:ext cx="134549" cy="195707"/>
          </a:xfrm>
          <a:prstGeom prst="rect">
            <a:avLst/>
          </a:prstGeom>
        </p:spPr>
      </p:pic>
      <p:sp>
        <p:nvSpPr>
          <p:cNvPr id="43" name="TextBox 42"/>
          <p:cNvSpPr txBox="1"/>
          <p:nvPr/>
        </p:nvSpPr>
        <p:spPr>
          <a:xfrm>
            <a:off x="10777620" y="3276600"/>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44" name="TextBox 43"/>
          <p:cNvSpPr txBox="1"/>
          <p:nvPr/>
        </p:nvSpPr>
        <p:spPr>
          <a:xfrm>
            <a:off x="276225" y="4972050"/>
            <a:ext cx="2461778" cy="194310"/>
          </a:xfrm>
          <a:prstGeom prst="rect">
            <a:avLst/>
          </a:prstGeom>
          <a:noFill/>
        </p:spPr>
        <p:txBody>
          <a:bodyPr wrap="none" lIns="0" tIns="0" rIns="0" bIns="0">
            <a:spAutoFit/>
          </a:bodyPr>
          <a:lstStyle/>
          <a:p>
            <a:r>
              <a:rPr sz="1150" b="0">
                <a:solidFill>
                  <a:srgbClr val="2E2E2E"/>
                </a:solidFill>
                <a:latin typeface="Calibri"/>
              </a:rPr>
              <a:t>▪ Senior Dog Cognitive Supplement adds</a:t>
            </a:r>
          </a:p>
        </p:txBody>
      </p:sp>
      <p:pic>
        <p:nvPicPr>
          <p:cNvPr id="45" name="Picture 44" descr="lock.png"/>
          <p:cNvPicPr>
            <a:picLocks noChangeAspect="1"/>
          </p:cNvPicPr>
          <p:nvPr/>
        </p:nvPicPr>
        <p:blipFill>
          <a:blip r:embed="rId4"/>
          <a:stretch>
            <a:fillRect/>
          </a:stretch>
        </p:blipFill>
        <p:spPr>
          <a:xfrm>
            <a:off x="2687157" y="4961826"/>
            <a:ext cx="134549" cy="195707"/>
          </a:xfrm>
          <a:prstGeom prst="rect">
            <a:avLst/>
          </a:prstGeom>
        </p:spPr>
      </p:pic>
      <p:sp>
        <p:nvSpPr>
          <p:cNvPr id="46" name="TextBox 45"/>
          <p:cNvSpPr txBox="1"/>
          <p:nvPr/>
        </p:nvSpPr>
        <p:spPr>
          <a:xfrm>
            <a:off x="2862266" y="4972050"/>
            <a:ext cx="1815107" cy="194310"/>
          </a:xfrm>
          <a:prstGeom prst="rect">
            <a:avLst/>
          </a:prstGeom>
          <a:noFill/>
        </p:spPr>
        <p:txBody>
          <a:bodyPr wrap="none" lIns="0" tIns="0" r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4626528" y="4961826"/>
            <a:ext cx="134549" cy="195707"/>
          </a:xfrm>
          <a:prstGeom prst="rect">
            <a:avLst/>
          </a:prstGeom>
        </p:spPr>
      </p:pic>
      <p:sp>
        <p:nvSpPr>
          <p:cNvPr id="48" name="TextBox 47"/>
          <p:cNvSpPr txBox="1"/>
          <p:nvPr/>
        </p:nvSpPr>
        <p:spPr>
          <a:xfrm>
            <a:off x="4801637" y="4972050"/>
            <a:ext cx="822709" cy="194310"/>
          </a:xfrm>
          <a:prstGeom prst="rect">
            <a:avLst/>
          </a:prstGeom>
          <a:noFill/>
        </p:spPr>
        <p:txBody>
          <a:bodyPr wrap="none" lIns="0" tIns="0" rIns="0" bIns="0">
            <a:spAutoFit/>
          </a:bodyPr>
          <a:lstStyle/>
          <a:p>
            <a:r>
              <a:rPr sz="1150" b="0">
                <a:solidFill>
                  <a:srgbClr val="2E2E2E"/>
                </a:solidFill>
                <a:latin typeface="Calibri"/>
              </a:rPr>
              <a:t>× expansion.</a:t>
            </a:r>
          </a:p>
        </p:txBody>
      </p:sp>
      <p:sp>
        <p:nvSpPr>
          <p:cNvPr id="49" name="TextBox 48"/>
          <p:cNvSpPr txBox="1"/>
          <p:nvPr/>
        </p:nvSpPr>
        <p:spPr>
          <a:xfrm>
            <a:off x="276225" y="5199888"/>
            <a:ext cx="6265639" cy="194310"/>
          </a:xfrm>
          <a:prstGeom prst="rect">
            <a:avLst/>
          </a:prstGeom>
          <a:noFill/>
        </p:spPr>
        <p:txBody>
          <a:bodyPr wrap="none" lIns="0" tIns="0" rIns="0" bIns="0">
            <a:spAutoFit/>
          </a:bodyPr>
          <a:lstStyle/>
          <a:p>
            <a:r>
              <a:rPr sz="1150" b="0">
                <a:solidFill>
                  <a:srgbClr val="2E2E2E"/>
                </a:solidFill>
                <a:latin typeface="Calibri"/>
              </a:rPr>
              <a:t>▪ Concentrate resources on the leading segment/region while seeding the fastest-growing pockets early.</a:t>
            </a:r>
          </a:p>
        </p:txBody>
      </p:sp>
      <p:sp>
        <p:nvSpPr>
          <p:cNvPr id="50" name="TextBox 49"/>
          <p:cNvSpPr txBox="1"/>
          <p:nvPr/>
        </p:nvSpPr>
        <p:spPr>
          <a:xfrm>
            <a:off x="276225" y="5427725"/>
            <a:ext cx="4642829" cy="194310"/>
          </a:xfrm>
          <a:prstGeom prst="rect">
            <a:avLst/>
          </a:prstGeom>
          <a:noFill/>
        </p:spPr>
        <p:txBody>
          <a:bodyPr wrap="none" lIns="0" tIns="0" rIns="0" bIns="0">
            <a:spAutoFit/>
          </a:bodyPr>
          <a:lstStyle/>
          <a:p>
            <a:r>
              <a:rPr sz="1150" b="0">
                <a:solidFill>
                  <a:srgbClr val="2E2E2E"/>
                </a:solidFill>
                <a:latin typeface="Calibri"/>
              </a:rPr>
              <a:t>▪ Defend share in 'Capsules and Softgels' as the value anchor of the portfolio.</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a:p>
            <a:pPr algn="ctr">
              <a:lnSpc>
                <a:spcPct val="95000"/>
              </a:lnSpc>
            </a:pPr>
            <a:endParaRP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a:p>
            <a:pPr algn="ctr">
              <a:lnSpc>
                <a:spcPct val="95000"/>
              </a:lnSpc>
            </a:pPr>
            <a:endParaRP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a:p>
            <a:pPr algn="ctr">
              <a:lnSpc>
                <a:spcPct val="95000"/>
              </a:lnSpc>
            </a:pPr>
            <a:endParaRP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18669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Senior Dog Cognitive Supplement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74907"/>
            <a:ext cx="635826" cy="830393"/>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043936" y="3068631"/>
            <a:ext cx="635826" cy="123666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025725" y="2897496"/>
            <a:ext cx="635826" cy="14078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1456468" y="293528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3050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wrap="square" lIns="19050" tIns="0" rIns="19050" bIns="0" rtlCol="0" anchor="ctr"/>
          <a:lstStyle/>
          <a:p>
            <a:pPr algn="ctr"/>
            <a:endParaRPr/>
          </a:p>
        </p:txBody>
      </p:sp>
      <p:cxnSp>
        <p:nvCxnSpPr>
          <p:cNvPr id="22" name="Connector 21"/>
          <p:cNvCxnSpPr/>
          <p:nvPr/>
        </p:nvCxnSpPr>
        <p:spPr>
          <a:xfrm>
            <a:off x="1456468" y="267810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7333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19050" tIns="0" rIns="19050" bIns="0" rtlCol="0" anchor="ctr"/>
          <a:lstStyle/>
          <a:p>
            <a:pPr algn="ctr"/>
            <a:endParaRPr/>
          </a:p>
        </p:txBody>
      </p:sp>
      <p:cxnSp>
        <p:nvCxnSpPr>
          <p:cNvPr id="24" name="Connector 23"/>
          <p:cNvCxnSpPr/>
          <p:nvPr/>
        </p:nvCxnSpPr>
        <p:spPr>
          <a:xfrm>
            <a:off x="1456468" y="242093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1615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wrap="square" lIns="19050" tIns="0" rIns="19050" bIns="0" rtlCol="0" anchor="ctr"/>
          <a:lstStyle/>
          <a:p>
            <a:pPr algn="ctr"/>
            <a:endParaRPr/>
          </a:p>
        </p:txBody>
      </p:sp>
      <p:sp>
        <p:nvSpPr>
          <p:cNvPr id="26" name="TextBox 25"/>
          <p:cNvSpPr txBox="1"/>
          <p:nvPr/>
        </p:nvSpPr>
        <p:spPr>
          <a:xfrm>
            <a:off x="643255" y="4333875"/>
            <a:ext cx="762000" cy="180975"/>
          </a:xfrm>
          <a:prstGeom prst="rect">
            <a:avLst/>
          </a:prstGeom>
          <a:noFill/>
        </p:spPr>
        <p:txBody>
          <a:bodyPr wrap="square" lIns="28575" tIns="9525" rIns="2857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tIns="9525" rIns="2857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5775" y="4543425"/>
            <a:ext cx="1647825" cy="190500"/>
          </a:xfrm>
          <a:prstGeom prst="rect">
            <a:avLst/>
          </a:prstGeom>
          <a:noFill/>
        </p:spPr>
        <p:txBody>
          <a:bodyPr wrap="none" lIns="28575" tIns="9525" rIns="2857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81250" y="4543425"/>
            <a:ext cx="1647825" cy="190500"/>
          </a:xfrm>
          <a:prstGeom prst="rect">
            <a:avLst/>
          </a:prstGeom>
          <a:noFill/>
        </p:spPr>
        <p:txBody>
          <a:bodyPr wrap="none" lIns="28575" tIns="9525" rIns="2857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76725" y="4543425"/>
            <a:ext cx="1647825" cy="190500"/>
          </a:xfrm>
          <a:prstGeom prst="rect">
            <a:avLst/>
          </a:prstGeom>
          <a:noFill/>
        </p:spPr>
        <p:txBody>
          <a:bodyPr wrap="none" lIns="28575" tIns="9525" rIns="2857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67450" y="18669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Senior Dog Cognitive Supplement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xmlns:r="http://schemas.openxmlformats.org/officeDocument/2006/relationships" r:id="rId4"/>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76225" y="5038725"/>
            <a:ext cx="11639550" cy="209550"/>
          </a:xfrm>
          <a:prstGeom prst="rect">
            <a:avLst/>
          </a:prstGeom>
          <a:noFill/>
        </p:spPr>
        <p:txBody>
          <a:bodyPr wrap="square" lIns="0" tIns="9525" rIns="19050"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6225" y="5362575"/>
            <a:ext cx="11639550" cy="11906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1" name="TextBox 4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tIns="0" r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tIns="0" r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tIns="0" r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tIns="0" r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tIns="0" r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tIns="0" r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864872"/>
            <a:ext cx="382383" cy="159867"/>
          </a:xfrm>
          <a:prstGeom prst="rect">
            <a:avLst/>
          </a:prstGeom>
          <a:noFill/>
        </p:spPr>
        <p:txBody>
          <a:bodyPr wrap="none" lIns="0" tIns="0" r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56657"/>
            <a:ext cx="108107" cy="157246"/>
          </a:xfrm>
          <a:prstGeom prst="rect">
            <a:avLst/>
          </a:prstGeom>
        </p:spPr>
      </p:pic>
      <p:sp>
        <p:nvSpPr>
          <p:cNvPr id="56" name="TextBox 55"/>
          <p:cNvSpPr txBox="1"/>
          <p:nvPr/>
        </p:nvSpPr>
        <p:spPr>
          <a:xfrm>
            <a:off x="2032418" y="2607697"/>
            <a:ext cx="382383" cy="159867"/>
          </a:xfrm>
          <a:prstGeom prst="rect">
            <a:avLst/>
          </a:prstGeom>
          <a:noFill/>
        </p:spPr>
        <p:txBody>
          <a:bodyPr wrap="none" lIns="0" tIns="0" r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599482"/>
            <a:ext cx="108107" cy="157246"/>
          </a:xfrm>
          <a:prstGeom prst="rect">
            <a:avLst/>
          </a:prstGeom>
        </p:spPr>
      </p:pic>
      <p:sp>
        <p:nvSpPr>
          <p:cNvPr id="58" name="TextBox 57"/>
          <p:cNvSpPr txBox="1"/>
          <p:nvPr/>
        </p:nvSpPr>
        <p:spPr>
          <a:xfrm>
            <a:off x="2032418" y="2350522"/>
            <a:ext cx="382383" cy="159867"/>
          </a:xfrm>
          <a:prstGeom prst="rect">
            <a:avLst/>
          </a:prstGeom>
          <a:noFill/>
        </p:spPr>
        <p:txBody>
          <a:bodyPr wrap="none" lIns="0" tIns="0" r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42307"/>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tIns="0" r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tIns="0" r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tIns="0" r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tIns="0" r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tIns="0" r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tIns="0" r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tIns="0" r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tIns="0" r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898775"/>
            <a:ext cx="8572500" cy="514350"/>
          </a:xfrm>
          <a:prstGeom prst="rect">
            <a:avLst/>
          </a:prstGeom>
          <a:noFill/>
        </p:spPr>
        <p:txBody>
          <a:bodyPr wrap="square" lIns="0" tIns="0" r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Global Senior Dog Cognitive Supplement – Regional Outlook</a:t>
            </a:r>
          </a:p>
          <a:p>
            <a:pPr marL="342900" indent="-323850">
              <a:lnSpc>
                <a:spcPct val="100000"/>
              </a:lnSpc>
              <a:spcAft>
                <a:spcPts val="800"/>
              </a:spcAft>
            </a:pPr>
            <a:r>
              <a:rPr sz="2000" b="0">
                <a:solidFill>
                  <a:srgbClr val="000000"/>
                </a:solidFill>
                <a:latin typeface="Calibri"/>
              </a:rPr>
              <a:t>➤	Market Analysis By Region</a:t>
            </a:r>
          </a:p>
          <a:p>
            <a:pPr marL="342900" indent="-323850">
              <a:lnSpc>
                <a:spcPct val="100000"/>
              </a:lnSpc>
              <a:spcAft>
                <a:spcPts val="800"/>
              </a:spcAft>
            </a:pPr>
            <a:r>
              <a:rPr sz="2000" b="0">
                <a:solidFill>
                  <a:srgbClr val="000000"/>
                </a:solidFill>
                <a:latin typeface="Calibri"/>
              </a:rPr>
              <a:t>➤	Volume Share Analysis By Region</a:t>
            </a:r>
          </a:p>
          <a:p>
            <a:pPr marL="342900" indent="-323850">
              <a:lnSpc>
                <a:spcPct val="100000"/>
              </a:lnSpc>
              <a:spcAft>
                <a:spcPts val="800"/>
              </a:spcAft>
            </a:pPr>
            <a:r>
              <a:rPr sz="2000" b="0">
                <a:solidFill>
                  <a:srgbClr val="000000"/>
                </a:solidFill>
                <a:latin typeface="Calibri"/>
              </a:rPr>
              <a:t>➤	Value Share Analysis By Region</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 Regional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Region</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North America</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Europe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East Asia</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South Asia &amp; Pacific</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Latin America</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Middle East &amp; Africa</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Region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Region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7" name="Picture 76" descr="3_597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5_353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1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943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5_056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5_6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1_417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2_264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4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308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2_314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5_9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872_0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527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5_8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763_0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1_231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4_9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795711" cy="186689"/>
          </a:xfrm>
          <a:prstGeom prst="rect">
            <a:avLst/>
          </a:prstGeom>
          <a:noFill/>
        </p:spPr>
        <p:txBody>
          <a:bodyPr wrap="none" lIns="0" tIns="0" rIns="0" bIns="0">
            <a:spAutoFit/>
          </a:bodyPr>
          <a:lstStyle/>
          <a:p>
            <a:r>
              <a:rPr sz="1100" b="0">
                <a:solidFill>
                  <a:srgbClr val="2E2E2E"/>
                </a:solidFill>
                <a:latin typeface="Calibri"/>
              </a:rPr>
              <a:t>North America senior dog cognitive supplement</a:t>
            </a:r>
          </a:p>
        </p:txBody>
      </p:sp>
      <p:sp>
        <p:nvSpPr>
          <p:cNvPr id="102" name="TextBox 101"/>
          <p:cNvSpPr txBox="1"/>
          <p:nvPr/>
        </p:nvSpPr>
        <p:spPr>
          <a:xfrm>
            <a:off x="485775" y="4397077"/>
            <a:ext cx="1801986" cy="186689"/>
          </a:xfrm>
          <a:prstGeom prst="rect">
            <a:avLst/>
          </a:prstGeom>
          <a:noFill/>
        </p:spPr>
        <p:txBody>
          <a:bodyPr wrap="none" lIns="0" tIns="0" rIns="0" bIns="0">
            <a:spAutoFit/>
          </a:bodyPr>
          <a:lstStyle/>
          <a:p>
            <a:r>
              <a:rPr sz="1100" b="0">
                <a:solidFill>
                  <a:srgbClr val="2E2E2E"/>
                </a:solidFill>
                <a:latin typeface="Calibri"/>
              </a:rPr>
              <a:t>market is projected to register</a:t>
            </a:r>
          </a:p>
        </p:txBody>
      </p:sp>
      <p:pic>
        <p:nvPicPr>
          <p:cNvPr id="103" name="Picture 102" descr="lock.png"/>
          <p:cNvPicPr>
            <a:picLocks noChangeAspect="1"/>
          </p:cNvPicPr>
          <p:nvPr/>
        </p:nvPicPr>
        <p:blipFill>
          <a:blip r:embed="rId22"/>
          <a:stretch>
            <a:fillRect/>
          </a:stretch>
        </p:blipFill>
        <p:spPr>
          <a:xfrm>
            <a:off x="2235812" y="4387298"/>
            <a:ext cx="128699" cy="187198"/>
          </a:xfrm>
          <a:prstGeom prst="rect">
            <a:avLst/>
          </a:prstGeom>
        </p:spPr>
      </p:pic>
      <p:sp>
        <p:nvSpPr>
          <p:cNvPr id="104" name="TextBox 103"/>
          <p:cNvSpPr txBox="1"/>
          <p:nvPr/>
        </p:nvSpPr>
        <p:spPr>
          <a:xfrm>
            <a:off x="2403308" y="4397077"/>
            <a:ext cx="880293" cy="186689"/>
          </a:xfrm>
          <a:prstGeom prst="rect">
            <a:avLst/>
          </a:prstGeom>
          <a:noFill/>
        </p:spPr>
        <p:txBody>
          <a:bodyPr wrap="none" lIns="0" tIns="0" rIns="0" bIns="0">
            <a:spAutoFit/>
          </a:bodyPr>
          <a:lstStyle/>
          <a:p>
            <a:r>
              <a:rPr sz="1100" b="0">
                <a:solidFill>
                  <a:srgbClr val="2E2E2E"/>
                </a:solidFill>
                <a:latin typeface="Calibri"/>
              </a:rPr>
              <a:t>X higher value</a:t>
            </a:r>
          </a:p>
        </p:txBody>
      </p:sp>
      <p:sp>
        <p:nvSpPr>
          <p:cNvPr id="105" name="TextBox 104"/>
          <p:cNvSpPr txBox="1"/>
          <p:nvPr/>
        </p:nvSpPr>
        <p:spPr>
          <a:xfrm>
            <a:off x="485775" y="4564717"/>
            <a:ext cx="2876202" cy="186689"/>
          </a:xfrm>
          <a:prstGeom prst="rect">
            <a:avLst/>
          </a:prstGeom>
          <a:noFill/>
        </p:spPr>
        <p:txBody>
          <a:bodyPr wrap="none" lIns="0" tIns="0" rIns="0" bIns="0">
            <a:spAutoFit/>
          </a:bodyPr>
          <a:lstStyle/>
          <a:p>
            <a:r>
              <a:rPr sz="1100" b="0">
                <a:solidFill>
                  <a:srgbClr val="2E2E2E"/>
                </a:solidFill>
                <a:latin typeface="Calibri"/>
              </a:rPr>
              <a:t>than Europe in 2036. Among senior dog cognitive</a:t>
            </a:r>
          </a:p>
        </p:txBody>
      </p:sp>
      <p:sp>
        <p:nvSpPr>
          <p:cNvPr id="106" name="TextBox 105"/>
          <p:cNvSpPr txBox="1"/>
          <p:nvPr/>
        </p:nvSpPr>
        <p:spPr>
          <a:xfrm>
            <a:off x="485775" y="4732357"/>
            <a:ext cx="2623269" cy="186689"/>
          </a:xfrm>
          <a:prstGeom prst="rect">
            <a:avLst/>
          </a:prstGeom>
          <a:noFill/>
        </p:spPr>
        <p:txBody>
          <a:bodyPr wrap="none" lIns="0" tIns="0" rIns="0" bIns="0">
            <a:spAutoFit/>
          </a:bodyPr>
          <a:lstStyle/>
          <a:p>
            <a:r>
              <a:rPr sz="1100" b="0">
                <a:solidFill>
                  <a:srgbClr val="2E2E2E"/>
                </a:solidFill>
                <a:latin typeface="Calibri"/>
              </a:rPr>
              <a:t>supplement by region, South Asia &amp; Pacific is</a:t>
            </a:r>
          </a:p>
        </p:txBody>
      </p:sp>
      <p:sp>
        <p:nvSpPr>
          <p:cNvPr id="107" name="TextBox 106"/>
          <p:cNvSpPr txBox="1"/>
          <p:nvPr/>
        </p:nvSpPr>
        <p:spPr>
          <a:xfrm>
            <a:off x="485775" y="4899997"/>
            <a:ext cx="2381232" cy="186689"/>
          </a:xfrm>
          <a:prstGeom prst="rect">
            <a:avLst/>
          </a:prstGeom>
          <a:noFill/>
        </p:spPr>
        <p:txBody>
          <a:bodyPr wrap="none" lIns="0" tIns="0" rIns="0" bIns="0">
            <a:spAutoFit/>
          </a:bodyPr>
          <a:lstStyle/>
          <a:p>
            <a:r>
              <a:rPr sz="1100" b="0">
                <a:solidFill>
                  <a:srgbClr val="2E2E2E"/>
                </a:solidFill>
                <a:latin typeface="Calibri"/>
              </a:rPr>
              <a:t>expected to witness the highest CAGR of</a:t>
            </a:r>
          </a:p>
        </p:txBody>
      </p:sp>
      <p:pic>
        <p:nvPicPr>
          <p:cNvPr id="108" name="Picture 107" descr="lock.png"/>
          <p:cNvPicPr>
            <a:picLocks noChangeAspect="1"/>
          </p:cNvPicPr>
          <p:nvPr/>
        </p:nvPicPr>
        <p:blipFill>
          <a:blip r:embed="rId22"/>
          <a:stretch>
            <a:fillRect/>
          </a:stretch>
        </p:blipFill>
        <p:spPr>
          <a:xfrm>
            <a:off x="2815059" y="4890217"/>
            <a:ext cx="128699" cy="187198"/>
          </a:xfrm>
          <a:prstGeom prst="rect">
            <a:avLst/>
          </a:prstGeom>
        </p:spPr>
      </p:pic>
      <p:sp>
        <p:nvSpPr>
          <p:cNvPr id="109" name="TextBox 108"/>
          <p:cNvSpPr txBox="1"/>
          <p:nvPr/>
        </p:nvSpPr>
        <p:spPr>
          <a:xfrm>
            <a:off x="2982555" y="4899997"/>
            <a:ext cx="331316" cy="186689"/>
          </a:xfrm>
          <a:prstGeom prst="rect">
            <a:avLst/>
          </a:prstGeom>
          <a:noFill/>
        </p:spPr>
        <p:txBody>
          <a:bodyPr wrap="none" lIns="0" tIns="0" rIns="0" bIns="0">
            <a:spAutoFit/>
          </a:bodyPr>
          <a:lstStyle/>
          <a:p>
            <a:r>
              <a:rPr sz="1100" b="0">
                <a:solidFill>
                  <a:srgbClr val="2E2E2E"/>
                </a:solidFill>
                <a:latin typeface="Calibri"/>
              </a:rPr>
              <a:t>over</a:t>
            </a:r>
          </a:p>
        </p:txBody>
      </p:sp>
      <p:sp>
        <p:nvSpPr>
          <p:cNvPr id="110" name="TextBox 109"/>
          <p:cNvSpPr txBox="1"/>
          <p:nvPr/>
        </p:nvSpPr>
        <p:spPr>
          <a:xfrm>
            <a:off x="485775" y="5067637"/>
            <a:ext cx="1197892" cy="186689"/>
          </a:xfrm>
          <a:prstGeom prst="rect">
            <a:avLst/>
          </a:prstGeom>
          <a:noFill/>
        </p:spPr>
        <p:txBody>
          <a:bodyPr wrap="none" lIns="0" tIns="0" rIns="0" bIns="0">
            <a:spAutoFit/>
          </a:bodyPr>
          <a:lstStyle/>
          <a:p>
            <a:r>
              <a:rPr sz="1100" b="0">
                <a:solidFill>
                  <a:srgbClr val="2E2E2E"/>
                </a:solidFill>
                <a:latin typeface="Calibri"/>
              </a:rPr>
              <a:t>the forecast period.</a:t>
            </a:r>
          </a:p>
        </p:txBody>
      </p:sp>
      <p:sp>
        <p:nvSpPr>
          <p:cNvPr id="111" name="TextBox 110"/>
          <p:cNvSpPr txBox="1"/>
          <p:nvPr/>
        </p:nvSpPr>
        <p:spPr>
          <a:xfrm>
            <a:off x="485775" y="5285569"/>
            <a:ext cx="2914650" cy="186689"/>
          </a:xfrm>
          <a:prstGeom prst="rect">
            <a:avLst/>
          </a:prstGeom>
          <a:noFill/>
        </p:spPr>
        <p:txBody>
          <a:bodyPr wrap="none" lIns="0" tIns="0" rIns="0" bIns="0">
            <a:spAutoFit/>
          </a:bodyPr>
          <a:lstStyle/>
          <a:p>
            <a:r>
              <a:rPr sz="1100" b="0">
                <a:solidFill>
                  <a:srgbClr val="2E2E2E"/>
                </a:solidFill>
                <a:latin typeface="Calibri"/>
              </a:rPr>
              <a:t>In terms of value share by region, North America is</a:t>
            </a:r>
          </a:p>
        </p:txBody>
      </p:sp>
      <p:sp>
        <p:nvSpPr>
          <p:cNvPr id="112" name="TextBox 111"/>
          <p:cNvSpPr txBox="1"/>
          <p:nvPr/>
        </p:nvSpPr>
        <p:spPr>
          <a:xfrm>
            <a:off x="485775" y="5453209"/>
            <a:ext cx="2388889" cy="186689"/>
          </a:xfrm>
          <a:prstGeom prst="rect">
            <a:avLst/>
          </a:prstGeom>
          <a:noFill/>
        </p:spPr>
        <p:txBody>
          <a:bodyPr wrap="none" lIns="0" tIns="0" rIns="0" bIns="0">
            <a:spAutoFit/>
          </a:bodyPr>
          <a:lstStyle/>
          <a:p>
            <a:r>
              <a:rPr sz="1100" b="0">
                <a:solidFill>
                  <a:srgbClr val="2E2E2E"/>
                </a:solidFill>
                <a:latin typeface="Calibri"/>
              </a:rPr>
              <a:t>expected to dominate the market, losing</a:t>
            </a:r>
          </a:p>
        </p:txBody>
      </p:sp>
      <p:pic>
        <p:nvPicPr>
          <p:cNvPr id="113" name="Picture 112" descr="lock.png"/>
          <p:cNvPicPr>
            <a:picLocks noChangeAspect="1"/>
          </p:cNvPicPr>
          <p:nvPr/>
        </p:nvPicPr>
        <p:blipFill>
          <a:blip r:embed="rId22"/>
          <a:stretch>
            <a:fillRect/>
          </a:stretch>
        </p:blipFill>
        <p:spPr>
          <a:xfrm>
            <a:off x="2822716" y="5443430"/>
            <a:ext cx="128699" cy="187198"/>
          </a:xfrm>
          <a:prstGeom prst="rect">
            <a:avLst/>
          </a:prstGeom>
        </p:spPr>
      </p:pic>
      <p:sp>
        <p:nvSpPr>
          <p:cNvPr id="114" name="TextBox 113"/>
          <p:cNvSpPr txBox="1"/>
          <p:nvPr/>
        </p:nvSpPr>
        <p:spPr>
          <a:xfrm>
            <a:off x="2990212" y="5453209"/>
            <a:ext cx="288751" cy="186689"/>
          </a:xfrm>
          <a:prstGeom prst="rect">
            <a:avLst/>
          </a:prstGeom>
          <a:noFill/>
        </p:spPr>
        <p:txBody>
          <a:bodyPr wrap="none" lIns="0" tIns="0" rIns="0" bIns="0">
            <a:spAutoFit/>
          </a:bodyPr>
          <a:lstStyle/>
          <a:p>
            <a:r>
              <a:rPr sz="1100" b="0">
                <a:solidFill>
                  <a:srgbClr val="2E2E2E"/>
                </a:solidFill>
                <a:latin typeface="Calibri"/>
              </a:rPr>
              <a:t>BPS</a:t>
            </a:r>
          </a:p>
        </p:txBody>
      </p:sp>
      <p:sp>
        <p:nvSpPr>
          <p:cNvPr id="115" name="TextBox 114"/>
          <p:cNvSpPr txBox="1"/>
          <p:nvPr/>
        </p:nvSpPr>
        <p:spPr>
          <a:xfrm>
            <a:off x="485775" y="5620849"/>
            <a:ext cx="1142231" cy="186689"/>
          </a:xfrm>
          <a:prstGeom prst="rect">
            <a:avLst/>
          </a:prstGeom>
          <a:noFill/>
        </p:spPr>
        <p:txBody>
          <a:bodyPr wrap="none" lIns="0" tIns="0" rIns="0" bIns="0">
            <a:spAutoFit/>
          </a:bodyPr>
          <a:lstStyle/>
          <a:p>
            <a:r>
              <a:rPr sz="1100" b="0">
                <a:solidFill>
                  <a:srgbClr val="2E2E2E"/>
                </a:solidFill>
                <a:latin typeface="Calibri"/>
              </a:rPr>
              <a:t>and accounting for</a:t>
            </a:r>
          </a:p>
        </p:txBody>
      </p:sp>
      <p:pic>
        <p:nvPicPr>
          <p:cNvPr id="116" name="Picture 115" descr="lock.png"/>
          <p:cNvPicPr>
            <a:picLocks noChangeAspect="1"/>
          </p:cNvPicPr>
          <p:nvPr/>
        </p:nvPicPr>
        <p:blipFill>
          <a:blip r:embed="rId22"/>
          <a:stretch>
            <a:fillRect/>
          </a:stretch>
        </p:blipFill>
        <p:spPr>
          <a:xfrm>
            <a:off x="1576057" y="5611070"/>
            <a:ext cx="128699" cy="187198"/>
          </a:xfrm>
          <a:prstGeom prst="rect">
            <a:avLst/>
          </a:prstGeom>
        </p:spPr>
      </p:pic>
      <p:sp>
        <p:nvSpPr>
          <p:cNvPr id="117" name="TextBox 116"/>
          <p:cNvSpPr txBox="1"/>
          <p:nvPr/>
        </p:nvSpPr>
        <p:spPr>
          <a:xfrm>
            <a:off x="1743553" y="5620849"/>
            <a:ext cx="908397" cy="186689"/>
          </a:xfrm>
          <a:prstGeom prst="rect">
            <a:avLst/>
          </a:prstGeom>
          <a:noFill/>
        </p:spPr>
        <p:txBody>
          <a:bodyPr wrap="none" lIns="0" tIns="0" rIns="0" bIns="0">
            <a:spAutoFit/>
          </a:bodyPr>
          <a:lstStyle/>
          <a:p>
            <a:r>
              <a:rPr sz="1100" b="0">
                <a:solidFill>
                  <a:srgbClr val="2E2E2E"/>
                </a:solidFill>
                <a:latin typeface="Calibri"/>
              </a:rPr>
              <a:t>share by 2036.</a:t>
            </a:r>
          </a:p>
        </p:txBody>
      </p:sp>
      <p:sp>
        <p:nvSpPr>
          <p:cNvPr id="118" name="TextBox 117"/>
          <p:cNvSpPr txBox="1"/>
          <p:nvPr/>
        </p:nvSpPr>
        <p:spPr>
          <a:xfrm>
            <a:off x="3838575" y="4229437"/>
            <a:ext cx="1063376" cy="186689"/>
          </a:xfrm>
          <a:prstGeom prst="rect">
            <a:avLst/>
          </a:prstGeom>
          <a:noFill/>
        </p:spPr>
        <p:txBody>
          <a:bodyPr wrap="none" lIns="0" tIns="0" rIns="0" bIns="0">
            <a:spAutoFit/>
          </a:bodyPr>
          <a:lstStyle/>
          <a:p>
            <a:r>
              <a:rPr sz="1100" b="0">
                <a:solidFill>
                  <a:srgbClr val="2E2E2E"/>
                </a:solidFill>
                <a:latin typeface="Calibri"/>
              </a:rPr>
              <a:t>● North America:</a:t>
            </a:r>
          </a:p>
        </p:txBody>
      </p:sp>
      <p:pic>
        <p:nvPicPr>
          <p:cNvPr id="119" name="Picture 118" descr="lock.png"/>
          <p:cNvPicPr>
            <a:picLocks noChangeAspect="1"/>
          </p:cNvPicPr>
          <p:nvPr/>
        </p:nvPicPr>
        <p:blipFill>
          <a:blip r:embed="rId22"/>
          <a:stretch>
            <a:fillRect/>
          </a:stretch>
        </p:blipFill>
        <p:spPr>
          <a:xfrm>
            <a:off x="4850003" y="4219658"/>
            <a:ext cx="128699" cy="187198"/>
          </a:xfrm>
          <a:prstGeom prst="rect">
            <a:avLst/>
          </a:prstGeom>
        </p:spPr>
      </p:pic>
      <p:sp>
        <p:nvSpPr>
          <p:cNvPr id="120" name="TextBox 119"/>
          <p:cNvSpPr txBox="1"/>
          <p:nvPr/>
        </p:nvSpPr>
        <p:spPr>
          <a:xfrm>
            <a:off x="5017499" y="422943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5876949" y="4219658"/>
            <a:ext cx="128699" cy="187198"/>
          </a:xfrm>
          <a:prstGeom prst="rect">
            <a:avLst/>
          </a:prstGeom>
        </p:spPr>
      </p:pic>
      <p:sp>
        <p:nvSpPr>
          <p:cNvPr id="122" name="TextBox 121"/>
          <p:cNvSpPr txBox="1"/>
          <p:nvPr/>
        </p:nvSpPr>
        <p:spPr>
          <a:xfrm>
            <a:off x="6044445" y="4229437"/>
            <a:ext cx="1419431" cy="186689"/>
          </a:xfrm>
          <a:prstGeom prst="rect">
            <a:avLst/>
          </a:prstGeom>
          <a:noFill/>
        </p:spPr>
        <p:txBody>
          <a:bodyPr wrap="none" lIns="0" tIns="0" rIns="0" bIns="0">
            <a:spAutoFit/>
          </a:bodyPr>
          <a:lstStyle/>
          <a:p>
            <a:r>
              <a:rPr sz="1100" b="0">
                <a:solidFill>
                  <a:srgbClr val="2E2E2E"/>
                </a:solidFill>
                <a:latin typeface="Calibri"/>
              </a:rPr>
              <a:t>CAGR leads the market.</a:t>
            </a:r>
          </a:p>
        </p:txBody>
      </p:sp>
      <p:sp>
        <p:nvSpPr>
          <p:cNvPr id="123" name="TextBox 122"/>
          <p:cNvSpPr txBox="1"/>
          <p:nvPr/>
        </p:nvSpPr>
        <p:spPr>
          <a:xfrm>
            <a:off x="3838575" y="4447369"/>
            <a:ext cx="636637" cy="186689"/>
          </a:xfrm>
          <a:prstGeom prst="rect">
            <a:avLst/>
          </a:prstGeom>
          <a:noFill/>
        </p:spPr>
        <p:txBody>
          <a:bodyPr wrap="none" lIns="0" tIns="0" rIns="0" bIns="0">
            <a:spAutoFit/>
          </a:bodyPr>
          <a:lstStyle/>
          <a:p>
            <a:r>
              <a:rPr sz="1100" b="0">
                <a:solidFill>
                  <a:srgbClr val="2E2E2E"/>
                </a:solidFill>
                <a:latin typeface="Calibri"/>
              </a:rPr>
              <a:t>● Europe:</a:t>
            </a:r>
          </a:p>
        </p:txBody>
      </p:sp>
      <p:pic>
        <p:nvPicPr>
          <p:cNvPr id="124" name="Picture 123" descr="lock.png"/>
          <p:cNvPicPr>
            <a:picLocks noChangeAspect="1"/>
          </p:cNvPicPr>
          <p:nvPr/>
        </p:nvPicPr>
        <p:blipFill>
          <a:blip r:embed="rId22"/>
          <a:stretch>
            <a:fillRect/>
          </a:stretch>
        </p:blipFill>
        <p:spPr>
          <a:xfrm>
            <a:off x="4423263" y="4437590"/>
            <a:ext cx="128699" cy="187198"/>
          </a:xfrm>
          <a:prstGeom prst="rect">
            <a:avLst/>
          </a:prstGeom>
        </p:spPr>
      </p:pic>
      <p:sp>
        <p:nvSpPr>
          <p:cNvPr id="125" name="TextBox 124"/>
          <p:cNvSpPr txBox="1"/>
          <p:nvPr/>
        </p:nvSpPr>
        <p:spPr>
          <a:xfrm>
            <a:off x="4590759" y="444736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5450209" y="4437590"/>
            <a:ext cx="128699" cy="187198"/>
          </a:xfrm>
          <a:prstGeom prst="rect">
            <a:avLst/>
          </a:prstGeom>
        </p:spPr>
      </p:pic>
      <p:sp>
        <p:nvSpPr>
          <p:cNvPr id="127" name="TextBox 126"/>
          <p:cNvSpPr txBox="1"/>
          <p:nvPr/>
        </p:nvSpPr>
        <p:spPr>
          <a:xfrm>
            <a:off x="5617705" y="4447369"/>
            <a:ext cx="1415611" cy="186689"/>
          </a:xfrm>
          <a:prstGeom prst="rect">
            <a:avLst/>
          </a:prstGeom>
          <a:noFill/>
        </p:spPr>
        <p:txBody>
          <a:bodyPr wrap="none" lIns="0" tIns="0" rIns="0" bIns="0">
            <a:spAutoFit/>
          </a:bodyPr>
          <a:lstStyle/>
          <a:p>
            <a:r>
              <a:rPr sz="1100" b="0">
                <a:solidFill>
                  <a:srgbClr val="2E2E2E"/>
                </a:solidFill>
                <a:latin typeface="Calibri"/>
              </a:rPr>
              <a:t>CAGR a smaller market.</a:t>
            </a:r>
          </a:p>
        </p:txBody>
      </p:sp>
      <p:sp>
        <p:nvSpPr>
          <p:cNvPr id="128" name="TextBox 127"/>
          <p:cNvSpPr txBox="1"/>
          <p:nvPr/>
        </p:nvSpPr>
        <p:spPr>
          <a:xfrm>
            <a:off x="3838575" y="4665301"/>
            <a:ext cx="732101" cy="186689"/>
          </a:xfrm>
          <a:prstGeom prst="rect">
            <a:avLst/>
          </a:prstGeom>
          <a:noFill/>
        </p:spPr>
        <p:txBody>
          <a:bodyPr wrap="none" lIns="0" tIns="0" rIns="0" bIns="0">
            <a:spAutoFit/>
          </a:bodyPr>
          <a:lstStyle/>
          <a:p>
            <a:r>
              <a:rPr sz="1100" b="0">
                <a:solidFill>
                  <a:srgbClr val="2E2E2E"/>
                </a:solidFill>
                <a:latin typeface="Calibri"/>
              </a:rPr>
              <a:t>● East Asia:</a:t>
            </a:r>
          </a:p>
        </p:txBody>
      </p:sp>
      <p:pic>
        <p:nvPicPr>
          <p:cNvPr id="129" name="Picture 128" descr="lock.png"/>
          <p:cNvPicPr>
            <a:picLocks noChangeAspect="1"/>
          </p:cNvPicPr>
          <p:nvPr/>
        </p:nvPicPr>
        <p:blipFill>
          <a:blip r:embed="rId22"/>
          <a:stretch>
            <a:fillRect/>
          </a:stretch>
        </p:blipFill>
        <p:spPr>
          <a:xfrm>
            <a:off x="4518727" y="4655522"/>
            <a:ext cx="128699" cy="187198"/>
          </a:xfrm>
          <a:prstGeom prst="rect">
            <a:avLst/>
          </a:prstGeom>
        </p:spPr>
      </p:pic>
      <p:sp>
        <p:nvSpPr>
          <p:cNvPr id="130" name="TextBox 129"/>
          <p:cNvSpPr txBox="1"/>
          <p:nvPr/>
        </p:nvSpPr>
        <p:spPr>
          <a:xfrm>
            <a:off x="4686223" y="4665301"/>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5545673" y="4655522"/>
            <a:ext cx="128699" cy="187198"/>
          </a:xfrm>
          <a:prstGeom prst="rect">
            <a:avLst/>
          </a:prstGeom>
        </p:spPr>
      </p:pic>
      <p:sp>
        <p:nvSpPr>
          <p:cNvPr id="132" name="TextBox 131"/>
          <p:cNvSpPr txBox="1"/>
          <p:nvPr/>
        </p:nvSpPr>
        <p:spPr>
          <a:xfrm>
            <a:off x="5713169" y="4665301"/>
            <a:ext cx="1415611" cy="186689"/>
          </a:xfrm>
          <a:prstGeom prst="rect">
            <a:avLst/>
          </a:prstGeom>
          <a:noFill/>
        </p:spPr>
        <p:txBody>
          <a:bodyPr wrap="none" lIns="0" tIns="0" rIns="0" bIns="0">
            <a:spAutoFit/>
          </a:bodyPr>
          <a:lstStyle/>
          <a:p>
            <a:r>
              <a:rPr sz="1100" b="0">
                <a:solidFill>
                  <a:srgbClr val="2E2E2E"/>
                </a:solidFill>
                <a:latin typeface="Calibri"/>
              </a:rPr>
              <a:t>CAGR a smaller market.</a:t>
            </a:r>
          </a:p>
        </p:txBody>
      </p:sp>
      <p:sp>
        <p:nvSpPr>
          <p:cNvPr id="133" name="TextBox 132"/>
          <p:cNvSpPr txBox="1"/>
          <p:nvPr/>
        </p:nvSpPr>
        <p:spPr>
          <a:xfrm>
            <a:off x="3838575" y="4883233"/>
            <a:ext cx="1350143" cy="186689"/>
          </a:xfrm>
          <a:prstGeom prst="rect">
            <a:avLst/>
          </a:prstGeom>
          <a:noFill/>
        </p:spPr>
        <p:txBody>
          <a:bodyPr wrap="none" lIns="0" tIns="0" rIns="0" bIns="0">
            <a:spAutoFit/>
          </a:bodyPr>
          <a:lstStyle/>
          <a:p>
            <a:r>
              <a:rPr sz="1100" b="0">
                <a:solidFill>
                  <a:srgbClr val="2E2E2E"/>
                </a:solidFill>
                <a:latin typeface="Calibri"/>
              </a:rPr>
              <a:t>● South Asia &amp; Pacific:</a:t>
            </a:r>
          </a:p>
        </p:txBody>
      </p:sp>
      <p:pic>
        <p:nvPicPr>
          <p:cNvPr id="134" name="Picture 133" descr="lock.png"/>
          <p:cNvPicPr>
            <a:picLocks noChangeAspect="1"/>
          </p:cNvPicPr>
          <p:nvPr/>
        </p:nvPicPr>
        <p:blipFill>
          <a:blip r:embed="rId22"/>
          <a:stretch>
            <a:fillRect/>
          </a:stretch>
        </p:blipFill>
        <p:spPr>
          <a:xfrm>
            <a:off x="5136770" y="4873454"/>
            <a:ext cx="128699" cy="187198"/>
          </a:xfrm>
          <a:prstGeom prst="rect">
            <a:avLst/>
          </a:prstGeom>
        </p:spPr>
      </p:pic>
      <p:sp>
        <p:nvSpPr>
          <p:cNvPr id="135" name="TextBox 134"/>
          <p:cNvSpPr txBox="1"/>
          <p:nvPr/>
        </p:nvSpPr>
        <p:spPr>
          <a:xfrm>
            <a:off x="5304266" y="4883233"/>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2"/>
          <a:stretch>
            <a:fillRect/>
          </a:stretch>
        </p:blipFill>
        <p:spPr>
          <a:xfrm>
            <a:off x="6163716" y="4873454"/>
            <a:ext cx="128699" cy="187198"/>
          </a:xfrm>
          <a:prstGeom prst="rect">
            <a:avLst/>
          </a:prstGeom>
        </p:spPr>
      </p:pic>
      <p:sp>
        <p:nvSpPr>
          <p:cNvPr id="137" name="TextBox 136"/>
          <p:cNvSpPr txBox="1"/>
          <p:nvPr/>
        </p:nvSpPr>
        <p:spPr>
          <a:xfrm>
            <a:off x="6331212" y="4883233"/>
            <a:ext cx="1218612" cy="186689"/>
          </a:xfrm>
          <a:prstGeom prst="rect">
            <a:avLst/>
          </a:prstGeom>
          <a:noFill/>
        </p:spPr>
        <p:txBody>
          <a:bodyPr wrap="none" lIns="0" tIns="0" rIns="0" bIns="0">
            <a:spAutoFit/>
          </a:bodyPr>
          <a:lstStyle/>
          <a:p>
            <a:r>
              <a:rPr sz="1100" b="0">
                <a:solidFill>
                  <a:srgbClr val="2E2E2E"/>
                </a:solidFill>
                <a:latin typeface="Calibri"/>
              </a:rPr>
              <a:t>CAGR grows fastest.</a:t>
            </a:r>
          </a:p>
        </p:txBody>
      </p:sp>
      <p:sp>
        <p:nvSpPr>
          <p:cNvPr id="138" name="TextBox 137"/>
          <p:cNvSpPr txBox="1"/>
          <p:nvPr/>
        </p:nvSpPr>
        <p:spPr>
          <a:xfrm>
            <a:off x="3838575" y="5101165"/>
            <a:ext cx="1008260" cy="186689"/>
          </a:xfrm>
          <a:prstGeom prst="rect">
            <a:avLst/>
          </a:prstGeom>
          <a:noFill/>
        </p:spPr>
        <p:txBody>
          <a:bodyPr wrap="none" lIns="0" tIns="0" rIns="0" bIns="0">
            <a:spAutoFit/>
          </a:bodyPr>
          <a:lstStyle/>
          <a:p>
            <a:r>
              <a:rPr sz="1100" b="0">
                <a:solidFill>
                  <a:srgbClr val="2E2E2E"/>
                </a:solidFill>
                <a:latin typeface="Calibri"/>
              </a:rPr>
              <a:t>● Latin America:</a:t>
            </a:r>
          </a:p>
        </p:txBody>
      </p:sp>
      <p:pic>
        <p:nvPicPr>
          <p:cNvPr id="139" name="Picture 138" descr="lock.png"/>
          <p:cNvPicPr>
            <a:picLocks noChangeAspect="1"/>
          </p:cNvPicPr>
          <p:nvPr/>
        </p:nvPicPr>
        <p:blipFill>
          <a:blip r:embed="rId22"/>
          <a:stretch>
            <a:fillRect/>
          </a:stretch>
        </p:blipFill>
        <p:spPr>
          <a:xfrm>
            <a:off x="4794887" y="5091385"/>
            <a:ext cx="128699" cy="187198"/>
          </a:xfrm>
          <a:prstGeom prst="rect">
            <a:avLst/>
          </a:prstGeom>
        </p:spPr>
      </p:pic>
      <p:sp>
        <p:nvSpPr>
          <p:cNvPr id="140" name="TextBox 139"/>
          <p:cNvSpPr txBox="1"/>
          <p:nvPr/>
        </p:nvSpPr>
        <p:spPr>
          <a:xfrm>
            <a:off x="4962383" y="5101165"/>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5821833" y="5091385"/>
            <a:ext cx="128699" cy="187198"/>
          </a:xfrm>
          <a:prstGeom prst="rect">
            <a:avLst/>
          </a:prstGeom>
        </p:spPr>
      </p:pic>
      <p:sp>
        <p:nvSpPr>
          <p:cNvPr id="142" name="TextBox 141"/>
          <p:cNvSpPr txBox="1"/>
          <p:nvPr/>
        </p:nvSpPr>
        <p:spPr>
          <a:xfrm>
            <a:off x="5989329" y="5101165"/>
            <a:ext cx="1415611" cy="186689"/>
          </a:xfrm>
          <a:prstGeom prst="rect">
            <a:avLst/>
          </a:prstGeom>
          <a:noFill/>
        </p:spPr>
        <p:txBody>
          <a:bodyPr wrap="none" lIns="0" tIns="0" rIns="0" bIns="0">
            <a:spAutoFit/>
          </a:bodyPr>
          <a:lstStyle/>
          <a:p>
            <a:r>
              <a:rPr sz="1100" b="0">
                <a:solidFill>
                  <a:srgbClr val="2E2E2E"/>
                </a:solidFill>
                <a:latin typeface="Calibri"/>
              </a:rPr>
              <a:t>CAGR a smaller market.</a:t>
            </a:r>
          </a:p>
        </p:txBody>
      </p:sp>
      <p:sp>
        <p:nvSpPr>
          <p:cNvPr id="143" name="TextBox 142"/>
          <p:cNvSpPr txBox="1"/>
          <p:nvPr/>
        </p:nvSpPr>
        <p:spPr>
          <a:xfrm>
            <a:off x="3838575" y="5319097"/>
            <a:ext cx="1386944" cy="186689"/>
          </a:xfrm>
          <a:prstGeom prst="rect">
            <a:avLst/>
          </a:prstGeom>
          <a:noFill/>
        </p:spPr>
        <p:txBody>
          <a:bodyPr wrap="none" lIns="0" tIns="0" rIns="0" bIns="0">
            <a:spAutoFit/>
          </a:bodyPr>
          <a:lstStyle/>
          <a:p>
            <a:r>
              <a:rPr sz="1100" b="0">
                <a:solidFill>
                  <a:srgbClr val="2E2E2E"/>
                </a:solidFill>
                <a:latin typeface="Calibri"/>
              </a:rPr>
              <a:t>● Middle East &amp; Africa:</a:t>
            </a:r>
          </a:p>
        </p:txBody>
      </p:sp>
      <p:pic>
        <p:nvPicPr>
          <p:cNvPr id="144" name="Picture 143" descr="lock.png"/>
          <p:cNvPicPr>
            <a:picLocks noChangeAspect="1"/>
          </p:cNvPicPr>
          <p:nvPr/>
        </p:nvPicPr>
        <p:blipFill>
          <a:blip r:embed="rId22"/>
          <a:stretch>
            <a:fillRect/>
          </a:stretch>
        </p:blipFill>
        <p:spPr>
          <a:xfrm>
            <a:off x="5173571" y="5309317"/>
            <a:ext cx="128699" cy="187198"/>
          </a:xfrm>
          <a:prstGeom prst="rect">
            <a:avLst/>
          </a:prstGeom>
        </p:spPr>
      </p:pic>
      <p:sp>
        <p:nvSpPr>
          <p:cNvPr id="145" name="TextBox 144"/>
          <p:cNvSpPr txBox="1"/>
          <p:nvPr/>
        </p:nvSpPr>
        <p:spPr>
          <a:xfrm>
            <a:off x="5341067" y="531909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6200517" y="5309317"/>
            <a:ext cx="128699" cy="187198"/>
          </a:xfrm>
          <a:prstGeom prst="rect">
            <a:avLst/>
          </a:prstGeom>
        </p:spPr>
      </p:pic>
      <p:sp>
        <p:nvSpPr>
          <p:cNvPr id="147" name="TextBox 146"/>
          <p:cNvSpPr txBox="1"/>
          <p:nvPr/>
        </p:nvSpPr>
        <p:spPr>
          <a:xfrm>
            <a:off x="6368013" y="5319097"/>
            <a:ext cx="1415611" cy="186689"/>
          </a:xfrm>
          <a:prstGeom prst="rect">
            <a:avLst/>
          </a:prstGeom>
          <a:noFill/>
        </p:spPr>
        <p:txBody>
          <a:bodyPr wrap="none" lIns="0" tIns="0" rIns="0" bIns="0">
            <a:spAutoFit/>
          </a:bodyPr>
          <a:lstStyle/>
          <a:p>
            <a:r>
              <a:rPr sz="1100" b="0">
                <a:solidFill>
                  <a:srgbClr val="2E2E2E"/>
                </a:solidFill>
                <a:latin typeface="Calibri"/>
              </a:rPr>
              <a:t>CAGR a smaller market.</a:t>
            </a:r>
          </a:p>
        </p:txBody>
      </p:sp>
      <p:sp>
        <p:nvSpPr>
          <p:cNvPr id="148" name="TextBox 147"/>
          <p:cNvSpPr txBox="1"/>
          <p:nvPr/>
        </p:nvSpPr>
        <p:spPr>
          <a:xfrm>
            <a:off x="8524875" y="5842641"/>
            <a:ext cx="3081608" cy="194310"/>
          </a:xfrm>
          <a:prstGeom prst="rect">
            <a:avLst/>
          </a:prstGeom>
          <a:noFill/>
        </p:spPr>
        <p:txBody>
          <a:bodyPr wrap="none" lIns="0" tIns="0" rIns="0" bIns="0">
            <a:spAutoFit/>
          </a:bodyPr>
          <a:lstStyle/>
          <a:p>
            <a:r>
              <a:rPr sz="1150" b="1">
                <a:solidFill>
                  <a:srgbClr val="0B2E4A"/>
                </a:solidFill>
                <a:latin typeface="Calibri"/>
              </a:rPr>
              <a:t>The Global market is projected to grow at a CAGR</a:t>
            </a:r>
          </a:p>
        </p:txBody>
      </p:sp>
      <p:sp>
        <p:nvSpPr>
          <p:cNvPr id="149" name="TextBox 148"/>
          <p:cNvSpPr txBox="1"/>
          <p:nvPr/>
        </p:nvSpPr>
        <p:spPr>
          <a:xfrm>
            <a:off x="8524875" y="6017901"/>
            <a:ext cx="200855" cy="194310"/>
          </a:xfrm>
          <a:prstGeom prst="rect">
            <a:avLst/>
          </a:prstGeom>
          <a:noFill/>
        </p:spPr>
        <p:txBody>
          <a:bodyPr wrap="none" lIns="0" tIns="0" rIns="0" bIns="0">
            <a:spAutoFit/>
          </a:bodyPr>
          <a:lstStyle/>
          <a:p>
            <a:r>
              <a:rPr sz="1150" b="1">
                <a:solidFill>
                  <a:srgbClr val="0B2E4A"/>
                </a:solidFill>
                <a:latin typeface="Calibri"/>
              </a:rPr>
              <a:t>of</a:t>
            </a:r>
          </a:p>
        </p:txBody>
      </p:sp>
      <p:pic>
        <p:nvPicPr>
          <p:cNvPr id="150" name="Picture 149" descr="lock.png"/>
          <p:cNvPicPr>
            <a:picLocks noChangeAspect="1"/>
          </p:cNvPicPr>
          <p:nvPr/>
        </p:nvPicPr>
        <p:blipFill>
          <a:blip r:embed="rId22"/>
          <a:stretch>
            <a:fillRect/>
          </a:stretch>
        </p:blipFill>
        <p:spPr>
          <a:xfrm>
            <a:off x="8674884" y="6007677"/>
            <a:ext cx="134549" cy="195707"/>
          </a:xfrm>
          <a:prstGeom prst="rect">
            <a:avLst/>
          </a:prstGeom>
        </p:spPr>
      </p:pic>
      <p:sp>
        <p:nvSpPr>
          <p:cNvPr id="151" name="TextBox 150"/>
          <p:cNvSpPr txBox="1"/>
          <p:nvPr/>
        </p:nvSpPr>
        <p:spPr>
          <a:xfrm>
            <a:off x="8849994"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Analysis, By Region Volume (MT)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61987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474845" y="1419225"/>
            <a:ext cx="2383155" cy="133350"/>
          </a:xfrm>
          <a:prstGeom prst="rect">
            <a:avLst/>
          </a:prstGeom>
          <a:noFill/>
        </p:spPr>
        <p:txBody>
          <a:bodyPr wrap="square" lIns="28575" tIns="9525" rIns="2857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a:endParaRPr/>
          </a:p>
        </p:txBody>
      </p:sp>
      <p:sp>
        <p:nvSpPr>
          <p:cNvPr id="15" name="FMI Legend Chip"/>
          <p:cNvSpPr/>
          <p:nvPr/>
        </p:nvSpPr>
        <p:spPr>
          <a:xfrm>
            <a:off x="4551045" y="1601961"/>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a:off x="4712970" y="15971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4855845" y="1520999"/>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82911"/>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19" name="FMI Legend Chip"/>
          <p:cNvSpPr/>
          <p:nvPr/>
        </p:nvSpPr>
        <p:spPr>
          <a:xfrm>
            <a:off x="4551045" y="190513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4712970" y="19003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4855845" y="1824176"/>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86089"/>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3" name="FMI Legend Chip"/>
          <p:cNvSpPr/>
          <p:nvPr/>
        </p:nvSpPr>
        <p:spPr>
          <a:xfrm>
            <a:off x="4551045" y="241636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a:off x="4712970" y="241160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4855845" y="2335400"/>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East Asia</a:t>
            </a:r>
          </a:p>
        </p:txBody>
      </p:sp>
      <p:sp>
        <p:nvSpPr>
          <p:cNvPr id="26" name="BPS Value 3"/>
          <p:cNvSpPr txBox="1"/>
          <p:nvPr/>
        </p:nvSpPr>
        <p:spPr>
          <a:xfrm>
            <a:off x="6305550" y="2397313"/>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7" name="FMI Legend Chip"/>
          <p:cNvSpPr/>
          <p:nvPr/>
        </p:nvSpPr>
        <p:spPr>
          <a:xfrm>
            <a:off x="4551045" y="313526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rot="10800000">
            <a:off x="4712970" y="313050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4855845" y="3054306"/>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North America</a:t>
            </a:r>
          </a:p>
        </p:txBody>
      </p:sp>
      <p:sp>
        <p:nvSpPr>
          <p:cNvPr id="30" name="BPS Value 4"/>
          <p:cNvSpPr txBox="1"/>
          <p:nvPr/>
        </p:nvSpPr>
        <p:spPr>
          <a:xfrm>
            <a:off x="6305550" y="3116218"/>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1" name="FMI Legend Chip"/>
          <p:cNvSpPr/>
          <p:nvPr/>
        </p:nvSpPr>
        <p:spPr>
          <a:xfrm>
            <a:off x="4551045" y="390771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10800000">
            <a:off x="4712970" y="390295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4855845" y="3826756"/>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Europe</a:t>
            </a:r>
          </a:p>
        </p:txBody>
      </p:sp>
      <p:sp>
        <p:nvSpPr>
          <p:cNvPr id="34" name="BPS Value 5"/>
          <p:cNvSpPr txBox="1"/>
          <p:nvPr/>
        </p:nvSpPr>
        <p:spPr>
          <a:xfrm>
            <a:off x="6305550" y="3888668"/>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5" name="FMI Legend Chip"/>
          <p:cNvSpPr/>
          <p:nvPr/>
        </p:nvSpPr>
        <p:spPr>
          <a:xfrm>
            <a:off x="4551045" y="471919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4712970" y="471443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4855845" y="4638235"/>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South Asia &amp; Pacific</a:t>
            </a:r>
          </a:p>
        </p:txBody>
      </p:sp>
      <p:sp>
        <p:nvSpPr>
          <p:cNvPr id="38" name="BPS Value 6"/>
          <p:cNvSpPr txBox="1"/>
          <p:nvPr/>
        </p:nvSpPr>
        <p:spPr>
          <a:xfrm>
            <a:off x="6305550" y="4700148"/>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239000" y="1066800"/>
            <a:ext cx="4667250" cy="209550"/>
          </a:xfrm>
          <a:prstGeom prst="rect">
            <a:avLst/>
          </a:prstGeom>
          <a:noFill/>
        </p:spPr>
        <p:txBody>
          <a:bodyPr wrap="square" lIns="0" tIns="9525" rIns="19050"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39000" y="1390650"/>
            <a:ext cx="4667250" cy="40481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endParaRPr sz="1100" b="1">
              <a:solidFill>
                <a:srgbClr val="6C7A89"/>
              </a:solidFill>
              <a:latin typeface="Calibri"/>
            </a:endParaRPr>
          </a:p>
        </p:txBody>
      </p:sp>
      <p:sp>
        <p:nvSpPr>
          <p:cNvPr id="46" name="TextBox 4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4_4__605E5C.png"/>
          <p:cNvPicPr>
            <a:picLocks noChangeAspect="1"/>
          </p:cNvPicPr>
          <p:nvPr/>
        </p:nvPicPr>
        <p:blipFill>
          <a:blip r:embed="rId6"/>
          <a:stretch>
            <a:fillRect/>
          </a:stretch>
        </p:blipFill>
        <p:spPr>
          <a:xfrm>
            <a:off x="9465355" y="5897562"/>
            <a:ext cx="1309912" cy="482599"/>
          </a:xfrm>
          <a:prstGeom prst="rect">
            <a:avLst/>
          </a:prstGeom>
        </p:spPr>
      </p:pic>
      <p:pic>
        <p:nvPicPr>
          <p:cNvPr id="49" name="Picture 48" descr="lock.png"/>
          <p:cNvPicPr>
            <a:picLocks noChangeAspect="1"/>
          </p:cNvPicPr>
          <p:nvPr/>
        </p:nvPicPr>
        <p:blipFill>
          <a:blip r:embed="rId5"/>
          <a:stretch>
            <a:fillRect/>
          </a:stretch>
        </p:blipFill>
        <p:spPr>
          <a:xfrm>
            <a:off x="10003631" y="5972175"/>
            <a:ext cx="229195" cy="333375"/>
          </a:xfrm>
          <a:prstGeom prst="rect">
            <a:avLst/>
          </a:prstGeom>
        </p:spPr>
      </p:pic>
      <p:sp>
        <p:nvSpPr>
          <p:cNvPr id="50" name="TextBox 49"/>
          <p:cNvSpPr txBox="1"/>
          <p:nvPr/>
        </p:nvSpPr>
        <p:spPr>
          <a:xfrm>
            <a:off x="7239000" y="1400175"/>
            <a:ext cx="4567237" cy="194310"/>
          </a:xfrm>
          <a:prstGeom prst="rect">
            <a:avLst/>
          </a:prstGeom>
          <a:noFill/>
        </p:spPr>
        <p:txBody>
          <a:bodyPr wrap="none" lIns="0" tIns="0" rIns="0" bIns="0">
            <a:spAutoFit/>
          </a:bodyPr>
          <a:lstStyle/>
          <a:p>
            <a:r>
              <a:rPr sz="1150" b="0">
                <a:solidFill>
                  <a:srgbClr val="2E2E2E"/>
                </a:solidFill>
                <a:latin typeface="Calibri"/>
              </a:rPr>
              <a:t>South Asia &amp; Pacific senior dog cognitive supplement market is projected to</a:t>
            </a:r>
          </a:p>
        </p:txBody>
      </p:sp>
      <p:sp>
        <p:nvSpPr>
          <p:cNvPr id="51" name="TextBox 50"/>
          <p:cNvSpPr txBox="1"/>
          <p:nvPr/>
        </p:nvSpPr>
        <p:spPr>
          <a:xfrm>
            <a:off x="7239000" y="1575435"/>
            <a:ext cx="532320" cy="194310"/>
          </a:xfrm>
          <a:prstGeom prst="rect">
            <a:avLst/>
          </a:prstGeom>
          <a:noFill/>
        </p:spPr>
        <p:txBody>
          <a:bodyPr wrap="none" lIns="0" tIns="0" rIns="0" bIns="0">
            <a:spAutoFit/>
          </a:bodyPr>
          <a:lstStyle/>
          <a:p>
            <a:r>
              <a:rPr sz="1150" b="0">
                <a:solidFill>
                  <a:srgbClr val="2E2E2E"/>
                </a:solidFill>
                <a:latin typeface="Calibri"/>
              </a:rPr>
              <a:t>register</a:t>
            </a:r>
          </a:p>
        </p:txBody>
      </p:sp>
      <p:pic>
        <p:nvPicPr>
          <p:cNvPr id="52" name="Picture 51" descr="lock.png"/>
          <p:cNvPicPr>
            <a:picLocks noChangeAspect="1"/>
          </p:cNvPicPr>
          <p:nvPr/>
        </p:nvPicPr>
        <p:blipFill>
          <a:blip r:embed="rId5"/>
          <a:stretch>
            <a:fillRect/>
          </a:stretch>
        </p:blipFill>
        <p:spPr>
          <a:xfrm>
            <a:off x="7720474" y="1565211"/>
            <a:ext cx="134549" cy="195707"/>
          </a:xfrm>
          <a:prstGeom prst="rect">
            <a:avLst/>
          </a:prstGeom>
        </p:spPr>
      </p:pic>
      <p:sp>
        <p:nvSpPr>
          <p:cNvPr id="53" name="TextBox 52"/>
          <p:cNvSpPr txBox="1"/>
          <p:nvPr/>
        </p:nvSpPr>
        <p:spPr>
          <a:xfrm>
            <a:off x="7895584" y="1575435"/>
            <a:ext cx="3428503" cy="194310"/>
          </a:xfrm>
          <a:prstGeom prst="rect">
            <a:avLst/>
          </a:prstGeom>
          <a:noFill/>
        </p:spPr>
        <p:txBody>
          <a:bodyPr wrap="none" lIns="0" tIns="0" rIns="0" bIns="0">
            <a:spAutoFit/>
          </a:bodyPr>
          <a:lstStyle/>
          <a:p>
            <a:r>
              <a:rPr sz="1150" b="0">
                <a:solidFill>
                  <a:srgbClr val="2E2E2E"/>
                </a:solidFill>
                <a:latin typeface="Calibri"/>
              </a:rPr>
              <a:t>X higher volume than Europe in 2036. Among senior dog</a:t>
            </a:r>
          </a:p>
        </p:txBody>
      </p:sp>
      <p:sp>
        <p:nvSpPr>
          <p:cNvPr id="54" name="TextBox 53"/>
          <p:cNvSpPr txBox="1"/>
          <p:nvPr/>
        </p:nvSpPr>
        <p:spPr>
          <a:xfrm>
            <a:off x="7239000" y="1750695"/>
            <a:ext cx="4533577" cy="194310"/>
          </a:xfrm>
          <a:prstGeom prst="rect">
            <a:avLst/>
          </a:prstGeom>
          <a:noFill/>
        </p:spPr>
        <p:txBody>
          <a:bodyPr wrap="none" lIns="0" tIns="0" rIns="0" bIns="0">
            <a:spAutoFit/>
          </a:bodyPr>
          <a:lstStyle/>
          <a:p>
            <a:r>
              <a:rPr sz="1150" b="0">
                <a:solidFill>
                  <a:srgbClr val="2E2E2E"/>
                </a:solidFill>
                <a:latin typeface="Calibri"/>
              </a:rPr>
              <a:t>cognitive supplement by region, South Asia &amp; Pacific is expected to witness</a:t>
            </a:r>
          </a:p>
        </p:txBody>
      </p:sp>
      <p:sp>
        <p:nvSpPr>
          <p:cNvPr id="55" name="TextBox 54"/>
          <p:cNvSpPr txBox="1"/>
          <p:nvPr/>
        </p:nvSpPr>
        <p:spPr>
          <a:xfrm>
            <a:off x="7239000" y="1925955"/>
            <a:ext cx="1263979" cy="194310"/>
          </a:xfrm>
          <a:prstGeom prst="rect">
            <a:avLst/>
          </a:prstGeom>
          <a:noFill/>
        </p:spPr>
        <p:txBody>
          <a:bodyPr wrap="none" lIns="0" tIns="0" rIns="0" bIns="0">
            <a:spAutoFit/>
          </a:bodyPr>
          <a:lstStyle/>
          <a:p>
            <a:r>
              <a:rPr sz="1150" b="0">
                <a:solidFill>
                  <a:srgbClr val="2E2E2E"/>
                </a:solidFill>
                <a:latin typeface="Calibri"/>
              </a:rPr>
              <a:t>the highest CAGR of</a:t>
            </a:r>
          </a:p>
        </p:txBody>
      </p:sp>
      <p:pic>
        <p:nvPicPr>
          <p:cNvPr id="56" name="Picture 55" descr="lock.png"/>
          <p:cNvPicPr>
            <a:picLocks noChangeAspect="1"/>
          </p:cNvPicPr>
          <p:nvPr/>
        </p:nvPicPr>
        <p:blipFill>
          <a:blip r:embed="rId5"/>
          <a:stretch>
            <a:fillRect/>
          </a:stretch>
        </p:blipFill>
        <p:spPr>
          <a:xfrm>
            <a:off x="8452133" y="1915731"/>
            <a:ext cx="134549" cy="195707"/>
          </a:xfrm>
          <a:prstGeom prst="rect">
            <a:avLst/>
          </a:prstGeom>
        </p:spPr>
      </p:pic>
      <p:sp>
        <p:nvSpPr>
          <p:cNvPr id="57" name="TextBox 56"/>
          <p:cNvSpPr txBox="1"/>
          <p:nvPr/>
        </p:nvSpPr>
        <p:spPr>
          <a:xfrm>
            <a:off x="8627242" y="192595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58" name="TextBox 57"/>
          <p:cNvSpPr txBox="1"/>
          <p:nvPr/>
        </p:nvSpPr>
        <p:spPr>
          <a:xfrm>
            <a:off x="7239000" y="2153793"/>
            <a:ext cx="4252602" cy="194310"/>
          </a:xfrm>
          <a:prstGeom prst="rect">
            <a:avLst/>
          </a:prstGeom>
          <a:noFill/>
        </p:spPr>
        <p:txBody>
          <a:bodyPr wrap="none" lIns="0" tIns="0" rIns="0" bIns="0">
            <a:spAutoFit/>
          </a:bodyPr>
          <a:lstStyle/>
          <a:p>
            <a:r>
              <a:rPr sz="1150" b="0">
                <a:solidFill>
                  <a:srgbClr val="2E2E2E"/>
                </a:solidFill>
                <a:latin typeface="Calibri"/>
              </a:rPr>
              <a:t>In terms of volume share by region, South Asia &amp; Pacific is expected to</a:t>
            </a:r>
          </a:p>
        </p:txBody>
      </p:sp>
      <p:sp>
        <p:nvSpPr>
          <p:cNvPr id="59" name="TextBox 58"/>
          <p:cNvSpPr txBox="1"/>
          <p:nvPr/>
        </p:nvSpPr>
        <p:spPr>
          <a:xfrm>
            <a:off x="7239000" y="2329053"/>
            <a:ext cx="1837072" cy="194310"/>
          </a:xfrm>
          <a:prstGeom prst="rect">
            <a:avLst/>
          </a:prstGeom>
          <a:noFill/>
        </p:spPr>
        <p:txBody>
          <a:bodyPr wrap="none" lIns="0" tIns="0" rIns="0" bIns="0">
            <a:spAutoFit/>
          </a:bodyPr>
          <a:lstStyle/>
          <a:p>
            <a:r>
              <a:rPr sz="1150" b="0">
                <a:solidFill>
                  <a:srgbClr val="2E2E2E"/>
                </a:solidFill>
                <a:latin typeface="Calibri"/>
              </a:rPr>
              <a:t>dominate the market, gaining</a:t>
            </a:r>
          </a:p>
        </p:txBody>
      </p:sp>
      <p:pic>
        <p:nvPicPr>
          <p:cNvPr id="60" name="Picture 59" descr="lock.png"/>
          <p:cNvPicPr>
            <a:picLocks noChangeAspect="1"/>
          </p:cNvPicPr>
          <p:nvPr/>
        </p:nvPicPr>
        <p:blipFill>
          <a:blip r:embed="rId5"/>
          <a:stretch>
            <a:fillRect/>
          </a:stretch>
        </p:blipFill>
        <p:spPr>
          <a:xfrm>
            <a:off x="9025226" y="2318829"/>
            <a:ext cx="134549" cy="195707"/>
          </a:xfrm>
          <a:prstGeom prst="rect">
            <a:avLst/>
          </a:prstGeom>
        </p:spPr>
      </p:pic>
      <p:sp>
        <p:nvSpPr>
          <p:cNvPr id="61" name="TextBox 60"/>
          <p:cNvSpPr txBox="1"/>
          <p:nvPr/>
        </p:nvSpPr>
        <p:spPr>
          <a:xfrm>
            <a:off x="9200335" y="2329053"/>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62" name="Picture 61" descr="lock.png"/>
          <p:cNvPicPr>
            <a:picLocks noChangeAspect="1"/>
          </p:cNvPicPr>
          <p:nvPr/>
        </p:nvPicPr>
        <p:blipFill>
          <a:blip r:embed="rId5"/>
          <a:stretch>
            <a:fillRect/>
          </a:stretch>
        </p:blipFill>
        <p:spPr>
          <a:xfrm>
            <a:off x="10595478" y="2318829"/>
            <a:ext cx="134549" cy="195707"/>
          </a:xfrm>
          <a:prstGeom prst="rect">
            <a:avLst/>
          </a:prstGeom>
        </p:spPr>
      </p:pic>
      <p:sp>
        <p:nvSpPr>
          <p:cNvPr id="63" name="TextBox 62"/>
          <p:cNvSpPr txBox="1"/>
          <p:nvPr/>
        </p:nvSpPr>
        <p:spPr>
          <a:xfrm>
            <a:off x="10770588" y="232905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4" name="TextBox 63"/>
          <p:cNvSpPr txBox="1"/>
          <p:nvPr/>
        </p:nvSpPr>
        <p:spPr>
          <a:xfrm>
            <a:off x="7239000" y="2504313"/>
            <a:ext cx="2083531" cy="194310"/>
          </a:xfrm>
          <a:prstGeom prst="rect">
            <a:avLst/>
          </a:prstGeom>
          <a:noFill/>
        </p:spPr>
        <p:txBody>
          <a:bodyPr wrap="none" lIns="0" tIns="0" rIns="0" bIns="0">
            <a:spAutoFit/>
          </a:bodyPr>
          <a:lstStyle/>
          <a:p>
            <a:r>
              <a:rPr sz="1150" b="0">
                <a:solidFill>
                  <a:srgbClr val="2E2E2E"/>
                </a:solidFill>
                <a:latin typeface="Calibri"/>
              </a:rPr>
              <a:t>North America is expected to lose</a:t>
            </a:r>
          </a:p>
        </p:txBody>
      </p:sp>
      <p:pic>
        <p:nvPicPr>
          <p:cNvPr id="65" name="Picture 64" descr="lock.png"/>
          <p:cNvPicPr>
            <a:picLocks noChangeAspect="1"/>
          </p:cNvPicPr>
          <p:nvPr/>
        </p:nvPicPr>
        <p:blipFill>
          <a:blip r:embed="rId5"/>
          <a:stretch>
            <a:fillRect/>
          </a:stretch>
        </p:blipFill>
        <p:spPr>
          <a:xfrm>
            <a:off x="9271685" y="2494089"/>
            <a:ext cx="134549" cy="195707"/>
          </a:xfrm>
          <a:prstGeom prst="rect">
            <a:avLst/>
          </a:prstGeom>
        </p:spPr>
      </p:pic>
      <p:sp>
        <p:nvSpPr>
          <p:cNvPr id="66" name="TextBox 65"/>
          <p:cNvSpPr txBox="1"/>
          <p:nvPr/>
        </p:nvSpPr>
        <p:spPr>
          <a:xfrm>
            <a:off x="9446794" y="2504313"/>
            <a:ext cx="1926356" cy="194310"/>
          </a:xfrm>
          <a:prstGeom prst="rect">
            <a:avLst/>
          </a:prstGeom>
          <a:noFill/>
        </p:spPr>
        <p:txBody>
          <a:bodyPr wrap="none" lIns="0" tIns="0" rIns="0" bIns="0">
            <a:spAutoFit/>
          </a:bodyPr>
          <a:lstStyle/>
          <a:p>
            <a:r>
              <a:rPr sz="1150" b="0">
                <a:solidFill>
                  <a:srgbClr val="2E2E2E"/>
                </a:solidFill>
                <a:latin typeface="Calibri"/>
              </a:rPr>
              <a:t>BPS over the forecast period to</a:t>
            </a:r>
          </a:p>
        </p:txBody>
      </p:sp>
      <p:sp>
        <p:nvSpPr>
          <p:cNvPr id="67" name="TextBox 66"/>
          <p:cNvSpPr txBox="1"/>
          <p:nvPr/>
        </p:nvSpPr>
        <p:spPr>
          <a:xfrm>
            <a:off x="7239000" y="2679573"/>
            <a:ext cx="755104" cy="194310"/>
          </a:xfrm>
          <a:prstGeom prst="rect">
            <a:avLst/>
          </a:prstGeom>
          <a:noFill/>
        </p:spPr>
        <p:txBody>
          <a:bodyPr wrap="none" lIns="0" tIns="0" rIns="0" bIns="0">
            <a:spAutoFit/>
          </a:bodyPr>
          <a:lstStyle/>
          <a:p>
            <a:r>
              <a:rPr sz="1150" b="0">
                <a:solidFill>
                  <a:srgbClr val="2E2E2E"/>
                </a:solidFill>
                <a:latin typeface="Calibri"/>
              </a:rPr>
              <a:t>account for</a:t>
            </a:r>
          </a:p>
        </p:txBody>
      </p:sp>
      <p:pic>
        <p:nvPicPr>
          <p:cNvPr id="68" name="Picture 67" descr="lock.png"/>
          <p:cNvPicPr>
            <a:picLocks noChangeAspect="1"/>
          </p:cNvPicPr>
          <p:nvPr/>
        </p:nvPicPr>
        <p:blipFill>
          <a:blip r:embed="rId5"/>
          <a:stretch>
            <a:fillRect/>
          </a:stretch>
        </p:blipFill>
        <p:spPr>
          <a:xfrm>
            <a:off x="7943258" y="2669349"/>
            <a:ext cx="134549" cy="195707"/>
          </a:xfrm>
          <a:prstGeom prst="rect">
            <a:avLst/>
          </a:prstGeom>
        </p:spPr>
      </p:pic>
      <p:sp>
        <p:nvSpPr>
          <p:cNvPr id="69" name="TextBox 68"/>
          <p:cNvSpPr txBox="1"/>
          <p:nvPr/>
        </p:nvSpPr>
        <p:spPr>
          <a:xfrm>
            <a:off x="8118367" y="267957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70" name="TextBox 69"/>
          <p:cNvSpPr txBox="1"/>
          <p:nvPr/>
        </p:nvSpPr>
        <p:spPr>
          <a:xfrm>
            <a:off x="1613208" y="5877496"/>
            <a:ext cx="1078882" cy="186689"/>
          </a:xfrm>
          <a:prstGeom prst="rect">
            <a:avLst/>
          </a:prstGeom>
          <a:noFill/>
        </p:spPr>
        <p:txBody>
          <a:bodyPr wrap="none" lIns="0" tIns="0" rIns="0" bIns="0">
            <a:spAutoFit/>
          </a:bodyPr>
          <a:lstStyle/>
          <a:p>
            <a:r>
              <a:rPr sz="1100" b="1">
                <a:solidFill>
                  <a:srgbClr val="6C7A89"/>
                </a:solidFill>
                <a:latin typeface="Calibri"/>
              </a:rPr>
              <a:t>2026 TOTAL (MT)</a:t>
            </a:r>
          </a:p>
        </p:txBody>
      </p:sp>
      <p:pic>
        <p:nvPicPr>
          <p:cNvPr id="71" name="Picture 70" descr="lock.png"/>
          <p:cNvPicPr>
            <a:picLocks noChangeAspect="1"/>
          </p:cNvPicPr>
          <p:nvPr/>
        </p:nvPicPr>
        <p:blipFill>
          <a:blip r:embed="rId5"/>
          <a:stretch>
            <a:fillRect/>
          </a:stretch>
        </p:blipFill>
        <p:spPr>
          <a:xfrm>
            <a:off x="1984327" y="6077648"/>
            <a:ext cx="233998" cy="340360"/>
          </a:xfrm>
          <a:prstGeom prst="rect">
            <a:avLst/>
          </a:prstGeom>
        </p:spPr>
      </p:pic>
      <p:sp>
        <p:nvSpPr>
          <p:cNvPr id="72" name="TextBox 71"/>
          <p:cNvSpPr txBox="1"/>
          <p:nvPr/>
        </p:nvSpPr>
        <p:spPr>
          <a:xfrm>
            <a:off x="5647046" y="5877496"/>
            <a:ext cx="1078882" cy="186689"/>
          </a:xfrm>
          <a:prstGeom prst="rect">
            <a:avLst/>
          </a:prstGeom>
          <a:noFill/>
        </p:spPr>
        <p:txBody>
          <a:bodyPr wrap="none" lIns="0" tIns="0" rIns="0" bIns="0">
            <a:spAutoFit/>
          </a:bodyPr>
          <a:lstStyle/>
          <a:p>
            <a:r>
              <a:rPr sz="1100" b="1">
                <a:solidFill>
                  <a:srgbClr val="6C7A89"/>
                </a:solidFill>
                <a:latin typeface="Calibri"/>
              </a:rPr>
              <a:t>2036 TOTAL (MT)</a:t>
            </a:r>
          </a:p>
        </p:txBody>
      </p:sp>
      <p:pic>
        <p:nvPicPr>
          <p:cNvPr id="73" name="Picture 72" descr="lock.png"/>
          <p:cNvPicPr>
            <a:picLocks noChangeAspect="1"/>
          </p:cNvPicPr>
          <p:nvPr/>
        </p:nvPicPr>
        <p:blipFill>
          <a:blip r:embed="rId5"/>
          <a:stretch>
            <a:fillRect/>
          </a:stretch>
        </p:blipFill>
        <p:spPr>
          <a:xfrm>
            <a:off x="6018165" y="6077648"/>
            <a:ext cx="233998" cy="340360"/>
          </a:xfrm>
          <a:prstGeom prst="rect">
            <a:avLst/>
          </a:prstGeom>
        </p:spPr>
      </p:pic>
      <p:sp>
        <p:nvSpPr>
          <p:cNvPr id="74"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Analysis, By Region Value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61987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474845" y="1419225"/>
            <a:ext cx="2383155" cy="133350"/>
          </a:xfrm>
          <a:prstGeom prst="rect">
            <a:avLst/>
          </a:prstGeom>
          <a:noFill/>
        </p:spPr>
        <p:txBody>
          <a:bodyPr wrap="square" lIns="28575" tIns="9525" rIns="2857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a:endParaRPr/>
          </a:p>
        </p:txBody>
      </p:sp>
      <p:sp>
        <p:nvSpPr>
          <p:cNvPr id="15" name="FMI Legend Chip"/>
          <p:cNvSpPr/>
          <p:nvPr/>
        </p:nvSpPr>
        <p:spPr>
          <a:xfrm>
            <a:off x="4551045" y="1589309"/>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10800000">
            <a:off x="4712970" y="158454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4855845" y="1508347"/>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70259"/>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19" name="FMI Legend Chip"/>
          <p:cNvSpPr/>
          <p:nvPr/>
        </p:nvSpPr>
        <p:spPr>
          <a:xfrm>
            <a:off x="4551045" y="1874294"/>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4712970" y="186953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4855845" y="1793331"/>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55244"/>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3" name="FMI Legend Chip"/>
          <p:cNvSpPr/>
          <p:nvPr/>
        </p:nvSpPr>
        <p:spPr>
          <a:xfrm>
            <a:off x="4551045" y="226593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rot="10800000">
            <a:off x="4712970" y="226117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4855845" y="2184973"/>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East Asia</a:t>
            </a:r>
          </a:p>
        </p:txBody>
      </p:sp>
      <p:sp>
        <p:nvSpPr>
          <p:cNvPr id="26" name="BPS Value 3"/>
          <p:cNvSpPr txBox="1"/>
          <p:nvPr/>
        </p:nvSpPr>
        <p:spPr>
          <a:xfrm>
            <a:off x="6305550" y="2246886"/>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7" name="FMI Legend Chip"/>
          <p:cNvSpPr/>
          <p:nvPr/>
        </p:nvSpPr>
        <p:spPr>
          <a:xfrm>
            <a:off x="4551045" y="273894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a:off x="4712970" y="27341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4855845" y="2657982"/>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South Asia &amp; Pacific</a:t>
            </a:r>
          </a:p>
        </p:txBody>
      </p:sp>
      <p:sp>
        <p:nvSpPr>
          <p:cNvPr id="30" name="BPS Value 4"/>
          <p:cNvSpPr txBox="1"/>
          <p:nvPr/>
        </p:nvSpPr>
        <p:spPr>
          <a:xfrm>
            <a:off x="6305550" y="2719895"/>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1" name="FMI Legend Chip"/>
          <p:cNvSpPr/>
          <p:nvPr/>
        </p:nvSpPr>
        <p:spPr>
          <a:xfrm>
            <a:off x="4551045" y="350051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a:off x="4712970" y="349575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4855845" y="3419555"/>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Europe</a:t>
            </a:r>
          </a:p>
        </p:txBody>
      </p:sp>
      <p:sp>
        <p:nvSpPr>
          <p:cNvPr id="34" name="BPS Value 5"/>
          <p:cNvSpPr txBox="1"/>
          <p:nvPr/>
        </p:nvSpPr>
        <p:spPr>
          <a:xfrm>
            <a:off x="6305550" y="3481468"/>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5" name="FMI Legend Chip"/>
          <p:cNvSpPr/>
          <p:nvPr/>
        </p:nvSpPr>
        <p:spPr>
          <a:xfrm>
            <a:off x="4551045" y="457608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rot="10800000">
            <a:off x="4712970" y="45713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4855845" y="4495125"/>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North America</a:t>
            </a:r>
          </a:p>
        </p:txBody>
      </p:sp>
      <p:sp>
        <p:nvSpPr>
          <p:cNvPr id="38" name="BPS Value 6"/>
          <p:cNvSpPr txBox="1"/>
          <p:nvPr/>
        </p:nvSpPr>
        <p:spPr>
          <a:xfrm>
            <a:off x="6305550" y="4557037"/>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239000" y="1066800"/>
            <a:ext cx="4667250" cy="209550"/>
          </a:xfrm>
          <a:prstGeom prst="rect">
            <a:avLst/>
          </a:prstGeom>
          <a:noFill/>
        </p:spPr>
        <p:txBody>
          <a:bodyPr wrap="square" lIns="0" tIns="9525" rIns="19050"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39000" y="1390650"/>
            <a:ext cx="4667250" cy="40481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TOTAL (US$ MN)</a:t>
            </a:r>
          </a:p>
          <a:p>
            <a:pPr algn="ctr">
              <a:lnSpc>
                <a:spcPct val="95000"/>
              </a:lnSpc>
            </a:pPr>
            <a:endParaRPr sz="1100" b="1">
              <a:solidFill>
                <a:srgbClr val="6C7A89"/>
              </a:solidFill>
              <a:latin typeface="Calibri"/>
            </a:endParaRP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TOTAL (US$ MN)</a:t>
            </a:r>
          </a:p>
          <a:p>
            <a:pPr algn="ctr">
              <a:lnSpc>
                <a:spcPct val="95000"/>
              </a:lnSpc>
            </a:pPr>
            <a:endParaRPr sz="1100" b="1">
              <a:solidFill>
                <a:srgbClr val="6C7A89"/>
              </a:solidFill>
              <a:latin typeface="Calibri"/>
            </a:endParaRP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endParaRPr sz="1100" b="1">
              <a:solidFill>
                <a:srgbClr val="6C7A89"/>
              </a:solidFill>
              <a:latin typeface="Calibri"/>
            </a:endParaRPr>
          </a:p>
        </p:txBody>
      </p:sp>
      <p:sp>
        <p:nvSpPr>
          <p:cNvPr id="46" name="TextBox 4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10_900_605E5C.png"/>
          <p:cNvPicPr>
            <a:picLocks noChangeAspect="1"/>
          </p:cNvPicPr>
          <p:nvPr/>
        </p:nvPicPr>
        <p:blipFill>
          <a:blip r:embed="rId6"/>
          <a:stretch>
            <a:fillRect/>
          </a:stretch>
        </p:blipFill>
        <p:spPr>
          <a:xfrm>
            <a:off x="1175203" y="5897562"/>
            <a:ext cx="1878689" cy="482599"/>
          </a:xfrm>
          <a:prstGeom prst="rect">
            <a:avLst/>
          </a:prstGeom>
        </p:spPr>
      </p:pic>
      <p:pic>
        <p:nvPicPr>
          <p:cNvPr id="49" name="Picture 48" descr="17_746_605E5C.png"/>
          <p:cNvPicPr>
            <a:picLocks noChangeAspect="1"/>
          </p:cNvPicPr>
          <p:nvPr/>
        </p:nvPicPr>
        <p:blipFill>
          <a:blip r:embed="rId7"/>
          <a:stretch>
            <a:fillRect/>
          </a:stretch>
        </p:blipFill>
        <p:spPr>
          <a:xfrm>
            <a:off x="5209041" y="5897562"/>
            <a:ext cx="1878689" cy="482599"/>
          </a:xfrm>
          <a:prstGeom prst="rect">
            <a:avLst/>
          </a:prstGeom>
        </p:spPr>
      </p:pic>
      <p:pic>
        <p:nvPicPr>
          <p:cNvPr id="50" name="Picture 49" descr="5_0__605E5C.png"/>
          <p:cNvPicPr>
            <a:picLocks noChangeAspect="1"/>
          </p:cNvPicPr>
          <p:nvPr/>
        </p:nvPicPr>
        <p:blipFill>
          <a:blip r:embed="rId8"/>
          <a:stretch>
            <a:fillRect/>
          </a:stretch>
        </p:blipFill>
        <p:spPr>
          <a:xfrm>
            <a:off x="9465355" y="5897562"/>
            <a:ext cx="1309912" cy="482599"/>
          </a:xfrm>
          <a:prstGeom prst="rect">
            <a:avLst/>
          </a:prstGeom>
        </p:spPr>
      </p:pic>
      <p:pic>
        <p:nvPicPr>
          <p:cNvPr id="51" name="Picture 50" descr="lock.png"/>
          <p:cNvPicPr>
            <a:picLocks noChangeAspect="1"/>
          </p:cNvPicPr>
          <p:nvPr/>
        </p:nvPicPr>
        <p:blipFill>
          <a:blip r:embed="rId5"/>
          <a:stretch>
            <a:fillRect/>
          </a:stretch>
        </p:blipFill>
        <p:spPr>
          <a:xfrm>
            <a:off x="5914657" y="5893409"/>
            <a:ext cx="337498" cy="490906"/>
          </a:xfrm>
          <a:prstGeom prst="rect">
            <a:avLst/>
          </a:prstGeom>
        </p:spPr>
      </p:pic>
      <p:sp>
        <p:nvSpPr>
          <p:cNvPr id="52" name="TextBox 51"/>
          <p:cNvSpPr txBox="1"/>
          <p:nvPr/>
        </p:nvSpPr>
        <p:spPr>
          <a:xfrm>
            <a:off x="7239000" y="1400175"/>
            <a:ext cx="4267435" cy="194310"/>
          </a:xfrm>
          <a:prstGeom prst="rect">
            <a:avLst/>
          </a:prstGeom>
          <a:noFill/>
        </p:spPr>
        <p:txBody>
          <a:bodyPr wrap="none" lIns="0" tIns="0" rIns="0" bIns="0">
            <a:spAutoFit/>
          </a:bodyPr>
          <a:lstStyle/>
          <a:p>
            <a:r>
              <a:rPr sz="1150" b="0">
                <a:solidFill>
                  <a:srgbClr val="2E2E2E"/>
                </a:solidFill>
                <a:latin typeface="Calibri"/>
              </a:rPr>
              <a:t>North America senior dog cognitive supplement market is projected to</a:t>
            </a:r>
          </a:p>
        </p:txBody>
      </p:sp>
      <p:sp>
        <p:nvSpPr>
          <p:cNvPr id="53" name="TextBox 52"/>
          <p:cNvSpPr txBox="1"/>
          <p:nvPr/>
        </p:nvSpPr>
        <p:spPr>
          <a:xfrm>
            <a:off x="7239000" y="1575435"/>
            <a:ext cx="532320" cy="194310"/>
          </a:xfrm>
          <a:prstGeom prst="rect">
            <a:avLst/>
          </a:prstGeom>
          <a:noFill/>
        </p:spPr>
        <p:txBody>
          <a:bodyPr wrap="none" lIns="0" tIns="0" rIns="0" bIns="0">
            <a:spAutoFit/>
          </a:bodyPr>
          <a:lstStyle/>
          <a:p>
            <a:r>
              <a:rPr sz="1150" b="0">
                <a:solidFill>
                  <a:srgbClr val="2E2E2E"/>
                </a:solidFill>
                <a:latin typeface="Calibri"/>
              </a:rPr>
              <a:t>register</a:t>
            </a:r>
          </a:p>
        </p:txBody>
      </p:sp>
      <p:pic>
        <p:nvPicPr>
          <p:cNvPr id="54" name="Picture 53" descr="lock.png"/>
          <p:cNvPicPr>
            <a:picLocks noChangeAspect="1"/>
          </p:cNvPicPr>
          <p:nvPr/>
        </p:nvPicPr>
        <p:blipFill>
          <a:blip r:embed="rId5"/>
          <a:stretch>
            <a:fillRect/>
          </a:stretch>
        </p:blipFill>
        <p:spPr>
          <a:xfrm>
            <a:off x="7720474" y="1565211"/>
            <a:ext cx="134549" cy="195707"/>
          </a:xfrm>
          <a:prstGeom prst="rect">
            <a:avLst/>
          </a:prstGeom>
        </p:spPr>
      </p:pic>
      <p:sp>
        <p:nvSpPr>
          <p:cNvPr id="55" name="TextBox 54"/>
          <p:cNvSpPr txBox="1"/>
          <p:nvPr/>
        </p:nvSpPr>
        <p:spPr>
          <a:xfrm>
            <a:off x="7895584" y="1575435"/>
            <a:ext cx="3877208" cy="194310"/>
          </a:xfrm>
          <a:prstGeom prst="rect">
            <a:avLst/>
          </a:prstGeom>
          <a:noFill/>
        </p:spPr>
        <p:txBody>
          <a:bodyPr wrap="none" lIns="0" tIns="0" rIns="0" bIns="0">
            <a:spAutoFit/>
          </a:bodyPr>
          <a:lstStyle/>
          <a:p>
            <a:r>
              <a:rPr sz="1150" b="0">
                <a:solidFill>
                  <a:srgbClr val="2E2E2E"/>
                </a:solidFill>
                <a:latin typeface="Calibri"/>
              </a:rPr>
              <a:t>X higher value than Europe in 2036. Among senior dog cognitive</a:t>
            </a:r>
          </a:p>
        </p:txBody>
      </p:sp>
      <p:sp>
        <p:nvSpPr>
          <p:cNvPr id="56" name="TextBox 55"/>
          <p:cNvSpPr txBox="1"/>
          <p:nvPr/>
        </p:nvSpPr>
        <p:spPr>
          <a:xfrm>
            <a:off x="7239000" y="1750695"/>
            <a:ext cx="4648200" cy="194310"/>
          </a:xfrm>
          <a:prstGeom prst="rect">
            <a:avLst/>
          </a:prstGeom>
          <a:noFill/>
        </p:spPr>
        <p:txBody>
          <a:bodyPr wrap="none" lIns="0" tIns="0" rIns="0" bIns="0">
            <a:spAutoFit/>
          </a:bodyPr>
          <a:lstStyle/>
          <a:p>
            <a:r>
              <a:rPr sz="1150" b="0">
                <a:solidFill>
                  <a:srgbClr val="2E2E2E"/>
                </a:solidFill>
                <a:latin typeface="Calibri"/>
              </a:rPr>
              <a:t>supplement by region, South Asia &amp; Pacific is expected to witness the highest</a:t>
            </a:r>
          </a:p>
        </p:txBody>
      </p:sp>
      <p:sp>
        <p:nvSpPr>
          <p:cNvPr id="57" name="TextBox 56"/>
          <p:cNvSpPr txBox="1"/>
          <p:nvPr/>
        </p:nvSpPr>
        <p:spPr>
          <a:xfrm>
            <a:off x="7239000" y="1925955"/>
            <a:ext cx="564536" cy="194310"/>
          </a:xfrm>
          <a:prstGeom prst="rect">
            <a:avLst/>
          </a:prstGeom>
          <a:noFill/>
        </p:spPr>
        <p:txBody>
          <a:bodyPr wrap="none" lIns="0" tIns="0" rIns="0" bIns="0">
            <a:spAutoFit/>
          </a:bodyPr>
          <a:lstStyle/>
          <a:p>
            <a:r>
              <a:rPr sz="1150" b="0">
                <a:solidFill>
                  <a:srgbClr val="2E2E2E"/>
                </a:solidFill>
                <a:latin typeface="Calibri"/>
              </a:rPr>
              <a:t>CAGR of</a:t>
            </a:r>
          </a:p>
        </p:txBody>
      </p:sp>
      <p:pic>
        <p:nvPicPr>
          <p:cNvPr id="58" name="Picture 57" descr="lock.png"/>
          <p:cNvPicPr>
            <a:picLocks noChangeAspect="1"/>
          </p:cNvPicPr>
          <p:nvPr/>
        </p:nvPicPr>
        <p:blipFill>
          <a:blip r:embed="rId5"/>
          <a:stretch>
            <a:fillRect/>
          </a:stretch>
        </p:blipFill>
        <p:spPr>
          <a:xfrm>
            <a:off x="7752690" y="1915731"/>
            <a:ext cx="134549" cy="195707"/>
          </a:xfrm>
          <a:prstGeom prst="rect">
            <a:avLst/>
          </a:prstGeom>
        </p:spPr>
      </p:pic>
      <p:sp>
        <p:nvSpPr>
          <p:cNvPr id="59" name="TextBox 58"/>
          <p:cNvSpPr txBox="1"/>
          <p:nvPr/>
        </p:nvSpPr>
        <p:spPr>
          <a:xfrm>
            <a:off x="7927800" y="192595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60" name="TextBox 59"/>
          <p:cNvSpPr txBox="1"/>
          <p:nvPr/>
        </p:nvSpPr>
        <p:spPr>
          <a:xfrm>
            <a:off x="7239000" y="2153793"/>
            <a:ext cx="4648200" cy="194310"/>
          </a:xfrm>
          <a:prstGeom prst="rect">
            <a:avLst/>
          </a:prstGeom>
          <a:noFill/>
        </p:spPr>
        <p:txBody>
          <a:bodyPr wrap="none" lIns="0" tIns="0" rIns="0" bIns="0">
            <a:spAutoFit/>
          </a:bodyPr>
          <a:lstStyle/>
          <a:p>
            <a:r>
              <a:rPr sz="1150" b="0">
                <a:solidFill>
                  <a:srgbClr val="2E2E2E"/>
                </a:solidFill>
                <a:latin typeface="Calibri"/>
              </a:rPr>
              <a:t>In terms of value share by region, North America is expected to dominate the</a:t>
            </a:r>
          </a:p>
        </p:txBody>
      </p:sp>
      <p:sp>
        <p:nvSpPr>
          <p:cNvPr id="61" name="TextBox 60"/>
          <p:cNvSpPr txBox="1"/>
          <p:nvPr/>
        </p:nvSpPr>
        <p:spPr>
          <a:xfrm>
            <a:off x="7239000" y="2329053"/>
            <a:ext cx="918554" cy="194310"/>
          </a:xfrm>
          <a:prstGeom prst="rect">
            <a:avLst/>
          </a:prstGeom>
          <a:noFill/>
        </p:spPr>
        <p:txBody>
          <a:bodyPr wrap="none" lIns="0" tIns="0" rIns="0" bIns="0">
            <a:spAutoFit/>
          </a:bodyPr>
          <a:lstStyle/>
          <a:p>
            <a:r>
              <a:rPr sz="1150" b="0">
                <a:solidFill>
                  <a:srgbClr val="2E2E2E"/>
                </a:solidFill>
                <a:latin typeface="Calibri"/>
              </a:rPr>
              <a:t>market, losing</a:t>
            </a:r>
          </a:p>
        </p:txBody>
      </p:sp>
      <p:pic>
        <p:nvPicPr>
          <p:cNvPr id="62" name="Picture 61" descr="lock.png"/>
          <p:cNvPicPr>
            <a:picLocks noChangeAspect="1"/>
          </p:cNvPicPr>
          <p:nvPr/>
        </p:nvPicPr>
        <p:blipFill>
          <a:blip r:embed="rId5"/>
          <a:stretch>
            <a:fillRect/>
          </a:stretch>
        </p:blipFill>
        <p:spPr>
          <a:xfrm>
            <a:off x="8106708" y="2318829"/>
            <a:ext cx="134549" cy="195707"/>
          </a:xfrm>
          <a:prstGeom prst="rect">
            <a:avLst/>
          </a:prstGeom>
        </p:spPr>
      </p:pic>
      <p:sp>
        <p:nvSpPr>
          <p:cNvPr id="63" name="TextBox 62"/>
          <p:cNvSpPr txBox="1"/>
          <p:nvPr/>
        </p:nvSpPr>
        <p:spPr>
          <a:xfrm>
            <a:off x="8281817" y="2329053"/>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64" name="Picture 63" descr="lock.png"/>
          <p:cNvPicPr>
            <a:picLocks noChangeAspect="1"/>
          </p:cNvPicPr>
          <p:nvPr/>
        </p:nvPicPr>
        <p:blipFill>
          <a:blip r:embed="rId5"/>
          <a:stretch>
            <a:fillRect/>
          </a:stretch>
        </p:blipFill>
        <p:spPr>
          <a:xfrm>
            <a:off x="9676961" y="2318829"/>
            <a:ext cx="134549" cy="195707"/>
          </a:xfrm>
          <a:prstGeom prst="rect">
            <a:avLst/>
          </a:prstGeom>
        </p:spPr>
      </p:pic>
      <p:sp>
        <p:nvSpPr>
          <p:cNvPr id="65" name="TextBox 64"/>
          <p:cNvSpPr txBox="1"/>
          <p:nvPr/>
        </p:nvSpPr>
        <p:spPr>
          <a:xfrm>
            <a:off x="9852070" y="232905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6"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Share Analysis, By Region Volume (MT)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42875" y="981075"/>
            <a:ext cx="11906250" cy="3019425"/>
          </a:xfrm>
          <a:prstGeom prst="roundRect">
            <a:avLst>
              <a:gd name="adj" fmla="val 25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Market Size, By Region (MT)</a:t>
            </a:r>
          </a:p>
        </p:txBody>
      </p:sp>
      <p:graphicFrame>
        <p:nvGraphicFramePr>
          <p:cNvPr id="12" name="Table 11"/>
          <p:cNvGraphicFramePr>
            <a:graphicFrameLocks noGrp="1"/>
          </p:cNvGraphicFramePr>
          <p:nvPr/>
        </p:nvGraphicFramePr>
        <p:xfrm>
          <a:off x="152400" y="1238250"/>
          <a:ext cx="11892680" cy="2552698"/>
        </p:xfrm>
        <a:graphic>
          <a:graphicData uri="http://schemas.openxmlformats.org/drawingml/2006/table">
            <a:tbl>
              <a:tblPr>
                <a:tableStyleId>{5C22544A-7EE6-4342-B048-85BDC9FD1C3A}</a:tableStyleId>
              </a:tblPr>
              <a:tblGrid>
                <a:gridCol w="1388836">
                  <a:extLst>
                    <a:ext uri="{9D8B030D-6E8A-4147-A177-3AD203B41FA5}">
                      <a16:colId xmlns:a16="http://schemas.microsoft.com/office/drawing/2014/main" val="20000"/>
                    </a:ext>
                  </a:extLst>
                </a:gridCol>
                <a:gridCol w="632064">
                  <a:extLst>
                    <a:ext uri="{9D8B030D-6E8A-4147-A177-3AD203B41FA5}">
                      <a16:colId xmlns:a16="http://schemas.microsoft.com/office/drawing/2014/main" val="20001"/>
                    </a:ext>
                  </a:extLst>
                </a:gridCol>
                <a:gridCol w="632064">
                  <a:extLst>
                    <a:ext uri="{9D8B030D-6E8A-4147-A177-3AD203B41FA5}">
                      <a16:colId xmlns:a16="http://schemas.microsoft.com/office/drawing/2014/main" val="20002"/>
                    </a:ext>
                  </a:extLst>
                </a:gridCol>
                <a:gridCol w="632064">
                  <a:extLst>
                    <a:ext uri="{9D8B030D-6E8A-4147-A177-3AD203B41FA5}">
                      <a16:colId xmlns:a16="http://schemas.microsoft.com/office/drawing/2014/main" val="20003"/>
                    </a:ext>
                  </a:extLst>
                </a:gridCol>
                <a:gridCol w="632064">
                  <a:extLst>
                    <a:ext uri="{9D8B030D-6E8A-4147-A177-3AD203B41FA5}">
                      <a16:colId xmlns:a16="http://schemas.microsoft.com/office/drawing/2014/main" val="20004"/>
                    </a:ext>
                  </a:extLst>
                </a:gridCol>
                <a:gridCol w="632064">
                  <a:extLst>
                    <a:ext uri="{9D8B030D-6E8A-4147-A177-3AD203B41FA5}">
                      <a16:colId xmlns:a16="http://schemas.microsoft.com/office/drawing/2014/main" val="20005"/>
                    </a:ext>
                  </a:extLst>
                </a:gridCol>
                <a:gridCol w="632064">
                  <a:extLst>
                    <a:ext uri="{9D8B030D-6E8A-4147-A177-3AD203B41FA5}">
                      <a16:colId xmlns:a16="http://schemas.microsoft.com/office/drawing/2014/main" val="20006"/>
                    </a:ext>
                  </a:extLst>
                </a:gridCol>
                <a:gridCol w="632064">
                  <a:extLst>
                    <a:ext uri="{9D8B030D-6E8A-4147-A177-3AD203B41FA5}">
                      <a16:colId xmlns:a16="http://schemas.microsoft.com/office/drawing/2014/main" val="20007"/>
                    </a:ext>
                  </a:extLst>
                </a:gridCol>
                <a:gridCol w="632064">
                  <a:extLst>
                    <a:ext uri="{9D8B030D-6E8A-4147-A177-3AD203B41FA5}">
                      <a16:colId xmlns:a16="http://schemas.microsoft.com/office/drawing/2014/main" val="20008"/>
                    </a:ext>
                  </a:extLst>
                </a:gridCol>
                <a:gridCol w="632064">
                  <a:extLst>
                    <a:ext uri="{9D8B030D-6E8A-4147-A177-3AD203B41FA5}">
                      <a16:colId xmlns:a16="http://schemas.microsoft.com/office/drawing/2014/main" val="20009"/>
                    </a:ext>
                  </a:extLst>
                </a:gridCol>
                <a:gridCol w="632064">
                  <a:extLst>
                    <a:ext uri="{9D8B030D-6E8A-4147-A177-3AD203B41FA5}">
                      <a16:colId xmlns:a16="http://schemas.microsoft.com/office/drawing/2014/main" val="20010"/>
                    </a:ext>
                  </a:extLst>
                </a:gridCol>
                <a:gridCol w="632064">
                  <a:extLst>
                    <a:ext uri="{9D8B030D-6E8A-4147-A177-3AD203B41FA5}">
                      <a16:colId xmlns:a16="http://schemas.microsoft.com/office/drawing/2014/main" val="20011"/>
                    </a:ext>
                  </a:extLst>
                </a:gridCol>
                <a:gridCol w="632064">
                  <a:extLst>
                    <a:ext uri="{9D8B030D-6E8A-4147-A177-3AD203B41FA5}">
                      <a16:colId xmlns:a16="http://schemas.microsoft.com/office/drawing/2014/main" val="20012"/>
                    </a:ext>
                  </a:extLst>
                </a:gridCol>
                <a:gridCol w="632064">
                  <a:extLst>
                    <a:ext uri="{9D8B030D-6E8A-4147-A177-3AD203B41FA5}">
                      <a16:colId xmlns:a16="http://schemas.microsoft.com/office/drawing/2014/main" val="20013"/>
                    </a:ext>
                  </a:extLst>
                </a:gridCol>
                <a:gridCol w="632064">
                  <a:extLst>
                    <a:ext uri="{9D8B030D-6E8A-4147-A177-3AD203B41FA5}">
                      <a16:colId xmlns:a16="http://schemas.microsoft.com/office/drawing/2014/main" val="20014"/>
                    </a:ext>
                  </a:extLst>
                </a:gridCol>
                <a:gridCol w="632064">
                  <a:extLst>
                    <a:ext uri="{9D8B030D-6E8A-4147-A177-3AD203B41FA5}">
                      <a16:colId xmlns:a16="http://schemas.microsoft.com/office/drawing/2014/main" val="20015"/>
                    </a:ext>
                  </a:extLst>
                </a:gridCol>
                <a:gridCol w="632064">
                  <a:extLst>
                    <a:ext uri="{9D8B030D-6E8A-4147-A177-3AD203B41FA5}">
                      <a16:colId xmlns:a16="http://schemas.microsoft.com/office/drawing/2014/main" val="20016"/>
                    </a:ext>
                  </a:extLst>
                </a:gridCol>
                <a:gridCol w="390820">
                  <a:extLst>
                    <a:ext uri="{9D8B030D-6E8A-4147-A177-3AD203B41FA5}">
                      <a16:colId xmlns:a16="http://schemas.microsoft.com/office/drawing/2014/main" val="20017"/>
                    </a:ext>
                  </a:extLst>
                </a:gridCol>
              </a:tblGrid>
              <a:tr h="438912">
                <a:tc>
                  <a:txBody>
                    <a:bodyPr/>
                    <a:lstStyle/>
                    <a:p>
                      <a:pPr algn="l"/>
                      <a:r>
                        <a:rPr sz="1100" b="1">
                          <a:solidFill>
                            <a:srgbClr val="0B2E4A"/>
                          </a:solidFill>
                          <a:latin typeface="Calibri"/>
                        </a:rPr>
                        <a:t>Region</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2021A</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2022A</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2023A</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2024A</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2025A</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2027F</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2028F</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2029F</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2030F</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2031F</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2032F</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2033F</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2034F</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2035F</a:t>
                      </a:r>
                      <a:endParaRPr sz="1100"/>
                    </a:p>
                  </a:txBody>
                  <a:tcPr marL="19050" marR="14288" marT="19050" marB="19050" anchor="ctr">
                    <a:solidFill>
                      <a:srgbClr val="E0E8EF"/>
                    </a:solidFill>
                  </a:tcPr>
                </a:tc>
                <a:tc>
                  <a:txBody>
                    <a:bodyPr/>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a:lstStyle/>
                    <a:p>
                      <a:pPr algn="ctr"/>
                      <a:r>
                        <a:rPr sz="1100" b="1">
                          <a:solidFill>
                            <a:srgbClr val="0B2E4A"/>
                          </a:solidFill>
                          <a:latin typeface="Calibri"/>
                        </a:rPr>
                        <a:t>F-CAGR</a:t>
                      </a:r>
                      <a:endParaRPr sz="1100"/>
                    </a:p>
                  </a:txBody>
                  <a:tcPr marL="19050" marR="14288" marT="19050" marB="19050" anchor="ctr">
                    <a:solidFill>
                      <a:srgbClr val="E0E8EF"/>
                    </a:solidFill>
                  </a:tcPr>
                </a:tc>
                <a:extLst>
                  <a:ext uri="{0D108BD9-81ED-4DB2-BD59-A6C34878D82A}">
                    <a16:rowId xmlns:a16="http://schemas.microsoft.com/office/drawing/2014/main" val="10000"/>
                  </a:ext>
                </a:extLst>
              </a:tr>
              <a:tr h="246888">
                <a:tc>
                  <a:txBody>
                    <a:bodyPr/>
                    <a:lstStyle/>
                    <a:p>
                      <a:pPr algn="l"/>
                      <a:r>
                        <a:rPr sz="1100" b="1">
                          <a:solidFill>
                            <a:srgbClr val="2E2E2E"/>
                          </a:solidFill>
                          <a:latin typeface="Calibri"/>
                        </a:rPr>
                        <a:t>North America</a:t>
                      </a:r>
                      <a:endParaRPr sz="1100"/>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extLst>
                  <a:ext uri="{0D108BD9-81ED-4DB2-BD59-A6C34878D82A}">
                    <a16:rowId xmlns:a16="http://schemas.microsoft.com/office/drawing/2014/main" val="10001"/>
                  </a:ext>
                </a:extLst>
              </a:tr>
              <a:tr h="246888">
                <a:tc>
                  <a:txBody>
                    <a:bodyPr/>
                    <a:lstStyle/>
                    <a:p>
                      <a:pPr algn="l"/>
                      <a:r>
                        <a:rPr sz="1100" b="1">
                          <a:solidFill>
                            <a:srgbClr val="2E2E2E"/>
                          </a:solidFill>
                          <a:latin typeface="Calibri"/>
                        </a:rPr>
                        <a:t>Latin America</a:t>
                      </a:r>
                      <a:endParaRPr sz="1100"/>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extLst>
                  <a:ext uri="{0D108BD9-81ED-4DB2-BD59-A6C34878D82A}">
                    <a16:rowId xmlns:a16="http://schemas.microsoft.com/office/drawing/2014/main" val="10002"/>
                  </a:ext>
                </a:extLst>
              </a:tr>
              <a:tr h="246888">
                <a:tc>
                  <a:txBody>
                    <a:bodyPr/>
                    <a:lstStyle/>
                    <a:p>
                      <a:pPr algn="l"/>
                      <a:r>
                        <a:rPr sz="1100" b="1">
                          <a:solidFill>
                            <a:srgbClr val="2E2E2E"/>
                          </a:solidFill>
                          <a:latin typeface="Calibri"/>
                        </a:rPr>
                        <a:t>Europe</a:t>
                      </a:r>
                      <a:endParaRPr sz="1100"/>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extLst>
                  <a:ext uri="{0D108BD9-81ED-4DB2-BD59-A6C34878D82A}">
                    <a16:rowId xmlns:a16="http://schemas.microsoft.com/office/drawing/2014/main" val="10003"/>
                  </a:ext>
                </a:extLst>
              </a:tr>
              <a:tr h="246888">
                <a:tc>
                  <a:txBody>
                    <a:bodyPr/>
                    <a:lstStyle/>
                    <a:p>
                      <a:pPr algn="l"/>
                      <a:r>
                        <a:rPr sz="1100" b="1">
                          <a:solidFill>
                            <a:srgbClr val="2E2E2E"/>
                          </a:solidFill>
                          <a:latin typeface="Calibri"/>
                        </a:rPr>
                        <a:t>East Asia</a:t>
                      </a:r>
                      <a:endParaRPr sz="1100"/>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extLst>
                  <a:ext uri="{0D108BD9-81ED-4DB2-BD59-A6C34878D82A}">
                    <a16:rowId xmlns:a16="http://schemas.microsoft.com/office/drawing/2014/main" val="10004"/>
                  </a:ext>
                </a:extLst>
              </a:tr>
              <a:tr h="439673">
                <a:tc>
                  <a:txBody>
                    <a:bodyPr/>
                    <a:lstStyle/>
                    <a:p>
                      <a:pPr algn="l"/>
                      <a:r>
                        <a:rPr sz="1100" b="1">
                          <a:solidFill>
                            <a:srgbClr val="2E2E2E"/>
                          </a:solidFill>
                          <a:latin typeface="Calibri"/>
                        </a:rPr>
                        <a:t>South Asia &amp;</a:t>
                      </a:r>
                      <a:endParaRPr sz="1100"/>
                    </a:p>
                    <a:p>
                      <a:pPr algn="l"/>
                      <a:r>
                        <a:rPr sz="1100" b="1">
                          <a:solidFill>
                            <a:srgbClr val="2E2E2E"/>
                          </a:solidFill>
                          <a:latin typeface="Calibri"/>
                        </a:rPr>
                        <a:t>Pacific</a:t>
                      </a:r>
                      <a:endParaRPr sz="1100"/>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tc>
                  <a:txBody>
                    <a:bodyPr/>
                    <a:lstStyle/>
                    <a:p>
                      <a:pPr algn="ctr"/>
                      <a:r>
                        <a:rPr sz="1100"/>
                        <a:t> </a:t>
                      </a:r>
                    </a:p>
                  </a:txBody>
                  <a:tcPr marL="19050" marR="14288" marT="19050" marB="19050" anchor="ctr">
                    <a:solidFill>
                      <a:srgbClr val="FFFFFF"/>
                    </a:solidFill>
                  </a:tcPr>
                </a:tc>
                <a:extLst>
                  <a:ext uri="{0D108BD9-81ED-4DB2-BD59-A6C34878D82A}">
                    <a16:rowId xmlns:a16="http://schemas.microsoft.com/office/drawing/2014/main" val="10005"/>
                  </a:ext>
                </a:extLst>
              </a:tr>
              <a:tr h="439673">
                <a:tc>
                  <a:txBody>
                    <a:bodyPr/>
                    <a:lstStyle/>
                    <a:p>
                      <a:pPr algn="l"/>
                      <a:r>
                        <a:rPr sz="1100" b="1">
                          <a:solidFill>
                            <a:srgbClr val="2E2E2E"/>
                          </a:solidFill>
                          <a:latin typeface="Calibri"/>
                        </a:rPr>
                        <a:t>Middle East &amp;</a:t>
                      </a:r>
                      <a:endParaRPr sz="1100"/>
                    </a:p>
                    <a:p>
                      <a:pPr algn="l"/>
                      <a:r>
                        <a:rPr sz="1100" b="1">
                          <a:solidFill>
                            <a:srgbClr val="2E2E2E"/>
                          </a:solidFill>
                          <a:latin typeface="Calibri"/>
                        </a:rPr>
                        <a:t>Africa</a:t>
                      </a:r>
                      <a:endParaRPr sz="1100"/>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tc>
                  <a:txBody>
                    <a:bodyPr/>
                    <a:lstStyle/>
                    <a:p>
                      <a:pPr algn="ctr"/>
                      <a:r>
                        <a:rPr sz="1100"/>
                        <a:t> </a:t>
                      </a:r>
                    </a:p>
                  </a:txBody>
                  <a:tcPr marL="19050" marR="14288" marT="19050" marB="19050" anchor="ctr">
                    <a:solidFill>
                      <a:srgbClr val="F5F8FA"/>
                    </a:solidFill>
                  </a:tcPr>
                </a:tc>
                <a:extLst>
                  <a:ext uri="{0D108BD9-81ED-4DB2-BD59-A6C34878D82A}">
                    <a16:rowId xmlns:a16="http://schemas.microsoft.com/office/drawing/2014/main" val="10006"/>
                  </a:ext>
                </a:extLst>
              </a:tr>
              <a:tr h="246888">
                <a:tc>
                  <a:txBody>
                    <a:bodyPr/>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tc>
                  <a:txBody>
                    <a:bodyPr/>
                    <a:lstStyle/>
                    <a:p>
                      <a:pPr algn="ctr"/>
                      <a:r>
                        <a:rPr sz="1100"/>
                        <a:t> </a:t>
                      </a:r>
                    </a:p>
                  </a:txBody>
                  <a:tcPr marL="19050" marR="14288"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8004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133850"/>
            <a:ext cx="11906250" cy="2495550"/>
          </a:xfrm>
          <a:prstGeom prst="roundRect">
            <a:avLst>
              <a:gd name="adj" fmla="val 305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219575"/>
            <a:ext cx="11639550" cy="209550"/>
          </a:xfrm>
          <a:prstGeom prst="rect">
            <a:avLst/>
          </a:prstGeom>
          <a:noFill/>
        </p:spPr>
        <p:txBody>
          <a:bodyPr wrap="square" lIns="0" tIns="9525" rIns="19050" bIns="9525">
            <a:spAutoFit/>
          </a:bodyPr>
          <a:lstStyle/>
          <a:p>
            <a:pPr algn="l"/>
            <a:r>
              <a:rPr sz="1300" b="1">
                <a:solidFill>
                  <a:srgbClr val="0B2E4A"/>
                </a:solidFill>
                <a:latin typeface="Calibri"/>
              </a:rPr>
              <a:t>Global Volume Share Read-out, By Region</a:t>
            </a:r>
          </a:p>
        </p:txBody>
      </p:sp>
      <p:sp>
        <p:nvSpPr>
          <p:cNvPr id="16" name="Rectangle 15"/>
          <p:cNvSpPr/>
          <p:nvPr/>
        </p:nvSpPr>
        <p:spPr>
          <a:xfrm>
            <a:off x="276225" y="4457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543425"/>
            <a:ext cx="11639550" cy="200977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29244" y="2467355"/>
            <a:ext cx="366712" cy="533400"/>
          </a:xfrm>
          <a:prstGeom prst="rect">
            <a:avLst/>
          </a:prstGeom>
        </p:spPr>
      </p:pic>
      <p:sp>
        <p:nvSpPr>
          <p:cNvPr id="20" name="TextBox 19"/>
          <p:cNvSpPr txBox="1"/>
          <p:nvPr/>
        </p:nvSpPr>
        <p:spPr>
          <a:xfrm>
            <a:off x="276225" y="4552950"/>
            <a:ext cx="5056447" cy="194310"/>
          </a:xfrm>
          <a:prstGeom prst="rect">
            <a:avLst/>
          </a:prstGeom>
          <a:noFill/>
        </p:spPr>
        <p:txBody>
          <a:bodyPr wrap="none" lIns="0" tIns="0" rIns="0" bIns="0">
            <a:spAutoFit/>
          </a:bodyPr>
          <a:lstStyle/>
          <a:p>
            <a:r>
              <a:rPr sz="1150" b="0">
                <a:solidFill>
                  <a:srgbClr val="2E2E2E"/>
                </a:solidFill>
                <a:latin typeface="Calibri"/>
              </a:rPr>
              <a:t>South Asia &amp; Pacific senior dog cognitive supplement market is projected to register</a:t>
            </a:r>
          </a:p>
        </p:txBody>
      </p:sp>
      <p:pic>
        <p:nvPicPr>
          <p:cNvPr id="21" name="Picture 20" descr="lock.png"/>
          <p:cNvPicPr>
            <a:picLocks noChangeAspect="1"/>
          </p:cNvPicPr>
          <p:nvPr/>
        </p:nvPicPr>
        <p:blipFill>
          <a:blip r:embed="rId4"/>
          <a:stretch>
            <a:fillRect/>
          </a:stretch>
        </p:blipFill>
        <p:spPr>
          <a:xfrm>
            <a:off x="5281826" y="4542726"/>
            <a:ext cx="134549" cy="195707"/>
          </a:xfrm>
          <a:prstGeom prst="rect">
            <a:avLst/>
          </a:prstGeom>
        </p:spPr>
      </p:pic>
      <p:sp>
        <p:nvSpPr>
          <p:cNvPr id="22" name="TextBox 21"/>
          <p:cNvSpPr txBox="1"/>
          <p:nvPr/>
        </p:nvSpPr>
        <p:spPr>
          <a:xfrm>
            <a:off x="5456936" y="4552950"/>
            <a:ext cx="6158954" cy="194310"/>
          </a:xfrm>
          <a:prstGeom prst="rect">
            <a:avLst/>
          </a:prstGeom>
          <a:noFill/>
        </p:spPr>
        <p:txBody>
          <a:bodyPr wrap="none" lIns="0" tIns="0" rIns="0" bIns="0">
            <a:spAutoFit/>
          </a:bodyPr>
          <a:lstStyle/>
          <a:p>
            <a:r>
              <a:rPr sz="1150" b="0">
                <a:solidFill>
                  <a:srgbClr val="2E2E2E"/>
                </a:solidFill>
                <a:latin typeface="Calibri"/>
              </a:rPr>
              <a:t>X higher volume than Europe in 2036. Among senior dog cognitive supplement by region, South Asia &amp;</a:t>
            </a:r>
          </a:p>
        </p:txBody>
      </p:sp>
      <p:sp>
        <p:nvSpPr>
          <p:cNvPr id="23" name="TextBox 22"/>
          <p:cNvSpPr txBox="1"/>
          <p:nvPr/>
        </p:nvSpPr>
        <p:spPr>
          <a:xfrm>
            <a:off x="276225" y="4728210"/>
            <a:ext cx="3023996" cy="194310"/>
          </a:xfrm>
          <a:prstGeom prst="rect">
            <a:avLst/>
          </a:prstGeom>
          <a:noFill/>
        </p:spPr>
        <p:txBody>
          <a:bodyPr wrap="none" lIns="0" tIns="0" rIns="0" bIns="0">
            <a:spAutoFit/>
          </a:bodyPr>
          <a:lstStyle/>
          <a:p>
            <a:r>
              <a:rPr sz="1150" b="0">
                <a:solidFill>
                  <a:srgbClr val="2E2E2E"/>
                </a:solidFill>
                <a:latin typeface="Calibri"/>
              </a:rPr>
              <a:t>Pacific is expected to witness the highest CAGR of</a:t>
            </a:r>
          </a:p>
        </p:txBody>
      </p:sp>
      <p:pic>
        <p:nvPicPr>
          <p:cNvPr id="24" name="Picture 23" descr="lock.png"/>
          <p:cNvPicPr>
            <a:picLocks noChangeAspect="1"/>
          </p:cNvPicPr>
          <p:nvPr/>
        </p:nvPicPr>
        <p:blipFill>
          <a:blip r:embed="rId4"/>
          <a:stretch>
            <a:fillRect/>
          </a:stretch>
        </p:blipFill>
        <p:spPr>
          <a:xfrm>
            <a:off x="3249374" y="4717986"/>
            <a:ext cx="134549" cy="195707"/>
          </a:xfrm>
          <a:prstGeom prst="rect">
            <a:avLst/>
          </a:prstGeom>
        </p:spPr>
      </p:pic>
      <p:sp>
        <p:nvSpPr>
          <p:cNvPr id="25" name="TextBox 24"/>
          <p:cNvSpPr txBox="1"/>
          <p:nvPr/>
        </p:nvSpPr>
        <p:spPr>
          <a:xfrm>
            <a:off x="3424484" y="4728210"/>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956047"/>
            <a:ext cx="6046564" cy="194310"/>
          </a:xfrm>
          <a:prstGeom prst="rect">
            <a:avLst/>
          </a:prstGeom>
          <a:noFill/>
        </p:spPr>
        <p:txBody>
          <a:bodyPr wrap="none" lIns="0" tIns="0" rIns="0" bIns="0">
            <a:spAutoFit/>
          </a:bodyPr>
          <a:lstStyle/>
          <a:p>
            <a:r>
              <a:rPr sz="1150" b="0">
                <a:solidFill>
                  <a:srgbClr val="2E2E2E"/>
                </a:solidFill>
                <a:latin typeface="Calibri"/>
              </a:rPr>
              <a:t>In terms of volume share by region, South Asia &amp; Pacific is expected to dominate the market, gaining</a:t>
            </a:r>
          </a:p>
        </p:txBody>
      </p:sp>
      <p:pic>
        <p:nvPicPr>
          <p:cNvPr id="27" name="Picture 26" descr="lock.png"/>
          <p:cNvPicPr>
            <a:picLocks noChangeAspect="1"/>
          </p:cNvPicPr>
          <p:nvPr/>
        </p:nvPicPr>
        <p:blipFill>
          <a:blip r:embed="rId4"/>
          <a:stretch>
            <a:fillRect/>
          </a:stretch>
        </p:blipFill>
        <p:spPr>
          <a:xfrm>
            <a:off x="6271943" y="4945824"/>
            <a:ext cx="134549" cy="195707"/>
          </a:xfrm>
          <a:prstGeom prst="rect">
            <a:avLst/>
          </a:prstGeom>
        </p:spPr>
      </p:pic>
      <p:sp>
        <p:nvSpPr>
          <p:cNvPr id="28" name="TextBox 27"/>
          <p:cNvSpPr txBox="1"/>
          <p:nvPr/>
        </p:nvSpPr>
        <p:spPr>
          <a:xfrm>
            <a:off x="6447052" y="4956047"/>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2195" y="4945824"/>
            <a:ext cx="134549" cy="195707"/>
          </a:xfrm>
          <a:prstGeom prst="rect">
            <a:avLst/>
          </a:prstGeom>
        </p:spPr>
      </p:pic>
      <p:sp>
        <p:nvSpPr>
          <p:cNvPr id="30" name="TextBox 29"/>
          <p:cNvSpPr txBox="1"/>
          <p:nvPr/>
        </p:nvSpPr>
        <p:spPr>
          <a:xfrm>
            <a:off x="8017304" y="4956047"/>
            <a:ext cx="2986645" cy="194310"/>
          </a:xfrm>
          <a:prstGeom prst="rect">
            <a:avLst/>
          </a:prstGeom>
          <a:noFill/>
        </p:spPr>
        <p:txBody>
          <a:bodyPr wrap="none" lIns="0" tIns="0" rIns="0" bIns="0">
            <a:spAutoFit/>
          </a:bodyPr>
          <a:lstStyle/>
          <a:p>
            <a:r>
              <a:rPr sz="1150" b="0">
                <a:solidFill>
                  <a:srgbClr val="2E2E2E"/>
                </a:solidFill>
                <a:latin typeface="Calibri"/>
              </a:rPr>
              <a:t>share by 2036. North America is expected to lose</a:t>
            </a:r>
          </a:p>
        </p:txBody>
      </p:sp>
      <p:pic>
        <p:nvPicPr>
          <p:cNvPr id="31" name="Picture 30" descr="lock.png"/>
          <p:cNvPicPr>
            <a:picLocks noChangeAspect="1"/>
          </p:cNvPicPr>
          <p:nvPr/>
        </p:nvPicPr>
        <p:blipFill>
          <a:blip r:embed="rId4"/>
          <a:stretch>
            <a:fillRect/>
          </a:stretch>
        </p:blipFill>
        <p:spPr>
          <a:xfrm>
            <a:off x="10953104" y="4945824"/>
            <a:ext cx="134549" cy="195707"/>
          </a:xfrm>
          <a:prstGeom prst="rect">
            <a:avLst/>
          </a:prstGeom>
        </p:spPr>
      </p:pic>
      <p:sp>
        <p:nvSpPr>
          <p:cNvPr id="32" name="TextBox 31"/>
          <p:cNvSpPr txBox="1"/>
          <p:nvPr/>
        </p:nvSpPr>
        <p:spPr>
          <a:xfrm>
            <a:off x="11128213" y="4956047"/>
            <a:ext cx="298412" cy="194310"/>
          </a:xfrm>
          <a:prstGeom prst="rect">
            <a:avLst/>
          </a:prstGeom>
          <a:noFill/>
        </p:spPr>
        <p:txBody>
          <a:bodyPr wrap="none" lIns="0" tIns="0" rIns="0" bIns="0">
            <a:spAutoFit/>
          </a:bodyPr>
          <a:lstStyle/>
          <a:p>
            <a:r>
              <a:rPr sz="1150" b="0">
                <a:solidFill>
                  <a:srgbClr val="2E2E2E"/>
                </a:solidFill>
                <a:latin typeface="Calibri"/>
              </a:rPr>
              <a:t>BPS</a:t>
            </a:r>
          </a:p>
        </p:txBody>
      </p:sp>
      <p:sp>
        <p:nvSpPr>
          <p:cNvPr id="33" name="TextBox 32"/>
          <p:cNvSpPr txBox="1"/>
          <p:nvPr/>
        </p:nvSpPr>
        <p:spPr>
          <a:xfrm>
            <a:off x="276225" y="5131307"/>
            <a:ext cx="2383048" cy="194310"/>
          </a:xfrm>
          <a:prstGeom prst="rect">
            <a:avLst/>
          </a:prstGeom>
          <a:noFill/>
        </p:spPr>
        <p:txBody>
          <a:bodyPr wrap="none" lIns="0" tIns="0" rIns="0" bIns="0">
            <a:spAutoFit/>
          </a:bodyPr>
          <a:lstStyle/>
          <a:p>
            <a:r>
              <a:rPr sz="1150" b="0">
                <a:solidFill>
                  <a:srgbClr val="2E2E2E"/>
                </a:solidFill>
                <a:latin typeface="Calibri"/>
              </a:rPr>
              <a:t>over the forecast period to account for</a:t>
            </a:r>
          </a:p>
        </p:txBody>
      </p:sp>
      <p:pic>
        <p:nvPicPr>
          <p:cNvPr id="34" name="Picture 33" descr="lock.png"/>
          <p:cNvPicPr>
            <a:picLocks noChangeAspect="1"/>
          </p:cNvPicPr>
          <p:nvPr/>
        </p:nvPicPr>
        <p:blipFill>
          <a:blip r:embed="rId4"/>
          <a:stretch>
            <a:fillRect/>
          </a:stretch>
        </p:blipFill>
        <p:spPr>
          <a:xfrm>
            <a:off x="2608427" y="5121084"/>
            <a:ext cx="134549" cy="195707"/>
          </a:xfrm>
          <a:prstGeom prst="rect">
            <a:avLst/>
          </a:prstGeom>
        </p:spPr>
      </p:pic>
      <p:sp>
        <p:nvSpPr>
          <p:cNvPr id="35" name="TextBox 34"/>
          <p:cNvSpPr txBox="1"/>
          <p:nvPr/>
        </p:nvSpPr>
        <p:spPr>
          <a:xfrm>
            <a:off x="2783536" y="5131307"/>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Market Size, By Region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extLst>
                    <a:ext uri="{9D8B030D-6E8A-4147-A177-3AD203B41FA5}">
                      <a16:colId xmlns:a16="http://schemas.microsoft.com/office/drawing/2014/main" val="20000"/>
                    </a:ext>
                  </a:extLst>
                </a:gridCol>
                <a:gridCol w="612460">
                  <a:extLst>
                    <a:ext uri="{9D8B030D-6E8A-4147-A177-3AD203B41FA5}">
                      <a16:colId xmlns:a16="http://schemas.microsoft.com/office/drawing/2014/main" val="20001"/>
                    </a:ext>
                  </a:extLst>
                </a:gridCol>
                <a:gridCol w="612460">
                  <a:extLst>
                    <a:ext uri="{9D8B030D-6E8A-4147-A177-3AD203B41FA5}">
                      <a16:colId xmlns:a16="http://schemas.microsoft.com/office/drawing/2014/main" val="20002"/>
                    </a:ext>
                  </a:extLst>
                </a:gridCol>
                <a:gridCol w="612460">
                  <a:extLst>
                    <a:ext uri="{9D8B030D-6E8A-4147-A177-3AD203B41FA5}">
                      <a16:colId xmlns:a16="http://schemas.microsoft.com/office/drawing/2014/main" val="20003"/>
                    </a:ext>
                  </a:extLst>
                </a:gridCol>
                <a:gridCol w="612460">
                  <a:extLst>
                    <a:ext uri="{9D8B030D-6E8A-4147-A177-3AD203B41FA5}">
                      <a16:colId xmlns:a16="http://schemas.microsoft.com/office/drawing/2014/main" val="20004"/>
                    </a:ext>
                  </a:extLst>
                </a:gridCol>
                <a:gridCol w="612460">
                  <a:extLst>
                    <a:ext uri="{9D8B030D-6E8A-4147-A177-3AD203B41FA5}">
                      <a16:colId xmlns:a16="http://schemas.microsoft.com/office/drawing/2014/main" val="20005"/>
                    </a:ext>
                  </a:extLst>
                </a:gridCol>
                <a:gridCol w="612460">
                  <a:extLst>
                    <a:ext uri="{9D8B030D-6E8A-4147-A177-3AD203B41FA5}">
                      <a16:colId xmlns:a16="http://schemas.microsoft.com/office/drawing/2014/main" val="20006"/>
                    </a:ext>
                  </a:extLst>
                </a:gridCol>
                <a:gridCol w="612460">
                  <a:extLst>
                    <a:ext uri="{9D8B030D-6E8A-4147-A177-3AD203B41FA5}">
                      <a16:colId xmlns:a16="http://schemas.microsoft.com/office/drawing/2014/main" val="20007"/>
                    </a:ext>
                  </a:extLst>
                </a:gridCol>
                <a:gridCol w="612460">
                  <a:extLst>
                    <a:ext uri="{9D8B030D-6E8A-4147-A177-3AD203B41FA5}">
                      <a16:colId xmlns:a16="http://schemas.microsoft.com/office/drawing/2014/main" val="20008"/>
                    </a:ext>
                  </a:extLst>
                </a:gridCol>
                <a:gridCol w="612460">
                  <a:extLst>
                    <a:ext uri="{9D8B030D-6E8A-4147-A177-3AD203B41FA5}">
                      <a16:colId xmlns:a16="http://schemas.microsoft.com/office/drawing/2014/main" val="20009"/>
                    </a:ext>
                  </a:extLst>
                </a:gridCol>
                <a:gridCol w="612460">
                  <a:extLst>
                    <a:ext uri="{9D8B030D-6E8A-4147-A177-3AD203B41FA5}">
                      <a16:colId xmlns:a16="http://schemas.microsoft.com/office/drawing/2014/main" val="20010"/>
                    </a:ext>
                  </a:extLst>
                </a:gridCol>
                <a:gridCol w="612460">
                  <a:extLst>
                    <a:ext uri="{9D8B030D-6E8A-4147-A177-3AD203B41FA5}">
                      <a16:colId xmlns:a16="http://schemas.microsoft.com/office/drawing/2014/main" val="20011"/>
                    </a:ext>
                  </a:extLst>
                </a:gridCol>
                <a:gridCol w="612460">
                  <a:extLst>
                    <a:ext uri="{9D8B030D-6E8A-4147-A177-3AD203B41FA5}">
                      <a16:colId xmlns:a16="http://schemas.microsoft.com/office/drawing/2014/main" val="20012"/>
                    </a:ext>
                  </a:extLst>
                </a:gridCol>
                <a:gridCol w="612460">
                  <a:extLst>
                    <a:ext uri="{9D8B030D-6E8A-4147-A177-3AD203B41FA5}">
                      <a16:colId xmlns:a16="http://schemas.microsoft.com/office/drawing/2014/main" val="20013"/>
                    </a:ext>
                  </a:extLst>
                </a:gridCol>
                <a:gridCol w="612460">
                  <a:extLst>
                    <a:ext uri="{9D8B030D-6E8A-4147-A177-3AD203B41FA5}">
                      <a16:colId xmlns:a16="http://schemas.microsoft.com/office/drawing/2014/main" val="20014"/>
                    </a:ext>
                  </a:extLst>
                </a:gridCol>
                <a:gridCol w="612460">
                  <a:extLst>
                    <a:ext uri="{9D8B030D-6E8A-4147-A177-3AD203B41FA5}">
                      <a16:colId xmlns:a16="http://schemas.microsoft.com/office/drawing/2014/main" val="20015"/>
                    </a:ext>
                  </a:extLst>
                </a:gridCol>
                <a:gridCol w="612460">
                  <a:extLst>
                    <a:ext uri="{9D8B030D-6E8A-4147-A177-3AD203B41FA5}">
                      <a16:colId xmlns:a16="http://schemas.microsoft.com/office/drawing/2014/main" val="20016"/>
                    </a:ext>
                  </a:extLst>
                </a:gridCol>
                <a:gridCol w="612460">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638550"/>
            <a:ext cx="11639550" cy="209550"/>
          </a:xfrm>
          <a:prstGeom prst="rect">
            <a:avLst/>
          </a:prstGeom>
          <a:noFill/>
        </p:spPr>
        <p:txBody>
          <a:bodyPr wrap="square" lIns="0" tIns="9525" rIns="19050" bIns="9525">
            <a:spAutoFit/>
          </a:bodyPr>
          <a:lstStyle/>
          <a:p>
            <a:pPr algn="l"/>
            <a:r>
              <a:rPr sz="1300" b="1">
                <a:solidFill>
                  <a:srgbClr val="0B2E4A"/>
                </a:solidFill>
                <a:latin typeface="Calibri"/>
              </a:rPr>
              <a:t>Global Value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962400"/>
            <a:ext cx="11639550" cy="2590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46995" y="2080450"/>
            <a:ext cx="366712" cy="533400"/>
          </a:xfrm>
          <a:prstGeom prst="rect">
            <a:avLst/>
          </a:prstGeom>
        </p:spPr>
      </p:pic>
      <p:sp>
        <p:nvSpPr>
          <p:cNvPr id="20" name="TextBox 19"/>
          <p:cNvSpPr txBox="1"/>
          <p:nvPr/>
        </p:nvSpPr>
        <p:spPr>
          <a:xfrm>
            <a:off x="276225" y="3971925"/>
            <a:ext cx="4756646" cy="194310"/>
          </a:xfrm>
          <a:prstGeom prst="rect">
            <a:avLst/>
          </a:prstGeom>
          <a:noFill/>
        </p:spPr>
        <p:txBody>
          <a:bodyPr wrap="none" lIns="0" tIns="0" rIns="0" bIns="0">
            <a:spAutoFit/>
          </a:bodyPr>
          <a:lstStyle/>
          <a:p>
            <a:r>
              <a:rPr sz="1150" b="0">
                <a:solidFill>
                  <a:srgbClr val="2E2E2E"/>
                </a:solidFill>
                <a:latin typeface="Calibri"/>
              </a:rPr>
              <a:t>North America senior dog cognitive supplement market is projected to register</a:t>
            </a:r>
          </a:p>
        </p:txBody>
      </p:sp>
      <p:pic>
        <p:nvPicPr>
          <p:cNvPr id="21" name="Picture 20" descr="lock.png"/>
          <p:cNvPicPr>
            <a:picLocks noChangeAspect="1"/>
          </p:cNvPicPr>
          <p:nvPr/>
        </p:nvPicPr>
        <p:blipFill>
          <a:blip r:embed="rId4"/>
          <a:stretch>
            <a:fillRect/>
          </a:stretch>
        </p:blipFill>
        <p:spPr>
          <a:xfrm>
            <a:off x="4982025" y="3961701"/>
            <a:ext cx="134549" cy="195707"/>
          </a:xfrm>
          <a:prstGeom prst="rect">
            <a:avLst/>
          </a:prstGeom>
        </p:spPr>
      </p:pic>
      <p:sp>
        <p:nvSpPr>
          <p:cNvPr id="22" name="TextBox 21"/>
          <p:cNvSpPr txBox="1"/>
          <p:nvPr/>
        </p:nvSpPr>
        <p:spPr>
          <a:xfrm>
            <a:off x="5157134" y="3971925"/>
            <a:ext cx="6573142" cy="194310"/>
          </a:xfrm>
          <a:prstGeom prst="rect">
            <a:avLst/>
          </a:prstGeom>
          <a:noFill/>
        </p:spPr>
        <p:txBody>
          <a:bodyPr wrap="none" lIns="0" tIns="0" rIns="0" bIns="0">
            <a:spAutoFit/>
          </a:bodyPr>
          <a:lstStyle/>
          <a:p>
            <a:r>
              <a:rPr sz="1150" b="0">
                <a:solidFill>
                  <a:srgbClr val="2E2E2E"/>
                </a:solidFill>
                <a:latin typeface="Calibri"/>
              </a:rPr>
              <a:t>X higher value than Europe in 2036. Among senior dog cognitive supplement by region, South Asia &amp; Pacific is</a:t>
            </a:r>
          </a:p>
        </p:txBody>
      </p:sp>
      <p:sp>
        <p:nvSpPr>
          <p:cNvPr id="23" name="TextBox 22"/>
          <p:cNvSpPr txBox="1"/>
          <p:nvPr/>
        </p:nvSpPr>
        <p:spPr>
          <a:xfrm>
            <a:off x="276225" y="4147185"/>
            <a:ext cx="2486007" cy="194310"/>
          </a:xfrm>
          <a:prstGeom prst="rect">
            <a:avLst/>
          </a:prstGeom>
          <a:noFill/>
        </p:spPr>
        <p:txBody>
          <a:bodyPr wrap="none" lIns="0" tIns="0" r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4136961"/>
            <a:ext cx="134549" cy="195707"/>
          </a:xfrm>
          <a:prstGeom prst="rect">
            <a:avLst/>
          </a:prstGeom>
        </p:spPr>
      </p:pic>
      <p:sp>
        <p:nvSpPr>
          <p:cNvPr id="25" name="TextBox 24"/>
          <p:cNvSpPr txBox="1"/>
          <p:nvPr/>
        </p:nvSpPr>
        <p:spPr>
          <a:xfrm>
            <a:off x="2886495" y="414718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5541664" cy="194310"/>
          </a:xfrm>
          <a:prstGeom prst="rect">
            <a:avLst/>
          </a:prstGeom>
          <a:noFill/>
        </p:spPr>
        <p:txBody>
          <a:bodyPr wrap="none" lIns="0" tIns="0" rIns="0" bIns="0">
            <a:spAutoFit/>
          </a:bodyPr>
          <a:lstStyle/>
          <a:p>
            <a:r>
              <a:rPr sz="1150" b="0">
                <a:solidFill>
                  <a:srgbClr val="2E2E2E"/>
                </a:solidFill>
                <a:latin typeface="Calibri"/>
              </a:rPr>
              <a:t>In terms of value share by region, North America is expected to dominate the market, losing</a:t>
            </a:r>
          </a:p>
        </p:txBody>
      </p:sp>
      <p:pic>
        <p:nvPicPr>
          <p:cNvPr id="27" name="Picture 26" descr="lock.png"/>
          <p:cNvPicPr>
            <a:picLocks noChangeAspect="1"/>
          </p:cNvPicPr>
          <p:nvPr/>
        </p:nvPicPr>
        <p:blipFill>
          <a:blip r:embed="rId4"/>
          <a:stretch>
            <a:fillRect/>
          </a:stretch>
        </p:blipFill>
        <p:spPr>
          <a:xfrm>
            <a:off x="5767043" y="4364799"/>
            <a:ext cx="134549" cy="195707"/>
          </a:xfrm>
          <a:prstGeom prst="rect">
            <a:avLst/>
          </a:prstGeom>
        </p:spPr>
      </p:pic>
      <p:sp>
        <p:nvSpPr>
          <p:cNvPr id="28" name="TextBox 27"/>
          <p:cNvSpPr txBox="1"/>
          <p:nvPr/>
        </p:nvSpPr>
        <p:spPr>
          <a:xfrm>
            <a:off x="5942153" y="4375022"/>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337296" y="4364799"/>
            <a:ext cx="134549" cy="195707"/>
          </a:xfrm>
          <a:prstGeom prst="rect">
            <a:avLst/>
          </a:prstGeom>
        </p:spPr>
      </p:pic>
      <p:sp>
        <p:nvSpPr>
          <p:cNvPr id="30" name="TextBox 29"/>
          <p:cNvSpPr txBox="1"/>
          <p:nvPr/>
        </p:nvSpPr>
        <p:spPr>
          <a:xfrm>
            <a:off x="7512405" y="4375022"/>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Trends, By Region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Volume By Region (MT)</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MI Dense Legend"/>
          <p:cNvSpPr txBox="1"/>
          <p:nvPr/>
        </p:nvSpPr>
        <p:spPr>
          <a:xfrm>
            <a:off x="9839325" y="1362075"/>
            <a:ext cx="2057400" cy="171450"/>
          </a:xfrm>
          <a:prstGeom prst="rect">
            <a:avLst/>
          </a:prstGeom>
          <a:noFill/>
        </p:spPr>
        <p:txBody>
          <a:bodyPr wrap="none">
            <a:spAutoFit/>
          </a:bodyPr>
          <a:lstStyle/>
          <a:p>
            <a:endParaRP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40315E"/>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By Region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MI Dense Legend"/>
          <p:cNvSpPr txBox="1"/>
          <p:nvPr/>
        </p:nvSpPr>
        <p:spPr>
          <a:xfrm>
            <a:off x="9839325" y="4248150"/>
            <a:ext cx="2057400" cy="171450"/>
          </a:xfrm>
          <a:prstGeom prst="rect">
            <a:avLst/>
          </a:prstGeom>
          <a:noFill/>
        </p:spPr>
        <p:txBody>
          <a:bodyPr wrap="none">
            <a:spAutoFit/>
          </a:bodyPr>
          <a:lstStyle/>
          <a:p>
            <a:endParaRP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008189"/>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23" name="TextBox 22"/>
          <p:cNvSpPr txBox="1"/>
          <p:nvPr/>
        </p:nvSpPr>
        <p:spPr>
          <a:xfrm>
            <a:off x="9930765" y="1407795"/>
            <a:ext cx="452511" cy="112318"/>
          </a:xfrm>
          <a:prstGeom prst="rect">
            <a:avLst/>
          </a:prstGeom>
          <a:noFill/>
        </p:spPr>
        <p:txBody>
          <a:bodyPr wrap="none" lIns="0" tIns="0" rIns="0" bIns="0">
            <a:spAutoFit/>
          </a:bodyPr>
          <a:lstStyle/>
          <a:p>
            <a:r>
              <a:rPr sz="611" b="1">
                <a:solidFill>
                  <a:srgbClr val="6C7A89"/>
                </a:solidFill>
                <a:latin typeface="Calibri"/>
              </a:rPr>
              <a:t>By segment</a:t>
            </a:r>
          </a:p>
        </p:txBody>
      </p:sp>
      <p:sp>
        <p:nvSpPr>
          <p:cNvPr id="24" name="TextBox 23"/>
          <p:cNvSpPr txBox="1"/>
          <p:nvPr/>
        </p:nvSpPr>
        <p:spPr>
          <a:xfrm>
            <a:off x="9930765" y="4293870"/>
            <a:ext cx="452511" cy="112318"/>
          </a:xfrm>
          <a:prstGeom prst="rect">
            <a:avLst/>
          </a:prstGeom>
          <a:noFill/>
        </p:spPr>
        <p:txBody>
          <a:bodyPr wrap="none" lIns="0" tIns="0" rIns="0" bIns="0">
            <a:spAutoFit/>
          </a:bodyPr>
          <a:lstStyle/>
          <a:p>
            <a:r>
              <a:rPr sz="611" b="1">
                <a:solidFill>
                  <a:srgbClr val="6C7A89"/>
                </a:solidFill>
                <a:latin typeface="Calibri"/>
              </a:rPr>
              <a:t>By segment</a:t>
            </a:r>
          </a:p>
        </p:txBody>
      </p:sp>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Top 10 Countries (2036)</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2" name="Rectangle 11"/>
          <p:cNvSpPr/>
          <p:nvPr/>
        </p:nvSpPr>
        <p:spPr>
          <a:xfrm>
            <a:off x="238125" y="1266825"/>
            <a:ext cx="3210971"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3449096" y="1266825"/>
            <a:ext cx="3403312" cy="288711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4" name="Rectangle 13"/>
          <p:cNvSpPr/>
          <p:nvPr/>
        </p:nvSpPr>
        <p:spPr>
          <a:xfrm>
            <a:off x="3449096" y="4153944"/>
            <a:ext cx="3403312" cy="2418306"/>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5" name="Rectangle 14"/>
          <p:cNvSpPr/>
          <p:nvPr/>
        </p:nvSpPr>
        <p:spPr>
          <a:xfrm>
            <a:off x="6852408" y="1266825"/>
            <a:ext cx="2895416" cy="2186057"/>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China</a:t>
            </a:r>
          </a:p>
          <a:p>
            <a:pPr algn="ctr"/>
            <a:r>
              <a:rPr sz="1100" b="0">
                <a:solidFill>
                  <a:srgbClr val="FFFFFF"/>
                </a:solidFill>
                <a:latin typeface="Calibri"/>
              </a:rPr>
              <a:t> </a:t>
            </a:r>
          </a:p>
        </p:txBody>
      </p:sp>
      <p:sp>
        <p:nvSpPr>
          <p:cNvPr id="16" name="Rectangle 15"/>
          <p:cNvSpPr/>
          <p:nvPr/>
        </p:nvSpPr>
        <p:spPr>
          <a:xfrm>
            <a:off x="9747824" y="1266825"/>
            <a:ext cx="2206051" cy="2186057"/>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India</a:t>
            </a:r>
          </a:p>
          <a:p>
            <a:pPr algn="ctr"/>
            <a:r>
              <a:rPr sz="1100" b="0">
                <a:solidFill>
                  <a:srgbClr val="FFFFFF"/>
                </a:solidFill>
                <a:latin typeface="Calibri"/>
              </a:rPr>
              <a:t> </a:t>
            </a:r>
          </a:p>
        </p:txBody>
      </p:sp>
      <p:sp>
        <p:nvSpPr>
          <p:cNvPr id="17" name="Rectangle 16"/>
          <p:cNvSpPr/>
          <p:nvPr/>
        </p:nvSpPr>
        <p:spPr>
          <a:xfrm>
            <a:off x="6852408" y="3452882"/>
            <a:ext cx="2561697" cy="1778163"/>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8" name="Rectangle 17"/>
          <p:cNvSpPr/>
          <p:nvPr/>
        </p:nvSpPr>
        <p:spPr>
          <a:xfrm>
            <a:off x="6852408" y="5231045"/>
            <a:ext cx="2561697" cy="1341205"/>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U.K.</a:t>
            </a:r>
          </a:p>
          <a:p>
            <a:pPr algn="ctr"/>
            <a:r>
              <a:rPr sz="1100" b="0">
                <a:solidFill>
                  <a:srgbClr val="FFFFFF"/>
                </a:solidFill>
                <a:latin typeface="Calibri"/>
              </a:rPr>
              <a:t> </a:t>
            </a:r>
          </a:p>
        </p:txBody>
      </p:sp>
      <p:sp>
        <p:nvSpPr>
          <p:cNvPr id="19" name="Rectangle 18"/>
          <p:cNvSpPr/>
          <p:nvPr/>
        </p:nvSpPr>
        <p:spPr>
          <a:xfrm>
            <a:off x="9414105" y="3452882"/>
            <a:ext cx="1281045" cy="2124662"/>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Japan</a:t>
            </a:r>
          </a:p>
          <a:p>
            <a:pPr algn="ctr"/>
            <a:r>
              <a:rPr sz="1100" b="0">
                <a:solidFill>
                  <a:srgbClr val="FFFFFF"/>
                </a:solidFill>
                <a:latin typeface="Calibri"/>
              </a:rPr>
              <a:t> </a:t>
            </a:r>
          </a:p>
        </p:txBody>
      </p:sp>
      <p:sp>
        <p:nvSpPr>
          <p:cNvPr id="20" name="Rectangle 19"/>
          <p:cNvSpPr/>
          <p:nvPr/>
        </p:nvSpPr>
        <p:spPr>
          <a:xfrm>
            <a:off x="10695150" y="3452882"/>
            <a:ext cx="1258725" cy="2124662"/>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9414105" y="5577544"/>
            <a:ext cx="2539770" cy="994706"/>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UAE</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1689172"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4996313" y="2710384"/>
            <a:ext cx="308877" cy="449275"/>
          </a:xfrm>
          <a:prstGeom prst="rect">
            <a:avLst/>
          </a:prstGeom>
        </p:spPr>
      </p:pic>
      <p:pic>
        <p:nvPicPr>
          <p:cNvPr id="25" name="Picture 24" descr="lock.png"/>
          <p:cNvPicPr>
            <a:picLocks noChangeAspect="1"/>
          </p:cNvPicPr>
          <p:nvPr/>
        </p:nvPicPr>
        <p:blipFill>
          <a:blip r:embed="rId4"/>
          <a:stretch>
            <a:fillRect/>
          </a:stretch>
        </p:blipFill>
        <p:spPr>
          <a:xfrm>
            <a:off x="4996313" y="5363097"/>
            <a:ext cx="308877" cy="449275"/>
          </a:xfrm>
          <a:prstGeom prst="rect">
            <a:avLst/>
          </a:prstGeom>
        </p:spPr>
      </p:pic>
      <p:pic>
        <p:nvPicPr>
          <p:cNvPr id="26" name="Picture 25" descr="lock.png"/>
          <p:cNvPicPr>
            <a:picLocks noChangeAspect="1"/>
          </p:cNvPicPr>
          <p:nvPr/>
        </p:nvPicPr>
        <p:blipFill>
          <a:blip r:embed="rId4"/>
          <a:stretch>
            <a:fillRect/>
          </a:stretch>
        </p:blipFill>
        <p:spPr>
          <a:xfrm>
            <a:off x="8145677" y="2359853"/>
            <a:ext cx="308877" cy="449275"/>
          </a:xfrm>
          <a:prstGeom prst="rect">
            <a:avLst/>
          </a:prstGeom>
        </p:spPr>
      </p:pic>
      <p:pic>
        <p:nvPicPr>
          <p:cNvPr id="27" name="Picture 26" descr="lock.png"/>
          <p:cNvPicPr>
            <a:picLocks noChangeAspect="1"/>
          </p:cNvPicPr>
          <p:nvPr/>
        </p:nvPicPr>
        <p:blipFill>
          <a:blip r:embed="rId4"/>
          <a:stretch>
            <a:fillRect/>
          </a:stretch>
        </p:blipFill>
        <p:spPr>
          <a:xfrm>
            <a:off x="10696411" y="2359853"/>
            <a:ext cx="308877" cy="449275"/>
          </a:xfrm>
          <a:prstGeom prst="rect">
            <a:avLst/>
          </a:prstGeom>
        </p:spPr>
      </p:pic>
      <p:pic>
        <p:nvPicPr>
          <p:cNvPr id="28" name="Picture 27" descr="lock.png"/>
          <p:cNvPicPr>
            <a:picLocks noChangeAspect="1"/>
          </p:cNvPicPr>
          <p:nvPr/>
        </p:nvPicPr>
        <p:blipFill>
          <a:blip r:embed="rId4"/>
          <a:stretch>
            <a:fillRect/>
          </a:stretch>
        </p:blipFill>
        <p:spPr>
          <a:xfrm>
            <a:off x="7978818" y="4341963"/>
            <a:ext cx="308877" cy="449275"/>
          </a:xfrm>
          <a:prstGeom prst="rect">
            <a:avLst/>
          </a:prstGeom>
        </p:spPr>
      </p:pic>
      <p:pic>
        <p:nvPicPr>
          <p:cNvPr id="29" name="Picture 28" descr="lock.png"/>
          <p:cNvPicPr>
            <a:picLocks noChangeAspect="1"/>
          </p:cNvPicPr>
          <p:nvPr/>
        </p:nvPicPr>
        <p:blipFill>
          <a:blip r:embed="rId4"/>
          <a:stretch>
            <a:fillRect/>
          </a:stretch>
        </p:blipFill>
        <p:spPr>
          <a:xfrm>
            <a:off x="7978818" y="5901647"/>
            <a:ext cx="308877" cy="449275"/>
          </a:xfrm>
          <a:prstGeom prst="rect">
            <a:avLst/>
          </a:prstGeom>
        </p:spPr>
      </p:pic>
      <p:pic>
        <p:nvPicPr>
          <p:cNvPr id="30" name="Picture 29" descr="lock.png"/>
          <p:cNvPicPr>
            <a:picLocks noChangeAspect="1"/>
          </p:cNvPicPr>
          <p:nvPr/>
        </p:nvPicPr>
        <p:blipFill>
          <a:blip r:embed="rId4"/>
          <a:stretch>
            <a:fillRect/>
          </a:stretch>
        </p:blipFill>
        <p:spPr>
          <a:xfrm>
            <a:off x="9900189" y="4515213"/>
            <a:ext cx="308877" cy="449275"/>
          </a:xfrm>
          <a:prstGeom prst="rect">
            <a:avLst/>
          </a:prstGeom>
        </p:spPr>
      </p:pic>
      <p:pic>
        <p:nvPicPr>
          <p:cNvPr id="31" name="Picture 30" descr="lock.png"/>
          <p:cNvPicPr>
            <a:picLocks noChangeAspect="1"/>
          </p:cNvPicPr>
          <p:nvPr/>
        </p:nvPicPr>
        <p:blipFill>
          <a:blip r:embed="rId4"/>
          <a:stretch>
            <a:fillRect/>
          </a:stretch>
        </p:blipFill>
        <p:spPr>
          <a:xfrm>
            <a:off x="11170074" y="4515213"/>
            <a:ext cx="308877" cy="449275"/>
          </a:xfrm>
          <a:prstGeom prst="rect">
            <a:avLst/>
          </a:prstGeom>
        </p:spPr>
      </p:pic>
      <p:pic>
        <p:nvPicPr>
          <p:cNvPr id="32" name="Picture 31" descr="lock.png"/>
          <p:cNvPicPr>
            <a:picLocks noChangeAspect="1"/>
          </p:cNvPicPr>
          <p:nvPr/>
        </p:nvPicPr>
        <p:blipFill>
          <a:blip r:embed="rId4"/>
          <a:stretch>
            <a:fillRect/>
          </a:stretch>
        </p:blipFill>
        <p:spPr>
          <a:xfrm>
            <a:off x="10529551" y="6074897"/>
            <a:ext cx="308877" cy="44927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Global Market Analysis By Segments</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Form Type</a:t>
            </a:r>
          </a:p>
          <a:p>
            <a:pPr marL="342900" indent="-323850">
              <a:lnSpc>
                <a:spcPct val="100000"/>
              </a:lnSpc>
              <a:spcAft>
                <a:spcPts val="800"/>
              </a:spcAft>
            </a:pPr>
            <a:r>
              <a:rPr sz="2000" b="0">
                <a:solidFill>
                  <a:srgbClr val="000000"/>
                </a:solidFill>
                <a:latin typeface="Calibri"/>
              </a:rPr>
              <a:t>➤	By Active Ingredient</a:t>
            </a:r>
          </a:p>
          <a:p>
            <a:pPr marL="342900" indent="-323850">
              <a:lnSpc>
                <a:spcPct val="100000"/>
              </a:lnSpc>
              <a:spcAft>
                <a:spcPts val="800"/>
              </a:spcAft>
            </a:pPr>
            <a:r>
              <a:rPr sz="2000" b="0">
                <a:solidFill>
                  <a:srgbClr val="000000"/>
                </a:solidFill>
                <a:latin typeface="Calibri"/>
              </a:rPr>
              <a:t>➤	By End-use Application</a:t>
            </a:r>
          </a:p>
          <a:p>
            <a:pPr marL="342900" indent="-323850">
              <a:lnSpc>
                <a:spcPct val="100000"/>
              </a:lnSpc>
              <a:spcAft>
                <a:spcPts val="800"/>
              </a:spcAft>
            </a:pPr>
            <a:r>
              <a:rPr sz="2000" b="0">
                <a:solidFill>
                  <a:srgbClr val="000000"/>
                </a:solidFill>
                <a:latin typeface="Calibri"/>
              </a:rPr>
              <a:t>➤	By Packaging Format</a:t>
            </a:r>
          </a:p>
          <a:p>
            <a:pPr marL="342900" indent="-323850">
              <a:lnSpc>
                <a:spcPct val="100000"/>
              </a:lnSpc>
              <a:spcAft>
                <a:spcPts val="800"/>
              </a:spcAft>
            </a:pPr>
            <a:r>
              <a:rPr sz="2000" b="0">
                <a:solidFill>
                  <a:srgbClr val="000000"/>
                </a:solidFill>
                <a:latin typeface="Calibri"/>
              </a:rPr>
              <a:t>➤	By Sales Channel</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10.1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Form Type</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Form Type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Form Type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6 sub-segments of Form Type,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Form Type segment categorizes the market by form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Capsules and Softgels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Tablets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Chewables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Gels and Pastes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Liquids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Powders and Granules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Form Type split shows how demand is distributed across form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7" name="Picture 76" descr="3_818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6_679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5_8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438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3_744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4_4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1_780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3_310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6_4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320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1_834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3_3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1_003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376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3_2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542_3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803_3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4_0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43733" cy="186689"/>
          </a:xfrm>
          <a:prstGeom prst="rect">
            <a:avLst/>
          </a:prstGeom>
          <a:noFill/>
        </p:spPr>
        <p:txBody>
          <a:bodyPr wrap="none" lIns="0" tIns="0" rIns="0" bIns="0">
            <a:spAutoFit/>
          </a:bodyPr>
          <a:lstStyle/>
          <a:p>
            <a:r>
              <a:rPr sz="1100" b="0">
                <a:solidFill>
                  <a:srgbClr val="2E2E2E"/>
                </a:solidFill>
                <a:latin typeface="Calibri"/>
              </a:rPr>
              <a:t>Among senior dog cognitive supplement by form</a:t>
            </a:r>
          </a:p>
        </p:txBody>
      </p:sp>
      <p:sp>
        <p:nvSpPr>
          <p:cNvPr id="102" name="TextBox 101"/>
          <p:cNvSpPr txBox="1"/>
          <p:nvPr/>
        </p:nvSpPr>
        <p:spPr>
          <a:xfrm>
            <a:off x="485775" y="4397077"/>
            <a:ext cx="2804988" cy="186689"/>
          </a:xfrm>
          <a:prstGeom prst="rect">
            <a:avLst/>
          </a:prstGeom>
          <a:noFill/>
        </p:spPr>
        <p:txBody>
          <a:bodyPr wrap="none" lIns="0" tIns="0" rIns="0" bIns="0">
            <a:spAutoFit/>
          </a:bodyPr>
          <a:lstStyle/>
          <a:p>
            <a:r>
              <a:rPr sz="1100" b="0">
                <a:solidFill>
                  <a:srgbClr val="2E2E2E"/>
                </a:solidFill>
                <a:latin typeface="Calibri"/>
              </a:rPr>
              <a:t>type, chewables segment is expected to witness</a:t>
            </a:r>
          </a:p>
        </p:txBody>
      </p:sp>
      <p:sp>
        <p:nvSpPr>
          <p:cNvPr id="103" name="TextBox 102"/>
          <p:cNvSpPr txBox="1"/>
          <p:nvPr/>
        </p:nvSpPr>
        <p:spPr>
          <a:xfrm>
            <a:off x="485775" y="4564717"/>
            <a:ext cx="1212336" cy="186689"/>
          </a:xfrm>
          <a:prstGeom prst="rect">
            <a:avLst/>
          </a:prstGeom>
          <a:noFill/>
        </p:spPr>
        <p:txBody>
          <a:bodyPr wrap="none" lIns="0" tIns="0" rIns="0" bIns="0">
            <a:spAutoFit/>
          </a:bodyPr>
          <a:lstStyle/>
          <a:p>
            <a:r>
              <a:rPr sz="1100" b="0">
                <a:solidFill>
                  <a:srgbClr val="2E2E2E"/>
                </a:solidFill>
                <a:latin typeface="Calibri"/>
              </a:rPr>
              <a:t>the highest CAGR of</a:t>
            </a:r>
          </a:p>
        </p:txBody>
      </p:sp>
      <p:pic>
        <p:nvPicPr>
          <p:cNvPr id="104" name="Picture 103" descr="lock.png"/>
          <p:cNvPicPr>
            <a:picLocks noChangeAspect="1"/>
          </p:cNvPicPr>
          <p:nvPr/>
        </p:nvPicPr>
        <p:blipFill>
          <a:blip r:embed="rId22"/>
          <a:stretch>
            <a:fillRect/>
          </a:stretch>
        </p:blipFill>
        <p:spPr>
          <a:xfrm>
            <a:off x="1646163" y="4554938"/>
            <a:ext cx="128699" cy="187198"/>
          </a:xfrm>
          <a:prstGeom prst="rect">
            <a:avLst/>
          </a:prstGeom>
        </p:spPr>
      </p:pic>
      <p:sp>
        <p:nvSpPr>
          <p:cNvPr id="105" name="TextBox 104"/>
          <p:cNvSpPr txBox="1"/>
          <p:nvPr/>
        </p:nvSpPr>
        <p:spPr>
          <a:xfrm>
            <a:off x="1813659" y="4564717"/>
            <a:ext cx="1484659" cy="186689"/>
          </a:xfrm>
          <a:prstGeom prst="rect">
            <a:avLst/>
          </a:prstGeom>
          <a:noFill/>
        </p:spPr>
        <p:txBody>
          <a:bodyPr wrap="none" lIns="0" tIns="0" rIns="0" bIns="0">
            <a:spAutoFit/>
          </a:bodyPr>
          <a:lstStyle/>
          <a:p>
            <a:r>
              <a:rPr sz="1100" b="0">
                <a:solidFill>
                  <a:srgbClr val="2E2E2E"/>
                </a:solidFill>
                <a:latin typeface="Calibri"/>
              </a:rPr>
              <a:t>over the forecast period.</a:t>
            </a:r>
          </a:p>
        </p:txBody>
      </p:sp>
      <p:sp>
        <p:nvSpPr>
          <p:cNvPr id="106" name="TextBox 105"/>
          <p:cNvSpPr txBox="1"/>
          <p:nvPr/>
        </p:nvSpPr>
        <p:spPr>
          <a:xfrm>
            <a:off x="485775" y="4732357"/>
            <a:ext cx="2910854" cy="186689"/>
          </a:xfrm>
          <a:prstGeom prst="rect">
            <a:avLst/>
          </a:prstGeom>
          <a:noFill/>
        </p:spPr>
        <p:txBody>
          <a:bodyPr wrap="none" lIns="0" tIns="0" rIns="0" bIns="0">
            <a:spAutoFit/>
          </a:bodyPr>
          <a:lstStyle/>
          <a:p>
            <a:r>
              <a:rPr sz="1100" b="0">
                <a:solidFill>
                  <a:srgbClr val="2E2E2E"/>
                </a:solidFill>
                <a:latin typeface="Calibri"/>
              </a:rPr>
              <a:t>In terms of value share by form type, the capsules</a:t>
            </a:r>
          </a:p>
        </p:txBody>
      </p:sp>
      <p:sp>
        <p:nvSpPr>
          <p:cNvPr id="107" name="TextBox 106"/>
          <p:cNvSpPr txBox="1"/>
          <p:nvPr/>
        </p:nvSpPr>
        <p:spPr>
          <a:xfrm>
            <a:off x="485775" y="4899997"/>
            <a:ext cx="2909763" cy="186689"/>
          </a:xfrm>
          <a:prstGeom prst="rect">
            <a:avLst/>
          </a:prstGeom>
          <a:noFill/>
        </p:spPr>
        <p:txBody>
          <a:bodyPr wrap="none" lIns="0" tIns="0" rIns="0" bIns="0">
            <a:spAutoFit/>
          </a:bodyPr>
          <a:lstStyle/>
          <a:p>
            <a:r>
              <a:rPr sz="1100" b="0">
                <a:solidFill>
                  <a:srgbClr val="2E2E2E"/>
                </a:solidFill>
                <a:latin typeface="Calibri"/>
              </a:rPr>
              <a:t>and softgels segment is expected to dominate the</a:t>
            </a:r>
          </a:p>
        </p:txBody>
      </p:sp>
      <p:sp>
        <p:nvSpPr>
          <p:cNvPr id="108" name="TextBox 107"/>
          <p:cNvSpPr txBox="1"/>
          <p:nvPr/>
        </p:nvSpPr>
        <p:spPr>
          <a:xfrm>
            <a:off x="485775" y="5067637"/>
            <a:ext cx="959693" cy="186689"/>
          </a:xfrm>
          <a:prstGeom prst="rect">
            <a:avLst/>
          </a:prstGeom>
          <a:noFill/>
        </p:spPr>
        <p:txBody>
          <a:bodyPr wrap="none" lIns="0" tIns="0" rIns="0" bIns="0">
            <a:spAutoFit/>
          </a:bodyPr>
          <a:lstStyle/>
          <a:p>
            <a:r>
              <a:rPr sz="1100" b="0">
                <a:solidFill>
                  <a:srgbClr val="2E2E2E"/>
                </a:solidFill>
                <a:latin typeface="Calibri"/>
              </a:rPr>
              <a:t>market, gaining</a:t>
            </a:r>
          </a:p>
        </p:txBody>
      </p:sp>
      <p:pic>
        <p:nvPicPr>
          <p:cNvPr id="109" name="Picture 108" descr="lock.png"/>
          <p:cNvPicPr>
            <a:picLocks noChangeAspect="1"/>
          </p:cNvPicPr>
          <p:nvPr/>
        </p:nvPicPr>
        <p:blipFill>
          <a:blip r:embed="rId22"/>
          <a:stretch>
            <a:fillRect/>
          </a:stretch>
        </p:blipFill>
        <p:spPr>
          <a:xfrm>
            <a:off x="1393519" y="5057858"/>
            <a:ext cx="128699" cy="187198"/>
          </a:xfrm>
          <a:prstGeom prst="rect">
            <a:avLst/>
          </a:prstGeom>
        </p:spPr>
      </p:pic>
      <p:sp>
        <p:nvSpPr>
          <p:cNvPr id="110" name="TextBox 109"/>
          <p:cNvSpPr txBox="1"/>
          <p:nvPr/>
        </p:nvSpPr>
        <p:spPr>
          <a:xfrm>
            <a:off x="1561015" y="5067637"/>
            <a:ext cx="1386433" cy="186689"/>
          </a:xfrm>
          <a:prstGeom prst="rect">
            <a:avLst/>
          </a:prstGeom>
          <a:noFill/>
        </p:spPr>
        <p:txBody>
          <a:bodyPr wrap="none" lIns="0" tIns="0" rIns="0" bIns="0">
            <a:spAutoFit/>
          </a:bodyPr>
          <a:lstStyle/>
          <a:p>
            <a:r>
              <a:rPr sz="1100" b="0">
                <a:solidFill>
                  <a:srgbClr val="2E2E2E"/>
                </a:solidFill>
                <a:latin typeface="Calibri"/>
              </a:rPr>
              <a:t>BPS and accounting for</a:t>
            </a:r>
          </a:p>
        </p:txBody>
      </p:sp>
      <p:pic>
        <p:nvPicPr>
          <p:cNvPr id="111" name="Picture 110" descr="lock.png"/>
          <p:cNvPicPr>
            <a:picLocks noChangeAspect="1"/>
          </p:cNvPicPr>
          <p:nvPr/>
        </p:nvPicPr>
        <p:blipFill>
          <a:blip r:embed="rId22"/>
          <a:stretch>
            <a:fillRect/>
          </a:stretch>
        </p:blipFill>
        <p:spPr>
          <a:xfrm>
            <a:off x="2895500" y="5057858"/>
            <a:ext cx="128699" cy="187198"/>
          </a:xfrm>
          <a:prstGeom prst="rect">
            <a:avLst/>
          </a:prstGeom>
        </p:spPr>
      </p:pic>
      <p:sp>
        <p:nvSpPr>
          <p:cNvPr id="112" name="TextBox 111"/>
          <p:cNvSpPr txBox="1"/>
          <p:nvPr/>
        </p:nvSpPr>
        <p:spPr>
          <a:xfrm>
            <a:off x="485775" y="5235277"/>
            <a:ext cx="908397" cy="186689"/>
          </a:xfrm>
          <a:prstGeom prst="rect">
            <a:avLst/>
          </a:prstGeom>
          <a:noFill/>
        </p:spPr>
        <p:txBody>
          <a:bodyPr wrap="none" lIns="0" tIns="0" rIns="0" bIns="0">
            <a:spAutoFit/>
          </a:bodyPr>
          <a:lstStyle/>
          <a:p>
            <a:r>
              <a:rPr sz="1100" b="0">
                <a:solidFill>
                  <a:srgbClr val="2E2E2E"/>
                </a:solidFill>
                <a:latin typeface="Calibri"/>
              </a:rPr>
              <a:t>share by 2036.</a:t>
            </a:r>
          </a:p>
        </p:txBody>
      </p:sp>
      <p:sp>
        <p:nvSpPr>
          <p:cNvPr id="113" name="TextBox 112"/>
          <p:cNvSpPr txBox="1"/>
          <p:nvPr/>
        </p:nvSpPr>
        <p:spPr>
          <a:xfrm>
            <a:off x="485775" y="5453209"/>
            <a:ext cx="2665561" cy="186689"/>
          </a:xfrm>
          <a:prstGeom prst="rect">
            <a:avLst/>
          </a:prstGeom>
          <a:noFill/>
        </p:spPr>
        <p:txBody>
          <a:bodyPr wrap="none" lIns="0" tIns="0" rIns="0" bIns="0">
            <a:spAutoFit/>
          </a:bodyPr>
          <a:lstStyle/>
          <a:p>
            <a:r>
              <a:rPr sz="1100" b="0">
                <a:solidFill>
                  <a:srgbClr val="2E2E2E"/>
                </a:solidFill>
                <a:latin typeface="Calibri"/>
              </a:rPr>
              <a:t>Capsules and softgels segment is projected to</a:t>
            </a:r>
          </a:p>
        </p:txBody>
      </p:sp>
      <p:sp>
        <p:nvSpPr>
          <p:cNvPr id="114" name="TextBox 113"/>
          <p:cNvSpPr txBox="1"/>
          <p:nvPr/>
        </p:nvSpPr>
        <p:spPr>
          <a:xfrm>
            <a:off x="485775" y="5620849"/>
            <a:ext cx="512489" cy="186689"/>
          </a:xfrm>
          <a:prstGeom prst="rect">
            <a:avLst/>
          </a:prstGeom>
          <a:noFill/>
        </p:spPr>
        <p:txBody>
          <a:bodyPr wrap="none" lIns="0" tIns="0" rIns="0" bIns="0">
            <a:spAutoFit/>
          </a:bodyPr>
          <a:lstStyle/>
          <a:p>
            <a:r>
              <a:rPr sz="1100" b="0">
                <a:solidFill>
                  <a:srgbClr val="2E2E2E"/>
                </a:solidFill>
                <a:latin typeface="Calibri"/>
              </a:rPr>
              <a:t>register</a:t>
            </a:r>
          </a:p>
        </p:txBody>
      </p:sp>
      <p:pic>
        <p:nvPicPr>
          <p:cNvPr id="115" name="Picture 114" descr="lock.png"/>
          <p:cNvPicPr>
            <a:picLocks noChangeAspect="1"/>
          </p:cNvPicPr>
          <p:nvPr/>
        </p:nvPicPr>
        <p:blipFill>
          <a:blip r:embed="rId22"/>
          <a:stretch>
            <a:fillRect/>
          </a:stretch>
        </p:blipFill>
        <p:spPr>
          <a:xfrm>
            <a:off x="946316" y="5611070"/>
            <a:ext cx="128699" cy="187198"/>
          </a:xfrm>
          <a:prstGeom prst="rect">
            <a:avLst/>
          </a:prstGeom>
        </p:spPr>
      </p:pic>
      <p:sp>
        <p:nvSpPr>
          <p:cNvPr id="116" name="TextBox 115"/>
          <p:cNvSpPr txBox="1"/>
          <p:nvPr/>
        </p:nvSpPr>
        <p:spPr>
          <a:xfrm>
            <a:off x="1113812" y="5620849"/>
            <a:ext cx="2254919" cy="186689"/>
          </a:xfrm>
          <a:prstGeom prst="rect">
            <a:avLst/>
          </a:prstGeom>
          <a:noFill/>
        </p:spPr>
        <p:txBody>
          <a:bodyPr wrap="none" lIns="0" tIns="0" rIns="0" bIns="0">
            <a:spAutoFit/>
          </a:bodyPr>
          <a:lstStyle/>
          <a:p>
            <a:r>
              <a:rPr sz="1100" b="0">
                <a:solidFill>
                  <a:srgbClr val="2E2E2E"/>
                </a:solidFill>
                <a:latin typeface="Calibri"/>
              </a:rPr>
              <a:t>X higher value than tablets segment in</a:t>
            </a:r>
          </a:p>
        </p:txBody>
      </p:sp>
      <p:sp>
        <p:nvSpPr>
          <p:cNvPr id="117" name="TextBox 116"/>
          <p:cNvSpPr txBox="1"/>
          <p:nvPr/>
        </p:nvSpPr>
        <p:spPr>
          <a:xfrm>
            <a:off x="485775" y="5788489"/>
            <a:ext cx="395163" cy="186689"/>
          </a:xfrm>
          <a:prstGeom prst="rect">
            <a:avLst/>
          </a:prstGeom>
          <a:noFill/>
        </p:spPr>
        <p:txBody>
          <a:bodyPr wrap="none" lIns="0" tIns="0" rIns="0" bIns="0">
            <a:spAutoFit/>
          </a:bodyPr>
          <a:lstStyle/>
          <a:p>
            <a:r>
              <a:rPr sz="1100" b="0">
                <a:solidFill>
                  <a:srgbClr val="2E2E2E"/>
                </a:solidFill>
                <a:latin typeface="Calibri"/>
              </a:rPr>
              <a:t>2036.</a:t>
            </a:r>
          </a:p>
        </p:txBody>
      </p:sp>
      <p:sp>
        <p:nvSpPr>
          <p:cNvPr id="118" name="TextBox 117"/>
          <p:cNvSpPr txBox="1"/>
          <p:nvPr/>
        </p:nvSpPr>
        <p:spPr>
          <a:xfrm>
            <a:off x="3838575" y="4229437"/>
            <a:ext cx="1454918" cy="186689"/>
          </a:xfrm>
          <a:prstGeom prst="rect">
            <a:avLst/>
          </a:prstGeom>
          <a:noFill/>
        </p:spPr>
        <p:txBody>
          <a:bodyPr wrap="none" lIns="0" tIns="0" rIns="0" bIns="0">
            <a:spAutoFit/>
          </a:bodyPr>
          <a:lstStyle/>
          <a:p>
            <a:r>
              <a:rPr sz="1100" b="0">
                <a:solidFill>
                  <a:srgbClr val="2E2E2E"/>
                </a:solidFill>
                <a:latin typeface="Calibri"/>
              </a:rPr>
              <a:t>● Capsules and Softgels:</a:t>
            </a:r>
          </a:p>
        </p:txBody>
      </p:sp>
      <p:pic>
        <p:nvPicPr>
          <p:cNvPr id="119" name="Picture 118" descr="lock.png"/>
          <p:cNvPicPr>
            <a:picLocks noChangeAspect="1"/>
          </p:cNvPicPr>
          <p:nvPr/>
        </p:nvPicPr>
        <p:blipFill>
          <a:blip r:embed="rId22"/>
          <a:stretch>
            <a:fillRect/>
          </a:stretch>
        </p:blipFill>
        <p:spPr>
          <a:xfrm>
            <a:off x="5241545" y="4219658"/>
            <a:ext cx="128699" cy="187198"/>
          </a:xfrm>
          <a:prstGeom prst="rect">
            <a:avLst/>
          </a:prstGeom>
        </p:spPr>
      </p:pic>
      <p:sp>
        <p:nvSpPr>
          <p:cNvPr id="120" name="TextBox 119"/>
          <p:cNvSpPr txBox="1"/>
          <p:nvPr/>
        </p:nvSpPr>
        <p:spPr>
          <a:xfrm>
            <a:off x="5409041" y="422943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6268491" y="4219658"/>
            <a:ext cx="128699" cy="187198"/>
          </a:xfrm>
          <a:prstGeom prst="rect">
            <a:avLst/>
          </a:prstGeom>
        </p:spPr>
      </p:pic>
      <p:sp>
        <p:nvSpPr>
          <p:cNvPr id="122" name="TextBox 121"/>
          <p:cNvSpPr txBox="1"/>
          <p:nvPr/>
        </p:nvSpPr>
        <p:spPr>
          <a:xfrm>
            <a:off x="6435987" y="4229437"/>
            <a:ext cx="945215" cy="186689"/>
          </a:xfrm>
          <a:prstGeom prst="rect">
            <a:avLst/>
          </a:prstGeom>
          <a:noFill/>
        </p:spPr>
        <p:txBody>
          <a:bodyPr wrap="none" lIns="0" tIns="0" rIns="0" bIns="0">
            <a:spAutoFit/>
          </a:bodyPr>
          <a:lstStyle/>
          <a:p>
            <a:r>
              <a:rPr sz="1100" b="0">
                <a:solidFill>
                  <a:srgbClr val="2E2E2E"/>
                </a:solidFill>
                <a:latin typeface="Calibri"/>
              </a:rPr>
              <a:t>CAGR leads the</a:t>
            </a:r>
          </a:p>
        </p:txBody>
      </p:sp>
      <p:sp>
        <p:nvSpPr>
          <p:cNvPr id="123" name="TextBox 122"/>
          <p:cNvSpPr txBox="1"/>
          <p:nvPr/>
        </p:nvSpPr>
        <p:spPr>
          <a:xfrm>
            <a:off x="3838575" y="4397077"/>
            <a:ext cx="602803" cy="186689"/>
          </a:xfrm>
          <a:prstGeom prst="rect">
            <a:avLst/>
          </a:prstGeom>
          <a:noFill/>
        </p:spPr>
        <p:txBody>
          <a:bodyPr wrap="none" lIns="0" tIns="0" rIns="0" bIns="0">
            <a:spAutoFit/>
          </a:bodyPr>
          <a:lstStyle/>
          <a:p>
            <a:r>
              <a:rPr sz="1100" b="0">
                <a:solidFill>
                  <a:srgbClr val="2E2E2E"/>
                </a:solidFill>
                <a:latin typeface="Calibri"/>
              </a:rPr>
              <a:t>segment.</a:t>
            </a:r>
          </a:p>
        </p:txBody>
      </p:sp>
      <p:sp>
        <p:nvSpPr>
          <p:cNvPr id="124" name="TextBox 123"/>
          <p:cNvSpPr txBox="1"/>
          <p:nvPr/>
        </p:nvSpPr>
        <p:spPr>
          <a:xfrm>
            <a:off x="3838575" y="4615009"/>
            <a:ext cx="641275" cy="186689"/>
          </a:xfrm>
          <a:prstGeom prst="rect">
            <a:avLst/>
          </a:prstGeom>
          <a:noFill/>
        </p:spPr>
        <p:txBody>
          <a:bodyPr wrap="none" lIns="0" tIns="0" rIns="0" bIns="0">
            <a:spAutoFit/>
          </a:bodyPr>
          <a:lstStyle/>
          <a:p>
            <a:r>
              <a:rPr sz="1100" b="0">
                <a:solidFill>
                  <a:srgbClr val="2E2E2E"/>
                </a:solidFill>
                <a:latin typeface="Calibri"/>
              </a:rPr>
              <a:t>● Tablets:</a:t>
            </a:r>
          </a:p>
        </p:txBody>
      </p:sp>
      <p:pic>
        <p:nvPicPr>
          <p:cNvPr id="125" name="Picture 124" descr="lock.png"/>
          <p:cNvPicPr>
            <a:picLocks noChangeAspect="1"/>
          </p:cNvPicPr>
          <p:nvPr/>
        </p:nvPicPr>
        <p:blipFill>
          <a:blip r:embed="rId22"/>
          <a:stretch>
            <a:fillRect/>
          </a:stretch>
        </p:blipFill>
        <p:spPr>
          <a:xfrm>
            <a:off x="4427902" y="4605230"/>
            <a:ext cx="128699" cy="187198"/>
          </a:xfrm>
          <a:prstGeom prst="rect">
            <a:avLst/>
          </a:prstGeom>
        </p:spPr>
      </p:pic>
      <p:sp>
        <p:nvSpPr>
          <p:cNvPr id="126" name="TextBox 125"/>
          <p:cNvSpPr txBox="1"/>
          <p:nvPr/>
        </p:nvSpPr>
        <p:spPr>
          <a:xfrm>
            <a:off x="4595398" y="461500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22"/>
          <a:stretch>
            <a:fillRect/>
          </a:stretch>
        </p:blipFill>
        <p:spPr>
          <a:xfrm>
            <a:off x="5454848" y="4605230"/>
            <a:ext cx="128699" cy="187198"/>
          </a:xfrm>
          <a:prstGeom prst="rect">
            <a:avLst/>
          </a:prstGeom>
        </p:spPr>
      </p:pic>
      <p:sp>
        <p:nvSpPr>
          <p:cNvPr id="128" name="TextBox 127"/>
          <p:cNvSpPr txBox="1"/>
          <p:nvPr/>
        </p:nvSpPr>
        <p:spPr>
          <a:xfrm>
            <a:off x="5622344" y="4615009"/>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29" name="TextBox 128"/>
          <p:cNvSpPr txBox="1"/>
          <p:nvPr/>
        </p:nvSpPr>
        <p:spPr>
          <a:xfrm>
            <a:off x="3838575" y="4832941"/>
            <a:ext cx="843458" cy="186689"/>
          </a:xfrm>
          <a:prstGeom prst="rect">
            <a:avLst/>
          </a:prstGeom>
          <a:noFill/>
        </p:spPr>
        <p:txBody>
          <a:bodyPr wrap="none" lIns="0" tIns="0" rIns="0" bIns="0">
            <a:spAutoFit/>
          </a:bodyPr>
          <a:lstStyle/>
          <a:p>
            <a:r>
              <a:rPr sz="1100" b="0">
                <a:solidFill>
                  <a:srgbClr val="2E2E2E"/>
                </a:solidFill>
                <a:latin typeface="Calibri"/>
              </a:rPr>
              <a:t>● Chewables:</a:t>
            </a:r>
          </a:p>
        </p:txBody>
      </p:sp>
      <p:pic>
        <p:nvPicPr>
          <p:cNvPr id="130" name="Picture 129" descr="lock.png"/>
          <p:cNvPicPr>
            <a:picLocks noChangeAspect="1"/>
          </p:cNvPicPr>
          <p:nvPr/>
        </p:nvPicPr>
        <p:blipFill>
          <a:blip r:embed="rId22"/>
          <a:stretch>
            <a:fillRect/>
          </a:stretch>
        </p:blipFill>
        <p:spPr>
          <a:xfrm>
            <a:off x="4630085" y="4823162"/>
            <a:ext cx="128699" cy="187198"/>
          </a:xfrm>
          <a:prstGeom prst="rect">
            <a:avLst/>
          </a:prstGeom>
        </p:spPr>
      </p:pic>
      <p:sp>
        <p:nvSpPr>
          <p:cNvPr id="131" name="TextBox 130"/>
          <p:cNvSpPr txBox="1"/>
          <p:nvPr/>
        </p:nvSpPr>
        <p:spPr>
          <a:xfrm>
            <a:off x="4797581" y="4832941"/>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5657031" y="4823162"/>
            <a:ext cx="128699" cy="187198"/>
          </a:xfrm>
          <a:prstGeom prst="rect">
            <a:avLst/>
          </a:prstGeom>
        </p:spPr>
      </p:pic>
      <p:sp>
        <p:nvSpPr>
          <p:cNvPr id="133" name="TextBox 132"/>
          <p:cNvSpPr txBox="1"/>
          <p:nvPr/>
        </p:nvSpPr>
        <p:spPr>
          <a:xfrm>
            <a:off x="5824527" y="4832941"/>
            <a:ext cx="1218612" cy="186689"/>
          </a:xfrm>
          <a:prstGeom prst="rect">
            <a:avLst/>
          </a:prstGeom>
          <a:noFill/>
        </p:spPr>
        <p:txBody>
          <a:bodyPr wrap="none" lIns="0" tIns="0" rIns="0" bIns="0">
            <a:spAutoFit/>
          </a:bodyPr>
          <a:lstStyle/>
          <a:p>
            <a:r>
              <a:rPr sz="1100" b="0">
                <a:solidFill>
                  <a:srgbClr val="2E2E2E"/>
                </a:solidFill>
                <a:latin typeface="Calibri"/>
              </a:rPr>
              <a:t>CAGR grows fastest.</a:t>
            </a:r>
          </a:p>
        </p:txBody>
      </p:sp>
      <p:sp>
        <p:nvSpPr>
          <p:cNvPr id="134" name="TextBox 133"/>
          <p:cNvSpPr txBox="1"/>
          <p:nvPr/>
        </p:nvSpPr>
        <p:spPr>
          <a:xfrm>
            <a:off x="3838575" y="5050872"/>
            <a:ext cx="1115764" cy="186689"/>
          </a:xfrm>
          <a:prstGeom prst="rect">
            <a:avLst/>
          </a:prstGeom>
          <a:noFill/>
        </p:spPr>
        <p:txBody>
          <a:bodyPr wrap="none" lIns="0" tIns="0" rIns="0" bIns="0">
            <a:spAutoFit/>
          </a:bodyPr>
          <a:lstStyle/>
          <a:p>
            <a:r>
              <a:rPr sz="1100" b="0">
                <a:solidFill>
                  <a:srgbClr val="2E2E2E"/>
                </a:solidFill>
                <a:latin typeface="Calibri"/>
              </a:rPr>
              <a:t>● Gels and Pastes:</a:t>
            </a:r>
          </a:p>
        </p:txBody>
      </p:sp>
      <p:pic>
        <p:nvPicPr>
          <p:cNvPr id="135" name="Picture 134" descr="lock.png"/>
          <p:cNvPicPr>
            <a:picLocks noChangeAspect="1"/>
          </p:cNvPicPr>
          <p:nvPr/>
        </p:nvPicPr>
        <p:blipFill>
          <a:blip r:embed="rId22"/>
          <a:stretch>
            <a:fillRect/>
          </a:stretch>
        </p:blipFill>
        <p:spPr>
          <a:xfrm>
            <a:off x="4902391" y="5041093"/>
            <a:ext cx="128699" cy="187198"/>
          </a:xfrm>
          <a:prstGeom prst="rect">
            <a:avLst/>
          </a:prstGeom>
        </p:spPr>
      </p:pic>
      <p:sp>
        <p:nvSpPr>
          <p:cNvPr id="136" name="TextBox 135"/>
          <p:cNvSpPr txBox="1"/>
          <p:nvPr/>
        </p:nvSpPr>
        <p:spPr>
          <a:xfrm>
            <a:off x="5069886" y="5050872"/>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5929337" y="5041093"/>
            <a:ext cx="128699" cy="187198"/>
          </a:xfrm>
          <a:prstGeom prst="rect">
            <a:avLst/>
          </a:prstGeom>
        </p:spPr>
      </p:pic>
      <p:sp>
        <p:nvSpPr>
          <p:cNvPr id="138" name="TextBox 137"/>
          <p:cNvSpPr txBox="1"/>
          <p:nvPr/>
        </p:nvSpPr>
        <p:spPr>
          <a:xfrm>
            <a:off x="6096832" y="5050872"/>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39" name="TextBox 138"/>
          <p:cNvSpPr txBox="1"/>
          <p:nvPr/>
        </p:nvSpPr>
        <p:spPr>
          <a:xfrm>
            <a:off x="3838575" y="5268804"/>
            <a:ext cx="627360" cy="186689"/>
          </a:xfrm>
          <a:prstGeom prst="rect">
            <a:avLst/>
          </a:prstGeom>
          <a:noFill/>
        </p:spPr>
        <p:txBody>
          <a:bodyPr wrap="none" lIns="0" tIns="0" rIns="0" bIns="0">
            <a:spAutoFit/>
          </a:bodyPr>
          <a:lstStyle/>
          <a:p>
            <a:r>
              <a:rPr sz="1100" b="0">
                <a:solidFill>
                  <a:srgbClr val="2E2E2E"/>
                </a:solidFill>
                <a:latin typeface="Calibri"/>
              </a:rPr>
              <a:t>● Liquids:</a:t>
            </a:r>
          </a:p>
        </p:txBody>
      </p:sp>
      <p:pic>
        <p:nvPicPr>
          <p:cNvPr id="140" name="Picture 139" descr="lock.png"/>
          <p:cNvPicPr>
            <a:picLocks noChangeAspect="1"/>
          </p:cNvPicPr>
          <p:nvPr/>
        </p:nvPicPr>
        <p:blipFill>
          <a:blip r:embed="rId22"/>
          <a:stretch>
            <a:fillRect/>
          </a:stretch>
        </p:blipFill>
        <p:spPr>
          <a:xfrm>
            <a:off x="4413986" y="5259025"/>
            <a:ext cx="128699" cy="187198"/>
          </a:xfrm>
          <a:prstGeom prst="rect">
            <a:avLst/>
          </a:prstGeom>
        </p:spPr>
      </p:pic>
      <p:sp>
        <p:nvSpPr>
          <p:cNvPr id="141" name="TextBox 140"/>
          <p:cNvSpPr txBox="1"/>
          <p:nvPr/>
        </p:nvSpPr>
        <p:spPr>
          <a:xfrm>
            <a:off x="4581482" y="5268804"/>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2"/>
          <a:stretch>
            <a:fillRect/>
          </a:stretch>
        </p:blipFill>
        <p:spPr>
          <a:xfrm>
            <a:off x="5440932" y="5259025"/>
            <a:ext cx="128699" cy="187198"/>
          </a:xfrm>
          <a:prstGeom prst="rect">
            <a:avLst/>
          </a:prstGeom>
        </p:spPr>
      </p:pic>
      <p:sp>
        <p:nvSpPr>
          <p:cNvPr id="143" name="TextBox 142"/>
          <p:cNvSpPr txBox="1"/>
          <p:nvPr/>
        </p:nvSpPr>
        <p:spPr>
          <a:xfrm>
            <a:off x="5608428" y="5268804"/>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4" name="TextBox 143"/>
          <p:cNvSpPr txBox="1"/>
          <p:nvPr/>
        </p:nvSpPr>
        <p:spPr>
          <a:xfrm>
            <a:off x="3838575" y="5486736"/>
            <a:ext cx="1505669" cy="186689"/>
          </a:xfrm>
          <a:prstGeom prst="rect">
            <a:avLst/>
          </a:prstGeom>
          <a:noFill/>
        </p:spPr>
        <p:txBody>
          <a:bodyPr wrap="none" lIns="0" tIns="0" rIns="0" bIns="0">
            <a:spAutoFit/>
          </a:bodyPr>
          <a:lstStyle/>
          <a:p>
            <a:r>
              <a:rPr sz="1100" b="0">
                <a:solidFill>
                  <a:srgbClr val="2E2E2E"/>
                </a:solidFill>
                <a:latin typeface="Calibri"/>
              </a:rPr>
              <a:t>● Powders and Granules:</a:t>
            </a:r>
          </a:p>
        </p:txBody>
      </p:sp>
      <p:pic>
        <p:nvPicPr>
          <p:cNvPr id="145" name="Picture 144" descr="lock.png"/>
          <p:cNvPicPr>
            <a:picLocks noChangeAspect="1"/>
          </p:cNvPicPr>
          <p:nvPr/>
        </p:nvPicPr>
        <p:blipFill>
          <a:blip r:embed="rId22"/>
          <a:stretch>
            <a:fillRect/>
          </a:stretch>
        </p:blipFill>
        <p:spPr>
          <a:xfrm>
            <a:off x="5292295" y="5476957"/>
            <a:ext cx="128699" cy="187198"/>
          </a:xfrm>
          <a:prstGeom prst="rect">
            <a:avLst/>
          </a:prstGeom>
        </p:spPr>
      </p:pic>
      <p:sp>
        <p:nvSpPr>
          <p:cNvPr id="146" name="TextBox 145"/>
          <p:cNvSpPr txBox="1"/>
          <p:nvPr/>
        </p:nvSpPr>
        <p:spPr>
          <a:xfrm>
            <a:off x="5459791" y="5486736"/>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2"/>
          <a:stretch>
            <a:fillRect/>
          </a:stretch>
        </p:blipFill>
        <p:spPr>
          <a:xfrm>
            <a:off x="6319241" y="5476957"/>
            <a:ext cx="128699" cy="187198"/>
          </a:xfrm>
          <a:prstGeom prst="rect">
            <a:avLst/>
          </a:prstGeom>
        </p:spPr>
      </p:pic>
      <p:sp>
        <p:nvSpPr>
          <p:cNvPr id="148" name="TextBox 147"/>
          <p:cNvSpPr txBox="1"/>
          <p:nvPr/>
        </p:nvSpPr>
        <p:spPr>
          <a:xfrm>
            <a:off x="6486737" y="5486736"/>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9" name="TextBox 148"/>
          <p:cNvSpPr txBox="1"/>
          <p:nvPr/>
        </p:nvSpPr>
        <p:spPr>
          <a:xfrm>
            <a:off x="8524875" y="5842641"/>
            <a:ext cx="3042243" cy="194310"/>
          </a:xfrm>
          <a:prstGeom prst="rect">
            <a:avLst/>
          </a:prstGeom>
          <a:noFill/>
        </p:spPr>
        <p:txBody>
          <a:bodyPr wrap="none" lIns="0" tIns="0" rIns="0" bIns="0">
            <a:spAutoFit/>
          </a:bodyPr>
          <a:lstStyle/>
          <a:p>
            <a:r>
              <a:rPr sz="1150" b="1">
                <a:solidFill>
                  <a:srgbClr val="0B2E4A"/>
                </a:solidFill>
                <a:latin typeface="Calibri"/>
              </a:rPr>
              <a:t>The Form Type segment is projected to grow at a</a:t>
            </a:r>
          </a:p>
        </p:txBody>
      </p:sp>
      <p:sp>
        <p:nvSpPr>
          <p:cNvPr id="150" name="TextBox 149"/>
          <p:cNvSpPr txBox="1"/>
          <p:nvPr/>
        </p:nvSpPr>
        <p:spPr>
          <a:xfrm>
            <a:off x="8524875" y="6017901"/>
            <a:ext cx="574797" cy="194310"/>
          </a:xfrm>
          <a:prstGeom prst="rect">
            <a:avLst/>
          </a:prstGeom>
          <a:noFill/>
        </p:spPr>
        <p:txBody>
          <a:bodyPr wrap="none" lIns="0" tIns="0" rIns="0" bIns="0">
            <a:spAutoFit/>
          </a:bodyPr>
          <a:lstStyle/>
          <a:p>
            <a:r>
              <a:rPr sz="1150" b="1">
                <a:solidFill>
                  <a:srgbClr val="0B2E4A"/>
                </a:solidFill>
                <a:latin typeface="Calibri"/>
              </a:rPr>
              <a:t>CAGR of</a:t>
            </a:r>
          </a:p>
        </p:txBody>
      </p:sp>
      <p:pic>
        <p:nvPicPr>
          <p:cNvPr id="151" name="Picture 150" descr="lock.png"/>
          <p:cNvPicPr>
            <a:picLocks noChangeAspect="1"/>
          </p:cNvPicPr>
          <p:nvPr/>
        </p:nvPicPr>
        <p:blipFill>
          <a:blip r:embed="rId22"/>
          <a:stretch>
            <a:fillRect/>
          </a:stretch>
        </p:blipFill>
        <p:spPr>
          <a:xfrm>
            <a:off x="9048826" y="6007677"/>
            <a:ext cx="134549" cy="195707"/>
          </a:xfrm>
          <a:prstGeom prst="rect">
            <a:avLst/>
          </a:prstGeom>
        </p:spPr>
      </p:pic>
      <p:sp>
        <p:nvSpPr>
          <p:cNvPr id="152" name="TextBox 151"/>
          <p:cNvSpPr txBox="1"/>
          <p:nvPr/>
        </p:nvSpPr>
        <p:spPr>
          <a:xfrm>
            <a:off x="9223935"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Structure &amp; Attractiveness, By Form Type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Form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Form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Form Type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tIns="0" rIns="0" bIns="0">
            <a:spAutoFit/>
          </a:bodyPr>
          <a:lstStyle/>
          <a:p>
            <a:r>
              <a:rPr sz="1100" b="0">
                <a:solidFill>
                  <a:srgbClr val="2E2E2E"/>
                </a:solidFill>
                <a:latin typeface="Calibri"/>
              </a:rPr>
              <a:t>Capsules and softgels followed by chewables are expected to be the two most attractive form type segments in the global senior dog cognitive supplement market in terms of value over the forecast period.</a:t>
            </a:r>
          </a:p>
        </p:txBody>
      </p:sp>
      <p:sp>
        <p:nvSpPr>
          <p:cNvPr id="20" name="TextBox 19"/>
          <p:cNvSpPr txBox="1"/>
          <p:nvPr/>
        </p:nvSpPr>
        <p:spPr>
          <a:xfrm>
            <a:off x="257175" y="5861685"/>
            <a:ext cx="3525572" cy="186689"/>
          </a:xfrm>
          <a:prstGeom prst="rect">
            <a:avLst/>
          </a:prstGeom>
          <a:noFill/>
        </p:spPr>
        <p:txBody>
          <a:bodyPr wrap="none" lIns="0" tIns="0" rIns="0" bIns="0">
            <a:spAutoFit/>
          </a:bodyPr>
          <a:lstStyle/>
          <a:p>
            <a:r>
              <a:rPr sz="1100" b="0">
                <a:solidFill>
                  <a:srgbClr val="2E2E2E"/>
                </a:solidFill>
                <a:latin typeface="Calibri"/>
              </a:rPr>
              <a:t>Capsules and softgels and chewables exhibit a CAGR index of</a:t>
            </a:r>
          </a:p>
        </p:txBody>
      </p:sp>
      <p:pic>
        <p:nvPicPr>
          <p:cNvPr id="21" name="Picture 20" descr="lock.png"/>
          <p:cNvPicPr>
            <a:picLocks noChangeAspect="1"/>
          </p:cNvPicPr>
          <p:nvPr/>
        </p:nvPicPr>
        <p:blipFill>
          <a:blip r:embed="rId6"/>
          <a:stretch>
            <a:fillRect/>
          </a:stretch>
        </p:blipFill>
        <p:spPr>
          <a:xfrm>
            <a:off x="3730798" y="5851905"/>
            <a:ext cx="128699" cy="187198"/>
          </a:xfrm>
          <a:prstGeom prst="rect">
            <a:avLst/>
          </a:prstGeom>
        </p:spPr>
      </p:pic>
      <p:sp>
        <p:nvSpPr>
          <p:cNvPr id="22" name="TextBox 21"/>
          <p:cNvSpPr txBox="1"/>
          <p:nvPr/>
        </p:nvSpPr>
        <p:spPr>
          <a:xfrm>
            <a:off x="3898294"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136189" y="5851905"/>
            <a:ext cx="128699" cy="187198"/>
          </a:xfrm>
          <a:prstGeom prst="rect">
            <a:avLst/>
          </a:prstGeom>
        </p:spPr>
      </p:pic>
      <p:sp>
        <p:nvSpPr>
          <p:cNvPr id="24" name="TextBox 23"/>
          <p:cNvSpPr txBox="1"/>
          <p:nvPr/>
        </p:nvSpPr>
        <p:spPr>
          <a:xfrm>
            <a:off x="4303685" y="5861685"/>
            <a:ext cx="1660921" cy="186689"/>
          </a:xfrm>
          <a:prstGeom prst="rect">
            <a:avLst/>
          </a:prstGeom>
          <a:noFill/>
        </p:spPr>
        <p:txBody>
          <a:bodyPr wrap="none" lIns="0" tIns="0" r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912658" y="5851905"/>
            <a:ext cx="128699" cy="187198"/>
          </a:xfrm>
          <a:prstGeom prst="rect">
            <a:avLst/>
          </a:prstGeom>
        </p:spPr>
      </p:pic>
      <p:sp>
        <p:nvSpPr>
          <p:cNvPr id="26" name="TextBox 25"/>
          <p:cNvSpPr txBox="1"/>
          <p:nvPr/>
        </p:nvSpPr>
        <p:spPr>
          <a:xfrm>
            <a:off x="6080154"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318048" y="5851905"/>
            <a:ext cx="128699" cy="187198"/>
          </a:xfrm>
          <a:prstGeom prst="rect">
            <a:avLst/>
          </a:prstGeom>
        </p:spPr>
      </p:pic>
      <p:sp>
        <p:nvSpPr>
          <p:cNvPr id="28" name="TextBox 27"/>
          <p:cNvSpPr txBox="1"/>
          <p:nvPr/>
        </p:nvSpPr>
        <p:spPr>
          <a:xfrm>
            <a:off x="6485544" y="5861685"/>
            <a:ext cx="2606352" cy="186689"/>
          </a:xfrm>
          <a:prstGeom prst="rect">
            <a:avLst/>
          </a:prstGeom>
          <a:noFill/>
        </p:spPr>
        <p:txBody>
          <a:bodyPr wrap="none" lIns="0" tIns="0" r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039948" y="5851905"/>
            <a:ext cx="128699" cy="187198"/>
          </a:xfrm>
          <a:prstGeom prst="rect">
            <a:avLst/>
          </a:prstGeom>
        </p:spPr>
      </p:pic>
      <p:sp>
        <p:nvSpPr>
          <p:cNvPr id="30" name="TextBox 29"/>
          <p:cNvSpPr txBox="1"/>
          <p:nvPr/>
        </p:nvSpPr>
        <p:spPr>
          <a:xfrm>
            <a:off x="9207444" y="5861685"/>
            <a:ext cx="2282204" cy="186689"/>
          </a:xfrm>
          <a:prstGeom prst="rect">
            <a:avLst/>
          </a:prstGeom>
          <a:noFill/>
        </p:spPr>
        <p:txBody>
          <a:bodyPr wrap="none" lIns="0" tIns="0" rIns="0" bIns="0">
            <a:spAutoFit/>
          </a:bodyPr>
          <a:lstStyle/>
          <a:p>
            <a:r>
              <a:rPr sz="1100" b="0">
                <a:solidFill>
                  <a:srgbClr val="2E2E2E"/>
                </a:solidFill>
                <a:latin typeface="Calibri"/>
              </a:rPr>
              <a:t>. The powders and granules segment is</a:t>
            </a:r>
          </a:p>
        </p:txBody>
      </p:sp>
      <p:sp>
        <p:nvSpPr>
          <p:cNvPr id="31" name="TextBox 30"/>
          <p:cNvSpPr txBox="1"/>
          <p:nvPr/>
        </p:nvSpPr>
        <p:spPr>
          <a:xfrm>
            <a:off x="257175" y="6029325"/>
            <a:ext cx="11421333" cy="186689"/>
          </a:xfrm>
          <a:prstGeom prst="rect">
            <a:avLst/>
          </a:prstGeom>
          <a:noFill/>
        </p:spPr>
        <p:txBody>
          <a:bodyPr wrap="none" lIns="0" tIns="0" r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tIns="0" r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Analysis, By Form Type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Chewables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Tablets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Capsules and Softgels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Powders and Granules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Analysis, By Form Type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Liquids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Gels and Pastes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Summary of Global Absolute $ Opportunity Analysis, By Form Type</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5550" y="1390650"/>
            <a:ext cx="5610225"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0" name="TextBox 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400175"/>
            <a:ext cx="4756338" cy="194310"/>
          </a:xfrm>
          <a:prstGeom prst="rect">
            <a:avLst/>
          </a:prstGeom>
          <a:noFill/>
        </p:spPr>
        <p:txBody>
          <a:bodyPr wrap="none" lIns="0" tIns="0" rIns="0" bIns="0">
            <a:spAutoFit/>
          </a:bodyPr>
          <a:lstStyle/>
          <a:p>
            <a:r>
              <a:rPr sz="1150" b="0">
                <a:solidFill>
                  <a:srgbClr val="2E2E2E"/>
                </a:solidFill>
                <a:latin typeface="Calibri"/>
              </a:rPr>
              <a:t>By 2036, capsules and softgels segment is anticipated to witness an increase of</a:t>
            </a:r>
          </a:p>
        </p:txBody>
      </p:sp>
      <p:pic>
        <p:nvPicPr>
          <p:cNvPr id="24" name="Picture 23" descr="lock.png"/>
          <p:cNvPicPr>
            <a:picLocks noChangeAspect="1"/>
          </p:cNvPicPr>
          <p:nvPr/>
        </p:nvPicPr>
        <p:blipFill>
          <a:blip r:embed="rId6"/>
          <a:stretch>
            <a:fillRect/>
          </a:stretch>
        </p:blipFill>
        <p:spPr>
          <a:xfrm>
            <a:off x="11011042" y="1389951"/>
            <a:ext cx="134549" cy="195707"/>
          </a:xfrm>
          <a:prstGeom prst="rect">
            <a:avLst/>
          </a:prstGeom>
        </p:spPr>
      </p:pic>
      <p:sp>
        <p:nvSpPr>
          <p:cNvPr id="25" name="TextBox 24"/>
          <p:cNvSpPr txBox="1"/>
          <p:nvPr/>
        </p:nvSpPr>
        <p:spPr>
          <a:xfrm>
            <a:off x="11186151" y="1400175"/>
            <a:ext cx="675233" cy="194310"/>
          </a:xfrm>
          <a:prstGeom prst="rect">
            <a:avLst/>
          </a:prstGeom>
          <a:noFill/>
        </p:spPr>
        <p:txBody>
          <a:bodyPr wrap="none" lIns="0" tIns="0" rIns="0" bIns="0">
            <a:spAutoFit/>
          </a:bodyPr>
          <a:lstStyle/>
          <a:p>
            <a:r>
              <a:rPr sz="1150" b="0">
                <a:solidFill>
                  <a:srgbClr val="2E2E2E"/>
                </a:solidFill>
                <a:latin typeface="Calibri"/>
              </a:rPr>
              <a:t>X in terms</a:t>
            </a:r>
          </a:p>
        </p:txBody>
      </p:sp>
      <p:sp>
        <p:nvSpPr>
          <p:cNvPr id="26" name="TextBox 25"/>
          <p:cNvSpPr txBox="1"/>
          <p:nvPr/>
        </p:nvSpPr>
        <p:spPr>
          <a:xfrm>
            <a:off x="6305550" y="1575435"/>
            <a:ext cx="5412444" cy="194310"/>
          </a:xfrm>
          <a:prstGeom prst="rect">
            <a:avLst/>
          </a:prstGeom>
          <a:noFill/>
        </p:spPr>
        <p:txBody>
          <a:bodyPr wrap="none" lIns="0" tIns="0" rIns="0" bIns="0">
            <a:spAutoFit/>
          </a:bodyPr>
          <a:lstStyle/>
          <a:p>
            <a:r>
              <a:rPr sz="1150" b="0">
                <a:solidFill>
                  <a:srgbClr val="2E2E2E"/>
                </a:solidFill>
                <a:latin typeface="Calibri"/>
              </a:rPr>
              <a:t>of value as compared to 2026. The capsules and softgels segment is expected to create an</a:t>
            </a:r>
          </a:p>
        </p:txBody>
      </p:sp>
      <p:sp>
        <p:nvSpPr>
          <p:cNvPr id="27" name="TextBox 26"/>
          <p:cNvSpPr txBox="1"/>
          <p:nvPr/>
        </p:nvSpPr>
        <p:spPr>
          <a:xfrm>
            <a:off x="6305550" y="1750695"/>
            <a:ext cx="1956879" cy="194310"/>
          </a:xfrm>
          <a:prstGeom prst="rect">
            <a:avLst/>
          </a:prstGeom>
          <a:noFill/>
        </p:spPr>
        <p:txBody>
          <a:bodyPr wrap="none" lIns="0" tIns="0" rIns="0" bIns="0">
            <a:spAutoFit/>
          </a:bodyPr>
          <a:lstStyle/>
          <a:p>
            <a:r>
              <a:rPr sz="1150" b="0">
                <a:solidFill>
                  <a:srgbClr val="2E2E2E"/>
                </a:solidFill>
                <a:latin typeface="Calibri"/>
              </a:rPr>
              <a:t>incremental opportunity of US$</a:t>
            </a:r>
          </a:p>
        </p:txBody>
      </p:sp>
      <p:pic>
        <p:nvPicPr>
          <p:cNvPr id="28" name="Picture 27" descr="lock.png"/>
          <p:cNvPicPr>
            <a:picLocks noChangeAspect="1"/>
          </p:cNvPicPr>
          <p:nvPr/>
        </p:nvPicPr>
        <p:blipFill>
          <a:blip r:embed="rId6"/>
          <a:stretch>
            <a:fillRect/>
          </a:stretch>
        </p:blipFill>
        <p:spPr>
          <a:xfrm>
            <a:off x="8211582" y="1740471"/>
            <a:ext cx="134549" cy="195707"/>
          </a:xfrm>
          <a:prstGeom prst="rect">
            <a:avLst/>
          </a:prstGeom>
        </p:spPr>
      </p:pic>
      <p:sp>
        <p:nvSpPr>
          <p:cNvPr id="29" name="TextBox 28"/>
          <p:cNvSpPr txBox="1"/>
          <p:nvPr/>
        </p:nvSpPr>
        <p:spPr>
          <a:xfrm>
            <a:off x="8386692" y="1750695"/>
            <a:ext cx="3123567"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a:t>
            </a:r>
          </a:p>
        </p:txBody>
      </p:sp>
      <p:sp>
        <p:nvSpPr>
          <p:cNvPr id="30" name="TextBox 29"/>
          <p:cNvSpPr txBox="1"/>
          <p:nvPr/>
        </p:nvSpPr>
        <p:spPr>
          <a:xfrm>
            <a:off x="6305550" y="1925955"/>
            <a:ext cx="1679897" cy="194310"/>
          </a:xfrm>
          <a:prstGeom prst="rect">
            <a:avLst/>
          </a:prstGeom>
          <a:noFill/>
        </p:spPr>
        <p:txBody>
          <a:bodyPr wrap="none" lIns="0" tIns="0" rIns="0" bIns="0">
            <a:spAutoFit/>
          </a:bodyPr>
          <a:lstStyle/>
          <a:p>
            <a:r>
              <a:rPr sz="1150" b="0">
                <a:solidFill>
                  <a:srgbClr val="2E2E2E"/>
                </a:solidFill>
                <a:latin typeface="Calibri"/>
              </a:rPr>
              <a:t>market from 2026 to 2036.</a:t>
            </a:r>
          </a:p>
        </p:txBody>
      </p:sp>
      <p:sp>
        <p:nvSpPr>
          <p:cNvPr id="31" name="TextBox 30"/>
          <p:cNvSpPr txBox="1"/>
          <p:nvPr/>
        </p:nvSpPr>
        <p:spPr>
          <a:xfrm>
            <a:off x="6305550" y="2153793"/>
            <a:ext cx="4868750" cy="194310"/>
          </a:xfrm>
          <a:prstGeom prst="rect">
            <a:avLst/>
          </a:prstGeom>
          <a:noFill/>
        </p:spPr>
        <p:txBody>
          <a:bodyPr wrap="none" lIns="0" tIns="0" rIns="0" bIns="0">
            <a:spAutoFit/>
          </a:bodyPr>
          <a:lstStyle/>
          <a:p>
            <a:r>
              <a:rPr sz="1150" b="0">
                <a:solidFill>
                  <a:srgbClr val="2E2E2E"/>
                </a:solidFill>
                <a:latin typeface="Calibri"/>
              </a:rPr>
              <a:t>The chewables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11123454" y="2143569"/>
            <a:ext cx="134549" cy="195707"/>
          </a:xfrm>
          <a:prstGeom prst="rect">
            <a:avLst/>
          </a:prstGeom>
        </p:spPr>
      </p:pic>
      <p:sp>
        <p:nvSpPr>
          <p:cNvPr id="33" name="TextBox 32"/>
          <p:cNvSpPr txBox="1"/>
          <p:nvPr/>
        </p:nvSpPr>
        <p:spPr>
          <a:xfrm>
            <a:off x="11298564" y="2153793"/>
            <a:ext cx="483542" cy="194310"/>
          </a:xfrm>
          <a:prstGeom prst="rect">
            <a:avLst/>
          </a:prstGeom>
          <a:noFill/>
        </p:spPr>
        <p:txBody>
          <a:bodyPr wrap="none" lIns="0" tIns="0" rIns="0" bIns="0">
            <a:spAutoFit/>
          </a:bodyPr>
          <a:lstStyle/>
          <a:p>
            <a:r>
              <a:rPr sz="1150" b="0">
                <a:solidFill>
                  <a:srgbClr val="2E2E2E"/>
                </a:solidFill>
                <a:latin typeface="Calibri"/>
              </a:rPr>
              <a:t>Mn for</a:t>
            </a:r>
          </a:p>
        </p:txBody>
      </p:sp>
      <p:sp>
        <p:nvSpPr>
          <p:cNvPr id="34" name="TextBox 33"/>
          <p:cNvSpPr txBox="1"/>
          <p:nvPr/>
        </p:nvSpPr>
        <p:spPr>
          <a:xfrm>
            <a:off x="6305550" y="2329053"/>
            <a:ext cx="5561917" cy="194310"/>
          </a:xfrm>
          <a:prstGeom prst="rect">
            <a:avLst/>
          </a:prstGeom>
          <a:noFill/>
        </p:spPr>
        <p:txBody>
          <a:bodyPr wrap="none" lIns="0" tIns="0" rIns="0" bIns="0">
            <a:spAutoFit/>
          </a:bodyPr>
          <a:lstStyle/>
          <a:p>
            <a:r>
              <a:rPr sz="1150" b="0">
                <a:solidFill>
                  <a:srgbClr val="2E2E2E"/>
                </a:solidFill>
                <a:latin typeface="Calibri"/>
              </a:rPr>
              <a:t>the overall senior dog cognitive supplement market from 2026 to 2036. The tablets segment</a:t>
            </a:r>
          </a:p>
        </p:txBody>
      </p:sp>
      <p:sp>
        <p:nvSpPr>
          <p:cNvPr id="35" name="TextBox 34"/>
          <p:cNvSpPr txBox="1"/>
          <p:nvPr/>
        </p:nvSpPr>
        <p:spPr>
          <a:xfrm>
            <a:off x="6305550" y="2504313"/>
            <a:ext cx="3409106" cy="194310"/>
          </a:xfrm>
          <a:prstGeom prst="rect">
            <a:avLst/>
          </a:prstGeom>
          <a:noFill/>
        </p:spPr>
        <p:txBody>
          <a:bodyPr wrap="none" lIns="0" tIns="0" rIns="0" bIns="0">
            <a:spAutoFit/>
          </a:bodyPr>
          <a:lstStyle/>
          <a:p>
            <a:r>
              <a:rPr sz="1150" b="0">
                <a:solidFill>
                  <a:srgbClr val="2E2E2E"/>
                </a:solidFill>
                <a:latin typeface="Calibri"/>
              </a:rPr>
              <a:t>is expected to create an incremental opportunity of US$</a:t>
            </a:r>
          </a:p>
        </p:txBody>
      </p:sp>
      <p:pic>
        <p:nvPicPr>
          <p:cNvPr id="36" name="Picture 35" descr="lock.png"/>
          <p:cNvPicPr>
            <a:picLocks noChangeAspect="1"/>
          </p:cNvPicPr>
          <p:nvPr/>
        </p:nvPicPr>
        <p:blipFill>
          <a:blip r:embed="rId6"/>
          <a:stretch>
            <a:fillRect/>
          </a:stretch>
        </p:blipFill>
        <p:spPr>
          <a:xfrm>
            <a:off x="9663810" y="2494089"/>
            <a:ext cx="134549" cy="195707"/>
          </a:xfrm>
          <a:prstGeom prst="rect">
            <a:avLst/>
          </a:prstGeom>
        </p:spPr>
      </p:pic>
      <p:sp>
        <p:nvSpPr>
          <p:cNvPr id="37" name="TextBox 36"/>
          <p:cNvSpPr txBox="1"/>
          <p:nvPr/>
        </p:nvSpPr>
        <p:spPr>
          <a:xfrm>
            <a:off x="9838919" y="2504313"/>
            <a:ext cx="1809117" cy="194310"/>
          </a:xfrm>
          <a:prstGeom prst="rect">
            <a:avLst/>
          </a:prstGeom>
          <a:noFill/>
        </p:spPr>
        <p:txBody>
          <a:bodyPr wrap="none" lIns="0" tIns="0" rIns="0" bIns="0">
            <a:spAutoFit/>
          </a:bodyPr>
          <a:lstStyle/>
          <a:p>
            <a:r>
              <a:rPr sz="1150" b="0">
                <a:solidFill>
                  <a:srgbClr val="2E2E2E"/>
                </a:solidFill>
                <a:latin typeface="Calibri"/>
              </a:rPr>
              <a:t>Mn for the overall senior dog</a:t>
            </a:r>
          </a:p>
        </p:txBody>
      </p:sp>
      <p:sp>
        <p:nvSpPr>
          <p:cNvPr id="38" name="TextBox 37"/>
          <p:cNvSpPr txBox="1"/>
          <p:nvPr/>
        </p:nvSpPr>
        <p:spPr>
          <a:xfrm>
            <a:off x="6305550" y="2679573"/>
            <a:ext cx="2994347" cy="194310"/>
          </a:xfrm>
          <a:prstGeom prst="rect">
            <a:avLst/>
          </a:prstGeom>
          <a:noFill/>
        </p:spPr>
        <p:txBody>
          <a:bodyPr wrap="none" lIns="0" tIns="0" rIns="0" bIns="0">
            <a:spAutoFit/>
          </a:bodyPr>
          <a:lstStyle/>
          <a:p>
            <a:r>
              <a:rPr sz="1150" b="0">
                <a:solidFill>
                  <a:srgbClr val="2E2E2E"/>
                </a:solidFill>
                <a:latin typeface="Calibri"/>
              </a:rPr>
              <a:t>cognitive supplement market from 2026 to 2036.</a:t>
            </a:r>
          </a:p>
        </p:txBody>
      </p:sp>
      <p:sp>
        <p:nvSpPr>
          <p:cNvPr id="3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Analysis, By Form Type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Form Type,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By Form Type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597554">
                  <a:extLst>
                    <a:ext uri="{9D8B030D-6E8A-4147-A177-3AD203B41FA5}">
                      <a16:colId xmlns:a16="http://schemas.microsoft.com/office/drawing/2014/main" val="20000"/>
                    </a:ext>
                  </a:extLst>
                </a:gridCol>
                <a:gridCol w="605273">
                  <a:extLst>
                    <a:ext uri="{9D8B030D-6E8A-4147-A177-3AD203B41FA5}">
                      <a16:colId xmlns:a16="http://schemas.microsoft.com/office/drawing/2014/main" val="20001"/>
                    </a:ext>
                  </a:extLst>
                </a:gridCol>
                <a:gridCol w="605273">
                  <a:extLst>
                    <a:ext uri="{9D8B030D-6E8A-4147-A177-3AD203B41FA5}">
                      <a16:colId xmlns:a16="http://schemas.microsoft.com/office/drawing/2014/main" val="20002"/>
                    </a:ext>
                  </a:extLst>
                </a:gridCol>
                <a:gridCol w="605273">
                  <a:extLst>
                    <a:ext uri="{9D8B030D-6E8A-4147-A177-3AD203B41FA5}">
                      <a16:colId xmlns:a16="http://schemas.microsoft.com/office/drawing/2014/main" val="20003"/>
                    </a:ext>
                  </a:extLst>
                </a:gridCol>
                <a:gridCol w="605273">
                  <a:extLst>
                    <a:ext uri="{9D8B030D-6E8A-4147-A177-3AD203B41FA5}">
                      <a16:colId xmlns:a16="http://schemas.microsoft.com/office/drawing/2014/main" val="20004"/>
                    </a:ext>
                  </a:extLst>
                </a:gridCol>
                <a:gridCol w="605273">
                  <a:extLst>
                    <a:ext uri="{9D8B030D-6E8A-4147-A177-3AD203B41FA5}">
                      <a16:colId xmlns:a16="http://schemas.microsoft.com/office/drawing/2014/main" val="20005"/>
                    </a:ext>
                  </a:extLst>
                </a:gridCol>
                <a:gridCol w="605273">
                  <a:extLst>
                    <a:ext uri="{9D8B030D-6E8A-4147-A177-3AD203B41FA5}">
                      <a16:colId xmlns:a16="http://schemas.microsoft.com/office/drawing/2014/main" val="20006"/>
                    </a:ext>
                  </a:extLst>
                </a:gridCol>
                <a:gridCol w="605273">
                  <a:extLst>
                    <a:ext uri="{9D8B030D-6E8A-4147-A177-3AD203B41FA5}">
                      <a16:colId xmlns:a16="http://schemas.microsoft.com/office/drawing/2014/main" val="20007"/>
                    </a:ext>
                  </a:extLst>
                </a:gridCol>
                <a:gridCol w="605273">
                  <a:extLst>
                    <a:ext uri="{9D8B030D-6E8A-4147-A177-3AD203B41FA5}">
                      <a16:colId xmlns:a16="http://schemas.microsoft.com/office/drawing/2014/main" val="20008"/>
                    </a:ext>
                  </a:extLst>
                </a:gridCol>
                <a:gridCol w="605273">
                  <a:extLst>
                    <a:ext uri="{9D8B030D-6E8A-4147-A177-3AD203B41FA5}">
                      <a16:colId xmlns:a16="http://schemas.microsoft.com/office/drawing/2014/main" val="20009"/>
                    </a:ext>
                  </a:extLst>
                </a:gridCol>
                <a:gridCol w="605273">
                  <a:extLst>
                    <a:ext uri="{9D8B030D-6E8A-4147-A177-3AD203B41FA5}">
                      <a16:colId xmlns:a16="http://schemas.microsoft.com/office/drawing/2014/main" val="20010"/>
                    </a:ext>
                  </a:extLst>
                </a:gridCol>
                <a:gridCol w="605273">
                  <a:extLst>
                    <a:ext uri="{9D8B030D-6E8A-4147-A177-3AD203B41FA5}">
                      <a16:colId xmlns:a16="http://schemas.microsoft.com/office/drawing/2014/main" val="20011"/>
                    </a:ext>
                  </a:extLst>
                </a:gridCol>
                <a:gridCol w="605273">
                  <a:extLst>
                    <a:ext uri="{9D8B030D-6E8A-4147-A177-3AD203B41FA5}">
                      <a16:colId xmlns:a16="http://schemas.microsoft.com/office/drawing/2014/main" val="20012"/>
                    </a:ext>
                  </a:extLst>
                </a:gridCol>
                <a:gridCol w="605273">
                  <a:extLst>
                    <a:ext uri="{9D8B030D-6E8A-4147-A177-3AD203B41FA5}">
                      <a16:colId xmlns:a16="http://schemas.microsoft.com/office/drawing/2014/main" val="20013"/>
                    </a:ext>
                  </a:extLst>
                </a:gridCol>
                <a:gridCol w="605273">
                  <a:extLst>
                    <a:ext uri="{9D8B030D-6E8A-4147-A177-3AD203B41FA5}">
                      <a16:colId xmlns:a16="http://schemas.microsoft.com/office/drawing/2014/main" val="20014"/>
                    </a:ext>
                  </a:extLst>
                </a:gridCol>
                <a:gridCol w="605273">
                  <a:extLst>
                    <a:ext uri="{9D8B030D-6E8A-4147-A177-3AD203B41FA5}">
                      <a16:colId xmlns:a16="http://schemas.microsoft.com/office/drawing/2014/main" val="20015"/>
                    </a:ext>
                  </a:extLst>
                </a:gridCol>
                <a:gridCol w="605273">
                  <a:extLst>
                    <a:ext uri="{9D8B030D-6E8A-4147-A177-3AD203B41FA5}">
                      <a16:colId xmlns:a16="http://schemas.microsoft.com/office/drawing/2014/main" val="20016"/>
                    </a:ext>
                  </a:extLst>
                </a:gridCol>
                <a:gridCol w="605273">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638550"/>
            <a:ext cx="11639550" cy="209550"/>
          </a:xfrm>
          <a:prstGeom prst="rect">
            <a:avLst/>
          </a:prstGeom>
          <a:noFill/>
        </p:spPr>
        <p:txBody>
          <a:bodyPr wrap="square" lIns="0" tIns="9525" rIns="19050" bIns="9525">
            <a:spAutoFit/>
          </a:bodyPr>
          <a:lstStyle/>
          <a:p>
            <a:pPr algn="l"/>
            <a:r>
              <a:rPr sz="1300" b="1">
                <a:solidFill>
                  <a:srgbClr val="0B2E4A"/>
                </a:solidFill>
                <a:latin typeface="Calibri"/>
              </a:rPr>
              <a:t>Global Value Analysis, By Form Type</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962400"/>
            <a:ext cx="11639550" cy="2590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08084" y="2080450"/>
            <a:ext cx="366712" cy="533400"/>
          </a:xfrm>
          <a:prstGeom prst="rect">
            <a:avLst/>
          </a:prstGeom>
        </p:spPr>
      </p:pic>
      <p:sp>
        <p:nvSpPr>
          <p:cNvPr id="20" name="TextBox 19"/>
          <p:cNvSpPr txBox="1"/>
          <p:nvPr/>
        </p:nvSpPr>
        <p:spPr>
          <a:xfrm>
            <a:off x="276225" y="3971925"/>
            <a:ext cx="3272470" cy="194310"/>
          </a:xfrm>
          <a:prstGeom prst="rect">
            <a:avLst/>
          </a:prstGeom>
          <a:noFill/>
        </p:spPr>
        <p:txBody>
          <a:bodyPr wrap="none" lIns="0" tIns="0" rIns="0" bIns="0">
            <a:spAutoFit/>
          </a:bodyPr>
          <a:lstStyle/>
          <a:p>
            <a:r>
              <a:rPr sz="1150" b="0">
                <a:solidFill>
                  <a:srgbClr val="2E2E2E"/>
                </a:solidFill>
                <a:latin typeface="Calibri"/>
              </a:rPr>
              <a:t>Capsules and softgels segment is projected to register</a:t>
            </a:r>
          </a:p>
        </p:txBody>
      </p:sp>
      <p:pic>
        <p:nvPicPr>
          <p:cNvPr id="21" name="Picture 20" descr="lock.png"/>
          <p:cNvPicPr>
            <a:picLocks noChangeAspect="1"/>
          </p:cNvPicPr>
          <p:nvPr/>
        </p:nvPicPr>
        <p:blipFill>
          <a:blip r:embed="rId4"/>
          <a:stretch>
            <a:fillRect/>
          </a:stretch>
        </p:blipFill>
        <p:spPr>
          <a:xfrm>
            <a:off x="3497848" y="3961701"/>
            <a:ext cx="134549" cy="195707"/>
          </a:xfrm>
          <a:prstGeom prst="rect">
            <a:avLst/>
          </a:prstGeom>
        </p:spPr>
      </p:pic>
      <p:sp>
        <p:nvSpPr>
          <p:cNvPr id="22" name="TextBox 21"/>
          <p:cNvSpPr txBox="1"/>
          <p:nvPr/>
        </p:nvSpPr>
        <p:spPr>
          <a:xfrm>
            <a:off x="3672958" y="3971925"/>
            <a:ext cx="8049046" cy="194310"/>
          </a:xfrm>
          <a:prstGeom prst="rect">
            <a:avLst/>
          </a:prstGeom>
          <a:noFill/>
        </p:spPr>
        <p:txBody>
          <a:bodyPr wrap="none" lIns="0" tIns="0" rIns="0" bIns="0">
            <a:spAutoFit/>
          </a:bodyPr>
          <a:lstStyle/>
          <a:p>
            <a:r>
              <a:rPr sz="1150" b="0">
                <a:solidFill>
                  <a:srgbClr val="2E2E2E"/>
                </a:solidFill>
                <a:latin typeface="Calibri"/>
              </a:rPr>
              <a:t>X higher value than tablets segment in 2036. Among senior dog cognitive supplement by form type, chewables segment is expected to</a:t>
            </a:r>
          </a:p>
        </p:txBody>
      </p:sp>
      <p:sp>
        <p:nvSpPr>
          <p:cNvPr id="23" name="TextBox 22"/>
          <p:cNvSpPr txBox="1"/>
          <p:nvPr/>
        </p:nvSpPr>
        <p:spPr>
          <a:xfrm>
            <a:off x="276225" y="4147185"/>
            <a:ext cx="1747770" cy="194310"/>
          </a:xfrm>
          <a:prstGeom prst="rect">
            <a:avLst/>
          </a:prstGeom>
          <a:noFill/>
        </p:spPr>
        <p:txBody>
          <a:bodyPr wrap="none" lIns="0" tIns="0" r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4136961"/>
            <a:ext cx="134549" cy="195707"/>
          </a:xfrm>
          <a:prstGeom prst="rect">
            <a:avLst/>
          </a:prstGeom>
        </p:spPr>
      </p:pic>
      <p:sp>
        <p:nvSpPr>
          <p:cNvPr id="25" name="TextBox 24"/>
          <p:cNvSpPr txBox="1"/>
          <p:nvPr/>
        </p:nvSpPr>
        <p:spPr>
          <a:xfrm>
            <a:off x="2148258" y="414718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991895" cy="194310"/>
          </a:xfrm>
          <a:prstGeom prst="rect">
            <a:avLst/>
          </a:prstGeom>
          <a:noFill/>
        </p:spPr>
        <p:txBody>
          <a:bodyPr wrap="none" lIns="0" tIns="0" rIns="0" bIns="0">
            <a:spAutoFit/>
          </a:bodyPr>
          <a:lstStyle/>
          <a:p>
            <a:r>
              <a:rPr sz="1150" b="0">
                <a:solidFill>
                  <a:srgbClr val="2E2E2E"/>
                </a:solidFill>
                <a:latin typeface="Calibri"/>
              </a:rPr>
              <a:t>In terms of value share by form type, the capsules and softgels segment is expected to dominate the market, gaining</a:t>
            </a:r>
          </a:p>
        </p:txBody>
      </p:sp>
      <p:pic>
        <p:nvPicPr>
          <p:cNvPr id="27" name="Picture 26" descr="lock.png"/>
          <p:cNvPicPr>
            <a:picLocks noChangeAspect="1"/>
          </p:cNvPicPr>
          <p:nvPr/>
        </p:nvPicPr>
        <p:blipFill>
          <a:blip r:embed="rId4"/>
          <a:stretch>
            <a:fillRect/>
          </a:stretch>
        </p:blipFill>
        <p:spPr>
          <a:xfrm>
            <a:off x="7217274" y="4364799"/>
            <a:ext cx="134549" cy="195707"/>
          </a:xfrm>
          <a:prstGeom prst="rect">
            <a:avLst/>
          </a:prstGeom>
        </p:spPr>
      </p:pic>
      <p:sp>
        <p:nvSpPr>
          <p:cNvPr id="28" name="TextBox 27"/>
          <p:cNvSpPr txBox="1"/>
          <p:nvPr/>
        </p:nvSpPr>
        <p:spPr>
          <a:xfrm>
            <a:off x="7392383" y="4375022"/>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787527" y="4364799"/>
            <a:ext cx="134549" cy="195707"/>
          </a:xfrm>
          <a:prstGeom prst="rect">
            <a:avLst/>
          </a:prstGeom>
        </p:spPr>
      </p:pic>
      <p:sp>
        <p:nvSpPr>
          <p:cNvPr id="30" name="TextBox 29"/>
          <p:cNvSpPr txBox="1"/>
          <p:nvPr/>
        </p:nvSpPr>
        <p:spPr>
          <a:xfrm>
            <a:off x="8962636" y="4375022"/>
            <a:ext cx="2684276" cy="194310"/>
          </a:xfrm>
          <a:prstGeom prst="rect">
            <a:avLst/>
          </a:prstGeom>
          <a:noFill/>
        </p:spPr>
        <p:txBody>
          <a:bodyPr wrap="none" lIns="0" tIns="0" rIns="0" bIns="0">
            <a:spAutoFit/>
          </a:bodyPr>
          <a:lstStyle/>
          <a:p>
            <a:r>
              <a:rPr sz="1150" b="0">
                <a:solidFill>
                  <a:srgbClr val="2E2E2E"/>
                </a:solidFill>
                <a:latin typeface="Calibri"/>
              </a:rPr>
              <a:t>share by 2036. The gels and pastes segment</a:t>
            </a:r>
          </a:p>
        </p:txBody>
      </p:sp>
      <p:sp>
        <p:nvSpPr>
          <p:cNvPr id="31" name="TextBox 30"/>
          <p:cNvSpPr txBox="1"/>
          <p:nvPr/>
        </p:nvSpPr>
        <p:spPr>
          <a:xfrm>
            <a:off x="276225" y="4550282"/>
            <a:ext cx="1178706" cy="194310"/>
          </a:xfrm>
          <a:prstGeom prst="rect">
            <a:avLst/>
          </a:prstGeom>
          <a:noFill/>
        </p:spPr>
        <p:txBody>
          <a:bodyPr wrap="none" lIns="0" tIns="0" rIns="0" bIns="0">
            <a:spAutoFit/>
          </a:bodyPr>
          <a:lstStyle/>
          <a:p>
            <a:r>
              <a:rPr sz="1150" b="0">
                <a:solidFill>
                  <a:srgbClr val="2E2E2E"/>
                </a:solidFill>
                <a:latin typeface="Calibri"/>
              </a:rPr>
              <a:t>is expected to lose</a:t>
            </a:r>
          </a:p>
        </p:txBody>
      </p:sp>
      <p:pic>
        <p:nvPicPr>
          <p:cNvPr id="32" name="Picture 31" descr="lock.png"/>
          <p:cNvPicPr>
            <a:picLocks noChangeAspect="1"/>
          </p:cNvPicPr>
          <p:nvPr/>
        </p:nvPicPr>
        <p:blipFill>
          <a:blip r:embed="rId4"/>
          <a:stretch>
            <a:fillRect/>
          </a:stretch>
        </p:blipFill>
        <p:spPr>
          <a:xfrm>
            <a:off x="1404085" y="4540059"/>
            <a:ext cx="134549" cy="195707"/>
          </a:xfrm>
          <a:prstGeom prst="rect">
            <a:avLst/>
          </a:prstGeom>
        </p:spPr>
      </p:pic>
      <p:sp>
        <p:nvSpPr>
          <p:cNvPr id="33" name="TextBox 32"/>
          <p:cNvSpPr txBox="1"/>
          <p:nvPr/>
        </p:nvSpPr>
        <p:spPr>
          <a:xfrm>
            <a:off x="1579194" y="4550282"/>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166699" y="4540059"/>
            <a:ext cx="134549" cy="195707"/>
          </a:xfrm>
          <a:prstGeom prst="rect">
            <a:avLst/>
          </a:prstGeom>
        </p:spPr>
      </p:pic>
      <p:sp>
        <p:nvSpPr>
          <p:cNvPr id="35" name="TextBox 34"/>
          <p:cNvSpPr txBox="1"/>
          <p:nvPr/>
        </p:nvSpPr>
        <p:spPr>
          <a:xfrm>
            <a:off x="4341808" y="4550282"/>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&amp; Share Shift, By Form Type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Form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Composition, By Form Type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419225"/>
            <a:ext cx="2595753" cy="177927"/>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a:endParaRPr/>
          </a:p>
        </p:txBody>
      </p:sp>
      <p:sp>
        <p:nvSpPr>
          <p:cNvPr id="15" name="FMI Legend Chip"/>
          <p:cNvSpPr/>
          <p:nvPr/>
        </p:nvSpPr>
        <p:spPr>
          <a:xfrm>
            <a:off x="4928997" y="1613875"/>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10800000">
            <a:off x="5090922" y="160911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53291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Powders and Granules</a:t>
            </a:r>
          </a:p>
        </p:txBody>
      </p:sp>
      <p:sp>
        <p:nvSpPr>
          <p:cNvPr id="18" name="BPS Value 1"/>
          <p:cNvSpPr txBox="1"/>
          <p:nvPr/>
        </p:nvSpPr>
        <p:spPr>
          <a:xfrm>
            <a:off x="6896100" y="1594825"/>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19" name="FMI Legend Chip"/>
          <p:cNvSpPr/>
          <p:nvPr/>
        </p:nvSpPr>
        <p:spPr>
          <a:xfrm>
            <a:off x="4928997" y="1904677"/>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rot="10800000">
            <a:off x="5090922" y="189991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182371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Liquids</a:t>
            </a:r>
          </a:p>
        </p:txBody>
      </p:sp>
      <p:sp>
        <p:nvSpPr>
          <p:cNvPr id="22" name="BPS Value 2"/>
          <p:cNvSpPr txBox="1"/>
          <p:nvPr/>
        </p:nvSpPr>
        <p:spPr>
          <a:xfrm>
            <a:off x="6896100" y="1885627"/>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3" name="FMI Legend Chip"/>
          <p:cNvSpPr/>
          <p:nvPr/>
        </p:nvSpPr>
        <p:spPr>
          <a:xfrm>
            <a:off x="4928997" y="233302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rot="10800000">
            <a:off x="5090922" y="232826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225206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Gels and Pastes</a:t>
            </a:r>
          </a:p>
        </p:txBody>
      </p:sp>
      <p:sp>
        <p:nvSpPr>
          <p:cNvPr id="26" name="BPS Value 3"/>
          <p:cNvSpPr txBox="1"/>
          <p:nvPr/>
        </p:nvSpPr>
        <p:spPr>
          <a:xfrm>
            <a:off x="6896100" y="2313972"/>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7" name="FMI Legend Chip"/>
          <p:cNvSpPr/>
          <p:nvPr/>
        </p:nvSpPr>
        <p:spPr>
          <a:xfrm>
            <a:off x="4928997" y="301951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a:off x="5090922" y="30147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2938549"/>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Chewables</a:t>
            </a:r>
          </a:p>
        </p:txBody>
      </p:sp>
      <p:sp>
        <p:nvSpPr>
          <p:cNvPr id="30" name="BPS Value 4"/>
          <p:cNvSpPr txBox="1"/>
          <p:nvPr/>
        </p:nvSpPr>
        <p:spPr>
          <a:xfrm>
            <a:off x="6896100" y="3000461"/>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1" name="FMI Legend Chip"/>
          <p:cNvSpPr/>
          <p:nvPr/>
        </p:nvSpPr>
        <p:spPr>
          <a:xfrm>
            <a:off x="4928997" y="396102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10800000">
            <a:off x="5090922" y="395626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5233797" y="3880062"/>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Tablets</a:t>
            </a:r>
          </a:p>
        </p:txBody>
      </p:sp>
      <p:sp>
        <p:nvSpPr>
          <p:cNvPr id="34" name="BPS Value 5"/>
          <p:cNvSpPr txBox="1"/>
          <p:nvPr/>
        </p:nvSpPr>
        <p:spPr>
          <a:xfrm>
            <a:off x="6896100" y="3941974"/>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5" name="FMI Legend Chip"/>
          <p:cNvSpPr/>
          <p:nvPr/>
        </p:nvSpPr>
        <p:spPr>
          <a:xfrm>
            <a:off x="4928997" y="535221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5090922" y="534745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5233797" y="5271257"/>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Capsules and Softgels</a:t>
            </a:r>
          </a:p>
        </p:txBody>
      </p:sp>
      <p:sp>
        <p:nvSpPr>
          <p:cNvPr id="38" name="BPS Value 6"/>
          <p:cNvSpPr txBox="1"/>
          <p:nvPr/>
        </p:nvSpPr>
        <p:spPr>
          <a:xfrm>
            <a:off x="6896100" y="5333169"/>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Global Read-out, By Form Type</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TextBox 4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751325"/>
            <a:ext cx="275034" cy="400050"/>
          </a:xfrm>
          <a:prstGeom prst="rect">
            <a:avLst/>
          </a:prstGeom>
        </p:spPr>
      </p:pic>
      <p:sp>
        <p:nvSpPr>
          <p:cNvPr id="45" name="TextBox 44"/>
          <p:cNvSpPr txBox="1"/>
          <p:nvPr/>
        </p:nvSpPr>
        <p:spPr>
          <a:xfrm>
            <a:off x="7829550" y="1400175"/>
            <a:ext cx="3962784" cy="194310"/>
          </a:xfrm>
          <a:prstGeom prst="rect">
            <a:avLst/>
          </a:prstGeom>
          <a:noFill/>
        </p:spPr>
        <p:txBody>
          <a:bodyPr wrap="none" lIns="0" tIns="0" rIns="0" bIns="0">
            <a:spAutoFit/>
          </a:bodyPr>
          <a:lstStyle/>
          <a:p>
            <a:r>
              <a:rPr sz="1150" b="0">
                <a:solidFill>
                  <a:srgbClr val="2E2E2E"/>
                </a:solidFill>
                <a:latin typeface="Calibri"/>
              </a:rPr>
              <a:t>Among senior dog cognitive supplement by form type, chewables</a:t>
            </a:r>
          </a:p>
        </p:txBody>
      </p:sp>
      <p:sp>
        <p:nvSpPr>
          <p:cNvPr id="46" name="TextBox 45"/>
          <p:cNvSpPr txBox="1"/>
          <p:nvPr/>
        </p:nvSpPr>
        <p:spPr>
          <a:xfrm>
            <a:off x="7829550" y="1575435"/>
            <a:ext cx="3156639" cy="194310"/>
          </a:xfrm>
          <a:prstGeom prst="rect">
            <a:avLst/>
          </a:prstGeom>
          <a:noFill/>
        </p:spPr>
        <p:txBody>
          <a:bodyPr wrap="none" lIns="0" tIns="0" rIns="0" bIns="0">
            <a:spAutoFit/>
          </a:bodyPr>
          <a:lstStyle/>
          <a:p>
            <a:r>
              <a:rPr sz="1150" b="0">
                <a:solidFill>
                  <a:srgbClr val="2E2E2E"/>
                </a:solidFill>
                <a:latin typeface="Calibri"/>
              </a:rPr>
              <a:t>segment is expected to witness the highest CAGR of</a:t>
            </a:r>
          </a:p>
        </p:txBody>
      </p:sp>
      <p:pic>
        <p:nvPicPr>
          <p:cNvPr id="47" name="Picture 46" descr="lock.png"/>
          <p:cNvPicPr>
            <a:picLocks noChangeAspect="1"/>
          </p:cNvPicPr>
          <p:nvPr/>
        </p:nvPicPr>
        <p:blipFill>
          <a:blip r:embed="rId5"/>
          <a:stretch>
            <a:fillRect/>
          </a:stretch>
        </p:blipFill>
        <p:spPr>
          <a:xfrm>
            <a:off x="10935343" y="1565211"/>
            <a:ext cx="134549" cy="195707"/>
          </a:xfrm>
          <a:prstGeom prst="rect">
            <a:avLst/>
          </a:prstGeom>
        </p:spPr>
      </p:pic>
      <p:sp>
        <p:nvSpPr>
          <p:cNvPr id="48" name="TextBox 47"/>
          <p:cNvSpPr txBox="1"/>
          <p:nvPr/>
        </p:nvSpPr>
        <p:spPr>
          <a:xfrm>
            <a:off x="11110452" y="1575435"/>
            <a:ext cx="574538" cy="194310"/>
          </a:xfrm>
          <a:prstGeom prst="rect">
            <a:avLst/>
          </a:prstGeom>
          <a:noFill/>
        </p:spPr>
        <p:txBody>
          <a:bodyPr wrap="none" lIns="0" tIns="0" rIns="0" bIns="0">
            <a:spAutoFit/>
          </a:bodyPr>
          <a:lstStyle/>
          <a:p>
            <a:r>
              <a:rPr sz="1150" b="0">
                <a:solidFill>
                  <a:srgbClr val="2E2E2E"/>
                </a:solidFill>
                <a:latin typeface="Calibri"/>
              </a:rPr>
              <a:t>over the</a:t>
            </a:r>
          </a:p>
        </p:txBody>
      </p:sp>
      <p:sp>
        <p:nvSpPr>
          <p:cNvPr id="49" name="TextBox 48"/>
          <p:cNvSpPr txBox="1"/>
          <p:nvPr/>
        </p:nvSpPr>
        <p:spPr>
          <a:xfrm>
            <a:off x="7829550" y="1750695"/>
            <a:ext cx="4013844" cy="194310"/>
          </a:xfrm>
          <a:prstGeom prst="rect">
            <a:avLst/>
          </a:prstGeom>
          <a:noFill/>
        </p:spPr>
        <p:txBody>
          <a:bodyPr wrap="none" lIns="0" tIns="0" rIns="0" bIns="0">
            <a:spAutoFit/>
          </a:bodyPr>
          <a:lstStyle/>
          <a:p>
            <a:r>
              <a:rPr sz="1150" b="0">
                <a:solidFill>
                  <a:srgbClr val="2E2E2E"/>
                </a:solidFill>
                <a:latin typeface="Calibri"/>
              </a:rPr>
              <a:t>forecast period. In terms of value share by form type, the capsules</a:t>
            </a:r>
          </a:p>
        </p:txBody>
      </p:sp>
      <p:sp>
        <p:nvSpPr>
          <p:cNvPr id="50" name="TextBox 49"/>
          <p:cNvSpPr txBox="1"/>
          <p:nvPr/>
        </p:nvSpPr>
        <p:spPr>
          <a:xfrm>
            <a:off x="7829550" y="1925955"/>
            <a:ext cx="3995303" cy="194310"/>
          </a:xfrm>
          <a:prstGeom prst="rect">
            <a:avLst/>
          </a:prstGeom>
          <a:noFill/>
        </p:spPr>
        <p:txBody>
          <a:bodyPr wrap="none" lIns="0" tIns="0" rIns="0" bIns="0">
            <a:spAutoFit/>
          </a:bodyPr>
          <a:lstStyle/>
          <a:p>
            <a:r>
              <a:rPr sz="1150" b="0">
                <a:solidFill>
                  <a:srgbClr val="2E2E2E"/>
                </a:solidFill>
                <a:latin typeface="Calibri"/>
              </a:rPr>
              <a:t>and softgels segment is expected to dominate the market, gaining</a:t>
            </a:r>
          </a:p>
        </p:txBody>
      </p:sp>
      <p:pic>
        <p:nvPicPr>
          <p:cNvPr id="51" name="Picture 50" descr="lock.png"/>
          <p:cNvPicPr>
            <a:picLocks noChangeAspect="1"/>
          </p:cNvPicPr>
          <p:nvPr/>
        </p:nvPicPr>
        <p:blipFill>
          <a:blip r:embed="rId5"/>
          <a:stretch>
            <a:fillRect/>
          </a:stretch>
        </p:blipFill>
        <p:spPr>
          <a:xfrm>
            <a:off x="7815470" y="2090991"/>
            <a:ext cx="134549" cy="195707"/>
          </a:xfrm>
          <a:prstGeom prst="rect">
            <a:avLst/>
          </a:prstGeom>
        </p:spPr>
      </p:pic>
      <p:sp>
        <p:nvSpPr>
          <p:cNvPr id="52" name="TextBox 51"/>
          <p:cNvSpPr txBox="1"/>
          <p:nvPr/>
        </p:nvSpPr>
        <p:spPr>
          <a:xfrm>
            <a:off x="7990579" y="2101215"/>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9385722" y="2090991"/>
            <a:ext cx="134549" cy="195707"/>
          </a:xfrm>
          <a:prstGeom prst="rect">
            <a:avLst/>
          </a:prstGeom>
        </p:spPr>
      </p:pic>
      <p:sp>
        <p:nvSpPr>
          <p:cNvPr id="54" name="TextBox 53"/>
          <p:cNvSpPr txBox="1"/>
          <p:nvPr/>
        </p:nvSpPr>
        <p:spPr>
          <a:xfrm>
            <a:off x="9560832" y="2101215"/>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55" name="TextBox 54"/>
          <p:cNvSpPr txBox="1"/>
          <p:nvPr/>
        </p:nvSpPr>
        <p:spPr>
          <a:xfrm>
            <a:off x="7829550" y="2329053"/>
            <a:ext cx="2916758" cy="194310"/>
          </a:xfrm>
          <a:prstGeom prst="rect">
            <a:avLst/>
          </a:prstGeom>
          <a:noFill/>
        </p:spPr>
        <p:txBody>
          <a:bodyPr wrap="none" lIns="0" tIns="0" rIns="0" bIns="0">
            <a:spAutoFit/>
          </a:bodyPr>
          <a:lstStyle/>
          <a:p>
            <a:r>
              <a:rPr sz="1150" b="0">
                <a:solidFill>
                  <a:srgbClr val="2E2E2E"/>
                </a:solidFill>
                <a:latin typeface="Calibri"/>
              </a:rPr>
              <a:t>The gels and pastes segment is expected to lose</a:t>
            </a:r>
          </a:p>
        </p:txBody>
      </p:sp>
      <p:pic>
        <p:nvPicPr>
          <p:cNvPr id="56" name="Picture 55" descr="lock.png"/>
          <p:cNvPicPr>
            <a:picLocks noChangeAspect="1"/>
          </p:cNvPicPr>
          <p:nvPr/>
        </p:nvPicPr>
        <p:blipFill>
          <a:blip r:embed="rId5"/>
          <a:stretch>
            <a:fillRect/>
          </a:stretch>
        </p:blipFill>
        <p:spPr>
          <a:xfrm>
            <a:off x="10695462" y="2318829"/>
            <a:ext cx="134549" cy="195707"/>
          </a:xfrm>
          <a:prstGeom prst="rect">
            <a:avLst/>
          </a:prstGeom>
        </p:spPr>
      </p:pic>
      <p:sp>
        <p:nvSpPr>
          <p:cNvPr id="57" name="TextBox 56"/>
          <p:cNvSpPr txBox="1"/>
          <p:nvPr/>
        </p:nvSpPr>
        <p:spPr>
          <a:xfrm>
            <a:off x="10870571" y="2329053"/>
            <a:ext cx="829840" cy="194310"/>
          </a:xfrm>
          <a:prstGeom prst="rect">
            <a:avLst/>
          </a:prstGeom>
          <a:noFill/>
        </p:spPr>
        <p:txBody>
          <a:bodyPr wrap="none" lIns="0" tIns="0" rIns="0" bIns="0">
            <a:spAutoFit/>
          </a:bodyPr>
          <a:lstStyle/>
          <a:p>
            <a:r>
              <a:rPr sz="1150" b="0">
                <a:solidFill>
                  <a:srgbClr val="2E2E2E"/>
                </a:solidFill>
                <a:latin typeface="Calibri"/>
              </a:rPr>
              <a:t>BPS over the</a:t>
            </a:r>
          </a:p>
        </p:txBody>
      </p:sp>
      <p:sp>
        <p:nvSpPr>
          <p:cNvPr id="58" name="TextBox 57"/>
          <p:cNvSpPr txBox="1"/>
          <p:nvPr/>
        </p:nvSpPr>
        <p:spPr>
          <a:xfrm>
            <a:off x="7829550" y="2504313"/>
            <a:ext cx="1851620" cy="194310"/>
          </a:xfrm>
          <a:prstGeom prst="rect">
            <a:avLst/>
          </a:prstGeom>
          <a:noFill/>
        </p:spPr>
        <p:txBody>
          <a:bodyPr wrap="none" lIns="0" tIns="0" rIns="0" bIns="0">
            <a:spAutoFit/>
          </a:bodyPr>
          <a:lstStyle/>
          <a:p>
            <a:r>
              <a:rPr sz="1150" b="0">
                <a:solidFill>
                  <a:srgbClr val="2E2E2E"/>
                </a:solidFill>
                <a:latin typeface="Calibri"/>
              </a:rPr>
              <a:t>forecast period to account for</a:t>
            </a:r>
          </a:p>
        </p:txBody>
      </p:sp>
      <p:pic>
        <p:nvPicPr>
          <p:cNvPr id="59" name="Picture 58" descr="lock.png"/>
          <p:cNvPicPr>
            <a:picLocks noChangeAspect="1"/>
          </p:cNvPicPr>
          <p:nvPr/>
        </p:nvPicPr>
        <p:blipFill>
          <a:blip r:embed="rId5"/>
          <a:stretch>
            <a:fillRect/>
          </a:stretch>
        </p:blipFill>
        <p:spPr>
          <a:xfrm>
            <a:off x="9630324" y="2494089"/>
            <a:ext cx="134549" cy="195707"/>
          </a:xfrm>
          <a:prstGeom prst="rect">
            <a:avLst/>
          </a:prstGeom>
        </p:spPr>
      </p:pic>
      <p:sp>
        <p:nvSpPr>
          <p:cNvPr id="60" name="TextBox 59"/>
          <p:cNvSpPr txBox="1"/>
          <p:nvPr/>
        </p:nvSpPr>
        <p:spPr>
          <a:xfrm>
            <a:off x="9805433" y="250431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1"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10.2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Active Ingredient</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Active Ingredient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Active Ingredient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6 sub-segments of Active Ingredient,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Active Ingredient segment categorizes the market by active ingredient.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Antioxidant Ingredients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Cellular Energy Support Ingredien…</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Omega-3 Fatty Acids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Microbiome-Targeted Ingredients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Botanical Ingredients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Neurofunctional Nutrients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Active Ingredient split shows how demand is distributed across active ingredient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7" name="Picture 76" descr="2_319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4_080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5_8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254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3_955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5_8__605E5C.png"/>
          <p:cNvPicPr>
            <a:picLocks noChangeAspect="1"/>
          </p:cNvPicPr>
          <p:nvPr/>
        </p:nvPicPr>
        <p:blipFill>
          <a:blip r:embed="rId6"/>
          <a:stretch>
            <a:fillRect/>
          </a:stretch>
        </p:blipFill>
        <p:spPr>
          <a:xfrm>
            <a:off x="3847419" y="3272281"/>
            <a:ext cx="982436" cy="361950"/>
          </a:xfrm>
          <a:prstGeom prst="rect">
            <a:avLst/>
          </a:prstGeom>
        </p:spPr>
      </p:pic>
      <p:pic>
        <p:nvPicPr>
          <p:cNvPr id="83" name="Picture 82" descr="1_870_605E5C.png"/>
          <p:cNvPicPr>
            <a:picLocks noChangeAspect="1"/>
          </p:cNvPicPr>
          <p:nvPr/>
        </p:nvPicPr>
        <p:blipFill>
          <a:blip r:embed="rId9"/>
          <a:stretch>
            <a:fillRect/>
          </a:stretch>
        </p:blipFill>
        <p:spPr>
          <a:xfrm>
            <a:off x="5426698" y="2286582"/>
            <a:ext cx="1195728" cy="361950"/>
          </a:xfrm>
          <a:prstGeom prst="rect">
            <a:avLst/>
          </a:prstGeom>
        </p:spPr>
      </p:pic>
      <p:pic>
        <p:nvPicPr>
          <p:cNvPr id="84" name="Picture 83" descr="2_941_605E5C.png"/>
          <p:cNvPicPr>
            <a:picLocks noChangeAspect="1"/>
          </p:cNvPicPr>
          <p:nvPr/>
        </p:nvPicPr>
        <p:blipFill>
          <a:blip r:embed="rId10"/>
          <a:stretch>
            <a:fillRect/>
          </a:stretch>
        </p:blipFill>
        <p:spPr>
          <a:xfrm>
            <a:off x="5426698" y="2779432"/>
            <a:ext cx="1195728" cy="361950"/>
          </a:xfrm>
          <a:prstGeom prst="rect">
            <a:avLst/>
          </a:prstGeom>
        </p:spPr>
      </p:pic>
      <p:pic>
        <p:nvPicPr>
          <p:cNvPr id="85" name="Picture 84" descr="4_6__605E5C.png"/>
          <p:cNvPicPr>
            <a:picLocks noChangeAspect="1"/>
          </p:cNvPicPr>
          <p:nvPr/>
        </p:nvPicPr>
        <p:blipFill>
          <a:blip r:embed="rId11"/>
          <a:stretch>
            <a:fillRect/>
          </a:stretch>
        </p:blipFill>
        <p:spPr>
          <a:xfrm>
            <a:off x="5533344" y="3272281"/>
            <a:ext cx="982436" cy="361950"/>
          </a:xfrm>
          <a:prstGeom prst="rect">
            <a:avLst/>
          </a:prstGeom>
        </p:spPr>
      </p:pic>
      <p:pic>
        <p:nvPicPr>
          <p:cNvPr id="86" name="Picture 85" descr="1_699_605E5C.png"/>
          <p:cNvPicPr>
            <a:picLocks noChangeAspect="1"/>
          </p:cNvPicPr>
          <p:nvPr/>
        </p:nvPicPr>
        <p:blipFill>
          <a:blip r:embed="rId12"/>
          <a:stretch>
            <a:fillRect/>
          </a:stretch>
        </p:blipFill>
        <p:spPr>
          <a:xfrm>
            <a:off x="7112623" y="2286582"/>
            <a:ext cx="1195728" cy="361950"/>
          </a:xfrm>
          <a:prstGeom prst="rect">
            <a:avLst/>
          </a:prstGeom>
        </p:spPr>
      </p:pic>
      <p:pic>
        <p:nvPicPr>
          <p:cNvPr id="87" name="Picture 86" descr="2_621_605E5C.png"/>
          <p:cNvPicPr>
            <a:picLocks noChangeAspect="1"/>
          </p:cNvPicPr>
          <p:nvPr/>
        </p:nvPicPr>
        <p:blipFill>
          <a:blip r:embed="rId13"/>
          <a:stretch>
            <a:fillRect/>
          </a:stretch>
        </p:blipFill>
        <p:spPr>
          <a:xfrm>
            <a:off x="7112623" y="2779432"/>
            <a:ext cx="1195728" cy="361950"/>
          </a:xfrm>
          <a:prstGeom prst="rect">
            <a:avLst/>
          </a:prstGeom>
        </p:spPr>
      </p:pic>
      <p:pic>
        <p:nvPicPr>
          <p:cNvPr id="88" name="Picture 87" descr="4_4__605E5C.png"/>
          <p:cNvPicPr>
            <a:picLocks noChangeAspect="1"/>
          </p:cNvPicPr>
          <p:nvPr/>
        </p:nvPicPr>
        <p:blipFill>
          <a:blip r:embed="rId14"/>
          <a:stretch>
            <a:fillRect/>
          </a:stretch>
        </p:blipFill>
        <p:spPr>
          <a:xfrm>
            <a:off x="7219269" y="3272281"/>
            <a:ext cx="982436" cy="361950"/>
          </a:xfrm>
          <a:prstGeom prst="rect">
            <a:avLst/>
          </a:prstGeom>
        </p:spPr>
      </p:pic>
      <p:pic>
        <p:nvPicPr>
          <p:cNvPr id="89" name="Picture 88" descr="1_410_605E5C.png"/>
          <p:cNvPicPr>
            <a:picLocks noChangeAspect="1"/>
          </p:cNvPicPr>
          <p:nvPr/>
        </p:nvPicPr>
        <p:blipFill>
          <a:blip r:embed="rId15"/>
          <a:stretch>
            <a:fillRect/>
          </a:stretch>
        </p:blipFill>
        <p:spPr>
          <a:xfrm>
            <a:off x="8798548" y="2286582"/>
            <a:ext cx="1195728" cy="361950"/>
          </a:xfrm>
          <a:prstGeom prst="rect">
            <a:avLst/>
          </a:prstGeom>
        </p:spPr>
      </p:pic>
      <p:pic>
        <p:nvPicPr>
          <p:cNvPr id="90" name="Picture 89" descr="2_107_605E5C.png"/>
          <p:cNvPicPr>
            <a:picLocks noChangeAspect="1"/>
          </p:cNvPicPr>
          <p:nvPr/>
        </p:nvPicPr>
        <p:blipFill>
          <a:blip r:embed="rId16"/>
          <a:stretch>
            <a:fillRect/>
          </a:stretch>
        </p:blipFill>
        <p:spPr>
          <a:xfrm>
            <a:off x="8798548" y="2779432"/>
            <a:ext cx="1195728" cy="361950"/>
          </a:xfrm>
          <a:prstGeom prst="rect">
            <a:avLst/>
          </a:prstGeom>
        </p:spPr>
      </p:pic>
      <p:pic>
        <p:nvPicPr>
          <p:cNvPr id="91" name="Picture 90" descr="4_1__605E5C.png"/>
          <p:cNvPicPr>
            <a:picLocks noChangeAspect="1"/>
          </p:cNvPicPr>
          <p:nvPr/>
        </p:nvPicPr>
        <p:blipFill>
          <a:blip r:embed="rId17"/>
          <a:stretch>
            <a:fillRect/>
          </a:stretch>
        </p:blipFill>
        <p:spPr>
          <a:xfrm>
            <a:off x="8905194" y="3272281"/>
            <a:ext cx="982436" cy="361950"/>
          </a:xfrm>
          <a:prstGeom prst="rect">
            <a:avLst/>
          </a:prstGeom>
        </p:spPr>
      </p:pic>
      <p:pic>
        <p:nvPicPr>
          <p:cNvPr id="92" name="Picture 91" descr="1_348_605E5C.png"/>
          <p:cNvPicPr>
            <a:picLocks noChangeAspect="1"/>
          </p:cNvPicPr>
          <p:nvPr/>
        </p:nvPicPr>
        <p:blipFill>
          <a:blip r:embed="rId18"/>
          <a:stretch>
            <a:fillRect/>
          </a:stretch>
        </p:blipFill>
        <p:spPr>
          <a:xfrm>
            <a:off x="10484473" y="2286582"/>
            <a:ext cx="1195728" cy="361950"/>
          </a:xfrm>
          <a:prstGeom prst="rect">
            <a:avLst/>
          </a:prstGeom>
        </p:spPr>
      </p:pic>
      <p:pic>
        <p:nvPicPr>
          <p:cNvPr id="93" name="Picture 92" descr="2_042_605E5C.png"/>
          <p:cNvPicPr>
            <a:picLocks noChangeAspect="1"/>
          </p:cNvPicPr>
          <p:nvPr/>
        </p:nvPicPr>
        <p:blipFill>
          <a:blip r:embed="rId19"/>
          <a:stretch>
            <a:fillRect/>
          </a:stretch>
        </p:blipFill>
        <p:spPr>
          <a:xfrm>
            <a:off x="10484473" y="2779432"/>
            <a:ext cx="1195728" cy="361950"/>
          </a:xfrm>
          <a:prstGeom prst="rect">
            <a:avLst/>
          </a:prstGeom>
        </p:spPr>
      </p:pic>
      <p:pic>
        <p:nvPicPr>
          <p:cNvPr id="94" name="Picture 93" descr="4_2__605E5C.png"/>
          <p:cNvPicPr>
            <a:picLocks noChangeAspect="1"/>
          </p:cNvPicPr>
          <p:nvPr/>
        </p:nvPicPr>
        <p:blipFill>
          <a:blip r:embed="rId20"/>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1"/>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1"/>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1"/>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1"/>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1"/>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1"/>
          <a:stretch>
            <a:fillRect/>
          </a:stretch>
        </p:blipFill>
        <p:spPr>
          <a:xfrm>
            <a:off x="10988992" y="2827057"/>
            <a:ext cx="183356" cy="266700"/>
          </a:xfrm>
          <a:prstGeom prst="rect">
            <a:avLst/>
          </a:prstGeom>
        </p:spPr>
      </p:pic>
      <p:sp>
        <p:nvSpPr>
          <p:cNvPr id="101" name="TextBox 100"/>
          <p:cNvSpPr txBox="1"/>
          <p:nvPr/>
        </p:nvSpPr>
        <p:spPr>
          <a:xfrm>
            <a:off x="485775" y="4229437"/>
            <a:ext cx="2904852" cy="186689"/>
          </a:xfrm>
          <a:prstGeom prst="rect">
            <a:avLst/>
          </a:prstGeom>
          <a:noFill/>
        </p:spPr>
        <p:txBody>
          <a:bodyPr wrap="none" lIns="0" tIns="0" rIns="0" bIns="0">
            <a:spAutoFit/>
          </a:bodyPr>
          <a:lstStyle/>
          <a:p>
            <a:r>
              <a:rPr sz="1100" b="0">
                <a:solidFill>
                  <a:srgbClr val="2E2E2E"/>
                </a:solidFill>
                <a:latin typeface="Calibri"/>
              </a:rPr>
              <a:t>Among senior dog cognitive supplement by active</a:t>
            </a:r>
          </a:p>
        </p:txBody>
      </p:sp>
      <p:sp>
        <p:nvSpPr>
          <p:cNvPr id="102" name="TextBox 101"/>
          <p:cNvSpPr txBox="1"/>
          <p:nvPr/>
        </p:nvSpPr>
        <p:spPr>
          <a:xfrm>
            <a:off x="485775" y="4397077"/>
            <a:ext cx="2687389" cy="186689"/>
          </a:xfrm>
          <a:prstGeom prst="rect">
            <a:avLst/>
          </a:prstGeom>
          <a:noFill/>
        </p:spPr>
        <p:txBody>
          <a:bodyPr wrap="none" lIns="0" tIns="0" rIns="0" bIns="0">
            <a:spAutoFit/>
          </a:bodyPr>
          <a:lstStyle/>
          <a:p>
            <a:r>
              <a:rPr sz="1100" b="0">
                <a:solidFill>
                  <a:srgbClr val="2E2E2E"/>
                </a:solidFill>
                <a:latin typeface="Calibri"/>
              </a:rPr>
              <a:t>ingredient, antioxidant ingredients segment is</a:t>
            </a:r>
          </a:p>
        </p:txBody>
      </p:sp>
      <p:sp>
        <p:nvSpPr>
          <p:cNvPr id="103" name="TextBox 102"/>
          <p:cNvSpPr txBox="1"/>
          <p:nvPr/>
        </p:nvSpPr>
        <p:spPr>
          <a:xfrm>
            <a:off x="485775" y="4564717"/>
            <a:ext cx="2381232" cy="186689"/>
          </a:xfrm>
          <a:prstGeom prst="rect">
            <a:avLst/>
          </a:prstGeom>
          <a:noFill/>
        </p:spPr>
        <p:txBody>
          <a:bodyPr wrap="none" lIns="0" tIns="0" rIns="0" bIns="0">
            <a:spAutoFit/>
          </a:bodyPr>
          <a:lstStyle/>
          <a:p>
            <a:r>
              <a:rPr sz="1100" b="0">
                <a:solidFill>
                  <a:srgbClr val="2E2E2E"/>
                </a:solidFill>
                <a:latin typeface="Calibri"/>
              </a:rPr>
              <a:t>expected to witness the highest CAGR of</a:t>
            </a:r>
          </a:p>
        </p:txBody>
      </p:sp>
      <p:pic>
        <p:nvPicPr>
          <p:cNvPr id="104" name="Picture 103" descr="lock.png"/>
          <p:cNvPicPr>
            <a:picLocks noChangeAspect="1"/>
          </p:cNvPicPr>
          <p:nvPr/>
        </p:nvPicPr>
        <p:blipFill>
          <a:blip r:embed="rId21"/>
          <a:stretch>
            <a:fillRect/>
          </a:stretch>
        </p:blipFill>
        <p:spPr>
          <a:xfrm>
            <a:off x="2815059" y="4554938"/>
            <a:ext cx="128699" cy="187198"/>
          </a:xfrm>
          <a:prstGeom prst="rect">
            <a:avLst/>
          </a:prstGeom>
        </p:spPr>
      </p:pic>
      <p:sp>
        <p:nvSpPr>
          <p:cNvPr id="105" name="TextBox 104"/>
          <p:cNvSpPr txBox="1"/>
          <p:nvPr/>
        </p:nvSpPr>
        <p:spPr>
          <a:xfrm>
            <a:off x="2982555" y="4564717"/>
            <a:ext cx="331316" cy="186689"/>
          </a:xfrm>
          <a:prstGeom prst="rect">
            <a:avLst/>
          </a:prstGeom>
          <a:noFill/>
        </p:spPr>
        <p:txBody>
          <a:bodyPr wrap="none" lIns="0" tIns="0" rIns="0" bIns="0">
            <a:spAutoFit/>
          </a:bodyPr>
          <a:lstStyle/>
          <a:p>
            <a:r>
              <a:rPr sz="1100" b="0">
                <a:solidFill>
                  <a:srgbClr val="2E2E2E"/>
                </a:solidFill>
                <a:latin typeface="Calibri"/>
              </a:rPr>
              <a:t>over</a:t>
            </a:r>
          </a:p>
        </p:txBody>
      </p:sp>
      <p:sp>
        <p:nvSpPr>
          <p:cNvPr id="106" name="TextBox 105"/>
          <p:cNvSpPr txBox="1"/>
          <p:nvPr/>
        </p:nvSpPr>
        <p:spPr>
          <a:xfrm>
            <a:off x="485775" y="4732357"/>
            <a:ext cx="2699122" cy="186689"/>
          </a:xfrm>
          <a:prstGeom prst="rect">
            <a:avLst/>
          </a:prstGeom>
          <a:noFill/>
        </p:spPr>
        <p:txBody>
          <a:bodyPr wrap="none" lIns="0" tIns="0" rIns="0" bIns="0">
            <a:spAutoFit/>
          </a:bodyPr>
          <a:lstStyle/>
          <a:p>
            <a:r>
              <a:rPr sz="1100" b="0">
                <a:solidFill>
                  <a:srgbClr val="2E2E2E"/>
                </a:solidFill>
                <a:latin typeface="Calibri"/>
              </a:rPr>
              <a:t>the forecast period. In terms of value share by</a:t>
            </a:r>
          </a:p>
        </p:txBody>
      </p:sp>
      <p:sp>
        <p:nvSpPr>
          <p:cNvPr id="107" name="TextBox 106"/>
          <p:cNvSpPr txBox="1"/>
          <p:nvPr/>
        </p:nvSpPr>
        <p:spPr>
          <a:xfrm>
            <a:off x="485775" y="4899997"/>
            <a:ext cx="2636911" cy="186689"/>
          </a:xfrm>
          <a:prstGeom prst="rect">
            <a:avLst/>
          </a:prstGeom>
          <a:noFill/>
        </p:spPr>
        <p:txBody>
          <a:bodyPr wrap="none" lIns="0" tIns="0" rIns="0" bIns="0">
            <a:spAutoFit/>
          </a:bodyPr>
          <a:lstStyle/>
          <a:p>
            <a:r>
              <a:rPr sz="1100" b="0">
                <a:solidFill>
                  <a:srgbClr val="2E2E2E"/>
                </a:solidFill>
                <a:latin typeface="Calibri"/>
              </a:rPr>
              <a:t>active ingredient, the antioxidant ingredients</a:t>
            </a:r>
          </a:p>
        </p:txBody>
      </p:sp>
      <p:sp>
        <p:nvSpPr>
          <p:cNvPr id="108" name="TextBox 107"/>
          <p:cNvSpPr txBox="1"/>
          <p:nvPr/>
        </p:nvSpPr>
        <p:spPr>
          <a:xfrm>
            <a:off x="485775" y="5067637"/>
            <a:ext cx="2666925" cy="186689"/>
          </a:xfrm>
          <a:prstGeom prst="rect">
            <a:avLst/>
          </a:prstGeom>
          <a:noFill/>
        </p:spPr>
        <p:txBody>
          <a:bodyPr wrap="none" lIns="0" tIns="0" rIns="0" bIns="0">
            <a:spAutoFit/>
          </a:bodyPr>
          <a:lstStyle/>
          <a:p>
            <a:r>
              <a:rPr sz="1100" b="0">
                <a:solidFill>
                  <a:srgbClr val="2E2E2E"/>
                </a:solidFill>
                <a:latin typeface="Calibri"/>
              </a:rPr>
              <a:t>segment is expected to dominate the market,</a:t>
            </a:r>
          </a:p>
        </p:txBody>
      </p:sp>
      <p:sp>
        <p:nvSpPr>
          <p:cNvPr id="109" name="TextBox 108"/>
          <p:cNvSpPr txBox="1"/>
          <p:nvPr/>
        </p:nvSpPr>
        <p:spPr>
          <a:xfrm>
            <a:off x="485775" y="5235277"/>
            <a:ext cx="485750" cy="186689"/>
          </a:xfrm>
          <a:prstGeom prst="rect">
            <a:avLst/>
          </a:prstGeom>
          <a:noFill/>
        </p:spPr>
        <p:txBody>
          <a:bodyPr wrap="none" lIns="0" tIns="0" rIns="0" bIns="0">
            <a:spAutoFit/>
          </a:bodyPr>
          <a:lstStyle/>
          <a:p>
            <a:r>
              <a:rPr sz="1100" b="0">
                <a:solidFill>
                  <a:srgbClr val="2E2E2E"/>
                </a:solidFill>
                <a:latin typeface="Calibri"/>
              </a:rPr>
              <a:t>gaining</a:t>
            </a:r>
          </a:p>
        </p:txBody>
      </p:sp>
      <p:pic>
        <p:nvPicPr>
          <p:cNvPr id="110" name="Picture 109" descr="lock.png"/>
          <p:cNvPicPr>
            <a:picLocks noChangeAspect="1"/>
          </p:cNvPicPr>
          <p:nvPr/>
        </p:nvPicPr>
        <p:blipFill>
          <a:blip r:embed="rId21"/>
          <a:stretch>
            <a:fillRect/>
          </a:stretch>
        </p:blipFill>
        <p:spPr>
          <a:xfrm>
            <a:off x="919576" y="5225498"/>
            <a:ext cx="128699" cy="187198"/>
          </a:xfrm>
          <a:prstGeom prst="rect">
            <a:avLst/>
          </a:prstGeom>
        </p:spPr>
      </p:pic>
      <p:sp>
        <p:nvSpPr>
          <p:cNvPr id="111" name="TextBox 110"/>
          <p:cNvSpPr txBox="1"/>
          <p:nvPr/>
        </p:nvSpPr>
        <p:spPr>
          <a:xfrm>
            <a:off x="1087072" y="5235277"/>
            <a:ext cx="1386433" cy="186689"/>
          </a:xfrm>
          <a:prstGeom prst="rect">
            <a:avLst/>
          </a:prstGeom>
          <a:noFill/>
        </p:spPr>
        <p:txBody>
          <a:bodyPr wrap="none" lIns="0" tIns="0" rIns="0" bIns="0">
            <a:spAutoFit/>
          </a:bodyPr>
          <a:lstStyle/>
          <a:p>
            <a:r>
              <a:rPr sz="1100" b="0">
                <a:solidFill>
                  <a:srgbClr val="2E2E2E"/>
                </a:solidFill>
                <a:latin typeface="Calibri"/>
              </a:rPr>
              <a:t>BPS and accounting for</a:t>
            </a:r>
          </a:p>
        </p:txBody>
      </p:sp>
      <p:pic>
        <p:nvPicPr>
          <p:cNvPr id="112" name="Picture 111" descr="lock.png"/>
          <p:cNvPicPr>
            <a:picLocks noChangeAspect="1"/>
          </p:cNvPicPr>
          <p:nvPr/>
        </p:nvPicPr>
        <p:blipFill>
          <a:blip r:embed="rId21"/>
          <a:stretch>
            <a:fillRect/>
          </a:stretch>
        </p:blipFill>
        <p:spPr>
          <a:xfrm>
            <a:off x="2421557" y="5225498"/>
            <a:ext cx="128699" cy="187198"/>
          </a:xfrm>
          <a:prstGeom prst="rect">
            <a:avLst/>
          </a:prstGeom>
        </p:spPr>
      </p:pic>
      <p:sp>
        <p:nvSpPr>
          <p:cNvPr id="113" name="TextBox 112"/>
          <p:cNvSpPr txBox="1"/>
          <p:nvPr/>
        </p:nvSpPr>
        <p:spPr>
          <a:xfrm>
            <a:off x="2589053" y="5235277"/>
            <a:ext cx="557783" cy="186689"/>
          </a:xfrm>
          <a:prstGeom prst="rect">
            <a:avLst/>
          </a:prstGeom>
          <a:noFill/>
        </p:spPr>
        <p:txBody>
          <a:bodyPr wrap="none" lIns="0" tIns="0" rIns="0" bIns="0">
            <a:spAutoFit/>
          </a:bodyPr>
          <a:lstStyle/>
          <a:p>
            <a:r>
              <a:rPr sz="1100" b="0">
                <a:solidFill>
                  <a:srgbClr val="2E2E2E"/>
                </a:solidFill>
                <a:latin typeface="Calibri"/>
              </a:rPr>
              <a:t>share by</a:t>
            </a:r>
          </a:p>
        </p:txBody>
      </p:sp>
      <p:sp>
        <p:nvSpPr>
          <p:cNvPr id="114" name="TextBox 113"/>
          <p:cNvSpPr txBox="1"/>
          <p:nvPr/>
        </p:nvSpPr>
        <p:spPr>
          <a:xfrm>
            <a:off x="485775" y="5402917"/>
            <a:ext cx="395163" cy="186689"/>
          </a:xfrm>
          <a:prstGeom prst="rect">
            <a:avLst/>
          </a:prstGeom>
          <a:noFill/>
        </p:spPr>
        <p:txBody>
          <a:bodyPr wrap="none" lIns="0" tIns="0" rIns="0" bIns="0">
            <a:spAutoFit/>
          </a:bodyPr>
          <a:lstStyle/>
          <a:p>
            <a:r>
              <a:rPr sz="1100" b="0">
                <a:solidFill>
                  <a:srgbClr val="2E2E2E"/>
                </a:solidFill>
                <a:latin typeface="Calibri"/>
              </a:rPr>
              <a:t>2036.</a:t>
            </a:r>
          </a:p>
        </p:txBody>
      </p:sp>
      <p:sp>
        <p:nvSpPr>
          <p:cNvPr id="115" name="TextBox 114"/>
          <p:cNvSpPr txBox="1"/>
          <p:nvPr/>
        </p:nvSpPr>
        <p:spPr>
          <a:xfrm>
            <a:off x="485775" y="5620849"/>
            <a:ext cx="2781523" cy="186689"/>
          </a:xfrm>
          <a:prstGeom prst="rect">
            <a:avLst/>
          </a:prstGeom>
          <a:noFill/>
        </p:spPr>
        <p:txBody>
          <a:bodyPr wrap="none" lIns="0" tIns="0" rIns="0" bIns="0">
            <a:spAutoFit/>
          </a:bodyPr>
          <a:lstStyle/>
          <a:p>
            <a:r>
              <a:rPr sz="1100" b="0">
                <a:solidFill>
                  <a:srgbClr val="2E2E2E"/>
                </a:solidFill>
                <a:latin typeface="Calibri"/>
              </a:rPr>
              <a:t>Antioxidant ingredients segment is projected to</a:t>
            </a:r>
          </a:p>
        </p:txBody>
      </p:sp>
      <p:sp>
        <p:nvSpPr>
          <p:cNvPr id="116" name="TextBox 115"/>
          <p:cNvSpPr txBox="1"/>
          <p:nvPr/>
        </p:nvSpPr>
        <p:spPr>
          <a:xfrm>
            <a:off x="485775" y="5788489"/>
            <a:ext cx="512489" cy="186689"/>
          </a:xfrm>
          <a:prstGeom prst="rect">
            <a:avLst/>
          </a:prstGeom>
          <a:noFill/>
        </p:spPr>
        <p:txBody>
          <a:bodyPr wrap="none" lIns="0" tIns="0" rIns="0" bIns="0">
            <a:spAutoFit/>
          </a:bodyPr>
          <a:lstStyle/>
          <a:p>
            <a:r>
              <a:rPr sz="1100" b="0">
                <a:solidFill>
                  <a:srgbClr val="2E2E2E"/>
                </a:solidFill>
                <a:latin typeface="Calibri"/>
              </a:rPr>
              <a:t>register</a:t>
            </a:r>
          </a:p>
        </p:txBody>
      </p:sp>
      <p:pic>
        <p:nvPicPr>
          <p:cNvPr id="117" name="Picture 116" descr="lock.png"/>
          <p:cNvPicPr>
            <a:picLocks noChangeAspect="1"/>
          </p:cNvPicPr>
          <p:nvPr/>
        </p:nvPicPr>
        <p:blipFill>
          <a:blip r:embed="rId21"/>
          <a:stretch>
            <a:fillRect/>
          </a:stretch>
        </p:blipFill>
        <p:spPr>
          <a:xfrm>
            <a:off x="946316" y="5778710"/>
            <a:ext cx="128699" cy="187198"/>
          </a:xfrm>
          <a:prstGeom prst="rect">
            <a:avLst/>
          </a:prstGeom>
        </p:spPr>
      </p:pic>
      <p:sp>
        <p:nvSpPr>
          <p:cNvPr id="118" name="TextBox 117"/>
          <p:cNvSpPr txBox="1"/>
          <p:nvPr/>
        </p:nvSpPr>
        <p:spPr>
          <a:xfrm>
            <a:off x="1113812" y="5788489"/>
            <a:ext cx="2040731" cy="186689"/>
          </a:xfrm>
          <a:prstGeom prst="rect">
            <a:avLst/>
          </a:prstGeom>
          <a:noFill/>
        </p:spPr>
        <p:txBody>
          <a:bodyPr wrap="none" lIns="0" tIns="0" rIns="0" bIns="0">
            <a:spAutoFit/>
          </a:bodyPr>
          <a:lstStyle/>
          <a:p>
            <a:r>
              <a:rPr sz="1100" b="0">
                <a:solidFill>
                  <a:srgbClr val="2E2E2E"/>
                </a:solidFill>
                <a:latin typeface="Calibri"/>
              </a:rPr>
              <a:t>X higher value than cellular energy</a:t>
            </a:r>
          </a:p>
        </p:txBody>
      </p:sp>
      <p:sp>
        <p:nvSpPr>
          <p:cNvPr id="119" name="TextBox 118"/>
          <p:cNvSpPr txBox="1"/>
          <p:nvPr/>
        </p:nvSpPr>
        <p:spPr>
          <a:xfrm>
            <a:off x="485775" y="5956129"/>
            <a:ext cx="2202805" cy="186689"/>
          </a:xfrm>
          <a:prstGeom prst="rect">
            <a:avLst/>
          </a:prstGeom>
          <a:noFill/>
        </p:spPr>
        <p:txBody>
          <a:bodyPr wrap="none" lIns="0" tIns="0" rIns="0" bIns="0">
            <a:spAutoFit/>
          </a:bodyPr>
          <a:lstStyle/>
          <a:p>
            <a:r>
              <a:rPr sz="1100" b="0">
                <a:solidFill>
                  <a:srgbClr val="2E2E2E"/>
                </a:solidFill>
                <a:latin typeface="Calibri"/>
              </a:rPr>
              <a:t>support ingredients segment in 2036.</a:t>
            </a:r>
          </a:p>
        </p:txBody>
      </p:sp>
      <p:sp>
        <p:nvSpPr>
          <p:cNvPr id="120" name="TextBox 119"/>
          <p:cNvSpPr txBox="1"/>
          <p:nvPr/>
        </p:nvSpPr>
        <p:spPr>
          <a:xfrm>
            <a:off x="3838575" y="4229437"/>
            <a:ext cx="1564332" cy="186689"/>
          </a:xfrm>
          <a:prstGeom prst="rect">
            <a:avLst/>
          </a:prstGeom>
          <a:noFill/>
        </p:spPr>
        <p:txBody>
          <a:bodyPr wrap="none" lIns="0" tIns="0" rIns="0" bIns="0">
            <a:spAutoFit/>
          </a:bodyPr>
          <a:lstStyle/>
          <a:p>
            <a:r>
              <a:rPr sz="1100" b="0">
                <a:solidFill>
                  <a:srgbClr val="2E2E2E"/>
                </a:solidFill>
                <a:latin typeface="Calibri"/>
              </a:rPr>
              <a:t>● Antioxidant Ingredients:</a:t>
            </a:r>
          </a:p>
        </p:txBody>
      </p:sp>
      <p:pic>
        <p:nvPicPr>
          <p:cNvPr id="121" name="Picture 120" descr="lock.png"/>
          <p:cNvPicPr>
            <a:picLocks noChangeAspect="1"/>
          </p:cNvPicPr>
          <p:nvPr/>
        </p:nvPicPr>
        <p:blipFill>
          <a:blip r:embed="rId21"/>
          <a:stretch>
            <a:fillRect/>
          </a:stretch>
        </p:blipFill>
        <p:spPr>
          <a:xfrm>
            <a:off x="5350959" y="4219658"/>
            <a:ext cx="128699" cy="187198"/>
          </a:xfrm>
          <a:prstGeom prst="rect">
            <a:avLst/>
          </a:prstGeom>
        </p:spPr>
      </p:pic>
      <p:sp>
        <p:nvSpPr>
          <p:cNvPr id="122" name="TextBox 121"/>
          <p:cNvSpPr txBox="1"/>
          <p:nvPr/>
        </p:nvSpPr>
        <p:spPr>
          <a:xfrm>
            <a:off x="5518454" y="422943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3" name="Picture 122" descr="lock.png"/>
          <p:cNvPicPr>
            <a:picLocks noChangeAspect="1"/>
          </p:cNvPicPr>
          <p:nvPr/>
        </p:nvPicPr>
        <p:blipFill>
          <a:blip r:embed="rId21"/>
          <a:stretch>
            <a:fillRect/>
          </a:stretch>
        </p:blipFill>
        <p:spPr>
          <a:xfrm>
            <a:off x="6377905" y="4219658"/>
            <a:ext cx="128699" cy="187198"/>
          </a:xfrm>
          <a:prstGeom prst="rect">
            <a:avLst/>
          </a:prstGeom>
        </p:spPr>
      </p:pic>
      <p:sp>
        <p:nvSpPr>
          <p:cNvPr id="124" name="TextBox 123"/>
          <p:cNvSpPr txBox="1"/>
          <p:nvPr/>
        </p:nvSpPr>
        <p:spPr>
          <a:xfrm>
            <a:off x="6545400" y="4229437"/>
            <a:ext cx="945215" cy="186689"/>
          </a:xfrm>
          <a:prstGeom prst="rect">
            <a:avLst/>
          </a:prstGeom>
          <a:noFill/>
        </p:spPr>
        <p:txBody>
          <a:bodyPr wrap="none" lIns="0" tIns="0" rIns="0" bIns="0">
            <a:spAutoFit/>
          </a:bodyPr>
          <a:lstStyle/>
          <a:p>
            <a:r>
              <a:rPr sz="1100" b="0">
                <a:solidFill>
                  <a:srgbClr val="2E2E2E"/>
                </a:solidFill>
                <a:latin typeface="Calibri"/>
              </a:rPr>
              <a:t>CAGR leads the</a:t>
            </a:r>
          </a:p>
        </p:txBody>
      </p:sp>
      <p:sp>
        <p:nvSpPr>
          <p:cNvPr id="125" name="TextBox 124"/>
          <p:cNvSpPr txBox="1"/>
          <p:nvPr/>
        </p:nvSpPr>
        <p:spPr>
          <a:xfrm>
            <a:off x="3838575" y="4397077"/>
            <a:ext cx="602803" cy="186689"/>
          </a:xfrm>
          <a:prstGeom prst="rect">
            <a:avLst/>
          </a:prstGeom>
          <a:noFill/>
        </p:spPr>
        <p:txBody>
          <a:bodyPr wrap="none" lIns="0" tIns="0" rIns="0" bIns="0">
            <a:spAutoFit/>
          </a:bodyPr>
          <a:lstStyle/>
          <a:p>
            <a:r>
              <a:rPr sz="1100" b="0">
                <a:solidFill>
                  <a:srgbClr val="2E2E2E"/>
                </a:solidFill>
                <a:latin typeface="Calibri"/>
              </a:rPr>
              <a:t>segment.</a:t>
            </a:r>
          </a:p>
        </p:txBody>
      </p:sp>
      <p:sp>
        <p:nvSpPr>
          <p:cNvPr id="126" name="TextBox 125"/>
          <p:cNvSpPr txBox="1"/>
          <p:nvPr/>
        </p:nvSpPr>
        <p:spPr>
          <a:xfrm>
            <a:off x="3838575" y="4615009"/>
            <a:ext cx="2239912" cy="186689"/>
          </a:xfrm>
          <a:prstGeom prst="rect">
            <a:avLst/>
          </a:prstGeom>
          <a:noFill/>
        </p:spPr>
        <p:txBody>
          <a:bodyPr wrap="none" lIns="0" tIns="0" rIns="0" bIns="0">
            <a:spAutoFit/>
          </a:bodyPr>
          <a:lstStyle/>
          <a:p>
            <a:r>
              <a:rPr sz="1100" b="0">
                <a:solidFill>
                  <a:srgbClr val="2E2E2E"/>
                </a:solidFill>
                <a:latin typeface="Calibri"/>
              </a:rPr>
              <a:t>● Cellular Energy Support Ingredients:</a:t>
            </a:r>
          </a:p>
        </p:txBody>
      </p:sp>
      <p:pic>
        <p:nvPicPr>
          <p:cNvPr id="127" name="Picture 126" descr="lock.png"/>
          <p:cNvPicPr>
            <a:picLocks noChangeAspect="1"/>
          </p:cNvPicPr>
          <p:nvPr/>
        </p:nvPicPr>
        <p:blipFill>
          <a:blip r:embed="rId21"/>
          <a:stretch>
            <a:fillRect/>
          </a:stretch>
        </p:blipFill>
        <p:spPr>
          <a:xfrm>
            <a:off x="6026539" y="4605230"/>
            <a:ext cx="128699" cy="187198"/>
          </a:xfrm>
          <a:prstGeom prst="rect">
            <a:avLst/>
          </a:prstGeom>
        </p:spPr>
      </p:pic>
      <p:sp>
        <p:nvSpPr>
          <p:cNvPr id="128" name="TextBox 127"/>
          <p:cNvSpPr txBox="1"/>
          <p:nvPr/>
        </p:nvSpPr>
        <p:spPr>
          <a:xfrm>
            <a:off x="6194035" y="461500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9" name="Picture 128" descr="lock.png"/>
          <p:cNvPicPr>
            <a:picLocks noChangeAspect="1"/>
          </p:cNvPicPr>
          <p:nvPr/>
        </p:nvPicPr>
        <p:blipFill>
          <a:blip r:embed="rId21"/>
          <a:stretch>
            <a:fillRect/>
          </a:stretch>
        </p:blipFill>
        <p:spPr>
          <a:xfrm>
            <a:off x="7053485" y="4605230"/>
            <a:ext cx="128699" cy="187198"/>
          </a:xfrm>
          <a:prstGeom prst="rect">
            <a:avLst/>
          </a:prstGeom>
        </p:spPr>
      </p:pic>
      <p:sp>
        <p:nvSpPr>
          <p:cNvPr id="130" name="TextBox 129"/>
          <p:cNvSpPr txBox="1"/>
          <p:nvPr/>
        </p:nvSpPr>
        <p:spPr>
          <a:xfrm>
            <a:off x="7220981" y="4615009"/>
            <a:ext cx="395419" cy="186689"/>
          </a:xfrm>
          <a:prstGeom prst="rect">
            <a:avLst/>
          </a:prstGeom>
          <a:noFill/>
        </p:spPr>
        <p:txBody>
          <a:bodyPr wrap="none" lIns="0" tIns="0" rIns="0" bIns="0">
            <a:spAutoFit/>
          </a:bodyPr>
          <a:lstStyle/>
          <a:p>
            <a:r>
              <a:rPr sz="1100" b="0">
                <a:solidFill>
                  <a:srgbClr val="2E2E2E"/>
                </a:solidFill>
                <a:latin typeface="Calibri"/>
              </a:rPr>
              <a:t>CAGR</a:t>
            </a:r>
          </a:p>
        </p:txBody>
      </p:sp>
      <p:sp>
        <p:nvSpPr>
          <p:cNvPr id="131" name="TextBox 130"/>
          <p:cNvSpPr txBox="1"/>
          <p:nvPr/>
        </p:nvSpPr>
        <p:spPr>
          <a:xfrm>
            <a:off x="3838575" y="4782649"/>
            <a:ext cx="909488" cy="186689"/>
          </a:xfrm>
          <a:prstGeom prst="rect">
            <a:avLst/>
          </a:prstGeom>
          <a:noFill/>
        </p:spPr>
        <p:txBody>
          <a:bodyPr wrap="none" lIns="0" tIns="0" rIns="0" bIns="0">
            <a:spAutoFit/>
          </a:bodyPr>
          <a:lstStyle/>
          <a:p>
            <a:r>
              <a:rPr sz="1100" b="0">
                <a:solidFill>
                  <a:srgbClr val="2E2E2E"/>
                </a:solidFill>
                <a:latin typeface="Calibri"/>
              </a:rPr>
              <a:t>serves a niche.</a:t>
            </a:r>
          </a:p>
        </p:txBody>
      </p:sp>
      <p:sp>
        <p:nvSpPr>
          <p:cNvPr id="132" name="TextBox 131"/>
          <p:cNvSpPr txBox="1"/>
          <p:nvPr/>
        </p:nvSpPr>
        <p:spPr>
          <a:xfrm>
            <a:off x="3838575" y="5000581"/>
            <a:ext cx="1401107" cy="186689"/>
          </a:xfrm>
          <a:prstGeom prst="rect">
            <a:avLst/>
          </a:prstGeom>
          <a:noFill/>
        </p:spPr>
        <p:txBody>
          <a:bodyPr wrap="none" lIns="0" tIns="0" rIns="0" bIns="0">
            <a:spAutoFit/>
          </a:bodyPr>
          <a:lstStyle/>
          <a:p>
            <a:r>
              <a:rPr sz="1100" b="0">
                <a:solidFill>
                  <a:srgbClr val="2E2E2E"/>
                </a:solidFill>
                <a:latin typeface="Calibri"/>
              </a:rPr>
              <a:t>● Omega-3 Fatty Acids:</a:t>
            </a:r>
          </a:p>
        </p:txBody>
      </p:sp>
      <p:pic>
        <p:nvPicPr>
          <p:cNvPr id="133" name="Picture 132" descr="lock.png"/>
          <p:cNvPicPr>
            <a:picLocks noChangeAspect="1"/>
          </p:cNvPicPr>
          <p:nvPr/>
        </p:nvPicPr>
        <p:blipFill>
          <a:blip r:embed="rId21"/>
          <a:stretch>
            <a:fillRect/>
          </a:stretch>
        </p:blipFill>
        <p:spPr>
          <a:xfrm>
            <a:off x="5187734" y="4990801"/>
            <a:ext cx="128699" cy="187198"/>
          </a:xfrm>
          <a:prstGeom prst="rect">
            <a:avLst/>
          </a:prstGeom>
        </p:spPr>
      </p:pic>
      <p:sp>
        <p:nvSpPr>
          <p:cNvPr id="134" name="TextBox 133"/>
          <p:cNvSpPr txBox="1"/>
          <p:nvPr/>
        </p:nvSpPr>
        <p:spPr>
          <a:xfrm>
            <a:off x="5355229" y="5000581"/>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1"/>
          <a:stretch>
            <a:fillRect/>
          </a:stretch>
        </p:blipFill>
        <p:spPr>
          <a:xfrm>
            <a:off x="6214680" y="4990801"/>
            <a:ext cx="128699" cy="187198"/>
          </a:xfrm>
          <a:prstGeom prst="rect">
            <a:avLst/>
          </a:prstGeom>
        </p:spPr>
      </p:pic>
      <p:sp>
        <p:nvSpPr>
          <p:cNvPr id="136" name="TextBox 135"/>
          <p:cNvSpPr txBox="1"/>
          <p:nvPr/>
        </p:nvSpPr>
        <p:spPr>
          <a:xfrm>
            <a:off x="6382175" y="5000581"/>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37" name="TextBox 136"/>
          <p:cNvSpPr txBox="1"/>
          <p:nvPr/>
        </p:nvSpPr>
        <p:spPr>
          <a:xfrm>
            <a:off x="3838575" y="5218513"/>
            <a:ext cx="2149871" cy="186689"/>
          </a:xfrm>
          <a:prstGeom prst="rect">
            <a:avLst/>
          </a:prstGeom>
          <a:noFill/>
        </p:spPr>
        <p:txBody>
          <a:bodyPr wrap="none" lIns="0" tIns="0" rIns="0" bIns="0">
            <a:spAutoFit/>
          </a:bodyPr>
          <a:lstStyle/>
          <a:p>
            <a:r>
              <a:rPr sz="1100" b="0">
                <a:solidFill>
                  <a:srgbClr val="2E2E2E"/>
                </a:solidFill>
                <a:latin typeface="Calibri"/>
              </a:rPr>
              <a:t>● Microbiome-Targeted Ingredients:</a:t>
            </a:r>
          </a:p>
        </p:txBody>
      </p:sp>
      <p:pic>
        <p:nvPicPr>
          <p:cNvPr id="138" name="Picture 137" descr="lock.png"/>
          <p:cNvPicPr>
            <a:picLocks noChangeAspect="1"/>
          </p:cNvPicPr>
          <p:nvPr/>
        </p:nvPicPr>
        <p:blipFill>
          <a:blip r:embed="rId21"/>
          <a:stretch>
            <a:fillRect/>
          </a:stretch>
        </p:blipFill>
        <p:spPr>
          <a:xfrm>
            <a:off x="5936498" y="5208733"/>
            <a:ext cx="128699" cy="187198"/>
          </a:xfrm>
          <a:prstGeom prst="rect">
            <a:avLst/>
          </a:prstGeom>
        </p:spPr>
      </p:pic>
      <p:sp>
        <p:nvSpPr>
          <p:cNvPr id="139" name="TextBox 138"/>
          <p:cNvSpPr txBox="1"/>
          <p:nvPr/>
        </p:nvSpPr>
        <p:spPr>
          <a:xfrm>
            <a:off x="6103994" y="5218513"/>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1"/>
          <a:stretch>
            <a:fillRect/>
          </a:stretch>
        </p:blipFill>
        <p:spPr>
          <a:xfrm>
            <a:off x="6963444" y="5208733"/>
            <a:ext cx="128699" cy="187198"/>
          </a:xfrm>
          <a:prstGeom prst="rect">
            <a:avLst/>
          </a:prstGeom>
        </p:spPr>
      </p:pic>
      <p:sp>
        <p:nvSpPr>
          <p:cNvPr id="141" name="TextBox 140"/>
          <p:cNvSpPr txBox="1"/>
          <p:nvPr/>
        </p:nvSpPr>
        <p:spPr>
          <a:xfrm>
            <a:off x="7130940" y="5218513"/>
            <a:ext cx="395419" cy="186689"/>
          </a:xfrm>
          <a:prstGeom prst="rect">
            <a:avLst/>
          </a:prstGeom>
          <a:noFill/>
        </p:spPr>
        <p:txBody>
          <a:bodyPr wrap="none" lIns="0" tIns="0" rIns="0" bIns="0">
            <a:spAutoFit/>
          </a:bodyPr>
          <a:lstStyle/>
          <a:p>
            <a:r>
              <a:rPr sz="1100" b="0">
                <a:solidFill>
                  <a:srgbClr val="2E2E2E"/>
                </a:solidFill>
                <a:latin typeface="Calibri"/>
              </a:rPr>
              <a:t>CAGR</a:t>
            </a:r>
          </a:p>
        </p:txBody>
      </p:sp>
      <p:sp>
        <p:nvSpPr>
          <p:cNvPr id="142" name="TextBox 141"/>
          <p:cNvSpPr txBox="1"/>
          <p:nvPr/>
        </p:nvSpPr>
        <p:spPr>
          <a:xfrm>
            <a:off x="3838575" y="5386153"/>
            <a:ext cx="909488" cy="186689"/>
          </a:xfrm>
          <a:prstGeom prst="rect">
            <a:avLst/>
          </a:prstGeom>
          <a:noFill/>
        </p:spPr>
        <p:txBody>
          <a:bodyPr wrap="none" lIns="0" tIns="0" rIns="0" bIns="0">
            <a:spAutoFit/>
          </a:bodyPr>
          <a:lstStyle/>
          <a:p>
            <a:r>
              <a:rPr sz="1100" b="0">
                <a:solidFill>
                  <a:srgbClr val="2E2E2E"/>
                </a:solidFill>
                <a:latin typeface="Calibri"/>
              </a:rPr>
              <a:t>serves a niche.</a:t>
            </a:r>
          </a:p>
        </p:txBody>
      </p:sp>
      <p:sp>
        <p:nvSpPr>
          <p:cNvPr id="143" name="TextBox 142"/>
          <p:cNvSpPr txBox="1"/>
          <p:nvPr/>
        </p:nvSpPr>
        <p:spPr>
          <a:xfrm>
            <a:off x="3838575" y="5604085"/>
            <a:ext cx="1431453" cy="186689"/>
          </a:xfrm>
          <a:prstGeom prst="rect">
            <a:avLst/>
          </a:prstGeom>
          <a:noFill/>
        </p:spPr>
        <p:txBody>
          <a:bodyPr wrap="none" lIns="0" tIns="0" rIns="0" bIns="0">
            <a:spAutoFit/>
          </a:bodyPr>
          <a:lstStyle/>
          <a:p>
            <a:r>
              <a:rPr sz="1100" b="0">
                <a:solidFill>
                  <a:srgbClr val="2E2E2E"/>
                </a:solidFill>
                <a:latin typeface="Calibri"/>
              </a:rPr>
              <a:t>● Botanical Ingredients:</a:t>
            </a:r>
          </a:p>
        </p:txBody>
      </p:sp>
      <p:pic>
        <p:nvPicPr>
          <p:cNvPr id="144" name="Picture 143" descr="lock.png"/>
          <p:cNvPicPr>
            <a:picLocks noChangeAspect="1"/>
          </p:cNvPicPr>
          <p:nvPr/>
        </p:nvPicPr>
        <p:blipFill>
          <a:blip r:embed="rId21"/>
          <a:stretch>
            <a:fillRect/>
          </a:stretch>
        </p:blipFill>
        <p:spPr>
          <a:xfrm>
            <a:off x="5218080" y="5594305"/>
            <a:ext cx="128699" cy="187198"/>
          </a:xfrm>
          <a:prstGeom prst="rect">
            <a:avLst/>
          </a:prstGeom>
        </p:spPr>
      </p:pic>
      <p:sp>
        <p:nvSpPr>
          <p:cNvPr id="145" name="TextBox 144"/>
          <p:cNvSpPr txBox="1"/>
          <p:nvPr/>
        </p:nvSpPr>
        <p:spPr>
          <a:xfrm>
            <a:off x="5385576" y="5604085"/>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1"/>
          <a:stretch>
            <a:fillRect/>
          </a:stretch>
        </p:blipFill>
        <p:spPr>
          <a:xfrm>
            <a:off x="6245026" y="5594305"/>
            <a:ext cx="128699" cy="187198"/>
          </a:xfrm>
          <a:prstGeom prst="rect">
            <a:avLst/>
          </a:prstGeom>
        </p:spPr>
      </p:pic>
      <p:sp>
        <p:nvSpPr>
          <p:cNvPr id="147" name="TextBox 146"/>
          <p:cNvSpPr txBox="1"/>
          <p:nvPr/>
        </p:nvSpPr>
        <p:spPr>
          <a:xfrm>
            <a:off x="6412522" y="5604085"/>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8" name="TextBox 147"/>
          <p:cNvSpPr txBox="1"/>
          <p:nvPr/>
        </p:nvSpPr>
        <p:spPr>
          <a:xfrm>
            <a:off x="3838575" y="5822017"/>
            <a:ext cx="1726951" cy="186689"/>
          </a:xfrm>
          <a:prstGeom prst="rect">
            <a:avLst/>
          </a:prstGeom>
          <a:noFill/>
        </p:spPr>
        <p:txBody>
          <a:bodyPr wrap="none" lIns="0" tIns="0" rIns="0" bIns="0">
            <a:spAutoFit/>
          </a:bodyPr>
          <a:lstStyle/>
          <a:p>
            <a:r>
              <a:rPr sz="1100" b="0">
                <a:solidFill>
                  <a:srgbClr val="2E2E2E"/>
                </a:solidFill>
                <a:latin typeface="Calibri"/>
              </a:rPr>
              <a:t>● Neurofunctional Nutrients:</a:t>
            </a:r>
          </a:p>
        </p:txBody>
      </p:sp>
      <p:pic>
        <p:nvPicPr>
          <p:cNvPr id="149" name="Picture 148" descr="lock.png"/>
          <p:cNvPicPr>
            <a:picLocks noChangeAspect="1"/>
          </p:cNvPicPr>
          <p:nvPr/>
        </p:nvPicPr>
        <p:blipFill>
          <a:blip r:embed="rId21"/>
          <a:stretch>
            <a:fillRect/>
          </a:stretch>
        </p:blipFill>
        <p:spPr>
          <a:xfrm>
            <a:off x="5513578" y="5812237"/>
            <a:ext cx="128699" cy="187198"/>
          </a:xfrm>
          <a:prstGeom prst="rect">
            <a:avLst/>
          </a:prstGeom>
        </p:spPr>
      </p:pic>
      <p:sp>
        <p:nvSpPr>
          <p:cNvPr id="150" name="TextBox 149"/>
          <p:cNvSpPr txBox="1"/>
          <p:nvPr/>
        </p:nvSpPr>
        <p:spPr>
          <a:xfrm>
            <a:off x="5681074" y="582201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51" name="Picture 150" descr="lock.png"/>
          <p:cNvPicPr>
            <a:picLocks noChangeAspect="1"/>
          </p:cNvPicPr>
          <p:nvPr/>
        </p:nvPicPr>
        <p:blipFill>
          <a:blip r:embed="rId21"/>
          <a:stretch>
            <a:fillRect/>
          </a:stretch>
        </p:blipFill>
        <p:spPr>
          <a:xfrm>
            <a:off x="6540524" y="5812237"/>
            <a:ext cx="128699" cy="187198"/>
          </a:xfrm>
          <a:prstGeom prst="rect">
            <a:avLst/>
          </a:prstGeom>
        </p:spPr>
      </p:pic>
      <p:sp>
        <p:nvSpPr>
          <p:cNvPr id="152" name="TextBox 151"/>
          <p:cNvSpPr txBox="1"/>
          <p:nvPr/>
        </p:nvSpPr>
        <p:spPr>
          <a:xfrm>
            <a:off x="6708020" y="5822017"/>
            <a:ext cx="885733" cy="186689"/>
          </a:xfrm>
          <a:prstGeom prst="rect">
            <a:avLst/>
          </a:prstGeom>
          <a:noFill/>
        </p:spPr>
        <p:txBody>
          <a:bodyPr wrap="none" lIns="0" tIns="0" rIns="0" bIns="0">
            <a:spAutoFit/>
          </a:bodyPr>
          <a:lstStyle/>
          <a:p>
            <a:r>
              <a:rPr sz="1100" b="0">
                <a:solidFill>
                  <a:srgbClr val="2E2E2E"/>
                </a:solidFill>
                <a:latin typeface="Calibri"/>
              </a:rPr>
              <a:t>CAGR serves a</a:t>
            </a:r>
          </a:p>
        </p:txBody>
      </p:sp>
      <p:sp>
        <p:nvSpPr>
          <p:cNvPr id="153" name="TextBox 152"/>
          <p:cNvSpPr txBox="1"/>
          <p:nvPr/>
        </p:nvSpPr>
        <p:spPr>
          <a:xfrm>
            <a:off x="3838575" y="5989657"/>
            <a:ext cx="419174" cy="186689"/>
          </a:xfrm>
          <a:prstGeom prst="rect">
            <a:avLst/>
          </a:prstGeom>
          <a:noFill/>
        </p:spPr>
        <p:txBody>
          <a:bodyPr wrap="none" lIns="0" tIns="0" rIns="0" bIns="0">
            <a:spAutoFit/>
          </a:bodyPr>
          <a:lstStyle/>
          <a:p>
            <a:r>
              <a:rPr sz="1100" b="0">
                <a:solidFill>
                  <a:srgbClr val="2E2E2E"/>
                </a:solidFill>
                <a:latin typeface="Calibri"/>
              </a:rPr>
              <a:t>niche.</a:t>
            </a:r>
          </a:p>
        </p:txBody>
      </p:sp>
      <p:sp>
        <p:nvSpPr>
          <p:cNvPr id="154" name="TextBox 153"/>
          <p:cNvSpPr txBox="1"/>
          <p:nvPr/>
        </p:nvSpPr>
        <p:spPr>
          <a:xfrm>
            <a:off x="8524875" y="5842641"/>
            <a:ext cx="3162300" cy="194310"/>
          </a:xfrm>
          <a:prstGeom prst="rect">
            <a:avLst/>
          </a:prstGeom>
          <a:noFill/>
        </p:spPr>
        <p:txBody>
          <a:bodyPr wrap="none" lIns="0" tIns="0" rIns="0" bIns="0">
            <a:spAutoFit/>
          </a:bodyPr>
          <a:lstStyle/>
          <a:p>
            <a:r>
              <a:rPr sz="1150" b="1">
                <a:solidFill>
                  <a:srgbClr val="0B2E4A"/>
                </a:solidFill>
                <a:latin typeface="Calibri"/>
              </a:rPr>
              <a:t>The Active Ingredient segment is projected to grow</a:t>
            </a:r>
          </a:p>
        </p:txBody>
      </p:sp>
      <p:sp>
        <p:nvSpPr>
          <p:cNvPr id="155" name="TextBox 154"/>
          <p:cNvSpPr txBox="1"/>
          <p:nvPr/>
        </p:nvSpPr>
        <p:spPr>
          <a:xfrm>
            <a:off x="8524875" y="6017901"/>
            <a:ext cx="836089" cy="194310"/>
          </a:xfrm>
          <a:prstGeom prst="rect">
            <a:avLst/>
          </a:prstGeom>
          <a:noFill/>
        </p:spPr>
        <p:txBody>
          <a:bodyPr wrap="none" lIns="0" tIns="0" rIns="0" bIns="0">
            <a:spAutoFit/>
          </a:bodyPr>
          <a:lstStyle/>
          <a:p>
            <a:r>
              <a:rPr sz="1150" b="1">
                <a:solidFill>
                  <a:srgbClr val="0B2E4A"/>
                </a:solidFill>
                <a:latin typeface="Calibri"/>
              </a:rPr>
              <a:t>at a CAGR of</a:t>
            </a:r>
          </a:p>
        </p:txBody>
      </p:sp>
      <p:pic>
        <p:nvPicPr>
          <p:cNvPr id="156" name="Picture 155" descr="lock.png"/>
          <p:cNvPicPr>
            <a:picLocks noChangeAspect="1"/>
          </p:cNvPicPr>
          <p:nvPr/>
        </p:nvPicPr>
        <p:blipFill>
          <a:blip r:embed="rId21"/>
          <a:stretch>
            <a:fillRect/>
          </a:stretch>
        </p:blipFill>
        <p:spPr>
          <a:xfrm>
            <a:off x="9310118" y="6007677"/>
            <a:ext cx="134549" cy="195707"/>
          </a:xfrm>
          <a:prstGeom prst="rect">
            <a:avLst/>
          </a:prstGeom>
        </p:spPr>
      </p:pic>
      <p:sp>
        <p:nvSpPr>
          <p:cNvPr id="157" name="TextBox 156"/>
          <p:cNvSpPr txBox="1"/>
          <p:nvPr/>
        </p:nvSpPr>
        <p:spPr>
          <a:xfrm>
            <a:off x="9485227"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Structure &amp; Attractiveness, By Active Ingredient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Active Ingredient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Active Ingredient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Active Ingredient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tIns="0" rIns="0" bIns="0">
            <a:spAutoFit/>
          </a:bodyPr>
          <a:lstStyle/>
          <a:p>
            <a:r>
              <a:rPr sz="1100" b="0">
                <a:solidFill>
                  <a:srgbClr val="2E2E2E"/>
                </a:solidFill>
                <a:latin typeface="Calibri"/>
              </a:rPr>
              <a:t>Antioxidant ingredients followed by cellular energy support ingredients are expected to be the two most attractive active ingredient segments in the global senior dog cognitive supplement market in terms</a:t>
            </a:r>
          </a:p>
        </p:txBody>
      </p:sp>
      <p:sp>
        <p:nvSpPr>
          <p:cNvPr id="20" name="TextBox 19"/>
          <p:cNvSpPr txBox="1"/>
          <p:nvPr/>
        </p:nvSpPr>
        <p:spPr>
          <a:xfrm>
            <a:off x="257175" y="5861685"/>
            <a:ext cx="6951496" cy="186689"/>
          </a:xfrm>
          <a:prstGeom prst="rect">
            <a:avLst/>
          </a:prstGeom>
          <a:noFill/>
        </p:spPr>
        <p:txBody>
          <a:bodyPr wrap="none" lIns="0" tIns="0" rIns="0" bIns="0">
            <a:spAutoFit/>
          </a:bodyPr>
          <a:lstStyle/>
          <a:p>
            <a:r>
              <a:rPr sz="1100" b="0">
                <a:solidFill>
                  <a:srgbClr val="2E2E2E"/>
                </a:solidFill>
                <a:latin typeface="Calibri"/>
              </a:rPr>
              <a:t>of value over the forecast period. Antioxidant ingredients and cellular energy support ingredients exhibit a CAGR index of</a:t>
            </a:r>
          </a:p>
        </p:txBody>
      </p:sp>
      <p:pic>
        <p:nvPicPr>
          <p:cNvPr id="21" name="Picture 20" descr="lock.png"/>
          <p:cNvPicPr>
            <a:picLocks noChangeAspect="1"/>
          </p:cNvPicPr>
          <p:nvPr/>
        </p:nvPicPr>
        <p:blipFill>
          <a:blip r:embed="rId6"/>
          <a:stretch>
            <a:fillRect/>
          </a:stretch>
        </p:blipFill>
        <p:spPr>
          <a:xfrm>
            <a:off x="7156723" y="5851905"/>
            <a:ext cx="128699" cy="187198"/>
          </a:xfrm>
          <a:prstGeom prst="rect">
            <a:avLst/>
          </a:prstGeom>
        </p:spPr>
      </p:pic>
      <p:sp>
        <p:nvSpPr>
          <p:cNvPr id="22" name="TextBox 21"/>
          <p:cNvSpPr txBox="1"/>
          <p:nvPr/>
        </p:nvSpPr>
        <p:spPr>
          <a:xfrm>
            <a:off x="7324219"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562113" y="5851905"/>
            <a:ext cx="128699" cy="187198"/>
          </a:xfrm>
          <a:prstGeom prst="rect">
            <a:avLst/>
          </a:prstGeom>
        </p:spPr>
      </p:pic>
      <p:sp>
        <p:nvSpPr>
          <p:cNvPr id="24" name="TextBox 23"/>
          <p:cNvSpPr txBox="1"/>
          <p:nvPr/>
        </p:nvSpPr>
        <p:spPr>
          <a:xfrm>
            <a:off x="7729609" y="5861685"/>
            <a:ext cx="1660921" cy="186689"/>
          </a:xfrm>
          <a:prstGeom prst="rect">
            <a:avLst/>
          </a:prstGeom>
          <a:noFill/>
        </p:spPr>
        <p:txBody>
          <a:bodyPr wrap="none" lIns="0" tIns="0" r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338582" y="5851905"/>
            <a:ext cx="128699" cy="187198"/>
          </a:xfrm>
          <a:prstGeom prst="rect">
            <a:avLst/>
          </a:prstGeom>
        </p:spPr>
      </p:pic>
      <p:sp>
        <p:nvSpPr>
          <p:cNvPr id="26" name="TextBox 25"/>
          <p:cNvSpPr txBox="1"/>
          <p:nvPr/>
        </p:nvSpPr>
        <p:spPr>
          <a:xfrm>
            <a:off x="9506078"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743972" y="5851905"/>
            <a:ext cx="128699" cy="187198"/>
          </a:xfrm>
          <a:prstGeom prst="rect">
            <a:avLst/>
          </a:prstGeom>
        </p:spPr>
      </p:pic>
      <p:sp>
        <p:nvSpPr>
          <p:cNvPr id="28" name="TextBox 27"/>
          <p:cNvSpPr txBox="1"/>
          <p:nvPr/>
        </p:nvSpPr>
        <p:spPr>
          <a:xfrm>
            <a:off x="9911468" y="5861685"/>
            <a:ext cx="1453281" cy="186689"/>
          </a:xfrm>
          <a:prstGeom prst="rect">
            <a:avLst/>
          </a:prstGeom>
          <a:noFill/>
        </p:spPr>
        <p:txBody>
          <a:bodyPr wrap="none" lIns="0" tIns="0" rIns="0" bIns="0">
            <a:spAutoFit/>
          </a:bodyPr>
          <a:lstStyle/>
          <a:p>
            <a:r>
              <a:rPr sz="1100" b="0">
                <a:solidFill>
                  <a:srgbClr val="2E2E2E"/>
                </a:solidFill>
                <a:latin typeface="Calibri"/>
              </a:rPr>
              <a:t>respectively, against the</a:t>
            </a:r>
          </a:p>
        </p:txBody>
      </p:sp>
      <p:sp>
        <p:nvSpPr>
          <p:cNvPr id="29" name="TextBox 28"/>
          <p:cNvSpPr txBox="1"/>
          <p:nvPr/>
        </p:nvSpPr>
        <p:spPr>
          <a:xfrm>
            <a:off x="257175" y="6029325"/>
            <a:ext cx="1197619" cy="186689"/>
          </a:xfrm>
          <a:prstGeom prst="rect">
            <a:avLst/>
          </a:prstGeom>
          <a:noFill/>
        </p:spPr>
        <p:txBody>
          <a:bodyPr wrap="none" lIns="0" tIns="0" rIns="0" bIns="0">
            <a:spAutoFit/>
          </a:bodyPr>
          <a:lstStyle/>
          <a:p>
            <a:r>
              <a:rPr sz="1100" b="0">
                <a:solidFill>
                  <a:srgbClr val="2E2E2E"/>
                </a:solidFill>
                <a:latin typeface="Calibri"/>
              </a:rPr>
              <a:t>segment average of</a:t>
            </a:r>
          </a:p>
        </p:txBody>
      </p:sp>
      <p:pic>
        <p:nvPicPr>
          <p:cNvPr id="30" name="Picture 29" descr="lock.png"/>
          <p:cNvPicPr>
            <a:picLocks noChangeAspect="1"/>
          </p:cNvPicPr>
          <p:nvPr/>
        </p:nvPicPr>
        <p:blipFill>
          <a:blip r:embed="rId6"/>
          <a:stretch>
            <a:fillRect/>
          </a:stretch>
        </p:blipFill>
        <p:spPr>
          <a:xfrm>
            <a:off x="1402846" y="6019545"/>
            <a:ext cx="128699" cy="187198"/>
          </a:xfrm>
          <a:prstGeom prst="rect">
            <a:avLst/>
          </a:prstGeom>
        </p:spPr>
      </p:pic>
      <p:sp>
        <p:nvSpPr>
          <p:cNvPr id="31" name="TextBox 30"/>
          <p:cNvSpPr txBox="1"/>
          <p:nvPr/>
        </p:nvSpPr>
        <p:spPr>
          <a:xfrm>
            <a:off x="1570342" y="6029325"/>
            <a:ext cx="9829807" cy="186689"/>
          </a:xfrm>
          <a:prstGeom prst="rect">
            <a:avLst/>
          </a:prstGeom>
          <a:noFill/>
        </p:spPr>
        <p:txBody>
          <a:bodyPr wrap="none" lIns="0" tIns="0" rIns="0" bIns="0">
            <a:spAutoFit/>
          </a:bodyPr>
          <a:lstStyle/>
          <a:p>
            <a:r>
              <a:rPr sz="1100" b="0">
                <a:solidFill>
                  <a:srgbClr val="2E2E2E"/>
                </a:solidFill>
                <a:latin typeface="Calibri"/>
              </a:rPr>
              <a:t>. The neurofunctional nutrients segment is expected to be less attractive as compared to other segments over the forecast period, owing to its lower CAGR and incremental</a:t>
            </a:r>
          </a:p>
        </p:txBody>
      </p:sp>
      <p:sp>
        <p:nvSpPr>
          <p:cNvPr id="32" name="TextBox 31"/>
          <p:cNvSpPr txBox="1"/>
          <p:nvPr/>
        </p:nvSpPr>
        <p:spPr>
          <a:xfrm>
            <a:off x="257175" y="6196965"/>
            <a:ext cx="5122845" cy="186689"/>
          </a:xfrm>
          <a:prstGeom prst="rect">
            <a:avLst/>
          </a:prstGeom>
          <a:noFill/>
        </p:spPr>
        <p:txBody>
          <a:bodyPr wrap="none" lIns="0" tIns="0" rIns="0" bIns="0">
            <a:spAutoFit/>
          </a:bodyPr>
          <a:lstStyle/>
          <a:p>
            <a:r>
              <a:rPr sz="1100" b="0">
                <a:solidFill>
                  <a:srgbClr val="2E2E2E"/>
                </a:solidFill>
                <a:latin typeface="Calibri"/>
              </a:rPr>
              <a:t>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Analysis, By Active Ingredient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Active Ingredient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Omega-3 Fatty Acids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Antioxidant Ingredients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Neurofunctional Nutrients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Cellular Energy Support Ingredients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Analysis, By Active Ingredient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Active Ingredient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Botanical Ingredients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Microbiome-Targeted Ingredients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066800"/>
            <a:ext cx="5610225" cy="407620"/>
          </a:xfrm>
          <a:prstGeom prst="rect">
            <a:avLst/>
          </a:prstGeom>
          <a:noFill/>
        </p:spPr>
        <p:txBody>
          <a:bodyPr wrap="square" lIns="0" tIns="9525" rIns="19050" bIns="9525">
            <a:spAutoFit/>
          </a:bodyPr>
          <a:lstStyle/>
          <a:p>
            <a:pPr algn="l"/>
            <a:r>
              <a:rPr sz="1300" b="1">
                <a:solidFill>
                  <a:srgbClr val="0B2E4A"/>
                </a:solidFill>
                <a:latin typeface="Calibri"/>
              </a:rPr>
              <a:t>Summary of Global Absolute $ Opportunity Analysis, By Active Ingredient</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5550" y="1588720"/>
            <a:ext cx="5610225" cy="496448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0" name="TextBox 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4878997" cy="194310"/>
          </a:xfrm>
          <a:prstGeom prst="rect">
            <a:avLst/>
          </a:prstGeom>
          <a:noFill/>
        </p:spPr>
        <p:txBody>
          <a:bodyPr wrap="none" lIns="0" tIns="0" rIns="0" bIns="0">
            <a:spAutoFit/>
          </a:bodyPr>
          <a:lstStyle/>
          <a:p>
            <a:r>
              <a:rPr sz="1150" b="0">
                <a:solidFill>
                  <a:srgbClr val="2E2E2E"/>
                </a:solidFill>
                <a:latin typeface="Calibri"/>
              </a:rPr>
              <a:t>By 2036, antioxidant ingredients segment is anticipated to witness an increase of</a:t>
            </a:r>
          </a:p>
        </p:txBody>
      </p:sp>
      <p:pic>
        <p:nvPicPr>
          <p:cNvPr id="24" name="Picture 23" descr="lock.png"/>
          <p:cNvPicPr>
            <a:picLocks noChangeAspect="1"/>
          </p:cNvPicPr>
          <p:nvPr/>
        </p:nvPicPr>
        <p:blipFill>
          <a:blip r:embed="rId6"/>
          <a:stretch>
            <a:fillRect/>
          </a:stretch>
        </p:blipFill>
        <p:spPr>
          <a:xfrm>
            <a:off x="11133701" y="1588021"/>
            <a:ext cx="134549" cy="195707"/>
          </a:xfrm>
          <a:prstGeom prst="rect">
            <a:avLst/>
          </a:prstGeom>
        </p:spPr>
      </p:pic>
      <p:sp>
        <p:nvSpPr>
          <p:cNvPr id="25" name="TextBox 24"/>
          <p:cNvSpPr txBox="1"/>
          <p:nvPr/>
        </p:nvSpPr>
        <p:spPr>
          <a:xfrm>
            <a:off x="11308810" y="1598245"/>
            <a:ext cx="295560" cy="194310"/>
          </a:xfrm>
          <a:prstGeom prst="rect">
            <a:avLst/>
          </a:prstGeom>
          <a:noFill/>
        </p:spPr>
        <p:txBody>
          <a:bodyPr wrap="none" lIns="0" tIns="0" rIns="0" bIns="0">
            <a:spAutoFit/>
          </a:bodyPr>
          <a:lstStyle/>
          <a:p>
            <a:r>
              <a:rPr sz="1150" b="0">
                <a:solidFill>
                  <a:srgbClr val="2E2E2E"/>
                </a:solidFill>
                <a:latin typeface="Calibri"/>
              </a:rPr>
              <a:t>X in</a:t>
            </a:r>
          </a:p>
        </p:txBody>
      </p:sp>
      <p:sp>
        <p:nvSpPr>
          <p:cNvPr id="26" name="TextBox 25"/>
          <p:cNvSpPr txBox="1"/>
          <p:nvPr/>
        </p:nvSpPr>
        <p:spPr>
          <a:xfrm>
            <a:off x="6305550" y="1773505"/>
            <a:ext cx="5324586" cy="194310"/>
          </a:xfrm>
          <a:prstGeom prst="rect">
            <a:avLst/>
          </a:prstGeom>
          <a:noFill/>
        </p:spPr>
        <p:txBody>
          <a:bodyPr wrap="none" lIns="0" tIns="0" rIns="0" bIns="0">
            <a:spAutoFit/>
          </a:bodyPr>
          <a:lstStyle/>
          <a:p>
            <a:r>
              <a:rPr sz="1150" b="0">
                <a:solidFill>
                  <a:srgbClr val="2E2E2E"/>
                </a:solidFill>
                <a:latin typeface="Calibri"/>
              </a:rPr>
              <a:t>terms of value as compared to 2026. The antioxidant ingredients segment is expected to</a:t>
            </a:r>
          </a:p>
        </p:txBody>
      </p:sp>
      <p:sp>
        <p:nvSpPr>
          <p:cNvPr id="27" name="TextBox 26"/>
          <p:cNvSpPr txBox="1"/>
          <p:nvPr/>
        </p:nvSpPr>
        <p:spPr>
          <a:xfrm>
            <a:off x="6305550" y="1948765"/>
            <a:ext cx="2547069" cy="194310"/>
          </a:xfrm>
          <a:prstGeom prst="rect">
            <a:avLst/>
          </a:prstGeom>
          <a:noFill/>
        </p:spPr>
        <p:txBody>
          <a:bodyPr wrap="none" lIns="0" tIns="0" rIns="0" bIns="0">
            <a:spAutoFit/>
          </a:bodyPr>
          <a:lstStyle/>
          <a:p>
            <a:r>
              <a:rPr sz="1150" b="0">
                <a:solidFill>
                  <a:srgbClr val="2E2E2E"/>
                </a:solidFill>
                <a:latin typeface="Calibri"/>
              </a:rPr>
              <a:t>create an incremental opportunity of US$</a:t>
            </a:r>
          </a:p>
        </p:txBody>
      </p:sp>
      <p:pic>
        <p:nvPicPr>
          <p:cNvPr id="28" name="Picture 27" descr="lock.png"/>
          <p:cNvPicPr>
            <a:picLocks noChangeAspect="1"/>
          </p:cNvPicPr>
          <p:nvPr/>
        </p:nvPicPr>
        <p:blipFill>
          <a:blip r:embed="rId6"/>
          <a:stretch>
            <a:fillRect/>
          </a:stretch>
        </p:blipFill>
        <p:spPr>
          <a:xfrm>
            <a:off x="8801773" y="1938541"/>
            <a:ext cx="134549" cy="195707"/>
          </a:xfrm>
          <a:prstGeom prst="rect">
            <a:avLst/>
          </a:prstGeom>
        </p:spPr>
      </p:pic>
      <p:sp>
        <p:nvSpPr>
          <p:cNvPr id="29" name="TextBox 28"/>
          <p:cNvSpPr txBox="1"/>
          <p:nvPr/>
        </p:nvSpPr>
        <p:spPr>
          <a:xfrm>
            <a:off x="8976882" y="1948765"/>
            <a:ext cx="2381622" cy="194310"/>
          </a:xfrm>
          <a:prstGeom prst="rect">
            <a:avLst/>
          </a:prstGeom>
          <a:noFill/>
        </p:spPr>
        <p:txBody>
          <a:bodyPr wrap="none" lIns="0" tIns="0" rIns="0" bIns="0">
            <a:spAutoFit/>
          </a:bodyPr>
          <a:lstStyle/>
          <a:p>
            <a:r>
              <a:rPr sz="1150" b="0">
                <a:solidFill>
                  <a:srgbClr val="2E2E2E"/>
                </a:solidFill>
                <a:latin typeface="Calibri"/>
              </a:rPr>
              <a:t>Mn for the overall senior dog cognitive</a:t>
            </a:r>
          </a:p>
        </p:txBody>
      </p:sp>
      <p:sp>
        <p:nvSpPr>
          <p:cNvPr id="30" name="TextBox 29"/>
          <p:cNvSpPr txBox="1"/>
          <p:nvPr/>
        </p:nvSpPr>
        <p:spPr>
          <a:xfrm>
            <a:off x="6305550" y="2124025"/>
            <a:ext cx="2421842" cy="194310"/>
          </a:xfrm>
          <a:prstGeom prst="rect">
            <a:avLst/>
          </a:prstGeom>
          <a:noFill/>
        </p:spPr>
        <p:txBody>
          <a:bodyPr wrap="none" lIns="0" tIns="0" rIns="0" bIns="0">
            <a:spAutoFit/>
          </a:bodyPr>
          <a:lstStyle/>
          <a:p>
            <a:r>
              <a:rPr sz="1150" b="0">
                <a:solidFill>
                  <a:srgbClr val="2E2E2E"/>
                </a:solidFill>
                <a:latin typeface="Calibri"/>
              </a:rPr>
              <a:t>supplement market from 2026 to 2036.</a:t>
            </a:r>
          </a:p>
        </p:txBody>
      </p:sp>
      <p:sp>
        <p:nvSpPr>
          <p:cNvPr id="31" name="TextBox 30"/>
          <p:cNvSpPr txBox="1"/>
          <p:nvPr/>
        </p:nvSpPr>
        <p:spPr>
          <a:xfrm>
            <a:off x="6305550" y="2351863"/>
            <a:ext cx="5151152" cy="194310"/>
          </a:xfrm>
          <a:prstGeom prst="rect">
            <a:avLst/>
          </a:prstGeom>
          <a:noFill/>
        </p:spPr>
        <p:txBody>
          <a:bodyPr wrap="none" lIns="0" tIns="0" rIns="0" bIns="0">
            <a:spAutoFit/>
          </a:bodyPr>
          <a:lstStyle/>
          <a:p>
            <a:r>
              <a:rPr sz="1150" b="0">
                <a:solidFill>
                  <a:srgbClr val="2E2E2E"/>
                </a:solidFill>
                <a:latin typeface="Calibri"/>
              </a:rPr>
              <a:t>The cellular energy support ingredients segment is expected to create an incremental</a:t>
            </a:r>
          </a:p>
        </p:txBody>
      </p:sp>
      <p:sp>
        <p:nvSpPr>
          <p:cNvPr id="32" name="TextBox 31"/>
          <p:cNvSpPr txBox="1"/>
          <p:nvPr/>
        </p:nvSpPr>
        <p:spPr>
          <a:xfrm>
            <a:off x="6305550" y="2527123"/>
            <a:ext cx="1208943" cy="194310"/>
          </a:xfrm>
          <a:prstGeom prst="rect">
            <a:avLst/>
          </a:prstGeom>
          <a:noFill/>
        </p:spPr>
        <p:txBody>
          <a:bodyPr wrap="none" lIns="0" tIns="0" rIns="0" bIns="0">
            <a:spAutoFit/>
          </a:bodyPr>
          <a:lstStyle/>
          <a:p>
            <a:r>
              <a:rPr sz="1150" b="0">
                <a:solidFill>
                  <a:srgbClr val="2E2E2E"/>
                </a:solidFill>
                <a:latin typeface="Calibri"/>
              </a:rPr>
              <a:t>opportunity of US$</a:t>
            </a:r>
          </a:p>
        </p:txBody>
      </p:sp>
      <p:pic>
        <p:nvPicPr>
          <p:cNvPr id="33" name="Picture 32" descr="lock.png"/>
          <p:cNvPicPr>
            <a:picLocks noChangeAspect="1"/>
          </p:cNvPicPr>
          <p:nvPr/>
        </p:nvPicPr>
        <p:blipFill>
          <a:blip r:embed="rId6"/>
          <a:stretch>
            <a:fillRect/>
          </a:stretch>
        </p:blipFill>
        <p:spPr>
          <a:xfrm>
            <a:off x="7463647" y="2516899"/>
            <a:ext cx="134549" cy="195707"/>
          </a:xfrm>
          <a:prstGeom prst="rect">
            <a:avLst/>
          </a:prstGeom>
        </p:spPr>
      </p:pic>
      <p:sp>
        <p:nvSpPr>
          <p:cNvPr id="34" name="TextBox 33"/>
          <p:cNvSpPr txBox="1"/>
          <p:nvPr/>
        </p:nvSpPr>
        <p:spPr>
          <a:xfrm>
            <a:off x="7638756" y="2527123"/>
            <a:ext cx="4234631"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 market from 2026</a:t>
            </a:r>
          </a:p>
        </p:txBody>
      </p:sp>
      <p:sp>
        <p:nvSpPr>
          <p:cNvPr id="35" name="TextBox 34"/>
          <p:cNvSpPr txBox="1"/>
          <p:nvPr/>
        </p:nvSpPr>
        <p:spPr>
          <a:xfrm>
            <a:off x="6305550" y="2702383"/>
            <a:ext cx="5533677" cy="194310"/>
          </a:xfrm>
          <a:prstGeom prst="rect">
            <a:avLst/>
          </a:prstGeom>
          <a:noFill/>
        </p:spPr>
        <p:txBody>
          <a:bodyPr wrap="none" lIns="0" tIns="0" rIns="0" bIns="0">
            <a:spAutoFit/>
          </a:bodyPr>
          <a:lstStyle/>
          <a:p>
            <a:r>
              <a:rPr sz="1150" b="0">
                <a:solidFill>
                  <a:srgbClr val="2E2E2E"/>
                </a:solidFill>
                <a:latin typeface="Calibri"/>
              </a:rPr>
              <a:t>to 2036. The Omega-3 fatty acids segment is expected to create an incremental opportunity</a:t>
            </a:r>
          </a:p>
        </p:txBody>
      </p:sp>
      <p:sp>
        <p:nvSpPr>
          <p:cNvPr id="36" name="TextBox 35"/>
          <p:cNvSpPr txBox="1"/>
          <p:nvPr/>
        </p:nvSpPr>
        <p:spPr>
          <a:xfrm>
            <a:off x="6305550" y="2877643"/>
            <a:ext cx="465856" cy="194310"/>
          </a:xfrm>
          <a:prstGeom prst="rect">
            <a:avLst/>
          </a:prstGeom>
          <a:noFill/>
        </p:spPr>
        <p:txBody>
          <a:bodyPr wrap="none" lIns="0" tIns="0" rIns="0" bIns="0">
            <a:spAutoFit/>
          </a:bodyPr>
          <a:lstStyle/>
          <a:p>
            <a:r>
              <a:rPr sz="1150" b="0">
                <a:solidFill>
                  <a:srgbClr val="2E2E2E"/>
                </a:solidFill>
                <a:latin typeface="Calibri"/>
              </a:rPr>
              <a:t>of US$</a:t>
            </a:r>
          </a:p>
        </p:txBody>
      </p:sp>
      <p:pic>
        <p:nvPicPr>
          <p:cNvPr id="37" name="Picture 36" descr="lock.png"/>
          <p:cNvPicPr>
            <a:picLocks noChangeAspect="1"/>
          </p:cNvPicPr>
          <p:nvPr/>
        </p:nvPicPr>
        <p:blipFill>
          <a:blip r:embed="rId6"/>
          <a:stretch>
            <a:fillRect/>
          </a:stretch>
        </p:blipFill>
        <p:spPr>
          <a:xfrm>
            <a:off x="6720560" y="2867419"/>
            <a:ext cx="134549" cy="195707"/>
          </a:xfrm>
          <a:prstGeom prst="rect">
            <a:avLst/>
          </a:prstGeom>
        </p:spPr>
      </p:pic>
      <p:sp>
        <p:nvSpPr>
          <p:cNvPr id="38" name="TextBox 37"/>
          <p:cNvSpPr txBox="1"/>
          <p:nvPr/>
        </p:nvSpPr>
        <p:spPr>
          <a:xfrm>
            <a:off x="6895670" y="2877643"/>
            <a:ext cx="4760354"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 market from 2026 to 2036.</a:t>
            </a:r>
          </a:p>
        </p:txBody>
      </p:sp>
      <p:sp>
        <p:nvSpPr>
          <p:cNvPr id="39"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Analysis, By Active Ingredient (US$ Mn)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Active Ingredient, 2021–2036, highlighting the sub-segments driving growth</a:t>
            </a:r>
          </a:p>
        </p:txBody>
      </p:sp>
      <p:sp>
        <p:nvSpPr>
          <p:cNvPr id="10" name="Rounded Rectangle 9"/>
          <p:cNvSpPr/>
          <p:nvPr/>
        </p:nvSpPr>
        <p:spPr>
          <a:xfrm>
            <a:off x="142875" y="981075"/>
            <a:ext cx="11906250" cy="5638800"/>
          </a:xfrm>
          <a:prstGeom prst="roundRect">
            <a:avLst>
              <a:gd name="adj" fmla="val 13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By Active Ingredient (US$ Mn)</a:t>
            </a:r>
          </a:p>
        </p:txBody>
      </p:sp>
      <p:graphicFrame>
        <p:nvGraphicFramePr>
          <p:cNvPr id="12" name="Table 11"/>
          <p:cNvGraphicFramePr>
            <a:graphicFrameLocks noGrp="1"/>
          </p:cNvGraphicFramePr>
          <p:nvPr/>
        </p:nvGraphicFramePr>
        <p:xfrm>
          <a:off x="152400" y="1238250"/>
          <a:ext cx="11887193" cy="5172066"/>
        </p:xfrm>
        <a:graphic>
          <a:graphicData uri="http://schemas.openxmlformats.org/drawingml/2006/table">
            <a:tbl>
              <a:tblPr>
                <a:tableStyleId>{5C22544A-7EE6-4342-B048-85BDC9FD1C3A}</a:tableStyleId>
              </a:tblPr>
              <a:tblGrid>
                <a:gridCol w="2280255">
                  <a:extLst>
                    <a:ext uri="{9D8B030D-6E8A-4147-A177-3AD203B41FA5}">
                      <a16:colId xmlns:a16="http://schemas.microsoft.com/office/drawing/2014/main" val="20000"/>
                    </a:ext>
                  </a:extLst>
                </a:gridCol>
                <a:gridCol w="565114">
                  <a:extLst>
                    <a:ext uri="{9D8B030D-6E8A-4147-A177-3AD203B41FA5}">
                      <a16:colId xmlns:a16="http://schemas.microsoft.com/office/drawing/2014/main" val="20001"/>
                    </a:ext>
                  </a:extLst>
                </a:gridCol>
                <a:gridCol w="565114">
                  <a:extLst>
                    <a:ext uri="{9D8B030D-6E8A-4147-A177-3AD203B41FA5}">
                      <a16:colId xmlns:a16="http://schemas.microsoft.com/office/drawing/2014/main" val="20002"/>
                    </a:ext>
                  </a:extLst>
                </a:gridCol>
                <a:gridCol w="565114">
                  <a:extLst>
                    <a:ext uri="{9D8B030D-6E8A-4147-A177-3AD203B41FA5}">
                      <a16:colId xmlns:a16="http://schemas.microsoft.com/office/drawing/2014/main" val="20003"/>
                    </a:ext>
                  </a:extLst>
                </a:gridCol>
                <a:gridCol w="565114">
                  <a:extLst>
                    <a:ext uri="{9D8B030D-6E8A-4147-A177-3AD203B41FA5}">
                      <a16:colId xmlns:a16="http://schemas.microsoft.com/office/drawing/2014/main" val="20004"/>
                    </a:ext>
                  </a:extLst>
                </a:gridCol>
                <a:gridCol w="565114">
                  <a:extLst>
                    <a:ext uri="{9D8B030D-6E8A-4147-A177-3AD203B41FA5}">
                      <a16:colId xmlns:a16="http://schemas.microsoft.com/office/drawing/2014/main" val="20005"/>
                    </a:ext>
                  </a:extLst>
                </a:gridCol>
                <a:gridCol w="565114">
                  <a:extLst>
                    <a:ext uri="{9D8B030D-6E8A-4147-A177-3AD203B41FA5}">
                      <a16:colId xmlns:a16="http://schemas.microsoft.com/office/drawing/2014/main" val="20006"/>
                    </a:ext>
                  </a:extLst>
                </a:gridCol>
                <a:gridCol w="565114">
                  <a:extLst>
                    <a:ext uri="{9D8B030D-6E8A-4147-A177-3AD203B41FA5}">
                      <a16:colId xmlns:a16="http://schemas.microsoft.com/office/drawing/2014/main" val="20007"/>
                    </a:ext>
                  </a:extLst>
                </a:gridCol>
                <a:gridCol w="565114">
                  <a:extLst>
                    <a:ext uri="{9D8B030D-6E8A-4147-A177-3AD203B41FA5}">
                      <a16:colId xmlns:a16="http://schemas.microsoft.com/office/drawing/2014/main" val="20008"/>
                    </a:ext>
                  </a:extLst>
                </a:gridCol>
                <a:gridCol w="565114">
                  <a:extLst>
                    <a:ext uri="{9D8B030D-6E8A-4147-A177-3AD203B41FA5}">
                      <a16:colId xmlns:a16="http://schemas.microsoft.com/office/drawing/2014/main" val="20009"/>
                    </a:ext>
                  </a:extLst>
                </a:gridCol>
                <a:gridCol w="565114">
                  <a:extLst>
                    <a:ext uri="{9D8B030D-6E8A-4147-A177-3AD203B41FA5}">
                      <a16:colId xmlns:a16="http://schemas.microsoft.com/office/drawing/2014/main" val="20010"/>
                    </a:ext>
                  </a:extLst>
                </a:gridCol>
                <a:gridCol w="565114">
                  <a:extLst>
                    <a:ext uri="{9D8B030D-6E8A-4147-A177-3AD203B41FA5}">
                      <a16:colId xmlns:a16="http://schemas.microsoft.com/office/drawing/2014/main" val="20011"/>
                    </a:ext>
                  </a:extLst>
                </a:gridCol>
                <a:gridCol w="565114">
                  <a:extLst>
                    <a:ext uri="{9D8B030D-6E8A-4147-A177-3AD203B41FA5}">
                      <a16:colId xmlns:a16="http://schemas.microsoft.com/office/drawing/2014/main" val="20012"/>
                    </a:ext>
                  </a:extLst>
                </a:gridCol>
                <a:gridCol w="565114">
                  <a:extLst>
                    <a:ext uri="{9D8B030D-6E8A-4147-A177-3AD203B41FA5}">
                      <a16:colId xmlns:a16="http://schemas.microsoft.com/office/drawing/2014/main" val="20013"/>
                    </a:ext>
                  </a:extLst>
                </a:gridCol>
                <a:gridCol w="565114">
                  <a:extLst>
                    <a:ext uri="{9D8B030D-6E8A-4147-A177-3AD203B41FA5}">
                      <a16:colId xmlns:a16="http://schemas.microsoft.com/office/drawing/2014/main" val="20014"/>
                    </a:ext>
                  </a:extLst>
                </a:gridCol>
                <a:gridCol w="565114">
                  <a:extLst>
                    <a:ext uri="{9D8B030D-6E8A-4147-A177-3AD203B41FA5}">
                      <a16:colId xmlns:a16="http://schemas.microsoft.com/office/drawing/2014/main" val="20015"/>
                    </a:ext>
                  </a:extLst>
                </a:gridCol>
                <a:gridCol w="565114">
                  <a:extLst>
                    <a:ext uri="{9D8B030D-6E8A-4147-A177-3AD203B41FA5}">
                      <a16:colId xmlns:a16="http://schemas.microsoft.com/office/drawing/2014/main" val="20016"/>
                    </a:ext>
                  </a:extLst>
                </a:gridCol>
                <a:gridCol w="565114">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297">
                <a:tc>
                  <a:txBody>
                    <a:bodyPr/>
                    <a:lstStyle/>
                    <a:p>
                      <a:pPr algn="l"/>
                      <a:r>
                        <a:rPr sz="1100" b="1">
                          <a:solidFill>
                            <a:srgbClr val="2E2E2E"/>
                          </a:solidFill>
                          <a:latin typeface="Calibri"/>
                        </a:rPr>
                        <a:t>Omega-3 Fatty Acids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297">
                <a:tc>
                  <a:txBody>
                    <a:bodyPr/>
                    <a:lstStyle/>
                    <a:p>
                      <a:pPr algn="l"/>
                      <a:r>
                        <a:rPr sz="1100" b="1">
                          <a:solidFill>
                            <a:srgbClr val="2E2E2E"/>
                          </a:solidFill>
                          <a:latin typeface="Calibri"/>
                        </a:rPr>
                        <a:t>– DHA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297">
                <a:tc>
                  <a:txBody>
                    <a:bodyPr/>
                    <a:lstStyle/>
                    <a:p>
                      <a:pPr algn="l"/>
                      <a:r>
                        <a:rPr sz="1100" b="1">
                          <a:solidFill>
                            <a:srgbClr val="2E2E2E"/>
                          </a:solidFill>
                          <a:latin typeface="Calibri"/>
                        </a:rPr>
                        <a:t>– EPA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297">
                <a:tc>
                  <a:txBody>
                    <a:bodyPr/>
                    <a:lstStyle/>
                    <a:p>
                      <a:pPr algn="l"/>
                      <a:r>
                        <a:rPr sz="1100" b="1">
                          <a:solidFill>
                            <a:srgbClr val="2E2E2E"/>
                          </a:solidFill>
                          <a:latin typeface="Calibri"/>
                        </a:rPr>
                        <a:t>– DHA–EPA Combinations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297">
                <a:tc>
                  <a:txBody>
                    <a:bodyPr/>
                    <a:lstStyle/>
                    <a:p>
                      <a:pPr algn="l"/>
                      <a:r>
                        <a:rPr sz="1100" b="1">
                          <a:solidFill>
                            <a:srgbClr val="2E2E2E"/>
                          </a:solidFill>
                          <a:latin typeface="Calibri"/>
                        </a:rPr>
                        <a:t>Antioxidant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297">
                <a:tc>
                  <a:txBody>
                    <a:bodyPr/>
                    <a:lstStyle/>
                    <a:p>
                      <a:pPr algn="l"/>
                      <a:r>
                        <a:rPr sz="1100" b="1">
                          <a:solidFill>
                            <a:srgbClr val="2E2E2E"/>
                          </a:solidFill>
                          <a:latin typeface="Calibri"/>
                        </a:rPr>
                        <a:t>– Vitamin 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297">
                <a:tc>
                  <a:txBody>
                    <a:bodyPr/>
                    <a:lstStyle/>
                    <a:p>
                      <a:pPr algn="l"/>
                      <a:r>
                        <a:rPr sz="1100" b="1">
                          <a:solidFill>
                            <a:srgbClr val="2E2E2E"/>
                          </a:solidFill>
                          <a:latin typeface="Calibri"/>
                        </a:rPr>
                        <a:t>– Vitamin C</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7"/>
                  </a:ext>
                </a:extLst>
              </a:tr>
              <a:tr h="246297">
                <a:tc>
                  <a:txBody>
                    <a:bodyPr/>
                    <a:lstStyle/>
                    <a:p>
                      <a:pPr algn="l"/>
                      <a:r>
                        <a:rPr sz="1100" b="1">
                          <a:solidFill>
                            <a:srgbClr val="2E2E2E"/>
                          </a:solidFill>
                          <a:latin typeface="Calibri"/>
                        </a:rPr>
                        <a:t>– Selenium</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8"/>
                  </a:ext>
                </a:extLst>
              </a:tr>
              <a:tr h="246297">
                <a:tc>
                  <a:txBody>
                    <a:bodyPr/>
                    <a:lstStyle/>
                    <a:p>
                      <a:pPr algn="l"/>
                      <a:r>
                        <a:rPr sz="1100" b="1">
                          <a:solidFill>
                            <a:srgbClr val="2E2E2E"/>
                          </a:solidFill>
                          <a:latin typeface="Calibri"/>
                        </a:rPr>
                        <a:t>– Other Antioxidants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9"/>
                  </a:ext>
                </a:extLst>
              </a:tr>
              <a:tr h="246297">
                <a:tc>
                  <a:txBody>
                    <a:bodyPr/>
                    <a:lstStyle/>
                    <a:p>
                      <a:pPr algn="l"/>
                      <a:r>
                        <a:rPr sz="1100" b="1">
                          <a:solidFill>
                            <a:srgbClr val="2E2E2E"/>
                          </a:solidFill>
                          <a:latin typeface="Calibri"/>
                        </a:rPr>
                        <a:t>Neurofunctional Nutrients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0"/>
                  </a:ext>
                </a:extLst>
              </a:tr>
              <a:tr h="246297">
                <a:tc>
                  <a:txBody>
                    <a:bodyPr/>
                    <a:lstStyle/>
                    <a:p>
                      <a:pPr algn="l"/>
                      <a:r>
                        <a:rPr sz="1100" b="1">
                          <a:solidFill>
                            <a:srgbClr val="2E2E2E"/>
                          </a:solidFill>
                          <a:latin typeface="Calibri"/>
                        </a:rPr>
                        <a:t>– Phosphatidylserine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1"/>
                  </a:ext>
                </a:extLst>
              </a:tr>
              <a:tr h="246297">
                <a:tc>
                  <a:txBody>
                    <a:bodyPr/>
                    <a:lstStyle/>
                    <a:p>
                      <a:pPr algn="l"/>
                      <a:r>
                        <a:rPr sz="1100" b="1">
                          <a:solidFill>
                            <a:srgbClr val="2E2E2E"/>
                          </a:solidFill>
                          <a:latin typeface="Calibri"/>
                        </a:rPr>
                        <a:t>– B Vitamins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2"/>
                  </a:ext>
                </a:extLst>
              </a:tr>
              <a:tr h="246297">
                <a:tc>
                  <a:txBody>
                    <a:bodyPr/>
                    <a:lstStyle/>
                    <a:p>
                      <a:pPr algn="l"/>
                      <a:r>
                        <a:rPr sz="1100" b="1">
                          <a:solidFill>
                            <a:srgbClr val="2E2E2E"/>
                          </a:solidFill>
                          <a:latin typeface="Calibri"/>
                        </a:rPr>
                        <a:t>– Choline-Related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3"/>
                  </a:ext>
                </a:extLst>
              </a:tr>
              <a:tr h="246297">
                <a:tc>
                  <a:txBody>
                    <a:bodyPr/>
                    <a:lstStyle/>
                    <a:p>
                      <a:pPr algn="l"/>
                      <a:r>
                        <a:rPr sz="1100" b="1">
                          <a:solidFill>
                            <a:srgbClr val="2E2E2E"/>
                          </a:solidFill>
                          <a:latin typeface="Calibri"/>
                        </a:rPr>
                        <a:t>Cellular Energy Support Ingredients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4"/>
                  </a:ext>
                </a:extLst>
              </a:tr>
              <a:tr h="246297">
                <a:tc>
                  <a:txBody>
                    <a:bodyPr/>
                    <a:lstStyle/>
                    <a:p>
                      <a:pPr algn="l"/>
                      <a:r>
                        <a:rPr sz="1100" b="1">
                          <a:solidFill>
                            <a:srgbClr val="2E2E2E"/>
                          </a:solidFill>
                          <a:latin typeface="Calibri"/>
                        </a:rPr>
                        <a:t>– L-Carnitine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5"/>
                  </a:ext>
                </a:extLst>
              </a:tr>
              <a:tr h="246297">
                <a:tc>
                  <a:txBody>
                    <a:bodyPr/>
                    <a:lstStyle/>
                    <a:p>
                      <a:pPr algn="l"/>
                      <a:r>
                        <a:rPr sz="1100" b="1">
                          <a:solidFill>
                            <a:srgbClr val="2E2E2E"/>
                          </a:solidFill>
                          <a:latin typeface="Calibri"/>
                        </a:rPr>
                        <a:t>– Acetyl-L-Carnitine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6"/>
                  </a:ext>
                </a:extLst>
              </a:tr>
              <a:tr h="246297">
                <a:tc>
                  <a:txBody>
                    <a:bodyPr/>
                    <a:lstStyle/>
                    <a:p>
                      <a:pPr algn="l"/>
                      <a:r>
                        <a:rPr sz="1100" b="1">
                          <a:solidFill>
                            <a:srgbClr val="2E2E2E"/>
                          </a:solidFill>
                          <a:latin typeface="Calibri"/>
                        </a:rPr>
                        <a:t>– Coenzyme Q10</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7"/>
                  </a:ext>
                </a:extLst>
              </a:tr>
              <a:tr h="246297">
                <a:tc>
                  <a:txBody>
                    <a:bodyPr/>
                    <a:lstStyle/>
                    <a:p>
                      <a:pPr algn="l"/>
                      <a:r>
                        <a:rPr sz="1100" b="1">
                          <a:solidFill>
                            <a:srgbClr val="2E2E2E"/>
                          </a:solidFill>
                          <a:latin typeface="Calibri"/>
                        </a:rPr>
                        <a:t>– Alpha-Lipoic Acid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8"/>
                  </a:ext>
                </a:extLst>
              </a:tr>
              <a:tr h="246297">
                <a:tc>
                  <a:txBody>
                    <a:bodyPr/>
                    <a:lstStyle/>
                    <a:p>
                      <a:pPr algn="l"/>
                      <a:r>
                        <a:rPr sz="1100" b="1">
                          <a:solidFill>
                            <a:srgbClr val="2E2E2E"/>
                          </a:solidFill>
                          <a:latin typeface="Calibri"/>
                        </a:rPr>
                        <a:t>Botanical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9"/>
                  </a:ext>
                </a:extLst>
              </a:tr>
              <a:tr h="246297">
                <a:tc>
                  <a:txBody>
                    <a:bodyPr/>
                    <a:lstStyle/>
                    <a:p>
                      <a:pPr algn="l"/>
                      <a:r>
                        <a:rPr sz="1100" b="1">
                          <a:solidFill>
                            <a:srgbClr val="2E2E2E"/>
                          </a:solidFill>
                          <a:latin typeface="Calibri"/>
                        </a:rPr>
                        <a:t>– Ginkgo Biloba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20"/>
                  </a:ext>
                </a:extLst>
              </a:tr>
            </a:tbl>
          </a:graphicData>
        </a:graphic>
      </p:graphicFrame>
      <p:sp>
        <p:nvSpPr>
          <p:cNvPr id="13" name="TextBox 12"/>
          <p:cNvSpPr txBox="1"/>
          <p:nvPr/>
        </p:nvSpPr>
        <p:spPr>
          <a:xfrm>
            <a:off x="219075" y="64198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049433" y="3680645"/>
            <a:ext cx="366712" cy="5334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Analysis, By Active Ingredient (US$ Mn)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Active Ingredient,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By Active Ingredient (US$ Mn)</a:t>
            </a:r>
          </a:p>
        </p:txBody>
      </p:sp>
      <p:graphicFrame>
        <p:nvGraphicFramePr>
          <p:cNvPr id="12" name="Table 11"/>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2358529">
                  <a:extLst>
                    <a:ext uri="{9D8B030D-6E8A-4147-A177-3AD203B41FA5}">
                      <a16:colId xmlns:a16="http://schemas.microsoft.com/office/drawing/2014/main" val="20000"/>
                    </a:ext>
                  </a:extLst>
                </a:gridCol>
                <a:gridCol w="560510">
                  <a:extLst>
                    <a:ext uri="{9D8B030D-6E8A-4147-A177-3AD203B41FA5}">
                      <a16:colId xmlns:a16="http://schemas.microsoft.com/office/drawing/2014/main" val="20001"/>
                    </a:ext>
                  </a:extLst>
                </a:gridCol>
                <a:gridCol w="560510">
                  <a:extLst>
                    <a:ext uri="{9D8B030D-6E8A-4147-A177-3AD203B41FA5}">
                      <a16:colId xmlns:a16="http://schemas.microsoft.com/office/drawing/2014/main" val="20002"/>
                    </a:ext>
                  </a:extLst>
                </a:gridCol>
                <a:gridCol w="560510">
                  <a:extLst>
                    <a:ext uri="{9D8B030D-6E8A-4147-A177-3AD203B41FA5}">
                      <a16:colId xmlns:a16="http://schemas.microsoft.com/office/drawing/2014/main" val="20003"/>
                    </a:ext>
                  </a:extLst>
                </a:gridCol>
                <a:gridCol w="560510">
                  <a:extLst>
                    <a:ext uri="{9D8B030D-6E8A-4147-A177-3AD203B41FA5}">
                      <a16:colId xmlns:a16="http://schemas.microsoft.com/office/drawing/2014/main" val="20004"/>
                    </a:ext>
                  </a:extLst>
                </a:gridCol>
                <a:gridCol w="560510">
                  <a:extLst>
                    <a:ext uri="{9D8B030D-6E8A-4147-A177-3AD203B41FA5}">
                      <a16:colId xmlns:a16="http://schemas.microsoft.com/office/drawing/2014/main" val="20005"/>
                    </a:ext>
                  </a:extLst>
                </a:gridCol>
                <a:gridCol w="560510">
                  <a:extLst>
                    <a:ext uri="{9D8B030D-6E8A-4147-A177-3AD203B41FA5}">
                      <a16:colId xmlns:a16="http://schemas.microsoft.com/office/drawing/2014/main" val="20006"/>
                    </a:ext>
                  </a:extLst>
                </a:gridCol>
                <a:gridCol w="560510">
                  <a:extLst>
                    <a:ext uri="{9D8B030D-6E8A-4147-A177-3AD203B41FA5}">
                      <a16:colId xmlns:a16="http://schemas.microsoft.com/office/drawing/2014/main" val="20007"/>
                    </a:ext>
                  </a:extLst>
                </a:gridCol>
                <a:gridCol w="560510">
                  <a:extLst>
                    <a:ext uri="{9D8B030D-6E8A-4147-A177-3AD203B41FA5}">
                      <a16:colId xmlns:a16="http://schemas.microsoft.com/office/drawing/2014/main" val="20008"/>
                    </a:ext>
                  </a:extLst>
                </a:gridCol>
                <a:gridCol w="560510">
                  <a:extLst>
                    <a:ext uri="{9D8B030D-6E8A-4147-A177-3AD203B41FA5}">
                      <a16:colId xmlns:a16="http://schemas.microsoft.com/office/drawing/2014/main" val="20009"/>
                    </a:ext>
                  </a:extLst>
                </a:gridCol>
                <a:gridCol w="560510">
                  <a:extLst>
                    <a:ext uri="{9D8B030D-6E8A-4147-A177-3AD203B41FA5}">
                      <a16:colId xmlns:a16="http://schemas.microsoft.com/office/drawing/2014/main" val="20010"/>
                    </a:ext>
                  </a:extLst>
                </a:gridCol>
                <a:gridCol w="560510">
                  <a:extLst>
                    <a:ext uri="{9D8B030D-6E8A-4147-A177-3AD203B41FA5}">
                      <a16:colId xmlns:a16="http://schemas.microsoft.com/office/drawing/2014/main" val="20011"/>
                    </a:ext>
                  </a:extLst>
                </a:gridCol>
                <a:gridCol w="560510">
                  <a:extLst>
                    <a:ext uri="{9D8B030D-6E8A-4147-A177-3AD203B41FA5}">
                      <a16:colId xmlns:a16="http://schemas.microsoft.com/office/drawing/2014/main" val="20012"/>
                    </a:ext>
                  </a:extLst>
                </a:gridCol>
                <a:gridCol w="560510">
                  <a:extLst>
                    <a:ext uri="{9D8B030D-6E8A-4147-A177-3AD203B41FA5}">
                      <a16:colId xmlns:a16="http://schemas.microsoft.com/office/drawing/2014/main" val="20013"/>
                    </a:ext>
                  </a:extLst>
                </a:gridCol>
                <a:gridCol w="560510">
                  <a:extLst>
                    <a:ext uri="{9D8B030D-6E8A-4147-A177-3AD203B41FA5}">
                      <a16:colId xmlns:a16="http://schemas.microsoft.com/office/drawing/2014/main" val="20014"/>
                    </a:ext>
                  </a:extLst>
                </a:gridCol>
                <a:gridCol w="560510">
                  <a:extLst>
                    <a:ext uri="{9D8B030D-6E8A-4147-A177-3AD203B41FA5}">
                      <a16:colId xmlns:a16="http://schemas.microsoft.com/office/drawing/2014/main" val="20015"/>
                    </a:ext>
                  </a:extLst>
                </a:gridCol>
                <a:gridCol w="560510">
                  <a:extLst>
                    <a:ext uri="{9D8B030D-6E8A-4147-A177-3AD203B41FA5}">
                      <a16:colId xmlns:a16="http://schemas.microsoft.com/office/drawing/2014/main" val="20016"/>
                    </a:ext>
                  </a:extLst>
                </a:gridCol>
                <a:gridCol w="560510">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 Resveratrol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 Other Cognitive-Support Botanicals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Microbiome-Targeted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 Prebiotics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 Probiotics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 Postbiotics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638550"/>
            <a:ext cx="11639550" cy="209550"/>
          </a:xfrm>
          <a:prstGeom prst="rect">
            <a:avLst/>
          </a:prstGeom>
          <a:noFill/>
        </p:spPr>
        <p:txBody>
          <a:bodyPr wrap="square" lIns="0" tIns="9525" rIns="19050" bIns="9525">
            <a:spAutoFit/>
          </a:bodyPr>
          <a:lstStyle/>
          <a:p>
            <a:pPr algn="l"/>
            <a:r>
              <a:rPr sz="1300" b="1">
                <a:solidFill>
                  <a:srgbClr val="0B2E4A"/>
                </a:solidFill>
                <a:latin typeface="Calibri"/>
              </a:rPr>
              <a:t>Global Value Analysis, By Active Ingredient</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962400"/>
            <a:ext cx="11639550" cy="2590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88574" y="2080450"/>
            <a:ext cx="366712" cy="533400"/>
          </a:xfrm>
          <a:prstGeom prst="rect">
            <a:avLst/>
          </a:prstGeom>
        </p:spPr>
      </p:pic>
      <p:sp>
        <p:nvSpPr>
          <p:cNvPr id="20" name="TextBox 19"/>
          <p:cNvSpPr txBox="1"/>
          <p:nvPr/>
        </p:nvSpPr>
        <p:spPr>
          <a:xfrm>
            <a:off x="276225" y="3971925"/>
            <a:ext cx="3393702" cy="194310"/>
          </a:xfrm>
          <a:prstGeom prst="rect">
            <a:avLst/>
          </a:prstGeom>
          <a:noFill/>
        </p:spPr>
        <p:txBody>
          <a:bodyPr wrap="none" lIns="0" tIns="0" rIns="0" bIns="0">
            <a:spAutoFit/>
          </a:bodyPr>
          <a:lstStyle/>
          <a:p>
            <a:r>
              <a:rPr sz="1150" b="0">
                <a:solidFill>
                  <a:srgbClr val="2E2E2E"/>
                </a:solidFill>
                <a:latin typeface="Calibri"/>
              </a:rPr>
              <a:t>Antioxidant ingredients segment is projected to register</a:t>
            </a:r>
          </a:p>
        </p:txBody>
      </p:sp>
      <p:pic>
        <p:nvPicPr>
          <p:cNvPr id="21" name="Picture 20" descr="lock.png"/>
          <p:cNvPicPr>
            <a:picLocks noChangeAspect="1"/>
          </p:cNvPicPr>
          <p:nvPr/>
        </p:nvPicPr>
        <p:blipFill>
          <a:blip r:embed="rId4"/>
          <a:stretch>
            <a:fillRect/>
          </a:stretch>
        </p:blipFill>
        <p:spPr>
          <a:xfrm>
            <a:off x="3619081" y="3961701"/>
            <a:ext cx="134549" cy="195707"/>
          </a:xfrm>
          <a:prstGeom prst="rect">
            <a:avLst/>
          </a:prstGeom>
        </p:spPr>
      </p:pic>
      <p:sp>
        <p:nvSpPr>
          <p:cNvPr id="22" name="TextBox 21"/>
          <p:cNvSpPr txBox="1"/>
          <p:nvPr/>
        </p:nvSpPr>
        <p:spPr>
          <a:xfrm>
            <a:off x="3794191" y="3971925"/>
            <a:ext cx="8058174" cy="194310"/>
          </a:xfrm>
          <a:prstGeom prst="rect">
            <a:avLst/>
          </a:prstGeom>
          <a:noFill/>
        </p:spPr>
        <p:txBody>
          <a:bodyPr wrap="none" lIns="0" tIns="0" rIns="0" bIns="0">
            <a:spAutoFit/>
          </a:bodyPr>
          <a:lstStyle/>
          <a:p>
            <a:r>
              <a:rPr sz="1150" b="0">
                <a:solidFill>
                  <a:srgbClr val="2E2E2E"/>
                </a:solidFill>
                <a:latin typeface="Calibri"/>
              </a:rPr>
              <a:t>X higher value than cellular energy support ingredients segment in 2036. Among senior dog cognitive supplement by active ingredient,</a:t>
            </a:r>
          </a:p>
        </p:txBody>
      </p:sp>
      <p:sp>
        <p:nvSpPr>
          <p:cNvPr id="23" name="TextBox 22"/>
          <p:cNvSpPr txBox="1"/>
          <p:nvPr/>
        </p:nvSpPr>
        <p:spPr>
          <a:xfrm>
            <a:off x="276225" y="4147185"/>
            <a:ext cx="4567504" cy="194310"/>
          </a:xfrm>
          <a:prstGeom prst="rect">
            <a:avLst/>
          </a:prstGeom>
          <a:noFill/>
        </p:spPr>
        <p:txBody>
          <a:bodyPr wrap="none" lIns="0" tIns="0" rIns="0" bIns="0">
            <a:spAutoFit/>
          </a:bodyPr>
          <a:lstStyle/>
          <a:p>
            <a:r>
              <a:rPr sz="1150" b="0">
                <a:solidFill>
                  <a:srgbClr val="2E2E2E"/>
                </a:solidFill>
                <a:latin typeface="Calibri"/>
              </a:rPr>
              <a:t>antioxidant ingredients segment is expected to witness the highest CAGR of</a:t>
            </a:r>
          </a:p>
        </p:txBody>
      </p:sp>
      <p:pic>
        <p:nvPicPr>
          <p:cNvPr id="24" name="Picture 23" descr="lock.png"/>
          <p:cNvPicPr>
            <a:picLocks noChangeAspect="1"/>
          </p:cNvPicPr>
          <p:nvPr/>
        </p:nvPicPr>
        <p:blipFill>
          <a:blip r:embed="rId4"/>
          <a:stretch>
            <a:fillRect/>
          </a:stretch>
        </p:blipFill>
        <p:spPr>
          <a:xfrm>
            <a:off x="4792883" y="4136961"/>
            <a:ext cx="134549" cy="195707"/>
          </a:xfrm>
          <a:prstGeom prst="rect">
            <a:avLst/>
          </a:prstGeom>
        </p:spPr>
      </p:pic>
      <p:sp>
        <p:nvSpPr>
          <p:cNvPr id="25" name="TextBox 24"/>
          <p:cNvSpPr txBox="1"/>
          <p:nvPr/>
        </p:nvSpPr>
        <p:spPr>
          <a:xfrm>
            <a:off x="4967993" y="414718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525605" cy="194310"/>
          </a:xfrm>
          <a:prstGeom prst="rect">
            <a:avLst/>
          </a:prstGeom>
          <a:noFill/>
        </p:spPr>
        <p:txBody>
          <a:bodyPr wrap="none" lIns="0" tIns="0" rIns="0" bIns="0">
            <a:spAutoFit/>
          </a:bodyPr>
          <a:lstStyle/>
          <a:p>
            <a:r>
              <a:rPr sz="1150" b="0">
                <a:solidFill>
                  <a:srgbClr val="2E2E2E"/>
                </a:solidFill>
                <a:latin typeface="Calibri"/>
              </a:rPr>
              <a:t>In terms of value share by active ingredient, the antioxidant ingredients segment is expected to dominate the market, gaining</a:t>
            </a:r>
          </a:p>
        </p:txBody>
      </p:sp>
      <p:pic>
        <p:nvPicPr>
          <p:cNvPr id="27" name="Picture 26" descr="lock.png"/>
          <p:cNvPicPr>
            <a:picLocks noChangeAspect="1"/>
          </p:cNvPicPr>
          <p:nvPr/>
        </p:nvPicPr>
        <p:blipFill>
          <a:blip r:embed="rId4"/>
          <a:stretch>
            <a:fillRect/>
          </a:stretch>
        </p:blipFill>
        <p:spPr>
          <a:xfrm>
            <a:off x="7750984" y="4364799"/>
            <a:ext cx="134549" cy="195707"/>
          </a:xfrm>
          <a:prstGeom prst="rect">
            <a:avLst/>
          </a:prstGeom>
        </p:spPr>
      </p:pic>
      <p:sp>
        <p:nvSpPr>
          <p:cNvPr id="28" name="TextBox 27"/>
          <p:cNvSpPr txBox="1"/>
          <p:nvPr/>
        </p:nvSpPr>
        <p:spPr>
          <a:xfrm>
            <a:off x="7926093" y="4375022"/>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321237" y="4364799"/>
            <a:ext cx="134549" cy="195707"/>
          </a:xfrm>
          <a:prstGeom prst="rect">
            <a:avLst/>
          </a:prstGeom>
        </p:spPr>
      </p:pic>
      <p:sp>
        <p:nvSpPr>
          <p:cNvPr id="30" name="TextBox 29"/>
          <p:cNvSpPr txBox="1"/>
          <p:nvPr/>
        </p:nvSpPr>
        <p:spPr>
          <a:xfrm>
            <a:off x="9496346" y="4375022"/>
            <a:ext cx="1781733" cy="194310"/>
          </a:xfrm>
          <a:prstGeom prst="rect">
            <a:avLst/>
          </a:prstGeom>
          <a:noFill/>
        </p:spPr>
        <p:txBody>
          <a:bodyPr wrap="none" lIns="0" tIns="0" rIns="0" bIns="0">
            <a:spAutoFit/>
          </a:bodyPr>
          <a:lstStyle/>
          <a:p>
            <a:r>
              <a:rPr sz="1150" b="0">
                <a:solidFill>
                  <a:srgbClr val="2E2E2E"/>
                </a:solidFill>
                <a:latin typeface="Calibri"/>
              </a:rPr>
              <a:t>share by 2036. The botanical</a:t>
            </a:r>
          </a:p>
        </p:txBody>
      </p:sp>
      <p:sp>
        <p:nvSpPr>
          <p:cNvPr id="31" name="TextBox 30"/>
          <p:cNvSpPr txBox="1"/>
          <p:nvPr/>
        </p:nvSpPr>
        <p:spPr>
          <a:xfrm>
            <a:off x="276225" y="4550282"/>
            <a:ext cx="2427547" cy="194310"/>
          </a:xfrm>
          <a:prstGeom prst="rect">
            <a:avLst/>
          </a:prstGeom>
          <a:noFill/>
        </p:spPr>
        <p:txBody>
          <a:bodyPr wrap="none" lIns="0" tIns="0" rIns="0" bIns="0">
            <a:spAutoFit/>
          </a:bodyPr>
          <a:lstStyle/>
          <a:p>
            <a:r>
              <a:rPr sz="1150" b="0">
                <a:solidFill>
                  <a:srgbClr val="2E2E2E"/>
                </a:solidFill>
                <a:latin typeface="Calibri"/>
              </a:rPr>
              <a:t>ingredients segment is expected to lose</a:t>
            </a:r>
          </a:p>
        </p:txBody>
      </p:sp>
      <p:pic>
        <p:nvPicPr>
          <p:cNvPr id="32" name="Picture 31" descr="lock.png"/>
          <p:cNvPicPr>
            <a:picLocks noChangeAspect="1"/>
          </p:cNvPicPr>
          <p:nvPr/>
        </p:nvPicPr>
        <p:blipFill>
          <a:blip r:embed="rId4"/>
          <a:stretch>
            <a:fillRect/>
          </a:stretch>
        </p:blipFill>
        <p:spPr>
          <a:xfrm>
            <a:off x="2652926" y="4540059"/>
            <a:ext cx="134549" cy="195707"/>
          </a:xfrm>
          <a:prstGeom prst="rect">
            <a:avLst/>
          </a:prstGeom>
        </p:spPr>
      </p:pic>
      <p:sp>
        <p:nvSpPr>
          <p:cNvPr id="33" name="TextBox 32"/>
          <p:cNvSpPr txBox="1"/>
          <p:nvPr/>
        </p:nvSpPr>
        <p:spPr>
          <a:xfrm>
            <a:off x="2828036" y="4550282"/>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415540" y="4540059"/>
            <a:ext cx="134549" cy="195707"/>
          </a:xfrm>
          <a:prstGeom prst="rect">
            <a:avLst/>
          </a:prstGeom>
        </p:spPr>
      </p:pic>
      <p:sp>
        <p:nvSpPr>
          <p:cNvPr id="35" name="TextBox 34"/>
          <p:cNvSpPr txBox="1"/>
          <p:nvPr/>
        </p:nvSpPr>
        <p:spPr>
          <a:xfrm>
            <a:off x="5590649" y="4550282"/>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&amp; Share Shift, By Active Ingredient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Active Ingredient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Composition, By Active Ingredient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590675"/>
            <a:ext cx="2595753" cy="171069"/>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a:endParaRPr/>
          </a:p>
        </p:txBody>
      </p:sp>
      <p:sp>
        <p:nvSpPr>
          <p:cNvPr id="15" name="FMI Legend Chip"/>
          <p:cNvSpPr/>
          <p:nvPr/>
        </p:nvSpPr>
        <p:spPr>
          <a:xfrm>
            <a:off x="4928997" y="193438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10800000">
            <a:off x="5090922" y="192961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853418"/>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Neurofunctional Nutrients</a:t>
            </a:r>
          </a:p>
        </p:txBody>
      </p:sp>
      <p:sp>
        <p:nvSpPr>
          <p:cNvPr id="18" name="BPS Value 1"/>
          <p:cNvSpPr txBox="1"/>
          <p:nvPr/>
        </p:nvSpPr>
        <p:spPr>
          <a:xfrm>
            <a:off x="6896100" y="1915330"/>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19" name="FMI Legend Chip"/>
          <p:cNvSpPr/>
          <p:nvPr/>
        </p:nvSpPr>
        <p:spPr>
          <a:xfrm>
            <a:off x="4928997" y="246889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rot="10800000">
            <a:off x="5090922" y="24641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2387937"/>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Botanical Ingredients</a:t>
            </a:r>
          </a:p>
        </p:txBody>
      </p:sp>
      <p:sp>
        <p:nvSpPr>
          <p:cNvPr id="22" name="BPS Value 2"/>
          <p:cNvSpPr txBox="1"/>
          <p:nvPr/>
        </p:nvSpPr>
        <p:spPr>
          <a:xfrm>
            <a:off x="6896100" y="2449849"/>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3" name="FMI Legend Chip"/>
          <p:cNvSpPr/>
          <p:nvPr/>
        </p:nvSpPr>
        <p:spPr>
          <a:xfrm>
            <a:off x="4928997" y="307792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rot="10800000">
            <a:off x="5090922" y="307316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299696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Microbiome-Targeted Ingredients</a:t>
            </a:r>
          </a:p>
        </p:txBody>
      </p:sp>
      <p:sp>
        <p:nvSpPr>
          <p:cNvPr id="26" name="BPS Value 3"/>
          <p:cNvSpPr txBox="1"/>
          <p:nvPr/>
        </p:nvSpPr>
        <p:spPr>
          <a:xfrm>
            <a:off x="6896100" y="3058878"/>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7" name="FMI Legend Chip"/>
          <p:cNvSpPr/>
          <p:nvPr/>
        </p:nvSpPr>
        <p:spPr>
          <a:xfrm>
            <a:off x="4928997" y="379449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rot="10800000">
            <a:off x="5090922" y="378973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371353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Omega-3 Fatty Acids</a:t>
            </a:r>
          </a:p>
        </p:txBody>
      </p:sp>
      <p:sp>
        <p:nvSpPr>
          <p:cNvPr id="30" name="BPS Value 4"/>
          <p:cNvSpPr txBox="1"/>
          <p:nvPr/>
        </p:nvSpPr>
        <p:spPr>
          <a:xfrm>
            <a:off x="6896100" y="3775447"/>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1" name="FMI Legend Chip"/>
          <p:cNvSpPr/>
          <p:nvPr/>
        </p:nvSpPr>
        <p:spPr>
          <a:xfrm>
            <a:off x="4928997" y="468294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a:off x="5090922" y="467817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5233797" y="4601978"/>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Cellular Energy Support Ingredients</a:t>
            </a:r>
          </a:p>
        </p:txBody>
      </p:sp>
      <p:sp>
        <p:nvSpPr>
          <p:cNvPr id="34" name="BPS Value 5"/>
          <p:cNvSpPr txBox="1"/>
          <p:nvPr/>
        </p:nvSpPr>
        <p:spPr>
          <a:xfrm>
            <a:off x="6896100" y="4663891"/>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5" name="FMI Legend Chip"/>
          <p:cNvSpPr/>
          <p:nvPr/>
        </p:nvSpPr>
        <p:spPr>
          <a:xfrm>
            <a:off x="4928997" y="571804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5090922" y="571328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5233797" y="563708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Antioxidant Ingredients</a:t>
            </a:r>
          </a:p>
        </p:txBody>
      </p:sp>
      <p:sp>
        <p:nvSpPr>
          <p:cNvPr id="38" name="BPS Value 6"/>
          <p:cNvSpPr txBox="1"/>
          <p:nvPr/>
        </p:nvSpPr>
        <p:spPr>
          <a:xfrm>
            <a:off x="6896100" y="5698992"/>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Global Read-out, By Active Ingredient</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TextBox 4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714898" cy="194310"/>
          </a:xfrm>
          <a:prstGeom prst="rect">
            <a:avLst/>
          </a:prstGeom>
          <a:noFill/>
        </p:spPr>
        <p:txBody>
          <a:bodyPr wrap="none" lIns="0" tIns="0" rIns="0" bIns="0">
            <a:spAutoFit/>
          </a:bodyPr>
          <a:lstStyle/>
          <a:p>
            <a:r>
              <a:rPr sz="1150" b="0">
                <a:solidFill>
                  <a:srgbClr val="2E2E2E"/>
                </a:solidFill>
                <a:latin typeface="Calibri"/>
              </a:rPr>
              <a:t>Among senior dog cognitive supplement by active ingredient,</a:t>
            </a:r>
          </a:p>
        </p:txBody>
      </p:sp>
      <p:sp>
        <p:nvSpPr>
          <p:cNvPr id="46" name="TextBox 45"/>
          <p:cNvSpPr txBox="1"/>
          <p:nvPr/>
        </p:nvSpPr>
        <p:spPr>
          <a:xfrm>
            <a:off x="7829550" y="1575435"/>
            <a:ext cx="4046078" cy="194310"/>
          </a:xfrm>
          <a:prstGeom prst="rect">
            <a:avLst/>
          </a:prstGeom>
          <a:noFill/>
        </p:spPr>
        <p:txBody>
          <a:bodyPr wrap="none" lIns="0" tIns="0" rIns="0" bIns="0">
            <a:spAutoFit/>
          </a:bodyPr>
          <a:lstStyle/>
          <a:p>
            <a:r>
              <a:rPr sz="1150" b="0">
                <a:solidFill>
                  <a:srgbClr val="2E2E2E"/>
                </a:solidFill>
                <a:latin typeface="Calibri"/>
              </a:rPr>
              <a:t>antioxidant ingredients segment is expected to witness the highest</a:t>
            </a:r>
          </a:p>
        </p:txBody>
      </p:sp>
      <p:sp>
        <p:nvSpPr>
          <p:cNvPr id="47" name="TextBox 46"/>
          <p:cNvSpPr txBox="1"/>
          <p:nvPr/>
        </p:nvSpPr>
        <p:spPr>
          <a:xfrm>
            <a:off x="7829550" y="1750695"/>
            <a:ext cx="564536" cy="194310"/>
          </a:xfrm>
          <a:prstGeom prst="rect">
            <a:avLst/>
          </a:prstGeom>
          <a:noFill/>
        </p:spPr>
        <p:txBody>
          <a:bodyPr wrap="none" lIns="0" tIns="0" rIns="0" bIns="0">
            <a:spAutoFit/>
          </a:bodyPr>
          <a:lstStyle/>
          <a:p>
            <a:r>
              <a:rPr sz="1150" b="0">
                <a:solidFill>
                  <a:srgbClr val="2E2E2E"/>
                </a:solidFill>
                <a:latin typeface="Calibri"/>
              </a:rPr>
              <a:t>CAGR of</a:t>
            </a:r>
          </a:p>
        </p:txBody>
      </p:sp>
      <p:pic>
        <p:nvPicPr>
          <p:cNvPr id="48" name="Picture 47" descr="lock.png"/>
          <p:cNvPicPr>
            <a:picLocks noChangeAspect="1"/>
          </p:cNvPicPr>
          <p:nvPr/>
        </p:nvPicPr>
        <p:blipFill>
          <a:blip r:embed="rId5"/>
          <a:stretch>
            <a:fillRect/>
          </a:stretch>
        </p:blipFill>
        <p:spPr>
          <a:xfrm>
            <a:off x="8343240" y="1740471"/>
            <a:ext cx="134549" cy="195707"/>
          </a:xfrm>
          <a:prstGeom prst="rect">
            <a:avLst/>
          </a:prstGeom>
        </p:spPr>
      </p:pic>
      <p:sp>
        <p:nvSpPr>
          <p:cNvPr id="49" name="TextBox 48"/>
          <p:cNvSpPr txBox="1"/>
          <p:nvPr/>
        </p:nvSpPr>
        <p:spPr>
          <a:xfrm>
            <a:off x="8518350" y="1750695"/>
            <a:ext cx="3118147" cy="194310"/>
          </a:xfrm>
          <a:prstGeom prst="rect">
            <a:avLst/>
          </a:prstGeom>
          <a:noFill/>
        </p:spPr>
        <p:txBody>
          <a:bodyPr wrap="none" lIns="0" tIns="0" rIns="0" bIns="0">
            <a:spAutoFit/>
          </a:bodyPr>
          <a:lstStyle/>
          <a:p>
            <a:r>
              <a:rPr sz="1150" b="0">
                <a:solidFill>
                  <a:srgbClr val="2E2E2E"/>
                </a:solidFill>
                <a:latin typeface="Calibri"/>
              </a:rPr>
              <a:t>over the forecast period. In terms of value share by</a:t>
            </a:r>
          </a:p>
        </p:txBody>
      </p:sp>
      <p:sp>
        <p:nvSpPr>
          <p:cNvPr id="50" name="TextBox 49"/>
          <p:cNvSpPr txBox="1"/>
          <p:nvPr/>
        </p:nvSpPr>
        <p:spPr>
          <a:xfrm>
            <a:off x="7829550" y="1925955"/>
            <a:ext cx="4003005" cy="194310"/>
          </a:xfrm>
          <a:prstGeom prst="rect">
            <a:avLst/>
          </a:prstGeom>
          <a:noFill/>
        </p:spPr>
        <p:txBody>
          <a:bodyPr wrap="none" lIns="0" tIns="0" rIns="0" bIns="0">
            <a:spAutoFit/>
          </a:bodyPr>
          <a:lstStyle/>
          <a:p>
            <a:r>
              <a:rPr sz="1150" b="0">
                <a:solidFill>
                  <a:srgbClr val="2E2E2E"/>
                </a:solidFill>
                <a:latin typeface="Calibri"/>
              </a:rPr>
              <a:t>active ingredient, the antioxidant ingredients segment is expected</a:t>
            </a:r>
          </a:p>
        </p:txBody>
      </p:sp>
      <p:sp>
        <p:nvSpPr>
          <p:cNvPr id="51" name="TextBox 50"/>
          <p:cNvSpPr txBox="1"/>
          <p:nvPr/>
        </p:nvSpPr>
        <p:spPr>
          <a:xfrm>
            <a:off x="7829550" y="2101215"/>
            <a:ext cx="1996244" cy="194310"/>
          </a:xfrm>
          <a:prstGeom prst="rect">
            <a:avLst/>
          </a:prstGeom>
          <a:noFill/>
        </p:spPr>
        <p:txBody>
          <a:bodyPr wrap="none" lIns="0" tIns="0" rIns="0" bIns="0">
            <a:spAutoFit/>
          </a:bodyPr>
          <a:lstStyle/>
          <a:p>
            <a:r>
              <a:rPr sz="1150" b="0">
                <a:solidFill>
                  <a:srgbClr val="2E2E2E"/>
                </a:solidFill>
                <a:latin typeface="Calibri"/>
              </a:rPr>
              <a:t>to dominate the market, gaining</a:t>
            </a:r>
          </a:p>
        </p:txBody>
      </p:sp>
      <p:pic>
        <p:nvPicPr>
          <p:cNvPr id="52" name="Picture 51" descr="lock.png"/>
          <p:cNvPicPr>
            <a:picLocks noChangeAspect="1"/>
          </p:cNvPicPr>
          <p:nvPr/>
        </p:nvPicPr>
        <p:blipFill>
          <a:blip r:embed="rId5"/>
          <a:stretch>
            <a:fillRect/>
          </a:stretch>
        </p:blipFill>
        <p:spPr>
          <a:xfrm>
            <a:off x="9774947" y="2090991"/>
            <a:ext cx="134549" cy="195707"/>
          </a:xfrm>
          <a:prstGeom prst="rect">
            <a:avLst/>
          </a:prstGeom>
        </p:spPr>
      </p:pic>
      <p:sp>
        <p:nvSpPr>
          <p:cNvPr id="53" name="TextBox 52"/>
          <p:cNvSpPr txBox="1"/>
          <p:nvPr/>
        </p:nvSpPr>
        <p:spPr>
          <a:xfrm>
            <a:off x="9950057" y="2101215"/>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11345200" y="2090991"/>
            <a:ext cx="134549" cy="195707"/>
          </a:xfrm>
          <a:prstGeom prst="rect">
            <a:avLst/>
          </a:prstGeom>
        </p:spPr>
      </p:pic>
      <p:sp>
        <p:nvSpPr>
          <p:cNvPr id="55" name="TextBox 54"/>
          <p:cNvSpPr txBox="1"/>
          <p:nvPr/>
        </p:nvSpPr>
        <p:spPr>
          <a:xfrm>
            <a:off x="7829550" y="2276475"/>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56" name="TextBox 55"/>
          <p:cNvSpPr txBox="1"/>
          <p:nvPr/>
        </p:nvSpPr>
        <p:spPr>
          <a:xfrm>
            <a:off x="7829550" y="2504313"/>
            <a:ext cx="3263056" cy="194310"/>
          </a:xfrm>
          <a:prstGeom prst="rect">
            <a:avLst/>
          </a:prstGeom>
          <a:noFill/>
        </p:spPr>
        <p:txBody>
          <a:bodyPr wrap="none" lIns="0" tIns="0" rIns="0" bIns="0">
            <a:spAutoFit/>
          </a:bodyPr>
          <a:lstStyle/>
          <a:p>
            <a:r>
              <a:rPr sz="1150" b="0">
                <a:solidFill>
                  <a:srgbClr val="2E2E2E"/>
                </a:solidFill>
                <a:latin typeface="Calibri"/>
              </a:rPr>
              <a:t>The botanical ingredients segment is expected to lose</a:t>
            </a:r>
          </a:p>
        </p:txBody>
      </p:sp>
      <p:pic>
        <p:nvPicPr>
          <p:cNvPr id="57" name="Picture 56" descr="lock.png"/>
          <p:cNvPicPr>
            <a:picLocks noChangeAspect="1"/>
          </p:cNvPicPr>
          <p:nvPr/>
        </p:nvPicPr>
        <p:blipFill>
          <a:blip r:embed="rId5"/>
          <a:stretch>
            <a:fillRect/>
          </a:stretch>
        </p:blipFill>
        <p:spPr>
          <a:xfrm>
            <a:off x="11041760" y="2494089"/>
            <a:ext cx="134549" cy="195707"/>
          </a:xfrm>
          <a:prstGeom prst="rect">
            <a:avLst/>
          </a:prstGeom>
        </p:spPr>
      </p:pic>
      <p:sp>
        <p:nvSpPr>
          <p:cNvPr id="58" name="TextBox 57"/>
          <p:cNvSpPr txBox="1"/>
          <p:nvPr/>
        </p:nvSpPr>
        <p:spPr>
          <a:xfrm>
            <a:off x="11216869" y="2504313"/>
            <a:ext cx="598214" cy="194310"/>
          </a:xfrm>
          <a:prstGeom prst="rect">
            <a:avLst/>
          </a:prstGeom>
          <a:noFill/>
        </p:spPr>
        <p:txBody>
          <a:bodyPr wrap="none" lIns="0" tIns="0" rIns="0" bIns="0">
            <a:spAutoFit/>
          </a:bodyPr>
          <a:lstStyle/>
          <a:p>
            <a:r>
              <a:rPr sz="1150" b="0">
                <a:solidFill>
                  <a:srgbClr val="2E2E2E"/>
                </a:solidFill>
                <a:latin typeface="Calibri"/>
              </a:rPr>
              <a:t>BPS over</a:t>
            </a:r>
          </a:p>
        </p:txBody>
      </p:sp>
      <p:sp>
        <p:nvSpPr>
          <p:cNvPr id="59" name="TextBox 58"/>
          <p:cNvSpPr txBox="1"/>
          <p:nvPr/>
        </p:nvSpPr>
        <p:spPr>
          <a:xfrm>
            <a:off x="7829550" y="2679573"/>
            <a:ext cx="2083246" cy="194310"/>
          </a:xfrm>
          <a:prstGeom prst="rect">
            <a:avLst/>
          </a:prstGeom>
          <a:noFill/>
        </p:spPr>
        <p:txBody>
          <a:bodyPr wrap="none" lIns="0" tIns="0" rIns="0" bIns="0">
            <a:spAutoFit/>
          </a:bodyPr>
          <a:lstStyle/>
          <a:p>
            <a:r>
              <a:rPr sz="1150" b="0">
                <a:solidFill>
                  <a:srgbClr val="2E2E2E"/>
                </a:solidFill>
                <a:latin typeface="Calibri"/>
              </a:rPr>
              <a:t>the forecast period to account for</a:t>
            </a:r>
          </a:p>
        </p:txBody>
      </p:sp>
      <p:pic>
        <p:nvPicPr>
          <p:cNvPr id="60" name="Picture 59" descr="lock.png"/>
          <p:cNvPicPr>
            <a:picLocks noChangeAspect="1"/>
          </p:cNvPicPr>
          <p:nvPr/>
        </p:nvPicPr>
        <p:blipFill>
          <a:blip r:embed="rId5"/>
          <a:stretch>
            <a:fillRect/>
          </a:stretch>
        </p:blipFill>
        <p:spPr>
          <a:xfrm>
            <a:off x="9861950" y="2669349"/>
            <a:ext cx="134549" cy="195707"/>
          </a:xfrm>
          <a:prstGeom prst="rect">
            <a:avLst/>
          </a:prstGeom>
        </p:spPr>
      </p:pic>
      <p:sp>
        <p:nvSpPr>
          <p:cNvPr id="61" name="TextBox 60"/>
          <p:cNvSpPr txBox="1"/>
          <p:nvPr/>
        </p:nvSpPr>
        <p:spPr>
          <a:xfrm>
            <a:off x="10037059" y="267957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2"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10.3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End-use Application</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End-use Application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End-use Application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4 sub-segments of End-use Application,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End-use Application segment categorizes the market by end-use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2338388" cy="438089"/>
          </a:xfrm>
          <a:prstGeom prst="rect">
            <a:avLst/>
          </a:prstGeom>
          <a:noFill/>
        </p:spPr>
        <p:txBody>
          <a:bodyPr wrap="square" lIns="28575" tIns="9525" rIns="28575" bIns="9525" anchor="ctr">
            <a:spAutoFit/>
          </a:bodyPr>
          <a:lstStyle/>
          <a:p>
            <a:pPr algn="ctr"/>
            <a:r>
              <a:rPr sz="1100" b="1">
                <a:solidFill>
                  <a:srgbClr val="FFFFFF"/>
                </a:solidFill>
                <a:latin typeface="Calibri"/>
              </a:rPr>
              <a:t>Support for Observable Age-Relate…</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33888" y="1773916"/>
            <a:ext cx="2338388" cy="438089"/>
          </a:xfrm>
          <a:prstGeom prst="rect">
            <a:avLst/>
          </a:prstGeom>
          <a:noFill/>
        </p:spPr>
        <p:txBody>
          <a:bodyPr wrap="square" lIns="28575" tIns="9525" rIns="28575" bIns="9525" anchor="ctr">
            <a:spAutoFit/>
          </a:bodyPr>
          <a:lstStyle/>
          <a:p>
            <a:pPr algn="ctr"/>
            <a:r>
              <a:rPr sz="1100" b="1">
                <a:solidFill>
                  <a:srgbClr val="FFFFFF"/>
                </a:solidFill>
                <a:latin typeface="Calibri"/>
              </a:rPr>
              <a:t>Routine Cognitive Wellness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62775" y="1773916"/>
            <a:ext cx="2338388" cy="438089"/>
          </a:xfrm>
          <a:prstGeom prst="rect">
            <a:avLst/>
          </a:prstGeom>
          <a:noFill/>
        </p:spPr>
        <p:txBody>
          <a:bodyPr wrap="square" lIns="28575" tIns="9525" rIns="28575" bIns="9525" anchor="ctr">
            <a:spAutoFit/>
          </a:bodyPr>
          <a:lstStyle/>
          <a:p>
            <a:pPr algn="ctr"/>
            <a:r>
              <a:rPr sz="1100" b="1">
                <a:solidFill>
                  <a:srgbClr val="FFFFFF"/>
                </a:solidFill>
                <a:latin typeface="Calibri"/>
              </a:rPr>
              <a:t>Preventive Cognitive Support for…</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491662" y="1773916"/>
            <a:ext cx="2338388" cy="438089"/>
          </a:xfrm>
          <a:prstGeom prst="rect">
            <a:avLst/>
          </a:prstGeom>
          <a:noFill/>
        </p:spPr>
        <p:txBody>
          <a:bodyPr wrap="square" lIns="28575" tIns="9525" rIns="28575" bIns="9525" anchor="ctr">
            <a:spAutoFit/>
          </a:bodyPr>
          <a:lstStyle/>
          <a:p>
            <a:pPr algn="ctr"/>
            <a:r>
              <a:rPr sz="1100" b="1">
                <a:solidFill>
                  <a:srgbClr val="FFFFFF"/>
                </a:solidFill>
                <a:latin typeface="Calibri"/>
              </a:rPr>
              <a:t>Veterinary-Guided Cognitive Dysfu…</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7200" y="4219912"/>
            <a:ext cx="2971800" cy="2117429"/>
          </a:xfrm>
          <a:prstGeom prst="rect">
            <a:avLst/>
          </a:prstGeom>
          <a:noFill/>
        </p:spPr>
        <p:txBody>
          <a:bodyPr wrap="square" lIns="28575" tIns="9525" rIns="28575" bIns="9525">
            <a:spAutoFit/>
          </a:bodyPr>
          <a:lstStyle/>
          <a:p>
            <a:pPr algn="l">
              <a:lnSpc>
                <a:spcPct val="105000"/>
              </a:lnSpc>
              <a:spcBef>
                <a:spcPts val="0"/>
              </a:spcBef>
              <a:spcAft>
                <a:spcPts val="300"/>
              </a:spcAft>
            </a:pPr>
            <a:endParaRPr/>
          </a:p>
          <a:p>
            <a:pPr algn="l">
              <a:lnSpc>
                <a:spcPct val="105000"/>
              </a:lnSpc>
              <a:spcBef>
                <a:spcPts val="0"/>
              </a:spcBef>
              <a:spcAft>
                <a:spcPts val="300"/>
              </a:spcAft>
            </a:pPr>
            <a:endParaRP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63" name="Picture 62" descr="6_858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9_989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3_8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2_363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3_969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5_3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867_5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1_910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8_2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811_3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1_878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8_8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905910" cy="179984"/>
          </a:xfrm>
          <a:prstGeom prst="rect">
            <a:avLst/>
          </a:prstGeom>
          <a:noFill/>
        </p:spPr>
        <p:txBody>
          <a:bodyPr wrap="none" lIns="0" tIns="0" rIns="0" bIns="0">
            <a:spAutoFit/>
          </a:bodyPr>
          <a:lstStyle/>
          <a:p>
            <a:r>
              <a:rPr sz="1055" b="0">
                <a:solidFill>
                  <a:srgbClr val="2E2E2E"/>
                </a:solidFill>
                <a:latin typeface="Calibri"/>
              </a:rPr>
              <a:t>Among senior dog cognitive supplement by end-use</a:t>
            </a:r>
          </a:p>
        </p:txBody>
      </p:sp>
      <p:sp>
        <p:nvSpPr>
          <p:cNvPr id="80" name="TextBox 79"/>
          <p:cNvSpPr txBox="1"/>
          <p:nvPr/>
        </p:nvSpPr>
        <p:spPr>
          <a:xfrm>
            <a:off x="485775" y="4390371"/>
            <a:ext cx="2913245" cy="179984"/>
          </a:xfrm>
          <a:prstGeom prst="rect">
            <a:avLst/>
          </a:prstGeom>
          <a:noFill/>
        </p:spPr>
        <p:txBody>
          <a:bodyPr wrap="none" lIns="0" tIns="0" rIns="0" bIns="0">
            <a:spAutoFit/>
          </a:bodyPr>
          <a:lstStyle/>
          <a:p>
            <a:r>
              <a:rPr sz="1055" b="0">
                <a:solidFill>
                  <a:srgbClr val="2E2E2E"/>
                </a:solidFill>
                <a:latin typeface="Calibri"/>
              </a:rPr>
              <a:t>application, veterinary-guided cognitive dysfunction</a:t>
            </a:r>
          </a:p>
        </p:txBody>
      </p:sp>
      <p:sp>
        <p:nvSpPr>
          <p:cNvPr id="81" name="TextBox 80"/>
          <p:cNvSpPr txBox="1"/>
          <p:nvPr/>
        </p:nvSpPr>
        <p:spPr>
          <a:xfrm>
            <a:off x="485775" y="4551305"/>
            <a:ext cx="2882860" cy="179984"/>
          </a:xfrm>
          <a:prstGeom prst="rect">
            <a:avLst/>
          </a:prstGeom>
          <a:noFill/>
        </p:spPr>
        <p:txBody>
          <a:bodyPr wrap="none" lIns="0" tIns="0" rIns="0" bIns="0">
            <a:spAutoFit/>
          </a:bodyPr>
          <a:lstStyle/>
          <a:p>
            <a:r>
              <a:rPr sz="1055" b="0">
                <a:solidFill>
                  <a:srgbClr val="2E2E2E"/>
                </a:solidFill>
                <a:latin typeface="Calibri"/>
              </a:rPr>
              <a:t>support segment is expected to witness the highest</a:t>
            </a:r>
          </a:p>
        </p:txBody>
      </p:sp>
      <p:sp>
        <p:nvSpPr>
          <p:cNvPr id="82" name="TextBox 81"/>
          <p:cNvSpPr txBox="1"/>
          <p:nvPr/>
        </p:nvSpPr>
        <p:spPr>
          <a:xfrm>
            <a:off x="485775" y="4712240"/>
            <a:ext cx="524620" cy="179984"/>
          </a:xfrm>
          <a:prstGeom prst="rect">
            <a:avLst/>
          </a:prstGeom>
          <a:noFill/>
        </p:spPr>
        <p:txBody>
          <a:bodyPr wrap="none" lIns="0" tIns="0" rIns="0" bIns="0">
            <a:spAutoFit/>
          </a:bodyPr>
          <a:lstStyle/>
          <a:p>
            <a:r>
              <a:rPr sz="1055" b="0">
                <a:solidFill>
                  <a:srgbClr val="2E2E2E"/>
                </a:solidFill>
                <a:latin typeface="Calibri"/>
              </a:rPr>
              <a:t>CAGR of</a:t>
            </a:r>
          </a:p>
        </p:txBody>
      </p:sp>
      <p:pic>
        <p:nvPicPr>
          <p:cNvPr id="83" name="Picture 82" descr="lock.png"/>
          <p:cNvPicPr>
            <a:picLocks noChangeAspect="1"/>
          </p:cNvPicPr>
          <p:nvPr/>
        </p:nvPicPr>
        <p:blipFill>
          <a:blip r:embed="rId16"/>
          <a:stretch>
            <a:fillRect/>
          </a:stretch>
        </p:blipFill>
        <p:spPr>
          <a:xfrm>
            <a:off x="957477" y="4702852"/>
            <a:ext cx="123551" cy="179710"/>
          </a:xfrm>
          <a:prstGeom prst="rect">
            <a:avLst/>
          </a:prstGeom>
        </p:spPr>
      </p:pic>
      <p:sp>
        <p:nvSpPr>
          <p:cNvPr id="84" name="TextBox 83"/>
          <p:cNvSpPr txBox="1"/>
          <p:nvPr/>
        </p:nvSpPr>
        <p:spPr>
          <a:xfrm>
            <a:off x="1118273" y="4712240"/>
            <a:ext cx="2053566" cy="179984"/>
          </a:xfrm>
          <a:prstGeom prst="rect">
            <a:avLst/>
          </a:prstGeom>
          <a:noFill/>
        </p:spPr>
        <p:txBody>
          <a:bodyPr wrap="none" lIns="0" tIns="0" rIns="0" bIns="0">
            <a:spAutoFit/>
          </a:bodyPr>
          <a:lstStyle/>
          <a:p>
            <a:r>
              <a:rPr sz="1055" b="0">
                <a:solidFill>
                  <a:srgbClr val="2E2E2E"/>
                </a:solidFill>
                <a:latin typeface="Calibri"/>
              </a:rPr>
              <a:t>over the forecast period. In terms of</a:t>
            </a:r>
          </a:p>
        </p:txBody>
      </p:sp>
      <p:sp>
        <p:nvSpPr>
          <p:cNvPr id="85" name="TextBox 84"/>
          <p:cNvSpPr txBox="1"/>
          <p:nvPr/>
        </p:nvSpPr>
        <p:spPr>
          <a:xfrm>
            <a:off x="485775" y="4873174"/>
            <a:ext cx="2857976" cy="179984"/>
          </a:xfrm>
          <a:prstGeom prst="rect">
            <a:avLst/>
          </a:prstGeom>
          <a:noFill/>
        </p:spPr>
        <p:txBody>
          <a:bodyPr wrap="none" lIns="0" tIns="0" rIns="0" bIns="0">
            <a:spAutoFit/>
          </a:bodyPr>
          <a:lstStyle/>
          <a:p>
            <a:r>
              <a:rPr sz="1055" b="0">
                <a:solidFill>
                  <a:srgbClr val="2E2E2E"/>
                </a:solidFill>
                <a:latin typeface="Calibri"/>
              </a:rPr>
              <a:t>value share by end-use application, the support for</a:t>
            </a:r>
          </a:p>
        </p:txBody>
      </p:sp>
      <p:sp>
        <p:nvSpPr>
          <p:cNvPr id="86" name="TextBox 85"/>
          <p:cNvSpPr txBox="1"/>
          <p:nvPr/>
        </p:nvSpPr>
        <p:spPr>
          <a:xfrm>
            <a:off x="485775" y="5034109"/>
            <a:ext cx="2914650" cy="179984"/>
          </a:xfrm>
          <a:prstGeom prst="rect">
            <a:avLst/>
          </a:prstGeom>
          <a:noFill/>
        </p:spPr>
        <p:txBody>
          <a:bodyPr wrap="none" lIns="0" tIns="0" rIns="0" bIns="0">
            <a:spAutoFit/>
          </a:bodyPr>
          <a:lstStyle/>
          <a:p>
            <a:r>
              <a:rPr sz="1055" b="0">
                <a:solidFill>
                  <a:srgbClr val="2E2E2E"/>
                </a:solidFill>
                <a:latin typeface="Calibri"/>
              </a:rPr>
              <a:t>observable age-related cognitive changes segment is</a:t>
            </a:r>
          </a:p>
        </p:txBody>
      </p:sp>
      <p:sp>
        <p:nvSpPr>
          <p:cNvPr id="87" name="TextBox 86"/>
          <p:cNvSpPr txBox="1"/>
          <p:nvPr/>
        </p:nvSpPr>
        <p:spPr>
          <a:xfrm>
            <a:off x="485775" y="5195043"/>
            <a:ext cx="2296382" cy="179984"/>
          </a:xfrm>
          <a:prstGeom prst="rect">
            <a:avLst/>
          </a:prstGeom>
          <a:noFill/>
        </p:spPr>
        <p:txBody>
          <a:bodyPr wrap="none" lIns="0" tIns="0" rIns="0" bIns="0">
            <a:spAutoFit/>
          </a:bodyPr>
          <a:lstStyle/>
          <a:p>
            <a:r>
              <a:rPr sz="1055" b="0">
                <a:solidFill>
                  <a:srgbClr val="2E2E2E"/>
                </a:solidFill>
                <a:latin typeface="Calibri"/>
              </a:rPr>
              <a:t>expected to dominate the market, losing</a:t>
            </a:r>
          </a:p>
        </p:txBody>
      </p:sp>
      <p:pic>
        <p:nvPicPr>
          <p:cNvPr id="88" name="Picture 87" descr="lock.png"/>
          <p:cNvPicPr>
            <a:picLocks noChangeAspect="1"/>
          </p:cNvPicPr>
          <p:nvPr/>
        </p:nvPicPr>
        <p:blipFill>
          <a:blip r:embed="rId16"/>
          <a:stretch>
            <a:fillRect/>
          </a:stretch>
        </p:blipFill>
        <p:spPr>
          <a:xfrm>
            <a:off x="2729238" y="5185655"/>
            <a:ext cx="123551" cy="179710"/>
          </a:xfrm>
          <a:prstGeom prst="rect">
            <a:avLst/>
          </a:prstGeom>
        </p:spPr>
      </p:pic>
      <p:sp>
        <p:nvSpPr>
          <p:cNvPr id="89" name="TextBox 88"/>
          <p:cNvSpPr txBox="1"/>
          <p:nvPr/>
        </p:nvSpPr>
        <p:spPr>
          <a:xfrm>
            <a:off x="2890034" y="5195043"/>
            <a:ext cx="280249" cy="179984"/>
          </a:xfrm>
          <a:prstGeom prst="rect">
            <a:avLst/>
          </a:prstGeom>
          <a:noFill/>
        </p:spPr>
        <p:txBody>
          <a:bodyPr wrap="none" lIns="0" tIns="0" rIns="0" bIns="0">
            <a:spAutoFit/>
          </a:bodyPr>
          <a:lstStyle/>
          <a:p>
            <a:r>
              <a:rPr sz="1055" b="0">
                <a:solidFill>
                  <a:srgbClr val="2E2E2E"/>
                </a:solidFill>
                <a:latin typeface="Calibri"/>
              </a:rPr>
              <a:t>BPS</a:t>
            </a:r>
          </a:p>
        </p:txBody>
      </p:sp>
      <p:sp>
        <p:nvSpPr>
          <p:cNvPr id="90" name="TextBox 89"/>
          <p:cNvSpPr txBox="1"/>
          <p:nvPr/>
        </p:nvSpPr>
        <p:spPr>
          <a:xfrm>
            <a:off x="485775" y="5355977"/>
            <a:ext cx="1099589" cy="179984"/>
          </a:xfrm>
          <a:prstGeom prst="rect">
            <a:avLst/>
          </a:prstGeom>
          <a:noFill/>
        </p:spPr>
        <p:txBody>
          <a:bodyPr wrap="none" lIns="0" tIns="0" rIns="0" bIns="0">
            <a:spAutoFit/>
          </a:bodyPr>
          <a:lstStyle/>
          <a:p>
            <a:r>
              <a:rPr sz="1055" b="0">
                <a:solidFill>
                  <a:srgbClr val="2E2E2E"/>
                </a:solidFill>
                <a:latin typeface="Calibri"/>
              </a:rPr>
              <a:t>and accounting for</a:t>
            </a:r>
          </a:p>
        </p:txBody>
      </p:sp>
      <p:pic>
        <p:nvPicPr>
          <p:cNvPr id="91" name="Picture 90" descr="lock.png"/>
          <p:cNvPicPr>
            <a:picLocks noChangeAspect="1"/>
          </p:cNvPicPr>
          <p:nvPr/>
        </p:nvPicPr>
        <p:blipFill>
          <a:blip r:embed="rId16"/>
          <a:stretch>
            <a:fillRect/>
          </a:stretch>
        </p:blipFill>
        <p:spPr>
          <a:xfrm>
            <a:off x="1532446" y="5346589"/>
            <a:ext cx="123551" cy="179710"/>
          </a:xfrm>
          <a:prstGeom prst="rect">
            <a:avLst/>
          </a:prstGeom>
        </p:spPr>
      </p:pic>
      <p:sp>
        <p:nvSpPr>
          <p:cNvPr id="92" name="TextBox 91"/>
          <p:cNvSpPr txBox="1"/>
          <p:nvPr/>
        </p:nvSpPr>
        <p:spPr>
          <a:xfrm>
            <a:off x="1693242" y="5355977"/>
            <a:ext cx="875109" cy="179984"/>
          </a:xfrm>
          <a:prstGeom prst="rect">
            <a:avLst/>
          </a:prstGeom>
          <a:noFill/>
        </p:spPr>
        <p:txBody>
          <a:bodyPr wrap="none" lIns="0" tIns="0" rIns="0" bIns="0">
            <a:spAutoFit/>
          </a:bodyPr>
          <a:lstStyle/>
          <a:p>
            <a:r>
              <a:rPr sz="1055" b="0">
                <a:solidFill>
                  <a:srgbClr val="2E2E2E"/>
                </a:solidFill>
                <a:latin typeface="Calibri"/>
              </a:rPr>
              <a:t>share by 2036.</a:t>
            </a:r>
          </a:p>
        </p:txBody>
      </p:sp>
      <p:sp>
        <p:nvSpPr>
          <p:cNvPr id="93" name="TextBox 92"/>
          <p:cNvSpPr txBox="1"/>
          <p:nvPr/>
        </p:nvSpPr>
        <p:spPr>
          <a:xfrm>
            <a:off x="485775" y="5565192"/>
            <a:ext cx="2914650" cy="179984"/>
          </a:xfrm>
          <a:prstGeom prst="rect">
            <a:avLst/>
          </a:prstGeom>
          <a:noFill/>
        </p:spPr>
        <p:txBody>
          <a:bodyPr wrap="none" lIns="0" tIns="0" rIns="0" bIns="0">
            <a:spAutoFit/>
          </a:bodyPr>
          <a:lstStyle/>
          <a:p>
            <a:r>
              <a:rPr sz="1055" b="0">
                <a:solidFill>
                  <a:srgbClr val="2E2E2E"/>
                </a:solidFill>
                <a:latin typeface="Calibri"/>
              </a:rPr>
              <a:t>Support for observable age-related cognitive changes</a:t>
            </a:r>
          </a:p>
        </p:txBody>
      </p:sp>
      <p:sp>
        <p:nvSpPr>
          <p:cNvPr id="94" name="TextBox 93"/>
          <p:cNvSpPr txBox="1"/>
          <p:nvPr/>
        </p:nvSpPr>
        <p:spPr>
          <a:xfrm>
            <a:off x="485775" y="5726126"/>
            <a:ext cx="1813631" cy="179984"/>
          </a:xfrm>
          <a:prstGeom prst="rect">
            <a:avLst/>
          </a:prstGeom>
          <a:noFill/>
        </p:spPr>
        <p:txBody>
          <a:bodyPr wrap="none" lIns="0" tIns="0" rIns="0" bIns="0">
            <a:spAutoFit/>
          </a:bodyPr>
          <a:lstStyle/>
          <a:p>
            <a:r>
              <a:rPr sz="1055" b="0">
                <a:solidFill>
                  <a:srgbClr val="2E2E2E"/>
                </a:solidFill>
                <a:latin typeface="Calibri"/>
              </a:rPr>
              <a:t>segment is projected to register</a:t>
            </a:r>
          </a:p>
        </p:txBody>
      </p:sp>
      <p:pic>
        <p:nvPicPr>
          <p:cNvPr id="95" name="Picture 94" descr="lock.png"/>
          <p:cNvPicPr>
            <a:picLocks noChangeAspect="1"/>
          </p:cNvPicPr>
          <p:nvPr/>
        </p:nvPicPr>
        <p:blipFill>
          <a:blip r:embed="rId16"/>
          <a:stretch>
            <a:fillRect/>
          </a:stretch>
        </p:blipFill>
        <p:spPr>
          <a:xfrm>
            <a:off x="2246487" y="5716739"/>
            <a:ext cx="123551" cy="179710"/>
          </a:xfrm>
          <a:prstGeom prst="rect">
            <a:avLst/>
          </a:prstGeom>
        </p:spPr>
      </p:pic>
      <p:sp>
        <p:nvSpPr>
          <p:cNvPr id="96" name="TextBox 95"/>
          <p:cNvSpPr txBox="1"/>
          <p:nvPr/>
        </p:nvSpPr>
        <p:spPr>
          <a:xfrm>
            <a:off x="2407283" y="5726126"/>
            <a:ext cx="848129" cy="179984"/>
          </a:xfrm>
          <a:prstGeom prst="rect">
            <a:avLst/>
          </a:prstGeom>
          <a:noFill/>
        </p:spPr>
        <p:txBody>
          <a:bodyPr wrap="none" lIns="0" tIns="0" rIns="0" bIns="0">
            <a:spAutoFit/>
          </a:bodyPr>
          <a:lstStyle/>
          <a:p>
            <a:r>
              <a:rPr sz="1055" b="0">
                <a:solidFill>
                  <a:srgbClr val="2E2E2E"/>
                </a:solidFill>
                <a:latin typeface="Calibri"/>
              </a:rPr>
              <a:t>X higher value</a:t>
            </a:r>
          </a:p>
        </p:txBody>
      </p:sp>
      <p:sp>
        <p:nvSpPr>
          <p:cNvPr id="97" name="TextBox 96"/>
          <p:cNvSpPr txBox="1"/>
          <p:nvPr/>
        </p:nvSpPr>
        <p:spPr>
          <a:xfrm>
            <a:off x="485775" y="5887061"/>
            <a:ext cx="2751105" cy="179984"/>
          </a:xfrm>
          <a:prstGeom prst="rect">
            <a:avLst/>
          </a:prstGeom>
          <a:noFill/>
        </p:spPr>
        <p:txBody>
          <a:bodyPr wrap="none" lIns="0" tIns="0" rIns="0" bIns="0">
            <a:spAutoFit/>
          </a:bodyPr>
          <a:lstStyle/>
          <a:p>
            <a:r>
              <a:rPr sz="1055" b="0">
                <a:solidFill>
                  <a:srgbClr val="2E2E2E"/>
                </a:solidFill>
                <a:latin typeface="Calibri"/>
              </a:rPr>
              <a:t>than routine cognitive wellness segment in 2036.</a:t>
            </a:r>
          </a:p>
        </p:txBody>
      </p:sp>
      <p:sp>
        <p:nvSpPr>
          <p:cNvPr id="98" name="TextBox 97"/>
          <p:cNvSpPr txBox="1"/>
          <p:nvPr/>
        </p:nvSpPr>
        <p:spPr>
          <a:xfrm>
            <a:off x="3838575" y="4229437"/>
            <a:ext cx="3422178" cy="186689"/>
          </a:xfrm>
          <a:prstGeom prst="rect">
            <a:avLst/>
          </a:prstGeom>
          <a:noFill/>
        </p:spPr>
        <p:txBody>
          <a:bodyPr wrap="none" lIns="0" tIns="0" rIns="0" bIns="0">
            <a:spAutoFit/>
          </a:bodyPr>
          <a:lstStyle/>
          <a:p>
            <a:r>
              <a:rPr sz="1100" b="1">
                <a:solidFill>
                  <a:srgbClr val="0B2E4A"/>
                </a:solidFill>
                <a:latin typeface="Calibri"/>
              </a:rPr>
              <a:t>● Support for Observable Age-Related Cognitive Changes:</a:t>
            </a:r>
          </a:p>
        </p:txBody>
      </p:sp>
      <p:pic>
        <p:nvPicPr>
          <p:cNvPr id="99" name="Picture 98" descr="lock.png"/>
          <p:cNvPicPr>
            <a:picLocks noChangeAspect="1"/>
          </p:cNvPicPr>
          <p:nvPr/>
        </p:nvPicPr>
        <p:blipFill>
          <a:blip r:embed="rId16"/>
          <a:stretch>
            <a:fillRect/>
          </a:stretch>
        </p:blipFill>
        <p:spPr>
          <a:xfrm>
            <a:off x="7208805" y="4219658"/>
            <a:ext cx="128699" cy="187198"/>
          </a:xfrm>
          <a:prstGeom prst="rect">
            <a:avLst/>
          </a:prstGeom>
        </p:spPr>
      </p:pic>
      <p:sp>
        <p:nvSpPr>
          <p:cNvPr id="100" name="TextBox 99"/>
          <p:cNvSpPr txBox="1"/>
          <p:nvPr/>
        </p:nvSpPr>
        <p:spPr>
          <a:xfrm>
            <a:off x="7376301" y="4229437"/>
            <a:ext cx="510852" cy="186689"/>
          </a:xfrm>
          <a:prstGeom prst="rect">
            <a:avLst/>
          </a:prstGeom>
          <a:noFill/>
        </p:spPr>
        <p:txBody>
          <a:bodyPr wrap="none" lIns="0" tIns="0" rIns="0" bIns="0">
            <a:spAutoFit/>
          </a:bodyPr>
          <a:lstStyle/>
          <a:p>
            <a:r>
              <a:rPr sz="1100" b="1">
                <a:solidFill>
                  <a:srgbClr val="0B2E4A"/>
                </a:solidFill>
                <a:latin typeface="Calibri"/>
              </a:rPr>
              <a:t>of 2026</a:t>
            </a:r>
          </a:p>
        </p:txBody>
      </p:sp>
      <p:sp>
        <p:nvSpPr>
          <p:cNvPr id="101" name="TextBox 100"/>
          <p:cNvSpPr txBox="1"/>
          <p:nvPr/>
        </p:nvSpPr>
        <p:spPr>
          <a:xfrm>
            <a:off x="3838575" y="4397077"/>
            <a:ext cx="460102" cy="186689"/>
          </a:xfrm>
          <a:prstGeom prst="rect">
            <a:avLst/>
          </a:prstGeom>
          <a:noFill/>
        </p:spPr>
        <p:txBody>
          <a:bodyPr wrap="none" lIns="0" tIns="0" rIns="0" bIns="0">
            <a:spAutoFit/>
          </a:bodyPr>
          <a:lstStyle/>
          <a:p>
            <a:r>
              <a:rPr sz="1100" b="1">
                <a:solidFill>
                  <a:srgbClr val="0B2E4A"/>
                </a:solidFill>
                <a:latin typeface="Calibri"/>
              </a:rPr>
              <a:t>value ·</a:t>
            </a:r>
          </a:p>
        </p:txBody>
      </p:sp>
      <p:pic>
        <p:nvPicPr>
          <p:cNvPr id="102" name="Picture 101" descr="lock.png"/>
          <p:cNvPicPr>
            <a:picLocks noChangeAspect="1"/>
          </p:cNvPicPr>
          <p:nvPr/>
        </p:nvPicPr>
        <p:blipFill>
          <a:blip r:embed="rId16"/>
          <a:stretch>
            <a:fillRect/>
          </a:stretch>
        </p:blipFill>
        <p:spPr>
          <a:xfrm>
            <a:off x="4246728" y="4387298"/>
            <a:ext cx="128699" cy="187198"/>
          </a:xfrm>
          <a:prstGeom prst="rect">
            <a:avLst/>
          </a:prstGeom>
        </p:spPr>
      </p:pic>
      <p:sp>
        <p:nvSpPr>
          <p:cNvPr id="103" name="TextBox 102"/>
          <p:cNvSpPr txBox="1"/>
          <p:nvPr/>
        </p:nvSpPr>
        <p:spPr>
          <a:xfrm>
            <a:off x="4414224" y="4397077"/>
            <a:ext cx="1533201" cy="186689"/>
          </a:xfrm>
          <a:prstGeom prst="rect">
            <a:avLst/>
          </a:prstGeom>
          <a:noFill/>
        </p:spPr>
        <p:txBody>
          <a:bodyPr wrap="none" lIns="0" tIns="0" rIns="0" bIns="0">
            <a:spAutoFit/>
          </a:bodyPr>
          <a:lstStyle/>
          <a:p>
            <a:r>
              <a:rPr sz="1100" b="1">
                <a:solidFill>
                  <a:srgbClr val="0B2E4A"/>
                </a:solidFill>
                <a:latin typeface="Calibri"/>
              </a:rPr>
              <a:t>CAGR leads the segment.</a:t>
            </a:r>
          </a:p>
        </p:txBody>
      </p:sp>
      <p:sp>
        <p:nvSpPr>
          <p:cNvPr id="104" name="TextBox 103"/>
          <p:cNvSpPr txBox="1"/>
          <p:nvPr/>
        </p:nvSpPr>
        <p:spPr>
          <a:xfrm>
            <a:off x="3838575" y="4615009"/>
            <a:ext cx="1779612" cy="186689"/>
          </a:xfrm>
          <a:prstGeom prst="rect">
            <a:avLst/>
          </a:prstGeom>
          <a:noFill/>
        </p:spPr>
        <p:txBody>
          <a:bodyPr wrap="none" lIns="0" tIns="0" rIns="0" bIns="0">
            <a:spAutoFit/>
          </a:bodyPr>
          <a:lstStyle/>
          <a:p>
            <a:r>
              <a:rPr sz="1100" b="0">
                <a:solidFill>
                  <a:srgbClr val="2E2E2E"/>
                </a:solidFill>
                <a:latin typeface="Calibri"/>
              </a:rPr>
              <a:t>● Routine Cognitive Wellness:</a:t>
            </a:r>
          </a:p>
        </p:txBody>
      </p:sp>
      <p:pic>
        <p:nvPicPr>
          <p:cNvPr id="105" name="Picture 104" descr="lock.png"/>
          <p:cNvPicPr>
            <a:picLocks noChangeAspect="1"/>
          </p:cNvPicPr>
          <p:nvPr/>
        </p:nvPicPr>
        <p:blipFill>
          <a:blip r:embed="rId16"/>
          <a:stretch>
            <a:fillRect/>
          </a:stretch>
        </p:blipFill>
        <p:spPr>
          <a:xfrm>
            <a:off x="5566238" y="4605230"/>
            <a:ext cx="128699" cy="187198"/>
          </a:xfrm>
          <a:prstGeom prst="rect">
            <a:avLst/>
          </a:prstGeom>
        </p:spPr>
      </p:pic>
      <p:sp>
        <p:nvSpPr>
          <p:cNvPr id="106" name="TextBox 105"/>
          <p:cNvSpPr txBox="1"/>
          <p:nvPr/>
        </p:nvSpPr>
        <p:spPr>
          <a:xfrm>
            <a:off x="5733734" y="461500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6593184" y="4605230"/>
            <a:ext cx="128699" cy="187198"/>
          </a:xfrm>
          <a:prstGeom prst="rect">
            <a:avLst/>
          </a:prstGeom>
        </p:spPr>
      </p:pic>
      <p:sp>
        <p:nvSpPr>
          <p:cNvPr id="108" name="TextBox 107"/>
          <p:cNvSpPr txBox="1"/>
          <p:nvPr/>
        </p:nvSpPr>
        <p:spPr>
          <a:xfrm>
            <a:off x="6760680" y="4615009"/>
            <a:ext cx="885733" cy="186689"/>
          </a:xfrm>
          <a:prstGeom prst="rect">
            <a:avLst/>
          </a:prstGeom>
          <a:noFill/>
        </p:spPr>
        <p:txBody>
          <a:bodyPr wrap="none" lIns="0" tIns="0" rIns="0" bIns="0">
            <a:spAutoFit/>
          </a:bodyPr>
          <a:lstStyle/>
          <a:p>
            <a:r>
              <a:rPr sz="1100" b="0">
                <a:solidFill>
                  <a:srgbClr val="2E2E2E"/>
                </a:solidFill>
                <a:latin typeface="Calibri"/>
              </a:rPr>
              <a:t>CAGR serves a</a:t>
            </a:r>
          </a:p>
        </p:txBody>
      </p:sp>
      <p:sp>
        <p:nvSpPr>
          <p:cNvPr id="109" name="TextBox 108"/>
          <p:cNvSpPr txBox="1"/>
          <p:nvPr/>
        </p:nvSpPr>
        <p:spPr>
          <a:xfrm>
            <a:off x="3838575" y="4782649"/>
            <a:ext cx="419174" cy="186689"/>
          </a:xfrm>
          <a:prstGeom prst="rect">
            <a:avLst/>
          </a:prstGeom>
          <a:noFill/>
        </p:spPr>
        <p:txBody>
          <a:bodyPr wrap="none" lIns="0" tIns="0" rIns="0" bIns="0">
            <a:spAutoFit/>
          </a:bodyPr>
          <a:lstStyle/>
          <a:p>
            <a:r>
              <a:rPr sz="1100" b="0">
                <a:solidFill>
                  <a:srgbClr val="2E2E2E"/>
                </a:solidFill>
                <a:latin typeface="Calibri"/>
              </a:rPr>
              <a:t>niche.</a:t>
            </a:r>
          </a:p>
        </p:txBody>
      </p:sp>
      <p:sp>
        <p:nvSpPr>
          <p:cNvPr id="110" name="TextBox 109"/>
          <p:cNvSpPr txBox="1"/>
          <p:nvPr/>
        </p:nvSpPr>
        <p:spPr>
          <a:xfrm>
            <a:off x="3838575" y="5000581"/>
            <a:ext cx="2847280" cy="186689"/>
          </a:xfrm>
          <a:prstGeom prst="rect">
            <a:avLst/>
          </a:prstGeom>
          <a:noFill/>
        </p:spPr>
        <p:txBody>
          <a:bodyPr wrap="none" lIns="0" tIns="0" rIns="0" bIns="0">
            <a:spAutoFit/>
          </a:bodyPr>
          <a:lstStyle/>
          <a:p>
            <a:r>
              <a:rPr sz="1100" b="1">
                <a:solidFill>
                  <a:srgbClr val="008189"/>
                </a:solidFill>
                <a:latin typeface="Calibri"/>
              </a:rPr>
              <a:t>● Preventive Cognitive Support for Senior Dogs:</a:t>
            </a:r>
          </a:p>
        </p:txBody>
      </p:sp>
      <p:pic>
        <p:nvPicPr>
          <p:cNvPr id="111" name="Picture 110" descr="lock.png"/>
          <p:cNvPicPr>
            <a:picLocks noChangeAspect="1"/>
          </p:cNvPicPr>
          <p:nvPr/>
        </p:nvPicPr>
        <p:blipFill>
          <a:blip r:embed="rId16"/>
          <a:stretch>
            <a:fillRect/>
          </a:stretch>
        </p:blipFill>
        <p:spPr>
          <a:xfrm>
            <a:off x="6633907" y="4990801"/>
            <a:ext cx="128699" cy="187198"/>
          </a:xfrm>
          <a:prstGeom prst="rect">
            <a:avLst/>
          </a:prstGeom>
        </p:spPr>
      </p:pic>
      <p:sp>
        <p:nvSpPr>
          <p:cNvPr id="112" name="TextBox 111"/>
          <p:cNvSpPr txBox="1"/>
          <p:nvPr/>
        </p:nvSpPr>
        <p:spPr>
          <a:xfrm>
            <a:off x="6801402" y="5000581"/>
            <a:ext cx="926405" cy="186689"/>
          </a:xfrm>
          <a:prstGeom prst="rect">
            <a:avLst/>
          </a:prstGeom>
          <a:noFill/>
        </p:spPr>
        <p:txBody>
          <a:bodyPr wrap="none" lIns="0" tIns="0" rIns="0" bIns="0">
            <a:spAutoFit/>
          </a:bodyPr>
          <a:lstStyle/>
          <a:p>
            <a:r>
              <a:rPr sz="1100" b="1">
                <a:solidFill>
                  <a:srgbClr val="008189"/>
                </a:solidFill>
                <a:latin typeface="Calibri"/>
              </a:rPr>
              <a:t>of 2026 value ·</a:t>
            </a:r>
          </a:p>
        </p:txBody>
      </p:sp>
      <p:pic>
        <p:nvPicPr>
          <p:cNvPr id="113" name="Picture 112" descr="lock.png"/>
          <p:cNvPicPr>
            <a:picLocks noChangeAspect="1"/>
          </p:cNvPicPr>
          <p:nvPr/>
        </p:nvPicPr>
        <p:blipFill>
          <a:blip r:embed="rId16"/>
          <a:stretch>
            <a:fillRect/>
          </a:stretch>
        </p:blipFill>
        <p:spPr>
          <a:xfrm>
            <a:off x="3825107" y="5158441"/>
            <a:ext cx="128699" cy="187198"/>
          </a:xfrm>
          <a:prstGeom prst="rect">
            <a:avLst/>
          </a:prstGeom>
        </p:spPr>
      </p:pic>
      <p:sp>
        <p:nvSpPr>
          <p:cNvPr id="114" name="TextBox 113"/>
          <p:cNvSpPr txBox="1"/>
          <p:nvPr/>
        </p:nvSpPr>
        <p:spPr>
          <a:xfrm>
            <a:off x="3992603" y="5168221"/>
            <a:ext cx="1284633" cy="186689"/>
          </a:xfrm>
          <a:prstGeom prst="rect">
            <a:avLst/>
          </a:prstGeom>
          <a:noFill/>
        </p:spPr>
        <p:txBody>
          <a:bodyPr wrap="none" lIns="0" tIns="0" rIns="0" bIns="0">
            <a:spAutoFit/>
          </a:bodyPr>
          <a:lstStyle/>
          <a:p>
            <a:r>
              <a:rPr sz="1100" b="1">
                <a:solidFill>
                  <a:srgbClr val="008189"/>
                </a:solidFill>
                <a:latin typeface="Calibri"/>
              </a:rPr>
              <a:t>CAGR serves a niche.</a:t>
            </a:r>
          </a:p>
        </p:txBody>
      </p:sp>
      <p:sp>
        <p:nvSpPr>
          <p:cNvPr id="115" name="TextBox 114"/>
          <p:cNvSpPr txBox="1"/>
          <p:nvPr/>
        </p:nvSpPr>
        <p:spPr>
          <a:xfrm>
            <a:off x="3838575" y="5386153"/>
            <a:ext cx="3107580" cy="186689"/>
          </a:xfrm>
          <a:prstGeom prst="rect">
            <a:avLst/>
          </a:prstGeom>
          <a:noFill/>
        </p:spPr>
        <p:txBody>
          <a:bodyPr wrap="none" lIns="0" tIns="0" rIns="0" bIns="0">
            <a:spAutoFit/>
          </a:bodyPr>
          <a:lstStyle/>
          <a:p>
            <a:r>
              <a:rPr sz="1100" b="1">
                <a:solidFill>
                  <a:srgbClr val="6F3CC2"/>
                </a:solidFill>
                <a:latin typeface="Calibri"/>
              </a:rPr>
              <a:t>● Veterinary-Guided Cognitive Dysfunction Support:</a:t>
            </a:r>
          </a:p>
        </p:txBody>
      </p:sp>
      <p:pic>
        <p:nvPicPr>
          <p:cNvPr id="116" name="Picture 115" descr="lock.png"/>
          <p:cNvPicPr>
            <a:picLocks noChangeAspect="1"/>
          </p:cNvPicPr>
          <p:nvPr/>
        </p:nvPicPr>
        <p:blipFill>
          <a:blip r:embed="rId16"/>
          <a:stretch>
            <a:fillRect/>
          </a:stretch>
        </p:blipFill>
        <p:spPr>
          <a:xfrm>
            <a:off x="6894207" y="5376373"/>
            <a:ext cx="128699" cy="187198"/>
          </a:xfrm>
          <a:prstGeom prst="rect">
            <a:avLst/>
          </a:prstGeom>
        </p:spPr>
      </p:pic>
      <p:sp>
        <p:nvSpPr>
          <p:cNvPr id="117" name="TextBox 116"/>
          <p:cNvSpPr txBox="1"/>
          <p:nvPr/>
        </p:nvSpPr>
        <p:spPr>
          <a:xfrm>
            <a:off x="7061703" y="5386153"/>
            <a:ext cx="857374" cy="186689"/>
          </a:xfrm>
          <a:prstGeom prst="rect">
            <a:avLst/>
          </a:prstGeom>
          <a:noFill/>
        </p:spPr>
        <p:txBody>
          <a:bodyPr wrap="none" lIns="0" tIns="0" rIns="0" bIns="0">
            <a:spAutoFit/>
          </a:bodyPr>
          <a:lstStyle/>
          <a:p>
            <a:r>
              <a:rPr sz="1100" b="1">
                <a:solidFill>
                  <a:srgbClr val="6F3CC2"/>
                </a:solidFill>
                <a:latin typeface="Calibri"/>
              </a:rPr>
              <a:t>of 2026 value</a:t>
            </a:r>
          </a:p>
        </p:txBody>
      </p:sp>
      <p:sp>
        <p:nvSpPr>
          <p:cNvPr id="118" name="TextBox 117"/>
          <p:cNvSpPr txBox="1"/>
          <p:nvPr/>
        </p:nvSpPr>
        <p:spPr>
          <a:xfrm>
            <a:off x="3838575" y="5553793"/>
            <a:ext cx="113580" cy="186689"/>
          </a:xfrm>
          <a:prstGeom prst="rect">
            <a:avLst/>
          </a:prstGeom>
          <a:noFill/>
        </p:spPr>
        <p:txBody>
          <a:bodyPr wrap="none" lIns="0" tIns="0" rIns="0" bIns="0">
            <a:spAutoFit/>
          </a:bodyPr>
          <a:lstStyle/>
          <a:p>
            <a:r>
              <a:rPr sz="1100" b="1">
                <a:solidFill>
                  <a:srgbClr val="6F3CC2"/>
                </a:solidFill>
                <a:latin typeface="Calibri"/>
              </a:rPr>
              <a:t>·</a:t>
            </a:r>
          </a:p>
        </p:txBody>
      </p:sp>
      <p:pic>
        <p:nvPicPr>
          <p:cNvPr id="119" name="Picture 118" descr="lock.png"/>
          <p:cNvPicPr>
            <a:picLocks noChangeAspect="1"/>
          </p:cNvPicPr>
          <p:nvPr/>
        </p:nvPicPr>
        <p:blipFill>
          <a:blip r:embed="rId16"/>
          <a:stretch>
            <a:fillRect/>
          </a:stretch>
        </p:blipFill>
        <p:spPr>
          <a:xfrm>
            <a:off x="3900207" y="5544013"/>
            <a:ext cx="128699" cy="187198"/>
          </a:xfrm>
          <a:prstGeom prst="rect">
            <a:avLst/>
          </a:prstGeom>
        </p:spPr>
      </p:pic>
      <p:sp>
        <p:nvSpPr>
          <p:cNvPr id="120" name="TextBox 119"/>
          <p:cNvSpPr txBox="1"/>
          <p:nvPr/>
        </p:nvSpPr>
        <p:spPr>
          <a:xfrm>
            <a:off x="4067703" y="5553793"/>
            <a:ext cx="1245889" cy="186689"/>
          </a:xfrm>
          <a:prstGeom prst="rect">
            <a:avLst/>
          </a:prstGeom>
          <a:noFill/>
        </p:spPr>
        <p:txBody>
          <a:bodyPr wrap="none" lIns="0" tIns="0" rIns="0" bIns="0">
            <a:spAutoFit/>
          </a:bodyPr>
          <a:lstStyle/>
          <a:p>
            <a:r>
              <a:rPr sz="1100" b="1">
                <a:solidFill>
                  <a:srgbClr val="6F3CC2"/>
                </a:solidFill>
                <a:latin typeface="Calibri"/>
              </a:rPr>
              <a:t>CAGR grows fastest.</a:t>
            </a:r>
          </a:p>
        </p:txBody>
      </p:sp>
      <p:sp>
        <p:nvSpPr>
          <p:cNvPr id="121" name="TextBox 120"/>
          <p:cNvSpPr txBox="1"/>
          <p:nvPr/>
        </p:nvSpPr>
        <p:spPr>
          <a:xfrm>
            <a:off x="8524875" y="5842641"/>
            <a:ext cx="3006328" cy="194310"/>
          </a:xfrm>
          <a:prstGeom prst="rect">
            <a:avLst/>
          </a:prstGeom>
          <a:noFill/>
        </p:spPr>
        <p:txBody>
          <a:bodyPr wrap="none" lIns="0" tIns="0" rIns="0" bIns="0">
            <a:spAutoFit/>
          </a:bodyPr>
          <a:lstStyle/>
          <a:p>
            <a:r>
              <a:rPr sz="1150" b="1">
                <a:solidFill>
                  <a:srgbClr val="0B2E4A"/>
                </a:solidFill>
                <a:latin typeface="Calibri"/>
              </a:rPr>
              <a:t>The End-use Application segment is projected to</a:t>
            </a:r>
          </a:p>
        </p:txBody>
      </p:sp>
      <p:sp>
        <p:nvSpPr>
          <p:cNvPr id="122" name="TextBox 121"/>
          <p:cNvSpPr txBox="1"/>
          <p:nvPr/>
        </p:nvSpPr>
        <p:spPr>
          <a:xfrm>
            <a:off x="8524875" y="6017901"/>
            <a:ext cx="1177823" cy="194310"/>
          </a:xfrm>
          <a:prstGeom prst="rect">
            <a:avLst/>
          </a:prstGeom>
          <a:noFill/>
        </p:spPr>
        <p:txBody>
          <a:bodyPr wrap="none" lIns="0" tIns="0" rIns="0" bIns="0">
            <a:spAutoFit/>
          </a:bodyPr>
          <a:lstStyle/>
          <a:p>
            <a:r>
              <a:rPr sz="1150" b="1">
                <a:solidFill>
                  <a:srgbClr val="0B2E4A"/>
                </a:solidFill>
                <a:latin typeface="Calibri"/>
              </a:rPr>
              <a:t>grow at a CAGR of</a:t>
            </a:r>
          </a:p>
        </p:txBody>
      </p:sp>
      <p:pic>
        <p:nvPicPr>
          <p:cNvPr id="123" name="Picture 122" descr="lock.png"/>
          <p:cNvPicPr>
            <a:picLocks noChangeAspect="1"/>
          </p:cNvPicPr>
          <p:nvPr/>
        </p:nvPicPr>
        <p:blipFill>
          <a:blip r:embed="rId16"/>
          <a:stretch>
            <a:fillRect/>
          </a:stretch>
        </p:blipFill>
        <p:spPr>
          <a:xfrm>
            <a:off x="9651852" y="6007677"/>
            <a:ext cx="134549" cy="195707"/>
          </a:xfrm>
          <a:prstGeom prst="rect">
            <a:avLst/>
          </a:prstGeom>
        </p:spPr>
      </p:pic>
      <p:sp>
        <p:nvSpPr>
          <p:cNvPr id="124" name="TextBox 123"/>
          <p:cNvSpPr txBox="1"/>
          <p:nvPr/>
        </p:nvSpPr>
        <p:spPr>
          <a:xfrm>
            <a:off x="9826962"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Structure &amp; Attractiveness, By End-use Application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End-use Application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End-use Application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End-use Application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03769" cy="186689"/>
          </a:xfrm>
          <a:prstGeom prst="rect">
            <a:avLst/>
          </a:prstGeom>
          <a:noFill/>
        </p:spPr>
        <p:txBody>
          <a:bodyPr wrap="none" lIns="0" tIns="0" rIns="0" bIns="0">
            <a:spAutoFit/>
          </a:bodyPr>
          <a:lstStyle/>
          <a:p>
            <a:r>
              <a:rPr sz="1100" b="0">
                <a:solidFill>
                  <a:srgbClr val="2E2E2E"/>
                </a:solidFill>
                <a:latin typeface="Calibri"/>
              </a:rPr>
              <a:t>Support for observable age-related cognitive changes followed by veterinary-guided cognitive dysfunction support are expected to be the two most attractive end-use application segments in the global</a:t>
            </a:r>
          </a:p>
        </p:txBody>
      </p:sp>
      <p:sp>
        <p:nvSpPr>
          <p:cNvPr id="20" name="TextBox 19"/>
          <p:cNvSpPr txBox="1"/>
          <p:nvPr/>
        </p:nvSpPr>
        <p:spPr>
          <a:xfrm>
            <a:off x="257175" y="5861685"/>
            <a:ext cx="11468571" cy="186689"/>
          </a:xfrm>
          <a:prstGeom prst="rect">
            <a:avLst/>
          </a:prstGeom>
          <a:noFill/>
        </p:spPr>
        <p:txBody>
          <a:bodyPr wrap="none" lIns="0" tIns="0" rIns="0" bIns="0">
            <a:spAutoFit/>
          </a:bodyPr>
          <a:lstStyle/>
          <a:p>
            <a:r>
              <a:rPr sz="1100" b="0">
                <a:solidFill>
                  <a:srgbClr val="2E2E2E"/>
                </a:solidFill>
                <a:latin typeface="Calibri"/>
              </a:rPr>
              <a:t>senior dog cognitive supplement market in terms of value over the forecast period. Support for observable Age-Related cognitive changes and Veterinary-Guided cognitive dysfunction support exhibit a</a:t>
            </a:r>
          </a:p>
        </p:txBody>
      </p:sp>
      <p:sp>
        <p:nvSpPr>
          <p:cNvPr id="21" name="TextBox 20"/>
          <p:cNvSpPr txBox="1"/>
          <p:nvPr/>
        </p:nvSpPr>
        <p:spPr>
          <a:xfrm>
            <a:off x="257175" y="6029325"/>
            <a:ext cx="884096" cy="186689"/>
          </a:xfrm>
          <a:prstGeom prst="rect">
            <a:avLst/>
          </a:prstGeom>
          <a:noFill/>
        </p:spPr>
        <p:txBody>
          <a:bodyPr wrap="none" lIns="0" tIns="0" rIns="0" bIns="0">
            <a:spAutoFit/>
          </a:bodyPr>
          <a:lstStyle/>
          <a:p>
            <a:r>
              <a:rPr sz="1100" b="0">
                <a:solidFill>
                  <a:srgbClr val="2E2E2E"/>
                </a:solidFill>
                <a:latin typeface="Calibri"/>
              </a:rPr>
              <a:t>CAGR index of</a:t>
            </a:r>
          </a:p>
        </p:txBody>
      </p:sp>
      <p:pic>
        <p:nvPicPr>
          <p:cNvPr id="22" name="Picture 21" descr="lock.png"/>
          <p:cNvPicPr>
            <a:picLocks noChangeAspect="1"/>
          </p:cNvPicPr>
          <p:nvPr/>
        </p:nvPicPr>
        <p:blipFill>
          <a:blip r:embed="rId6"/>
          <a:stretch>
            <a:fillRect/>
          </a:stretch>
        </p:blipFill>
        <p:spPr>
          <a:xfrm>
            <a:off x="1089323" y="6019545"/>
            <a:ext cx="128699" cy="187198"/>
          </a:xfrm>
          <a:prstGeom prst="rect">
            <a:avLst/>
          </a:prstGeom>
        </p:spPr>
      </p:pic>
      <p:sp>
        <p:nvSpPr>
          <p:cNvPr id="23" name="TextBox 22"/>
          <p:cNvSpPr txBox="1"/>
          <p:nvPr/>
        </p:nvSpPr>
        <p:spPr>
          <a:xfrm>
            <a:off x="1256818" y="602932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1494713" y="6019545"/>
            <a:ext cx="128699" cy="187198"/>
          </a:xfrm>
          <a:prstGeom prst="rect">
            <a:avLst/>
          </a:prstGeom>
        </p:spPr>
      </p:pic>
      <p:sp>
        <p:nvSpPr>
          <p:cNvPr id="25" name="TextBox 24"/>
          <p:cNvSpPr txBox="1"/>
          <p:nvPr/>
        </p:nvSpPr>
        <p:spPr>
          <a:xfrm>
            <a:off x="1662209" y="6029325"/>
            <a:ext cx="1660921" cy="186689"/>
          </a:xfrm>
          <a:prstGeom prst="rect">
            <a:avLst/>
          </a:prstGeom>
          <a:noFill/>
        </p:spPr>
        <p:txBody>
          <a:bodyPr wrap="none" lIns="0" tIns="0" r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3271182" y="6019545"/>
            <a:ext cx="128699" cy="187198"/>
          </a:xfrm>
          <a:prstGeom prst="rect">
            <a:avLst/>
          </a:prstGeom>
        </p:spPr>
      </p:pic>
      <p:sp>
        <p:nvSpPr>
          <p:cNvPr id="27" name="TextBox 26"/>
          <p:cNvSpPr txBox="1"/>
          <p:nvPr/>
        </p:nvSpPr>
        <p:spPr>
          <a:xfrm>
            <a:off x="3438678" y="602932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3676572" y="6019545"/>
            <a:ext cx="128699" cy="187198"/>
          </a:xfrm>
          <a:prstGeom prst="rect">
            <a:avLst/>
          </a:prstGeom>
        </p:spPr>
      </p:pic>
      <p:sp>
        <p:nvSpPr>
          <p:cNvPr id="29" name="TextBox 28"/>
          <p:cNvSpPr txBox="1"/>
          <p:nvPr/>
        </p:nvSpPr>
        <p:spPr>
          <a:xfrm>
            <a:off x="3844068" y="6029325"/>
            <a:ext cx="2606352" cy="186689"/>
          </a:xfrm>
          <a:prstGeom prst="rect">
            <a:avLst/>
          </a:prstGeom>
          <a:noFill/>
        </p:spPr>
        <p:txBody>
          <a:bodyPr wrap="none" lIns="0" tIns="0" r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6398472" y="6019545"/>
            <a:ext cx="128699" cy="187198"/>
          </a:xfrm>
          <a:prstGeom prst="rect">
            <a:avLst/>
          </a:prstGeom>
        </p:spPr>
      </p:pic>
      <p:sp>
        <p:nvSpPr>
          <p:cNvPr id="31" name="TextBox 30"/>
          <p:cNvSpPr txBox="1"/>
          <p:nvPr/>
        </p:nvSpPr>
        <p:spPr>
          <a:xfrm>
            <a:off x="6565968" y="6029325"/>
            <a:ext cx="4365972" cy="186689"/>
          </a:xfrm>
          <a:prstGeom prst="rect">
            <a:avLst/>
          </a:prstGeom>
          <a:noFill/>
        </p:spPr>
        <p:txBody>
          <a:bodyPr wrap="none" lIns="0" tIns="0" rIns="0" bIns="0">
            <a:spAutoFit/>
          </a:bodyPr>
          <a:lstStyle/>
          <a:p>
            <a:r>
              <a:rPr sz="1100" b="0">
                <a:solidFill>
                  <a:srgbClr val="2E2E2E"/>
                </a:solidFill>
                <a:latin typeface="Calibri"/>
              </a:rPr>
              <a:t>. The routine cognitive wellness segment is expected to be less attractive as</a:t>
            </a:r>
          </a:p>
        </p:txBody>
      </p:sp>
      <p:sp>
        <p:nvSpPr>
          <p:cNvPr id="32" name="TextBox 31"/>
          <p:cNvSpPr txBox="1"/>
          <p:nvPr/>
        </p:nvSpPr>
        <p:spPr>
          <a:xfrm>
            <a:off x="257175" y="6196965"/>
            <a:ext cx="10606326" cy="186689"/>
          </a:xfrm>
          <a:prstGeom prst="rect">
            <a:avLst/>
          </a:prstGeom>
          <a:noFill/>
        </p:spPr>
        <p:txBody>
          <a:bodyPr wrap="none" lIns="0" tIns="0" rIns="0" bIns="0">
            <a:spAutoFit/>
          </a:bodyPr>
          <a:lstStyle/>
          <a:p>
            <a:r>
              <a:rPr sz="1100" b="0">
                <a:solidFill>
                  <a:srgbClr val="2E2E2E"/>
                </a:solidFill>
                <a:latin typeface="Calibri"/>
              </a:rPr>
              <a:t>compared to other segments over the forecast period, owing to its lower CAGR and incremental 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Analysis, By End-use Application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End-use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Routine Cognitive Wellness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Preventive Cognitive Support for Senior Dogs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Support for Observable Age-Related Cognitive Changes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Veterinary-Guided Cognitive Dysfunction Support</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Analysis, By End-use Application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End-use Application,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By End-use Application (US$ Mn)</a:t>
            </a:r>
          </a:p>
        </p:txBody>
      </p:sp>
      <p:graphicFrame>
        <p:nvGraphicFramePr>
          <p:cNvPr id="12" name="Table 11"/>
          <p:cNvGraphicFramePr>
            <a:graphicFrameLocks noGrp="1"/>
          </p:cNvGraphicFramePr>
          <p:nvPr/>
        </p:nvGraphicFramePr>
        <p:xfrm>
          <a:off x="152400" y="1238250"/>
          <a:ext cx="11887200" cy="1485896"/>
        </p:xfrm>
        <a:graphic>
          <a:graphicData uri="http://schemas.openxmlformats.org/drawingml/2006/table">
            <a:tbl>
              <a:tblPr>
                <a:tableStyleId>{5C22544A-7EE6-4342-B048-85BDC9FD1C3A}</a:tableStyleId>
              </a:tblPr>
              <a:tblGrid>
                <a:gridCol w="3445942">
                  <a:extLst>
                    <a:ext uri="{9D8B030D-6E8A-4147-A177-3AD203B41FA5}">
                      <a16:colId xmlns:a16="http://schemas.microsoft.com/office/drawing/2014/main" val="20000"/>
                    </a:ext>
                  </a:extLst>
                </a:gridCol>
                <a:gridCol w="475456">
                  <a:extLst>
                    <a:ext uri="{9D8B030D-6E8A-4147-A177-3AD203B41FA5}">
                      <a16:colId xmlns:a16="http://schemas.microsoft.com/office/drawing/2014/main" val="20001"/>
                    </a:ext>
                  </a:extLst>
                </a:gridCol>
                <a:gridCol w="475456">
                  <a:extLst>
                    <a:ext uri="{9D8B030D-6E8A-4147-A177-3AD203B41FA5}">
                      <a16:colId xmlns:a16="http://schemas.microsoft.com/office/drawing/2014/main" val="20002"/>
                    </a:ext>
                  </a:extLst>
                </a:gridCol>
                <a:gridCol w="475456">
                  <a:extLst>
                    <a:ext uri="{9D8B030D-6E8A-4147-A177-3AD203B41FA5}">
                      <a16:colId xmlns:a16="http://schemas.microsoft.com/office/drawing/2014/main" val="20003"/>
                    </a:ext>
                  </a:extLst>
                </a:gridCol>
                <a:gridCol w="497865">
                  <a:extLst>
                    <a:ext uri="{9D8B030D-6E8A-4147-A177-3AD203B41FA5}">
                      <a16:colId xmlns:a16="http://schemas.microsoft.com/office/drawing/2014/main" val="20004"/>
                    </a:ext>
                  </a:extLst>
                </a:gridCol>
                <a:gridCol w="497865">
                  <a:extLst>
                    <a:ext uri="{9D8B030D-6E8A-4147-A177-3AD203B41FA5}">
                      <a16:colId xmlns:a16="http://schemas.microsoft.com/office/drawing/2014/main" val="20005"/>
                    </a:ext>
                  </a:extLst>
                </a:gridCol>
                <a:gridCol w="497865">
                  <a:extLst>
                    <a:ext uri="{9D8B030D-6E8A-4147-A177-3AD203B41FA5}">
                      <a16:colId xmlns:a16="http://schemas.microsoft.com/office/drawing/2014/main" val="20006"/>
                    </a:ext>
                  </a:extLst>
                </a:gridCol>
                <a:gridCol w="497865">
                  <a:extLst>
                    <a:ext uri="{9D8B030D-6E8A-4147-A177-3AD203B41FA5}">
                      <a16:colId xmlns:a16="http://schemas.microsoft.com/office/drawing/2014/main" val="20007"/>
                    </a:ext>
                  </a:extLst>
                </a:gridCol>
                <a:gridCol w="497865">
                  <a:extLst>
                    <a:ext uri="{9D8B030D-6E8A-4147-A177-3AD203B41FA5}">
                      <a16:colId xmlns:a16="http://schemas.microsoft.com/office/drawing/2014/main" val="20008"/>
                    </a:ext>
                  </a:extLst>
                </a:gridCol>
                <a:gridCol w="497865">
                  <a:extLst>
                    <a:ext uri="{9D8B030D-6E8A-4147-A177-3AD203B41FA5}">
                      <a16:colId xmlns:a16="http://schemas.microsoft.com/office/drawing/2014/main" val="20009"/>
                    </a:ext>
                  </a:extLst>
                </a:gridCol>
                <a:gridCol w="497865">
                  <a:extLst>
                    <a:ext uri="{9D8B030D-6E8A-4147-A177-3AD203B41FA5}">
                      <a16:colId xmlns:a16="http://schemas.microsoft.com/office/drawing/2014/main" val="20010"/>
                    </a:ext>
                  </a:extLst>
                </a:gridCol>
                <a:gridCol w="497865">
                  <a:extLst>
                    <a:ext uri="{9D8B030D-6E8A-4147-A177-3AD203B41FA5}">
                      <a16:colId xmlns:a16="http://schemas.microsoft.com/office/drawing/2014/main" val="20011"/>
                    </a:ext>
                  </a:extLst>
                </a:gridCol>
                <a:gridCol w="497865">
                  <a:extLst>
                    <a:ext uri="{9D8B030D-6E8A-4147-A177-3AD203B41FA5}">
                      <a16:colId xmlns:a16="http://schemas.microsoft.com/office/drawing/2014/main" val="20012"/>
                    </a:ext>
                  </a:extLst>
                </a:gridCol>
                <a:gridCol w="497865">
                  <a:extLst>
                    <a:ext uri="{9D8B030D-6E8A-4147-A177-3AD203B41FA5}">
                      <a16:colId xmlns:a16="http://schemas.microsoft.com/office/drawing/2014/main" val="20013"/>
                    </a:ext>
                  </a:extLst>
                </a:gridCol>
                <a:gridCol w="497865">
                  <a:extLst>
                    <a:ext uri="{9D8B030D-6E8A-4147-A177-3AD203B41FA5}">
                      <a16:colId xmlns:a16="http://schemas.microsoft.com/office/drawing/2014/main" val="20014"/>
                    </a:ext>
                  </a:extLst>
                </a:gridCol>
                <a:gridCol w="497865">
                  <a:extLst>
                    <a:ext uri="{9D8B030D-6E8A-4147-A177-3AD203B41FA5}">
                      <a16:colId xmlns:a16="http://schemas.microsoft.com/office/drawing/2014/main" val="20015"/>
                    </a:ext>
                  </a:extLst>
                </a:gridCol>
                <a:gridCol w="497865">
                  <a:extLst>
                    <a:ext uri="{9D8B030D-6E8A-4147-A177-3AD203B41FA5}">
                      <a16:colId xmlns:a16="http://schemas.microsoft.com/office/drawing/2014/main" val="20016"/>
                    </a:ext>
                  </a:extLst>
                </a:gridCol>
                <a:gridCol w="542645">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End-use Application</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2021A</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2022A</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2023A</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2024A</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2025A</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2026E</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2027F</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2028F</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2029F</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2030F</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2031F</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2032F</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2033F</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2034F</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2035F</a:t>
                      </a:r>
                      <a:endParaRPr sz="1100"/>
                    </a:p>
                  </a:txBody>
                  <a:tcPr marL="38100" marR="28575" marT="19050" marB="19050" anchor="ctr">
                    <a:solidFill>
                      <a:srgbClr val="E0E8EF"/>
                    </a:solidFill>
                  </a:tcPr>
                </a:tc>
                <a:tc>
                  <a:txBody>
                    <a:bodyPr/>
                    <a:lstStyle/>
                    <a:p>
                      <a:pPr algn="ctr"/>
                      <a:r>
                        <a:rPr sz="1100" b="1">
                          <a:solidFill>
                            <a:srgbClr val="0B2E4A"/>
                          </a:solidFill>
                          <a:latin typeface="Calibri"/>
                        </a:rPr>
                        <a:t>2036F</a:t>
                      </a:r>
                      <a:endParaRPr sz="1100"/>
                    </a:p>
                  </a:txBody>
                  <a:tcPr marL="38100" marR="28575" marT="19050" marB="19050" anchor="ctr">
                    <a:solidFill>
                      <a:srgbClr val="E0E8EF"/>
                    </a:solidFill>
                  </a:tcPr>
                </a:tc>
                <a:tc>
                  <a:txBody>
                    <a:bodyPr/>
                    <a:lstStyle/>
                    <a:p>
                      <a:pPr algn="ctr"/>
                      <a:r>
                        <a:rPr sz="1100" b="1">
                          <a:solidFill>
                            <a:srgbClr val="0B2E4A"/>
                          </a:solidFill>
                          <a:latin typeface="Calibri"/>
                        </a:rPr>
                        <a:t>F-CAGR</a:t>
                      </a:r>
                      <a:endParaRPr sz="1100"/>
                    </a:p>
                  </a:txBody>
                  <a:tcPr marL="38100" marR="28575" marT="19050" marB="19050" anchor="ctr">
                    <a:solidFill>
                      <a:srgbClr val="E0E8EF"/>
                    </a:solidFill>
                  </a:tcPr>
                </a:tc>
                <a:extLst>
                  <a:ext uri="{0D108BD9-81ED-4DB2-BD59-A6C34878D82A}">
                    <a16:rowId xmlns:a16="http://schemas.microsoft.com/office/drawing/2014/main" val="10000"/>
                  </a:ext>
                </a:extLst>
              </a:tr>
              <a:tr h="247954">
                <a:tc>
                  <a:txBody>
                    <a:bodyPr/>
                    <a:lstStyle/>
                    <a:p>
                      <a:pPr algn="l"/>
                      <a:r>
                        <a:rPr sz="1100" b="1">
                          <a:solidFill>
                            <a:srgbClr val="2E2E2E"/>
                          </a:solidFill>
                          <a:latin typeface="Calibri"/>
                        </a:rPr>
                        <a:t>Routine Cognitive Wellness</a:t>
                      </a:r>
                      <a:endParaRPr sz="1100"/>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extLst>
                  <a:ext uri="{0D108BD9-81ED-4DB2-BD59-A6C34878D82A}">
                    <a16:rowId xmlns:a16="http://schemas.microsoft.com/office/drawing/2014/main" val="10001"/>
                  </a:ext>
                </a:extLst>
              </a:tr>
              <a:tr h="247954">
                <a:tc>
                  <a:txBody>
                    <a:bodyPr/>
                    <a:lstStyle/>
                    <a:p>
                      <a:pPr algn="l"/>
                      <a:r>
                        <a:rPr sz="1100" b="1">
                          <a:solidFill>
                            <a:srgbClr val="2E2E2E"/>
                          </a:solidFill>
                          <a:latin typeface="Calibri"/>
                        </a:rPr>
                        <a:t>Preventive Cognitive Support for Senior Dogs</a:t>
                      </a:r>
                      <a:endParaRPr sz="1100"/>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extLst>
                  <a:ext uri="{0D108BD9-81ED-4DB2-BD59-A6C34878D82A}">
                    <a16:rowId xmlns:a16="http://schemas.microsoft.com/office/drawing/2014/main" val="10002"/>
                  </a:ext>
                </a:extLst>
              </a:tr>
              <a:tr h="247954">
                <a:tc>
                  <a:txBody>
                    <a:bodyPr/>
                    <a:lstStyle/>
                    <a:p>
                      <a:pPr algn="l"/>
                      <a:r>
                        <a:rPr sz="1100" b="1">
                          <a:solidFill>
                            <a:srgbClr val="2E2E2E"/>
                          </a:solidFill>
                          <a:latin typeface="Calibri"/>
                        </a:rPr>
                        <a:t>Support for Observable Age-Related Cognitive Changes</a:t>
                      </a:r>
                      <a:endParaRPr sz="1100"/>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tc>
                  <a:txBody>
                    <a:bodyPr/>
                    <a:lstStyle/>
                    <a:p>
                      <a:pPr algn="ctr"/>
                      <a:r>
                        <a:rPr sz="1100"/>
                        <a:t> </a:t>
                      </a:r>
                    </a:p>
                  </a:txBody>
                  <a:tcPr marL="38100" marR="28575" marT="19050" marB="19050" anchor="ctr">
                    <a:solidFill>
                      <a:srgbClr val="FFFFFF"/>
                    </a:solidFill>
                  </a:tcPr>
                </a:tc>
                <a:extLst>
                  <a:ext uri="{0D108BD9-81ED-4DB2-BD59-A6C34878D82A}">
                    <a16:rowId xmlns:a16="http://schemas.microsoft.com/office/drawing/2014/main" val="10003"/>
                  </a:ext>
                </a:extLst>
              </a:tr>
              <a:tr h="247954">
                <a:tc>
                  <a:txBody>
                    <a:bodyPr/>
                    <a:lstStyle/>
                    <a:p>
                      <a:pPr algn="l"/>
                      <a:r>
                        <a:rPr sz="1100" b="1">
                          <a:solidFill>
                            <a:srgbClr val="2E2E2E"/>
                          </a:solidFill>
                          <a:latin typeface="Calibri"/>
                        </a:rPr>
                        <a:t>Veterinary-Guided Cognitive Dysfunction Support</a:t>
                      </a:r>
                      <a:endParaRPr sz="1100"/>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tc>
                  <a:txBody>
                    <a:bodyPr/>
                    <a:lstStyle/>
                    <a:p>
                      <a:pPr algn="ctr"/>
                      <a:r>
                        <a:rPr sz="1100"/>
                        <a:t> </a:t>
                      </a:r>
                    </a:p>
                  </a:txBody>
                  <a:tcPr marL="38100" marR="28575" marT="19050" marB="19050" anchor="ctr">
                    <a:solidFill>
                      <a:srgbClr val="F5F8FA"/>
                    </a:solidFill>
                  </a:tcPr>
                </a:tc>
                <a:extLst>
                  <a:ext uri="{0D108BD9-81ED-4DB2-BD59-A6C34878D82A}">
                    <a16:rowId xmlns:a16="http://schemas.microsoft.com/office/drawing/2014/main" val="10004"/>
                  </a:ext>
                </a:extLst>
              </a:tr>
              <a:tr h="247954">
                <a:tc>
                  <a:txBody>
                    <a:bodyPr/>
                    <a:lstStyle/>
                    <a:p>
                      <a:pPr algn="l"/>
                      <a:r>
                        <a:rPr sz="1100" b="1">
                          <a:solidFill>
                            <a:srgbClr val="2E2E2E"/>
                          </a:solidFill>
                          <a:latin typeface="Calibri"/>
                        </a:rPr>
                        <a:t>Total</a:t>
                      </a:r>
                      <a:endParaRPr sz="1100"/>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tc>
                  <a:txBody>
                    <a:bodyPr/>
                    <a:lstStyle/>
                    <a:p>
                      <a:pPr algn="ctr"/>
                      <a:r>
                        <a:rPr sz="1100"/>
                        <a:t> </a:t>
                      </a:r>
                    </a:p>
                  </a:txBody>
                  <a:tcPr marL="38100" marR="28575" marT="19050" marB="19050" anchor="ctr">
                    <a:solidFill>
                      <a:srgbClr val="E0E8E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219075" y="27336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152775"/>
            <a:ext cx="11639550" cy="209550"/>
          </a:xfrm>
          <a:prstGeom prst="rect">
            <a:avLst/>
          </a:prstGeom>
          <a:noFill/>
        </p:spPr>
        <p:txBody>
          <a:bodyPr wrap="square" lIns="0" tIns="9525" rIns="19050" bIns="9525">
            <a:spAutoFit/>
          </a:bodyPr>
          <a:lstStyle/>
          <a:p>
            <a:pPr algn="l"/>
            <a:r>
              <a:rPr sz="1300" b="1">
                <a:solidFill>
                  <a:srgbClr val="0B2E4A"/>
                </a:solidFill>
                <a:latin typeface="Calibri"/>
              </a:rPr>
              <a:t>Global Value Analysis, By End-use Application</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476625"/>
            <a:ext cx="11639550" cy="307657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632281" y="1837563"/>
            <a:ext cx="366712" cy="533400"/>
          </a:xfrm>
          <a:prstGeom prst="rect">
            <a:avLst/>
          </a:prstGeom>
        </p:spPr>
      </p:pic>
      <p:sp>
        <p:nvSpPr>
          <p:cNvPr id="20" name="TextBox 19"/>
          <p:cNvSpPr txBox="1"/>
          <p:nvPr/>
        </p:nvSpPr>
        <p:spPr>
          <a:xfrm>
            <a:off x="276225" y="3486150"/>
            <a:ext cx="5172546" cy="194310"/>
          </a:xfrm>
          <a:prstGeom prst="rect">
            <a:avLst/>
          </a:prstGeom>
          <a:noFill/>
        </p:spPr>
        <p:txBody>
          <a:bodyPr wrap="none" lIns="0" tIns="0" rIns="0" bIns="0">
            <a:spAutoFit/>
          </a:bodyPr>
          <a:lstStyle/>
          <a:p>
            <a:r>
              <a:rPr sz="1150" b="0">
                <a:solidFill>
                  <a:srgbClr val="2E2E2E"/>
                </a:solidFill>
                <a:latin typeface="Calibri"/>
              </a:rPr>
              <a:t>Support for observable age-related cognitive changes segment is projected to register</a:t>
            </a:r>
          </a:p>
        </p:txBody>
      </p:sp>
      <p:pic>
        <p:nvPicPr>
          <p:cNvPr id="21" name="Picture 20" descr="lock.png"/>
          <p:cNvPicPr>
            <a:picLocks noChangeAspect="1"/>
          </p:cNvPicPr>
          <p:nvPr/>
        </p:nvPicPr>
        <p:blipFill>
          <a:blip r:embed="rId4"/>
          <a:stretch>
            <a:fillRect/>
          </a:stretch>
        </p:blipFill>
        <p:spPr>
          <a:xfrm>
            <a:off x="5397925" y="3475926"/>
            <a:ext cx="134549" cy="195707"/>
          </a:xfrm>
          <a:prstGeom prst="rect">
            <a:avLst/>
          </a:prstGeom>
        </p:spPr>
      </p:pic>
      <p:sp>
        <p:nvSpPr>
          <p:cNvPr id="22" name="TextBox 21"/>
          <p:cNvSpPr txBox="1"/>
          <p:nvPr/>
        </p:nvSpPr>
        <p:spPr>
          <a:xfrm>
            <a:off x="5573034" y="3486150"/>
            <a:ext cx="6291026" cy="194310"/>
          </a:xfrm>
          <a:prstGeom prst="rect">
            <a:avLst/>
          </a:prstGeom>
          <a:noFill/>
        </p:spPr>
        <p:txBody>
          <a:bodyPr wrap="none" lIns="0" tIns="0" rIns="0" bIns="0">
            <a:spAutoFit/>
          </a:bodyPr>
          <a:lstStyle/>
          <a:p>
            <a:r>
              <a:rPr sz="1150" b="0">
                <a:solidFill>
                  <a:srgbClr val="2E2E2E"/>
                </a:solidFill>
                <a:latin typeface="Calibri"/>
              </a:rPr>
              <a:t>X higher value than routine cognitive wellness segment in 2036. Among senior dog cognitive supplement</a:t>
            </a:r>
          </a:p>
        </p:txBody>
      </p:sp>
      <p:sp>
        <p:nvSpPr>
          <p:cNvPr id="23" name="TextBox 22"/>
          <p:cNvSpPr txBox="1"/>
          <p:nvPr/>
        </p:nvSpPr>
        <p:spPr>
          <a:xfrm>
            <a:off x="276225" y="3661410"/>
            <a:ext cx="7463402" cy="194310"/>
          </a:xfrm>
          <a:prstGeom prst="rect">
            <a:avLst/>
          </a:prstGeom>
          <a:noFill/>
        </p:spPr>
        <p:txBody>
          <a:bodyPr wrap="none" lIns="0" tIns="0" rIns="0" bIns="0">
            <a:spAutoFit/>
          </a:bodyPr>
          <a:lstStyle/>
          <a:p>
            <a:r>
              <a:rPr sz="1150" b="0">
                <a:solidFill>
                  <a:srgbClr val="2E2E2E"/>
                </a:solidFill>
                <a:latin typeface="Calibri"/>
              </a:rPr>
              <a:t>by end-use application, veterinary-guided cognitive dysfunction support segment is expected to witness the highest CAGR of</a:t>
            </a:r>
          </a:p>
        </p:txBody>
      </p:sp>
      <p:pic>
        <p:nvPicPr>
          <p:cNvPr id="24" name="Picture 23" descr="lock.png"/>
          <p:cNvPicPr>
            <a:picLocks noChangeAspect="1"/>
          </p:cNvPicPr>
          <p:nvPr/>
        </p:nvPicPr>
        <p:blipFill>
          <a:blip r:embed="rId4"/>
          <a:stretch>
            <a:fillRect/>
          </a:stretch>
        </p:blipFill>
        <p:spPr>
          <a:xfrm>
            <a:off x="7688781" y="3651186"/>
            <a:ext cx="134549" cy="195707"/>
          </a:xfrm>
          <a:prstGeom prst="rect">
            <a:avLst/>
          </a:prstGeom>
        </p:spPr>
      </p:pic>
      <p:sp>
        <p:nvSpPr>
          <p:cNvPr id="25" name="TextBox 24"/>
          <p:cNvSpPr txBox="1"/>
          <p:nvPr/>
        </p:nvSpPr>
        <p:spPr>
          <a:xfrm>
            <a:off x="7863890" y="3661410"/>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9399153" cy="194310"/>
          </a:xfrm>
          <a:prstGeom prst="rect">
            <a:avLst/>
          </a:prstGeom>
          <a:noFill/>
        </p:spPr>
        <p:txBody>
          <a:bodyPr wrap="none" lIns="0" tIns="0" rIns="0" bIns="0">
            <a:spAutoFit/>
          </a:bodyPr>
          <a:lstStyle/>
          <a:p>
            <a:r>
              <a:rPr sz="1150" b="0">
                <a:solidFill>
                  <a:srgbClr val="2E2E2E"/>
                </a:solidFill>
                <a:latin typeface="Calibri"/>
              </a:rPr>
              <a:t>In terms of value share by end-use application, the support for observable age-related cognitive changes segment is expected to dominate the market, losing</a:t>
            </a:r>
          </a:p>
        </p:txBody>
      </p:sp>
      <p:pic>
        <p:nvPicPr>
          <p:cNvPr id="27" name="Picture 26" descr="lock.png"/>
          <p:cNvPicPr>
            <a:picLocks noChangeAspect="1"/>
          </p:cNvPicPr>
          <p:nvPr/>
        </p:nvPicPr>
        <p:blipFill>
          <a:blip r:embed="rId4"/>
          <a:stretch>
            <a:fillRect/>
          </a:stretch>
        </p:blipFill>
        <p:spPr>
          <a:xfrm>
            <a:off x="9624532" y="3879024"/>
            <a:ext cx="134549" cy="195707"/>
          </a:xfrm>
          <a:prstGeom prst="rect">
            <a:avLst/>
          </a:prstGeom>
        </p:spPr>
      </p:pic>
      <p:sp>
        <p:nvSpPr>
          <p:cNvPr id="28" name="TextBox 27"/>
          <p:cNvSpPr txBox="1"/>
          <p:nvPr/>
        </p:nvSpPr>
        <p:spPr>
          <a:xfrm>
            <a:off x="9799641" y="3889247"/>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1194784" y="3879024"/>
            <a:ext cx="134549" cy="195707"/>
          </a:xfrm>
          <a:prstGeom prst="rect">
            <a:avLst/>
          </a:prstGeom>
        </p:spPr>
      </p:pic>
      <p:sp>
        <p:nvSpPr>
          <p:cNvPr id="30" name="TextBox 29"/>
          <p:cNvSpPr txBox="1"/>
          <p:nvPr/>
        </p:nvSpPr>
        <p:spPr>
          <a:xfrm>
            <a:off x="276225" y="4064507"/>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&amp; Share Shift, By End-use Application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End-use Application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Composition, By End-use Application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590675"/>
            <a:ext cx="2595753" cy="171069"/>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a:endParaRPr/>
          </a:p>
        </p:txBody>
      </p:sp>
      <p:sp>
        <p:nvSpPr>
          <p:cNvPr id="15" name="FMI Legend Chip"/>
          <p:cNvSpPr/>
          <p:nvPr/>
        </p:nvSpPr>
        <p:spPr>
          <a:xfrm>
            <a:off x="4928997" y="191319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a:off x="5090922" y="190843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832234"/>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Veterinary-Guided Cognitive Dysfunction Support</a:t>
            </a:r>
          </a:p>
        </p:txBody>
      </p:sp>
      <p:sp>
        <p:nvSpPr>
          <p:cNvPr id="18" name="BPS Value 1"/>
          <p:cNvSpPr txBox="1"/>
          <p:nvPr/>
        </p:nvSpPr>
        <p:spPr>
          <a:xfrm>
            <a:off x="6896100" y="1894146"/>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19" name="FMI Legend Chip"/>
          <p:cNvSpPr/>
          <p:nvPr/>
        </p:nvSpPr>
        <p:spPr>
          <a:xfrm>
            <a:off x="4928997" y="240123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5090922" y="239647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2320272"/>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Preventive Cognitive Support for Senior Dogs</a:t>
            </a:r>
          </a:p>
        </p:txBody>
      </p:sp>
      <p:sp>
        <p:nvSpPr>
          <p:cNvPr id="22" name="BPS Value 2"/>
          <p:cNvSpPr txBox="1"/>
          <p:nvPr/>
        </p:nvSpPr>
        <p:spPr>
          <a:xfrm>
            <a:off x="6896100" y="2382185"/>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3" name="FMI Legend Chip"/>
          <p:cNvSpPr/>
          <p:nvPr/>
        </p:nvSpPr>
        <p:spPr>
          <a:xfrm>
            <a:off x="4928997" y="315864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a:off x="5090922" y="315388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3077684"/>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Routine Cognitive Wellness</a:t>
            </a:r>
          </a:p>
        </p:txBody>
      </p:sp>
      <p:sp>
        <p:nvSpPr>
          <p:cNvPr id="26" name="BPS Value 3"/>
          <p:cNvSpPr txBox="1"/>
          <p:nvPr/>
        </p:nvSpPr>
        <p:spPr>
          <a:xfrm>
            <a:off x="6896100" y="3139596"/>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7" name="FMI Legend Chip"/>
          <p:cNvSpPr/>
          <p:nvPr/>
        </p:nvSpPr>
        <p:spPr>
          <a:xfrm>
            <a:off x="4928997" y="495679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rot="10800000">
            <a:off x="5090922" y="495203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487583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Support for Observable Age-Related Cognitive Changes</a:t>
            </a:r>
          </a:p>
        </p:txBody>
      </p:sp>
      <p:sp>
        <p:nvSpPr>
          <p:cNvPr id="30" name="BPS Value 4"/>
          <p:cNvSpPr txBox="1"/>
          <p:nvPr/>
        </p:nvSpPr>
        <p:spPr>
          <a:xfrm>
            <a:off x="6896100" y="4937748"/>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Global Read-out, By End-use Application</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35" name="TextBox 34"/>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886336" cy="194310"/>
          </a:xfrm>
          <a:prstGeom prst="rect">
            <a:avLst/>
          </a:prstGeom>
          <a:noFill/>
        </p:spPr>
        <p:txBody>
          <a:bodyPr wrap="none" lIns="0" tIns="0" rIns="0" bIns="0">
            <a:spAutoFit/>
          </a:bodyPr>
          <a:lstStyle/>
          <a:p>
            <a:r>
              <a:rPr sz="1150" b="0">
                <a:solidFill>
                  <a:srgbClr val="2E2E2E"/>
                </a:solidFill>
                <a:latin typeface="Calibri"/>
              </a:rPr>
              <a:t>Among senior dog cognitive supplement by end-use application,</a:t>
            </a:r>
          </a:p>
        </p:txBody>
      </p:sp>
      <p:sp>
        <p:nvSpPr>
          <p:cNvPr id="38" name="TextBox 37"/>
          <p:cNvSpPr txBox="1"/>
          <p:nvPr/>
        </p:nvSpPr>
        <p:spPr>
          <a:xfrm>
            <a:off x="7829550" y="1575435"/>
            <a:ext cx="3605361" cy="194310"/>
          </a:xfrm>
          <a:prstGeom prst="rect">
            <a:avLst/>
          </a:prstGeom>
          <a:noFill/>
        </p:spPr>
        <p:txBody>
          <a:bodyPr wrap="none" lIns="0" tIns="0" rIns="0" bIns="0">
            <a:spAutoFit/>
          </a:bodyPr>
          <a:lstStyle/>
          <a:p>
            <a:r>
              <a:rPr sz="1150" b="0">
                <a:solidFill>
                  <a:srgbClr val="2E2E2E"/>
                </a:solidFill>
                <a:latin typeface="Calibri"/>
              </a:rPr>
              <a:t>veterinary-guided cognitive dysfunction support segment is</a:t>
            </a:r>
          </a:p>
        </p:txBody>
      </p:sp>
      <p:sp>
        <p:nvSpPr>
          <p:cNvPr id="39" name="TextBox 38"/>
          <p:cNvSpPr txBox="1"/>
          <p:nvPr/>
        </p:nvSpPr>
        <p:spPr>
          <a:xfrm>
            <a:off x="7829550" y="1750695"/>
            <a:ext cx="2486007" cy="194310"/>
          </a:xfrm>
          <a:prstGeom prst="rect">
            <a:avLst/>
          </a:prstGeom>
          <a:noFill/>
        </p:spPr>
        <p:txBody>
          <a:bodyPr wrap="none" lIns="0" tIns="0" rIns="0" bIns="0">
            <a:spAutoFit/>
          </a:bodyPr>
          <a:lstStyle/>
          <a:p>
            <a:r>
              <a:rPr sz="1150" b="0">
                <a:solidFill>
                  <a:srgbClr val="2E2E2E"/>
                </a:solidFill>
                <a:latin typeface="Calibri"/>
              </a:rPr>
              <a:t>expected to witness the highest CAGR of</a:t>
            </a:r>
          </a:p>
        </p:txBody>
      </p:sp>
      <p:pic>
        <p:nvPicPr>
          <p:cNvPr id="40" name="Picture 39" descr="lock.png"/>
          <p:cNvPicPr>
            <a:picLocks noChangeAspect="1"/>
          </p:cNvPicPr>
          <p:nvPr/>
        </p:nvPicPr>
        <p:blipFill>
          <a:blip r:embed="rId5"/>
          <a:stretch>
            <a:fillRect/>
          </a:stretch>
        </p:blipFill>
        <p:spPr>
          <a:xfrm>
            <a:off x="10264711" y="1740471"/>
            <a:ext cx="134549" cy="195707"/>
          </a:xfrm>
          <a:prstGeom prst="rect">
            <a:avLst/>
          </a:prstGeom>
        </p:spPr>
      </p:pic>
      <p:sp>
        <p:nvSpPr>
          <p:cNvPr id="41" name="TextBox 40"/>
          <p:cNvSpPr txBox="1"/>
          <p:nvPr/>
        </p:nvSpPr>
        <p:spPr>
          <a:xfrm>
            <a:off x="10439820" y="1750695"/>
            <a:ext cx="1090848" cy="194310"/>
          </a:xfrm>
          <a:prstGeom prst="rect">
            <a:avLst/>
          </a:prstGeom>
          <a:noFill/>
        </p:spPr>
        <p:txBody>
          <a:bodyPr wrap="none" lIns="0" tIns="0" rIns="0" bIns="0">
            <a:spAutoFit/>
          </a:bodyPr>
          <a:lstStyle/>
          <a:p>
            <a:r>
              <a:rPr sz="1150" b="0">
                <a:solidFill>
                  <a:srgbClr val="2E2E2E"/>
                </a:solidFill>
                <a:latin typeface="Calibri"/>
              </a:rPr>
              <a:t>over the forecast</a:t>
            </a:r>
          </a:p>
        </p:txBody>
      </p:sp>
      <p:sp>
        <p:nvSpPr>
          <p:cNvPr id="42" name="TextBox 41"/>
          <p:cNvSpPr txBox="1"/>
          <p:nvPr/>
        </p:nvSpPr>
        <p:spPr>
          <a:xfrm>
            <a:off x="7829550" y="1925955"/>
            <a:ext cx="500943" cy="194310"/>
          </a:xfrm>
          <a:prstGeom prst="rect">
            <a:avLst/>
          </a:prstGeom>
          <a:noFill/>
        </p:spPr>
        <p:txBody>
          <a:bodyPr wrap="none" lIns="0" tIns="0" rIns="0" bIns="0">
            <a:spAutoFit/>
          </a:bodyPr>
          <a:lstStyle/>
          <a:p>
            <a:r>
              <a:rPr sz="1150" b="0">
                <a:solidFill>
                  <a:srgbClr val="2E2E2E"/>
                </a:solidFill>
                <a:latin typeface="Calibri"/>
              </a:rPr>
              <a:t>period.</a:t>
            </a:r>
          </a:p>
        </p:txBody>
      </p:sp>
      <p:sp>
        <p:nvSpPr>
          <p:cNvPr id="43" name="TextBox 42"/>
          <p:cNvSpPr txBox="1"/>
          <p:nvPr/>
        </p:nvSpPr>
        <p:spPr>
          <a:xfrm>
            <a:off x="7829550" y="2153793"/>
            <a:ext cx="3786497" cy="194310"/>
          </a:xfrm>
          <a:prstGeom prst="rect">
            <a:avLst/>
          </a:prstGeom>
          <a:noFill/>
        </p:spPr>
        <p:txBody>
          <a:bodyPr wrap="none" lIns="0" tIns="0" rIns="0" bIns="0">
            <a:spAutoFit/>
          </a:bodyPr>
          <a:lstStyle/>
          <a:p>
            <a:r>
              <a:rPr sz="1150" b="0">
                <a:solidFill>
                  <a:srgbClr val="2E2E2E"/>
                </a:solidFill>
                <a:latin typeface="Calibri"/>
              </a:rPr>
              <a:t>In terms of value share by end-use application, the support for</a:t>
            </a:r>
          </a:p>
        </p:txBody>
      </p:sp>
      <p:sp>
        <p:nvSpPr>
          <p:cNvPr id="44" name="TextBox 43"/>
          <p:cNvSpPr txBox="1"/>
          <p:nvPr/>
        </p:nvSpPr>
        <p:spPr>
          <a:xfrm>
            <a:off x="7829550" y="2329053"/>
            <a:ext cx="3943101" cy="194310"/>
          </a:xfrm>
          <a:prstGeom prst="rect">
            <a:avLst/>
          </a:prstGeom>
          <a:noFill/>
        </p:spPr>
        <p:txBody>
          <a:bodyPr wrap="none" lIns="0" tIns="0" rIns="0" bIns="0">
            <a:spAutoFit/>
          </a:bodyPr>
          <a:lstStyle/>
          <a:p>
            <a:r>
              <a:rPr sz="1150" b="0">
                <a:solidFill>
                  <a:srgbClr val="2E2E2E"/>
                </a:solidFill>
                <a:latin typeface="Calibri"/>
              </a:rPr>
              <a:t>observable age-related cognitive changes segment is expected to</a:t>
            </a:r>
          </a:p>
        </p:txBody>
      </p:sp>
      <p:sp>
        <p:nvSpPr>
          <p:cNvPr id="45" name="TextBox 44"/>
          <p:cNvSpPr txBox="1"/>
          <p:nvPr/>
        </p:nvSpPr>
        <p:spPr>
          <a:xfrm>
            <a:off x="7829550" y="2504313"/>
            <a:ext cx="1755774" cy="194310"/>
          </a:xfrm>
          <a:prstGeom prst="rect">
            <a:avLst/>
          </a:prstGeom>
          <a:noFill/>
        </p:spPr>
        <p:txBody>
          <a:bodyPr wrap="none" lIns="0" tIns="0" rIns="0" bIns="0">
            <a:spAutoFit/>
          </a:bodyPr>
          <a:lstStyle/>
          <a:p>
            <a:r>
              <a:rPr sz="1150" b="0">
                <a:solidFill>
                  <a:srgbClr val="2E2E2E"/>
                </a:solidFill>
                <a:latin typeface="Calibri"/>
              </a:rPr>
              <a:t>dominate the market, losing</a:t>
            </a:r>
          </a:p>
        </p:txBody>
      </p:sp>
      <p:pic>
        <p:nvPicPr>
          <p:cNvPr id="46" name="Picture 45" descr="lock.png"/>
          <p:cNvPicPr>
            <a:picLocks noChangeAspect="1"/>
          </p:cNvPicPr>
          <p:nvPr/>
        </p:nvPicPr>
        <p:blipFill>
          <a:blip r:embed="rId5"/>
          <a:stretch>
            <a:fillRect/>
          </a:stretch>
        </p:blipFill>
        <p:spPr>
          <a:xfrm>
            <a:off x="9534478" y="2494089"/>
            <a:ext cx="134549" cy="195707"/>
          </a:xfrm>
          <a:prstGeom prst="rect">
            <a:avLst/>
          </a:prstGeom>
        </p:spPr>
      </p:pic>
      <p:sp>
        <p:nvSpPr>
          <p:cNvPr id="47" name="TextBox 46"/>
          <p:cNvSpPr txBox="1"/>
          <p:nvPr/>
        </p:nvSpPr>
        <p:spPr>
          <a:xfrm>
            <a:off x="9709588" y="2504313"/>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48" name="Picture 47" descr="lock.png"/>
          <p:cNvPicPr>
            <a:picLocks noChangeAspect="1"/>
          </p:cNvPicPr>
          <p:nvPr/>
        </p:nvPicPr>
        <p:blipFill>
          <a:blip r:embed="rId5"/>
          <a:stretch>
            <a:fillRect/>
          </a:stretch>
        </p:blipFill>
        <p:spPr>
          <a:xfrm>
            <a:off x="11104731" y="2494089"/>
            <a:ext cx="134549" cy="195707"/>
          </a:xfrm>
          <a:prstGeom prst="rect">
            <a:avLst/>
          </a:prstGeom>
        </p:spPr>
      </p:pic>
      <p:sp>
        <p:nvSpPr>
          <p:cNvPr id="49" name="TextBox 48"/>
          <p:cNvSpPr txBox="1"/>
          <p:nvPr/>
        </p:nvSpPr>
        <p:spPr>
          <a:xfrm>
            <a:off x="11279840" y="2504313"/>
            <a:ext cx="403671" cy="194310"/>
          </a:xfrm>
          <a:prstGeom prst="rect">
            <a:avLst/>
          </a:prstGeom>
          <a:noFill/>
        </p:spPr>
        <p:txBody>
          <a:bodyPr wrap="none" lIns="0" tIns="0" rIns="0" bIns="0">
            <a:spAutoFit/>
          </a:bodyPr>
          <a:lstStyle/>
          <a:p>
            <a:r>
              <a:rPr sz="1150" b="0">
                <a:solidFill>
                  <a:srgbClr val="2E2E2E"/>
                </a:solidFill>
                <a:latin typeface="Calibri"/>
              </a:rPr>
              <a:t>share</a:t>
            </a:r>
          </a:p>
        </p:txBody>
      </p:sp>
      <p:sp>
        <p:nvSpPr>
          <p:cNvPr id="50" name="TextBox 49"/>
          <p:cNvSpPr txBox="1"/>
          <p:nvPr/>
        </p:nvSpPr>
        <p:spPr>
          <a:xfrm>
            <a:off x="7829550" y="2679573"/>
            <a:ext cx="585663" cy="194310"/>
          </a:xfrm>
          <a:prstGeom prst="rect">
            <a:avLst/>
          </a:prstGeom>
          <a:noFill/>
        </p:spPr>
        <p:txBody>
          <a:bodyPr wrap="none" lIns="0" tIns="0" rIns="0" bIns="0">
            <a:spAutoFit/>
          </a:bodyPr>
          <a:lstStyle/>
          <a:p>
            <a:r>
              <a:rPr sz="1150" b="0">
                <a:solidFill>
                  <a:srgbClr val="2E2E2E"/>
                </a:solidFill>
                <a:latin typeface="Calibri"/>
              </a:rPr>
              <a:t>by 2036.</a:t>
            </a:r>
          </a:p>
        </p:txBody>
      </p:sp>
      <p:sp>
        <p:nvSpPr>
          <p:cNvPr id="5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10.4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Packaging Format</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Packaging Format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Packaging Format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6 sub-segments of Packaging Format,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Packaging Format segment categorizes the market by packaging format.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Sachets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Blister Packs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Canisters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Pouches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Bottles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Jars and Tubs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Packaging Format split shows how demand is distributed across packaging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7" name="Picture 76" descr="2_493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3_296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2_8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374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3_478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3_9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2_256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3_601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4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963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4_268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8_1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907_9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313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3_8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906_5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1_790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7_0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535411" cy="186689"/>
          </a:xfrm>
          <a:prstGeom prst="rect">
            <a:avLst/>
          </a:prstGeom>
          <a:noFill/>
        </p:spPr>
        <p:txBody>
          <a:bodyPr wrap="none" lIns="0" tIns="0" rIns="0" bIns="0">
            <a:spAutoFit/>
          </a:bodyPr>
          <a:lstStyle/>
          <a:p>
            <a:r>
              <a:rPr sz="1100" b="0">
                <a:solidFill>
                  <a:srgbClr val="2E2E2E"/>
                </a:solidFill>
                <a:latin typeface="Calibri"/>
              </a:rPr>
              <a:t>Among senior dog cognitive supplement by</a:t>
            </a:r>
          </a:p>
        </p:txBody>
      </p:sp>
      <p:sp>
        <p:nvSpPr>
          <p:cNvPr id="102" name="TextBox 101"/>
          <p:cNvSpPr txBox="1"/>
          <p:nvPr/>
        </p:nvSpPr>
        <p:spPr>
          <a:xfrm>
            <a:off x="485775" y="4397077"/>
            <a:ext cx="2914650" cy="186689"/>
          </a:xfrm>
          <a:prstGeom prst="rect">
            <a:avLst/>
          </a:prstGeom>
          <a:noFill/>
        </p:spPr>
        <p:txBody>
          <a:bodyPr wrap="none" lIns="0" tIns="0" rIns="0" bIns="0">
            <a:spAutoFit/>
          </a:bodyPr>
          <a:lstStyle/>
          <a:p>
            <a:r>
              <a:rPr sz="1100" b="0">
                <a:solidFill>
                  <a:srgbClr val="2E2E2E"/>
                </a:solidFill>
                <a:latin typeface="Calibri"/>
              </a:rPr>
              <a:t>packaging format, pouches segment is expected to</a:t>
            </a:r>
          </a:p>
        </p:txBody>
      </p:sp>
      <p:sp>
        <p:nvSpPr>
          <p:cNvPr id="103" name="TextBox 102"/>
          <p:cNvSpPr txBox="1"/>
          <p:nvPr/>
        </p:nvSpPr>
        <p:spPr>
          <a:xfrm>
            <a:off x="485775" y="4564717"/>
            <a:ext cx="1675093" cy="186689"/>
          </a:xfrm>
          <a:prstGeom prst="rect">
            <a:avLst/>
          </a:prstGeom>
          <a:noFill/>
        </p:spPr>
        <p:txBody>
          <a:bodyPr wrap="none" lIns="0" tIns="0" rIns="0" bIns="0">
            <a:spAutoFit/>
          </a:bodyPr>
          <a:lstStyle/>
          <a:p>
            <a:r>
              <a:rPr sz="1100" b="0">
                <a:solidFill>
                  <a:srgbClr val="2E2E2E"/>
                </a:solidFill>
                <a:latin typeface="Calibri"/>
              </a:rPr>
              <a:t>witness the highest CAGR of</a:t>
            </a:r>
          </a:p>
        </p:txBody>
      </p:sp>
      <p:pic>
        <p:nvPicPr>
          <p:cNvPr id="104" name="Picture 103" descr="lock.png"/>
          <p:cNvPicPr>
            <a:picLocks noChangeAspect="1"/>
          </p:cNvPicPr>
          <p:nvPr/>
        </p:nvPicPr>
        <p:blipFill>
          <a:blip r:embed="rId22"/>
          <a:stretch>
            <a:fillRect/>
          </a:stretch>
        </p:blipFill>
        <p:spPr>
          <a:xfrm>
            <a:off x="2108919" y="4554938"/>
            <a:ext cx="128699" cy="187198"/>
          </a:xfrm>
          <a:prstGeom prst="rect">
            <a:avLst/>
          </a:prstGeom>
        </p:spPr>
      </p:pic>
      <p:sp>
        <p:nvSpPr>
          <p:cNvPr id="105" name="TextBox 104"/>
          <p:cNvSpPr txBox="1"/>
          <p:nvPr/>
        </p:nvSpPr>
        <p:spPr>
          <a:xfrm>
            <a:off x="2276415" y="4564717"/>
            <a:ext cx="1046733" cy="186689"/>
          </a:xfrm>
          <a:prstGeom prst="rect">
            <a:avLst/>
          </a:prstGeom>
          <a:noFill/>
        </p:spPr>
        <p:txBody>
          <a:bodyPr wrap="none" lIns="0" tIns="0" rIns="0" bIns="0">
            <a:spAutoFit/>
          </a:bodyPr>
          <a:lstStyle/>
          <a:p>
            <a:r>
              <a:rPr sz="1100" b="0">
                <a:solidFill>
                  <a:srgbClr val="2E2E2E"/>
                </a:solidFill>
                <a:latin typeface="Calibri"/>
              </a:rPr>
              <a:t>over the forecast</a:t>
            </a:r>
          </a:p>
        </p:txBody>
      </p:sp>
      <p:sp>
        <p:nvSpPr>
          <p:cNvPr id="106" name="TextBox 105"/>
          <p:cNvSpPr txBox="1"/>
          <p:nvPr/>
        </p:nvSpPr>
        <p:spPr>
          <a:xfrm>
            <a:off x="485775" y="4732357"/>
            <a:ext cx="2582341" cy="186689"/>
          </a:xfrm>
          <a:prstGeom prst="rect">
            <a:avLst/>
          </a:prstGeom>
          <a:noFill/>
        </p:spPr>
        <p:txBody>
          <a:bodyPr wrap="none" lIns="0" tIns="0" rIns="0" bIns="0">
            <a:spAutoFit/>
          </a:bodyPr>
          <a:lstStyle/>
          <a:p>
            <a:r>
              <a:rPr sz="1100" b="0">
                <a:solidFill>
                  <a:srgbClr val="2E2E2E"/>
                </a:solidFill>
                <a:latin typeface="Calibri"/>
              </a:rPr>
              <a:t>period. In terms of value share by packaging</a:t>
            </a:r>
          </a:p>
        </p:txBody>
      </p:sp>
      <p:sp>
        <p:nvSpPr>
          <p:cNvPr id="107" name="TextBox 106"/>
          <p:cNvSpPr txBox="1"/>
          <p:nvPr/>
        </p:nvSpPr>
        <p:spPr>
          <a:xfrm>
            <a:off x="485775" y="4899997"/>
            <a:ext cx="2579613" cy="186689"/>
          </a:xfrm>
          <a:prstGeom prst="rect">
            <a:avLst/>
          </a:prstGeom>
          <a:noFill/>
        </p:spPr>
        <p:txBody>
          <a:bodyPr wrap="none" lIns="0" tIns="0" rIns="0" bIns="0">
            <a:spAutoFit/>
          </a:bodyPr>
          <a:lstStyle/>
          <a:p>
            <a:r>
              <a:rPr sz="1100" b="0">
                <a:solidFill>
                  <a:srgbClr val="2E2E2E"/>
                </a:solidFill>
                <a:latin typeface="Calibri"/>
              </a:rPr>
              <a:t>format, the pouches segment is expected to</a:t>
            </a:r>
          </a:p>
        </p:txBody>
      </p:sp>
      <p:sp>
        <p:nvSpPr>
          <p:cNvPr id="108" name="TextBox 107"/>
          <p:cNvSpPr txBox="1"/>
          <p:nvPr/>
        </p:nvSpPr>
        <p:spPr>
          <a:xfrm>
            <a:off x="485775" y="5067637"/>
            <a:ext cx="1760512" cy="186689"/>
          </a:xfrm>
          <a:prstGeom prst="rect">
            <a:avLst/>
          </a:prstGeom>
          <a:noFill/>
        </p:spPr>
        <p:txBody>
          <a:bodyPr wrap="none" lIns="0" tIns="0" rIns="0" bIns="0">
            <a:spAutoFit/>
          </a:bodyPr>
          <a:lstStyle/>
          <a:p>
            <a:r>
              <a:rPr sz="1100" b="0">
                <a:solidFill>
                  <a:srgbClr val="2E2E2E"/>
                </a:solidFill>
                <a:latin typeface="Calibri"/>
              </a:rPr>
              <a:t>dominate the market, gaining</a:t>
            </a:r>
          </a:p>
        </p:txBody>
      </p:sp>
      <p:pic>
        <p:nvPicPr>
          <p:cNvPr id="109" name="Picture 108" descr="lock.png"/>
          <p:cNvPicPr>
            <a:picLocks noChangeAspect="1"/>
          </p:cNvPicPr>
          <p:nvPr/>
        </p:nvPicPr>
        <p:blipFill>
          <a:blip r:embed="rId22"/>
          <a:stretch>
            <a:fillRect/>
          </a:stretch>
        </p:blipFill>
        <p:spPr>
          <a:xfrm>
            <a:off x="2194339" y="5057858"/>
            <a:ext cx="128699" cy="187198"/>
          </a:xfrm>
          <a:prstGeom prst="rect">
            <a:avLst/>
          </a:prstGeom>
        </p:spPr>
      </p:pic>
      <p:sp>
        <p:nvSpPr>
          <p:cNvPr id="110" name="TextBox 109"/>
          <p:cNvSpPr txBox="1"/>
          <p:nvPr/>
        </p:nvSpPr>
        <p:spPr>
          <a:xfrm>
            <a:off x="2361835" y="5067637"/>
            <a:ext cx="534044" cy="186689"/>
          </a:xfrm>
          <a:prstGeom prst="rect">
            <a:avLst/>
          </a:prstGeom>
          <a:noFill/>
        </p:spPr>
        <p:txBody>
          <a:bodyPr wrap="none" lIns="0" tIns="0" rIns="0" bIns="0">
            <a:spAutoFit/>
          </a:bodyPr>
          <a:lstStyle/>
          <a:p>
            <a:r>
              <a:rPr sz="1100" b="0">
                <a:solidFill>
                  <a:srgbClr val="2E2E2E"/>
                </a:solidFill>
                <a:latin typeface="Calibri"/>
              </a:rPr>
              <a:t>BPS and</a:t>
            </a:r>
          </a:p>
        </p:txBody>
      </p:sp>
      <p:sp>
        <p:nvSpPr>
          <p:cNvPr id="111" name="TextBox 110"/>
          <p:cNvSpPr txBox="1"/>
          <p:nvPr/>
        </p:nvSpPr>
        <p:spPr>
          <a:xfrm>
            <a:off x="485775" y="5235277"/>
            <a:ext cx="896937" cy="186689"/>
          </a:xfrm>
          <a:prstGeom prst="rect">
            <a:avLst/>
          </a:prstGeom>
          <a:noFill/>
        </p:spPr>
        <p:txBody>
          <a:bodyPr wrap="none" lIns="0" tIns="0" rIns="0" bIns="0">
            <a:spAutoFit/>
          </a:bodyPr>
          <a:lstStyle/>
          <a:p>
            <a:r>
              <a:rPr sz="1100" b="0">
                <a:solidFill>
                  <a:srgbClr val="2E2E2E"/>
                </a:solidFill>
                <a:latin typeface="Calibri"/>
              </a:rPr>
              <a:t>accounting for</a:t>
            </a:r>
          </a:p>
        </p:txBody>
      </p:sp>
      <p:pic>
        <p:nvPicPr>
          <p:cNvPr id="112" name="Picture 111" descr="lock.png"/>
          <p:cNvPicPr>
            <a:picLocks noChangeAspect="1"/>
          </p:cNvPicPr>
          <p:nvPr/>
        </p:nvPicPr>
        <p:blipFill>
          <a:blip r:embed="rId22"/>
          <a:stretch>
            <a:fillRect/>
          </a:stretch>
        </p:blipFill>
        <p:spPr>
          <a:xfrm>
            <a:off x="1330764" y="5225498"/>
            <a:ext cx="128699" cy="187198"/>
          </a:xfrm>
          <a:prstGeom prst="rect">
            <a:avLst/>
          </a:prstGeom>
        </p:spPr>
      </p:pic>
      <p:sp>
        <p:nvSpPr>
          <p:cNvPr id="113" name="TextBox 112"/>
          <p:cNvSpPr txBox="1"/>
          <p:nvPr/>
        </p:nvSpPr>
        <p:spPr>
          <a:xfrm>
            <a:off x="1498259" y="5235277"/>
            <a:ext cx="908397" cy="186689"/>
          </a:xfrm>
          <a:prstGeom prst="rect">
            <a:avLst/>
          </a:prstGeom>
          <a:noFill/>
        </p:spPr>
        <p:txBody>
          <a:bodyPr wrap="none" lIns="0" tIns="0" rIns="0" bIns="0">
            <a:spAutoFit/>
          </a:bodyPr>
          <a:lstStyle/>
          <a:p>
            <a:r>
              <a:rPr sz="1100" b="0">
                <a:solidFill>
                  <a:srgbClr val="2E2E2E"/>
                </a:solidFill>
                <a:latin typeface="Calibri"/>
              </a:rPr>
              <a:t>share by 2036.</a:t>
            </a:r>
          </a:p>
        </p:txBody>
      </p:sp>
      <p:sp>
        <p:nvSpPr>
          <p:cNvPr id="114" name="TextBox 113"/>
          <p:cNvSpPr txBox="1"/>
          <p:nvPr/>
        </p:nvSpPr>
        <p:spPr>
          <a:xfrm>
            <a:off x="485775" y="5453209"/>
            <a:ext cx="2393801" cy="186689"/>
          </a:xfrm>
          <a:prstGeom prst="rect">
            <a:avLst/>
          </a:prstGeom>
          <a:noFill/>
        </p:spPr>
        <p:txBody>
          <a:bodyPr wrap="none" lIns="0" tIns="0" rIns="0" bIns="0">
            <a:spAutoFit/>
          </a:bodyPr>
          <a:lstStyle/>
          <a:p>
            <a:r>
              <a:rPr sz="1100" b="0">
                <a:solidFill>
                  <a:srgbClr val="2E2E2E"/>
                </a:solidFill>
                <a:latin typeface="Calibri"/>
              </a:rPr>
              <a:t>Pouches segment is projected to register</a:t>
            </a:r>
          </a:p>
        </p:txBody>
      </p:sp>
      <p:pic>
        <p:nvPicPr>
          <p:cNvPr id="115" name="Picture 114" descr="lock.png"/>
          <p:cNvPicPr>
            <a:picLocks noChangeAspect="1"/>
          </p:cNvPicPr>
          <p:nvPr/>
        </p:nvPicPr>
        <p:blipFill>
          <a:blip r:embed="rId22"/>
          <a:stretch>
            <a:fillRect/>
          </a:stretch>
        </p:blipFill>
        <p:spPr>
          <a:xfrm>
            <a:off x="2827627" y="5443430"/>
            <a:ext cx="128699" cy="187198"/>
          </a:xfrm>
          <a:prstGeom prst="rect">
            <a:avLst/>
          </a:prstGeom>
        </p:spPr>
      </p:pic>
      <p:sp>
        <p:nvSpPr>
          <p:cNvPr id="116" name="TextBox 115"/>
          <p:cNvSpPr txBox="1"/>
          <p:nvPr/>
        </p:nvSpPr>
        <p:spPr>
          <a:xfrm>
            <a:off x="2995123" y="5453209"/>
            <a:ext cx="148778" cy="186689"/>
          </a:xfrm>
          <a:prstGeom prst="rect">
            <a:avLst/>
          </a:prstGeom>
          <a:noFill/>
        </p:spPr>
        <p:txBody>
          <a:bodyPr wrap="none" lIns="0" tIns="0" rIns="0" bIns="0">
            <a:spAutoFit/>
          </a:bodyPr>
          <a:lstStyle/>
          <a:p>
            <a:r>
              <a:rPr sz="1100" b="0">
                <a:solidFill>
                  <a:srgbClr val="2E2E2E"/>
                </a:solidFill>
                <a:latin typeface="Calibri"/>
              </a:rPr>
              <a:t>X</a:t>
            </a:r>
          </a:p>
        </p:txBody>
      </p:sp>
      <p:sp>
        <p:nvSpPr>
          <p:cNvPr id="117" name="TextBox 116"/>
          <p:cNvSpPr txBox="1"/>
          <p:nvPr/>
        </p:nvSpPr>
        <p:spPr>
          <a:xfrm>
            <a:off x="485775" y="5620849"/>
            <a:ext cx="2616993" cy="186689"/>
          </a:xfrm>
          <a:prstGeom prst="rect">
            <a:avLst/>
          </a:prstGeom>
          <a:noFill/>
        </p:spPr>
        <p:txBody>
          <a:bodyPr wrap="none" lIns="0" tIns="0" rIns="0" bIns="0">
            <a:spAutoFit/>
          </a:bodyPr>
          <a:lstStyle/>
          <a:p>
            <a:r>
              <a:rPr sz="1100" b="0">
                <a:solidFill>
                  <a:srgbClr val="2E2E2E"/>
                </a:solidFill>
                <a:latin typeface="Calibri"/>
              </a:rPr>
              <a:t>higher value than canisters segment in 2036.</a:t>
            </a:r>
          </a:p>
        </p:txBody>
      </p:sp>
      <p:sp>
        <p:nvSpPr>
          <p:cNvPr id="118" name="TextBox 117"/>
          <p:cNvSpPr txBox="1"/>
          <p:nvPr/>
        </p:nvSpPr>
        <p:spPr>
          <a:xfrm>
            <a:off x="3838575" y="4229437"/>
            <a:ext cx="664195" cy="186689"/>
          </a:xfrm>
          <a:prstGeom prst="rect">
            <a:avLst/>
          </a:prstGeom>
          <a:noFill/>
        </p:spPr>
        <p:txBody>
          <a:bodyPr wrap="none" lIns="0" tIns="0" rIns="0" bIns="0">
            <a:spAutoFit/>
          </a:bodyPr>
          <a:lstStyle/>
          <a:p>
            <a:r>
              <a:rPr sz="1100" b="0">
                <a:solidFill>
                  <a:srgbClr val="2E2E2E"/>
                </a:solidFill>
                <a:latin typeface="Calibri"/>
              </a:rPr>
              <a:t>● Sachets:</a:t>
            </a:r>
          </a:p>
        </p:txBody>
      </p:sp>
      <p:pic>
        <p:nvPicPr>
          <p:cNvPr id="119" name="Picture 118" descr="lock.png"/>
          <p:cNvPicPr>
            <a:picLocks noChangeAspect="1"/>
          </p:cNvPicPr>
          <p:nvPr/>
        </p:nvPicPr>
        <p:blipFill>
          <a:blip r:embed="rId22"/>
          <a:stretch>
            <a:fillRect/>
          </a:stretch>
        </p:blipFill>
        <p:spPr>
          <a:xfrm>
            <a:off x="4450821" y="4219658"/>
            <a:ext cx="128699" cy="187198"/>
          </a:xfrm>
          <a:prstGeom prst="rect">
            <a:avLst/>
          </a:prstGeom>
        </p:spPr>
      </p:pic>
      <p:sp>
        <p:nvSpPr>
          <p:cNvPr id="120" name="TextBox 119"/>
          <p:cNvSpPr txBox="1"/>
          <p:nvPr/>
        </p:nvSpPr>
        <p:spPr>
          <a:xfrm>
            <a:off x="4618317" y="422943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5477767" y="4219658"/>
            <a:ext cx="128699" cy="187198"/>
          </a:xfrm>
          <a:prstGeom prst="rect">
            <a:avLst/>
          </a:prstGeom>
        </p:spPr>
      </p:pic>
      <p:sp>
        <p:nvSpPr>
          <p:cNvPr id="122" name="TextBox 121"/>
          <p:cNvSpPr txBox="1"/>
          <p:nvPr/>
        </p:nvSpPr>
        <p:spPr>
          <a:xfrm>
            <a:off x="5645263" y="4229437"/>
            <a:ext cx="1503469" cy="186689"/>
          </a:xfrm>
          <a:prstGeom prst="rect">
            <a:avLst/>
          </a:prstGeom>
          <a:noFill/>
        </p:spPr>
        <p:txBody>
          <a:bodyPr wrap="none" lIns="0" tIns="0" rIns="0" bIns="0">
            <a:spAutoFit/>
          </a:bodyPr>
          <a:lstStyle/>
          <a:p>
            <a:r>
              <a:rPr sz="1100" b="0">
                <a:solidFill>
                  <a:srgbClr val="2E2E2E"/>
                </a:solidFill>
                <a:latin typeface="Calibri"/>
              </a:rPr>
              <a:t>CAGR leads the segment.</a:t>
            </a:r>
          </a:p>
        </p:txBody>
      </p:sp>
      <p:sp>
        <p:nvSpPr>
          <p:cNvPr id="123" name="TextBox 122"/>
          <p:cNvSpPr txBox="1"/>
          <p:nvPr/>
        </p:nvSpPr>
        <p:spPr>
          <a:xfrm>
            <a:off x="3838575" y="4447369"/>
            <a:ext cx="938138" cy="186689"/>
          </a:xfrm>
          <a:prstGeom prst="rect">
            <a:avLst/>
          </a:prstGeom>
          <a:noFill/>
        </p:spPr>
        <p:txBody>
          <a:bodyPr wrap="none" lIns="0" tIns="0" rIns="0" bIns="0">
            <a:spAutoFit/>
          </a:bodyPr>
          <a:lstStyle/>
          <a:p>
            <a:r>
              <a:rPr sz="1100" b="0">
                <a:solidFill>
                  <a:srgbClr val="2E2E2E"/>
                </a:solidFill>
                <a:latin typeface="Calibri"/>
              </a:rPr>
              <a:t>● Blister Packs:</a:t>
            </a:r>
          </a:p>
        </p:txBody>
      </p:sp>
      <p:pic>
        <p:nvPicPr>
          <p:cNvPr id="124" name="Picture 123" descr="lock.png"/>
          <p:cNvPicPr>
            <a:picLocks noChangeAspect="1"/>
          </p:cNvPicPr>
          <p:nvPr/>
        </p:nvPicPr>
        <p:blipFill>
          <a:blip r:embed="rId22"/>
          <a:stretch>
            <a:fillRect/>
          </a:stretch>
        </p:blipFill>
        <p:spPr>
          <a:xfrm>
            <a:off x="4724764" y="4437590"/>
            <a:ext cx="128699" cy="187198"/>
          </a:xfrm>
          <a:prstGeom prst="rect">
            <a:avLst/>
          </a:prstGeom>
        </p:spPr>
      </p:pic>
      <p:sp>
        <p:nvSpPr>
          <p:cNvPr id="125" name="TextBox 124"/>
          <p:cNvSpPr txBox="1"/>
          <p:nvPr/>
        </p:nvSpPr>
        <p:spPr>
          <a:xfrm>
            <a:off x="4892260" y="444736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5751710" y="4437590"/>
            <a:ext cx="128699" cy="187198"/>
          </a:xfrm>
          <a:prstGeom prst="rect">
            <a:avLst/>
          </a:prstGeom>
        </p:spPr>
      </p:pic>
      <p:sp>
        <p:nvSpPr>
          <p:cNvPr id="127" name="TextBox 126"/>
          <p:cNvSpPr txBox="1"/>
          <p:nvPr/>
        </p:nvSpPr>
        <p:spPr>
          <a:xfrm>
            <a:off x="5919206" y="4447369"/>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28" name="TextBox 127"/>
          <p:cNvSpPr txBox="1"/>
          <p:nvPr/>
        </p:nvSpPr>
        <p:spPr>
          <a:xfrm>
            <a:off x="3838575" y="4665301"/>
            <a:ext cx="750961" cy="186689"/>
          </a:xfrm>
          <a:prstGeom prst="rect">
            <a:avLst/>
          </a:prstGeom>
          <a:noFill/>
        </p:spPr>
        <p:txBody>
          <a:bodyPr wrap="none" lIns="0" tIns="0" rIns="0" bIns="0">
            <a:spAutoFit/>
          </a:bodyPr>
          <a:lstStyle/>
          <a:p>
            <a:r>
              <a:rPr sz="1100" b="0">
                <a:solidFill>
                  <a:srgbClr val="2E2E2E"/>
                </a:solidFill>
                <a:latin typeface="Calibri"/>
              </a:rPr>
              <a:t>● Canisters:</a:t>
            </a:r>
          </a:p>
        </p:txBody>
      </p:sp>
      <p:pic>
        <p:nvPicPr>
          <p:cNvPr id="129" name="Picture 128" descr="lock.png"/>
          <p:cNvPicPr>
            <a:picLocks noChangeAspect="1"/>
          </p:cNvPicPr>
          <p:nvPr/>
        </p:nvPicPr>
        <p:blipFill>
          <a:blip r:embed="rId22"/>
          <a:stretch>
            <a:fillRect/>
          </a:stretch>
        </p:blipFill>
        <p:spPr>
          <a:xfrm>
            <a:off x="4537588" y="4655522"/>
            <a:ext cx="128699" cy="187198"/>
          </a:xfrm>
          <a:prstGeom prst="rect">
            <a:avLst/>
          </a:prstGeom>
        </p:spPr>
      </p:pic>
      <p:sp>
        <p:nvSpPr>
          <p:cNvPr id="130" name="TextBox 129"/>
          <p:cNvSpPr txBox="1"/>
          <p:nvPr/>
        </p:nvSpPr>
        <p:spPr>
          <a:xfrm>
            <a:off x="4705084" y="4665301"/>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5564534" y="4655522"/>
            <a:ext cx="128699" cy="187198"/>
          </a:xfrm>
          <a:prstGeom prst="rect">
            <a:avLst/>
          </a:prstGeom>
        </p:spPr>
      </p:pic>
      <p:sp>
        <p:nvSpPr>
          <p:cNvPr id="132" name="TextBox 131"/>
          <p:cNvSpPr txBox="1"/>
          <p:nvPr/>
        </p:nvSpPr>
        <p:spPr>
          <a:xfrm>
            <a:off x="5732030" y="4665301"/>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33" name="TextBox 132"/>
          <p:cNvSpPr txBox="1"/>
          <p:nvPr/>
        </p:nvSpPr>
        <p:spPr>
          <a:xfrm>
            <a:off x="3838575" y="4883233"/>
            <a:ext cx="705668" cy="186689"/>
          </a:xfrm>
          <a:prstGeom prst="rect">
            <a:avLst/>
          </a:prstGeom>
          <a:noFill/>
        </p:spPr>
        <p:txBody>
          <a:bodyPr wrap="none" lIns="0" tIns="0" rIns="0" bIns="0">
            <a:spAutoFit/>
          </a:bodyPr>
          <a:lstStyle/>
          <a:p>
            <a:r>
              <a:rPr sz="1100" b="0">
                <a:solidFill>
                  <a:srgbClr val="2E2E2E"/>
                </a:solidFill>
                <a:latin typeface="Calibri"/>
              </a:rPr>
              <a:t>● Pouches:</a:t>
            </a:r>
          </a:p>
        </p:txBody>
      </p:sp>
      <p:pic>
        <p:nvPicPr>
          <p:cNvPr id="134" name="Picture 133" descr="lock.png"/>
          <p:cNvPicPr>
            <a:picLocks noChangeAspect="1"/>
          </p:cNvPicPr>
          <p:nvPr/>
        </p:nvPicPr>
        <p:blipFill>
          <a:blip r:embed="rId22"/>
          <a:stretch>
            <a:fillRect/>
          </a:stretch>
        </p:blipFill>
        <p:spPr>
          <a:xfrm>
            <a:off x="4492295" y="4873454"/>
            <a:ext cx="128699" cy="187198"/>
          </a:xfrm>
          <a:prstGeom prst="rect">
            <a:avLst/>
          </a:prstGeom>
        </p:spPr>
      </p:pic>
      <p:sp>
        <p:nvSpPr>
          <p:cNvPr id="135" name="TextBox 134"/>
          <p:cNvSpPr txBox="1"/>
          <p:nvPr/>
        </p:nvSpPr>
        <p:spPr>
          <a:xfrm>
            <a:off x="4659790" y="4883233"/>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2"/>
          <a:stretch>
            <a:fillRect/>
          </a:stretch>
        </p:blipFill>
        <p:spPr>
          <a:xfrm>
            <a:off x="5519241" y="4873454"/>
            <a:ext cx="128699" cy="187198"/>
          </a:xfrm>
          <a:prstGeom prst="rect">
            <a:avLst/>
          </a:prstGeom>
        </p:spPr>
      </p:pic>
      <p:sp>
        <p:nvSpPr>
          <p:cNvPr id="137" name="TextBox 136"/>
          <p:cNvSpPr txBox="1"/>
          <p:nvPr/>
        </p:nvSpPr>
        <p:spPr>
          <a:xfrm>
            <a:off x="5686737" y="4883233"/>
            <a:ext cx="1218612" cy="186689"/>
          </a:xfrm>
          <a:prstGeom prst="rect">
            <a:avLst/>
          </a:prstGeom>
          <a:noFill/>
        </p:spPr>
        <p:txBody>
          <a:bodyPr wrap="none" lIns="0" tIns="0" rIns="0" bIns="0">
            <a:spAutoFit/>
          </a:bodyPr>
          <a:lstStyle/>
          <a:p>
            <a:r>
              <a:rPr sz="1100" b="0">
                <a:solidFill>
                  <a:srgbClr val="2E2E2E"/>
                </a:solidFill>
                <a:latin typeface="Calibri"/>
              </a:rPr>
              <a:t>CAGR grows fastest.</a:t>
            </a:r>
          </a:p>
        </p:txBody>
      </p:sp>
      <p:sp>
        <p:nvSpPr>
          <p:cNvPr id="138" name="TextBox 137"/>
          <p:cNvSpPr txBox="1"/>
          <p:nvPr/>
        </p:nvSpPr>
        <p:spPr>
          <a:xfrm>
            <a:off x="3838575" y="5101165"/>
            <a:ext cx="629542" cy="186689"/>
          </a:xfrm>
          <a:prstGeom prst="rect">
            <a:avLst/>
          </a:prstGeom>
          <a:noFill/>
        </p:spPr>
        <p:txBody>
          <a:bodyPr wrap="none" lIns="0" tIns="0" rIns="0" bIns="0">
            <a:spAutoFit/>
          </a:bodyPr>
          <a:lstStyle/>
          <a:p>
            <a:r>
              <a:rPr sz="1100" b="0">
                <a:solidFill>
                  <a:srgbClr val="2E2E2E"/>
                </a:solidFill>
                <a:latin typeface="Calibri"/>
              </a:rPr>
              <a:t>● Bottles:</a:t>
            </a:r>
          </a:p>
        </p:txBody>
      </p:sp>
      <p:pic>
        <p:nvPicPr>
          <p:cNvPr id="139" name="Picture 138" descr="lock.png"/>
          <p:cNvPicPr>
            <a:picLocks noChangeAspect="1"/>
          </p:cNvPicPr>
          <p:nvPr/>
        </p:nvPicPr>
        <p:blipFill>
          <a:blip r:embed="rId22"/>
          <a:stretch>
            <a:fillRect/>
          </a:stretch>
        </p:blipFill>
        <p:spPr>
          <a:xfrm>
            <a:off x="4416169" y="5091385"/>
            <a:ext cx="128699" cy="187198"/>
          </a:xfrm>
          <a:prstGeom prst="rect">
            <a:avLst/>
          </a:prstGeom>
        </p:spPr>
      </p:pic>
      <p:sp>
        <p:nvSpPr>
          <p:cNvPr id="140" name="TextBox 139"/>
          <p:cNvSpPr txBox="1"/>
          <p:nvPr/>
        </p:nvSpPr>
        <p:spPr>
          <a:xfrm>
            <a:off x="4583665" y="5101165"/>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5443115" y="5091385"/>
            <a:ext cx="128699" cy="187198"/>
          </a:xfrm>
          <a:prstGeom prst="rect">
            <a:avLst/>
          </a:prstGeom>
        </p:spPr>
      </p:pic>
      <p:sp>
        <p:nvSpPr>
          <p:cNvPr id="142" name="TextBox 141"/>
          <p:cNvSpPr txBox="1"/>
          <p:nvPr/>
        </p:nvSpPr>
        <p:spPr>
          <a:xfrm>
            <a:off x="5610611" y="5101165"/>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3" name="TextBox 142"/>
          <p:cNvSpPr txBox="1"/>
          <p:nvPr/>
        </p:nvSpPr>
        <p:spPr>
          <a:xfrm>
            <a:off x="3838575" y="5319097"/>
            <a:ext cx="990798" cy="186689"/>
          </a:xfrm>
          <a:prstGeom prst="rect">
            <a:avLst/>
          </a:prstGeom>
          <a:noFill/>
        </p:spPr>
        <p:txBody>
          <a:bodyPr wrap="none" lIns="0" tIns="0" rIns="0" bIns="0">
            <a:spAutoFit/>
          </a:bodyPr>
          <a:lstStyle/>
          <a:p>
            <a:r>
              <a:rPr sz="1100" b="0">
                <a:solidFill>
                  <a:srgbClr val="2E2E2E"/>
                </a:solidFill>
                <a:latin typeface="Calibri"/>
              </a:rPr>
              <a:t>● Jars and Tubs:</a:t>
            </a:r>
          </a:p>
        </p:txBody>
      </p:sp>
      <p:pic>
        <p:nvPicPr>
          <p:cNvPr id="144" name="Picture 143" descr="lock.png"/>
          <p:cNvPicPr>
            <a:picLocks noChangeAspect="1"/>
          </p:cNvPicPr>
          <p:nvPr/>
        </p:nvPicPr>
        <p:blipFill>
          <a:blip r:embed="rId22"/>
          <a:stretch>
            <a:fillRect/>
          </a:stretch>
        </p:blipFill>
        <p:spPr>
          <a:xfrm>
            <a:off x="4777425" y="5309317"/>
            <a:ext cx="128699" cy="187198"/>
          </a:xfrm>
          <a:prstGeom prst="rect">
            <a:avLst/>
          </a:prstGeom>
        </p:spPr>
      </p:pic>
      <p:sp>
        <p:nvSpPr>
          <p:cNvPr id="145" name="TextBox 144"/>
          <p:cNvSpPr txBox="1"/>
          <p:nvPr/>
        </p:nvSpPr>
        <p:spPr>
          <a:xfrm>
            <a:off x="4944920" y="531909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5804371" y="5309317"/>
            <a:ext cx="128699" cy="187198"/>
          </a:xfrm>
          <a:prstGeom prst="rect">
            <a:avLst/>
          </a:prstGeom>
        </p:spPr>
      </p:pic>
      <p:sp>
        <p:nvSpPr>
          <p:cNvPr id="147" name="TextBox 146"/>
          <p:cNvSpPr txBox="1"/>
          <p:nvPr/>
        </p:nvSpPr>
        <p:spPr>
          <a:xfrm>
            <a:off x="5971866" y="5319097"/>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8" name="TextBox 147"/>
          <p:cNvSpPr txBox="1"/>
          <p:nvPr/>
        </p:nvSpPr>
        <p:spPr>
          <a:xfrm>
            <a:off x="8524875" y="5842641"/>
            <a:ext cx="3162300" cy="194310"/>
          </a:xfrm>
          <a:prstGeom prst="rect">
            <a:avLst/>
          </a:prstGeom>
          <a:noFill/>
        </p:spPr>
        <p:txBody>
          <a:bodyPr wrap="none" lIns="0" tIns="0" rIns="0" bIns="0">
            <a:spAutoFit/>
          </a:bodyPr>
          <a:lstStyle/>
          <a:p>
            <a:r>
              <a:rPr sz="1150" b="1">
                <a:solidFill>
                  <a:srgbClr val="0B2E4A"/>
                </a:solidFill>
                <a:latin typeface="Calibri"/>
              </a:rPr>
              <a:t>The Packaging Format segment is projected to grow</a:t>
            </a:r>
          </a:p>
        </p:txBody>
      </p:sp>
      <p:sp>
        <p:nvSpPr>
          <p:cNvPr id="149" name="TextBox 148"/>
          <p:cNvSpPr txBox="1"/>
          <p:nvPr/>
        </p:nvSpPr>
        <p:spPr>
          <a:xfrm>
            <a:off x="8524875" y="6017901"/>
            <a:ext cx="836089" cy="194310"/>
          </a:xfrm>
          <a:prstGeom prst="rect">
            <a:avLst/>
          </a:prstGeom>
          <a:noFill/>
        </p:spPr>
        <p:txBody>
          <a:bodyPr wrap="none" lIns="0" tIns="0" rIns="0" bIns="0">
            <a:spAutoFit/>
          </a:bodyPr>
          <a:lstStyle/>
          <a:p>
            <a:r>
              <a:rPr sz="1150" b="1">
                <a:solidFill>
                  <a:srgbClr val="0B2E4A"/>
                </a:solidFill>
                <a:latin typeface="Calibri"/>
              </a:rPr>
              <a:t>at a CAGR of</a:t>
            </a:r>
          </a:p>
        </p:txBody>
      </p:sp>
      <p:pic>
        <p:nvPicPr>
          <p:cNvPr id="150" name="Picture 149" descr="lock.png"/>
          <p:cNvPicPr>
            <a:picLocks noChangeAspect="1"/>
          </p:cNvPicPr>
          <p:nvPr/>
        </p:nvPicPr>
        <p:blipFill>
          <a:blip r:embed="rId22"/>
          <a:stretch>
            <a:fillRect/>
          </a:stretch>
        </p:blipFill>
        <p:spPr>
          <a:xfrm>
            <a:off x="9310118" y="6007677"/>
            <a:ext cx="134549" cy="195707"/>
          </a:xfrm>
          <a:prstGeom prst="rect">
            <a:avLst/>
          </a:prstGeom>
        </p:spPr>
      </p:pic>
      <p:sp>
        <p:nvSpPr>
          <p:cNvPr id="151" name="TextBox 150"/>
          <p:cNvSpPr txBox="1"/>
          <p:nvPr/>
        </p:nvSpPr>
        <p:spPr>
          <a:xfrm>
            <a:off x="9485227"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Structure &amp; Attractiveness, By Packaging Format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Packaging Format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Packaging Format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Packaging Format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338693" cy="186689"/>
          </a:xfrm>
          <a:prstGeom prst="rect">
            <a:avLst/>
          </a:prstGeom>
          <a:noFill/>
        </p:spPr>
        <p:txBody>
          <a:bodyPr wrap="none" lIns="0" tIns="0" rIns="0" bIns="0">
            <a:spAutoFit/>
          </a:bodyPr>
          <a:lstStyle/>
          <a:p>
            <a:r>
              <a:rPr sz="1100" b="0">
                <a:solidFill>
                  <a:srgbClr val="2E2E2E"/>
                </a:solidFill>
                <a:latin typeface="Calibri"/>
              </a:rPr>
              <a:t>Pouches followed by canisters are expected to be the two most attractive packaging format segments in the global senior dog cognitive supplement market in terms of value over the forecast period.</a:t>
            </a:r>
          </a:p>
        </p:txBody>
      </p:sp>
      <p:sp>
        <p:nvSpPr>
          <p:cNvPr id="20" name="TextBox 19"/>
          <p:cNvSpPr txBox="1"/>
          <p:nvPr/>
        </p:nvSpPr>
        <p:spPr>
          <a:xfrm>
            <a:off x="257175" y="5945505"/>
            <a:ext cx="2693375" cy="186689"/>
          </a:xfrm>
          <a:prstGeom prst="rect">
            <a:avLst/>
          </a:prstGeom>
          <a:noFill/>
        </p:spPr>
        <p:txBody>
          <a:bodyPr wrap="none" lIns="0" tIns="0" rIns="0" bIns="0">
            <a:spAutoFit/>
          </a:bodyPr>
          <a:lstStyle/>
          <a:p>
            <a:r>
              <a:rPr sz="1100" b="0">
                <a:solidFill>
                  <a:srgbClr val="2E2E2E"/>
                </a:solidFill>
                <a:latin typeface="Calibri"/>
              </a:rPr>
              <a:t>Pouches and canisters exhibit a CAGR index of</a:t>
            </a:r>
          </a:p>
        </p:txBody>
      </p:sp>
      <p:pic>
        <p:nvPicPr>
          <p:cNvPr id="21" name="Picture 20" descr="lock.png"/>
          <p:cNvPicPr>
            <a:picLocks noChangeAspect="1"/>
          </p:cNvPicPr>
          <p:nvPr/>
        </p:nvPicPr>
        <p:blipFill>
          <a:blip r:embed="rId6"/>
          <a:stretch>
            <a:fillRect/>
          </a:stretch>
        </p:blipFill>
        <p:spPr>
          <a:xfrm>
            <a:off x="2898601" y="5935726"/>
            <a:ext cx="128699" cy="187198"/>
          </a:xfrm>
          <a:prstGeom prst="rect">
            <a:avLst/>
          </a:prstGeom>
        </p:spPr>
      </p:pic>
      <p:sp>
        <p:nvSpPr>
          <p:cNvPr id="22" name="TextBox 21"/>
          <p:cNvSpPr txBox="1"/>
          <p:nvPr/>
        </p:nvSpPr>
        <p:spPr>
          <a:xfrm>
            <a:off x="3066097" y="594550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303991" y="5935726"/>
            <a:ext cx="128699" cy="187198"/>
          </a:xfrm>
          <a:prstGeom prst="rect">
            <a:avLst/>
          </a:prstGeom>
        </p:spPr>
      </p:pic>
      <p:sp>
        <p:nvSpPr>
          <p:cNvPr id="24" name="TextBox 23"/>
          <p:cNvSpPr txBox="1"/>
          <p:nvPr/>
        </p:nvSpPr>
        <p:spPr>
          <a:xfrm>
            <a:off x="3471487" y="5945505"/>
            <a:ext cx="1660921" cy="186689"/>
          </a:xfrm>
          <a:prstGeom prst="rect">
            <a:avLst/>
          </a:prstGeom>
          <a:noFill/>
        </p:spPr>
        <p:txBody>
          <a:bodyPr wrap="none" lIns="0" tIns="0" r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080461" y="5935726"/>
            <a:ext cx="128699" cy="187198"/>
          </a:xfrm>
          <a:prstGeom prst="rect">
            <a:avLst/>
          </a:prstGeom>
        </p:spPr>
      </p:pic>
      <p:sp>
        <p:nvSpPr>
          <p:cNvPr id="26" name="TextBox 25"/>
          <p:cNvSpPr txBox="1"/>
          <p:nvPr/>
        </p:nvSpPr>
        <p:spPr>
          <a:xfrm>
            <a:off x="5247957" y="594550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485851" y="5935726"/>
            <a:ext cx="128699" cy="187198"/>
          </a:xfrm>
          <a:prstGeom prst="rect">
            <a:avLst/>
          </a:prstGeom>
        </p:spPr>
      </p:pic>
      <p:sp>
        <p:nvSpPr>
          <p:cNvPr id="28" name="TextBox 27"/>
          <p:cNvSpPr txBox="1"/>
          <p:nvPr/>
        </p:nvSpPr>
        <p:spPr>
          <a:xfrm>
            <a:off x="5653347" y="5945505"/>
            <a:ext cx="2606352" cy="186689"/>
          </a:xfrm>
          <a:prstGeom prst="rect">
            <a:avLst/>
          </a:prstGeom>
          <a:noFill/>
        </p:spPr>
        <p:txBody>
          <a:bodyPr wrap="none" lIns="0" tIns="0" r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207751" y="5935726"/>
            <a:ext cx="128699" cy="187198"/>
          </a:xfrm>
          <a:prstGeom prst="rect">
            <a:avLst/>
          </a:prstGeom>
        </p:spPr>
      </p:pic>
      <p:sp>
        <p:nvSpPr>
          <p:cNvPr id="30" name="TextBox 29"/>
          <p:cNvSpPr txBox="1"/>
          <p:nvPr/>
        </p:nvSpPr>
        <p:spPr>
          <a:xfrm>
            <a:off x="8375247" y="5945505"/>
            <a:ext cx="2547962" cy="186689"/>
          </a:xfrm>
          <a:prstGeom prst="rect">
            <a:avLst/>
          </a:prstGeom>
          <a:noFill/>
        </p:spPr>
        <p:txBody>
          <a:bodyPr wrap="none" lIns="0" tIns="0" rIns="0" bIns="0">
            <a:spAutoFit/>
          </a:bodyPr>
          <a:lstStyle/>
          <a:p>
            <a:r>
              <a:rPr sz="1100" b="0">
                <a:solidFill>
                  <a:srgbClr val="2E2E2E"/>
                </a:solidFill>
                <a:latin typeface="Calibri"/>
              </a:rPr>
              <a:t>. The bottles segment is expected to be less</a:t>
            </a:r>
          </a:p>
        </p:txBody>
      </p:sp>
      <p:sp>
        <p:nvSpPr>
          <p:cNvPr id="31" name="TextBox 30"/>
          <p:cNvSpPr txBox="1"/>
          <p:nvPr/>
        </p:nvSpPr>
        <p:spPr>
          <a:xfrm>
            <a:off x="257175" y="6113145"/>
            <a:ext cx="11338386" cy="186689"/>
          </a:xfrm>
          <a:prstGeom prst="rect">
            <a:avLst/>
          </a:prstGeom>
          <a:noFill/>
        </p:spPr>
        <p:txBody>
          <a:bodyPr wrap="none" lIns="0" tIns="0" r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Analysis, By Packaging Format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Packaging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Bottles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Jars and Tubs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Pouches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Sachets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Analysis, By Packaging Format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Packaging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Blister Packs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Canisters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066800"/>
            <a:ext cx="5610225" cy="407620"/>
          </a:xfrm>
          <a:prstGeom prst="rect">
            <a:avLst/>
          </a:prstGeom>
          <a:noFill/>
        </p:spPr>
        <p:txBody>
          <a:bodyPr wrap="square" lIns="0" tIns="9525" rIns="19050" bIns="9525">
            <a:spAutoFit/>
          </a:bodyPr>
          <a:lstStyle/>
          <a:p>
            <a:pPr algn="l"/>
            <a:r>
              <a:rPr sz="1300" b="1">
                <a:solidFill>
                  <a:srgbClr val="0B2E4A"/>
                </a:solidFill>
                <a:latin typeface="Calibri"/>
              </a:rPr>
              <a:t>Summary of Global Absolute $ Opportunity Analysis, By Packaging Format</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5550" y="1588720"/>
            <a:ext cx="5610225" cy="496448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0" name="TextBox 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598245"/>
            <a:ext cx="4000130" cy="194310"/>
          </a:xfrm>
          <a:prstGeom prst="rect">
            <a:avLst/>
          </a:prstGeom>
          <a:noFill/>
        </p:spPr>
        <p:txBody>
          <a:bodyPr wrap="none" lIns="0" tIns="0" rIns="0" bIns="0">
            <a:spAutoFit/>
          </a:bodyPr>
          <a:lstStyle/>
          <a:p>
            <a:r>
              <a:rPr sz="1150" b="0">
                <a:solidFill>
                  <a:srgbClr val="2E2E2E"/>
                </a:solidFill>
                <a:latin typeface="Calibri"/>
              </a:rPr>
              <a:t>By 2036, pouches segment is anticipated to witness an increase of</a:t>
            </a:r>
          </a:p>
        </p:txBody>
      </p:sp>
      <p:pic>
        <p:nvPicPr>
          <p:cNvPr id="24" name="Picture 23" descr="lock.png"/>
          <p:cNvPicPr>
            <a:picLocks noChangeAspect="1"/>
          </p:cNvPicPr>
          <p:nvPr/>
        </p:nvPicPr>
        <p:blipFill>
          <a:blip r:embed="rId6"/>
          <a:stretch>
            <a:fillRect/>
          </a:stretch>
        </p:blipFill>
        <p:spPr>
          <a:xfrm>
            <a:off x="10254834" y="1588021"/>
            <a:ext cx="134549" cy="195707"/>
          </a:xfrm>
          <a:prstGeom prst="rect">
            <a:avLst/>
          </a:prstGeom>
        </p:spPr>
      </p:pic>
      <p:sp>
        <p:nvSpPr>
          <p:cNvPr id="25" name="TextBox 24"/>
          <p:cNvSpPr txBox="1"/>
          <p:nvPr/>
        </p:nvSpPr>
        <p:spPr>
          <a:xfrm>
            <a:off x="10429943" y="1598245"/>
            <a:ext cx="1341871" cy="194310"/>
          </a:xfrm>
          <a:prstGeom prst="rect">
            <a:avLst/>
          </a:prstGeom>
          <a:noFill/>
        </p:spPr>
        <p:txBody>
          <a:bodyPr wrap="none" lIns="0" tIns="0" rIns="0" bIns="0">
            <a:spAutoFit/>
          </a:bodyPr>
          <a:lstStyle/>
          <a:p>
            <a:r>
              <a:rPr sz="1150" b="0">
                <a:solidFill>
                  <a:srgbClr val="2E2E2E"/>
                </a:solidFill>
                <a:latin typeface="Calibri"/>
              </a:rPr>
              <a:t>X in terms of value as</a:t>
            </a:r>
          </a:p>
        </p:txBody>
      </p:sp>
      <p:sp>
        <p:nvSpPr>
          <p:cNvPr id="26" name="TextBox 25"/>
          <p:cNvSpPr txBox="1"/>
          <p:nvPr/>
        </p:nvSpPr>
        <p:spPr>
          <a:xfrm>
            <a:off x="6305550" y="1773505"/>
            <a:ext cx="5591175" cy="194310"/>
          </a:xfrm>
          <a:prstGeom prst="rect">
            <a:avLst/>
          </a:prstGeom>
          <a:noFill/>
        </p:spPr>
        <p:txBody>
          <a:bodyPr wrap="none" lIns="0" tIns="0" rIns="0" bIns="0">
            <a:spAutoFit/>
          </a:bodyPr>
          <a:lstStyle/>
          <a:p>
            <a:r>
              <a:rPr sz="1150" b="0">
                <a:solidFill>
                  <a:srgbClr val="2E2E2E"/>
                </a:solidFill>
                <a:latin typeface="Calibri"/>
              </a:rPr>
              <a:t>compared to 2026. The pouches segment is expected to create an incremental opportunity of</a:t>
            </a:r>
          </a:p>
        </p:txBody>
      </p:sp>
      <p:sp>
        <p:nvSpPr>
          <p:cNvPr id="27" name="TextBox 26"/>
          <p:cNvSpPr txBox="1"/>
          <p:nvPr/>
        </p:nvSpPr>
        <p:spPr>
          <a:xfrm>
            <a:off x="6305550" y="1948765"/>
            <a:ext cx="311249" cy="194310"/>
          </a:xfrm>
          <a:prstGeom prst="rect">
            <a:avLst/>
          </a:prstGeom>
          <a:noFill/>
        </p:spPr>
        <p:txBody>
          <a:bodyPr wrap="none" lIns="0" tIns="0" rIns="0" bIns="0">
            <a:spAutoFit/>
          </a:bodyPr>
          <a:lstStyle/>
          <a:p>
            <a:r>
              <a:rPr sz="1150" b="0">
                <a:solidFill>
                  <a:srgbClr val="2E2E2E"/>
                </a:solidFill>
                <a:latin typeface="Calibri"/>
              </a:rPr>
              <a:t>US$</a:t>
            </a:r>
          </a:p>
        </p:txBody>
      </p:sp>
      <p:pic>
        <p:nvPicPr>
          <p:cNvPr id="28" name="Picture 27" descr="lock.png"/>
          <p:cNvPicPr>
            <a:picLocks noChangeAspect="1"/>
          </p:cNvPicPr>
          <p:nvPr/>
        </p:nvPicPr>
        <p:blipFill>
          <a:blip r:embed="rId6"/>
          <a:stretch>
            <a:fillRect/>
          </a:stretch>
        </p:blipFill>
        <p:spPr>
          <a:xfrm>
            <a:off x="6565953" y="1938541"/>
            <a:ext cx="134549" cy="195707"/>
          </a:xfrm>
          <a:prstGeom prst="rect">
            <a:avLst/>
          </a:prstGeom>
        </p:spPr>
      </p:pic>
      <p:sp>
        <p:nvSpPr>
          <p:cNvPr id="29" name="TextBox 28"/>
          <p:cNvSpPr txBox="1"/>
          <p:nvPr/>
        </p:nvSpPr>
        <p:spPr>
          <a:xfrm>
            <a:off x="6741062" y="1948765"/>
            <a:ext cx="4760354"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 market from 2026 to 2036.</a:t>
            </a:r>
          </a:p>
        </p:txBody>
      </p:sp>
      <p:sp>
        <p:nvSpPr>
          <p:cNvPr id="30" name="TextBox 29"/>
          <p:cNvSpPr txBox="1"/>
          <p:nvPr/>
        </p:nvSpPr>
        <p:spPr>
          <a:xfrm>
            <a:off x="6305550" y="2176603"/>
            <a:ext cx="4772049" cy="194310"/>
          </a:xfrm>
          <a:prstGeom prst="rect">
            <a:avLst/>
          </a:prstGeom>
          <a:noFill/>
        </p:spPr>
        <p:txBody>
          <a:bodyPr wrap="none" lIns="0" tIns="0" rIns="0" bIns="0">
            <a:spAutoFit/>
          </a:bodyPr>
          <a:lstStyle/>
          <a:p>
            <a:r>
              <a:rPr sz="1150" b="0">
                <a:solidFill>
                  <a:srgbClr val="2E2E2E"/>
                </a:solidFill>
                <a:latin typeface="Calibri"/>
              </a:rPr>
              <a:t>The canisters segment is expected to create an incremental opportunity of US$</a:t>
            </a:r>
          </a:p>
        </p:txBody>
      </p:sp>
      <p:pic>
        <p:nvPicPr>
          <p:cNvPr id="31" name="Picture 30" descr="lock.png"/>
          <p:cNvPicPr>
            <a:picLocks noChangeAspect="1"/>
          </p:cNvPicPr>
          <p:nvPr/>
        </p:nvPicPr>
        <p:blipFill>
          <a:blip r:embed="rId6"/>
          <a:stretch>
            <a:fillRect/>
          </a:stretch>
        </p:blipFill>
        <p:spPr>
          <a:xfrm>
            <a:off x="11026753" y="2166379"/>
            <a:ext cx="134549" cy="195707"/>
          </a:xfrm>
          <a:prstGeom prst="rect">
            <a:avLst/>
          </a:prstGeom>
        </p:spPr>
      </p:pic>
      <p:sp>
        <p:nvSpPr>
          <p:cNvPr id="32" name="TextBox 31"/>
          <p:cNvSpPr txBox="1"/>
          <p:nvPr/>
        </p:nvSpPr>
        <p:spPr>
          <a:xfrm>
            <a:off x="11201863" y="2176603"/>
            <a:ext cx="483542" cy="194310"/>
          </a:xfrm>
          <a:prstGeom prst="rect">
            <a:avLst/>
          </a:prstGeom>
          <a:noFill/>
        </p:spPr>
        <p:txBody>
          <a:bodyPr wrap="none" lIns="0" tIns="0" rIns="0" bIns="0">
            <a:spAutoFit/>
          </a:bodyPr>
          <a:lstStyle/>
          <a:p>
            <a:r>
              <a:rPr sz="1150" b="0">
                <a:solidFill>
                  <a:srgbClr val="2E2E2E"/>
                </a:solidFill>
                <a:latin typeface="Calibri"/>
              </a:rPr>
              <a:t>Mn for</a:t>
            </a:r>
          </a:p>
        </p:txBody>
      </p:sp>
      <p:sp>
        <p:nvSpPr>
          <p:cNvPr id="33" name="TextBox 32"/>
          <p:cNvSpPr txBox="1"/>
          <p:nvPr/>
        </p:nvSpPr>
        <p:spPr>
          <a:xfrm>
            <a:off x="6305550" y="2351863"/>
            <a:ext cx="5345980" cy="194310"/>
          </a:xfrm>
          <a:prstGeom prst="rect">
            <a:avLst/>
          </a:prstGeom>
          <a:noFill/>
        </p:spPr>
        <p:txBody>
          <a:bodyPr wrap="none" lIns="0" tIns="0" rIns="0" bIns="0">
            <a:spAutoFit/>
          </a:bodyPr>
          <a:lstStyle/>
          <a:p>
            <a:r>
              <a:rPr sz="1150" b="0">
                <a:solidFill>
                  <a:srgbClr val="2E2E2E"/>
                </a:solidFill>
                <a:latin typeface="Calibri"/>
              </a:rPr>
              <a:t>the overall senior dog cognitive supplement market from 2026 to 2036. The blister packs</a:t>
            </a:r>
          </a:p>
        </p:txBody>
      </p:sp>
      <p:sp>
        <p:nvSpPr>
          <p:cNvPr id="34" name="TextBox 33"/>
          <p:cNvSpPr txBox="1"/>
          <p:nvPr/>
        </p:nvSpPr>
        <p:spPr>
          <a:xfrm>
            <a:off x="6305550" y="2527123"/>
            <a:ext cx="3955938" cy="194310"/>
          </a:xfrm>
          <a:prstGeom prst="rect">
            <a:avLst/>
          </a:prstGeom>
          <a:noFill/>
        </p:spPr>
        <p:txBody>
          <a:bodyPr wrap="none" lIns="0" tIns="0" rIns="0" bIns="0">
            <a:spAutoFit/>
          </a:bodyPr>
          <a:lstStyle/>
          <a:p>
            <a:r>
              <a:rPr sz="1150" b="0">
                <a:solidFill>
                  <a:srgbClr val="2E2E2E"/>
                </a:solidFill>
                <a:latin typeface="Calibri"/>
              </a:rPr>
              <a:t>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0210642" y="2516899"/>
            <a:ext cx="134549" cy="195707"/>
          </a:xfrm>
          <a:prstGeom prst="rect">
            <a:avLst/>
          </a:prstGeom>
        </p:spPr>
      </p:pic>
      <p:sp>
        <p:nvSpPr>
          <p:cNvPr id="36" name="TextBox 35"/>
          <p:cNvSpPr txBox="1"/>
          <p:nvPr/>
        </p:nvSpPr>
        <p:spPr>
          <a:xfrm>
            <a:off x="10385751" y="2527123"/>
            <a:ext cx="1152177" cy="194310"/>
          </a:xfrm>
          <a:prstGeom prst="rect">
            <a:avLst/>
          </a:prstGeom>
          <a:noFill/>
        </p:spPr>
        <p:txBody>
          <a:bodyPr wrap="none" lIns="0" tIns="0" rIns="0" bIns="0">
            <a:spAutoFit/>
          </a:bodyPr>
          <a:lstStyle/>
          <a:p>
            <a:r>
              <a:rPr sz="1150" b="0">
                <a:solidFill>
                  <a:srgbClr val="2E2E2E"/>
                </a:solidFill>
                <a:latin typeface="Calibri"/>
              </a:rPr>
              <a:t>Mn for the overall</a:t>
            </a:r>
          </a:p>
        </p:txBody>
      </p:sp>
      <p:sp>
        <p:nvSpPr>
          <p:cNvPr id="37" name="TextBox 36"/>
          <p:cNvSpPr txBox="1"/>
          <p:nvPr/>
        </p:nvSpPr>
        <p:spPr>
          <a:xfrm>
            <a:off x="6305550" y="2702383"/>
            <a:ext cx="3651287" cy="194310"/>
          </a:xfrm>
          <a:prstGeom prst="rect">
            <a:avLst/>
          </a:prstGeom>
          <a:noFill/>
        </p:spPr>
        <p:txBody>
          <a:bodyPr wrap="none" lIns="0" tIns="0" rIns="0" bIns="0">
            <a:spAutoFit/>
          </a:bodyPr>
          <a:lstStyle/>
          <a:p>
            <a:r>
              <a:rPr sz="1150" b="0">
                <a:solidFill>
                  <a:srgbClr val="2E2E2E"/>
                </a:solidFill>
                <a:latin typeface="Calibri"/>
              </a:rPr>
              <a:t>senior dog cognitive supplement market from 2026 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Analysis, By Packaging Format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Packaging Format,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By Packaging Format (US$ Mn)</a:t>
            </a:r>
          </a:p>
        </p:txBody>
      </p:sp>
      <p:graphicFrame>
        <p:nvGraphicFramePr>
          <p:cNvPr id="12" name="Table 11"/>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1313658">
                  <a:extLst>
                    <a:ext uri="{9D8B030D-6E8A-4147-A177-3AD203B41FA5}">
                      <a16:colId xmlns:a16="http://schemas.microsoft.com/office/drawing/2014/main" val="20000"/>
                    </a:ext>
                  </a:extLst>
                </a:gridCol>
                <a:gridCol w="621973">
                  <a:extLst>
                    <a:ext uri="{9D8B030D-6E8A-4147-A177-3AD203B41FA5}">
                      <a16:colId xmlns:a16="http://schemas.microsoft.com/office/drawing/2014/main" val="20001"/>
                    </a:ext>
                  </a:extLst>
                </a:gridCol>
                <a:gridCol w="621973">
                  <a:extLst>
                    <a:ext uri="{9D8B030D-6E8A-4147-A177-3AD203B41FA5}">
                      <a16:colId xmlns:a16="http://schemas.microsoft.com/office/drawing/2014/main" val="20002"/>
                    </a:ext>
                  </a:extLst>
                </a:gridCol>
                <a:gridCol w="621973">
                  <a:extLst>
                    <a:ext uri="{9D8B030D-6E8A-4147-A177-3AD203B41FA5}">
                      <a16:colId xmlns:a16="http://schemas.microsoft.com/office/drawing/2014/main" val="20003"/>
                    </a:ext>
                  </a:extLst>
                </a:gridCol>
                <a:gridCol w="621973">
                  <a:extLst>
                    <a:ext uri="{9D8B030D-6E8A-4147-A177-3AD203B41FA5}">
                      <a16:colId xmlns:a16="http://schemas.microsoft.com/office/drawing/2014/main" val="20004"/>
                    </a:ext>
                  </a:extLst>
                </a:gridCol>
                <a:gridCol w="621973">
                  <a:extLst>
                    <a:ext uri="{9D8B030D-6E8A-4147-A177-3AD203B41FA5}">
                      <a16:colId xmlns:a16="http://schemas.microsoft.com/office/drawing/2014/main" val="20005"/>
                    </a:ext>
                  </a:extLst>
                </a:gridCol>
                <a:gridCol w="621973">
                  <a:extLst>
                    <a:ext uri="{9D8B030D-6E8A-4147-A177-3AD203B41FA5}">
                      <a16:colId xmlns:a16="http://schemas.microsoft.com/office/drawing/2014/main" val="20006"/>
                    </a:ext>
                  </a:extLst>
                </a:gridCol>
                <a:gridCol w="621973">
                  <a:extLst>
                    <a:ext uri="{9D8B030D-6E8A-4147-A177-3AD203B41FA5}">
                      <a16:colId xmlns:a16="http://schemas.microsoft.com/office/drawing/2014/main" val="20007"/>
                    </a:ext>
                  </a:extLst>
                </a:gridCol>
                <a:gridCol w="621973">
                  <a:extLst>
                    <a:ext uri="{9D8B030D-6E8A-4147-A177-3AD203B41FA5}">
                      <a16:colId xmlns:a16="http://schemas.microsoft.com/office/drawing/2014/main" val="20008"/>
                    </a:ext>
                  </a:extLst>
                </a:gridCol>
                <a:gridCol w="621973">
                  <a:extLst>
                    <a:ext uri="{9D8B030D-6E8A-4147-A177-3AD203B41FA5}">
                      <a16:colId xmlns:a16="http://schemas.microsoft.com/office/drawing/2014/main" val="20009"/>
                    </a:ext>
                  </a:extLst>
                </a:gridCol>
                <a:gridCol w="621973">
                  <a:extLst>
                    <a:ext uri="{9D8B030D-6E8A-4147-A177-3AD203B41FA5}">
                      <a16:colId xmlns:a16="http://schemas.microsoft.com/office/drawing/2014/main" val="20010"/>
                    </a:ext>
                  </a:extLst>
                </a:gridCol>
                <a:gridCol w="621973">
                  <a:extLst>
                    <a:ext uri="{9D8B030D-6E8A-4147-A177-3AD203B41FA5}">
                      <a16:colId xmlns:a16="http://schemas.microsoft.com/office/drawing/2014/main" val="20011"/>
                    </a:ext>
                  </a:extLst>
                </a:gridCol>
                <a:gridCol w="621973">
                  <a:extLst>
                    <a:ext uri="{9D8B030D-6E8A-4147-A177-3AD203B41FA5}">
                      <a16:colId xmlns:a16="http://schemas.microsoft.com/office/drawing/2014/main" val="20012"/>
                    </a:ext>
                  </a:extLst>
                </a:gridCol>
                <a:gridCol w="621973">
                  <a:extLst>
                    <a:ext uri="{9D8B030D-6E8A-4147-A177-3AD203B41FA5}">
                      <a16:colId xmlns:a16="http://schemas.microsoft.com/office/drawing/2014/main" val="20013"/>
                    </a:ext>
                  </a:extLst>
                </a:gridCol>
                <a:gridCol w="621973">
                  <a:extLst>
                    <a:ext uri="{9D8B030D-6E8A-4147-A177-3AD203B41FA5}">
                      <a16:colId xmlns:a16="http://schemas.microsoft.com/office/drawing/2014/main" val="20014"/>
                    </a:ext>
                  </a:extLst>
                </a:gridCol>
                <a:gridCol w="621973">
                  <a:extLst>
                    <a:ext uri="{9D8B030D-6E8A-4147-A177-3AD203B41FA5}">
                      <a16:colId xmlns:a16="http://schemas.microsoft.com/office/drawing/2014/main" val="20015"/>
                    </a:ext>
                  </a:extLst>
                </a:gridCol>
                <a:gridCol w="621973">
                  <a:extLst>
                    <a:ext uri="{9D8B030D-6E8A-4147-A177-3AD203B41FA5}">
                      <a16:colId xmlns:a16="http://schemas.microsoft.com/office/drawing/2014/main" val="20016"/>
                    </a:ext>
                  </a:extLst>
                </a:gridCol>
                <a:gridCol w="621973">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Packaging Format</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Bottles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Jars and Tubs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Pouches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Sachets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Blister Packs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Canisters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638550"/>
            <a:ext cx="11639550" cy="209550"/>
          </a:xfrm>
          <a:prstGeom prst="rect">
            <a:avLst/>
          </a:prstGeom>
          <a:noFill/>
        </p:spPr>
        <p:txBody>
          <a:bodyPr wrap="square" lIns="0" tIns="9525" rIns="19050" bIns="9525">
            <a:spAutoFit/>
          </a:bodyPr>
          <a:lstStyle/>
          <a:p>
            <a:pPr algn="l"/>
            <a:r>
              <a:rPr sz="1300" b="1">
                <a:solidFill>
                  <a:srgbClr val="0B2E4A"/>
                </a:solidFill>
                <a:latin typeface="Calibri"/>
              </a:rPr>
              <a:t>Global Value Analysis, By Packaging Format</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962400"/>
            <a:ext cx="11639550" cy="2590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66138" y="2080450"/>
            <a:ext cx="366712" cy="533400"/>
          </a:xfrm>
          <a:prstGeom prst="rect">
            <a:avLst/>
          </a:prstGeom>
        </p:spPr>
      </p:pic>
      <p:sp>
        <p:nvSpPr>
          <p:cNvPr id="20" name="TextBox 19"/>
          <p:cNvSpPr txBox="1"/>
          <p:nvPr/>
        </p:nvSpPr>
        <p:spPr>
          <a:xfrm>
            <a:off x="276225" y="3971925"/>
            <a:ext cx="2499146" cy="194310"/>
          </a:xfrm>
          <a:prstGeom prst="rect">
            <a:avLst/>
          </a:prstGeom>
          <a:noFill/>
        </p:spPr>
        <p:txBody>
          <a:bodyPr wrap="none" lIns="0" tIns="0" rIns="0" bIns="0">
            <a:spAutoFit/>
          </a:bodyPr>
          <a:lstStyle/>
          <a:p>
            <a:r>
              <a:rPr sz="1150" b="0">
                <a:solidFill>
                  <a:srgbClr val="2E2E2E"/>
                </a:solidFill>
                <a:latin typeface="Calibri"/>
              </a:rPr>
              <a:t>Pouches segment is projected to register</a:t>
            </a:r>
          </a:p>
        </p:txBody>
      </p:sp>
      <p:pic>
        <p:nvPicPr>
          <p:cNvPr id="21" name="Picture 20" descr="lock.png"/>
          <p:cNvPicPr>
            <a:picLocks noChangeAspect="1"/>
          </p:cNvPicPr>
          <p:nvPr/>
        </p:nvPicPr>
        <p:blipFill>
          <a:blip r:embed="rId4"/>
          <a:stretch>
            <a:fillRect/>
          </a:stretch>
        </p:blipFill>
        <p:spPr>
          <a:xfrm>
            <a:off x="2724525" y="3961701"/>
            <a:ext cx="134549" cy="195707"/>
          </a:xfrm>
          <a:prstGeom prst="rect">
            <a:avLst/>
          </a:prstGeom>
        </p:spPr>
      </p:pic>
      <p:sp>
        <p:nvSpPr>
          <p:cNvPr id="22" name="TextBox 21"/>
          <p:cNvSpPr txBox="1"/>
          <p:nvPr/>
        </p:nvSpPr>
        <p:spPr>
          <a:xfrm>
            <a:off x="2899634" y="3971925"/>
            <a:ext cx="8973839" cy="194310"/>
          </a:xfrm>
          <a:prstGeom prst="rect">
            <a:avLst/>
          </a:prstGeom>
          <a:noFill/>
        </p:spPr>
        <p:txBody>
          <a:bodyPr wrap="none" lIns="0" tIns="0" rIns="0" bIns="0">
            <a:spAutoFit/>
          </a:bodyPr>
          <a:lstStyle/>
          <a:p>
            <a:r>
              <a:rPr sz="1150" b="0">
                <a:solidFill>
                  <a:srgbClr val="2E2E2E"/>
                </a:solidFill>
                <a:latin typeface="Calibri"/>
              </a:rPr>
              <a:t>X higher value than canisters segment in 2036. Among senior dog cognitive supplement by packaging format, pouches segment is expected to witness</a:t>
            </a:r>
          </a:p>
        </p:txBody>
      </p:sp>
      <p:sp>
        <p:nvSpPr>
          <p:cNvPr id="23" name="TextBox 22"/>
          <p:cNvSpPr txBox="1"/>
          <p:nvPr/>
        </p:nvSpPr>
        <p:spPr>
          <a:xfrm>
            <a:off x="276225" y="4147185"/>
            <a:ext cx="1263979" cy="194310"/>
          </a:xfrm>
          <a:prstGeom prst="rect">
            <a:avLst/>
          </a:prstGeom>
          <a:noFill/>
        </p:spPr>
        <p:txBody>
          <a:bodyPr wrap="none" lIns="0" tIns="0" r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4136961"/>
            <a:ext cx="134549" cy="195707"/>
          </a:xfrm>
          <a:prstGeom prst="rect">
            <a:avLst/>
          </a:prstGeom>
        </p:spPr>
      </p:pic>
      <p:sp>
        <p:nvSpPr>
          <p:cNvPr id="25" name="TextBox 24"/>
          <p:cNvSpPr txBox="1"/>
          <p:nvPr/>
        </p:nvSpPr>
        <p:spPr>
          <a:xfrm>
            <a:off x="1664467" y="414718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682680" cy="194310"/>
          </a:xfrm>
          <a:prstGeom prst="rect">
            <a:avLst/>
          </a:prstGeom>
          <a:noFill/>
        </p:spPr>
        <p:txBody>
          <a:bodyPr wrap="none" lIns="0" tIns="0" rIns="0" bIns="0">
            <a:spAutoFit/>
          </a:bodyPr>
          <a:lstStyle/>
          <a:p>
            <a:r>
              <a:rPr sz="1150" b="0">
                <a:solidFill>
                  <a:srgbClr val="2E2E2E"/>
                </a:solidFill>
                <a:latin typeface="Calibri"/>
              </a:rPr>
              <a:t>In terms of value share by packaging format, the pouches segment is expected to dominate the market, gaining</a:t>
            </a:r>
          </a:p>
        </p:txBody>
      </p:sp>
      <p:pic>
        <p:nvPicPr>
          <p:cNvPr id="27" name="Picture 26" descr="lock.png"/>
          <p:cNvPicPr>
            <a:picLocks noChangeAspect="1"/>
          </p:cNvPicPr>
          <p:nvPr/>
        </p:nvPicPr>
        <p:blipFill>
          <a:blip r:embed="rId4"/>
          <a:stretch>
            <a:fillRect/>
          </a:stretch>
        </p:blipFill>
        <p:spPr>
          <a:xfrm>
            <a:off x="6908059" y="4364799"/>
            <a:ext cx="134549" cy="195707"/>
          </a:xfrm>
          <a:prstGeom prst="rect">
            <a:avLst/>
          </a:prstGeom>
        </p:spPr>
      </p:pic>
      <p:sp>
        <p:nvSpPr>
          <p:cNvPr id="28" name="TextBox 27"/>
          <p:cNvSpPr txBox="1"/>
          <p:nvPr/>
        </p:nvSpPr>
        <p:spPr>
          <a:xfrm>
            <a:off x="7083168" y="4375022"/>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478311" y="4364799"/>
            <a:ext cx="134549" cy="195707"/>
          </a:xfrm>
          <a:prstGeom prst="rect">
            <a:avLst/>
          </a:prstGeom>
        </p:spPr>
      </p:pic>
      <p:sp>
        <p:nvSpPr>
          <p:cNvPr id="30" name="TextBox 29"/>
          <p:cNvSpPr txBox="1"/>
          <p:nvPr/>
        </p:nvSpPr>
        <p:spPr>
          <a:xfrm>
            <a:off x="8653421" y="4375022"/>
            <a:ext cx="3086484" cy="194310"/>
          </a:xfrm>
          <a:prstGeom prst="rect">
            <a:avLst/>
          </a:prstGeom>
          <a:noFill/>
        </p:spPr>
        <p:txBody>
          <a:bodyPr wrap="none" lIns="0" tIns="0" rIns="0" bIns="0">
            <a:spAutoFit/>
          </a:bodyPr>
          <a:lstStyle/>
          <a:p>
            <a:r>
              <a:rPr sz="1150" b="0">
                <a:solidFill>
                  <a:srgbClr val="2E2E2E"/>
                </a:solidFill>
                <a:latin typeface="Calibri"/>
              </a:rPr>
              <a:t>share by 2036. The sachets segment is expected to</a:t>
            </a:r>
          </a:p>
        </p:txBody>
      </p:sp>
      <p:sp>
        <p:nvSpPr>
          <p:cNvPr id="31" name="TextBox 30"/>
          <p:cNvSpPr txBox="1"/>
          <p:nvPr/>
        </p:nvSpPr>
        <p:spPr>
          <a:xfrm>
            <a:off x="276225" y="4550282"/>
            <a:ext cx="316669" cy="194310"/>
          </a:xfrm>
          <a:prstGeom prst="rect">
            <a:avLst/>
          </a:prstGeom>
          <a:noFill/>
        </p:spPr>
        <p:txBody>
          <a:bodyPr wrap="none" lIns="0" tIns="0" r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4540059"/>
            <a:ext cx="134549" cy="195707"/>
          </a:xfrm>
          <a:prstGeom prst="rect">
            <a:avLst/>
          </a:prstGeom>
        </p:spPr>
      </p:pic>
      <p:sp>
        <p:nvSpPr>
          <p:cNvPr id="33" name="TextBox 32"/>
          <p:cNvSpPr txBox="1"/>
          <p:nvPr/>
        </p:nvSpPr>
        <p:spPr>
          <a:xfrm>
            <a:off x="717157" y="4550282"/>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4540059"/>
            <a:ext cx="134549" cy="195707"/>
          </a:xfrm>
          <a:prstGeom prst="rect">
            <a:avLst/>
          </a:prstGeom>
        </p:spPr>
      </p:pic>
      <p:sp>
        <p:nvSpPr>
          <p:cNvPr id="35" name="TextBox 34"/>
          <p:cNvSpPr txBox="1"/>
          <p:nvPr/>
        </p:nvSpPr>
        <p:spPr>
          <a:xfrm>
            <a:off x="3479771" y="4550282"/>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&amp; Share Shift, By Packaging Format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Packaging Format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Composition, By Packaging Format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590675"/>
            <a:ext cx="2595753" cy="171069"/>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a:endParaRPr/>
          </a:p>
        </p:txBody>
      </p:sp>
      <p:sp>
        <p:nvSpPr>
          <p:cNvPr id="15" name="FMI Legend Chip"/>
          <p:cNvSpPr/>
          <p:nvPr/>
        </p:nvSpPr>
        <p:spPr>
          <a:xfrm>
            <a:off x="4928997" y="1840368"/>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10800000">
            <a:off x="5090922" y="183560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75940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Bottles</a:t>
            </a:r>
          </a:p>
        </p:txBody>
      </p:sp>
      <p:sp>
        <p:nvSpPr>
          <p:cNvPr id="18" name="BPS Value 1"/>
          <p:cNvSpPr txBox="1"/>
          <p:nvPr/>
        </p:nvSpPr>
        <p:spPr>
          <a:xfrm>
            <a:off x="6896100" y="1821318"/>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19" name="FMI Legend Chip"/>
          <p:cNvSpPr/>
          <p:nvPr/>
        </p:nvSpPr>
        <p:spPr>
          <a:xfrm>
            <a:off x="4928997" y="224007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5090922" y="223530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2159107"/>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Jars and Tubs</a:t>
            </a:r>
          </a:p>
        </p:txBody>
      </p:sp>
      <p:sp>
        <p:nvSpPr>
          <p:cNvPr id="22" name="BPS Value 2"/>
          <p:cNvSpPr txBox="1"/>
          <p:nvPr/>
        </p:nvSpPr>
        <p:spPr>
          <a:xfrm>
            <a:off x="6896100" y="2221020"/>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3" name="FMI Legend Chip"/>
          <p:cNvSpPr/>
          <p:nvPr/>
        </p:nvSpPr>
        <p:spPr>
          <a:xfrm>
            <a:off x="4928997" y="2895251"/>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rot="10800000">
            <a:off x="5090922" y="28904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2814288"/>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Sachets</a:t>
            </a:r>
          </a:p>
        </p:txBody>
      </p:sp>
      <p:sp>
        <p:nvSpPr>
          <p:cNvPr id="26" name="BPS Value 3"/>
          <p:cNvSpPr txBox="1"/>
          <p:nvPr/>
        </p:nvSpPr>
        <p:spPr>
          <a:xfrm>
            <a:off x="6896100" y="2876201"/>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7" name="FMI Legend Chip"/>
          <p:cNvSpPr/>
          <p:nvPr/>
        </p:nvSpPr>
        <p:spPr>
          <a:xfrm>
            <a:off x="4928997" y="376796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rot="10800000">
            <a:off x="5090922" y="376319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3686997"/>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Blister Packs</a:t>
            </a:r>
          </a:p>
        </p:txBody>
      </p:sp>
      <p:sp>
        <p:nvSpPr>
          <p:cNvPr id="30" name="BPS Value 4"/>
          <p:cNvSpPr txBox="1"/>
          <p:nvPr/>
        </p:nvSpPr>
        <p:spPr>
          <a:xfrm>
            <a:off x="6896100" y="3748910"/>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1" name="FMI Legend Chip"/>
          <p:cNvSpPr/>
          <p:nvPr/>
        </p:nvSpPr>
        <p:spPr>
          <a:xfrm>
            <a:off x="4928997" y="467996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10800000">
            <a:off x="5090922" y="46752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5233797" y="459900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Canisters</a:t>
            </a:r>
          </a:p>
        </p:txBody>
      </p:sp>
      <p:sp>
        <p:nvSpPr>
          <p:cNvPr id="34" name="BPS Value 5"/>
          <p:cNvSpPr txBox="1"/>
          <p:nvPr/>
        </p:nvSpPr>
        <p:spPr>
          <a:xfrm>
            <a:off x="6896100" y="4660913"/>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5" name="FMI Legend Chip"/>
          <p:cNvSpPr/>
          <p:nvPr/>
        </p:nvSpPr>
        <p:spPr>
          <a:xfrm>
            <a:off x="4928997" y="569374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5090922" y="568898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5233797" y="561278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Pouches</a:t>
            </a:r>
          </a:p>
        </p:txBody>
      </p:sp>
      <p:sp>
        <p:nvSpPr>
          <p:cNvPr id="38" name="BPS Value 6"/>
          <p:cNvSpPr txBox="1"/>
          <p:nvPr/>
        </p:nvSpPr>
        <p:spPr>
          <a:xfrm>
            <a:off x="6896100" y="5674693"/>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Global Read-out, By Packaging Format</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TextBox 4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750840" cy="194310"/>
          </a:xfrm>
          <a:prstGeom prst="rect">
            <a:avLst/>
          </a:prstGeom>
          <a:noFill/>
        </p:spPr>
        <p:txBody>
          <a:bodyPr wrap="none" lIns="0" tIns="0" rIns="0" bIns="0">
            <a:spAutoFit/>
          </a:bodyPr>
          <a:lstStyle/>
          <a:p>
            <a:r>
              <a:rPr sz="1150" b="0">
                <a:solidFill>
                  <a:srgbClr val="2E2E2E"/>
                </a:solidFill>
                <a:latin typeface="Calibri"/>
              </a:rPr>
              <a:t>Among senior dog cognitive supplement by packaging format,</a:t>
            </a:r>
          </a:p>
        </p:txBody>
      </p:sp>
      <p:sp>
        <p:nvSpPr>
          <p:cNvPr id="46" name="TextBox 45"/>
          <p:cNvSpPr txBox="1"/>
          <p:nvPr/>
        </p:nvSpPr>
        <p:spPr>
          <a:xfrm>
            <a:off x="7829550" y="1575435"/>
            <a:ext cx="3688637" cy="194310"/>
          </a:xfrm>
          <a:prstGeom prst="rect">
            <a:avLst/>
          </a:prstGeom>
          <a:noFill/>
        </p:spPr>
        <p:txBody>
          <a:bodyPr wrap="none" lIns="0" tIns="0" rIns="0" bIns="0">
            <a:spAutoFit/>
          </a:bodyPr>
          <a:lstStyle/>
          <a:p>
            <a:r>
              <a:rPr sz="1150" b="0">
                <a:solidFill>
                  <a:srgbClr val="2E2E2E"/>
                </a:solidFill>
                <a:latin typeface="Calibri"/>
              </a:rPr>
              <a:t>pouches segment is expected to witness the highest CAGR of</a:t>
            </a:r>
          </a:p>
        </p:txBody>
      </p:sp>
      <p:pic>
        <p:nvPicPr>
          <p:cNvPr id="47" name="Picture 46" descr="lock.png"/>
          <p:cNvPicPr>
            <a:picLocks noChangeAspect="1"/>
          </p:cNvPicPr>
          <p:nvPr/>
        </p:nvPicPr>
        <p:blipFill>
          <a:blip r:embed="rId5"/>
          <a:stretch>
            <a:fillRect/>
          </a:stretch>
        </p:blipFill>
        <p:spPr>
          <a:xfrm>
            <a:off x="11467341" y="1565211"/>
            <a:ext cx="134549" cy="195707"/>
          </a:xfrm>
          <a:prstGeom prst="rect">
            <a:avLst/>
          </a:prstGeom>
        </p:spPr>
      </p:pic>
      <p:sp>
        <p:nvSpPr>
          <p:cNvPr id="48" name="TextBox 47"/>
          <p:cNvSpPr txBox="1"/>
          <p:nvPr/>
        </p:nvSpPr>
        <p:spPr>
          <a:xfrm>
            <a:off x="7829550" y="1750695"/>
            <a:ext cx="3743994" cy="194310"/>
          </a:xfrm>
          <a:prstGeom prst="rect">
            <a:avLst/>
          </a:prstGeom>
          <a:noFill/>
        </p:spPr>
        <p:txBody>
          <a:bodyPr wrap="none" lIns="0" tIns="0" rIns="0" bIns="0">
            <a:spAutoFit/>
          </a:bodyPr>
          <a:lstStyle/>
          <a:p>
            <a:r>
              <a:rPr sz="1150" b="0">
                <a:solidFill>
                  <a:srgbClr val="2E2E2E"/>
                </a:solidFill>
                <a:latin typeface="Calibri"/>
              </a:rPr>
              <a:t>over the forecast period. In terms of value share by packaging</a:t>
            </a:r>
          </a:p>
        </p:txBody>
      </p:sp>
      <p:sp>
        <p:nvSpPr>
          <p:cNvPr id="49" name="TextBox 48"/>
          <p:cNvSpPr txBox="1"/>
          <p:nvPr/>
        </p:nvSpPr>
        <p:spPr>
          <a:xfrm>
            <a:off x="7829550" y="1925955"/>
            <a:ext cx="4026110" cy="194310"/>
          </a:xfrm>
          <a:prstGeom prst="rect">
            <a:avLst/>
          </a:prstGeom>
          <a:noFill/>
        </p:spPr>
        <p:txBody>
          <a:bodyPr wrap="none" lIns="0" tIns="0" rIns="0" bIns="0">
            <a:spAutoFit/>
          </a:bodyPr>
          <a:lstStyle/>
          <a:p>
            <a:r>
              <a:rPr sz="1150" b="0">
                <a:solidFill>
                  <a:srgbClr val="2E2E2E"/>
                </a:solidFill>
                <a:latin typeface="Calibri"/>
              </a:rPr>
              <a:t>format, the pouches segment is expected to dominate the market,</a:t>
            </a:r>
          </a:p>
        </p:txBody>
      </p:sp>
      <p:sp>
        <p:nvSpPr>
          <p:cNvPr id="50" name="TextBox 49"/>
          <p:cNvSpPr txBox="1"/>
          <p:nvPr/>
        </p:nvSpPr>
        <p:spPr>
          <a:xfrm>
            <a:off x="7829550" y="2101215"/>
            <a:ext cx="504366" cy="194310"/>
          </a:xfrm>
          <a:prstGeom prst="rect">
            <a:avLst/>
          </a:prstGeom>
          <a:noFill/>
        </p:spPr>
        <p:txBody>
          <a:bodyPr wrap="none" lIns="0" tIns="0" rIns="0" bIns="0">
            <a:spAutoFit/>
          </a:bodyPr>
          <a:lstStyle/>
          <a:p>
            <a:r>
              <a:rPr sz="1150" b="0">
                <a:solidFill>
                  <a:srgbClr val="2E2E2E"/>
                </a:solidFill>
                <a:latin typeface="Calibri"/>
              </a:rPr>
              <a:t>gaining</a:t>
            </a:r>
          </a:p>
        </p:txBody>
      </p:sp>
      <p:pic>
        <p:nvPicPr>
          <p:cNvPr id="51" name="Picture 50" descr="lock.png"/>
          <p:cNvPicPr>
            <a:picLocks noChangeAspect="1"/>
          </p:cNvPicPr>
          <p:nvPr/>
        </p:nvPicPr>
        <p:blipFill>
          <a:blip r:embed="rId5"/>
          <a:stretch>
            <a:fillRect/>
          </a:stretch>
        </p:blipFill>
        <p:spPr>
          <a:xfrm>
            <a:off x="8283070" y="2090991"/>
            <a:ext cx="134549" cy="195707"/>
          </a:xfrm>
          <a:prstGeom prst="rect">
            <a:avLst/>
          </a:prstGeom>
        </p:spPr>
      </p:pic>
      <p:sp>
        <p:nvSpPr>
          <p:cNvPr id="52" name="TextBox 51"/>
          <p:cNvSpPr txBox="1"/>
          <p:nvPr/>
        </p:nvSpPr>
        <p:spPr>
          <a:xfrm>
            <a:off x="8458179" y="2101215"/>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9853322" y="2090991"/>
            <a:ext cx="134549" cy="195707"/>
          </a:xfrm>
          <a:prstGeom prst="rect">
            <a:avLst/>
          </a:prstGeom>
        </p:spPr>
      </p:pic>
      <p:sp>
        <p:nvSpPr>
          <p:cNvPr id="54" name="TextBox 53"/>
          <p:cNvSpPr txBox="1"/>
          <p:nvPr/>
        </p:nvSpPr>
        <p:spPr>
          <a:xfrm>
            <a:off x="10028431" y="2101215"/>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55" name="TextBox 54"/>
          <p:cNvSpPr txBox="1"/>
          <p:nvPr/>
        </p:nvSpPr>
        <p:spPr>
          <a:xfrm>
            <a:off x="7829550" y="2329053"/>
            <a:ext cx="2456929" cy="194310"/>
          </a:xfrm>
          <a:prstGeom prst="rect">
            <a:avLst/>
          </a:prstGeom>
          <a:noFill/>
        </p:spPr>
        <p:txBody>
          <a:bodyPr wrap="none" lIns="0" tIns="0" rIns="0" bIns="0">
            <a:spAutoFit/>
          </a:bodyPr>
          <a:lstStyle/>
          <a:p>
            <a:r>
              <a:rPr sz="1150" b="0">
                <a:solidFill>
                  <a:srgbClr val="2E2E2E"/>
                </a:solidFill>
                <a:latin typeface="Calibri"/>
              </a:rPr>
              <a:t>The sachets segment is expected to lose</a:t>
            </a:r>
          </a:p>
        </p:txBody>
      </p:sp>
      <p:pic>
        <p:nvPicPr>
          <p:cNvPr id="56" name="Picture 55" descr="lock.png"/>
          <p:cNvPicPr>
            <a:picLocks noChangeAspect="1"/>
          </p:cNvPicPr>
          <p:nvPr/>
        </p:nvPicPr>
        <p:blipFill>
          <a:blip r:embed="rId5"/>
          <a:stretch>
            <a:fillRect/>
          </a:stretch>
        </p:blipFill>
        <p:spPr>
          <a:xfrm>
            <a:off x="10235633" y="2318829"/>
            <a:ext cx="134549" cy="195707"/>
          </a:xfrm>
          <a:prstGeom prst="rect">
            <a:avLst/>
          </a:prstGeom>
        </p:spPr>
      </p:pic>
      <p:sp>
        <p:nvSpPr>
          <p:cNvPr id="57" name="TextBox 56"/>
          <p:cNvSpPr txBox="1"/>
          <p:nvPr/>
        </p:nvSpPr>
        <p:spPr>
          <a:xfrm>
            <a:off x="10410742" y="2329053"/>
            <a:ext cx="1346150" cy="194310"/>
          </a:xfrm>
          <a:prstGeom prst="rect">
            <a:avLst/>
          </a:prstGeom>
          <a:noFill/>
        </p:spPr>
        <p:txBody>
          <a:bodyPr wrap="none" lIns="0" tIns="0" rIns="0" bIns="0">
            <a:spAutoFit/>
          </a:bodyPr>
          <a:lstStyle/>
          <a:p>
            <a:r>
              <a:rPr sz="1150" b="0">
                <a:solidFill>
                  <a:srgbClr val="2E2E2E"/>
                </a:solidFill>
                <a:latin typeface="Calibri"/>
              </a:rPr>
              <a:t>BPS over the forecast</a:t>
            </a:r>
          </a:p>
        </p:txBody>
      </p:sp>
      <p:sp>
        <p:nvSpPr>
          <p:cNvPr id="58" name="TextBox 57"/>
          <p:cNvSpPr txBox="1"/>
          <p:nvPr/>
        </p:nvSpPr>
        <p:spPr>
          <a:xfrm>
            <a:off x="7829550" y="2504313"/>
            <a:ext cx="1335310" cy="194310"/>
          </a:xfrm>
          <a:prstGeom prst="rect">
            <a:avLst/>
          </a:prstGeom>
          <a:noFill/>
        </p:spPr>
        <p:txBody>
          <a:bodyPr wrap="none" lIns="0" tIns="0" rIns="0" bIns="0">
            <a:spAutoFit/>
          </a:bodyPr>
          <a:lstStyle/>
          <a:p>
            <a:r>
              <a:rPr sz="1150" b="0">
                <a:solidFill>
                  <a:srgbClr val="2E2E2E"/>
                </a:solidFill>
                <a:latin typeface="Calibri"/>
              </a:rPr>
              <a:t>period to account for</a:t>
            </a:r>
          </a:p>
        </p:txBody>
      </p:sp>
      <p:pic>
        <p:nvPicPr>
          <p:cNvPr id="59" name="Picture 58" descr="lock.png"/>
          <p:cNvPicPr>
            <a:picLocks noChangeAspect="1"/>
          </p:cNvPicPr>
          <p:nvPr/>
        </p:nvPicPr>
        <p:blipFill>
          <a:blip r:embed="rId5"/>
          <a:stretch>
            <a:fillRect/>
          </a:stretch>
        </p:blipFill>
        <p:spPr>
          <a:xfrm>
            <a:off x="9114014" y="2494089"/>
            <a:ext cx="134549" cy="195707"/>
          </a:xfrm>
          <a:prstGeom prst="rect">
            <a:avLst/>
          </a:prstGeom>
        </p:spPr>
      </p:pic>
      <p:sp>
        <p:nvSpPr>
          <p:cNvPr id="60" name="TextBox 59"/>
          <p:cNvSpPr txBox="1"/>
          <p:nvPr/>
        </p:nvSpPr>
        <p:spPr>
          <a:xfrm>
            <a:off x="9289123" y="250431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10.5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Sales Channel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6 sub-segments of Sales Channel,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Veterinary Channels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Brand-Owned E-commerce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Third-Party E-commerce</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Specialist Pet Retail</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General Retail</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Other Direct Sales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7" name="Picture 76" descr="2_884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4_394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3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248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3_020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3_0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1_898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3_959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7_6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896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3_787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7_2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1_009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238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2_1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964_4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1_348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3_4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44824" cy="186689"/>
          </a:xfrm>
          <a:prstGeom prst="rect">
            <a:avLst/>
          </a:prstGeom>
          <a:noFill/>
        </p:spPr>
        <p:txBody>
          <a:bodyPr wrap="none" lIns="0" tIns="0" rIns="0" bIns="0">
            <a:spAutoFit/>
          </a:bodyPr>
          <a:lstStyle/>
          <a:p>
            <a:r>
              <a:rPr sz="1100" b="0">
                <a:solidFill>
                  <a:srgbClr val="2E2E2E"/>
                </a:solidFill>
                <a:latin typeface="Calibri"/>
              </a:rPr>
              <a:t>Among senior dog cognitive supplement by sales</a:t>
            </a:r>
          </a:p>
        </p:txBody>
      </p:sp>
      <p:sp>
        <p:nvSpPr>
          <p:cNvPr id="102" name="TextBox 101"/>
          <p:cNvSpPr txBox="1"/>
          <p:nvPr/>
        </p:nvSpPr>
        <p:spPr>
          <a:xfrm>
            <a:off x="485775" y="4397077"/>
            <a:ext cx="2596529" cy="186689"/>
          </a:xfrm>
          <a:prstGeom prst="rect">
            <a:avLst/>
          </a:prstGeom>
          <a:noFill/>
        </p:spPr>
        <p:txBody>
          <a:bodyPr wrap="none" lIns="0" tIns="0" rIns="0" bIns="0">
            <a:spAutoFit/>
          </a:bodyPr>
          <a:lstStyle/>
          <a:p>
            <a:r>
              <a:rPr sz="1100" b="0">
                <a:solidFill>
                  <a:srgbClr val="2E2E2E"/>
                </a:solidFill>
                <a:latin typeface="Calibri"/>
              </a:rPr>
              <a:t>channel, third-party e-commerce segment is</a:t>
            </a:r>
          </a:p>
        </p:txBody>
      </p:sp>
      <p:sp>
        <p:nvSpPr>
          <p:cNvPr id="103" name="TextBox 102"/>
          <p:cNvSpPr txBox="1"/>
          <p:nvPr/>
        </p:nvSpPr>
        <p:spPr>
          <a:xfrm>
            <a:off x="485775" y="4564717"/>
            <a:ext cx="2381232" cy="186689"/>
          </a:xfrm>
          <a:prstGeom prst="rect">
            <a:avLst/>
          </a:prstGeom>
          <a:noFill/>
        </p:spPr>
        <p:txBody>
          <a:bodyPr wrap="none" lIns="0" tIns="0" rIns="0" bIns="0">
            <a:spAutoFit/>
          </a:bodyPr>
          <a:lstStyle/>
          <a:p>
            <a:r>
              <a:rPr sz="1100" b="0">
                <a:solidFill>
                  <a:srgbClr val="2E2E2E"/>
                </a:solidFill>
                <a:latin typeface="Calibri"/>
              </a:rPr>
              <a:t>expected to witness the highest CAGR of</a:t>
            </a:r>
          </a:p>
        </p:txBody>
      </p:sp>
      <p:pic>
        <p:nvPicPr>
          <p:cNvPr id="104" name="Picture 103" descr="lock.png"/>
          <p:cNvPicPr>
            <a:picLocks noChangeAspect="1"/>
          </p:cNvPicPr>
          <p:nvPr/>
        </p:nvPicPr>
        <p:blipFill>
          <a:blip r:embed="rId22"/>
          <a:stretch>
            <a:fillRect/>
          </a:stretch>
        </p:blipFill>
        <p:spPr>
          <a:xfrm>
            <a:off x="2815059" y="4554938"/>
            <a:ext cx="128699" cy="187198"/>
          </a:xfrm>
          <a:prstGeom prst="rect">
            <a:avLst/>
          </a:prstGeom>
        </p:spPr>
      </p:pic>
      <p:sp>
        <p:nvSpPr>
          <p:cNvPr id="105" name="TextBox 104"/>
          <p:cNvSpPr txBox="1"/>
          <p:nvPr/>
        </p:nvSpPr>
        <p:spPr>
          <a:xfrm>
            <a:off x="2982555" y="4564717"/>
            <a:ext cx="331316" cy="186689"/>
          </a:xfrm>
          <a:prstGeom prst="rect">
            <a:avLst/>
          </a:prstGeom>
          <a:noFill/>
        </p:spPr>
        <p:txBody>
          <a:bodyPr wrap="none" lIns="0" tIns="0" rIns="0" bIns="0">
            <a:spAutoFit/>
          </a:bodyPr>
          <a:lstStyle/>
          <a:p>
            <a:r>
              <a:rPr sz="1100" b="0">
                <a:solidFill>
                  <a:srgbClr val="2E2E2E"/>
                </a:solidFill>
                <a:latin typeface="Calibri"/>
              </a:rPr>
              <a:t>over</a:t>
            </a:r>
          </a:p>
        </p:txBody>
      </p:sp>
      <p:sp>
        <p:nvSpPr>
          <p:cNvPr id="106" name="TextBox 105"/>
          <p:cNvSpPr txBox="1"/>
          <p:nvPr/>
        </p:nvSpPr>
        <p:spPr>
          <a:xfrm>
            <a:off x="485775" y="4732357"/>
            <a:ext cx="2699122" cy="186689"/>
          </a:xfrm>
          <a:prstGeom prst="rect">
            <a:avLst/>
          </a:prstGeom>
          <a:noFill/>
        </p:spPr>
        <p:txBody>
          <a:bodyPr wrap="none" lIns="0" tIns="0" rIns="0" bIns="0">
            <a:spAutoFit/>
          </a:bodyPr>
          <a:lstStyle/>
          <a:p>
            <a:r>
              <a:rPr sz="1100" b="0">
                <a:solidFill>
                  <a:srgbClr val="2E2E2E"/>
                </a:solidFill>
                <a:latin typeface="Calibri"/>
              </a:rPr>
              <a:t>the forecast period. In terms of value share by</a:t>
            </a:r>
          </a:p>
        </p:txBody>
      </p:sp>
      <p:sp>
        <p:nvSpPr>
          <p:cNvPr id="107" name="TextBox 106"/>
          <p:cNvSpPr txBox="1"/>
          <p:nvPr/>
        </p:nvSpPr>
        <p:spPr>
          <a:xfrm>
            <a:off x="485775" y="4899997"/>
            <a:ext cx="2880022" cy="186689"/>
          </a:xfrm>
          <a:prstGeom prst="rect">
            <a:avLst/>
          </a:prstGeom>
          <a:noFill/>
        </p:spPr>
        <p:txBody>
          <a:bodyPr wrap="none" lIns="0" tIns="0" rIns="0" bIns="0">
            <a:spAutoFit/>
          </a:bodyPr>
          <a:lstStyle/>
          <a:p>
            <a:r>
              <a:rPr sz="1100" b="0">
                <a:solidFill>
                  <a:srgbClr val="2E2E2E"/>
                </a:solidFill>
                <a:latin typeface="Calibri"/>
              </a:rPr>
              <a:t>sales channel, the veterinary channels segment is</a:t>
            </a:r>
          </a:p>
        </p:txBody>
      </p:sp>
      <p:sp>
        <p:nvSpPr>
          <p:cNvPr id="108" name="TextBox 107"/>
          <p:cNvSpPr txBox="1"/>
          <p:nvPr/>
        </p:nvSpPr>
        <p:spPr>
          <a:xfrm>
            <a:off x="485775" y="5067637"/>
            <a:ext cx="2388889" cy="186689"/>
          </a:xfrm>
          <a:prstGeom prst="rect">
            <a:avLst/>
          </a:prstGeom>
          <a:noFill/>
        </p:spPr>
        <p:txBody>
          <a:bodyPr wrap="none" lIns="0" tIns="0" rIns="0" bIns="0">
            <a:spAutoFit/>
          </a:bodyPr>
          <a:lstStyle/>
          <a:p>
            <a:r>
              <a:rPr sz="1100" b="0">
                <a:solidFill>
                  <a:srgbClr val="2E2E2E"/>
                </a:solidFill>
                <a:latin typeface="Calibri"/>
              </a:rPr>
              <a:t>expected to dominate the market, losing</a:t>
            </a:r>
          </a:p>
        </p:txBody>
      </p:sp>
      <p:pic>
        <p:nvPicPr>
          <p:cNvPr id="109" name="Picture 108" descr="lock.png"/>
          <p:cNvPicPr>
            <a:picLocks noChangeAspect="1"/>
          </p:cNvPicPr>
          <p:nvPr/>
        </p:nvPicPr>
        <p:blipFill>
          <a:blip r:embed="rId22"/>
          <a:stretch>
            <a:fillRect/>
          </a:stretch>
        </p:blipFill>
        <p:spPr>
          <a:xfrm>
            <a:off x="2822716" y="5057858"/>
            <a:ext cx="128699" cy="187198"/>
          </a:xfrm>
          <a:prstGeom prst="rect">
            <a:avLst/>
          </a:prstGeom>
        </p:spPr>
      </p:pic>
      <p:sp>
        <p:nvSpPr>
          <p:cNvPr id="110" name="TextBox 109"/>
          <p:cNvSpPr txBox="1"/>
          <p:nvPr/>
        </p:nvSpPr>
        <p:spPr>
          <a:xfrm>
            <a:off x="2990212" y="5067637"/>
            <a:ext cx="288751" cy="186689"/>
          </a:xfrm>
          <a:prstGeom prst="rect">
            <a:avLst/>
          </a:prstGeom>
          <a:noFill/>
        </p:spPr>
        <p:txBody>
          <a:bodyPr wrap="none" lIns="0" tIns="0" rIns="0" bIns="0">
            <a:spAutoFit/>
          </a:bodyPr>
          <a:lstStyle/>
          <a:p>
            <a:r>
              <a:rPr sz="1100" b="0">
                <a:solidFill>
                  <a:srgbClr val="2E2E2E"/>
                </a:solidFill>
                <a:latin typeface="Calibri"/>
              </a:rPr>
              <a:t>BPS</a:t>
            </a:r>
          </a:p>
        </p:txBody>
      </p:sp>
      <p:sp>
        <p:nvSpPr>
          <p:cNvPr id="111" name="TextBox 110"/>
          <p:cNvSpPr txBox="1"/>
          <p:nvPr/>
        </p:nvSpPr>
        <p:spPr>
          <a:xfrm>
            <a:off x="485775" y="5235277"/>
            <a:ext cx="1142231" cy="186689"/>
          </a:xfrm>
          <a:prstGeom prst="rect">
            <a:avLst/>
          </a:prstGeom>
          <a:noFill/>
        </p:spPr>
        <p:txBody>
          <a:bodyPr wrap="none" lIns="0" tIns="0" rIns="0" bIns="0">
            <a:spAutoFit/>
          </a:bodyPr>
          <a:lstStyle/>
          <a:p>
            <a:r>
              <a:rPr sz="1100" b="0">
                <a:solidFill>
                  <a:srgbClr val="2E2E2E"/>
                </a:solidFill>
                <a:latin typeface="Calibri"/>
              </a:rPr>
              <a:t>and accounting for</a:t>
            </a:r>
          </a:p>
        </p:txBody>
      </p:sp>
      <p:pic>
        <p:nvPicPr>
          <p:cNvPr id="112" name="Picture 111" descr="lock.png"/>
          <p:cNvPicPr>
            <a:picLocks noChangeAspect="1"/>
          </p:cNvPicPr>
          <p:nvPr/>
        </p:nvPicPr>
        <p:blipFill>
          <a:blip r:embed="rId22"/>
          <a:stretch>
            <a:fillRect/>
          </a:stretch>
        </p:blipFill>
        <p:spPr>
          <a:xfrm>
            <a:off x="1576057" y="5225498"/>
            <a:ext cx="128699" cy="187198"/>
          </a:xfrm>
          <a:prstGeom prst="rect">
            <a:avLst/>
          </a:prstGeom>
        </p:spPr>
      </p:pic>
      <p:sp>
        <p:nvSpPr>
          <p:cNvPr id="113" name="TextBox 112"/>
          <p:cNvSpPr txBox="1"/>
          <p:nvPr/>
        </p:nvSpPr>
        <p:spPr>
          <a:xfrm>
            <a:off x="1743553" y="5235277"/>
            <a:ext cx="908397" cy="186689"/>
          </a:xfrm>
          <a:prstGeom prst="rect">
            <a:avLst/>
          </a:prstGeom>
          <a:noFill/>
        </p:spPr>
        <p:txBody>
          <a:bodyPr wrap="none" lIns="0" tIns="0" rIns="0" bIns="0">
            <a:spAutoFit/>
          </a:bodyPr>
          <a:lstStyle/>
          <a:p>
            <a:r>
              <a:rPr sz="1100" b="0">
                <a:solidFill>
                  <a:srgbClr val="2E2E2E"/>
                </a:solidFill>
                <a:latin typeface="Calibri"/>
              </a:rPr>
              <a:t>share by 2036.</a:t>
            </a:r>
          </a:p>
        </p:txBody>
      </p:sp>
      <p:sp>
        <p:nvSpPr>
          <p:cNvPr id="114" name="TextBox 113"/>
          <p:cNvSpPr txBox="1"/>
          <p:nvPr/>
        </p:nvSpPr>
        <p:spPr>
          <a:xfrm>
            <a:off x="485775" y="5453209"/>
            <a:ext cx="2582887" cy="186689"/>
          </a:xfrm>
          <a:prstGeom prst="rect">
            <a:avLst/>
          </a:prstGeom>
          <a:noFill/>
        </p:spPr>
        <p:txBody>
          <a:bodyPr wrap="none" lIns="0" tIns="0" rIns="0" bIns="0">
            <a:spAutoFit/>
          </a:bodyPr>
          <a:lstStyle/>
          <a:p>
            <a:r>
              <a:rPr sz="1100" b="0">
                <a:solidFill>
                  <a:srgbClr val="2E2E2E"/>
                </a:solidFill>
                <a:latin typeface="Calibri"/>
              </a:rPr>
              <a:t>Veterinary channels segment is projected to</a:t>
            </a:r>
          </a:p>
        </p:txBody>
      </p:sp>
      <p:sp>
        <p:nvSpPr>
          <p:cNvPr id="115" name="TextBox 114"/>
          <p:cNvSpPr txBox="1"/>
          <p:nvPr/>
        </p:nvSpPr>
        <p:spPr>
          <a:xfrm>
            <a:off x="485775" y="5620849"/>
            <a:ext cx="512489" cy="186689"/>
          </a:xfrm>
          <a:prstGeom prst="rect">
            <a:avLst/>
          </a:prstGeom>
          <a:noFill/>
        </p:spPr>
        <p:txBody>
          <a:bodyPr wrap="none" lIns="0" tIns="0" rIns="0" bIns="0">
            <a:spAutoFit/>
          </a:bodyPr>
          <a:lstStyle/>
          <a:p>
            <a:r>
              <a:rPr sz="1100" b="0">
                <a:solidFill>
                  <a:srgbClr val="2E2E2E"/>
                </a:solidFill>
                <a:latin typeface="Calibri"/>
              </a:rPr>
              <a:t>register</a:t>
            </a:r>
          </a:p>
        </p:txBody>
      </p:sp>
      <p:pic>
        <p:nvPicPr>
          <p:cNvPr id="116" name="Picture 115" descr="lock.png"/>
          <p:cNvPicPr>
            <a:picLocks noChangeAspect="1"/>
          </p:cNvPicPr>
          <p:nvPr/>
        </p:nvPicPr>
        <p:blipFill>
          <a:blip r:embed="rId22"/>
          <a:stretch>
            <a:fillRect/>
          </a:stretch>
        </p:blipFill>
        <p:spPr>
          <a:xfrm>
            <a:off x="946316" y="5611070"/>
            <a:ext cx="128699" cy="187198"/>
          </a:xfrm>
          <a:prstGeom prst="rect">
            <a:avLst/>
          </a:prstGeom>
        </p:spPr>
      </p:pic>
      <p:sp>
        <p:nvSpPr>
          <p:cNvPr id="117" name="TextBox 116"/>
          <p:cNvSpPr txBox="1"/>
          <p:nvPr/>
        </p:nvSpPr>
        <p:spPr>
          <a:xfrm>
            <a:off x="1113812" y="5620849"/>
            <a:ext cx="1821085" cy="186689"/>
          </a:xfrm>
          <a:prstGeom prst="rect">
            <a:avLst/>
          </a:prstGeom>
          <a:noFill/>
        </p:spPr>
        <p:txBody>
          <a:bodyPr wrap="none" lIns="0" tIns="0" rIns="0" bIns="0">
            <a:spAutoFit/>
          </a:bodyPr>
          <a:lstStyle/>
          <a:p>
            <a:r>
              <a:rPr sz="1100" b="0">
                <a:solidFill>
                  <a:srgbClr val="2E2E2E"/>
                </a:solidFill>
                <a:latin typeface="Calibri"/>
              </a:rPr>
              <a:t>X higher value than third-party</a:t>
            </a:r>
          </a:p>
        </p:txBody>
      </p:sp>
      <p:sp>
        <p:nvSpPr>
          <p:cNvPr id="118" name="TextBox 117"/>
          <p:cNvSpPr txBox="1"/>
          <p:nvPr/>
        </p:nvSpPr>
        <p:spPr>
          <a:xfrm>
            <a:off x="485775" y="5788489"/>
            <a:ext cx="1802804" cy="186689"/>
          </a:xfrm>
          <a:prstGeom prst="rect">
            <a:avLst/>
          </a:prstGeom>
          <a:noFill/>
        </p:spPr>
        <p:txBody>
          <a:bodyPr wrap="none" lIns="0" tIns="0" rIns="0" bIns="0">
            <a:spAutoFit/>
          </a:bodyPr>
          <a:lstStyle/>
          <a:p>
            <a:r>
              <a:rPr sz="1100" b="0">
                <a:solidFill>
                  <a:srgbClr val="2E2E2E"/>
                </a:solidFill>
                <a:latin typeface="Calibri"/>
              </a:rPr>
              <a:t>e-commerce segment in 2036.</a:t>
            </a:r>
          </a:p>
        </p:txBody>
      </p:sp>
      <p:sp>
        <p:nvSpPr>
          <p:cNvPr id="119" name="TextBox 118"/>
          <p:cNvSpPr txBox="1"/>
          <p:nvPr/>
        </p:nvSpPr>
        <p:spPr>
          <a:xfrm>
            <a:off x="3838575" y="4229437"/>
            <a:ext cx="1377974" cy="186689"/>
          </a:xfrm>
          <a:prstGeom prst="rect">
            <a:avLst/>
          </a:prstGeom>
          <a:noFill/>
        </p:spPr>
        <p:txBody>
          <a:bodyPr wrap="none" lIns="0" tIns="0" rIns="0" bIns="0">
            <a:spAutoFit/>
          </a:bodyPr>
          <a:lstStyle/>
          <a:p>
            <a:r>
              <a:rPr sz="1100" b="0">
                <a:solidFill>
                  <a:srgbClr val="2E2E2E"/>
                </a:solidFill>
                <a:latin typeface="Calibri"/>
              </a:rPr>
              <a:t>● Veterinary Channels:</a:t>
            </a:r>
          </a:p>
        </p:txBody>
      </p:sp>
      <p:pic>
        <p:nvPicPr>
          <p:cNvPr id="120" name="Picture 119" descr="lock.png"/>
          <p:cNvPicPr>
            <a:picLocks noChangeAspect="1"/>
          </p:cNvPicPr>
          <p:nvPr/>
        </p:nvPicPr>
        <p:blipFill>
          <a:blip r:embed="rId22"/>
          <a:stretch>
            <a:fillRect/>
          </a:stretch>
        </p:blipFill>
        <p:spPr>
          <a:xfrm>
            <a:off x="5164601" y="4219658"/>
            <a:ext cx="128699" cy="187198"/>
          </a:xfrm>
          <a:prstGeom prst="rect">
            <a:avLst/>
          </a:prstGeom>
        </p:spPr>
      </p:pic>
      <p:sp>
        <p:nvSpPr>
          <p:cNvPr id="121" name="TextBox 120"/>
          <p:cNvSpPr txBox="1"/>
          <p:nvPr/>
        </p:nvSpPr>
        <p:spPr>
          <a:xfrm>
            <a:off x="5332097" y="422943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22"/>
          <a:stretch>
            <a:fillRect/>
          </a:stretch>
        </p:blipFill>
        <p:spPr>
          <a:xfrm>
            <a:off x="6191547" y="4219658"/>
            <a:ext cx="128699" cy="187198"/>
          </a:xfrm>
          <a:prstGeom prst="rect">
            <a:avLst/>
          </a:prstGeom>
        </p:spPr>
      </p:pic>
      <p:sp>
        <p:nvSpPr>
          <p:cNvPr id="123" name="TextBox 122"/>
          <p:cNvSpPr txBox="1"/>
          <p:nvPr/>
        </p:nvSpPr>
        <p:spPr>
          <a:xfrm>
            <a:off x="6359043" y="4229437"/>
            <a:ext cx="945215" cy="186689"/>
          </a:xfrm>
          <a:prstGeom prst="rect">
            <a:avLst/>
          </a:prstGeom>
          <a:noFill/>
        </p:spPr>
        <p:txBody>
          <a:bodyPr wrap="none" lIns="0" tIns="0" rIns="0" bIns="0">
            <a:spAutoFit/>
          </a:bodyPr>
          <a:lstStyle/>
          <a:p>
            <a:r>
              <a:rPr sz="1100" b="0">
                <a:solidFill>
                  <a:srgbClr val="2E2E2E"/>
                </a:solidFill>
                <a:latin typeface="Calibri"/>
              </a:rPr>
              <a:t>CAGR leads the</a:t>
            </a:r>
          </a:p>
        </p:txBody>
      </p:sp>
      <p:sp>
        <p:nvSpPr>
          <p:cNvPr id="124" name="TextBox 123"/>
          <p:cNvSpPr txBox="1"/>
          <p:nvPr/>
        </p:nvSpPr>
        <p:spPr>
          <a:xfrm>
            <a:off x="3838575" y="4397077"/>
            <a:ext cx="602803" cy="186689"/>
          </a:xfrm>
          <a:prstGeom prst="rect">
            <a:avLst/>
          </a:prstGeom>
          <a:noFill/>
        </p:spPr>
        <p:txBody>
          <a:bodyPr wrap="none" lIns="0" tIns="0" rIns="0" bIns="0">
            <a:spAutoFit/>
          </a:bodyPr>
          <a:lstStyle/>
          <a:p>
            <a:r>
              <a:rPr sz="1100" b="0">
                <a:solidFill>
                  <a:srgbClr val="2E2E2E"/>
                </a:solidFill>
                <a:latin typeface="Calibri"/>
              </a:rPr>
              <a:t>segment.</a:t>
            </a:r>
          </a:p>
        </p:txBody>
      </p:sp>
      <p:sp>
        <p:nvSpPr>
          <p:cNvPr id="125" name="TextBox 124"/>
          <p:cNvSpPr txBox="1"/>
          <p:nvPr/>
        </p:nvSpPr>
        <p:spPr>
          <a:xfrm>
            <a:off x="3838575" y="4615009"/>
            <a:ext cx="1765667" cy="186689"/>
          </a:xfrm>
          <a:prstGeom prst="rect">
            <a:avLst/>
          </a:prstGeom>
          <a:noFill/>
        </p:spPr>
        <p:txBody>
          <a:bodyPr wrap="none" lIns="0" tIns="0" rIns="0" bIns="0">
            <a:spAutoFit/>
          </a:bodyPr>
          <a:lstStyle/>
          <a:p>
            <a:r>
              <a:rPr sz="1100" b="0">
                <a:solidFill>
                  <a:srgbClr val="2E2E2E"/>
                </a:solidFill>
                <a:latin typeface="Calibri"/>
              </a:rPr>
              <a:t>● Brand-Owned E-commerce:</a:t>
            </a:r>
          </a:p>
        </p:txBody>
      </p:sp>
      <p:pic>
        <p:nvPicPr>
          <p:cNvPr id="126" name="Picture 125" descr="lock.png"/>
          <p:cNvPicPr>
            <a:picLocks noChangeAspect="1"/>
          </p:cNvPicPr>
          <p:nvPr/>
        </p:nvPicPr>
        <p:blipFill>
          <a:blip r:embed="rId22"/>
          <a:stretch>
            <a:fillRect/>
          </a:stretch>
        </p:blipFill>
        <p:spPr>
          <a:xfrm>
            <a:off x="5552293" y="4605230"/>
            <a:ext cx="128699" cy="187198"/>
          </a:xfrm>
          <a:prstGeom prst="rect">
            <a:avLst/>
          </a:prstGeom>
        </p:spPr>
      </p:pic>
      <p:sp>
        <p:nvSpPr>
          <p:cNvPr id="127" name="TextBox 126"/>
          <p:cNvSpPr txBox="1"/>
          <p:nvPr/>
        </p:nvSpPr>
        <p:spPr>
          <a:xfrm>
            <a:off x="5719789" y="461500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22"/>
          <a:stretch>
            <a:fillRect/>
          </a:stretch>
        </p:blipFill>
        <p:spPr>
          <a:xfrm>
            <a:off x="6579239" y="4605230"/>
            <a:ext cx="128699" cy="187198"/>
          </a:xfrm>
          <a:prstGeom prst="rect">
            <a:avLst/>
          </a:prstGeom>
        </p:spPr>
      </p:pic>
      <p:sp>
        <p:nvSpPr>
          <p:cNvPr id="129" name="TextBox 128"/>
          <p:cNvSpPr txBox="1"/>
          <p:nvPr/>
        </p:nvSpPr>
        <p:spPr>
          <a:xfrm>
            <a:off x="6746735" y="4615009"/>
            <a:ext cx="885733" cy="186689"/>
          </a:xfrm>
          <a:prstGeom prst="rect">
            <a:avLst/>
          </a:prstGeom>
          <a:noFill/>
        </p:spPr>
        <p:txBody>
          <a:bodyPr wrap="none" lIns="0" tIns="0" rIns="0" bIns="0">
            <a:spAutoFit/>
          </a:bodyPr>
          <a:lstStyle/>
          <a:p>
            <a:r>
              <a:rPr sz="1100" b="0">
                <a:solidFill>
                  <a:srgbClr val="2E2E2E"/>
                </a:solidFill>
                <a:latin typeface="Calibri"/>
              </a:rPr>
              <a:t>CAGR serves a</a:t>
            </a:r>
          </a:p>
        </p:txBody>
      </p:sp>
      <p:sp>
        <p:nvSpPr>
          <p:cNvPr id="130" name="TextBox 129"/>
          <p:cNvSpPr txBox="1"/>
          <p:nvPr/>
        </p:nvSpPr>
        <p:spPr>
          <a:xfrm>
            <a:off x="3838575" y="4782649"/>
            <a:ext cx="419174" cy="186689"/>
          </a:xfrm>
          <a:prstGeom prst="rect">
            <a:avLst/>
          </a:prstGeom>
          <a:noFill/>
        </p:spPr>
        <p:txBody>
          <a:bodyPr wrap="none" lIns="0" tIns="0" rIns="0" bIns="0">
            <a:spAutoFit/>
          </a:bodyPr>
          <a:lstStyle/>
          <a:p>
            <a:r>
              <a:rPr sz="1100" b="0">
                <a:solidFill>
                  <a:srgbClr val="2E2E2E"/>
                </a:solidFill>
                <a:latin typeface="Calibri"/>
              </a:rPr>
              <a:t>niche.</a:t>
            </a:r>
          </a:p>
        </p:txBody>
      </p:sp>
      <p:sp>
        <p:nvSpPr>
          <p:cNvPr id="131" name="TextBox 130"/>
          <p:cNvSpPr txBox="1"/>
          <p:nvPr/>
        </p:nvSpPr>
        <p:spPr>
          <a:xfrm>
            <a:off x="3838575" y="5000581"/>
            <a:ext cx="1612597" cy="186689"/>
          </a:xfrm>
          <a:prstGeom prst="rect">
            <a:avLst/>
          </a:prstGeom>
          <a:noFill/>
        </p:spPr>
        <p:txBody>
          <a:bodyPr wrap="none" lIns="0" tIns="0" rIns="0" bIns="0">
            <a:spAutoFit/>
          </a:bodyPr>
          <a:lstStyle/>
          <a:p>
            <a:r>
              <a:rPr sz="1100" b="0">
                <a:solidFill>
                  <a:srgbClr val="2E2E2E"/>
                </a:solidFill>
                <a:latin typeface="Calibri"/>
              </a:rPr>
              <a:t>● Third-Party E-commerce:</a:t>
            </a:r>
          </a:p>
        </p:txBody>
      </p:sp>
      <p:pic>
        <p:nvPicPr>
          <p:cNvPr id="132" name="Picture 131" descr="lock.png"/>
          <p:cNvPicPr>
            <a:picLocks noChangeAspect="1"/>
          </p:cNvPicPr>
          <p:nvPr/>
        </p:nvPicPr>
        <p:blipFill>
          <a:blip r:embed="rId22"/>
          <a:stretch>
            <a:fillRect/>
          </a:stretch>
        </p:blipFill>
        <p:spPr>
          <a:xfrm>
            <a:off x="5399223" y="4990801"/>
            <a:ext cx="128699" cy="187198"/>
          </a:xfrm>
          <a:prstGeom prst="rect">
            <a:avLst/>
          </a:prstGeom>
        </p:spPr>
      </p:pic>
      <p:sp>
        <p:nvSpPr>
          <p:cNvPr id="133" name="TextBox 132"/>
          <p:cNvSpPr txBox="1"/>
          <p:nvPr/>
        </p:nvSpPr>
        <p:spPr>
          <a:xfrm>
            <a:off x="5566719" y="5000581"/>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4" name="Picture 133" descr="lock.png"/>
          <p:cNvPicPr>
            <a:picLocks noChangeAspect="1"/>
          </p:cNvPicPr>
          <p:nvPr/>
        </p:nvPicPr>
        <p:blipFill>
          <a:blip r:embed="rId22"/>
          <a:stretch>
            <a:fillRect/>
          </a:stretch>
        </p:blipFill>
        <p:spPr>
          <a:xfrm>
            <a:off x="6426169" y="4990801"/>
            <a:ext cx="128699" cy="187198"/>
          </a:xfrm>
          <a:prstGeom prst="rect">
            <a:avLst/>
          </a:prstGeom>
        </p:spPr>
      </p:pic>
      <p:sp>
        <p:nvSpPr>
          <p:cNvPr id="135" name="TextBox 134"/>
          <p:cNvSpPr txBox="1"/>
          <p:nvPr/>
        </p:nvSpPr>
        <p:spPr>
          <a:xfrm>
            <a:off x="6593665" y="5000581"/>
            <a:ext cx="1218612" cy="186689"/>
          </a:xfrm>
          <a:prstGeom prst="rect">
            <a:avLst/>
          </a:prstGeom>
          <a:noFill/>
        </p:spPr>
        <p:txBody>
          <a:bodyPr wrap="none" lIns="0" tIns="0" rIns="0" bIns="0">
            <a:spAutoFit/>
          </a:bodyPr>
          <a:lstStyle/>
          <a:p>
            <a:r>
              <a:rPr sz="1100" b="0">
                <a:solidFill>
                  <a:srgbClr val="2E2E2E"/>
                </a:solidFill>
                <a:latin typeface="Calibri"/>
              </a:rPr>
              <a:t>CAGR grows fastest.</a:t>
            </a:r>
          </a:p>
        </p:txBody>
      </p:sp>
      <p:sp>
        <p:nvSpPr>
          <p:cNvPr id="136" name="TextBox 135"/>
          <p:cNvSpPr txBox="1"/>
          <p:nvPr/>
        </p:nvSpPr>
        <p:spPr>
          <a:xfrm>
            <a:off x="3838575" y="5218513"/>
            <a:ext cx="1336501" cy="186689"/>
          </a:xfrm>
          <a:prstGeom prst="rect">
            <a:avLst/>
          </a:prstGeom>
          <a:noFill/>
        </p:spPr>
        <p:txBody>
          <a:bodyPr wrap="none" lIns="0" tIns="0" rIns="0" bIns="0">
            <a:spAutoFit/>
          </a:bodyPr>
          <a:lstStyle/>
          <a:p>
            <a:r>
              <a:rPr sz="1100" b="0">
                <a:solidFill>
                  <a:srgbClr val="2E2E2E"/>
                </a:solidFill>
                <a:latin typeface="Calibri"/>
              </a:rPr>
              <a:t>● Specialist Pet Retail:</a:t>
            </a:r>
          </a:p>
        </p:txBody>
      </p:sp>
      <p:pic>
        <p:nvPicPr>
          <p:cNvPr id="137" name="Picture 136" descr="lock.png"/>
          <p:cNvPicPr>
            <a:picLocks noChangeAspect="1"/>
          </p:cNvPicPr>
          <p:nvPr/>
        </p:nvPicPr>
        <p:blipFill>
          <a:blip r:embed="rId22"/>
          <a:stretch>
            <a:fillRect/>
          </a:stretch>
        </p:blipFill>
        <p:spPr>
          <a:xfrm>
            <a:off x="5123127" y="5208733"/>
            <a:ext cx="128699" cy="187198"/>
          </a:xfrm>
          <a:prstGeom prst="rect">
            <a:avLst/>
          </a:prstGeom>
        </p:spPr>
      </p:pic>
      <p:sp>
        <p:nvSpPr>
          <p:cNvPr id="138" name="TextBox 137"/>
          <p:cNvSpPr txBox="1"/>
          <p:nvPr/>
        </p:nvSpPr>
        <p:spPr>
          <a:xfrm>
            <a:off x="5290623" y="5218513"/>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9" name="Picture 138" descr="lock.png"/>
          <p:cNvPicPr>
            <a:picLocks noChangeAspect="1"/>
          </p:cNvPicPr>
          <p:nvPr/>
        </p:nvPicPr>
        <p:blipFill>
          <a:blip r:embed="rId22"/>
          <a:stretch>
            <a:fillRect/>
          </a:stretch>
        </p:blipFill>
        <p:spPr>
          <a:xfrm>
            <a:off x="6150074" y="5208733"/>
            <a:ext cx="128699" cy="187198"/>
          </a:xfrm>
          <a:prstGeom prst="rect">
            <a:avLst/>
          </a:prstGeom>
        </p:spPr>
      </p:pic>
      <p:sp>
        <p:nvSpPr>
          <p:cNvPr id="140" name="TextBox 139"/>
          <p:cNvSpPr txBox="1"/>
          <p:nvPr/>
        </p:nvSpPr>
        <p:spPr>
          <a:xfrm>
            <a:off x="6317569" y="5218513"/>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1" name="TextBox 140"/>
          <p:cNvSpPr txBox="1"/>
          <p:nvPr/>
        </p:nvSpPr>
        <p:spPr>
          <a:xfrm>
            <a:off x="3838575" y="5436445"/>
            <a:ext cx="1033363" cy="186689"/>
          </a:xfrm>
          <a:prstGeom prst="rect">
            <a:avLst/>
          </a:prstGeom>
          <a:noFill/>
        </p:spPr>
        <p:txBody>
          <a:bodyPr wrap="none" lIns="0" tIns="0" rIns="0" bIns="0">
            <a:spAutoFit/>
          </a:bodyPr>
          <a:lstStyle/>
          <a:p>
            <a:r>
              <a:rPr sz="1100" b="0">
                <a:solidFill>
                  <a:srgbClr val="2E2E2E"/>
                </a:solidFill>
                <a:latin typeface="Calibri"/>
              </a:rPr>
              <a:t>● General Retail:</a:t>
            </a:r>
          </a:p>
        </p:txBody>
      </p:sp>
      <p:pic>
        <p:nvPicPr>
          <p:cNvPr id="142" name="Picture 141" descr="lock.png"/>
          <p:cNvPicPr>
            <a:picLocks noChangeAspect="1"/>
          </p:cNvPicPr>
          <p:nvPr/>
        </p:nvPicPr>
        <p:blipFill>
          <a:blip r:embed="rId22"/>
          <a:stretch>
            <a:fillRect/>
          </a:stretch>
        </p:blipFill>
        <p:spPr>
          <a:xfrm>
            <a:off x="4819989" y="5426665"/>
            <a:ext cx="128699" cy="187198"/>
          </a:xfrm>
          <a:prstGeom prst="rect">
            <a:avLst/>
          </a:prstGeom>
        </p:spPr>
      </p:pic>
      <p:sp>
        <p:nvSpPr>
          <p:cNvPr id="143" name="TextBox 142"/>
          <p:cNvSpPr txBox="1"/>
          <p:nvPr/>
        </p:nvSpPr>
        <p:spPr>
          <a:xfrm>
            <a:off x="4987485" y="5436445"/>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4" name="Picture 143" descr="lock.png"/>
          <p:cNvPicPr>
            <a:picLocks noChangeAspect="1"/>
          </p:cNvPicPr>
          <p:nvPr/>
        </p:nvPicPr>
        <p:blipFill>
          <a:blip r:embed="rId22"/>
          <a:stretch>
            <a:fillRect/>
          </a:stretch>
        </p:blipFill>
        <p:spPr>
          <a:xfrm>
            <a:off x="5846935" y="5426665"/>
            <a:ext cx="128699" cy="187198"/>
          </a:xfrm>
          <a:prstGeom prst="rect">
            <a:avLst/>
          </a:prstGeom>
        </p:spPr>
      </p:pic>
      <p:sp>
        <p:nvSpPr>
          <p:cNvPr id="145" name="TextBox 144"/>
          <p:cNvSpPr txBox="1"/>
          <p:nvPr/>
        </p:nvSpPr>
        <p:spPr>
          <a:xfrm>
            <a:off x="6014431" y="5436445"/>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6" name="TextBox 145"/>
          <p:cNvSpPr txBox="1"/>
          <p:nvPr/>
        </p:nvSpPr>
        <p:spPr>
          <a:xfrm>
            <a:off x="3838575" y="5654377"/>
            <a:ext cx="1254100" cy="186689"/>
          </a:xfrm>
          <a:prstGeom prst="rect">
            <a:avLst/>
          </a:prstGeom>
          <a:noFill/>
        </p:spPr>
        <p:txBody>
          <a:bodyPr wrap="none" lIns="0" tIns="0" rIns="0" bIns="0">
            <a:spAutoFit/>
          </a:bodyPr>
          <a:lstStyle/>
          <a:p>
            <a:r>
              <a:rPr sz="1100" b="0">
                <a:solidFill>
                  <a:srgbClr val="2E2E2E"/>
                </a:solidFill>
                <a:latin typeface="Calibri"/>
              </a:rPr>
              <a:t>● Other Direct Sales:</a:t>
            </a:r>
          </a:p>
        </p:txBody>
      </p:sp>
      <p:pic>
        <p:nvPicPr>
          <p:cNvPr id="147" name="Picture 146" descr="lock.png"/>
          <p:cNvPicPr>
            <a:picLocks noChangeAspect="1"/>
          </p:cNvPicPr>
          <p:nvPr/>
        </p:nvPicPr>
        <p:blipFill>
          <a:blip r:embed="rId22"/>
          <a:stretch>
            <a:fillRect/>
          </a:stretch>
        </p:blipFill>
        <p:spPr>
          <a:xfrm>
            <a:off x="5040726" y="5644597"/>
            <a:ext cx="128699" cy="187198"/>
          </a:xfrm>
          <a:prstGeom prst="rect">
            <a:avLst/>
          </a:prstGeom>
        </p:spPr>
      </p:pic>
      <p:sp>
        <p:nvSpPr>
          <p:cNvPr id="148" name="TextBox 147"/>
          <p:cNvSpPr txBox="1"/>
          <p:nvPr/>
        </p:nvSpPr>
        <p:spPr>
          <a:xfrm>
            <a:off x="5208222" y="565437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9" name="Picture 148" descr="lock.png"/>
          <p:cNvPicPr>
            <a:picLocks noChangeAspect="1"/>
          </p:cNvPicPr>
          <p:nvPr/>
        </p:nvPicPr>
        <p:blipFill>
          <a:blip r:embed="rId22"/>
          <a:stretch>
            <a:fillRect/>
          </a:stretch>
        </p:blipFill>
        <p:spPr>
          <a:xfrm>
            <a:off x="6067672" y="5644597"/>
            <a:ext cx="128699" cy="187198"/>
          </a:xfrm>
          <a:prstGeom prst="rect">
            <a:avLst/>
          </a:prstGeom>
        </p:spPr>
      </p:pic>
      <p:sp>
        <p:nvSpPr>
          <p:cNvPr id="150" name="TextBox 149"/>
          <p:cNvSpPr txBox="1"/>
          <p:nvPr/>
        </p:nvSpPr>
        <p:spPr>
          <a:xfrm>
            <a:off x="6235168" y="5654377"/>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51" name="TextBox 150"/>
          <p:cNvSpPr txBox="1"/>
          <p:nvPr/>
        </p:nvSpPr>
        <p:spPr>
          <a:xfrm>
            <a:off x="8524875" y="5842641"/>
            <a:ext cx="3162300" cy="194310"/>
          </a:xfrm>
          <a:prstGeom prst="rect">
            <a:avLst/>
          </a:prstGeom>
          <a:noFill/>
        </p:spPr>
        <p:txBody>
          <a:bodyPr wrap="none" lIns="0" tIns="0" rIns="0" bIns="0">
            <a:spAutoFit/>
          </a:bodyPr>
          <a:lstStyle/>
          <a:p>
            <a:r>
              <a:rPr sz="1150" b="1">
                <a:solidFill>
                  <a:srgbClr val="0B2E4A"/>
                </a:solidFill>
                <a:latin typeface="Calibri"/>
              </a:rPr>
              <a:t>The Sales Channel segment is projected to grow at a</a:t>
            </a:r>
          </a:p>
        </p:txBody>
      </p:sp>
      <p:sp>
        <p:nvSpPr>
          <p:cNvPr id="152" name="TextBox 151"/>
          <p:cNvSpPr txBox="1"/>
          <p:nvPr/>
        </p:nvSpPr>
        <p:spPr>
          <a:xfrm>
            <a:off x="8524875" y="6017901"/>
            <a:ext cx="574797" cy="194310"/>
          </a:xfrm>
          <a:prstGeom prst="rect">
            <a:avLst/>
          </a:prstGeom>
          <a:noFill/>
        </p:spPr>
        <p:txBody>
          <a:bodyPr wrap="none" lIns="0" tIns="0" rIns="0" bIns="0">
            <a:spAutoFit/>
          </a:bodyPr>
          <a:lstStyle/>
          <a:p>
            <a:r>
              <a:rPr sz="1150" b="1">
                <a:solidFill>
                  <a:srgbClr val="0B2E4A"/>
                </a:solidFill>
                <a:latin typeface="Calibri"/>
              </a:rPr>
              <a:t>CAGR of</a:t>
            </a:r>
          </a:p>
        </p:txBody>
      </p:sp>
      <p:pic>
        <p:nvPicPr>
          <p:cNvPr id="153" name="Picture 152" descr="lock.png"/>
          <p:cNvPicPr>
            <a:picLocks noChangeAspect="1"/>
          </p:cNvPicPr>
          <p:nvPr/>
        </p:nvPicPr>
        <p:blipFill>
          <a:blip r:embed="rId22"/>
          <a:stretch>
            <a:fillRect/>
          </a:stretch>
        </p:blipFill>
        <p:spPr>
          <a:xfrm>
            <a:off x="9048826" y="6007677"/>
            <a:ext cx="134549" cy="195707"/>
          </a:xfrm>
          <a:prstGeom prst="rect">
            <a:avLst/>
          </a:prstGeom>
        </p:spPr>
      </p:pic>
      <p:sp>
        <p:nvSpPr>
          <p:cNvPr id="154" name="TextBox 153"/>
          <p:cNvSpPr txBox="1"/>
          <p:nvPr/>
        </p:nvSpPr>
        <p:spPr>
          <a:xfrm>
            <a:off x="9223935"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Sales Channel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Sales Channel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50017" cy="186689"/>
          </a:xfrm>
          <a:prstGeom prst="rect">
            <a:avLst/>
          </a:prstGeom>
          <a:noFill/>
        </p:spPr>
        <p:txBody>
          <a:bodyPr wrap="none" lIns="0" tIns="0" rIns="0" bIns="0">
            <a:spAutoFit/>
          </a:bodyPr>
          <a:lstStyle/>
          <a:p>
            <a:r>
              <a:rPr sz="1100" b="0">
                <a:solidFill>
                  <a:srgbClr val="2E2E2E"/>
                </a:solidFill>
                <a:latin typeface="Calibri"/>
              </a:rPr>
              <a:t>Third-party e-commerce followed by specialist pet retail are expected to be the two most attractive sales channel segments in the global senior dog cognitive supplement market in terms of value over the</a:t>
            </a:r>
          </a:p>
        </p:txBody>
      </p:sp>
      <p:sp>
        <p:nvSpPr>
          <p:cNvPr id="20" name="TextBox 19"/>
          <p:cNvSpPr txBox="1"/>
          <p:nvPr/>
        </p:nvSpPr>
        <p:spPr>
          <a:xfrm>
            <a:off x="257175" y="5861685"/>
            <a:ext cx="5098834" cy="186689"/>
          </a:xfrm>
          <a:prstGeom prst="rect">
            <a:avLst/>
          </a:prstGeom>
          <a:noFill/>
        </p:spPr>
        <p:txBody>
          <a:bodyPr wrap="none" lIns="0" tIns="0" rIns="0" bIns="0">
            <a:spAutoFit/>
          </a:bodyPr>
          <a:lstStyle/>
          <a:p>
            <a:r>
              <a:rPr sz="1100" b="0">
                <a:solidFill>
                  <a:srgbClr val="2E2E2E"/>
                </a:solidFill>
                <a:latin typeface="Calibri"/>
              </a:rPr>
              <a:t>forecast period. Third-Party e-commerce and specialist pet retail exhibit a CAGR index of</a:t>
            </a:r>
          </a:p>
        </p:txBody>
      </p:sp>
      <p:pic>
        <p:nvPicPr>
          <p:cNvPr id="21" name="Picture 20" descr="lock.png"/>
          <p:cNvPicPr>
            <a:picLocks noChangeAspect="1"/>
          </p:cNvPicPr>
          <p:nvPr/>
        </p:nvPicPr>
        <p:blipFill>
          <a:blip r:embed="rId6"/>
          <a:stretch>
            <a:fillRect/>
          </a:stretch>
        </p:blipFill>
        <p:spPr>
          <a:xfrm>
            <a:off x="5304061" y="5851905"/>
            <a:ext cx="128699" cy="187198"/>
          </a:xfrm>
          <a:prstGeom prst="rect">
            <a:avLst/>
          </a:prstGeom>
        </p:spPr>
      </p:pic>
      <p:sp>
        <p:nvSpPr>
          <p:cNvPr id="22" name="TextBox 21"/>
          <p:cNvSpPr txBox="1"/>
          <p:nvPr/>
        </p:nvSpPr>
        <p:spPr>
          <a:xfrm>
            <a:off x="5471556"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709451" y="5851905"/>
            <a:ext cx="128699" cy="187198"/>
          </a:xfrm>
          <a:prstGeom prst="rect">
            <a:avLst/>
          </a:prstGeom>
        </p:spPr>
      </p:pic>
      <p:sp>
        <p:nvSpPr>
          <p:cNvPr id="24" name="TextBox 23"/>
          <p:cNvSpPr txBox="1"/>
          <p:nvPr/>
        </p:nvSpPr>
        <p:spPr>
          <a:xfrm>
            <a:off x="5876947" y="5861685"/>
            <a:ext cx="1660921" cy="186689"/>
          </a:xfrm>
          <a:prstGeom prst="rect">
            <a:avLst/>
          </a:prstGeom>
          <a:noFill/>
        </p:spPr>
        <p:txBody>
          <a:bodyPr wrap="none" lIns="0" tIns="0" r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485920" y="5851905"/>
            <a:ext cx="128699" cy="187198"/>
          </a:xfrm>
          <a:prstGeom prst="rect">
            <a:avLst/>
          </a:prstGeom>
        </p:spPr>
      </p:pic>
      <p:sp>
        <p:nvSpPr>
          <p:cNvPr id="26" name="TextBox 25"/>
          <p:cNvSpPr txBox="1"/>
          <p:nvPr/>
        </p:nvSpPr>
        <p:spPr>
          <a:xfrm>
            <a:off x="7653416"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891310" y="5851905"/>
            <a:ext cx="128699" cy="187198"/>
          </a:xfrm>
          <a:prstGeom prst="rect">
            <a:avLst/>
          </a:prstGeom>
        </p:spPr>
      </p:pic>
      <p:sp>
        <p:nvSpPr>
          <p:cNvPr id="28" name="TextBox 27"/>
          <p:cNvSpPr txBox="1"/>
          <p:nvPr/>
        </p:nvSpPr>
        <p:spPr>
          <a:xfrm>
            <a:off x="8058806" y="5861685"/>
            <a:ext cx="2606352" cy="186689"/>
          </a:xfrm>
          <a:prstGeom prst="rect">
            <a:avLst/>
          </a:prstGeom>
          <a:noFill/>
        </p:spPr>
        <p:txBody>
          <a:bodyPr wrap="none" lIns="0" tIns="0" r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613210" y="5851905"/>
            <a:ext cx="128699" cy="187198"/>
          </a:xfrm>
          <a:prstGeom prst="rect">
            <a:avLst/>
          </a:prstGeom>
        </p:spPr>
      </p:pic>
      <p:sp>
        <p:nvSpPr>
          <p:cNvPr id="30" name="TextBox 29"/>
          <p:cNvSpPr txBox="1"/>
          <p:nvPr/>
        </p:nvSpPr>
        <p:spPr>
          <a:xfrm>
            <a:off x="10780706" y="5861685"/>
            <a:ext cx="354235" cy="186689"/>
          </a:xfrm>
          <a:prstGeom prst="rect">
            <a:avLst/>
          </a:prstGeom>
          <a:noFill/>
        </p:spPr>
        <p:txBody>
          <a:bodyPr wrap="none" lIns="0" tIns="0" rIns="0" bIns="0">
            <a:spAutoFit/>
          </a:bodyPr>
          <a:lstStyle/>
          <a:p>
            <a:r>
              <a:rPr sz="1100" b="0">
                <a:solidFill>
                  <a:srgbClr val="2E2E2E"/>
                </a:solidFill>
                <a:latin typeface="Calibri"/>
              </a:rPr>
              <a:t>. The</a:t>
            </a:r>
          </a:p>
        </p:txBody>
      </p:sp>
      <p:sp>
        <p:nvSpPr>
          <p:cNvPr id="31" name="TextBox 30"/>
          <p:cNvSpPr txBox="1"/>
          <p:nvPr/>
        </p:nvSpPr>
        <p:spPr>
          <a:xfrm>
            <a:off x="257175" y="6029325"/>
            <a:ext cx="11654349" cy="186689"/>
          </a:xfrm>
          <a:prstGeom prst="rect">
            <a:avLst/>
          </a:prstGeom>
          <a:noFill/>
        </p:spPr>
        <p:txBody>
          <a:bodyPr wrap="none" lIns="0" tIns="0" rIns="0" bIns="0">
            <a:spAutoFit/>
          </a:bodyPr>
          <a:lstStyle/>
          <a:p>
            <a:r>
              <a:rPr sz="1100" b="0">
                <a:solidFill>
                  <a:srgbClr val="2E2E2E"/>
                </a:solidFill>
                <a:latin typeface="Calibri"/>
              </a:rPr>
              <a:t>general retail segment is expected to be less attractive as compared to other segments over the forecast period, owing to its lower CAGR and incremental opportunity. Bubbles right of the CAGR-Index line</a:t>
            </a:r>
          </a:p>
        </p:txBody>
      </p:sp>
      <p:sp>
        <p:nvSpPr>
          <p:cNvPr id="32" name="TextBox 31"/>
          <p:cNvSpPr txBox="1"/>
          <p:nvPr/>
        </p:nvSpPr>
        <p:spPr>
          <a:xfrm>
            <a:off x="257175" y="6196965"/>
            <a:ext cx="2279476" cy="186689"/>
          </a:xfrm>
          <a:prstGeom prst="rect">
            <a:avLst/>
          </a:prstGeom>
          <a:noFill/>
        </p:spPr>
        <p:txBody>
          <a:bodyPr wrap="none" lIns="0" tIns="0" rIns="0" bIns="0">
            <a:spAutoFit/>
          </a:bodyPr>
          <a:lstStyle/>
          <a:p>
            <a:r>
              <a:rPr sz="1100" b="0">
                <a:solidFill>
                  <a:srgbClr val="2E2E2E"/>
                </a:solidFill>
                <a:latin typeface="Calibri"/>
              </a:rPr>
              <a:t>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Analysis, By Sales Channel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Veterinary Channels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Specialist Pet Retail</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General Retail</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Brand-Owned E-commerce</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Absolute $ Opportunity Analysis, By Sales Channel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Third-Party E-commerce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Incremental $ Opportunity (US$ Mn), 2026-2036, By Other Direct Sales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Summary of Global Absolute $ Opportunity Analysis, By Sales Channel</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5550" y="1390650"/>
            <a:ext cx="5610225"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0" name="TextBox 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400175"/>
            <a:ext cx="4927490" cy="194310"/>
          </a:xfrm>
          <a:prstGeom prst="rect">
            <a:avLst/>
          </a:prstGeom>
          <a:noFill/>
        </p:spPr>
        <p:txBody>
          <a:bodyPr wrap="none" lIns="0" tIns="0" rIns="0" bIns="0">
            <a:spAutoFit/>
          </a:bodyPr>
          <a:lstStyle/>
          <a:p>
            <a:r>
              <a:rPr sz="1150" b="0">
                <a:solidFill>
                  <a:srgbClr val="2E2E2E"/>
                </a:solidFill>
                <a:latin typeface="Calibri"/>
              </a:rPr>
              <a:t>By 2036, third-party e-commerce segment is anticipated to witness an increase of</a:t>
            </a:r>
          </a:p>
        </p:txBody>
      </p:sp>
      <p:pic>
        <p:nvPicPr>
          <p:cNvPr id="24" name="Picture 23" descr="lock.png"/>
          <p:cNvPicPr>
            <a:picLocks noChangeAspect="1"/>
          </p:cNvPicPr>
          <p:nvPr/>
        </p:nvPicPr>
        <p:blipFill>
          <a:blip r:embed="rId6"/>
          <a:stretch>
            <a:fillRect/>
          </a:stretch>
        </p:blipFill>
        <p:spPr>
          <a:xfrm>
            <a:off x="11182194" y="1389951"/>
            <a:ext cx="134549" cy="195707"/>
          </a:xfrm>
          <a:prstGeom prst="rect">
            <a:avLst/>
          </a:prstGeom>
        </p:spPr>
      </p:pic>
      <p:sp>
        <p:nvSpPr>
          <p:cNvPr id="25" name="TextBox 24"/>
          <p:cNvSpPr txBox="1"/>
          <p:nvPr/>
        </p:nvSpPr>
        <p:spPr>
          <a:xfrm>
            <a:off x="11357304" y="1400175"/>
            <a:ext cx="295560" cy="194310"/>
          </a:xfrm>
          <a:prstGeom prst="rect">
            <a:avLst/>
          </a:prstGeom>
          <a:noFill/>
        </p:spPr>
        <p:txBody>
          <a:bodyPr wrap="none" lIns="0" tIns="0" rIns="0" bIns="0">
            <a:spAutoFit/>
          </a:bodyPr>
          <a:lstStyle/>
          <a:p>
            <a:r>
              <a:rPr sz="1150" b="0">
                <a:solidFill>
                  <a:srgbClr val="2E2E2E"/>
                </a:solidFill>
                <a:latin typeface="Calibri"/>
              </a:rPr>
              <a:t>X in</a:t>
            </a:r>
          </a:p>
        </p:txBody>
      </p:sp>
      <p:sp>
        <p:nvSpPr>
          <p:cNvPr id="26" name="TextBox 25"/>
          <p:cNvSpPr txBox="1"/>
          <p:nvPr/>
        </p:nvSpPr>
        <p:spPr>
          <a:xfrm>
            <a:off x="6305550" y="1575435"/>
            <a:ext cx="5394188" cy="194310"/>
          </a:xfrm>
          <a:prstGeom prst="rect">
            <a:avLst/>
          </a:prstGeom>
          <a:noFill/>
        </p:spPr>
        <p:txBody>
          <a:bodyPr wrap="none" lIns="0" tIns="0" rIns="0" bIns="0">
            <a:spAutoFit/>
          </a:bodyPr>
          <a:lstStyle/>
          <a:p>
            <a:r>
              <a:rPr sz="1150" b="0">
                <a:solidFill>
                  <a:srgbClr val="2E2E2E"/>
                </a:solidFill>
                <a:latin typeface="Calibri"/>
              </a:rPr>
              <a:t>terms of value as compared to 2026. The Third-Party e-commerce segment is expected to</a:t>
            </a:r>
          </a:p>
        </p:txBody>
      </p:sp>
      <p:sp>
        <p:nvSpPr>
          <p:cNvPr id="27" name="TextBox 26"/>
          <p:cNvSpPr txBox="1"/>
          <p:nvPr/>
        </p:nvSpPr>
        <p:spPr>
          <a:xfrm>
            <a:off x="6305550" y="1750695"/>
            <a:ext cx="2547069" cy="194310"/>
          </a:xfrm>
          <a:prstGeom prst="rect">
            <a:avLst/>
          </a:prstGeom>
          <a:noFill/>
        </p:spPr>
        <p:txBody>
          <a:bodyPr wrap="none" lIns="0" tIns="0" rIns="0" bIns="0">
            <a:spAutoFit/>
          </a:bodyPr>
          <a:lstStyle/>
          <a:p>
            <a:r>
              <a:rPr sz="1150" b="0">
                <a:solidFill>
                  <a:srgbClr val="2E2E2E"/>
                </a:solidFill>
                <a:latin typeface="Calibri"/>
              </a:rPr>
              <a:t>create an incremental opportunity of US$</a:t>
            </a:r>
          </a:p>
        </p:txBody>
      </p:sp>
      <p:pic>
        <p:nvPicPr>
          <p:cNvPr id="28" name="Picture 27" descr="lock.png"/>
          <p:cNvPicPr>
            <a:picLocks noChangeAspect="1"/>
          </p:cNvPicPr>
          <p:nvPr/>
        </p:nvPicPr>
        <p:blipFill>
          <a:blip r:embed="rId6"/>
          <a:stretch>
            <a:fillRect/>
          </a:stretch>
        </p:blipFill>
        <p:spPr>
          <a:xfrm>
            <a:off x="8801773" y="1740471"/>
            <a:ext cx="134549" cy="195707"/>
          </a:xfrm>
          <a:prstGeom prst="rect">
            <a:avLst/>
          </a:prstGeom>
        </p:spPr>
      </p:pic>
      <p:sp>
        <p:nvSpPr>
          <p:cNvPr id="29" name="TextBox 28"/>
          <p:cNvSpPr txBox="1"/>
          <p:nvPr/>
        </p:nvSpPr>
        <p:spPr>
          <a:xfrm>
            <a:off x="8976882" y="1750695"/>
            <a:ext cx="2381622" cy="194310"/>
          </a:xfrm>
          <a:prstGeom prst="rect">
            <a:avLst/>
          </a:prstGeom>
          <a:noFill/>
        </p:spPr>
        <p:txBody>
          <a:bodyPr wrap="none" lIns="0" tIns="0" rIns="0" bIns="0">
            <a:spAutoFit/>
          </a:bodyPr>
          <a:lstStyle/>
          <a:p>
            <a:r>
              <a:rPr sz="1150" b="0">
                <a:solidFill>
                  <a:srgbClr val="2E2E2E"/>
                </a:solidFill>
                <a:latin typeface="Calibri"/>
              </a:rPr>
              <a:t>Mn for the overall senior dog cognitive</a:t>
            </a:r>
          </a:p>
        </p:txBody>
      </p:sp>
      <p:sp>
        <p:nvSpPr>
          <p:cNvPr id="30" name="TextBox 29"/>
          <p:cNvSpPr txBox="1"/>
          <p:nvPr/>
        </p:nvSpPr>
        <p:spPr>
          <a:xfrm>
            <a:off x="6305550" y="1925955"/>
            <a:ext cx="2421842" cy="194310"/>
          </a:xfrm>
          <a:prstGeom prst="rect">
            <a:avLst/>
          </a:prstGeom>
          <a:noFill/>
        </p:spPr>
        <p:txBody>
          <a:bodyPr wrap="none" lIns="0" tIns="0" rIns="0" bIns="0">
            <a:spAutoFit/>
          </a:bodyPr>
          <a:lstStyle/>
          <a:p>
            <a:r>
              <a:rPr sz="1150" b="0">
                <a:solidFill>
                  <a:srgbClr val="2E2E2E"/>
                </a:solidFill>
                <a:latin typeface="Calibri"/>
              </a:rPr>
              <a:t>supplement market from 2026 to 2036.</a:t>
            </a:r>
          </a:p>
        </p:txBody>
      </p:sp>
      <p:sp>
        <p:nvSpPr>
          <p:cNvPr id="31" name="TextBox 30"/>
          <p:cNvSpPr txBox="1"/>
          <p:nvPr/>
        </p:nvSpPr>
        <p:spPr>
          <a:xfrm>
            <a:off x="6305550" y="2153793"/>
            <a:ext cx="5363095" cy="194310"/>
          </a:xfrm>
          <a:prstGeom prst="rect">
            <a:avLst/>
          </a:prstGeom>
          <a:noFill/>
        </p:spPr>
        <p:txBody>
          <a:bodyPr wrap="none" lIns="0" tIns="0" rIns="0" bIns="0">
            <a:spAutoFit/>
          </a:bodyPr>
          <a:lstStyle/>
          <a:p>
            <a:r>
              <a:rPr sz="1150" b="0">
                <a:solidFill>
                  <a:srgbClr val="2E2E2E"/>
                </a:solidFill>
                <a:latin typeface="Calibri"/>
              </a:rPr>
              <a:t>The specialist pet retail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6291470" y="2318829"/>
            <a:ext cx="134549" cy="195707"/>
          </a:xfrm>
          <a:prstGeom prst="rect">
            <a:avLst/>
          </a:prstGeom>
        </p:spPr>
      </p:pic>
      <p:sp>
        <p:nvSpPr>
          <p:cNvPr id="33" name="TextBox 32"/>
          <p:cNvSpPr txBox="1"/>
          <p:nvPr/>
        </p:nvSpPr>
        <p:spPr>
          <a:xfrm>
            <a:off x="6466579" y="2329053"/>
            <a:ext cx="5014230"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 market from 2026 to 2036. The</a:t>
            </a:r>
          </a:p>
        </p:txBody>
      </p:sp>
      <p:sp>
        <p:nvSpPr>
          <p:cNvPr id="34" name="TextBox 33"/>
          <p:cNvSpPr txBox="1"/>
          <p:nvPr/>
        </p:nvSpPr>
        <p:spPr>
          <a:xfrm>
            <a:off x="6305550" y="2504313"/>
            <a:ext cx="5156572" cy="194310"/>
          </a:xfrm>
          <a:prstGeom prst="rect">
            <a:avLst/>
          </a:prstGeom>
          <a:noFill/>
        </p:spPr>
        <p:txBody>
          <a:bodyPr wrap="none" lIns="0" tIns="0" rIns="0" bIns="0">
            <a:spAutoFit/>
          </a:bodyPr>
          <a:lstStyle/>
          <a:p>
            <a:r>
              <a:rPr sz="1150" b="0">
                <a:solidFill>
                  <a:srgbClr val="2E2E2E"/>
                </a:solidFill>
                <a:latin typeface="Calibri"/>
              </a:rPr>
              <a:t>veterinary channels 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1411276" y="2494089"/>
            <a:ext cx="134549" cy="195707"/>
          </a:xfrm>
          <a:prstGeom prst="rect">
            <a:avLst/>
          </a:prstGeom>
        </p:spPr>
      </p:pic>
      <p:sp>
        <p:nvSpPr>
          <p:cNvPr id="36" name="TextBox 35"/>
          <p:cNvSpPr txBox="1"/>
          <p:nvPr/>
        </p:nvSpPr>
        <p:spPr>
          <a:xfrm>
            <a:off x="11586385" y="2504313"/>
            <a:ext cx="277874" cy="194310"/>
          </a:xfrm>
          <a:prstGeom prst="rect">
            <a:avLst/>
          </a:prstGeom>
          <a:noFill/>
        </p:spPr>
        <p:txBody>
          <a:bodyPr wrap="none" lIns="0" tIns="0" rIns="0" bIns="0">
            <a:spAutoFit/>
          </a:bodyPr>
          <a:lstStyle/>
          <a:p>
            <a:r>
              <a:rPr sz="1150" b="0">
                <a:solidFill>
                  <a:srgbClr val="2E2E2E"/>
                </a:solidFill>
                <a:latin typeface="Calibri"/>
              </a:rPr>
              <a:t>Mn</a:t>
            </a:r>
          </a:p>
        </p:txBody>
      </p:sp>
      <p:sp>
        <p:nvSpPr>
          <p:cNvPr id="37" name="TextBox 36"/>
          <p:cNvSpPr txBox="1"/>
          <p:nvPr/>
        </p:nvSpPr>
        <p:spPr>
          <a:xfrm>
            <a:off x="6305550" y="2679573"/>
            <a:ext cx="4525590" cy="194310"/>
          </a:xfrm>
          <a:prstGeom prst="rect">
            <a:avLst/>
          </a:prstGeom>
          <a:noFill/>
        </p:spPr>
        <p:txBody>
          <a:bodyPr wrap="none" lIns="0" tIns="0" rIns="0" bIns="0">
            <a:spAutoFit/>
          </a:bodyPr>
          <a:lstStyle/>
          <a:p>
            <a:r>
              <a:rPr sz="1150" b="0">
                <a:solidFill>
                  <a:srgbClr val="2E2E2E"/>
                </a:solidFill>
                <a:latin typeface="Calibri"/>
              </a:rPr>
              <a:t>for the overall senior dog cognitive supplement market from 2026 to 2036.</a:t>
            </a:r>
          </a:p>
        </p:txBody>
      </p:sp>
      <p:sp>
        <p:nvSpPr>
          <p:cNvPr id="38"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By Sales Channel (US$ Mn)</a:t>
            </a:r>
          </a:p>
        </p:txBody>
      </p:sp>
      <p:graphicFrame>
        <p:nvGraphicFramePr>
          <p:cNvPr id="12" name="Table 11"/>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1844471">
                  <a:extLst>
                    <a:ext uri="{9D8B030D-6E8A-4147-A177-3AD203B41FA5}">
                      <a16:colId xmlns:a16="http://schemas.microsoft.com/office/drawing/2014/main" val="20000"/>
                    </a:ext>
                  </a:extLst>
                </a:gridCol>
                <a:gridCol w="590749">
                  <a:extLst>
                    <a:ext uri="{9D8B030D-6E8A-4147-A177-3AD203B41FA5}">
                      <a16:colId xmlns:a16="http://schemas.microsoft.com/office/drawing/2014/main" val="20001"/>
                    </a:ext>
                  </a:extLst>
                </a:gridCol>
                <a:gridCol w="590749">
                  <a:extLst>
                    <a:ext uri="{9D8B030D-6E8A-4147-A177-3AD203B41FA5}">
                      <a16:colId xmlns:a16="http://schemas.microsoft.com/office/drawing/2014/main" val="20002"/>
                    </a:ext>
                  </a:extLst>
                </a:gridCol>
                <a:gridCol w="590749">
                  <a:extLst>
                    <a:ext uri="{9D8B030D-6E8A-4147-A177-3AD203B41FA5}">
                      <a16:colId xmlns:a16="http://schemas.microsoft.com/office/drawing/2014/main" val="20003"/>
                    </a:ext>
                  </a:extLst>
                </a:gridCol>
                <a:gridCol w="590749">
                  <a:extLst>
                    <a:ext uri="{9D8B030D-6E8A-4147-A177-3AD203B41FA5}">
                      <a16:colId xmlns:a16="http://schemas.microsoft.com/office/drawing/2014/main" val="20004"/>
                    </a:ext>
                  </a:extLst>
                </a:gridCol>
                <a:gridCol w="590749">
                  <a:extLst>
                    <a:ext uri="{9D8B030D-6E8A-4147-A177-3AD203B41FA5}">
                      <a16:colId xmlns:a16="http://schemas.microsoft.com/office/drawing/2014/main" val="20005"/>
                    </a:ext>
                  </a:extLst>
                </a:gridCol>
                <a:gridCol w="590749">
                  <a:extLst>
                    <a:ext uri="{9D8B030D-6E8A-4147-A177-3AD203B41FA5}">
                      <a16:colId xmlns:a16="http://schemas.microsoft.com/office/drawing/2014/main" val="20006"/>
                    </a:ext>
                  </a:extLst>
                </a:gridCol>
                <a:gridCol w="590749">
                  <a:extLst>
                    <a:ext uri="{9D8B030D-6E8A-4147-A177-3AD203B41FA5}">
                      <a16:colId xmlns:a16="http://schemas.microsoft.com/office/drawing/2014/main" val="20007"/>
                    </a:ext>
                  </a:extLst>
                </a:gridCol>
                <a:gridCol w="590749">
                  <a:extLst>
                    <a:ext uri="{9D8B030D-6E8A-4147-A177-3AD203B41FA5}">
                      <a16:colId xmlns:a16="http://schemas.microsoft.com/office/drawing/2014/main" val="20008"/>
                    </a:ext>
                  </a:extLst>
                </a:gridCol>
                <a:gridCol w="590749">
                  <a:extLst>
                    <a:ext uri="{9D8B030D-6E8A-4147-A177-3AD203B41FA5}">
                      <a16:colId xmlns:a16="http://schemas.microsoft.com/office/drawing/2014/main" val="20009"/>
                    </a:ext>
                  </a:extLst>
                </a:gridCol>
                <a:gridCol w="590749">
                  <a:extLst>
                    <a:ext uri="{9D8B030D-6E8A-4147-A177-3AD203B41FA5}">
                      <a16:colId xmlns:a16="http://schemas.microsoft.com/office/drawing/2014/main" val="20010"/>
                    </a:ext>
                  </a:extLst>
                </a:gridCol>
                <a:gridCol w="590749">
                  <a:extLst>
                    <a:ext uri="{9D8B030D-6E8A-4147-A177-3AD203B41FA5}">
                      <a16:colId xmlns:a16="http://schemas.microsoft.com/office/drawing/2014/main" val="20011"/>
                    </a:ext>
                  </a:extLst>
                </a:gridCol>
                <a:gridCol w="590749">
                  <a:extLst>
                    <a:ext uri="{9D8B030D-6E8A-4147-A177-3AD203B41FA5}">
                      <a16:colId xmlns:a16="http://schemas.microsoft.com/office/drawing/2014/main" val="20012"/>
                    </a:ext>
                  </a:extLst>
                </a:gridCol>
                <a:gridCol w="590749">
                  <a:extLst>
                    <a:ext uri="{9D8B030D-6E8A-4147-A177-3AD203B41FA5}">
                      <a16:colId xmlns:a16="http://schemas.microsoft.com/office/drawing/2014/main" val="20013"/>
                    </a:ext>
                  </a:extLst>
                </a:gridCol>
                <a:gridCol w="590749">
                  <a:extLst>
                    <a:ext uri="{9D8B030D-6E8A-4147-A177-3AD203B41FA5}">
                      <a16:colId xmlns:a16="http://schemas.microsoft.com/office/drawing/2014/main" val="20014"/>
                    </a:ext>
                  </a:extLst>
                </a:gridCol>
                <a:gridCol w="590749">
                  <a:extLst>
                    <a:ext uri="{9D8B030D-6E8A-4147-A177-3AD203B41FA5}">
                      <a16:colId xmlns:a16="http://schemas.microsoft.com/office/drawing/2014/main" val="20015"/>
                    </a:ext>
                  </a:extLst>
                </a:gridCol>
                <a:gridCol w="590749">
                  <a:extLst>
                    <a:ext uri="{9D8B030D-6E8A-4147-A177-3AD203B41FA5}">
                      <a16:colId xmlns:a16="http://schemas.microsoft.com/office/drawing/2014/main" val="20016"/>
                    </a:ext>
                  </a:extLst>
                </a:gridCol>
                <a:gridCol w="590749">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638550"/>
            <a:ext cx="11639550" cy="209550"/>
          </a:xfrm>
          <a:prstGeom prst="rect">
            <a:avLst/>
          </a:prstGeom>
          <a:noFill/>
        </p:spPr>
        <p:txBody>
          <a:bodyPr wrap="square" lIns="0" tIns="9525" rIns="19050" bIns="9525">
            <a:spAutoFit/>
          </a:bodyPr>
          <a:lstStyle/>
          <a:p>
            <a:pPr algn="l"/>
            <a:r>
              <a:rPr sz="1300" b="1">
                <a:solidFill>
                  <a:srgbClr val="0B2E4A"/>
                </a:solidFill>
                <a:latin typeface="Calibri"/>
              </a:rPr>
              <a:t>Global Value Analysis, By Sales Channel</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962400"/>
            <a:ext cx="11639550" cy="2590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31547" y="2080450"/>
            <a:ext cx="366712" cy="533400"/>
          </a:xfrm>
          <a:prstGeom prst="rect">
            <a:avLst/>
          </a:prstGeom>
        </p:spPr>
      </p:pic>
      <p:sp>
        <p:nvSpPr>
          <p:cNvPr id="20" name="TextBox 19"/>
          <p:cNvSpPr txBox="1"/>
          <p:nvPr/>
        </p:nvSpPr>
        <p:spPr>
          <a:xfrm>
            <a:off x="276225" y="3971925"/>
            <a:ext cx="3186038" cy="194310"/>
          </a:xfrm>
          <a:prstGeom prst="rect">
            <a:avLst/>
          </a:prstGeom>
          <a:noFill/>
        </p:spPr>
        <p:txBody>
          <a:bodyPr wrap="none" lIns="0" tIns="0" rIns="0" bIns="0">
            <a:spAutoFit/>
          </a:bodyPr>
          <a:lstStyle/>
          <a:p>
            <a:r>
              <a:rPr sz="1150" b="0">
                <a:solidFill>
                  <a:srgbClr val="2E2E2E"/>
                </a:solidFill>
                <a:latin typeface="Calibri"/>
              </a:rPr>
              <a:t>Veterinary channels segment is projected to register</a:t>
            </a:r>
          </a:p>
        </p:txBody>
      </p:sp>
      <p:pic>
        <p:nvPicPr>
          <p:cNvPr id="21" name="Picture 20" descr="lock.png"/>
          <p:cNvPicPr>
            <a:picLocks noChangeAspect="1"/>
          </p:cNvPicPr>
          <p:nvPr/>
        </p:nvPicPr>
        <p:blipFill>
          <a:blip r:embed="rId4"/>
          <a:stretch>
            <a:fillRect/>
          </a:stretch>
        </p:blipFill>
        <p:spPr>
          <a:xfrm>
            <a:off x="3411417" y="3961701"/>
            <a:ext cx="134549" cy="195707"/>
          </a:xfrm>
          <a:prstGeom prst="rect">
            <a:avLst/>
          </a:prstGeom>
        </p:spPr>
      </p:pic>
      <p:sp>
        <p:nvSpPr>
          <p:cNvPr id="22" name="TextBox 21"/>
          <p:cNvSpPr txBox="1"/>
          <p:nvPr/>
        </p:nvSpPr>
        <p:spPr>
          <a:xfrm>
            <a:off x="3586526" y="3971925"/>
            <a:ext cx="7882173" cy="194310"/>
          </a:xfrm>
          <a:prstGeom prst="rect">
            <a:avLst/>
          </a:prstGeom>
          <a:noFill/>
        </p:spPr>
        <p:txBody>
          <a:bodyPr wrap="none" lIns="0" tIns="0" rIns="0" bIns="0">
            <a:spAutoFit/>
          </a:bodyPr>
          <a:lstStyle/>
          <a:p>
            <a:r>
              <a:rPr sz="1150" b="0">
                <a:solidFill>
                  <a:srgbClr val="2E2E2E"/>
                </a:solidFill>
                <a:latin typeface="Calibri"/>
              </a:rPr>
              <a:t>X higher value than third-party e-commerce segment in 2036. Among senior dog cognitive supplement by sales channel, third-party</a:t>
            </a:r>
          </a:p>
        </p:txBody>
      </p:sp>
      <p:sp>
        <p:nvSpPr>
          <p:cNvPr id="23" name="TextBox 22"/>
          <p:cNvSpPr txBox="1"/>
          <p:nvPr/>
        </p:nvSpPr>
        <p:spPr>
          <a:xfrm>
            <a:off x="276225" y="4147185"/>
            <a:ext cx="3937949" cy="194310"/>
          </a:xfrm>
          <a:prstGeom prst="rect">
            <a:avLst/>
          </a:prstGeom>
          <a:noFill/>
        </p:spPr>
        <p:txBody>
          <a:bodyPr wrap="none" lIns="0" tIns="0" rIns="0" bIns="0">
            <a:spAutoFit/>
          </a:bodyPr>
          <a:lstStyle/>
          <a:p>
            <a:r>
              <a:rPr sz="1150" b="0">
                <a:solidFill>
                  <a:srgbClr val="2E2E2E"/>
                </a:solidFill>
                <a:latin typeface="Calibri"/>
              </a:rPr>
              <a:t>e-commerce segment is expected to witness the highest CAGR of</a:t>
            </a:r>
          </a:p>
        </p:txBody>
      </p:sp>
      <p:pic>
        <p:nvPicPr>
          <p:cNvPr id="24" name="Picture 23" descr="lock.png"/>
          <p:cNvPicPr>
            <a:picLocks noChangeAspect="1"/>
          </p:cNvPicPr>
          <p:nvPr/>
        </p:nvPicPr>
        <p:blipFill>
          <a:blip r:embed="rId4"/>
          <a:stretch>
            <a:fillRect/>
          </a:stretch>
        </p:blipFill>
        <p:spPr>
          <a:xfrm>
            <a:off x="4163328" y="4136961"/>
            <a:ext cx="134549" cy="195707"/>
          </a:xfrm>
          <a:prstGeom prst="rect">
            <a:avLst/>
          </a:prstGeom>
        </p:spPr>
      </p:pic>
      <p:sp>
        <p:nvSpPr>
          <p:cNvPr id="25" name="TextBox 24"/>
          <p:cNvSpPr txBox="1"/>
          <p:nvPr/>
        </p:nvSpPr>
        <p:spPr>
          <a:xfrm>
            <a:off x="4338437" y="414718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027837" cy="194310"/>
          </a:xfrm>
          <a:prstGeom prst="rect">
            <a:avLst/>
          </a:prstGeom>
          <a:noFill/>
        </p:spPr>
        <p:txBody>
          <a:bodyPr wrap="none" lIns="0" tIns="0" rIns="0" bIns="0">
            <a:spAutoFit/>
          </a:bodyPr>
          <a:lstStyle/>
          <a:p>
            <a:r>
              <a:rPr sz="1150" b="0">
                <a:solidFill>
                  <a:srgbClr val="2E2E2E"/>
                </a:solidFill>
                <a:latin typeface="Calibri"/>
              </a:rPr>
              <a:t>In terms of value share by sales channel, the veterinary channels segment is expected to dominate the market, losing</a:t>
            </a:r>
          </a:p>
        </p:txBody>
      </p:sp>
      <p:pic>
        <p:nvPicPr>
          <p:cNvPr id="27" name="Picture 26" descr="lock.png"/>
          <p:cNvPicPr>
            <a:picLocks noChangeAspect="1"/>
          </p:cNvPicPr>
          <p:nvPr/>
        </p:nvPicPr>
        <p:blipFill>
          <a:blip r:embed="rId4"/>
          <a:stretch>
            <a:fillRect/>
          </a:stretch>
        </p:blipFill>
        <p:spPr>
          <a:xfrm>
            <a:off x="7253216" y="4364799"/>
            <a:ext cx="134549" cy="195707"/>
          </a:xfrm>
          <a:prstGeom prst="rect">
            <a:avLst/>
          </a:prstGeom>
        </p:spPr>
      </p:pic>
      <p:sp>
        <p:nvSpPr>
          <p:cNvPr id="28" name="TextBox 27"/>
          <p:cNvSpPr txBox="1"/>
          <p:nvPr/>
        </p:nvSpPr>
        <p:spPr>
          <a:xfrm>
            <a:off x="7428325" y="4375022"/>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823469" y="4364799"/>
            <a:ext cx="134549" cy="195707"/>
          </a:xfrm>
          <a:prstGeom prst="rect">
            <a:avLst/>
          </a:prstGeom>
        </p:spPr>
      </p:pic>
      <p:sp>
        <p:nvSpPr>
          <p:cNvPr id="30" name="TextBox 29"/>
          <p:cNvSpPr txBox="1"/>
          <p:nvPr/>
        </p:nvSpPr>
        <p:spPr>
          <a:xfrm>
            <a:off x="8998578" y="4375022"/>
            <a:ext cx="2036750" cy="194310"/>
          </a:xfrm>
          <a:prstGeom prst="rect">
            <a:avLst/>
          </a:prstGeom>
          <a:noFill/>
        </p:spPr>
        <p:txBody>
          <a:bodyPr wrap="none" lIns="0" tIns="0" rIns="0" bIns="0">
            <a:spAutoFit/>
          </a:bodyPr>
          <a:lstStyle/>
          <a:p>
            <a:r>
              <a:rPr sz="1150" b="0">
                <a:solidFill>
                  <a:srgbClr val="2E2E2E"/>
                </a:solidFill>
                <a:latin typeface="Calibri"/>
              </a:rPr>
              <a:t>share by 2036. The brand-owned</a:t>
            </a:r>
          </a:p>
        </p:txBody>
      </p:sp>
      <p:sp>
        <p:nvSpPr>
          <p:cNvPr id="31" name="TextBox 30"/>
          <p:cNvSpPr txBox="1"/>
          <p:nvPr/>
        </p:nvSpPr>
        <p:spPr>
          <a:xfrm>
            <a:off x="276225" y="4550282"/>
            <a:ext cx="2506848" cy="194310"/>
          </a:xfrm>
          <a:prstGeom prst="rect">
            <a:avLst/>
          </a:prstGeom>
          <a:noFill/>
        </p:spPr>
        <p:txBody>
          <a:bodyPr wrap="none" lIns="0" tIns="0" rIns="0" bIns="0">
            <a:spAutoFit/>
          </a:bodyPr>
          <a:lstStyle/>
          <a:p>
            <a:r>
              <a:rPr sz="1150" b="0">
                <a:solidFill>
                  <a:srgbClr val="2E2E2E"/>
                </a:solidFill>
                <a:latin typeface="Calibri"/>
              </a:rPr>
              <a:t>e-commerce segment is expected to lose</a:t>
            </a:r>
          </a:p>
        </p:txBody>
      </p:sp>
      <p:pic>
        <p:nvPicPr>
          <p:cNvPr id="32" name="Picture 31" descr="lock.png"/>
          <p:cNvPicPr>
            <a:picLocks noChangeAspect="1"/>
          </p:cNvPicPr>
          <p:nvPr/>
        </p:nvPicPr>
        <p:blipFill>
          <a:blip r:embed="rId4"/>
          <a:stretch>
            <a:fillRect/>
          </a:stretch>
        </p:blipFill>
        <p:spPr>
          <a:xfrm>
            <a:off x="2732227" y="4540059"/>
            <a:ext cx="134549" cy="195707"/>
          </a:xfrm>
          <a:prstGeom prst="rect">
            <a:avLst/>
          </a:prstGeom>
        </p:spPr>
      </p:pic>
      <p:sp>
        <p:nvSpPr>
          <p:cNvPr id="33" name="TextBox 32"/>
          <p:cNvSpPr txBox="1"/>
          <p:nvPr/>
        </p:nvSpPr>
        <p:spPr>
          <a:xfrm>
            <a:off x="2907336" y="4550282"/>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494841" y="4540059"/>
            <a:ext cx="134549" cy="195707"/>
          </a:xfrm>
          <a:prstGeom prst="rect">
            <a:avLst/>
          </a:prstGeom>
        </p:spPr>
      </p:pic>
      <p:sp>
        <p:nvSpPr>
          <p:cNvPr id="35" name="TextBox 34"/>
          <p:cNvSpPr txBox="1"/>
          <p:nvPr/>
        </p:nvSpPr>
        <p:spPr>
          <a:xfrm>
            <a:off x="5669950" y="4550282"/>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Global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590675"/>
            <a:ext cx="2595753" cy="171069"/>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a:endParaRPr/>
          </a:p>
        </p:txBody>
      </p:sp>
      <p:sp>
        <p:nvSpPr>
          <p:cNvPr id="15" name="FMI Legend Chip"/>
          <p:cNvSpPr/>
          <p:nvPr/>
        </p:nvSpPr>
        <p:spPr>
          <a:xfrm>
            <a:off x="4928997" y="1830743"/>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10800000">
            <a:off x="5090922" y="182598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749781"/>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General Retail</a:t>
            </a:r>
          </a:p>
        </p:txBody>
      </p:sp>
      <p:sp>
        <p:nvSpPr>
          <p:cNvPr id="18" name="BPS Value 1"/>
          <p:cNvSpPr txBox="1"/>
          <p:nvPr/>
        </p:nvSpPr>
        <p:spPr>
          <a:xfrm>
            <a:off x="6896100" y="1811693"/>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19" name="FMI Legend Chip"/>
          <p:cNvSpPr/>
          <p:nvPr/>
        </p:nvSpPr>
        <p:spPr>
          <a:xfrm>
            <a:off x="4928997" y="216385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rot="10800000">
            <a:off x="5090922" y="21590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2082888"/>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Other Direct Sales</a:t>
            </a:r>
          </a:p>
        </p:txBody>
      </p:sp>
      <p:sp>
        <p:nvSpPr>
          <p:cNvPr id="22" name="BPS Value 2"/>
          <p:cNvSpPr txBox="1"/>
          <p:nvPr/>
        </p:nvSpPr>
        <p:spPr>
          <a:xfrm>
            <a:off x="6896100" y="2144800"/>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3" name="FMI Legend Chip"/>
          <p:cNvSpPr/>
          <p:nvPr/>
        </p:nvSpPr>
        <p:spPr>
          <a:xfrm>
            <a:off x="4928997" y="272655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rot="10800000">
            <a:off x="5090922" y="27217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264559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Brand-Owned E-commerce</a:t>
            </a:r>
          </a:p>
        </p:txBody>
      </p:sp>
      <p:sp>
        <p:nvSpPr>
          <p:cNvPr id="26" name="BPS Value 3"/>
          <p:cNvSpPr txBox="1"/>
          <p:nvPr/>
        </p:nvSpPr>
        <p:spPr>
          <a:xfrm>
            <a:off x="6896100" y="2707503"/>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7" name="FMI Legend Chip"/>
          <p:cNvSpPr/>
          <p:nvPr/>
        </p:nvSpPr>
        <p:spPr>
          <a:xfrm>
            <a:off x="4928997" y="360353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a:off x="5090922" y="359877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3522572"/>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Specialist Pet Retail</a:t>
            </a:r>
          </a:p>
        </p:txBody>
      </p:sp>
      <p:sp>
        <p:nvSpPr>
          <p:cNvPr id="30" name="BPS Value 4"/>
          <p:cNvSpPr txBox="1"/>
          <p:nvPr/>
        </p:nvSpPr>
        <p:spPr>
          <a:xfrm>
            <a:off x="6896100" y="3584484"/>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1" name="FMI Legend Chip"/>
          <p:cNvSpPr/>
          <p:nvPr/>
        </p:nvSpPr>
        <p:spPr>
          <a:xfrm>
            <a:off x="4928997" y="460143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a:off x="5090922" y="459666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5233797" y="4520468"/>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Third-Party E-commerce</a:t>
            </a:r>
          </a:p>
        </p:txBody>
      </p:sp>
      <p:sp>
        <p:nvSpPr>
          <p:cNvPr id="34" name="BPS Value 5"/>
          <p:cNvSpPr txBox="1"/>
          <p:nvPr/>
        </p:nvSpPr>
        <p:spPr>
          <a:xfrm>
            <a:off x="6896100" y="4582381"/>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5" name="FMI Legend Chip"/>
          <p:cNvSpPr/>
          <p:nvPr/>
        </p:nvSpPr>
        <p:spPr>
          <a:xfrm>
            <a:off x="4928997" y="567753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rot="10800000">
            <a:off x="5090922" y="567277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5233797" y="559657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Veterinary Channels</a:t>
            </a:r>
          </a:p>
        </p:txBody>
      </p:sp>
      <p:sp>
        <p:nvSpPr>
          <p:cNvPr id="38" name="BPS Value 6"/>
          <p:cNvSpPr txBox="1"/>
          <p:nvPr/>
        </p:nvSpPr>
        <p:spPr>
          <a:xfrm>
            <a:off x="6896100" y="5658483"/>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Global Read-out, By Sales Channel</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TextBox 4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508660" cy="194310"/>
          </a:xfrm>
          <a:prstGeom prst="rect">
            <a:avLst/>
          </a:prstGeom>
          <a:noFill/>
        </p:spPr>
        <p:txBody>
          <a:bodyPr wrap="none" lIns="0" tIns="0" rIns="0" bIns="0">
            <a:spAutoFit/>
          </a:bodyPr>
          <a:lstStyle/>
          <a:p>
            <a:r>
              <a:rPr sz="1150" b="0">
                <a:solidFill>
                  <a:srgbClr val="2E2E2E"/>
                </a:solidFill>
                <a:latin typeface="Calibri"/>
              </a:rPr>
              <a:t>Among senior dog cognitive supplement by sales channel,</a:t>
            </a:r>
          </a:p>
        </p:txBody>
      </p:sp>
      <p:sp>
        <p:nvSpPr>
          <p:cNvPr id="46" name="TextBox 45"/>
          <p:cNvSpPr txBox="1"/>
          <p:nvPr/>
        </p:nvSpPr>
        <p:spPr>
          <a:xfrm>
            <a:off x="7829550" y="1575435"/>
            <a:ext cx="4057650" cy="194310"/>
          </a:xfrm>
          <a:prstGeom prst="rect">
            <a:avLst/>
          </a:prstGeom>
          <a:noFill/>
        </p:spPr>
        <p:txBody>
          <a:bodyPr wrap="none" lIns="0" tIns="0" rIns="0" bIns="0">
            <a:spAutoFit/>
          </a:bodyPr>
          <a:lstStyle/>
          <a:p>
            <a:r>
              <a:rPr sz="1150" b="0">
                <a:solidFill>
                  <a:srgbClr val="2E2E2E"/>
                </a:solidFill>
                <a:latin typeface="Calibri"/>
              </a:rPr>
              <a:t>third-party e-commerce segment is expected to witness the highest</a:t>
            </a:r>
          </a:p>
        </p:txBody>
      </p:sp>
      <p:sp>
        <p:nvSpPr>
          <p:cNvPr id="47" name="TextBox 46"/>
          <p:cNvSpPr txBox="1"/>
          <p:nvPr/>
        </p:nvSpPr>
        <p:spPr>
          <a:xfrm>
            <a:off x="7829550" y="1750695"/>
            <a:ext cx="564536" cy="194310"/>
          </a:xfrm>
          <a:prstGeom prst="rect">
            <a:avLst/>
          </a:prstGeom>
          <a:noFill/>
        </p:spPr>
        <p:txBody>
          <a:bodyPr wrap="none" lIns="0" tIns="0" rIns="0" bIns="0">
            <a:spAutoFit/>
          </a:bodyPr>
          <a:lstStyle/>
          <a:p>
            <a:r>
              <a:rPr sz="1150" b="0">
                <a:solidFill>
                  <a:srgbClr val="2E2E2E"/>
                </a:solidFill>
                <a:latin typeface="Calibri"/>
              </a:rPr>
              <a:t>CAGR of</a:t>
            </a:r>
          </a:p>
        </p:txBody>
      </p:sp>
      <p:pic>
        <p:nvPicPr>
          <p:cNvPr id="48" name="Picture 47" descr="lock.png"/>
          <p:cNvPicPr>
            <a:picLocks noChangeAspect="1"/>
          </p:cNvPicPr>
          <p:nvPr/>
        </p:nvPicPr>
        <p:blipFill>
          <a:blip r:embed="rId5"/>
          <a:stretch>
            <a:fillRect/>
          </a:stretch>
        </p:blipFill>
        <p:spPr>
          <a:xfrm>
            <a:off x="8343240" y="1740471"/>
            <a:ext cx="134549" cy="195707"/>
          </a:xfrm>
          <a:prstGeom prst="rect">
            <a:avLst/>
          </a:prstGeom>
        </p:spPr>
      </p:pic>
      <p:sp>
        <p:nvSpPr>
          <p:cNvPr id="49" name="TextBox 48"/>
          <p:cNvSpPr txBox="1"/>
          <p:nvPr/>
        </p:nvSpPr>
        <p:spPr>
          <a:xfrm>
            <a:off x="8518350" y="1750695"/>
            <a:ext cx="3118147" cy="194310"/>
          </a:xfrm>
          <a:prstGeom prst="rect">
            <a:avLst/>
          </a:prstGeom>
          <a:noFill/>
        </p:spPr>
        <p:txBody>
          <a:bodyPr wrap="none" lIns="0" tIns="0" rIns="0" bIns="0">
            <a:spAutoFit/>
          </a:bodyPr>
          <a:lstStyle/>
          <a:p>
            <a:r>
              <a:rPr sz="1150" b="0">
                <a:solidFill>
                  <a:srgbClr val="2E2E2E"/>
                </a:solidFill>
                <a:latin typeface="Calibri"/>
              </a:rPr>
              <a:t>over the forecast period. In terms of value share by</a:t>
            </a:r>
          </a:p>
        </p:txBody>
      </p:sp>
      <p:sp>
        <p:nvSpPr>
          <p:cNvPr id="50" name="TextBox 49"/>
          <p:cNvSpPr txBox="1"/>
          <p:nvPr/>
        </p:nvSpPr>
        <p:spPr>
          <a:xfrm>
            <a:off x="7829550" y="1925955"/>
            <a:ext cx="3745706" cy="194310"/>
          </a:xfrm>
          <a:prstGeom prst="rect">
            <a:avLst/>
          </a:prstGeom>
          <a:noFill/>
        </p:spPr>
        <p:txBody>
          <a:bodyPr wrap="none" lIns="0" tIns="0" rIns="0" bIns="0">
            <a:spAutoFit/>
          </a:bodyPr>
          <a:lstStyle/>
          <a:p>
            <a:r>
              <a:rPr sz="1150" b="0">
                <a:solidFill>
                  <a:srgbClr val="2E2E2E"/>
                </a:solidFill>
                <a:latin typeface="Calibri"/>
              </a:rPr>
              <a:t>sales channel, the veterinary channels segment is expected to</a:t>
            </a:r>
          </a:p>
        </p:txBody>
      </p:sp>
      <p:sp>
        <p:nvSpPr>
          <p:cNvPr id="51" name="TextBox 50"/>
          <p:cNvSpPr txBox="1"/>
          <p:nvPr/>
        </p:nvSpPr>
        <p:spPr>
          <a:xfrm>
            <a:off x="7829550" y="2101215"/>
            <a:ext cx="1755774" cy="194310"/>
          </a:xfrm>
          <a:prstGeom prst="rect">
            <a:avLst/>
          </a:prstGeom>
          <a:noFill/>
        </p:spPr>
        <p:txBody>
          <a:bodyPr wrap="none" lIns="0" tIns="0" rIns="0" bIns="0">
            <a:spAutoFit/>
          </a:bodyPr>
          <a:lstStyle/>
          <a:p>
            <a:r>
              <a:rPr sz="1150" b="0">
                <a:solidFill>
                  <a:srgbClr val="2E2E2E"/>
                </a:solidFill>
                <a:latin typeface="Calibri"/>
              </a:rPr>
              <a:t>dominate the market, losing</a:t>
            </a:r>
          </a:p>
        </p:txBody>
      </p:sp>
      <p:pic>
        <p:nvPicPr>
          <p:cNvPr id="52" name="Picture 51" descr="lock.png"/>
          <p:cNvPicPr>
            <a:picLocks noChangeAspect="1"/>
          </p:cNvPicPr>
          <p:nvPr/>
        </p:nvPicPr>
        <p:blipFill>
          <a:blip r:embed="rId5"/>
          <a:stretch>
            <a:fillRect/>
          </a:stretch>
        </p:blipFill>
        <p:spPr>
          <a:xfrm>
            <a:off x="9534478" y="2090991"/>
            <a:ext cx="134549" cy="195707"/>
          </a:xfrm>
          <a:prstGeom prst="rect">
            <a:avLst/>
          </a:prstGeom>
        </p:spPr>
      </p:pic>
      <p:sp>
        <p:nvSpPr>
          <p:cNvPr id="53" name="TextBox 52"/>
          <p:cNvSpPr txBox="1"/>
          <p:nvPr/>
        </p:nvSpPr>
        <p:spPr>
          <a:xfrm>
            <a:off x="9709588" y="2101215"/>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11104731" y="2090991"/>
            <a:ext cx="134549" cy="195707"/>
          </a:xfrm>
          <a:prstGeom prst="rect">
            <a:avLst/>
          </a:prstGeom>
        </p:spPr>
      </p:pic>
      <p:sp>
        <p:nvSpPr>
          <p:cNvPr id="55" name="TextBox 54"/>
          <p:cNvSpPr txBox="1"/>
          <p:nvPr/>
        </p:nvSpPr>
        <p:spPr>
          <a:xfrm>
            <a:off x="11279840" y="2101215"/>
            <a:ext cx="403671" cy="194310"/>
          </a:xfrm>
          <a:prstGeom prst="rect">
            <a:avLst/>
          </a:prstGeom>
          <a:noFill/>
        </p:spPr>
        <p:txBody>
          <a:bodyPr wrap="none" lIns="0" tIns="0" rIns="0" bIns="0">
            <a:spAutoFit/>
          </a:bodyPr>
          <a:lstStyle/>
          <a:p>
            <a:r>
              <a:rPr sz="1150" b="0">
                <a:solidFill>
                  <a:srgbClr val="2E2E2E"/>
                </a:solidFill>
                <a:latin typeface="Calibri"/>
              </a:rPr>
              <a:t>share</a:t>
            </a:r>
          </a:p>
        </p:txBody>
      </p:sp>
      <p:sp>
        <p:nvSpPr>
          <p:cNvPr id="56" name="TextBox 55"/>
          <p:cNvSpPr txBox="1"/>
          <p:nvPr/>
        </p:nvSpPr>
        <p:spPr>
          <a:xfrm>
            <a:off x="7829550" y="2276475"/>
            <a:ext cx="585663" cy="194310"/>
          </a:xfrm>
          <a:prstGeom prst="rect">
            <a:avLst/>
          </a:prstGeom>
          <a:noFill/>
        </p:spPr>
        <p:txBody>
          <a:bodyPr wrap="none" lIns="0" tIns="0" rIns="0" bIns="0">
            <a:spAutoFit/>
          </a:bodyPr>
          <a:lstStyle/>
          <a:p>
            <a:r>
              <a:rPr sz="1150" b="0">
                <a:solidFill>
                  <a:srgbClr val="2E2E2E"/>
                </a:solidFill>
                <a:latin typeface="Calibri"/>
              </a:rPr>
              <a:t>by 2036.</a:t>
            </a:r>
          </a:p>
        </p:txBody>
      </p:sp>
      <p:sp>
        <p:nvSpPr>
          <p:cNvPr id="57" name="TextBox 56"/>
          <p:cNvSpPr txBox="1"/>
          <p:nvPr/>
        </p:nvSpPr>
        <p:spPr>
          <a:xfrm>
            <a:off x="7829550" y="2504313"/>
            <a:ext cx="3597374" cy="194310"/>
          </a:xfrm>
          <a:prstGeom prst="rect">
            <a:avLst/>
          </a:prstGeom>
          <a:noFill/>
        </p:spPr>
        <p:txBody>
          <a:bodyPr wrap="none" lIns="0" tIns="0" rIns="0" bIns="0">
            <a:spAutoFit/>
          </a:bodyPr>
          <a:lstStyle/>
          <a:p>
            <a:r>
              <a:rPr sz="1150" b="0">
                <a:solidFill>
                  <a:srgbClr val="2E2E2E"/>
                </a:solidFill>
                <a:latin typeface="Calibri"/>
              </a:rPr>
              <a:t>The brand-owned e-commerce segment is expected to lose</a:t>
            </a:r>
          </a:p>
        </p:txBody>
      </p:sp>
      <p:pic>
        <p:nvPicPr>
          <p:cNvPr id="58" name="Picture 57" descr="lock.png"/>
          <p:cNvPicPr>
            <a:picLocks noChangeAspect="1"/>
          </p:cNvPicPr>
          <p:nvPr/>
        </p:nvPicPr>
        <p:blipFill>
          <a:blip r:embed="rId5"/>
          <a:stretch>
            <a:fillRect/>
          </a:stretch>
        </p:blipFill>
        <p:spPr>
          <a:xfrm>
            <a:off x="11376078" y="2494089"/>
            <a:ext cx="134549" cy="195707"/>
          </a:xfrm>
          <a:prstGeom prst="rect">
            <a:avLst/>
          </a:prstGeom>
        </p:spPr>
      </p:pic>
      <p:sp>
        <p:nvSpPr>
          <p:cNvPr id="59" name="TextBox 58"/>
          <p:cNvSpPr txBox="1"/>
          <p:nvPr/>
        </p:nvSpPr>
        <p:spPr>
          <a:xfrm>
            <a:off x="7829550" y="2679573"/>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60" name="Picture 59" descr="lock.png"/>
          <p:cNvPicPr>
            <a:picLocks noChangeAspect="1"/>
          </p:cNvPicPr>
          <p:nvPr/>
        </p:nvPicPr>
        <p:blipFill>
          <a:blip r:embed="rId5"/>
          <a:stretch>
            <a:fillRect/>
          </a:stretch>
        </p:blipFill>
        <p:spPr>
          <a:xfrm>
            <a:off x="10417054" y="2669349"/>
            <a:ext cx="134549" cy="195707"/>
          </a:xfrm>
          <a:prstGeom prst="rect">
            <a:avLst/>
          </a:prstGeom>
        </p:spPr>
      </p:pic>
      <p:sp>
        <p:nvSpPr>
          <p:cNvPr id="61" name="TextBox 60"/>
          <p:cNvSpPr txBox="1"/>
          <p:nvPr/>
        </p:nvSpPr>
        <p:spPr>
          <a:xfrm>
            <a:off x="10592163" y="267957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2"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170116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2005965"/>
            <a:ext cx="7239000" cy="514350"/>
          </a:xfrm>
          <a:prstGeom prst="rect">
            <a:avLst/>
          </a:prstGeom>
          <a:noFill/>
        </p:spPr>
        <p:txBody>
          <a:bodyPr wrap="square" lIns="0" tIns="0" rIns="0">
            <a:spAutoFit/>
          </a:bodyPr>
          <a:lstStyle/>
          <a:p>
            <a:r>
              <a:rPr sz="3000" b="1" cap="all" spc="400">
                <a:solidFill>
                  <a:srgbClr val="FFFFFF"/>
                </a:solidFill>
                <a:latin typeface="Calibri"/>
              </a:rPr>
              <a:t>Europe Market Outlook</a:t>
            </a:r>
          </a:p>
        </p:txBody>
      </p:sp>
      <p:sp>
        <p:nvSpPr>
          <p:cNvPr id="7" name="TextBox 6"/>
          <p:cNvSpPr txBox="1"/>
          <p:nvPr/>
        </p:nvSpPr>
        <p:spPr>
          <a:xfrm>
            <a:off x="914400" y="2710815"/>
            <a:ext cx="7124700" cy="387477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Europe Overview</a:t>
            </a:r>
          </a:p>
          <a:p>
            <a:pPr marL="342900" indent="-323850">
              <a:lnSpc>
                <a:spcPct val="100000"/>
              </a:lnSpc>
              <a:spcAft>
                <a:spcPts val="800"/>
              </a:spcAft>
            </a:pPr>
            <a:r>
              <a:rPr sz="2000" b="0">
                <a:solidFill>
                  <a:srgbClr val="FFD447"/>
                </a:solidFill>
                <a:latin typeface="Calibri"/>
              </a:rPr>
              <a:t>➤	Europe Market Analysis By Country</a:t>
            </a:r>
          </a:p>
          <a:p>
            <a:pPr marL="342900" indent="-323850">
              <a:lnSpc>
                <a:spcPct val="100000"/>
              </a:lnSpc>
              <a:spcAft>
                <a:spcPts val="800"/>
              </a:spcAft>
            </a:pPr>
            <a:r>
              <a:rPr sz="2000" b="0">
                <a:solidFill>
                  <a:srgbClr val="FFD447"/>
                </a:solidFill>
                <a:latin typeface="Calibri"/>
              </a:rPr>
              <a:t>➤	Europe Market Analysis By Segments</a:t>
            </a:r>
          </a:p>
          <a:p>
            <a:pPr marL="685800" indent="-323850">
              <a:lnSpc>
                <a:spcPct val="100000"/>
              </a:lnSpc>
              <a:spcAft>
                <a:spcPts val="560"/>
              </a:spcAft>
            </a:pPr>
            <a:r>
              <a:rPr sz="1400" b="0">
                <a:solidFill>
                  <a:srgbClr val="FFD447"/>
                </a:solidFill>
                <a:latin typeface="Calibri"/>
              </a:rPr>
              <a:t>›	By Form Type</a:t>
            </a:r>
          </a:p>
          <a:p>
            <a:pPr marL="685800" indent="-323850">
              <a:lnSpc>
                <a:spcPct val="100000"/>
              </a:lnSpc>
              <a:spcAft>
                <a:spcPts val="560"/>
              </a:spcAft>
            </a:pPr>
            <a:r>
              <a:rPr sz="1400" b="0">
                <a:solidFill>
                  <a:srgbClr val="FFD447"/>
                </a:solidFill>
                <a:latin typeface="Calibri"/>
              </a:rPr>
              <a:t>›	By Active Ingredient</a:t>
            </a:r>
          </a:p>
          <a:p>
            <a:pPr marL="685800" indent="-323850">
              <a:lnSpc>
                <a:spcPct val="100000"/>
              </a:lnSpc>
              <a:spcAft>
                <a:spcPts val="560"/>
              </a:spcAft>
            </a:pPr>
            <a:r>
              <a:rPr sz="1400" b="0">
                <a:solidFill>
                  <a:srgbClr val="FFD447"/>
                </a:solidFill>
                <a:latin typeface="Calibri"/>
              </a:rPr>
              <a:t>›	By End-use Application</a:t>
            </a:r>
          </a:p>
          <a:p>
            <a:pPr marL="685800" indent="-323850">
              <a:lnSpc>
                <a:spcPct val="100000"/>
              </a:lnSpc>
              <a:spcAft>
                <a:spcPts val="560"/>
              </a:spcAft>
            </a:pPr>
            <a:r>
              <a:rPr sz="1400" b="0">
                <a:solidFill>
                  <a:srgbClr val="FFD447"/>
                </a:solidFill>
                <a:latin typeface="Calibri"/>
              </a:rPr>
              <a:t>›	By Packaging Format</a:t>
            </a:r>
          </a:p>
          <a:p>
            <a:pPr marL="685800" indent="-323850">
              <a:lnSpc>
                <a:spcPct val="100000"/>
              </a:lnSpc>
              <a:spcAft>
                <a:spcPts val="560"/>
              </a:spcAft>
            </a:pPr>
            <a:r>
              <a:rPr sz="1400" b="0">
                <a:solidFill>
                  <a:srgbClr val="FFD447"/>
                </a:solidFill>
                <a:latin typeface="Calibri"/>
              </a:rPr>
              <a:t>›	By Sales Channel</a:t>
            </a:r>
          </a:p>
          <a:p>
            <a:pPr marL="342900" indent="-323850">
              <a:lnSpc>
                <a:spcPct val="100000"/>
              </a:lnSpc>
              <a:spcAft>
                <a:spcPts val="800"/>
              </a:spcAft>
            </a:pPr>
            <a:r>
              <a:rPr sz="2000" b="0">
                <a:solidFill>
                  <a:srgbClr val="FFD447"/>
                </a:solidFill>
                <a:latin typeface="Calibri"/>
              </a:rPr>
              <a:t>➤	Cross-sectional Assessment</a:t>
            </a:r>
          </a:p>
          <a:p>
            <a:pPr marL="685800" indent="-323850">
              <a:lnSpc>
                <a:spcPct val="100000"/>
              </a:lnSpc>
              <a:spcAft>
                <a:spcPts val="560"/>
              </a:spcAft>
            </a:pPr>
            <a:r>
              <a:rPr sz="1400" b="0">
                <a:solidFill>
                  <a:srgbClr val="FFD447"/>
                </a:solidFill>
                <a:latin typeface="Calibri"/>
              </a:rPr>
              <a:t>›	Form Type × Active Ingredient</a:t>
            </a:r>
          </a:p>
          <a:p>
            <a:pPr marL="685800" indent="-323850">
              <a:lnSpc>
                <a:spcPct val="100000"/>
              </a:lnSpc>
              <a:spcAft>
                <a:spcPts val="560"/>
              </a:spcAft>
            </a:pPr>
            <a:r>
              <a:rPr sz="1400" b="0">
                <a:solidFill>
                  <a:srgbClr val="FFD447"/>
                </a:solidFill>
                <a:latin typeface="Calibri"/>
              </a:rPr>
              <a:t>›	End-use Application × Active Ingredient</a:t>
            </a:r>
          </a:p>
          <a:p>
            <a:pPr marL="685800" indent="-323850">
              <a:lnSpc>
                <a:spcPct val="100000"/>
              </a:lnSpc>
              <a:spcAft>
                <a:spcPts val="560"/>
              </a:spcAft>
            </a:pPr>
            <a:r>
              <a:rPr sz="1400" b="0">
                <a:solidFill>
                  <a:srgbClr val="FFD447"/>
                </a:solidFill>
                <a:latin typeface="Calibri"/>
              </a:rPr>
              <a:t>›	Sales Channel × End-use Application</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Form Type × Active Ingredient</a:t>
            </a:r>
          </a:p>
          <a:p>
            <a:pPr marL="342900" indent="-323850">
              <a:lnSpc>
                <a:spcPct val="100000"/>
              </a:lnSpc>
              <a:spcAft>
                <a:spcPts val="800"/>
              </a:spcAft>
            </a:pPr>
            <a:r>
              <a:rPr sz="2000" b="0">
                <a:solidFill>
                  <a:srgbClr val="000000"/>
                </a:solidFill>
                <a:latin typeface="Calibri"/>
              </a:rPr>
              <a:t>➤	End-use Application × Active Ingredient</a:t>
            </a:r>
          </a:p>
          <a:p>
            <a:pPr marL="342900" indent="-323850">
              <a:lnSpc>
                <a:spcPct val="100000"/>
              </a:lnSpc>
              <a:spcAft>
                <a:spcPts val="800"/>
              </a:spcAft>
            </a:pPr>
            <a:r>
              <a:rPr sz="2000" b="0">
                <a:solidFill>
                  <a:srgbClr val="000000"/>
                </a:solidFill>
                <a:latin typeface="Calibri"/>
              </a:rPr>
              <a:t>➤	Sales Channel × End-use Application</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Form Type × Active Ingredient</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Snapshot</a:t>
            </a:r>
          </a:p>
          <a:p>
            <a:pPr marL="342900" indent="-323850">
              <a:lnSpc>
                <a:spcPct val="100000"/>
              </a:lnSpc>
              <a:spcAft>
                <a:spcPts val="800"/>
              </a:spcAft>
            </a:pPr>
            <a:r>
              <a:rPr sz="2000" b="0">
                <a:solidFill>
                  <a:srgbClr val="000000"/>
                </a:solidFill>
                <a:latin typeface="Calibri"/>
              </a:rPr>
              <a:t>➤	Market Share Analysis</a:t>
            </a:r>
          </a:p>
          <a:p>
            <a:pPr marL="342900" indent="-323850">
              <a:lnSpc>
                <a:spcPct val="100000"/>
              </a:lnSpc>
              <a:spcAft>
                <a:spcPts val="800"/>
              </a:spcAft>
            </a:pPr>
            <a:r>
              <a:rPr sz="2000" b="0">
                <a:solidFill>
                  <a:srgbClr val="000000"/>
                </a:solidFill>
                <a:latin typeface="Calibri"/>
              </a:rPr>
              <a:t>➤	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Snapshot: Form Type × Active Ingredient, 2026E vs 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Europe market value (US$ Mn) for each form type sub-segment across active ingredient sub-segments</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Market Value, Form Type × Active Ingredient, 2026E and 2036F (US$ Mn)</a:t>
            </a:r>
          </a:p>
        </p:txBody>
      </p:sp>
      <p:graphicFrame>
        <p:nvGraphicFramePr>
          <p:cNvPr id="12" name="Table 11"/>
          <p:cNvGraphicFramePr>
            <a:graphicFrameLocks noGrp="1"/>
          </p:cNvGraphicFramePr>
          <p:nvPr/>
        </p:nvGraphicFramePr>
        <p:xfrm>
          <a:off x="152400" y="1238250"/>
          <a:ext cx="11887200" cy="2409824"/>
        </p:xfrm>
        <a:graphic>
          <a:graphicData uri="http://schemas.openxmlformats.org/drawingml/2006/table">
            <a:tbl>
              <a:tblPr>
                <a:tableStyleId>{5C22544A-7EE6-4342-B048-85BDC9FD1C3A}</a:tableStyleId>
              </a:tblPr>
              <a:tblGrid>
                <a:gridCol w="2159118">
                  <a:extLst>
                    <a:ext uri="{9D8B030D-6E8A-4147-A177-3AD203B41FA5}">
                      <a16:colId xmlns:a16="http://schemas.microsoft.com/office/drawing/2014/main" val="20000"/>
                    </a:ext>
                  </a:extLst>
                </a:gridCol>
                <a:gridCol w="694863">
                  <a:extLst>
                    <a:ext uri="{9D8B030D-6E8A-4147-A177-3AD203B41FA5}">
                      <a16:colId xmlns:a16="http://schemas.microsoft.com/office/drawing/2014/main" val="20001"/>
                    </a:ext>
                  </a:extLst>
                </a:gridCol>
                <a:gridCol w="694863">
                  <a:extLst>
                    <a:ext uri="{9D8B030D-6E8A-4147-A177-3AD203B41FA5}">
                      <a16:colId xmlns:a16="http://schemas.microsoft.com/office/drawing/2014/main" val="20002"/>
                    </a:ext>
                  </a:extLst>
                </a:gridCol>
                <a:gridCol w="694863">
                  <a:extLst>
                    <a:ext uri="{9D8B030D-6E8A-4147-A177-3AD203B41FA5}">
                      <a16:colId xmlns:a16="http://schemas.microsoft.com/office/drawing/2014/main" val="20003"/>
                    </a:ext>
                  </a:extLst>
                </a:gridCol>
                <a:gridCol w="694863">
                  <a:extLst>
                    <a:ext uri="{9D8B030D-6E8A-4147-A177-3AD203B41FA5}">
                      <a16:colId xmlns:a16="http://schemas.microsoft.com/office/drawing/2014/main" val="20004"/>
                    </a:ext>
                  </a:extLst>
                </a:gridCol>
                <a:gridCol w="694863">
                  <a:extLst>
                    <a:ext uri="{9D8B030D-6E8A-4147-A177-3AD203B41FA5}">
                      <a16:colId xmlns:a16="http://schemas.microsoft.com/office/drawing/2014/main" val="20005"/>
                    </a:ext>
                  </a:extLst>
                </a:gridCol>
                <a:gridCol w="694863">
                  <a:extLst>
                    <a:ext uri="{9D8B030D-6E8A-4147-A177-3AD203B41FA5}">
                      <a16:colId xmlns:a16="http://schemas.microsoft.com/office/drawing/2014/main" val="20006"/>
                    </a:ext>
                  </a:extLst>
                </a:gridCol>
                <a:gridCol w="694863">
                  <a:extLst>
                    <a:ext uri="{9D8B030D-6E8A-4147-A177-3AD203B41FA5}">
                      <a16:colId xmlns:a16="http://schemas.microsoft.com/office/drawing/2014/main" val="20007"/>
                    </a:ext>
                  </a:extLst>
                </a:gridCol>
                <a:gridCol w="694863">
                  <a:extLst>
                    <a:ext uri="{9D8B030D-6E8A-4147-A177-3AD203B41FA5}">
                      <a16:colId xmlns:a16="http://schemas.microsoft.com/office/drawing/2014/main" val="20008"/>
                    </a:ext>
                  </a:extLst>
                </a:gridCol>
                <a:gridCol w="694863">
                  <a:extLst>
                    <a:ext uri="{9D8B030D-6E8A-4147-A177-3AD203B41FA5}">
                      <a16:colId xmlns:a16="http://schemas.microsoft.com/office/drawing/2014/main" val="20009"/>
                    </a:ext>
                  </a:extLst>
                </a:gridCol>
                <a:gridCol w="694863">
                  <a:extLst>
                    <a:ext uri="{9D8B030D-6E8A-4147-A177-3AD203B41FA5}">
                      <a16:colId xmlns:a16="http://schemas.microsoft.com/office/drawing/2014/main" val="20010"/>
                    </a:ext>
                  </a:extLst>
                </a:gridCol>
                <a:gridCol w="694863">
                  <a:extLst>
                    <a:ext uri="{9D8B030D-6E8A-4147-A177-3AD203B41FA5}">
                      <a16:colId xmlns:a16="http://schemas.microsoft.com/office/drawing/2014/main" val="20011"/>
                    </a:ext>
                  </a:extLst>
                </a:gridCol>
                <a:gridCol w="694863">
                  <a:extLst>
                    <a:ext uri="{9D8B030D-6E8A-4147-A177-3AD203B41FA5}">
                      <a16:colId xmlns:a16="http://schemas.microsoft.com/office/drawing/2014/main" val="20012"/>
                    </a:ext>
                  </a:extLst>
                </a:gridCol>
                <a:gridCol w="694863">
                  <a:extLst>
                    <a:ext uri="{9D8B030D-6E8A-4147-A177-3AD203B41FA5}">
                      <a16:colId xmlns:a16="http://schemas.microsoft.com/office/drawing/2014/main" val="20013"/>
                    </a:ext>
                  </a:extLst>
                </a:gridCol>
                <a:gridCol w="694863">
                  <a:extLst>
                    <a:ext uri="{9D8B030D-6E8A-4147-A177-3AD203B41FA5}">
                      <a16:colId xmlns:a16="http://schemas.microsoft.com/office/drawing/2014/main" val="20014"/>
                    </a:ext>
                  </a:extLst>
                </a:gridCol>
              </a:tblGrid>
              <a:tr h="438912">
                <a:tc rowSpan="2">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Cellular Energy</a:t>
                      </a:r>
                      <a:endParaRPr sz="1100"/>
                    </a:p>
                    <a:p>
                      <a:pPr algn="ctr"/>
                      <a:r>
                        <a:rPr sz="1100" b="1">
                          <a:solidFill>
                            <a:srgbClr val="0B2E4A"/>
                          </a:solidFill>
                          <a:latin typeface="Calibri"/>
                        </a:rPr>
                        <a:t>Support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Microbiome-</a:t>
                      </a:r>
                      <a:endParaRPr sz="1100"/>
                    </a:p>
                    <a:p>
                      <a:pPr algn="ctr"/>
                      <a:r>
                        <a:rPr sz="1100" b="1">
                          <a:solidFill>
                            <a:srgbClr val="0B2E4A"/>
                          </a:solidFill>
                          <a:latin typeface="Calibri"/>
                        </a:rPr>
                        <a:t>Targeted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364">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6364">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6364">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6364">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6364">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6364">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6"/>
                  </a:ext>
                </a:extLst>
              </a:tr>
              <a:tr h="246364">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7"/>
                  </a:ext>
                </a:extLst>
              </a:tr>
              <a:tr h="246364">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3" name="TextBox 12"/>
          <p:cNvSpPr txBox="1"/>
          <p:nvPr/>
        </p:nvSpPr>
        <p:spPr>
          <a:xfrm>
            <a:off x="219075" y="36576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7286625"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4048125"/>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Flow, Form Type → Active Ingredient, 2036F (US$ Mn)</a:t>
            </a:r>
          </a:p>
        </p:txBody>
      </p:sp>
      <p:sp>
        <p:nvSpPr>
          <p:cNvPr id="16" name="Freeform 15"/>
          <p:cNvSpPr/>
          <p:nvPr/>
        </p:nvSpPr>
        <p:spPr>
          <a:xfrm>
            <a:off x="2057400" y="4314825"/>
            <a:ext cx="3743325" cy="171450"/>
          </a:xfrm>
          <a:custGeom>
            <a:avLst/>
            <a:gdLst/>
            <a:ahLst/>
            <a:cxnLst/>
            <a:rect l="l" t="t" r="r" b="b"/>
            <a:pathLst>
              <a:path w="393" h="18">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8"/>
                </a:lnTo>
                <a:lnTo>
                  <a:pt x="377" y="18"/>
                </a:lnTo>
                <a:lnTo>
                  <a:pt x="360" y="18"/>
                </a:lnTo>
                <a:lnTo>
                  <a:pt x="344" y="18"/>
                </a:lnTo>
                <a:lnTo>
                  <a:pt x="327" y="18"/>
                </a:lnTo>
                <a:lnTo>
                  <a:pt x="311" y="18"/>
                </a:lnTo>
                <a:lnTo>
                  <a:pt x="295" y="18"/>
                </a:lnTo>
                <a:lnTo>
                  <a:pt x="278" y="18"/>
                </a:lnTo>
                <a:lnTo>
                  <a:pt x="262" y="18"/>
                </a:lnTo>
                <a:lnTo>
                  <a:pt x="246" y="18"/>
                </a:lnTo>
                <a:lnTo>
                  <a:pt x="229" y="18"/>
                </a:lnTo>
                <a:lnTo>
                  <a:pt x="213" y="18"/>
                </a:lnTo>
                <a:lnTo>
                  <a:pt x="196" y="18"/>
                </a:lnTo>
                <a:lnTo>
                  <a:pt x="180" y="18"/>
                </a:lnTo>
                <a:lnTo>
                  <a:pt x="164" y="18"/>
                </a:lnTo>
                <a:lnTo>
                  <a:pt x="147" y="18"/>
                </a:lnTo>
                <a:lnTo>
                  <a:pt x="131" y="18"/>
                </a:lnTo>
                <a:lnTo>
                  <a:pt x="114" y="18"/>
                </a:lnTo>
                <a:lnTo>
                  <a:pt x="98" y="18"/>
                </a:lnTo>
                <a:lnTo>
                  <a:pt x="82" y="18"/>
                </a:lnTo>
                <a:lnTo>
                  <a:pt x="65" y="18"/>
                </a:lnTo>
                <a:lnTo>
                  <a:pt x="49" y="18"/>
                </a:lnTo>
                <a:lnTo>
                  <a:pt x="33" y="18"/>
                </a:lnTo>
                <a:lnTo>
                  <a:pt x="16" y="18"/>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2057400" y="4486275"/>
            <a:ext cx="3743325" cy="485775"/>
          </a:xfrm>
          <a:custGeom>
            <a:avLst/>
            <a:gdLst/>
            <a:ahLst/>
            <a:cxnLst/>
            <a:rect l="l" t="t" r="r" b="b"/>
            <a:pathLst>
              <a:path w="393" h="51">
                <a:moveTo>
                  <a:pt x="0" y="0"/>
                </a:moveTo>
                <a:lnTo>
                  <a:pt x="16" y="0"/>
                </a:lnTo>
                <a:lnTo>
                  <a:pt x="33" y="1"/>
                </a:lnTo>
                <a:lnTo>
                  <a:pt x="49" y="2"/>
                </a:lnTo>
                <a:lnTo>
                  <a:pt x="65" y="3"/>
                </a:lnTo>
                <a:lnTo>
                  <a:pt x="82" y="4"/>
                </a:lnTo>
                <a:lnTo>
                  <a:pt x="98" y="6"/>
                </a:lnTo>
                <a:lnTo>
                  <a:pt x="114" y="7"/>
                </a:lnTo>
                <a:lnTo>
                  <a:pt x="131" y="9"/>
                </a:lnTo>
                <a:lnTo>
                  <a:pt x="147" y="11"/>
                </a:lnTo>
                <a:lnTo>
                  <a:pt x="164" y="13"/>
                </a:lnTo>
                <a:lnTo>
                  <a:pt x="180" y="15"/>
                </a:lnTo>
                <a:lnTo>
                  <a:pt x="196" y="18"/>
                </a:lnTo>
                <a:lnTo>
                  <a:pt x="213" y="20"/>
                </a:lnTo>
                <a:lnTo>
                  <a:pt x="229" y="22"/>
                </a:lnTo>
                <a:lnTo>
                  <a:pt x="246" y="24"/>
                </a:lnTo>
                <a:lnTo>
                  <a:pt x="262" y="26"/>
                </a:lnTo>
                <a:lnTo>
                  <a:pt x="278" y="28"/>
                </a:lnTo>
                <a:lnTo>
                  <a:pt x="295" y="30"/>
                </a:lnTo>
                <a:lnTo>
                  <a:pt x="311" y="31"/>
                </a:lnTo>
                <a:lnTo>
                  <a:pt x="327" y="33"/>
                </a:lnTo>
                <a:lnTo>
                  <a:pt x="344" y="34"/>
                </a:lnTo>
                <a:lnTo>
                  <a:pt x="360" y="34"/>
                </a:lnTo>
                <a:lnTo>
                  <a:pt x="377" y="35"/>
                </a:lnTo>
                <a:lnTo>
                  <a:pt x="393" y="35"/>
                </a:lnTo>
                <a:lnTo>
                  <a:pt x="393" y="51"/>
                </a:lnTo>
                <a:lnTo>
                  <a:pt x="377" y="51"/>
                </a:lnTo>
                <a:lnTo>
                  <a:pt x="360" y="50"/>
                </a:lnTo>
                <a:lnTo>
                  <a:pt x="344" y="49"/>
                </a:lnTo>
                <a:lnTo>
                  <a:pt x="327" y="48"/>
                </a:lnTo>
                <a:lnTo>
                  <a:pt x="311" y="47"/>
                </a:lnTo>
                <a:lnTo>
                  <a:pt x="295" y="45"/>
                </a:lnTo>
                <a:lnTo>
                  <a:pt x="278" y="44"/>
                </a:lnTo>
                <a:lnTo>
                  <a:pt x="262" y="42"/>
                </a:lnTo>
                <a:lnTo>
                  <a:pt x="246" y="40"/>
                </a:lnTo>
                <a:lnTo>
                  <a:pt x="229" y="38"/>
                </a:lnTo>
                <a:lnTo>
                  <a:pt x="213" y="36"/>
                </a:lnTo>
                <a:lnTo>
                  <a:pt x="196" y="33"/>
                </a:lnTo>
                <a:lnTo>
                  <a:pt x="180" y="31"/>
                </a:lnTo>
                <a:lnTo>
                  <a:pt x="164" y="29"/>
                </a:lnTo>
                <a:lnTo>
                  <a:pt x="147" y="27"/>
                </a:lnTo>
                <a:lnTo>
                  <a:pt x="131" y="25"/>
                </a:lnTo>
                <a:lnTo>
                  <a:pt x="114" y="23"/>
                </a:lnTo>
                <a:lnTo>
                  <a:pt x="98" y="21"/>
                </a:lnTo>
                <a:lnTo>
                  <a:pt x="82" y="20"/>
                </a:lnTo>
                <a:lnTo>
                  <a:pt x="65" y="18"/>
                </a:lnTo>
                <a:lnTo>
                  <a:pt x="49" y="17"/>
                </a:lnTo>
                <a:lnTo>
                  <a:pt x="33" y="17"/>
                </a:lnTo>
                <a:lnTo>
                  <a:pt x="16" y="16"/>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2057400" y="4638675"/>
            <a:ext cx="3743325" cy="762000"/>
          </a:xfrm>
          <a:custGeom>
            <a:avLst/>
            <a:gdLst/>
            <a:ahLst/>
            <a:cxnLst/>
            <a:rect l="l" t="t" r="r" b="b"/>
            <a:pathLst>
              <a:path w="393" h="80">
                <a:moveTo>
                  <a:pt x="0" y="0"/>
                </a:moveTo>
                <a:lnTo>
                  <a:pt x="16" y="0"/>
                </a:lnTo>
                <a:lnTo>
                  <a:pt x="33" y="1"/>
                </a:lnTo>
                <a:lnTo>
                  <a:pt x="49" y="3"/>
                </a:lnTo>
                <a:lnTo>
                  <a:pt x="65" y="5"/>
                </a:lnTo>
                <a:lnTo>
                  <a:pt x="82" y="8"/>
                </a:lnTo>
                <a:lnTo>
                  <a:pt x="98" y="11"/>
                </a:lnTo>
                <a:lnTo>
                  <a:pt x="114" y="14"/>
                </a:lnTo>
                <a:lnTo>
                  <a:pt x="131" y="18"/>
                </a:lnTo>
                <a:lnTo>
                  <a:pt x="147" y="22"/>
                </a:lnTo>
                <a:lnTo>
                  <a:pt x="164" y="26"/>
                </a:lnTo>
                <a:lnTo>
                  <a:pt x="180" y="31"/>
                </a:lnTo>
                <a:lnTo>
                  <a:pt x="196" y="35"/>
                </a:lnTo>
                <a:lnTo>
                  <a:pt x="213" y="39"/>
                </a:lnTo>
                <a:lnTo>
                  <a:pt x="229" y="44"/>
                </a:lnTo>
                <a:lnTo>
                  <a:pt x="246" y="48"/>
                </a:lnTo>
                <a:lnTo>
                  <a:pt x="262" y="52"/>
                </a:lnTo>
                <a:lnTo>
                  <a:pt x="278" y="55"/>
                </a:lnTo>
                <a:lnTo>
                  <a:pt x="295" y="59"/>
                </a:lnTo>
                <a:lnTo>
                  <a:pt x="311" y="62"/>
                </a:lnTo>
                <a:lnTo>
                  <a:pt x="327" y="65"/>
                </a:lnTo>
                <a:lnTo>
                  <a:pt x="344" y="67"/>
                </a:lnTo>
                <a:lnTo>
                  <a:pt x="360" y="68"/>
                </a:lnTo>
                <a:lnTo>
                  <a:pt x="377" y="70"/>
                </a:lnTo>
                <a:lnTo>
                  <a:pt x="393" y="70"/>
                </a:lnTo>
                <a:lnTo>
                  <a:pt x="393" y="80"/>
                </a:lnTo>
                <a:lnTo>
                  <a:pt x="377" y="79"/>
                </a:lnTo>
                <a:lnTo>
                  <a:pt x="360" y="78"/>
                </a:lnTo>
                <a:lnTo>
                  <a:pt x="344" y="77"/>
                </a:lnTo>
                <a:lnTo>
                  <a:pt x="327" y="75"/>
                </a:lnTo>
                <a:lnTo>
                  <a:pt x="311" y="72"/>
                </a:lnTo>
                <a:lnTo>
                  <a:pt x="295" y="69"/>
                </a:lnTo>
                <a:lnTo>
                  <a:pt x="278" y="65"/>
                </a:lnTo>
                <a:lnTo>
                  <a:pt x="262" y="62"/>
                </a:lnTo>
                <a:lnTo>
                  <a:pt x="246" y="58"/>
                </a:lnTo>
                <a:lnTo>
                  <a:pt x="229" y="53"/>
                </a:lnTo>
                <a:lnTo>
                  <a:pt x="213" y="49"/>
                </a:lnTo>
                <a:lnTo>
                  <a:pt x="196" y="45"/>
                </a:lnTo>
                <a:lnTo>
                  <a:pt x="180" y="40"/>
                </a:lnTo>
                <a:lnTo>
                  <a:pt x="164" y="36"/>
                </a:lnTo>
                <a:lnTo>
                  <a:pt x="147" y="32"/>
                </a:lnTo>
                <a:lnTo>
                  <a:pt x="131" y="28"/>
                </a:lnTo>
                <a:lnTo>
                  <a:pt x="114" y="24"/>
                </a:lnTo>
                <a:lnTo>
                  <a:pt x="98" y="21"/>
                </a:lnTo>
                <a:lnTo>
                  <a:pt x="82" y="18"/>
                </a:lnTo>
                <a:lnTo>
                  <a:pt x="65" y="15"/>
                </a:lnTo>
                <a:lnTo>
                  <a:pt x="49" y="13"/>
                </a:lnTo>
                <a:lnTo>
                  <a:pt x="33" y="11"/>
                </a:lnTo>
                <a:lnTo>
                  <a:pt x="16" y="10"/>
                </a:lnTo>
                <a:lnTo>
                  <a:pt x="0" y="1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2057400" y="4733925"/>
            <a:ext cx="3743325" cy="1047750"/>
          </a:xfrm>
          <a:custGeom>
            <a:avLst/>
            <a:gdLst/>
            <a:ahLst/>
            <a:cxnLst/>
            <a:rect l="l" t="t" r="r" b="b"/>
            <a:pathLst>
              <a:path w="393" h="110">
                <a:moveTo>
                  <a:pt x="0" y="0"/>
                </a:moveTo>
                <a:lnTo>
                  <a:pt x="16" y="0"/>
                </a:lnTo>
                <a:lnTo>
                  <a:pt x="33" y="2"/>
                </a:lnTo>
                <a:lnTo>
                  <a:pt x="49" y="4"/>
                </a:lnTo>
                <a:lnTo>
                  <a:pt x="65" y="7"/>
                </a:lnTo>
                <a:lnTo>
                  <a:pt x="82" y="11"/>
                </a:lnTo>
                <a:lnTo>
                  <a:pt x="98" y="15"/>
                </a:lnTo>
                <a:lnTo>
                  <a:pt x="114" y="20"/>
                </a:lnTo>
                <a:lnTo>
                  <a:pt x="131" y="25"/>
                </a:lnTo>
                <a:lnTo>
                  <a:pt x="147" y="31"/>
                </a:lnTo>
                <a:lnTo>
                  <a:pt x="164" y="37"/>
                </a:lnTo>
                <a:lnTo>
                  <a:pt x="180" y="43"/>
                </a:lnTo>
                <a:lnTo>
                  <a:pt x="196" y="49"/>
                </a:lnTo>
                <a:lnTo>
                  <a:pt x="213" y="55"/>
                </a:lnTo>
                <a:lnTo>
                  <a:pt x="229" y="61"/>
                </a:lnTo>
                <a:lnTo>
                  <a:pt x="246" y="67"/>
                </a:lnTo>
                <a:lnTo>
                  <a:pt x="262" y="72"/>
                </a:lnTo>
                <a:lnTo>
                  <a:pt x="278" y="78"/>
                </a:lnTo>
                <a:lnTo>
                  <a:pt x="295" y="82"/>
                </a:lnTo>
                <a:lnTo>
                  <a:pt x="311" y="87"/>
                </a:lnTo>
                <a:lnTo>
                  <a:pt x="327" y="91"/>
                </a:lnTo>
                <a:lnTo>
                  <a:pt x="344" y="94"/>
                </a:lnTo>
                <a:lnTo>
                  <a:pt x="360" y="96"/>
                </a:lnTo>
                <a:lnTo>
                  <a:pt x="377" y="97"/>
                </a:lnTo>
                <a:lnTo>
                  <a:pt x="393" y="98"/>
                </a:lnTo>
                <a:lnTo>
                  <a:pt x="393" y="110"/>
                </a:lnTo>
                <a:lnTo>
                  <a:pt x="377" y="109"/>
                </a:lnTo>
                <a:lnTo>
                  <a:pt x="360" y="108"/>
                </a:lnTo>
                <a:lnTo>
                  <a:pt x="344" y="106"/>
                </a:lnTo>
                <a:lnTo>
                  <a:pt x="327" y="103"/>
                </a:lnTo>
                <a:lnTo>
                  <a:pt x="311" y="99"/>
                </a:lnTo>
                <a:lnTo>
                  <a:pt x="295" y="95"/>
                </a:lnTo>
                <a:lnTo>
                  <a:pt x="278" y="90"/>
                </a:lnTo>
                <a:lnTo>
                  <a:pt x="262" y="85"/>
                </a:lnTo>
                <a:lnTo>
                  <a:pt x="246" y="79"/>
                </a:lnTo>
                <a:lnTo>
                  <a:pt x="229" y="73"/>
                </a:lnTo>
                <a:lnTo>
                  <a:pt x="213" y="67"/>
                </a:lnTo>
                <a:lnTo>
                  <a:pt x="196" y="61"/>
                </a:lnTo>
                <a:lnTo>
                  <a:pt x="180" y="55"/>
                </a:lnTo>
                <a:lnTo>
                  <a:pt x="164" y="49"/>
                </a:lnTo>
                <a:lnTo>
                  <a:pt x="147" y="43"/>
                </a:lnTo>
                <a:lnTo>
                  <a:pt x="131" y="37"/>
                </a:lnTo>
                <a:lnTo>
                  <a:pt x="114" y="32"/>
                </a:lnTo>
                <a:lnTo>
                  <a:pt x="98" y="27"/>
                </a:lnTo>
                <a:lnTo>
                  <a:pt x="82" y="23"/>
                </a:lnTo>
                <a:lnTo>
                  <a:pt x="65" y="19"/>
                </a:lnTo>
                <a:lnTo>
                  <a:pt x="49" y="16"/>
                </a:lnTo>
                <a:lnTo>
                  <a:pt x="33" y="14"/>
                </a:lnTo>
                <a:lnTo>
                  <a:pt x="16" y="12"/>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2057400" y="4848225"/>
            <a:ext cx="3743325" cy="1257300"/>
          </a:xfrm>
          <a:custGeom>
            <a:avLst/>
            <a:gdLst/>
            <a:ahLst/>
            <a:cxnLst/>
            <a:rect l="l" t="t" r="r" b="b"/>
            <a:pathLst>
              <a:path w="393" h="132">
                <a:moveTo>
                  <a:pt x="0" y="0"/>
                </a:moveTo>
                <a:lnTo>
                  <a:pt x="16" y="1"/>
                </a:lnTo>
                <a:lnTo>
                  <a:pt x="33" y="2"/>
                </a:lnTo>
                <a:lnTo>
                  <a:pt x="49" y="5"/>
                </a:lnTo>
                <a:lnTo>
                  <a:pt x="65" y="9"/>
                </a:lnTo>
                <a:lnTo>
                  <a:pt x="82" y="14"/>
                </a:lnTo>
                <a:lnTo>
                  <a:pt x="98" y="19"/>
                </a:lnTo>
                <a:lnTo>
                  <a:pt x="114" y="25"/>
                </a:lnTo>
                <a:lnTo>
                  <a:pt x="131" y="32"/>
                </a:lnTo>
                <a:lnTo>
                  <a:pt x="147" y="39"/>
                </a:lnTo>
                <a:lnTo>
                  <a:pt x="164" y="46"/>
                </a:lnTo>
                <a:lnTo>
                  <a:pt x="180" y="54"/>
                </a:lnTo>
                <a:lnTo>
                  <a:pt x="196" y="61"/>
                </a:lnTo>
                <a:lnTo>
                  <a:pt x="213" y="69"/>
                </a:lnTo>
                <a:lnTo>
                  <a:pt x="229" y="77"/>
                </a:lnTo>
                <a:lnTo>
                  <a:pt x="246" y="84"/>
                </a:lnTo>
                <a:lnTo>
                  <a:pt x="262" y="91"/>
                </a:lnTo>
                <a:lnTo>
                  <a:pt x="278" y="98"/>
                </a:lnTo>
                <a:lnTo>
                  <a:pt x="295" y="104"/>
                </a:lnTo>
                <a:lnTo>
                  <a:pt x="311" y="109"/>
                </a:lnTo>
                <a:lnTo>
                  <a:pt x="327" y="114"/>
                </a:lnTo>
                <a:lnTo>
                  <a:pt x="344" y="118"/>
                </a:lnTo>
                <a:lnTo>
                  <a:pt x="360" y="121"/>
                </a:lnTo>
                <a:lnTo>
                  <a:pt x="377" y="122"/>
                </a:lnTo>
                <a:lnTo>
                  <a:pt x="393" y="123"/>
                </a:lnTo>
                <a:lnTo>
                  <a:pt x="393" y="132"/>
                </a:lnTo>
                <a:lnTo>
                  <a:pt x="377" y="132"/>
                </a:lnTo>
                <a:lnTo>
                  <a:pt x="360" y="130"/>
                </a:lnTo>
                <a:lnTo>
                  <a:pt x="344" y="127"/>
                </a:lnTo>
                <a:lnTo>
                  <a:pt x="327" y="123"/>
                </a:lnTo>
                <a:lnTo>
                  <a:pt x="311" y="119"/>
                </a:lnTo>
                <a:lnTo>
                  <a:pt x="295" y="113"/>
                </a:lnTo>
                <a:lnTo>
                  <a:pt x="278" y="107"/>
                </a:lnTo>
                <a:lnTo>
                  <a:pt x="262" y="100"/>
                </a:lnTo>
                <a:lnTo>
                  <a:pt x="246" y="93"/>
                </a:lnTo>
                <a:lnTo>
                  <a:pt x="229" y="86"/>
                </a:lnTo>
                <a:lnTo>
                  <a:pt x="213" y="78"/>
                </a:lnTo>
                <a:lnTo>
                  <a:pt x="196" y="71"/>
                </a:lnTo>
                <a:lnTo>
                  <a:pt x="180" y="63"/>
                </a:lnTo>
                <a:lnTo>
                  <a:pt x="164" y="56"/>
                </a:lnTo>
                <a:lnTo>
                  <a:pt x="147" y="48"/>
                </a:lnTo>
                <a:lnTo>
                  <a:pt x="131" y="41"/>
                </a:lnTo>
                <a:lnTo>
                  <a:pt x="114" y="35"/>
                </a:lnTo>
                <a:lnTo>
                  <a:pt x="98" y="29"/>
                </a:lnTo>
                <a:lnTo>
                  <a:pt x="82" y="23"/>
                </a:lnTo>
                <a:lnTo>
                  <a:pt x="65" y="18"/>
                </a:lnTo>
                <a:lnTo>
                  <a:pt x="49" y="15"/>
                </a:lnTo>
                <a:lnTo>
                  <a:pt x="33" y="12"/>
                </a:lnTo>
                <a:lnTo>
                  <a:pt x="16" y="10"/>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2057400" y="4933950"/>
            <a:ext cx="3743325" cy="1466850"/>
          </a:xfrm>
          <a:custGeom>
            <a:avLst/>
            <a:gdLst/>
            <a:ahLst/>
            <a:cxnLst/>
            <a:rect l="l" t="t" r="r" b="b"/>
            <a:pathLst>
              <a:path w="393" h="154">
                <a:moveTo>
                  <a:pt x="0" y="0"/>
                </a:moveTo>
                <a:lnTo>
                  <a:pt x="16" y="1"/>
                </a:lnTo>
                <a:lnTo>
                  <a:pt x="33" y="3"/>
                </a:lnTo>
                <a:lnTo>
                  <a:pt x="49" y="6"/>
                </a:lnTo>
                <a:lnTo>
                  <a:pt x="65" y="11"/>
                </a:lnTo>
                <a:lnTo>
                  <a:pt x="82" y="16"/>
                </a:lnTo>
                <a:lnTo>
                  <a:pt x="98" y="23"/>
                </a:lnTo>
                <a:lnTo>
                  <a:pt x="114" y="30"/>
                </a:lnTo>
                <a:lnTo>
                  <a:pt x="131" y="38"/>
                </a:lnTo>
                <a:lnTo>
                  <a:pt x="147" y="46"/>
                </a:lnTo>
                <a:lnTo>
                  <a:pt x="164" y="55"/>
                </a:lnTo>
                <a:lnTo>
                  <a:pt x="180" y="63"/>
                </a:lnTo>
                <a:lnTo>
                  <a:pt x="196" y="72"/>
                </a:lnTo>
                <a:lnTo>
                  <a:pt x="213" y="81"/>
                </a:lnTo>
                <a:lnTo>
                  <a:pt x="229" y="90"/>
                </a:lnTo>
                <a:lnTo>
                  <a:pt x="246" y="99"/>
                </a:lnTo>
                <a:lnTo>
                  <a:pt x="262" y="107"/>
                </a:lnTo>
                <a:lnTo>
                  <a:pt x="278" y="115"/>
                </a:lnTo>
                <a:lnTo>
                  <a:pt x="295" y="122"/>
                </a:lnTo>
                <a:lnTo>
                  <a:pt x="311" y="128"/>
                </a:lnTo>
                <a:lnTo>
                  <a:pt x="327" y="134"/>
                </a:lnTo>
                <a:lnTo>
                  <a:pt x="344" y="138"/>
                </a:lnTo>
                <a:lnTo>
                  <a:pt x="360" y="142"/>
                </a:lnTo>
                <a:lnTo>
                  <a:pt x="377" y="144"/>
                </a:lnTo>
                <a:lnTo>
                  <a:pt x="393" y="145"/>
                </a:lnTo>
                <a:lnTo>
                  <a:pt x="393" y="154"/>
                </a:lnTo>
                <a:lnTo>
                  <a:pt x="377" y="154"/>
                </a:lnTo>
                <a:lnTo>
                  <a:pt x="360" y="151"/>
                </a:lnTo>
                <a:lnTo>
                  <a:pt x="344" y="148"/>
                </a:lnTo>
                <a:lnTo>
                  <a:pt x="327" y="144"/>
                </a:lnTo>
                <a:lnTo>
                  <a:pt x="311" y="138"/>
                </a:lnTo>
                <a:lnTo>
                  <a:pt x="295" y="132"/>
                </a:lnTo>
                <a:lnTo>
                  <a:pt x="278" y="125"/>
                </a:lnTo>
                <a:lnTo>
                  <a:pt x="262" y="117"/>
                </a:lnTo>
                <a:lnTo>
                  <a:pt x="246" y="109"/>
                </a:lnTo>
                <a:lnTo>
                  <a:pt x="229" y="100"/>
                </a:lnTo>
                <a:lnTo>
                  <a:pt x="213" y="91"/>
                </a:lnTo>
                <a:lnTo>
                  <a:pt x="196" y="82"/>
                </a:lnTo>
                <a:lnTo>
                  <a:pt x="180" y="73"/>
                </a:lnTo>
                <a:lnTo>
                  <a:pt x="164" y="64"/>
                </a:lnTo>
                <a:lnTo>
                  <a:pt x="147" y="56"/>
                </a:lnTo>
                <a:lnTo>
                  <a:pt x="131" y="47"/>
                </a:lnTo>
                <a:lnTo>
                  <a:pt x="114" y="40"/>
                </a:lnTo>
                <a:lnTo>
                  <a:pt x="98" y="33"/>
                </a:lnTo>
                <a:lnTo>
                  <a:pt x="82" y="26"/>
                </a:lnTo>
                <a:lnTo>
                  <a:pt x="65" y="21"/>
                </a:lnTo>
                <a:lnTo>
                  <a:pt x="49" y="16"/>
                </a:lnTo>
                <a:lnTo>
                  <a:pt x="33" y="13"/>
                </a:lnTo>
                <a:lnTo>
                  <a:pt x="16" y="11"/>
                </a:lnTo>
                <a:lnTo>
                  <a:pt x="0" y="1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2057400" y="4486275"/>
            <a:ext cx="3743325" cy="714375"/>
          </a:xfrm>
          <a:custGeom>
            <a:avLst/>
            <a:gdLst/>
            <a:ahLst/>
            <a:cxnLst/>
            <a:rect l="l" t="t" r="r" b="b"/>
            <a:pathLst>
              <a:path w="393" h="75">
                <a:moveTo>
                  <a:pt x="0" y="63"/>
                </a:moveTo>
                <a:lnTo>
                  <a:pt x="16" y="63"/>
                </a:lnTo>
                <a:lnTo>
                  <a:pt x="33" y="62"/>
                </a:lnTo>
                <a:lnTo>
                  <a:pt x="49" y="60"/>
                </a:lnTo>
                <a:lnTo>
                  <a:pt x="65" y="58"/>
                </a:lnTo>
                <a:lnTo>
                  <a:pt x="82" y="56"/>
                </a:lnTo>
                <a:lnTo>
                  <a:pt x="98" y="53"/>
                </a:lnTo>
                <a:lnTo>
                  <a:pt x="114" y="50"/>
                </a:lnTo>
                <a:lnTo>
                  <a:pt x="131" y="47"/>
                </a:lnTo>
                <a:lnTo>
                  <a:pt x="147" y="43"/>
                </a:lnTo>
                <a:lnTo>
                  <a:pt x="164" y="39"/>
                </a:lnTo>
                <a:lnTo>
                  <a:pt x="180" y="35"/>
                </a:lnTo>
                <a:lnTo>
                  <a:pt x="196" y="32"/>
                </a:lnTo>
                <a:lnTo>
                  <a:pt x="213" y="28"/>
                </a:lnTo>
                <a:lnTo>
                  <a:pt x="229" y="24"/>
                </a:lnTo>
                <a:lnTo>
                  <a:pt x="246" y="20"/>
                </a:lnTo>
                <a:lnTo>
                  <a:pt x="262" y="16"/>
                </a:lnTo>
                <a:lnTo>
                  <a:pt x="278" y="13"/>
                </a:lnTo>
                <a:lnTo>
                  <a:pt x="295" y="10"/>
                </a:lnTo>
                <a:lnTo>
                  <a:pt x="311" y="7"/>
                </a:lnTo>
                <a:lnTo>
                  <a:pt x="327" y="5"/>
                </a:lnTo>
                <a:lnTo>
                  <a:pt x="344" y="3"/>
                </a:lnTo>
                <a:lnTo>
                  <a:pt x="360" y="1"/>
                </a:lnTo>
                <a:lnTo>
                  <a:pt x="377" y="1"/>
                </a:lnTo>
                <a:lnTo>
                  <a:pt x="393" y="0"/>
                </a:lnTo>
                <a:lnTo>
                  <a:pt x="393" y="12"/>
                </a:lnTo>
                <a:lnTo>
                  <a:pt x="377" y="12"/>
                </a:lnTo>
                <a:lnTo>
                  <a:pt x="360" y="13"/>
                </a:lnTo>
                <a:lnTo>
                  <a:pt x="344" y="15"/>
                </a:lnTo>
                <a:lnTo>
                  <a:pt x="327" y="17"/>
                </a:lnTo>
                <a:lnTo>
                  <a:pt x="311" y="19"/>
                </a:lnTo>
                <a:lnTo>
                  <a:pt x="295" y="22"/>
                </a:lnTo>
                <a:lnTo>
                  <a:pt x="278" y="25"/>
                </a:lnTo>
                <a:lnTo>
                  <a:pt x="262" y="28"/>
                </a:lnTo>
                <a:lnTo>
                  <a:pt x="246" y="32"/>
                </a:lnTo>
                <a:lnTo>
                  <a:pt x="229" y="36"/>
                </a:lnTo>
                <a:lnTo>
                  <a:pt x="213" y="39"/>
                </a:lnTo>
                <a:lnTo>
                  <a:pt x="196" y="43"/>
                </a:lnTo>
                <a:lnTo>
                  <a:pt x="180" y="47"/>
                </a:lnTo>
                <a:lnTo>
                  <a:pt x="164" y="51"/>
                </a:lnTo>
                <a:lnTo>
                  <a:pt x="147" y="55"/>
                </a:lnTo>
                <a:lnTo>
                  <a:pt x="131" y="58"/>
                </a:lnTo>
                <a:lnTo>
                  <a:pt x="114" y="62"/>
                </a:lnTo>
                <a:lnTo>
                  <a:pt x="98" y="65"/>
                </a:lnTo>
                <a:lnTo>
                  <a:pt x="82" y="68"/>
                </a:lnTo>
                <a:lnTo>
                  <a:pt x="65" y="70"/>
                </a:lnTo>
                <a:lnTo>
                  <a:pt x="49" y="72"/>
                </a:lnTo>
                <a:lnTo>
                  <a:pt x="33" y="73"/>
                </a:lnTo>
                <a:lnTo>
                  <a:pt x="16" y="74"/>
                </a:lnTo>
                <a:lnTo>
                  <a:pt x="0" y="7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2057400" y="4972050"/>
            <a:ext cx="3743325" cy="314325"/>
          </a:xfrm>
          <a:custGeom>
            <a:avLst/>
            <a:gdLst/>
            <a:ahLst/>
            <a:cxnLst/>
            <a:rect l="l" t="t" r="r" b="b"/>
            <a:pathLst>
              <a:path w="393" h="33">
                <a:moveTo>
                  <a:pt x="0" y="24"/>
                </a:moveTo>
                <a:lnTo>
                  <a:pt x="16" y="24"/>
                </a:lnTo>
                <a:lnTo>
                  <a:pt x="33" y="23"/>
                </a:lnTo>
                <a:lnTo>
                  <a:pt x="49" y="23"/>
                </a:lnTo>
                <a:lnTo>
                  <a:pt x="65" y="22"/>
                </a:lnTo>
                <a:lnTo>
                  <a:pt x="82" y="21"/>
                </a:lnTo>
                <a:lnTo>
                  <a:pt x="98" y="20"/>
                </a:lnTo>
                <a:lnTo>
                  <a:pt x="114" y="19"/>
                </a:lnTo>
                <a:lnTo>
                  <a:pt x="131" y="17"/>
                </a:lnTo>
                <a:lnTo>
                  <a:pt x="147" y="16"/>
                </a:lnTo>
                <a:lnTo>
                  <a:pt x="164" y="15"/>
                </a:lnTo>
                <a:lnTo>
                  <a:pt x="180" y="13"/>
                </a:lnTo>
                <a:lnTo>
                  <a:pt x="196" y="12"/>
                </a:lnTo>
                <a:lnTo>
                  <a:pt x="213" y="10"/>
                </a:lnTo>
                <a:lnTo>
                  <a:pt x="229" y="9"/>
                </a:lnTo>
                <a:lnTo>
                  <a:pt x="246" y="7"/>
                </a:lnTo>
                <a:lnTo>
                  <a:pt x="262" y="6"/>
                </a:lnTo>
                <a:lnTo>
                  <a:pt x="278" y="5"/>
                </a:lnTo>
                <a:lnTo>
                  <a:pt x="295" y="4"/>
                </a:lnTo>
                <a:lnTo>
                  <a:pt x="311" y="3"/>
                </a:lnTo>
                <a:lnTo>
                  <a:pt x="327" y="2"/>
                </a:lnTo>
                <a:lnTo>
                  <a:pt x="344" y="1"/>
                </a:lnTo>
                <a:lnTo>
                  <a:pt x="360" y="0"/>
                </a:lnTo>
                <a:lnTo>
                  <a:pt x="377" y="0"/>
                </a:lnTo>
                <a:lnTo>
                  <a:pt x="393" y="0"/>
                </a:lnTo>
                <a:lnTo>
                  <a:pt x="393" y="9"/>
                </a:lnTo>
                <a:lnTo>
                  <a:pt x="377" y="9"/>
                </a:lnTo>
                <a:lnTo>
                  <a:pt x="360" y="9"/>
                </a:lnTo>
                <a:lnTo>
                  <a:pt x="344" y="10"/>
                </a:lnTo>
                <a:lnTo>
                  <a:pt x="327" y="11"/>
                </a:lnTo>
                <a:lnTo>
                  <a:pt x="311" y="12"/>
                </a:lnTo>
                <a:lnTo>
                  <a:pt x="295" y="13"/>
                </a:lnTo>
                <a:lnTo>
                  <a:pt x="278" y="14"/>
                </a:lnTo>
                <a:lnTo>
                  <a:pt x="262" y="15"/>
                </a:lnTo>
                <a:lnTo>
                  <a:pt x="246" y="16"/>
                </a:lnTo>
                <a:lnTo>
                  <a:pt x="229" y="18"/>
                </a:lnTo>
                <a:lnTo>
                  <a:pt x="213" y="19"/>
                </a:lnTo>
                <a:lnTo>
                  <a:pt x="196" y="21"/>
                </a:lnTo>
                <a:lnTo>
                  <a:pt x="180" y="22"/>
                </a:lnTo>
                <a:lnTo>
                  <a:pt x="164" y="24"/>
                </a:lnTo>
                <a:lnTo>
                  <a:pt x="147" y="25"/>
                </a:lnTo>
                <a:lnTo>
                  <a:pt x="131" y="27"/>
                </a:lnTo>
                <a:lnTo>
                  <a:pt x="114" y="28"/>
                </a:lnTo>
                <a:lnTo>
                  <a:pt x="98" y="29"/>
                </a:lnTo>
                <a:lnTo>
                  <a:pt x="82" y="30"/>
                </a:lnTo>
                <a:lnTo>
                  <a:pt x="65" y="31"/>
                </a:lnTo>
                <a:lnTo>
                  <a:pt x="49" y="32"/>
                </a:lnTo>
                <a:lnTo>
                  <a:pt x="33" y="32"/>
                </a:lnTo>
                <a:lnTo>
                  <a:pt x="16" y="33"/>
                </a:lnTo>
                <a:lnTo>
                  <a:pt x="0" y="3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2057400" y="5286375"/>
            <a:ext cx="3743325" cy="171450"/>
          </a:xfrm>
          <a:custGeom>
            <a:avLst/>
            <a:gdLst/>
            <a:ahLst/>
            <a:cxnLst/>
            <a:rect l="l" t="t" r="r" b="b"/>
            <a:pathLst>
              <a:path w="393" h="18">
                <a:moveTo>
                  <a:pt x="0" y="0"/>
                </a:moveTo>
                <a:lnTo>
                  <a:pt x="16" y="0"/>
                </a:lnTo>
                <a:lnTo>
                  <a:pt x="33" y="0"/>
                </a:lnTo>
                <a:lnTo>
                  <a:pt x="49" y="0"/>
                </a:lnTo>
                <a:lnTo>
                  <a:pt x="65" y="1"/>
                </a:lnTo>
                <a:lnTo>
                  <a:pt x="82" y="1"/>
                </a:lnTo>
                <a:lnTo>
                  <a:pt x="98" y="2"/>
                </a:lnTo>
                <a:lnTo>
                  <a:pt x="114" y="2"/>
                </a:lnTo>
                <a:lnTo>
                  <a:pt x="131" y="3"/>
                </a:lnTo>
                <a:lnTo>
                  <a:pt x="147" y="4"/>
                </a:lnTo>
                <a:lnTo>
                  <a:pt x="164" y="4"/>
                </a:lnTo>
                <a:lnTo>
                  <a:pt x="180" y="5"/>
                </a:lnTo>
                <a:lnTo>
                  <a:pt x="196" y="6"/>
                </a:lnTo>
                <a:lnTo>
                  <a:pt x="213" y="7"/>
                </a:lnTo>
                <a:lnTo>
                  <a:pt x="229" y="7"/>
                </a:lnTo>
                <a:lnTo>
                  <a:pt x="246" y="8"/>
                </a:lnTo>
                <a:lnTo>
                  <a:pt x="262" y="9"/>
                </a:lnTo>
                <a:lnTo>
                  <a:pt x="278" y="9"/>
                </a:lnTo>
                <a:lnTo>
                  <a:pt x="295" y="10"/>
                </a:lnTo>
                <a:lnTo>
                  <a:pt x="311" y="10"/>
                </a:lnTo>
                <a:lnTo>
                  <a:pt x="327" y="11"/>
                </a:lnTo>
                <a:lnTo>
                  <a:pt x="344" y="11"/>
                </a:lnTo>
                <a:lnTo>
                  <a:pt x="360" y="12"/>
                </a:lnTo>
                <a:lnTo>
                  <a:pt x="377" y="12"/>
                </a:lnTo>
                <a:lnTo>
                  <a:pt x="393" y="12"/>
                </a:lnTo>
                <a:lnTo>
                  <a:pt x="393" y="18"/>
                </a:lnTo>
                <a:lnTo>
                  <a:pt x="377" y="18"/>
                </a:lnTo>
                <a:lnTo>
                  <a:pt x="360" y="17"/>
                </a:lnTo>
                <a:lnTo>
                  <a:pt x="344" y="17"/>
                </a:lnTo>
                <a:lnTo>
                  <a:pt x="327" y="17"/>
                </a:lnTo>
                <a:lnTo>
                  <a:pt x="311" y="16"/>
                </a:lnTo>
                <a:lnTo>
                  <a:pt x="295" y="16"/>
                </a:lnTo>
                <a:lnTo>
                  <a:pt x="278" y="15"/>
                </a:lnTo>
                <a:lnTo>
                  <a:pt x="262" y="15"/>
                </a:lnTo>
                <a:lnTo>
                  <a:pt x="246" y="14"/>
                </a:lnTo>
                <a:lnTo>
                  <a:pt x="229" y="13"/>
                </a:lnTo>
                <a:lnTo>
                  <a:pt x="213" y="12"/>
                </a:lnTo>
                <a:lnTo>
                  <a:pt x="196" y="12"/>
                </a:lnTo>
                <a:lnTo>
                  <a:pt x="180" y="11"/>
                </a:lnTo>
                <a:lnTo>
                  <a:pt x="164" y="10"/>
                </a:lnTo>
                <a:lnTo>
                  <a:pt x="147" y="9"/>
                </a:lnTo>
                <a:lnTo>
                  <a:pt x="131" y="9"/>
                </a:lnTo>
                <a:lnTo>
                  <a:pt x="114" y="8"/>
                </a:lnTo>
                <a:lnTo>
                  <a:pt x="98" y="7"/>
                </a:lnTo>
                <a:lnTo>
                  <a:pt x="82" y="7"/>
                </a:lnTo>
                <a:lnTo>
                  <a:pt x="65" y="6"/>
                </a:lnTo>
                <a:lnTo>
                  <a:pt x="49" y="6"/>
                </a:lnTo>
                <a:lnTo>
                  <a:pt x="33" y="6"/>
                </a:lnTo>
                <a:lnTo>
                  <a:pt x="16" y="6"/>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2057400" y="5343525"/>
            <a:ext cx="3743325" cy="504825"/>
          </a:xfrm>
          <a:custGeom>
            <a:avLst/>
            <a:gdLst/>
            <a:ahLst/>
            <a:cxnLst/>
            <a:rect l="l" t="t" r="r" b="b"/>
            <a:pathLst>
              <a:path w="393" h="53">
                <a:moveTo>
                  <a:pt x="0" y="0"/>
                </a:moveTo>
                <a:lnTo>
                  <a:pt x="16" y="0"/>
                </a:lnTo>
                <a:lnTo>
                  <a:pt x="33" y="1"/>
                </a:lnTo>
                <a:lnTo>
                  <a:pt x="49" y="2"/>
                </a:lnTo>
                <a:lnTo>
                  <a:pt x="65" y="3"/>
                </a:lnTo>
                <a:lnTo>
                  <a:pt x="82" y="5"/>
                </a:lnTo>
                <a:lnTo>
                  <a:pt x="98" y="7"/>
                </a:lnTo>
                <a:lnTo>
                  <a:pt x="114" y="9"/>
                </a:lnTo>
                <a:lnTo>
                  <a:pt x="131" y="12"/>
                </a:lnTo>
                <a:lnTo>
                  <a:pt x="147" y="14"/>
                </a:lnTo>
                <a:lnTo>
                  <a:pt x="164" y="17"/>
                </a:lnTo>
                <a:lnTo>
                  <a:pt x="180" y="20"/>
                </a:lnTo>
                <a:lnTo>
                  <a:pt x="196" y="23"/>
                </a:lnTo>
                <a:lnTo>
                  <a:pt x="213" y="26"/>
                </a:lnTo>
                <a:lnTo>
                  <a:pt x="229" y="29"/>
                </a:lnTo>
                <a:lnTo>
                  <a:pt x="246" y="31"/>
                </a:lnTo>
                <a:lnTo>
                  <a:pt x="262" y="34"/>
                </a:lnTo>
                <a:lnTo>
                  <a:pt x="278" y="36"/>
                </a:lnTo>
                <a:lnTo>
                  <a:pt x="295" y="39"/>
                </a:lnTo>
                <a:lnTo>
                  <a:pt x="311" y="41"/>
                </a:lnTo>
                <a:lnTo>
                  <a:pt x="327" y="42"/>
                </a:lnTo>
                <a:lnTo>
                  <a:pt x="344" y="44"/>
                </a:lnTo>
                <a:lnTo>
                  <a:pt x="360" y="45"/>
                </a:lnTo>
                <a:lnTo>
                  <a:pt x="377" y="46"/>
                </a:lnTo>
                <a:lnTo>
                  <a:pt x="393" y="46"/>
                </a:lnTo>
                <a:lnTo>
                  <a:pt x="393" y="53"/>
                </a:lnTo>
                <a:lnTo>
                  <a:pt x="377" y="52"/>
                </a:lnTo>
                <a:lnTo>
                  <a:pt x="360" y="52"/>
                </a:lnTo>
                <a:lnTo>
                  <a:pt x="344" y="51"/>
                </a:lnTo>
                <a:lnTo>
                  <a:pt x="327" y="49"/>
                </a:lnTo>
                <a:lnTo>
                  <a:pt x="311" y="47"/>
                </a:lnTo>
                <a:lnTo>
                  <a:pt x="295" y="45"/>
                </a:lnTo>
                <a:lnTo>
                  <a:pt x="278" y="43"/>
                </a:lnTo>
                <a:lnTo>
                  <a:pt x="262" y="41"/>
                </a:lnTo>
                <a:lnTo>
                  <a:pt x="246" y="38"/>
                </a:lnTo>
                <a:lnTo>
                  <a:pt x="229" y="35"/>
                </a:lnTo>
                <a:lnTo>
                  <a:pt x="213" y="32"/>
                </a:lnTo>
                <a:lnTo>
                  <a:pt x="196" y="29"/>
                </a:lnTo>
                <a:lnTo>
                  <a:pt x="180" y="27"/>
                </a:lnTo>
                <a:lnTo>
                  <a:pt x="164" y="24"/>
                </a:lnTo>
                <a:lnTo>
                  <a:pt x="147" y="21"/>
                </a:lnTo>
                <a:lnTo>
                  <a:pt x="131" y="18"/>
                </a:lnTo>
                <a:lnTo>
                  <a:pt x="114" y="16"/>
                </a:lnTo>
                <a:lnTo>
                  <a:pt x="98" y="14"/>
                </a:lnTo>
                <a:lnTo>
                  <a:pt x="82" y="12"/>
                </a:lnTo>
                <a:lnTo>
                  <a:pt x="65" y="10"/>
                </a:lnTo>
                <a:lnTo>
                  <a:pt x="49" y="8"/>
                </a:lnTo>
                <a:lnTo>
                  <a:pt x="33" y="7"/>
                </a:lnTo>
                <a:lnTo>
                  <a:pt x="16" y="7"/>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2057400" y="5400675"/>
            <a:ext cx="3743325" cy="752475"/>
          </a:xfrm>
          <a:custGeom>
            <a:avLst/>
            <a:gdLst/>
            <a:ahLst/>
            <a:cxnLst/>
            <a:rect l="l" t="t" r="r" b="b"/>
            <a:pathLst>
              <a:path w="393" h="79">
                <a:moveTo>
                  <a:pt x="0" y="0"/>
                </a:moveTo>
                <a:lnTo>
                  <a:pt x="16" y="1"/>
                </a:lnTo>
                <a:lnTo>
                  <a:pt x="33" y="2"/>
                </a:lnTo>
                <a:lnTo>
                  <a:pt x="49" y="4"/>
                </a:lnTo>
                <a:lnTo>
                  <a:pt x="65" y="6"/>
                </a:lnTo>
                <a:lnTo>
                  <a:pt x="82" y="9"/>
                </a:lnTo>
                <a:lnTo>
                  <a:pt x="98" y="12"/>
                </a:lnTo>
                <a:lnTo>
                  <a:pt x="114" y="16"/>
                </a:lnTo>
                <a:lnTo>
                  <a:pt x="131" y="20"/>
                </a:lnTo>
                <a:lnTo>
                  <a:pt x="147" y="24"/>
                </a:lnTo>
                <a:lnTo>
                  <a:pt x="164" y="28"/>
                </a:lnTo>
                <a:lnTo>
                  <a:pt x="180" y="33"/>
                </a:lnTo>
                <a:lnTo>
                  <a:pt x="196" y="37"/>
                </a:lnTo>
                <a:lnTo>
                  <a:pt x="213" y="42"/>
                </a:lnTo>
                <a:lnTo>
                  <a:pt x="229" y="46"/>
                </a:lnTo>
                <a:lnTo>
                  <a:pt x="246" y="51"/>
                </a:lnTo>
                <a:lnTo>
                  <a:pt x="262" y="55"/>
                </a:lnTo>
                <a:lnTo>
                  <a:pt x="278" y="59"/>
                </a:lnTo>
                <a:lnTo>
                  <a:pt x="295" y="63"/>
                </a:lnTo>
                <a:lnTo>
                  <a:pt x="311" y="66"/>
                </a:lnTo>
                <a:lnTo>
                  <a:pt x="327" y="69"/>
                </a:lnTo>
                <a:lnTo>
                  <a:pt x="344" y="71"/>
                </a:lnTo>
                <a:lnTo>
                  <a:pt x="360" y="73"/>
                </a:lnTo>
                <a:lnTo>
                  <a:pt x="377" y="74"/>
                </a:lnTo>
                <a:lnTo>
                  <a:pt x="393" y="74"/>
                </a:lnTo>
                <a:lnTo>
                  <a:pt x="393" y="79"/>
                </a:lnTo>
                <a:lnTo>
                  <a:pt x="377" y="79"/>
                </a:lnTo>
                <a:lnTo>
                  <a:pt x="360" y="78"/>
                </a:lnTo>
                <a:lnTo>
                  <a:pt x="344" y="76"/>
                </a:lnTo>
                <a:lnTo>
                  <a:pt x="327" y="74"/>
                </a:lnTo>
                <a:lnTo>
                  <a:pt x="311" y="71"/>
                </a:lnTo>
                <a:lnTo>
                  <a:pt x="295" y="68"/>
                </a:lnTo>
                <a:lnTo>
                  <a:pt x="278" y="64"/>
                </a:lnTo>
                <a:lnTo>
                  <a:pt x="262" y="60"/>
                </a:lnTo>
                <a:lnTo>
                  <a:pt x="246" y="56"/>
                </a:lnTo>
                <a:lnTo>
                  <a:pt x="229" y="51"/>
                </a:lnTo>
                <a:lnTo>
                  <a:pt x="213" y="47"/>
                </a:lnTo>
                <a:lnTo>
                  <a:pt x="196" y="42"/>
                </a:lnTo>
                <a:lnTo>
                  <a:pt x="180" y="38"/>
                </a:lnTo>
                <a:lnTo>
                  <a:pt x="164" y="33"/>
                </a:lnTo>
                <a:lnTo>
                  <a:pt x="147" y="29"/>
                </a:lnTo>
                <a:lnTo>
                  <a:pt x="131" y="24"/>
                </a:lnTo>
                <a:lnTo>
                  <a:pt x="114" y="20"/>
                </a:lnTo>
                <a:lnTo>
                  <a:pt x="98" y="17"/>
                </a:lnTo>
                <a:lnTo>
                  <a:pt x="82" y="13"/>
                </a:lnTo>
                <a:lnTo>
                  <a:pt x="65" y="11"/>
                </a:lnTo>
                <a:lnTo>
                  <a:pt x="49" y="8"/>
                </a:lnTo>
                <a:lnTo>
                  <a:pt x="33" y="7"/>
                </a:lnTo>
                <a:lnTo>
                  <a:pt x="16" y="6"/>
                </a:lnTo>
                <a:lnTo>
                  <a:pt x="0" y="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2057400" y="5448300"/>
            <a:ext cx="3743325" cy="990600"/>
          </a:xfrm>
          <a:custGeom>
            <a:avLst/>
            <a:gdLst/>
            <a:ahLst/>
            <a:cxnLst/>
            <a:rect l="l" t="t" r="r" b="b"/>
            <a:pathLst>
              <a:path w="393" h="104">
                <a:moveTo>
                  <a:pt x="0" y="0"/>
                </a:moveTo>
                <a:lnTo>
                  <a:pt x="16" y="1"/>
                </a:lnTo>
                <a:lnTo>
                  <a:pt x="33" y="2"/>
                </a:lnTo>
                <a:lnTo>
                  <a:pt x="49" y="4"/>
                </a:lnTo>
                <a:lnTo>
                  <a:pt x="65" y="8"/>
                </a:lnTo>
                <a:lnTo>
                  <a:pt x="82" y="11"/>
                </a:lnTo>
                <a:lnTo>
                  <a:pt x="98" y="16"/>
                </a:lnTo>
                <a:lnTo>
                  <a:pt x="114" y="21"/>
                </a:lnTo>
                <a:lnTo>
                  <a:pt x="131" y="26"/>
                </a:lnTo>
                <a:lnTo>
                  <a:pt x="147" y="32"/>
                </a:lnTo>
                <a:lnTo>
                  <a:pt x="164" y="38"/>
                </a:lnTo>
                <a:lnTo>
                  <a:pt x="180" y="44"/>
                </a:lnTo>
                <a:lnTo>
                  <a:pt x="196" y="50"/>
                </a:lnTo>
                <a:lnTo>
                  <a:pt x="213" y="56"/>
                </a:lnTo>
                <a:lnTo>
                  <a:pt x="229" y="63"/>
                </a:lnTo>
                <a:lnTo>
                  <a:pt x="246" y="69"/>
                </a:lnTo>
                <a:lnTo>
                  <a:pt x="262" y="74"/>
                </a:lnTo>
                <a:lnTo>
                  <a:pt x="278" y="80"/>
                </a:lnTo>
                <a:lnTo>
                  <a:pt x="295" y="85"/>
                </a:lnTo>
                <a:lnTo>
                  <a:pt x="311" y="89"/>
                </a:lnTo>
                <a:lnTo>
                  <a:pt x="327" y="93"/>
                </a:lnTo>
                <a:lnTo>
                  <a:pt x="344" y="96"/>
                </a:lnTo>
                <a:lnTo>
                  <a:pt x="360" y="98"/>
                </a:lnTo>
                <a:lnTo>
                  <a:pt x="377" y="100"/>
                </a:lnTo>
                <a:lnTo>
                  <a:pt x="393" y="100"/>
                </a:lnTo>
                <a:lnTo>
                  <a:pt x="393" y="104"/>
                </a:lnTo>
                <a:lnTo>
                  <a:pt x="377" y="104"/>
                </a:lnTo>
                <a:lnTo>
                  <a:pt x="360" y="102"/>
                </a:lnTo>
                <a:lnTo>
                  <a:pt x="344" y="100"/>
                </a:lnTo>
                <a:lnTo>
                  <a:pt x="327" y="97"/>
                </a:lnTo>
                <a:lnTo>
                  <a:pt x="311" y="93"/>
                </a:lnTo>
                <a:lnTo>
                  <a:pt x="295" y="89"/>
                </a:lnTo>
                <a:lnTo>
                  <a:pt x="278" y="84"/>
                </a:lnTo>
                <a:lnTo>
                  <a:pt x="262" y="78"/>
                </a:lnTo>
                <a:lnTo>
                  <a:pt x="246" y="72"/>
                </a:lnTo>
                <a:lnTo>
                  <a:pt x="229" y="67"/>
                </a:lnTo>
                <a:lnTo>
                  <a:pt x="213" y="60"/>
                </a:lnTo>
                <a:lnTo>
                  <a:pt x="196" y="54"/>
                </a:lnTo>
                <a:lnTo>
                  <a:pt x="180" y="48"/>
                </a:lnTo>
                <a:lnTo>
                  <a:pt x="164" y="42"/>
                </a:lnTo>
                <a:lnTo>
                  <a:pt x="147" y="36"/>
                </a:lnTo>
                <a:lnTo>
                  <a:pt x="131" y="30"/>
                </a:lnTo>
                <a:lnTo>
                  <a:pt x="114" y="25"/>
                </a:lnTo>
                <a:lnTo>
                  <a:pt x="98" y="20"/>
                </a:lnTo>
                <a:lnTo>
                  <a:pt x="82" y="15"/>
                </a:lnTo>
                <a:lnTo>
                  <a:pt x="65" y="11"/>
                </a:lnTo>
                <a:lnTo>
                  <a:pt x="49" y="8"/>
                </a:lnTo>
                <a:lnTo>
                  <a:pt x="33" y="6"/>
                </a:lnTo>
                <a:lnTo>
                  <a:pt x="16" y="5"/>
                </a:lnTo>
                <a:lnTo>
                  <a:pt x="0" y="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2057400" y="4600575"/>
            <a:ext cx="3743325" cy="1009650"/>
          </a:xfrm>
          <a:custGeom>
            <a:avLst/>
            <a:gdLst/>
            <a:ahLst/>
            <a:cxnLst/>
            <a:rect l="l" t="t" r="r" b="b"/>
            <a:pathLst>
              <a:path w="393" h="106">
                <a:moveTo>
                  <a:pt x="0" y="99"/>
                </a:moveTo>
                <a:lnTo>
                  <a:pt x="16" y="99"/>
                </a:lnTo>
                <a:lnTo>
                  <a:pt x="33" y="97"/>
                </a:lnTo>
                <a:lnTo>
                  <a:pt x="49" y="95"/>
                </a:lnTo>
                <a:lnTo>
                  <a:pt x="65" y="92"/>
                </a:lnTo>
                <a:lnTo>
                  <a:pt x="82" y="88"/>
                </a:lnTo>
                <a:lnTo>
                  <a:pt x="98" y="84"/>
                </a:lnTo>
                <a:lnTo>
                  <a:pt x="114" y="79"/>
                </a:lnTo>
                <a:lnTo>
                  <a:pt x="131" y="73"/>
                </a:lnTo>
                <a:lnTo>
                  <a:pt x="147" y="68"/>
                </a:lnTo>
                <a:lnTo>
                  <a:pt x="164" y="62"/>
                </a:lnTo>
                <a:lnTo>
                  <a:pt x="180" y="56"/>
                </a:lnTo>
                <a:lnTo>
                  <a:pt x="196" y="49"/>
                </a:lnTo>
                <a:lnTo>
                  <a:pt x="213" y="43"/>
                </a:lnTo>
                <a:lnTo>
                  <a:pt x="229" y="37"/>
                </a:lnTo>
                <a:lnTo>
                  <a:pt x="246" y="31"/>
                </a:lnTo>
                <a:lnTo>
                  <a:pt x="262" y="26"/>
                </a:lnTo>
                <a:lnTo>
                  <a:pt x="278" y="20"/>
                </a:lnTo>
                <a:lnTo>
                  <a:pt x="295" y="15"/>
                </a:lnTo>
                <a:lnTo>
                  <a:pt x="311" y="11"/>
                </a:lnTo>
                <a:lnTo>
                  <a:pt x="327" y="7"/>
                </a:lnTo>
                <a:lnTo>
                  <a:pt x="344" y="4"/>
                </a:lnTo>
                <a:lnTo>
                  <a:pt x="360" y="2"/>
                </a:lnTo>
                <a:lnTo>
                  <a:pt x="377" y="0"/>
                </a:lnTo>
                <a:lnTo>
                  <a:pt x="393" y="0"/>
                </a:lnTo>
                <a:lnTo>
                  <a:pt x="393" y="7"/>
                </a:lnTo>
                <a:lnTo>
                  <a:pt x="377" y="8"/>
                </a:lnTo>
                <a:lnTo>
                  <a:pt x="360" y="9"/>
                </a:lnTo>
                <a:lnTo>
                  <a:pt x="344" y="11"/>
                </a:lnTo>
                <a:lnTo>
                  <a:pt x="327" y="15"/>
                </a:lnTo>
                <a:lnTo>
                  <a:pt x="311" y="18"/>
                </a:lnTo>
                <a:lnTo>
                  <a:pt x="295" y="23"/>
                </a:lnTo>
                <a:lnTo>
                  <a:pt x="278" y="28"/>
                </a:lnTo>
                <a:lnTo>
                  <a:pt x="262" y="33"/>
                </a:lnTo>
                <a:lnTo>
                  <a:pt x="246" y="39"/>
                </a:lnTo>
                <a:lnTo>
                  <a:pt x="229" y="44"/>
                </a:lnTo>
                <a:lnTo>
                  <a:pt x="213" y="51"/>
                </a:lnTo>
                <a:lnTo>
                  <a:pt x="196" y="57"/>
                </a:lnTo>
                <a:lnTo>
                  <a:pt x="180" y="63"/>
                </a:lnTo>
                <a:lnTo>
                  <a:pt x="164" y="69"/>
                </a:lnTo>
                <a:lnTo>
                  <a:pt x="147" y="75"/>
                </a:lnTo>
                <a:lnTo>
                  <a:pt x="131" y="81"/>
                </a:lnTo>
                <a:lnTo>
                  <a:pt x="114" y="86"/>
                </a:lnTo>
                <a:lnTo>
                  <a:pt x="98" y="91"/>
                </a:lnTo>
                <a:lnTo>
                  <a:pt x="82" y="95"/>
                </a:lnTo>
                <a:lnTo>
                  <a:pt x="65" y="99"/>
                </a:lnTo>
                <a:lnTo>
                  <a:pt x="49" y="102"/>
                </a:lnTo>
                <a:lnTo>
                  <a:pt x="33" y="104"/>
                </a:lnTo>
                <a:lnTo>
                  <a:pt x="16" y="106"/>
                </a:lnTo>
                <a:lnTo>
                  <a:pt x="0" y="10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2057400" y="5057775"/>
            <a:ext cx="3743325" cy="647700"/>
          </a:xfrm>
          <a:custGeom>
            <a:avLst/>
            <a:gdLst/>
            <a:ahLst/>
            <a:cxnLst/>
            <a:rect l="l" t="t" r="r" b="b"/>
            <a:pathLst>
              <a:path w="393" h="68">
                <a:moveTo>
                  <a:pt x="0" y="58"/>
                </a:moveTo>
                <a:lnTo>
                  <a:pt x="16" y="58"/>
                </a:lnTo>
                <a:lnTo>
                  <a:pt x="33" y="57"/>
                </a:lnTo>
                <a:lnTo>
                  <a:pt x="49" y="56"/>
                </a:lnTo>
                <a:lnTo>
                  <a:pt x="65" y="54"/>
                </a:lnTo>
                <a:lnTo>
                  <a:pt x="82" y="52"/>
                </a:lnTo>
                <a:lnTo>
                  <a:pt x="98" y="49"/>
                </a:lnTo>
                <a:lnTo>
                  <a:pt x="114" y="46"/>
                </a:lnTo>
                <a:lnTo>
                  <a:pt x="131" y="43"/>
                </a:lnTo>
                <a:lnTo>
                  <a:pt x="147" y="40"/>
                </a:lnTo>
                <a:lnTo>
                  <a:pt x="164" y="36"/>
                </a:lnTo>
                <a:lnTo>
                  <a:pt x="180" y="33"/>
                </a:lnTo>
                <a:lnTo>
                  <a:pt x="196" y="29"/>
                </a:lnTo>
                <a:lnTo>
                  <a:pt x="213" y="25"/>
                </a:lnTo>
                <a:lnTo>
                  <a:pt x="229" y="22"/>
                </a:lnTo>
                <a:lnTo>
                  <a:pt x="246" y="18"/>
                </a:lnTo>
                <a:lnTo>
                  <a:pt x="262" y="15"/>
                </a:lnTo>
                <a:lnTo>
                  <a:pt x="278" y="12"/>
                </a:lnTo>
                <a:lnTo>
                  <a:pt x="295" y="9"/>
                </a:lnTo>
                <a:lnTo>
                  <a:pt x="311" y="6"/>
                </a:lnTo>
                <a:lnTo>
                  <a:pt x="327" y="4"/>
                </a:lnTo>
                <a:lnTo>
                  <a:pt x="344" y="2"/>
                </a:lnTo>
                <a:lnTo>
                  <a:pt x="360" y="1"/>
                </a:lnTo>
                <a:lnTo>
                  <a:pt x="377" y="0"/>
                </a:lnTo>
                <a:lnTo>
                  <a:pt x="393" y="0"/>
                </a:lnTo>
                <a:lnTo>
                  <a:pt x="393" y="10"/>
                </a:lnTo>
                <a:lnTo>
                  <a:pt x="377" y="10"/>
                </a:lnTo>
                <a:lnTo>
                  <a:pt x="360" y="11"/>
                </a:lnTo>
                <a:lnTo>
                  <a:pt x="344" y="12"/>
                </a:lnTo>
                <a:lnTo>
                  <a:pt x="327" y="14"/>
                </a:lnTo>
                <a:lnTo>
                  <a:pt x="311" y="16"/>
                </a:lnTo>
                <a:lnTo>
                  <a:pt x="295" y="19"/>
                </a:lnTo>
                <a:lnTo>
                  <a:pt x="278" y="22"/>
                </a:lnTo>
                <a:lnTo>
                  <a:pt x="262" y="25"/>
                </a:lnTo>
                <a:lnTo>
                  <a:pt x="246" y="28"/>
                </a:lnTo>
                <a:lnTo>
                  <a:pt x="229" y="32"/>
                </a:lnTo>
                <a:lnTo>
                  <a:pt x="213" y="35"/>
                </a:lnTo>
                <a:lnTo>
                  <a:pt x="196" y="39"/>
                </a:lnTo>
                <a:lnTo>
                  <a:pt x="180" y="43"/>
                </a:lnTo>
                <a:lnTo>
                  <a:pt x="164" y="46"/>
                </a:lnTo>
                <a:lnTo>
                  <a:pt x="147" y="50"/>
                </a:lnTo>
                <a:lnTo>
                  <a:pt x="131" y="53"/>
                </a:lnTo>
                <a:lnTo>
                  <a:pt x="114" y="56"/>
                </a:lnTo>
                <a:lnTo>
                  <a:pt x="98" y="59"/>
                </a:lnTo>
                <a:lnTo>
                  <a:pt x="82" y="62"/>
                </a:lnTo>
                <a:lnTo>
                  <a:pt x="65" y="64"/>
                </a:lnTo>
                <a:lnTo>
                  <a:pt x="49" y="66"/>
                </a:lnTo>
                <a:lnTo>
                  <a:pt x="33" y="67"/>
                </a:lnTo>
                <a:lnTo>
                  <a:pt x="16" y="68"/>
                </a:lnTo>
                <a:lnTo>
                  <a:pt x="0" y="6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reeform 29"/>
          <p:cNvSpPr/>
          <p:nvPr/>
        </p:nvSpPr>
        <p:spPr>
          <a:xfrm>
            <a:off x="2057400" y="5457825"/>
            <a:ext cx="3743325" cy="314325"/>
          </a:xfrm>
          <a:custGeom>
            <a:avLst/>
            <a:gdLst/>
            <a:ahLst/>
            <a:cxnLst/>
            <a:rect l="l" t="t" r="r" b="b"/>
            <a:pathLst>
              <a:path w="393" h="33">
                <a:moveTo>
                  <a:pt x="0" y="26"/>
                </a:moveTo>
                <a:lnTo>
                  <a:pt x="16" y="26"/>
                </a:lnTo>
                <a:lnTo>
                  <a:pt x="33" y="26"/>
                </a:lnTo>
                <a:lnTo>
                  <a:pt x="49" y="25"/>
                </a:lnTo>
                <a:lnTo>
                  <a:pt x="65" y="24"/>
                </a:lnTo>
                <a:lnTo>
                  <a:pt x="82" y="23"/>
                </a:lnTo>
                <a:lnTo>
                  <a:pt x="98" y="22"/>
                </a:lnTo>
                <a:lnTo>
                  <a:pt x="114" y="21"/>
                </a:lnTo>
                <a:lnTo>
                  <a:pt x="131" y="19"/>
                </a:lnTo>
                <a:lnTo>
                  <a:pt x="147" y="18"/>
                </a:lnTo>
                <a:lnTo>
                  <a:pt x="164" y="16"/>
                </a:lnTo>
                <a:lnTo>
                  <a:pt x="180" y="15"/>
                </a:lnTo>
                <a:lnTo>
                  <a:pt x="196" y="13"/>
                </a:lnTo>
                <a:lnTo>
                  <a:pt x="213" y="11"/>
                </a:lnTo>
                <a:lnTo>
                  <a:pt x="229" y="10"/>
                </a:lnTo>
                <a:lnTo>
                  <a:pt x="246" y="8"/>
                </a:lnTo>
                <a:lnTo>
                  <a:pt x="262" y="7"/>
                </a:lnTo>
                <a:lnTo>
                  <a:pt x="278" y="5"/>
                </a:lnTo>
                <a:lnTo>
                  <a:pt x="295" y="4"/>
                </a:lnTo>
                <a:lnTo>
                  <a:pt x="311" y="3"/>
                </a:lnTo>
                <a:lnTo>
                  <a:pt x="327" y="2"/>
                </a:lnTo>
                <a:lnTo>
                  <a:pt x="344" y="1"/>
                </a:lnTo>
                <a:lnTo>
                  <a:pt x="360" y="0"/>
                </a:lnTo>
                <a:lnTo>
                  <a:pt x="377" y="0"/>
                </a:lnTo>
                <a:lnTo>
                  <a:pt x="393" y="0"/>
                </a:lnTo>
                <a:lnTo>
                  <a:pt x="393" y="7"/>
                </a:lnTo>
                <a:lnTo>
                  <a:pt x="377" y="7"/>
                </a:lnTo>
                <a:lnTo>
                  <a:pt x="360" y="8"/>
                </a:lnTo>
                <a:lnTo>
                  <a:pt x="344" y="8"/>
                </a:lnTo>
                <a:lnTo>
                  <a:pt x="327" y="9"/>
                </a:lnTo>
                <a:lnTo>
                  <a:pt x="311" y="10"/>
                </a:lnTo>
                <a:lnTo>
                  <a:pt x="295" y="11"/>
                </a:lnTo>
                <a:lnTo>
                  <a:pt x="278" y="12"/>
                </a:lnTo>
                <a:lnTo>
                  <a:pt x="262" y="14"/>
                </a:lnTo>
                <a:lnTo>
                  <a:pt x="246" y="15"/>
                </a:lnTo>
                <a:lnTo>
                  <a:pt x="229" y="17"/>
                </a:lnTo>
                <a:lnTo>
                  <a:pt x="213" y="19"/>
                </a:lnTo>
                <a:lnTo>
                  <a:pt x="196" y="20"/>
                </a:lnTo>
                <a:lnTo>
                  <a:pt x="180" y="22"/>
                </a:lnTo>
                <a:lnTo>
                  <a:pt x="164" y="24"/>
                </a:lnTo>
                <a:lnTo>
                  <a:pt x="147" y="25"/>
                </a:lnTo>
                <a:lnTo>
                  <a:pt x="131" y="27"/>
                </a:lnTo>
                <a:lnTo>
                  <a:pt x="114" y="28"/>
                </a:lnTo>
                <a:lnTo>
                  <a:pt x="98" y="29"/>
                </a:lnTo>
                <a:lnTo>
                  <a:pt x="82" y="31"/>
                </a:lnTo>
                <a:lnTo>
                  <a:pt x="65" y="32"/>
                </a:lnTo>
                <a:lnTo>
                  <a:pt x="49" y="32"/>
                </a:lnTo>
                <a:lnTo>
                  <a:pt x="33" y="33"/>
                </a:lnTo>
                <a:lnTo>
                  <a:pt x="16" y="33"/>
                </a:lnTo>
                <a:lnTo>
                  <a:pt x="0" y="3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Freeform 30"/>
          <p:cNvSpPr/>
          <p:nvPr/>
        </p:nvSpPr>
        <p:spPr>
          <a:xfrm>
            <a:off x="2057400" y="5772150"/>
            <a:ext cx="3743325" cy="123825"/>
          </a:xfrm>
          <a:custGeom>
            <a:avLst/>
            <a:gdLst/>
            <a:ahLst/>
            <a:cxnLst/>
            <a:rect l="l" t="t" r="r" b="b"/>
            <a:pathLst>
              <a:path w="393" h="13">
                <a:moveTo>
                  <a:pt x="0" y="0"/>
                </a:moveTo>
                <a:lnTo>
                  <a:pt x="16" y="1"/>
                </a:lnTo>
                <a:lnTo>
                  <a:pt x="33" y="1"/>
                </a:lnTo>
                <a:lnTo>
                  <a:pt x="49" y="1"/>
                </a:lnTo>
                <a:lnTo>
                  <a:pt x="65" y="1"/>
                </a:lnTo>
                <a:lnTo>
                  <a:pt x="82" y="1"/>
                </a:lnTo>
                <a:lnTo>
                  <a:pt x="98" y="2"/>
                </a:lnTo>
                <a:lnTo>
                  <a:pt x="114" y="2"/>
                </a:lnTo>
                <a:lnTo>
                  <a:pt x="131" y="2"/>
                </a:lnTo>
                <a:lnTo>
                  <a:pt x="147" y="3"/>
                </a:lnTo>
                <a:lnTo>
                  <a:pt x="164" y="3"/>
                </a:lnTo>
                <a:lnTo>
                  <a:pt x="180" y="4"/>
                </a:lnTo>
                <a:lnTo>
                  <a:pt x="196" y="4"/>
                </a:lnTo>
                <a:lnTo>
                  <a:pt x="213" y="5"/>
                </a:lnTo>
                <a:lnTo>
                  <a:pt x="229" y="5"/>
                </a:lnTo>
                <a:lnTo>
                  <a:pt x="246" y="5"/>
                </a:lnTo>
                <a:lnTo>
                  <a:pt x="262" y="6"/>
                </a:lnTo>
                <a:lnTo>
                  <a:pt x="278" y="6"/>
                </a:lnTo>
                <a:lnTo>
                  <a:pt x="295" y="7"/>
                </a:lnTo>
                <a:lnTo>
                  <a:pt x="311" y="7"/>
                </a:lnTo>
                <a:lnTo>
                  <a:pt x="327" y="7"/>
                </a:lnTo>
                <a:lnTo>
                  <a:pt x="344" y="7"/>
                </a:lnTo>
                <a:lnTo>
                  <a:pt x="360" y="8"/>
                </a:lnTo>
                <a:lnTo>
                  <a:pt x="377" y="8"/>
                </a:lnTo>
                <a:lnTo>
                  <a:pt x="393" y="8"/>
                </a:lnTo>
                <a:lnTo>
                  <a:pt x="393" y="13"/>
                </a:lnTo>
                <a:lnTo>
                  <a:pt x="377" y="13"/>
                </a:lnTo>
                <a:lnTo>
                  <a:pt x="360" y="13"/>
                </a:lnTo>
                <a:lnTo>
                  <a:pt x="344" y="13"/>
                </a:lnTo>
                <a:lnTo>
                  <a:pt x="327" y="12"/>
                </a:lnTo>
                <a:lnTo>
                  <a:pt x="311" y="12"/>
                </a:lnTo>
                <a:lnTo>
                  <a:pt x="295" y="12"/>
                </a:lnTo>
                <a:lnTo>
                  <a:pt x="278" y="11"/>
                </a:lnTo>
                <a:lnTo>
                  <a:pt x="262" y="11"/>
                </a:lnTo>
                <a:lnTo>
                  <a:pt x="246" y="11"/>
                </a:lnTo>
                <a:lnTo>
                  <a:pt x="229" y="10"/>
                </a:lnTo>
                <a:lnTo>
                  <a:pt x="213" y="10"/>
                </a:lnTo>
                <a:lnTo>
                  <a:pt x="196" y="9"/>
                </a:lnTo>
                <a:lnTo>
                  <a:pt x="180" y="9"/>
                </a:lnTo>
                <a:lnTo>
                  <a:pt x="164" y="8"/>
                </a:lnTo>
                <a:lnTo>
                  <a:pt x="147" y="8"/>
                </a:lnTo>
                <a:lnTo>
                  <a:pt x="131" y="8"/>
                </a:lnTo>
                <a:lnTo>
                  <a:pt x="114" y="7"/>
                </a:lnTo>
                <a:lnTo>
                  <a:pt x="98" y="7"/>
                </a:lnTo>
                <a:lnTo>
                  <a:pt x="82" y="7"/>
                </a:lnTo>
                <a:lnTo>
                  <a:pt x="65" y="6"/>
                </a:lnTo>
                <a:lnTo>
                  <a:pt x="49" y="6"/>
                </a:lnTo>
                <a:lnTo>
                  <a:pt x="33" y="6"/>
                </a:lnTo>
                <a:lnTo>
                  <a:pt x="16" y="6"/>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reeform 31"/>
          <p:cNvSpPr/>
          <p:nvPr/>
        </p:nvSpPr>
        <p:spPr>
          <a:xfrm>
            <a:off x="2057400" y="5829300"/>
            <a:ext cx="3743325" cy="361950"/>
          </a:xfrm>
          <a:custGeom>
            <a:avLst/>
            <a:gdLst/>
            <a:ahLst/>
            <a:cxnLst/>
            <a:rect l="l" t="t" r="r" b="b"/>
            <a:pathLst>
              <a:path w="393" h="38">
                <a:moveTo>
                  <a:pt x="0" y="0"/>
                </a:moveTo>
                <a:lnTo>
                  <a:pt x="16" y="0"/>
                </a:lnTo>
                <a:lnTo>
                  <a:pt x="33" y="0"/>
                </a:lnTo>
                <a:lnTo>
                  <a:pt x="49" y="1"/>
                </a:lnTo>
                <a:lnTo>
                  <a:pt x="65" y="2"/>
                </a:lnTo>
                <a:lnTo>
                  <a:pt x="82" y="4"/>
                </a:lnTo>
                <a:lnTo>
                  <a:pt x="98" y="5"/>
                </a:lnTo>
                <a:lnTo>
                  <a:pt x="114" y="7"/>
                </a:lnTo>
                <a:lnTo>
                  <a:pt x="131" y="9"/>
                </a:lnTo>
                <a:lnTo>
                  <a:pt x="147" y="11"/>
                </a:lnTo>
                <a:lnTo>
                  <a:pt x="164" y="13"/>
                </a:lnTo>
                <a:lnTo>
                  <a:pt x="180" y="15"/>
                </a:lnTo>
                <a:lnTo>
                  <a:pt x="196" y="17"/>
                </a:lnTo>
                <a:lnTo>
                  <a:pt x="213" y="19"/>
                </a:lnTo>
                <a:lnTo>
                  <a:pt x="229" y="21"/>
                </a:lnTo>
                <a:lnTo>
                  <a:pt x="246" y="23"/>
                </a:lnTo>
                <a:lnTo>
                  <a:pt x="262" y="25"/>
                </a:lnTo>
                <a:lnTo>
                  <a:pt x="278" y="27"/>
                </a:lnTo>
                <a:lnTo>
                  <a:pt x="295" y="29"/>
                </a:lnTo>
                <a:lnTo>
                  <a:pt x="311" y="30"/>
                </a:lnTo>
                <a:lnTo>
                  <a:pt x="327" y="32"/>
                </a:lnTo>
                <a:lnTo>
                  <a:pt x="344" y="33"/>
                </a:lnTo>
                <a:lnTo>
                  <a:pt x="360" y="33"/>
                </a:lnTo>
                <a:lnTo>
                  <a:pt x="377" y="34"/>
                </a:lnTo>
                <a:lnTo>
                  <a:pt x="393" y="34"/>
                </a:lnTo>
                <a:lnTo>
                  <a:pt x="393" y="38"/>
                </a:lnTo>
                <a:lnTo>
                  <a:pt x="377" y="38"/>
                </a:lnTo>
                <a:lnTo>
                  <a:pt x="360" y="37"/>
                </a:lnTo>
                <a:lnTo>
                  <a:pt x="344" y="37"/>
                </a:lnTo>
                <a:lnTo>
                  <a:pt x="327" y="35"/>
                </a:lnTo>
                <a:lnTo>
                  <a:pt x="311" y="34"/>
                </a:lnTo>
                <a:lnTo>
                  <a:pt x="295" y="33"/>
                </a:lnTo>
                <a:lnTo>
                  <a:pt x="278" y="31"/>
                </a:lnTo>
                <a:lnTo>
                  <a:pt x="262" y="29"/>
                </a:lnTo>
                <a:lnTo>
                  <a:pt x="246" y="27"/>
                </a:lnTo>
                <a:lnTo>
                  <a:pt x="229" y="25"/>
                </a:lnTo>
                <a:lnTo>
                  <a:pt x="213" y="23"/>
                </a:lnTo>
                <a:lnTo>
                  <a:pt x="196" y="21"/>
                </a:lnTo>
                <a:lnTo>
                  <a:pt x="180" y="19"/>
                </a:lnTo>
                <a:lnTo>
                  <a:pt x="164" y="17"/>
                </a:lnTo>
                <a:lnTo>
                  <a:pt x="147" y="14"/>
                </a:lnTo>
                <a:lnTo>
                  <a:pt x="131" y="13"/>
                </a:lnTo>
                <a:lnTo>
                  <a:pt x="114" y="11"/>
                </a:lnTo>
                <a:lnTo>
                  <a:pt x="98" y="9"/>
                </a:lnTo>
                <a:lnTo>
                  <a:pt x="82" y="7"/>
                </a:lnTo>
                <a:lnTo>
                  <a:pt x="65" y="6"/>
                </a:lnTo>
                <a:lnTo>
                  <a:pt x="49" y="5"/>
                </a:lnTo>
                <a:lnTo>
                  <a:pt x="33" y="4"/>
                </a:lnTo>
                <a:lnTo>
                  <a:pt x="16" y="4"/>
                </a:lnTo>
                <a:lnTo>
                  <a:pt x="0" y="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reeform 32"/>
          <p:cNvSpPr/>
          <p:nvPr/>
        </p:nvSpPr>
        <p:spPr>
          <a:xfrm>
            <a:off x="2057400" y="5867400"/>
            <a:ext cx="3743325" cy="619125"/>
          </a:xfrm>
          <a:custGeom>
            <a:avLst/>
            <a:gdLst/>
            <a:ahLst/>
            <a:cxnLst/>
            <a:rect l="l" t="t" r="r" b="b"/>
            <a:pathLst>
              <a:path w="393" h="65">
                <a:moveTo>
                  <a:pt x="0" y="0"/>
                </a:moveTo>
                <a:lnTo>
                  <a:pt x="16" y="0"/>
                </a:lnTo>
                <a:lnTo>
                  <a:pt x="33" y="1"/>
                </a:lnTo>
                <a:lnTo>
                  <a:pt x="49" y="2"/>
                </a:lnTo>
                <a:lnTo>
                  <a:pt x="65" y="4"/>
                </a:lnTo>
                <a:lnTo>
                  <a:pt x="82" y="6"/>
                </a:lnTo>
                <a:lnTo>
                  <a:pt x="98" y="9"/>
                </a:lnTo>
                <a:lnTo>
                  <a:pt x="114" y="12"/>
                </a:lnTo>
                <a:lnTo>
                  <a:pt x="131" y="15"/>
                </a:lnTo>
                <a:lnTo>
                  <a:pt x="147" y="19"/>
                </a:lnTo>
                <a:lnTo>
                  <a:pt x="164" y="22"/>
                </a:lnTo>
                <a:lnTo>
                  <a:pt x="180" y="26"/>
                </a:lnTo>
                <a:lnTo>
                  <a:pt x="196" y="30"/>
                </a:lnTo>
                <a:lnTo>
                  <a:pt x="213" y="34"/>
                </a:lnTo>
                <a:lnTo>
                  <a:pt x="229" y="37"/>
                </a:lnTo>
                <a:lnTo>
                  <a:pt x="246" y="41"/>
                </a:lnTo>
                <a:lnTo>
                  <a:pt x="262" y="44"/>
                </a:lnTo>
                <a:lnTo>
                  <a:pt x="278" y="48"/>
                </a:lnTo>
                <a:lnTo>
                  <a:pt x="295" y="51"/>
                </a:lnTo>
                <a:lnTo>
                  <a:pt x="311" y="53"/>
                </a:lnTo>
                <a:lnTo>
                  <a:pt x="327" y="56"/>
                </a:lnTo>
                <a:lnTo>
                  <a:pt x="344" y="58"/>
                </a:lnTo>
                <a:lnTo>
                  <a:pt x="360" y="59"/>
                </a:lnTo>
                <a:lnTo>
                  <a:pt x="377" y="60"/>
                </a:lnTo>
                <a:lnTo>
                  <a:pt x="393" y="60"/>
                </a:lnTo>
                <a:lnTo>
                  <a:pt x="393" y="65"/>
                </a:lnTo>
                <a:lnTo>
                  <a:pt x="377" y="64"/>
                </a:lnTo>
                <a:lnTo>
                  <a:pt x="360" y="63"/>
                </a:lnTo>
                <a:lnTo>
                  <a:pt x="344" y="62"/>
                </a:lnTo>
                <a:lnTo>
                  <a:pt x="327" y="60"/>
                </a:lnTo>
                <a:lnTo>
                  <a:pt x="311" y="58"/>
                </a:lnTo>
                <a:lnTo>
                  <a:pt x="295" y="55"/>
                </a:lnTo>
                <a:lnTo>
                  <a:pt x="278" y="52"/>
                </a:lnTo>
                <a:lnTo>
                  <a:pt x="262" y="49"/>
                </a:lnTo>
                <a:lnTo>
                  <a:pt x="246" y="46"/>
                </a:lnTo>
                <a:lnTo>
                  <a:pt x="229" y="42"/>
                </a:lnTo>
                <a:lnTo>
                  <a:pt x="213" y="38"/>
                </a:lnTo>
                <a:lnTo>
                  <a:pt x="196" y="34"/>
                </a:lnTo>
                <a:lnTo>
                  <a:pt x="180" y="31"/>
                </a:lnTo>
                <a:lnTo>
                  <a:pt x="164" y="27"/>
                </a:lnTo>
                <a:lnTo>
                  <a:pt x="147" y="23"/>
                </a:lnTo>
                <a:lnTo>
                  <a:pt x="131" y="20"/>
                </a:lnTo>
                <a:lnTo>
                  <a:pt x="114" y="17"/>
                </a:lnTo>
                <a:lnTo>
                  <a:pt x="98" y="14"/>
                </a:lnTo>
                <a:lnTo>
                  <a:pt x="82" y="11"/>
                </a:lnTo>
                <a:lnTo>
                  <a:pt x="65" y="9"/>
                </a:lnTo>
                <a:lnTo>
                  <a:pt x="49" y="7"/>
                </a:lnTo>
                <a:lnTo>
                  <a:pt x="33" y="5"/>
                </a:lnTo>
                <a:lnTo>
                  <a:pt x="16" y="4"/>
                </a:lnTo>
                <a:lnTo>
                  <a:pt x="0" y="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Freeform 33"/>
          <p:cNvSpPr/>
          <p:nvPr/>
        </p:nvSpPr>
        <p:spPr>
          <a:xfrm>
            <a:off x="2057400" y="4667250"/>
            <a:ext cx="3743325" cy="1343025"/>
          </a:xfrm>
          <a:custGeom>
            <a:avLst/>
            <a:gdLst/>
            <a:ahLst/>
            <a:cxnLst/>
            <a:rect l="l" t="t" r="r" b="b"/>
            <a:pathLst>
              <a:path w="393" h="141">
                <a:moveTo>
                  <a:pt x="0" y="136"/>
                </a:moveTo>
                <a:lnTo>
                  <a:pt x="16" y="135"/>
                </a:lnTo>
                <a:lnTo>
                  <a:pt x="33" y="133"/>
                </a:lnTo>
                <a:lnTo>
                  <a:pt x="49" y="130"/>
                </a:lnTo>
                <a:lnTo>
                  <a:pt x="65" y="126"/>
                </a:lnTo>
                <a:lnTo>
                  <a:pt x="82" y="121"/>
                </a:lnTo>
                <a:lnTo>
                  <a:pt x="98" y="115"/>
                </a:lnTo>
                <a:lnTo>
                  <a:pt x="114" y="108"/>
                </a:lnTo>
                <a:lnTo>
                  <a:pt x="131" y="101"/>
                </a:lnTo>
                <a:lnTo>
                  <a:pt x="147" y="93"/>
                </a:lnTo>
                <a:lnTo>
                  <a:pt x="164" y="85"/>
                </a:lnTo>
                <a:lnTo>
                  <a:pt x="180" y="77"/>
                </a:lnTo>
                <a:lnTo>
                  <a:pt x="196" y="68"/>
                </a:lnTo>
                <a:lnTo>
                  <a:pt x="213" y="60"/>
                </a:lnTo>
                <a:lnTo>
                  <a:pt x="229" y="51"/>
                </a:lnTo>
                <a:lnTo>
                  <a:pt x="246" y="43"/>
                </a:lnTo>
                <a:lnTo>
                  <a:pt x="262" y="35"/>
                </a:lnTo>
                <a:lnTo>
                  <a:pt x="278" y="28"/>
                </a:lnTo>
                <a:lnTo>
                  <a:pt x="295" y="21"/>
                </a:lnTo>
                <a:lnTo>
                  <a:pt x="311" y="15"/>
                </a:lnTo>
                <a:lnTo>
                  <a:pt x="327" y="10"/>
                </a:lnTo>
                <a:lnTo>
                  <a:pt x="344" y="6"/>
                </a:lnTo>
                <a:lnTo>
                  <a:pt x="360" y="3"/>
                </a:lnTo>
                <a:lnTo>
                  <a:pt x="377" y="1"/>
                </a:lnTo>
                <a:lnTo>
                  <a:pt x="393" y="0"/>
                </a:lnTo>
                <a:lnTo>
                  <a:pt x="393" y="5"/>
                </a:lnTo>
                <a:lnTo>
                  <a:pt x="377" y="6"/>
                </a:lnTo>
                <a:lnTo>
                  <a:pt x="360" y="7"/>
                </a:lnTo>
                <a:lnTo>
                  <a:pt x="344" y="11"/>
                </a:lnTo>
                <a:lnTo>
                  <a:pt x="327" y="15"/>
                </a:lnTo>
                <a:lnTo>
                  <a:pt x="311" y="20"/>
                </a:lnTo>
                <a:lnTo>
                  <a:pt x="295" y="26"/>
                </a:lnTo>
                <a:lnTo>
                  <a:pt x="278" y="33"/>
                </a:lnTo>
                <a:lnTo>
                  <a:pt x="262" y="40"/>
                </a:lnTo>
                <a:lnTo>
                  <a:pt x="246" y="48"/>
                </a:lnTo>
                <a:lnTo>
                  <a:pt x="229" y="56"/>
                </a:lnTo>
                <a:lnTo>
                  <a:pt x="213" y="64"/>
                </a:lnTo>
                <a:lnTo>
                  <a:pt x="196" y="73"/>
                </a:lnTo>
                <a:lnTo>
                  <a:pt x="180" y="81"/>
                </a:lnTo>
                <a:lnTo>
                  <a:pt x="164" y="90"/>
                </a:lnTo>
                <a:lnTo>
                  <a:pt x="147" y="98"/>
                </a:lnTo>
                <a:lnTo>
                  <a:pt x="131" y="105"/>
                </a:lnTo>
                <a:lnTo>
                  <a:pt x="114" y="113"/>
                </a:lnTo>
                <a:lnTo>
                  <a:pt x="98" y="119"/>
                </a:lnTo>
                <a:lnTo>
                  <a:pt x="82" y="125"/>
                </a:lnTo>
                <a:lnTo>
                  <a:pt x="65" y="131"/>
                </a:lnTo>
                <a:lnTo>
                  <a:pt x="49" y="135"/>
                </a:lnTo>
                <a:lnTo>
                  <a:pt x="33" y="138"/>
                </a:lnTo>
                <a:lnTo>
                  <a:pt x="16" y="140"/>
                </a:lnTo>
                <a:lnTo>
                  <a:pt x="0" y="141"/>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reeform 34"/>
          <p:cNvSpPr/>
          <p:nvPr/>
        </p:nvSpPr>
        <p:spPr>
          <a:xfrm>
            <a:off x="2057400" y="5153025"/>
            <a:ext cx="3743325" cy="904875"/>
          </a:xfrm>
          <a:custGeom>
            <a:avLst/>
            <a:gdLst/>
            <a:ahLst/>
            <a:cxnLst/>
            <a:rect l="l" t="t" r="r" b="b"/>
            <a:pathLst>
              <a:path w="393" h="95">
                <a:moveTo>
                  <a:pt x="0" y="90"/>
                </a:moveTo>
                <a:lnTo>
                  <a:pt x="16" y="89"/>
                </a:lnTo>
                <a:lnTo>
                  <a:pt x="33" y="88"/>
                </a:lnTo>
                <a:lnTo>
                  <a:pt x="49" y="86"/>
                </a:lnTo>
                <a:lnTo>
                  <a:pt x="65" y="83"/>
                </a:lnTo>
                <a:lnTo>
                  <a:pt x="82" y="80"/>
                </a:lnTo>
                <a:lnTo>
                  <a:pt x="98" y="76"/>
                </a:lnTo>
                <a:lnTo>
                  <a:pt x="114" y="71"/>
                </a:lnTo>
                <a:lnTo>
                  <a:pt x="131" y="66"/>
                </a:lnTo>
                <a:lnTo>
                  <a:pt x="147" y="61"/>
                </a:lnTo>
                <a:lnTo>
                  <a:pt x="164" y="56"/>
                </a:lnTo>
                <a:lnTo>
                  <a:pt x="180" y="50"/>
                </a:lnTo>
                <a:lnTo>
                  <a:pt x="196" y="45"/>
                </a:lnTo>
                <a:lnTo>
                  <a:pt x="213" y="39"/>
                </a:lnTo>
                <a:lnTo>
                  <a:pt x="229" y="34"/>
                </a:lnTo>
                <a:lnTo>
                  <a:pt x="246" y="28"/>
                </a:lnTo>
                <a:lnTo>
                  <a:pt x="262" y="23"/>
                </a:lnTo>
                <a:lnTo>
                  <a:pt x="278" y="18"/>
                </a:lnTo>
                <a:lnTo>
                  <a:pt x="295" y="14"/>
                </a:lnTo>
                <a:lnTo>
                  <a:pt x="311" y="10"/>
                </a:lnTo>
                <a:lnTo>
                  <a:pt x="327" y="6"/>
                </a:lnTo>
                <a:lnTo>
                  <a:pt x="344" y="4"/>
                </a:lnTo>
                <a:lnTo>
                  <a:pt x="360" y="2"/>
                </a:lnTo>
                <a:lnTo>
                  <a:pt x="377" y="0"/>
                </a:lnTo>
                <a:lnTo>
                  <a:pt x="393" y="0"/>
                </a:lnTo>
                <a:lnTo>
                  <a:pt x="393" y="5"/>
                </a:lnTo>
                <a:lnTo>
                  <a:pt x="377" y="6"/>
                </a:lnTo>
                <a:lnTo>
                  <a:pt x="360" y="7"/>
                </a:lnTo>
                <a:lnTo>
                  <a:pt x="344" y="9"/>
                </a:lnTo>
                <a:lnTo>
                  <a:pt x="327" y="12"/>
                </a:lnTo>
                <a:lnTo>
                  <a:pt x="311" y="15"/>
                </a:lnTo>
                <a:lnTo>
                  <a:pt x="295" y="19"/>
                </a:lnTo>
                <a:lnTo>
                  <a:pt x="278" y="24"/>
                </a:lnTo>
                <a:lnTo>
                  <a:pt x="262" y="29"/>
                </a:lnTo>
                <a:lnTo>
                  <a:pt x="246" y="34"/>
                </a:lnTo>
                <a:lnTo>
                  <a:pt x="229" y="39"/>
                </a:lnTo>
                <a:lnTo>
                  <a:pt x="213" y="45"/>
                </a:lnTo>
                <a:lnTo>
                  <a:pt x="196" y="50"/>
                </a:lnTo>
                <a:lnTo>
                  <a:pt x="180" y="56"/>
                </a:lnTo>
                <a:lnTo>
                  <a:pt x="164" y="61"/>
                </a:lnTo>
                <a:lnTo>
                  <a:pt x="147" y="67"/>
                </a:lnTo>
                <a:lnTo>
                  <a:pt x="131" y="72"/>
                </a:lnTo>
                <a:lnTo>
                  <a:pt x="114" y="77"/>
                </a:lnTo>
                <a:lnTo>
                  <a:pt x="98" y="81"/>
                </a:lnTo>
                <a:lnTo>
                  <a:pt x="82" y="85"/>
                </a:lnTo>
                <a:lnTo>
                  <a:pt x="65" y="89"/>
                </a:lnTo>
                <a:lnTo>
                  <a:pt x="49" y="91"/>
                </a:lnTo>
                <a:lnTo>
                  <a:pt x="33" y="93"/>
                </a:lnTo>
                <a:lnTo>
                  <a:pt x="16" y="95"/>
                </a:lnTo>
                <a:lnTo>
                  <a:pt x="0" y="9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Freeform 35"/>
          <p:cNvSpPr/>
          <p:nvPr/>
        </p:nvSpPr>
        <p:spPr>
          <a:xfrm>
            <a:off x="2057400" y="5524500"/>
            <a:ext cx="3743325" cy="571500"/>
          </a:xfrm>
          <a:custGeom>
            <a:avLst/>
            <a:gdLst/>
            <a:ahLst/>
            <a:cxnLst/>
            <a:rect l="l" t="t" r="r" b="b"/>
            <a:pathLst>
              <a:path w="393" h="60">
                <a:moveTo>
                  <a:pt x="0" y="56"/>
                </a:moveTo>
                <a:lnTo>
                  <a:pt x="16" y="56"/>
                </a:lnTo>
                <a:lnTo>
                  <a:pt x="33" y="55"/>
                </a:lnTo>
                <a:lnTo>
                  <a:pt x="49" y="54"/>
                </a:lnTo>
                <a:lnTo>
                  <a:pt x="65" y="52"/>
                </a:lnTo>
                <a:lnTo>
                  <a:pt x="82" y="50"/>
                </a:lnTo>
                <a:lnTo>
                  <a:pt x="98" y="47"/>
                </a:lnTo>
                <a:lnTo>
                  <a:pt x="114" y="45"/>
                </a:lnTo>
                <a:lnTo>
                  <a:pt x="131" y="42"/>
                </a:lnTo>
                <a:lnTo>
                  <a:pt x="147" y="38"/>
                </a:lnTo>
                <a:lnTo>
                  <a:pt x="164" y="35"/>
                </a:lnTo>
                <a:lnTo>
                  <a:pt x="180" y="32"/>
                </a:lnTo>
                <a:lnTo>
                  <a:pt x="196" y="28"/>
                </a:lnTo>
                <a:lnTo>
                  <a:pt x="213" y="25"/>
                </a:lnTo>
                <a:lnTo>
                  <a:pt x="229" y="21"/>
                </a:lnTo>
                <a:lnTo>
                  <a:pt x="246" y="18"/>
                </a:lnTo>
                <a:lnTo>
                  <a:pt x="262" y="15"/>
                </a:lnTo>
                <a:lnTo>
                  <a:pt x="278" y="12"/>
                </a:lnTo>
                <a:lnTo>
                  <a:pt x="295" y="9"/>
                </a:lnTo>
                <a:lnTo>
                  <a:pt x="311" y="6"/>
                </a:lnTo>
                <a:lnTo>
                  <a:pt x="327" y="4"/>
                </a:lnTo>
                <a:lnTo>
                  <a:pt x="344" y="2"/>
                </a:lnTo>
                <a:lnTo>
                  <a:pt x="360" y="1"/>
                </a:lnTo>
                <a:lnTo>
                  <a:pt x="377" y="0"/>
                </a:lnTo>
                <a:lnTo>
                  <a:pt x="393" y="0"/>
                </a:lnTo>
                <a:lnTo>
                  <a:pt x="393" y="4"/>
                </a:lnTo>
                <a:lnTo>
                  <a:pt x="377" y="4"/>
                </a:lnTo>
                <a:lnTo>
                  <a:pt x="360" y="5"/>
                </a:lnTo>
                <a:lnTo>
                  <a:pt x="344" y="6"/>
                </a:lnTo>
                <a:lnTo>
                  <a:pt x="327" y="8"/>
                </a:lnTo>
                <a:lnTo>
                  <a:pt x="311" y="10"/>
                </a:lnTo>
                <a:lnTo>
                  <a:pt x="295" y="13"/>
                </a:lnTo>
                <a:lnTo>
                  <a:pt x="278" y="16"/>
                </a:lnTo>
                <a:lnTo>
                  <a:pt x="262" y="19"/>
                </a:lnTo>
                <a:lnTo>
                  <a:pt x="246" y="22"/>
                </a:lnTo>
                <a:lnTo>
                  <a:pt x="229" y="25"/>
                </a:lnTo>
                <a:lnTo>
                  <a:pt x="213" y="29"/>
                </a:lnTo>
                <a:lnTo>
                  <a:pt x="196" y="32"/>
                </a:lnTo>
                <a:lnTo>
                  <a:pt x="180" y="36"/>
                </a:lnTo>
                <a:lnTo>
                  <a:pt x="164" y="39"/>
                </a:lnTo>
                <a:lnTo>
                  <a:pt x="147" y="42"/>
                </a:lnTo>
                <a:lnTo>
                  <a:pt x="131" y="46"/>
                </a:lnTo>
                <a:lnTo>
                  <a:pt x="114" y="49"/>
                </a:lnTo>
                <a:lnTo>
                  <a:pt x="98" y="51"/>
                </a:lnTo>
                <a:lnTo>
                  <a:pt x="82" y="54"/>
                </a:lnTo>
                <a:lnTo>
                  <a:pt x="65" y="56"/>
                </a:lnTo>
                <a:lnTo>
                  <a:pt x="49" y="58"/>
                </a:lnTo>
                <a:lnTo>
                  <a:pt x="33" y="59"/>
                </a:lnTo>
                <a:lnTo>
                  <a:pt x="16" y="60"/>
                </a:lnTo>
                <a:lnTo>
                  <a:pt x="0" y="6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Freeform 36"/>
          <p:cNvSpPr/>
          <p:nvPr/>
        </p:nvSpPr>
        <p:spPr>
          <a:xfrm>
            <a:off x="2057400" y="5895975"/>
            <a:ext cx="3743325" cy="238125"/>
          </a:xfrm>
          <a:custGeom>
            <a:avLst/>
            <a:gdLst/>
            <a:ahLst/>
            <a:cxnLst/>
            <a:rect l="l" t="t" r="r" b="b"/>
            <a:pathLst>
              <a:path w="393" h="25">
                <a:moveTo>
                  <a:pt x="0" y="21"/>
                </a:moveTo>
                <a:lnTo>
                  <a:pt x="16" y="21"/>
                </a:lnTo>
                <a:lnTo>
                  <a:pt x="33" y="21"/>
                </a:lnTo>
                <a:lnTo>
                  <a:pt x="49" y="20"/>
                </a:lnTo>
                <a:lnTo>
                  <a:pt x="65" y="20"/>
                </a:lnTo>
                <a:lnTo>
                  <a:pt x="82" y="19"/>
                </a:lnTo>
                <a:lnTo>
                  <a:pt x="98" y="18"/>
                </a:lnTo>
                <a:lnTo>
                  <a:pt x="114" y="17"/>
                </a:lnTo>
                <a:lnTo>
                  <a:pt x="131" y="16"/>
                </a:lnTo>
                <a:lnTo>
                  <a:pt x="147" y="14"/>
                </a:lnTo>
                <a:lnTo>
                  <a:pt x="164" y="13"/>
                </a:lnTo>
                <a:lnTo>
                  <a:pt x="180" y="12"/>
                </a:lnTo>
                <a:lnTo>
                  <a:pt x="196" y="11"/>
                </a:lnTo>
                <a:lnTo>
                  <a:pt x="213" y="9"/>
                </a:lnTo>
                <a:lnTo>
                  <a:pt x="229" y="8"/>
                </a:lnTo>
                <a:lnTo>
                  <a:pt x="246" y="7"/>
                </a:lnTo>
                <a:lnTo>
                  <a:pt x="262" y="5"/>
                </a:lnTo>
                <a:lnTo>
                  <a:pt x="278" y="4"/>
                </a:lnTo>
                <a:lnTo>
                  <a:pt x="295" y="3"/>
                </a:lnTo>
                <a:lnTo>
                  <a:pt x="311" y="2"/>
                </a:lnTo>
                <a:lnTo>
                  <a:pt x="327" y="1"/>
                </a:lnTo>
                <a:lnTo>
                  <a:pt x="344" y="1"/>
                </a:lnTo>
                <a:lnTo>
                  <a:pt x="360" y="0"/>
                </a:lnTo>
                <a:lnTo>
                  <a:pt x="377" y="0"/>
                </a:lnTo>
                <a:lnTo>
                  <a:pt x="393" y="0"/>
                </a:lnTo>
                <a:lnTo>
                  <a:pt x="393" y="4"/>
                </a:lnTo>
                <a:lnTo>
                  <a:pt x="377" y="4"/>
                </a:lnTo>
                <a:lnTo>
                  <a:pt x="360" y="4"/>
                </a:lnTo>
                <a:lnTo>
                  <a:pt x="344" y="5"/>
                </a:lnTo>
                <a:lnTo>
                  <a:pt x="327" y="5"/>
                </a:lnTo>
                <a:lnTo>
                  <a:pt x="311" y="6"/>
                </a:lnTo>
                <a:lnTo>
                  <a:pt x="295" y="7"/>
                </a:lnTo>
                <a:lnTo>
                  <a:pt x="278" y="8"/>
                </a:lnTo>
                <a:lnTo>
                  <a:pt x="262" y="9"/>
                </a:lnTo>
                <a:lnTo>
                  <a:pt x="246" y="10"/>
                </a:lnTo>
                <a:lnTo>
                  <a:pt x="229" y="12"/>
                </a:lnTo>
                <a:lnTo>
                  <a:pt x="213" y="13"/>
                </a:lnTo>
                <a:lnTo>
                  <a:pt x="196" y="14"/>
                </a:lnTo>
                <a:lnTo>
                  <a:pt x="180" y="16"/>
                </a:lnTo>
                <a:lnTo>
                  <a:pt x="164" y="17"/>
                </a:lnTo>
                <a:lnTo>
                  <a:pt x="147" y="18"/>
                </a:lnTo>
                <a:lnTo>
                  <a:pt x="131" y="19"/>
                </a:lnTo>
                <a:lnTo>
                  <a:pt x="114" y="21"/>
                </a:lnTo>
                <a:lnTo>
                  <a:pt x="98" y="22"/>
                </a:lnTo>
                <a:lnTo>
                  <a:pt x="82" y="23"/>
                </a:lnTo>
                <a:lnTo>
                  <a:pt x="65" y="23"/>
                </a:lnTo>
                <a:lnTo>
                  <a:pt x="49" y="24"/>
                </a:lnTo>
                <a:lnTo>
                  <a:pt x="33" y="25"/>
                </a:lnTo>
                <a:lnTo>
                  <a:pt x="16" y="25"/>
                </a:lnTo>
                <a:lnTo>
                  <a:pt x="0" y="2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Freeform 37"/>
          <p:cNvSpPr/>
          <p:nvPr/>
        </p:nvSpPr>
        <p:spPr>
          <a:xfrm>
            <a:off x="2057400" y="6134100"/>
            <a:ext cx="3743325" cy="85725"/>
          </a:xfrm>
          <a:custGeom>
            <a:avLst/>
            <a:gdLst/>
            <a:ahLst/>
            <a:cxnLst/>
            <a:rect l="l" t="t" r="r" b="b"/>
            <a:pathLst>
              <a:path w="393" h="9">
                <a:moveTo>
                  <a:pt x="0" y="0"/>
                </a:moveTo>
                <a:lnTo>
                  <a:pt x="16" y="0"/>
                </a:lnTo>
                <a:lnTo>
                  <a:pt x="33" y="0"/>
                </a:lnTo>
                <a:lnTo>
                  <a:pt x="49" y="0"/>
                </a:lnTo>
                <a:lnTo>
                  <a:pt x="65" y="0"/>
                </a:lnTo>
                <a:lnTo>
                  <a:pt x="82" y="1"/>
                </a:lnTo>
                <a:lnTo>
                  <a:pt x="98" y="1"/>
                </a:lnTo>
                <a:lnTo>
                  <a:pt x="114" y="1"/>
                </a:lnTo>
                <a:lnTo>
                  <a:pt x="131" y="2"/>
                </a:lnTo>
                <a:lnTo>
                  <a:pt x="147" y="2"/>
                </a:lnTo>
                <a:lnTo>
                  <a:pt x="164" y="2"/>
                </a:lnTo>
                <a:lnTo>
                  <a:pt x="180" y="3"/>
                </a:lnTo>
                <a:lnTo>
                  <a:pt x="196" y="3"/>
                </a:lnTo>
                <a:lnTo>
                  <a:pt x="213" y="3"/>
                </a:lnTo>
                <a:lnTo>
                  <a:pt x="229" y="4"/>
                </a:lnTo>
                <a:lnTo>
                  <a:pt x="246" y="4"/>
                </a:lnTo>
                <a:lnTo>
                  <a:pt x="262" y="4"/>
                </a:lnTo>
                <a:lnTo>
                  <a:pt x="278" y="5"/>
                </a:lnTo>
                <a:lnTo>
                  <a:pt x="295" y="5"/>
                </a:lnTo>
                <a:lnTo>
                  <a:pt x="311" y="5"/>
                </a:lnTo>
                <a:lnTo>
                  <a:pt x="327" y="6"/>
                </a:lnTo>
                <a:lnTo>
                  <a:pt x="344" y="6"/>
                </a:lnTo>
                <a:lnTo>
                  <a:pt x="360" y="6"/>
                </a:lnTo>
                <a:lnTo>
                  <a:pt x="377" y="6"/>
                </a:lnTo>
                <a:lnTo>
                  <a:pt x="393" y="6"/>
                </a:lnTo>
                <a:lnTo>
                  <a:pt x="393" y="9"/>
                </a:lnTo>
                <a:lnTo>
                  <a:pt x="377" y="9"/>
                </a:lnTo>
                <a:lnTo>
                  <a:pt x="360" y="9"/>
                </a:lnTo>
                <a:lnTo>
                  <a:pt x="344" y="9"/>
                </a:lnTo>
                <a:lnTo>
                  <a:pt x="327" y="9"/>
                </a:lnTo>
                <a:lnTo>
                  <a:pt x="311" y="9"/>
                </a:lnTo>
                <a:lnTo>
                  <a:pt x="295" y="8"/>
                </a:lnTo>
                <a:lnTo>
                  <a:pt x="278" y="8"/>
                </a:lnTo>
                <a:lnTo>
                  <a:pt x="262" y="8"/>
                </a:lnTo>
                <a:lnTo>
                  <a:pt x="246" y="7"/>
                </a:lnTo>
                <a:lnTo>
                  <a:pt x="229" y="7"/>
                </a:lnTo>
                <a:lnTo>
                  <a:pt x="213" y="7"/>
                </a:lnTo>
                <a:lnTo>
                  <a:pt x="196" y="6"/>
                </a:lnTo>
                <a:lnTo>
                  <a:pt x="180" y="6"/>
                </a:lnTo>
                <a:lnTo>
                  <a:pt x="164" y="6"/>
                </a:lnTo>
                <a:lnTo>
                  <a:pt x="147" y="5"/>
                </a:lnTo>
                <a:lnTo>
                  <a:pt x="131" y="5"/>
                </a:lnTo>
                <a:lnTo>
                  <a:pt x="114" y="4"/>
                </a:lnTo>
                <a:lnTo>
                  <a:pt x="98" y="4"/>
                </a:lnTo>
                <a:lnTo>
                  <a:pt x="82" y="4"/>
                </a:lnTo>
                <a:lnTo>
                  <a:pt x="65" y="4"/>
                </a:lnTo>
                <a:lnTo>
                  <a:pt x="49" y="3"/>
                </a:lnTo>
                <a:lnTo>
                  <a:pt x="33" y="3"/>
                </a:lnTo>
                <a:lnTo>
                  <a:pt x="16" y="3"/>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Freeform 38"/>
          <p:cNvSpPr/>
          <p:nvPr/>
        </p:nvSpPr>
        <p:spPr>
          <a:xfrm>
            <a:off x="2057400" y="6162675"/>
            <a:ext cx="3743325" cy="342900"/>
          </a:xfrm>
          <a:custGeom>
            <a:avLst/>
            <a:gdLst/>
            <a:ahLst/>
            <a:cxnLst/>
            <a:rect l="l" t="t" r="r" b="b"/>
            <a:pathLst>
              <a:path w="393" h="36">
                <a:moveTo>
                  <a:pt x="0" y="0"/>
                </a:moveTo>
                <a:lnTo>
                  <a:pt x="16" y="0"/>
                </a:lnTo>
                <a:lnTo>
                  <a:pt x="33" y="1"/>
                </a:lnTo>
                <a:lnTo>
                  <a:pt x="49" y="2"/>
                </a:lnTo>
                <a:lnTo>
                  <a:pt x="65" y="3"/>
                </a:lnTo>
                <a:lnTo>
                  <a:pt x="82" y="4"/>
                </a:lnTo>
                <a:lnTo>
                  <a:pt x="98" y="5"/>
                </a:lnTo>
                <a:lnTo>
                  <a:pt x="114" y="7"/>
                </a:lnTo>
                <a:lnTo>
                  <a:pt x="131" y="9"/>
                </a:lnTo>
                <a:lnTo>
                  <a:pt x="147" y="11"/>
                </a:lnTo>
                <a:lnTo>
                  <a:pt x="164" y="13"/>
                </a:lnTo>
                <a:lnTo>
                  <a:pt x="180" y="15"/>
                </a:lnTo>
                <a:lnTo>
                  <a:pt x="196" y="17"/>
                </a:lnTo>
                <a:lnTo>
                  <a:pt x="213" y="19"/>
                </a:lnTo>
                <a:lnTo>
                  <a:pt x="229" y="21"/>
                </a:lnTo>
                <a:lnTo>
                  <a:pt x="246" y="23"/>
                </a:lnTo>
                <a:lnTo>
                  <a:pt x="262" y="25"/>
                </a:lnTo>
                <a:lnTo>
                  <a:pt x="278" y="27"/>
                </a:lnTo>
                <a:lnTo>
                  <a:pt x="295" y="28"/>
                </a:lnTo>
                <a:lnTo>
                  <a:pt x="311" y="30"/>
                </a:lnTo>
                <a:lnTo>
                  <a:pt x="327" y="31"/>
                </a:lnTo>
                <a:lnTo>
                  <a:pt x="344" y="32"/>
                </a:lnTo>
                <a:lnTo>
                  <a:pt x="360" y="33"/>
                </a:lnTo>
                <a:lnTo>
                  <a:pt x="377" y="34"/>
                </a:lnTo>
                <a:lnTo>
                  <a:pt x="393" y="34"/>
                </a:lnTo>
                <a:lnTo>
                  <a:pt x="393" y="36"/>
                </a:lnTo>
                <a:lnTo>
                  <a:pt x="377" y="36"/>
                </a:lnTo>
                <a:lnTo>
                  <a:pt x="360" y="35"/>
                </a:lnTo>
                <a:lnTo>
                  <a:pt x="344" y="34"/>
                </a:lnTo>
                <a:lnTo>
                  <a:pt x="327" y="33"/>
                </a:lnTo>
                <a:lnTo>
                  <a:pt x="311" y="32"/>
                </a:lnTo>
                <a:lnTo>
                  <a:pt x="295" y="31"/>
                </a:lnTo>
                <a:lnTo>
                  <a:pt x="278" y="29"/>
                </a:lnTo>
                <a:lnTo>
                  <a:pt x="262" y="27"/>
                </a:lnTo>
                <a:lnTo>
                  <a:pt x="246" y="25"/>
                </a:lnTo>
                <a:lnTo>
                  <a:pt x="229" y="23"/>
                </a:lnTo>
                <a:lnTo>
                  <a:pt x="213" y="21"/>
                </a:lnTo>
                <a:lnTo>
                  <a:pt x="196" y="19"/>
                </a:lnTo>
                <a:lnTo>
                  <a:pt x="180" y="17"/>
                </a:lnTo>
                <a:lnTo>
                  <a:pt x="164" y="15"/>
                </a:lnTo>
                <a:lnTo>
                  <a:pt x="147" y="13"/>
                </a:lnTo>
                <a:lnTo>
                  <a:pt x="131" y="11"/>
                </a:lnTo>
                <a:lnTo>
                  <a:pt x="114" y="9"/>
                </a:lnTo>
                <a:lnTo>
                  <a:pt x="98" y="8"/>
                </a:lnTo>
                <a:lnTo>
                  <a:pt x="82" y="6"/>
                </a:lnTo>
                <a:lnTo>
                  <a:pt x="65" y="5"/>
                </a:lnTo>
                <a:lnTo>
                  <a:pt x="49" y="4"/>
                </a:lnTo>
                <a:lnTo>
                  <a:pt x="33" y="3"/>
                </a:lnTo>
                <a:lnTo>
                  <a:pt x="16" y="2"/>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Freeform 39"/>
          <p:cNvSpPr/>
          <p:nvPr/>
        </p:nvSpPr>
        <p:spPr>
          <a:xfrm>
            <a:off x="2057400" y="4714875"/>
            <a:ext cx="3743325" cy="1552575"/>
          </a:xfrm>
          <a:custGeom>
            <a:avLst/>
            <a:gdLst/>
            <a:ahLst/>
            <a:cxnLst/>
            <a:rect l="l" t="t" r="r" b="b"/>
            <a:pathLst>
              <a:path w="393" h="163">
                <a:moveTo>
                  <a:pt x="0" y="160"/>
                </a:moveTo>
                <a:lnTo>
                  <a:pt x="16" y="159"/>
                </a:lnTo>
                <a:lnTo>
                  <a:pt x="33" y="157"/>
                </a:lnTo>
                <a:lnTo>
                  <a:pt x="49" y="153"/>
                </a:lnTo>
                <a:lnTo>
                  <a:pt x="65" y="148"/>
                </a:lnTo>
                <a:lnTo>
                  <a:pt x="82" y="142"/>
                </a:lnTo>
                <a:lnTo>
                  <a:pt x="98" y="135"/>
                </a:lnTo>
                <a:lnTo>
                  <a:pt x="114" y="127"/>
                </a:lnTo>
                <a:lnTo>
                  <a:pt x="131" y="119"/>
                </a:lnTo>
                <a:lnTo>
                  <a:pt x="147" y="110"/>
                </a:lnTo>
                <a:lnTo>
                  <a:pt x="164" y="100"/>
                </a:lnTo>
                <a:lnTo>
                  <a:pt x="180" y="90"/>
                </a:lnTo>
                <a:lnTo>
                  <a:pt x="196" y="80"/>
                </a:lnTo>
                <a:lnTo>
                  <a:pt x="213" y="70"/>
                </a:lnTo>
                <a:lnTo>
                  <a:pt x="229" y="60"/>
                </a:lnTo>
                <a:lnTo>
                  <a:pt x="246" y="51"/>
                </a:lnTo>
                <a:lnTo>
                  <a:pt x="262" y="41"/>
                </a:lnTo>
                <a:lnTo>
                  <a:pt x="278" y="33"/>
                </a:lnTo>
                <a:lnTo>
                  <a:pt x="295" y="25"/>
                </a:lnTo>
                <a:lnTo>
                  <a:pt x="311" y="18"/>
                </a:lnTo>
                <a:lnTo>
                  <a:pt x="327" y="12"/>
                </a:lnTo>
                <a:lnTo>
                  <a:pt x="344" y="7"/>
                </a:lnTo>
                <a:lnTo>
                  <a:pt x="360" y="3"/>
                </a:lnTo>
                <a:lnTo>
                  <a:pt x="377" y="1"/>
                </a:lnTo>
                <a:lnTo>
                  <a:pt x="393" y="0"/>
                </a:lnTo>
                <a:lnTo>
                  <a:pt x="393" y="3"/>
                </a:lnTo>
                <a:lnTo>
                  <a:pt x="377" y="4"/>
                </a:lnTo>
                <a:lnTo>
                  <a:pt x="360" y="6"/>
                </a:lnTo>
                <a:lnTo>
                  <a:pt x="344" y="10"/>
                </a:lnTo>
                <a:lnTo>
                  <a:pt x="327" y="15"/>
                </a:lnTo>
                <a:lnTo>
                  <a:pt x="311" y="21"/>
                </a:lnTo>
                <a:lnTo>
                  <a:pt x="295" y="28"/>
                </a:lnTo>
                <a:lnTo>
                  <a:pt x="278" y="36"/>
                </a:lnTo>
                <a:lnTo>
                  <a:pt x="262" y="45"/>
                </a:lnTo>
                <a:lnTo>
                  <a:pt x="246" y="54"/>
                </a:lnTo>
                <a:lnTo>
                  <a:pt x="229" y="63"/>
                </a:lnTo>
                <a:lnTo>
                  <a:pt x="213" y="73"/>
                </a:lnTo>
                <a:lnTo>
                  <a:pt x="196" y="83"/>
                </a:lnTo>
                <a:lnTo>
                  <a:pt x="180" y="93"/>
                </a:lnTo>
                <a:lnTo>
                  <a:pt x="164" y="103"/>
                </a:lnTo>
                <a:lnTo>
                  <a:pt x="147" y="113"/>
                </a:lnTo>
                <a:lnTo>
                  <a:pt x="131" y="122"/>
                </a:lnTo>
                <a:lnTo>
                  <a:pt x="114" y="130"/>
                </a:lnTo>
                <a:lnTo>
                  <a:pt x="98" y="138"/>
                </a:lnTo>
                <a:lnTo>
                  <a:pt x="82" y="145"/>
                </a:lnTo>
                <a:lnTo>
                  <a:pt x="65" y="152"/>
                </a:lnTo>
                <a:lnTo>
                  <a:pt x="49" y="157"/>
                </a:lnTo>
                <a:lnTo>
                  <a:pt x="33" y="160"/>
                </a:lnTo>
                <a:lnTo>
                  <a:pt x="16" y="163"/>
                </a:lnTo>
                <a:lnTo>
                  <a:pt x="0" y="16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Freeform 40"/>
          <p:cNvSpPr/>
          <p:nvPr/>
        </p:nvSpPr>
        <p:spPr>
          <a:xfrm>
            <a:off x="2057400" y="5200650"/>
            <a:ext cx="3743325" cy="1095375"/>
          </a:xfrm>
          <a:custGeom>
            <a:avLst/>
            <a:gdLst/>
            <a:ahLst/>
            <a:cxnLst/>
            <a:rect l="l" t="t" r="r" b="b"/>
            <a:pathLst>
              <a:path w="393" h="115">
                <a:moveTo>
                  <a:pt x="0" y="112"/>
                </a:moveTo>
                <a:lnTo>
                  <a:pt x="16" y="112"/>
                </a:lnTo>
                <a:lnTo>
                  <a:pt x="33" y="110"/>
                </a:lnTo>
                <a:lnTo>
                  <a:pt x="49" y="108"/>
                </a:lnTo>
                <a:lnTo>
                  <a:pt x="65" y="104"/>
                </a:lnTo>
                <a:lnTo>
                  <a:pt x="82" y="100"/>
                </a:lnTo>
                <a:lnTo>
                  <a:pt x="98" y="95"/>
                </a:lnTo>
                <a:lnTo>
                  <a:pt x="114" y="89"/>
                </a:lnTo>
                <a:lnTo>
                  <a:pt x="131" y="83"/>
                </a:lnTo>
                <a:lnTo>
                  <a:pt x="147" y="77"/>
                </a:lnTo>
                <a:lnTo>
                  <a:pt x="164" y="70"/>
                </a:lnTo>
                <a:lnTo>
                  <a:pt x="180" y="63"/>
                </a:lnTo>
                <a:lnTo>
                  <a:pt x="196" y="56"/>
                </a:lnTo>
                <a:lnTo>
                  <a:pt x="213" y="49"/>
                </a:lnTo>
                <a:lnTo>
                  <a:pt x="229" y="42"/>
                </a:lnTo>
                <a:lnTo>
                  <a:pt x="246" y="36"/>
                </a:lnTo>
                <a:lnTo>
                  <a:pt x="262" y="29"/>
                </a:lnTo>
                <a:lnTo>
                  <a:pt x="278" y="23"/>
                </a:lnTo>
                <a:lnTo>
                  <a:pt x="295" y="18"/>
                </a:lnTo>
                <a:lnTo>
                  <a:pt x="311" y="13"/>
                </a:lnTo>
                <a:lnTo>
                  <a:pt x="327" y="9"/>
                </a:lnTo>
                <a:lnTo>
                  <a:pt x="344" y="5"/>
                </a:lnTo>
                <a:lnTo>
                  <a:pt x="360" y="3"/>
                </a:lnTo>
                <a:lnTo>
                  <a:pt x="377" y="1"/>
                </a:lnTo>
                <a:lnTo>
                  <a:pt x="393" y="0"/>
                </a:lnTo>
                <a:lnTo>
                  <a:pt x="393" y="3"/>
                </a:lnTo>
                <a:lnTo>
                  <a:pt x="377" y="4"/>
                </a:lnTo>
                <a:lnTo>
                  <a:pt x="360" y="5"/>
                </a:lnTo>
                <a:lnTo>
                  <a:pt x="344" y="8"/>
                </a:lnTo>
                <a:lnTo>
                  <a:pt x="327" y="11"/>
                </a:lnTo>
                <a:lnTo>
                  <a:pt x="311" y="16"/>
                </a:lnTo>
                <a:lnTo>
                  <a:pt x="295" y="21"/>
                </a:lnTo>
                <a:lnTo>
                  <a:pt x="278" y="26"/>
                </a:lnTo>
                <a:lnTo>
                  <a:pt x="262" y="32"/>
                </a:lnTo>
                <a:lnTo>
                  <a:pt x="246" y="39"/>
                </a:lnTo>
                <a:lnTo>
                  <a:pt x="229" y="45"/>
                </a:lnTo>
                <a:lnTo>
                  <a:pt x="213" y="52"/>
                </a:lnTo>
                <a:lnTo>
                  <a:pt x="196" y="59"/>
                </a:lnTo>
                <a:lnTo>
                  <a:pt x="180" y="66"/>
                </a:lnTo>
                <a:lnTo>
                  <a:pt x="164" y="73"/>
                </a:lnTo>
                <a:lnTo>
                  <a:pt x="147" y="80"/>
                </a:lnTo>
                <a:lnTo>
                  <a:pt x="131" y="86"/>
                </a:lnTo>
                <a:lnTo>
                  <a:pt x="114" y="92"/>
                </a:lnTo>
                <a:lnTo>
                  <a:pt x="98" y="98"/>
                </a:lnTo>
                <a:lnTo>
                  <a:pt x="82" y="103"/>
                </a:lnTo>
                <a:lnTo>
                  <a:pt x="65" y="107"/>
                </a:lnTo>
                <a:lnTo>
                  <a:pt x="49" y="110"/>
                </a:lnTo>
                <a:lnTo>
                  <a:pt x="33" y="113"/>
                </a:lnTo>
                <a:lnTo>
                  <a:pt x="16" y="115"/>
                </a:lnTo>
                <a:lnTo>
                  <a:pt x="0" y="11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Freeform 41"/>
          <p:cNvSpPr/>
          <p:nvPr/>
        </p:nvSpPr>
        <p:spPr>
          <a:xfrm>
            <a:off x="2057400" y="5562600"/>
            <a:ext cx="3743325" cy="762000"/>
          </a:xfrm>
          <a:custGeom>
            <a:avLst/>
            <a:gdLst/>
            <a:ahLst/>
            <a:cxnLst/>
            <a:rect l="l" t="t" r="r" b="b"/>
            <a:pathLst>
              <a:path w="393" h="80">
                <a:moveTo>
                  <a:pt x="0" y="77"/>
                </a:moveTo>
                <a:lnTo>
                  <a:pt x="16" y="77"/>
                </a:lnTo>
                <a:lnTo>
                  <a:pt x="33" y="76"/>
                </a:lnTo>
                <a:lnTo>
                  <a:pt x="49" y="74"/>
                </a:lnTo>
                <a:lnTo>
                  <a:pt x="65" y="71"/>
                </a:lnTo>
                <a:lnTo>
                  <a:pt x="82" y="69"/>
                </a:lnTo>
                <a:lnTo>
                  <a:pt x="98" y="65"/>
                </a:lnTo>
                <a:lnTo>
                  <a:pt x="114" y="61"/>
                </a:lnTo>
                <a:lnTo>
                  <a:pt x="131" y="57"/>
                </a:lnTo>
                <a:lnTo>
                  <a:pt x="147" y="53"/>
                </a:lnTo>
                <a:lnTo>
                  <a:pt x="164" y="48"/>
                </a:lnTo>
                <a:lnTo>
                  <a:pt x="180" y="43"/>
                </a:lnTo>
                <a:lnTo>
                  <a:pt x="196" y="39"/>
                </a:lnTo>
                <a:lnTo>
                  <a:pt x="213" y="34"/>
                </a:lnTo>
                <a:lnTo>
                  <a:pt x="229" y="29"/>
                </a:lnTo>
                <a:lnTo>
                  <a:pt x="246" y="24"/>
                </a:lnTo>
                <a:lnTo>
                  <a:pt x="262" y="20"/>
                </a:lnTo>
                <a:lnTo>
                  <a:pt x="278" y="16"/>
                </a:lnTo>
                <a:lnTo>
                  <a:pt x="295" y="12"/>
                </a:lnTo>
                <a:lnTo>
                  <a:pt x="311" y="9"/>
                </a:lnTo>
                <a:lnTo>
                  <a:pt x="327" y="6"/>
                </a:lnTo>
                <a:lnTo>
                  <a:pt x="344" y="3"/>
                </a:lnTo>
                <a:lnTo>
                  <a:pt x="360" y="1"/>
                </a:lnTo>
                <a:lnTo>
                  <a:pt x="377" y="0"/>
                </a:lnTo>
                <a:lnTo>
                  <a:pt x="393" y="0"/>
                </a:lnTo>
                <a:lnTo>
                  <a:pt x="393" y="3"/>
                </a:lnTo>
                <a:lnTo>
                  <a:pt x="377" y="3"/>
                </a:lnTo>
                <a:lnTo>
                  <a:pt x="360" y="4"/>
                </a:lnTo>
                <a:lnTo>
                  <a:pt x="344" y="6"/>
                </a:lnTo>
                <a:lnTo>
                  <a:pt x="327" y="9"/>
                </a:lnTo>
                <a:lnTo>
                  <a:pt x="311" y="12"/>
                </a:lnTo>
                <a:lnTo>
                  <a:pt x="295" y="15"/>
                </a:lnTo>
                <a:lnTo>
                  <a:pt x="278" y="19"/>
                </a:lnTo>
                <a:lnTo>
                  <a:pt x="262" y="23"/>
                </a:lnTo>
                <a:lnTo>
                  <a:pt x="246" y="27"/>
                </a:lnTo>
                <a:lnTo>
                  <a:pt x="229" y="32"/>
                </a:lnTo>
                <a:lnTo>
                  <a:pt x="213" y="37"/>
                </a:lnTo>
                <a:lnTo>
                  <a:pt x="196" y="42"/>
                </a:lnTo>
                <a:lnTo>
                  <a:pt x="180" y="46"/>
                </a:lnTo>
                <a:lnTo>
                  <a:pt x="164" y="51"/>
                </a:lnTo>
                <a:lnTo>
                  <a:pt x="147" y="56"/>
                </a:lnTo>
                <a:lnTo>
                  <a:pt x="131" y="60"/>
                </a:lnTo>
                <a:lnTo>
                  <a:pt x="114" y="64"/>
                </a:lnTo>
                <a:lnTo>
                  <a:pt x="98" y="68"/>
                </a:lnTo>
                <a:lnTo>
                  <a:pt x="82" y="72"/>
                </a:lnTo>
                <a:lnTo>
                  <a:pt x="65" y="74"/>
                </a:lnTo>
                <a:lnTo>
                  <a:pt x="49" y="77"/>
                </a:lnTo>
                <a:lnTo>
                  <a:pt x="33" y="79"/>
                </a:lnTo>
                <a:lnTo>
                  <a:pt x="16" y="80"/>
                </a:lnTo>
                <a:lnTo>
                  <a:pt x="0" y="80"/>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Freeform 42"/>
          <p:cNvSpPr/>
          <p:nvPr/>
        </p:nvSpPr>
        <p:spPr>
          <a:xfrm>
            <a:off x="2057400" y="5934075"/>
            <a:ext cx="3743325" cy="409575"/>
          </a:xfrm>
          <a:custGeom>
            <a:avLst/>
            <a:gdLst/>
            <a:ahLst/>
            <a:cxnLst/>
            <a:rect l="l" t="t" r="r" b="b"/>
            <a:pathLst>
              <a:path w="393" h="43">
                <a:moveTo>
                  <a:pt x="0" y="41"/>
                </a:moveTo>
                <a:lnTo>
                  <a:pt x="16" y="41"/>
                </a:lnTo>
                <a:lnTo>
                  <a:pt x="33" y="40"/>
                </a:lnTo>
                <a:lnTo>
                  <a:pt x="49" y="39"/>
                </a:lnTo>
                <a:lnTo>
                  <a:pt x="65" y="38"/>
                </a:lnTo>
                <a:lnTo>
                  <a:pt x="82" y="37"/>
                </a:lnTo>
                <a:lnTo>
                  <a:pt x="98" y="35"/>
                </a:lnTo>
                <a:lnTo>
                  <a:pt x="114" y="33"/>
                </a:lnTo>
                <a:lnTo>
                  <a:pt x="131" y="30"/>
                </a:lnTo>
                <a:lnTo>
                  <a:pt x="147" y="28"/>
                </a:lnTo>
                <a:lnTo>
                  <a:pt x="164" y="26"/>
                </a:lnTo>
                <a:lnTo>
                  <a:pt x="180" y="23"/>
                </a:lnTo>
                <a:lnTo>
                  <a:pt x="196" y="20"/>
                </a:lnTo>
                <a:lnTo>
                  <a:pt x="213" y="18"/>
                </a:lnTo>
                <a:lnTo>
                  <a:pt x="229" y="15"/>
                </a:lnTo>
                <a:lnTo>
                  <a:pt x="246" y="13"/>
                </a:lnTo>
                <a:lnTo>
                  <a:pt x="262" y="10"/>
                </a:lnTo>
                <a:lnTo>
                  <a:pt x="278" y="8"/>
                </a:lnTo>
                <a:lnTo>
                  <a:pt x="295" y="6"/>
                </a:lnTo>
                <a:lnTo>
                  <a:pt x="311" y="4"/>
                </a:lnTo>
                <a:lnTo>
                  <a:pt x="327" y="3"/>
                </a:lnTo>
                <a:lnTo>
                  <a:pt x="344" y="1"/>
                </a:lnTo>
                <a:lnTo>
                  <a:pt x="360" y="0"/>
                </a:lnTo>
                <a:lnTo>
                  <a:pt x="377" y="0"/>
                </a:lnTo>
                <a:lnTo>
                  <a:pt x="393" y="0"/>
                </a:lnTo>
                <a:lnTo>
                  <a:pt x="393" y="2"/>
                </a:lnTo>
                <a:lnTo>
                  <a:pt x="377" y="2"/>
                </a:lnTo>
                <a:lnTo>
                  <a:pt x="360" y="3"/>
                </a:lnTo>
                <a:lnTo>
                  <a:pt x="344" y="4"/>
                </a:lnTo>
                <a:lnTo>
                  <a:pt x="327" y="5"/>
                </a:lnTo>
                <a:lnTo>
                  <a:pt x="311" y="6"/>
                </a:lnTo>
                <a:lnTo>
                  <a:pt x="295" y="8"/>
                </a:lnTo>
                <a:lnTo>
                  <a:pt x="278" y="10"/>
                </a:lnTo>
                <a:lnTo>
                  <a:pt x="262" y="13"/>
                </a:lnTo>
                <a:lnTo>
                  <a:pt x="246" y="15"/>
                </a:lnTo>
                <a:lnTo>
                  <a:pt x="229" y="17"/>
                </a:lnTo>
                <a:lnTo>
                  <a:pt x="213" y="20"/>
                </a:lnTo>
                <a:lnTo>
                  <a:pt x="196" y="23"/>
                </a:lnTo>
                <a:lnTo>
                  <a:pt x="180" y="25"/>
                </a:lnTo>
                <a:lnTo>
                  <a:pt x="164" y="28"/>
                </a:lnTo>
                <a:lnTo>
                  <a:pt x="147" y="30"/>
                </a:lnTo>
                <a:lnTo>
                  <a:pt x="131" y="33"/>
                </a:lnTo>
                <a:lnTo>
                  <a:pt x="114" y="35"/>
                </a:lnTo>
                <a:lnTo>
                  <a:pt x="98" y="37"/>
                </a:lnTo>
                <a:lnTo>
                  <a:pt x="82" y="39"/>
                </a:lnTo>
                <a:lnTo>
                  <a:pt x="65" y="40"/>
                </a:lnTo>
                <a:lnTo>
                  <a:pt x="49" y="42"/>
                </a:lnTo>
                <a:lnTo>
                  <a:pt x="33" y="42"/>
                </a:lnTo>
                <a:lnTo>
                  <a:pt x="16" y="43"/>
                </a:lnTo>
                <a:lnTo>
                  <a:pt x="0" y="4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Freeform 43"/>
          <p:cNvSpPr/>
          <p:nvPr/>
        </p:nvSpPr>
        <p:spPr>
          <a:xfrm>
            <a:off x="2057400" y="6219825"/>
            <a:ext cx="3743325" cy="142875"/>
          </a:xfrm>
          <a:custGeom>
            <a:avLst/>
            <a:gdLst/>
            <a:ahLst/>
            <a:cxnLst/>
            <a:rect l="l" t="t" r="r" b="b"/>
            <a:pathLst>
              <a:path w="393" h="15">
                <a:moveTo>
                  <a:pt x="0" y="13"/>
                </a:moveTo>
                <a:lnTo>
                  <a:pt x="16" y="13"/>
                </a:lnTo>
                <a:lnTo>
                  <a:pt x="33" y="13"/>
                </a:lnTo>
                <a:lnTo>
                  <a:pt x="49" y="13"/>
                </a:lnTo>
                <a:lnTo>
                  <a:pt x="65" y="12"/>
                </a:lnTo>
                <a:lnTo>
                  <a:pt x="82" y="12"/>
                </a:lnTo>
                <a:lnTo>
                  <a:pt x="98" y="11"/>
                </a:lnTo>
                <a:lnTo>
                  <a:pt x="114" y="11"/>
                </a:lnTo>
                <a:lnTo>
                  <a:pt x="131" y="10"/>
                </a:lnTo>
                <a:lnTo>
                  <a:pt x="147" y="9"/>
                </a:lnTo>
                <a:lnTo>
                  <a:pt x="164" y="8"/>
                </a:lnTo>
                <a:lnTo>
                  <a:pt x="180" y="8"/>
                </a:lnTo>
                <a:lnTo>
                  <a:pt x="196" y="7"/>
                </a:lnTo>
                <a:lnTo>
                  <a:pt x="213" y="6"/>
                </a:lnTo>
                <a:lnTo>
                  <a:pt x="229" y="5"/>
                </a:lnTo>
                <a:lnTo>
                  <a:pt x="246" y="4"/>
                </a:lnTo>
                <a:lnTo>
                  <a:pt x="262" y="4"/>
                </a:lnTo>
                <a:lnTo>
                  <a:pt x="278" y="3"/>
                </a:lnTo>
                <a:lnTo>
                  <a:pt x="295" y="2"/>
                </a:lnTo>
                <a:lnTo>
                  <a:pt x="311" y="2"/>
                </a:lnTo>
                <a:lnTo>
                  <a:pt x="327" y="1"/>
                </a:lnTo>
                <a:lnTo>
                  <a:pt x="344" y="1"/>
                </a:lnTo>
                <a:lnTo>
                  <a:pt x="360" y="1"/>
                </a:lnTo>
                <a:lnTo>
                  <a:pt x="377" y="0"/>
                </a:lnTo>
                <a:lnTo>
                  <a:pt x="393" y="0"/>
                </a:lnTo>
                <a:lnTo>
                  <a:pt x="393" y="2"/>
                </a:lnTo>
                <a:lnTo>
                  <a:pt x="377" y="2"/>
                </a:lnTo>
                <a:lnTo>
                  <a:pt x="360" y="3"/>
                </a:lnTo>
                <a:lnTo>
                  <a:pt x="344" y="3"/>
                </a:lnTo>
                <a:lnTo>
                  <a:pt x="327" y="3"/>
                </a:lnTo>
                <a:lnTo>
                  <a:pt x="311" y="4"/>
                </a:lnTo>
                <a:lnTo>
                  <a:pt x="295" y="4"/>
                </a:lnTo>
                <a:lnTo>
                  <a:pt x="278" y="5"/>
                </a:lnTo>
                <a:lnTo>
                  <a:pt x="262" y="6"/>
                </a:lnTo>
                <a:lnTo>
                  <a:pt x="246" y="6"/>
                </a:lnTo>
                <a:lnTo>
                  <a:pt x="229" y="7"/>
                </a:lnTo>
                <a:lnTo>
                  <a:pt x="213" y="8"/>
                </a:lnTo>
                <a:lnTo>
                  <a:pt x="196" y="9"/>
                </a:lnTo>
                <a:lnTo>
                  <a:pt x="180" y="10"/>
                </a:lnTo>
                <a:lnTo>
                  <a:pt x="164" y="10"/>
                </a:lnTo>
                <a:lnTo>
                  <a:pt x="147" y="11"/>
                </a:lnTo>
                <a:lnTo>
                  <a:pt x="131" y="12"/>
                </a:lnTo>
                <a:lnTo>
                  <a:pt x="114" y="13"/>
                </a:lnTo>
                <a:lnTo>
                  <a:pt x="98" y="13"/>
                </a:lnTo>
                <a:lnTo>
                  <a:pt x="82" y="14"/>
                </a:lnTo>
                <a:lnTo>
                  <a:pt x="65" y="14"/>
                </a:lnTo>
                <a:lnTo>
                  <a:pt x="49" y="15"/>
                </a:lnTo>
                <a:lnTo>
                  <a:pt x="33" y="15"/>
                </a:lnTo>
                <a:lnTo>
                  <a:pt x="16" y="15"/>
                </a:lnTo>
                <a:lnTo>
                  <a:pt x="0" y="1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Freeform 44"/>
          <p:cNvSpPr/>
          <p:nvPr/>
        </p:nvSpPr>
        <p:spPr>
          <a:xfrm>
            <a:off x="2057400" y="6362700"/>
            <a:ext cx="3743325" cy="161925"/>
          </a:xfrm>
          <a:custGeom>
            <a:avLst/>
            <a:gdLst/>
            <a:ahLst/>
            <a:cxnLst/>
            <a:rect l="l" t="t" r="r" b="b"/>
            <a:pathLst>
              <a:path w="393" h="17">
                <a:moveTo>
                  <a:pt x="0" y="0"/>
                </a:moveTo>
                <a:lnTo>
                  <a:pt x="16" y="0"/>
                </a:lnTo>
                <a:lnTo>
                  <a:pt x="33" y="1"/>
                </a:lnTo>
                <a:lnTo>
                  <a:pt x="49" y="1"/>
                </a:lnTo>
                <a:lnTo>
                  <a:pt x="65" y="1"/>
                </a:lnTo>
                <a:lnTo>
                  <a:pt x="82" y="2"/>
                </a:lnTo>
                <a:lnTo>
                  <a:pt x="98" y="3"/>
                </a:lnTo>
                <a:lnTo>
                  <a:pt x="114" y="3"/>
                </a:lnTo>
                <a:lnTo>
                  <a:pt x="131" y="4"/>
                </a:lnTo>
                <a:lnTo>
                  <a:pt x="147" y="5"/>
                </a:lnTo>
                <a:lnTo>
                  <a:pt x="164" y="6"/>
                </a:lnTo>
                <a:lnTo>
                  <a:pt x="180" y="7"/>
                </a:lnTo>
                <a:lnTo>
                  <a:pt x="196" y="8"/>
                </a:lnTo>
                <a:lnTo>
                  <a:pt x="213" y="8"/>
                </a:lnTo>
                <a:lnTo>
                  <a:pt x="229" y="9"/>
                </a:lnTo>
                <a:lnTo>
                  <a:pt x="246" y="10"/>
                </a:lnTo>
                <a:lnTo>
                  <a:pt x="262" y="11"/>
                </a:lnTo>
                <a:lnTo>
                  <a:pt x="278" y="12"/>
                </a:lnTo>
                <a:lnTo>
                  <a:pt x="295" y="13"/>
                </a:lnTo>
                <a:lnTo>
                  <a:pt x="311" y="13"/>
                </a:lnTo>
                <a:lnTo>
                  <a:pt x="327" y="14"/>
                </a:lnTo>
                <a:lnTo>
                  <a:pt x="344" y="14"/>
                </a:lnTo>
                <a:lnTo>
                  <a:pt x="360" y="14"/>
                </a:lnTo>
                <a:lnTo>
                  <a:pt x="377" y="15"/>
                </a:lnTo>
                <a:lnTo>
                  <a:pt x="393" y="15"/>
                </a:lnTo>
                <a:lnTo>
                  <a:pt x="393" y="17"/>
                </a:lnTo>
                <a:lnTo>
                  <a:pt x="377" y="17"/>
                </a:lnTo>
                <a:lnTo>
                  <a:pt x="360" y="17"/>
                </a:lnTo>
                <a:lnTo>
                  <a:pt x="344" y="16"/>
                </a:lnTo>
                <a:lnTo>
                  <a:pt x="327" y="16"/>
                </a:lnTo>
                <a:lnTo>
                  <a:pt x="311" y="15"/>
                </a:lnTo>
                <a:lnTo>
                  <a:pt x="295" y="15"/>
                </a:lnTo>
                <a:lnTo>
                  <a:pt x="278" y="14"/>
                </a:lnTo>
                <a:lnTo>
                  <a:pt x="262" y="13"/>
                </a:lnTo>
                <a:lnTo>
                  <a:pt x="246" y="12"/>
                </a:lnTo>
                <a:lnTo>
                  <a:pt x="229" y="12"/>
                </a:lnTo>
                <a:lnTo>
                  <a:pt x="213" y="11"/>
                </a:lnTo>
                <a:lnTo>
                  <a:pt x="196" y="10"/>
                </a:lnTo>
                <a:lnTo>
                  <a:pt x="180" y="9"/>
                </a:lnTo>
                <a:lnTo>
                  <a:pt x="164" y="8"/>
                </a:lnTo>
                <a:lnTo>
                  <a:pt x="147" y="7"/>
                </a:lnTo>
                <a:lnTo>
                  <a:pt x="131" y="6"/>
                </a:lnTo>
                <a:lnTo>
                  <a:pt x="114" y="6"/>
                </a:lnTo>
                <a:lnTo>
                  <a:pt x="98" y="5"/>
                </a:lnTo>
                <a:lnTo>
                  <a:pt x="82" y="4"/>
                </a:lnTo>
                <a:lnTo>
                  <a:pt x="65" y="4"/>
                </a:lnTo>
                <a:lnTo>
                  <a:pt x="49" y="3"/>
                </a:lnTo>
                <a:lnTo>
                  <a:pt x="33" y="3"/>
                </a:lnTo>
                <a:lnTo>
                  <a:pt x="16" y="3"/>
                </a:lnTo>
                <a:lnTo>
                  <a:pt x="0" y="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Freeform 45"/>
          <p:cNvSpPr/>
          <p:nvPr/>
        </p:nvSpPr>
        <p:spPr>
          <a:xfrm>
            <a:off x="2057400" y="4743450"/>
            <a:ext cx="3743325" cy="1724025"/>
          </a:xfrm>
          <a:custGeom>
            <a:avLst/>
            <a:gdLst/>
            <a:ahLst/>
            <a:cxnLst/>
            <a:rect l="l" t="t" r="r" b="b"/>
            <a:pathLst>
              <a:path w="393" h="181">
                <a:moveTo>
                  <a:pt x="0" y="179"/>
                </a:moveTo>
                <a:lnTo>
                  <a:pt x="16" y="178"/>
                </a:lnTo>
                <a:lnTo>
                  <a:pt x="33" y="175"/>
                </a:lnTo>
                <a:lnTo>
                  <a:pt x="49" y="171"/>
                </a:lnTo>
                <a:lnTo>
                  <a:pt x="65" y="165"/>
                </a:lnTo>
                <a:lnTo>
                  <a:pt x="82" y="159"/>
                </a:lnTo>
                <a:lnTo>
                  <a:pt x="98" y="151"/>
                </a:lnTo>
                <a:lnTo>
                  <a:pt x="114" y="142"/>
                </a:lnTo>
                <a:lnTo>
                  <a:pt x="131" y="132"/>
                </a:lnTo>
                <a:lnTo>
                  <a:pt x="147" y="122"/>
                </a:lnTo>
                <a:lnTo>
                  <a:pt x="164" y="111"/>
                </a:lnTo>
                <a:lnTo>
                  <a:pt x="180" y="100"/>
                </a:lnTo>
                <a:lnTo>
                  <a:pt x="196" y="89"/>
                </a:lnTo>
                <a:lnTo>
                  <a:pt x="213" y="78"/>
                </a:lnTo>
                <a:lnTo>
                  <a:pt x="229" y="67"/>
                </a:lnTo>
                <a:lnTo>
                  <a:pt x="246" y="56"/>
                </a:lnTo>
                <a:lnTo>
                  <a:pt x="262" y="46"/>
                </a:lnTo>
                <a:lnTo>
                  <a:pt x="278" y="37"/>
                </a:lnTo>
                <a:lnTo>
                  <a:pt x="295" y="28"/>
                </a:lnTo>
                <a:lnTo>
                  <a:pt x="311" y="20"/>
                </a:lnTo>
                <a:lnTo>
                  <a:pt x="327" y="13"/>
                </a:lnTo>
                <a:lnTo>
                  <a:pt x="344" y="8"/>
                </a:lnTo>
                <a:lnTo>
                  <a:pt x="360" y="3"/>
                </a:lnTo>
                <a:lnTo>
                  <a:pt x="377" y="1"/>
                </a:lnTo>
                <a:lnTo>
                  <a:pt x="393" y="0"/>
                </a:lnTo>
                <a:lnTo>
                  <a:pt x="393" y="2"/>
                </a:lnTo>
                <a:lnTo>
                  <a:pt x="377" y="3"/>
                </a:lnTo>
                <a:lnTo>
                  <a:pt x="360" y="6"/>
                </a:lnTo>
                <a:lnTo>
                  <a:pt x="344" y="10"/>
                </a:lnTo>
                <a:lnTo>
                  <a:pt x="327" y="15"/>
                </a:lnTo>
                <a:lnTo>
                  <a:pt x="311" y="22"/>
                </a:lnTo>
                <a:lnTo>
                  <a:pt x="295" y="30"/>
                </a:lnTo>
                <a:lnTo>
                  <a:pt x="278" y="39"/>
                </a:lnTo>
                <a:lnTo>
                  <a:pt x="262" y="48"/>
                </a:lnTo>
                <a:lnTo>
                  <a:pt x="246" y="59"/>
                </a:lnTo>
                <a:lnTo>
                  <a:pt x="229" y="69"/>
                </a:lnTo>
                <a:lnTo>
                  <a:pt x="213" y="80"/>
                </a:lnTo>
                <a:lnTo>
                  <a:pt x="196" y="91"/>
                </a:lnTo>
                <a:lnTo>
                  <a:pt x="180" y="103"/>
                </a:lnTo>
                <a:lnTo>
                  <a:pt x="164" y="114"/>
                </a:lnTo>
                <a:lnTo>
                  <a:pt x="147" y="124"/>
                </a:lnTo>
                <a:lnTo>
                  <a:pt x="131" y="135"/>
                </a:lnTo>
                <a:lnTo>
                  <a:pt x="114" y="144"/>
                </a:lnTo>
                <a:lnTo>
                  <a:pt x="98" y="153"/>
                </a:lnTo>
                <a:lnTo>
                  <a:pt x="82" y="161"/>
                </a:lnTo>
                <a:lnTo>
                  <a:pt x="65" y="168"/>
                </a:lnTo>
                <a:lnTo>
                  <a:pt x="49" y="173"/>
                </a:lnTo>
                <a:lnTo>
                  <a:pt x="33" y="177"/>
                </a:lnTo>
                <a:lnTo>
                  <a:pt x="16" y="180"/>
                </a:lnTo>
                <a:lnTo>
                  <a:pt x="0" y="18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Freeform 46"/>
          <p:cNvSpPr/>
          <p:nvPr/>
        </p:nvSpPr>
        <p:spPr>
          <a:xfrm>
            <a:off x="2057400" y="5229225"/>
            <a:ext cx="3743325" cy="1257300"/>
          </a:xfrm>
          <a:custGeom>
            <a:avLst/>
            <a:gdLst/>
            <a:ahLst/>
            <a:cxnLst/>
            <a:rect l="l" t="t" r="r" b="b"/>
            <a:pathLst>
              <a:path w="393" h="132">
                <a:moveTo>
                  <a:pt x="0" y="130"/>
                </a:moveTo>
                <a:lnTo>
                  <a:pt x="16" y="129"/>
                </a:lnTo>
                <a:lnTo>
                  <a:pt x="33" y="127"/>
                </a:lnTo>
                <a:lnTo>
                  <a:pt x="49" y="124"/>
                </a:lnTo>
                <a:lnTo>
                  <a:pt x="65" y="120"/>
                </a:lnTo>
                <a:lnTo>
                  <a:pt x="82" y="115"/>
                </a:lnTo>
                <a:lnTo>
                  <a:pt x="98" y="110"/>
                </a:lnTo>
                <a:lnTo>
                  <a:pt x="114" y="103"/>
                </a:lnTo>
                <a:lnTo>
                  <a:pt x="131" y="96"/>
                </a:lnTo>
                <a:lnTo>
                  <a:pt x="147" y="89"/>
                </a:lnTo>
                <a:lnTo>
                  <a:pt x="164" y="81"/>
                </a:lnTo>
                <a:lnTo>
                  <a:pt x="180" y="73"/>
                </a:lnTo>
                <a:lnTo>
                  <a:pt x="196" y="65"/>
                </a:lnTo>
                <a:lnTo>
                  <a:pt x="213" y="57"/>
                </a:lnTo>
                <a:lnTo>
                  <a:pt x="229" y="49"/>
                </a:lnTo>
                <a:lnTo>
                  <a:pt x="246" y="41"/>
                </a:lnTo>
                <a:lnTo>
                  <a:pt x="262" y="34"/>
                </a:lnTo>
                <a:lnTo>
                  <a:pt x="278" y="27"/>
                </a:lnTo>
                <a:lnTo>
                  <a:pt x="295" y="20"/>
                </a:lnTo>
                <a:lnTo>
                  <a:pt x="311" y="15"/>
                </a:lnTo>
                <a:lnTo>
                  <a:pt x="327" y="10"/>
                </a:lnTo>
                <a:lnTo>
                  <a:pt x="344" y="6"/>
                </a:lnTo>
                <a:lnTo>
                  <a:pt x="360" y="3"/>
                </a:lnTo>
                <a:lnTo>
                  <a:pt x="377" y="1"/>
                </a:lnTo>
                <a:lnTo>
                  <a:pt x="393" y="0"/>
                </a:lnTo>
                <a:lnTo>
                  <a:pt x="393" y="2"/>
                </a:lnTo>
                <a:lnTo>
                  <a:pt x="377" y="3"/>
                </a:lnTo>
                <a:lnTo>
                  <a:pt x="360" y="4"/>
                </a:lnTo>
                <a:lnTo>
                  <a:pt x="344" y="7"/>
                </a:lnTo>
                <a:lnTo>
                  <a:pt x="327" y="11"/>
                </a:lnTo>
                <a:lnTo>
                  <a:pt x="311" y="16"/>
                </a:lnTo>
                <a:lnTo>
                  <a:pt x="295" y="22"/>
                </a:lnTo>
                <a:lnTo>
                  <a:pt x="278" y="29"/>
                </a:lnTo>
                <a:lnTo>
                  <a:pt x="262" y="36"/>
                </a:lnTo>
                <a:lnTo>
                  <a:pt x="246" y="43"/>
                </a:lnTo>
                <a:lnTo>
                  <a:pt x="229" y="51"/>
                </a:lnTo>
                <a:lnTo>
                  <a:pt x="213" y="59"/>
                </a:lnTo>
                <a:lnTo>
                  <a:pt x="196" y="67"/>
                </a:lnTo>
                <a:lnTo>
                  <a:pt x="180" y="75"/>
                </a:lnTo>
                <a:lnTo>
                  <a:pt x="164" y="83"/>
                </a:lnTo>
                <a:lnTo>
                  <a:pt x="147" y="91"/>
                </a:lnTo>
                <a:lnTo>
                  <a:pt x="131" y="98"/>
                </a:lnTo>
                <a:lnTo>
                  <a:pt x="114" y="105"/>
                </a:lnTo>
                <a:lnTo>
                  <a:pt x="98" y="111"/>
                </a:lnTo>
                <a:lnTo>
                  <a:pt x="82" y="117"/>
                </a:lnTo>
                <a:lnTo>
                  <a:pt x="65" y="122"/>
                </a:lnTo>
                <a:lnTo>
                  <a:pt x="49" y="126"/>
                </a:lnTo>
                <a:lnTo>
                  <a:pt x="33" y="129"/>
                </a:lnTo>
                <a:lnTo>
                  <a:pt x="16" y="131"/>
                </a:lnTo>
                <a:lnTo>
                  <a:pt x="0" y="13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Freeform 47"/>
          <p:cNvSpPr/>
          <p:nvPr/>
        </p:nvSpPr>
        <p:spPr>
          <a:xfrm>
            <a:off x="2057400" y="5591175"/>
            <a:ext cx="3743325" cy="914400"/>
          </a:xfrm>
          <a:custGeom>
            <a:avLst/>
            <a:gdLst/>
            <a:ahLst/>
            <a:cxnLst/>
            <a:rect l="l" t="t" r="r" b="b"/>
            <a:pathLst>
              <a:path w="393" h="96">
                <a:moveTo>
                  <a:pt x="0" y="94"/>
                </a:moveTo>
                <a:lnTo>
                  <a:pt x="16" y="93"/>
                </a:lnTo>
                <a:lnTo>
                  <a:pt x="33" y="92"/>
                </a:lnTo>
                <a:lnTo>
                  <a:pt x="49" y="90"/>
                </a:lnTo>
                <a:lnTo>
                  <a:pt x="65" y="87"/>
                </a:lnTo>
                <a:lnTo>
                  <a:pt x="82" y="83"/>
                </a:lnTo>
                <a:lnTo>
                  <a:pt x="98" y="79"/>
                </a:lnTo>
                <a:lnTo>
                  <a:pt x="114" y="74"/>
                </a:lnTo>
                <a:lnTo>
                  <a:pt x="131" y="69"/>
                </a:lnTo>
                <a:lnTo>
                  <a:pt x="147" y="64"/>
                </a:lnTo>
                <a:lnTo>
                  <a:pt x="164" y="58"/>
                </a:lnTo>
                <a:lnTo>
                  <a:pt x="180" y="53"/>
                </a:lnTo>
                <a:lnTo>
                  <a:pt x="196" y="47"/>
                </a:lnTo>
                <a:lnTo>
                  <a:pt x="213" y="41"/>
                </a:lnTo>
                <a:lnTo>
                  <a:pt x="229" y="35"/>
                </a:lnTo>
                <a:lnTo>
                  <a:pt x="246" y="30"/>
                </a:lnTo>
                <a:lnTo>
                  <a:pt x="262" y="24"/>
                </a:lnTo>
                <a:lnTo>
                  <a:pt x="278" y="19"/>
                </a:lnTo>
                <a:lnTo>
                  <a:pt x="295" y="15"/>
                </a:lnTo>
                <a:lnTo>
                  <a:pt x="311" y="10"/>
                </a:lnTo>
                <a:lnTo>
                  <a:pt x="327" y="7"/>
                </a:lnTo>
                <a:lnTo>
                  <a:pt x="344" y="4"/>
                </a:lnTo>
                <a:lnTo>
                  <a:pt x="360" y="2"/>
                </a:lnTo>
                <a:lnTo>
                  <a:pt x="377" y="0"/>
                </a:lnTo>
                <a:lnTo>
                  <a:pt x="393" y="0"/>
                </a:lnTo>
                <a:lnTo>
                  <a:pt x="393" y="2"/>
                </a:lnTo>
                <a:lnTo>
                  <a:pt x="377" y="2"/>
                </a:lnTo>
                <a:lnTo>
                  <a:pt x="360" y="4"/>
                </a:lnTo>
                <a:lnTo>
                  <a:pt x="344" y="6"/>
                </a:lnTo>
                <a:lnTo>
                  <a:pt x="327" y="9"/>
                </a:lnTo>
                <a:lnTo>
                  <a:pt x="311" y="12"/>
                </a:lnTo>
                <a:lnTo>
                  <a:pt x="295" y="16"/>
                </a:lnTo>
                <a:lnTo>
                  <a:pt x="278" y="21"/>
                </a:lnTo>
                <a:lnTo>
                  <a:pt x="262" y="26"/>
                </a:lnTo>
                <a:lnTo>
                  <a:pt x="246" y="31"/>
                </a:lnTo>
                <a:lnTo>
                  <a:pt x="229" y="37"/>
                </a:lnTo>
                <a:lnTo>
                  <a:pt x="213" y="43"/>
                </a:lnTo>
                <a:lnTo>
                  <a:pt x="196" y="49"/>
                </a:lnTo>
                <a:lnTo>
                  <a:pt x="180" y="55"/>
                </a:lnTo>
                <a:lnTo>
                  <a:pt x="164" y="60"/>
                </a:lnTo>
                <a:lnTo>
                  <a:pt x="147" y="66"/>
                </a:lnTo>
                <a:lnTo>
                  <a:pt x="131" y="71"/>
                </a:lnTo>
                <a:lnTo>
                  <a:pt x="114" y="76"/>
                </a:lnTo>
                <a:lnTo>
                  <a:pt x="98" y="81"/>
                </a:lnTo>
                <a:lnTo>
                  <a:pt x="82" y="85"/>
                </a:lnTo>
                <a:lnTo>
                  <a:pt x="65" y="89"/>
                </a:lnTo>
                <a:lnTo>
                  <a:pt x="49" y="91"/>
                </a:lnTo>
                <a:lnTo>
                  <a:pt x="33" y="94"/>
                </a:lnTo>
                <a:lnTo>
                  <a:pt x="16" y="95"/>
                </a:lnTo>
                <a:lnTo>
                  <a:pt x="0" y="96"/>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Freeform 48"/>
          <p:cNvSpPr/>
          <p:nvPr/>
        </p:nvSpPr>
        <p:spPr>
          <a:xfrm>
            <a:off x="2057400" y="5953125"/>
            <a:ext cx="3743325" cy="561975"/>
          </a:xfrm>
          <a:custGeom>
            <a:avLst/>
            <a:gdLst/>
            <a:ahLst/>
            <a:cxnLst/>
            <a:rect l="l" t="t" r="r" b="b"/>
            <a:pathLst>
              <a:path w="393" h="59">
                <a:moveTo>
                  <a:pt x="0" y="58"/>
                </a:moveTo>
                <a:lnTo>
                  <a:pt x="16" y="57"/>
                </a:lnTo>
                <a:lnTo>
                  <a:pt x="33" y="56"/>
                </a:lnTo>
                <a:lnTo>
                  <a:pt x="49" y="55"/>
                </a:lnTo>
                <a:lnTo>
                  <a:pt x="65" y="53"/>
                </a:lnTo>
                <a:lnTo>
                  <a:pt x="82" y="51"/>
                </a:lnTo>
                <a:lnTo>
                  <a:pt x="98" y="48"/>
                </a:lnTo>
                <a:lnTo>
                  <a:pt x="114" y="46"/>
                </a:lnTo>
                <a:lnTo>
                  <a:pt x="131" y="43"/>
                </a:lnTo>
                <a:lnTo>
                  <a:pt x="147" y="39"/>
                </a:lnTo>
                <a:lnTo>
                  <a:pt x="164" y="36"/>
                </a:lnTo>
                <a:lnTo>
                  <a:pt x="180" y="32"/>
                </a:lnTo>
                <a:lnTo>
                  <a:pt x="196" y="29"/>
                </a:lnTo>
                <a:lnTo>
                  <a:pt x="213" y="25"/>
                </a:lnTo>
                <a:lnTo>
                  <a:pt x="229" y="21"/>
                </a:lnTo>
                <a:lnTo>
                  <a:pt x="246" y="18"/>
                </a:lnTo>
                <a:lnTo>
                  <a:pt x="262" y="15"/>
                </a:lnTo>
                <a:lnTo>
                  <a:pt x="278" y="12"/>
                </a:lnTo>
                <a:lnTo>
                  <a:pt x="295" y="9"/>
                </a:lnTo>
                <a:lnTo>
                  <a:pt x="311" y="6"/>
                </a:lnTo>
                <a:lnTo>
                  <a:pt x="327" y="4"/>
                </a:lnTo>
                <a:lnTo>
                  <a:pt x="344" y="2"/>
                </a:lnTo>
                <a:lnTo>
                  <a:pt x="360" y="1"/>
                </a:lnTo>
                <a:lnTo>
                  <a:pt x="377" y="0"/>
                </a:lnTo>
                <a:lnTo>
                  <a:pt x="393" y="0"/>
                </a:lnTo>
                <a:lnTo>
                  <a:pt x="393" y="1"/>
                </a:lnTo>
                <a:lnTo>
                  <a:pt x="377" y="1"/>
                </a:lnTo>
                <a:lnTo>
                  <a:pt x="360" y="2"/>
                </a:lnTo>
                <a:lnTo>
                  <a:pt x="344" y="4"/>
                </a:lnTo>
                <a:lnTo>
                  <a:pt x="327" y="5"/>
                </a:lnTo>
                <a:lnTo>
                  <a:pt x="311" y="7"/>
                </a:lnTo>
                <a:lnTo>
                  <a:pt x="295" y="10"/>
                </a:lnTo>
                <a:lnTo>
                  <a:pt x="278" y="13"/>
                </a:lnTo>
                <a:lnTo>
                  <a:pt x="262" y="16"/>
                </a:lnTo>
                <a:lnTo>
                  <a:pt x="246" y="19"/>
                </a:lnTo>
                <a:lnTo>
                  <a:pt x="229" y="23"/>
                </a:lnTo>
                <a:lnTo>
                  <a:pt x="213" y="26"/>
                </a:lnTo>
                <a:lnTo>
                  <a:pt x="196" y="30"/>
                </a:lnTo>
                <a:lnTo>
                  <a:pt x="180" y="33"/>
                </a:lnTo>
                <a:lnTo>
                  <a:pt x="164" y="37"/>
                </a:lnTo>
                <a:lnTo>
                  <a:pt x="147" y="40"/>
                </a:lnTo>
                <a:lnTo>
                  <a:pt x="131" y="44"/>
                </a:lnTo>
                <a:lnTo>
                  <a:pt x="114" y="47"/>
                </a:lnTo>
                <a:lnTo>
                  <a:pt x="98" y="50"/>
                </a:lnTo>
                <a:lnTo>
                  <a:pt x="82" y="52"/>
                </a:lnTo>
                <a:lnTo>
                  <a:pt x="65" y="54"/>
                </a:lnTo>
                <a:lnTo>
                  <a:pt x="49" y="56"/>
                </a:lnTo>
                <a:lnTo>
                  <a:pt x="33" y="58"/>
                </a:lnTo>
                <a:lnTo>
                  <a:pt x="16" y="58"/>
                </a:lnTo>
                <a:lnTo>
                  <a:pt x="0" y="5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Freeform 49"/>
          <p:cNvSpPr/>
          <p:nvPr/>
        </p:nvSpPr>
        <p:spPr>
          <a:xfrm>
            <a:off x="2057400" y="6238875"/>
            <a:ext cx="3743325" cy="285750"/>
          </a:xfrm>
          <a:custGeom>
            <a:avLst/>
            <a:gdLst/>
            <a:ahLst/>
            <a:cxnLst/>
            <a:rect l="l" t="t" r="r" b="b"/>
            <a:pathLst>
              <a:path w="393" h="30">
                <a:moveTo>
                  <a:pt x="0" y="29"/>
                </a:moveTo>
                <a:lnTo>
                  <a:pt x="16" y="29"/>
                </a:lnTo>
                <a:lnTo>
                  <a:pt x="33" y="28"/>
                </a:lnTo>
                <a:lnTo>
                  <a:pt x="49" y="28"/>
                </a:lnTo>
                <a:lnTo>
                  <a:pt x="65" y="27"/>
                </a:lnTo>
                <a:lnTo>
                  <a:pt x="82" y="26"/>
                </a:lnTo>
                <a:lnTo>
                  <a:pt x="98" y="24"/>
                </a:lnTo>
                <a:lnTo>
                  <a:pt x="114" y="23"/>
                </a:lnTo>
                <a:lnTo>
                  <a:pt x="131" y="21"/>
                </a:lnTo>
                <a:lnTo>
                  <a:pt x="147" y="20"/>
                </a:lnTo>
                <a:lnTo>
                  <a:pt x="164" y="18"/>
                </a:lnTo>
                <a:lnTo>
                  <a:pt x="180" y="16"/>
                </a:lnTo>
                <a:lnTo>
                  <a:pt x="196" y="15"/>
                </a:lnTo>
                <a:lnTo>
                  <a:pt x="213" y="13"/>
                </a:lnTo>
                <a:lnTo>
                  <a:pt x="229" y="11"/>
                </a:lnTo>
                <a:lnTo>
                  <a:pt x="246" y="9"/>
                </a:lnTo>
                <a:lnTo>
                  <a:pt x="262" y="8"/>
                </a:lnTo>
                <a:lnTo>
                  <a:pt x="278" y="6"/>
                </a:lnTo>
                <a:lnTo>
                  <a:pt x="295" y="5"/>
                </a:lnTo>
                <a:lnTo>
                  <a:pt x="311" y="4"/>
                </a:lnTo>
                <a:lnTo>
                  <a:pt x="327" y="2"/>
                </a:lnTo>
                <a:lnTo>
                  <a:pt x="344" y="2"/>
                </a:lnTo>
                <a:lnTo>
                  <a:pt x="360" y="1"/>
                </a:lnTo>
                <a:lnTo>
                  <a:pt x="377" y="1"/>
                </a:lnTo>
                <a:lnTo>
                  <a:pt x="393" y="0"/>
                </a:lnTo>
                <a:lnTo>
                  <a:pt x="393" y="2"/>
                </a:lnTo>
                <a:lnTo>
                  <a:pt x="377" y="2"/>
                </a:lnTo>
                <a:lnTo>
                  <a:pt x="360" y="2"/>
                </a:lnTo>
                <a:lnTo>
                  <a:pt x="344" y="3"/>
                </a:lnTo>
                <a:lnTo>
                  <a:pt x="327" y="4"/>
                </a:lnTo>
                <a:lnTo>
                  <a:pt x="311" y="5"/>
                </a:lnTo>
                <a:lnTo>
                  <a:pt x="295" y="6"/>
                </a:lnTo>
                <a:lnTo>
                  <a:pt x="278" y="7"/>
                </a:lnTo>
                <a:lnTo>
                  <a:pt x="262" y="9"/>
                </a:lnTo>
                <a:lnTo>
                  <a:pt x="246" y="11"/>
                </a:lnTo>
                <a:lnTo>
                  <a:pt x="229" y="12"/>
                </a:lnTo>
                <a:lnTo>
                  <a:pt x="213" y="14"/>
                </a:lnTo>
                <a:lnTo>
                  <a:pt x="196" y="16"/>
                </a:lnTo>
                <a:lnTo>
                  <a:pt x="180" y="18"/>
                </a:lnTo>
                <a:lnTo>
                  <a:pt x="164" y="19"/>
                </a:lnTo>
                <a:lnTo>
                  <a:pt x="147" y="21"/>
                </a:lnTo>
                <a:lnTo>
                  <a:pt x="131" y="23"/>
                </a:lnTo>
                <a:lnTo>
                  <a:pt x="114" y="24"/>
                </a:lnTo>
                <a:lnTo>
                  <a:pt x="98" y="26"/>
                </a:lnTo>
                <a:lnTo>
                  <a:pt x="82" y="27"/>
                </a:lnTo>
                <a:lnTo>
                  <a:pt x="65" y="28"/>
                </a:lnTo>
                <a:lnTo>
                  <a:pt x="49" y="29"/>
                </a:lnTo>
                <a:lnTo>
                  <a:pt x="33" y="29"/>
                </a:lnTo>
                <a:lnTo>
                  <a:pt x="16" y="30"/>
                </a:lnTo>
                <a:lnTo>
                  <a:pt x="0" y="3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Freeform 50"/>
          <p:cNvSpPr/>
          <p:nvPr/>
        </p:nvSpPr>
        <p:spPr>
          <a:xfrm>
            <a:off x="2057400" y="6524625"/>
            <a:ext cx="3743325" cy="9525"/>
          </a:xfrm>
          <a:custGeom>
            <a:avLst/>
            <a:gdLst/>
            <a:ahLst/>
            <a:cxnLst/>
            <a:rect l="l" t="t" r="r" b="b"/>
            <a:pathLst>
              <a:path w="393" h="1">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
                </a:lnTo>
                <a:lnTo>
                  <a:pt x="377" y="1"/>
                </a:lnTo>
                <a:lnTo>
                  <a:pt x="360" y="1"/>
                </a:lnTo>
                <a:lnTo>
                  <a:pt x="344" y="1"/>
                </a:lnTo>
                <a:lnTo>
                  <a:pt x="327" y="1"/>
                </a:lnTo>
                <a:lnTo>
                  <a:pt x="311" y="1"/>
                </a:lnTo>
                <a:lnTo>
                  <a:pt x="295" y="1"/>
                </a:lnTo>
                <a:lnTo>
                  <a:pt x="278" y="1"/>
                </a:lnTo>
                <a:lnTo>
                  <a:pt x="262" y="1"/>
                </a:lnTo>
                <a:lnTo>
                  <a:pt x="246" y="1"/>
                </a:lnTo>
                <a:lnTo>
                  <a:pt x="229" y="1"/>
                </a:lnTo>
                <a:lnTo>
                  <a:pt x="213" y="1"/>
                </a:lnTo>
                <a:lnTo>
                  <a:pt x="196" y="1"/>
                </a:lnTo>
                <a:lnTo>
                  <a:pt x="180" y="1"/>
                </a:lnTo>
                <a:lnTo>
                  <a:pt x="164" y="1"/>
                </a:lnTo>
                <a:lnTo>
                  <a:pt x="147" y="1"/>
                </a:lnTo>
                <a:lnTo>
                  <a:pt x="131" y="1"/>
                </a:lnTo>
                <a:lnTo>
                  <a:pt x="114" y="1"/>
                </a:lnTo>
                <a:lnTo>
                  <a:pt x="98" y="1"/>
                </a:lnTo>
                <a:lnTo>
                  <a:pt x="82" y="1"/>
                </a:lnTo>
                <a:lnTo>
                  <a:pt x="65" y="1"/>
                </a:lnTo>
                <a:lnTo>
                  <a:pt x="49" y="1"/>
                </a:lnTo>
                <a:lnTo>
                  <a:pt x="33" y="1"/>
                </a:lnTo>
                <a:lnTo>
                  <a:pt x="16" y="1"/>
                </a:lnTo>
                <a:lnTo>
                  <a:pt x="0" y="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941195" y="4314825"/>
            <a:ext cx="114300" cy="713980"/>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57175" y="4314825"/>
            <a:ext cx="1626870" cy="713980"/>
          </a:xfrm>
          <a:prstGeom prst="rect">
            <a:avLst/>
          </a:prstGeom>
          <a:noFill/>
        </p:spPr>
        <p:txBody>
          <a:bodyPr wrap="square" lIns="0" tIns="0" rIns="19050" bIns="0" anchor="ctr">
            <a:spAutoFit/>
          </a:bodyPr>
          <a:lstStyle/>
          <a:p>
            <a:pPr algn="r"/>
            <a:endParaRPr/>
          </a:p>
        </p:txBody>
      </p:sp>
      <p:sp>
        <p:nvSpPr>
          <p:cNvPr id="54" name="Rectangle 53"/>
          <p:cNvSpPr/>
          <p:nvPr/>
        </p:nvSpPr>
        <p:spPr>
          <a:xfrm>
            <a:off x="1941195" y="5085955"/>
            <a:ext cx="114300" cy="400729"/>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57175" y="5085955"/>
            <a:ext cx="1626870" cy="400729"/>
          </a:xfrm>
          <a:prstGeom prst="rect">
            <a:avLst/>
          </a:prstGeom>
          <a:noFill/>
        </p:spPr>
        <p:txBody>
          <a:bodyPr wrap="square" lIns="0" tIns="0" rIns="19050" bIns="0" anchor="ctr">
            <a:spAutoFit/>
          </a:bodyPr>
          <a:lstStyle/>
          <a:p>
            <a:pPr algn="r"/>
            <a:endParaRPr/>
          </a:p>
        </p:txBody>
      </p:sp>
      <p:sp>
        <p:nvSpPr>
          <p:cNvPr id="56" name="Rectangle 55"/>
          <p:cNvSpPr/>
          <p:nvPr/>
        </p:nvSpPr>
        <p:spPr>
          <a:xfrm>
            <a:off x="1941195" y="5543834"/>
            <a:ext cx="114300" cy="36273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7175" y="5543834"/>
            <a:ext cx="1626870" cy="362739"/>
          </a:xfrm>
          <a:prstGeom prst="rect">
            <a:avLst/>
          </a:prstGeom>
          <a:noFill/>
        </p:spPr>
        <p:txBody>
          <a:bodyPr wrap="square" lIns="0" tIns="0" rIns="19050" bIns="0" anchor="ctr">
            <a:spAutoFit/>
          </a:bodyPr>
          <a:lstStyle/>
          <a:p>
            <a:pPr algn="r"/>
            <a:endParaRPr/>
          </a:p>
        </p:txBody>
      </p:sp>
      <p:sp>
        <p:nvSpPr>
          <p:cNvPr id="58" name="Rectangle 57"/>
          <p:cNvSpPr/>
          <p:nvPr/>
        </p:nvSpPr>
        <p:spPr>
          <a:xfrm>
            <a:off x="1941195" y="5963723"/>
            <a:ext cx="114300" cy="220958"/>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57175" y="5963723"/>
            <a:ext cx="1626870" cy="220958"/>
          </a:xfrm>
          <a:prstGeom prst="rect">
            <a:avLst/>
          </a:prstGeom>
          <a:noFill/>
        </p:spPr>
        <p:txBody>
          <a:bodyPr wrap="square" lIns="0" tIns="0" rIns="19050" bIns="0" anchor="ctr">
            <a:spAutoFit/>
          </a:bodyPr>
          <a:lstStyle/>
          <a:p>
            <a:pPr algn="r"/>
            <a:endParaRPr/>
          </a:p>
        </p:txBody>
      </p:sp>
      <p:sp>
        <p:nvSpPr>
          <p:cNvPr id="60" name="Rectangle 59"/>
          <p:cNvSpPr/>
          <p:nvPr/>
        </p:nvSpPr>
        <p:spPr>
          <a:xfrm>
            <a:off x="1941195" y="6241831"/>
            <a:ext cx="114300" cy="146039"/>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57175" y="6238651"/>
            <a:ext cx="1626870" cy="152400"/>
          </a:xfrm>
          <a:prstGeom prst="rect">
            <a:avLst/>
          </a:prstGeom>
          <a:noFill/>
        </p:spPr>
        <p:txBody>
          <a:bodyPr wrap="square" lIns="0" tIns="0" rIns="19050" bIns="0" anchor="ctr">
            <a:spAutoFit/>
          </a:bodyPr>
          <a:lstStyle/>
          <a:p>
            <a:pPr algn="r"/>
            <a:endParaRPr/>
          </a:p>
        </p:txBody>
      </p:sp>
      <p:sp>
        <p:nvSpPr>
          <p:cNvPr id="62" name="Rectangle 61"/>
          <p:cNvSpPr/>
          <p:nvPr/>
        </p:nvSpPr>
        <p:spPr>
          <a:xfrm>
            <a:off x="1941195" y="6445020"/>
            <a:ext cx="114300" cy="8913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57175" y="6413385"/>
            <a:ext cx="1626870" cy="152400"/>
          </a:xfrm>
          <a:prstGeom prst="rect">
            <a:avLst/>
          </a:prstGeom>
          <a:noFill/>
        </p:spPr>
        <p:txBody>
          <a:bodyPr wrap="square" lIns="0" tIns="0" rIns="19050" bIns="0" anchor="ctr">
            <a:spAutoFit/>
          </a:bodyPr>
          <a:lstStyle/>
          <a:p>
            <a:pPr algn="r"/>
            <a:endParaRPr/>
          </a:p>
        </p:txBody>
      </p:sp>
      <p:sp>
        <p:nvSpPr>
          <p:cNvPr id="64" name="Rectangle 63"/>
          <p:cNvSpPr/>
          <p:nvPr/>
        </p:nvSpPr>
        <p:spPr>
          <a:xfrm>
            <a:off x="5800725" y="4314825"/>
            <a:ext cx="114300" cy="44909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972175" y="4314825"/>
            <a:ext cx="1381125" cy="449090"/>
          </a:xfrm>
          <a:prstGeom prst="rect">
            <a:avLst/>
          </a:prstGeom>
          <a:noFill/>
        </p:spPr>
        <p:txBody>
          <a:bodyPr wrap="square" lIns="0" tIns="0" rIns="19050" bIns="0" anchor="ctr">
            <a:spAutoFit/>
          </a:bodyPr>
          <a:lstStyle/>
          <a:p>
            <a:pPr algn="l"/>
            <a:endParaRPr/>
          </a:p>
        </p:txBody>
      </p:sp>
      <p:sp>
        <p:nvSpPr>
          <p:cNvPr id="66" name="Rectangle 65"/>
          <p:cNvSpPr/>
          <p:nvPr/>
        </p:nvSpPr>
        <p:spPr>
          <a:xfrm>
            <a:off x="5800725" y="4821065"/>
            <a:ext cx="114300" cy="42599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972175" y="4821065"/>
            <a:ext cx="1381125" cy="425991"/>
          </a:xfrm>
          <a:prstGeom prst="rect">
            <a:avLst/>
          </a:prstGeom>
          <a:noFill/>
        </p:spPr>
        <p:txBody>
          <a:bodyPr wrap="square" lIns="0" tIns="0" rIns="19050" bIns="0" anchor="ctr">
            <a:spAutoFit/>
          </a:bodyPr>
          <a:lstStyle/>
          <a:p>
            <a:pPr algn="l"/>
            <a:endParaRPr/>
          </a:p>
        </p:txBody>
      </p:sp>
      <p:sp>
        <p:nvSpPr>
          <p:cNvPr id="68" name="Rectangle 67"/>
          <p:cNvSpPr/>
          <p:nvPr/>
        </p:nvSpPr>
        <p:spPr>
          <a:xfrm>
            <a:off x="5800725" y="5304206"/>
            <a:ext cx="114300" cy="30410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972175" y="5304206"/>
            <a:ext cx="1381125" cy="304108"/>
          </a:xfrm>
          <a:prstGeom prst="rect">
            <a:avLst/>
          </a:prstGeom>
          <a:noFill/>
        </p:spPr>
        <p:txBody>
          <a:bodyPr wrap="square" lIns="0" tIns="0" rIns="19050" bIns="0" anchor="ctr">
            <a:spAutoFit/>
          </a:bodyPr>
          <a:lstStyle/>
          <a:p>
            <a:pPr algn="l"/>
            <a:endParaRPr/>
          </a:p>
        </p:txBody>
      </p:sp>
      <p:sp>
        <p:nvSpPr>
          <p:cNvPr id="70" name="Rectangle 69"/>
          <p:cNvSpPr/>
          <p:nvPr/>
        </p:nvSpPr>
        <p:spPr>
          <a:xfrm>
            <a:off x="5800725" y="5665464"/>
            <a:ext cx="114300" cy="2973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972175" y="5665464"/>
            <a:ext cx="1381125" cy="297372"/>
          </a:xfrm>
          <a:prstGeom prst="rect">
            <a:avLst/>
          </a:prstGeom>
          <a:noFill/>
        </p:spPr>
        <p:txBody>
          <a:bodyPr wrap="square" lIns="0" tIns="0" rIns="19050" bIns="0" anchor="ctr">
            <a:spAutoFit/>
          </a:bodyPr>
          <a:lstStyle/>
          <a:p>
            <a:pPr algn="l"/>
            <a:endParaRPr/>
          </a:p>
        </p:txBody>
      </p:sp>
      <p:sp>
        <p:nvSpPr>
          <p:cNvPr id="72" name="Rectangle 71"/>
          <p:cNvSpPr/>
          <p:nvPr/>
        </p:nvSpPr>
        <p:spPr>
          <a:xfrm>
            <a:off x="5800725" y="6019985"/>
            <a:ext cx="114300" cy="23418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972175" y="6019985"/>
            <a:ext cx="1381125" cy="234184"/>
          </a:xfrm>
          <a:prstGeom prst="rect">
            <a:avLst/>
          </a:prstGeom>
          <a:noFill/>
        </p:spPr>
        <p:txBody>
          <a:bodyPr wrap="square" lIns="0" tIns="0" rIns="19050" bIns="0" anchor="ctr">
            <a:spAutoFit/>
          </a:bodyPr>
          <a:lstStyle/>
          <a:p>
            <a:pPr algn="l"/>
            <a:endParaRPr/>
          </a:p>
        </p:txBody>
      </p:sp>
      <p:sp>
        <p:nvSpPr>
          <p:cNvPr id="74" name="Rectangle 73"/>
          <p:cNvSpPr/>
          <p:nvPr/>
        </p:nvSpPr>
        <p:spPr>
          <a:xfrm>
            <a:off x="5800725" y="6311319"/>
            <a:ext cx="114300" cy="22283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972175" y="6311319"/>
            <a:ext cx="1381125" cy="222831"/>
          </a:xfrm>
          <a:prstGeom prst="rect">
            <a:avLst/>
          </a:prstGeom>
          <a:noFill/>
        </p:spPr>
        <p:txBody>
          <a:bodyPr wrap="square" lIns="0" tIns="0" rIns="19050" bIns="0" anchor="ctr">
            <a:spAutoFit/>
          </a:bodyPr>
          <a:lstStyle/>
          <a:p>
            <a:pPr algn="l"/>
            <a:endParaRPr/>
          </a:p>
        </p:txBody>
      </p:sp>
      <p:sp>
        <p:nvSpPr>
          <p:cNvPr id="76" name="Rounded Rectangle 75"/>
          <p:cNvSpPr/>
          <p:nvPr/>
        </p:nvSpPr>
        <p:spPr>
          <a:xfrm>
            <a:off x="7581900" y="3990975"/>
            <a:ext cx="4457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715250" y="4076700"/>
            <a:ext cx="4191000" cy="209550"/>
          </a:xfrm>
          <a:prstGeom prst="rect">
            <a:avLst/>
          </a:prstGeom>
          <a:noFill/>
        </p:spPr>
        <p:txBody>
          <a:bodyPr wrap="square" lIns="0" tIns="9525" rIns="19050" bIns="9525">
            <a:spAutoFit/>
          </a:bodyPr>
          <a:lstStyle/>
          <a:p>
            <a:pPr algn="l"/>
            <a:r>
              <a:rPr sz="1300" b="1">
                <a:solidFill>
                  <a:srgbClr val="0B2E4A"/>
                </a:solidFill>
                <a:latin typeface="Calibri"/>
              </a:rPr>
              <a:t>Key Findings</a:t>
            </a:r>
          </a:p>
        </p:txBody>
      </p:sp>
      <p:sp>
        <p:nvSpPr>
          <p:cNvPr id="78" name="Rectangle 77"/>
          <p:cNvSpPr/>
          <p:nvPr/>
        </p:nvSpPr>
        <p:spPr>
          <a:xfrm>
            <a:off x="7715250" y="43148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715250" y="4400550"/>
            <a:ext cx="41910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80" name="TextBox 7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6988869" y="2519100"/>
            <a:ext cx="366712" cy="533400"/>
          </a:xfrm>
          <a:prstGeom prst="rect">
            <a:avLst/>
          </a:prstGeom>
        </p:spPr>
      </p:pic>
      <p:sp>
        <p:nvSpPr>
          <p:cNvPr id="82" name="TextBox 81"/>
          <p:cNvSpPr txBox="1"/>
          <p:nvPr/>
        </p:nvSpPr>
        <p:spPr>
          <a:xfrm>
            <a:off x="458850" y="4587995"/>
            <a:ext cx="1328315" cy="186689"/>
          </a:xfrm>
          <a:prstGeom prst="rect">
            <a:avLst/>
          </a:prstGeom>
          <a:noFill/>
        </p:spPr>
        <p:txBody>
          <a:bodyPr wrap="none" lIns="0" tIns="0" rIns="0" bIns="0">
            <a:spAutoFit/>
          </a:bodyPr>
          <a:lstStyle/>
          <a:p>
            <a:r>
              <a:rPr sz="1100" b="1">
                <a:solidFill>
                  <a:srgbClr val="2E2E2E"/>
                </a:solidFill>
                <a:latin typeface="Calibri"/>
              </a:rPr>
              <a:t>Capsules and Softgels</a:t>
            </a:r>
          </a:p>
        </p:txBody>
      </p:sp>
      <p:pic>
        <p:nvPicPr>
          <p:cNvPr id="83" name="Picture 82" descr="lock.png"/>
          <p:cNvPicPr>
            <a:picLocks noChangeAspect="1"/>
          </p:cNvPicPr>
          <p:nvPr/>
        </p:nvPicPr>
        <p:blipFill>
          <a:blip r:embed="rId4"/>
          <a:stretch>
            <a:fillRect/>
          </a:stretch>
        </p:blipFill>
        <p:spPr>
          <a:xfrm>
            <a:off x="1735218" y="4578216"/>
            <a:ext cx="128699" cy="187198"/>
          </a:xfrm>
          <a:prstGeom prst="rect">
            <a:avLst/>
          </a:prstGeom>
        </p:spPr>
      </p:pic>
      <p:sp>
        <p:nvSpPr>
          <p:cNvPr id="84" name="TextBox 83"/>
          <p:cNvSpPr txBox="1"/>
          <p:nvPr/>
        </p:nvSpPr>
        <p:spPr>
          <a:xfrm>
            <a:off x="1288592" y="5202499"/>
            <a:ext cx="498574" cy="186689"/>
          </a:xfrm>
          <a:prstGeom prst="rect">
            <a:avLst/>
          </a:prstGeom>
          <a:noFill/>
        </p:spPr>
        <p:txBody>
          <a:bodyPr wrap="none" lIns="0" tIns="0" rIns="0" bIns="0">
            <a:spAutoFit/>
          </a:bodyPr>
          <a:lstStyle/>
          <a:p>
            <a:r>
              <a:rPr sz="1100" b="1">
                <a:solidFill>
                  <a:srgbClr val="2E2E2E"/>
                </a:solidFill>
                <a:latin typeface="Calibri"/>
              </a:rPr>
              <a:t>Tablets</a:t>
            </a:r>
          </a:p>
        </p:txBody>
      </p:sp>
      <p:pic>
        <p:nvPicPr>
          <p:cNvPr id="85" name="Picture 84" descr="lock.png"/>
          <p:cNvPicPr>
            <a:picLocks noChangeAspect="1"/>
          </p:cNvPicPr>
          <p:nvPr/>
        </p:nvPicPr>
        <p:blipFill>
          <a:blip r:embed="rId4"/>
          <a:stretch>
            <a:fillRect/>
          </a:stretch>
        </p:blipFill>
        <p:spPr>
          <a:xfrm>
            <a:off x="1735218" y="5192720"/>
            <a:ext cx="128699" cy="187198"/>
          </a:xfrm>
          <a:prstGeom prst="rect">
            <a:avLst/>
          </a:prstGeom>
        </p:spPr>
      </p:pic>
      <p:sp>
        <p:nvSpPr>
          <p:cNvPr id="86" name="TextBox 85"/>
          <p:cNvSpPr txBox="1"/>
          <p:nvPr/>
        </p:nvSpPr>
        <p:spPr>
          <a:xfrm>
            <a:off x="1082862" y="5641383"/>
            <a:ext cx="704304" cy="186689"/>
          </a:xfrm>
          <a:prstGeom prst="rect">
            <a:avLst/>
          </a:prstGeom>
          <a:noFill/>
        </p:spPr>
        <p:txBody>
          <a:bodyPr wrap="none" lIns="0" tIns="0" rIns="0" bIns="0">
            <a:spAutoFit/>
          </a:bodyPr>
          <a:lstStyle/>
          <a:p>
            <a:r>
              <a:rPr sz="1100" b="1">
                <a:solidFill>
                  <a:srgbClr val="2E2E2E"/>
                </a:solidFill>
                <a:latin typeface="Calibri"/>
              </a:rPr>
              <a:t>Chewables</a:t>
            </a:r>
          </a:p>
        </p:txBody>
      </p:sp>
      <p:pic>
        <p:nvPicPr>
          <p:cNvPr id="87" name="Picture 86" descr="lock.png"/>
          <p:cNvPicPr>
            <a:picLocks noChangeAspect="1"/>
          </p:cNvPicPr>
          <p:nvPr/>
        </p:nvPicPr>
        <p:blipFill>
          <a:blip r:embed="rId4"/>
          <a:stretch>
            <a:fillRect/>
          </a:stretch>
        </p:blipFill>
        <p:spPr>
          <a:xfrm>
            <a:off x="1735218" y="5631604"/>
            <a:ext cx="128699" cy="187198"/>
          </a:xfrm>
          <a:prstGeom prst="rect">
            <a:avLst/>
          </a:prstGeom>
        </p:spPr>
      </p:pic>
      <p:sp>
        <p:nvSpPr>
          <p:cNvPr id="88" name="TextBox 87"/>
          <p:cNvSpPr txBox="1"/>
          <p:nvPr/>
        </p:nvSpPr>
        <p:spPr>
          <a:xfrm>
            <a:off x="890142" y="5997087"/>
            <a:ext cx="909346" cy="173278"/>
          </a:xfrm>
          <a:prstGeom prst="rect">
            <a:avLst/>
          </a:prstGeom>
          <a:noFill/>
        </p:spPr>
        <p:txBody>
          <a:bodyPr wrap="none" lIns="0" tIns="0" rIns="0" bIns="0">
            <a:spAutoFit/>
          </a:bodyPr>
          <a:lstStyle/>
          <a:p>
            <a:r>
              <a:rPr sz="1011" b="1">
                <a:solidFill>
                  <a:srgbClr val="2E2E2E"/>
                </a:solidFill>
                <a:latin typeface="Calibri"/>
              </a:rPr>
              <a:t>Gels and Pastes</a:t>
            </a:r>
          </a:p>
        </p:txBody>
      </p:sp>
      <p:pic>
        <p:nvPicPr>
          <p:cNvPr id="89" name="Picture 88" descr="lock.png"/>
          <p:cNvPicPr>
            <a:picLocks noChangeAspect="1"/>
          </p:cNvPicPr>
          <p:nvPr/>
        </p:nvPicPr>
        <p:blipFill>
          <a:blip r:embed="rId4"/>
          <a:stretch>
            <a:fillRect/>
          </a:stretch>
        </p:blipFill>
        <p:spPr>
          <a:xfrm>
            <a:off x="1745600" y="5988090"/>
            <a:ext cx="118403" cy="172222"/>
          </a:xfrm>
          <a:prstGeom prst="rect">
            <a:avLst/>
          </a:prstGeom>
        </p:spPr>
      </p:pic>
      <p:sp>
        <p:nvSpPr>
          <p:cNvPr id="90" name="TextBox 89"/>
          <p:cNvSpPr txBox="1"/>
          <p:nvPr/>
        </p:nvSpPr>
        <p:spPr>
          <a:xfrm>
            <a:off x="1459807" y="6254500"/>
            <a:ext cx="370486" cy="139750"/>
          </a:xfrm>
          <a:prstGeom prst="rect">
            <a:avLst/>
          </a:prstGeom>
          <a:noFill/>
        </p:spPr>
        <p:txBody>
          <a:bodyPr wrap="none" lIns="0" tIns="0" rIns="0" bIns="0">
            <a:spAutoFit/>
          </a:bodyPr>
          <a:lstStyle/>
          <a:p>
            <a:r>
              <a:rPr sz="791" b="1">
                <a:solidFill>
                  <a:srgbClr val="2E2E2E"/>
                </a:solidFill>
                <a:latin typeface="Calibri"/>
              </a:rPr>
              <a:t>Liquids</a:t>
            </a:r>
          </a:p>
        </p:txBody>
      </p:sp>
      <p:pic>
        <p:nvPicPr>
          <p:cNvPr id="91" name="Picture 90" descr="lock.png"/>
          <p:cNvPicPr>
            <a:picLocks noChangeAspect="1"/>
          </p:cNvPicPr>
          <p:nvPr/>
        </p:nvPicPr>
        <p:blipFill>
          <a:blip r:embed="rId4"/>
          <a:stretch>
            <a:fillRect/>
          </a:stretch>
        </p:blipFill>
        <p:spPr>
          <a:xfrm>
            <a:off x="1771555" y="6247459"/>
            <a:ext cx="92663" cy="134782"/>
          </a:xfrm>
          <a:prstGeom prst="rect">
            <a:avLst/>
          </a:prstGeom>
        </p:spPr>
      </p:pic>
      <p:sp>
        <p:nvSpPr>
          <p:cNvPr id="92" name="TextBox 91"/>
          <p:cNvSpPr txBox="1"/>
          <p:nvPr/>
        </p:nvSpPr>
        <p:spPr>
          <a:xfrm>
            <a:off x="814459" y="6429234"/>
            <a:ext cx="1015835" cy="139750"/>
          </a:xfrm>
          <a:prstGeom prst="rect">
            <a:avLst/>
          </a:prstGeom>
          <a:noFill/>
        </p:spPr>
        <p:txBody>
          <a:bodyPr wrap="none" lIns="0" tIns="0" rIns="0" bIns="0">
            <a:spAutoFit/>
          </a:bodyPr>
          <a:lstStyle/>
          <a:p>
            <a:r>
              <a:rPr sz="791" b="1">
                <a:solidFill>
                  <a:srgbClr val="2E2E2E"/>
                </a:solidFill>
                <a:latin typeface="Calibri"/>
              </a:rPr>
              <a:t>Powders and Granules</a:t>
            </a:r>
          </a:p>
        </p:txBody>
      </p:sp>
      <p:pic>
        <p:nvPicPr>
          <p:cNvPr id="93" name="Picture 92" descr="lock.png"/>
          <p:cNvPicPr>
            <a:picLocks noChangeAspect="1"/>
          </p:cNvPicPr>
          <p:nvPr/>
        </p:nvPicPr>
        <p:blipFill>
          <a:blip r:embed="rId4"/>
          <a:stretch>
            <a:fillRect/>
          </a:stretch>
        </p:blipFill>
        <p:spPr>
          <a:xfrm>
            <a:off x="1771555" y="6422193"/>
            <a:ext cx="92663" cy="134782"/>
          </a:xfrm>
          <a:prstGeom prst="rect">
            <a:avLst/>
          </a:prstGeom>
        </p:spPr>
      </p:pic>
      <p:sp>
        <p:nvSpPr>
          <p:cNvPr id="94" name="TextBox 93"/>
          <p:cNvSpPr txBox="1"/>
          <p:nvPr/>
        </p:nvSpPr>
        <p:spPr>
          <a:xfrm>
            <a:off x="5972175" y="4371730"/>
            <a:ext cx="759966" cy="186689"/>
          </a:xfrm>
          <a:prstGeom prst="rect">
            <a:avLst/>
          </a:prstGeom>
          <a:noFill/>
        </p:spPr>
        <p:txBody>
          <a:bodyPr wrap="none" lIns="0" tIns="0" rIns="0" bIns="0">
            <a:spAutoFit/>
          </a:bodyPr>
          <a:lstStyle/>
          <a:p>
            <a:r>
              <a:rPr sz="1100" b="1">
                <a:solidFill>
                  <a:srgbClr val="2E2E2E"/>
                </a:solidFill>
                <a:latin typeface="Calibri"/>
              </a:rPr>
              <a:t>Antioxidant</a:t>
            </a:r>
          </a:p>
        </p:txBody>
      </p:sp>
      <p:sp>
        <p:nvSpPr>
          <p:cNvPr id="95" name="TextBox 94"/>
          <p:cNvSpPr txBox="1"/>
          <p:nvPr/>
        </p:nvSpPr>
        <p:spPr>
          <a:xfrm>
            <a:off x="5972175" y="4539370"/>
            <a:ext cx="734045" cy="186689"/>
          </a:xfrm>
          <a:prstGeom prst="rect">
            <a:avLst/>
          </a:prstGeom>
          <a:noFill/>
        </p:spPr>
        <p:txBody>
          <a:bodyPr wrap="none" lIns="0" tIns="0" rIns="0" bIns="0">
            <a:spAutoFit/>
          </a:bodyPr>
          <a:lstStyle/>
          <a:p>
            <a:r>
              <a:rPr sz="1100" b="1">
                <a:solidFill>
                  <a:srgbClr val="2E2E2E"/>
                </a:solidFill>
                <a:latin typeface="Calibri"/>
              </a:rPr>
              <a:t>Ingredients</a:t>
            </a:r>
          </a:p>
        </p:txBody>
      </p:sp>
      <p:pic>
        <p:nvPicPr>
          <p:cNvPr id="96" name="Picture 95" descr="lock.png"/>
          <p:cNvPicPr>
            <a:picLocks noChangeAspect="1"/>
          </p:cNvPicPr>
          <p:nvPr/>
        </p:nvPicPr>
        <p:blipFill>
          <a:blip r:embed="rId4"/>
          <a:stretch>
            <a:fillRect/>
          </a:stretch>
        </p:blipFill>
        <p:spPr>
          <a:xfrm>
            <a:off x="6654271" y="4529591"/>
            <a:ext cx="128699" cy="187198"/>
          </a:xfrm>
          <a:prstGeom prst="rect">
            <a:avLst/>
          </a:prstGeom>
        </p:spPr>
      </p:pic>
      <p:sp>
        <p:nvSpPr>
          <p:cNvPr id="97" name="TextBox 96"/>
          <p:cNvSpPr txBox="1"/>
          <p:nvPr/>
        </p:nvSpPr>
        <p:spPr>
          <a:xfrm>
            <a:off x="5972175" y="4873126"/>
            <a:ext cx="1362075" cy="179984"/>
          </a:xfrm>
          <a:prstGeom prst="rect">
            <a:avLst/>
          </a:prstGeom>
          <a:noFill/>
        </p:spPr>
        <p:txBody>
          <a:bodyPr wrap="none" lIns="0" tIns="0" rIns="0" bIns="0">
            <a:spAutoFit/>
          </a:bodyPr>
          <a:lstStyle/>
          <a:p>
            <a:r>
              <a:rPr sz="1055" b="1">
                <a:solidFill>
                  <a:srgbClr val="2E2E2E"/>
                </a:solidFill>
                <a:latin typeface="Calibri"/>
              </a:rPr>
              <a:t>Cellular Energy Support</a:t>
            </a:r>
          </a:p>
        </p:txBody>
      </p:sp>
      <p:sp>
        <p:nvSpPr>
          <p:cNvPr id="98" name="TextBox 97"/>
          <p:cNvSpPr txBox="1"/>
          <p:nvPr/>
        </p:nvSpPr>
        <p:spPr>
          <a:xfrm>
            <a:off x="5972175" y="5034060"/>
            <a:ext cx="707731" cy="179984"/>
          </a:xfrm>
          <a:prstGeom prst="rect">
            <a:avLst/>
          </a:prstGeom>
          <a:noFill/>
        </p:spPr>
        <p:txBody>
          <a:bodyPr wrap="none" lIns="0" tIns="0" rIns="0" bIns="0">
            <a:spAutoFit/>
          </a:bodyPr>
          <a:lstStyle/>
          <a:p>
            <a:r>
              <a:rPr sz="1055" b="1">
                <a:solidFill>
                  <a:srgbClr val="2E2E2E"/>
                </a:solidFill>
                <a:latin typeface="Calibri"/>
              </a:rPr>
              <a:t>Ingredients</a:t>
            </a:r>
          </a:p>
        </p:txBody>
      </p:sp>
      <p:pic>
        <p:nvPicPr>
          <p:cNvPr id="99" name="Picture 98" descr="lock.png"/>
          <p:cNvPicPr>
            <a:picLocks noChangeAspect="1"/>
          </p:cNvPicPr>
          <p:nvPr/>
        </p:nvPicPr>
        <p:blipFill>
          <a:blip r:embed="rId4"/>
          <a:stretch>
            <a:fillRect/>
          </a:stretch>
        </p:blipFill>
        <p:spPr>
          <a:xfrm>
            <a:off x="6626987" y="5024672"/>
            <a:ext cx="123551" cy="179710"/>
          </a:xfrm>
          <a:prstGeom prst="rect">
            <a:avLst/>
          </a:prstGeom>
        </p:spPr>
      </p:pic>
      <p:sp>
        <p:nvSpPr>
          <p:cNvPr id="100" name="TextBox 99"/>
          <p:cNvSpPr txBox="1"/>
          <p:nvPr/>
        </p:nvSpPr>
        <p:spPr>
          <a:xfrm>
            <a:off x="5972175" y="5379145"/>
            <a:ext cx="1176129" cy="173278"/>
          </a:xfrm>
          <a:prstGeom prst="rect">
            <a:avLst/>
          </a:prstGeom>
          <a:noFill/>
        </p:spPr>
        <p:txBody>
          <a:bodyPr wrap="none" lIns="0" tIns="0" rIns="0" bIns="0">
            <a:spAutoFit/>
          </a:bodyPr>
          <a:lstStyle/>
          <a:p>
            <a:r>
              <a:rPr sz="1011" b="1">
                <a:solidFill>
                  <a:srgbClr val="2E2E2E"/>
                </a:solidFill>
                <a:latin typeface="Calibri"/>
              </a:rPr>
              <a:t>Omega-3 Fatty Acids</a:t>
            </a:r>
          </a:p>
        </p:txBody>
      </p:sp>
      <p:pic>
        <p:nvPicPr>
          <p:cNvPr id="101" name="Picture 100" descr="lock.png"/>
          <p:cNvPicPr>
            <a:picLocks noChangeAspect="1"/>
          </p:cNvPicPr>
          <p:nvPr/>
        </p:nvPicPr>
        <p:blipFill>
          <a:blip r:embed="rId4"/>
          <a:stretch>
            <a:fillRect/>
          </a:stretch>
        </p:blipFill>
        <p:spPr>
          <a:xfrm>
            <a:off x="7094416" y="5370148"/>
            <a:ext cx="118403" cy="172222"/>
          </a:xfrm>
          <a:prstGeom prst="rect">
            <a:avLst/>
          </a:prstGeom>
        </p:spPr>
      </p:pic>
      <p:sp>
        <p:nvSpPr>
          <p:cNvPr id="102" name="TextBox 101"/>
          <p:cNvSpPr txBox="1"/>
          <p:nvPr/>
        </p:nvSpPr>
        <p:spPr>
          <a:xfrm>
            <a:off x="5972175" y="5693449"/>
            <a:ext cx="990492" cy="139750"/>
          </a:xfrm>
          <a:prstGeom prst="rect">
            <a:avLst/>
          </a:prstGeom>
          <a:noFill/>
        </p:spPr>
        <p:txBody>
          <a:bodyPr wrap="none" lIns="0" tIns="0" rIns="0" bIns="0">
            <a:spAutoFit/>
          </a:bodyPr>
          <a:lstStyle/>
          <a:p>
            <a:r>
              <a:rPr sz="791" b="1">
                <a:solidFill>
                  <a:srgbClr val="2E2E2E"/>
                </a:solidFill>
                <a:latin typeface="Calibri"/>
              </a:rPr>
              <a:t>Microbiome-Targeted</a:t>
            </a:r>
          </a:p>
        </p:txBody>
      </p:sp>
      <p:sp>
        <p:nvSpPr>
          <p:cNvPr id="103" name="TextBox 102"/>
          <p:cNvSpPr txBox="1"/>
          <p:nvPr/>
        </p:nvSpPr>
        <p:spPr>
          <a:xfrm>
            <a:off x="5972175" y="5814150"/>
            <a:ext cx="549848" cy="139750"/>
          </a:xfrm>
          <a:prstGeom prst="rect">
            <a:avLst/>
          </a:prstGeom>
          <a:noFill/>
        </p:spPr>
        <p:txBody>
          <a:bodyPr wrap="none" lIns="0" tIns="0" rIns="0" bIns="0">
            <a:spAutoFit/>
          </a:bodyPr>
          <a:lstStyle/>
          <a:p>
            <a:r>
              <a:rPr sz="791" b="1">
                <a:solidFill>
                  <a:srgbClr val="2E2E2E"/>
                </a:solidFill>
                <a:latin typeface="Calibri"/>
              </a:rPr>
              <a:t>Ingredients</a:t>
            </a:r>
          </a:p>
        </p:txBody>
      </p:sp>
      <p:pic>
        <p:nvPicPr>
          <p:cNvPr id="104" name="Picture 103" descr="lock.png"/>
          <p:cNvPicPr>
            <a:picLocks noChangeAspect="1"/>
          </p:cNvPicPr>
          <p:nvPr/>
        </p:nvPicPr>
        <p:blipFill>
          <a:blip r:embed="rId4"/>
          <a:stretch>
            <a:fillRect/>
          </a:stretch>
        </p:blipFill>
        <p:spPr>
          <a:xfrm>
            <a:off x="6463284" y="5807109"/>
            <a:ext cx="92663" cy="134782"/>
          </a:xfrm>
          <a:prstGeom prst="rect">
            <a:avLst/>
          </a:prstGeom>
        </p:spPr>
      </p:pic>
      <p:sp>
        <p:nvSpPr>
          <p:cNvPr id="105" name="TextBox 104"/>
          <p:cNvSpPr txBox="1"/>
          <p:nvPr/>
        </p:nvSpPr>
        <p:spPr>
          <a:xfrm>
            <a:off x="5972175" y="6063315"/>
            <a:ext cx="1160053" cy="166573"/>
          </a:xfrm>
          <a:prstGeom prst="rect">
            <a:avLst/>
          </a:prstGeom>
          <a:noFill/>
        </p:spPr>
        <p:txBody>
          <a:bodyPr wrap="none" lIns="0" tIns="0" rIns="0" bIns="0">
            <a:spAutoFit/>
          </a:bodyPr>
          <a:lstStyle/>
          <a:p>
            <a:r>
              <a:rPr sz="968" b="1">
                <a:solidFill>
                  <a:srgbClr val="2E2E2E"/>
                </a:solidFill>
                <a:latin typeface="Calibri"/>
              </a:rPr>
              <a:t>Botanical Ingredients</a:t>
            </a:r>
          </a:p>
        </p:txBody>
      </p:sp>
      <p:pic>
        <p:nvPicPr>
          <p:cNvPr id="106" name="Picture 105" descr="lock.png"/>
          <p:cNvPicPr>
            <a:picLocks noChangeAspect="1"/>
          </p:cNvPicPr>
          <p:nvPr/>
        </p:nvPicPr>
        <p:blipFill>
          <a:blip r:embed="rId4"/>
          <a:stretch>
            <a:fillRect/>
          </a:stretch>
        </p:blipFill>
        <p:spPr>
          <a:xfrm>
            <a:off x="7077370" y="6054709"/>
            <a:ext cx="113255" cy="164734"/>
          </a:xfrm>
          <a:prstGeom prst="rect">
            <a:avLst/>
          </a:prstGeom>
        </p:spPr>
      </p:pic>
      <p:sp>
        <p:nvSpPr>
          <p:cNvPr id="107" name="TextBox 106"/>
          <p:cNvSpPr txBox="1"/>
          <p:nvPr/>
        </p:nvSpPr>
        <p:spPr>
          <a:xfrm>
            <a:off x="5972175" y="6362384"/>
            <a:ext cx="1179284" cy="139750"/>
          </a:xfrm>
          <a:prstGeom prst="rect">
            <a:avLst/>
          </a:prstGeom>
          <a:noFill/>
        </p:spPr>
        <p:txBody>
          <a:bodyPr wrap="none" lIns="0" tIns="0" rIns="0" bIns="0">
            <a:spAutoFit/>
          </a:bodyPr>
          <a:lstStyle/>
          <a:p>
            <a:r>
              <a:rPr sz="791" b="1">
                <a:solidFill>
                  <a:srgbClr val="2E2E2E"/>
                </a:solidFill>
                <a:latin typeface="Calibri"/>
              </a:rPr>
              <a:t>Neurofunctional Nutrients</a:t>
            </a:r>
          </a:p>
        </p:txBody>
      </p:sp>
      <p:pic>
        <p:nvPicPr>
          <p:cNvPr id="108" name="Picture 107" descr="lock.png"/>
          <p:cNvPicPr>
            <a:picLocks noChangeAspect="1"/>
          </p:cNvPicPr>
          <p:nvPr/>
        </p:nvPicPr>
        <p:blipFill>
          <a:blip r:embed="rId4"/>
          <a:stretch>
            <a:fillRect/>
          </a:stretch>
        </p:blipFill>
        <p:spPr>
          <a:xfrm>
            <a:off x="7092720" y="6355343"/>
            <a:ext cx="92663" cy="134782"/>
          </a:xfrm>
          <a:prstGeom prst="rect">
            <a:avLst/>
          </a:prstGeom>
        </p:spPr>
      </p:pic>
      <p:sp>
        <p:nvSpPr>
          <p:cNvPr id="109" name="TextBox 108"/>
          <p:cNvSpPr txBox="1"/>
          <p:nvPr/>
        </p:nvSpPr>
        <p:spPr>
          <a:xfrm>
            <a:off x="7715250" y="4410075"/>
            <a:ext cx="3984525" cy="186689"/>
          </a:xfrm>
          <a:prstGeom prst="rect">
            <a:avLst/>
          </a:prstGeom>
          <a:noFill/>
        </p:spPr>
        <p:txBody>
          <a:bodyPr wrap="none" lIns="0" tIns="0" rIns="0" bIns="0">
            <a:spAutoFit/>
          </a:bodyPr>
          <a:lstStyle/>
          <a:p>
            <a:r>
              <a:rPr sz="1100" b="0">
                <a:solidFill>
                  <a:srgbClr val="2E2E2E"/>
                </a:solidFill>
                <a:latin typeface="Calibri"/>
              </a:rPr>
              <a:t>Capsules and softgels segment is projected to account for the largest</a:t>
            </a:r>
          </a:p>
        </p:txBody>
      </p:sp>
      <p:sp>
        <p:nvSpPr>
          <p:cNvPr id="110" name="TextBox 109"/>
          <p:cNvSpPr txBox="1"/>
          <p:nvPr/>
        </p:nvSpPr>
        <p:spPr>
          <a:xfrm>
            <a:off x="7715250" y="4577715"/>
            <a:ext cx="3932411" cy="186689"/>
          </a:xfrm>
          <a:prstGeom prst="rect">
            <a:avLst/>
          </a:prstGeom>
          <a:noFill/>
        </p:spPr>
        <p:txBody>
          <a:bodyPr wrap="none" lIns="0" tIns="0" rIns="0" bIns="0">
            <a:spAutoFit/>
          </a:bodyPr>
          <a:lstStyle/>
          <a:p>
            <a:r>
              <a:rPr sz="1100" b="0">
                <a:solidFill>
                  <a:srgbClr val="2E2E2E"/>
                </a:solidFill>
                <a:latin typeface="Calibri"/>
              </a:rPr>
              <a:t>share of the Europe senior dog cognitive supplement market, led by</a:t>
            </a:r>
          </a:p>
        </p:txBody>
      </p:sp>
      <p:sp>
        <p:nvSpPr>
          <p:cNvPr id="111" name="TextBox 110"/>
          <p:cNvSpPr txBox="1"/>
          <p:nvPr/>
        </p:nvSpPr>
        <p:spPr>
          <a:xfrm>
            <a:off x="7715250" y="4745355"/>
            <a:ext cx="1795983" cy="186689"/>
          </a:xfrm>
          <a:prstGeom prst="rect">
            <a:avLst/>
          </a:prstGeom>
          <a:noFill/>
        </p:spPr>
        <p:txBody>
          <a:bodyPr wrap="none" lIns="0" tIns="0" rIns="0" bIns="0">
            <a:spAutoFit/>
          </a:bodyPr>
          <a:lstStyle/>
          <a:p>
            <a:r>
              <a:rPr sz="1100" b="0">
                <a:solidFill>
                  <a:srgbClr val="2E2E2E"/>
                </a:solidFill>
                <a:latin typeface="Calibri"/>
              </a:rPr>
              <a:t>antioxidant ingredients at US$</a:t>
            </a:r>
          </a:p>
        </p:txBody>
      </p:sp>
      <p:pic>
        <p:nvPicPr>
          <p:cNvPr id="112" name="Picture 111" descr="lock.png"/>
          <p:cNvPicPr>
            <a:picLocks noChangeAspect="1"/>
          </p:cNvPicPr>
          <p:nvPr/>
        </p:nvPicPr>
        <p:blipFill>
          <a:blip r:embed="rId4"/>
          <a:stretch>
            <a:fillRect/>
          </a:stretch>
        </p:blipFill>
        <p:spPr>
          <a:xfrm>
            <a:off x="9459284" y="4735576"/>
            <a:ext cx="128699" cy="187198"/>
          </a:xfrm>
          <a:prstGeom prst="rect">
            <a:avLst/>
          </a:prstGeom>
        </p:spPr>
      </p:pic>
      <p:sp>
        <p:nvSpPr>
          <p:cNvPr id="113" name="TextBox 112"/>
          <p:cNvSpPr txBox="1"/>
          <p:nvPr/>
        </p:nvSpPr>
        <p:spPr>
          <a:xfrm>
            <a:off x="9626780" y="4745355"/>
            <a:ext cx="2146051" cy="186689"/>
          </a:xfrm>
          <a:prstGeom prst="rect">
            <a:avLst/>
          </a:prstGeom>
          <a:noFill/>
        </p:spPr>
        <p:txBody>
          <a:bodyPr wrap="none" lIns="0" tIns="0" rIns="0" bIns="0">
            <a:spAutoFit/>
          </a:bodyPr>
          <a:lstStyle/>
          <a:p>
            <a:r>
              <a:rPr sz="1100" b="0">
                <a:solidFill>
                  <a:srgbClr val="2E2E2E"/>
                </a:solidFill>
                <a:latin typeface="Calibri"/>
              </a:rPr>
              <a:t>Mn in 2036. 'Capsules and Softgels ×</a:t>
            </a:r>
          </a:p>
        </p:txBody>
      </p:sp>
      <p:sp>
        <p:nvSpPr>
          <p:cNvPr id="114" name="TextBox 113"/>
          <p:cNvSpPr txBox="1"/>
          <p:nvPr/>
        </p:nvSpPr>
        <p:spPr>
          <a:xfrm>
            <a:off x="7715250" y="4912995"/>
            <a:ext cx="3730228" cy="186689"/>
          </a:xfrm>
          <a:prstGeom prst="rect">
            <a:avLst/>
          </a:prstGeom>
          <a:noFill/>
        </p:spPr>
        <p:txBody>
          <a:bodyPr wrap="none" lIns="0" tIns="0" rIns="0" bIns="0">
            <a:spAutoFit/>
          </a:bodyPr>
          <a:lstStyle/>
          <a:p>
            <a:r>
              <a:rPr sz="1100" b="0">
                <a:solidFill>
                  <a:srgbClr val="2E2E2E"/>
                </a:solidFill>
                <a:latin typeface="Calibri"/>
              </a:rPr>
              <a:t>Antioxidant Ingredients' is the single largest cross-sectional cell (</a:t>
            </a:r>
          </a:p>
        </p:txBody>
      </p:sp>
      <p:pic>
        <p:nvPicPr>
          <p:cNvPr id="115" name="Picture 114" descr="lock.png"/>
          <p:cNvPicPr>
            <a:picLocks noChangeAspect="1"/>
          </p:cNvPicPr>
          <p:nvPr/>
        </p:nvPicPr>
        <p:blipFill>
          <a:blip r:embed="rId4"/>
          <a:stretch>
            <a:fillRect/>
          </a:stretch>
        </p:blipFill>
        <p:spPr>
          <a:xfrm>
            <a:off x="11393529" y="4903216"/>
            <a:ext cx="128699" cy="187198"/>
          </a:xfrm>
          <a:prstGeom prst="rect">
            <a:avLst/>
          </a:prstGeom>
        </p:spPr>
      </p:pic>
      <p:sp>
        <p:nvSpPr>
          <p:cNvPr id="116" name="TextBox 115"/>
          <p:cNvSpPr txBox="1"/>
          <p:nvPr/>
        </p:nvSpPr>
        <p:spPr>
          <a:xfrm>
            <a:off x="11561025" y="4912995"/>
            <a:ext cx="301029" cy="186689"/>
          </a:xfrm>
          <a:prstGeom prst="rect">
            <a:avLst/>
          </a:prstGeom>
          <a:noFill/>
        </p:spPr>
        <p:txBody>
          <a:bodyPr wrap="none" lIns="0" tIns="0" rIns="0" bIns="0">
            <a:spAutoFit/>
          </a:bodyPr>
          <a:lstStyle/>
          <a:p>
            <a:r>
              <a:rPr sz="1100" b="0">
                <a:solidFill>
                  <a:srgbClr val="2E2E2E"/>
                </a:solidFill>
                <a:latin typeface="Calibri"/>
              </a:rPr>
              <a:t>US$</a:t>
            </a:r>
          </a:p>
        </p:txBody>
      </p:sp>
      <p:sp>
        <p:nvSpPr>
          <p:cNvPr id="117" name="TextBox 116"/>
          <p:cNvSpPr txBox="1"/>
          <p:nvPr/>
        </p:nvSpPr>
        <p:spPr>
          <a:xfrm>
            <a:off x="7715250" y="5080635"/>
            <a:ext cx="3954239" cy="186689"/>
          </a:xfrm>
          <a:prstGeom prst="rect">
            <a:avLst/>
          </a:prstGeom>
          <a:noFill/>
        </p:spPr>
        <p:txBody>
          <a:bodyPr wrap="none" lIns="0" tIns="0" rIns="0" bIns="0">
            <a:spAutoFit/>
          </a:bodyPr>
          <a:lstStyle/>
          <a:p>
            <a:r>
              <a:rPr sz="1100" b="0">
                <a:solidFill>
                  <a:srgbClr val="2E2E2E"/>
                </a:solidFill>
                <a:latin typeface="Calibri"/>
              </a:rPr>
              <a:t>Mn, 2026E), while 'Chewables × Cellular Energy Support Ingredients'</a:t>
            </a:r>
          </a:p>
        </p:txBody>
      </p:sp>
      <p:sp>
        <p:nvSpPr>
          <p:cNvPr id="118" name="TextBox 117"/>
          <p:cNvSpPr txBox="1"/>
          <p:nvPr/>
        </p:nvSpPr>
        <p:spPr>
          <a:xfrm>
            <a:off x="7715250" y="5248275"/>
            <a:ext cx="2322297" cy="186689"/>
          </a:xfrm>
          <a:prstGeom prst="rect">
            <a:avLst/>
          </a:prstGeom>
          <a:noFill/>
        </p:spPr>
        <p:txBody>
          <a:bodyPr wrap="none" lIns="0" tIns="0" rIns="0" bIns="0">
            <a:spAutoFit/>
          </a:bodyPr>
          <a:lstStyle/>
          <a:p>
            <a:r>
              <a:rPr sz="1100" b="0">
                <a:solidFill>
                  <a:srgbClr val="2E2E2E"/>
                </a:solidFill>
                <a:latin typeface="Calibri"/>
              </a:rPr>
              <a:t>records the fastest growth at a CAGR of</a:t>
            </a:r>
          </a:p>
        </p:txBody>
      </p:sp>
      <p:pic>
        <p:nvPicPr>
          <p:cNvPr id="119" name="Picture 118" descr="lock.png"/>
          <p:cNvPicPr>
            <a:picLocks noChangeAspect="1"/>
          </p:cNvPicPr>
          <p:nvPr/>
        </p:nvPicPr>
        <p:blipFill>
          <a:blip r:embed="rId4"/>
          <a:stretch>
            <a:fillRect/>
          </a:stretch>
        </p:blipFill>
        <p:spPr>
          <a:xfrm>
            <a:off x="9985598" y="5238496"/>
            <a:ext cx="128699" cy="187198"/>
          </a:xfrm>
          <a:prstGeom prst="rect">
            <a:avLst/>
          </a:prstGeom>
        </p:spPr>
      </p:pic>
      <p:sp>
        <p:nvSpPr>
          <p:cNvPr id="120" name="TextBox 119"/>
          <p:cNvSpPr txBox="1"/>
          <p:nvPr/>
        </p:nvSpPr>
        <p:spPr>
          <a:xfrm>
            <a:off x="10153094" y="5248275"/>
            <a:ext cx="1167401" cy="186689"/>
          </a:xfrm>
          <a:prstGeom prst="rect">
            <a:avLst/>
          </a:prstGeom>
          <a:noFill/>
        </p:spPr>
        <p:txBody>
          <a:bodyPr wrap="none" lIns="0" tIns="0" rIns="0" bIns="0">
            <a:spAutoFit/>
          </a:bodyPr>
          <a:lstStyle/>
          <a:p>
            <a:r>
              <a:rPr sz="1100" b="0">
                <a:solidFill>
                  <a:srgbClr val="2E2E2E"/>
                </a:solidFill>
                <a:latin typeface="Calibri"/>
              </a:rPr>
              <a:t>over 2026E–2036F.</a:t>
            </a:r>
          </a:p>
        </p:txBody>
      </p:sp>
      <p:sp>
        <p:nvSpPr>
          <p:cNvPr id="121" name="TextBox 120"/>
          <p:cNvSpPr txBox="1"/>
          <p:nvPr/>
        </p:nvSpPr>
        <p:spPr>
          <a:xfrm>
            <a:off x="7715250" y="5466207"/>
            <a:ext cx="4154239" cy="186689"/>
          </a:xfrm>
          <a:prstGeom prst="rect">
            <a:avLst/>
          </a:prstGeom>
          <a:noFill/>
        </p:spPr>
        <p:txBody>
          <a:bodyPr wrap="none" lIns="0" tIns="0" rIns="0" bIns="0">
            <a:spAutoFit/>
          </a:bodyPr>
          <a:lstStyle/>
          <a:p>
            <a:r>
              <a:rPr sz="1100" b="0">
                <a:solidFill>
                  <a:srgbClr val="2E2E2E"/>
                </a:solidFill>
                <a:latin typeface="Calibri"/>
              </a:rPr>
              <a:t>Combined, the top three form type × active ingredient cells generate an</a:t>
            </a:r>
          </a:p>
        </p:txBody>
      </p:sp>
      <p:sp>
        <p:nvSpPr>
          <p:cNvPr id="122" name="TextBox 121"/>
          <p:cNvSpPr txBox="1"/>
          <p:nvPr/>
        </p:nvSpPr>
        <p:spPr>
          <a:xfrm>
            <a:off x="7715250" y="5633847"/>
            <a:ext cx="1528043" cy="186689"/>
          </a:xfrm>
          <a:prstGeom prst="rect">
            <a:avLst/>
          </a:prstGeom>
          <a:noFill/>
        </p:spPr>
        <p:txBody>
          <a:bodyPr wrap="none" lIns="0" tIns="0" rIns="0" bIns="0">
            <a:spAutoFit/>
          </a:bodyPr>
          <a:lstStyle/>
          <a:p>
            <a:r>
              <a:rPr sz="1100" b="0">
                <a:solidFill>
                  <a:srgbClr val="2E2E2E"/>
                </a:solidFill>
                <a:latin typeface="Calibri"/>
              </a:rPr>
              <a:t>absolute $ opportunity of</a:t>
            </a:r>
          </a:p>
        </p:txBody>
      </p:sp>
      <p:pic>
        <p:nvPicPr>
          <p:cNvPr id="123" name="Picture 122" descr="lock.png"/>
          <p:cNvPicPr>
            <a:picLocks noChangeAspect="1"/>
          </p:cNvPicPr>
          <p:nvPr/>
        </p:nvPicPr>
        <p:blipFill>
          <a:blip r:embed="rId4"/>
          <a:stretch>
            <a:fillRect/>
          </a:stretch>
        </p:blipFill>
        <p:spPr>
          <a:xfrm>
            <a:off x="9191344" y="5624068"/>
            <a:ext cx="128699" cy="187198"/>
          </a:xfrm>
          <a:prstGeom prst="rect">
            <a:avLst/>
          </a:prstGeom>
        </p:spPr>
      </p:pic>
      <p:sp>
        <p:nvSpPr>
          <p:cNvPr id="124" name="TextBox 123"/>
          <p:cNvSpPr txBox="1"/>
          <p:nvPr/>
        </p:nvSpPr>
        <p:spPr>
          <a:xfrm>
            <a:off x="9358840" y="5633847"/>
            <a:ext cx="1108465" cy="186689"/>
          </a:xfrm>
          <a:prstGeom prst="rect">
            <a:avLst/>
          </a:prstGeom>
          <a:noFill/>
        </p:spPr>
        <p:txBody>
          <a:bodyPr wrap="none" lIns="0" tIns="0" rIns="0" bIns="0">
            <a:spAutoFit/>
          </a:bodyPr>
          <a:lstStyle/>
          <a:p>
            <a:r>
              <a:rPr sz="1100" b="0">
                <a:solidFill>
                  <a:srgbClr val="2E2E2E"/>
                </a:solidFill>
                <a:latin typeface="Calibri"/>
              </a:rPr>
              <a:t>US$ Mn by 2036F.</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Share Analysis: Form Type × Active Ingredient, 2026E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 share of Europe market value, each row split across all active ingredient sub-segments</a:t>
            </a:r>
          </a:p>
        </p:txBody>
      </p:sp>
      <p:sp>
        <p:nvSpPr>
          <p:cNvPr id="10" name="Rounded Rectangle 9"/>
          <p:cNvSpPr/>
          <p:nvPr/>
        </p:nvSpPr>
        <p:spPr>
          <a:xfrm>
            <a:off x="142875" y="981075"/>
            <a:ext cx="119062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Share, Form Type × Active Ingredient, 2026E (% of each row)</a:t>
            </a:r>
          </a:p>
        </p:txBody>
      </p:sp>
      <p:graphicFrame>
        <p:nvGraphicFramePr>
          <p:cNvPr id="12" name="Table 11"/>
          <p:cNvGraphicFramePr>
            <a:graphicFrameLocks noGrp="1"/>
          </p:cNvGraphicFramePr>
          <p:nvPr/>
        </p:nvGraphicFramePr>
        <p:xfrm>
          <a:off x="152400" y="1238250"/>
          <a:ext cx="11889153" cy="2162172"/>
        </p:xfrm>
        <a:graphic>
          <a:graphicData uri="http://schemas.openxmlformats.org/drawingml/2006/table">
            <a:tbl>
              <a:tblPr>
                <a:tableStyleId>{5C22544A-7EE6-4342-B048-85BDC9FD1C3A}</a:tableStyleId>
              </a:tblPr>
              <a:tblGrid>
                <a:gridCol w="1498600">
                  <a:extLst>
                    <a:ext uri="{9D8B030D-6E8A-4147-A177-3AD203B41FA5}">
                      <a16:colId xmlns:a16="http://schemas.microsoft.com/office/drawing/2014/main" val="20000"/>
                    </a:ext>
                  </a:extLst>
                </a:gridCol>
                <a:gridCol w="1274888">
                  <a:extLst>
                    <a:ext uri="{9D8B030D-6E8A-4147-A177-3AD203B41FA5}">
                      <a16:colId xmlns:a16="http://schemas.microsoft.com/office/drawing/2014/main" val="20001"/>
                    </a:ext>
                  </a:extLst>
                </a:gridCol>
                <a:gridCol w="1464428">
                  <a:extLst>
                    <a:ext uri="{9D8B030D-6E8A-4147-A177-3AD203B41FA5}">
                      <a16:colId xmlns:a16="http://schemas.microsoft.com/office/drawing/2014/main" val="20002"/>
                    </a:ext>
                  </a:extLst>
                </a:gridCol>
                <a:gridCol w="1639852">
                  <a:extLst>
                    <a:ext uri="{9D8B030D-6E8A-4147-A177-3AD203B41FA5}">
                      <a16:colId xmlns:a16="http://schemas.microsoft.com/office/drawing/2014/main" val="20003"/>
                    </a:ext>
                  </a:extLst>
                </a:gridCol>
                <a:gridCol w="2109865">
                  <a:extLst>
                    <a:ext uri="{9D8B030D-6E8A-4147-A177-3AD203B41FA5}">
                      <a16:colId xmlns:a16="http://schemas.microsoft.com/office/drawing/2014/main" val="20004"/>
                    </a:ext>
                  </a:extLst>
                </a:gridCol>
                <a:gridCol w="1327823">
                  <a:extLst>
                    <a:ext uri="{9D8B030D-6E8A-4147-A177-3AD203B41FA5}">
                      <a16:colId xmlns:a16="http://schemas.microsoft.com/office/drawing/2014/main" val="20005"/>
                    </a:ext>
                  </a:extLst>
                </a:gridCol>
                <a:gridCol w="2029891">
                  <a:extLst>
                    <a:ext uri="{9D8B030D-6E8A-4147-A177-3AD203B41FA5}">
                      <a16:colId xmlns:a16="http://schemas.microsoft.com/office/drawing/2014/main" val="20006"/>
                    </a:ext>
                  </a:extLst>
                </a:gridCol>
                <a:gridCol w="543806">
                  <a:extLst>
                    <a:ext uri="{9D8B030D-6E8A-4147-A177-3AD203B41FA5}">
                      <a16:colId xmlns:a16="http://schemas.microsoft.com/office/drawing/2014/main" val="20007"/>
                    </a:ext>
                  </a:extLst>
                </a:gridCol>
              </a:tblGrid>
              <a:tr h="438912">
                <a:tc>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a:txBody>
                    <a:bodyPr/>
                    <a:lstStyle/>
                    <a:p>
                      <a:pPr algn="ctr"/>
                      <a:r>
                        <a:rPr sz="1100" b="1">
                          <a:solidFill>
                            <a:srgbClr val="0B2E4A"/>
                          </a:solidFill>
                          <a:latin typeface="Calibri"/>
                        </a:rPr>
                        <a:t>Antioxidant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Neurofunctional Nutrients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Cellular Energy Support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Microbiome-Targeted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180">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180">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180">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180">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180">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180">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180">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4099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743325"/>
            <a:ext cx="7286625"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3800475"/>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Active Ingredient Mix by Form Type, 2026E (% share)</a:t>
            </a:r>
          </a:p>
        </p:txBody>
      </p:sp>
      <p:graphicFrame>
        <p:nvGraphicFramePr>
          <p:cNvPr id="16" name="Chart 15"/>
          <p:cNvGraphicFramePr>
            <a:graphicFrameLocks noGrp="1"/>
          </p:cNvGraphicFramePr>
          <p:nvPr/>
        </p:nvGraphicFramePr>
        <p:xfrm>
          <a:off x="238125" y="4029075"/>
          <a:ext cx="7096125" cy="2543175"/>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7581900" y="3743325"/>
            <a:ext cx="4457700"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15250" y="3829050"/>
            <a:ext cx="4191000" cy="209550"/>
          </a:xfrm>
          <a:prstGeom prst="rect">
            <a:avLst/>
          </a:prstGeom>
          <a:noFill/>
        </p:spPr>
        <p:txBody>
          <a:bodyPr wrap="square" lIns="0" tIns="9525" rIns="19050" bIns="9525">
            <a:spAutoFit/>
          </a:bodyPr>
          <a:lstStyle/>
          <a:p>
            <a:pPr algn="l"/>
            <a:r>
              <a:rPr sz="1300" b="1">
                <a:solidFill>
                  <a:srgbClr val="0B2E4A"/>
                </a:solidFill>
                <a:latin typeface="Calibri"/>
              </a:rPr>
              <a:t>Share Insights</a:t>
            </a:r>
          </a:p>
        </p:txBody>
      </p:sp>
      <p:sp>
        <p:nvSpPr>
          <p:cNvPr id="19" name="Rectangle 18"/>
          <p:cNvSpPr/>
          <p:nvPr/>
        </p:nvSpPr>
        <p:spPr>
          <a:xfrm>
            <a:off x="7715250" y="40671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5250" y="4152900"/>
            <a:ext cx="4191000" cy="24003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1" name="TextBox 2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639864" y="2272092"/>
            <a:ext cx="366712" cy="533400"/>
          </a:xfrm>
          <a:prstGeom prst="rect">
            <a:avLst/>
          </a:prstGeom>
        </p:spPr>
      </p:pic>
      <p:pic>
        <p:nvPicPr>
          <p:cNvPr id="23" name="Picture 22" descr="lock.png"/>
          <p:cNvPicPr>
            <a:picLocks noChangeAspect="1"/>
          </p:cNvPicPr>
          <p:nvPr/>
        </p:nvPicPr>
        <p:blipFill>
          <a:blip r:embed="rId5"/>
          <a:stretch>
            <a:fillRect/>
          </a:stretch>
        </p:blipFill>
        <p:spPr>
          <a:xfrm>
            <a:off x="3775138" y="4568380"/>
            <a:ext cx="311705" cy="453389"/>
          </a:xfrm>
          <a:prstGeom prst="rect">
            <a:avLst/>
          </a:prstGeom>
        </p:spPr>
      </p:pic>
      <p:sp>
        <p:nvSpPr>
          <p:cNvPr id="24" name="TextBox 23"/>
          <p:cNvSpPr txBox="1"/>
          <p:nvPr/>
        </p:nvSpPr>
        <p:spPr>
          <a:xfrm>
            <a:off x="7715250" y="4162425"/>
            <a:ext cx="3869791" cy="194310"/>
          </a:xfrm>
          <a:prstGeom prst="rect">
            <a:avLst/>
          </a:prstGeom>
          <a:noFill/>
        </p:spPr>
        <p:txBody>
          <a:bodyPr wrap="none" lIns="0" tIns="0" rIns="0" bIns="0">
            <a:spAutoFit/>
          </a:bodyPr>
          <a:lstStyle/>
          <a:p>
            <a:r>
              <a:rPr sz="1150" b="0">
                <a:solidFill>
                  <a:srgbClr val="2E2E2E"/>
                </a:solidFill>
                <a:latin typeface="Calibri"/>
              </a:rPr>
              <a:t>▪ 'Antioxidant Ingredients' holds the highest share of 'Tablets' at</a:t>
            </a:r>
          </a:p>
        </p:txBody>
      </p:sp>
      <p:pic>
        <p:nvPicPr>
          <p:cNvPr id="25" name="Picture 24" descr="lock.png"/>
          <p:cNvPicPr>
            <a:picLocks noChangeAspect="1"/>
          </p:cNvPicPr>
          <p:nvPr/>
        </p:nvPicPr>
        <p:blipFill>
          <a:blip r:embed="rId5"/>
          <a:stretch>
            <a:fillRect/>
          </a:stretch>
        </p:blipFill>
        <p:spPr>
          <a:xfrm>
            <a:off x="11534195" y="4152201"/>
            <a:ext cx="134549" cy="195707"/>
          </a:xfrm>
          <a:prstGeom prst="rect">
            <a:avLst/>
          </a:prstGeom>
        </p:spPr>
      </p:pic>
      <p:sp>
        <p:nvSpPr>
          <p:cNvPr id="26" name="TextBox 25"/>
          <p:cNvSpPr txBox="1"/>
          <p:nvPr/>
        </p:nvSpPr>
        <p:spPr>
          <a:xfrm>
            <a:off x="7715250" y="4337685"/>
            <a:ext cx="569404" cy="194310"/>
          </a:xfrm>
          <a:prstGeom prst="rect">
            <a:avLst/>
          </a:prstGeom>
          <a:noFill/>
        </p:spPr>
        <p:txBody>
          <a:bodyPr wrap="none" lIns="0" tIns="0" rIns="0" bIns="0">
            <a:spAutoFit/>
          </a:bodyPr>
          <a:lstStyle/>
          <a:p>
            <a:r>
              <a:rPr sz="1150" b="0">
                <a:solidFill>
                  <a:srgbClr val="2E2E2E"/>
                </a:solidFill>
                <a:latin typeface="Calibri"/>
              </a:rPr>
              <a:t>(2026E).</a:t>
            </a:r>
          </a:p>
        </p:txBody>
      </p:sp>
      <p:sp>
        <p:nvSpPr>
          <p:cNvPr id="27" name="TextBox 26"/>
          <p:cNvSpPr txBox="1"/>
          <p:nvPr/>
        </p:nvSpPr>
        <p:spPr>
          <a:xfrm>
            <a:off x="7715250" y="4565522"/>
            <a:ext cx="3928554" cy="194310"/>
          </a:xfrm>
          <a:prstGeom prst="rect">
            <a:avLst/>
          </a:prstGeom>
          <a:noFill/>
        </p:spPr>
        <p:txBody>
          <a:bodyPr wrap="none" lIns="0" tIns="0" rIns="0" bIns="0">
            <a:spAutoFit/>
          </a:bodyPr>
          <a:lstStyle/>
          <a:p>
            <a:r>
              <a:rPr sz="1150" b="0">
                <a:solidFill>
                  <a:srgbClr val="2E2E2E"/>
                </a:solidFill>
                <a:latin typeface="Calibri"/>
              </a:rPr>
              <a:t>▪ 'Tablets' is the most concentrated form type sub-segment, with</a:t>
            </a:r>
          </a:p>
        </p:txBody>
      </p:sp>
      <p:pic>
        <p:nvPicPr>
          <p:cNvPr id="28" name="Picture 27" descr="lock.png"/>
          <p:cNvPicPr>
            <a:picLocks noChangeAspect="1"/>
          </p:cNvPicPr>
          <p:nvPr/>
        </p:nvPicPr>
        <p:blipFill>
          <a:blip r:embed="rId5"/>
          <a:stretch>
            <a:fillRect/>
          </a:stretch>
        </p:blipFill>
        <p:spPr>
          <a:xfrm>
            <a:off x="11592957" y="4555299"/>
            <a:ext cx="134549" cy="195707"/>
          </a:xfrm>
          <a:prstGeom prst="rect">
            <a:avLst/>
          </a:prstGeom>
        </p:spPr>
      </p:pic>
      <p:sp>
        <p:nvSpPr>
          <p:cNvPr id="29" name="TextBox 28"/>
          <p:cNvSpPr txBox="1"/>
          <p:nvPr/>
        </p:nvSpPr>
        <p:spPr>
          <a:xfrm>
            <a:off x="7715250" y="4740782"/>
            <a:ext cx="2454932" cy="194310"/>
          </a:xfrm>
          <a:prstGeom prst="rect">
            <a:avLst/>
          </a:prstGeom>
          <a:noFill/>
        </p:spPr>
        <p:txBody>
          <a:bodyPr wrap="none" lIns="0" tIns="0" rIns="0" bIns="0">
            <a:spAutoFit/>
          </a:bodyPr>
          <a:lstStyle/>
          <a:p>
            <a:r>
              <a:rPr sz="1150" b="0">
                <a:solidFill>
                  <a:srgbClr val="2E2E2E"/>
                </a:solidFill>
                <a:latin typeface="Calibri"/>
              </a:rPr>
              <a:t>of its value via 'Antioxidant Ingredients'.</a:t>
            </a:r>
          </a:p>
        </p:txBody>
      </p:sp>
      <p:sp>
        <p:nvSpPr>
          <p:cNvPr id="30" name="TextBox 29"/>
          <p:cNvSpPr txBox="1"/>
          <p:nvPr/>
        </p:nvSpPr>
        <p:spPr>
          <a:xfrm>
            <a:off x="7715250" y="4968620"/>
            <a:ext cx="2772134" cy="194310"/>
          </a:xfrm>
          <a:prstGeom prst="rect">
            <a:avLst/>
          </a:prstGeom>
          <a:noFill/>
        </p:spPr>
        <p:txBody>
          <a:bodyPr wrap="none" lIns="0" tIns="0" rIns="0" bIns="0">
            <a:spAutoFit/>
          </a:bodyPr>
          <a:lstStyle/>
          <a:p>
            <a:r>
              <a:rPr sz="1150" b="0">
                <a:solidFill>
                  <a:srgbClr val="2E2E2E"/>
                </a:solidFill>
                <a:latin typeface="Calibri"/>
              </a:rPr>
              <a:t>▪ 'Cellular Energy Support Ingredients' gains +</a:t>
            </a:r>
          </a:p>
        </p:txBody>
      </p:sp>
      <p:pic>
        <p:nvPicPr>
          <p:cNvPr id="31" name="Picture 30" descr="lock.png"/>
          <p:cNvPicPr>
            <a:picLocks noChangeAspect="1"/>
          </p:cNvPicPr>
          <p:nvPr/>
        </p:nvPicPr>
        <p:blipFill>
          <a:blip r:embed="rId5"/>
          <a:stretch>
            <a:fillRect/>
          </a:stretch>
        </p:blipFill>
        <p:spPr>
          <a:xfrm>
            <a:off x="10436538" y="4958397"/>
            <a:ext cx="134549" cy="195707"/>
          </a:xfrm>
          <a:prstGeom prst="rect">
            <a:avLst/>
          </a:prstGeom>
        </p:spPr>
      </p:pic>
      <p:sp>
        <p:nvSpPr>
          <p:cNvPr id="32" name="TextBox 31"/>
          <p:cNvSpPr txBox="1"/>
          <p:nvPr/>
        </p:nvSpPr>
        <p:spPr>
          <a:xfrm>
            <a:off x="10611647" y="4968620"/>
            <a:ext cx="1199815" cy="194310"/>
          </a:xfrm>
          <a:prstGeom prst="rect">
            <a:avLst/>
          </a:prstGeom>
          <a:noFill/>
        </p:spPr>
        <p:txBody>
          <a:bodyPr wrap="none" lIns="0" tIns="0" rIns="0" bIns="0">
            <a:spAutoFit/>
          </a:bodyPr>
          <a:lstStyle/>
          <a:p>
            <a:r>
              <a:rPr sz="1150" b="0">
                <a:solidFill>
                  <a:srgbClr val="2E2E2E"/>
                </a:solidFill>
                <a:latin typeface="Calibri"/>
              </a:rPr>
              <a:t>BPS of share of the</a:t>
            </a:r>
          </a:p>
        </p:txBody>
      </p:sp>
      <p:sp>
        <p:nvSpPr>
          <p:cNvPr id="33" name="TextBox 32"/>
          <p:cNvSpPr txBox="1"/>
          <p:nvPr/>
        </p:nvSpPr>
        <p:spPr>
          <a:xfrm>
            <a:off x="7715250" y="5143880"/>
            <a:ext cx="1921293" cy="194310"/>
          </a:xfrm>
          <a:prstGeom prst="rect">
            <a:avLst/>
          </a:prstGeom>
          <a:noFill/>
        </p:spPr>
        <p:txBody>
          <a:bodyPr wrap="none" lIns="0" tIns="0" rIns="0" bIns="0">
            <a:spAutoFit/>
          </a:bodyPr>
          <a:lstStyle/>
          <a:p>
            <a:r>
              <a:rPr sz="1150" b="0">
                <a:solidFill>
                  <a:srgbClr val="2E2E2E"/>
                </a:solidFill>
                <a:latin typeface="Calibri"/>
              </a:rPr>
              <a:t>Europe cross-section by 2036F.</a:t>
            </a:r>
          </a:p>
        </p:txBody>
      </p:sp>
      <p:sp>
        <p:nvSpPr>
          <p:cNvPr id="34" name="lockshield_16"/>
          <p:cNvSpPr/>
          <p:nvPr/>
        </p:nvSpPr>
        <p:spPr>
          <a:xfrm>
            <a:off x="238125" y="4029075"/>
            <a:ext cx="7096125" cy="2543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&amp; Attractiveness: Form Type × Active Ingredient, 2026E–2036F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 Opportunity (US$ Mn) and Value CAGR, Form Type × Active Ingredient, 2026E–2036F</a:t>
            </a:r>
          </a:p>
        </p:txBody>
      </p:sp>
      <p:graphicFrame>
        <p:nvGraphicFramePr>
          <p:cNvPr id="12" name="Table 11"/>
          <p:cNvGraphicFramePr>
            <a:graphicFrameLocks noGrp="1"/>
          </p:cNvGraphicFramePr>
          <p:nvPr/>
        </p:nvGraphicFramePr>
        <p:xfrm>
          <a:off x="152400" y="1238250"/>
          <a:ext cx="11887205" cy="2409824"/>
        </p:xfrm>
        <a:graphic>
          <a:graphicData uri="http://schemas.openxmlformats.org/drawingml/2006/table">
            <a:tbl>
              <a:tblPr>
                <a:tableStyleId>{5C22544A-7EE6-4342-B048-85BDC9FD1C3A}</a:tableStyleId>
              </a:tblPr>
              <a:tblGrid>
                <a:gridCol w="1811209">
                  <a:extLst>
                    <a:ext uri="{9D8B030D-6E8A-4147-A177-3AD203B41FA5}">
                      <a16:colId xmlns:a16="http://schemas.microsoft.com/office/drawing/2014/main" val="20000"/>
                    </a:ext>
                  </a:extLst>
                </a:gridCol>
                <a:gridCol w="719714">
                  <a:extLst>
                    <a:ext uri="{9D8B030D-6E8A-4147-A177-3AD203B41FA5}">
                      <a16:colId xmlns:a16="http://schemas.microsoft.com/office/drawing/2014/main" val="20001"/>
                    </a:ext>
                  </a:extLst>
                </a:gridCol>
                <a:gridCol w="719714">
                  <a:extLst>
                    <a:ext uri="{9D8B030D-6E8A-4147-A177-3AD203B41FA5}">
                      <a16:colId xmlns:a16="http://schemas.microsoft.com/office/drawing/2014/main" val="20002"/>
                    </a:ext>
                  </a:extLst>
                </a:gridCol>
                <a:gridCol w="719714">
                  <a:extLst>
                    <a:ext uri="{9D8B030D-6E8A-4147-A177-3AD203B41FA5}">
                      <a16:colId xmlns:a16="http://schemas.microsoft.com/office/drawing/2014/main" val="20003"/>
                    </a:ext>
                  </a:extLst>
                </a:gridCol>
                <a:gridCol w="719714">
                  <a:extLst>
                    <a:ext uri="{9D8B030D-6E8A-4147-A177-3AD203B41FA5}">
                      <a16:colId xmlns:a16="http://schemas.microsoft.com/office/drawing/2014/main" val="20004"/>
                    </a:ext>
                  </a:extLst>
                </a:gridCol>
                <a:gridCol w="719714">
                  <a:extLst>
                    <a:ext uri="{9D8B030D-6E8A-4147-A177-3AD203B41FA5}">
                      <a16:colId xmlns:a16="http://schemas.microsoft.com/office/drawing/2014/main" val="20005"/>
                    </a:ext>
                  </a:extLst>
                </a:gridCol>
                <a:gridCol w="719714">
                  <a:extLst>
                    <a:ext uri="{9D8B030D-6E8A-4147-A177-3AD203B41FA5}">
                      <a16:colId xmlns:a16="http://schemas.microsoft.com/office/drawing/2014/main" val="20006"/>
                    </a:ext>
                  </a:extLst>
                </a:gridCol>
                <a:gridCol w="719714">
                  <a:extLst>
                    <a:ext uri="{9D8B030D-6E8A-4147-A177-3AD203B41FA5}">
                      <a16:colId xmlns:a16="http://schemas.microsoft.com/office/drawing/2014/main" val="20007"/>
                    </a:ext>
                  </a:extLst>
                </a:gridCol>
                <a:gridCol w="719714">
                  <a:extLst>
                    <a:ext uri="{9D8B030D-6E8A-4147-A177-3AD203B41FA5}">
                      <a16:colId xmlns:a16="http://schemas.microsoft.com/office/drawing/2014/main" val="20008"/>
                    </a:ext>
                  </a:extLst>
                </a:gridCol>
                <a:gridCol w="719714">
                  <a:extLst>
                    <a:ext uri="{9D8B030D-6E8A-4147-A177-3AD203B41FA5}">
                      <a16:colId xmlns:a16="http://schemas.microsoft.com/office/drawing/2014/main" val="20009"/>
                    </a:ext>
                  </a:extLst>
                </a:gridCol>
                <a:gridCol w="719714">
                  <a:extLst>
                    <a:ext uri="{9D8B030D-6E8A-4147-A177-3AD203B41FA5}">
                      <a16:colId xmlns:a16="http://schemas.microsoft.com/office/drawing/2014/main" val="20010"/>
                    </a:ext>
                  </a:extLst>
                </a:gridCol>
                <a:gridCol w="719714">
                  <a:extLst>
                    <a:ext uri="{9D8B030D-6E8A-4147-A177-3AD203B41FA5}">
                      <a16:colId xmlns:a16="http://schemas.microsoft.com/office/drawing/2014/main" val="20011"/>
                    </a:ext>
                  </a:extLst>
                </a:gridCol>
                <a:gridCol w="719714">
                  <a:extLst>
                    <a:ext uri="{9D8B030D-6E8A-4147-A177-3AD203B41FA5}">
                      <a16:colId xmlns:a16="http://schemas.microsoft.com/office/drawing/2014/main" val="20012"/>
                    </a:ext>
                  </a:extLst>
                </a:gridCol>
                <a:gridCol w="719714">
                  <a:extLst>
                    <a:ext uri="{9D8B030D-6E8A-4147-A177-3AD203B41FA5}">
                      <a16:colId xmlns:a16="http://schemas.microsoft.com/office/drawing/2014/main" val="20013"/>
                    </a:ext>
                  </a:extLst>
                </a:gridCol>
                <a:gridCol w="719714">
                  <a:extLst>
                    <a:ext uri="{9D8B030D-6E8A-4147-A177-3AD203B41FA5}">
                      <a16:colId xmlns:a16="http://schemas.microsoft.com/office/drawing/2014/main" val="20014"/>
                    </a:ext>
                  </a:extLst>
                </a:gridCol>
              </a:tblGrid>
              <a:tr h="438912">
                <a:tc rowSpan="2">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Cellular Energy</a:t>
                      </a:r>
                      <a:endParaRPr sz="1100"/>
                    </a:p>
                    <a:p>
                      <a:pPr algn="ctr"/>
                      <a:r>
                        <a:rPr sz="1100" b="1">
                          <a:solidFill>
                            <a:srgbClr val="0B2E4A"/>
                          </a:solidFill>
                          <a:latin typeface="Calibri"/>
                        </a:rPr>
                        <a:t>Support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Microbiome-Targeted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364">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6364">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6364">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6364">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6364">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6364">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6"/>
                  </a:ext>
                </a:extLst>
              </a:tr>
              <a:tr h="246364">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7"/>
                  </a:ext>
                </a:extLst>
              </a:tr>
              <a:tr h="246364">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3" name="TextBox 12"/>
          <p:cNvSpPr txBox="1"/>
          <p:nvPr/>
        </p:nvSpPr>
        <p:spPr>
          <a:xfrm>
            <a:off x="219075" y="36576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5600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076700"/>
            <a:ext cx="5334000" cy="209550"/>
          </a:xfrm>
          <a:prstGeom prst="rect">
            <a:avLst/>
          </a:prstGeom>
          <a:noFill/>
        </p:spPr>
        <p:txBody>
          <a:bodyPr wrap="square" lIns="0" tIns="9525" rIns="19050"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148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400550"/>
            <a:ext cx="53340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5895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293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Largest Pool</a:t>
            </a:r>
          </a:p>
        </p:txBody>
      </p:sp>
      <p:sp>
        <p:nvSpPr>
          <p:cNvPr id="20" name="Rectangle 19"/>
          <p:cNvSpPr/>
          <p:nvPr/>
        </p:nvSpPr>
        <p:spPr>
          <a:xfrm>
            <a:off x="6029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293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2" name="Rounded Rectangle 21"/>
          <p:cNvSpPr/>
          <p:nvPr/>
        </p:nvSpPr>
        <p:spPr>
          <a:xfrm>
            <a:off x="79914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248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Fastest Growth</a:t>
            </a:r>
          </a:p>
        </p:txBody>
      </p:sp>
      <p:sp>
        <p:nvSpPr>
          <p:cNvPr id="24" name="Rectangle 23"/>
          <p:cNvSpPr/>
          <p:nvPr/>
        </p:nvSpPr>
        <p:spPr>
          <a:xfrm>
            <a:off x="81248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248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6" name="Rounded Rectangle 25"/>
          <p:cNvSpPr/>
          <p:nvPr/>
        </p:nvSpPr>
        <p:spPr>
          <a:xfrm>
            <a:off x="10086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203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Where to Play</a:t>
            </a:r>
          </a:p>
        </p:txBody>
      </p:sp>
      <p:sp>
        <p:nvSpPr>
          <p:cNvPr id="28" name="Rectangle 27"/>
          <p:cNvSpPr/>
          <p:nvPr/>
        </p:nvSpPr>
        <p:spPr>
          <a:xfrm>
            <a:off x="10220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203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'Chewables × Cellular Energy Support Ingredients' ranks highest (5/5); 'Powders and Granules × Neurofunctional Nutrients' lowest (1/5), a deprioritised cell.</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6814916" y="2519100"/>
            <a:ext cx="366712" cy="533400"/>
          </a:xfrm>
          <a:prstGeom prst="rect">
            <a:avLst/>
          </a:prstGeom>
        </p:spPr>
      </p:pic>
      <p:sp>
        <p:nvSpPr>
          <p:cNvPr id="32" name="TextBox 31"/>
          <p:cNvSpPr txBox="1"/>
          <p:nvPr/>
        </p:nvSpPr>
        <p:spPr>
          <a:xfrm>
            <a:off x="276225" y="4410075"/>
            <a:ext cx="3226258" cy="194310"/>
          </a:xfrm>
          <a:prstGeom prst="rect">
            <a:avLst/>
          </a:prstGeom>
          <a:noFill/>
        </p:spPr>
        <p:txBody>
          <a:bodyPr wrap="none" lIns="0" tIns="0" rIns="0" bIns="0">
            <a:spAutoFit/>
          </a:bodyPr>
          <a:lstStyle/>
          <a:p>
            <a:r>
              <a:rPr sz="1150" b="0">
                <a:solidFill>
                  <a:srgbClr val="2E2E2E"/>
                </a:solidFill>
                <a:latin typeface="Calibri"/>
              </a:rPr>
              <a:t>▪ 1. Capsules and Softgels × Antioxidant Ingredients –</a:t>
            </a:r>
          </a:p>
        </p:txBody>
      </p:sp>
      <p:pic>
        <p:nvPicPr>
          <p:cNvPr id="33" name="Picture 32" descr="lock.png"/>
          <p:cNvPicPr>
            <a:picLocks noChangeAspect="1"/>
          </p:cNvPicPr>
          <p:nvPr/>
        </p:nvPicPr>
        <p:blipFill>
          <a:blip r:embed="rId4"/>
          <a:stretch>
            <a:fillRect/>
          </a:stretch>
        </p:blipFill>
        <p:spPr>
          <a:xfrm>
            <a:off x="3451637" y="4399851"/>
            <a:ext cx="134549" cy="195707"/>
          </a:xfrm>
          <a:prstGeom prst="rect">
            <a:avLst/>
          </a:prstGeom>
        </p:spPr>
      </p:pic>
      <p:sp>
        <p:nvSpPr>
          <p:cNvPr id="34" name="TextBox 33"/>
          <p:cNvSpPr txBox="1"/>
          <p:nvPr/>
        </p:nvSpPr>
        <p:spPr>
          <a:xfrm>
            <a:off x="3626747" y="4410075"/>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688898" y="4399851"/>
            <a:ext cx="134549" cy="195707"/>
          </a:xfrm>
          <a:prstGeom prst="rect">
            <a:avLst/>
          </a:prstGeom>
        </p:spPr>
      </p:pic>
      <p:sp>
        <p:nvSpPr>
          <p:cNvPr id="36" name="TextBox 35"/>
          <p:cNvSpPr txBox="1"/>
          <p:nvPr/>
        </p:nvSpPr>
        <p:spPr>
          <a:xfrm>
            <a:off x="3864008" y="4410075"/>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37" name="TextBox 36"/>
          <p:cNvSpPr txBox="1"/>
          <p:nvPr/>
        </p:nvSpPr>
        <p:spPr>
          <a:xfrm>
            <a:off x="276225" y="4637913"/>
            <a:ext cx="3932547" cy="194310"/>
          </a:xfrm>
          <a:prstGeom prst="rect">
            <a:avLst/>
          </a:prstGeom>
          <a:noFill/>
        </p:spPr>
        <p:txBody>
          <a:bodyPr wrap="none" lIns="0" tIns="0" rIns="0" bIns="0">
            <a:spAutoFit/>
          </a:bodyPr>
          <a:lstStyle/>
          <a:p>
            <a:r>
              <a:rPr sz="1150" b="0">
                <a:solidFill>
                  <a:srgbClr val="2E2E2E"/>
                </a:solidFill>
                <a:latin typeface="Calibri"/>
              </a:rPr>
              <a:t>▪ 2. Capsules and Softgels × Cellular Energy Support Ingredients –</a:t>
            </a:r>
          </a:p>
        </p:txBody>
      </p:sp>
      <p:pic>
        <p:nvPicPr>
          <p:cNvPr id="38" name="Picture 37" descr="lock.png"/>
          <p:cNvPicPr>
            <a:picLocks noChangeAspect="1"/>
          </p:cNvPicPr>
          <p:nvPr/>
        </p:nvPicPr>
        <p:blipFill>
          <a:blip r:embed="rId4"/>
          <a:stretch>
            <a:fillRect/>
          </a:stretch>
        </p:blipFill>
        <p:spPr>
          <a:xfrm>
            <a:off x="4157926" y="4627689"/>
            <a:ext cx="134549" cy="195707"/>
          </a:xfrm>
          <a:prstGeom prst="rect">
            <a:avLst/>
          </a:prstGeom>
        </p:spPr>
      </p:pic>
      <p:sp>
        <p:nvSpPr>
          <p:cNvPr id="39" name="TextBox 38"/>
          <p:cNvSpPr txBox="1"/>
          <p:nvPr/>
        </p:nvSpPr>
        <p:spPr>
          <a:xfrm>
            <a:off x="4333035" y="4637913"/>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4395187" y="4627689"/>
            <a:ext cx="134549" cy="195707"/>
          </a:xfrm>
          <a:prstGeom prst="rect">
            <a:avLst/>
          </a:prstGeom>
        </p:spPr>
      </p:pic>
      <p:sp>
        <p:nvSpPr>
          <p:cNvPr id="41" name="TextBox 40"/>
          <p:cNvSpPr txBox="1"/>
          <p:nvPr/>
        </p:nvSpPr>
        <p:spPr>
          <a:xfrm>
            <a:off x="4570296" y="4637913"/>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42" name="TextBox 41"/>
          <p:cNvSpPr txBox="1"/>
          <p:nvPr/>
        </p:nvSpPr>
        <p:spPr>
          <a:xfrm>
            <a:off x="276225" y="4865750"/>
            <a:ext cx="3293293" cy="194310"/>
          </a:xfrm>
          <a:prstGeom prst="rect">
            <a:avLst/>
          </a:prstGeom>
          <a:noFill/>
        </p:spPr>
        <p:txBody>
          <a:bodyPr wrap="none" lIns="0" tIns="0" rIns="0" bIns="0">
            <a:spAutoFit/>
          </a:bodyPr>
          <a:lstStyle/>
          <a:p>
            <a:r>
              <a:rPr sz="1150" b="0">
                <a:solidFill>
                  <a:srgbClr val="2E2E2E"/>
                </a:solidFill>
                <a:latin typeface="Calibri"/>
              </a:rPr>
              <a:t>▪ 3. Chewables × Cellular Energy Support Ingredients –</a:t>
            </a:r>
          </a:p>
        </p:txBody>
      </p:sp>
      <p:pic>
        <p:nvPicPr>
          <p:cNvPr id="43" name="Picture 42" descr="lock.png"/>
          <p:cNvPicPr>
            <a:picLocks noChangeAspect="1"/>
          </p:cNvPicPr>
          <p:nvPr/>
        </p:nvPicPr>
        <p:blipFill>
          <a:blip r:embed="rId4"/>
          <a:stretch>
            <a:fillRect/>
          </a:stretch>
        </p:blipFill>
        <p:spPr>
          <a:xfrm>
            <a:off x="3518672" y="4855527"/>
            <a:ext cx="134549" cy="195707"/>
          </a:xfrm>
          <a:prstGeom prst="rect">
            <a:avLst/>
          </a:prstGeom>
        </p:spPr>
      </p:pic>
      <p:sp>
        <p:nvSpPr>
          <p:cNvPr id="44" name="TextBox 43"/>
          <p:cNvSpPr txBox="1"/>
          <p:nvPr/>
        </p:nvSpPr>
        <p:spPr>
          <a:xfrm>
            <a:off x="3693781" y="4865750"/>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755933" y="4855527"/>
            <a:ext cx="134549" cy="195707"/>
          </a:xfrm>
          <a:prstGeom prst="rect">
            <a:avLst/>
          </a:prstGeom>
        </p:spPr>
      </p:pic>
      <p:sp>
        <p:nvSpPr>
          <p:cNvPr id="46" name="TextBox 45"/>
          <p:cNvSpPr txBox="1"/>
          <p:nvPr/>
        </p:nvSpPr>
        <p:spPr>
          <a:xfrm>
            <a:off x="3931042" y="4865750"/>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47" name="TextBox 46"/>
          <p:cNvSpPr txBox="1"/>
          <p:nvPr/>
        </p:nvSpPr>
        <p:spPr>
          <a:xfrm>
            <a:off x="276225" y="5093588"/>
            <a:ext cx="3838413" cy="194310"/>
          </a:xfrm>
          <a:prstGeom prst="rect">
            <a:avLst/>
          </a:prstGeom>
          <a:noFill/>
        </p:spPr>
        <p:txBody>
          <a:bodyPr wrap="none" lIns="0" tIns="0" rIns="0" bIns="0">
            <a:spAutoFit/>
          </a:bodyPr>
          <a:lstStyle/>
          <a:p>
            <a:r>
              <a:rPr sz="1150" b="0">
                <a:solidFill>
                  <a:srgbClr val="2E2E2E"/>
                </a:solidFill>
                <a:latin typeface="Calibri"/>
              </a:rPr>
              <a:t>▪ 4. Capsules and Softgels × Microbiome-Targeted Ingredients –</a:t>
            </a:r>
          </a:p>
        </p:txBody>
      </p:sp>
      <p:pic>
        <p:nvPicPr>
          <p:cNvPr id="48" name="Picture 47" descr="lock.png"/>
          <p:cNvPicPr>
            <a:picLocks noChangeAspect="1"/>
          </p:cNvPicPr>
          <p:nvPr/>
        </p:nvPicPr>
        <p:blipFill>
          <a:blip r:embed="rId4"/>
          <a:stretch>
            <a:fillRect/>
          </a:stretch>
        </p:blipFill>
        <p:spPr>
          <a:xfrm>
            <a:off x="4063792" y="5083365"/>
            <a:ext cx="134549" cy="195707"/>
          </a:xfrm>
          <a:prstGeom prst="rect">
            <a:avLst/>
          </a:prstGeom>
        </p:spPr>
      </p:pic>
      <p:sp>
        <p:nvSpPr>
          <p:cNvPr id="49" name="TextBox 48"/>
          <p:cNvSpPr txBox="1"/>
          <p:nvPr/>
        </p:nvSpPr>
        <p:spPr>
          <a:xfrm>
            <a:off x="4238901" y="5093588"/>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4301053" y="5083365"/>
            <a:ext cx="134549" cy="195707"/>
          </a:xfrm>
          <a:prstGeom prst="rect">
            <a:avLst/>
          </a:prstGeom>
        </p:spPr>
      </p:pic>
      <p:sp>
        <p:nvSpPr>
          <p:cNvPr id="51" name="TextBox 50"/>
          <p:cNvSpPr txBox="1"/>
          <p:nvPr/>
        </p:nvSpPr>
        <p:spPr>
          <a:xfrm>
            <a:off x="4476162" y="5093588"/>
            <a:ext cx="350899" cy="194310"/>
          </a:xfrm>
          <a:prstGeom prst="rect">
            <a:avLst/>
          </a:prstGeom>
          <a:noFill/>
        </p:spPr>
        <p:txBody>
          <a:bodyPr wrap="none" lIns="0" tIns="0" rIns="0" bIns="0">
            <a:spAutoFit/>
          </a:bodyPr>
          <a:lstStyle/>
          <a:p>
            <a:r>
              <a:rPr sz="1150" b="0">
                <a:solidFill>
                  <a:srgbClr val="2E2E2E"/>
                </a:solidFill>
                <a:latin typeface="Calibri"/>
              </a:rPr>
              <a:t>· 4/5</a:t>
            </a:r>
          </a:p>
        </p:txBody>
      </p:sp>
      <p:sp>
        <p:nvSpPr>
          <p:cNvPr id="52" name="TextBox 51"/>
          <p:cNvSpPr txBox="1"/>
          <p:nvPr/>
        </p:nvSpPr>
        <p:spPr>
          <a:xfrm>
            <a:off x="276225" y="5321426"/>
            <a:ext cx="2375631" cy="194310"/>
          </a:xfrm>
          <a:prstGeom prst="rect">
            <a:avLst/>
          </a:prstGeom>
          <a:noFill/>
        </p:spPr>
        <p:txBody>
          <a:bodyPr wrap="none" lIns="0" tIns="0" rIns="0" bIns="0">
            <a:spAutoFit/>
          </a:bodyPr>
          <a:lstStyle/>
          <a:p>
            <a:r>
              <a:rPr sz="1150" b="0">
                <a:solidFill>
                  <a:srgbClr val="2E2E2E"/>
                </a:solidFill>
                <a:latin typeface="Calibri"/>
              </a:rPr>
              <a:t>▪ 5. Tablets × Antioxidant Ingredients –</a:t>
            </a:r>
          </a:p>
        </p:txBody>
      </p:sp>
      <p:pic>
        <p:nvPicPr>
          <p:cNvPr id="53" name="Picture 52" descr="lock.png"/>
          <p:cNvPicPr>
            <a:picLocks noChangeAspect="1"/>
          </p:cNvPicPr>
          <p:nvPr/>
        </p:nvPicPr>
        <p:blipFill>
          <a:blip r:embed="rId4"/>
          <a:stretch>
            <a:fillRect/>
          </a:stretch>
        </p:blipFill>
        <p:spPr>
          <a:xfrm>
            <a:off x="2601010" y="5311203"/>
            <a:ext cx="134549" cy="195707"/>
          </a:xfrm>
          <a:prstGeom prst="rect">
            <a:avLst/>
          </a:prstGeom>
        </p:spPr>
      </p:pic>
      <p:sp>
        <p:nvSpPr>
          <p:cNvPr id="54" name="TextBox 53"/>
          <p:cNvSpPr txBox="1"/>
          <p:nvPr/>
        </p:nvSpPr>
        <p:spPr>
          <a:xfrm>
            <a:off x="2776119" y="5321426"/>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2838271" y="5311203"/>
            <a:ext cx="134549" cy="195707"/>
          </a:xfrm>
          <a:prstGeom prst="rect">
            <a:avLst/>
          </a:prstGeom>
        </p:spPr>
      </p:pic>
      <p:sp>
        <p:nvSpPr>
          <p:cNvPr id="56" name="TextBox 55"/>
          <p:cNvSpPr txBox="1"/>
          <p:nvPr/>
        </p:nvSpPr>
        <p:spPr>
          <a:xfrm>
            <a:off x="3013380" y="5321426"/>
            <a:ext cx="350899" cy="194310"/>
          </a:xfrm>
          <a:prstGeom prst="rect">
            <a:avLst/>
          </a:prstGeom>
          <a:noFill/>
        </p:spPr>
        <p:txBody>
          <a:bodyPr wrap="none" lIns="0" tIns="0" rIns="0" bIns="0">
            <a:spAutoFit/>
          </a:bodyPr>
          <a:lstStyle/>
          <a:p>
            <a:r>
              <a:rPr sz="1150" b="0">
                <a:solidFill>
                  <a:srgbClr val="2E2E2E"/>
                </a:solidFill>
                <a:latin typeface="Calibri"/>
              </a:rPr>
              <a:t>· 4/5</a:t>
            </a:r>
          </a:p>
        </p:txBody>
      </p:sp>
      <p:sp>
        <p:nvSpPr>
          <p:cNvPr id="57" name="TextBox 56"/>
          <p:cNvSpPr txBox="1"/>
          <p:nvPr/>
        </p:nvSpPr>
        <p:spPr>
          <a:xfrm>
            <a:off x="6029325" y="4410075"/>
            <a:ext cx="1580058" cy="194310"/>
          </a:xfrm>
          <a:prstGeom prst="rect">
            <a:avLst/>
          </a:prstGeom>
          <a:noFill/>
        </p:spPr>
        <p:txBody>
          <a:bodyPr wrap="none" lIns="0" tIns="0" rIns="0" bIns="0">
            <a:spAutoFit/>
          </a:bodyPr>
          <a:lstStyle/>
          <a:p>
            <a:r>
              <a:rPr sz="1150" b="0">
                <a:solidFill>
                  <a:srgbClr val="2E2E2E"/>
                </a:solidFill>
                <a:latin typeface="Calibri"/>
              </a:rPr>
              <a:t>▪ 'Capsules and Softgels ×</a:t>
            </a:r>
          </a:p>
        </p:txBody>
      </p:sp>
      <p:sp>
        <p:nvSpPr>
          <p:cNvPr id="58" name="TextBox 57"/>
          <p:cNvSpPr txBox="1"/>
          <p:nvPr/>
        </p:nvSpPr>
        <p:spPr>
          <a:xfrm>
            <a:off x="6029325" y="4585335"/>
            <a:ext cx="1503895" cy="194310"/>
          </a:xfrm>
          <a:prstGeom prst="rect">
            <a:avLst/>
          </a:prstGeom>
          <a:noFill/>
        </p:spPr>
        <p:txBody>
          <a:bodyPr wrap="none" lIns="0" tIns="0" rIns="0" bIns="0">
            <a:spAutoFit/>
          </a:bodyPr>
          <a:lstStyle/>
          <a:p>
            <a:r>
              <a:rPr sz="1150" b="0">
                <a:solidFill>
                  <a:srgbClr val="2E2E2E"/>
                </a:solidFill>
                <a:latin typeface="Calibri"/>
              </a:rPr>
              <a:t>Antioxidant Ingredients'</a:t>
            </a:r>
          </a:p>
        </p:txBody>
      </p:sp>
      <p:sp>
        <p:nvSpPr>
          <p:cNvPr id="59" name="TextBox 58"/>
          <p:cNvSpPr txBox="1"/>
          <p:nvPr/>
        </p:nvSpPr>
        <p:spPr>
          <a:xfrm>
            <a:off x="6029325" y="4760595"/>
            <a:ext cx="356604" cy="194310"/>
          </a:xfrm>
          <a:prstGeom prst="rect">
            <a:avLst/>
          </a:prstGeom>
          <a:noFill/>
        </p:spPr>
        <p:txBody>
          <a:bodyPr wrap="none" lIns="0" tIns="0" rIns="0" bIns="0">
            <a:spAutoFit/>
          </a:bodyPr>
          <a:lstStyle/>
          <a:p>
            <a:r>
              <a:rPr sz="1150" b="0">
                <a:solidFill>
                  <a:srgbClr val="2E2E2E"/>
                </a:solidFill>
                <a:latin typeface="Calibri"/>
              </a:rPr>
              <a:t>adds</a:t>
            </a:r>
          </a:p>
        </p:txBody>
      </p:sp>
      <p:pic>
        <p:nvPicPr>
          <p:cNvPr id="60" name="Picture 59" descr="lock.png"/>
          <p:cNvPicPr>
            <a:picLocks noChangeAspect="1"/>
          </p:cNvPicPr>
          <p:nvPr/>
        </p:nvPicPr>
        <p:blipFill>
          <a:blip r:embed="rId4"/>
          <a:stretch>
            <a:fillRect/>
          </a:stretch>
        </p:blipFill>
        <p:spPr>
          <a:xfrm>
            <a:off x="6335083" y="4750371"/>
            <a:ext cx="134549" cy="195707"/>
          </a:xfrm>
          <a:prstGeom prst="rect">
            <a:avLst/>
          </a:prstGeom>
        </p:spPr>
      </p:pic>
      <p:sp>
        <p:nvSpPr>
          <p:cNvPr id="61" name="TextBox 60"/>
          <p:cNvSpPr txBox="1"/>
          <p:nvPr/>
        </p:nvSpPr>
        <p:spPr>
          <a:xfrm>
            <a:off x="6510192" y="4760595"/>
            <a:ext cx="1118803" cy="194310"/>
          </a:xfrm>
          <a:prstGeom prst="rect">
            <a:avLst/>
          </a:prstGeom>
          <a:noFill/>
        </p:spPr>
        <p:txBody>
          <a:bodyPr wrap="none" lIns="0" tIns="0" rIns="0" bIns="0">
            <a:spAutoFit/>
          </a:bodyPr>
          <a:lstStyle/>
          <a:p>
            <a:r>
              <a:rPr sz="1150" b="0">
                <a:solidFill>
                  <a:srgbClr val="2E2E2E"/>
                </a:solidFill>
                <a:latin typeface="Calibri"/>
              </a:rPr>
              <a:t>US$ Mn by 2036F</a:t>
            </a:r>
          </a:p>
        </p:txBody>
      </p:sp>
      <p:sp>
        <p:nvSpPr>
          <p:cNvPr id="62" name="TextBox 61"/>
          <p:cNvSpPr txBox="1"/>
          <p:nvPr/>
        </p:nvSpPr>
        <p:spPr>
          <a:xfrm>
            <a:off x="6029325" y="4935854"/>
            <a:ext cx="148939"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63" name="Picture 62" descr="lock.png"/>
          <p:cNvPicPr>
            <a:picLocks noChangeAspect="1"/>
          </p:cNvPicPr>
          <p:nvPr/>
        </p:nvPicPr>
        <p:blipFill>
          <a:blip r:embed="rId4"/>
          <a:stretch>
            <a:fillRect/>
          </a:stretch>
        </p:blipFill>
        <p:spPr>
          <a:xfrm>
            <a:off x="6127418" y="4925631"/>
            <a:ext cx="134549" cy="195707"/>
          </a:xfrm>
          <a:prstGeom prst="rect">
            <a:avLst/>
          </a:prstGeom>
        </p:spPr>
      </p:pic>
      <p:sp>
        <p:nvSpPr>
          <p:cNvPr id="64" name="TextBox 63"/>
          <p:cNvSpPr txBox="1"/>
          <p:nvPr/>
        </p:nvSpPr>
        <p:spPr>
          <a:xfrm>
            <a:off x="6302527" y="4935854"/>
            <a:ext cx="741126" cy="194310"/>
          </a:xfrm>
          <a:prstGeom prst="rect">
            <a:avLst/>
          </a:prstGeom>
          <a:noFill/>
        </p:spPr>
        <p:txBody>
          <a:bodyPr wrap="none" lIns="0" tIns="0" rIns="0" bIns="0">
            <a:spAutoFit/>
          </a:bodyPr>
          <a:lstStyle/>
          <a:p>
            <a:r>
              <a:rPr sz="1150" b="0">
                <a:solidFill>
                  <a:srgbClr val="2E2E2E"/>
                </a:solidFill>
                <a:latin typeface="Calibri"/>
              </a:rPr>
              <a:t>of the total</a:t>
            </a:r>
          </a:p>
        </p:txBody>
      </p:sp>
      <p:sp>
        <p:nvSpPr>
          <p:cNvPr id="65" name="TextBox 64"/>
          <p:cNvSpPr txBox="1"/>
          <p:nvPr/>
        </p:nvSpPr>
        <p:spPr>
          <a:xfrm>
            <a:off x="6029325" y="5111114"/>
            <a:ext cx="822994" cy="194310"/>
          </a:xfrm>
          <a:prstGeom prst="rect">
            <a:avLst/>
          </a:prstGeom>
          <a:noFill/>
        </p:spPr>
        <p:txBody>
          <a:bodyPr wrap="none" lIns="0" tIns="0" rIns="0" bIns="0">
            <a:spAutoFit/>
          </a:bodyPr>
          <a:lstStyle/>
          <a:p>
            <a:r>
              <a:rPr sz="1150" b="0">
                <a:solidFill>
                  <a:srgbClr val="2E2E2E"/>
                </a:solidFill>
                <a:latin typeface="Calibri"/>
              </a:rPr>
              <a:t>opportunity.</a:t>
            </a:r>
          </a:p>
        </p:txBody>
      </p:sp>
      <p:sp>
        <p:nvSpPr>
          <p:cNvPr id="66" name="TextBox 65"/>
          <p:cNvSpPr txBox="1"/>
          <p:nvPr/>
        </p:nvSpPr>
        <p:spPr>
          <a:xfrm>
            <a:off x="8124825" y="4410075"/>
            <a:ext cx="1423168" cy="194310"/>
          </a:xfrm>
          <a:prstGeom prst="rect">
            <a:avLst/>
          </a:prstGeom>
          <a:noFill/>
        </p:spPr>
        <p:txBody>
          <a:bodyPr wrap="none" lIns="0" tIns="0" rIns="0" bIns="0">
            <a:spAutoFit/>
          </a:bodyPr>
          <a:lstStyle/>
          <a:p>
            <a:r>
              <a:rPr sz="1150" b="0">
                <a:solidFill>
                  <a:srgbClr val="2E2E2E"/>
                </a:solidFill>
                <a:latin typeface="Calibri"/>
              </a:rPr>
              <a:t>▪ 'Chewables × Cellular</a:t>
            </a:r>
          </a:p>
        </p:txBody>
      </p:sp>
      <p:sp>
        <p:nvSpPr>
          <p:cNvPr id="67" name="TextBox 66"/>
          <p:cNvSpPr txBox="1"/>
          <p:nvPr/>
        </p:nvSpPr>
        <p:spPr>
          <a:xfrm>
            <a:off x="8124825" y="4585335"/>
            <a:ext cx="1657350" cy="194310"/>
          </a:xfrm>
          <a:prstGeom prst="rect">
            <a:avLst/>
          </a:prstGeom>
          <a:noFill/>
        </p:spPr>
        <p:txBody>
          <a:bodyPr wrap="none" lIns="0" tIns="0" rIns="0" bIns="0">
            <a:spAutoFit/>
          </a:bodyPr>
          <a:lstStyle/>
          <a:p>
            <a:r>
              <a:rPr sz="1150" b="0">
                <a:solidFill>
                  <a:srgbClr val="2E2E2E"/>
                </a:solidFill>
                <a:latin typeface="Calibri"/>
              </a:rPr>
              <a:t>Energy Support Ingredients'</a:t>
            </a:r>
          </a:p>
        </p:txBody>
      </p:sp>
      <p:sp>
        <p:nvSpPr>
          <p:cNvPr id="68" name="TextBox 67"/>
          <p:cNvSpPr txBox="1"/>
          <p:nvPr/>
        </p:nvSpPr>
        <p:spPr>
          <a:xfrm>
            <a:off x="8124825" y="4760595"/>
            <a:ext cx="689495" cy="194310"/>
          </a:xfrm>
          <a:prstGeom prst="rect">
            <a:avLst/>
          </a:prstGeom>
          <a:noFill/>
        </p:spPr>
        <p:txBody>
          <a:bodyPr wrap="none" lIns="0" tIns="0" rIns="0" bIns="0">
            <a:spAutoFit/>
          </a:bodyPr>
          <a:lstStyle/>
          <a:p>
            <a:r>
              <a:rPr sz="1150" b="0">
                <a:solidFill>
                  <a:srgbClr val="2E2E2E"/>
                </a:solidFill>
                <a:latin typeface="Calibri"/>
              </a:rPr>
              <a:t>grows at a</a:t>
            </a:r>
          </a:p>
        </p:txBody>
      </p:sp>
      <p:pic>
        <p:nvPicPr>
          <p:cNvPr id="69" name="Picture 68" descr="lock.png"/>
          <p:cNvPicPr>
            <a:picLocks noChangeAspect="1"/>
          </p:cNvPicPr>
          <p:nvPr/>
        </p:nvPicPr>
        <p:blipFill>
          <a:blip r:embed="rId4"/>
          <a:stretch>
            <a:fillRect/>
          </a:stretch>
        </p:blipFill>
        <p:spPr>
          <a:xfrm>
            <a:off x="8763474" y="4750371"/>
            <a:ext cx="134549" cy="195707"/>
          </a:xfrm>
          <a:prstGeom prst="rect">
            <a:avLst/>
          </a:prstGeom>
        </p:spPr>
      </p:pic>
      <p:sp>
        <p:nvSpPr>
          <p:cNvPr id="70" name="TextBox 69"/>
          <p:cNvSpPr txBox="1"/>
          <p:nvPr/>
        </p:nvSpPr>
        <p:spPr>
          <a:xfrm>
            <a:off x="8938584" y="4760595"/>
            <a:ext cx="446441" cy="194310"/>
          </a:xfrm>
          <a:prstGeom prst="rect">
            <a:avLst/>
          </a:prstGeom>
          <a:noFill/>
        </p:spPr>
        <p:txBody>
          <a:bodyPr wrap="none" lIns="0" tIns="0" rIns="0" bIns="0">
            <a:spAutoFit/>
          </a:bodyPr>
          <a:lstStyle/>
          <a:p>
            <a:r>
              <a:rPr sz="1150" b="0">
                <a:solidFill>
                  <a:srgbClr val="2E2E2E"/>
                </a:solidFill>
                <a:latin typeface="Calibri"/>
              </a:rPr>
              <a:t>CAGR,</a:t>
            </a:r>
          </a:p>
        </p:txBody>
      </p:sp>
      <p:pic>
        <p:nvPicPr>
          <p:cNvPr id="71" name="Picture 70" descr="lock.png"/>
          <p:cNvPicPr>
            <a:picLocks noChangeAspect="1"/>
          </p:cNvPicPr>
          <p:nvPr/>
        </p:nvPicPr>
        <p:blipFill>
          <a:blip r:embed="rId4"/>
          <a:stretch>
            <a:fillRect/>
          </a:stretch>
        </p:blipFill>
        <p:spPr>
          <a:xfrm>
            <a:off x="9334179" y="4750371"/>
            <a:ext cx="134549" cy="195707"/>
          </a:xfrm>
          <a:prstGeom prst="rect">
            <a:avLst/>
          </a:prstGeom>
        </p:spPr>
      </p:pic>
      <p:sp>
        <p:nvSpPr>
          <p:cNvPr id="72" name="TextBox 71"/>
          <p:cNvSpPr txBox="1"/>
          <p:nvPr/>
        </p:nvSpPr>
        <p:spPr>
          <a:xfrm>
            <a:off x="8124825" y="4935854"/>
            <a:ext cx="925400" cy="194310"/>
          </a:xfrm>
          <a:prstGeom prst="rect">
            <a:avLst/>
          </a:prstGeom>
          <a:noFill/>
        </p:spPr>
        <p:txBody>
          <a:bodyPr wrap="none" lIns="0" tIns="0" rIns="0" bIns="0">
            <a:spAutoFit/>
          </a:bodyPr>
          <a:lstStyle/>
          <a:p>
            <a:r>
              <a:rPr sz="1150" b="0">
                <a:solidFill>
                  <a:srgbClr val="2E2E2E"/>
                </a:solidFill>
                <a:latin typeface="Calibri"/>
              </a:rPr>
              <a:t>BPS above the</a:t>
            </a:r>
          </a:p>
        </p:txBody>
      </p:sp>
      <p:sp>
        <p:nvSpPr>
          <p:cNvPr id="73" name="TextBox 72"/>
          <p:cNvSpPr txBox="1"/>
          <p:nvPr/>
        </p:nvSpPr>
        <p:spPr>
          <a:xfrm>
            <a:off x="8124825" y="5111114"/>
            <a:ext cx="890029" cy="194310"/>
          </a:xfrm>
          <a:prstGeom prst="rect">
            <a:avLst/>
          </a:prstGeom>
          <a:noFill/>
        </p:spPr>
        <p:txBody>
          <a:bodyPr wrap="none" lIns="0" tIns="0" rIns="0" bIns="0">
            <a:spAutoFit/>
          </a:bodyPr>
          <a:lstStyle/>
          <a:p>
            <a:r>
              <a:rPr sz="1150" b="0">
                <a:solidFill>
                  <a:srgbClr val="2E2E2E"/>
                </a:solidFill>
                <a:latin typeface="Calibri"/>
              </a:rPr>
              <a:t>cross-section.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End-use Application × Active Ingredient</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Snapshot</a:t>
            </a:r>
          </a:p>
          <a:p>
            <a:pPr marL="342900" indent="-323850">
              <a:lnSpc>
                <a:spcPct val="100000"/>
              </a:lnSpc>
              <a:spcAft>
                <a:spcPts val="800"/>
              </a:spcAft>
            </a:pPr>
            <a:r>
              <a:rPr sz="2000" b="0">
                <a:solidFill>
                  <a:srgbClr val="000000"/>
                </a:solidFill>
                <a:latin typeface="Calibri"/>
              </a:rPr>
              <a:t>➤	Market Share Analysis</a:t>
            </a:r>
          </a:p>
          <a:p>
            <a:pPr marL="342900" indent="-323850">
              <a:lnSpc>
                <a:spcPct val="100000"/>
              </a:lnSpc>
              <a:spcAft>
                <a:spcPts val="800"/>
              </a:spcAft>
            </a:pPr>
            <a:r>
              <a:rPr sz="2000" b="0">
                <a:solidFill>
                  <a:srgbClr val="000000"/>
                </a:solidFill>
                <a:latin typeface="Calibri"/>
              </a:rPr>
              <a:t>➤	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Snapshot: End-use Application × Active Ingredient, 2026E vs 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Europe market value (US$ Mn) for each end-use application sub-segment across active ingredient sub-segments</a:t>
            </a:r>
          </a:p>
        </p:txBody>
      </p:sp>
      <p:sp>
        <p:nvSpPr>
          <p:cNvPr id="10" name="Rounded Rectangle 9"/>
          <p:cNvSpPr/>
          <p:nvPr/>
        </p:nvSpPr>
        <p:spPr>
          <a:xfrm>
            <a:off x="142875" y="98107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Market Value, End-use Application × Active Ingredient, 2026E and 2036F (US$ Mn)</a:t>
            </a:r>
          </a:p>
        </p:txBody>
      </p:sp>
      <p:graphicFrame>
        <p:nvGraphicFramePr>
          <p:cNvPr id="12" name="Table 11"/>
          <p:cNvGraphicFramePr>
            <a:graphicFrameLocks noGrp="1"/>
          </p:cNvGraphicFramePr>
          <p:nvPr/>
        </p:nvGraphicFramePr>
        <p:xfrm>
          <a:off x="152400" y="1238250"/>
          <a:ext cx="11887198" cy="2114549"/>
        </p:xfrm>
        <a:graphic>
          <a:graphicData uri="http://schemas.openxmlformats.org/drawingml/2006/table">
            <a:tbl>
              <a:tblPr>
                <a:tableStyleId>{5C22544A-7EE6-4342-B048-85BDC9FD1C3A}</a:tableStyleId>
              </a:tblPr>
              <a:tblGrid>
                <a:gridCol w="4059014">
                  <a:extLst>
                    <a:ext uri="{9D8B030D-6E8A-4147-A177-3AD203B41FA5}">
                      <a16:colId xmlns:a16="http://schemas.microsoft.com/office/drawing/2014/main" val="20000"/>
                    </a:ext>
                  </a:extLst>
                </a:gridCol>
                <a:gridCol w="559156">
                  <a:extLst>
                    <a:ext uri="{9D8B030D-6E8A-4147-A177-3AD203B41FA5}">
                      <a16:colId xmlns:a16="http://schemas.microsoft.com/office/drawing/2014/main" val="20001"/>
                    </a:ext>
                  </a:extLst>
                </a:gridCol>
                <a:gridCol w="559156">
                  <a:extLst>
                    <a:ext uri="{9D8B030D-6E8A-4147-A177-3AD203B41FA5}">
                      <a16:colId xmlns:a16="http://schemas.microsoft.com/office/drawing/2014/main" val="20002"/>
                    </a:ext>
                  </a:extLst>
                </a:gridCol>
                <a:gridCol w="559156">
                  <a:extLst>
                    <a:ext uri="{9D8B030D-6E8A-4147-A177-3AD203B41FA5}">
                      <a16:colId xmlns:a16="http://schemas.microsoft.com/office/drawing/2014/main" val="20003"/>
                    </a:ext>
                  </a:extLst>
                </a:gridCol>
                <a:gridCol w="559156">
                  <a:extLst>
                    <a:ext uri="{9D8B030D-6E8A-4147-A177-3AD203B41FA5}">
                      <a16:colId xmlns:a16="http://schemas.microsoft.com/office/drawing/2014/main" val="20004"/>
                    </a:ext>
                  </a:extLst>
                </a:gridCol>
                <a:gridCol w="559156">
                  <a:extLst>
                    <a:ext uri="{9D8B030D-6E8A-4147-A177-3AD203B41FA5}">
                      <a16:colId xmlns:a16="http://schemas.microsoft.com/office/drawing/2014/main" val="20005"/>
                    </a:ext>
                  </a:extLst>
                </a:gridCol>
                <a:gridCol w="559156">
                  <a:extLst>
                    <a:ext uri="{9D8B030D-6E8A-4147-A177-3AD203B41FA5}">
                      <a16:colId xmlns:a16="http://schemas.microsoft.com/office/drawing/2014/main" val="20006"/>
                    </a:ext>
                  </a:extLst>
                </a:gridCol>
                <a:gridCol w="559156">
                  <a:extLst>
                    <a:ext uri="{9D8B030D-6E8A-4147-A177-3AD203B41FA5}">
                      <a16:colId xmlns:a16="http://schemas.microsoft.com/office/drawing/2014/main" val="20007"/>
                    </a:ext>
                  </a:extLst>
                </a:gridCol>
                <a:gridCol w="559156">
                  <a:extLst>
                    <a:ext uri="{9D8B030D-6E8A-4147-A177-3AD203B41FA5}">
                      <a16:colId xmlns:a16="http://schemas.microsoft.com/office/drawing/2014/main" val="20008"/>
                    </a:ext>
                  </a:extLst>
                </a:gridCol>
                <a:gridCol w="559156">
                  <a:extLst>
                    <a:ext uri="{9D8B030D-6E8A-4147-A177-3AD203B41FA5}">
                      <a16:colId xmlns:a16="http://schemas.microsoft.com/office/drawing/2014/main" val="20009"/>
                    </a:ext>
                  </a:extLst>
                </a:gridCol>
                <a:gridCol w="559156">
                  <a:extLst>
                    <a:ext uri="{9D8B030D-6E8A-4147-A177-3AD203B41FA5}">
                      <a16:colId xmlns:a16="http://schemas.microsoft.com/office/drawing/2014/main" val="20010"/>
                    </a:ext>
                  </a:extLst>
                </a:gridCol>
                <a:gridCol w="559156">
                  <a:extLst>
                    <a:ext uri="{9D8B030D-6E8A-4147-A177-3AD203B41FA5}">
                      <a16:colId xmlns:a16="http://schemas.microsoft.com/office/drawing/2014/main" val="20011"/>
                    </a:ext>
                  </a:extLst>
                </a:gridCol>
                <a:gridCol w="559156">
                  <a:extLst>
                    <a:ext uri="{9D8B030D-6E8A-4147-A177-3AD203B41FA5}">
                      <a16:colId xmlns:a16="http://schemas.microsoft.com/office/drawing/2014/main" val="20012"/>
                    </a:ext>
                  </a:extLst>
                </a:gridCol>
                <a:gridCol w="559156">
                  <a:extLst>
                    <a:ext uri="{9D8B030D-6E8A-4147-A177-3AD203B41FA5}">
                      <a16:colId xmlns:a16="http://schemas.microsoft.com/office/drawing/2014/main" val="20013"/>
                    </a:ext>
                  </a:extLst>
                </a:gridCol>
                <a:gridCol w="559156">
                  <a:extLst>
                    <a:ext uri="{9D8B030D-6E8A-4147-A177-3AD203B41FA5}">
                      <a16:colId xmlns:a16="http://schemas.microsoft.com/office/drawing/2014/main" val="20014"/>
                    </a:ext>
                  </a:extLst>
                </a:gridCol>
              </a:tblGrid>
              <a:tr h="631697">
                <a:tc rowSpan="2">
                  <a:txBody>
                    <a:bodyPr/>
                    <a:lstStyle/>
                    <a:p>
                      <a:pPr algn="l"/>
                      <a:r>
                        <a:rPr sz="1100" b="1">
                          <a:solidFill>
                            <a:srgbClr val="0B2E4A"/>
                          </a:solidFill>
                          <a:latin typeface="Calibri"/>
                        </a:rPr>
                        <a:t>End-use Application</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Omega-3 Fatty</a:t>
                      </a:r>
                      <a:endParaRPr sz="1100"/>
                    </a:p>
                    <a:p>
                      <a:pPr algn="ctr"/>
                      <a:r>
                        <a:rPr sz="1100" b="1">
                          <a:solidFill>
                            <a:srgbClr val="0B2E4A"/>
                          </a:solidFill>
                          <a:latin typeface="Calibri"/>
                        </a:rPr>
                        <a:t>Acids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Cellular Energy</a:t>
                      </a:r>
                      <a:endParaRPr sz="1100"/>
                    </a:p>
                    <a:p>
                      <a:pPr algn="ctr"/>
                      <a:r>
                        <a:rPr sz="1100" b="1">
                          <a:solidFill>
                            <a:srgbClr val="0B2E4A"/>
                          </a:solidFill>
                          <a:latin typeface="Calibri"/>
                        </a:rPr>
                        <a:t>Support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Botanical</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Microbiome-</a:t>
                      </a:r>
                      <a:endParaRPr sz="1100"/>
                    </a:p>
                    <a:p>
                      <a:pPr algn="ctr"/>
                      <a:r>
                        <a:rPr sz="1100" b="1">
                          <a:solidFill>
                            <a:srgbClr val="0B2E4A"/>
                          </a:solidFill>
                          <a:latin typeface="Calibri"/>
                        </a:rPr>
                        <a:t>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142">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7142">
                <a:tc>
                  <a:txBody>
                    <a:bodyPr/>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7142">
                <a:tc>
                  <a:txBody>
                    <a:bodyPr/>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7142">
                <a:tc>
                  <a:txBody>
                    <a:bodyPr/>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7142">
                <a:tc>
                  <a:txBody>
                    <a:bodyPr/>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7142">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219075" y="336232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695700"/>
            <a:ext cx="72866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3752850"/>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Flow, End-use Application → Active Ingredient, 2036F (US$ Mn)</a:t>
            </a:r>
          </a:p>
        </p:txBody>
      </p:sp>
      <p:sp>
        <p:nvSpPr>
          <p:cNvPr id="16" name="Freeform 15"/>
          <p:cNvSpPr/>
          <p:nvPr/>
        </p:nvSpPr>
        <p:spPr>
          <a:xfrm>
            <a:off x="2057400" y="4019550"/>
            <a:ext cx="3743325" cy="361950"/>
          </a:xfrm>
          <a:custGeom>
            <a:avLst/>
            <a:gdLst/>
            <a:ahLst/>
            <a:cxnLst/>
            <a:rect l="l" t="t" r="r" b="b"/>
            <a:pathLst>
              <a:path w="393" h="38">
                <a:moveTo>
                  <a:pt x="0" y="6"/>
                </a:moveTo>
                <a:lnTo>
                  <a:pt x="16" y="6"/>
                </a:lnTo>
                <a:lnTo>
                  <a:pt x="33" y="6"/>
                </a:lnTo>
                <a:lnTo>
                  <a:pt x="49" y="6"/>
                </a:lnTo>
                <a:lnTo>
                  <a:pt x="65" y="6"/>
                </a:lnTo>
                <a:lnTo>
                  <a:pt x="82" y="5"/>
                </a:lnTo>
                <a:lnTo>
                  <a:pt x="98" y="5"/>
                </a:lnTo>
                <a:lnTo>
                  <a:pt x="114" y="5"/>
                </a:lnTo>
                <a:lnTo>
                  <a:pt x="131" y="4"/>
                </a:lnTo>
                <a:lnTo>
                  <a:pt x="147" y="4"/>
                </a:lnTo>
                <a:lnTo>
                  <a:pt x="164" y="4"/>
                </a:lnTo>
                <a:lnTo>
                  <a:pt x="180" y="3"/>
                </a:lnTo>
                <a:lnTo>
                  <a:pt x="196" y="3"/>
                </a:lnTo>
                <a:lnTo>
                  <a:pt x="213" y="3"/>
                </a:lnTo>
                <a:lnTo>
                  <a:pt x="229" y="2"/>
                </a:lnTo>
                <a:lnTo>
                  <a:pt x="246" y="2"/>
                </a:lnTo>
                <a:lnTo>
                  <a:pt x="262" y="2"/>
                </a:lnTo>
                <a:lnTo>
                  <a:pt x="278" y="1"/>
                </a:lnTo>
                <a:lnTo>
                  <a:pt x="295" y="1"/>
                </a:lnTo>
                <a:lnTo>
                  <a:pt x="311" y="1"/>
                </a:lnTo>
                <a:lnTo>
                  <a:pt x="327" y="0"/>
                </a:lnTo>
                <a:lnTo>
                  <a:pt x="344" y="0"/>
                </a:lnTo>
                <a:lnTo>
                  <a:pt x="360" y="0"/>
                </a:lnTo>
                <a:lnTo>
                  <a:pt x="377" y="0"/>
                </a:lnTo>
                <a:lnTo>
                  <a:pt x="393" y="0"/>
                </a:lnTo>
                <a:lnTo>
                  <a:pt x="393" y="32"/>
                </a:lnTo>
                <a:lnTo>
                  <a:pt x="377" y="32"/>
                </a:lnTo>
                <a:lnTo>
                  <a:pt x="360" y="33"/>
                </a:lnTo>
                <a:lnTo>
                  <a:pt x="344" y="33"/>
                </a:lnTo>
                <a:lnTo>
                  <a:pt x="327" y="33"/>
                </a:lnTo>
                <a:lnTo>
                  <a:pt x="311" y="33"/>
                </a:lnTo>
                <a:lnTo>
                  <a:pt x="295" y="33"/>
                </a:lnTo>
                <a:lnTo>
                  <a:pt x="278" y="34"/>
                </a:lnTo>
                <a:lnTo>
                  <a:pt x="262" y="34"/>
                </a:lnTo>
                <a:lnTo>
                  <a:pt x="246" y="34"/>
                </a:lnTo>
                <a:lnTo>
                  <a:pt x="229" y="35"/>
                </a:lnTo>
                <a:lnTo>
                  <a:pt x="213" y="35"/>
                </a:lnTo>
                <a:lnTo>
                  <a:pt x="196" y="35"/>
                </a:lnTo>
                <a:lnTo>
                  <a:pt x="180" y="36"/>
                </a:lnTo>
                <a:lnTo>
                  <a:pt x="164" y="36"/>
                </a:lnTo>
                <a:lnTo>
                  <a:pt x="147" y="37"/>
                </a:lnTo>
                <a:lnTo>
                  <a:pt x="131" y="37"/>
                </a:lnTo>
                <a:lnTo>
                  <a:pt x="114" y="37"/>
                </a:lnTo>
                <a:lnTo>
                  <a:pt x="98" y="38"/>
                </a:lnTo>
                <a:lnTo>
                  <a:pt x="82" y="38"/>
                </a:lnTo>
                <a:lnTo>
                  <a:pt x="65" y="38"/>
                </a:lnTo>
                <a:lnTo>
                  <a:pt x="49" y="38"/>
                </a:lnTo>
                <a:lnTo>
                  <a:pt x="33" y="38"/>
                </a:lnTo>
                <a:lnTo>
                  <a:pt x="16" y="38"/>
                </a:lnTo>
                <a:lnTo>
                  <a:pt x="0" y="3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2057400" y="4381500"/>
            <a:ext cx="3743325" cy="476250"/>
          </a:xfrm>
          <a:custGeom>
            <a:avLst/>
            <a:gdLst/>
            <a:ahLst/>
            <a:cxnLst/>
            <a:rect l="l" t="t" r="r" b="b"/>
            <a:pathLst>
              <a:path w="393" h="50">
                <a:moveTo>
                  <a:pt x="0" y="0"/>
                </a:moveTo>
                <a:lnTo>
                  <a:pt x="16" y="1"/>
                </a:lnTo>
                <a:lnTo>
                  <a:pt x="33" y="1"/>
                </a:lnTo>
                <a:lnTo>
                  <a:pt x="49" y="1"/>
                </a:lnTo>
                <a:lnTo>
                  <a:pt x="65" y="2"/>
                </a:lnTo>
                <a:lnTo>
                  <a:pt x="82" y="3"/>
                </a:lnTo>
                <a:lnTo>
                  <a:pt x="98" y="4"/>
                </a:lnTo>
                <a:lnTo>
                  <a:pt x="114" y="5"/>
                </a:lnTo>
                <a:lnTo>
                  <a:pt x="131" y="6"/>
                </a:lnTo>
                <a:lnTo>
                  <a:pt x="147" y="7"/>
                </a:lnTo>
                <a:lnTo>
                  <a:pt x="164" y="9"/>
                </a:lnTo>
                <a:lnTo>
                  <a:pt x="180" y="10"/>
                </a:lnTo>
                <a:lnTo>
                  <a:pt x="196" y="11"/>
                </a:lnTo>
                <a:lnTo>
                  <a:pt x="213" y="13"/>
                </a:lnTo>
                <a:lnTo>
                  <a:pt x="229" y="14"/>
                </a:lnTo>
                <a:lnTo>
                  <a:pt x="246" y="15"/>
                </a:lnTo>
                <a:lnTo>
                  <a:pt x="262" y="17"/>
                </a:lnTo>
                <a:lnTo>
                  <a:pt x="278" y="18"/>
                </a:lnTo>
                <a:lnTo>
                  <a:pt x="295" y="19"/>
                </a:lnTo>
                <a:lnTo>
                  <a:pt x="311" y="20"/>
                </a:lnTo>
                <a:lnTo>
                  <a:pt x="327" y="21"/>
                </a:lnTo>
                <a:lnTo>
                  <a:pt x="344" y="21"/>
                </a:lnTo>
                <a:lnTo>
                  <a:pt x="360" y="22"/>
                </a:lnTo>
                <a:lnTo>
                  <a:pt x="377" y="22"/>
                </a:lnTo>
                <a:lnTo>
                  <a:pt x="393" y="22"/>
                </a:lnTo>
                <a:lnTo>
                  <a:pt x="393" y="50"/>
                </a:lnTo>
                <a:lnTo>
                  <a:pt x="377" y="49"/>
                </a:lnTo>
                <a:lnTo>
                  <a:pt x="360" y="49"/>
                </a:lnTo>
                <a:lnTo>
                  <a:pt x="344" y="49"/>
                </a:lnTo>
                <a:lnTo>
                  <a:pt x="327" y="48"/>
                </a:lnTo>
                <a:lnTo>
                  <a:pt x="311" y="47"/>
                </a:lnTo>
                <a:lnTo>
                  <a:pt x="295" y="46"/>
                </a:lnTo>
                <a:lnTo>
                  <a:pt x="278" y="45"/>
                </a:lnTo>
                <a:lnTo>
                  <a:pt x="262" y="44"/>
                </a:lnTo>
                <a:lnTo>
                  <a:pt x="246" y="43"/>
                </a:lnTo>
                <a:lnTo>
                  <a:pt x="229" y="41"/>
                </a:lnTo>
                <a:lnTo>
                  <a:pt x="213" y="40"/>
                </a:lnTo>
                <a:lnTo>
                  <a:pt x="196" y="39"/>
                </a:lnTo>
                <a:lnTo>
                  <a:pt x="180" y="37"/>
                </a:lnTo>
                <a:lnTo>
                  <a:pt x="164" y="36"/>
                </a:lnTo>
                <a:lnTo>
                  <a:pt x="147" y="35"/>
                </a:lnTo>
                <a:lnTo>
                  <a:pt x="131" y="33"/>
                </a:lnTo>
                <a:lnTo>
                  <a:pt x="114" y="32"/>
                </a:lnTo>
                <a:lnTo>
                  <a:pt x="98" y="31"/>
                </a:lnTo>
                <a:lnTo>
                  <a:pt x="82" y="30"/>
                </a:lnTo>
                <a:lnTo>
                  <a:pt x="65" y="29"/>
                </a:lnTo>
                <a:lnTo>
                  <a:pt x="49" y="29"/>
                </a:lnTo>
                <a:lnTo>
                  <a:pt x="33" y="28"/>
                </a:lnTo>
                <a:lnTo>
                  <a:pt x="16" y="28"/>
                </a:lnTo>
                <a:lnTo>
                  <a:pt x="0" y="2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2057400" y="4648200"/>
            <a:ext cx="3743325" cy="666750"/>
          </a:xfrm>
          <a:custGeom>
            <a:avLst/>
            <a:gdLst/>
            <a:ahLst/>
            <a:cxnLst/>
            <a:rect l="l" t="t" r="r" b="b"/>
            <a:pathLst>
              <a:path w="393" h="70">
                <a:moveTo>
                  <a:pt x="0" y="0"/>
                </a:moveTo>
                <a:lnTo>
                  <a:pt x="16" y="0"/>
                </a:lnTo>
                <a:lnTo>
                  <a:pt x="33" y="1"/>
                </a:lnTo>
                <a:lnTo>
                  <a:pt x="49" y="2"/>
                </a:lnTo>
                <a:lnTo>
                  <a:pt x="65" y="4"/>
                </a:lnTo>
                <a:lnTo>
                  <a:pt x="82" y="6"/>
                </a:lnTo>
                <a:lnTo>
                  <a:pt x="98" y="8"/>
                </a:lnTo>
                <a:lnTo>
                  <a:pt x="114" y="10"/>
                </a:lnTo>
                <a:lnTo>
                  <a:pt x="131" y="13"/>
                </a:lnTo>
                <a:lnTo>
                  <a:pt x="147" y="16"/>
                </a:lnTo>
                <a:lnTo>
                  <a:pt x="164" y="19"/>
                </a:lnTo>
                <a:lnTo>
                  <a:pt x="180" y="23"/>
                </a:lnTo>
                <a:lnTo>
                  <a:pt x="196" y="26"/>
                </a:lnTo>
                <a:lnTo>
                  <a:pt x="213" y="29"/>
                </a:lnTo>
                <a:lnTo>
                  <a:pt x="229" y="32"/>
                </a:lnTo>
                <a:lnTo>
                  <a:pt x="246" y="35"/>
                </a:lnTo>
                <a:lnTo>
                  <a:pt x="262" y="38"/>
                </a:lnTo>
                <a:lnTo>
                  <a:pt x="278" y="41"/>
                </a:lnTo>
                <a:lnTo>
                  <a:pt x="295" y="44"/>
                </a:lnTo>
                <a:lnTo>
                  <a:pt x="311" y="46"/>
                </a:lnTo>
                <a:lnTo>
                  <a:pt x="327" y="48"/>
                </a:lnTo>
                <a:lnTo>
                  <a:pt x="344" y="50"/>
                </a:lnTo>
                <a:lnTo>
                  <a:pt x="360" y="51"/>
                </a:lnTo>
                <a:lnTo>
                  <a:pt x="377" y="52"/>
                </a:lnTo>
                <a:lnTo>
                  <a:pt x="393" y="52"/>
                </a:lnTo>
                <a:lnTo>
                  <a:pt x="393" y="70"/>
                </a:lnTo>
                <a:lnTo>
                  <a:pt x="377" y="70"/>
                </a:lnTo>
                <a:lnTo>
                  <a:pt x="360" y="69"/>
                </a:lnTo>
                <a:lnTo>
                  <a:pt x="344" y="68"/>
                </a:lnTo>
                <a:lnTo>
                  <a:pt x="327" y="66"/>
                </a:lnTo>
                <a:lnTo>
                  <a:pt x="311" y="64"/>
                </a:lnTo>
                <a:lnTo>
                  <a:pt x="295" y="62"/>
                </a:lnTo>
                <a:lnTo>
                  <a:pt x="278" y="59"/>
                </a:lnTo>
                <a:lnTo>
                  <a:pt x="262" y="56"/>
                </a:lnTo>
                <a:lnTo>
                  <a:pt x="246" y="53"/>
                </a:lnTo>
                <a:lnTo>
                  <a:pt x="229" y="50"/>
                </a:lnTo>
                <a:lnTo>
                  <a:pt x="213" y="47"/>
                </a:lnTo>
                <a:lnTo>
                  <a:pt x="196" y="44"/>
                </a:lnTo>
                <a:lnTo>
                  <a:pt x="180" y="40"/>
                </a:lnTo>
                <a:lnTo>
                  <a:pt x="164" y="37"/>
                </a:lnTo>
                <a:lnTo>
                  <a:pt x="147" y="34"/>
                </a:lnTo>
                <a:lnTo>
                  <a:pt x="131" y="31"/>
                </a:lnTo>
                <a:lnTo>
                  <a:pt x="114" y="28"/>
                </a:lnTo>
                <a:lnTo>
                  <a:pt x="98" y="26"/>
                </a:lnTo>
                <a:lnTo>
                  <a:pt x="82" y="23"/>
                </a:lnTo>
                <a:lnTo>
                  <a:pt x="65" y="21"/>
                </a:lnTo>
                <a:lnTo>
                  <a:pt x="49" y="20"/>
                </a:lnTo>
                <a:lnTo>
                  <a:pt x="33" y="19"/>
                </a:lnTo>
                <a:lnTo>
                  <a:pt x="16" y="18"/>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2057400" y="4819650"/>
            <a:ext cx="3743325" cy="923925"/>
          </a:xfrm>
          <a:custGeom>
            <a:avLst/>
            <a:gdLst/>
            <a:ahLst/>
            <a:cxnLst/>
            <a:rect l="l" t="t" r="r" b="b"/>
            <a:pathLst>
              <a:path w="393" h="97">
                <a:moveTo>
                  <a:pt x="0" y="0"/>
                </a:moveTo>
                <a:lnTo>
                  <a:pt x="16" y="0"/>
                </a:lnTo>
                <a:lnTo>
                  <a:pt x="33" y="1"/>
                </a:lnTo>
                <a:lnTo>
                  <a:pt x="49" y="3"/>
                </a:lnTo>
                <a:lnTo>
                  <a:pt x="65" y="5"/>
                </a:lnTo>
                <a:lnTo>
                  <a:pt x="82" y="8"/>
                </a:lnTo>
                <a:lnTo>
                  <a:pt x="98" y="12"/>
                </a:lnTo>
                <a:lnTo>
                  <a:pt x="114" y="15"/>
                </a:lnTo>
                <a:lnTo>
                  <a:pt x="131" y="20"/>
                </a:lnTo>
                <a:lnTo>
                  <a:pt x="147" y="24"/>
                </a:lnTo>
                <a:lnTo>
                  <a:pt x="164" y="29"/>
                </a:lnTo>
                <a:lnTo>
                  <a:pt x="180" y="33"/>
                </a:lnTo>
                <a:lnTo>
                  <a:pt x="196" y="38"/>
                </a:lnTo>
                <a:lnTo>
                  <a:pt x="213" y="43"/>
                </a:lnTo>
                <a:lnTo>
                  <a:pt x="229" y="48"/>
                </a:lnTo>
                <a:lnTo>
                  <a:pt x="246" y="52"/>
                </a:lnTo>
                <a:lnTo>
                  <a:pt x="262" y="57"/>
                </a:lnTo>
                <a:lnTo>
                  <a:pt x="278" y="61"/>
                </a:lnTo>
                <a:lnTo>
                  <a:pt x="295" y="65"/>
                </a:lnTo>
                <a:lnTo>
                  <a:pt x="311" y="68"/>
                </a:lnTo>
                <a:lnTo>
                  <a:pt x="327" y="71"/>
                </a:lnTo>
                <a:lnTo>
                  <a:pt x="344" y="73"/>
                </a:lnTo>
                <a:lnTo>
                  <a:pt x="360" y="75"/>
                </a:lnTo>
                <a:lnTo>
                  <a:pt x="377" y="76"/>
                </a:lnTo>
                <a:lnTo>
                  <a:pt x="393" y="77"/>
                </a:lnTo>
                <a:lnTo>
                  <a:pt x="393" y="97"/>
                </a:lnTo>
                <a:lnTo>
                  <a:pt x="377" y="96"/>
                </a:lnTo>
                <a:lnTo>
                  <a:pt x="360" y="95"/>
                </a:lnTo>
                <a:lnTo>
                  <a:pt x="344" y="93"/>
                </a:lnTo>
                <a:lnTo>
                  <a:pt x="327" y="91"/>
                </a:lnTo>
                <a:lnTo>
                  <a:pt x="311" y="88"/>
                </a:lnTo>
                <a:lnTo>
                  <a:pt x="295" y="84"/>
                </a:lnTo>
                <a:lnTo>
                  <a:pt x="278" y="81"/>
                </a:lnTo>
                <a:lnTo>
                  <a:pt x="262" y="76"/>
                </a:lnTo>
                <a:lnTo>
                  <a:pt x="246" y="72"/>
                </a:lnTo>
                <a:lnTo>
                  <a:pt x="229" y="67"/>
                </a:lnTo>
                <a:lnTo>
                  <a:pt x="213" y="63"/>
                </a:lnTo>
                <a:lnTo>
                  <a:pt x="196" y="58"/>
                </a:lnTo>
                <a:lnTo>
                  <a:pt x="180" y="53"/>
                </a:lnTo>
                <a:lnTo>
                  <a:pt x="164" y="48"/>
                </a:lnTo>
                <a:lnTo>
                  <a:pt x="147" y="44"/>
                </a:lnTo>
                <a:lnTo>
                  <a:pt x="131" y="39"/>
                </a:lnTo>
                <a:lnTo>
                  <a:pt x="114" y="35"/>
                </a:lnTo>
                <a:lnTo>
                  <a:pt x="98" y="31"/>
                </a:lnTo>
                <a:lnTo>
                  <a:pt x="82" y="28"/>
                </a:lnTo>
                <a:lnTo>
                  <a:pt x="65" y="25"/>
                </a:lnTo>
                <a:lnTo>
                  <a:pt x="49" y="23"/>
                </a:lnTo>
                <a:lnTo>
                  <a:pt x="33" y="21"/>
                </a:lnTo>
                <a:lnTo>
                  <a:pt x="16" y="20"/>
                </a:lnTo>
                <a:lnTo>
                  <a:pt x="0" y="1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2057400" y="5000625"/>
            <a:ext cx="3743325" cy="1104900"/>
          </a:xfrm>
          <a:custGeom>
            <a:avLst/>
            <a:gdLst/>
            <a:ahLst/>
            <a:cxnLst/>
            <a:rect l="l" t="t" r="r" b="b"/>
            <a:pathLst>
              <a:path w="393" h="116">
                <a:moveTo>
                  <a:pt x="0" y="0"/>
                </a:moveTo>
                <a:lnTo>
                  <a:pt x="16" y="1"/>
                </a:lnTo>
                <a:lnTo>
                  <a:pt x="33" y="2"/>
                </a:lnTo>
                <a:lnTo>
                  <a:pt x="49" y="5"/>
                </a:lnTo>
                <a:lnTo>
                  <a:pt x="65" y="8"/>
                </a:lnTo>
                <a:lnTo>
                  <a:pt x="82" y="11"/>
                </a:lnTo>
                <a:lnTo>
                  <a:pt x="98" y="16"/>
                </a:lnTo>
                <a:lnTo>
                  <a:pt x="114" y="21"/>
                </a:lnTo>
                <a:lnTo>
                  <a:pt x="131" y="26"/>
                </a:lnTo>
                <a:lnTo>
                  <a:pt x="147" y="32"/>
                </a:lnTo>
                <a:lnTo>
                  <a:pt x="164" y="38"/>
                </a:lnTo>
                <a:lnTo>
                  <a:pt x="180" y="44"/>
                </a:lnTo>
                <a:lnTo>
                  <a:pt x="196" y="50"/>
                </a:lnTo>
                <a:lnTo>
                  <a:pt x="213" y="56"/>
                </a:lnTo>
                <a:lnTo>
                  <a:pt x="229" y="62"/>
                </a:lnTo>
                <a:lnTo>
                  <a:pt x="246" y="68"/>
                </a:lnTo>
                <a:lnTo>
                  <a:pt x="262" y="74"/>
                </a:lnTo>
                <a:lnTo>
                  <a:pt x="278" y="79"/>
                </a:lnTo>
                <a:lnTo>
                  <a:pt x="295" y="84"/>
                </a:lnTo>
                <a:lnTo>
                  <a:pt x="311" y="89"/>
                </a:lnTo>
                <a:lnTo>
                  <a:pt x="327" y="92"/>
                </a:lnTo>
                <a:lnTo>
                  <a:pt x="344" y="95"/>
                </a:lnTo>
                <a:lnTo>
                  <a:pt x="360" y="98"/>
                </a:lnTo>
                <a:lnTo>
                  <a:pt x="377" y="99"/>
                </a:lnTo>
                <a:lnTo>
                  <a:pt x="393" y="100"/>
                </a:lnTo>
                <a:lnTo>
                  <a:pt x="393" y="116"/>
                </a:lnTo>
                <a:lnTo>
                  <a:pt x="377" y="115"/>
                </a:lnTo>
                <a:lnTo>
                  <a:pt x="360" y="114"/>
                </a:lnTo>
                <a:lnTo>
                  <a:pt x="344" y="111"/>
                </a:lnTo>
                <a:lnTo>
                  <a:pt x="327" y="108"/>
                </a:lnTo>
                <a:lnTo>
                  <a:pt x="311" y="105"/>
                </a:lnTo>
                <a:lnTo>
                  <a:pt x="295" y="100"/>
                </a:lnTo>
                <a:lnTo>
                  <a:pt x="278" y="95"/>
                </a:lnTo>
                <a:lnTo>
                  <a:pt x="262" y="90"/>
                </a:lnTo>
                <a:lnTo>
                  <a:pt x="246" y="84"/>
                </a:lnTo>
                <a:lnTo>
                  <a:pt x="229" y="78"/>
                </a:lnTo>
                <a:lnTo>
                  <a:pt x="213" y="72"/>
                </a:lnTo>
                <a:lnTo>
                  <a:pt x="196" y="66"/>
                </a:lnTo>
                <a:lnTo>
                  <a:pt x="180" y="60"/>
                </a:lnTo>
                <a:lnTo>
                  <a:pt x="164" y="54"/>
                </a:lnTo>
                <a:lnTo>
                  <a:pt x="147" y="48"/>
                </a:lnTo>
                <a:lnTo>
                  <a:pt x="131" y="42"/>
                </a:lnTo>
                <a:lnTo>
                  <a:pt x="114" y="37"/>
                </a:lnTo>
                <a:lnTo>
                  <a:pt x="98" y="32"/>
                </a:lnTo>
                <a:lnTo>
                  <a:pt x="82" y="27"/>
                </a:lnTo>
                <a:lnTo>
                  <a:pt x="65" y="24"/>
                </a:lnTo>
                <a:lnTo>
                  <a:pt x="49" y="21"/>
                </a:lnTo>
                <a:lnTo>
                  <a:pt x="33" y="18"/>
                </a:lnTo>
                <a:lnTo>
                  <a:pt x="16" y="17"/>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2057400" y="5153025"/>
            <a:ext cx="3743325" cy="1276350"/>
          </a:xfrm>
          <a:custGeom>
            <a:avLst/>
            <a:gdLst/>
            <a:ahLst/>
            <a:cxnLst/>
            <a:rect l="l" t="t" r="r" b="b"/>
            <a:pathLst>
              <a:path w="393" h="134">
                <a:moveTo>
                  <a:pt x="0" y="0"/>
                </a:moveTo>
                <a:lnTo>
                  <a:pt x="16" y="1"/>
                </a:lnTo>
                <a:lnTo>
                  <a:pt x="33" y="3"/>
                </a:lnTo>
                <a:lnTo>
                  <a:pt x="49" y="5"/>
                </a:lnTo>
                <a:lnTo>
                  <a:pt x="65" y="9"/>
                </a:lnTo>
                <a:lnTo>
                  <a:pt x="82" y="14"/>
                </a:lnTo>
                <a:lnTo>
                  <a:pt x="98" y="19"/>
                </a:lnTo>
                <a:lnTo>
                  <a:pt x="114" y="25"/>
                </a:lnTo>
                <a:lnTo>
                  <a:pt x="131" y="31"/>
                </a:lnTo>
                <a:lnTo>
                  <a:pt x="147" y="38"/>
                </a:lnTo>
                <a:lnTo>
                  <a:pt x="164" y="45"/>
                </a:lnTo>
                <a:lnTo>
                  <a:pt x="180" y="52"/>
                </a:lnTo>
                <a:lnTo>
                  <a:pt x="196" y="59"/>
                </a:lnTo>
                <a:lnTo>
                  <a:pt x="213" y="67"/>
                </a:lnTo>
                <a:lnTo>
                  <a:pt x="229" y="74"/>
                </a:lnTo>
                <a:lnTo>
                  <a:pt x="246" y="81"/>
                </a:lnTo>
                <a:lnTo>
                  <a:pt x="262" y="88"/>
                </a:lnTo>
                <a:lnTo>
                  <a:pt x="278" y="94"/>
                </a:lnTo>
                <a:lnTo>
                  <a:pt x="295" y="100"/>
                </a:lnTo>
                <a:lnTo>
                  <a:pt x="311" y="105"/>
                </a:lnTo>
                <a:lnTo>
                  <a:pt x="327" y="109"/>
                </a:lnTo>
                <a:lnTo>
                  <a:pt x="344" y="113"/>
                </a:lnTo>
                <a:lnTo>
                  <a:pt x="360" y="116"/>
                </a:lnTo>
                <a:lnTo>
                  <a:pt x="377" y="117"/>
                </a:lnTo>
                <a:lnTo>
                  <a:pt x="393" y="118"/>
                </a:lnTo>
                <a:lnTo>
                  <a:pt x="393" y="134"/>
                </a:lnTo>
                <a:lnTo>
                  <a:pt x="377" y="133"/>
                </a:lnTo>
                <a:lnTo>
                  <a:pt x="360" y="132"/>
                </a:lnTo>
                <a:lnTo>
                  <a:pt x="344" y="129"/>
                </a:lnTo>
                <a:lnTo>
                  <a:pt x="327" y="125"/>
                </a:lnTo>
                <a:lnTo>
                  <a:pt x="311" y="121"/>
                </a:lnTo>
                <a:lnTo>
                  <a:pt x="295" y="116"/>
                </a:lnTo>
                <a:lnTo>
                  <a:pt x="278" y="110"/>
                </a:lnTo>
                <a:lnTo>
                  <a:pt x="262" y="103"/>
                </a:lnTo>
                <a:lnTo>
                  <a:pt x="246" y="97"/>
                </a:lnTo>
                <a:lnTo>
                  <a:pt x="229" y="90"/>
                </a:lnTo>
                <a:lnTo>
                  <a:pt x="213" y="82"/>
                </a:lnTo>
                <a:lnTo>
                  <a:pt x="196" y="75"/>
                </a:lnTo>
                <a:lnTo>
                  <a:pt x="180" y="68"/>
                </a:lnTo>
                <a:lnTo>
                  <a:pt x="164" y="61"/>
                </a:lnTo>
                <a:lnTo>
                  <a:pt x="147" y="53"/>
                </a:lnTo>
                <a:lnTo>
                  <a:pt x="131" y="47"/>
                </a:lnTo>
                <a:lnTo>
                  <a:pt x="114" y="40"/>
                </a:lnTo>
                <a:lnTo>
                  <a:pt x="98" y="35"/>
                </a:lnTo>
                <a:lnTo>
                  <a:pt x="82" y="29"/>
                </a:lnTo>
                <a:lnTo>
                  <a:pt x="65" y="25"/>
                </a:lnTo>
                <a:lnTo>
                  <a:pt x="49" y="21"/>
                </a:lnTo>
                <a:lnTo>
                  <a:pt x="33" y="19"/>
                </a:lnTo>
                <a:lnTo>
                  <a:pt x="16" y="17"/>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2057400" y="4324350"/>
            <a:ext cx="3743325" cy="1152525"/>
          </a:xfrm>
          <a:custGeom>
            <a:avLst/>
            <a:gdLst/>
            <a:ahLst/>
            <a:cxnLst/>
            <a:rect l="l" t="t" r="r" b="b"/>
            <a:pathLst>
              <a:path w="393" h="121">
                <a:moveTo>
                  <a:pt x="0" y="109"/>
                </a:moveTo>
                <a:lnTo>
                  <a:pt x="16" y="109"/>
                </a:lnTo>
                <a:lnTo>
                  <a:pt x="33" y="107"/>
                </a:lnTo>
                <a:lnTo>
                  <a:pt x="49" y="105"/>
                </a:lnTo>
                <a:lnTo>
                  <a:pt x="65" y="101"/>
                </a:lnTo>
                <a:lnTo>
                  <a:pt x="82" y="97"/>
                </a:lnTo>
                <a:lnTo>
                  <a:pt x="98" y="92"/>
                </a:lnTo>
                <a:lnTo>
                  <a:pt x="114" y="87"/>
                </a:lnTo>
                <a:lnTo>
                  <a:pt x="131" y="81"/>
                </a:lnTo>
                <a:lnTo>
                  <a:pt x="147" y="75"/>
                </a:lnTo>
                <a:lnTo>
                  <a:pt x="164" y="68"/>
                </a:lnTo>
                <a:lnTo>
                  <a:pt x="180" y="62"/>
                </a:lnTo>
                <a:lnTo>
                  <a:pt x="196" y="55"/>
                </a:lnTo>
                <a:lnTo>
                  <a:pt x="213" y="48"/>
                </a:lnTo>
                <a:lnTo>
                  <a:pt x="229" y="41"/>
                </a:lnTo>
                <a:lnTo>
                  <a:pt x="246" y="35"/>
                </a:lnTo>
                <a:lnTo>
                  <a:pt x="262" y="29"/>
                </a:lnTo>
                <a:lnTo>
                  <a:pt x="278" y="23"/>
                </a:lnTo>
                <a:lnTo>
                  <a:pt x="295" y="17"/>
                </a:lnTo>
                <a:lnTo>
                  <a:pt x="311" y="13"/>
                </a:lnTo>
                <a:lnTo>
                  <a:pt x="327" y="9"/>
                </a:lnTo>
                <a:lnTo>
                  <a:pt x="344" y="5"/>
                </a:lnTo>
                <a:lnTo>
                  <a:pt x="360" y="3"/>
                </a:lnTo>
                <a:lnTo>
                  <a:pt x="377" y="1"/>
                </a:lnTo>
                <a:lnTo>
                  <a:pt x="393" y="0"/>
                </a:lnTo>
                <a:lnTo>
                  <a:pt x="393" y="12"/>
                </a:lnTo>
                <a:lnTo>
                  <a:pt x="377" y="12"/>
                </a:lnTo>
                <a:lnTo>
                  <a:pt x="360" y="14"/>
                </a:lnTo>
                <a:lnTo>
                  <a:pt x="344" y="16"/>
                </a:lnTo>
                <a:lnTo>
                  <a:pt x="327" y="20"/>
                </a:lnTo>
                <a:lnTo>
                  <a:pt x="311" y="24"/>
                </a:lnTo>
                <a:lnTo>
                  <a:pt x="295" y="29"/>
                </a:lnTo>
                <a:lnTo>
                  <a:pt x="278" y="34"/>
                </a:lnTo>
                <a:lnTo>
                  <a:pt x="262" y="40"/>
                </a:lnTo>
                <a:lnTo>
                  <a:pt x="246" y="46"/>
                </a:lnTo>
                <a:lnTo>
                  <a:pt x="229" y="53"/>
                </a:lnTo>
                <a:lnTo>
                  <a:pt x="213" y="59"/>
                </a:lnTo>
                <a:lnTo>
                  <a:pt x="196" y="66"/>
                </a:lnTo>
                <a:lnTo>
                  <a:pt x="180" y="73"/>
                </a:lnTo>
                <a:lnTo>
                  <a:pt x="164" y="80"/>
                </a:lnTo>
                <a:lnTo>
                  <a:pt x="147" y="86"/>
                </a:lnTo>
                <a:lnTo>
                  <a:pt x="131" y="92"/>
                </a:lnTo>
                <a:lnTo>
                  <a:pt x="114" y="98"/>
                </a:lnTo>
                <a:lnTo>
                  <a:pt x="98" y="104"/>
                </a:lnTo>
                <a:lnTo>
                  <a:pt x="82" y="108"/>
                </a:lnTo>
                <a:lnTo>
                  <a:pt x="65" y="112"/>
                </a:lnTo>
                <a:lnTo>
                  <a:pt x="49" y="116"/>
                </a:lnTo>
                <a:lnTo>
                  <a:pt x="33" y="118"/>
                </a:lnTo>
                <a:lnTo>
                  <a:pt x="16" y="120"/>
                </a:lnTo>
                <a:lnTo>
                  <a:pt x="0" y="12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2057400" y="4857750"/>
            <a:ext cx="3743325" cy="733425"/>
          </a:xfrm>
          <a:custGeom>
            <a:avLst/>
            <a:gdLst/>
            <a:ahLst/>
            <a:cxnLst/>
            <a:rect l="l" t="t" r="r" b="b"/>
            <a:pathLst>
              <a:path w="393" h="77">
                <a:moveTo>
                  <a:pt x="0" y="65"/>
                </a:moveTo>
                <a:lnTo>
                  <a:pt x="16" y="64"/>
                </a:lnTo>
                <a:lnTo>
                  <a:pt x="33" y="63"/>
                </a:lnTo>
                <a:lnTo>
                  <a:pt x="49" y="62"/>
                </a:lnTo>
                <a:lnTo>
                  <a:pt x="65" y="60"/>
                </a:lnTo>
                <a:lnTo>
                  <a:pt x="82" y="57"/>
                </a:lnTo>
                <a:lnTo>
                  <a:pt x="98" y="54"/>
                </a:lnTo>
                <a:lnTo>
                  <a:pt x="114" y="51"/>
                </a:lnTo>
                <a:lnTo>
                  <a:pt x="131" y="48"/>
                </a:lnTo>
                <a:lnTo>
                  <a:pt x="147" y="44"/>
                </a:lnTo>
                <a:lnTo>
                  <a:pt x="164" y="40"/>
                </a:lnTo>
                <a:lnTo>
                  <a:pt x="180" y="36"/>
                </a:lnTo>
                <a:lnTo>
                  <a:pt x="196" y="32"/>
                </a:lnTo>
                <a:lnTo>
                  <a:pt x="213" y="28"/>
                </a:lnTo>
                <a:lnTo>
                  <a:pt x="229" y="24"/>
                </a:lnTo>
                <a:lnTo>
                  <a:pt x="246" y="20"/>
                </a:lnTo>
                <a:lnTo>
                  <a:pt x="262" y="16"/>
                </a:lnTo>
                <a:lnTo>
                  <a:pt x="278" y="13"/>
                </a:lnTo>
                <a:lnTo>
                  <a:pt x="295" y="10"/>
                </a:lnTo>
                <a:lnTo>
                  <a:pt x="311" y="7"/>
                </a:lnTo>
                <a:lnTo>
                  <a:pt x="327" y="4"/>
                </a:lnTo>
                <a:lnTo>
                  <a:pt x="344" y="2"/>
                </a:lnTo>
                <a:lnTo>
                  <a:pt x="360" y="1"/>
                </a:lnTo>
                <a:lnTo>
                  <a:pt x="377" y="0"/>
                </a:lnTo>
                <a:lnTo>
                  <a:pt x="393" y="0"/>
                </a:lnTo>
                <a:lnTo>
                  <a:pt x="393" y="12"/>
                </a:lnTo>
                <a:lnTo>
                  <a:pt x="377" y="13"/>
                </a:lnTo>
                <a:lnTo>
                  <a:pt x="360" y="13"/>
                </a:lnTo>
                <a:lnTo>
                  <a:pt x="344" y="15"/>
                </a:lnTo>
                <a:lnTo>
                  <a:pt x="327" y="17"/>
                </a:lnTo>
                <a:lnTo>
                  <a:pt x="311" y="19"/>
                </a:lnTo>
                <a:lnTo>
                  <a:pt x="295" y="22"/>
                </a:lnTo>
                <a:lnTo>
                  <a:pt x="278" y="26"/>
                </a:lnTo>
                <a:lnTo>
                  <a:pt x="262" y="29"/>
                </a:lnTo>
                <a:lnTo>
                  <a:pt x="246" y="33"/>
                </a:lnTo>
                <a:lnTo>
                  <a:pt x="229" y="37"/>
                </a:lnTo>
                <a:lnTo>
                  <a:pt x="213" y="41"/>
                </a:lnTo>
                <a:lnTo>
                  <a:pt x="196" y="45"/>
                </a:lnTo>
                <a:lnTo>
                  <a:pt x="180" y="49"/>
                </a:lnTo>
                <a:lnTo>
                  <a:pt x="164" y="53"/>
                </a:lnTo>
                <a:lnTo>
                  <a:pt x="147" y="57"/>
                </a:lnTo>
                <a:lnTo>
                  <a:pt x="131" y="60"/>
                </a:lnTo>
                <a:lnTo>
                  <a:pt x="114" y="64"/>
                </a:lnTo>
                <a:lnTo>
                  <a:pt x="98" y="67"/>
                </a:lnTo>
                <a:lnTo>
                  <a:pt x="82" y="70"/>
                </a:lnTo>
                <a:lnTo>
                  <a:pt x="65" y="72"/>
                </a:lnTo>
                <a:lnTo>
                  <a:pt x="49" y="74"/>
                </a:lnTo>
                <a:lnTo>
                  <a:pt x="33" y="76"/>
                </a:lnTo>
                <a:lnTo>
                  <a:pt x="16" y="77"/>
                </a:lnTo>
                <a:lnTo>
                  <a:pt x="0" y="7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2057400" y="5314950"/>
            <a:ext cx="3743325" cy="371475"/>
          </a:xfrm>
          <a:custGeom>
            <a:avLst/>
            <a:gdLst/>
            <a:ahLst/>
            <a:cxnLst/>
            <a:rect l="l" t="t" r="r" b="b"/>
            <a:pathLst>
              <a:path w="393" h="39">
                <a:moveTo>
                  <a:pt x="0" y="29"/>
                </a:moveTo>
                <a:lnTo>
                  <a:pt x="16" y="29"/>
                </a:lnTo>
                <a:lnTo>
                  <a:pt x="33" y="29"/>
                </a:lnTo>
                <a:lnTo>
                  <a:pt x="49" y="28"/>
                </a:lnTo>
                <a:lnTo>
                  <a:pt x="65" y="27"/>
                </a:lnTo>
                <a:lnTo>
                  <a:pt x="82" y="26"/>
                </a:lnTo>
                <a:lnTo>
                  <a:pt x="98" y="25"/>
                </a:lnTo>
                <a:lnTo>
                  <a:pt x="114" y="23"/>
                </a:lnTo>
                <a:lnTo>
                  <a:pt x="131" y="22"/>
                </a:lnTo>
                <a:lnTo>
                  <a:pt x="147" y="20"/>
                </a:lnTo>
                <a:lnTo>
                  <a:pt x="164" y="18"/>
                </a:lnTo>
                <a:lnTo>
                  <a:pt x="180" y="16"/>
                </a:lnTo>
                <a:lnTo>
                  <a:pt x="196" y="14"/>
                </a:lnTo>
                <a:lnTo>
                  <a:pt x="213" y="13"/>
                </a:lnTo>
                <a:lnTo>
                  <a:pt x="229" y="11"/>
                </a:lnTo>
                <a:lnTo>
                  <a:pt x="246" y="9"/>
                </a:lnTo>
                <a:lnTo>
                  <a:pt x="262" y="7"/>
                </a:lnTo>
                <a:lnTo>
                  <a:pt x="278" y="6"/>
                </a:lnTo>
                <a:lnTo>
                  <a:pt x="295" y="4"/>
                </a:lnTo>
                <a:lnTo>
                  <a:pt x="311" y="3"/>
                </a:lnTo>
                <a:lnTo>
                  <a:pt x="327" y="2"/>
                </a:lnTo>
                <a:lnTo>
                  <a:pt x="344" y="1"/>
                </a:lnTo>
                <a:lnTo>
                  <a:pt x="360" y="0"/>
                </a:lnTo>
                <a:lnTo>
                  <a:pt x="377" y="0"/>
                </a:lnTo>
                <a:lnTo>
                  <a:pt x="393" y="0"/>
                </a:lnTo>
                <a:lnTo>
                  <a:pt x="393" y="10"/>
                </a:lnTo>
                <a:lnTo>
                  <a:pt x="377" y="10"/>
                </a:lnTo>
                <a:lnTo>
                  <a:pt x="360" y="10"/>
                </a:lnTo>
                <a:lnTo>
                  <a:pt x="344" y="11"/>
                </a:lnTo>
                <a:lnTo>
                  <a:pt x="327" y="12"/>
                </a:lnTo>
                <a:lnTo>
                  <a:pt x="311" y="13"/>
                </a:lnTo>
                <a:lnTo>
                  <a:pt x="295" y="14"/>
                </a:lnTo>
                <a:lnTo>
                  <a:pt x="278" y="16"/>
                </a:lnTo>
                <a:lnTo>
                  <a:pt x="262" y="17"/>
                </a:lnTo>
                <a:lnTo>
                  <a:pt x="246" y="19"/>
                </a:lnTo>
                <a:lnTo>
                  <a:pt x="229" y="21"/>
                </a:lnTo>
                <a:lnTo>
                  <a:pt x="213" y="23"/>
                </a:lnTo>
                <a:lnTo>
                  <a:pt x="196" y="24"/>
                </a:lnTo>
                <a:lnTo>
                  <a:pt x="180" y="26"/>
                </a:lnTo>
                <a:lnTo>
                  <a:pt x="164" y="28"/>
                </a:lnTo>
                <a:lnTo>
                  <a:pt x="147" y="30"/>
                </a:lnTo>
                <a:lnTo>
                  <a:pt x="131" y="31"/>
                </a:lnTo>
                <a:lnTo>
                  <a:pt x="114" y="33"/>
                </a:lnTo>
                <a:lnTo>
                  <a:pt x="98" y="34"/>
                </a:lnTo>
                <a:lnTo>
                  <a:pt x="82" y="36"/>
                </a:lnTo>
                <a:lnTo>
                  <a:pt x="65" y="37"/>
                </a:lnTo>
                <a:lnTo>
                  <a:pt x="49" y="38"/>
                </a:lnTo>
                <a:lnTo>
                  <a:pt x="33" y="39"/>
                </a:lnTo>
                <a:lnTo>
                  <a:pt x="16" y="39"/>
                </a:lnTo>
                <a:lnTo>
                  <a:pt x="0" y="39"/>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2057400" y="5686425"/>
            <a:ext cx="3743325" cy="142875"/>
          </a:xfrm>
          <a:custGeom>
            <a:avLst/>
            <a:gdLst/>
            <a:ahLst/>
            <a:cxnLst/>
            <a:rect l="l" t="t" r="r" b="b"/>
            <a:pathLst>
              <a:path w="393" h="15">
                <a:moveTo>
                  <a:pt x="0" y="0"/>
                </a:moveTo>
                <a:lnTo>
                  <a:pt x="16" y="0"/>
                </a:lnTo>
                <a:lnTo>
                  <a:pt x="33" y="0"/>
                </a:lnTo>
                <a:lnTo>
                  <a:pt x="49" y="0"/>
                </a:lnTo>
                <a:lnTo>
                  <a:pt x="65" y="0"/>
                </a:lnTo>
                <a:lnTo>
                  <a:pt x="82" y="1"/>
                </a:lnTo>
                <a:lnTo>
                  <a:pt x="98" y="1"/>
                </a:lnTo>
                <a:lnTo>
                  <a:pt x="114" y="1"/>
                </a:lnTo>
                <a:lnTo>
                  <a:pt x="131" y="1"/>
                </a:lnTo>
                <a:lnTo>
                  <a:pt x="147" y="2"/>
                </a:lnTo>
                <a:lnTo>
                  <a:pt x="164" y="2"/>
                </a:lnTo>
                <a:lnTo>
                  <a:pt x="180" y="2"/>
                </a:lnTo>
                <a:lnTo>
                  <a:pt x="196" y="3"/>
                </a:lnTo>
                <a:lnTo>
                  <a:pt x="213" y="3"/>
                </a:lnTo>
                <a:lnTo>
                  <a:pt x="229" y="3"/>
                </a:lnTo>
                <a:lnTo>
                  <a:pt x="246" y="4"/>
                </a:lnTo>
                <a:lnTo>
                  <a:pt x="262" y="4"/>
                </a:lnTo>
                <a:lnTo>
                  <a:pt x="278" y="4"/>
                </a:lnTo>
                <a:lnTo>
                  <a:pt x="295" y="5"/>
                </a:lnTo>
                <a:lnTo>
                  <a:pt x="311" y="5"/>
                </a:lnTo>
                <a:lnTo>
                  <a:pt x="327" y="5"/>
                </a:lnTo>
                <a:lnTo>
                  <a:pt x="344" y="5"/>
                </a:lnTo>
                <a:lnTo>
                  <a:pt x="360" y="5"/>
                </a:lnTo>
                <a:lnTo>
                  <a:pt x="377" y="5"/>
                </a:lnTo>
                <a:lnTo>
                  <a:pt x="393" y="6"/>
                </a:lnTo>
                <a:lnTo>
                  <a:pt x="393" y="15"/>
                </a:lnTo>
                <a:lnTo>
                  <a:pt x="377" y="15"/>
                </a:lnTo>
                <a:lnTo>
                  <a:pt x="360" y="15"/>
                </a:lnTo>
                <a:lnTo>
                  <a:pt x="344" y="15"/>
                </a:lnTo>
                <a:lnTo>
                  <a:pt x="327" y="14"/>
                </a:lnTo>
                <a:lnTo>
                  <a:pt x="311" y="14"/>
                </a:lnTo>
                <a:lnTo>
                  <a:pt x="295" y="14"/>
                </a:lnTo>
                <a:lnTo>
                  <a:pt x="278" y="14"/>
                </a:lnTo>
                <a:lnTo>
                  <a:pt x="262" y="13"/>
                </a:lnTo>
                <a:lnTo>
                  <a:pt x="246" y="13"/>
                </a:lnTo>
                <a:lnTo>
                  <a:pt x="229" y="13"/>
                </a:lnTo>
                <a:lnTo>
                  <a:pt x="213" y="12"/>
                </a:lnTo>
                <a:lnTo>
                  <a:pt x="196" y="12"/>
                </a:lnTo>
                <a:lnTo>
                  <a:pt x="180" y="12"/>
                </a:lnTo>
                <a:lnTo>
                  <a:pt x="164" y="11"/>
                </a:lnTo>
                <a:lnTo>
                  <a:pt x="147" y="11"/>
                </a:lnTo>
                <a:lnTo>
                  <a:pt x="131" y="11"/>
                </a:lnTo>
                <a:lnTo>
                  <a:pt x="114" y="11"/>
                </a:lnTo>
                <a:lnTo>
                  <a:pt x="98" y="10"/>
                </a:lnTo>
                <a:lnTo>
                  <a:pt x="82" y="10"/>
                </a:lnTo>
                <a:lnTo>
                  <a:pt x="65" y="10"/>
                </a:lnTo>
                <a:lnTo>
                  <a:pt x="49" y="10"/>
                </a:lnTo>
                <a:lnTo>
                  <a:pt x="33" y="10"/>
                </a:lnTo>
                <a:lnTo>
                  <a:pt x="16" y="9"/>
                </a:lnTo>
                <a:lnTo>
                  <a:pt x="0" y="9"/>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2057400" y="5772150"/>
            <a:ext cx="3743325" cy="390525"/>
          </a:xfrm>
          <a:custGeom>
            <a:avLst/>
            <a:gdLst/>
            <a:ahLst/>
            <a:cxnLst/>
            <a:rect l="l" t="t" r="r" b="b"/>
            <a:pathLst>
              <a:path w="393" h="41">
                <a:moveTo>
                  <a:pt x="0" y="0"/>
                </a:moveTo>
                <a:lnTo>
                  <a:pt x="16" y="1"/>
                </a:lnTo>
                <a:lnTo>
                  <a:pt x="33" y="1"/>
                </a:lnTo>
                <a:lnTo>
                  <a:pt x="49" y="2"/>
                </a:lnTo>
                <a:lnTo>
                  <a:pt x="65" y="3"/>
                </a:lnTo>
                <a:lnTo>
                  <a:pt x="82" y="4"/>
                </a:lnTo>
                <a:lnTo>
                  <a:pt x="98" y="6"/>
                </a:lnTo>
                <a:lnTo>
                  <a:pt x="114" y="7"/>
                </a:lnTo>
                <a:lnTo>
                  <a:pt x="131" y="9"/>
                </a:lnTo>
                <a:lnTo>
                  <a:pt x="147" y="11"/>
                </a:lnTo>
                <a:lnTo>
                  <a:pt x="164" y="13"/>
                </a:lnTo>
                <a:lnTo>
                  <a:pt x="180" y="15"/>
                </a:lnTo>
                <a:lnTo>
                  <a:pt x="196" y="18"/>
                </a:lnTo>
                <a:lnTo>
                  <a:pt x="213" y="20"/>
                </a:lnTo>
                <a:lnTo>
                  <a:pt x="229" y="22"/>
                </a:lnTo>
                <a:lnTo>
                  <a:pt x="246" y="24"/>
                </a:lnTo>
                <a:lnTo>
                  <a:pt x="262" y="26"/>
                </a:lnTo>
                <a:lnTo>
                  <a:pt x="278" y="28"/>
                </a:lnTo>
                <a:lnTo>
                  <a:pt x="295" y="29"/>
                </a:lnTo>
                <a:lnTo>
                  <a:pt x="311" y="31"/>
                </a:lnTo>
                <a:lnTo>
                  <a:pt x="327" y="32"/>
                </a:lnTo>
                <a:lnTo>
                  <a:pt x="344" y="33"/>
                </a:lnTo>
                <a:lnTo>
                  <a:pt x="360" y="34"/>
                </a:lnTo>
                <a:lnTo>
                  <a:pt x="377" y="35"/>
                </a:lnTo>
                <a:lnTo>
                  <a:pt x="393" y="35"/>
                </a:lnTo>
                <a:lnTo>
                  <a:pt x="393" y="41"/>
                </a:lnTo>
                <a:lnTo>
                  <a:pt x="377" y="41"/>
                </a:lnTo>
                <a:lnTo>
                  <a:pt x="360" y="40"/>
                </a:lnTo>
                <a:lnTo>
                  <a:pt x="344" y="40"/>
                </a:lnTo>
                <a:lnTo>
                  <a:pt x="327" y="38"/>
                </a:lnTo>
                <a:lnTo>
                  <a:pt x="311" y="37"/>
                </a:lnTo>
                <a:lnTo>
                  <a:pt x="295" y="36"/>
                </a:lnTo>
                <a:lnTo>
                  <a:pt x="278" y="34"/>
                </a:lnTo>
                <a:lnTo>
                  <a:pt x="262" y="32"/>
                </a:lnTo>
                <a:lnTo>
                  <a:pt x="246" y="30"/>
                </a:lnTo>
                <a:lnTo>
                  <a:pt x="229" y="28"/>
                </a:lnTo>
                <a:lnTo>
                  <a:pt x="213" y="26"/>
                </a:lnTo>
                <a:lnTo>
                  <a:pt x="196" y="24"/>
                </a:lnTo>
                <a:lnTo>
                  <a:pt x="180" y="22"/>
                </a:lnTo>
                <a:lnTo>
                  <a:pt x="164" y="20"/>
                </a:lnTo>
                <a:lnTo>
                  <a:pt x="147" y="18"/>
                </a:lnTo>
                <a:lnTo>
                  <a:pt x="131" y="16"/>
                </a:lnTo>
                <a:lnTo>
                  <a:pt x="114" y="14"/>
                </a:lnTo>
                <a:lnTo>
                  <a:pt x="98" y="12"/>
                </a:lnTo>
                <a:lnTo>
                  <a:pt x="82" y="11"/>
                </a:lnTo>
                <a:lnTo>
                  <a:pt x="65" y="9"/>
                </a:lnTo>
                <a:lnTo>
                  <a:pt x="49" y="8"/>
                </a:lnTo>
                <a:lnTo>
                  <a:pt x="33" y="7"/>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2057400" y="5838825"/>
            <a:ext cx="3743325" cy="647700"/>
          </a:xfrm>
          <a:custGeom>
            <a:avLst/>
            <a:gdLst/>
            <a:ahLst/>
            <a:cxnLst/>
            <a:rect l="l" t="t" r="r" b="b"/>
            <a:pathLst>
              <a:path w="393" h="68">
                <a:moveTo>
                  <a:pt x="0" y="0"/>
                </a:moveTo>
                <a:lnTo>
                  <a:pt x="16" y="0"/>
                </a:lnTo>
                <a:lnTo>
                  <a:pt x="33" y="1"/>
                </a:lnTo>
                <a:lnTo>
                  <a:pt x="49" y="2"/>
                </a:lnTo>
                <a:lnTo>
                  <a:pt x="65" y="4"/>
                </a:lnTo>
                <a:lnTo>
                  <a:pt x="82" y="7"/>
                </a:lnTo>
                <a:lnTo>
                  <a:pt x="98" y="9"/>
                </a:lnTo>
                <a:lnTo>
                  <a:pt x="114" y="13"/>
                </a:lnTo>
                <a:lnTo>
                  <a:pt x="131" y="16"/>
                </a:lnTo>
                <a:lnTo>
                  <a:pt x="147" y="19"/>
                </a:lnTo>
                <a:lnTo>
                  <a:pt x="164" y="23"/>
                </a:lnTo>
                <a:lnTo>
                  <a:pt x="180" y="27"/>
                </a:lnTo>
                <a:lnTo>
                  <a:pt x="196" y="31"/>
                </a:lnTo>
                <a:lnTo>
                  <a:pt x="213" y="35"/>
                </a:lnTo>
                <a:lnTo>
                  <a:pt x="229" y="39"/>
                </a:lnTo>
                <a:lnTo>
                  <a:pt x="246" y="42"/>
                </a:lnTo>
                <a:lnTo>
                  <a:pt x="262" y="46"/>
                </a:lnTo>
                <a:lnTo>
                  <a:pt x="278" y="49"/>
                </a:lnTo>
                <a:lnTo>
                  <a:pt x="295" y="52"/>
                </a:lnTo>
                <a:lnTo>
                  <a:pt x="311" y="55"/>
                </a:lnTo>
                <a:lnTo>
                  <a:pt x="327" y="57"/>
                </a:lnTo>
                <a:lnTo>
                  <a:pt x="344" y="59"/>
                </a:lnTo>
                <a:lnTo>
                  <a:pt x="360" y="61"/>
                </a:lnTo>
                <a:lnTo>
                  <a:pt x="377" y="62"/>
                </a:lnTo>
                <a:lnTo>
                  <a:pt x="393" y="62"/>
                </a:lnTo>
                <a:lnTo>
                  <a:pt x="393" y="68"/>
                </a:lnTo>
                <a:lnTo>
                  <a:pt x="377" y="68"/>
                </a:lnTo>
                <a:lnTo>
                  <a:pt x="360" y="67"/>
                </a:lnTo>
                <a:lnTo>
                  <a:pt x="344" y="65"/>
                </a:lnTo>
                <a:lnTo>
                  <a:pt x="327" y="63"/>
                </a:lnTo>
                <a:lnTo>
                  <a:pt x="311" y="61"/>
                </a:lnTo>
                <a:lnTo>
                  <a:pt x="295" y="58"/>
                </a:lnTo>
                <a:lnTo>
                  <a:pt x="278" y="55"/>
                </a:lnTo>
                <a:lnTo>
                  <a:pt x="262" y="52"/>
                </a:lnTo>
                <a:lnTo>
                  <a:pt x="246" y="48"/>
                </a:lnTo>
                <a:lnTo>
                  <a:pt x="229" y="44"/>
                </a:lnTo>
                <a:lnTo>
                  <a:pt x="213" y="41"/>
                </a:lnTo>
                <a:lnTo>
                  <a:pt x="196" y="37"/>
                </a:lnTo>
                <a:lnTo>
                  <a:pt x="180" y="33"/>
                </a:lnTo>
                <a:lnTo>
                  <a:pt x="164" y="29"/>
                </a:lnTo>
                <a:lnTo>
                  <a:pt x="147" y="25"/>
                </a:lnTo>
                <a:lnTo>
                  <a:pt x="131" y="22"/>
                </a:lnTo>
                <a:lnTo>
                  <a:pt x="114" y="18"/>
                </a:lnTo>
                <a:lnTo>
                  <a:pt x="98" y="15"/>
                </a:lnTo>
                <a:lnTo>
                  <a:pt x="82" y="13"/>
                </a:lnTo>
                <a:lnTo>
                  <a:pt x="65" y="10"/>
                </a:lnTo>
                <a:lnTo>
                  <a:pt x="49" y="8"/>
                </a:lnTo>
                <a:lnTo>
                  <a:pt x="33" y="7"/>
                </a:lnTo>
                <a:lnTo>
                  <a:pt x="16" y="6"/>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2057400" y="4438650"/>
            <a:ext cx="3743325" cy="1571625"/>
          </a:xfrm>
          <a:custGeom>
            <a:avLst/>
            <a:gdLst/>
            <a:ahLst/>
            <a:cxnLst/>
            <a:rect l="l" t="t" r="r" b="b"/>
            <a:pathLst>
              <a:path w="393" h="165">
                <a:moveTo>
                  <a:pt x="0" y="159"/>
                </a:moveTo>
                <a:lnTo>
                  <a:pt x="16" y="158"/>
                </a:lnTo>
                <a:lnTo>
                  <a:pt x="33" y="155"/>
                </a:lnTo>
                <a:lnTo>
                  <a:pt x="49" y="152"/>
                </a:lnTo>
                <a:lnTo>
                  <a:pt x="65" y="147"/>
                </a:lnTo>
                <a:lnTo>
                  <a:pt x="82" y="141"/>
                </a:lnTo>
                <a:lnTo>
                  <a:pt x="98" y="134"/>
                </a:lnTo>
                <a:lnTo>
                  <a:pt x="114" y="126"/>
                </a:lnTo>
                <a:lnTo>
                  <a:pt x="131" y="117"/>
                </a:lnTo>
                <a:lnTo>
                  <a:pt x="147" y="108"/>
                </a:lnTo>
                <a:lnTo>
                  <a:pt x="164" y="99"/>
                </a:lnTo>
                <a:lnTo>
                  <a:pt x="180" y="89"/>
                </a:lnTo>
                <a:lnTo>
                  <a:pt x="196" y="79"/>
                </a:lnTo>
                <a:lnTo>
                  <a:pt x="213" y="69"/>
                </a:lnTo>
                <a:lnTo>
                  <a:pt x="229" y="60"/>
                </a:lnTo>
                <a:lnTo>
                  <a:pt x="246" y="50"/>
                </a:lnTo>
                <a:lnTo>
                  <a:pt x="262" y="41"/>
                </a:lnTo>
                <a:lnTo>
                  <a:pt x="278" y="32"/>
                </a:lnTo>
                <a:lnTo>
                  <a:pt x="295" y="25"/>
                </a:lnTo>
                <a:lnTo>
                  <a:pt x="311" y="18"/>
                </a:lnTo>
                <a:lnTo>
                  <a:pt x="327" y="12"/>
                </a:lnTo>
                <a:lnTo>
                  <a:pt x="344" y="7"/>
                </a:lnTo>
                <a:lnTo>
                  <a:pt x="360" y="3"/>
                </a:lnTo>
                <a:lnTo>
                  <a:pt x="377" y="1"/>
                </a:lnTo>
                <a:lnTo>
                  <a:pt x="393" y="0"/>
                </a:lnTo>
                <a:lnTo>
                  <a:pt x="393" y="6"/>
                </a:lnTo>
                <a:lnTo>
                  <a:pt x="377" y="7"/>
                </a:lnTo>
                <a:lnTo>
                  <a:pt x="360" y="9"/>
                </a:lnTo>
                <a:lnTo>
                  <a:pt x="344" y="13"/>
                </a:lnTo>
                <a:lnTo>
                  <a:pt x="327" y="18"/>
                </a:lnTo>
                <a:lnTo>
                  <a:pt x="311" y="24"/>
                </a:lnTo>
                <a:lnTo>
                  <a:pt x="295" y="31"/>
                </a:lnTo>
                <a:lnTo>
                  <a:pt x="278" y="38"/>
                </a:lnTo>
                <a:lnTo>
                  <a:pt x="262" y="47"/>
                </a:lnTo>
                <a:lnTo>
                  <a:pt x="246" y="56"/>
                </a:lnTo>
                <a:lnTo>
                  <a:pt x="229" y="66"/>
                </a:lnTo>
                <a:lnTo>
                  <a:pt x="213" y="75"/>
                </a:lnTo>
                <a:lnTo>
                  <a:pt x="196" y="85"/>
                </a:lnTo>
                <a:lnTo>
                  <a:pt x="180" y="95"/>
                </a:lnTo>
                <a:lnTo>
                  <a:pt x="164" y="105"/>
                </a:lnTo>
                <a:lnTo>
                  <a:pt x="147" y="114"/>
                </a:lnTo>
                <a:lnTo>
                  <a:pt x="131" y="124"/>
                </a:lnTo>
                <a:lnTo>
                  <a:pt x="114" y="132"/>
                </a:lnTo>
                <a:lnTo>
                  <a:pt x="98" y="140"/>
                </a:lnTo>
                <a:lnTo>
                  <a:pt x="82" y="147"/>
                </a:lnTo>
                <a:lnTo>
                  <a:pt x="65" y="153"/>
                </a:lnTo>
                <a:lnTo>
                  <a:pt x="49" y="158"/>
                </a:lnTo>
                <a:lnTo>
                  <a:pt x="33" y="162"/>
                </a:lnTo>
                <a:lnTo>
                  <a:pt x="16" y="164"/>
                </a:lnTo>
                <a:lnTo>
                  <a:pt x="0" y="16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2057400" y="4972050"/>
            <a:ext cx="3743325" cy="1095375"/>
          </a:xfrm>
          <a:custGeom>
            <a:avLst/>
            <a:gdLst/>
            <a:ahLst/>
            <a:cxnLst/>
            <a:rect l="l" t="t" r="r" b="b"/>
            <a:pathLst>
              <a:path w="393" h="115">
                <a:moveTo>
                  <a:pt x="0" y="109"/>
                </a:moveTo>
                <a:lnTo>
                  <a:pt x="16" y="108"/>
                </a:lnTo>
                <a:lnTo>
                  <a:pt x="33" y="107"/>
                </a:lnTo>
                <a:lnTo>
                  <a:pt x="49" y="104"/>
                </a:lnTo>
                <a:lnTo>
                  <a:pt x="65" y="101"/>
                </a:lnTo>
                <a:lnTo>
                  <a:pt x="82" y="97"/>
                </a:lnTo>
                <a:lnTo>
                  <a:pt x="98" y="92"/>
                </a:lnTo>
                <a:lnTo>
                  <a:pt x="114" y="86"/>
                </a:lnTo>
                <a:lnTo>
                  <a:pt x="131" y="81"/>
                </a:lnTo>
                <a:lnTo>
                  <a:pt x="147" y="74"/>
                </a:lnTo>
                <a:lnTo>
                  <a:pt x="164" y="68"/>
                </a:lnTo>
                <a:lnTo>
                  <a:pt x="180" y="61"/>
                </a:lnTo>
                <a:lnTo>
                  <a:pt x="196" y="54"/>
                </a:lnTo>
                <a:lnTo>
                  <a:pt x="213" y="48"/>
                </a:lnTo>
                <a:lnTo>
                  <a:pt x="229" y="41"/>
                </a:lnTo>
                <a:lnTo>
                  <a:pt x="246" y="35"/>
                </a:lnTo>
                <a:lnTo>
                  <a:pt x="262" y="28"/>
                </a:lnTo>
                <a:lnTo>
                  <a:pt x="278" y="23"/>
                </a:lnTo>
                <a:lnTo>
                  <a:pt x="295" y="17"/>
                </a:lnTo>
                <a:lnTo>
                  <a:pt x="311" y="12"/>
                </a:lnTo>
                <a:lnTo>
                  <a:pt x="327" y="8"/>
                </a:lnTo>
                <a:lnTo>
                  <a:pt x="344" y="5"/>
                </a:lnTo>
                <a:lnTo>
                  <a:pt x="360" y="2"/>
                </a:lnTo>
                <a:lnTo>
                  <a:pt x="377" y="1"/>
                </a:lnTo>
                <a:lnTo>
                  <a:pt x="393" y="0"/>
                </a:lnTo>
                <a:lnTo>
                  <a:pt x="393" y="7"/>
                </a:lnTo>
                <a:lnTo>
                  <a:pt x="377" y="7"/>
                </a:lnTo>
                <a:lnTo>
                  <a:pt x="360" y="9"/>
                </a:lnTo>
                <a:lnTo>
                  <a:pt x="344" y="12"/>
                </a:lnTo>
                <a:lnTo>
                  <a:pt x="327" y="15"/>
                </a:lnTo>
                <a:lnTo>
                  <a:pt x="311" y="19"/>
                </a:lnTo>
                <a:lnTo>
                  <a:pt x="295" y="24"/>
                </a:lnTo>
                <a:lnTo>
                  <a:pt x="278" y="29"/>
                </a:lnTo>
                <a:lnTo>
                  <a:pt x="262" y="35"/>
                </a:lnTo>
                <a:lnTo>
                  <a:pt x="246" y="41"/>
                </a:lnTo>
                <a:lnTo>
                  <a:pt x="229" y="48"/>
                </a:lnTo>
                <a:lnTo>
                  <a:pt x="213" y="54"/>
                </a:lnTo>
                <a:lnTo>
                  <a:pt x="196" y="61"/>
                </a:lnTo>
                <a:lnTo>
                  <a:pt x="180" y="68"/>
                </a:lnTo>
                <a:lnTo>
                  <a:pt x="164" y="75"/>
                </a:lnTo>
                <a:lnTo>
                  <a:pt x="147" y="81"/>
                </a:lnTo>
                <a:lnTo>
                  <a:pt x="131" y="87"/>
                </a:lnTo>
                <a:lnTo>
                  <a:pt x="114" y="93"/>
                </a:lnTo>
                <a:lnTo>
                  <a:pt x="98" y="98"/>
                </a:lnTo>
                <a:lnTo>
                  <a:pt x="82" y="103"/>
                </a:lnTo>
                <a:lnTo>
                  <a:pt x="65" y="107"/>
                </a:lnTo>
                <a:lnTo>
                  <a:pt x="49" y="111"/>
                </a:lnTo>
                <a:lnTo>
                  <a:pt x="33" y="113"/>
                </a:lnTo>
                <a:lnTo>
                  <a:pt x="16" y="115"/>
                </a:lnTo>
                <a:lnTo>
                  <a:pt x="0" y="11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reeform 29"/>
          <p:cNvSpPr/>
          <p:nvPr/>
        </p:nvSpPr>
        <p:spPr>
          <a:xfrm>
            <a:off x="2057400" y="5410200"/>
            <a:ext cx="3743325" cy="695325"/>
          </a:xfrm>
          <a:custGeom>
            <a:avLst/>
            <a:gdLst/>
            <a:ahLst/>
            <a:cxnLst/>
            <a:rect l="l" t="t" r="r" b="b"/>
            <a:pathLst>
              <a:path w="393" h="73">
                <a:moveTo>
                  <a:pt x="0" y="69"/>
                </a:moveTo>
                <a:lnTo>
                  <a:pt x="16" y="69"/>
                </a:lnTo>
                <a:lnTo>
                  <a:pt x="33" y="68"/>
                </a:lnTo>
                <a:lnTo>
                  <a:pt x="49" y="66"/>
                </a:lnTo>
                <a:lnTo>
                  <a:pt x="65" y="64"/>
                </a:lnTo>
                <a:lnTo>
                  <a:pt x="82" y="62"/>
                </a:lnTo>
                <a:lnTo>
                  <a:pt x="98" y="58"/>
                </a:lnTo>
                <a:lnTo>
                  <a:pt x="114" y="55"/>
                </a:lnTo>
                <a:lnTo>
                  <a:pt x="131" y="51"/>
                </a:lnTo>
                <a:lnTo>
                  <a:pt x="147" y="47"/>
                </a:lnTo>
                <a:lnTo>
                  <a:pt x="164" y="43"/>
                </a:lnTo>
                <a:lnTo>
                  <a:pt x="180" y="39"/>
                </a:lnTo>
                <a:lnTo>
                  <a:pt x="196" y="35"/>
                </a:lnTo>
                <a:lnTo>
                  <a:pt x="213" y="30"/>
                </a:lnTo>
                <a:lnTo>
                  <a:pt x="229" y="26"/>
                </a:lnTo>
                <a:lnTo>
                  <a:pt x="246" y="22"/>
                </a:lnTo>
                <a:lnTo>
                  <a:pt x="262" y="18"/>
                </a:lnTo>
                <a:lnTo>
                  <a:pt x="278" y="14"/>
                </a:lnTo>
                <a:lnTo>
                  <a:pt x="295" y="11"/>
                </a:lnTo>
                <a:lnTo>
                  <a:pt x="311" y="7"/>
                </a:lnTo>
                <a:lnTo>
                  <a:pt x="327" y="5"/>
                </a:lnTo>
                <a:lnTo>
                  <a:pt x="344" y="3"/>
                </a:lnTo>
                <a:lnTo>
                  <a:pt x="360" y="1"/>
                </a:lnTo>
                <a:lnTo>
                  <a:pt x="377" y="0"/>
                </a:lnTo>
                <a:lnTo>
                  <a:pt x="393" y="0"/>
                </a:lnTo>
                <a:lnTo>
                  <a:pt x="393" y="4"/>
                </a:lnTo>
                <a:lnTo>
                  <a:pt x="377" y="4"/>
                </a:lnTo>
                <a:lnTo>
                  <a:pt x="360" y="5"/>
                </a:lnTo>
                <a:lnTo>
                  <a:pt x="344" y="7"/>
                </a:lnTo>
                <a:lnTo>
                  <a:pt x="327" y="9"/>
                </a:lnTo>
                <a:lnTo>
                  <a:pt x="311" y="12"/>
                </a:lnTo>
                <a:lnTo>
                  <a:pt x="295" y="15"/>
                </a:lnTo>
                <a:lnTo>
                  <a:pt x="278" y="18"/>
                </a:lnTo>
                <a:lnTo>
                  <a:pt x="262" y="22"/>
                </a:lnTo>
                <a:lnTo>
                  <a:pt x="246" y="26"/>
                </a:lnTo>
                <a:lnTo>
                  <a:pt x="229" y="30"/>
                </a:lnTo>
                <a:lnTo>
                  <a:pt x="213" y="34"/>
                </a:lnTo>
                <a:lnTo>
                  <a:pt x="196" y="39"/>
                </a:lnTo>
                <a:lnTo>
                  <a:pt x="180" y="43"/>
                </a:lnTo>
                <a:lnTo>
                  <a:pt x="164" y="47"/>
                </a:lnTo>
                <a:lnTo>
                  <a:pt x="147" y="51"/>
                </a:lnTo>
                <a:lnTo>
                  <a:pt x="131" y="55"/>
                </a:lnTo>
                <a:lnTo>
                  <a:pt x="114" y="59"/>
                </a:lnTo>
                <a:lnTo>
                  <a:pt x="98" y="63"/>
                </a:lnTo>
                <a:lnTo>
                  <a:pt x="82" y="66"/>
                </a:lnTo>
                <a:lnTo>
                  <a:pt x="65" y="68"/>
                </a:lnTo>
                <a:lnTo>
                  <a:pt x="49" y="70"/>
                </a:lnTo>
                <a:lnTo>
                  <a:pt x="33" y="72"/>
                </a:lnTo>
                <a:lnTo>
                  <a:pt x="16" y="73"/>
                </a:lnTo>
                <a:lnTo>
                  <a:pt x="0" y="7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Freeform 30"/>
          <p:cNvSpPr/>
          <p:nvPr/>
        </p:nvSpPr>
        <p:spPr>
          <a:xfrm>
            <a:off x="2057400" y="5829300"/>
            <a:ext cx="3743325" cy="314325"/>
          </a:xfrm>
          <a:custGeom>
            <a:avLst/>
            <a:gdLst/>
            <a:ahLst/>
            <a:cxnLst/>
            <a:rect l="l" t="t" r="r" b="b"/>
            <a:pathLst>
              <a:path w="393" h="33">
                <a:moveTo>
                  <a:pt x="0" y="29"/>
                </a:moveTo>
                <a:lnTo>
                  <a:pt x="16" y="29"/>
                </a:lnTo>
                <a:lnTo>
                  <a:pt x="33" y="29"/>
                </a:lnTo>
                <a:lnTo>
                  <a:pt x="49" y="28"/>
                </a:lnTo>
                <a:lnTo>
                  <a:pt x="65" y="27"/>
                </a:lnTo>
                <a:lnTo>
                  <a:pt x="82" y="26"/>
                </a:lnTo>
                <a:lnTo>
                  <a:pt x="98" y="25"/>
                </a:lnTo>
                <a:lnTo>
                  <a:pt x="114" y="23"/>
                </a:lnTo>
                <a:lnTo>
                  <a:pt x="131" y="22"/>
                </a:lnTo>
                <a:lnTo>
                  <a:pt x="147" y="20"/>
                </a:lnTo>
                <a:lnTo>
                  <a:pt x="164" y="18"/>
                </a:lnTo>
                <a:lnTo>
                  <a:pt x="180" y="16"/>
                </a:lnTo>
                <a:lnTo>
                  <a:pt x="196" y="15"/>
                </a:lnTo>
                <a:lnTo>
                  <a:pt x="213" y="13"/>
                </a:lnTo>
                <a:lnTo>
                  <a:pt x="229" y="11"/>
                </a:lnTo>
                <a:lnTo>
                  <a:pt x="246" y="9"/>
                </a:lnTo>
                <a:lnTo>
                  <a:pt x="262" y="7"/>
                </a:lnTo>
                <a:lnTo>
                  <a:pt x="278" y="6"/>
                </a:lnTo>
                <a:lnTo>
                  <a:pt x="295" y="4"/>
                </a:lnTo>
                <a:lnTo>
                  <a:pt x="311" y="3"/>
                </a:lnTo>
                <a:lnTo>
                  <a:pt x="327" y="2"/>
                </a:lnTo>
                <a:lnTo>
                  <a:pt x="344" y="1"/>
                </a:lnTo>
                <a:lnTo>
                  <a:pt x="360" y="0"/>
                </a:lnTo>
                <a:lnTo>
                  <a:pt x="377" y="0"/>
                </a:lnTo>
                <a:lnTo>
                  <a:pt x="393" y="0"/>
                </a:lnTo>
                <a:lnTo>
                  <a:pt x="393" y="3"/>
                </a:lnTo>
                <a:lnTo>
                  <a:pt x="377" y="3"/>
                </a:lnTo>
                <a:lnTo>
                  <a:pt x="360" y="4"/>
                </a:lnTo>
                <a:lnTo>
                  <a:pt x="344" y="5"/>
                </a:lnTo>
                <a:lnTo>
                  <a:pt x="327" y="5"/>
                </a:lnTo>
                <a:lnTo>
                  <a:pt x="311" y="7"/>
                </a:lnTo>
                <a:lnTo>
                  <a:pt x="295" y="8"/>
                </a:lnTo>
                <a:lnTo>
                  <a:pt x="278" y="9"/>
                </a:lnTo>
                <a:lnTo>
                  <a:pt x="262" y="11"/>
                </a:lnTo>
                <a:lnTo>
                  <a:pt x="246" y="13"/>
                </a:lnTo>
                <a:lnTo>
                  <a:pt x="229" y="14"/>
                </a:lnTo>
                <a:lnTo>
                  <a:pt x="213" y="16"/>
                </a:lnTo>
                <a:lnTo>
                  <a:pt x="196" y="18"/>
                </a:lnTo>
                <a:lnTo>
                  <a:pt x="180" y="20"/>
                </a:lnTo>
                <a:lnTo>
                  <a:pt x="164" y="22"/>
                </a:lnTo>
                <a:lnTo>
                  <a:pt x="147" y="24"/>
                </a:lnTo>
                <a:lnTo>
                  <a:pt x="131" y="25"/>
                </a:lnTo>
                <a:lnTo>
                  <a:pt x="114" y="27"/>
                </a:lnTo>
                <a:lnTo>
                  <a:pt x="98" y="28"/>
                </a:lnTo>
                <a:lnTo>
                  <a:pt x="82" y="30"/>
                </a:lnTo>
                <a:lnTo>
                  <a:pt x="65" y="31"/>
                </a:lnTo>
                <a:lnTo>
                  <a:pt x="49" y="32"/>
                </a:lnTo>
                <a:lnTo>
                  <a:pt x="33" y="32"/>
                </a:lnTo>
                <a:lnTo>
                  <a:pt x="16" y="33"/>
                </a:lnTo>
                <a:lnTo>
                  <a:pt x="0" y="3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reeform 31"/>
          <p:cNvSpPr/>
          <p:nvPr/>
        </p:nvSpPr>
        <p:spPr>
          <a:xfrm>
            <a:off x="2057400" y="6143625"/>
            <a:ext cx="3743325" cy="47625"/>
          </a:xfrm>
          <a:custGeom>
            <a:avLst/>
            <a:gdLst/>
            <a:ahLst/>
            <a:cxnLst/>
            <a:rect l="l" t="t" r="r" b="b"/>
            <a:pathLst>
              <a:path w="393" h="5">
                <a:moveTo>
                  <a:pt x="0" y="0"/>
                </a:moveTo>
                <a:lnTo>
                  <a:pt x="16" y="0"/>
                </a:lnTo>
                <a:lnTo>
                  <a:pt x="33" y="0"/>
                </a:lnTo>
                <a:lnTo>
                  <a:pt x="49" y="0"/>
                </a:lnTo>
                <a:lnTo>
                  <a:pt x="65" y="0"/>
                </a:lnTo>
                <a:lnTo>
                  <a:pt x="82" y="0"/>
                </a:lnTo>
                <a:lnTo>
                  <a:pt x="98" y="0"/>
                </a:lnTo>
                <a:lnTo>
                  <a:pt x="114" y="0"/>
                </a:lnTo>
                <a:lnTo>
                  <a:pt x="131" y="0"/>
                </a:lnTo>
                <a:lnTo>
                  <a:pt x="147" y="1"/>
                </a:lnTo>
                <a:lnTo>
                  <a:pt x="164" y="1"/>
                </a:lnTo>
                <a:lnTo>
                  <a:pt x="180" y="1"/>
                </a:lnTo>
                <a:lnTo>
                  <a:pt x="196" y="1"/>
                </a:lnTo>
                <a:lnTo>
                  <a:pt x="213" y="1"/>
                </a:lnTo>
                <a:lnTo>
                  <a:pt x="229" y="1"/>
                </a:lnTo>
                <a:lnTo>
                  <a:pt x="246" y="1"/>
                </a:lnTo>
                <a:lnTo>
                  <a:pt x="262" y="1"/>
                </a:lnTo>
                <a:lnTo>
                  <a:pt x="278" y="2"/>
                </a:lnTo>
                <a:lnTo>
                  <a:pt x="295" y="2"/>
                </a:lnTo>
                <a:lnTo>
                  <a:pt x="311" y="2"/>
                </a:lnTo>
                <a:lnTo>
                  <a:pt x="327" y="2"/>
                </a:lnTo>
                <a:lnTo>
                  <a:pt x="344" y="2"/>
                </a:lnTo>
                <a:lnTo>
                  <a:pt x="360" y="2"/>
                </a:lnTo>
                <a:lnTo>
                  <a:pt x="377" y="2"/>
                </a:lnTo>
                <a:lnTo>
                  <a:pt x="393" y="2"/>
                </a:lnTo>
                <a:lnTo>
                  <a:pt x="393" y="5"/>
                </a:lnTo>
                <a:lnTo>
                  <a:pt x="377" y="5"/>
                </a:lnTo>
                <a:lnTo>
                  <a:pt x="360" y="5"/>
                </a:lnTo>
                <a:lnTo>
                  <a:pt x="344" y="5"/>
                </a:lnTo>
                <a:lnTo>
                  <a:pt x="327" y="5"/>
                </a:lnTo>
                <a:lnTo>
                  <a:pt x="311" y="5"/>
                </a:lnTo>
                <a:lnTo>
                  <a:pt x="295" y="5"/>
                </a:lnTo>
                <a:lnTo>
                  <a:pt x="278" y="5"/>
                </a:lnTo>
                <a:lnTo>
                  <a:pt x="262" y="5"/>
                </a:lnTo>
                <a:lnTo>
                  <a:pt x="246" y="4"/>
                </a:lnTo>
                <a:lnTo>
                  <a:pt x="229" y="4"/>
                </a:lnTo>
                <a:lnTo>
                  <a:pt x="213" y="4"/>
                </a:lnTo>
                <a:lnTo>
                  <a:pt x="196" y="4"/>
                </a:lnTo>
                <a:lnTo>
                  <a:pt x="180" y="4"/>
                </a:lnTo>
                <a:lnTo>
                  <a:pt x="164" y="4"/>
                </a:lnTo>
                <a:lnTo>
                  <a:pt x="147" y="4"/>
                </a:lnTo>
                <a:lnTo>
                  <a:pt x="131" y="4"/>
                </a:lnTo>
                <a:lnTo>
                  <a:pt x="114" y="3"/>
                </a:lnTo>
                <a:lnTo>
                  <a:pt x="98" y="3"/>
                </a:lnTo>
                <a:lnTo>
                  <a:pt x="82" y="3"/>
                </a:lnTo>
                <a:lnTo>
                  <a:pt x="65" y="3"/>
                </a:lnTo>
                <a:lnTo>
                  <a:pt x="49" y="3"/>
                </a:lnTo>
                <a:lnTo>
                  <a:pt x="33" y="3"/>
                </a:lnTo>
                <a:lnTo>
                  <a:pt x="16" y="3"/>
                </a:lnTo>
                <a:lnTo>
                  <a:pt x="0" y="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reeform 32"/>
          <p:cNvSpPr/>
          <p:nvPr/>
        </p:nvSpPr>
        <p:spPr>
          <a:xfrm>
            <a:off x="2057400" y="6172200"/>
            <a:ext cx="3743325" cy="333375"/>
          </a:xfrm>
          <a:custGeom>
            <a:avLst/>
            <a:gdLst/>
            <a:ahLst/>
            <a:cxnLst/>
            <a:rect l="l" t="t" r="r" b="b"/>
            <a:pathLst>
              <a:path w="393" h="35">
                <a:moveTo>
                  <a:pt x="0" y="0"/>
                </a:moveTo>
                <a:lnTo>
                  <a:pt x="16" y="0"/>
                </a:lnTo>
                <a:lnTo>
                  <a:pt x="33" y="1"/>
                </a:lnTo>
                <a:lnTo>
                  <a:pt x="49" y="1"/>
                </a:lnTo>
                <a:lnTo>
                  <a:pt x="65" y="2"/>
                </a:lnTo>
                <a:lnTo>
                  <a:pt x="82" y="4"/>
                </a:lnTo>
                <a:lnTo>
                  <a:pt x="98" y="5"/>
                </a:lnTo>
                <a:lnTo>
                  <a:pt x="114" y="7"/>
                </a:lnTo>
                <a:lnTo>
                  <a:pt x="131" y="9"/>
                </a:lnTo>
                <a:lnTo>
                  <a:pt x="147" y="10"/>
                </a:lnTo>
                <a:lnTo>
                  <a:pt x="164" y="12"/>
                </a:lnTo>
                <a:lnTo>
                  <a:pt x="180" y="14"/>
                </a:lnTo>
                <a:lnTo>
                  <a:pt x="196" y="16"/>
                </a:lnTo>
                <a:lnTo>
                  <a:pt x="213" y="18"/>
                </a:lnTo>
                <a:lnTo>
                  <a:pt x="229" y="20"/>
                </a:lnTo>
                <a:lnTo>
                  <a:pt x="246" y="22"/>
                </a:lnTo>
                <a:lnTo>
                  <a:pt x="262" y="24"/>
                </a:lnTo>
                <a:lnTo>
                  <a:pt x="278" y="26"/>
                </a:lnTo>
                <a:lnTo>
                  <a:pt x="295" y="28"/>
                </a:lnTo>
                <a:lnTo>
                  <a:pt x="311" y="29"/>
                </a:lnTo>
                <a:lnTo>
                  <a:pt x="327" y="30"/>
                </a:lnTo>
                <a:lnTo>
                  <a:pt x="344" y="31"/>
                </a:lnTo>
                <a:lnTo>
                  <a:pt x="360" y="32"/>
                </a:lnTo>
                <a:lnTo>
                  <a:pt x="377" y="33"/>
                </a:lnTo>
                <a:lnTo>
                  <a:pt x="393" y="33"/>
                </a:lnTo>
                <a:lnTo>
                  <a:pt x="393" y="35"/>
                </a:lnTo>
                <a:lnTo>
                  <a:pt x="377" y="35"/>
                </a:lnTo>
                <a:lnTo>
                  <a:pt x="360" y="35"/>
                </a:lnTo>
                <a:lnTo>
                  <a:pt x="344" y="34"/>
                </a:lnTo>
                <a:lnTo>
                  <a:pt x="327" y="33"/>
                </a:lnTo>
                <a:lnTo>
                  <a:pt x="311" y="32"/>
                </a:lnTo>
                <a:lnTo>
                  <a:pt x="295" y="30"/>
                </a:lnTo>
                <a:lnTo>
                  <a:pt x="278" y="29"/>
                </a:lnTo>
                <a:lnTo>
                  <a:pt x="262" y="27"/>
                </a:lnTo>
                <a:lnTo>
                  <a:pt x="246" y="25"/>
                </a:lnTo>
                <a:lnTo>
                  <a:pt x="229" y="23"/>
                </a:lnTo>
                <a:lnTo>
                  <a:pt x="213" y="21"/>
                </a:lnTo>
                <a:lnTo>
                  <a:pt x="196" y="19"/>
                </a:lnTo>
                <a:lnTo>
                  <a:pt x="180" y="17"/>
                </a:lnTo>
                <a:lnTo>
                  <a:pt x="164" y="15"/>
                </a:lnTo>
                <a:lnTo>
                  <a:pt x="147" y="13"/>
                </a:lnTo>
                <a:lnTo>
                  <a:pt x="131" y="11"/>
                </a:lnTo>
                <a:lnTo>
                  <a:pt x="114" y="9"/>
                </a:lnTo>
                <a:lnTo>
                  <a:pt x="98" y="8"/>
                </a:lnTo>
                <a:lnTo>
                  <a:pt x="82" y="6"/>
                </a:lnTo>
                <a:lnTo>
                  <a:pt x="65" y="5"/>
                </a:lnTo>
                <a:lnTo>
                  <a:pt x="49" y="4"/>
                </a:lnTo>
                <a:lnTo>
                  <a:pt x="33" y="3"/>
                </a:lnTo>
                <a:lnTo>
                  <a:pt x="16" y="3"/>
                </a:lnTo>
                <a:lnTo>
                  <a:pt x="0" y="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Freeform 33"/>
          <p:cNvSpPr/>
          <p:nvPr/>
        </p:nvSpPr>
        <p:spPr>
          <a:xfrm>
            <a:off x="2057400" y="4495800"/>
            <a:ext cx="3743325" cy="1800225"/>
          </a:xfrm>
          <a:custGeom>
            <a:avLst/>
            <a:gdLst/>
            <a:ahLst/>
            <a:cxnLst/>
            <a:rect l="l" t="t" r="r" b="b"/>
            <a:pathLst>
              <a:path w="393" h="189">
                <a:moveTo>
                  <a:pt x="0" y="185"/>
                </a:moveTo>
                <a:lnTo>
                  <a:pt x="16" y="184"/>
                </a:lnTo>
                <a:lnTo>
                  <a:pt x="33" y="181"/>
                </a:lnTo>
                <a:lnTo>
                  <a:pt x="49" y="177"/>
                </a:lnTo>
                <a:lnTo>
                  <a:pt x="65" y="171"/>
                </a:lnTo>
                <a:lnTo>
                  <a:pt x="82" y="164"/>
                </a:lnTo>
                <a:lnTo>
                  <a:pt x="98" y="156"/>
                </a:lnTo>
                <a:lnTo>
                  <a:pt x="114" y="147"/>
                </a:lnTo>
                <a:lnTo>
                  <a:pt x="131" y="137"/>
                </a:lnTo>
                <a:lnTo>
                  <a:pt x="147" y="126"/>
                </a:lnTo>
                <a:lnTo>
                  <a:pt x="164" y="115"/>
                </a:lnTo>
                <a:lnTo>
                  <a:pt x="180" y="104"/>
                </a:lnTo>
                <a:lnTo>
                  <a:pt x="196" y="92"/>
                </a:lnTo>
                <a:lnTo>
                  <a:pt x="213" y="81"/>
                </a:lnTo>
                <a:lnTo>
                  <a:pt x="229" y="69"/>
                </a:lnTo>
                <a:lnTo>
                  <a:pt x="246" y="58"/>
                </a:lnTo>
                <a:lnTo>
                  <a:pt x="262" y="48"/>
                </a:lnTo>
                <a:lnTo>
                  <a:pt x="278" y="38"/>
                </a:lnTo>
                <a:lnTo>
                  <a:pt x="295" y="29"/>
                </a:lnTo>
                <a:lnTo>
                  <a:pt x="311" y="21"/>
                </a:lnTo>
                <a:lnTo>
                  <a:pt x="327" y="14"/>
                </a:lnTo>
                <a:lnTo>
                  <a:pt x="344" y="8"/>
                </a:lnTo>
                <a:lnTo>
                  <a:pt x="360" y="3"/>
                </a:lnTo>
                <a:lnTo>
                  <a:pt x="377" y="1"/>
                </a:lnTo>
                <a:lnTo>
                  <a:pt x="393" y="0"/>
                </a:lnTo>
                <a:lnTo>
                  <a:pt x="393" y="4"/>
                </a:lnTo>
                <a:lnTo>
                  <a:pt x="377" y="5"/>
                </a:lnTo>
                <a:lnTo>
                  <a:pt x="360" y="8"/>
                </a:lnTo>
                <a:lnTo>
                  <a:pt x="344" y="12"/>
                </a:lnTo>
                <a:lnTo>
                  <a:pt x="327" y="18"/>
                </a:lnTo>
                <a:lnTo>
                  <a:pt x="311" y="25"/>
                </a:lnTo>
                <a:lnTo>
                  <a:pt x="295" y="33"/>
                </a:lnTo>
                <a:lnTo>
                  <a:pt x="278" y="42"/>
                </a:lnTo>
                <a:lnTo>
                  <a:pt x="262" y="52"/>
                </a:lnTo>
                <a:lnTo>
                  <a:pt x="246" y="63"/>
                </a:lnTo>
                <a:lnTo>
                  <a:pt x="229" y="74"/>
                </a:lnTo>
                <a:lnTo>
                  <a:pt x="213" y="85"/>
                </a:lnTo>
                <a:lnTo>
                  <a:pt x="196" y="97"/>
                </a:lnTo>
                <a:lnTo>
                  <a:pt x="180" y="108"/>
                </a:lnTo>
                <a:lnTo>
                  <a:pt x="164" y="120"/>
                </a:lnTo>
                <a:lnTo>
                  <a:pt x="147" y="131"/>
                </a:lnTo>
                <a:lnTo>
                  <a:pt x="131" y="141"/>
                </a:lnTo>
                <a:lnTo>
                  <a:pt x="114" y="151"/>
                </a:lnTo>
                <a:lnTo>
                  <a:pt x="98" y="160"/>
                </a:lnTo>
                <a:lnTo>
                  <a:pt x="82" y="168"/>
                </a:lnTo>
                <a:lnTo>
                  <a:pt x="65" y="175"/>
                </a:lnTo>
                <a:lnTo>
                  <a:pt x="49" y="181"/>
                </a:lnTo>
                <a:lnTo>
                  <a:pt x="33" y="186"/>
                </a:lnTo>
                <a:lnTo>
                  <a:pt x="16" y="188"/>
                </a:lnTo>
                <a:lnTo>
                  <a:pt x="0" y="189"/>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reeform 34"/>
          <p:cNvSpPr/>
          <p:nvPr/>
        </p:nvSpPr>
        <p:spPr>
          <a:xfrm>
            <a:off x="2057400" y="5038725"/>
            <a:ext cx="3743325" cy="1304925"/>
          </a:xfrm>
          <a:custGeom>
            <a:avLst/>
            <a:gdLst/>
            <a:ahLst/>
            <a:cxnLst/>
            <a:rect l="l" t="t" r="r" b="b"/>
            <a:pathLst>
              <a:path w="393" h="137">
                <a:moveTo>
                  <a:pt x="0" y="132"/>
                </a:moveTo>
                <a:lnTo>
                  <a:pt x="16" y="131"/>
                </a:lnTo>
                <a:lnTo>
                  <a:pt x="33" y="130"/>
                </a:lnTo>
                <a:lnTo>
                  <a:pt x="49" y="126"/>
                </a:lnTo>
                <a:lnTo>
                  <a:pt x="65" y="122"/>
                </a:lnTo>
                <a:lnTo>
                  <a:pt x="82" y="117"/>
                </a:lnTo>
                <a:lnTo>
                  <a:pt x="98" y="111"/>
                </a:lnTo>
                <a:lnTo>
                  <a:pt x="114" y="105"/>
                </a:lnTo>
                <a:lnTo>
                  <a:pt x="131" y="98"/>
                </a:lnTo>
                <a:lnTo>
                  <a:pt x="147" y="90"/>
                </a:lnTo>
                <a:lnTo>
                  <a:pt x="164" y="82"/>
                </a:lnTo>
                <a:lnTo>
                  <a:pt x="180" y="74"/>
                </a:lnTo>
                <a:lnTo>
                  <a:pt x="196" y="66"/>
                </a:lnTo>
                <a:lnTo>
                  <a:pt x="213" y="58"/>
                </a:lnTo>
                <a:lnTo>
                  <a:pt x="229" y="50"/>
                </a:lnTo>
                <a:lnTo>
                  <a:pt x="246" y="42"/>
                </a:lnTo>
                <a:lnTo>
                  <a:pt x="262" y="34"/>
                </a:lnTo>
                <a:lnTo>
                  <a:pt x="278" y="27"/>
                </a:lnTo>
                <a:lnTo>
                  <a:pt x="295" y="21"/>
                </a:lnTo>
                <a:lnTo>
                  <a:pt x="311" y="15"/>
                </a:lnTo>
                <a:lnTo>
                  <a:pt x="327" y="10"/>
                </a:lnTo>
                <a:lnTo>
                  <a:pt x="344" y="6"/>
                </a:lnTo>
                <a:lnTo>
                  <a:pt x="360" y="3"/>
                </a:lnTo>
                <a:lnTo>
                  <a:pt x="377" y="1"/>
                </a:lnTo>
                <a:lnTo>
                  <a:pt x="393" y="0"/>
                </a:lnTo>
                <a:lnTo>
                  <a:pt x="393" y="5"/>
                </a:lnTo>
                <a:lnTo>
                  <a:pt x="377" y="6"/>
                </a:lnTo>
                <a:lnTo>
                  <a:pt x="360" y="8"/>
                </a:lnTo>
                <a:lnTo>
                  <a:pt x="344" y="11"/>
                </a:lnTo>
                <a:lnTo>
                  <a:pt x="327" y="15"/>
                </a:lnTo>
                <a:lnTo>
                  <a:pt x="311" y="20"/>
                </a:lnTo>
                <a:lnTo>
                  <a:pt x="295" y="26"/>
                </a:lnTo>
                <a:lnTo>
                  <a:pt x="278" y="32"/>
                </a:lnTo>
                <a:lnTo>
                  <a:pt x="262" y="39"/>
                </a:lnTo>
                <a:lnTo>
                  <a:pt x="246" y="47"/>
                </a:lnTo>
                <a:lnTo>
                  <a:pt x="229" y="55"/>
                </a:lnTo>
                <a:lnTo>
                  <a:pt x="213" y="63"/>
                </a:lnTo>
                <a:lnTo>
                  <a:pt x="196" y="71"/>
                </a:lnTo>
                <a:lnTo>
                  <a:pt x="180" y="79"/>
                </a:lnTo>
                <a:lnTo>
                  <a:pt x="164" y="87"/>
                </a:lnTo>
                <a:lnTo>
                  <a:pt x="147" y="95"/>
                </a:lnTo>
                <a:lnTo>
                  <a:pt x="131" y="103"/>
                </a:lnTo>
                <a:lnTo>
                  <a:pt x="114" y="110"/>
                </a:lnTo>
                <a:lnTo>
                  <a:pt x="98" y="116"/>
                </a:lnTo>
                <a:lnTo>
                  <a:pt x="82" y="122"/>
                </a:lnTo>
                <a:lnTo>
                  <a:pt x="65" y="127"/>
                </a:lnTo>
                <a:lnTo>
                  <a:pt x="49" y="131"/>
                </a:lnTo>
                <a:lnTo>
                  <a:pt x="33" y="135"/>
                </a:lnTo>
                <a:lnTo>
                  <a:pt x="16" y="136"/>
                </a:lnTo>
                <a:lnTo>
                  <a:pt x="0" y="13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Freeform 35"/>
          <p:cNvSpPr/>
          <p:nvPr/>
        </p:nvSpPr>
        <p:spPr>
          <a:xfrm>
            <a:off x="2057400" y="5448300"/>
            <a:ext cx="3743325" cy="942975"/>
          </a:xfrm>
          <a:custGeom>
            <a:avLst/>
            <a:gdLst/>
            <a:ahLst/>
            <a:cxnLst/>
            <a:rect l="l" t="t" r="r" b="b"/>
            <a:pathLst>
              <a:path w="393" h="99">
                <a:moveTo>
                  <a:pt x="0" y="94"/>
                </a:moveTo>
                <a:lnTo>
                  <a:pt x="16" y="94"/>
                </a:lnTo>
                <a:lnTo>
                  <a:pt x="33" y="92"/>
                </a:lnTo>
                <a:lnTo>
                  <a:pt x="49" y="90"/>
                </a:lnTo>
                <a:lnTo>
                  <a:pt x="65" y="87"/>
                </a:lnTo>
                <a:lnTo>
                  <a:pt x="82" y="84"/>
                </a:lnTo>
                <a:lnTo>
                  <a:pt x="98" y="79"/>
                </a:lnTo>
                <a:lnTo>
                  <a:pt x="114" y="75"/>
                </a:lnTo>
                <a:lnTo>
                  <a:pt x="131" y="70"/>
                </a:lnTo>
                <a:lnTo>
                  <a:pt x="147" y="64"/>
                </a:lnTo>
                <a:lnTo>
                  <a:pt x="164" y="59"/>
                </a:lnTo>
                <a:lnTo>
                  <a:pt x="180" y="53"/>
                </a:lnTo>
                <a:lnTo>
                  <a:pt x="196" y="47"/>
                </a:lnTo>
                <a:lnTo>
                  <a:pt x="213" y="41"/>
                </a:lnTo>
                <a:lnTo>
                  <a:pt x="229" y="35"/>
                </a:lnTo>
                <a:lnTo>
                  <a:pt x="246" y="30"/>
                </a:lnTo>
                <a:lnTo>
                  <a:pt x="262" y="24"/>
                </a:lnTo>
                <a:lnTo>
                  <a:pt x="278" y="19"/>
                </a:lnTo>
                <a:lnTo>
                  <a:pt x="295" y="14"/>
                </a:lnTo>
                <a:lnTo>
                  <a:pt x="311" y="10"/>
                </a:lnTo>
                <a:lnTo>
                  <a:pt x="327" y="7"/>
                </a:lnTo>
                <a:lnTo>
                  <a:pt x="344" y="4"/>
                </a:lnTo>
                <a:lnTo>
                  <a:pt x="360" y="2"/>
                </a:lnTo>
                <a:lnTo>
                  <a:pt x="377" y="0"/>
                </a:lnTo>
                <a:lnTo>
                  <a:pt x="393" y="0"/>
                </a:lnTo>
                <a:lnTo>
                  <a:pt x="393" y="5"/>
                </a:lnTo>
                <a:lnTo>
                  <a:pt x="377" y="5"/>
                </a:lnTo>
                <a:lnTo>
                  <a:pt x="360" y="7"/>
                </a:lnTo>
                <a:lnTo>
                  <a:pt x="344" y="9"/>
                </a:lnTo>
                <a:lnTo>
                  <a:pt x="327" y="12"/>
                </a:lnTo>
                <a:lnTo>
                  <a:pt x="311" y="15"/>
                </a:lnTo>
                <a:lnTo>
                  <a:pt x="295" y="19"/>
                </a:lnTo>
                <a:lnTo>
                  <a:pt x="278" y="24"/>
                </a:lnTo>
                <a:lnTo>
                  <a:pt x="262" y="29"/>
                </a:lnTo>
                <a:lnTo>
                  <a:pt x="246" y="35"/>
                </a:lnTo>
                <a:lnTo>
                  <a:pt x="229" y="40"/>
                </a:lnTo>
                <a:lnTo>
                  <a:pt x="213" y="46"/>
                </a:lnTo>
                <a:lnTo>
                  <a:pt x="196" y="52"/>
                </a:lnTo>
                <a:lnTo>
                  <a:pt x="180" y="58"/>
                </a:lnTo>
                <a:lnTo>
                  <a:pt x="164" y="64"/>
                </a:lnTo>
                <a:lnTo>
                  <a:pt x="147" y="69"/>
                </a:lnTo>
                <a:lnTo>
                  <a:pt x="131" y="75"/>
                </a:lnTo>
                <a:lnTo>
                  <a:pt x="114" y="80"/>
                </a:lnTo>
                <a:lnTo>
                  <a:pt x="98" y="84"/>
                </a:lnTo>
                <a:lnTo>
                  <a:pt x="82" y="89"/>
                </a:lnTo>
                <a:lnTo>
                  <a:pt x="65" y="92"/>
                </a:lnTo>
                <a:lnTo>
                  <a:pt x="49" y="95"/>
                </a:lnTo>
                <a:lnTo>
                  <a:pt x="33" y="97"/>
                </a:lnTo>
                <a:lnTo>
                  <a:pt x="16" y="99"/>
                </a:lnTo>
                <a:lnTo>
                  <a:pt x="0" y="99"/>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Freeform 36"/>
          <p:cNvSpPr/>
          <p:nvPr/>
        </p:nvSpPr>
        <p:spPr>
          <a:xfrm>
            <a:off x="2057400" y="5857875"/>
            <a:ext cx="3743325" cy="571500"/>
          </a:xfrm>
          <a:custGeom>
            <a:avLst/>
            <a:gdLst/>
            <a:ahLst/>
            <a:cxnLst/>
            <a:rect l="l" t="t" r="r" b="b"/>
            <a:pathLst>
              <a:path w="393" h="60">
                <a:moveTo>
                  <a:pt x="0" y="56"/>
                </a:moveTo>
                <a:lnTo>
                  <a:pt x="16" y="56"/>
                </a:lnTo>
                <a:lnTo>
                  <a:pt x="33" y="55"/>
                </a:lnTo>
                <a:lnTo>
                  <a:pt x="49" y="54"/>
                </a:lnTo>
                <a:lnTo>
                  <a:pt x="65" y="52"/>
                </a:lnTo>
                <a:lnTo>
                  <a:pt x="82" y="50"/>
                </a:lnTo>
                <a:lnTo>
                  <a:pt x="98" y="47"/>
                </a:lnTo>
                <a:lnTo>
                  <a:pt x="114" y="45"/>
                </a:lnTo>
                <a:lnTo>
                  <a:pt x="131" y="42"/>
                </a:lnTo>
                <a:lnTo>
                  <a:pt x="147" y="38"/>
                </a:lnTo>
                <a:lnTo>
                  <a:pt x="164" y="35"/>
                </a:lnTo>
                <a:lnTo>
                  <a:pt x="180" y="32"/>
                </a:lnTo>
                <a:lnTo>
                  <a:pt x="196" y="28"/>
                </a:lnTo>
                <a:lnTo>
                  <a:pt x="213" y="25"/>
                </a:lnTo>
                <a:lnTo>
                  <a:pt x="229" y="21"/>
                </a:lnTo>
                <a:lnTo>
                  <a:pt x="246" y="18"/>
                </a:lnTo>
                <a:lnTo>
                  <a:pt x="262" y="15"/>
                </a:lnTo>
                <a:lnTo>
                  <a:pt x="278" y="12"/>
                </a:lnTo>
                <a:lnTo>
                  <a:pt x="295" y="9"/>
                </a:lnTo>
                <a:lnTo>
                  <a:pt x="311" y="7"/>
                </a:lnTo>
                <a:lnTo>
                  <a:pt x="327" y="4"/>
                </a:lnTo>
                <a:lnTo>
                  <a:pt x="344" y="3"/>
                </a:lnTo>
                <a:lnTo>
                  <a:pt x="360" y="1"/>
                </a:lnTo>
                <a:lnTo>
                  <a:pt x="377" y="1"/>
                </a:lnTo>
                <a:lnTo>
                  <a:pt x="393" y="0"/>
                </a:lnTo>
                <a:lnTo>
                  <a:pt x="393" y="4"/>
                </a:lnTo>
                <a:lnTo>
                  <a:pt x="377" y="4"/>
                </a:lnTo>
                <a:lnTo>
                  <a:pt x="360" y="5"/>
                </a:lnTo>
                <a:lnTo>
                  <a:pt x="344" y="6"/>
                </a:lnTo>
                <a:lnTo>
                  <a:pt x="327" y="8"/>
                </a:lnTo>
                <a:lnTo>
                  <a:pt x="311" y="10"/>
                </a:lnTo>
                <a:lnTo>
                  <a:pt x="295" y="12"/>
                </a:lnTo>
                <a:lnTo>
                  <a:pt x="278" y="15"/>
                </a:lnTo>
                <a:lnTo>
                  <a:pt x="262" y="18"/>
                </a:lnTo>
                <a:lnTo>
                  <a:pt x="246" y="21"/>
                </a:lnTo>
                <a:lnTo>
                  <a:pt x="229" y="25"/>
                </a:lnTo>
                <a:lnTo>
                  <a:pt x="213" y="28"/>
                </a:lnTo>
                <a:lnTo>
                  <a:pt x="196" y="32"/>
                </a:lnTo>
                <a:lnTo>
                  <a:pt x="180" y="35"/>
                </a:lnTo>
                <a:lnTo>
                  <a:pt x="164" y="39"/>
                </a:lnTo>
                <a:lnTo>
                  <a:pt x="147" y="42"/>
                </a:lnTo>
                <a:lnTo>
                  <a:pt x="131" y="45"/>
                </a:lnTo>
                <a:lnTo>
                  <a:pt x="114" y="48"/>
                </a:lnTo>
                <a:lnTo>
                  <a:pt x="98" y="51"/>
                </a:lnTo>
                <a:lnTo>
                  <a:pt x="82" y="53"/>
                </a:lnTo>
                <a:lnTo>
                  <a:pt x="65" y="55"/>
                </a:lnTo>
                <a:lnTo>
                  <a:pt x="49" y="57"/>
                </a:lnTo>
                <a:lnTo>
                  <a:pt x="33" y="58"/>
                </a:lnTo>
                <a:lnTo>
                  <a:pt x="16" y="59"/>
                </a:lnTo>
                <a:lnTo>
                  <a:pt x="0" y="6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Freeform 37"/>
          <p:cNvSpPr/>
          <p:nvPr/>
        </p:nvSpPr>
        <p:spPr>
          <a:xfrm>
            <a:off x="2057400" y="6191250"/>
            <a:ext cx="3743325" cy="257175"/>
          </a:xfrm>
          <a:custGeom>
            <a:avLst/>
            <a:gdLst/>
            <a:ahLst/>
            <a:cxnLst/>
            <a:rect l="l" t="t" r="r" b="b"/>
            <a:pathLst>
              <a:path w="393" h="27">
                <a:moveTo>
                  <a:pt x="0" y="25"/>
                </a:moveTo>
                <a:lnTo>
                  <a:pt x="16" y="24"/>
                </a:lnTo>
                <a:lnTo>
                  <a:pt x="33" y="24"/>
                </a:lnTo>
                <a:lnTo>
                  <a:pt x="49" y="23"/>
                </a:lnTo>
                <a:lnTo>
                  <a:pt x="65" y="23"/>
                </a:lnTo>
                <a:lnTo>
                  <a:pt x="82" y="22"/>
                </a:lnTo>
                <a:lnTo>
                  <a:pt x="98" y="21"/>
                </a:lnTo>
                <a:lnTo>
                  <a:pt x="114" y="20"/>
                </a:lnTo>
                <a:lnTo>
                  <a:pt x="131" y="18"/>
                </a:lnTo>
                <a:lnTo>
                  <a:pt x="147" y="17"/>
                </a:lnTo>
                <a:lnTo>
                  <a:pt x="164" y="15"/>
                </a:lnTo>
                <a:lnTo>
                  <a:pt x="180" y="14"/>
                </a:lnTo>
                <a:lnTo>
                  <a:pt x="196" y="12"/>
                </a:lnTo>
                <a:lnTo>
                  <a:pt x="213" y="11"/>
                </a:lnTo>
                <a:lnTo>
                  <a:pt x="229" y="9"/>
                </a:lnTo>
                <a:lnTo>
                  <a:pt x="246" y="8"/>
                </a:lnTo>
                <a:lnTo>
                  <a:pt x="262" y="6"/>
                </a:lnTo>
                <a:lnTo>
                  <a:pt x="278" y="5"/>
                </a:lnTo>
                <a:lnTo>
                  <a:pt x="295" y="4"/>
                </a:lnTo>
                <a:lnTo>
                  <a:pt x="311" y="3"/>
                </a:lnTo>
                <a:lnTo>
                  <a:pt x="327" y="2"/>
                </a:lnTo>
                <a:lnTo>
                  <a:pt x="344" y="1"/>
                </a:lnTo>
                <a:lnTo>
                  <a:pt x="360" y="1"/>
                </a:lnTo>
                <a:lnTo>
                  <a:pt x="377" y="0"/>
                </a:lnTo>
                <a:lnTo>
                  <a:pt x="393" y="0"/>
                </a:lnTo>
                <a:lnTo>
                  <a:pt x="393" y="3"/>
                </a:lnTo>
                <a:lnTo>
                  <a:pt x="377" y="3"/>
                </a:lnTo>
                <a:lnTo>
                  <a:pt x="360" y="4"/>
                </a:lnTo>
                <a:lnTo>
                  <a:pt x="344" y="4"/>
                </a:lnTo>
                <a:lnTo>
                  <a:pt x="327" y="5"/>
                </a:lnTo>
                <a:lnTo>
                  <a:pt x="311" y="6"/>
                </a:lnTo>
                <a:lnTo>
                  <a:pt x="295" y="7"/>
                </a:lnTo>
                <a:lnTo>
                  <a:pt x="278" y="8"/>
                </a:lnTo>
                <a:lnTo>
                  <a:pt x="262" y="9"/>
                </a:lnTo>
                <a:lnTo>
                  <a:pt x="246" y="11"/>
                </a:lnTo>
                <a:lnTo>
                  <a:pt x="229" y="12"/>
                </a:lnTo>
                <a:lnTo>
                  <a:pt x="213" y="14"/>
                </a:lnTo>
                <a:lnTo>
                  <a:pt x="196" y="15"/>
                </a:lnTo>
                <a:lnTo>
                  <a:pt x="180" y="17"/>
                </a:lnTo>
                <a:lnTo>
                  <a:pt x="164" y="18"/>
                </a:lnTo>
                <a:lnTo>
                  <a:pt x="147" y="20"/>
                </a:lnTo>
                <a:lnTo>
                  <a:pt x="131" y="21"/>
                </a:lnTo>
                <a:lnTo>
                  <a:pt x="114" y="22"/>
                </a:lnTo>
                <a:lnTo>
                  <a:pt x="98" y="24"/>
                </a:lnTo>
                <a:lnTo>
                  <a:pt x="82" y="25"/>
                </a:lnTo>
                <a:lnTo>
                  <a:pt x="65" y="26"/>
                </a:lnTo>
                <a:lnTo>
                  <a:pt x="49" y="26"/>
                </a:lnTo>
                <a:lnTo>
                  <a:pt x="33" y="27"/>
                </a:lnTo>
                <a:lnTo>
                  <a:pt x="16" y="27"/>
                </a:lnTo>
                <a:lnTo>
                  <a:pt x="0" y="2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Freeform 38"/>
          <p:cNvSpPr/>
          <p:nvPr/>
        </p:nvSpPr>
        <p:spPr>
          <a:xfrm>
            <a:off x="2057400" y="6448425"/>
            <a:ext cx="3743325" cy="85725"/>
          </a:xfrm>
          <a:custGeom>
            <a:avLst/>
            <a:gdLst/>
            <a:ahLst/>
            <a:cxnLst/>
            <a:rect l="l" t="t" r="r" b="b"/>
            <a:pathLst>
              <a:path w="393" h="9">
                <a:moveTo>
                  <a:pt x="0" y="0"/>
                </a:moveTo>
                <a:lnTo>
                  <a:pt x="16" y="0"/>
                </a:lnTo>
                <a:lnTo>
                  <a:pt x="33" y="1"/>
                </a:lnTo>
                <a:lnTo>
                  <a:pt x="49" y="1"/>
                </a:lnTo>
                <a:lnTo>
                  <a:pt x="65" y="1"/>
                </a:lnTo>
                <a:lnTo>
                  <a:pt x="82" y="1"/>
                </a:lnTo>
                <a:lnTo>
                  <a:pt x="98" y="1"/>
                </a:lnTo>
                <a:lnTo>
                  <a:pt x="114" y="2"/>
                </a:lnTo>
                <a:lnTo>
                  <a:pt x="131" y="2"/>
                </a:lnTo>
                <a:lnTo>
                  <a:pt x="147" y="2"/>
                </a:lnTo>
                <a:lnTo>
                  <a:pt x="164" y="3"/>
                </a:lnTo>
                <a:lnTo>
                  <a:pt x="180" y="3"/>
                </a:lnTo>
                <a:lnTo>
                  <a:pt x="196" y="3"/>
                </a:lnTo>
                <a:lnTo>
                  <a:pt x="213" y="4"/>
                </a:lnTo>
                <a:lnTo>
                  <a:pt x="229" y="4"/>
                </a:lnTo>
                <a:lnTo>
                  <a:pt x="246" y="5"/>
                </a:lnTo>
                <a:lnTo>
                  <a:pt x="262" y="5"/>
                </a:lnTo>
                <a:lnTo>
                  <a:pt x="278" y="5"/>
                </a:lnTo>
                <a:lnTo>
                  <a:pt x="295" y="5"/>
                </a:lnTo>
                <a:lnTo>
                  <a:pt x="311" y="6"/>
                </a:lnTo>
                <a:lnTo>
                  <a:pt x="327" y="6"/>
                </a:lnTo>
                <a:lnTo>
                  <a:pt x="344" y="6"/>
                </a:lnTo>
                <a:lnTo>
                  <a:pt x="360" y="6"/>
                </a:lnTo>
                <a:lnTo>
                  <a:pt x="377" y="6"/>
                </a:lnTo>
                <a:lnTo>
                  <a:pt x="393" y="6"/>
                </a:lnTo>
                <a:lnTo>
                  <a:pt x="393" y="9"/>
                </a:lnTo>
                <a:lnTo>
                  <a:pt x="377" y="9"/>
                </a:lnTo>
                <a:lnTo>
                  <a:pt x="360" y="9"/>
                </a:lnTo>
                <a:lnTo>
                  <a:pt x="344" y="9"/>
                </a:lnTo>
                <a:lnTo>
                  <a:pt x="327" y="9"/>
                </a:lnTo>
                <a:lnTo>
                  <a:pt x="311" y="8"/>
                </a:lnTo>
                <a:lnTo>
                  <a:pt x="295" y="8"/>
                </a:lnTo>
                <a:lnTo>
                  <a:pt x="278" y="8"/>
                </a:lnTo>
                <a:lnTo>
                  <a:pt x="262" y="7"/>
                </a:lnTo>
                <a:lnTo>
                  <a:pt x="246" y="7"/>
                </a:lnTo>
                <a:lnTo>
                  <a:pt x="229" y="7"/>
                </a:lnTo>
                <a:lnTo>
                  <a:pt x="213" y="6"/>
                </a:lnTo>
                <a:lnTo>
                  <a:pt x="196" y="6"/>
                </a:lnTo>
                <a:lnTo>
                  <a:pt x="180" y="6"/>
                </a:lnTo>
                <a:lnTo>
                  <a:pt x="164" y="5"/>
                </a:lnTo>
                <a:lnTo>
                  <a:pt x="147" y="5"/>
                </a:lnTo>
                <a:lnTo>
                  <a:pt x="131" y="5"/>
                </a:lnTo>
                <a:lnTo>
                  <a:pt x="114" y="4"/>
                </a:lnTo>
                <a:lnTo>
                  <a:pt x="98" y="4"/>
                </a:lnTo>
                <a:lnTo>
                  <a:pt x="82" y="4"/>
                </a:lnTo>
                <a:lnTo>
                  <a:pt x="65" y="3"/>
                </a:lnTo>
                <a:lnTo>
                  <a:pt x="49" y="3"/>
                </a:lnTo>
                <a:lnTo>
                  <a:pt x="33" y="3"/>
                </a:lnTo>
                <a:lnTo>
                  <a:pt x="16" y="3"/>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941195" y="4076700"/>
            <a:ext cx="114300" cy="1231056"/>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7175" y="4076700"/>
            <a:ext cx="1626870" cy="1231056"/>
          </a:xfrm>
          <a:prstGeom prst="rect">
            <a:avLst/>
          </a:prstGeom>
          <a:noFill/>
        </p:spPr>
        <p:txBody>
          <a:bodyPr wrap="square" lIns="0" tIns="0" rIns="19050" bIns="0" anchor="ctr">
            <a:spAutoFit/>
          </a:bodyPr>
          <a:lstStyle/>
          <a:p>
            <a:pPr algn="r"/>
            <a:endParaRPr/>
          </a:p>
        </p:txBody>
      </p:sp>
      <p:sp>
        <p:nvSpPr>
          <p:cNvPr id="42" name="Rectangle 41"/>
          <p:cNvSpPr/>
          <p:nvPr/>
        </p:nvSpPr>
        <p:spPr>
          <a:xfrm>
            <a:off x="1941195" y="5364906"/>
            <a:ext cx="114300" cy="527433"/>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57175" y="5364906"/>
            <a:ext cx="1626870" cy="527433"/>
          </a:xfrm>
          <a:prstGeom prst="rect">
            <a:avLst/>
          </a:prstGeom>
          <a:noFill/>
        </p:spPr>
        <p:txBody>
          <a:bodyPr wrap="square" lIns="0" tIns="0" rIns="19050" bIns="0" anchor="ctr">
            <a:spAutoFit/>
          </a:bodyPr>
          <a:lstStyle/>
          <a:p>
            <a:pPr algn="r"/>
            <a:endParaRPr/>
          </a:p>
        </p:txBody>
      </p:sp>
      <p:sp>
        <p:nvSpPr>
          <p:cNvPr id="44" name="Rectangle 43"/>
          <p:cNvSpPr/>
          <p:nvPr/>
        </p:nvSpPr>
        <p:spPr>
          <a:xfrm>
            <a:off x="1941195" y="5949489"/>
            <a:ext cx="114300" cy="24782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7175" y="5949489"/>
            <a:ext cx="1626870" cy="247827"/>
          </a:xfrm>
          <a:prstGeom prst="rect">
            <a:avLst/>
          </a:prstGeom>
          <a:noFill/>
        </p:spPr>
        <p:txBody>
          <a:bodyPr wrap="square" lIns="0" tIns="0" rIns="19050" bIns="0" anchor="ctr">
            <a:spAutoFit/>
          </a:bodyPr>
          <a:lstStyle/>
          <a:p>
            <a:pPr algn="r"/>
            <a:endParaRPr/>
          </a:p>
        </p:txBody>
      </p:sp>
      <p:sp>
        <p:nvSpPr>
          <p:cNvPr id="46" name="Rectangle 45"/>
          <p:cNvSpPr/>
          <p:nvPr/>
        </p:nvSpPr>
        <p:spPr>
          <a:xfrm>
            <a:off x="1941195" y="6254466"/>
            <a:ext cx="114300" cy="222534"/>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7175" y="6254466"/>
            <a:ext cx="1626870" cy="222534"/>
          </a:xfrm>
          <a:prstGeom prst="rect">
            <a:avLst/>
          </a:prstGeom>
          <a:noFill/>
        </p:spPr>
        <p:txBody>
          <a:bodyPr wrap="square" lIns="0" tIns="0" rIns="19050" bIns="0" anchor="ctr">
            <a:spAutoFit/>
          </a:bodyPr>
          <a:lstStyle/>
          <a:p>
            <a:pPr algn="r"/>
            <a:endParaRPr/>
          </a:p>
        </p:txBody>
      </p:sp>
      <p:sp>
        <p:nvSpPr>
          <p:cNvPr id="48" name="Rectangle 47"/>
          <p:cNvSpPr/>
          <p:nvPr/>
        </p:nvSpPr>
        <p:spPr>
          <a:xfrm>
            <a:off x="5800725" y="4019550"/>
            <a:ext cx="114300" cy="5176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72175" y="4019550"/>
            <a:ext cx="1381125" cy="517672"/>
          </a:xfrm>
          <a:prstGeom prst="rect">
            <a:avLst/>
          </a:prstGeom>
          <a:noFill/>
        </p:spPr>
        <p:txBody>
          <a:bodyPr wrap="square" lIns="0" tIns="0" rIns="19050" bIns="0" anchor="ctr">
            <a:spAutoFit/>
          </a:bodyPr>
          <a:lstStyle/>
          <a:p>
            <a:pPr algn="l"/>
            <a:endParaRPr/>
          </a:p>
        </p:txBody>
      </p:sp>
      <p:sp>
        <p:nvSpPr>
          <p:cNvPr id="50" name="Rectangle 49"/>
          <p:cNvSpPr/>
          <p:nvPr/>
        </p:nvSpPr>
        <p:spPr>
          <a:xfrm>
            <a:off x="5800725" y="4594372"/>
            <a:ext cx="114300" cy="49104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972175" y="4594372"/>
            <a:ext cx="1381125" cy="491043"/>
          </a:xfrm>
          <a:prstGeom prst="rect">
            <a:avLst/>
          </a:prstGeom>
          <a:noFill/>
        </p:spPr>
        <p:txBody>
          <a:bodyPr wrap="square" lIns="0" tIns="0" rIns="19050" bIns="0" anchor="ctr">
            <a:spAutoFit/>
          </a:bodyPr>
          <a:lstStyle/>
          <a:p>
            <a:pPr algn="l"/>
            <a:endParaRPr/>
          </a:p>
        </p:txBody>
      </p:sp>
      <p:sp>
        <p:nvSpPr>
          <p:cNvPr id="52" name="Rectangle 51"/>
          <p:cNvSpPr/>
          <p:nvPr/>
        </p:nvSpPr>
        <p:spPr>
          <a:xfrm>
            <a:off x="5800725" y="5142565"/>
            <a:ext cx="114300" cy="35054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72175" y="5142565"/>
            <a:ext cx="1381125" cy="350548"/>
          </a:xfrm>
          <a:prstGeom prst="rect">
            <a:avLst/>
          </a:prstGeom>
          <a:noFill/>
        </p:spPr>
        <p:txBody>
          <a:bodyPr wrap="square" lIns="0" tIns="0" rIns="19050" bIns="0" anchor="ctr">
            <a:spAutoFit/>
          </a:bodyPr>
          <a:lstStyle/>
          <a:p>
            <a:pPr algn="l"/>
            <a:endParaRPr/>
          </a:p>
        </p:txBody>
      </p:sp>
      <p:sp>
        <p:nvSpPr>
          <p:cNvPr id="54" name="Rectangle 53"/>
          <p:cNvSpPr/>
          <p:nvPr/>
        </p:nvSpPr>
        <p:spPr>
          <a:xfrm>
            <a:off x="5800725" y="5550263"/>
            <a:ext cx="114300" cy="34278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972175" y="5550263"/>
            <a:ext cx="1381125" cy="342783"/>
          </a:xfrm>
          <a:prstGeom prst="rect">
            <a:avLst/>
          </a:prstGeom>
          <a:noFill/>
        </p:spPr>
        <p:txBody>
          <a:bodyPr wrap="square" lIns="0" tIns="0" rIns="19050" bIns="0" anchor="ctr">
            <a:spAutoFit/>
          </a:bodyPr>
          <a:lstStyle/>
          <a:p>
            <a:pPr algn="l"/>
            <a:endParaRPr/>
          </a:p>
        </p:txBody>
      </p:sp>
      <p:sp>
        <p:nvSpPr>
          <p:cNvPr id="56" name="Rectangle 55"/>
          <p:cNvSpPr/>
          <p:nvPr/>
        </p:nvSpPr>
        <p:spPr>
          <a:xfrm>
            <a:off x="5800725" y="5950196"/>
            <a:ext cx="114300" cy="26994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72175" y="5950196"/>
            <a:ext cx="1381125" cy="269946"/>
          </a:xfrm>
          <a:prstGeom prst="rect">
            <a:avLst/>
          </a:prstGeom>
          <a:noFill/>
        </p:spPr>
        <p:txBody>
          <a:bodyPr wrap="square" lIns="0" tIns="0" rIns="19050" bIns="0" anchor="ctr">
            <a:spAutoFit/>
          </a:bodyPr>
          <a:lstStyle/>
          <a:p>
            <a:pPr algn="l"/>
            <a:endParaRPr/>
          </a:p>
        </p:txBody>
      </p:sp>
      <p:sp>
        <p:nvSpPr>
          <p:cNvPr id="58" name="Rectangle 57"/>
          <p:cNvSpPr/>
          <p:nvPr/>
        </p:nvSpPr>
        <p:spPr>
          <a:xfrm>
            <a:off x="5800725" y="6277291"/>
            <a:ext cx="114300" cy="25685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972175" y="6277291"/>
            <a:ext cx="1381125" cy="256859"/>
          </a:xfrm>
          <a:prstGeom prst="rect">
            <a:avLst/>
          </a:prstGeom>
          <a:noFill/>
        </p:spPr>
        <p:txBody>
          <a:bodyPr wrap="square" lIns="0" tIns="0" rIns="19050" bIns="0" anchor="ctr">
            <a:spAutoFit/>
          </a:bodyPr>
          <a:lstStyle/>
          <a:p>
            <a:pPr algn="l"/>
            <a:endParaRPr/>
          </a:p>
        </p:txBody>
      </p:sp>
      <p:sp>
        <p:nvSpPr>
          <p:cNvPr id="60" name="Rounded Rectangle 59"/>
          <p:cNvSpPr/>
          <p:nvPr/>
        </p:nvSpPr>
        <p:spPr>
          <a:xfrm>
            <a:off x="7581900" y="3695700"/>
            <a:ext cx="445770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715250" y="3781425"/>
            <a:ext cx="4191000" cy="209550"/>
          </a:xfrm>
          <a:prstGeom prst="rect">
            <a:avLst/>
          </a:prstGeom>
          <a:noFill/>
        </p:spPr>
        <p:txBody>
          <a:bodyPr wrap="square" lIns="0" tIns="9525" rIns="19050" bIns="9525">
            <a:spAutoFit/>
          </a:bodyPr>
          <a:lstStyle/>
          <a:p>
            <a:pPr algn="l"/>
            <a:r>
              <a:rPr sz="1300" b="1">
                <a:solidFill>
                  <a:srgbClr val="0B2E4A"/>
                </a:solidFill>
                <a:latin typeface="Calibri"/>
              </a:rPr>
              <a:t>Key Findings</a:t>
            </a:r>
          </a:p>
        </p:txBody>
      </p:sp>
      <p:sp>
        <p:nvSpPr>
          <p:cNvPr id="62" name="Rectangle 61"/>
          <p:cNvSpPr/>
          <p:nvPr/>
        </p:nvSpPr>
        <p:spPr>
          <a:xfrm>
            <a:off x="7715250" y="40195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715250" y="4105275"/>
            <a:ext cx="4191000" cy="24479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4" name="TextBox 6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65" name="Picture 64" descr="lock.png"/>
          <p:cNvPicPr>
            <a:picLocks noChangeAspect="1"/>
          </p:cNvPicPr>
          <p:nvPr/>
        </p:nvPicPr>
        <p:blipFill>
          <a:blip r:embed="rId4"/>
          <a:stretch>
            <a:fillRect/>
          </a:stretch>
        </p:blipFill>
        <p:spPr>
          <a:xfrm>
            <a:off x="7938815" y="2468245"/>
            <a:ext cx="366712" cy="533400"/>
          </a:xfrm>
          <a:prstGeom prst="rect">
            <a:avLst/>
          </a:prstGeom>
        </p:spPr>
      </p:pic>
      <p:sp>
        <p:nvSpPr>
          <p:cNvPr id="66" name="TextBox 65"/>
          <p:cNvSpPr txBox="1"/>
          <p:nvPr/>
        </p:nvSpPr>
        <p:spPr>
          <a:xfrm>
            <a:off x="508377" y="4440768"/>
            <a:ext cx="1356617" cy="186689"/>
          </a:xfrm>
          <a:prstGeom prst="rect">
            <a:avLst/>
          </a:prstGeom>
          <a:noFill/>
        </p:spPr>
        <p:txBody>
          <a:bodyPr wrap="none" lIns="0" tIns="0" rIns="0" bIns="0">
            <a:spAutoFit/>
          </a:bodyPr>
          <a:lstStyle/>
          <a:p>
            <a:r>
              <a:rPr sz="1100" b="1">
                <a:solidFill>
                  <a:srgbClr val="2E2E2E"/>
                </a:solidFill>
                <a:latin typeface="Calibri"/>
              </a:rPr>
              <a:t>Support for Observable</a:t>
            </a:r>
          </a:p>
        </p:txBody>
      </p:sp>
      <p:sp>
        <p:nvSpPr>
          <p:cNvPr id="67" name="TextBox 66"/>
          <p:cNvSpPr txBox="1"/>
          <p:nvPr/>
        </p:nvSpPr>
        <p:spPr>
          <a:xfrm>
            <a:off x="578772" y="4608408"/>
            <a:ext cx="1286222" cy="186689"/>
          </a:xfrm>
          <a:prstGeom prst="rect">
            <a:avLst/>
          </a:prstGeom>
          <a:noFill/>
        </p:spPr>
        <p:txBody>
          <a:bodyPr wrap="none" lIns="0" tIns="0" rIns="0" bIns="0">
            <a:spAutoFit/>
          </a:bodyPr>
          <a:lstStyle/>
          <a:p>
            <a:r>
              <a:rPr sz="1100" b="1">
                <a:solidFill>
                  <a:srgbClr val="2E2E2E"/>
                </a:solidFill>
                <a:latin typeface="Calibri"/>
              </a:rPr>
              <a:t>Age-Related Cognitive</a:t>
            </a:r>
          </a:p>
        </p:txBody>
      </p:sp>
      <p:sp>
        <p:nvSpPr>
          <p:cNvPr id="68" name="TextBox 67"/>
          <p:cNvSpPr txBox="1"/>
          <p:nvPr/>
        </p:nvSpPr>
        <p:spPr>
          <a:xfrm>
            <a:off x="1225563" y="4776048"/>
            <a:ext cx="561602" cy="186689"/>
          </a:xfrm>
          <a:prstGeom prst="rect">
            <a:avLst/>
          </a:prstGeom>
          <a:noFill/>
        </p:spPr>
        <p:txBody>
          <a:bodyPr wrap="none" lIns="0" tIns="0" rIns="0" bIns="0">
            <a:spAutoFit/>
          </a:bodyPr>
          <a:lstStyle/>
          <a:p>
            <a:r>
              <a:rPr sz="1100" b="1">
                <a:solidFill>
                  <a:srgbClr val="2E2E2E"/>
                </a:solidFill>
                <a:latin typeface="Calibri"/>
              </a:rPr>
              <a:t>Changes</a:t>
            </a:r>
          </a:p>
        </p:txBody>
      </p:sp>
      <p:pic>
        <p:nvPicPr>
          <p:cNvPr id="69" name="Picture 68" descr="lock.png"/>
          <p:cNvPicPr>
            <a:picLocks noChangeAspect="1"/>
          </p:cNvPicPr>
          <p:nvPr/>
        </p:nvPicPr>
        <p:blipFill>
          <a:blip r:embed="rId4"/>
          <a:stretch>
            <a:fillRect/>
          </a:stretch>
        </p:blipFill>
        <p:spPr>
          <a:xfrm>
            <a:off x="1735218" y="4766269"/>
            <a:ext cx="128699" cy="187198"/>
          </a:xfrm>
          <a:prstGeom prst="rect">
            <a:avLst/>
          </a:prstGeom>
        </p:spPr>
      </p:pic>
      <p:sp>
        <p:nvSpPr>
          <p:cNvPr id="70" name="TextBox 69"/>
          <p:cNvSpPr txBox="1"/>
          <p:nvPr/>
        </p:nvSpPr>
        <p:spPr>
          <a:xfrm>
            <a:off x="278090" y="5460982"/>
            <a:ext cx="1586904" cy="186689"/>
          </a:xfrm>
          <a:prstGeom prst="rect">
            <a:avLst/>
          </a:prstGeom>
          <a:noFill/>
        </p:spPr>
        <p:txBody>
          <a:bodyPr wrap="none" lIns="0" tIns="0" rIns="0" bIns="0">
            <a:spAutoFit/>
          </a:bodyPr>
          <a:lstStyle/>
          <a:p>
            <a:r>
              <a:rPr sz="1100" b="1">
                <a:solidFill>
                  <a:srgbClr val="2E2E2E"/>
                </a:solidFill>
                <a:latin typeface="Calibri"/>
              </a:rPr>
              <a:t>Routine Cognitive Wellness</a:t>
            </a:r>
          </a:p>
        </p:txBody>
      </p:sp>
      <p:pic>
        <p:nvPicPr>
          <p:cNvPr id="71" name="Picture 70" descr="lock.png"/>
          <p:cNvPicPr>
            <a:picLocks noChangeAspect="1"/>
          </p:cNvPicPr>
          <p:nvPr/>
        </p:nvPicPr>
        <p:blipFill>
          <a:blip r:embed="rId4"/>
          <a:stretch>
            <a:fillRect/>
          </a:stretch>
        </p:blipFill>
        <p:spPr>
          <a:xfrm>
            <a:off x="1735218" y="5618843"/>
            <a:ext cx="128699" cy="187198"/>
          </a:xfrm>
          <a:prstGeom prst="rect">
            <a:avLst/>
          </a:prstGeom>
        </p:spPr>
      </p:pic>
      <p:sp>
        <p:nvSpPr>
          <p:cNvPr id="72" name="TextBox 71"/>
          <p:cNvSpPr txBox="1"/>
          <p:nvPr/>
        </p:nvSpPr>
        <p:spPr>
          <a:xfrm>
            <a:off x="498663" y="5952701"/>
            <a:ext cx="1366331" cy="139750"/>
          </a:xfrm>
          <a:prstGeom prst="rect">
            <a:avLst/>
          </a:prstGeom>
          <a:noFill/>
        </p:spPr>
        <p:txBody>
          <a:bodyPr wrap="none" lIns="0" tIns="0" rIns="0" bIns="0">
            <a:spAutoFit/>
          </a:bodyPr>
          <a:lstStyle/>
          <a:p>
            <a:r>
              <a:rPr sz="791" b="1">
                <a:solidFill>
                  <a:srgbClr val="2E2E2E"/>
                </a:solidFill>
                <a:latin typeface="Calibri"/>
              </a:rPr>
              <a:t>Preventive Cognitive Support for</a:t>
            </a:r>
          </a:p>
        </p:txBody>
      </p:sp>
      <p:sp>
        <p:nvSpPr>
          <p:cNvPr id="73" name="TextBox 72"/>
          <p:cNvSpPr txBox="1"/>
          <p:nvPr/>
        </p:nvSpPr>
        <p:spPr>
          <a:xfrm>
            <a:off x="1259229" y="6073402"/>
            <a:ext cx="571065" cy="139750"/>
          </a:xfrm>
          <a:prstGeom prst="rect">
            <a:avLst/>
          </a:prstGeom>
          <a:noFill/>
        </p:spPr>
        <p:txBody>
          <a:bodyPr wrap="none" lIns="0" tIns="0" rIns="0" bIns="0">
            <a:spAutoFit/>
          </a:bodyPr>
          <a:lstStyle/>
          <a:p>
            <a:r>
              <a:rPr sz="791" b="1">
                <a:solidFill>
                  <a:srgbClr val="2E2E2E"/>
                </a:solidFill>
                <a:latin typeface="Calibri"/>
              </a:rPr>
              <a:t>Senior Dogs</a:t>
            </a:r>
          </a:p>
        </p:txBody>
      </p:sp>
      <p:pic>
        <p:nvPicPr>
          <p:cNvPr id="74" name="Picture 73" descr="lock.png"/>
          <p:cNvPicPr>
            <a:picLocks noChangeAspect="1"/>
          </p:cNvPicPr>
          <p:nvPr/>
        </p:nvPicPr>
        <p:blipFill>
          <a:blip r:embed="rId4"/>
          <a:stretch>
            <a:fillRect/>
          </a:stretch>
        </p:blipFill>
        <p:spPr>
          <a:xfrm>
            <a:off x="1771555" y="6066361"/>
            <a:ext cx="92663" cy="134782"/>
          </a:xfrm>
          <a:prstGeom prst="rect">
            <a:avLst/>
          </a:prstGeom>
        </p:spPr>
      </p:pic>
      <p:sp>
        <p:nvSpPr>
          <p:cNvPr id="75" name="TextBox 74"/>
          <p:cNvSpPr txBox="1"/>
          <p:nvPr/>
        </p:nvSpPr>
        <p:spPr>
          <a:xfrm>
            <a:off x="674489" y="6254466"/>
            <a:ext cx="1190505" cy="139750"/>
          </a:xfrm>
          <a:prstGeom prst="rect">
            <a:avLst/>
          </a:prstGeom>
          <a:noFill/>
        </p:spPr>
        <p:txBody>
          <a:bodyPr wrap="none" lIns="0" tIns="0" rIns="0" bIns="0">
            <a:spAutoFit/>
          </a:bodyPr>
          <a:lstStyle/>
          <a:p>
            <a:r>
              <a:rPr sz="791" b="1">
                <a:solidFill>
                  <a:srgbClr val="2E2E2E"/>
                </a:solidFill>
                <a:latin typeface="Calibri"/>
              </a:rPr>
              <a:t>Veterinary-Guided Cognitive</a:t>
            </a:r>
          </a:p>
        </p:txBody>
      </p:sp>
      <p:sp>
        <p:nvSpPr>
          <p:cNvPr id="76" name="TextBox 75"/>
          <p:cNvSpPr txBox="1"/>
          <p:nvPr/>
        </p:nvSpPr>
        <p:spPr>
          <a:xfrm>
            <a:off x="895987" y="6375166"/>
            <a:ext cx="934307" cy="139750"/>
          </a:xfrm>
          <a:prstGeom prst="rect">
            <a:avLst/>
          </a:prstGeom>
          <a:noFill/>
        </p:spPr>
        <p:txBody>
          <a:bodyPr wrap="none" lIns="0" tIns="0" rIns="0" bIns="0">
            <a:spAutoFit/>
          </a:bodyPr>
          <a:lstStyle/>
          <a:p>
            <a:r>
              <a:rPr sz="791" b="1">
                <a:solidFill>
                  <a:srgbClr val="2E2E2E"/>
                </a:solidFill>
                <a:latin typeface="Calibri"/>
              </a:rPr>
              <a:t>Dysfunction Support</a:t>
            </a:r>
          </a:p>
        </p:txBody>
      </p:sp>
      <p:pic>
        <p:nvPicPr>
          <p:cNvPr id="77" name="Picture 76" descr="lock.png"/>
          <p:cNvPicPr>
            <a:picLocks noChangeAspect="1"/>
          </p:cNvPicPr>
          <p:nvPr/>
        </p:nvPicPr>
        <p:blipFill>
          <a:blip r:embed="rId4"/>
          <a:stretch>
            <a:fillRect/>
          </a:stretch>
        </p:blipFill>
        <p:spPr>
          <a:xfrm>
            <a:off x="1771555" y="6368125"/>
            <a:ext cx="92663" cy="134782"/>
          </a:xfrm>
          <a:prstGeom prst="rect">
            <a:avLst/>
          </a:prstGeom>
        </p:spPr>
      </p:pic>
      <p:sp>
        <p:nvSpPr>
          <p:cNvPr id="78" name="TextBox 77"/>
          <p:cNvSpPr txBox="1"/>
          <p:nvPr/>
        </p:nvSpPr>
        <p:spPr>
          <a:xfrm>
            <a:off x="5972175" y="4110746"/>
            <a:ext cx="759966" cy="186689"/>
          </a:xfrm>
          <a:prstGeom prst="rect">
            <a:avLst/>
          </a:prstGeom>
          <a:noFill/>
        </p:spPr>
        <p:txBody>
          <a:bodyPr wrap="none" lIns="0" tIns="0" rIns="0" bIns="0">
            <a:spAutoFit/>
          </a:bodyPr>
          <a:lstStyle/>
          <a:p>
            <a:r>
              <a:rPr sz="1100" b="1">
                <a:solidFill>
                  <a:srgbClr val="2E2E2E"/>
                </a:solidFill>
                <a:latin typeface="Calibri"/>
              </a:rPr>
              <a:t>Antioxidant</a:t>
            </a:r>
          </a:p>
        </p:txBody>
      </p:sp>
      <p:sp>
        <p:nvSpPr>
          <p:cNvPr id="79" name="TextBox 78"/>
          <p:cNvSpPr txBox="1"/>
          <p:nvPr/>
        </p:nvSpPr>
        <p:spPr>
          <a:xfrm>
            <a:off x="5972175" y="4278386"/>
            <a:ext cx="734045" cy="186689"/>
          </a:xfrm>
          <a:prstGeom prst="rect">
            <a:avLst/>
          </a:prstGeom>
          <a:noFill/>
        </p:spPr>
        <p:txBody>
          <a:bodyPr wrap="none" lIns="0" tIns="0" rIns="0" bIns="0">
            <a:spAutoFit/>
          </a:bodyPr>
          <a:lstStyle/>
          <a:p>
            <a:r>
              <a:rPr sz="1100" b="1">
                <a:solidFill>
                  <a:srgbClr val="2E2E2E"/>
                </a:solidFill>
                <a:latin typeface="Calibri"/>
              </a:rPr>
              <a:t>Ingredients</a:t>
            </a:r>
          </a:p>
        </p:txBody>
      </p:sp>
      <p:pic>
        <p:nvPicPr>
          <p:cNvPr id="80" name="Picture 79" descr="lock.png"/>
          <p:cNvPicPr>
            <a:picLocks noChangeAspect="1"/>
          </p:cNvPicPr>
          <p:nvPr/>
        </p:nvPicPr>
        <p:blipFill>
          <a:blip r:embed="rId4"/>
          <a:stretch>
            <a:fillRect/>
          </a:stretch>
        </p:blipFill>
        <p:spPr>
          <a:xfrm>
            <a:off x="6654271" y="4268607"/>
            <a:ext cx="128699" cy="187198"/>
          </a:xfrm>
          <a:prstGeom prst="rect">
            <a:avLst/>
          </a:prstGeom>
        </p:spPr>
      </p:pic>
      <p:sp>
        <p:nvSpPr>
          <p:cNvPr id="81" name="TextBox 80"/>
          <p:cNvSpPr txBox="1"/>
          <p:nvPr/>
        </p:nvSpPr>
        <p:spPr>
          <a:xfrm>
            <a:off x="5972175" y="4678959"/>
            <a:ext cx="1362075" cy="179984"/>
          </a:xfrm>
          <a:prstGeom prst="rect">
            <a:avLst/>
          </a:prstGeom>
          <a:noFill/>
        </p:spPr>
        <p:txBody>
          <a:bodyPr wrap="none" lIns="0" tIns="0" rIns="0" bIns="0">
            <a:spAutoFit/>
          </a:bodyPr>
          <a:lstStyle/>
          <a:p>
            <a:r>
              <a:rPr sz="1055" b="1">
                <a:solidFill>
                  <a:srgbClr val="2E2E2E"/>
                </a:solidFill>
                <a:latin typeface="Calibri"/>
              </a:rPr>
              <a:t>Cellular Energy Support</a:t>
            </a:r>
          </a:p>
        </p:txBody>
      </p:sp>
      <p:sp>
        <p:nvSpPr>
          <p:cNvPr id="82" name="TextBox 81"/>
          <p:cNvSpPr txBox="1"/>
          <p:nvPr/>
        </p:nvSpPr>
        <p:spPr>
          <a:xfrm>
            <a:off x="5972175" y="4839893"/>
            <a:ext cx="707731" cy="179984"/>
          </a:xfrm>
          <a:prstGeom prst="rect">
            <a:avLst/>
          </a:prstGeom>
          <a:noFill/>
        </p:spPr>
        <p:txBody>
          <a:bodyPr wrap="none" lIns="0" tIns="0" rIns="0" bIns="0">
            <a:spAutoFit/>
          </a:bodyPr>
          <a:lstStyle/>
          <a:p>
            <a:r>
              <a:rPr sz="1055" b="1">
                <a:solidFill>
                  <a:srgbClr val="2E2E2E"/>
                </a:solidFill>
                <a:latin typeface="Calibri"/>
              </a:rPr>
              <a:t>Ingredients</a:t>
            </a:r>
          </a:p>
        </p:txBody>
      </p:sp>
      <p:pic>
        <p:nvPicPr>
          <p:cNvPr id="83" name="Picture 82" descr="lock.png"/>
          <p:cNvPicPr>
            <a:picLocks noChangeAspect="1"/>
          </p:cNvPicPr>
          <p:nvPr/>
        </p:nvPicPr>
        <p:blipFill>
          <a:blip r:embed="rId4"/>
          <a:stretch>
            <a:fillRect/>
          </a:stretch>
        </p:blipFill>
        <p:spPr>
          <a:xfrm>
            <a:off x="6626987" y="4830505"/>
            <a:ext cx="123551" cy="179710"/>
          </a:xfrm>
          <a:prstGeom prst="rect">
            <a:avLst/>
          </a:prstGeom>
        </p:spPr>
      </p:pic>
      <p:sp>
        <p:nvSpPr>
          <p:cNvPr id="84" name="TextBox 83"/>
          <p:cNvSpPr txBox="1"/>
          <p:nvPr/>
        </p:nvSpPr>
        <p:spPr>
          <a:xfrm>
            <a:off x="5972175" y="5240724"/>
            <a:ext cx="1176129" cy="173278"/>
          </a:xfrm>
          <a:prstGeom prst="rect">
            <a:avLst/>
          </a:prstGeom>
          <a:noFill/>
        </p:spPr>
        <p:txBody>
          <a:bodyPr wrap="none" lIns="0" tIns="0" rIns="0" bIns="0">
            <a:spAutoFit/>
          </a:bodyPr>
          <a:lstStyle/>
          <a:p>
            <a:r>
              <a:rPr sz="1011" b="1">
                <a:solidFill>
                  <a:srgbClr val="2E2E2E"/>
                </a:solidFill>
                <a:latin typeface="Calibri"/>
              </a:rPr>
              <a:t>Omega-3 Fatty Acids</a:t>
            </a:r>
          </a:p>
        </p:txBody>
      </p:sp>
      <p:pic>
        <p:nvPicPr>
          <p:cNvPr id="85" name="Picture 84" descr="lock.png"/>
          <p:cNvPicPr>
            <a:picLocks noChangeAspect="1"/>
          </p:cNvPicPr>
          <p:nvPr/>
        </p:nvPicPr>
        <p:blipFill>
          <a:blip r:embed="rId4"/>
          <a:stretch>
            <a:fillRect/>
          </a:stretch>
        </p:blipFill>
        <p:spPr>
          <a:xfrm>
            <a:off x="7094416" y="5231727"/>
            <a:ext cx="118403" cy="172222"/>
          </a:xfrm>
          <a:prstGeom prst="rect">
            <a:avLst/>
          </a:prstGeom>
        </p:spPr>
      </p:pic>
      <p:sp>
        <p:nvSpPr>
          <p:cNvPr id="86" name="TextBox 85"/>
          <p:cNvSpPr txBox="1"/>
          <p:nvPr/>
        </p:nvSpPr>
        <p:spPr>
          <a:xfrm>
            <a:off x="5972175" y="5587542"/>
            <a:ext cx="1092080" cy="153161"/>
          </a:xfrm>
          <a:prstGeom prst="rect">
            <a:avLst/>
          </a:prstGeom>
          <a:noFill/>
        </p:spPr>
        <p:txBody>
          <a:bodyPr wrap="none" lIns="0" tIns="0" rIns="0" bIns="0">
            <a:spAutoFit/>
          </a:bodyPr>
          <a:lstStyle/>
          <a:p>
            <a:r>
              <a:rPr sz="879" b="1">
                <a:solidFill>
                  <a:srgbClr val="2E2E2E"/>
                </a:solidFill>
                <a:latin typeface="Calibri"/>
              </a:rPr>
              <a:t>Microbiome-Targeted</a:t>
            </a:r>
          </a:p>
        </p:txBody>
      </p:sp>
      <p:sp>
        <p:nvSpPr>
          <p:cNvPr id="87" name="TextBox 86"/>
          <p:cNvSpPr txBox="1"/>
          <p:nvPr/>
        </p:nvSpPr>
        <p:spPr>
          <a:xfrm>
            <a:off x="5972175" y="5721654"/>
            <a:ext cx="602476" cy="153161"/>
          </a:xfrm>
          <a:prstGeom prst="rect">
            <a:avLst/>
          </a:prstGeom>
          <a:noFill/>
        </p:spPr>
        <p:txBody>
          <a:bodyPr wrap="none" lIns="0" tIns="0" rIns="0" bIns="0">
            <a:spAutoFit/>
          </a:bodyPr>
          <a:lstStyle/>
          <a:p>
            <a:r>
              <a:rPr sz="879" b="1">
                <a:solidFill>
                  <a:srgbClr val="2E2E2E"/>
                </a:solidFill>
                <a:latin typeface="Calibri"/>
              </a:rPr>
              <a:t>Ingredients</a:t>
            </a:r>
          </a:p>
        </p:txBody>
      </p:sp>
      <p:pic>
        <p:nvPicPr>
          <p:cNvPr id="88" name="Picture 87" descr="lock.png"/>
          <p:cNvPicPr>
            <a:picLocks noChangeAspect="1"/>
          </p:cNvPicPr>
          <p:nvPr/>
        </p:nvPicPr>
        <p:blipFill>
          <a:blip r:embed="rId4"/>
          <a:stretch>
            <a:fillRect/>
          </a:stretch>
        </p:blipFill>
        <p:spPr>
          <a:xfrm>
            <a:off x="6517852" y="5713831"/>
            <a:ext cx="102959" cy="149758"/>
          </a:xfrm>
          <a:prstGeom prst="rect">
            <a:avLst/>
          </a:prstGeom>
        </p:spPr>
      </p:pic>
      <p:sp>
        <p:nvSpPr>
          <p:cNvPr id="89" name="TextBox 88"/>
          <p:cNvSpPr txBox="1"/>
          <p:nvPr/>
        </p:nvSpPr>
        <p:spPr>
          <a:xfrm>
            <a:off x="5972175" y="6011407"/>
            <a:ext cx="1160053" cy="166573"/>
          </a:xfrm>
          <a:prstGeom prst="rect">
            <a:avLst/>
          </a:prstGeom>
          <a:noFill/>
        </p:spPr>
        <p:txBody>
          <a:bodyPr wrap="none" lIns="0" tIns="0" rIns="0" bIns="0">
            <a:spAutoFit/>
          </a:bodyPr>
          <a:lstStyle/>
          <a:p>
            <a:r>
              <a:rPr sz="968" b="1">
                <a:solidFill>
                  <a:srgbClr val="2E2E2E"/>
                </a:solidFill>
                <a:latin typeface="Calibri"/>
              </a:rPr>
              <a:t>Botanical Ingredients</a:t>
            </a:r>
          </a:p>
        </p:txBody>
      </p:sp>
      <p:pic>
        <p:nvPicPr>
          <p:cNvPr id="90" name="Picture 89" descr="lock.png"/>
          <p:cNvPicPr>
            <a:picLocks noChangeAspect="1"/>
          </p:cNvPicPr>
          <p:nvPr/>
        </p:nvPicPr>
        <p:blipFill>
          <a:blip r:embed="rId4"/>
          <a:stretch>
            <a:fillRect/>
          </a:stretch>
        </p:blipFill>
        <p:spPr>
          <a:xfrm>
            <a:off x="7077370" y="6002801"/>
            <a:ext cx="113255" cy="164734"/>
          </a:xfrm>
          <a:prstGeom prst="rect">
            <a:avLst/>
          </a:prstGeom>
        </p:spPr>
      </p:pic>
      <p:sp>
        <p:nvSpPr>
          <p:cNvPr id="91" name="TextBox 90"/>
          <p:cNvSpPr txBox="1"/>
          <p:nvPr/>
        </p:nvSpPr>
        <p:spPr>
          <a:xfrm>
            <a:off x="5972175" y="6345370"/>
            <a:ext cx="1179284" cy="139750"/>
          </a:xfrm>
          <a:prstGeom prst="rect">
            <a:avLst/>
          </a:prstGeom>
          <a:noFill/>
        </p:spPr>
        <p:txBody>
          <a:bodyPr wrap="none" lIns="0" tIns="0" rIns="0" bIns="0">
            <a:spAutoFit/>
          </a:bodyPr>
          <a:lstStyle/>
          <a:p>
            <a:r>
              <a:rPr sz="791" b="1">
                <a:solidFill>
                  <a:srgbClr val="2E2E2E"/>
                </a:solidFill>
                <a:latin typeface="Calibri"/>
              </a:rPr>
              <a:t>Neurofunctional Nutrients</a:t>
            </a:r>
          </a:p>
        </p:txBody>
      </p:sp>
      <p:pic>
        <p:nvPicPr>
          <p:cNvPr id="92" name="Picture 91" descr="lock.png"/>
          <p:cNvPicPr>
            <a:picLocks noChangeAspect="1"/>
          </p:cNvPicPr>
          <p:nvPr/>
        </p:nvPicPr>
        <p:blipFill>
          <a:blip r:embed="rId4"/>
          <a:stretch>
            <a:fillRect/>
          </a:stretch>
        </p:blipFill>
        <p:spPr>
          <a:xfrm>
            <a:off x="7092720" y="6338329"/>
            <a:ext cx="92663" cy="134782"/>
          </a:xfrm>
          <a:prstGeom prst="rect">
            <a:avLst/>
          </a:prstGeom>
        </p:spPr>
      </p:pic>
      <p:sp>
        <p:nvSpPr>
          <p:cNvPr id="93" name="TextBox 92"/>
          <p:cNvSpPr txBox="1"/>
          <p:nvPr/>
        </p:nvSpPr>
        <p:spPr>
          <a:xfrm>
            <a:off x="7715250" y="4114800"/>
            <a:ext cx="3750964" cy="186689"/>
          </a:xfrm>
          <a:prstGeom prst="rect">
            <a:avLst/>
          </a:prstGeom>
          <a:noFill/>
        </p:spPr>
        <p:txBody>
          <a:bodyPr wrap="none" lIns="0" tIns="0" rIns="0" bIns="0">
            <a:spAutoFit/>
          </a:bodyPr>
          <a:lstStyle/>
          <a:p>
            <a:r>
              <a:rPr sz="1100" b="0">
                <a:solidFill>
                  <a:srgbClr val="2E2E2E"/>
                </a:solidFill>
                <a:latin typeface="Calibri"/>
              </a:rPr>
              <a:t>Support for observable age-related cognitive changes segment is</a:t>
            </a:r>
          </a:p>
        </p:txBody>
      </p:sp>
      <p:sp>
        <p:nvSpPr>
          <p:cNvPr id="94" name="TextBox 93"/>
          <p:cNvSpPr txBox="1"/>
          <p:nvPr/>
        </p:nvSpPr>
        <p:spPr>
          <a:xfrm>
            <a:off x="7715250" y="4282440"/>
            <a:ext cx="3877022" cy="186689"/>
          </a:xfrm>
          <a:prstGeom prst="rect">
            <a:avLst/>
          </a:prstGeom>
          <a:noFill/>
        </p:spPr>
        <p:txBody>
          <a:bodyPr wrap="none" lIns="0" tIns="0" rIns="0" bIns="0">
            <a:spAutoFit/>
          </a:bodyPr>
          <a:lstStyle/>
          <a:p>
            <a:r>
              <a:rPr sz="1100" b="0">
                <a:solidFill>
                  <a:srgbClr val="2E2E2E"/>
                </a:solidFill>
                <a:latin typeface="Calibri"/>
              </a:rPr>
              <a:t>projected to account for the largest share of the Europe senior dog</a:t>
            </a:r>
          </a:p>
        </p:txBody>
      </p:sp>
      <p:sp>
        <p:nvSpPr>
          <p:cNvPr id="95" name="TextBox 94"/>
          <p:cNvSpPr txBox="1"/>
          <p:nvPr/>
        </p:nvSpPr>
        <p:spPr>
          <a:xfrm>
            <a:off x="7715250" y="4450080"/>
            <a:ext cx="3902397" cy="186689"/>
          </a:xfrm>
          <a:prstGeom prst="rect">
            <a:avLst/>
          </a:prstGeom>
          <a:noFill/>
        </p:spPr>
        <p:txBody>
          <a:bodyPr wrap="none" lIns="0" tIns="0" rIns="0" bIns="0">
            <a:spAutoFit/>
          </a:bodyPr>
          <a:lstStyle/>
          <a:p>
            <a:r>
              <a:rPr sz="1100" b="0">
                <a:solidFill>
                  <a:srgbClr val="2E2E2E"/>
                </a:solidFill>
                <a:latin typeface="Calibri"/>
              </a:rPr>
              <a:t>cognitive supplement market, led by antioxidant ingredients at US$</a:t>
            </a:r>
          </a:p>
        </p:txBody>
      </p:sp>
      <p:pic>
        <p:nvPicPr>
          <p:cNvPr id="96" name="Picture 95" descr="lock.png"/>
          <p:cNvPicPr>
            <a:picLocks noChangeAspect="1"/>
          </p:cNvPicPr>
          <p:nvPr/>
        </p:nvPicPr>
        <p:blipFill>
          <a:blip r:embed="rId4"/>
          <a:stretch>
            <a:fillRect/>
          </a:stretch>
        </p:blipFill>
        <p:spPr>
          <a:xfrm>
            <a:off x="7701782" y="4607941"/>
            <a:ext cx="128699" cy="187198"/>
          </a:xfrm>
          <a:prstGeom prst="rect">
            <a:avLst/>
          </a:prstGeom>
        </p:spPr>
      </p:pic>
      <p:sp>
        <p:nvSpPr>
          <p:cNvPr id="97" name="TextBox 96"/>
          <p:cNvSpPr txBox="1"/>
          <p:nvPr/>
        </p:nvSpPr>
        <p:spPr>
          <a:xfrm>
            <a:off x="7869278" y="4617720"/>
            <a:ext cx="3943052" cy="186689"/>
          </a:xfrm>
          <a:prstGeom prst="rect">
            <a:avLst/>
          </a:prstGeom>
          <a:noFill/>
        </p:spPr>
        <p:txBody>
          <a:bodyPr wrap="none" lIns="0" tIns="0" rIns="0" bIns="0">
            <a:spAutoFit/>
          </a:bodyPr>
          <a:lstStyle/>
          <a:p>
            <a:r>
              <a:rPr sz="1100" b="0">
                <a:solidFill>
                  <a:srgbClr val="2E2E2E"/>
                </a:solidFill>
                <a:latin typeface="Calibri"/>
              </a:rPr>
              <a:t>Mn in 2036. 'Support for Observable Age-Related Cognitive Changes</a:t>
            </a:r>
          </a:p>
        </p:txBody>
      </p:sp>
      <p:sp>
        <p:nvSpPr>
          <p:cNvPr id="98" name="TextBox 97"/>
          <p:cNvSpPr txBox="1"/>
          <p:nvPr/>
        </p:nvSpPr>
        <p:spPr>
          <a:xfrm>
            <a:off x="7715250" y="4785360"/>
            <a:ext cx="3831456" cy="186689"/>
          </a:xfrm>
          <a:prstGeom prst="rect">
            <a:avLst/>
          </a:prstGeom>
          <a:noFill/>
        </p:spPr>
        <p:txBody>
          <a:bodyPr wrap="none" lIns="0" tIns="0" rIns="0" bIns="0">
            <a:spAutoFit/>
          </a:bodyPr>
          <a:lstStyle/>
          <a:p>
            <a:r>
              <a:rPr sz="1100" b="0">
                <a:solidFill>
                  <a:srgbClr val="2E2E2E"/>
                </a:solidFill>
                <a:latin typeface="Calibri"/>
              </a:rPr>
              <a:t>× Antioxidant Ingredients' is the single largest cross-sectional cell (</a:t>
            </a:r>
          </a:p>
        </p:txBody>
      </p:sp>
      <p:pic>
        <p:nvPicPr>
          <p:cNvPr id="99" name="Picture 98" descr="lock.png"/>
          <p:cNvPicPr>
            <a:picLocks noChangeAspect="1"/>
          </p:cNvPicPr>
          <p:nvPr/>
        </p:nvPicPr>
        <p:blipFill>
          <a:blip r:embed="rId4"/>
          <a:stretch>
            <a:fillRect/>
          </a:stretch>
        </p:blipFill>
        <p:spPr>
          <a:xfrm>
            <a:off x="11494757" y="4775581"/>
            <a:ext cx="128699" cy="187198"/>
          </a:xfrm>
          <a:prstGeom prst="rect">
            <a:avLst/>
          </a:prstGeom>
        </p:spPr>
      </p:pic>
      <p:sp>
        <p:nvSpPr>
          <p:cNvPr id="100" name="TextBox 99"/>
          <p:cNvSpPr txBox="1"/>
          <p:nvPr/>
        </p:nvSpPr>
        <p:spPr>
          <a:xfrm>
            <a:off x="7715250" y="4953000"/>
            <a:ext cx="4171950" cy="186689"/>
          </a:xfrm>
          <a:prstGeom prst="rect">
            <a:avLst/>
          </a:prstGeom>
          <a:noFill/>
        </p:spPr>
        <p:txBody>
          <a:bodyPr wrap="none" lIns="0" tIns="0" rIns="0" bIns="0">
            <a:spAutoFit/>
          </a:bodyPr>
          <a:lstStyle/>
          <a:p>
            <a:r>
              <a:rPr sz="1100" b="0">
                <a:solidFill>
                  <a:srgbClr val="2E2E2E"/>
                </a:solidFill>
                <a:latin typeface="Calibri"/>
              </a:rPr>
              <a:t>US$ Mn, 2026E), while 'Veterinary-Guided Cognitive Dysfunction Support</a:t>
            </a:r>
          </a:p>
        </p:txBody>
      </p:sp>
      <p:sp>
        <p:nvSpPr>
          <p:cNvPr id="101" name="TextBox 100"/>
          <p:cNvSpPr txBox="1"/>
          <p:nvPr/>
        </p:nvSpPr>
        <p:spPr>
          <a:xfrm>
            <a:off x="7715250" y="5120640"/>
            <a:ext cx="3820797" cy="186689"/>
          </a:xfrm>
          <a:prstGeom prst="rect">
            <a:avLst/>
          </a:prstGeom>
          <a:noFill/>
        </p:spPr>
        <p:txBody>
          <a:bodyPr wrap="none" lIns="0" tIns="0" rIns="0" bIns="0">
            <a:spAutoFit/>
          </a:bodyPr>
          <a:lstStyle/>
          <a:p>
            <a:r>
              <a:rPr sz="1100" b="0">
                <a:solidFill>
                  <a:srgbClr val="2E2E2E"/>
                </a:solidFill>
                <a:latin typeface="Calibri"/>
              </a:rPr>
              <a:t>× Antioxidant Ingredients' records the fastest growth at a CAGR of</a:t>
            </a:r>
          </a:p>
        </p:txBody>
      </p:sp>
      <p:pic>
        <p:nvPicPr>
          <p:cNvPr id="102" name="Picture 101" descr="lock.png"/>
          <p:cNvPicPr>
            <a:picLocks noChangeAspect="1"/>
          </p:cNvPicPr>
          <p:nvPr/>
        </p:nvPicPr>
        <p:blipFill>
          <a:blip r:embed="rId4"/>
          <a:stretch>
            <a:fillRect/>
          </a:stretch>
        </p:blipFill>
        <p:spPr>
          <a:xfrm>
            <a:off x="11484099" y="5110861"/>
            <a:ext cx="128699" cy="187198"/>
          </a:xfrm>
          <a:prstGeom prst="rect">
            <a:avLst/>
          </a:prstGeom>
        </p:spPr>
      </p:pic>
      <p:sp>
        <p:nvSpPr>
          <p:cNvPr id="103" name="TextBox 102"/>
          <p:cNvSpPr txBox="1"/>
          <p:nvPr/>
        </p:nvSpPr>
        <p:spPr>
          <a:xfrm>
            <a:off x="7715250" y="5288280"/>
            <a:ext cx="1167401" cy="186689"/>
          </a:xfrm>
          <a:prstGeom prst="rect">
            <a:avLst/>
          </a:prstGeom>
          <a:noFill/>
        </p:spPr>
        <p:txBody>
          <a:bodyPr wrap="none" lIns="0" tIns="0" rIns="0" bIns="0">
            <a:spAutoFit/>
          </a:bodyPr>
          <a:lstStyle/>
          <a:p>
            <a:r>
              <a:rPr sz="1100" b="0">
                <a:solidFill>
                  <a:srgbClr val="2E2E2E"/>
                </a:solidFill>
                <a:latin typeface="Calibri"/>
              </a:rPr>
              <a:t>over 2026E–2036F.</a:t>
            </a:r>
          </a:p>
        </p:txBody>
      </p:sp>
      <p:sp>
        <p:nvSpPr>
          <p:cNvPr id="104" name="TextBox 103"/>
          <p:cNvSpPr txBox="1"/>
          <p:nvPr/>
        </p:nvSpPr>
        <p:spPr>
          <a:xfrm>
            <a:off x="7715250" y="5506212"/>
            <a:ext cx="3997349" cy="186689"/>
          </a:xfrm>
          <a:prstGeom prst="rect">
            <a:avLst/>
          </a:prstGeom>
          <a:noFill/>
        </p:spPr>
        <p:txBody>
          <a:bodyPr wrap="none" lIns="0" tIns="0" rIns="0" bIns="0">
            <a:spAutoFit/>
          </a:bodyPr>
          <a:lstStyle/>
          <a:p>
            <a:r>
              <a:rPr sz="1100" b="0">
                <a:solidFill>
                  <a:srgbClr val="2E2E2E"/>
                </a:solidFill>
                <a:latin typeface="Calibri"/>
              </a:rPr>
              <a:t>Combined, the top three end-use application × active ingredient cells</a:t>
            </a:r>
          </a:p>
        </p:txBody>
      </p:sp>
      <p:sp>
        <p:nvSpPr>
          <p:cNvPr id="105" name="TextBox 104"/>
          <p:cNvSpPr txBox="1"/>
          <p:nvPr/>
        </p:nvSpPr>
        <p:spPr>
          <a:xfrm>
            <a:off x="7715250" y="5673852"/>
            <a:ext cx="2242095" cy="186689"/>
          </a:xfrm>
          <a:prstGeom prst="rect">
            <a:avLst/>
          </a:prstGeom>
          <a:noFill/>
        </p:spPr>
        <p:txBody>
          <a:bodyPr wrap="none" lIns="0" tIns="0" rIns="0" bIns="0">
            <a:spAutoFit/>
          </a:bodyPr>
          <a:lstStyle/>
          <a:p>
            <a:r>
              <a:rPr sz="1100" b="0">
                <a:solidFill>
                  <a:srgbClr val="2E2E2E"/>
                </a:solidFill>
                <a:latin typeface="Calibri"/>
              </a:rPr>
              <a:t>generate an absolute $ opportunity of</a:t>
            </a:r>
          </a:p>
        </p:txBody>
      </p:sp>
      <p:pic>
        <p:nvPicPr>
          <p:cNvPr id="106" name="Picture 105" descr="lock.png"/>
          <p:cNvPicPr>
            <a:picLocks noChangeAspect="1"/>
          </p:cNvPicPr>
          <p:nvPr/>
        </p:nvPicPr>
        <p:blipFill>
          <a:blip r:embed="rId4"/>
          <a:stretch>
            <a:fillRect/>
          </a:stretch>
        </p:blipFill>
        <p:spPr>
          <a:xfrm>
            <a:off x="9905397" y="5664073"/>
            <a:ext cx="128699" cy="187198"/>
          </a:xfrm>
          <a:prstGeom prst="rect">
            <a:avLst/>
          </a:prstGeom>
        </p:spPr>
      </p:pic>
      <p:sp>
        <p:nvSpPr>
          <p:cNvPr id="107" name="TextBox 106"/>
          <p:cNvSpPr txBox="1"/>
          <p:nvPr/>
        </p:nvSpPr>
        <p:spPr>
          <a:xfrm>
            <a:off x="10072893" y="5673852"/>
            <a:ext cx="1108465" cy="186689"/>
          </a:xfrm>
          <a:prstGeom prst="rect">
            <a:avLst/>
          </a:prstGeom>
          <a:noFill/>
        </p:spPr>
        <p:txBody>
          <a:bodyPr wrap="none" lIns="0" tIns="0" rIns="0" bIns="0">
            <a:spAutoFit/>
          </a:bodyPr>
          <a:lstStyle/>
          <a:p>
            <a:r>
              <a:rPr sz="1100" b="0">
                <a:solidFill>
                  <a:srgbClr val="2E2E2E"/>
                </a:solidFill>
                <a:latin typeface="Calibri"/>
              </a:rPr>
              <a:t>US$ Mn by 2036F.</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Share Analysis: End-use Application × Active Ingredient, 2026E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 share of Europe market value, each row split across all active ingredient sub-segments</a:t>
            </a:r>
          </a:p>
        </p:txBody>
      </p:sp>
      <p:sp>
        <p:nvSpPr>
          <p:cNvPr id="10" name="Rounded Rectangle 9"/>
          <p:cNvSpPr/>
          <p:nvPr/>
        </p:nvSpPr>
        <p:spPr>
          <a:xfrm>
            <a:off x="142875" y="9810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Share, End-use Application × Active Ingredient, 2026E (% of each row)</a:t>
            </a:r>
          </a:p>
        </p:txBody>
      </p:sp>
      <p:graphicFrame>
        <p:nvGraphicFramePr>
          <p:cNvPr id="12" name="Table 11"/>
          <p:cNvGraphicFramePr>
            <a:graphicFrameLocks noGrp="1"/>
          </p:cNvGraphicFramePr>
          <p:nvPr/>
        </p:nvGraphicFramePr>
        <p:xfrm>
          <a:off x="152400" y="1238250"/>
          <a:ext cx="11887200" cy="1866897"/>
        </p:xfrm>
        <a:graphic>
          <a:graphicData uri="http://schemas.openxmlformats.org/drawingml/2006/table">
            <a:tbl>
              <a:tblPr>
                <a:tableStyleId>{5C22544A-7EE6-4342-B048-85BDC9FD1C3A}</a:tableStyleId>
              </a:tblPr>
              <a:tblGrid>
                <a:gridCol w="3413450">
                  <a:extLst>
                    <a:ext uri="{9D8B030D-6E8A-4147-A177-3AD203B41FA5}">
                      <a16:colId xmlns:a16="http://schemas.microsoft.com/office/drawing/2014/main" val="20000"/>
                    </a:ext>
                  </a:extLst>
                </a:gridCol>
                <a:gridCol w="1002136">
                  <a:extLst>
                    <a:ext uri="{9D8B030D-6E8A-4147-A177-3AD203B41FA5}">
                      <a16:colId xmlns:a16="http://schemas.microsoft.com/office/drawing/2014/main" val="20001"/>
                    </a:ext>
                  </a:extLst>
                </a:gridCol>
                <a:gridCol w="1209278">
                  <a:extLst>
                    <a:ext uri="{9D8B030D-6E8A-4147-A177-3AD203B41FA5}">
                      <a16:colId xmlns:a16="http://schemas.microsoft.com/office/drawing/2014/main" val="20002"/>
                    </a:ext>
                  </a:extLst>
                </a:gridCol>
                <a:gridCol w="1427255">
                  <a:extLst>
                    <a:ext uri="{9D8B030D-6E8A-4147-A177-3AD203B41FA5}">
                      <a16:colId xmlns:a16="http://schemas.microsoft.com/office/drawing/2014/main" val="20003"/>
                    </a:ext>
                  </a:extLst>
                </a:gridCol>
                <a:gridCol w="1592151">
                  <a:extLst>
                    <a:ext uri="{9D8B030D-6E8A-4147-A177-3AD203B41FA5}">
                      <a16:colId xmlns:a16="http://schemas.microsoft.com/office/drawing/2014/main" val="20004"/>
                    </a:ext>
                  </a:extLst>
                </a:gridCol>
                <a:gridCol w="1117668">
                  <a:extLst>
                    <a:ext uri="{9D8B030D-6E8A-4147-A177-3AD203B41FA5}">
                      <a16:colId xmlns:a16="http://schemas.microsoft.com/office/drawing/2014/main" val="20005"/>
                    </a:ext>
                  </a:extLst>
                </a:gridCol>
                <a:gridCol w="1581456">
                  <a:extLst>
                    <a:ext uri="{9D8B030D-6E8A-4147-A177-3AD203B41FA5}">
                      <a16:colId xmlns:a16="http://schemas.microsoft.com/office/drawing/2014/main" val="20006"/>
                    </a:ext>
                  </a:extLst>
                </a:gridCol>
                <a:gridCol w="543806">
                  <a:extLst>
                    <a:ext uri="{9D8B030D-6E8A-4147-A177-3AD203B41FA5}">
                      <a16:colId xmlns:a16="http://schemas.microsoft.com/office/drawing/2014/main" val="20007"/>
                    </a:ext>
                  </a:extLst>
                </a:gridCol>
              </a:tblGrid>
              <a:tr h="631697">
                <a:tc>
                  <a:txBody>
                    <a:bodyPr/>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a:txBody>
                    <a:bodyPr/>
                    <a:lstStyle/>
                    <a:p>
                      <a:pPr algn="ctr"/>
                      <a:r>
                        <a:rPr sz="1100" b="1">
                          <a:solidFill>
                            <a:srgbClr val="0B2E4A"/>
                          </a:solidFill>
                          <a:latin typeface="Calibri"/>
                        </a:rPr>
                        <a:t>Antioxidant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Neurofunctional Nutrients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Cellular Energy Support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Microbiome-Targeted Ingredients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040">
                <a:tc>
                  <a:txBody>
                    <a:bodyPr/>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7040">
                <a:tc>
                  <a:txBody>
                    <a:bodyPr/>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7040">
                <a:tc>
                  <a:txBody>
                    <a:bodyPr/>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7040">
                <a:tc>
                  <a:txBody>
                    <a:bodyPr/>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7040">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219075" y="31146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448050"/>
            <a:ext cx="7286625"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3505200"/>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Active Ingredient Mix by End-use Application, 2026E (% share)</a:t>
            </a:r>
          </a:p>
        </p:txBody>
      </p:sp>
      <p:graphicFrame>
        <p:nvGraphicFramePr>
          <p:cNvPr id="16" name="Chart 15"/>
          <p:cNvGraphicFramePr>
            <a:graphicFrameLocks noGrp="1"/>
          </p:cNvGraphicFramePr>
          <p:nvPr/>
        </p:nvGraphicFramePr>
        <p:xfrm>
          <a:off x="238125" y="3733800"/>
          <a:ext cx="7096125" cy="2838450"/>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7581900" y="3448050"/>
            <a:ext cx="44577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15250" y="3533775"/>
            <a:ext cx="4191000" cy="209550"/>
          </a:xfrm>
          <a:prstGeom prst="rect">
            <a:avLst/>
          </a:prstGeom>
          <a:noFill/>
        </p:spPr>
        <p:txBody>
          <a:bodyPr wrap="square" lIns="0" tIns="9525" rIns="19050" bIns="9525">
            <a:spAutoFit/>
          </a:bodyPr>
          <a:lstStyle/>
          <a:p>
            <a:pPr algn="l"/>
            <a:r>
              <a:rPr sz="1300" b="1">
                <a:solidFill>
                  <a:srgbClr val="0B2E4A"/>
                </a:solidFill>
                <a:latin typeface="Calibri"/>
              </a:rPr>
              <a:t>Share Insights</a:t>
            </a:r>
          </a:p>
        </p:txBody>
      </p:sp>
      <p:sp>
        <p:nvSpPr>
          <p:cNvPr id="19" name="Rectangle 18"/>
          <p:cNvSpPr/>
          <p:nvPr/>
        </p:nvSpPr>
        <p:spPr>
          <a:xfrm>
            <a:off x="7715250" y="37719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5250" y="3857625"/>
            <a:ext cx="4191000" cy="269557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1" name="TextBox 2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616034" y="2220847"/>
            <a:ext cx="366712" cy="533400"/>
          </a:xfrm>
          <a:prstGeom prst="rect">
            <a:avLst/>
          </a:prstGeom>
        </p:spPr>
      </p:pic>
      <p:pic>
        <p:nvPicPr>
          <p:cNvPr id="23" name="Picture 22" descr="lock.png"/>
          <p:cNvPicPr>
            <a:picLocks noChangeAspect="1"/>
          </p:cNvPicPr>
          <p:nvPr/>
        </p:nvPicPr>
        <p:blipFill>
          <a:blip r:embed="rId5"/>
          <a:stretch>
            <a:fillRect/>
          </a:stretch>
        </p:blipFill>
        <p:spPr>
          <a:xfrm>
            <a:off x="3745414" y="4331036"/>
            <a:ext cx="370092" cy="538315"/>
          </a:xfrm>
          <a:prstGeom prst="rect">
            <a:avLst/>
          </a:prstGeom>
        </p:spPr>
      </p:pic>
      <p:sp>
        <p:nvSpPr>
          <p:cNvPr id="24" name="TextBox 23"/>
          <p:cNvSpPr txBox="1"/>
          <p:nvPr/>
        </p:nvSpPr>
        <p:spPr>
          <a:xfrm>
            <a:off x="7715250" y="3867150"/>
            <a:ext cx="3896035" cy="194310"/>
          </a:xfrm>
          <a:prstGeom prst="rect">
            <a:avLst/>
          </a:prstGeom>
          <a:noFill/>
        </p:spPr>
        <p:txBody>
          <a:bodyPr wrap="none" lIns="0" tIns="0" rIns="0" bIns="0">
            <a:spAutoFit/>
          </a:bodyPr>
          <a:lstStyle/>
          <a:p>
            <a:r>
              <a:rPr sz="1150" b="0">
                <a:solidFill>
                  <a:srgbClr val="2E2E2E"/>
                </a:solidFill>
                <a:latin typeface="Calibri"/>
              </a:rPr>
              <a:t>▪ 'Cellular Energy Support Ingredients' holds the highest share of</a:t>
            </a:r>
          </a:p>
        </p:txBody>
      </p:sp>
      <p:sp>
        <p:nvSpPr>
          <p:cNvPr id="25" name="TextBox 24"/>
          <p:cNvSpPr txBox="1"/>
          <p:nvPr/>
        </p:nvSpPr>
        <p:spPr>
          <a:xfrm>
            <a:off x="7715250" y="4042410"/>
            <a:ext cx="2967533" cy="194310"/>
          </a:xfrm>
          <a:prstGeom prst="rect">
            <a:avLst/>
          </a:prstGeom>
          <a:noFill/>
        </p:spPr>
        <p:txBody>
          <a:bodyPr wrap="none" lIns="0" tIns="0" rIns="0" bIns="0">
            <a:spAutoFit/>
          </a:bodyPr>
          <a:lstStyle/>
          <a:p>
            <a:r>
              <a:rPr sz="1150" b="0">
                <a:solidFill>
                  <a:srgbClr val="2E2E2E"/>
                </a:solidFill>
                <a:latin typeface="Calibri"/>
              </a:rPr>
              <a:t>'Preventive Cognitive Support for Senior Dogs' at</a:t>
            </a:r>
          </a:p>
        </p:txBody>
      </p:sp>
      <p:pic>
        <p:nvPicPr>
          <p:cNvPr id="26" name="Picture 25" descr="lock.png"/>
          <p:cNvPicPr>
            <a:picLocks noChangeAspect="1"/>
          </p:cNvPicPr>
          <p:nvPr/>
        </p:nvPicPr>
        <p:blipFill>
          <a:blip r:embed="rId5"/>
          <a:stretch>
            <a:fillRect/>
          </a:stretch>
        </p:blipFill>
        <p:spPr>
          <a:xfrm>
            <a:off x="10631937" y="4032186"/>
            <a:ext cx="134549" cy="195707"/>
          </a:xfrm>
          <a:prstGeom prst="rect">
            <a:avLst/>
          </a:prstGeom>
        </p:spPr>
      </p:pic>
      <p:sp>
        <p:nvSpPr>
          <p:cNvPr id="27" name="TextBox 26"/>
          <p:cNvSpPr txBox="1"/>
          <p:nvPr/>
        </p:nvSpPr>
        <p:spPr>
          <a:xfrm>
            <a:off x="10807046" y="4042410"/>
            <a:ext cx="569404" cy="194310"/>
          </a:xfrm>
          <a:prstGeom prst="rect">
            <a:avLst/>
          </a:prstGeom>
          <a:noFill/>
        </p:spPr>
        <p:txBody>
          <a:bodyPr wrap="none" lIns="0" tIns="0" rIns="0" bIns="0">
            <a:spAutoFit/>
          </a:bodyPr>
          <a:lstStyle/>
          <a:p>
            <a:r>
              <a:rPr sz="1150" b="0">
                <a:solidFill>
                  <a:srgbClr val="2E2E2E"/>
                </a:solidFill>
                <a:latin typeface="Calibri"/>
              </a:rPr>
              <a:t>(2026E).</a:t>
            </a:r>
          </a:p>
        </p:txBody>
      </p:sp>
      <p:sp>
        <p:nvSpPr>
          <p:cNvPr id="28" name="TextBox 27"/>
          <p:cNvSpPr txBox="1"/>
          <p:nvPr/>
        </p:nvSpPr>
        <p:spPr>
          <a:xfrm>
            <a:off x="7715250" y="4270247"/>
            <a:ext cx="3588531" cy="194310"/>
          </a:xfrm>
          <a:prstGeom prst="rect">
            <a:avLst/>
          </a:prstGeom>
          <a:noFill/>
        </p:spPr>
        <p:txBody>
          <a:bodyPr wrap="none" lIns="0" tIns="0" rIns="0" bIns="0">
            <a:spAutoFit/>
          </a:bodyPr>
          <a:lstStyle/>
          <a:p>
            <a:r>
              <a:rPr sz="1150" b="0">
                <a:solidFill>
                  <a:srgbClr val="2E2E2E"/>
                </a:solidFill>
                <a:latin typeface="Calibri"/>
              </a:rPr>
              <a:t>▪ 'Preventive Cognitive Support for Senior Dogs' is the most</a:t>
            </a:r>
          </a:p>
        </p:txBody>
      </p:sp>
      <p:sp>
        <p:nvSpPr>
          <p:cNvPr id="29" name="TextBox 28"/>
          <p:cNvSpPr txBox="1"/>
          <p:nvPr/>
        </p:nvSpPr>
        <p:spPr>
          <a:xfrm>
            <a:off x="7715250" y="4445507"/>
            <a:ext cx="3209999" cy="194310"/>
          </a:xfrm>
          <a:prstGeom prst="rect">
            <a:avLst/>
          </a:prstGeom>
          <a:noFill/>
        </p:spPr>
        <p:txBody>
          <a:bodyPr wrap="none" lIns="0" tIns="0" rIns="0" bIns="0">
            <a:spAutoFit/>
          </a:bodyPr>
          <a:lstStyle/>
          <a:p>
            <a:r>
              <a:rPr sz="1150" b="0">
                <a:solidFill>
                  <a:srgbClr val="2E2E2E"/>
                </a:solidFill>
                <a:latin typeface="Calibri"/>
              </a:rPr>
              <a:t>concentrated end-use application sub-segment, with</a:t>
            </a:r>
          </a:p>
        </p:txBody>
      </p:sp>
      <p:pic>
        <p:nvPicPr>
          <p:cNvPr id="30" name="Picture 29" descr="lock.png"/>
          <p:cNvPicPr>
            <a:picLocks noChangeAspect="1"/>
          </p:cNvPicPr>
          <p:nvPr/>
        </p:nvPicPr>
        <p:blipFill>
          <a:blip r:embed="rId5"/>
          <a:stretch>
            <a:fillRect/>
          </a:stretch>
        </p:blipFill>
        <p:spPr>
          <a:xfrm>
            <a:off x="10874403" y="4435284"/>
            <a:ext cx="134549" cy="195707"/>
          </a:xfrm>
          <a:prstGeom prst="rect">
            <a:avLst/>
          </a:prstGeom>
        </p:spPr>
      </p:pic>
      <p:sp>
        <p:nvSpPr>
          <p:cNvPr id="31" name="TextBox 30"/>
          <p:cNvSpPr txBox="1"/>
          <p:nvPr/>
        </p:nvSpPr>
        <p:spPr>
          <a:xfrm>
            <a:off x="11049512" y="4445507"/>
            <a:ext cx="722585" cy="194310"/>
          </a:xfrm>
          <a:prstGeom prst="rect">
            <a:avLst/>
          </a:prstGeom>
          <a:noFill/>
        </p:spPr>
        <p:txBody>
          <a:bodyPr wrap="none" lIns="0" tIns="0" rIns="0" bIns="0">
            <a:spAutoFit/>
          </a:bodyPr>
          <a:lstStyle/>
          <a:p>
            <a:r>
              <a:rPr sz="1150" b="0">
                <a:solidFill>
                  <a:srgbClr val="2E2E2E"/>
                </a:solidFill>
                <a:latin typeface="Calibri"/>
              </a:rPr>
              <a:t>of its value</a:t>
            </a:r>
          </a:p>
        </p:txBody>
      </p:sp>
      <p:sp>
        <p:nvSpPr>
          <p:cNvPr id="32" name="TextBox 31"/>
          <p:cNvSpPr txBox="1"/>
          <p:nvPr/>
        </p:nvSpPr>
        <p:spPr>
          <a:xfrm>
            <a:off x="7715250" y="4620767"/>
            <a:ext cx="2481746" cy="194310"/>
          </a:xfrm>
          <a:prstGeom prst="rect">
            <a:avLst/>
          </a:prstGeom>
          <a:noFill/>
        </p:spPr>
        <p:txBody>
          <a:bodyPr wrap="none" lIns="0" tIns="0" rIns="0" bIns="0">
            <a:spAutoFit/>
          </a:bodyPr>
          <a:lstStyle/>
          <a:p>
            <a:r>
              <a:rPr sz="1150" b="0">
                <a:solidFill>
                  <a:srgbClr val="2E2E2E"/>
                </a:solidFill>
                <a:latin typeface="Calibri"/>
              </a:rPr>
              <a:t>via 'Cellular Energy Support Ingredients'.</a:t>
            </a:r>
          </a:p>
        </p:txBody>
      </p:sp>
      <p:sp>
        <p:nvSpPr>
          <p:cNvPr id="33" name="TextBox 32"/>
          <p:cNvSpPr txBox="1"/>
          <p:nvPr/>
        </p:nvSpPr>
        <p:spPr>
          <a:xfrm>
            <a:off x="7715250" y="4848605"/>
            <a:ext cx="2772134" cy="194310"/>
          </a:xfrm>
          <a:prstGeom prst="rect">
            <a:avLst/>
          </a:prstGeom>
          <a:noFill/>
        </p:spPr>
        <p:txBody>
          <a:bodyPr wrap="none" lIns="0" tIns="0" rIns="0" bIns="0">
            <a:spAutoFit/>
          </a:bodyPr>
          <a:lstStyle/>
          <a:p>
            <a:r>
              <a:rPr sz="1150" b="0">
                <a:solidFill>
                  <a:srgbClr val="2E2E2E"/>
                </a:solidFill>
                <a:latin typeface="Calibri"/>
              </a:rPr>
              <a:t>▪ 'Cellular Energy Support Ingredients' gains +</a:t>
            </a:r>
          </a:p>
        </p:txBody>
      </p:sp>
      <p:pic>
        <p:nvPicPr>
          <p:cNvPr id="34" name="Picture 33" descr="lock.png"/>
          <p:cNvPicPr>
            <a:picLocks noChangeAspect="1"/>
          </p:cNvPicPr>
          <p:nvPr/>
        </p:nvPicPr>
        <p:blipFill>
          <a:blip r:embed="rId5"/>
          <a:stretch>
            <a:fillRect/>
          </a:stretch>
        </p:blipFill>
        <p:spPr>
          <a:xfrm>
            <a:off x="10436538" y="4838382"/>
            <a:ext cx="134549" cy="195707"/>
          </a:xfrm>
          <a:prstGeom prst="rect">
            <a:avLst/>
          </a:prstGeom>
        </p:spPr>
      </p:pic>
      <p:sp>
        <p:nvSpPr>
          <p:cNvPr id="35" name="TextBox 34"/>
          <p:cNvSpPr txBox="1"/>
          <p:nvPr/>
        </p:nvSpPr>
        <p:spPr>
          <a:xfrm>
            <a:off x="10611647" y="4848605"/>
            <a:ext cx="1199815" cy="194310"/>
          </a:xfrm>
          <a:prstGeom prst="rect">
            <a:avLst/>
          </a:prstGeom>
          <a:noFill/>
        </p:spPr>
        <p:txBody>
          <a:bodyPr wrap="none" lIns="0" tIns="0" rIns="0" bIns="0">
            <a:spAutoFit/>
          </a:bodyPr>
          <a:lstStyle/>
          <a:p>
            <a:r>
              <a:rPr sz="1150" b="0">
                <a:solidFill>
                  <a:srgbClr val="2E2E2E"/>
                </a:solidFill>
                <a:latin typeface="Calibri"/>
              </a:rPr>
              <a:t>BPS of share of the</a:t>
            </a:r>
          </a:p>
        </p:txBody>
      </p:sp>
      <p:sp>
        <p:nvSpPr>
          <p:cNvPr id="36" name="TextBox 35"/>
          <p:cNvSpPr txBox="1"/>
          <p:nvPr/>
        </p:nvSpPr>
        <p:spPr>
          <a:xfrm>
            <a:off x="7715250" y="5023865"/>
            <a:ext cx="1921293" cy="194310"/>
          </a:xfrm>
          <a:prstGeom prst="rect">
            <a:avLst/>
          </a:prstGeom>
          <a:noFill/>
        </p:spPr>
        <p:txBody>
          <a:bodyPr wrap="none" lIns="0" tIns="0" rIns="0" bIns="0">
            <a:spAutoFit/>
          </a:bodyPr>
          <a:lstStyle/>
          <a:p>
            <a:r>
              <a:rPr sz="1150" b="0">
                <a:solidFill>
                  <a:srgbClr val="2E2E2E"/>
                </a:solidFill>
                <a:latin typeface="Calibri"/>
              </a:rPr>
              <a:t>Europe cross-section by 2036F.</a:t>
            </a:r>
          </a:p>
        </p:txBody>
      </p:sp>
      <p:sp>
        <p:nvSpPr>
          <p:cNvPr id="37" name="lockshield_16"/>
          <p:cNvSpPr/>
          <p:nvPr/>
        </p:nvSpPr>
        <p:spPr>
          <a:xfrm>
            <a:off x="238125" y="3733800"/>
            <a:ext cx="7096125" cy="2838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&amp; Attractiveness: End-use Application × Active Ingredient, 2026E–2036F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 Opportunity (US$ Mn) and Value CAGR, End-use Application × Active Ingredient, 2026E–2036F</a:t>
            </a:r>
          </a:p>
        </p:txBody>
      </p:sp>
      <p:graphicFrame>
        <p:nvGraphicFramePr>
          <p:cNvPr id="12" name="Table 11"/>
          <p:cNvGraphicFramePr>
            <a:graphicFrameLocks noGrp="1"/>
          </p:cNvGraphicFramePr>
          <p:nvPr/>
        </p:nvGraphicFramePr>
        <p:xfrm>
          <a:off x="152400" y="1238250"/>
          <a:ext cx="11887195" cy="2114549"/>
        </p:xfrm>
        <a:graphic>
          <a:graphicData uri="http://schemas.openxmlformats.org/drawingml/2006/table">
            <a:tbl>
              <a:tblPr>
                <a:tableStyleId>{5C22544A-7EE6-4342-B048-85BDC9FD1C3A}</a:tableStyleId>
              </a:tblPr>
              <a:tblGrid>
                <a:gridCol w="3515601">
                  <a:extLst>
                    <a:ext uri="{9D8B030D-6E8A-4147-A177-3AD203B41FA5}">
                      <a16:colId xmlns:a16="http://schemas.microsoft.com/office/drawing/2014/main" val="20000"/>
                    </a:ext>
                  </a:extLst>
                </a:gridCol>
                <a:gridCol w="597971">
                  <a:extLst>
                    <a:ext uri="{9D8B030D-6E8A-4147-A177-3AD203B41FA5}">
                      <a16:colId xmlns:a16="http://schemas.microsoft.com/office/drawing/2014/main" val="20001"/>
                    </a:ext>
                  </a:extLst>
                </a:gridCol>
                <a:gridCol w="597971">
                  <a:extLst>
                    <a:ext uri="{9D8B030D-6E8A-4147-A177-3AD203B41FA5}">
                      <a16:colId xmlns:a16="http://schemas.microsoft.com/office/drawing/2014/main" val="20002"/>
                    </a:ext>
                  </a:extLst>
                </a:gridCol>
                <a:gridCol w="597971">
                  <a:extLst>
                    <a:ext uri="{9D8B030D-6E8A-4147-A177-3AD203B41FA5}">
                      <a16:colId xmlns:a16="http://schemas.microsoft.com/office/drawing/2014/main" val="20003"/>
                    </a:ext>
                  </a:extLst>
                </a:gridCol>
                <a:gridCol w="597971">
                  <a:extLst>
                    <a:ext uri="{9D8B030D-6E8A-4147-A177-3AD203B41FA5}">
                      <a16:colId xmlns:a16="http://schemas.microsoft.com/office/drawing/2014/main" val="20004"/>
                    </a:ext>
                  </a:extLst>
                </a:gridCol>
                <a:gridCol w="597971">
                  <a:extLst>
                    <a:ext uri="{9D8B030D-6E8A-4147-A177-3AD203B41FA5}">
                      <a16:colId xmlns:a16="http://schemas.microsoft.com/office/drawing/2014/main" val="20005"/>
                    </a:ext>
                  </a:extLst>
                </a:gridCol>
                <a:gridCol w="597971">
                  <a:extLst>
                    <a:ext uri="{9D8B030D-6E8A-4147-A177-3AD203B41FA5}">
                      <a16:colId xmlns:a16="http://schemas.microsoft.com/office/drawing/2014/main" val="20006"/>
                    </a:ext>
                  </a:extLst>
                </a:gridCol>
                <a:gridCol w="597971">
                  <a:extLst>
                    <a:ext uri="{9D8B030D-6E8A-4147-A177-3AD203B41FA5}">
                      <a16:colId xmlns:a16="http://schemas.microsoft.com/office/drawing/2014/main" val="20007"/>
                    </a:ext>
                  </a:extLst>
                </a:gridCol>
                <a:gridCol w="597971">
                  <a:extLst>
                    <a:ext uri="{9D8B030D-6E8A-4147-A177-3AD203B41FA5}">
                      <a16:colId xmlns:a16="http://schemas.microsoft.com/office/drawing/2014/main" val="20008"/>
                    </a:ext>
                  </a:extLst>
                </a:gridCol>
                <a:gridCol w="597971">
                  <a:extLst>
                    <a:ext uri="{9D8B030D-6E8A-4147-A177-3AD203B41FA5}">
                      <a16:colId xmlns:a16="http://schemas.microsoft.com/office/drawing/2014/main" val="20009"/>
                    </a:ext>
                  </a:extLst>
                </a:gridCol>
                <a:gridCol w="597971">
                  <a:extLst>
                    <a:ext uri="{9D8B030D-6E8A-4147-A177-3AD203B41FA5}">
                      <a16:colId xmlns:a16="http://schemas.microsoft.com/office/drawing/2014/main" val="20010"/>
                    </a:ext>
                  </a:extLst>
                </a:gridCol>
                <a:gridCol w="597971">
                  <a:extLst>
                    <a:ext uri="{9D8B030D-6E8A-4147-A177-3AD203B41FA5}">
                      <a16:colId xmlns:a16="http://schemas.microsoft.com/office/drawing/2014/main" val="20011"/>
                    </a:ext>
                  </a:extLst>
                </a:gridCol>
                <a:gridCol w="597971">
                  <a:extLst>
                    <a:ext uri="{9D8B030D-6E8A-4147-A177-3AD203B41FA5}">
                      <a16:colId xmlns:a16="http://schemas.microsoft.com/office/drawing/2014/main" val="20012"/>
                    </a:ext>
                  </a:extLst>
                </a:gridCol>
                <a:gridCol w="597971">
                  <a:extLst>
                    <a:ext uri="{9D8B030D-6E8A-4147-A177-3AD203B41FA5}">
                      <a16:colId xmlns:a16="http://schemas.microsoft.com/office/drawing/2014/main" val="20013"/>
                    </a:ext>
                  </a:extLst>
                </a:gridCol>
                <a:gridCol w="597971">
                  <a:extLst>
                    <a:ext uri="{9D8B030D-6E8A-4147-A177-3AD203B41FA5}">
                      <a16:colId xmlns:a16="http://schemas.microsoft.com/office/drawing/2014/main" val="20014"/>
                    </a:ext>
                  </a:extLst>
                </a:gridCol>
              </a:tblGrid>
              <a:tr h="631697">
                <a:tc rowSpan="2">
                  <a:txBody>
                    <a:bodyPr/>
                    <a:lstStyle/>
                    <a:p>
                      <a:pPr algn="l"/>
                      <a:r>
                        <a:rPr sz="1100" b="1">
                          <a:solidFill>
                            <a:srgbClr val="0B2E4A"/>
                          </a:solidFill>
                          <a:latin typeface="Calibri"/>
                        </a:rPr>
                        <a:t>End-use Application</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Omega-3 Fatty</a:t>
                      </a:r>
                      <a:endParaRPr sz="1100"/>
                    </a:p>
                    <a:p>
                      <a:pPr algn="ctr"/>
                      <a:r>
                        <a:rPr sz="1100" b="1">
                          <a:solidFill>
                            <a:srgbClr val="0B2E4A"/>
                          </a:solidFill>
                          <a:latin typeface="Calibri"/>
                        </a:rPr>
                        <a:t>Acids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Cellular Energy</a:t>
                      </a:r>
                      <a:endParaRPr sz="1100"/>
                    </a:p>
                    <a:p>
                      <a:pPr algn="ctr"/>
                      <a:r>
                        <a:rPr sz="1100" b="1">
                          <a:solidFill>
                            <a:srgbClr val="0B2E4A"/>
                          </a:solidFill>
                          <a:latin typeface="Calibri"/>
                        </a:rPr>
                        <a:t>Support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Botanical</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Microbiome-</a:t>
                      </a:r>
                      <a:endParaRPr sz="1100"/>
                    </a:p>
                    <a:p>
                      <a:pPr algn="ctr"/>
                      <a:r>
                        <a:rPr sz="1100" b="1">
                          <a:solidFill>
                            <a:srgbClr val="0B2E4A"/>
                          </a:solidFill>
                          <a:latin typeface="Calibri"/>
                        </a:rPr>
                        <a:t>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142">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7142">
                <a:tc>
                  <a:txBody>
                    <a:bodyPr/>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7142">
                <a:tc>
                  <a:txBody>
                    <a:bodyPr/>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7142">
                <a:tc>
                  <a:txBody>
                    <a:bodyPr/>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7142">
                <a:tc>
                  <a:txBody>
                    <a:bodyPr/>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7142">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219075" y="336232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695700"/>
            <a:ext cx="560070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781425"/>
            <a:ext cx="5334000" cy="209550"/>
          </a:xfrm>
          <a:prstGeom prst="rect">
            <a:avLst/>
          </a:prstGeom>
          <a:noFill/>
        </p:spPr>
        <p:txBody>
          <a:bodyPr wrap="square" lIns="0" tIns="9525" rIns="19050"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0195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105275"/>
            <a:ext cx="5334000" cy="24479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58959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29325" y="3781425"/>
            <a:ext cx="1676400" cy="209550"/>
          </a:xfrm>
          <a:prstGeom prst="rect">
            <a:avLst/>
          </a:prstGeom>
          <a:noFill/>
        </p:spPr>
        <p:txBody>
          <a:bodyPr wrap="square" lIns="0" tIns="9525" rIns="19050" bIns="9525">
            <a:spAutoFit/>
          </a:bodyPr>
          <a:lstStyle/>
          <a:p>
            <a:pPr algn="l"/>
            <a:r>
              <a:rPr sz="1300" b="1">
                <a:solidFill>
                  <a:srgbClr val="0B2E4A"/>
                </a:solidFill>
                <a:latin typeface="Calibri"/>
              </a:rPr>
              <a:t>Largest Pool</a:t>
            </a:r>
          </a:p>
        </p:txBody>
      </p:sp>
      <p:sp>
        <p:nvSpPr>
          <p:cNvPr id="20" name="Rectangle 19"/>
          <p:cNvSpPr/>
          <p:nvPr/>
        </p:nvSpPr>
        <p:spPr>
          <a:xfrm>
            <a:off x="60293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29325" y="4105275"/>
            <a:ext cx="1676400" cy="2447925"/>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2" name="Rounded Rectangle 21"/>
          <p:cNvSpPr/>
          <p:nvPr/>
        </p:nvSpPr>
        <p:spPr>
          <a:xfrm>
            <a:off x="79914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24825" y="3781425"/>
            <a:ext cx="1676400" cy="209550"/>
          </a:xfrm>
          <a:prstGeom prst="rect">
            <a:avLst/>
          </a:prstGeom>
          <a:noFill/>
        </p:spPr>
        <p:txBody>
          <a:bodyPr wrap="square" lIns="0" tIns="9525" rIns="19050" bIns="9525">
            <a:spAutoFit/>
          </a:bodyPr>
          <a:lstStyle/>
          <a:p>
            <a:pPr algn="l"/>
            <a:r>
              <a:rPr sz="1300" b="1">
                <a:solidFill>
                  <a:srgbClr val="0B2E4A"/>
                </a:solidFill>
                <a:latin typeface="Calibri"/>
              </a:rPr>
              <a:t>Fastest Growth</a:t>
            </a:r>
          </a:p>
        </p:txBody>
      </p:sp>
      <p:sp>
        <p:nvSpPr>
          <p:cNvPr id="24" name="Rectangle 23"/>
          <p:cNvSpPr/>
          <p:nvPr/>
        </p:nvSpPr>
        <p:spPr>
          <a:xfrm>
            <a:off x="81248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24825" y="4105275"/>
            <a:ext cx="1676400" cy="2447925"/>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6" name="Rounded Rectangle 25"/>
          <p:cNvSpPr/>
          <p:nvPr/>
        </p:nvSpPr>
        <p:spPr>
          <a:xfrm>
            <a:off x="100869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20325" y="3781425"/>
            <a:ext cx="1676400" cy="209550"/>
          </a:xfrm>
          <a:prstGeom prst="rect">
            <a:avLst/>
          </a:prstGeom>
          <a:noFill/>
        </p:spPr>
        <p:txBody>
          <a:bodyPr wrap="square" lIns="0" tIns="9525" rIns="19050" bIns="9525">
            <a:spAutoFit/>
          </a:bodyPr>
          <a:lstStyle/>
          <a:p>
            <a:pPr algn="l"/>
            <a:r>
              <a:rPr sz="1300" b="1">
                <a:solidFill>
                  <a:srgbClr val="0B2E4A"/>
                </a:solidFill>
                <a:latin typeface="Calibri"/>
              </a:rPr>
              <a:t>Where to Play</a:t>
            </a:r>
          </a:p>
        </p:txBody>
      </p:sp>
      <p:sp>
        <p:nvSpPr>
          <p:cNvPr id="28" name="Rectangle 27"/>
          <p:cNvSpPr/>
          <p:nvPr/>
        </p:nvSpPr>
        <p:spPr>
          <a:xfrm>
            <a:off x="102203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20325" y="4105275"/>
            <a:ext cx="1676400" cy="24479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'Routine Cognitive Wellness × Cellular Energy Support Ingredients' ranks highest (5/5); 'Routine Cognitive Wellness × Neurofunctional Nutrients' lowest (1/5), a deprioritised cell.</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667108" y="2468245"/>
            <a:ext cx="366712" cy="533400"/>
          </a:xfrm>
          <a:prstGeom prst="rect">
            <a:avLst/>
          </a:prstGeom>
        </p:spPr>
      </p:pic>
      <p:sp>
        <p:nvSpPr>
          <p:cNvPr id="32" name="TextBox 31"/>
          <p:cNvSpPr txBox="1"/>
          <p:nvPr/>
        </p:nvSpPr>
        <p:spPr>
          <a:xfrm>
            <a:off x="276225" y="4114800"/>
            <a:ext cx="5210770" cy="194310"/>
          </a:xfrm>
          <a:prstGeom prst="rect">
            <a:avLst/>
          </a:prstGeom>
          <a:noFill/>
        </p:spPr>
        <p:txBody>
          <a:bodyPr wrap="none" lIns="0" tIns="0" rIns="0" bIns="0">
            <a:spAutoFit/>
          </a:bodyPr>
          <a:lstStyle/>
          <a:p>
            <a:r>
              <a:rPr sz="1150" b="0">
                <a:solidFill>
                  <a:srgbClr val="2E2E2E"/>
                </a:solidFill>
                <a:latin typeface="Calibri"/>
              </a:rPr>
              <a:t>▪ 1. Support for Observable Age-Related Cognitive Changes × Antioxidant Ingredients –</a:t>
            </a:r>
          </a:p>
        </p:txBody>
      </p:sp>
      <p:pic>
        <p:nvPicPr>
          <p:cNvPr id="33" name="Picture 32" descr="lock.png"/>
          <p:cNvPicPr>
            <a:picLocks noChangeAspect="1"/>
          </p:cNvPicPr>
          <p:nvPr/>
        </p:nvPicPr>
        <p:blipFill>
          <a:blip r:embed="rId4"/>
          <a:stretch>
            <a:fillRect/>
          </a:stretch>
        </p:blipFill>
        <p:spPr>
          <a:xfrm>
            <a:off x="262145" y="4279836"/>
            <a:ext cx="134549" cy="195707"/>
          </a:xfrm>
          <a:prstGeom prst="rect">
            <a:avLst/>
          </a:prstGeom>
        </p:spPr>
      </p:pic>
      <p:sp>
        <p:nvSpPr>
          <p:cNvPr id="34" name="TextBox 33"/>
          <p:cNvSpPr txBox="1"/>
          <p:nvPr/>
        </p:nvSpPr>
        <p:spPr>
          <a:xfrm>
            <a:off x="437254" y="4290060"/>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99406" y="4279836"/>
            <a:ext cx="134549" cy="195707"/>
          </a:xfrm>
          <a:prstGeom prst="rect">
            <a:avLst/>
          </a:prstGeom>
        </p:spPr>
      </p:pic>
      <p:sp>
        <p:nvSpPr>
          <p:cNvPr id="36" name="TextBox 35"/>
          <p:cNvSpPr txBox="1"/>
          <p:nvPr/>
        </p:nvSpPr>
        <p:spPr>
          <a:xfrm>
            <a:off x="674515" y="4290060"/>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37" name="TextBox 36"/>
          <p:cNvSpPr txBox="1"/>
          <p:nvPr/>
        </p:nvSpPr>
        <p:spPr>
          <a:xfrm>
            <a:off x="276225" y="4517897"/>
            <a:ext cx="5106082" cy="194310"/>
          </a:xfrm>
          <a:prstGeom prst="rect">
            <a:avLst/>
          </a:prstGeom>
          <a:noFill/>
        </p:spPr>
        <p:txBody>
          <a:bodyPr wrap="none" lIns="0" tIns="0" rIns="0" bIns="0">
            <a:spAutoFit/>
          </a:bodyPr>
          <a:lstStyle/>
          <a:p>
            <a:r>
              <a:rPr sz="1150" b="0">
                <a:solidFill>
                  <a:srgbClr val="2E2E2E"/>
                </a:solidFill>
                <a:latin typeface="Calibri"/>
              </a:rPr>
              <a:t>▪ 2. Support for Observable Age-Related Cognitive Changes × Cellular Energy Support</a:t>
            </a:r>
          </a:p>
        </p:txBody>
      </p:sp>
      <p:sp>
        <p:nvSpPr>
          <p:cNvPr id="38" name="TextBox 37"/>
          <p:cNvSpPr txBox="1"/>
          <p:nvPr/>
        </p:nvSpPr>
        <p:spPr>
          <a:xfrm>
            <a:off x="276225" y="4693157"/>
            <a:ext cx="854087" cy="194310"/>
          </a:xfrm>
          <a:prstGeom prst="rect">
            <a:avLst/>
          </a:prstGeom>
          <a:noFill/>
        </p:spPr>
        <p:txBody>
          <a:bodyPr wrap="none" lIns="0" tIns="0" rIns="0" bIns="0">
            <a:spAutoFit/>
          </a:bodyPr>
          <a:lstStyle/>
          <a:p>
            <a:r>
              <a:rPr sz="1150" b="0">
                <a:solidFill>
                  <a:srgbClr val="2E2E2E"/>
                </a:solidFill>
                <a:latin typeface="Calibri"/>
              </a:rPr>
              <a:t>Ingredients –</a:t>
            </a:r>
          </a:p>
        </p:txBody>
      </p:sp>
      <p:pic>
        <p:nvPicPr>
          <p:cNvPr id="39" name="Picture 38" descr="lock.png"/>
          <p:cNvPicPr>
            <a:picLocks noChangeAspect="1"/>
          </p:cNvPicPr>
          <p:nvPr/>
        </p:nvPicPr>
        <p:blipFill>
          <a:blip r:embed="rId4"/>
          <a:stretch>
            <a:fillRect/>
          </a:stretch>
        </p:blipFill>
        <p:spPr>
          <a:xfrm>
            <a:off x="1079466" y="4682934"/>
            <a:ext cx="134549" cy="195707"/>
          </a:xfrm>
          <a:prstGeom prst="rect">
            <a:avLst/>
          </a:prstGeom>
        </p:spPr>
      </p:pic>
      <p:sp>
        <p:nvSpPr>
          <p:cNvPr id="40" name="TextBox 39"/>
          <p:cNvSpPr txBox="1"/>
          <p:nvPr/>
        </p:nvSpPr>
        <p:spPr>
          <a:xfrm>
            <a:off x="1254575" y="4693157"/>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1" name="Picture 40" descr="lock.png"/>
          <p:cNvPicPr>
            <a:picLocks noChangeAspect="1"/>
          </p:cNvPicPr>
          <p:nvPr/>
        </p:nvPicPr>
        <p:blipFill>
          <a:blip r:embed="rId4"/>
          <a:stretch>
            <a:fillRect/>
          </a:stretch>
        </p:blipFill>
        <p:spPr>
          <a:xfrm>
            <a:off x="1316727" y="4682934"/>
            <a:ext cx="134549" cy="195707"/>
          </a:xfrm>
          <a:prstGeom prst="rect">
            <a:avLst/>
          </a:prstGeom>
        </p:spPr>
      </p:pic>
      <p:sp>
        <p:nvSpPr>
          <p:cNvPr id="42" name="TextBox 41"/>
          <p:cNvSpPr txBox="1"/>
          <p:nvPr/>
        </p:nvSpPr>
        <p:spPr>
          <a:xfrm>
            <a:off x="1491836" y="4693157"/>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43" name="TextBox 42"/>
          <p:cNvSpPr txBox="1"/>
          <p:nvPr/>
        </p:nvSpPr>
        <p:spPr>
          <a:xfrm>
            <a:off x="276225" y="4920995"/>
            <a:ext cx="5011948" cy="194310"/>
          </a:xfrm>
          <a:prstGeom prst="rect">
            <a:avLst/>
          </a:prstGeom>
          <a:noFill/>
        </p:spPr>
        <p:txBody>
          <a:bodyPr wrap="none" lIns="0" tIns="0" rIns="0" bIns="0">
            <a:spAutoFit/>
          </a:bodyPr>
          <a:lstStyle/>
          <a:p>
            <a:r>
              <a:rPr sz="1150" b="0">
                <a:solidFill>
                  <a:srgbClr val="2E2E2E"/>
                </a:solidFill>
                <a:latin typeface="Calibri"/>
              </a:rPr>
              <a:t>▪ 3. Support for Observable Age-Related Cognitive Changes × Microbiome-Targeted</a:t>
            </a:r>
          </a:p>
        </p:txBody>
      </p:sp>
      <p:sp>
        <p:nvSpPr>
          <p:cNvPr id="44" name="TextBox 43"/>
          <p:cNvSpPr txBox="1"/>
          <p:nvPr/>
        </p:nvSpPr>
        <p:spPr>
          <a:xfrm>
            <a:off x="276225" y="5096255"/>
            <a:ext cx="854087" cy="194310"/>
          </a:xfrm>
          <a:prstGeom prst="rect">
            <a:avLst/>
          </a:prstGeom>
          <a:noFill/>
        </p:spPr>
        <p:txBody>
          <a:bodyPr wrap="none" lIns="0" tIns="0" rIns="0" bIns="0">
            <a:spAutoFit/>
          </a:bodyPr>
          <a:lstStyle/>
          <a:p>
            <a:r>
              <a:rPr sz="1150" b="0">
                <a:solidFill>
                  <a:srgbClr val="2E2E2E"/>
                </a:solidFill>
                <a:latin typeface="Calibri"/>
              </a:rPr>
              <a:t>Ingredients –</a:t>
            </a:r>
          </a:p>
        </p:txBody>
      </p:sp>
      <p:pic>
        <p:nvPicPr>
          <p:cNvPr id="45" name="Picture 44" descr="lock.png"/>
          <p:cNvPicPr>
            <a:picLocks noChangeAspect="1"/>
          </p:cNvPicPr>
          <p:nvPr/>
        </p:nvPicPr>
        <p:blipFill>
          <a:blip r:embed="rId4"/>
          <a:stretch>
            <a:fillRect/>
          </a:stretch>
        </p:blipFill>
        <p:spPr>
          <a:xfrm>
            <a:off x="1079466" y="5086032"/>
            <a:ext cx="134549" cy="195707"/>
          </a:xfrm>
          <a:prstGeom prst="rect">
            <a:avLst/>
          </a:prstGeom>
        </p:spPr>
      </p:pic>
      <p:sp>
        <p:nvSpPr>
          <p:cNvPr id="46" name="TextBox 45"/>
          <p:cNvSpPr txBox="1"/>
          <p:nvPr/>
        </p:nvSpPr>
        <p:spPr>
          <a:xfrm>
            <a:off x="1254575" y="5096255"/>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7" name="Picture 46" descr="lock.png"/>
          <p:cNvPicPr>
            <a:picLocks noChangeAspect="1"/>
          </p:cNvPicPr>
          <p:nvPr/>
        </p:nvPicPr>
        <p:blipFill>
          <a:blip r:embed="rId4"/>
          <a:stretch>
            <a:fillRect/>
          </a:stretch>
        </p:blipFill>
        <p:spPr>
          <a:xfrm>
            <a:off x="1316727" y="5086032"/>
            <a:ext cx="134549" cy="195707"/>
          </a:xfrm>
          <a:prstGeom prst="rect">
            <a:avLst/>
          </a:prstGeom>
        </p:spPr>
      </p:pic>
      <p:sp>
        <p:nvSpPr>
          <p:cNvPr id="48" name="TextBox 47"/>
          <p:cNvSpPr txBox="1"/>
          <p:nvPr/>
        </p:nvSpPr>
        <p:spPr>
          <a:xfrm>
            <a:off x="1491836" y="5096255"/>
            <a:ext cx="350899" cy="194310"/>
          </a:xfrm>
          <a:prstGeom prst="rect">
            <a:avLst/>
          </a:prstGeom>
          <a:noFill/>
        </p:spPr>
        <p:txBody>
          <a:bodyPr wrap="none" lIns="0" tIns="0" rIns="0" bIns="0">
            <a:spAutoFit/>
          </a:bodyPr>
          <a:lstStyle/>
          <a:p>
            <a:r>
              <a:rPr sz="1150" b="0">
                <a:solidFill>
                  <a:srgbClr val="2E2E2E"/>
                </a:solidFill>
                <a:latin typeface="Calibri"/>
              </a:rPr>
              <a:t>· 4/5</a:t>
            </a:r>
          </a:p>
        </p:txBody>
      </p:sp>
      <p:sp>
        <p:nvSpPr>
          <p:cNvPr id="49" name="TextBox 48"/>
          <p:cNvSpPr txBox="1"/>
          <p:nvPr/>
        </p:nvSpPr>
        <p:spPr>
          <a:xfrm>
            <a:off x="276225" y="5324093"/>
            <a:ext cx="4271999" cy="194310"/>
          </a:xfrm>
          <a:prstGeom prst="rect">
            <a:avLst/>
          </a:prstGeom>
          <a:noFill/>
        </p:spPr>
        <p:txBody>
          <a:bodyPr wrap="none" lIns="0" tIns="0" rIns="0" bIns="0">
            <a:spAutoFit/>
          </a:bodyPr>
          <a:lstStyle/>
          <a:p>
            <a:r>
              <a:rPr sz="1150" b="0">
                <a:solidFill>
                  <a:srgbClr val="2E2E2E"/>
                </a:solidFill>
                <a:latin typeface="Calibri"/>
              </a:rPr>
              <a:t>▪ 4. Routine Cognitive Wellness × Cellular Energy Support Ingredients –</a:t>
            </a:r>
          </a:p>
        </p:txBody>
      </p:sp>
      <p:pic>
        <p:nvPicPr>
          <p:cNvPr id="50" name="Picture 49" descr="lock.png"/>
          <p:cNvPicPr>
            <a:picLocks noChangeAspect="1"/>
          </p:cNvPicPr>
          <p:nvPr/>
        </p:nvPicPr>
        <p:blipFill>
          <a:blip r:embed="rId4"/>
          <a:stretch>
            <a:fillRect/>
          </a:stretch>
        </p:blipFill>
        <p:spPr>
          <a:xfrm>
            <a:off x="4497378" y="5313870"/>
            <a:ext cx="134549" cy="195707"/>
          </a:xfrm>
          <a:prstGeom prst="rect">
            <a:avLst/>
          </a:prstGeom>
        </p:spPr>
      </p:pic>
      <p:sp>
        <p:nvSpPr>
          <p:cNvPr id="51" name="TextBox 50"/>
          <p:cNvSpPr txBox="1"/>
          <p:nvPr/>
        </p:nvSpPr>
        <p:spPr>
          <a:xfrm>
            <a:off x="4672487" y="5324093"/>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2" name="Picture 51" descr="lock.png"/>
          <p:cNvPicPr>
            <a:picLocks noChangeAspect="1"/>
          </p:cNvPicPr>
          <p:nvPr/>
        </p:nvPicPr>
        <p:blipFill>
          <a:blip r:embed="rId4"/>
          <a:stretch>
            <a:fillRect/>
          </a:stretch>
        </p:blipFill>
        <p:spPr>
          <a:xfrm>
            <a:off x="4734639" y="5313870"/>
            <a:ext cx="134549" cy="195707"/>
          </a:xfrm>
          <a:prstGeom prst="rect">
            <a:avLst/>
          </a:prstGeom>
        </p:spPr>
      </p:pic>
      <p:sp>
        <p:nvSpPr>
          <p:cNvPr id="53" name="TextBox 52"/>
          <p:cNvSpPr txBox="1"/>
          <p:nvPr/>
        </p:nvSpPr>
        <p:spPr>
          <a:xfrm>
            <a:off x="4909748" y="5324093"/>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54" name="TextBox 53"/>
          <p:cNvSpPr txBox="1"/>
          <p:nvPr/>
        </p:nvSpPr>
        <p:spPr>
          <a:xfrm>
            <a:off x="276225" y="5551931"/>
            <a:ext cx="5040126" cy="194310"/>
          </a:xfrm>
          <a:prstGeom prst="rect">
            <a:avLst/>
          </a:prstGeom>
          <a:noFill/>
        </p:spPr>
        <p:txBody>
          <a:bodyPr wrap="none" lIns="0" tIns="0" rIns="0" bIns="0">
            <a:spAutoFit/>
          </a:bodyPr>
          <a:lstStyle/>
          <a:p>
            <a:r>
              <a:rPr sz="1150" b="0">
                <a:solidFill>
                  <a:srgbClr val="2E2E2E"/>
                </a:solidFill>
                <a:latin typeface="Calibri"/>
              </a:rPr>
              <a:t>▪ 5. Support for Observable Age-Related Cognitive Changes × Omega-3 Fatty Acids –</a:t>
            </a:r>
          </a:p>
        </p:txBody>
      </p:sp>
      <p:pic>
        <p:nvPicPr>
          <p:cNvPr id="55" name="Picture 54" descr="lock.png"/>
          <p:cNvPicPr>
            <a:picLocks noChangeAspect="1"/>
          </p:cNvPicPr>
          <p:nvPr/>
        </p:nvPicPr>
        <p:blipFill>
          <a:blip r:embed="rId4"/>
          <a:stretch>
            <a:fillRect/>
          </a:stretch>
        </p:blipFill>
        <p:spPr>
          <a:xfrm>
            <a:off x="5265505" y="5541708"/>
            <a:ext cx="134549" cy="195707"/>
          </a:xfrm>
          <a:prstGeom prst="rect">
            <a:avLst/>
          </a:prstGeom>
        </p:spPr>
      </p:pic>
      <p:sp>
        <p:nvSpPr>
          <p:cNvPr id="56" name="TextBox 55"/>
          <p:cNvSpPr txBox="1"/>
          <p:nvPr/>
        </p:nvSpPr>
        <p:spPr>
          <a:xfrm>
            <a:off x="276225" y="5727191"/>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7" name="Picture 56" descr="lock.png"/>
          <p:cNvPicPr>
            <a:picLocks noChangeAspect="1"/>
          </p:cNvPicPr>
          <p:nvPr/>
        </p:nvPicPr>
        <p:blipFill>
          <a:blip r:embed="rId4"/>
          <a:stretch>
            <a:fillRect/>
          </a:stretch>
        </p:blipFill>
        <p:spPr>
          <a:xfrm>
            <a:off x="338376" y="5716968"/>
            <a:ext cx="134549" cy="195707"/>
          </a:xfrm>
          <a:prstGeom prst="rect">
            <a:avLst/>
          </a:prstGeom>
        </p:spPr>
      </p:pic>
      <p:sp>
        <p:nvSpPr>
          <p:cNvPr id="58" name="TextBox 57"/>
          <p:cNvSpPr txBox="1"/>
          <p:nvPr/>
        </p:nvSpPr>
        <p:spPr>
          <a:xfrm>
            <a:off x="513485" y="5727191"/>
            <a:ext cx="350899" cy="194310"/>
          </a:xfrm>
          <a:prstGeom prst="rect">
            <a:avLst/>
          </a:prstGeom>
          <a:noFill/>
        </p:spPr>
        <p:txBody>
          <a:bodyPr wrap="none" lIns="0" tIns="0" rIns="0" bIns="0">
            <a:spAutoFit/>
          </a:bodyPr>
          <a:lstStyle/>
          <a:p>
            <a:r>
              <a:rPr sz="1150" b="0">
                <a:solidFill>
                  <a:srgbClr val="2E2E2E"/>
                </a:solidFill>
                <a:latin typeface="Calibri"/>
              </a:rPr>
              <a:t>· 3/5</a:t>
            </a:r>
          </a:p>
        </p:txBody>
      </p:sp>
      <p:sp>
        <p:nvSpPr>
          <p:cNvPr id="59" name="TextBox 58"/>
          <p:cNvSpPr txBox="1"/>
          <p:nvPr/>
        </p:nvSpPr>
        <p:spPr>
          <a:xfrm>
            <a:off x="6029325" y="4114800"/>
            <a:ext cx="1579488" cy="194310"/>
          </a:xfrm>
          <a:prstGeom prst="rect">
            <a:avLst/>
          </a:prstGeom>
          <a:noFill/>
        </p:spPr>
        <p:txBody>
          <a:bodyPr wrap="none" lIns="0" tIns="0" rIns="0" bIns="0">
            <a:spAutoFit/>
          </a:bodyPr>
          <a:lstStyle/>
          <a:p>
            <a:r>
              <a:rPr sz="1150" b="0">
                <a:solidFill>
                  <a:srgbClr val="2E2E2E"/>
                </a:solidFill>
                <a:latin typeface="Calibri"/>
              </a:rPr>
              <a:t>▪ 'Support for Observable</a:t>
            </a:r>
          </a:p>
        </p:txBody>
      </p:sp>
      <p:sp>
        <p:nvSpPr>
          <p:cNvPr id="60" name="TextBox 59"/>
          <p:cNvSpPr txBox="1"/>
          <p:nvPr/>
        </p:nvSpPr>
        <p:spPr>
          <a:xfrm>
            <a:off x="6029325" y="4290060"/>
            <a:ext cx="1389508" cy="194310"/>
          </a:xfrm>
          <a:prstGeom prst="rect">
            <a:avLst/>
          </a:prstGeom>
          <a:noFill/>
        </p:spPr>
        <p:txBody>
          <a:bodyPr wrap="none" lIns="0" tIns="0" rIns="0" bIns="0">
            <a:spAutoFit/>
          </a:bodyPr>
          <a:lstStyle/>
          <a:p>
            <a:r>
              <a:rPr sz="1150" b="0">
                <a:solidFill>
                  <a:srgbClr val="2E2E2E"/>
                </a:solidFill>
                <a:latin typeface="Calibri"/>
              </a:rPr>
              <a:t>Age-Related Cognitive</a:t>
            </a:r>
          </a:p>
        </p:txBody>
      </p:sp>
      <p:sp>
        <p:nvSpPr>
          <p:cNvPr id="61" name="TextBox 60"/>
          <p:cNvSpPr txBox="1"/>
          <p:nvPr/>
        </p:nvSpPr>
        <p:spPr>
          <a:xfrm>
            <a:off x="6029325" y="4465320"/>
            <a:ext cx="1405197" cy="194310"/>
          </a:xfrm>
          <a:prstGeom prst="rect">
            <a:avLst/>
          </a:prstGeom>
          <a:noFill/>
        </p:spPr>
        <p:txBody>
          <a:bodyPr wrap="none" lIns="0" tIns="0" rIns="0" bIns="0">
            <a:spAutoFit/>
          </a:bodyPr>
          <a:lstStyle/>
          <a:p>
            <a:r>
              <a:rPr sz="1150" b="0">
                <a:solidFill>
                  <a:srgbClr val="2E2E2E"/>
                </a:solidFill>
                <a:latin typeface="Calibri"/>
              </a:rPr>
              <a:t>Changes × Antioxidant</a:t>
            </a:r>
          </a:p>
        </p:txBody>
      </p:sp>
      <p:sp>
        <p:nvSpPr>
          <p:cNvPr id="62" name="TextBox 61"/>
          <p:cNvSpPr txBox="1"/>
          <p:nvPr/>
        </p:nvSpPr>
        <p:spPr>
          <a:xfrm>
            <a:off x="6029325" y="4640579"/>
            <a:ext cx="1093985" cy="194310"/>
          </a:xfrm>
          <a:prstGeom prst="rect">
            <a:avLst/>
          </a:prstGeom>
          <a:noFill/>
        </p:spPr>
        <p:txBody>
          <a:bodyPr wrap="none" lIns="0" tIns="0" rIns="0" bIns="0">
            <a:spAutoFit/>
          </a:bodyPr>
          <a:lstStyle/>
          <a:p>
            <a:r>
              <a:rPr sz="1150" b="0">
                <a:solidFill>
                  <a:srgbClr val="2E2E2E"/>
                </a:solidFill>
                <a:latin typeface="Calibri"/>
              </a:rPr>
              <a:t>Ingredients' adds</a:t>
            </a:r>
          </a:p>
        </p:txBody>
      </p:sp>
      <p:pic>
        <p:nvPicPr>
          <p:cNvPr id="63" name="Picture 62" descr="lock.png"/>
          <p:cNvPicPr>
            <a:picLocks noChangeAspect="1"/>
          </p:cNvPicPr>
          <p:nvPr/>
        </p:nvPicPr>
        <p:blipFill>
          <a:blip r:embed="rId4"/>
          <a:stretch>
            <a:fillRect/>
          </a:stretch>
        </p:blipFill>
        <p:spPr>
          <a:xfrm>
            <a:off x="7072464" y="4630356"/>
            <a:ext cx="134549" cy="195707"/>
          </a:xfrm>
          <a:prstGeom prst="rect">
            <a:avLst/>
          </a:prstGeom>
        </p:spPr>
      </p:pic>
      <p:sp>
        <p:nvSpPr>
          <p:cNvPr id="64" name="TextBox 63"/>
          <p:cNvSpPr txBox="1"/>
          <p:nvPr/>
        </p:nvSpPr>
        <p:spPr>
          <a:xfrm>
            <a:off x="7247574" y="4640579"/>
            <a:ext cx="311249" cy="194310"/>
          </a:xfrm>
          <a:prstGeom prst="rect">
            <a:avLst/>
          </a:prstGeom>
          <a:noFill/>
        </p:spPr>
        <p:txBody>
          <a:bodyPr wrap="none" lIns="0" tIns="0" rIns="0" bIns="0">
            <a:spAutoFit/>
          </a:bodyPr>
          <a:lstStyle/>
          <a:p>
            <a:r>
              <a:rPr sz="1150" b="0">
                <a:solidFill>
                  <a:srgbClr val="2E2E2E"/>
                </a:solidFill>
                <a:latin typeface="Calibri"/>
              </a:rPr>
              <a:t>US$</a:t>
            </a:r>
          </a:p>
        </p:txBody>
      </p:sp>
      <p:sp>
        <p:nvSpPr>
          <p:cNvPr id="65" name="TextBox 64"/>
          <p:cNvSpPr txBox="1"/>
          <p:nvPr/>
        </p:nvSpPr>
        <p:spPr>
          <a:xfrm>
            <a:off x="6029325" y="4815839"/>
            <a:ext cx="956493" cy="194310"/>
          </a:xfrm>
          <a:prstGeom prst="rect">
            <a:avLst/>
          </a:prstGeom>
          <a:noFill/>
        </p:spPr>
        <p:txBody>
          <a:bodyPr wrap="none" lIns="0" tIns="0" rIns="0" bIns="0">
            <a:spAutoFit/>
          </a:bodyPr>
          <a:lstStyle/>
          <a:p>
            <a:r>
              <a:rPr sz="1150" b="0">
                <a:solidFill>
                  <a:srgbClr val="2E2E2E"/>
                </a:solidFill>
                <a:latin typeface="Calibri"/>
              </a:rPr>
              <a:t>Mn by 2036F –</a:t>
            </a:r>
          </a:p>
        </p:txBody>
      </p:sp>
      <p:pic>
        <p:nvPicPr>
          <p:cNvPr id="66" name="Picture 65" descr="lock.png"/>
          <p:cNvPicPr>
            <a:picLocks noChangeAspect="1"/>
          </p:cNvPicPr>
          <p:nvPr/>
        </p:nvPicPr>
        <p:blipFill>
          <a:blip r:embed="rId4"/>
          <a:stretch>
            <a:fillRect/>
          </a:stretch>
        </p:blipFill>
        <p:spPr>
          <a:xfrm>
            <a:off x="6934972" y="4805616"/>
            <a:ext cx="134549" cy="195707"/>
          </a:xfrm>
          <a:prstGeom prst="rect">
            <a:avLst/>
          </a:prstGeom>
        </p:spPr>
      </p:pic>
      <p:sp>
        <p:nvSpPr>
          <p:cNvPr id="67" name="TextBox 66"/>
          <p:cNvSpPr txBox="1"/>
          <p:nvPr/>
        </p:nvSpPr>
        <p:spPr>
          <a:xfrm>
            <a:off x="7110081" y="4815839"/>
            <a:ext cx="429344" cy="194310"/>
          </a:xfrm>
          <a:prstGeom prst="rect">
            <a:avLst/>
          </a:prstGeom>
          <a:noFill/>
        </p:spPr>
        <p:txBody>
          <a:bodyPr wrap="none" lIns="0" tIns="0" rIns="0" bIns="0">
            <a:spAutoFit/>
          </a:bodyPr>
          <a:lstStyle/>
          <a:p>
            <a:r>
              <a:rPr sz="1150" b="0">
                <a:solidFill>
                  <a:srgbClr val="2E2E2E"/>
                </a:solidFill>
                <a:latin typeface="Calibri"/>
              </a:rPr>
              <a:t>of the</a:t>
            </a:r>
          </a:p>
        </p:txBody>
      </p:sp>
      <p:sp>
        <p:nvSpPr>
          <p:cNvPr id="68" name="TextBox 67"/>
          <p:cNvSpPr txBox="1"/>
          <p:nvPr/>
        </p:nvSpPr>
        <p:spPr>
          <a:xfrm>
            <a:off x="6029325" y="4991099"/>
            <a:ext cx="1134777" cy="194310"/>
          </a:xfrm>
          <a:prstGeom prst="rect">
            <a:avLst/>
          </a:prstGeom>
          <a:noFill/>
        </p:spPr>
        <p:txBody>
          <a:bodyPr wrap="none" lIns="0" tIns="0" rIns="0" bIns="0">
            <a:spAutoFit/>
          </a:bodyPr>
          <a:lstStyle/>
          <a:p>
            <a:r>
              <a:rPr sz="1150" b="0">
                <a:solidFill>
                  <a:srgbClr val="2E2E2E"/>
                </a:solidFill>
                <a:latin typeface="Calibri"/>
              </a:rPr>
              <a:t>total opportunity.</a:t>
            </a:r>
          </a:p>
        </p:txBody>
      </p:sp>
      <p:sp>
        <p:nvSpPr>
          <p:cNvPr id="69" name="TextBox 68"/>
          <p:cNvSpPr txBox="1"/>
          <p:nvPr/>
        </p:nvSpPr>
        <p:spPr>
          <a:xfrm>
            <a:off x="8124825" y="4114800"/>
            <a:ext cx="1292807" cy="194310"/>
          </a:xfrm>
          <a:prstGeom prst="rect">
            <a:avLst/>
          </a:prstGeom>
          <a:noFill/>
        </p:spPr>
        <p:txBody>
          <a:bodyPr wrap="none" lIns="0" tIns="0" rIns="0" bIns="0">
            <a:spAutoFit/>
          </a:bodyPr>
          <a:lstStyle/>
          <a:p>
            <a:r>
              <a:rPr sz="1150" b="0">
                <a:solidFill>
                  <a:srgbClr val="2E2E2E"/>
                </a:solidFill>
                <a:latin typeface="Calibri"/>
              </a:rPr>
              <a:t>▪ 'Veterinary-Guided</a:t>
            </a:r>
          </a:p>
        </p:txBody>
      </p:sp>
      <p:sp>
        <p:nvSpPr>
          <p:cNvPr id="70" name="TextBox 69"/>
          <p:cNvSpPr txBox="1"/>
          <p:nvPr/>
        </p:nvSpPr>
        <p:spPr>
          <a:xfrm>
            <a:off x="8124825" y="4290060"/>
            <a:ext cx="1374105" cy="194310"/>
          </a:xfrm>
          <a:prstGeom prst="rect">
            <a:avLst/>
          </a:prstGeom>
          <a:noFill/>
        </p:spPr>
        <p:txBody>
          <a:bodyPr wrap="none" lIns="0" tIns="0" rIns="0" bIns="0">
            <a:spAutoFit/>
          </a:bodyPr>
          <a:lstStyle/>
          <a:p>
            <a:r>
              <a:rPr sz="1150" b="0">
                <a:solidFill>
                  <a:srgbClr val="2E2E2E"/>
                </a:solidFill>
                <a:latin typeface="Calibri"/>
              </a:rPr>
              <a:t>Cognitive Dysfunction</a:t>
            </a:r>
          </a:p>
        </p:txBody>
      </p:sp>
      <p:sp>
        <p:nvSpPr>
          <p:cNvPr id="71" name="TextBox 70"/>
          <p:cNvSpPr txBox="1"/>
          <p:nvPr/>
        </p:nvSpPr>
        <p:spPr>
          <a:xfrm>
            <a:off x="8124825" y="4465320"/>
            <a:ext cx="1379810" cy="194310"/>
          </a:xfrm>
          <a:prstGeom prst="rect">
            <a:avLst/>
          </a:prstGeom>
          <a:noFill/>
        </p:spPr>
        <p:txBody>
          <a:bodyPr wrap="none" lIns="0" tIns="0" rIns="0" bIns="0">
            <a:spAutoFit/>
          </a:bodyPr>
          <a:lstStyle/>
          <a:p>
            <a:r>
              <a:rPr sz="1150" b="0">
                <a:solidFill>
                  <a:srgbClr val="2E2E2E"/>
                </a:solidFill>
                <a:latin typeface="Calibri"/>
              </a:rPr>
              <a:t>Support × Antioxidant</a:t>
            </a:r>
          </a:p>
        </p:txBody>
      </p:sp>
      <p:sp>
        <p:nvSpPr>
          <p:cNvPr id="72" name="TextBox 71"/>
          <p:cNvSpPr txBox="1"/>
          <p:nvPr/>
        </p:nvSpPr>
        <p:spPr>
          <a:xfrm>
            <a:off x="8124825" y="4640579"/>
            <a:ext cx="1426877" cy="194310"/>
          </a:xfrm>
          <a:prstGeom prst="rect">
            <a:avLst/>
          </a:prstGeom>
          <a:noFill/>
        </p:spPr>
        <p:txBody>
          <a:bodyPr wrap="none" lIns="0" tIns="0" rIns="0" bIns="0">
            <a:spAutoFit/>
          </a:bodyPr>
          <a:lstStyle/>
          <a:p>
            <a:r>
              <a:rPr sz="1150" b="0">
                <a:solidFill>
                  <a:srgbClr val="2E2E2E"/>
                </a:solidFill>
                <a:latin typeface="Calibri"/>
              </a:rPr>
              <a:t>Ingredients' grows at a</a:t>
            </a:r>
          </a:p>
        </p:txBody>
      </p:sp>
      <p:pic>
        <p:nvPicPr>
          <p:cNvPr id="73" name="Picture 72" descr="lock.png"/>
          <p:cNvPicPr>
            <a:picLocks noChangeAspect="1"/>
          </p:cNvPicPr>
          <p:nvPr/>
        </p:nvPicPr>
        <p:blipFill>
          <a:blip r:embed="rId4"/>
          <a:stretch>
            <a:fillRect/>
          </a:stretch>
        </p:blipFill>
        <p:spPr>
          <a:xfrm>
            <a:off x="9500856" y="4630356"/>
            <a:ext cx="134549" cy="195707"/>
          </a:xfrm>
          <a:prstGeom prst="rect">
            <a:avLst/>
          </a:prstGeom>
        </p:spPr>
      </p:pic>
      <p:sp>
        <p:nvSpPr>
          <p:cNvPr id="74" name="TextBox 73"/>
          <p:cNvSpPr txBox="1"/>
          <p:nvPr/>
        </p:nvSpPr>
        <p:spPr>
          <a:xfrm>
            <a:off x="8124825" y="4815839"/>
            <a:ext cx="446441" cy="194310"/>
          </a:xfrm>
          <a:prstGeom prst="rect">
            <a:avLst/>
          </a:prstGeom>
          <a:noFill/>
        </p:spPr>
        <p:txBody>
          <a:bodyPr wrap="none" lIns="0" tIns="0" rIns="0" bIns="0">
            <a:spAutoFit/>
          </a:bodyPr>
          <a:lstStyle/>
          <a:p>
            <a:r>
              <a:rPr sz="1150" b="0">
                <a:solidFill>
                  <a:srgbClr val="2E2E2E"/>
                </a:solidFill>
                <a:latin typeface="Calibri"/>
              </a:rPr>
              <a:t>CAGR,</a:t>
            </a:r>
          </a:p>
        </p:txBody>
      </p:sp>
      <p:pic>
        <p:nvPicPr>
          <p:cNvPr id="75" name="Picture 74" descr="lock.png"/>
          <p:cNvPicPr>
            <a:picLocks noChangeAspect="1"/>
          </p:cNvPicPr>
          <p:nvPr/>
        </p:nvPicPr>
        <p:blipFill>
          <a:blip r:embed="rId4"/>
          <a:stretch>
            <a:fillRect/>
          </a:stretch>
        </p:blipFill>
        <p:spPr>
          <a:xfrm>
            <a:off x="8520420" y="4805616"/>
            <a:ext cx="134549" cy="195707"/>
          </a:xfrm>
          <a:prstGeom prst="rect">
            <a:avLst/>
          </a:prstGeom>
        </p:spPr>
      </p:pic>
      <p:sp>
        <p:nvSpPr>
          <p:cNvPr id="76" name="TextBox 75"/>
          <p:cNvSpPr txBox="1"/>
          <p:nvPr/>
        </p:nvSpPr>
        <p:spPr>
          <a:xfrm>
            <a:off x="8695529" y="4815839"/>
            <a:ext cx="925400" cy="194310"/>
          </a:xfrm>
          <a:prstGeom prst="rect">
            <a:avLst/>
          </a:prstGeom>
          <a:noFill/>
        </p:spPr>
        <p:txBody>
          <a:bodyPr wrap="none" lIns="0" tIns="0" rIns="0" bIns="0">
            <a:spAutoFit/>
          </a:bodyPr>
          <a:lstStyle/>
          <a:p>
            <a:r>
              <a:rPr sz="1150" b="0">
                <a:solidFill>
                  <a:srgbClr val="2E2E2E"/>
                </a:solidFill>
                <a:latin typeface="Calibri"/>
              </a:rPr>
              <a:t>BPS above the</a:t>
            </a:r>
          </a:p>
        </p:txBody>
      </p:sp>
      <p:sp>
        <p:nvSpPr>
          <p:cNvPr id="77" name="TextBox 76"/>
          <p:cNvSpPr txBox="1"/>
          <p:nvPr/>
        </p:nvSpPr>
        <p:spPr>
          <a:xfrm>
            <a:off x="8124825" y="4991099"/>
            <a:ext cx="890029" cy="194310"/>
          </a:xfrm>
          <a:prstGeom prst="rect">
            <a:avLst/>
          </a:prstGeom>
          <a:noFill/>
        </p:spPr>
        <p:txBody>
          <a:bodyPr wrap="none" lIns="0" tIns="0" rIns="0" bIns="0">
            <a:spAutoFit/>
          </a:bodyPr>
          <a:lstStyle/>
          <a:p>
            <a:r>
              <a:rPr sz="1150" b="0">
                <a:solidFill>
                  <a:srgbClr val="2E2E2E"/>
                </a:solidFill>
                <a:latin typeface="Calibri"/>
              </a:rPr>
              <a:t>cross-section.</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Sales Channel × End-use Application</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Snapshot</a:t>
            </a:r>
          </a:p>
          <a:p>
            <a:pPr marL="342900" indent="-323850">
              <a:lnSpc>
                <a:spcPct val="100000"/>
              </a:lnSpc>
              <a:spcAft>
                <a:spcPts val="800"/>
              </a:spcAft>
            </a:pPr>
            <a:r>
              <a:rPr sz="2000" b="0">
                <a:solidFill>
                  <a:srgbClr val="000000"/>
                </a:solidFill>
                <a:latin typeface="Calibri"/>
              </a:rPr>
              <a:t>➤	Market Share Analysis</a:t>
            </a:r>
          </a:p>
          <a:p>
            <a:pPr marL="342900" indent="-323850">
              <a:lnSpc>
                <a:spcPct val="100000"/>
              </a:lnSpc>
              <a:spcAft>
                <a:spcPts val="800"/>
              </a:spcAft>
            </a:pPr>
            <a:r>
              <a:rPr sz="2000" b="0">
                <a:solidFill>
                  <a:srgbClr val="000000"/>
                </a:solidFill>
                <a:latin typeface="Calibri"/>
              </a:rPr>
              <a:t>➤	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Snapshot: Sales Channel × End-use Application, 2026E vs 2036F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Europe market value (US$ Mn) for each sales channel sub-segment across end-use application sub-segments</a:t>
            </a:r>
          </a:p>
        </p:txBody>
      </p:sp>
      <p:sp>
        <p:nvSpPr>
          <p:cNvPr id="10" name="Rounded Rectangle 9"/>
          <p:cNvSpPr/>
          <p:nvPr/>
        </p:nvSpPr>
        <p:spPr>
          <a:xfrm>
            <a:off x="142875" y="98107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Market Value, Sales Channel × End-use Application, 2026E and 2036F (US$ Mn)</a:t>
            </a:r>
          </a:p>
        </p:txBody>
      </p:sp>
      <p:graphicFrame>
        <p:nvGraphicFramePr>
          <p:cNvPr id="12" name="Table 11"/>
          <p:cNvGraphicFramePr>
            <a:graphicFrameLocks noGrp="1"/>
          </p:cNvGraphicFramePr>
          <p:nvPr/>
        </p:nvGraphicFramePr>
        <p:xfrm>
          <a:off x="152400" y="1238250"/>
          <a:ext cx="11887195" cy="2609849"/>
        </p:xfrm>
        <a:graphic>
          <a:graphicData uri="http://schemas.openxmlformats.org/drawingml/2006/table">
            <a:tbl>
              <a:tblPr>
                <a:tableStyleId>{5C22544A-7EE6-4342-B048-85BDC9FD1C3A}</a:tableStyleId>
              </a:tblPr>
              <a:tblGrid>
                <a:gridCol w="3195005">
                  <a:extLst>
                    <a:ext uri="{9D8B030D-6E8A-4147-A177-3AD203B41FA5}">
                      <a16:colId xmlns:a16="http://schemas.microsoft.com/office/drawing/2014/main" val="20000"/>
                    </a:ext>
                  </a:extLst>
                </a:gridCol>
                <a:gridCol w="869219">
                  <a:extLst>
                    <a:ext uri="{9D8B030D-6E8A-4147-A177-3AD203B41FA5}">
                      <a16:colId xmlns:a16="http://schemas.microsoft.com/office/drawing/2014/main" val="20001"/>
                    </a:ext>
                  </a:extLst>
                </a:gridCol>
                <a:gridCol w="869219">
                  <a:extLst>
                    <a:ext uri="{9D8B030D-6E8A-4147-A177-3AD203B41FA5}">
                      <a16:colId xmlns:a16="http://schemas.microsoft.com/office/drawing/2014/main" val="20002"/>
                    </a:ext>
                  </a:extLst>
                </a:gridCol>
                <a:gridCol w="869219">
                  <a:extLst>
                    <a:ext uri="{9D8B030D-6E8A-4147-A177-3AD203B41FA5}">
                      <a16:colId xmlns:a16="http://schemas.microsoft.com/office/drawing/2014/main" val="20003"/>
                    </a:ext>
                  </a:extLst>
                </a:gridCol>
                <a:gridCol w="869219">
                  <a:extLst>
                    <a:ext uri="{9D8B030D-6E8A-4147-A177-3AD203B41FA5}">
                      <a16:colId xmlns:a16="http://schemas.microsoft.com/office/drawing/2014/main" val="20004"/>
                    </a:ext>
                  </a:extLst>
                </a:gridCol>
                <a:gridCol w="869219">
                  <a:extLst>
                    <a:ext uri="{9D8B030D-6E8A-4147-A177-3AD203B41FA5}">
                      <a16:colId xmlns:a16="http://schemas.microsoft.com/office/drawing/2014/main" val="20005"/>
                    </a:ext>
                  </a:extLst>
                </a:gridCol>
                <a:gridCol w="869219">
                  <a:extLst>
                    <a:ext uri="{9D8B030D-6E8A-4147-A177-3AD203B41FA5}">
                      <a16:colId xmlns:a16="http://schemas.microsoft.com/office/drawing/2014/main" val="20006"/>
                    </a:ext>
                  </a:extLst>
                </a:gridCol>
                <a:gridCol w="869219">
                  <a:extLst>
                    <a:ext uri="{9D8B030D-6E8A-4147-A177-3AD203B41FA5}">
                      <a16:colId xmlns:a16="http://schemas.microsoft.com/office/drawing/2014/main" val="20007"/>
                    </a:ext>
                  </a:extLst>
                </a:gridCol>
                <a:gridCol w="869219">
                  <a:extLst>
                    <a:ext uri="{9D8B030D-6E8A-4147-A177-3AD203B41FA5}">
                      <a16:colId xmlns:a16="http://schemas.microsoft.com/office/drawing/2014/main" val="20008"/>
                    </a:ext>
                  </a:extLst>
                </a:gridCol>
                <a:gridCol w="869219">
                  <a:extLst>
                    <a:ext uri="{9D8B030D-6E8A-4147-A177-3AD203B41FA5}">
                      <a16:colId xmlns:a16="http://schemas.microsoft.com/office/drawing/2014/main" val="20009"/>
                    </a:ext>
                  </a:extLst>
                </a:gridCol>
                <a:gridCol w="869219">
                  <a:extLst>
                    <a:ext uri="{9D8B030D-6E8A-4147-A177-3AD203B41FA5}">
                      <a16:colId xmlns:a16="http://schemas.microsoft.com/office/drawing/2014/main" val="20010"/>
                    </a:ext>
                  </a:extLst>
                </a:gridCol>
              </a:tblGrid>
              <a:tr h="631697">
                <a:tc rowSpan="2">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Preventive Cognitive</a:t>
                      </a:r>
                      <a:endParaRPr sz="1100"/>
                    </a:p>
                    <a:p>
                      <a:pPr algn="ctr"/>
                      <a:r>
                        <a:rPr sz="1100" b="1">
                          <a:solidFill>
                            <a:srgbClr val="0B2E4A"/>
                          </a:solidFill>
                          <a:latin typeface="Calibri"/>
                        </a:rPr>
                        <a:t>Support for Senior Dogs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Support for Observable</a:t>
                      </a:r>
                      <a:endParaRPr sz="1100"/>
                    </a:p>
                    <a:p>
                      <a:pPr algn="ctr"/>
                      <a:r>
                        <a:rPr sz="1100" b="1">
                          <a:solidFill>
                            <a:srgbClr val="0B2E4A"/>
                          </a:solidFill>
                          <a:latin typeface="Calibri"/>
                        </a:rPr>
                        <a:t>Age-Related Cognitive</a:t>
                      </a:r>
                      <a:endParaRPr sz="1100"/>
                    </a:p>
                    <a:p>
                      <a:pPr algn="ctr"/>
                      <a:r>
                        <a:rPr sz="1100" b="1">
                          <a:solidFill>
                            <a:srgbClr val="0B2E4A"/>
                          </a:solidFill>
                          <a:latin typeface="Calibri"/>
                        </a:rPr>
                        <a:t>Changes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Veterinary-Guided</a:t>
                      </a:r>
                      <a:endParaRPr sz="1100"/>
                    </a:p>
                    <a:p>
                      <a:pPr algn="ctr"/>
                      <a:r>
                        <a:rPr sz="1100" b="1">
                          <a:solidFill>
                            <a:srgbClr val="0B2E4A"/>
                          </a:solidFill>
                          <a:latin typeface="Calibri"/>
                        </a:rPr>
                        <a:t>Cognitive Dysfunction</a:t>
                      </a:r>
                      <a:endParaRPr sz="1100"/>
                    </a:p>
                    <a:p>
                      <a:pPr algn="ctr"/>
                      <a:r>
                        <a:rPr sz="1100" b="1">
                          <a:solidFill>
                            <a:srgbClr val="0B2E4A"/>
                          </a:solidFill>
                          <a:latin typeface="Calibri"/>
                        </a:rPr>
                        <a:t>Support</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269">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7269">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7269">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7269">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7269">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7269">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6"/>
                  </a:ext>
                </a:extLst>
              </a:tr>
              <a:tr h="247269">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7"/>
                  </a:ext>
                </a:extLst>
              </a:tr>
              <a:tr h="247269">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3" name="TextBox 12"/>
          <p:cNvSpPr txBox="1"/>
          <p:nvPr/>
        </p:nvSpPr>
        <p:spPr>
          <a:xfrm>
            <a:off x="219075" y="385762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506810" y="2715958"/>
            <a:ext cx="366712" cy="5334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Snapshot: Sales Channel × End-use Application, 2026E vs 2036F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Europe market value (US$ Mn) for each sales channel sub-segment across end-use application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Flow, Sales Channel → End-use Application, 2036F (US$ Mn)</a:t>
            </a:r>
          </a:p>
        </p:txBody>
      </p:sp>
      <p:sp>
        <p:nvSpPr>
          <p:cNvPr id="12" name="Freeform 11"/>
          <p:cNvSpPr/>
          <p:nvPr/>
        </p:nvSpPr>
        <p:spPr>
          <a:xfrm>
            <a:off x="2057400" y="1304925"/>
            <a:ext cx="3743325" cy="733425"/>
          </a:xfrm>
          <a:custGeom>
            <a:avLst/>
            <a:gdLst/>
            <a:ahLst/>
            <a:cxnLst/>
            <a:rect l="l" t="t" r="r" b="b"/>
            <a:pathLst>
              <a:path w="393" h="77">
                <a:moveTo>
                  <a:pt x="0" y="0"/>
                </a:moveTo>
                <a:lnTo>
                  <a:pt x="16" y="0"/>
                </a:lnTo>
                <a:lnTo>
                  <a:pt x="33" y="0"/>
                </a:lnTo>
                <a:lnTo>
                  <a:pt x="49" y="0"/>
                </a:lnTo>
                <a:lnTo>
                  <a:pt x="65" y="0"/>
                </a:lnTo>
                <a:lnTo>
                  <a:pt x="82" y="1"/>
                </a:lnTo>
                <a:lnTo>
                  <a:pt x="98" y="1"/>
                </a:lnTo>
                <a:lnTo>
                  <a:pt x="114" y="1"/>
                </a:lnTo>
                <a:lnTo>
                  <a:pt x="131" y="2"/>
                </a:lnTo>
                <a:lnTo>
                  <a:pt x="147" y="2"/>
                </a:lnTo>
                <a:lnTo>
                  <a:pt x="164" y="2"/>
                </a:lnTo>
                <a:lnTo>
                  <a:pt x="180" y="3"/>
                </a:lnTo>
                <a:lnTo>
                  <a:pt x="196" y="3"/>
                </a:lnTo>
                <a:lnTo>
                  <a:pt x="213" y="3"/>
                </a:lnTo>
                <a:lnTo>
                  <a:pt x="229" y="4"/>
                </a:lnTo>
                <a:lnTo>
                  <a:pt x="246" y="4"/>
                </a:lnTo>
                <a:lnTo>
                  <a:pt x="262" y="4"/>
                </a:lnTo>
                <a:lnTo>
                  <a:pt x="278" y="5"/>
                </a:lnTo>
                <a:lnTo>
                  <a:pt x="295" y="5"/>
                </a:lnTo>
                <a:lnTo>
                  <a:pt x="311" y="5"/>
                </a:lnTo>
                <a:lnTo>
                  <a:pt x="327" y="6"/>
                </a:lnTo>
                <a:lnTo>
                  <a:pt x="344" y="6"/>
                </a:lnTo>
                <a:lnTo>
                  <a:pt x="360" y="6"/>
                </a:lnTo>
                <a:lnTo>
                  <a:pt x="377" y="6"/>
                </a:lnTo>
                <a:lnTo>
                  <a:pt x="393" y="6"/>
                </a:lnTo>
                <a:lnTo>
                  <a:pt x="393" y="77"/>
                </a:lnTo>
                <a:lnTo>
                  <a:pt x="377" y="77"/>
                </a:lnTo>
                <a:lnTo>
                  <a:pt x="360" y="77"/>
                </a:lnTo>
                <a:lnTo>
                  <a:pt x="344" y="77"/>
                </a:lnTo>
                <a:lnTo>
                  <a:pt x="327" y="77"/>
                </a:lnTo>
                <a:lnTo>
                  <a:pt x="311" y="76"/>
                </a:lnTo>
                <a:lnTo>
                  <a:pt x="295" y="76"/>
                </a:lnTo>
                <a:lnTo>
                  <a:pt x="278" y="76"/>
                </a:lnTo>
                <a:lnTo>
                  <a:pt x="262" y="75"/>
                </a:lnTo>
                <a:lnTo>
                  <a:pt x="246" y="75"/>
                </a:lnTo>
                <a:lnTo>
                  <a:pt x="229" y="75"/>
                </a:lnTo>
                <a:lnTo>
                  <a:pt x="213" y="74"/>
                </a:lnTo>
                <a:lnTo>
                  <a:pt x="196" y="74"/>
                </a:lnTo>
                <a:lnTo>
                  <a:pt x="180" y="74"/>
                </a:lnTo>
                <a:lnTo>
                  <a:pt x="164" y="73"/>
                </a:lnTo>
                <a:lnTo>
                  <a:pt x="147" y="73"/>
                </a:lnTo>
                <a:lnTo>
                  <a:pt x="131" y="73"/>
                </a:lnTo>
                <a:lnTo>
                  <a:pt x="114" y="72"/>
                </a:lnTo>
                <a:lnTo>
                  <a:pt x="98" y="72"/>
                </a:lnTo>
                <a:lnTo>
                  <a:pt x="82" y="72"/>
                </a:lnTo>
                <a:lnTo>
                  <a:pt x="65" y="71"/>
                </a:lnTo>
                <a:lnTo>
                  <a:pt x="49" y="71"/>
                </a:lnTo>
                <a:lnTo>
                  <a:pt x="33" y="71"/>
                </a:lnTo>
                <a:lnTo>
                  <a:pt x="16" y="71"/>
                </a:lnTo>
                <a:lnTo>
                  <a:pt x="0" y="7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2057400" y="1981200"/>
            <a:ext cx="3743325" cy="2419350"/>
          </a:xfrm>
          <a:custGeom>
            <a:avLst/>
            <a:gdLst/>
            <a:ahLst/>
            <a:cxnLst/>
            <a:rect l="l" t="t" r="r" b="b"/>
            <a:pathLst>
              <a:path w="393" h="254">
                <a:moveTo>
                  <a:pt x="0" y="0"/>
                </a:moveTo>
                <a:lnTo>
                  <a:pt x="16" y="1"/>
                </a:lnTo>
                <a:lnTo>
                  <a:pt x="33" y="4"/>
                </a:lnTo>
                <a:lnTo>
                  <a:pt x="49" y="10"/>
                </a:lnTo>
                <a:lnTo>
                  <a:pt x="65" y="17"/>
                </a:lnTo>
                <a:lnTo>
                  <a:pt x="82" y="25"/>
                </a:lnTo>
                <a:lnTo>
                  <a:pt x="98" y="36"/>
                </a:lnTo>
                <a:lnTo>
                  <a:pt x="114" y="47"/>
                </a:lnTo>
                <a:lnTo>
                  <a:pt x="131" y="59"/>
                </a:lnTo>
                <a:lnTo>
                  <a:pt x="147" y="72"/>
                </a:lnTo>
                <a:lnTo>
                  <a:pt x="164" y="86"/>
                </a:lnTo>
                <a:lnTo>
                  <a:pt x="180" y="100"/>
                </a:lnTo>
                <a:lnTo>
                  <a:pt x="196" y="114"/>
                </a:lnTo>
                <a:lnTo>
                  <a:pt x="213" y="128"/>
                </a:lnTo>
                <a:lnTo>
                  <a:pt x="229" y="142"/>
                </a:lnTo>
                <a:lnTo>
                  <a:pt x="246" y="156"/>
                </a:lnTo>
                <a:lnTo>
                  <a:pt x="262" y="169"/>
                </a:lnTo>
                <a:lnTo>
                  <a:pt x="278" y="181"/>
                </a:lnTo>
                <a:lnTo>
                  <a:pt x="295" y="192"/>
                </a:lnTo>
                <a:lnTo>
                  <a:pt x="311" y="202"/>
                </a:lnTo>
                <a:lnTo>
                  <a:pt x="327" y="211"/>
                </a:lnTo>
                <a:lnTo>
                  <a:pt x="344" y="218"/>
                </a:lnTo>
                <a:lnTo>
                  <a:pt x="360" y="223"/>
                </a:lnTo>
                <a:lnTo>
                  <a:pt x="377" y="227"/>
                </a:lnTo>
                <a:lnTo>
                  <a:pt x="393" y="228"/>
                </a:lnTo>
                <a:lnTo>
                  <a:pt x="393" y="254"/>
                </a:lnTo>
                <a:lnTo>
                  <a:pt x="377" y="253"/>
                </a:lnTo>
                <a:lnTo>
                  <a:pt x="360" y="250"/>
                </a:lnTo>
                <a:lnTo>
                  <a:pt x="344" y="245"/>
                </a:lnTo>
                <a:lnTo>
                  <a:pt x="327" y="238"/>
                </a:lnTo>
                <a:lnTo>
                  <a:pt x="311" y="229"/>
                </a:lnTo>
                <a:lnTo>
                  <a:pt x="295" y="219"/>
                </a:lnTo>
                <a:lnTo>
                  <a:pt x="278" y="208"/>
                </a:lnTo>
                <a:lnTo>
                  <a:pt x="262" y="195"/>
                </a:lnTo>
                <a:lnTo>
                  <a:pt x="246" y="182"/>
                </a:lnTo>
                <a:lnTo>
                  <a:pt x="229" y="169"/>
                </a:lnTo>
                <a:lnTo>
                  <a:pt x="213" y="155"/>
                </a:lnTo>
                <a:lnTo>
                  <a:pt x="196" y="141"/>
                </a:lnTo>
                <a:lnTo>
                  <a:pt x="180" y="126"/>
                </a:lnTo>
                <a:lnTo>
                  <a:pt x="164" y="112"/>
                </a:lnTo>
                <a:lnTo>
                  <a:pt x="147" y="99"/>
                </a:lnTo>
                <a:lnTo>
                  <a:pt x="131" y="86"/>
                </a:lnTo>
                <a:lnTo>
                  <a:pt x="114" y="74"/>
                </a:lnTo>
                <a:lnTo>
                  <a:pt x="98" y="62"/>
                </a:lnTo>
                <a:lnTo>
                  <a:pt x="82" y="52"/>
                </a:lnTo>
                <a:lnTo>
                  <a:pt x="65" y="44"/>
                </a:lnTo>
                <a:lnTo>
                  <a:pt x="49" y="37"/>
                </a:lnTo>
                <a:lnTo>
                  <a:pt x="33" y="31"/>
                </a:lnTo>
                <a:lnTo>
                  <a:pt x="16" y="28"/>
                </a:lnTo>
                <a:lnTo>
                  <a:pt x="0" y="2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2057400" y="2238375"/>
            <a:ext cx="3743325" cy="3248025"/>
          </a:xfrm>
          <a:custGeom>
            <a:avLst/>
            <a:gdLst/>
            <a:ahLst/>
            <a:cxnLst/>
            <a:rect l="l" t="t" r="r" b="b"/>
            <a:pathLst>
              <a:path w="393" h="341">
                <a:moveTo>
                  <a:pt x="0" y="0"/>
                </a:moveTo>
                <a:lnTo>
                  <a:pt x="16" y="1"/>
                </a:lnTo>
                <a:lnTo>
                  <a:pt x="33" y="6"/>
                </a:lnTo>
                <a:lnTo>
                  <a:pt x="49" y="14"/>
                </a:lnTo>
                <a:lnTo>
                  <a:pt x="65" y="24"/>
                </a:lnTo>
                <a:lnTo>
                  <a:pt x="82" y="37"/>
                </a:lnTo>
                <a:lnTo>
                  <a:pt x="98" y="51"/>
                </a:lnTo>
                <a:lnTo>
                  <a:pt x="114" y="68"/>
                </a:lnTo>
                <a:lnTo>
                  <a:pt x="131" y="85"/>
                </a:lnTo>
                <a:lnTo>
                  <a:pt x="147" y="104"/>
                </a:lnTo>
                <a:lnTo>
                  <a:pt x="164" y="124"/>
                </a:lnTo>
                <a:lnTo>
                  <a:pt x="180" y="144"/>
                </a:lnTo>
                <a:lnTo>
                  <a:pt x="196" y="165"/>
                </a:lnTo>
                <a:lnTo>
                  <a:pt x="213" y="185"/>
                </a:lnTo>
                <a:lnTo>
                  <a:pt x="229" y="205"/>
                </a:lnTo>
                <a:lnTo>
                  <a:pt x="246" y="225"/>
                </a:lnTo>
                <a:lnTo>
                  <a:pt x="262" y="244"/>
                </a:lnTo>
                <a:lnTo>
                  <a:pt x="278" y="262"/>
                </a:lnTo>
                <a:lnTo>
                  <a:pt x="295" y="278"/>
                </a:lnTo>
                <a:lnTo>
                  <a:pt x="311" y="293"/>
                </a:lnTo>
                <a:lnTo>
                  <a:pt x="327" y="305"/>
                </a:lnTo>
                <a:lnTo>
                  <a:pt x="344" y="315"/>
                </a:lnTo>
                <a:lnTo>
                  <a:pt x="360" y="323"/>
                </a:lnTo>
                <a:lnTo>
                  <a:pt x="377" y="328"/>
                </a:lnTo>
                <a:lnTo>
                  <a:pt x="393" y="329"/>
                </a:lnTo>
                <a:lnTo>
                  <a:pt x="393" y="341"/>
                </a:lnTo>
                <a:lnTo>
                  <a:pt x="377" y="339"/>
                </a:lnTo>
                <a:lnTo>
                  <a:pt x="360" y="334"/>
                </a:lnTo>
                <a:lnTo>
                  <a:pt x="344" y="327"/>
                </a:lnTo>
                <a:lnTo>
                  <a:pt x="327" y="316"/>
                </a:lnTo>
                <a:lnTo>
                  <a:pt x="311" y="304"/>
                </a:lnTo>
                <a:lnTo>
                  <a:pt x="295" y="289"/>
                </a:lnTo>
                <a:lnTo>
                  <a:pt x="278" y="273"/>
                </a:lnTo>
                <a:lnTo>
                  <a:pt x="262" y="255"/>
                </a:lnTo>
                <a:lnTo>
                  <a:pt x="246" y="237"/>
                </a:lnTo>
                <a:lnTo>
                  <a:pt x="229" y="217"/>
                </a:lnTo>
                <a:lnTo>
                  <a:pt x="213" y="197"/>
                </a:lnTo>
                <a:lnTo>
                  <a:pt x="196" y="176"/>
                </a:lnTo>
                <a:lnTo>
                  <a:pt x="180" y="155"/>
                </a:lnTo>
                <a:lnTo>
                  <a:pt x="164" y="135"/>
                </a:lnTo>
                <a:lnTo>
                  <a:pt x="147" y="115"/>
                </a:lnTo>
                <a:lnTo>
                  <a:pt x="131" y="97"/>
                </a:lnTo>
                <a:lnTo>
                  <a:pt x="114" y="79"/>
                </a:lnTo>
                <a:lnTo>
                  <a:pt x="98" y="63"/>
                </a:lnTo>
                <a:lnTo>
                  <a:pt x="82" y="48"/>
                </a:lnTo>
                <a:lnTo>
                  <a:pt x="65" y="36"/>
                </a:lnTo>
                <a:lnTo>
                  <a:pt x="49" y="25"/>
                </a:lnTo>
                <a:lnTo>
                  <a:pt x="33" y="18"/>
                </a:lnTo>
                <a:lnTo>
                  <a:pt x="16" y="13"/>
                </a:lnTo>
                <a:lnTo>
                  <a:pt x="0" y="1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2057400" y="2343150"/>
            <a:ext cx="3743325" cy="3752850"/>
          </a:xfrm>
          <a:custGeom>
            <a:avLst/>
            <a:gdLst/>
            <a:ahLst/>
            <a:cxnLst/>
            <a:rect l="l" t="t" r="r" b="b"/>
            <a:pathLst>
              <a:path w="393" h="394">
                <a:moveTo>
                  <a:pt x="0" y="0"/>
                </a:moveTo>
                <a:lnTo>
                  <a:pt x="16" y="2"/>
                </a:lnTo>
                <a:lnTo>
                  <a:pt x="33" y="8"/>
                </a:lnTo>
                <a:lnTo>
                  <a:pt x="49" y="17"/>
                </a:lnTo>
                <a:lnTo>
                  <a:pt x="65" y="28"/>
                </a:lnTo>
                <a:lnTo>
                  <a:pt x="82" y="43"/>
                </a:lnTo>
                <a:lnTo>
                  <a:pt x="98" y="60"/>
                </a:lnTo>
                <a:lnTo>
                  <a:pt x="114" y="79"/>
                </a:lnTo>
                <a:lnTo>
                  <a:pt x="131" y="99"/>
                </a:lnTo>
                <a:lnTo>
                  <a:pt x="147" y="121"/>
                </a:lnTo>
                <a:lnTo>
                  <a:pt x="164" y="144"/>
                </a:lnTo>
                <a:lnTo>
                  <a:pt x="180" y="167"/>
                </a:lnTo>
                <a:lnTo>
                  <a:pt x="196" y="191"/>
                </a:lnTo>
                <a:lnTo>
                  <a:pt x="213" y="215"/>
                </a:lnTo>
                <a:lnTo>
                  <a:pt x="229" y="238"/>
                </a:lnTo>
                <a:lnTo>
                  <a:pt x="246" y="261"/>
                </a:lnTo>
                <a:lnTo>
                  <a:pt x="262" y="283"/>
                </a:lnTo>
                <a:lnTo>
                  <a:pt x="278" y="304"/>
                </a:lnTo>
                <a:lnTo>
                  <a:pt x="295" y="322"/>
                </a:lnTo>
                <a:lnTo>
                  <a:pt x="311" y="339"/>
                </a:lnTo>
                <a:lnTo>
                  <a:pt x="327" y="354"/>
                </a:lnTo>
                <a:lnTo>
                  <a:pt x="344" y="366"/>
                </a:lnTo>
                <a:lnTo>
                  <a:pt x="360" y="375"/>
                </a:lnTo>
                <a:lnTo>
                  <a:pt x="377" y="380"/>
                </a:lnTo>
                <a:lnTo>
                  <a:pt x="393" y="382"/>
                </a:lnTo>
                <a:lnTo>
                  <a:pt x="393" y="394"/>
                </a:lnTo>
                <a:lnTo>
                  <a:pt x="377" y="392"/>
                </a:lnTo>
                <a:lnTo>
                  <a:pt x="360" y="386"/>
                </a:lnTo>
                <a:lnTo>
                  <a:pt x="344" y="377"/>
                </a:lnTo>
                <a:lnTo>
                  <a:pt x="327" y="366"/>
                </a:lnTo>
                <a:lnTo>
                  <a:pt x="311" y="351"/>
                </a:lnTo>
                <a:lnTo>
                  <a:pt x="295" y="334"/>
                </a:lnTo>
                <a:lnTo>
                  <a:pt x="278" y="315"/>
                </a:lnTo>
                <a:lnTo>
                  <a:pt x="262" y="295"/>
                </a:lnTo>
                <a:lnTo>
                  <a:pt x="246" y="273"/>
                </a:lnTo>
                <a:lnTo>
                  <a:pt x="229" y="250"/>
                </a:lnTo>
                <a:lnTo>
                  <a:pt x="213" y="227"/>
                </a:lnTo>
                <a:lnTo>
                  <a:pt x="196" y="203"/>
                </a:lnTo>
                <a:lnTo>
                  <a:pt x="180" y="179"/>
                </a:lnTo>
                <a:lnTo>
                  <a:pt x="164" y="156"/>
                </a:lnTo>
                <a:lnTo>
                  <a:pt x="147" y="133"/>
                </a:lnTo>
                <a:lnTo>
                  <a:pt x="131" y="111"/>
                </a:lnTo>
                <a:lnTo>
                  <a:pt x="114" y="90"/>
                </a:lnTo>
                <a:lnTo>
                  <a:pt x="98" y="72"/>
                </a:lnTo>
                <a:lnTo>
                  <a:pt x="82" y="55"/>
                </a:lnTo>
                <a:lnTo>
                  <a:pt x="65" y="40"/>
                </a:lnTo>
                <a:lnTo>
                  <a:pt x="49" y="28"/>
                </a:lnTo>
                <a:lnTo>
                  <a:pt x="33" y="19"/>
                </a:lnTo>
                <a:lnTo>
                  <a:pt x="16" y="14"/>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2057400" y="2038350"/>
            <a:ext cx="3743325" cy="1104900"/>
          </a:xfrm>
          <a:custGeom>
            <a:avLst/>
            <a:gdLst/>
            <a:ahLst/>
            <a:cxnLst/>
            <a:rect l="l" t="t" r="r" b="b"/>
            <a:pathLst>
              <a:path w="393" h="116">
                <a:moveTo>
                  <a:pt x="0" y="50"/>
                </a:moveTo>
                <a:lnTo>
                  <a:pt x="16" y="50"/>
                </a:lnTo>
                <a:lnTo>
                  <a:pt x="33" y="49"/>
                </a:lnTo>
                <a:lnTo>
                  <a:pt x="49" y="48"/>
                </a:lnTo>
                <a:lnTo>
                  <a:pt x="65" y="46"/>
                </a:lnTo>
                <a:lnTo>
                  <a:pt x="82" y="44"/>
                </a:lnTo>
                <a:lnTo>
                  <a:pt x="98" y="42"/>
                </a:lnTo>
                <a:lnTo>
                  <a:pt x="114" y="40"/>
                </a:lnTo>
                <a:lnTo>
                  <a:pt x="131" y="37"/>
                </a:lnTo>
                <a:lnTo>
                  <a:pt x="147" y="34"/>
                </a:lnTo>
                <a:lnTo>
                  <a:pt x="164" y="31"/>
                </a:lnTo>
                <a:lnTo>
                  <a:pt x="180" y="28"/>
                </a:lnTo>
                <a:lnTo>
                  <a:pt x="196" y="25"/>
                </a:lnTo>
                <a:lnTo>
                  <a:pt x="213" y="22"/>
                </a:lnTo>
                <a:lnTo>
                  <a:pt x="229" y="19"/>
                </a:lnTo>
                <a:lnTo>
                  <a:pt x="246" y="16"/>
                </a:lnTo>
                <a:lnTo>
                  <a:pt x="262" y="13"/>
                </a:lnTo>
                <a:lnTo>
                  <a:pt x="278" y="10"/>
                </a:lnTo>
                <a:lnTo>
                  <a:pt x="295" y="8"/>
                </a:lnTo>
                <a:lnTo>
                  <a:pt x="311" y="6"/>
                </a:lnTo>
                <a:lnTo>
                  <a:pt x="327" y="4"/>
                </a:lnTo>
                <a:lnTo>
                  <a:pt x="344" y="2"/>
                </a:lnTo>
                <a:lnTo>
                  <a:pt x="360" y="1"/>
                </a:lnTo>
                <a:lnTo>
                  <a:pt x="377" y="0"/>
                </a:lnTo>
                <a:lnTo>
                  <a:pt x="393" y="0"/>
                </a:lnTo>
                <a:lnTo>
                  <a:pt x="393" y="66"/>
                </a:lnTo>
                <a:lnTo>
                  <a:pt x="377" y="66"/>
                </a:lnTo>
                <a:lnTo>
                  <a:pt x="360" y="67"/>
                </a:lnTo>
                <a:lnTo>
                  <a:pt x="344" y="68"/>
                </a:lnTo>
                <a:lnTo>
                  <a:pt x="327" y="70"/>
                </a:lnTo>
                <a:lnTo>
                  <a:pt x="311" y="72"/>
                </a:lnTo>
                <a:lnTo>
                  <a:pt x="295" y="74"/>
                </a:lnTo>
                <a:lnTo>
                  <a:pt x="278" y="76"/>
                </a:lnTo>
                <a:lnTo>
                  <a:pt x="262" y="79"/>
                </a:lnTo>
                <a:lnTo>
                  <a:pt x="246" y="82"/>
                </a:lnTo>
                <a:lnTo>
                  <a:pt x="229" y="85"/>
                </a:lnTo>
                <a:lnTo>
                  <a:pt x="213" y="88"/>
                </a:lnTo>
                <a:lnTo>
                  <a:pt x="196" y="91"/>
                </a:lnTo>
                <a:lnTo>
                  <a:pt x="180" y="94"/>
                </a:lnTo>
                <a:lnTo>
                  <a:pt x="164" y="97"/>
                </a:lnTo>
                <a:lnTo>
                  <a:pt x="147" y="100"/>
                </a:lnTo>
                <a:lnTo>
                  <a:pt x="131" y="103"/>
                </a:lnTo>
                <a:lnTo>
                  <a:pt x="114" y="106"/>
                </a:lnTo>
                <a:lnTo>
                  <a:pt x="98" y="108"/>
                </a:lnTo>
                <a:lnTo>
                  <a:pt x="82" y="110"/>
                </a:lnTo>
                <a:lnTo>
                  <a:pt x="65" y="112"/>
                </a:lnTo>
                <a:lnTo>
                  <a:pt x="49" y="114"/>
                </a:lnTo>
                <a:lnTo>
                  <a:pt x="33" y="115"/>
                </a:lnTo>
                <a:lnTo>
                  <a:pt x="16" y="116"/>
                </a:lnTo>
                <a:lnTo>
                  <a:pt x="0" y="11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2057400" y="3143250"/>
            <a:ext cx="3743325" cy="1514475"/>
          </a:xfrm>
          <a:custGeom>
            <a:avLst/>
            <a:gdLst/>
            <a:ahLst/>
            <a:cxnLst/>
            <a:rect l="l" t="t" r="r" b="b"/>
            <a:pathLst>
              <a:path w="393" h="159">
                <a:moveTo>
                  <a:pt x="0" y="0"/>
                </a:moveTo>
                <a:lnTo>
                  <a:pt x="16" y="1"/>
                </a:lnTo>
                <a:lnTo>
                  <a:pt x="33" y="3"/>
                </a:lnTo>
                <a:lnTo>
                  <a:pt x="49" y="6"/>
                </a:lnTo>
                <a:lnTo>
                  <a:pt x="65" y="10"/>
                </a:lnTo>
                <a:lnTo>
                  <a:pt x="82" y="15"/>
                </a:lnTo>
                <a:lnTo>
                  <a:pt x="98" y="21"/>
                </a:lnTo>
                <a:lnTo>
                  <a:pt x="114" y="27"/>
                </a:lnTo>
                <a:lnTo>
                  <a:pt x="131" y="34"/>
                </a:lnTo>
                <a:lnTo>
                  <a:pt x="147" y="42"/>
                </a:lnTo>
                <a:lnTo>
                  <a:pt x="164" y="50"/>
                </a:lnTo>
                <a:lnTo>
                  <a:pt x="180" y="58"/>
                </a:lnTo>
                <a:lnTo>
                  <a:pt x="196" y="66"/>
                </a:lnTo>
                <a:lnTo>
                  <a:pt x="213" y="74"/>
                </a:lnTo>
                <a:lnTo>
                  <a:pt x="229" y="83"/>
                </a:lnTo>
                <a:lnTo>
                  <a:pt x="246" y="91"/>
                </a:lnTo>
                <a:lnTo>
                  <a:pt x="262" y="98"/>
                </a:lnTo>
                <a:lnTo>
                  <a:pt x="278" y="105"/>
                </a:lnTo>
                <a:lnTo>
                  <a:pt x="295" y="112"/>
                </a:lnTo>
                <a:lnTo>
                  <a:pt x="311" y="118"/>
                </a:lnTo>
                <a:lnTo>
                  <a:pt x="327" y="123"/>
                </a:lnTo>
                <a:lnTo>
                  <a:pt x="344" y="127"/>
                </a:lnTo>
                <a:lnTo>
                  <a:pt x="360" y="130"/>
                </a:lnTo>
                <a:lnTo>
                  <a:pt x="377" y="132"/>
                </a:lnTo>
                <a:lnTo>
                  <a:pt x="393" y="132"/>
                </a:lnTo>
                <a:lnTo>
                  <a:pt x="393" y="159"/>
                </a:lnTo>
                <a:lnTo>
                  <a:pt x="377" y="158"/>
                </a:lnTo>
                <a:lnTo>
                  <a:pt x="360" y="156"/>
                </a:lnTo>
                <a:lnTo>
                  <a:pt x="344" y="153"/>
                </a:lnTo>
                <a:lnTo>
                  <a:pt x="327" y="149"/>
                </a:lnTo>
                <a:lnTo>
                  <a:pt x="311" y="144"/>
                </a:lnTo>
                <a:lnTo>
                  <a:pt x="295" y="138"/>
                </a:lnTo>
                <a:lnTo>
                  <a:pt x="278" y="132"/>
                </a:lnTo>
                <a:lnTo>
                  <a:pt x="262" y="124"/>
                </a:lnTo>
                <a:lnTo>
                  <a:pt x="246" y="117"/>
                </a:lnTo>
                <a:lnTo>
                  <a:pt x="229" y="109"/>
                </a:lnTo>
                <a:lnTo>
                  <a:pt x="213" y="101"/>
                </a:lnTo>
                <a:lnTo>
                  <a:pt x="196" y="93"/>
                </a:lnTo>
                <a:lnTo>
                  <a:pt x="180" y="84"/>
                </a:lnTo>
                <a:lnTo>
                  <a:pt x="164" y="76"/>
                </a:lnTo>
                <a:lnTo>
                  <a:pt x="147" y="68"/>
                </a:lnTo>
                <a:lnTo>
                  <a:pt x="131" y="61"/>
                </a:lnTo>
                <a:lnTo>
                  <a:pt x="114" y="54"/>
                </a:lnTo>
                <a:lnTo>
                  <a:pt x="98" y="47"/>
                </a:lnTo>
                <a:lnTo>
                  <a:pt x="82" y="41"/>
                </a:lnTo>
                <a:lnTo>
                  <a:pt x="65" y="36"/>
                </a:lnTo>
                <a:lnTo>
                  <a:pt x="49" y="32"/>
                </a:lnTo>
                <a:lnTo>
                  <a:pt x="33" y="29"/>
                </a:lnTo>
                <a:lnTo>
                  <a:pt x="16" y="27"/>
                </a:lnTo>
                <a:lnTo>
                  <a:pt x="0" y="2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2057400" y="3390900"/>
            <a:ext cx="3743325" cy="2238375"/>
          </a:xfrm>
          <a:custGeom>
            <a:avLst/>
            <a:gdLst/>
            <a:ahLst/>
            <a:cxnLst/>
            <a:rect l="l" t="t" r="r" b="b"/>
            <a:pathLst>
              <a:path w="393" h="235">
                <a:moveTo>
                  <a:pt x="0" y="0"/>
                </a:moveTo>
                <a:lnTo>
                  <a:pt x="16" y="1"/>
                </a:lnTo>
                <a:lnTo>
                  <a:pt x="33" y="5"/>
                </a:lnTo>
                <a:lnTo>
                  <a:pt x="49" y="10"/>
                </a:lnTo>
                <a:lnTo>
                  <a:pt x="65" y="17"/>
                </a:lnTo>
                <a:lnTo>
                  <a:pt x="82" y="25"/>
                </a:lnTo>
                <a:lnTo>
                  <a:pt x="98" y="35"/>
                </a:lnTo>
                <a:lnTo>
                  <a:pt x="114" y="45"/>
                </a:lnTo>
                <a:lnTo>
                  <a:pt x="131" y="57"/>
                </a:lnTo>
                <a:lnTo>
                  <a:pt x="147" y="70"/>
                </a:lnTo>
                <a:lnTo>
                  <a:pt x="164" y="83"/>
                </a:lnTo>
                <a:lnTo>
                  <a:pt x="180" y="96"/>
                </a:lnTo>
                <a:lnTo>
                  <a:pt x="196" y="110"/>
                </a:lnTo>
                <a:lnTo>
                  <a:pt x="213" y="124"/>
                </a:lnTo>
                <a:lnTo>
                  <a:pt x="229" y="137"/>
                </a:lnTo>
                <a:lnTo>
                  <a:pt x="246" y="150"/>
                </a:lnTo>
                <a:lnTo>
                  <a:pt x="262" y="163"/>
                </a:lnTo>
                <a:lnTo>
                  <a:pt x="278" y="175"/>
                </a:lnTo>
                <a:lnTo>
                  <a:pt x="295" y="186"/>
                </a:lnTo>
                <a:lnTo>
                  <a:pt x="311" y="195"/>
                </a:lnTo>
                <a:lnTo>
                  <a:pt x="327" y="204"/>
                </a:lnTo>
                <a:lnTo>
                  <a:pt x="344" y="210"/>
                </a:lnTo>
                <a:lnTo>
                  <a:pt x="360" y="216"/>
                </a:lnTo>
                <a:lnTo>
                  <a:pt x="377" y="219"/>
                </a:lnTo>
                <a:lnTo>
                  <a:pt x="393" y="220"/>
                </a:lnTo>
                <a:lnTo>
                  <a:pt x="393" y="235"/>
                </a:lnTo>
                <a:lnTo>
                  <a:pt x="377" y="234"/>
                </a:lnTo>
                <a:lnTo>
                  <a:pt x="360" y="231"/>
                </a:lnTo>
                <a:lnTo>
                  <a:pt x="344" y="225"/>
                </a:lnTo>
                <a:lnTo>
                  <a:pt x="327" y="219"/>
                </a:lnTo>
                <a:lnTo>
                  <a:pt x="311" y="210"/>
                </a:lnTo>
                <a:lnTo>
                  <a:pt x="295" y="201"/>
                </a:lnTo>
                <a:lnTo>
                  <a:pt x="278" y="190"/>
                </a:lnTo>
                <a:lnTo>
                  <a:pt x="262" y="178"/>
                </a:lnTo>
                <a:lnTo>
                  <a:pt x="246" y="165"/>
                </a:lnTo>
                <a:lnTo>
                  <a:pt x="229" y="152"/>
                </a:lnTo>
                <a:lnTo>
                  <a:pt x="213" y="139"/>
                </a:lnTo>
                <a:lnTo>
                  <a:pt x="196" y="125"/>
                </a:lnTo>
                <a:lnTo>
                  <a:pt x="180" y="111"/>
                </a:lnTo>
                <a:lnTo>
                  <a:pt x="164" y="98"/>
                </a:lnTo>
                <a:lnTo>
                  <a:pt x="147" y="85"/>
                </a:lnTo>
                <a:lnTo>
                  <a:pt x="131" y="72"/>
                </a:lnTo>
                <a:lnTo>
                  <a:pt x="114" y="61"/>
                </a:lnTo>
                <a:lnTo>
                  <a:pt x="98" y="50"/>
                </a:lnTo>
                <a:lnTo>
                  <a:pt x="82" y="40"/>
                </a:lnTo>
                <a:lnTo>
                  <a:pt x="65" y="32"/>
                </a:lnTo>
                <a:lnTo>
                  <a:pt x="49" y="25"/>
                </a:lnTo>
                <a:lnTo>
                  <a:pt x="33" y="20"/>
                </a:lnTo>
                <a:lnTo>
                  <a:pt x="16" y="16"/>
                </a:lnTo>
                <a:lnTo>
                  <a:pt x="0" y="1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2057400" y="3533775"/>
            <a:ext cx="3743325" cy="2686050"/>
          </a:xfrm>
          <a:custGeom>
            <a:avLst/>
            <a:gdLst/>
            <a:ahLst/>
            <a:cxnLst/>
            <a:rect l="l" t="t" r="r" b="b"/>
            <a:pathLst>
              <a:path w="393" h="282">
                <a:moveTo>
                  <a:pt x="0" y="0"/>
                </a:moveTo>
                <a:lnTo>
                  <a:pt x="16" y="2"/>
                </a:lnTo>
                <a:lnTo>
                  <a:pt x="33" y="6"/>
                </a:lnTo>
                <a:lnTo>
                  <a:pt x="49" y="12"/>
                </a:lnTo>
                <a:lnTo>
                  <a:pt x="65" y="20"/>
                </a:lnTo>
                <a:lnTo>
                  <a:pt x="82" y="30"/>
                </a:lnTo>
                <a:lnTo>
                  <a:pt x="98" y="42"/>
                </a:lnTo>
                <a:lnTo>
                  <a:pt x="114" y="56"/>
                </a:lnTo>
                <a:lnTo>
                  <a:pt x="131" y="70"/>
                </a:lnTo>
                <a:lnTo>
                  <a:pt x="147" y="85"/>
                </a:lnTo>
                <a:lnTo>
                  <a:pt x="164" y="101"/>
                </a:lnTo>
                <a:lnTo>
                  <a:pt x="180" y="118"/>
                </a:lnTo>
                <a:lnTo>
                  <a:pt x="196" y="135"/>
                </a:lnTo>
                <a:lnTo>
                  <a:pt x="213" y="151"/>
                </a:lnTo>
                <a:lnTo>
                  <a:pt x="229" y="168"/>
                </a:lnTo>
                <a:lnTo>
                  <a:pt x="246" y="184"/>
                </a:lnTo>
                <a:lnTo>
                  <a:pt x="262" y="199"/>
                </a:lnTo>
                <a:lnTo>
                  <a:pt x="278" y="214"/>
                </a:lnTo>
                <a:lnTo>
                  <a:pt x="295" y="227"/>
                </a:lnTo>
                <a:lnTo>
                  <a:pt x="311" y="239"/>
                </a:lnTo>
                <a:lnTo>
                  <a:pt x="327" y="249"/>
                </a:lnTo>
                <a:lnTo>
                  <a:pt x="344" y="257"/>
                </a:lnTo>
                <a:lnTo>
                  <a:pt x="360" y="264"/>
                </a:lnTo>
                <a:lnTo>
                  <a:pt x="377" y="268"/>
                </a:lnTo>
                <a:lnTo>
                  <a:pt x="393" y="269"/>
                </a:lnTo>
                <a:lnTo>
                  <a:pt x="393" y="282"/>
                </a:lnTo>
                <a:lnTo>
                  <a:pt x="377" y="280"/>
                </a:lnTo>
                <a:lnTo>
                  <a:pt x="360" y="276"/>
                </a:lnTo>
                <a:lnTo>
                  <a:pt x="344" y="270"/>
                </a:lnTo>
                <a:lnTo>
                  <a:pt x="327" y="262"/>
                </a:lnTo>
                <a:lnTo>
                  <a:pt x="311" y="252"/>
                </a:lnTo>
                <a:lnTo>
                  <a:pt x="295" y="240"/>
                </a:lnTo>
                <a:lnTo>
                  <a:pt x="278" y="226"/>
                </a:lnTo>
                <a:lnTo>
                  <a:pt x="262" y="212"/>
                </a:lnTo>
                <a:lnTo>
                  <a:pt x="246" y="197"/>
                </a:lnTo>
                <a:lnTo>
                  <a:pt x="229" y="181"/>
                </a:lnTo>
                <a:lnTo>
                  <a:pt x="213" y="164"/>
                </a:lnTo>
                <a:lnTo>
                  <a:pt x="196" y="147"/>
                </a:lnTo>
                <a:lnTo>
                  <a:pt x="180" y="131"/>
                </a:lnTo>
                <a:lnTo>
                  <a:pt x="164" y="114"/>
                </a:lnTo>
                <a:lnTo>
                  <a:pt x="147" y="98"/>
                </a:lnTo>
                <a:lnTo>
                  <a:pt x="131" y="83"/>
                </a:lnTo>
                <a:lnTo>
                  <a:pt x="114" y="68"/>
                </a:lnTo>
                <a:lnTo>
                  <a:pt x="98" y="55"/>
                </a:lnTo>
                <a:lnTo>
                  <a:pt x="82" y="43"/>
                </a:lnTo>
                <a:lnTo>
                  <a:pt x="65" y="33"/>
                </a:lnTo>
                <a:lnTo>
                  <a:pt x="49" y="25"/>
                </a:lnTo>
                <a:lnTo>
                  <a:pt x="33" y="18"/>
                </a:lnTo>
                <a:lnTo>
                  <a:pt x="16" y="15"/>
                </a:lnTo>
                <a:lnTo>
                  <a:pt x="0" y="1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2057400" y="2667000"/>
            <a:ext cx="3743325" cy="1657350"/>
          </a:xfrm>
          <a:custGeom>
            <a:avLst/>
            <a:gdLst/>
            <a:ahLst/>
            <a:cxnLst/>
            <a:rect l="l" t="t" r="r" b="b"/>
            <a:pathLst>
              <a:path w="393" h="174">
                <a:moveTo>
                  <a:pt x="0" y="110"/>
                </a:moveTo>
                <a:lnTo>
                  <a:pt x="16" y="110"/>
                </a:lnTo>
                <a:lnTo>
                  <a:pt x="33" y="108"/>
                </a:lnTo>
                <a:lnTo>
                  <a:pt x="49" y="105"/>
                </a:lnTo>
                <a:lnTo>
                  <a:pt x="65" y="102"/>
                </a:lnTo>
                <a:lnTo>
                  <a:pt x="82" y="98"/>
                </a:lnTo>
                <a:lnTo>
                  <a:pt x="98" y="93"/>
                </a:lnTo>
                <a:lnTo>
                  <a:pt x="114" y="88"/>
                </a:lnTo>
                <a:lnTo>
                  <a:pt x="131" y="82"/>
                </a:lnTo>
                <a:lnTo>
                  <a:pt x="147" y="75"/>
                </a:lnTo>
                <a:lnTo>
                  <a:pt x="164" y="69"/>
                </a:lnTo>
                <a:lnTo>
                  <a:pt x="180" y="62"/>
                </a:lnTo>
                <a:lnTo>
                  <a:pt x="196" y="55"/>
                </a:lnTo>
                <a:lnTo>
                  <a:pt x="213" y="48"/>
                </a:lnTo>
                <a:lnTo>
                  <a:pt x="229" y="42"/>
                </a:lnTo>
                <a:lnTo>
                  <a:pt x="246" y="35"/>
                </a:lnTo>
                <a:lnTo>
                  <a:pt x="262" y="29"/>
                </a:lnTo>
                <a:lnTo>
                  <a:pt x="278" y="23"/>
                </a:lnTo>
                <a:lnTo>
                  <a:pt x="295" y="17"/>
                </a:lnTo>
                <a:lnTo>
                  <a:pt x="311" y="12"/>
                </a:lnTo>
                <a:lnTo>
                  <a:pt x="327" y="8"/>
                </a:lnTo>
                <a:lnTo>
                  <a:pt x="344" y="5"/>
                </a:lnTo>
                <a:lnTo>
                  <a:pt x="360" y="2"/>
                </a:lnTo>
                <a:lnTo>
                  <a:pt x="377" y="1"/>
                </a:lnTo>
                <a:lnTo>
                  <a:pt x="393" y="0"/>
                </a:lnTo>
                <a:lnTo>
                  <a:pt x="393" y="64"/>
                </a:lnTo>
                <a:lnTo>
                  <a:pt x="377" y="64"/>
                </a:lnTo>
                <a:lnTo>
                  <a:pt x="360" y="66"/>
                </a:lnTo>
                <a:lnTo>
                  <a:pt x="344" y="68"/>
                </a:lnTo>
                <a:lnTo>
                  <a:pt x="327" y="72"/>
                </a:lnTo>
                <a:lnTo>
                  <a:pt x="311" y="76"/>
                </a:lnTo>
                <a:lnTo>
                  <a:pt x="295" y="81"/>
                </a:lnTo>
                <a:lnTo>
                  <a:pt x="278" y="86"/>
                </a:lnTo>
                <a:lnTo>
                  <a:pt x="262" y="92"/>
                </a:lnTo>
                <a:lnTo>
                  <a:pt x="246" y="98"/>
                </a:lnTo>
                <a:lnTo>
                  <a:pt x="229" y="105"/>
                </a:lnTo>
                <a:lnTo>
                  <a:pt x="213" y="112"/>
                </a:lnTo>
                <a:lnTo>
                  <a:pt x="196" y="119"/>
                </a:lnTo>
                <a:lnTo>
                  <a:pt x="180" y="126"/>
                </a:lnTo>
                <a:lnTo>
                  <a:pt x="164" y="132"/>
                </a:lnTo>
                <a:lnTo>
                  <a:pt x="147" y="139"/>
                </a:lnTo>
                <a:lnTo>
                  <a:pt x="131" y="145"/>
                </a:lnTo>
                <a:lnTo>
                  <a:pt x="114" y="151"/>
                </a:lnTo>
                <a:lnTo>
                  <a:pt x="98" y="156"/>
                </a:lnTo>
                <a:lnTo>
                  <a:pt x="82" y="161"/>
                </a:lnTo>
                <a:lnTo>
                  <a:pt x="65" y="166"/>
                </a:lnTo>
                <a:lnTo>
                  <a:pt x="49" y="169"/>
                </a:lnTo>
                <a:lnTo>
                  <a:pt x="33" y="172"/>
                </a:lnTo>
                <a:lnTo>
                  <a:pt x="16" y="173"/>
                </a:lnTo>
                <a:lnTo>
                  <a:pt x="0" y="17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2057400" y="4324350"/>
            <a:ext cx="3743325" cy="600075"/>
          </a:xfrm>
          <a:custGeom>
            <a:avLst/>
            <a:gdLst/>
            <a:ahLst/>
            <a:cxnLst/>
            <a:rect l="l" t="t" r="r" b="b"/>
            <a:pathLst>
              <a:path w="393" h="63">
                <a:moveTo>
                  <a:pt x="0" y="0"/>
                </a:moveTo>
                <a:lnTo>
                  <a:pt x="16" y="0"/>
                </a:lnTo>
                <a:lnTo>
                  <a:pt x="33" y="0"/>
                </a:lnTo>
                <a:lnTo>
                  <a:pt x="49" y="1"/>
                </a:lnTo>
                <a:lnTo>
                  <a:pt x="65" y="2"/>
                </a:lnTo>
                <a:lnTo>
                  <a:pt x="82" y="4"/>
                </a:lnTo>
                <a:lnTo>
                  <a:pt x="98" y="5"/>
                </a:lnTo>
                <a:lnTo>
                  <a:pt x="114" y="7"/>
                </a:lnTo>
                <a:lnTo>
                  <a:pt x="131" y="9"/>
                </a:lnTo>
                <a:lnTo>
                  <a:pt x="147" y="11"/>
                </a:lnTo>
                <a:lnTo>
                  <a:pt x="164" y="13"/>
                </a:lnTo>
                <a:lnTo>
                  <a:pt x="180" y="15"/>
                </a:lnTo>
                <a:lnTo>
                  <a:pt x="196" y="17"/>
                </a:lnTo>
                <a:lnTo>
                  <a:pt x="213" y="19"/>
                </a:lnTo>
                <a:lnTo>
                  <a:pt x="229" y="22"/>
                </a:lnTo>
                <a:lnTo>
                  <a:pt x="246" y="24"/>
                </a:lnTo>
                <a:lnTo>
                  <a:pt x="262" y="26"/>
                </a:lnTo>
                <a:lnTo>
                  <a:pt x="278" y="28"/>
                </a:lnTo>
                <a:lnTo>
                  <a:pt x="295" y="29"/>
                </a:lnTo>
                <a:lnTo>
                  <a:pt x="311" y="31"/>
                </a:lnTo>
                <a:lnTo>
                  <a:pt x="327" y="32"/>
                </a:lnTo>
                <a:lnTo>
                  <a:pt x="344" y="33"/>
                </a:lnTo>
                <a:lnTo>
                  <a:pt x="360" y="34"/>
                </a:lnTo>
                <a:lnTo>
                  <a:pt x="377" y="35"/>
                </a:lnTo>
                <a:lnTo>
                  <a:pt x="393" y="35"/>
                </a:lnTo>
                <a:lnTo>
                  <a:pt x="393" y="63"/>
                </a:lnTo>
                <a:lnTo>
                  <a:pt x="377" y="63"/>
                </a:lnTo>
                <a:lnTo>
                  <a:pt x="360" y="63"/>
                </a:lnTo>
                <a:lnTo>
                  <a:pt x="344" y="62"/>
                </a:lnTo>
                <a:lnTo>
                  <a:pt x="327" y="61"/>
                </a:lnTo>
                <a:lnTo>
                  <a:pt x="311" y="59"/>
                </a:lnTo>
                <a:lnTo>
                  <a:pt x="295" y="58"/>
                </a:lnTo>
                <a:lnTo>
                  <a:pt x="278" y="56"/>
                </a:lnTo>
                <a:lnTo>
                  <a:pt x="262" y="54"/>
                </a:lnTo>
                <a:lnTo>
                  <a:pt x="246" y="52"/>
                </a:lnTo>
                <a:lnTo>
                  <a:pt x="229" y="50"/>
                </a:lnTo>
                <a:lnTo>
                  <a:pt x="213" y="48"/>
                </a:lnTo>
                <a:lnTo>
                  <a:pt x="196" y="46"/>
                </a:lnTo>
                <a:lnTo>
                  <a:pt x="180" y="44"/>
                </a:lnTo>
                <a:lnTo>
                  <a:pt x="164" y="41"/>
                </a:lnTo>
                <a:lnTo>
                  <a:pt x="147" y="39"/>
                </a:lnTo>
                <a:lnTo>
                  <a:pt x="131" y="37"/>
                </a:lnTo>
                <a:lnTo>
                  <a:pt x="114" y="36"/>
                </a:lnTo>
                <a:lnTo>
                  <a:pt x="98" y="34"/>
                </a:lnTo>
                <a:lnTo>
                  <a:pt x="82" y="32"/>
                </a:lnTo>
                <a:lnTo>
                  <a:pt x="65" y="31"/>
                </a:lnTo>
                <a:lnTo>
                  <a:pt x="49" y="30"/>
                </a:lnTo>
                <a:lnTo>
                  <a:pt x="33" y="29"/>
                </a:lnTo>
                <a:lnTo>
                  <a:pt x="16" y="28"/>
                </a:lnTo>
                <a:lnTo>
                  <a:pt x="0" y="2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2057400" y="4591050"/>
            <a:ext cx="3743325" cy="1152525"/>
          </a:xfrm>
          <a:custGeom>
            <a:avLst/>
            <a:gdLst/>
            <a:ahLst/>
            <a:cxnLst/>
            <a:rect l="l" t="t" r="r" b="b"/>
            <a:pathLst>
              <a:path w="393" h="121">
                <a:moveTo>
                  <a:pt x="0" y="0"/>
                </a:moveTo>
                <a:lnTo>
                  <a:pt x="16" y="1"/>
                </a:lnTo>
                <a:lnTo>
                  <a:pt x="33" y="2"/>
                </a:lnTo>
                <a:lnTo>
                  <a:pt x="49" y="5"/>
                </a:lnTo>
                <a:lnTo>
                  <a:pt x="65" y="8"/>
                </a:lnTo>
                <a:lnTo>
                  <a:pt x="82" y="12"/>
                </a:lnTo>
                <a:lnTo>
                  <a:pt x="98" y="17"/>
                </a:lnTo>
                <a:lnTo>
                  <a:pt x="114" y="23"/>
                </a:lnTo>
                <a:lnTo>
                  <a:pt x="131" y="28"/>
                </a:lnTo>
                <a:lnTo>
                  <a:pt x="147" y="35"/>
                </a:lnTo>
                <a:lnTo>
                  <a:pt x="164" y="41"/>
                </a:lnTo>
                <a:lnTo>
                  <a:pt x="180" y="48"/>
                </a:lnTo>
                <a:lnTo>
                  <a:pt x="196" y="55"/>
                </a:lnTo>
                <a:lnTo>
                  <a:pt x="213" y="61"/>
                </a:lnTo>
                <a:lnTo>
                  <a:pt x="229" y="68"/>
                </a:lnTo>
                <a:lnTo>
                  <a:pt x="246" y="75"/>
                </a:lnTo>
                <a:lnTo>
                  <a:pt x="262" y="81"/>
                </a:lnTo>
                <a:lnTo>
                  <a:pt x="278" y="87"/>
                </a:lnTo>
                <a:lnTo>
                  <a:pt x="295" y="92"/>
                </a:lnTo>
                <a:lnTo>
                  <a:pt x="311" y="97"/>
                </a:lnTo>
                <a:lnTo>
                  <a:pt x="327" y="101"/>
                </a:lnTo>
                <a:lnTo>
                  <a:pt x="344" y="104"/>
                </a:lnTo>
                <a:lnTo>
                  <a:pt x="360" y="107"/>
                </a:lnTo>
                <a:lnTo>
                  <a:pt x="377" y="108"/>
                </a:lnTo>
                <a:lnTo>
                  <a:pt x="393" y="109"/>
                </a:lnTo>
                <a:lnTo>
                  <a:pt x="393" y="121"/>
                </a:lnTo>
                <a:lnTo>
                  <a:pt x="377" y="121"/>
                </a:lnTo>
                <a:lnTo>
                  <a:pt x="360" y="119"/>
                </a:lnTo>
                <a:lnTo>
                  <a:pt x="344" y="117"/>
                </a:lnTo>
                <a:lnTo>
                  <a:pt x="327" y="113"/>
                </a:lnTo>
                <a:lnTo>
                  <a:pt x="311" y="109"/>
                </a:lnTo>
                <a:lnTo>
                  <a:pt x="295" y="105"/>
                </a:lnTo>
                <a:lnTo>
                  <a:pt x="278" y="99"/>
                </a:lnTo>
                <a:lnTo>
                  <a:pt x="262" y="93"/>
                </a:lnTo>
                <a:lnTo>
                  <a:pt x="246" y="87"/>
                </a:lnTo>
                <a:lnTo>
                  <a:pt x="229" y="81"/>
                </a:lnTo>
                <a:lnTo>
                  <a:pt x="213" y="74"/>
                </a:lnTo>
                <a:lnTo>
                  <a:pt x="196" y="67"/>
                </a:lnTo>
                <a:lnTo>
                  <a:pt x="180" y="60"/>
                </a:lnTo>
                <a:lnTo>
                  <a:pt x="164" y="54"/>
                </a:lnTo>
                <a:lnTo>
                  <a:pt x="147" y="47"/>
                </a:lnTo>
                <a:lnTo>
                  <a:pt x="131" y="41"/>
                </a:lnTo>
                <a:lnTo>
                  <a:pt x="114" y="35"/>
                </a:lnTo>
                <a:lnTo>
                  <a:pt x="98" y="30"/>
                </a:lnTo>
                <a:lnTo>
                  <a:pt x="82" y="25"/>
                </a:lnTo>
                <a:lnTo>
                  <a:pt x="65" y="21"/>
                </a:lnTo>
                <a:lnTo>
                  <a:pt x="49" y="18"/>
                </a:lnTo>
                <a:lnTo>
                  <a:pt x="33" y="15"/>
                </a:lnTo>
                <a:lnTo>
                  <a:pt x="16" y="13"/>
                </a:lnTo>
                <a:lnTo>
                  <a:pt x="0" y="1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2057400" y="4714875"/>
            <a:ext cx="3743325" cy="1619250"/>
          </a:xfrm>
          <a:custGeom>
            <a:avLst/>
            <a:gdLst/>
            <a:ahLst/>
            <a:cxnLst/>
            <a:rect l="l" t="t" r="r" b="b"/>
            <a:pathLst>
              <a:path w="393" h="170">
                <a:moveTo>
                  <a:pt x="0" y="0"/>
                </a:moveTo>
                <a:lnTo>
                  <a:pt x="16" y="1"/>
                </a:lnTo>
                <a:lnTo>
                  <a:pt x="33" y="3"/>
                </a:lnTo>
                <a:lnTo>
                  <a:pt x="49" y="7"/>
                </a:lnTo>
                <a:lnTo>
                  <a:pt x="65" y="12"/>
                </a:lnTo>
                <a:lnTo>
                  <a:pt x="82" y="18"/>
                </a:lnTo>
                <a:lnTo>
                  <a:pt x="98" y="25"/>
                </a:lnTo>
                <a:lnTo>
                  <a:pt x="114" y="32"/>
                </a:lnTo>
                <a:lnTo>
                  <a:pt x="131" y="41"/>
                </a:lnTo>
                <a:lnTo>
                  <a:pt x="147" y="50"/>
                </a:lnTo>
                <a:lnTo>
                  <a:pt x="164" y="59"/>
                </a:lnTo>
                <a:lnTo>
                  <a:pt x="180" y="69"/>
                </a:lnTo>
                <a:lnTo>
                  <a:pt x="196" y="79"/>
                </a:lnTo>
                <a:lnTo>
                  <a:pt x="213" y="89"/>
                </a:lnTo>
                <a:lnTo>
                  <a:pt x="229" y="98"/>
                </a:lnTo>
                <a:lnTo>
                  <a:pt x="246" y="108"/>
                </a:lnTo>
                <a:lnTo>
                  <a:pt x="262" y="117"/>
                </a:lnTo>
                <a:lnTo>
                  <a:pt x="278" y="125"/>
                </a:lnTo>
                <a:lnTo>
                  <a:pt x="295" y="133"/>
                </a:lnTo>
                <a:lnTo>
                  <a:pt x="311" y="140"/>
                </a:lnTo>
                <a:lnTo>
                  <a:pt x="327" y="146"/>
                </a:lnTo>
                <a:lnTo>
                  <a:pt x="344" y="151"/>
                </a:lnTo>
                <a:lnTo>
                  <a:pt x="360" y="155"/>
                </a:lnTo>
                <a:lnTo>
                  <a:pt x="377" y="157"/>
                </a:lnTo>
                <a:lnTo>
                  <a:pt x="393" y="158"/>
                </a:lnTo>
                <a:lnTo>
                  <a:pt x="393" y="170"/>
                </a:lnTo>
                <a:lnTo>
                  <a:pt x="377" y="169"/>
                </a:lnTo>
                <a:lnTo>
                  <a:pt x="360" y="167"/>
                </a:lnTo>
                <a:lnTo>
                  <a:pt x="344" y="163"/>
                </a:lnTo>
                <a:lnTo>
                  <a:pt x="327" y="158"/>
                </a:lnTo>
                <a:lnTo>
                  <a:pt x="311" y="152"/>
                </a:lnTo>
                <a:lnTo>
                  <a:pt x="295" y="146"/>
                </a:lnTo>
                <a:lnTo>
                  <a:pt x="278" y="138"/>
                </a:lnTo>
                <a:lnTo>
                  <a:pt x="262" y="129"/>
                </a:lnTo>
                <a:lnTo>
                  <a:pt x="246" y="120"/>
                </a:lnTo>
                <a:lnTo>
                  <a:pt x="229" y="111"/>
                </a:lnTo>
                <a:lnTo>
                  <a:pt x="213" y="101"/>
                </a:lnTo>
                <a:lnTo>
                  <a:pt x="196" y="91"/>
                </a:lnTo>
                <a:lnTo>
                  <a:pt x="180" y="81"/>
                </a:lnTo>
                <a:lnTo>
                  <a:pt x="164" y="72"/>
                </a:lnTo>
                <a:lnTo>
                  <a:pt x="147" y="62"/>
                </a:lnTo>
                <a:lnTo>
                  <a:pt x="131" y="53"/>
                </a:lnTo>
                <a:lnTo>
                  <a:pt x="114" y="45"/>
                </a:lnTo>
                <a:lnTo>
                  <a:pt x="98" y="37"/>
                </a:lnTo>
                <a:lnTo>
                  <a:pt x="82" y="30"/>
                </a:lnTo>
                <a:lnTo>
                  <a:pt x="65" y="24"/>
                </a:lnTo>
                <a:lnTo>
                  <a:pt x="49" y="19"/>
                </a:lnTo>
                <a:lnTo>
                  <a:pt x="33" y="15"/>
                </a:lnTo>
                <a:lnTo>
                  <a:pt x="16" y="13"/>
                </a:lnTo>
                <a:lnTo>
                  <a:pt x="0" y="1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2057400" y="3276600"/>
            <a:ext cx="3743325" cy="2085975"/>
          </a:xfrm>
          <a:custGeom>
            <a:avLst/>
            <a:gdLst/>
            <a:ahLst/>
            <a:cxnLst/>
            <a:rect l="l" t="t" r="r" b="b"/>
            <a:pathLst>
              <a:path w="393" h="219">
                <a:moveTo>
                  <a:pt x="0" y="169"/>
                </a:moveTo>
                <a:lnTo>
                  <a:pt x="16" y="169"/>
                </a:lnTo>
                <a:lnTo>
                  <a:pt x="33" y="166"/>
                </a:lnTo>
                <a:lnTo>
                  <a:pt x="49" y="162"/>
                </a:lnTo>
                <a:lnTo>
                  <a:pt x="65" y="157"/>
                </a:lnTo>
                <a:lnTo>
                  <a:pt x="82" y="150"/>
                </a:lnTo>
                <a:lnTo>
                  <a:pt x="98" y="143"/>
                </a:lnTo>
                <a:lnTo>
                  <a:pt x="114" y="134"/>
                </a:lnTo>
                <a:lnTo>
                  <a:pt x="131" y="125"/>
                </a:lnTo>
                <a:lnTo>
                  <a:pt x="147" y="116"/>
                </a:lnTo>
                <a:lnTo>
                  <a:pt x="164" y="106"/>
                </a:lnTo>
                <a:lnTo>
                  <a:pt x="180" y="95"/>
                </a:lnTo>
                <a:lnTo>
                  <a:pt x="196" y="85"/>
                </a:lnTo>
                <a:lnTo>
                  <a:pt x="213" y="74"/>
                </a:lnTo>
                <a:lnTo>
                  <a:pt x="229" y="63"/>
                </a:lnTo>
                <a:lnTo>
                  <a:pt x="246" y="53"/>
                </a:lnTo>
                <a:lnTo>
                  <a:pt x="262" y="44"/>
                </a:lnTo>
                <a:lnTo>
                  <a:pt x="278" y="35"/>
                </a:lnTo>
                <a:lnTo>
                  <a:pt x="295" y="26"/>
                </a:lnTo>
                <a:lnTo>
                  <a:pt x="311" y="19"/>
                </a:lnTo>
                <a:lnTo>
                  <a:pt x="327" y="12"/>
                </a:lnTo>
                <a:lnTo>
                  <a:pt x="344" y="7"/>
                </a:lnTo>
                <a:lnTo>
                  <a:pt x="360" y="3"/>
                </a:lnTo>
                <a:lnTo>
                  <a:pt x="377" y="0"/>
                </a:lnTo>
                <a:lnTo>
                  <a:pt x="393" y="0"/>
                </a:lnTo>
                <a:lnTo>
                  <a:pt x="393" y="49"/>
                </a:lnTo>
                <a:lnTo>
                  <a:pt x="377" y="50"/>
                </a:lnTo>
                <a:lnTo>
                  <a:pt x="360" y="53"/>
                </a:lnTo>
                <a:lnTo>
                  <a:pt x="344" y="57"/>
                </a:lnTo>
                <a:lnTo>
                  <a:pt x="327" y="62"/>
                </a:lnTo>
                <a:lnTo>
                  <a:pt x="311" y="68"/>
                </a:lnTo>
                <a:lnTo>
                  <a:pt x="295" y="76"/>
                </a:lnTo>
                <a:lnTo>
                  <a:pt x="278" y="84"/>
                </a:lnTo>
                <a:lnTo>
                  <a:pt x="262" y="93"/>
                </a:lnTo>
                <a:lnTo>
                  <a:pt x="246" y="103"/>
                </a:lnTo>
                <a:lnTo>
                  <a:pt x="229" y="113"/>
                </a:lnTo>
                <a:lnTo>
                  <a:pt x="213" y="124"/>
                </a:lnTo>
                <a:lnTo>
                  <a:pt x="196" y="134"/>
                </a:lnTo>
                <a:lnTo>
                  <a:pt x="180" y="145"/>
                </a:lnTo>
                <a:lnTo>
                  <a:pt x="164" y="155"/>
                </a:lnTo>
                <a:lnTo>
                  <a:pt x="147" y="165"/>
                </a:lnTo>
                <a:lnTo>
                  <a:pt x="131" y="175"/>
                </a:lnTo>
                <a:lnTo>
                  <a:pt x="114" y="184"/>
                </a:lnTo>
                <a:lnTo>
                  <a:pt x="98" y="193"/>
                </a:lnTo>
                <a:lnTo>
                  <a:pt x="82" y="200"/>
                </a:lnTo>
                <a:lnTo>
                  <a:pt x="65" y="207"/>
                </a:lnTo>
                <a:lnTo>
                  <a:pt x="49" y="212"/>
                </a:lnTo>
                <a:lnTo>
                  <a:pt x="33" y="216"/>
                </a:lnTo>
                <a:lnTo>
                  <a:pt x="16" y="218"/>
                </a:lnTo>
                <a:lnTo>
                  <a:pt x="0" y="219"/>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2057400" y="4924425"/>
            <a:ext cx="3743325" cy="657225"/>
          </a:xfrm>
          <a:custGeom>
            <a:avLst/>
            <a:gdLst/>
            <a:ahLst/>
            <a:cxnLst/>
            <a:rect l="l" t="t" r="r" b="b"/>
            <a:pathLst>
              <a:path w="393" h="69">
                <a:moveTo>
                  <a:pt x="0" y="46"/>
                </a:moveTo>
                <a:lnTo>
                  <a:pt x="16" y="46"/>
                </a:lnTo>
                <a:lnTo>
                  <a:pt x="33" y="45"/>
                </a:lnTo>
                <a:lnTo>
                  <a:pt x="49" y="44"/>
                </a:lnTo>
                <a:lnTo>
                  <a:pt x="65" y="43"/>
                </a:lnTo>
                <a:lnTo>
                  <a:pt x="82" y="41"/>
                </a:lnTo>
                <a:lnTo>
                  <a:pt x="98" y="39"/>
                </a:lnTo>
                <a:lnTo>
                  <a:pt x="114" y="37"/>
                </a:lnTo>
                <a:lnTo>
                  <a:pt x="131" y="34"/>
                </a:lnTo>
                <a:lnTo>
                  <a:pt x="147" y="32"/>
                </a:lnTo>
                <a:lnTo>
                  <a:pt x="164" y="29"/>
                </a:lnTo>
                <a:lnTo>
                  <a:pt x="180" y="26"/>
                </a:lnTo>
                <a:lnTo>
                  <a:pt x="196" y="23"/>
                </a:lnTo>
                <a:lnTo>
                  <a:pt x="213" y="20"/>
                </a:lnTo>
                <a:lnTo>
                  <a:pt x="229" y="18"/>
                </a:lnTo>
                <a:lnTo>
                  <a:pt x="246" y="15"/>
                </a:lnTo>
                <a:lnTo>
                  <a:pt x="262" y="12"/>
                </a:lnTo>
                <a:lnTo>
                  <a:pt x="278" y="10"/>
                </a:lnTo>
                <a:lnTo>
                  <a:pt x="295" y="8"/>
                </a:lnTo>
                <a:lnTo>
                  <a:pt x="311" y="6"/>
                </a:lnTo>
                <a:lnTo>
                  <a:pt x="327" y="4"/>
                </a:lnTo>
                <a:lnTo>
                  <a:pt x="344" y="2"/>
                </a:lnTo>
                <a:lnTo>
                  <a:pt x="360" y="1"/>
                </a:lnTo>
                <a:lnTo>
                  <a:pt x="377" y="1"/>
                </a:lnTo>
                <a:lnTo>
                  <a:pt x="393" y="0"/>
                </a:lnTo>
                <a:lnTo>
                  <a:pt x="393" y="23"/>
                </a:lnTo>
                <a:lnTo>
                  <a:pt x="377" y="24"/>
                </a:lnTo>
                <a:lnTo>
                  <a:pt x="360" y="24"/>
                </a:lnTo>
                <a:lnTo>
                  <a:pt x="344" y="25"/>
                </a:lnTo>
                <a:lnTo>
                  <a:pt x="327" y="27"/>
                </a:lnTo>
                <a:lnTo>
                  <a:pt x="311" y="29"/>
                </a:lnTo>
                <a:lnTo>
                  <a:pt x="295" y="31"/>
                </a:lnTo>
                <a:lnTo>
                  <a:pt x="278" y="33"/>
                </a:lnTo>
                <a:lnTo>
                  <a:pt x="262" y="35"/>
                </a:lnTo>
                <a:lnTo>
                  <a:pt x="246" y="38"/>
                </a:lnTo>
                <a:lnTo>
                  <a:pt x="229" y="41"/>
                </a:lnTo>
                <a:lnTo>
                  <a:pt x="213" y="43"/>
                </a:lnTo>
                <a:lnTo>
                  <a:pt x="196" y="46"/>
                </a:lnTo>
                <a:lnTo>
                  <a:pt x="180" y="49"/>
                </a:lnTo>
                <a:lnTo>
                  <a:pt x="164" y="52"/>
                </a:lnTo>
                <a:lnTo>
                  <a:pt x="147" y="55"/>
                </a:lnTo>
                <a:lnTo>
                  <a:pt x="131" y="57"/>
                </a:lnTo>
                <a:lnTo>
                  <a:pt x="114" y="60"/>
                </a:lnTo>
                <a:lnTo>
                  <a:pt x="98" y="62"/>
                </a:lnTo>
                <a:lnTo>
                  <a:pt x="82" y="64"/>
                </a:lnTo>
                <a:lnTo>
                  <a:pt x="65" y="66"/>
                </a:lnTo>
                <a:lnTo>
                  <a:pt x="49" y="67"/>
                </a:lnTo>
                <a:lnTo>
                  <a:pt x="33" y="68"/>
                </a:lnTo>
                <a:lnTo>
                  <a:pt x="16" y="69"/>
                </a:lnTo>
                <a:lnTo>
                  <a:pt x="0" y="69"/>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2057400" y="5581650"/>
            <a:ext cx="3743325" cy="257175"/>
          </a:xfrm>
          <a:custGeom>
            <a:avLst/>
            <a:gdLst/>
            <a:ahLst/>
            <a:cxnLst/>
            <a:rect l="l" t="t" r="r" b="b"/>
            <a:pathLst>
              <a:path w="393" h="27">
                <a:moveTo>
                  <a:pt x="0" y="0"/>
                </a:moveTo>
                <a:lnTo>
                  <a:pt x="16" y="0"/>
                </a:lnTo>
                <a:lnTo>
                  <a:pt x="33" y="0"/>
                </a:lnTo>
                <a:lnTo>
                  <a:pt x="49" y="1"/>
                </a:lnTo>
                <a:lnTo>
                  <a:pt x="65" y="1"/>
                </a:lnTo>
                <a:lnTo>
                  <a:pt x="82" y="2"/>
                </a:lnTo>
                <a:lnTo>
                  <a:pt x="98" y="3"/>
                </a:lnTo>
                <a:lnTo>
                  <a:pt x="114" y="4"/>
                </a:lnTo>
                <a:lnTo>
                  <a:pt x="131" y="5"/>
                </a:lnTo>
                <a:lnTo>
                  <a:pt x="147" y="6"/>
                </a:lnTo>
                <a:lnTo>
                  <a:pt x="164" y="7"/>
                </a:lnTo>
                <a:lnTo>
                  <a:pt x="180" y="8"/>
                </a:lnTo>
                <a:lnTo>
                  <a:pt x="196" y="9"/>
                </a:lnTo>
                <a:lnTo>
                  <a:pt x="213" y="10"/>
                </a:lnTo>
                <a:lnTo>
                  <a:pt x="229" y="11"/>
                </a:lnTo>
                <a:lnTo>
                  <a:pt x="246" y="12"/>
                </a:lnTo>
                <a:lnTo>
                  <a:pt x="262" y="13"/>
                </a:lnTo>
                <a:lnTo>
                  <a:pt x="278" y="14"/>
                </a:lnTo>
                <a:lnTo>
                  <a:pt x="295" y="15"/>
                </a:lnTo>
                <a:lnTo>
                  <a:pt x="311" y="16"/>
                </a:lnTo>
                <a:lnTo>
                  <a:pt x="327" y="16"/>
                </a:lnTo>
                <a:lnTo>
                  <a:pt x="344" y="17"/>
                </a:lnTo>
                <a:lnTo>
                  <a:pt x="360" y="17"/>
                </a:lnTo>
                <a:lnTo>
                  <a:pt x="377" y="17"/>
                </a:lnTo>
                <a:lnTo>
                  <a:pt x="393" y="17"/>
                </a:lnTo>
                <a:lnTo>
                  <a:pt x="393" y="27"/>
                </a:lnTo>
                <a:lnTo>
                  <a:pt x="377" y="27"/>
                </a:lnTo>
                <a:lnTo>
                  <a:pt x="360" y="27"/>
                </a:lnTo>
                <a:lnTo>
                  <a:pt x="344" y="27"/>
                </a:lnTo>
                <a:lnTo>
                  <a:pt x="327" y="26"/>
                </a:lnTo>
                <a:lnTo>
                  <a:pt x="311" y="25"/>
                </a:lnTo>
                <a:lnTo>
                  <a:pt x="295" y="25"/>
                </a:lnTo>
                <a:lnTo>
                  <a:pt x="278" y="24"/>
                </a:lnTo>
                <a:lnTo>
                  <a:pt x="262" y="23"/>
                </a:lnTo>
                <a:lnTo>
                  <a:pt x="246" y="22"/>
                </a:lnTo>
                <a:lnTo>
                  <a:pt x="229" y="21"/>
                </a:lnTo>
                <a:lnTo>
                  <a:pt x="213" y="20"/>
                </a:lnTo>
                <a:lnTo>
                  <a:pt x="196" y="19"/>
                </a:lnTo>
                <a:lnTo>
                  <a:pt x="180" y="18"/>
                </a:lnTo>
                <a:lnTo>
                  <a:pt x="164" y="17"/>
                </a:lnTo>
                <a:lnTo>
                  <a:pt x="147" y="15"/>
                </a:lnTo>
                <a:lnTo>
                  <a:pt x="131" y="14"/>
                </a:lnTo>
                <a:lnTo>
                  <a:pt x="114" y="14"/>
                </a:lnTo>
                <a:lnTo>
                  <a:pt x="98" y="13"/>
                </a:lnTo>
                <a:lnTo>
                  <a:pt x="82" y="12"/>
                </a:lnTo>
                <a:lnTo>
                  <a:pt x="65" y="11"/>
                </a:lnTo>
                <a:lnTo>
                  <a:pt x="49" y="11"/>
                </a:lnTo>
                <a:lnTo>
                  <a:pt x="33" y="10"/>
                </a:lnTo>
                <a:lnTo>
                  <a:pt x="16" y="10"/>
                </a:lnTo>
                <a:lnTo>
                  <a:pt x="0" y="1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2057400" y="5676900"/>
            <a:ext cx="3743325" cy="733425"/>
          </a:xfrm>
          <a:custGeom>
            <a:avLst/>
            <a:gdLst/>
            <a:ahLst/>
            <a:cxnLst/>
            <a:rect l="l" t="t" r="r" b="b"/>
            <a:pathLst>
              <a:path w="393" h="77">
                <a:moveTo>
                  <a:pt x="0" y="0"/>
                </a:moveTo>
                <a:lnTo>
                  <a:pt x="16" y="0"/>
                </a:lnTo>
                <a:lnTo>
                  <a:pt x="33" y="1"/>
                </a:lnTo>
                <a:lnTo>
                  <a:pt x="49" y="3"/>
                </a:lnTo>
                <a:lnTo>
                  <a:pt x="65" y="5"/>
                </a:lnTo>
                <a:lnTo>
                  <a:pt x="82" y="8"/>
                </a:lnTo>
                <a:lnTo>
                  <a:pt x="98" y="11"/>
                </a:lnTo>
                <a:lnTo>
                  <a:pt x="114" y="14"/>
                </a:lnTo>
                <a:lnTo>
                  <a:pt x="131" y="18"/>
                </a:lnTo>
                <a:lnTo>
                  <a:pt x="147" y="22"/>
                </a:lnTo>
                <a:lnTo>
                  <a:pt x="164" y="26"/>
                </a:lnTo>
                <a:lnTo>
                  <a:pt x="180" y="30"/>
                </a:lnTo>
                <a:lnTo>
                  <a:pt x="196" y="35"/>
                </a:lnTo>
                <a:lnTo>
                  <a:pt x="213" y="39"/>
                </a:lnTo>
                <a:lnTo>
                  <a:pt x="229" y="43"/>
                </a:lnTo>
                <a:lnTo>
                  <a:pt x="246" y="47"/>
                </a:lnTo>
                <a:lnTo>
                  <a:pt x="262" y="51"/>
                </a:lnTo>
                <a:lnTo>
                  <a:pt x="278" y="55"/>
                </a:lnTo>
                <a:lnTo>
                  <a:pt x="295" y="58"/>
                </a:lnTo>
                <a:lnTo>
                  <a:pt x="311" y="61"/>
                </a:lnTo>
                <a:lnTo>
                  <a:pt x="327" y="64"/>
                </a:lnTo>
                <a:lnTo>
                  <a:pt x="344" y="66"/>
                </a:lnTo>
                <a:lnTo>
                  <a:pt x="360" y="68"/>
                </a:lnTo>
                <a:lnTo>
                  <a:pt x="377" y="69"/>
                </a:lnTo>
                <a:lnTo>
                  <a:pt x="393" y="69"/>
                </a:lnTo>
                <a:lnTo>
                  <a:pt x="393" y="77"/>
                </a:lnTo>
                <a:lnTo>
                  <a:pt x="377" y="77"/>
                </a:lnTo>
                <a:lnTo>
                  <a:pt x="360" y="76"/>
                </a:lnTo>
                <a:lnTo>
                  <a:pt x="344" y="74"/>
                </a:lnTo>
                <a:lnTo>
                  <a:pt x="327" y="72"/>
                </a:lnTo>
                <a:lnTo>
                  <a:pt x="311" y="69"/>
                </a:lnTo>
                <a:lnTo>
                  <a:pt x="295" y="66"/>
                </a:lnTo>
                <a:lnTo>
                  <a:pt x="278" y="63"/>
                </a:lnTo>
                <a:lnTo>
                  <a:pt x="262" y="59"/>
                </a:lnTo>
                <a:lnTo>
                  <a:pt x="246" y="55"/>
                </a:lnTo>
                <a:lnTo>
                  <a:pt x="229" y="51"/>
                </a:lnTo>
                <a:lnTo>
                  <a:pt x="213" y="47"/>
                </a:lnTo>
                <a:lnTo>
                  <a:pt x="196" y="42"/>
                </a:lnTo>
                <a:lnTo>
                  <a:pt x="180" y="38"/>
                </a:lnTo>
                <a:lnTo>
                  <a:pt x="164" y="34"/>
                </a:lnTo>
                <a:lnTo>
                  <a:pt x="147" y="30"/>
                </a:lnTo>
                <a:lnTo>
                  <a:pt x="131" y="26"/>
                </a:lnTo>
                <a:lnTo>
                  <a:pt x="114" y="22"/>
                </a:lnTo>
                <a:lnTo>
                  <a:pt x="98" y="19"/>
                </a:lnTo>
                <a:lnTo>
                  <a:pt x="82" y="16"/>
                </a:lnTo>
                <a:lnTo>
                  <a:pt x="65" y="13"/>
                </a:lnTo>
                <a:lnTo>
                  <a:pt x="49" y="11"/>
                </a:lnTo>
                <a:lnTo>
                  <a:pt x="33" y="9"/>
                </a:lnTo>
                <a:lnTo>
                  <a:pt x="16" y="8"/>
                </a:lnTo>
                <a:lnTo>
                  <a:pt x="0" y="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2057400" y="3743325"/>
            <a:ext cx="3743325" cy="2276475"/>
          </a:xfrm>
          <a:custGeom>
            <a:avLst/>
            <a:gdLst/>
            <a:ahLst/>
            <a:cxnLst/>
            <a:rect l="l" t="t" r="r" b="b"/>
            <a:pathLst>
              <a:path w="393" h="239">
                <a:moveTo>
                  <a:pt x="0" y="217"/>
                </a:moveTo>
                <a:lnTo>
                  <a:pt x="16" y="216"/>
                </a:lnTo>
                <a:lnTo>
                  <a:pt x="33" y="213"/>
                </a:lnTo>
                <a:lnTo>
                  <a:pt x="49" y="208"/>
                </a:lnTo>
                <a:lnTo>
                  <a:pt x="65" y="201"/>
                </a:lnTo>
                <a:lnTo>
                  <a:pt x="82" y="193"/>
                </a:lnTo>
                <a:lnTo>
                  <a:pt x="98" y="183"/>
                </a:lnTo>
                <a:lnTo>
                  <a:pt x="114" y="172"/>
                </a:lnTo>
                <a:lnTo>
                  <a:pt x="131" y="161"/>
                </a:lnTo>
                <a:lnTo>
                  <a:pt x="147" y="148"/>
                </a:lnTo>
                <a:lnTo>
                  <a:pt x="164" y="135"/>
                </a:lnTo>
                <a:lnTo>
                  <a:pt x="180" y="122"/>
                </a:lnTo>
                <a:lnTo>
                  <a:pt x="196" y="109"/>
                </a:lnTo>
                <a:lnTo>
                  <a:pt x="213" y="95"/>
                </a:lnTo>
                <a:lnTo>
                  <a:pt x="229" y="82"/>
                </a:lnTo>
                <a:lnTo>
                  <a:pt x="246" y="69"/>
                </a:lnTo>
                <a:lnTo>
                  <a:pt x="262" y="56"/>
                </a:lnTo>
                <a:lnTo>
                  <a:pt x="278" y="45"/>
                </a:lnTo>
                <a:lnTo>
                  <a:pt x="295" y="34"/>
                </a:lnTo>
                <a:lnTo>
                  <a:pt x="311" y="25"/>
                </a:lnTo>
                <a:lnTo>
                  <a:pt x="327" y="16"/>
                </a:lnTo>
                <a:lnTo>
                  <a:pt x="344" y="10"/>
                </a:lnTo>
                <a:lnTo>
                  <a:pt x="360" y="5"/>
                </a:lnTo>
                <a:lnTo>
                  <a:pt x="377" y="1"/>
                </a:lnTo>
                <a:lnTo>
                  <a:pt x="393" y="0"/>
                </a:lnTo>
                <a:lnTo>
                  <a:pt x="393" y="22"/>
                </a:lnTo>
                <a:lnTo>
                  <a:pt x="377" y="24"/>
                </a:lnTo>
                <a:lnTo>
                  <a:pt x="360" y="27"/>
                </a:lnTo>
                <a:lnTo>
                  <a:pt x="344" y="32"/>
                </a:lnTo>
                <a:lnTo>
                  <a:pt x="327" y="39"/>
                </a:lnTo>
                <a:lnTo>
                  <a:pt x="311" y="47"/>
                </a:lnTo>
                <a:lnTo>
                  <a:pt x="295" y="56"/>
                </a:lnTo>
                <a:lnTo>
                  <a:pt x="278" y="67"/>
                </a:lnTo>
                <a:lnTo>
                  <a:pt x="262" y="79"/>
                </a:lnTo>
                <a:lnTo>
                  <a:pt x="246" y="91"/>
                </a:lnTo>
                <a:lnTo>
                  <a:pt x="229" y="104"/>
                </a:lnTo>
                <a:lnTo>
                  <a:pt x="213" y="117"/>
                </a:lnTo>
                <a:lnTo>
                  <a:pt x="196" y="131"/>
                </a:lnTo>
                <a:lnTo>
                  <a:pt x="180" y="144"/>
                </a:lnTo>
                <a:lnTo>
                  <a:pt x="164" y="158"/>
                </a:lnTo>
                <a:lnTo>
                  <a:pt x="147" y="170"/>
                </a:lnTo>
                <a:lnTo>
                  <a:pt x="131" y="183"/>
                </a:lnTo>
                <a:lnTo>
                  <a:pt x="114" y="194"/>
                </a:lnTo>
                <a:lnTo>
                  <a:pt x="98" y="205"/>
                </a:lnTo>
                <a:lnTo>
                  <a:pt x="82" y="215"/>
                </a:lnTo>
                <a:lnTo>
                  <a:pt x="65" y="223"/>
                </a:lnTo>
                <a:lnTo>
                  <a:pt x="49" y="230"/>
                </a:lnTo>
                <a:lnTo>
                  <a:pt x="33" y="235"/>
                </a:lnTo>
                <a:lnTo>
                  <a:pt x="16" y="238"/>
                </a:lnTo>
                <a:lnTo>
                  <a:pt x="0" y="23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2057400" y="5143500"/>
            <a:ext cx="3743325" cy="952500"/>
          </a:xfrm>
          <a:custGeom>
            <a:avLst/>
            <a:gdLst/>
            <a:ahLst/>
            <a:cxnLst/>
            <a:rect l="l" t="t" r="r" b="b"/>
            <a:pathLst>
              <a:path w="393" h="100">
                <a:moveTo>
                  <a:pt x="0" y="92"/>
                </a:moveTo>
                <a:lnTo>
                  <a:pt x="16" y="92"/>
                </a:lnTo>
                <a:lnTo>
                  <a:pt x="33" y="90"/>
                </a:lnTo>
                <a:lnTo>
                  <a:pt x="49" y="88"/>
                </a:lnTo>
                <a:lnTo>
                  <a:pt x="65" y="85"/>
                </a:lnTo>
                <a:lnTo>
                  <a:pt x="82" y="82"/>
                </a:lnTo>
                <a:lnTo>
                  <a:pt x="98" y="78"/>
                </a:lnTo>
                <a:lnTo>
                  <a:pt x="114" y="73"/>
                </a:lnTo>
                <a:lnTo>
                  <a:pt x="131" y="68"/>
                </a:lnTo>
                <a:lnTo>
                  <a:pt x="147" y="63"/>
                </a:lnTo>
                <a:lnTo>
                  <a:pt x="164" y="58"/>
                </a:lnTo>
                <a:lnTo>
                  <a:pt x="180" y="52"/>
                </a:lnTo>
                <a:lnTo>
                  <a:pt x="196" y="46"/>
                </a:lnTo>
                <a:lnTo>
                  <a:pt x="213" y="41"/>
                </a:lnTo>
                <a:lnTo>
                  <a:pt x="229" y="35"/>
                </a:lnTo>
                <a:lnTo>
                  <a:pt x="246" y="29"/>
                </a:lnTo>
                <a:lnTo>
                  <a:pt x="262" y="24"/>
                </a:lnTo>
                <a:lnTo>
                  <a:pt x="278" y="19"/>
                </a:lnTo>
                <a:lnTo>
                  <a:pt x="295" y="15"/>
                </a:lnTo>
                <a:lnTo>
                  <a:pt x="311" y="11"/>
                </a:lnTo>
                <a:lnTo>
                  <a:pt x="327" y="7"/>
                </a:lnTo>
                <a:lnTo>
                  <a:pt x="344" y="4"/>
                </a:lnTo>
                <a:lnTo>
                  <a:pt x="360" y="2"/>
                </a:lnTo>
                <a:lnTo>
                  <a:pt x="377" y="1"/>
                </a:lnTo>
                <a:lnTo>
                  <a:pt x="393" y="0"/>
                </a:lnTo>
                <a:lnTo>
                  <a:pt x="393" y="8"/>
                </a:lnTo>
                <a:lnTo>
                  <a:pt x="377" y="9"/>
                </a:lnTo>
                <a:lnTo>
                  <a:pt x="360" y="10"/>
                </a:lnTo>
                <a:lnTo>
                  <a:pt x="344" y="12"/>
                </a:lnTo>
                <a:lnTo>
                  <a:pt x="327" y="15"/>
                </a:lnTo>
                <a:lnTo>
                  <a:pt x="311" y="19"/>
                </a:lnTo>
                <a:lnTo>
                  <a:pt x="295" y="23"/>
                </a:lnTo>
                <a:lnTo>
                  <a:pt x="278" y="27"/>
                </a:lnTo>
                <a:lnTo>
                  <a:pt x="262" y="32"/>
                </a:lnTo>
                <a:lnTo>
                  <a:pt x="246" y="37"/>
                </a:lnTo>
                <a:lnTo>
                  <a:pt x="229" y="43"/>
                </a:lnTo>
                <a:lnTo>
                  <a:pt x="213" y="49"/>
                </a:lnTo>
                <a:lnTo>
                  <a:pt x="196" y="54"/>
                </a:lnTo>
                <a:lnTo>
                  <a:pt x="180" y="60"/>
                </a:lnTo>
                <a:lnTo>
                  <a:pt x="164" y="66"/>
                </a:lnTo>
                <a:lnTo>
                  <a:pt x="147" y="71"/>
                </a:lnTo>
                <a:lnTo>
                  <a:pt x="131" y="76"/>
                </a:lnTo>
                <a:lnTo>
                  <a:pt x="114" y="81"/>
                </a:lnTo>
                <a:lnTo>
                  <a:pt x="98" y="86"/>
                </a:lnTo>
                <a:lnTo>
                  <a:pt x="82" y="90"/>
                </a:lnTo>
                <a:lnTo>
                  <a:pt x="65" y="93"/>
                </a:lnTo>
                <a:lnTo>
                  <a:pt x="49" y="96"/>
                </a:lnTo>
                <a:lnTo>
                  <a:pt x="33" y="98"/>
                </a:lnTo>
                <a:lnTo>
                  <a:pt x="16" y="100"/>
                </a:lnTo>
                <a:lnTo>
                  <a:pt x="0" y="100"/>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reeform 29"/>
          <p:cNvSpPr/>
          <p:nvPr/>
        </p:nvSpPr>
        <p:spPr>
          <a:xfrm>
            <a:off x="2057400" y="5838825"/>
            <a:ext cx="3743325" cy="295275"/>
          </a:xfrm>
          <a:custGeom>
            <a:avLst/>
            <a:gdLst/>
            <a:ahLst/>
            <a:cxnLst/>
            <a:rect l="l" t="t" r="r" b="b"/>
            <a:pathLst>
              <a:path w="393" h="31">
                <a:moveTo>
                  <a:pt x="0" y="27"/>
                </a:moveTo>
                <a:lnTo>
                  <a:pt x="16" y="27"/>
                </a:lnTo>
                <a:lnTo>
                  <a:pt x="33" y="27"/>
                </a:lnTo>
                <a:lnTo>
                  <a:pt x="49" y="26"/>
                </a:lnTo>
                <a:lnTo>
                  <a:pt x="65" y="25"/>
                </a:lnTo>
                <a:lnTo>
                  <a:pt x="82" y="24"/>
                </a:lnTo>
                <a:lnTo>
                  <a:pt x="98" y="23"/>
                </a:lnTo>
                <a:lnTo>
                  <a:pt x="114" y="22"/>
                </a:lnTo>
                <a:lnTo>
                  <a:pt x="131" y="20"/>
                </a:lnTo>
                <a:lnTo>
                  <a:pt x="147" y="19"/>
                </a:lnTo>
                <a:lnTo>
                  <a:pt x="164" y="17"/>
                </a:lnTo>
                <a:lnTo>
                  <a:pt x="180" y="15"/>
                </a:lnTo>
                <a:lnTo>
                  <a:pt x="196" y="14"/>
                </a:lnTo>
                <a:lnTo>
                  <a:pt x="213" y="12"/>
                </a:lnTo>
                <a:lnTo>
                  <a:pt x="229" y="10"/>
                </a:lnTo>
                <a:lnTo>
                  <a:pt x="246" y="9"/>
                </a:lnTo>
                <a:lnTo>
                  <a:pt x="262" y="7"/>
                </a:lnTo>
                <a:lnTo>
                  <a:pt x="278" y="6"/>
                </a:lnTo>
                <a:lnTo>
                  <a:pt x="295" y="5"/>
                </a:lnTo>
                <a:lnTo>
                  <a:pt x="311" y="3"/>
                </a:lnTo>
                <a:lnTo>
                  <a:pt x="327" y="2"/>
                </a:lnTo>
                <a:lnTo>
                  <a:pt x="344" y="2"/>
                </a:lnTo>
                <a:lnTo>
                  <a:pt x="360" y="1"/>
                </a:lnTo>
                <a:lnTo>
                  <a:pt x="377" y="0"/>
                </a:lnTo>
                <a:lnTo>
                  <a:pt x="393" y="0"/>
                </a:lnTo>
                <a:lnTo>
                  <a:pt x="393" y="5"/>
                </a:lnTo>
                <a:lnTo>
                  <a:pt x="377" y="5"/>
                </a:lnTo>
                <a:lnTo>
                  <a:pt x="360" y="5"/>
                </a:lnTo>
                <a:lnTo>
                  <a:pt x="344" y="6"/>
                </a:lnTo>
                <a:lnTo>
                  <a:pt x="327" y="7"/>
                </a:lnTo>
                <a:lnTo>
                  <a:pt x="311" y="8"/>
                </a:lnTo>
                <a:lnTo>
                  <a:pt x="295" y="9"/>
                </a:lnTo>
                <a:lnTo>
                  <a:pt x="278" y="10"/>
                </a:lnTo>
                <a:lnTo>
                  <a:pt x="262" y="11"/>
                </a:lnTo>
                <a:lnTo>
                  <a:pt x="246" y="13"/>
                </a:lnTo>
                <a:lnTo>
                  <a:pt x="229" y="15"/>
                </a:lnTo>
                <a:lnTo>
                  <a:pt x="213" y="16"/>
                </a:lnTo>
                <a:lnTo>
                  <a:pt x="196" y="18"/>
                </a:lnTo>
                <a:lnTo>
                  <a:pt x="180" y="20"/>
                </a:lnTo>
                <a:lnTo>
                  <a:pt x="164" y="21"/>
                </a:lnTo>
                <a:lnTo>
                  <a:pt x="147" y="23"/>
                </a:lnTo>
                <a:lnTo>
                  <a:pt x="131" y="24"/>
                </a:lnTo>
                <a:lnTo>
                  <a:pt x="114" y="26"/>
                </a:lnTo>
                <a:lnTo>
                  <a:pt x="98" y="27"/>
                </a:lnTo>
                <a:lnTo>
                  <a:pt x="82" y="28"/>
                </a:lnTo>
                <a:lnTo>
                  <a:pt x="65" y="29"/>
                </a:lnTo>
                <a:lnTo>
                  <a:pt x="49" y="30"/>
                </a:lnTo>
                <a:lnTo>
                  <a:pt x="33" y="31"/>
                </a:lnTo>
                <a:lnTo>
                  <a:pt x="16" y="31"/>
                </a:lnTo>
                <a:lnTo>
                  <a:pt x="0" y="3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Freeform 30"/>
          <p:cNvSpPr/>
          <p:nvPr/>
        </p:nvSpPr>
        <p:spPr>
          <a:xfrm>
            <a:off x="2057400" y="6134100"/>
            <a:ext cx="3743325" cy="314325"/>
          </a:xfrm>
          <a:custGeom>
            <a:avLst/>
            <a:gdLst/>
            <a:ahLst/>
            <a:cxnLst/>
            <a:rect l="l" t="t" r="r" b="b"/>
            <a:pathLst>
              <a:path w="393" h="33">
                <a:moveTo>
                  <a:pt x="0" y="0"/>
                </a:moveTo>
                <a:lnTo>
                  <a:pt x="16" y="0"/>
                </a:lnTo>
                <a:lnTo>
                  <a:pt x="33" y="1"/>
                </a:lnTo>
                <a:lnTo>
                  <a:pt x="49" y="1"/>
                </a:lnTo>
                <a:lnTo>
                  <a:pt x="65" y="2"/>
                </a:lnTo>
                <a:lnTo>
                  <a:pt x="82" y="3"/>
                </a:lnTo>
                <a:lnTo>
                  <a:pt x="98" y="5"/>
                </a:lnTo>
                <a:lnTo>
                  <a:pt x="114" y="6"/>
                </a:lnTo>
                <a:lnTo>
                  <a:pt x="131" y="8"/>
                </a:lnTo>
                <a:lnTo>
                  <a:pt x="147" y="9"/>
                </a:lnTo>
                <a:lnTo>
                  <a:pt x="164" y="11"/>
                </a:lnTo>
                <a:lnTo>
                  <a:pt x="180" y="13"/>
                </a:lnTo>
                <a:lnTo>
                  <a:pt x="196" y="15"/>
                </a:lnTo>
                <a:lnTo>
                  <a:pt x="213" y="16"/>
                </a:lnTo>
                <a:lnTo>
                  <a:pt x="229" y="18"/>
                </a:lnTo>
                <a:lnTo>
                  <a:pt x="246" y="20"/>
                </a:lnTo>
                <a:lnTo>
                  <a:pt x="262" y="22"/>
                </a:lnTo>
                <a:lnTo>
                  <a:pt x="278" y="23"/>
                </a:lnTo>
                <a:lnTo>
                  <a:pt x="295" y="25"/>
                </a:lnTo>
                <a:lnTo>
                  <a:pt x="311" y="26"/>
                </a:lnTo>
                <a:lnTo>
                  <a:pt x="327" y="27"/>
                </a:lnTo>
                <a:lnTo>
                  <a:pt x="344" y="28"/>
                </a:lnTo>
                <a:lnTo>
                  <a:pt x="360" y="28"/>
                </a:lnTo>
                <a:lnTo>
                  <a:pt x="377" y="29"/>
                </a:lnTo>
                <a:lnTo>
                  <a:pt x="393" y="29"/>
                </a:lnTo>
                <a:lnTo>
                  <a:pt x="393" y="33"/>
                </a:lnTo>
                <a:lnTo>
                  <a:pt x="377" y="33"/>
                </a:lnTo>
                <a:lnTo>
                  <a:pt x="360" y="32"/>
                </a:lnTo>
                <a:lnTo>
                  <a:pt x="344" y="31"/>
                </a:lnTo>
                <a:lnTo>
                  <a:pt x="327" y="31"/>
                </a:lnTo>
                <a:lnTo>
                  <a:pt x="311" y="29"/>
                </a:lnTo>
                <a:lnTo>
                  <a:pt x="295" y="28"/>
                </a:lnTo>
                <a:lnTo>
                  <a:pt x="278" y="27"/>
                </a:lnTo>
                <a:lnTo>
                  <a:pt x="262" y="25"/>
                </a:lnTo>
                <a:lnTo>
                  <a:pt x="246" y="24"/>
                </a:lnTo>
                <a:lnTo>
                  <a:pt x="229" y="22"/>
                </a:lnTo>
                <a:lnTo>
                  <a:pt x="213" y="20"/>
                </a:lnTo>
                <a:lnTo>
                  <a:pt x="196" y="18"/>
                </a:lnTo>
                <a:lnTo>
                  <a:pt x="180" y="17"/>
                </a:lnTo>
                <a:lnTo>
                  <a:pt x="164" y="15"/>
                </a:lnTo>
                <a:lnTo>
                  <a:pt x="147" y="13"/>
                </a:lnTo>
                <a:lnTo>
                  <a:pt x="131" y="11"/>
                </a:lnTo>
                <a:lnTo>
                  <a:pt x="114" y="10"/>
                </a:lnTo>
                <a:lnTo>
                  <a:pt x="98" y="8"/>
                </a:lnTo>
                <a:lnTo>
                  <a:pt x="82" y="7"/>
                </a:lnTo>
                <a:lnTo>
                  <a:pt x="65" y="6"/>
                </a:lnTo>
                <a:lnTo>
                  <a:pt x="49" y="5"/>
                </a:lnTo>
                <a:lnTo>
                  <a:pt x="33" y="4"/>
                </a:lnTo>
                <a:lnTo>
                  <a:pt x="16" y="4"/>
                </a:lnTo>
                <a:lnTo>
                  <a:pt x="0" y="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reeform 31"/>
          <p:cNvSpPr/>
          <p:nvPr/>
        </p:nvSpPr>
        <p:spPr>
          <a:xfrm>
            <a:off x="2057400" y="3952875"/>
            <a:ext cx="3743325" cy="2409825"/>
          </a:xfrm>
          <a:custGeom>
            <a:avLst/>
            <a:gdLst/>
            <a:ahLst/>
            <a:cxnLst/>
            <a:rect l="l" t="t" r="r" b="b"/>
            <a:pathLst>
              <a:path w="393" h="253">
                <a:moveTo>
                  <a:pt x="0" y="239"/>
                </a:moveTo>
                <a:lnTo>
                  <a:pt x="16" y="238"/>
                </a:lnTo>
                <a:lnTo>
                  <a:pt x="33" y="234"/>
                </a:lnTo>
                <a:lnTo>
                  <a:pt x="49" y="229"/>
                </a:lnTo>
                <a:lnTo>
                  <a:pt x="65" y="221"/>
                </a:lnTo>
                <a:lnTo>
                  <a:pt x="82" y="212"/>
                </a:lnTo>
                <a:lnTo>
                  <a:pt x="98" y="202"/>
                </a:lnTo>
                <a:lnTo>
                  <a:pt x="114" y="190"/>
                </a:lnTo>
                <a:lnTo>
                  <a:pt x="131" y="177"/>
                </a:lnTo>
                <a:lnTo>
                  <a:pt x="147" y="163"/>
                </a:lnTo>
                <a:lnTo>
                  <a:pt x="164" y="149"/>
                </a:lnTo>
                <a:lnTo>
                  <a:pt x="180" y="135"/>
                </a:lnTo>
                <a:lnTo>
                  <a:pt x="196" y="120"/>
                </a:lnTo>
                <a:lnTo>
                  <a:pt x="213" y="105"/>
                </a:lnTo>
                <a:lnTo>
                  <a:pt x="229" y="90"/>
                </a:lnTo>
                <a:lnTo>
                  <a:pt x="246" y="76"/>
                </a:lnTo>
                <a:lnTo>
                  <a:pt x="262" y="62"/>
                </a:lnTo>
                <a:lnTo>
                  <a:pt x="278" y="50"/>
                </a:lnTo>
                <a:lnTo>
                  <a:pt x="295" y="38"/>
                </a:lnTo>
                <a:lnTo>
                  <a:pt x="311" y="27"/>
                </a:lnTo>
                <a:lnTo>
                  <a:pt x="327" y="18"/>
                </a:lnTo>
                <a:lnTo>
                  <a:pt x="344" y="11"/>
                </a:lnTo>
                <a:lnTo>
                  <a:pt x="360" y="5"/>
                </a:lnTo>
                <a:lnTo>
                  <a:pt x="377" y="2"/>
                </a:lnTo>
                <a:lnTo>
                  <a:pt x="393" y="0"/>
                </a:lnTo>
                <a:lnTo>
                  <a:pt x="393" y="15"/>
                </a:lnTo>
                <a:lnTo>
                  <a:pt x="377" y="16"/>
                </a:lnTo>
                <a:lnTo>
                  <a:pt x="360" y="19"/>
                </a:lnTo>
                <a:lnTo>
                  <a:pt x="344" y="25"/>
                </a:lnTo>
                <a:lnTo>
                  <a:pt x="327" y="32"/>
                </a:lnTo>
                <a:lnTo>
                  <a:pt x="311" y="41"/>
                </a:lnTo>
                <a:lnTo>
                  <a:pt x="295" y="52"/>
                </a:lnTo>
                <a:lnTo>
                  <a:pt x="278" y="64"/>
                </a:lnTo>
                <a:lnTo>
                  <a:pt x="262" y="76"/>
                </a:lnTo>
                <a:lnTo>
                  <a:pt x="246" y="90"/>
                </a:lnTo>
                <a:lnTo>
                  <a:pt x="229" y="104"/>
                </a:lnTo>
                <a:lnTo>
                  <a:pt x="213" y="119"/>
                </a:lnTo>
                <a:lnTo>
                  <a:pt x="196" y="134"/>
                </a:lnTo>
                <a:lnTo>
                  <a:pt x="180" y="149"/>
                </a:lnTo>
                <a:lnTo>
                  <a:pt x="164" y="163"/>
                </a:lnTo>
                <a:lnTo>
                  <a:pt x="147" y="178"/>
                </a:lnTo>
                <a:lnTo>
                  <a:pt x="131" y="191"/>
                </a:lnTo>
                <a:lnTo>
                  <a:pt x="114" y="204"/>
                </a:lnTo>
                <a:lnTo>
                  <a:pt x="98" y="216"/>
                </a:lnTo>
                <a:lnTo>
                  <a:pt x="82" y="226"/>
                </a:lnTo>
                <a:lnTo>
                  <a:pt x="65" y="235"/>
                </a:lnTo>
                <a:lnTo>
                  <a:pt x="49" y="243"/>
                </a:lnTo>
                <a:lnTo>
                  <a:pt x="33" y="248"/>
                </a:lnTo>
                <a:lnTo>
                  <a:pt x="16" y="252"/>
                </a:lnTo>
                <a:lnTo>
                  <a:pt x="0" y="25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reeform 32"/>
          <p:cNvSpPr/>
          <p:nvPr/>
        </p:nvSpPr>
        <p:spPr>
          <a:xfrm>
            <a:off x="2057400" y="5219700"/>
            <a:ext cx="3743325" cy="1238250"/>
          </a:xfrm>
          <a:custGeom>
            <a:avLst/>
            <a:gdLst/>
            <a:ahLst/>
            <a:cxnLst/>
            <a:rect l="l" t="t" r="r" b="b"/>
            <a:pathLst>
              <a:path w="393" h="130">
                <a:moveTo>
                  <a:pt x="0" y="120"/>
                </a:moveTo>
                <a:lnTo>
                  <a:pt x="16" y="119"/>
                </a:lnTo>
                <a:lnTo>
                  <a:pt x="33" y="118"/>
                </a:lnTo>
                <a:lnTo>
                  <a:pt x="49" y="115"/>
                </a:lnTo>
                <a:lnTo>
                  <a:pt x="65" y="111"/>
                </a:lnTo>
                <a:lnTo>
                  <a:pt x="82" y="107"/>
                </a:lnTo>
                <a:lnTo>
                  <a:pt x="98" y="101"/>
                </a:lnTo>
                <a:lnTo>
                  <a:pt x="114" y="96"/>
                </a:lnTo>
                <a:lnTo>
                  <a:pt x="131" y="89"/>
                </a:lnTo>
                <a:lnTo>
                  <a:pt x="147" y="82"/>
                </a:lnTo>
                <a:lnTo>
                  <a:pt x="164" y="75"/>
                </a:lnTo>
                <a:lnTo>
                  <a:pt x="180" y="68"/>
                </a:lnTo>
                <a:lnTo>
                  <a:pt x="196" y="60"/>
                </a:lnTo>
                <a:lnTo>
                  <a:pt x="213" y="53"/>
                </a:lnTo>
                <a:lnTo>
                  <a:pt x="229" y="45"/>
                </a:lnTo>
                <a:lnTo>
                  <a:pt x="246" y="38"/>
                </a:lnTo>
                <a:lnTo>
                  <a:pt x="262" y="31"/>
                </a:lnTo>
                <a:lnTo>
                  <a:pt x="278" y="25"/>
                </a:lnTo>
                <a:lnTo>
                  <a:pt x="295" y="19"/>
                </a:lnTo>
                <a:lnTo>
                  <a:pt x="311" y="14"/>
                </a:lnTo>
                <a:lnTo>
                  <a:pt x="327" y="9"/>
                </a:lnTo>
                <a:lnTo>
                  <a:pt x="344" y="6"/>
                </a:lnTo>
                <a:lnTo>
                  <a:pt x="360" y="3"/>
                </a:lnTo>
                <a:lnTo>
                  <a:pt x="377" y="1"/>
                </a:lnTo>
                <a:lnTo>
                  <a:pt x="393" y="0"/>
                </a:lnTo>
                <a:lnTo>
                  <a:pt x="393" y="10"/>
                </a:lnTo>
                <a:lnTo>
                  <a:pt x="377" y="11"/>
                </a:lnTo>
                <a:lnTo>
                  <a:pt x="360" y="13"/>
                </a:lnTo>
                <a:lnTo>
                  <a:pt x="344" y="16"/>
                </a:lnTo>
                <a:lnTo>
                  <a:pt x="327" y="19"/>
                </a:lnTo>
                <a:lnTo>
                  <a:pt x="311" y="24"/>
                </a:lnTo>
                <a:lnTo>
                  <a:pt x="295" y="29"/>
                </a:lnTo>
                <a:lnTo>
                  <a:pt x="278" y="35"/>
                </a:lnTo>
                <a:lnTo>
                  <a:pt x="262" y="41"/>
                </a:lnTo>
                <a:lnTo>
                  <a:pt x="246" y="48"/>
                </a:lnTo>
                <a:lnTo>
                  <a:pt x="229" y="55"/>
                </a:lnTo>
                <a:lnTo>
                  <a:pt x="213" y="63"/>
                </a:lnTo>
                <a:lnTo>
                  <a:pt x="196" y="70"/>
                </a:lnTo>
                <a:lnTo>
                  <a:pt x="180" y="78"/>
                </a:lnTo>
                <a:lnTo>
                  <a:pt x="164" y="85"/>
                </a:lnTo>
                <a:lnTo>
                  <a:pt x="147" y="92"/>
                </a:lnTo>
                <a:lnTo>
                  <a:pt x="131" y="99"/>
                </a:lnTo>
                <a:lnTo>
                  <a:pt x="114" y="106"/>
                </a:lnTo>
                <a:lnTo>
                  <a:pt x="98" y="111"/>
                </a:lnTo>
                <a:lnTo>
                  <a:pt x="82" y="117"/>
                </a:lnTo>
                <a:lnTo>
                  <a:pt x="65" y="121"/>
                </a:lnTo>
                <a:lnTo>
                  <a:pt x="49" y="125"/>
                </a:lnTo>
                <a:lnTo>
                  <a:pt x="33" y="128"/>
                </a:lnTo>
                <a:lnTo>
                  <a:pt x="16" y="129"/>
                </a:lnTo>
                <a:lnTo>
                  <a:pt x="0" y="13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Freeform 33"/>
          <p:cNvSpPr/>
          <p:nvPr/>
        </p:nvSpPr>
        <p:spPr>
          <a:xfrm>
            <a:off x="2057400" y="5886450"/>
            <a:ext cx="3743325" cy="619125"/>
          </a:xfrm>
          <a:custGeom>
            <a:avLst/>
            <a:gdLst/>
            <a:ahLst/>
            <a:cxnLst/>
            <a:rect l="l" t="t" r="r" b="b"/>
            <a:pathLst>
              <a:path w="393" h="65">
                <a:moveTo>
                  <a:pt x="0" y="60"/>
                </a:moveTo>
                <a:lnTo>
                  <a:pt x="16" y="60"/>
                </a:lnTo>
                <a:lnTo>
                  <a:pt x="33" y="59"/>
                </a:lnTo>
                <a:lnTo>
                  <a:pt x="49" y="57"/>
                </a:lnTo>
                <a:lnTo>
                  <a:pt x="65" y="56"/>
                </a:lnTo>
                <a:lnTo>
                  <a:pt x="82" y="53"/>
                </a:lnTo>
                <a:lnTo>
                  <a:pt x="98" y="51"/>
                </a:lnTo>
                <a:lnTo>
                  <a:pt x="114" y="48"/>
                </a:lnTo>
                <a:lnTo>
                  <a:pt x="131" y="44"/>
                </a:lnTo>
                <a:lnTo>
                  <a:pt x="147" y="41"/>
                </a:lnTo>
                <a:lnTo>
                  <a:pt x="164" y="37"/>
                </a:lnTo>
                <a:lnTo>
                  <a:pt x="180" y="34"/>
                </a:lnTo>
                <a:lnTo>
                  <a:pt x="196" y="30"/>
                </a:lnTo>
                <a:lnTo>
                  <a:pt x="213" y="26"/>
                </a:lnTo>
                <a:lnTo>
                  <a:pt x="229" y="22"/>
                </a:lnTo>
                <a:lnTo>
                  <a:pt x="246" y="19"/>
                </a:lnTo>
                <a:lnTo>
                  <a:pt x="262" y="15"/>
                </a:lnTo>
                <a:lnTo>
                  <a:pt x="278" y="12"/>
                </a:lnTo>
                <a:lnTo>
                  <a:pt x="295" y="9"/>
                </a:lnTo>
                <a:lnTo>
                  <a:pt x="311" y="6"/>
                </a:lnTo>
                <a:lnTo>
                  <a:pt x="327" y="4"/>
                </a:lnTo>
                <a:lnTo>
                  <a:pt x="344" y="2"/>
                </a:lnTo>
                <a:lnTo>
                  <a:pt x="360" y="1"/>
                </a:lnTo>
                <a:lnTo>
                  <a:pt x="377" y="0"/>
                </a:lnTo>
                <a:lnTo>
                  <a:pt x="393" y="0"/>
                </a:lnTo>
                <a:lnTo>
                  <a:pt x="393" y="4"/>
                </a:lnTo>
                <a:lnTo>
                  <a:pt x="377" y="4"/>
                </a:lnTo>
                <a:lnTo>
                  <a:pt x="360" y="5"/>
                </a:lnTo>
                <a:lnTo>
                  <a:pt x="344" y="7"/>
                </a:lnTo>
                <a:lnTo>
                  <a:pt x="327" y="9"/>
                </a:lnTo>
                <a:lnTo>
                  <a:pt x="311" y="11"/>
                </a:lnTo>
                <a:lnTo>
                  <a:pt x="295" y="14"/>
                </a:lnTo>
                <a:lnTo>
                  <a:pt x="278" y="17"/>
                </a:lnTo>
                <a:lnTo>
                  <a:pt x="262" y="20"/>
                </a:lnTo>
                <a:lnTo>
                  <a:pt x="246" y="23"/>
                </a:lnTo>
                <a:lnTo>
                  <a:pt x="229" y="27"/>
                </a:lnTo>
                <a:lnTo>
                  <a:pt x="213" y="31"/>
                </a:lnTo>
                <a:lnTo>
                  <a:pt x="196" y="34"/>
                </a:lnTo>
                <a:lnTo>
                  <a:pt x="180" y="38"/>
                </a:lnTo>
                <a:lnTo>
                  <a:pt x="164" y="42"/>
                </a:lnTo>
                <a:lnTo>
                  <a:pt x="147" y="46"/>
                </a:lnTo>
                <a:lnTo>
                  <a:pt x="131" y="49"/>
                </a:lnTo>
                <a:lnTo>
                  <a:pt x="114" y="52"/>
                </a:lnTo>
                <a:lnTo>
                  <a:pt x="98" y="55"/>
                </a:lnTo>
                <a:lnTo>
                  <a:pt x="82" y="58"/>
                </a:lnTo>
                <a:lnTo>
                  <a:pt x="65" y="60"/>
                </a:lnTo>
                <a:lnTo>
                  <a:pt x="49" y="62"/>
                </a:lnTo>
                <a:lnTo>
                  <a:pt x="33" y="64"/>
                </a:lnTo>
                <a:lnTo>
                  <a:pt x="16" y="64"/>
                </a:lnTo>
                <a:lnTo>
                  <a:pt x="0" y="65"/>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reeform 34"/>
          <p:cNvSpPr/>
          <p:nvPr/>
        </p:nvSpPr>
        <p:spPr>
          <a:xfrm>
            <a:off x="2057400" y="6448425"/>
            <a:ext cx="3743325" cy="85725"/>
          </a:xfrm>
          <a:custGeom>
            <a:avLst/>
            <a:gdLst/>
            <a:ahLst/>
            <a:cxnLst/>
            <a:rect l="l" t="t" r="r" b="b"/>
            <a:pathLst>
              <a:path w="393" h="9">
                <a:moveTo>
                  <a:pt x="0" y="6"/>
                </a:moveTo>
                <a:lnTo>
                  <a:pt x="16" y="6"/>
                </a:lnTo>
                <a:lnTo>
                  <a:pt x="33" y="6"/>
                </a:lnTo>
                <a:lnTo>
                  <a:pt x="49" y="5"/>
                </a:lnTo>
                <a:lnTo>
                  <a:pt x="65" y="5"/>
                </a:lnTo>
                <a:lnTo>
                  <a:pt x="82" y="5"/>
                </a:lnTo>
                <a:lnTo>
                  <a:pt x="98" y="5"/>
                </a:lnTo>
                <a:lnTo>
                  <a:pt x="114" y="4"/>
                </a:lnTo>
                <a:lnTo>
                  <a:pt x="131" y="4"/>
                </a:lnTo>
                <a:lnTo>
                  <a:pt x="147" y="4"/>
                </a:lnTo>
                <a:lnTo>
                  <a:pt x="164" y="3"/>
                </a:lnTo>
                <a:lnTo>
                  <a:pt x="180" y="3"/>
                </a:lnTo>
                <a:lnTo>
                  <a:pt x="196" y="3"/>
                </a:lnTo>
                <a:lnTo>
                  <a:pt x="213" y="2"/>
                </a:lnTo>
                <a:lnTo>
                  <a:pt x="229" y="2"/>
                </a:lnTo>
                <a:lnTo>
                  <a:pt x="246" y="2"/>
                </a:lnTo>
                <a:lnTo>
                  <a:pt x="262" y="1"/>
                </a:lnTo>
                <a:lnTo>
                  <a:pt x="278" y="1"/>
                </a:lnTo>
                <a:lnTo>
                  <a:pt x="295" y="1"/>
                </a:lnTo>
                <a:lnTo>
                  <a:pt x="311" y="0"/>
                </a:lnTo>
                <a:lnTo>
                  <a:pt x="327" y="0"/>
                </a:lnTo>
                <a:lnTo>
                  <a:pt x="344" y="0"/>
                </a:lnTo>
                <a:lnTo>
                  <a:pt x="360" y="0"/>
                </a:lnTo>
                <a:lnTo>
                  <a:pt x="377" y="0"/>
                </a:lnTo>
                <a:lnTo>
                  <a:pt x="393" y="0"/>
                </a:lnTo>
                <a:lnTo>
                  <a:pt x="393" y="3"/>
                </a:lnTo>
                <a:lnTo>
                  <a:pt x="377" y="3"/>
                </a:lnTo>
                <a:lnTo>
                  <a:pt x="360" y="3"/>
                </a:lnTo>
                <a:lnTo>
                  <a:pt x="344" y="3"/>
                </a:lnTo>
                <a:lnTo>
                  <a:pt x="327" y="3"/>
                </a:lnTo>
                <a:lnTo>
                  <a:pt x="311" y="4"/>
                </a:lnTo>
                <a:lnTo>
                  <a:pt x="295" y="4"/>
                </a:lnTo>
                <a:lnTo>
                  <a:pt x="278" y="4"/>
                </a:lnTo>
                <a:lnTo>
                  <a:pt x="262" y="5"/>
                </a:lnTo>
                <a:lnTo>
                  <a:pt x="246" y="5"/>
                </a:lnTo>
                <a:lnTo>
                  <a:pt x="229" y="5"/>
                </a:lnTo>
                <a:lnTo>
                  <a:pt x="213" y="6"/>
                </a:lnTo>
                <a:lnTo>
                  <a:pt x="196" y="6"/>
                </a:lnTo>
                <a:lnTo>
                  <a:pt x="180" y="6"/>
                </a:lnTo>
                <a:lnTo>
                  <a:pt x="164" y="7"/>
                </a:lnTo>
                <a:lnTo>
                  <a:pt x="147" y="7"/>
                </a:lnTo>
                <a:lnTo>
                  <a:pt x="131" y="7"/>
                </a:lnTo>
                <a:lnTo>
                  <a:pt x="114" y="8"/>
                </a:lnTo>
                <a:lnTo>
                  <a:pt x="98" y="8"/>
                </a:lnTo>
                <a:lnTo>
                  <a:pt x="82" y="8"/>
                </a:lnTo>
                <a:lnTo>
                  <a:pt x="65" y="9"/>
                </a:lnTo>
                <a:lnTo>
                  <a:pt x="49" y="9"/>
                </a:lnTo>
                <a:lnTo>
                  <a:pt x="33" y="9"/>
                </a:lnTo>
                <a:lnTo>
                  <a:pt x="16" y="9"/>
                </a:lnTo>
                <a:lnTo>
                  <a:pt x="0" y="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941195" y="1304925"/>
            <a:ext cx="114300" cy="1150694"/>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7175" y="1304925"/>
            <a:ext cx="1626870" cy="1150694"/>
          </a:xfrm>
          <a:prstGeom prst="rect">
            <a:avLst/>
          </a:prstGeom>
          <a:noFill/>
        </p:spPr>
        <p:txBody>
          <a:bodyPr wrap="square" lIns="0" tIns="0" rIns="19050" bIns="0" anchor="ctr">
            <a:spAutoFit/>
          </a:bodyPr>
          <a:lstStyle/>
          <a:p>
            <a:pPr algn="r"/>
            <a:endParaRPr/>
          </a:p>
        </p:txBody>
      </p:sp>
      <p:sp>
        <p:nvSpPr>
          <p:cNvPr id="38" name="Rectangle 37"/>
          <p:cNvSpPr/>
          <p:nvPr/>
        </p:nvSpPr>
        <p:spPr>
          <a:xfrm>
            <a:off x="1941195" y="2512769"/>
            <a:ext cx="114300" cy="1146448"/>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7175" y="2512769"/>
            <a:ext cx="1626870" cy="1146448"/>
          </a:xfrm>
          <a:prstGeom prst="rect">
            <a:avLst/>
          </a:prstGeom>
          <a:noFill/>
        </p:spPr>
        <p:txBody>
          <a:bodyPr wrap="square" lIns="0" tIns="0" rIns="19050" bIns="0" anchor="ctr">
            <a:spAutoFit/>
          </a:bodyPr>
          <a:lstStyle/>
          <a:p>
            <a:pPr algn="r"/>
            <a:endParaRPr/>
          </a:p>
        </p:txBody>
      </p:sp>
      <p:sp>
        <p:nvSpPr>
          <p:cNvPr id="40" name="Rectangle 39"/>
          <p:cNvSpPr/>
          <p:nvPr/>
        </p:nvSpPr>
        <p:spPr>
          <a:xfrm>
            <a:off x="1941195" y="3716368"/>
            <a:ext cx="114300" cy="111647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7175" y="3716368"/>
            <a:ext cx="1626870" cy="1116476"/>
          </a:xfrm>
          <a:prstGeom prst="rect">
            <a:avLst/>
          </a:prstGeom>
          <a:noFill/>
        </p:spPr>
        <p:txBody>
          <a:bodyPr wrap="square" lIns="0" tIns="0" rIns="19050" bIns="0" anchor="ctr">
            <a:spAutoFit/>
          </a:bodyPr>
          <a:lstStyle/>
          <a:p>
            <a:pPr algn="r"/>
            <a:endParaRPr/>
          </a:p>
        </p:txBody>
      </p:sp>
      <p:sp>
        <p:nvSpPr>
          <p:cNvPr id="42" name="Rectangle 41"/>
          <p:cNvSpPr/>
          <p:nvPr/>
        </p:nvSpPr>
        <p:spPr>
          <a:xfrm>
            <a:off x="1941195" y="4889994"/>
            <a:ext cx="114300" cy="861823"/>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57175" y="4889994"/>
            <a:ext cx="1626870" cy="861823"/>
          </a:xfrm>
          <a:prstGeom prst="rect">
            <a:avLst/>
          </a:prstGeom>
          <a:noFill/>
        </p:spPr>
        <p:txBody>
          <a:bodyPr wrap="square" lIns="0" tIns="0" rIns="19050" bIns="0" anchor="ctr">
            <a:spAutoFit/>
          </a:bodyPr>
          <a:lstStyle/>
          <a:p>
            <a:pPr algn="r"/>
            <a:endParaRPr/>
          </a:p>
        </p:txBody>
      </p:sp>
      <p:sp>
        <p:nvSpPr>
          <p:cNvPr id="44" name="Rectangle 43"/>
          <p:cNvSpPr/>
          <p:nvPr/>
        </p:nvSpPr>
        <p:spPr>
          <a:xfrm>
            <a:off x="1941195" y="5808967"/>
            <a:ext cx="114300" cy="362482"/>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7175" y="5808967"/>
            <a:ext cx="1626870" cy="362482"/>
          </a:xfrm>
          <a:prstGeom prst="rect">
            <a:avLst/>
          </a:prstGeom>
          <a:noFill/>
        </p:spPr>
        <p:txBody>
          <a:bodyPr wrap="square" lIns="0" tIns="0" rIns="19050" bIns="0" anchor="ctr">
            <a:spAutoFit/>
          </a:bodyPr>
          <a:lstStyle/>
          <a:p>
            <a:pPr algn="r"/>
            <a:endParaRPr/>
          </a:p>
        </p:txBody>
      </p:sp>
      <p:sp>
        <p:nvSpPr>
          <p:cNvPr id="46" name="Rectangle 45"/>
          <p:cNvSpPr/>
          <p:nvPr/>
        </p:nvSpPr>
        <p:spPr>
          <a:xfrm>
            <a:off x="1941195" y="6228599"/>
            <a:ext cx="114300" cy="305551"/>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7175" y="6228599"/>
            <a:ext cx="1626870" cy="305551"/>
          </a:xfrm>
          <a:prstGeom prst="rect">
            <a:avLst/>
          </a:prstGeom>
          <a:noFill/>
        </p:spPr>
        <p:txBody>
          <a:bodyPr wrap="square" lIns="0" tIns="0" rIns="19050" bIns="0" anchor="ctr">
            <a:spAutoFit/>
          </a:bodyPr>
          <a:lstStyle/>
          <a:p>
            <a:pPr algn="r"/>
            <a:endParaRPr/>
          </a:p>
        </p:txBody>
      </p:sp>
      <p:sp>
        <p:nvSpPr>
          <p:cNvPr id="48" name="Rectangle 47"/>
          <p:cNvSpPr/>
          <p:nvPr/>
        </p:nvSpPr>
        <p:spPr>
          <a:xfrm>
            <a:off x="5800725" y="1362075"/>
            <a:ext cx="114300" cy="273041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72175" y="1362075"/>
            <a:ext cx="1381125" cy="2730418"/>
          </a:xfrm>
          <a:prstGeom prst="rect">
            <a:avLst/>
          </a:prstGeom>
          <a:noFill/>
        </p:spPr>
        <p:txBody>
          <a:bodyPr wrap="square" lIns="0" tIns="0" rIns="19050" bIns="0" anchor="ctr">
            <a:spAutoFit/>
          </a:bodyPr>
          <a:lstStyle/>
          <a:p>
            <a:pPr algn="l"/>
            <a:endParaRPr/>
          </a:p>
        </p:txBody>
      </p:sp>
      <p:sp>
        <p:nvSpPr>
          <p:cNvPr id="50" name="Rectangle 49"/>
          <p:cNvSpPr/>
          <p:nvPr/>
        </p:nvSpPr>
        <p:spPr>
          <a:xfrm>
            <a:off x="5800725" y="4149643"/>
            <a:ext cx="114300" cy="116982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972175" y="4149643"/>
            <a:ext cx="1381125" cy="1169820"/>
          </a:xfrm>
          <a:prstGeom prst="rect">
            <a:avLst/>
          </a:prstGeom>
          <a:noFill/>
        </p:spPr>
        <p:txBody>
          <a:bodyPr wrap="square" lIns="0" tIns="0" rIns="19050" bIns="0" anchor="ctr">
            <a:spAutoFit/>
          </a:bodyPr>
          <a:lstStyle/>
          <a:p>
            <a:pPr algn="l"/>
            <a:endParaRPr/>
          </a:p>
        </p:txBody>
      </p:sp>
      <p:sp>
        <p:nvSpPr>
          <p:cNvPr id="52" name="Rectangle 51"/>
          <p:cNvSpPr/>
          <p:nvPr/>
        </p:nvSpPr>
        <p:spPr>
          <a:xfrm>
            <a:off x="5800725" y="5376613"/>
            <a:ext cx="114300" cy="54966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72175" y="5376613"/>
            <a:ext cx="1381125" cy="549666"/>
          </a:xfrm>
          <a:prstGeom prst="rect">
            <a:avLst/>
          </a:prstGeom>
          <a:noFill/>
        </p:spPr>
        <p:txBody>
          <a:bodyPr wrap="square" lIns="0" tIns="0" rIns="19050" bIns="0" anchor="ctr">
            <a:spAutoFit/>
          </a:bodyPr>
          <a:lstStyle/>
          <a:p>
            <a:pPr algn="l"/>
            <a:endParaRPr/>
          </a:p>
        </p:txBody>
      </p:sp>
      <p:sp>
        <p:nvSpPr>
          <p:cNvPr id="54" name="Rectangle 53"/>
          <p:cNvSpPr/>
          <p:nvPr/>
        </p:nvSpPr>
        <p:spPr>
          <a:xfrm>
            <a:off x="5800725" y="5983429"/>
            <a:ext cx="114300" cy="49357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972175" y="5983429"/>
            <a:ext cx="1381125" cy="493571"/>
          </a:xfrm>
          <a:prstGeom prst="rect">
            <a:avLst/>
          </a:prstGeom>
          <a:noFill/>
        </p:spPr>
        <p:txBody>
          <a:bodyPr wrap="square" lIns="0" tIns="0" rIns="19050" bIns="0" anchor="ctr">
            <a:spAutoFit/>
          </a:bodyPr>
          <a:lstStyle/>
          <a:p>
            <a:pPr algn="l"/>
            <a:endParaRPr/>
          </a:p>
        </p:txBody>
      </p:sp>
      <p:sp>
        <p:nvSpPr>
          <p:cNvPr id="56" name="Rounded Rectangle 55"/>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715250" y="1066800"/>
            <a:ext cx="4191000" cy="209550"/>
          </a:xfrm>
          <a:prstGeom prst="rect">
            <a:avLst/>
          </a:prstGeom>
          <a:noFill/>
        </p:spPr>
        <p:txBody>
          <a:bodyPr wrap="square" lIns="0" tIns="9525" rIns="19050" bIns="9525">
            <a:spAutoFit/>
          </a:bodyPr>
          <a:lstStyle/>
          <a:p>
            <a:pPr algn="l"/>
            <a:r>
              <a:rPr sz="1300" b="1">
                <a:solidFill>
                  <a:srgbClr val="0B2E4A"/>
                </a:solidFill>
                <a:latin typeface="Calibri"/>
              </a:rPr>
              <a:t>Key Findings</a:t>
            </a:r>
          </a:p>
        </p:txBody>
      </p:sp>
      <p:sp>
        <p:nvSpPr>
          <p:cNvPr id="58" name="Rectangle 57"/>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715250" y="1390650"/>
            <a:ext cx="41910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0" name="TextBox 5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61" name="TextBox 60"/>
          <p:cNvSpPr txBox="1"/>
          <p:nvPr/>
        </p:nvSpPr>
        <p:spPr>
          <a:xfrm>
            <a:off x="458214" y="1712632"/>
            <a:ext cx="1406780" cy="186689"/>
          </a:xfrm>
          <a:prstGeom prst="rect">
            <a:avLst/>
          </a:prstGeom>
          <a:noFill/>
        </p:spPr>
        <p:txBody>
          <a:bodyPr wrap="none" lIns="0" tIns="0" rIns="0" bIns="0">
            <a:spAutoFit/>
          </a:bodyPr>
          <a:lstStyle/>
          <a:p>
            <a:r>
              <a:rPr sz="1100" b="1">
                <a:solidFill>
                  <a:srgbClr val="2E2E2E"/>
                </a:solidFill>
                <a:latin typeface="Calibri"/>
              </a:rPr>
              <a:t>Third-Party E-commerce</a:t>
            </a:r>
          </a:p>
        </p:txBody>
      </p:sp>
      <p:pic>
        <p:nvPicPr>
          <p:cNvPr id="62" name="Picture 61" descr="lock.png"/>
          <p:cNvPicPr>
            <a:picLocks noChangeAspect="1"/>
          </p:cNvPicPr>
          <p:nvPr/>
        </p:nvPicPr>
        <p:blipFill>
          <a:blip r:embed="rId4"/>
          <a:stretch>
            <a:fillRect/>
          </a:stretch>
        </p:blipFill>
        <p:spPr>
          <a:xfrm>
            <a:off x="1735218" y="1870493"/>
            <a:ext cx="128699" cy="187198"/>
          </a:xfrm>
          <a:prstGeom prst="rect">
            <a:avLst/>
          </a:prstGeom>
        </p:spPr>
      </p:pic>
      <p:sp>
        <p:nvSpPr>
          <p:cNvPr id="63" name="TextBox 62"/>
          <p:cNvSpPr txBox="1"/>
          <p:nvPr/>
        </p:nvSpPr>
        <p:spPr>
          <a:xfrm>
            <a:off x="534703" y="3002173"/>
            <a:ext cx="1252463" cy="186689"/>
          </a:xfrm>
          <a:prstGeom prst="rect">
            <a:avLst/>
          </a:prstGeom>
          <a:noFill/>
        </p:spPr>
        <p:txBody>
          <a:bodyPr wrap="none" lIns="0" tIns="0" rIns="0" bIns="0">
            <a:spAutoFit/>
          </a:bodyPr>
          <a:lstStyle/>
          <a:p>
            <a:r>
              <a:rPr sz="1100" b="1">
                <a:solidFill>
                  <a:srgbClr val="2E2E2E"/>
                </a:solidFill>
                <a:latin typeface="Calibri"/>
              </a:rPr>
              <a:t>Veterinary Channels</a:t>
            </a:r>
          </a:p>
        </p:txBody>
      </p:sp>
      <p:pic>
        <p:nvPicPr>
          <p:cNvPr id="64" name="Picture 63" descr="lock.png"/>
          <p:cNvPicPr>
            <a:picLocks noChangeAspect="1"/>
          </p:cNvPicPr>
          <p:nvPr/>
        </p:nvPicPr>
        <p:blipFill>
          <a:blip r:embed="rId4"/>
          <a:stretch>
            <a:fillRect/>
          </a:stretch>
        </p:blipFill>
        <p:spPr>
          <a:xfrm>
            <a:off x="1735218" y="2992394"/>
            <a:ext cx="128699" cy="187198"/>
          </a:xfrm>
          <a:prstGeom prst="rect">
            <a:avLst/>
          </a:prstGeom>
        </p:spPr>
      </p:pic>
      <p:sp>
        <p:nvSpPr>
          <p:cNvPr id="65" name="TextBox 64"/>
          <p:cNvSpPr txBox="1"/>
          <p:nvPr/>
        </p:nvSpPr>
        <p:spPr>
          <a:xfrm>
            <a:off x="572629" y="4190786"/>
            <a:ext cx="1214536" cy="186689"/>
          </a:xfrm>
          <a:prstGeom prst="rect">
            <a:avLst/>
          </a:prstGeom>
          <a:noFill/>
        </p:spPr>
        <p:txBody>
          <a:bodyPr wrap="none" lIns="0" tIns="0" rIns="0" bIns="0">
            <a:spAutoFit/>
          </a:bodyPr>
          <a:lstStyle/>
          <a:p>
            <a:r>
              <a:rPr sz="1100" b="1">
                <a:solidFill>
                  <a:srgbClr val="2E2E2E"/>
                </a:solidFill>
                <a:latin typeface="Calibri"/>
              </a:rPr>
              <a:t>Specialist Pet Retail</a:t>
            </a:r>
          </a:p>
        </p:txBody>
      </p:sp>
      <p:pic>
        <p:nvPicPr>
          <p:cNvPr id="66" name="Picture 65" descr="lock.png"/>
          <p:cNvPicPr>
            <a:picLocks noChangeAspect="1"/>
          </p:cNvPicPr>
          <p:nvPr/>
        </p:nvPicPr>
        <p:blipFill>
          <a:blip r:embed="rId4"/>
          <a:stretch>
            <a:fillRect/>
          </a:stretch>
        </p:blipFill>
        <p:spPr>
          <a:xfrm>
            <a:off x="1735218" y="4181007"/>
            <a:ext cx="128699" cy="187198"/>
          </a:xfrm>
          <a:prstGeom prst="rect">
            <a:avLst/>
          </a:prstGeom>
        </p:spPr>
      </p:pic>
      <p:sp>
        <p:nvSpPr>
          <p:cNvPr id="67" name="TextBox 66"/>
          <p:cNvSpPr txBox="1"/>
          <p:nvPr/>
        </p:nvSpPr>
        <p:spPr>
          <a:xfrm>
            <a:off x="303508" y="5153265"/>
            <a:ext cx="1561486" cy="186689"/>
          </a:xfrm>
          <a:prstGeom prst="rect">
            <a:avLst/>
          </a:prstGeom>
          <a:noFill/>
        </p:spPr>
        <p:txBody>
          <a:bodyPr wrap="none" lIns="0" tIns="0" rIns="0" bIns="0">
            <a:spAutoFit/>
          </a:bodyPr>
          <a:lstStyle/>
          <a:p>
            <a:r>
              <a:rPr sz="1100" b="1">
                <a:solidFill>
                  <a:srgbClr val="2E2E2E"/>
                </a:solidFill>
                <a:latin typeface="Calibri"/>
              </a:rPr>
              <a:t>Brand-Owned E-commerce</a:t>
            </a:r>
          </a:p>
        </p:txBody>
      </p:sp>
      <p:pic>
        <p:nvPicPr>
          <p:cNvPr id="68" name="Picture 67" descr="lock.png"/>
          <p:cNvPicPr>
            <a:picLocks noChangeAspect="1"/>
          </p:cNvPicPr>
          <p:nvPr/>
        </p:nvPicPr>
        <p:blipFill>
          <a:blip r:embed="rId4"/>
          <a:stretch>
            <a:fillRect/>
          </a:stretch>
        </p:blipFill>
        <p:spPr>
          <a:xfrm>
            <a:off x="1735218" y="5311126"/>
            <a:ext cx="128699" cy="187198"/>
          </a:xfrm>
          <a:prstGeom prst="rect">
            <a:avLst/>
          </a:prstGeom>
        </p:spPr>
      </p:pic>
      <p:sp>
        <p:nvSpPr>
          <p:cNvPr id="69" name="TextBox 68"/>
          <p:cNvSpPr txBox="1"/>
          <p:nvPr/>
        </p:nvSpPr>
        <p:spPr>
          <a:xfrm>
            <a:off x="664580" y="5906387"/>
            <a:ext cx="1122585" cy="186689"/>
          </a:xfrm>
          <a:prstGeom prst="rect">
            <a:avLst/>
          </a:prstGeom>
          <a:noFill/>
        </p:spPr>
        <p:txBody>
          <a:bodyPr wrap="none" lIns="0" tIns="0" rIns="0" bIns="0">
            <a:spAutoFit/>
          </a:bodyPr>
          <a:lstStyle/>
          <a:p>
            <a:r>
              <a:rPr sz="1100" b="1">
                <a:solidFill>
                  <a:srgbClr val="2E2E2E"/>
                </a:solidFill>
                <a:latin typeface="Calibri"/>
              </a:rPr>
              <a:t>Other Direct Sales</a:t>
            </a:r>
          </a:p>
        </p:txBody>
      </p:sp>
      <p:pic>
        <p:nvPicPr>
          <p:cNvPr id="70" name="Picture 69" descr="lock.png"/>
          <p:cNvPicPr>
            <a:picLocks noChangeAspect="1"/>
          </p:cNvPicPr>
          <p:nvPr/>
        </p:nvPicPr>
        <p:blipFill>
          <a:blip r:embed="rId4"/>
          <a:stretch>
            <a:fillRect/>
          </a:stretch>
        </p:blipFill>
        <p:spPr>
          <a:xfrm>
            <a:off x="1735218" y="5896608"/>
            <a:ext cx="128699" cy="187198"/>
          </a:xfrm>
          <a:prstGeom prst="rect">
            <a:avLst/>
          </a:prstGeom>
        </p:spPr>
      </p:pic>
      <p:sp>
        <p:nvSpPr>
          <p:cNvPr id="71" name="TextBox 70"/>
          <p:cNvSpPr txBox="1"/>
          <p:nvPr/>
        </p:nvSpPr>
        <p:spPr>
          <a:xfrm>
            <a:off x="886136" y="6297554"/>
            <a:ext cx="901030" cy="186689"/>
          </a:xfrm>
          <a:prstGeom prst="rect">
            <a:avLst/>
          </a:prstGeom>
          <a:noFill/>
        </p:spPr>
        <p:txBody>
          <a:bodyPr wrap="none" lIns="0" tIns="0" rIns="0" bIns="0">
            <a:spAutoFit/>
          </a:bodyPr>
          <a:lstStyle/>
          <a:p>
            <a:r>
              <a:rPr sz="1100" b="1">
                <a:solidFill>
                  <a:srgbClr val="2E2E2E"/>
                </a:solidFill>
                <a:latin typeface="Calibri"/>
              </a:rPr>
              <a:t>General Retail</a:t>
            </a:r>
          </a:p>
        </p:txBody>
      </p:sp>
      <p:pic>
        <p:nvPicPr>
          <p:cNvPr id="72" name="Picture 71" descr="lock.png"/>
          <p:cNvPicPr>
            <a:picLocks noChangeAspect="1"/>
          </p:cNvPicPr>
          <p:nvPr/>
        </p:nvPicPr>
        <p:blipFill>
          <a:blip r:embed="rId4"/>
          <a:stretch>
            <a:fillRect/>
          </a:stretch>
        </p:blipFill>
        <p:spPr>
          <a:xfrm>
            <a:off x="1735218" y="6287775"/>
            <a:ext cx="128699" cy="187198"/>
          </a:xfrm>
          <a:prstGeom prst="rect">
            <a:avLst/>
          </a:prstGeom>
        </p:spPr>
      </p:pic>
      <p:sp>
        <p:nvSpPr>
          <p:cNvPr id="73" name="TextBox 72"/>
          <p:cNvSpPr txBox="1"/>
          <p:nvPr/>
        </p:nvSpPr>
        <p:spPr>
          <a:xfrm>
            <a:off x="5972175" y="2475824"/>
            <a:ext cx="1362075" cy="186689"/>
          </a:xfrm>
          <a:prstGeom prst="rect">
            <a:avLst/>
          </a:prstGeom>
          <a:noFill/>
        </p:spPr>
        <p:txBody>
          <a:bodyPr wrap="none" lIns="0" tIns="0" rIns="0" bIns="0">
            <a:spAutoFit/>
          </a:bodyPr>
          <a:lstStyle/>
          <a:p>
            <a:r>
              <a:rPr sz="1100" b="1">
                <a:solidFill>
                  <a:srgbClr val="2E2E2E"/>
                </a:solidFill>
                <a:latin typeface="Calibri"/>
              </a:rPr>
              <a:t>Support for Observable</a:t>
            </a:r>
          </a:p>
        </p:txBody>
      </p:sp>
      <p:sp>
        <p:nvSpPr>
          <p:cNvPr id="74" name="TextBox 73"/>
          <p:cNvSpPr txBox="1"/>
          <p:nvPr/>
        </p:nvSpPr>
        <p:spPr>
          <a:xfrm>
            <a:off x="5972175" y="2643464"/>
            <a:ext cx="1362075" cy="186689"/>
          </a:xfrm>
          <a:prstGeom prst="rect">
            <a:avLst/>
          </a:prstGeom>
          <a:noFill/>
        </p:spPr>
        <p:txBody>
          <a:bodyPr wrap="none" lIns="0" tIns="0" rIns="0" bIns="0">
            <a:spAutoFit/>
          </a:bodyPr>
          <a:lstStyle/>
          <a:p>
            <a:r>
              <a:rPr sz="1100" b="1">
                <a:solidFill>
                  <a:srgbClr val="2E2E2E"/>
                </a:solidFill>
                <a:latin typeface="Calibri"/>
              </a:rPr>
              <a:t>Age-Related Cognitive</a:t>
            </a:r>
          </a:p>
        </p:txBody>
      </p:sp>
      <p:sp>
        <p:nvSpPr>
          <p:cNvPr id="75" name="TextBox 74"/>
          <p:cNvSpPr txBox="1"/>
          <p:nvPr/>
        </p:nvSpPr>
        <p:spPr>
          <a:xfrm>
            <a:off x="5972175" y="2811104"/>
            <a:ext cx="561602" cy="186689"/>
          </a:xfrm>
          <a:prstGeom prst="rect">
            <a:avLst/>
          </a:prstGeom>
          <a:noFill/>
        </p:spPr>
        <p:txBody>
          <a:bodyPr wrap="none" lIns="0" tIns="0" rIns="0" bIns="0">
            <a:spAutoFit/>
          </a:bodyPr>
          <a:lstStyle/>
          <a:p>
            <a:r>
              <a:rPr sz="1100" b="1">
                <a:solidFill>
                  <a:srgbClr val="2E2E2E"/>
                </a:solidFill>
                <a:latin typeface="Calibri"/>
              </a:rPr>
              <a:t>Changes</a:t>
            </a:r>
          </a:p>
        </p:txBody>
      </p:sp>
      <p:pic>
        <p:nvPicPr>
          <p:cNvPr id="76" name="Picture 75" descr="lock.png"/>
          <p:cNvPicPr>
            <a:picLocks noChangeAspect="1"/>
          </p:cNvPicPr>
          <p:nvPr/>
        </p:nvPicPr>
        <p:blipFill>
          <a:blip r:embed="rId4"/>
          <a:stretch>
            <a:fillRect/>
          </a:stretch>
        </p:blipFill>
        <p:spPr>
          <a:xfrm>
            <a:off x="6481829" y="2801325"/>
            <a:ext cx="128699" cy="187198"/>
          </a:xfrm>
          <a:prstGeom prst="rect">
            <a:avLst/>
          </a:prstGeom>
        </p:spPr>
      </p:pic>
      <p:sp>
        <p:nvSpPr>
          <p:cNvPr id="77" name="TextBox 76"/>
          <p:cNvSpPr txBox="1"/>
          <p:nvPr/>
        </p:nvSpPr>
        <p:spPr>
          <a:xfrm>
            <a:off x="5972175" y="4566913"/>
            <a:ext cx="1108943" cy="186689"/>
          </a:xfrm>
          <a:prstGeom prst="rect">
            <a:avLst/>
          </a:prstGeom>
          <a:noFill/>
        </p:spPr>
        <p:txBody>
          <a:bodyPr wrap="none" lIns="0" tIns="0" rIns="0" bIns="0">
            <a:spAutoFit/>
          </a:bodyPr>
          <a:lstStyle/>
          <a:p>
            <a:r>
              <a:rPr sz="1100" b="1">
                <a:solidFill>
                  <a:srgbClr val="2E2E2E"/>
                </a:solidFill>
                <a:latin typeface="Calibri"/>
              </a:rPr>
              <a:t>Routine Cognitive</a:t>
            </a:r>
          </a:p>
        </p:txBody>
      </p:sp>
      <p:sp>
        <p:nvSpPr>
          <p:cNvPr id="78" name="TextBox 77"/>
          <p:cNvSpPr txBox="1"/>
          <p:nvPr/>
        </p:nvSpPr>
        <p:spPr>
          <a:xfrm>
            <a:off x="5972175" y="4734553"/>
            <a:ext cx="598710" cy="186689"/>
          </a:xfrm>
          <a:prstGeom prst="rect">
            <a:avLst/>
          </a:prstGeom>
          <a:noFill/>
        </p:spPr>
        <p:txBody>
          <a:bodyPr wrap="none" lIns="0" tIns="0" rIns="0" bIns="0">
            <a:spAutoFit/>
          </a:bodyPr>
          <a:lstStyle/>
          <a:p>
            <a:r>
              <a:rPr sz="1100" b="1">
                <a:solidFill>
                  <a:srgbClr val="2E2E2E"/>
                </a:solidFill>
                <a:latin typeface="Calibri"/>
              </a:rPr>
              <a:t>Wellness</a:t>
            </a:r>
          </a:p>
        </p:txBody>
      </p:sp>
      <p:pic>
        <p:nvPicPr>
          <p:cNvPr id="79" name="Picture 78" descr="lock.png"/>
          <p:cNvPicPr>
            <a:picLocks noChangeAspect="1"/>
          </p:cNvPicPr>
          <p:nvPr/>
        </p:nvPicPr>
        <p:blipFill>
          <a:blip r:embed="rId4"/>
          <a:stretch>
            <a:fillRect/>
          </a:stretch>
        </p:blipFill>
        <p:spPr>
          <a:xfrm>
            <a:off x="6518937" y="4724774"/>
            <a:ext cx="128699" cy="187198"/>
          </a:xfrm>
          <a:prstGeom prst="rect">
            <a:avLst/>
          </a:prstGeom>
        </p:spPr>
      </p:pic>
      <p:sp>
        <p:nvSpPr>
          <p:cNvPr id="80" name="TextBox 79"/>
          <p:cNvSpPr txBox="1"/>
          <p:nvPr/>
        </p:nvSpPr>
        <p:spPr>
          <a:xfrm>
            <a:off x="5972175" y="5420102"/>
            <a:ext cx="1181205" cy="173278"/>
          </a:xfrm>
          <a:prstGeom prst="rect">
            <a:avLst/>
          </a:prstGeom>
          <a:noFill/>
        </p:spPr>
        <p:txBody>
          <a:bodyPr wrap="none" lIns="0" tIns="0" rIns="0" bIns="0">
            <a:spAutoFit/>
          </a:bodyPr>
          <a:lstStyle/>
          <a:p>
            <a:r>
              <a:rPr sz="1011" b="1">
                <a:solidFill>
                  <a:srgbClr val="2E2E2E"/>
                </a:solidFill>
                <a:latin typeface="Calibri"/>
              </a:rPr>
              <a:t>Preventive Cognitive</a:t>
            </a:r>
          </a:p>
        </p:txBody>
      </p:sp>
      <p:sp>
        <p:nvSpPr>
          <p:cNvPr id="81" name="TextBox 80"/>
          <p:cNvSpPr txBox="1"/>
          <p:nvPr/>
        </p:nvSpPr>
        <p:spPr>
          <a:xfrm>
            <a:off x="5972175" y="5574331"/>
            <a:ext cx="1349390" cy="173278"/>
          </a:xfrm>
          <a:prstGeom prst="rect">
            <a:avLst/>
          </a:prstGeom>
          <a:noFill/>
        </p:spPr>
        <p:txBody>
          <a:bodyPr wrap="none" lIns="0" tIns="0" rIns="0" bIns="0">
            <a:spAutoFit/>
          </a:bodyPr>
          <a:lstStyle/>
          <a:p>
            <a:r>
              <a:rPr sz="1011" b="1">
                <a:solidFill>
                  <a:srgbClr val="2E2E2E"/>
                </a:solidFill>
                <a:latin typeface="Calibri"/>
              </a:rPr>
              <a:t>Support for Senior Dogs</a:t>
            </a:r>
          </a:p>
        </p:txBody>
      </p:sp>
      <p:pic>
        <p:nvPicPr>
          <p:cNvPr id="82" name="Picture 81" descr="lock.png"/>
          <p:cNvPicPr>
            <a:picLocks noChangeAspect="1"/>
          </p:cNvPicPr>
          <p:nvPr/>
        </p:nvPicPr>
        <p:blipFill>
          <a:blip r:embed="rId4"/>
          <a:stretch>
            <a:fillRect/>
          </a:stretch>
        </p:blipFill>
        <p:spPr>
          <a:xfrm>
            <a:off x="5959784" y="5719563"/>
            <a:ext cx="118403" cy="172222"/>
          </a:xfrm>
          <a:prstGeom prst="rect">
            <a:avLst/>
          </a:prstGeom>
        </p:spPr>
      </p:pic>
      <p:sp>
        <p:nvSpPr>
          <p:cNvPr id="83" name="TextBox 82"/>
          <p:cNvSpPr txBox="1"/>
          <p:nvPr/>
        </p:nvSpPr>
        <p:spPr>
          <a:xfrm>
            <a:off x="5972175" y="6018988"/>
            <a:ext cx="981521" cy="159867"/>
          </a:xfrm>
          <a:prstGeom prst="rect">
            <a:avLst/>
          </a:prstGeom>
          <a:noFill/>
        </p:spPr>
        <p:txBody>
          <a:bodyPr wrap="none" lIns="0" tIns="0" rIns="0" bIns="0">
            <a:spAutoFit/>
          </a:bodyPr>
          <a:lstStyle/>
          <a:p>
            <a:r>
              <a:rPr sz="923" b="1">
                <a:solidFill>
                  <a:srgbClr val="2E2E2E"/>
                </a:solidFill>
                <a:latin typeface="Calibri"/>
              </a:rPr>
              <a:t>Veterinary-Guided</a:t>
            </a:r>
          </a:p>
        </p:txBody>
      </p:sp>
      <p:sp>
        <p:nvSpPr>
          <p:cNvPr id="84" name="TextBox 83"/>
          <p:cNvSpPr txBox="1"/>
          <p:nvPr/>
        </p:nvSpPr>
        <p:spPr>
          <a:xfrm>
            <a:off x="5972175" y="6159805"/>
            <a:ext cx="1144250" cy="159867"/>
          </a:xfrm>
          <a:prstGeom prst="rect">
            <a:avLst/>
          </a:prstGeom>
          <a:noFill/>
        </p:spPr>
        <p:txBody>
          <a:bodyPr wrap="none" lIns="0" tIns="0" rIns="0" bIns="0">
            <a:spAutoFit/>
          </a:bodyPr>
          <a:lstStyle/>
          <a:p>
            <a:r>
              <a:rPr sz="923" b="1">
                <a:solidFill>
                  <a:srgbClr val="2E2E2E"/>
                </a:solidFill>
                <a:latin typeface="Calibri"/>
              </a:rPr>
              <a:t>Cognitive Dysfunction</a:t>
            </a:r>
          </a:p>
        </p:txBody>
      </p:sp>
      <p:sp>
        <p:nvSpPr>
          <p:cNvPr id="85" name="TextBox 84"/>
          <p:cNvSpPr txBox="1"/>
          <p:nvPr/>
        </p:nvSpPr>
        <p:spPr>
          <a:xfrm>
            <a:off x="5972175" y="6300623"/>
            <a:ext cx="466290" cy="159867"/>
          </a:xfrm>
          <a:prstGeom prst="rect">
            <a:avLst/>
          </a:prstGeom>
          <a:noFill/>
        </p:spPr>
        <p:txBody>
          <a:bodyPr wrap="none" lIns="0" tIns="0" rIns="0" bIns="0">
            <a:spAutoFit/>
          </a:bodyPr>
          <a:lstStyle/>
          <a:p>
            <a:r>
              <a:rPr sz="923" b="1">
                <a:solidFill>
                  <a:srgbClr val="2E2E2E"/>
                </a:solidFill>
                <a:latin typeface="Calibri"/>
              </a:rPr>
              <a:t>Support</a:t>
            </a:r>
          </a:p>
        </p:txBody>
      </p:sp>
      <p:pic>
        <p:nvPicPr>
          <p:cNvPr id="86" name="Picture 85" descr="lock.png"/>
          <p:cNvPicPr>
            <a:picLocks noChangeAspect="1"/>
          </p:cNvPicPr>
          <p:nvPr/>
        </p:nvPicPr>
        <p:blipFill>
          <a:blip r:embed="rId4"/>
          <a:stretch>
            <a:fillRect/>
          </a:stretch>
        </p:blipFill>
        <p:spPr>
          <a:xfrm>
            <a:off x="6382636" y="6292408"/>
            <a:ext cx="108107" cy="157246"/>
          </a:xfrm>
          <a:prstGeom prst="rect">
            <a:avLst/>
          </a:prstGeom>
        </p:spPr>
      </p:pic>
      <p:sp>
        <p:nvSpPr>
          <p:cNvPr id="87" name="TextBox 86"/>
          <p:cNvSpPr txBox="1"/>
          <p:nvPr/>
        </p:nvSpPr>
        <p:spPr>
          <a:xfrm>
            <a:off x="7715250" y="1400175"/>
            <a:ext cx="3904307" cy="194310"/>
          </a:xfrm>
          <a:prstGeom prst="rect">
            <a:avLst/>
          </a:prstGeom>
          <a:noFill/>
        </p:spPr>
        <p:txBody>
          <a:bodyPr wrap="none" lIns="0" tIns="0" rIns="0" bIns="0">
            <a:spAutoFit/>
          </a:bodyPr>
          <a:lstStyle/>
          <a:p>
            <a:r>
              <a:rPr sz="1150" b="0">
                <a:solidFill>
                  <a:srgbClr val="2E2E2E"/>
                </a:solidFill>
                <a:latin typeface="Calibri"/>
              </a:rPr>
              <a:t>Third-party e-commerce segment is projected to account for the</a:t>
            </a:r>
          </a:p>
        </p:txBody>
      </p:sp>
      <p:sp>
        <p:nvSpPr>
          <p:cNvPr id="88" name="TextBox 87"/>
          <p:cNvSpPr txBox="1"/>
          <p:nvPr/>
        </p:nvSpPr>
        <p:spPr>
          <a:xfrm>
            <a:off x="7715250" y="1575435"/>
            <a:ext cx="4150766" cy="194310"/>
          </a:xfrm>
          <a:prstGeom prst="rect">
            <a:avLst/>
          </a:prstGeom>
          <a:noFill/>
        </p:spPr>
        <p:txBody>
          <a:bodyPr wrap="none" lIns="0" tIns="0" rIns="0" bIns="0">
            <a:spAutoFit/>
          </a:bodyPr>
          <a:lstStyle/>
          <a:p>
            <a:r>
              <a:rPr sz="1150" b="0">
                <a:solidFill>
                  <a:srgbClr val="2E2E2E"/>
                </a:solidFill>
                <a:latin typeface="Calibri"/>
              </a:rPr>
              <a:t>largest share of the Europe senior dog cognitive supplement market,</a:t>
            </a:r>
          </a:p>
        </p:txBody>
      </p:sp>
      <p:sp>
        <p:nvSpPr>
          <p:cNvPr id="89" name="TextBox 88"/>
          <p:cNvSpPr txBox="1"/>
          <p:nvPr/>
        </p:nvSpPr>
        <p:spPr>
          <a:xfrm>
            <a:off x="7715250" y="1750695"/>
            <a:ext cx="4049786" cy="194310"/>
          </a:xfrm>
          <a:prstGeom prst="rect">
            <a:avLst/>
          </a:prstGeom>
          <a:noFill/>
        </p:spPr>
        <p:txBody>
          <a:bodyPr wrap="none" lIns="0" tIns="0" rIns="0" bIns="0">
            <a:spAutoFit/>
          </a:bodyPr>
          <a:lstStyle/>
          <a:p>
            <a:r>
              <a:rPr sz="1150" b="0">
                <a:solidFill>
                  <a:srgbClr val="2E2E2E"/>
                </a:solidFill>
                <a:latin typeface="Calibri"/>
              </a:rPr>
              <a:t>led by support for observable age-related cognitive changes at US$</a:t>
            </a:r>
          </a:p>
        </p:txBody>
      </p:sp>
      <p:pic>
        <p:nvPicPr>
          <p:cNvPr id="90" name="Picture 89" descr="lock.png"/>
          <p:cNvPicPr>
            <a:picLocks noChangeAspect="1"/>
          </p:cNvPicPr>
          <p:nvPr/>
        </p:nvPicPr>
        <p:blipFill>
          <a:blip r:embed="rId4"/>
          <a:stretch>
            <a:fillRect/>
          </a:stretch>
        </p:blipFill>
        <p:spPr>
          <a:xfrm>
            <a:off x="7701170" y="1915731"/>
            <a:ext cx="134549" cy="195707"/>
          </a:xfrm>
          <a:prstGeom prst="rect">
            <a:avLst/>
          </a:prstGeom>
        </p:spPr>
      </p:pic>
      <p:sp>
        <p:nvSpPr>
          <p:cNvPr id="91" name="TextBox 90"/>
          <p:cNvSpPr txBox="1"/>
          <p:nvPr/>
        </p:nvSpPr>
        <p:spPr>
          <a:xfrm>
            <a:off x="7876279" y="1925955"/>
            <a:ext cx="3579117" cy="194310"/>
          </a:xfrm>
          <a:prstGeom prst="rect">
            <a:avLst/>
          </a:prstGeom>
          <a:noFill/>
        </p:spPr>
        <p:txBody>
          <a:bodyPr wrap="none" lIns="0" tIns="0" rIns="0" bIns="0">
            <a:spAutoFit/>
          </a:bodyPr>
          <a:lstStyle/>
          <a:p>
            <a:r>
              <a:rPr sz="1150" b="0">
                <a:solidFill>
                  <a:srgbClr val="2E2E2E"/>
                </a:solidFill>
                <a:latin typeface="Calibri"/>
              </a:rPr>
              <a:t>Mn in 2036. 'Veterinary Channels × Support for Observable</a:t>
            </a:r>
          </a:p>
        </p:txBody>
      </p:sp>
      <p:sp>
        <p:nvSpPr>
          <p:cNvPr id="92" name="TextBox 91"/>
          <p:cNvSpPr txBox="1"/>
          <p:nvPr/>
        </p:nvSpPr>
        <p:spPr>
          <a:xfrm>
            <a:off x="7715250" y="2101215"/>
            <a:ext cx="4034668" cy="194310"/>
          </a:xfrm>
          <a:prstGeom prst="rect">
            <a:avLst/>
          </a:prstGeom>
          <a:noFill/>
        </p:spPr>
        <p:txBody>
          <a:bodyPr wrap="none" lIns="0" tIns="0" rIns="0" bIns="0">
            <a:spAutoFit/>
          </a:bodyPr>
          <a:lstStyle/>
          <a:p>
            <a:r>
              <a:rPr sz="1150" b="0">
                <a:solidFill>
                  <a:srgbClr val="2E2E2E"/>
                </a:solidFill>
                <a:latin typeface="Calibri"/>
              </a:rPr>
              <a:t>Age-Related Cognitive Changes' is the single largest cross-sectional</a:t>
            </a:r>
          </a:p>
        </p:txBody>
      </p:sp>
      <p:sp>
        <p:nvSpPr>
          <p:cNvPr id="93" name="TextBox 92"/>
          <p:cNvSpPr txBox="1"/>
          <p:nvPr/>
        </p:nvSpPr>
        <p:spPr>
          <a:xfrm>
            <a:off x="7715250" y="2276475"/>
            <a:ext cx="355463" cy="194310"/>
          </a:xfrm>
          <a:prstGeom prst="rect">
            <a:avLst/>
          </a:prstGeom>
          <a:noFill/>
        </p:spPr>
        <p:txBody>
          <a:bodyPr wrap="none" lIns="0" tIns="0" rIns="0" bIns="0">
            <a:spAutoFit/>
          </a:bodyPr>
          <a:lstStyle/>
          <a:p>
            <a:r>
              <a:rPr sz="1150" b="0">
                <a:solidFill>
                  <a:srgbClr val="2E2E2E"/>
                </a:solidFill>
                <a:latin typeface="Calibri"/>
              </a:rPr>
              <a:t>cell (</a:t>
            </a:r>
          </a:p>
        </p:txBody>
      </p:sp>
      <p:pic>
        <p:nvPicPr>
          <p:cNvPr id="94" name="Picture 93" descr="lock.png"/>
          <p:cNvPicPr>
            <a:picLocks noChangeAspect="1"/>
          </p:cNvPicPr>
          <p:nvPr/>
        </p:nvPicPr>
        <p:blipFill>
          <a:blip r:embed="rId4"/>
          <a:stretch>
            <a:fillRect/>
          </a:stretch>
        </p:blipFill>
        <p:spPr>
          <a:xfrm>
            <a:off x="8019867" y="2266251"/>
            <a:ext cx="134549" cy="195707"/>
          </a:xfrm>
          <a:prstGeom prst="rect">
            <a:avLst/>
          </a:prstGeom>
        </p:spPr>
      </p:pic>
      <p:sp>
        <p:nvSpPr>
          <p:cNvPr id="95" name="TextBox 94"/>
          <p:cNvSpPr txBox="1"/>
          <p:nvPr/>
        </p:nvSpPr>
        <p:spPr>
          <a:xfrm>
            <a:off x="8194976" y="2276475"/>
            <a:ext cx="3035678" cy="194310"/>
          </a:xfrm>
          <a:prstGeom prst="rect">
            <a:avLst/>
          </a:prstGeom>
          <a:noFill/>
        </p:spPr>
        <p:txBody>
          <a:bodyPr wrap="none" lIns="0" tIns="0" rIns="0" bIns="0">
            <a:spAutoFit/>
          </a:bodyPr>
          <a:lstStyle/>
          <a:p>
            <a:r>
              <a:rPr sz="1150" b="0">
                <a:solidFill>
                  <a:srgbClr val="2E2E2E"/>
                </a:solidFill>
                <a:latin typeface="Calibri"/>
              </a:rPr>
              <a:t>US$ Mn, 2026E), while 'Third-Party E-commerce ×</a:t>
            </a:r>
          </a:p>
        </p:txBody>
      </p:sp>
      <p:sp>
        <p:nvSpPr>
          <p:cNvPr id="96" name="TextBox 95"/>
          <p:cNvSpPr txBox="1"/>
          <p:nvPr/>
        </p:nvSpPr>
        <p:spPr>
          <a:xfrm>
            <a:off x="7715250" y="2451735"/>
            <a:ext cx="4171950" cy="194310"/>
          </a:xfrm>
          <a:prstGeom prst="rect">
            <a:avLst/>
          </a:prstGeom>
          <a:noFill/>
        </p:spPr>
        <p:txBody>
          <a:bodyPr wrap="none" lIns="0" tIns="0" rIns="0" bIns="0">
            <a:spAutoFit/>
          </a:bodyPr>
          <a:lstStyle/>
          <a:p>
            <a:r>
              <a:rPr sz="1150" b="0">
                <a:solidFill>
                  <a:srgbClr val="2E2E2E"/>
                </a:solidFill>
                <a:latin typeface="Calibri"/>
              </a:rPr>
              <a:t>Veterinary-Guided Cognitive Dysfunction Support' records the fastest</a:t>
            </a:r>
          </a:p>
        </p:txBody>
      </p:sp>
      <p:sp>
        <p:nvSpPr>
          <p:cNvPr id="97" name="TextBox 96"/>
          <p:cNvSpPr txBox="1"/>
          <p:nvPr/>
        </p:nvSpPr>
        <p:spPr>
          <a:xfrm>
            <a:off x="7715250" y="2626995"/>
            <a:ext cx="1279668" cy="194310"/>
          </a:xfrm>
          <a:prstGeom prst="rect">
            <a:avLst/>
          </a:prstGeom>
          <a:noFill/>
        </p:spPr>
        <p:txBody>
          <a:bodyPr wrap="none" lIns="0" tIns="0" rIns="0" bIns="0">
            <a:spAutoFit/>
          </a:bodyPr>
          <a:lstStyle/>
          <a:p>
            <a:r>
              <a:rPr sz="1150" b="0">
                <a:solidFill>
                  <a:srgbClr val="2E2E2E"/>
                </a:solidFill>
                <a:latin typeface="Calibri"/>
              </a:rPr>
              <a:t>growth at a CAGR of</a:t>
            </a:r>
          </a:p>
        </p:txBody>
      </p:sp>
      <p:pic>
        <p:nvPicPr>
          <p:cNvPr id="98" name="Picture 97" descr="lock.png"/>
          <p:cNvPicPr>
            <a:picLocks noChangeAspect="1"/>
          </p:cNvPicPr>
          <p:nvPr/>
        </p:nvPicPr>
        <p:blipFill>
          <a:blip r:embed="rId4"/>
          <a:stretch>
            <a:fillRect/>
          </a:stretch>
        </p:blipFill>
        <p:spPr>
          <a:xfrm>
            <a:off x="8944072" y="2616771"/>
            <a:ext cx="134549" cy="195707"/>
          </a:xfrm>
          <a:prstGeom prst="rect">
            <a:avLst/>
          </a:prstGeom>
        </p:spPr>
      </p:pic>
      <p:sp>
        <p:nvSpPr>
          <p:cNvPr id="99" name="TextBox 98"/>
          <p:cNvSpPr txBox="1"/>
          <p:nvPr/>
        </p:nvSpPr>
        <p:spPr>
          <a:xfrm>
            <a:off x="9119181" y="2626995"/>
            <a:ext cx="1217001" cy="194310"/>
          </a:xfrm>
          <a:prstGeom prst="rect">
            <a:avLst/>
          </a:prstGeom>
          <a:noFill/>
        </p:spPr>
        <p:txBody>
          <a:bodyPr wrap="none" lIns="0" tIns="0" rIns="0" bIns="0">
            <a:spAutoFit/>
          </a:bodyPr>
          <a:lstStyle/>
          <a:p>
            <a:r>
              <a:rPr sz="1150" b="0">
                <a:solidFill>
                  <a:srgbClr val="2E2E2E"/>
                </a:solidFill>
                <a:latin typeface="Calibri"/>
              </a:rPr>
              <a:t>over 2026E–2036F.</a:t>
            </a:r>
          </a:p>
        </p:txBody>
      </p:sp>
      <p:sp>
        <p:nvSpPr>
          <p:cNvPr id="100" name="TextBox 99"/>
          <p:cNvSpPr txBox="1"/>
          <p:nvPr/>
        </p:nvSpPr>
        <p:spPr>
          <a:xfrm>
            <a:off x="7715250" y="2854832"/>
            <a:ext cx="3969345" cy="194310"/>
          </a:xfrm>
          <a:prstGeom prst="rect">
            <a:avLst/>
          </a:prstGeom>
          <a:noFill/>
        </p:spPr>
        <p:txBody>
          <a:bodyPr wrap="none" lIns="0" tIns="0" rIns="0" bIns="0">
            <a:spAutoFit/>
          </a:bodyPr>
          <a:lstStyle/>
          <a:p>
            <a:r>
              <a:rPr sz="1150" b="0">
                <a:solidFill>
                  <a:srgbClr val="2E2E2E"/>
                </a:solidFill>
                <a:latin typeface="Calibri"/>
              </a:rPr>
              <a:t>Combined, the top three sales channel × end-use application cells</a:t>
            </a:r>
          </a:p>
        </p:txBody>
      </p:sp>
      <p:sp>
        <p:nvSpPr>
          <p:cNvPr id="101" name="TextBox 100"/>
          <p:cNvSpPr txBox="1"/>
          <p:nvPr/>
        </p:nvSpPr>
        <p:spPr>
          <a:xfrm>
            <a:off x="7715250" y="3030092"/>
            <a:ext cx="2340545" cy="194310"/>
          </a:xfrm>
          <a:prstGeom prst="rect">
            <a:avLst/>
          </a:prstGeom>
          <a:noFill/>
        </p:spPr>
        <p:txBody>
          <a:bodyPr wrap="none" lIns="0" tIns="0" rIns="0" bIns="0">
            <a:spAutoFit/>
          </a:bodyPr>
          <a:lstStyle/>
          <a:p>
            <a:r>
              <a:rPr sz="1150" b="0">
                <a:solidFill>
                  <a:srgbClr val="2E2E2E"/>
                </a:solidFill>
                <a:latin typeface="Calibri"/>
              </a:rPr>
              <a:t>generate an absolute $ opportunity of</a:t>
            </a:r>
          </a:p>
        </p:txBody>
      </p:sp>
      <p:pic>
        <p:nvPicPr>
          <p:cNvPr id="102" name="Picture 101" descr="lock.png"/>
          <p:cNvPicPr>
            <a:picLocks noChangeAspect="1"/>
          </p:cNvPicPr>
          <p:nvPr/>
        </p:nvPicPr>
        <p:blipFill>
          <a:blip r:embed="rId4"/>
          <a:stretch>
            <a:fillRect/>
          </a:stretch>
        </p:blipFill>
        <p:spPr>
          <a:xfrm>
            <a:off x="10004949" y="3019869"/>
            <a:ext cx="134549" cy="195707"/>
          </a:xfrm>
          <a:prstGeom prst="rect">
            <a:avLst/>
          </a:prstGeom>
        </p:spPr>
      </p:pic>
      <p:sp>
        <p:nvSpPr>
          <p:cNvPr id="103" name="TextBox 102"/>
          <p:cNvSpPr txBox="1"/>
          <p:nvPr/>
        </p:nvSpPr>
        <p:spPr>
          <a:xfrm>
            <a:off x="10180058" y="3030092"/>
            <a:ext cx="1155386" cy="194310"/>
          </a:xfrm>
          <a:prstGeom prst="rect">
            <a:avLst/>
          </a:prstGeom>
          <a:noFill/>
        </p:spPr>
        <p:txBody>
          <a:bodyPr wrap="none" lIns="0" tIns="0" rIns="0" bIns="0">
            <a:spAutoFit/>
          </a:bodyPr>
          <a:lstStyle/>
          <a:p>
            <a:r>
              <a:rPr sz="1150" b="0">
                <a:solidFill>
                  <a:srgbClr val="2E2E2E"/>
                </a:solidFill>
                <a:latin typeface="Calibri"/>
              </a:rPr>
              <a:t>US$ Mn by 2036F.</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Share Analysis: Sales Channel × End-use Application, 2026E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 share of Europe market value, each row split across all end-use application sub-segments</a:t>
            </a:r>
          </a:p>
        </p:txBody>
      </p:sp>
      <p:sp>
        <p:nvSpPr>
          <p:cNvPr id="10" name="Rounded Rectangle 9"/>
          <p:cNvSpPr/>
          <p:nvPr/>
        </p:nvSpPr>
        <p:spPr>
          <a:xfrm>
            <a:off x="142875" y="981075"/>
            <a:ext cx="119062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Share, Sales Channel × End-use Application, 2026E (% of each row)</a:t>
            </a:r>
          </a:p>
        </p:txBody>
      </p:sp>
      <p:graphicFrame>
        <p:nvGraphicFramePr>
          <p:cNvPr id="12" name="Table 11"/>
          <p:cNvGraphicFramePr>
            <a:graphicFrameLocks noGrp="1"/>
          </p:cNvGraphicFramePr>
          <p:nvPr/>
        </p:nvGraphicFramePr>
        <p:xfrm>
          <a:off x="152400" y="1238250"/>
          <a:ext cx="11887718" cy="2162172"/>
        </p:xfrm>
        <a:graphic>
          <a:graphicData uri="http://schemas.openxmlformats.org/drawingml/2006/table">
            <a:tbl>
              <a:tblPr>
                <a:tableStyleId>{5C22544A-7EE6-4342-B048-85BDC9FD1C3A}</a:tableStyleId>
              </a:tblPr>
              <a:tblGrid>
                <a:gridCol w="1738086">
                  <a:extLst>
                    <a:ext uri="{9D8B030D-6E8A-4147-A177-3AD203B41FA5}">
                      <a16:colId xmlns:a16="http://schemas.microsoft.com/office/drawing/2014/main" val="20000"/>
                    </a:ext>
                  </a:extLst>
                </a:gridCol>
                <a:gridCol w="1549593">
                  <a:extLst>
                    <a:ext uri="{9D8B030D-6E8A-4147-A177-3AD203B41FA5}">
                      <a16:colId xmlns:a16="http://schemas.microsoft.com/office/drawing/2014/main" val="20001"/>
                    </a:ext>
                  </a:extLst>
                </a:gridCol>
                <a:gridCol w="2440805">
                  <a:extLst>
                    <a:ext uri="{9D8B030D-6E8A-4147-A177-3AD203B41FA5}">
                      <a16:colId xmlns:a16="http://schemas.microsoft.com/office/drawing/2014/main" val="20002"/>
                    </a:ext>
                  </a:extLst>
                </a:gridCol>
                <a:gridCol w="2937973">
                  <a:extLst>
                    <a:ext uri="{9D8B030D-6E8A-4147-A177-3AD203B41FA5}">
                      <a16:colId xmlns:a16="http://schemas.microsoft.com/office/drawing/2014/main" val="20003"/>
                    </a:ext>
                  </a:extLst>
                </a:gridCol>
                <a:gridCol w="2677455">
                  <a:extLst>
                    <a:ext uri="{9D8B030D-6E8A-4147-A177-3AD203B41FA5}">
                      <a16:colId xmlns:a16="http://schemas.microsoft.com/office/drawing/2014/main" val="20004"/>
                    </a:ext>
                  </a:extLst>
                </a:gridCol>
                <a:gridCol w="543806">
                  <a:extLst>
                    <a:ext uri="{9D8B030D-6E8A-4147-A177-3AD203B41FA5}">
                      <a16:colId xmlns:a16="http://schemas.microsoft.com/office/drawing/2014/main" val="20005"/>
                    </a:ext>
                  </a:extLst>
                </a:gridCol>
              </a:tblGrid>
              <a:tr h="438912">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a:txBody>
                    <a:bodyPr/>
                    <a:lstStyle/>
                    <a:p>
                      <a:pPr algn="ctr"/>
                      <a:r>
                        <a:rPr sz="1100" b="1">
                          <a:solidFill>
                            <a:srgbClr val="0B2E4A"/>
                          </a:solidFill>
                          <a:latin typeface="Calibri"/>
                        </a:rPr>
                        <a:t>Preventive Cognitive Support for Senior Dogs</a:t>
                      </a:r>
                      <a:endParaRPr sz="1100"/>
                    </a:p>
                  </a:txBody>
                  <a:tcPr marL="47625" marR="38100" marT="19050" marB="19050" anchor="ctr">
                    <a:solidFill>
                      <a:srgbClr val="E0E8EF"/>
                    </a:solidFill>
                  </a:tcPr>
                </a:tc>
                <a:tc>
                  <a:txBody>
                    <a:bodyPr/>
                    <a:lstStyle/>
                    <a:p>
                      <a:pPr algn="ctr"/>
                      <a:r>
                        <a:rPr sz="1100" b="1">
                          <a:solidFill>
                            <a:srgbClr val="0B2E4A"/>
                          </a:solidFill>
                          <a:latin typeface="Calibri"/>
                        </a:rPr>
                        <a:t>Support for Observable Age-Related Cognitive Changes</a:t>
                      </a:r>
                      <a:endParaRPr sz="1100"/>
                    </a:p>
                  </a:txBody>
                  <a:tcPr marL="47625" marR="38100" marT="19050" marB="19050" anchor="ctr">
                    <a:solidFill>
                      <a:srgbClr val="E0E8EF"/>
                    </a:solidFill>
                  </a:tcPr>
                </a:tc>
                <a:tc>
                  <a:txBody>
                    <a:bodyPr/>
                    <a:lstStyle/>
                    <a:p>
                      <a:pPr algn="ctr"/>
                      <a:r>
                        <a:rPr sz="1100" b="1">
                          <a:solidFill>
                            <a:srgbClr val="0B2E4A"/>
                          </a:solidFill>
                          <a:latin typeface="Calibri"/>
                        </a:rPr>
                        <a:t>Veterinary-Guided Cognitive Dysfunction Support</a:t>
                      </a:r>
                      <a:endParaRPr sz="1100"/>
                    </a:p>
                  </a:txBody>
                  <a:tcPr marL="47625" marR="38100" marT="19050" marB="19050" anchor="ctr">
                    <a:solidFill>
                      <a:srgbClr val="E0E8EF"/>
                    </a:solidFill>
                  </a:tcPr>
                </a:tc>
                <a:tc>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180">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180">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180">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180">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180">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180">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180">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4099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743325"/>
            <a:ext cx="7286625"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3800475"/>
            <a:ext cx="70961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End-use Application Mix by Sales Channel, 2026E (% share)</a:t>
            </a:r>
          </a:p>
        </p:txBody>
      </p:sp>
      <p:graphicFrame>
        <p:nvGraphicFramePr>
          <p:cNvPr id="16" name="Chart 15"/>
          <p:cNvGraphicFramePr>
            <a:graphicFrameLocks noGrp="1"/>
          </p:cNvGraphicFramePr>
          <p:nvPr/>
        </p:nvGraphicFramePr>
        <p:xfrm>
          <a:off x="238125" y="4029075"/>
          <a:ext cx="7096125" cy="2543175"/>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7581900" y="3743325"/>
            <a:ext cx="4457700"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15250" y="3829050"/>
            <a:ext cx="4191000" cy="209550"/>
          </a:xfrm>
          <a:prstGeom prst="rect">
            <a:avLst/>
          </a:prstGeom>
          <a:noFill/>
        </p:spPr>
        <p:txBody>
          <a:bodyPr wrap="square" lIns="0" tIns="9525" rIns="19050" bIns="9525">
            <a:spAutoFit/>
          </a:bodyPr>
          <a:lstStyle/>
          <a:p>
            <a:pPr algn="l"/>
            <a:r>
              <a:rPr sz="1300" b="1">
                <a:solidFill>
                  <a:srgbClr val="0B2E4A"/>
                </a:solidFill>
                <a:latin typeface="Calibri"/>
              </a:rPr>
              <a:t>Share Insights</a:t>
            </a:r>
          </a:p>
        </p:txBody>
      </p:sp>
      <p:sp>
        <p:nvSpPr>
          <p:cNvPr id="19" name="Rectangle 18"/>
          <p:cNvSpPr/>
          <p:nvPr/>
        </p:nvSpPr>
        <p:spPr>
          <a:xfrm>
            <a:off x="7715250" y="40671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5250" y="4152900"/>
            <a:ext cx="4191000" cy="24003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1" name="TextBox 2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773517" y="2272092"/>
            <a:ext cx="366712" cy="533400"/>
          </a:xfrm>
          <a:prstGeom prst="rect">
            <a:avLst/>
          </a:prstGeom>
        </p:spPr>
      </p:pic>
      <p:pic>
        <p:nvPicPr>
          <p:cNvPr id="23" name="Picture 22" descr="lock.png"/>
          <p:cNvPicPr>
            <a:picLocks noChangeAspect="1"/>
          </p:cNvPicPr>
          <p:nvPr/>
        </p:nvPicPr>
        <p:blipFill>
          <a:blip r:embed="rId5"/>
          <a:stretch>
            <a:fillRect/>
          </a:stretch>
        </p:blipFill>
        <p:spPr>
          <a:xfrm>
            <a:off x="3775138" y="4568380"/>
            <a:ext cx="311705" cy="453389"/>
          </a:xfrm>
          <a:prstGeom prst="rect">
            <a:avLst/>
          </a:prstGeom>
        </p:spPr>
      </p:pic>
      <p:sp>
        <p:nvSpPr>
          <p:cNvPr id="24" name="TextBox 23"/>
          <p:cNvSpPr txBox="1"/>
          <p:nvPr/>
        </p:nvSpPr>
        <p:spPr>
          <a:xfrm>
            <a:off x="7715250" y="4162425"/>
            <a:ext cx="4076886" cy="194310"/>
          </a:xfrm>
          <a:prstGeom prst="rect">
            <a:avLst/>
          </a:prstGeom>
          <a:noFill/>
        </p:spPr>
        <p:txBody>
          <a:bodyPr wrap="none" lIns="0" tIns="0" rIns="0" bIns="0">
            <a:spAutoFit/>
          </a:bodyPr>
          <a:lstStyle/>
          <a:p>
            <a:r>
              <a:rPr sz="1150" b="0">
                <a:solidFill>
                  <a:srgbClr val="2E2E2E"/>
                </a:solidFill>
                <a:latin typeface="Calibri"/>
              </a:rPr>
              <a:t>▪ 'Support for Observable Age-Related Cognitive Changes' holds the</a:t>
            </a:r>
          </a:p>
        </p:txBody>
      </p:sp>
      <p:sp>
        <p:nvSpPr>
          <p:cNvPr id="25" name="TextBox 24"/>
          <p:cNvSpPr txBox="1"/>
          <p:nvPr/>
        </p:nvSpPr>
        <p:spPr>
          <a:xfrm>
            <a:off x="7715250" y="4337685"/>
            <a:ext cx="2721613" cy="194310"/>
          </a:xfrm>
          <a:prstGeom prst="rect">
            <a:avLst/>
          </a:prstGeom>
          <a:noFill/>
        </p:spPr>
        <p:txBody>
          <a:bodyPr wrap="none" lIns="0" tIns="0" rIns="0" bIns="0">
            <a:spAutoFit/>
          </a:bodyPr>
          <a:lstStyle/>
          <a:p>
            <a:r>
              <a:rPr sz="1150" b="0">
                <a:solidFill>
                  <a:srgbClr val="2E2E2E"/>
                </a:solidFill>
                <a:latin typeface="Calibri"/>
              </a:rPr>
              <a:t>highest share of 'Third-Party E-commerce' at</a:t>
            </a:r>
          </a:p>
        </p:txBody>
      </p:sp>
      <p:pic>
        <p:nvPicPr>
          <p:cNvPr id="26" name="Picture 25" descr="lock.png"/>
          <p:cNvPicPr>
            <a:picLocks noChangeAspect="1"/>
          </p:cNvPicPr>
          <p:nvPr/>
        </p:nvPicPr>
        <p:blipFill>
          <a:blip r:embed="rId5"/>
          <a:stretch>
            <a:fillRect/>
          </a:stretch>
        </p:blipFill>
        <p:spPr>
          <a:xfrm>
            <a:off x="10386017" y="4327461"/>
            <a:ext cx="134549" cy="195707"/>
          </a:xfrm>
          <a:prstGeom prst="rect">
            <a:avLst/>
          </a:prstGeom>
        </p:spPr>
      </p:pic>
      <p:sp>
        <p:nvSpPr>
          <p:cNvPr id="27" name="TextBox 26"/>
          <p:cNvSpPr txBox="1"/>
          <p:nvPr/>
        </p:nvSpPr>
        <p:spPr>
          <a:xfrm>
            <a:off x="10561126" y="4337685"/>
            <a:ext cx="569404" cy="194310"/>
          </a:xfrm>
          <a:prstGeom prst="rect">
            <a:avLst/>
          </a:prstGeom>
          <a:noFill/>
        </p:spPr>
        <p:txBody>
          <a:bodyPr wrap="none" lIns="0" tIns="0" rIns="0" bIns="0">
            <a:spAutoFit/>
          </a:bodyPr>
          <a:lstStyle/>
          <a:p>
            <a:r>
              <a:rPr sz="1150" b="0">
                <a:solidFill>
                  <a:srgbClr val="2E2E2E"/>
                </a:solidFill>
                <a:latin typeface="Calibri"/>
              </a:rPr>
              <a:t>(2026E).</a:t>
            </a:r>
          </a:p>
        </p:txBody>
      </p:sp>
      <p:sp>
        <p:nvSpPr>
          <p:cNvPr id="28" name="TextBox 27"/>
          <p:cNvSpPr txBox="1"/>
          <p:nvPr/>
        </p:nvSpPr>
        <p:spPr>
          <a:xfrm>
            <a:off x="7715250" y="4565522"/>
            <a:ext cx="4013243" cy="194310"/>
          </a:xfrm>
          <a:prstGeom prst="rect">
            <a:avLst/>
          </a:prstGeom>
          <a:noFill/>
        </p:spPr>
        <p:txBody>
          <a:bodyPr wrap="none" lIns="0" tIns="0" rIns="0" bIns="0">
            <a:spAutoFit/>
          </a:bodyPr>
          <a:lstStyle/>
          <a:p>
            <a:r>
              <a:rPr sz="1150" b="0">
                <a:solidFill>
                  <a:srgbClr val="2E2E2E"/>
                </a:solidFill>
                <a:latin typeface="Calibri"/>
              </a:rPr>
              <a:t>▪ 'Third-Party E-commerce' is the most concentrated sales channel</a:t>
            </a:r>
          </a:p>
        </p:txBody>
      </p:sp>
      <p:sp>
        <p:nvSpPr>
          <p:cNvPr id="29" name="TextBox 28"/>
          <p:cNvSpPr txBox="1"/>
          <p:nvPr/>
        </p:nvSpPr>
        <p:spPr>
          <a:xfrm>
            <a:off x="7715250" y="4740782"/>
            <a:ext cx="1178706" cy="194310"/>
          </a:xfrm>
          <a:prstGeom prst="rect">
            <a:avLst/>
          </a:prstGeom>
          <a:noFill/>
        </p:spPr>
        <p:txBody>
          <a:bodyPr wrap="none" lIns="0" tIns="0" rIns="0" bIns="0">
            <a:spAutoFit/>
          </a:bodyPr>
          <a:lstStyle/>
          <a:p>
            <a:r>
              <a:rPr sz="1150" b="0">
                <a:solidFill>
                  <a:srgbClr val="2E2E2E"/>
                </a:solidFill>
                <a:latin typeface="Calibri"/>
              </a:rPr>
              <a:t>sub-segment, with</a:t>
            </a:r>
          </a:p>
        </p:txBody>
      </p:sp>
      <p:pic>
        <p:nvPicPr>
          <p:cNvPr id="30" name="Picture 29" descr="lock.png"/>
          <p:cNvPicPr>
            <a:picLocks noChangeAspect="1"/>
          </p:cNvPicPr>
          <p:nvPr/>
        </p:nvPicPr>
        <p:blipFill>
          <a:blip r:embed="rId5"/>
          <a:stretch>
            <a:fillRect/>
          </a:stretch>
        </p:blipFill>
        <p:spPr>
          <a:xfrm>
            <a:off x="8843110" y="4730559"/>
            <a:ext cx="134549" cy="195707"/>
          </a:xfrm>
          <a:prstGeom prst="rect">
            <a:avLst/>
          </a:prstGeom>
        </p:spPr>
      </p:pic>
      <p:sp>
        <p:nvSpPr>
          <p:cNvPr id="31" name="TextBox 30"/>
          <p:cNvSpPr txBox="1"/>
          <p:nvPr/>
        </p:nvSpPr>
        <p:spPr>
          <a:xfrm>
            <a:off x="9018219" y="4740782"/>
            <a:ext cx="2376772" cy="194310"/>
          </a:xfrm>
          <a:prstGeom prst="rect">
            <a:avLst/>
          </a:prstGeom>
          <a:noFill/>
        </p:spPr>
        <p:txBody>
          <a:bodyPr wrap="none" lIns="0" tIns="0" rIns="0" bIns="0">
            <a:spAutoFit/>
          </a:bodyPr>
          <a:lstStyle/>
          <a:p>
            <a:r>
              <a:rPr sz="1150" b="0">
                <a:solidFill>
                  <a:srgbClr val="2E2E2E"/>
                </a:solidFill>
                <a:latin typeface="Calibri"/>
              </a:rPr>
              <a:t>of its value via 'Support for Observable</a:t>
            </a:r>
          </a:p>
        </p:txBody>
      </p:sp>
      <p:sp>
        <p:nvSpPr>
          <p:cNvPr id="32" name="TextBox 31"/>
          <p:cNvSpPr txBox="1"/>
          <p:nvPr/>
        </p:nvSpPr>
        <p:spPr>
          <a:xfrm>
            <a:off x="7715250" y="4916042"/>
            <a:ext cx="1991394" cy="194310"/>
          </a:xfrm>
          <a:prstGeom prst="rect">
            <a:avLst/>
          </a:prstGeom>
          <a:noFill/>
        </p:spPr>
        <p:txBody>
          <a:bodyPr wrap="none" lIns="0" tIns="0" rIns="0" bIns="0">
            <a:spAutoFit/>
          </a:bodyPr>
          <a:lstStyle/>
          <a:p>
            <a:r>
              <a:rPr sz="1150" b="0">
                <a:solidFill>
                  <a:srgbClr val="2E2E2E"/>
                </a:solidFill>
                <a:latin typeface="Calibri"/>
              </a:rPr>
              <a:t>Age-Related Cognitive Changes'.</a:t>
            </a:r>
          </a:p>
        </p:txBody>
      </p:sp>
      <p:sp>
        <p:nvSpPr>
          <p:cNvPr id="33" name="TextBox 32"/>
          <p:cNvSpPr txBox="1"/>
          <p:nvPr/>
        </p:nvSpPr>
        <p:spPr>
          <a:xfrm>
            <a:off x="7715250" y="5143880"/>
            <a:ext cx="3345209" cy="194310"/>
          </a:xfrm>
          <a:prstGeom prst="rect">
            <a:avLst/>
          </a:prstGeom>
          <a:noFill/>
        </p:spPr>
        <p:txBody>
          <a:bodyPr wrap="none" lIns="0" tIns="0" rIns="0" bIns="0">
            <a:spAutoFit/>
          </a:bodyPr>
          <a:lstStyle/>
          <a:p>
            <a:r>
              <a:rPr sz="1150" b="0">
                <a:solidFill>
                  <a:srgbClr val="2E2E2E"/>
                </a:solidFill>
                <a:latin typeface="Calibri"/>
              </a:rPr>
              <a:t>▪ 'Preventive Cognitive Support for Senior Dogs' gains +</a:t>
            </a:r>
          </a:p>
        </p:txBody>
      </p:sp>
      <p:pic>
        <p:nvPicPr>
          <p:cNvPr id="34" name="Picture 33" descr="lock.png"/>
          <p:cNvPicPr>
            <a:picLocks noChangeAspect="1"/>
          </p:cNvPicPr>
          <p:nvPr/>
        </p:nvPicPr>
        <p:blipFill>
          <a:blip r:embed="rId5"/>
          <a:stretch>
            <a:fillRect/>
          </a:stretch>
        </p:blipFill>
        <p:spPr>
          <a:xfrm>
            <a:off x="11009613" y="5133657"/>
            <a:ext cx="134549" cy="195707"/>
          </a:xfrm>
          <a:prstGeom prst="rect">
            <a:avLst/>
          </a:prstGeom>
        </p:spPr>
      </p:pic>
      <p:sp>
        <p:nvSpPr>
          <p:cNvPr id="35" name="TextBox 34"/>
          <p:cNvSpPr txBox="1"/>
          <p:nvPr/>
        </p:nvSpPr>
        <p:spPr>
          <a:xfrm>
            <a:off x="11184722" y="5143880"/>
            <a:ext cx="453020" cy="194310"/>
          </a:xfrm>
          <a:prstGeom prst="rect">
            <a:avLst/>
          </a:prstGeom>
          <a:noFill/>
        </p:spPr>
        <p:txBody>
          <a:bodyPr wrap="none" lIns="0" tIns="0" rIns="0" bIns="0">
            <a:spAutoFit/>
          </a:bodyPr>
          <a:lstStyle/>
          <a:p>
            <a:r>
              <a:rPr sz="1150" b="0">
                <a:solidFill>
                  <a:srgbClr val="2E2E2E"/>
                </a:solidFill>
                <a:latin typeface="Calibri"/>
              </a:rPr>
              <a:t>BPS of</a:t>
            </a:r>
          </a:p>
        </p:txBody>
      </p:sp>
      <p:sp>
        <p:nvSpPr>
          <p:cNvPr id="36" name="TextBox 35"/>
          <p:cNvSpPr txBox="1"/>
          <p:nvPr/>
        </p:nvSpPr>
        <p:spPr>
          <a:xfrm>
            <a:off x="7715250" y="5319140"/>
            <a:ext cx="2668088" cy="194310"/>
          </a:xfrm>
          <a:prstGeom prst="rect">
            <a:avLst/>
          </a:prstGeom>
          <a:noFill/>
        </p:spPr>
        <p:txBody>
          <a:bodyPr wrap="none" lIns="0" tIns="0" rIns="0" bIns="0">
            <a:spAutoFit/>
          </a:bodyPr>
          <a:lstStyle/>
          <a:p>
            <a:r>
              <a:rPr sz="1150" b="0">
                <a:solidFill>
                  <a:srgbClr val="2E2E2E"/>
                </a:solidFill>
                <a:latin typeface="Calibri"/>
              </a:rPr>
              <a:t>share of the Europe cross-section by 2036F.</a:t>
            </a:r>
          </a:p>
        </p:txBody>
      </p:sp>
      <p:sp>
        <p:nvSpPr>
          <p:cNvPr id="37" name="lockshield_16"/>
          <p:cNvSpPr/>
          <p:nvPr/>
        </p:nvSpPr>
        <p:spPr>
          <a:xfrm>
            <a:off x="238125" y="4029075"/>
            <a:ext cx="7096125" cy="2543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&amp; Attractiveness: Sales Channel × End-use Application, 2026E–2036F</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 Opportunity (US$ Mn) and Value CAGR, Sales Channel × End-use Application, 2026E–2036F</a:t>
            </a:r>
          </a:p>
        </p:txBody>
      </p:sp>
      <p:graphicFrame>
        <p:nvGraphicFramePr>
          <p:cNvPr id="12" name="Table 11"/>
          <p:cNvGraphicFramePr>
            <a:graphicFrameLocks noGrp="1"/>
          </p:cNvGraphicFramePr>
          <p:nvPr/>
        </p:nvGraphicFramePr>
        <p:xfrm>
          <a:off x="152400" y="1238250"/>
          <a:ext cx="11887200" cy="2409824"/>
        </p:xfrm>
        <a:graphic>
          <a:graphicData uri="http://schemas.openxmlformats.org/drawingml/2006/table">
            <a:tbl>
              <a:tblPr>
                <a:tableStyleId>{5C22544A-7EE6-4342-B048-85BDC9FD1C3A}</a:tableStyleId>
              </a:tblPr>
              <a:tblGrid>
                <a:gridCol w="2726970">
                  <a:extLst>
                    <a:ext uri="{9D8B030D-6E8A-4147-A177-3AD203B41FA5}">
                      <a16:colId xmlns:a16="http://schemas.microsoft.com/office/drawing/2014/main" val="20000"/>
                    </a:ext>
                  </a:extLst>
                </a:gridCol>
                <a:gridCol w="916023">
                  <a:extLst>
                    <a:ext uri="{9D8B030D-6E8A-4147-A177-3AD203B41FA5}">
                      <a16:colId xmlns:a16="http://schemas.microsoft.com/office/drawing/2014/main" val="20001"/>
                    </a:ext>
                  </a:extLst>
                </a:gridCol>
                <a:gridCol w="916023">
                  <a:extLst>
                    <a:ext uri="{9D8B030D-6E8A-4147-A177-3AD203B41FA5}">
                      <a16:colId xmlns:a16="http://schemas.microsoft.com/office/drawing/2014/main" val="20002"/>
                    </a:ext>
                  </a:extLst>
                </a:gridCol>
                <a:gridCol w="916023">
                  <a:extLst>
                    <a:ext uri="{9D8B030D-6E8A-4147-A177-3AD203B41FA5}">
                      <a16:colId xmlns:a16="http://schemas.microsoft.com/office/drawing/2014/main" val="20003"/>
                    </a:ext>
                  </a:extLst>
                </a:gridCol>
                <a:gridCol w="916023">
                  <a:extLst>
                    <a:ext uri="{9D8B030D-6E8A-4147-A177-3AD203B41FA5}">
                      <a16:colId xmlns:a16="http://schemas.microsoft.com/office/drawing/2014/main" val="20004"/>
                    </a:ext>
                  </a:extLst>
                </a:gridCol>
                <a:gridCol w="916023">
                  <a:extLst>
                    <a:ext uri="{9D8B030D-6E8A-4147-A177-3AD203B41FA5}">
                      <a16:colId xmlns:a16="http://schemas.microsoft.com/office/drawing/2014/main" val="20005"/>
                    </a:ext>
                  </a:extLst>
                </a:gridCol>
                <a:gridCol w="916023">
                  <a:extLst>
                    <a:ext uri="{9D8B030D-6E8A-4147-A177-3AD203B41FA5}">
                      <a16:colId xmlns:a16="http://schemas.microsoft.com/office/drawing/2014/main" val="20006"/>
                    </a:ext>
                  </a:extLst>
                </a:gridCol>
                <a:gridCol w="916023">
                  <a:extLst>
                    <a:ext uri="{9D8B030D-6E8A-4147-A177-3AD203B41FA5}">
                      <a16:colId xmlns:a16="http://schemas.microsoft.com/office/drawing/2014/main" val="20007"/>
                    </a:ext>
                  </a:extLst>
                </a:gridCol>
                <a:gridCol w="916023">
                  <a:extLst>
                    <a:ext uri="{9D8B030D-6E8A-4147-A177-3AD203B41FA5}">
                      <a16:colId xmlns:a16="http://schemas.microsoft.com/office/drawing/2014/main" val="20008"/>
                    </a:ext>
                  </a:extLst>
                </a:gridCol>
                <a:gridCol w="916023">
                  <a:extLst>
                    <a:ext uri="{9D8B030D-6E8A-4147-A177-3AD203B41FA5}">
                      <a16:colId xmlns:a16="http://schemas.microsoft.com/office/drawing/2014/main" val="20009"/>
                    </a:ext>
                  </a:extLst>
                </a:gridCol>
                <a:gridCol w="916023">
                  <a:extLst>
                    <a:ext uri="{9D8B030D-6E8A-4147-A177-3AD203B41FA5}">
                      <a16:colId xmlns:a16="http://schemas.microsoft.com/office/drawing/2014/main" val="20010"/>
                    </a:ext>
                  </a:extLst>
                </a:gridCol>
              </a:tblGrid>
              <a:tr h="438912">
                <a:tc rowSpan="2">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Preventive Cognitive</a:t>
                      </a:r>
                      <a:endParaRPr sz="1100"/>
                    </a:p>
                    <a:p>
                      <a:pPr algn="ctr"/>
                      <a:r>
                        <a:rPr sz="1100" b="1">
                          <a:solidFill>
                            <a:srgbClr val="0B2E4A"/>
                          </a:solidFill>
                          <a:latin typeface="Calibri"/>
                        </a:rPr>
                        <a:t>Support for Senior Dogs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Support for Observable Age-</a:t>
                      </a:r>
                      <a:endParaRPr sz="1100"/>
                    </a:p>
                    <a:p>
                      <a:pPr algn="ctr"/>
                      <a:r>
                        <a:rPr sz="1100" b="1">
                          <a:solidFill>
                            <a:srgbClr val="0B2E4A"/>
                          </a:solidFill>
                          <a:latin typeface="Calibri"/>
                        </a:rPr>
                        <a:t>Related Cognitive Changes</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Veterinary-Guided Cognitive</a:t>
                      </a:r>
                      <a:endParaRPr sz="1100"/>
                    </a:p>
                    <a:p>
                      <a:pPr algn="ctr"/>
                      <a:r>
                        <a:rPr sz="1100" b="1">
                          <a:solidFill>
                            <a:srgbClr val="0B2E4A"/>
                          </a:solidFill>
                          <a:latin typeface="Calibri"/>
                        </a:rPr>
                        <a:t>Dysfunction Support</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tc gridSpan="2">
                  <a:txBody>
                    <a:bodyPr/>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a:lstStyle/>
                    <a:p>
                      <a:pPr algn="ct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364">
                <a:tc vMerge="1">
                  <a:txBody>
                    <a:bodyPr/>
                    <a:lstStyle/>
                    <a:p>
                      <a:pPr algn="l"/>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a:t>
                      </a:r>
                      <a:endParaRPr sz="1100"/>
                    </a:p>
                  </a:txBody>
                  <a:tcPr marL="47625" marR="38100" marT="19050" marB="19050" anchor="ctr">
                    <a:solidFill>
                      <a:srgbClr val="E0E8EF"/>
                    </a:solidFill>
                  </a:tcPr>
                </a:tc>
                <a:extLst>
                  <a:ext uri="{0D108BD9-81ED-4DB2-BD59-A6C34878D82A}">
                    <a16:rowId xmlns:a16="http://schemas.microsoft.com/office/drawing/2014/main" val="10001"/>
                  </a:ext>
                </a:extLst>
              </a:tr>
              <a:tr h="246364">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2"/>
                  </a:ext>
                </a:extLst>
              </a:tr>
              <a:tr h="246364">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3"/>
                  </a:ext>
                </a:extLst>
              </a:tr>
              <a:tr h="246364">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4"/>
                  </a:ext>
                </a:extLst>
              </a:tr>
              <a:tr h="246364">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5"/>
                  </a:ext>
                </a:extLst>
              </a:tr>
              <a:tr h="246364">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6"/>
                  </a:ext>
                </a:extLst>
              </a:tr>
              <a:tr h="246364">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7"/>
                  </a:ext>
                </a:extLst>
              </a:tr>
              <a:tr h="246364">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3" name="TextBox 12"/>
          <p:cNvSpPr txBox="1"/>
          <p:nvPr/>
        </p:nvSpPr>
        <p:spPr>
          <a:xfrm>
            <a:off x="219075" y="36576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5600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076700"/>
            <a:ext cx="5334000" cy="209550"/>
          </a:xfrm>
          <a:prstGeom prst="rect">
            <a:avLst/>
          </a:prstGeom>
          <a:noFill/>
        </p:spPr>
        <p:txBody>
          <a:bodyPr wrap="square" lIns="0" tIns="9525" rIns="19050"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148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400550"/>
            <a:ext cx="53340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5895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293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Largest Pool</a:t>
            </a:r>
          </a:p>
        </p:txBody>
      </p:sp>
      <p:sp>
        <p:nvSpPr>
          <p:cNvPr id="20" name="Rectangle 19"/>
          <p:cNvSpPr/>
          <p:nvPr/>
        </p:nvSpPr>
        <p:spPr>
          <a:xfrm>
            <a:off x="6029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293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2" name="Rounded Rectangle 21"/>
          <p:cNvSpPr/>
          <p:nvPr/>
        </p:nvSpPr>
        <p:spPr>
          <a:xfrm>
            <a:off x="79914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248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Fastest Growth</a:t>
            </a:r>
          </a:p>
        </p:txBody>
      </p:sp>
      <p:sp>
        <p:nvSpPr>
          <p:cNvPr id="24" name="Rectangle 23"/>
          <p:cNvSpPr/>
          <p:nvPr/>
        </p:nvSpPr>
        <p:spPr>
          <a:xfrm>
            <a:off x="81248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248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6" name="Rounded Rectangle 25"/>
          <p:cNvSpPr/>
          <p:nvPr/>
        </p:nvSpPr>
        <p:spPr>
          <a:xfrm>
            <a:off x="10086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20325" y="4076700"/>
            <a:ext cx="1676400" cy="209550"/>
          </a:xfrm>
          <a:prstGeom prst="rect">
            <a:avLst/>
          </a:prstGeom>
          <a:noFill/>
        </p:spPr>
        <p:txBody>
          <a:bodyPr wrap="square" lIns="0" tIns="9525" rIns="19050" bIns="9525">
            <a:spAutoFit/>
          </a:bodyPr>
          <a:lstStyle/>
          <a:p>
            <a:pPr algn="l"/>
            <a:r>
              <a:rPr sz="1300" b="1">
                <a:solidFill>
                  <a:srgbClr val="0B2E4A"/>
                </a:solidFill>
                <a:latin typeface="Calibri"/>
              </a:rPr>
              <a:t>Where to Play</a:t>
            </a:r>
          </a:p>
        </p:txBody>
      </p:sp>
      <p:sp>
        <p:nvSpPr>
          <p:cNvPr id="28" name="Rectangle 27"/>
          <p:cNvSpPr/>
          <p:nvPr/>
        </p:nvSpPr>
        <p:spPr>
          <a:xfrm>
            <a:off x="10220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20325" y="4400550"/>
            <a:ext cx="1676400" cy="215265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'Specialist Pet Retail × Routine Cognitive Wellness' ranks highest (5/5); 'General Retail × Support for Observable Age-Related Cognitive Changes' lowest (1/5), a deprioritised cell.</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272794" y="2519100"/>
            <a:ext cx="366712" cy="533400"/>
          </a:xfrm>
          <a:prstGeom prst="rect">
            <a:avLst/>
          </a:prstGeom>
        </p:spPr>
      </p:pic>
      <p:sp>
        <p:nvSpPr>
          <p:cNvPr id="32" name="TextBox 31"/>
          <p:cNvSpPr txBox="1"/>
          <p:nvPr/>
        </p:nvSpPr>
        <p:spPr>
          <a:xfrm>
            <a:off x="276225" y="4410075"/>
            <a:ext cx="5261229" cy="194310"/>
          </a:xfrm>
          <a:prstGeom prst="rect">
            <a:avLst/>
          </a:prstGeom>
          <a:noFill/>
        </p:spPr>
        <p:txBody>
          <a:bodyPr wrap="none" lIns="0" tIns="0" rIns="0" bIns="0">
            <a:spAutoFit/>
          </a:bodyPr>
          <a:lstStyle/>
          <a:p>
            <a:r>
              <a:rPr sz="1150" b="0">
                <a:solidFill>
                  <a:srgbClr val="2E2E2E"/>
                </a:solidFill>
                <a:latin typeface="Calibri"/>
              </a:rPr>
              <a:t>▪ 1. Third-Party E-commerce × Support for Observable Age-Related Cognitive Changes –</a:t>
            </a:r>
          </a:p>
        </p:txBody>
      </p:sp>
      <p:pic>
        <p:nvPicPr>
          <p:cNvPr id="33" name="Picture 32" descr="lock.png"/>
          <p:cNvPicPr>
            <a:picLocks noChangeAspect="1"/>
          </p:cNvPicPr>
          <p:nvPr/>
        </p:nvPicPr>
        <p:blipFill>
          <a:blip r:embed="rId4"/>
          <a:stretch>
            <a:fillRect/>
          </a:stretch>
        </p:blipFill>
        <p:spPr>
          <a:xfrm>
            <a:off x="262145" y="4575111"/>
            <a:ext cx="134549" cy="195707"/>
          </a:xfrm>
          <a:prstGeom prst="rect">
            <a:avLst/>
          </a:prstGeom>
        </p:spPr>
      </p:pic>
      <p:sp>
        <p:nvSpPr>
          <p:cNvPr id="34" name="TextBox 33"/>
          <p:cNvSpPr txBox="1"/>
          <p:nvPr/>
        </p:nvSpPr>
        <p:spPr>
          <a:xfrm>
            <a:off x="437254" y="4585335"/>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99406" y="4575111"/>
            <a:ext cx="134549" cy="195707"/>
          </a:xfrm>
          <a:prstGeom prst="rect">
            <a:avLst/>
          </a:prstGeom>
        </p:spPr>
      </p:pic>
      <p:sp>
        <p:nvSpPr>
          <p:cNvPr id="36" name="TextBox 35"/>
          <p:cNvSpPr txBox="1"/>
          <p:nvPr/>
        </p:nvSpPr>
        <p:spPr>
          <a:xfrm>
            <a:off x="674515" y="4585335"/>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37" name="TextBox 36"/>
          <p:cNvSpPr txBox="1"/>
          <p:nvPr/>
        </p:nvSpPr>
        <p:spPr>
          <a:xfrm>
            <a:off x="276225" y="4813172"/>
            <a:ext cx="4972583" cy="194310"/>
          </a:xfrm>
          <a:prstGeom prst="rect">
            <a:avLst/>
          </a:prstGeom>
          <a:noFill/>
        </p:spPr>
        <p:txBody>
          <a:bodyPr wrap="none" lIns="0" tIns="0" rIns="0" bIns="0">
            <a:spAutoFit/>
          </a:bodyPr>
          <a:lstStyle/>
          <a:p>
            <a:r>
              <a:rPr sz="1150" b="0">
                <a:solidFill>
                  <a:srgbClr val="2E2E2E"/>
                </a:solidFill>
                <a:latin typeface="Calibri"/>
              </a:rPr>
              <a:t>▪ 2. Specialist Pet Retail × Support for Observable Age-Related Cognitive Changes –</a:t>
            </a:r>
          </a:p>
        </p:txBody>
      </p:sp>
      <p:pic>
        <p:nvPicPr>
          <p:cNvPr id="38" name="Picture 37" descr="lock.png"/>
          <p:cNvPicPr>
            <a:picLocks noChangeAspect="1"/>
          </p:cNvPicPr>
          <p:nvPr/>
        </p:nvPicPr>
        <p:blipFill>
          <a:blip r:embed="rId4"/>
          <a:stretch>
            <a:fillRect/>
          </a:stretch>
        </p:blipFill>
        <p:spPr>
          <a:xfrm>
            <a:off x="5197962" y="4802949"/>
            <a:ext cx="134549" cy="195707"/>
          </a:xfrm>
          <a:prstGeom prst="rect">
            <a:avLst/>
          </a:prstGeom>
        </p:spPr>
      </p:pic>
      <p:sp>
        <p:nvSpPr>
          <p:cNvPr id="39" name="TextBox 38"/>
          <p:cNvSpPr txBox="1"/>
          <p:nvPr/>
        </p:nvSpPr>
        <p:spPr>
          <a:xfrm>
            <a:off x="5373071" y="4813172"/>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262145" y="4978209"/>
            <a:ext cx="134549" cy="195707"/>
          </a:xfrm>
          <a:prstGeom prst="rect">
            <a:avLst/>
          </a:prstGeom>
        </p:spPr>
      </p:pic>
      <p:sp>
        <p:nvSpPr>
          <p:cNvPr id="41" name="TextBox 40"/>
          <p:cNvSpPr txBox="1"/>
          <p:nvPr/>
        </p:nvSpPr>
        <p:spPr>
          <a:xfrm>
            <a:off x="437254" y="4988432"/>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42" name="TextBox 41"/>
          <p:cNvSpPr txBox="1"/>
          <p:nvPr/>
        </p:nvSpPr>
        <p:spPr>
          <a:xfrm>
            <a:off x="276225" y="5216270"/>
            <a:ext cx="5015941" cy="194310"/>
          </a:xfrm>
          <a:prstGeom prst="rect">
            <a:avLst/>
          </a:prstGeom>
          <a:noFill/>
        </p:spPr>
        <p:txBody>
          <a:bodyPr wrap="none" lIns="0" tIns="0" rIns="0" bIns="0">
            <a:spAutoFit/>
          </a:bodyPr>
          <a:lstStyle/>
          <a:p>
            <a:r>
              <a:rPr sz="1150" b="0">
                <a:solidFill>
                  <a:srgbClr val="2E2E2E"/>
                </a:solidFill>
                <a:latin typeface="Calibri"/>
              </a:rPr>
              <a:t>▪ 3. Veterinary Channels × Support for Observable Age-Related Cognitive Changes –</a:t>
            </a:r>
          </a:p>
        </p:txBody>
      </p:sp>
      <p:pic>
        <p:nvPicPr>
          <p:cNvPr id="43" name="Picture 42" descr="lock.png"/>
          <p:cNvPicPr>
            <a:picLocks noChangeAspect="1"/>
          </p:cNvPicPr>
          <p:nvPr/>
        </p:nvPicPr>
        <p:blipFill>
          <a:blip r:embed="rId4"/>
          <a:stretch>
            <a:fillRect/>
          </a:stretch>
        </p:blipFill>
        <p:spPr>
          <a:xfrm>
            <a:off x="5241320" y="5206047"/>
            <a:ext cx="134549" cy="195707"/>
          </a:xfrm>
          <a:prstGeom prst="rect">
            <a:avLst/>
          </a:prstGeom>
        </p:spPr>
      </p:pic>
      <p:sp>
        <p:nvSpPr>
          <p:cNvPr id="44" name="TextBox 43"/>
          <p:cNvSpPr txBox="1"/>
          <p:nvPr/>
        </p:nvSpPr>
        <p:spPr>
          <a:xfrm>
            <a:off x="5416430" y="5216270"/>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262145" y="5381307"/>
            <a:ext cx="134549" cy="195707"/>
          </a:xfrm>
          <a:prstGeom prst="rect">
            <a:avLst/>
          </a:prstGeom>
        </p:spPr>
      </p:pic>
      <p:sp>
        <p:nvSpPr>
          <p:cNvPr id="46" name="TextBox 45"/>
          <p:cNvSpPr txBox="1"/>
          <p:nvPr/>
        </p:nvSpPr>
        <p:spPr>
          <a:xfrm>
            <a:off x="437254" y="5391530"/>
            <a:ext cx="350899" cy="194310"/>
          </a:xfrm>
          <a:prstGeom prst="rect">
            <a:avLst/>
          </a:prstGeom>
          <a:noFill/>
        </p:spPr>
        <p:txBody>
          <a:bodyPr wrap="none" lIns="0" tIns="0" rIns="0" bIns="0">
            <a:spAutoFit/>
          </a:bodyPr>
          <a:lstStyle/>
          <a:p>
            <a:r>
              <a:rPr sz="1150" b="0">
                <a:solidFill>
                  <a:srgbClr val="2E2E2E"/>
                </a:solidFill>
                <a:latin typeface="Calibri"/>
              </a:rPr>
              <a:t>· 4/5</a:t>
            </a:r>
          </a:p>
        </p:txBody>
      </p:sp>
      <p:sp>
        <p:nvSpPr>
          <p:cNvPr id="47" name="TextBox 46"/>
          <p:cNvSpPr txBox="1"/>
          <p:nvPr/>
        </p:nvSpPr>
        <p:spPr>
          <a:xfrm>
            <a:off x="276225" y="5619368"/>
            <a:ext cx="3327524" cy="194310"/>
          </a:xfrm>
          <a:prstGeom prst="rect">
            <a:avLst/>
          </a:prstGeom>
          <a:noFill/>
        </p:spPr>
        <p:txBody>
          <a:bodyPr wrap="none" lIns="0" tIns="0" rIns="0" bIns="0">
            <a:spAutoFit/>
          </a:bodyPr>
          <a:lstStyle/>
          <a:p>
            <a:r>
              <a:rPr sz="1150" b="0">
                <a:solidFill>
                  <a:srgbClr val="2E2E2E"/>
                </a:solidFill>
                <a:latin typeface="Calibri"/>
              </a:rPr>
              <a:t>▪ 4. Specialist Pet Retail × Routine Cognitive Wellness –</a:t>
            </a:r>
          </a:p>
        </p:txBody>
      </p:sp>
      <p:pic>
        <p:nvPicPr>
          <p:cNvPr id="48" name="Picture 47" descr="lock.png"/>
          <p:cNvPicPr>
            <a:picLocks noChangeAspect="1"/>
          </p:cNvPicPr>
          <p:nvPr/>
        </p:nvPicPr>
        <p:blipFill>
          <a:blip r:embed="rId4"/>
          <a:stretch>
            <a:fillRect/>
          </a:stretch>
        </p:blipFill>
        <p:spPr>
          <a:xfrm>
            <a:off x="3552902" y="5609145"/>
            <a:ext cx="134549" cy="195707"/>
          </a:xfrm>
          <a:prstGeom prst="rect">
            <a:avLst/>
          </a:prstGeom>
        </p:spPr>
      </p:pic>
      <p:sp>
        <p:nvSpPr>
          <p:cNvPr id="49" name="TextBox 48"/>
          <p:cNvSpPr txBox="1"/>
          <p:nvPr/>
        </p:nvSpPr>
        <p:spPr>
          <a:xfrm>
            <a:off x="3728012" y="5619368"/>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790163" y="5609145"/>
            <a:ext cx="134549" cy="195707"/>
          </a:xfrm>
          <a:prstGeom prst="rect">
            <a:avLst/>
          </a:prstGeom>
        </p:spPr>
      </p:pic>
      <p:sp>
        <p:nvSpPr>
          <p:cNvPr id="51" name="TextBox 50"/>
          <p:cNvSpPr txBox="1"/>
          <p:nvPr/>
        </p:nvSpPr>
        <p:spPr>
          <a:xfrm>
            <a:off x="3965273" y="5619368"/>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52" name="TextBox 51"/>
          <p:cNvSpPr txBox="1"/>
          <p:nvPr/>
        </p:nvSpPr>
        <p:spPr>
          <a:xfrm>
            <a:off x="276225" y="5847206"/>
            <a:ext cx="3616169" cy="194310"/>
          </a:xfrm>
          <a:prstGeom prst="rect">
            <a:avLst/>
          </a:prstGeom>
          <a:noFill/>
        </p:spPr>
        <p:txBody>
          <a:bodyPr wrap="none" lIns="0" tIns="0" rIns="0" bIns="0">
            <a:spAutoFit/>
          </a:bodyPr>
          <a:lstStyle/>
          <a:p>
            <a:r>
              <a:rPr sz="1150" b="0">
                <a:solidFill>
                  <a:srgbClr val="2E2E2E"/>
                </a:solidFill>
                <a:latin typeface="Calibri"/>
              </a:rPr>
              <a:t>▪ 5. Third-Party E-commerce × Routine Cognitive Wellness –</a:t>
            </a:r>
          </a:p>
        </p:txBody>
      </p:sp>
      <p:pic>
        <p:nvPicPr>
          <p:cNvPr id="53" name="Picture 52" descr="lock.png"/>
          <p:cNvPicPr>
            <a:picLocks noChangeAspect="1"/>
          </p:cNvPicPr>
          <p:nvPr/>
        </p:nvPicPr>
        <p:blipFill>
          <a:blip r:embed="rId4"/>
          <a:stretch>
            <a:fillRect/>
          </a:stretch>
        </p:blipFill>
        <p:spPr>
          <a:xfrm>
            <a:off x="3841548" y="5836983"/>
            <a:ext cx="134549" cy="195707"/>
          </a:xfrm>
          <a:prstGeom prst="rect">
            <a:avLst/>
          </a:prstGeom>
        </p:spPr>
      </p:pic>
      <p:sp>
        <p:nvSpPr>
          <p:cNvPr id="54" name="TextBox 53"/>
          <p:cNvSpPr txBox="1"/>
          <p:nvPr/>
        </p:nvSpPr>
        <p:spPr>
          <a:xfrm>
            <a:off x="4016657" y="5847206"/>
            <a:ext cx="112997"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4078809" y="5836983"/>
            <a:ext cx="134549" cy="195707"/>
          </a:xfrm>
          <a:prstGeom prst="rect">
            <a:avLst/>
          </a:prstGeom>
        </p:spPr>
      </p:pic>
      <p:sp>
        <p:nvSpPr>
          <p:cNvPr id="56" name="TextBox 55"/>
          <p:cNvSpPr txBox="1"/>
          <p:nvPr/>
        </p:nvSpPr>
        <p:spPr>
          <a:xfrm>
            <a:off x="4253918" y="5847206"/>
            <a:ext cx="350899" cy="194310"/>
          </a:xfrm>
          <a:prstGeom prst="rect">
            <a:avLst/>
          </a:prstGeom>
          <a:noFill/>
        </p:spPr>
        <p:txBody>
          <a:bodyPr wrap="none" lIns="0" tIns="0" rIns="0" bIns="0">
            <a:spAutoFit/>
          </a:bodyPr>
          <a:lstStyle/>
          <a:p>
            <a:r>
              <a:rPr sz="1150" b="0">
                <a:solidFill>
                  <a:srgbClr val="2E2E2E"/>
                </a:solidFill>
                <a:latin typeface="Calibri"/>
              </a:rPr>
              <a:t>· 5/5</a:t>
            </a:r>
          </a:p>
        </p:txBody>
      </p:sp>
      <p:sp>
        <p:nvSpPr>
          <p:cNvPr id="57" name="TextBox 56"/>
          <p:cNvSpPr txBox="1"/>
          <p:nvPr/>
        </p:nvSpPr>
        <p:spPr>
          <a:xfrm>
            <a:off x="6029325" y="4410075"/>
            <a:ext cx="1639074" cy="194310"/>
          </a:xfrm>
          <a:prstGeom prst="rect">
            <a:avLst/>
          </a:prstGeom>
          <a:noFill/>
        </p:spPr>
        <p:txBody>
          <a:bodyPr wrap="none" lIns="0" tIns="0" rIns="0" bIns="0">
            <a:spAutoFit/>
          </a:bodyPr>
          <a:lstStyle/>
          <a:p>
            <a:r>
              <a:rPr sz="1150" b="0">
                <a:solidFill>
                  <a:srgbClr val="2E2E2E"/>
                </a:solidFill>
                <a:latin typeface="Calibri"/>
              </a:rPr>
              <a:t>▪ 'Third-Party E-commerce</a:t>
            </a:r>
          </a:p>
        </p:txBody>
      </p:sp>
      <p:sp>
        <p:nvSpPr>
          <p:cNvPr id="58" name="TextBox 57"/>
          <p:cNvSpPr txBox="1"/>
          <p:nvPr/>
        </p:nvSpPr>
        <p:spPr>
          <a:xfrm>
            <a:off x="6029325" y="4585335"/>
            <a:ext cx="1568363" cy="194310"/>
          </a:xfrm>
          <a:prstGeom prst="rect">
            <a:avLst/>
          </a:prstGeom>
          <a:noFill/>
        </p:spPr>
        <p:txBody>
          <a:bodyPr wrap="none" lIns="0" tIns="0" rIns="0" bIns="0">
            <a:spAutoFit/>
          </a:bodyPr>
          <a:lstStyle/>
          <a:p>
            <a:r>
              <a:rPr sz="1150" b="0">
                <a:solidFill>
                  <a:srgbClr val="2E2E2E"/>
                </a:solidFill>
                <a:latin typeface="Calibri"/>
              </a:rPr>
              <a:t>× Support for Observable</a:t>
            </a:r>
          </a:p>
        </p:txBody>
      </p:sp>
      <p:sp>
        <p:nvSpPr>
          <p:cNvPr id="59" name="TextBox 58"/>
          <p:cNvSpPr txBox="1"/>
          <p:nvPr/>
        </p:nvSpPr>
        <p:spPr>
          <a:xfrm>
            <a:off x="6029325" y="4760595"/>
            <a:ext cx="1389508" cy="194310"/>
          </a:xfrm>
          <a:prstGeom prst="rect">
            <a:avLst/>
          </a:prstGeom>
          <a:noFill/>
        </p:spPr>
        <p:txBody>
          <a:bodyPr wrap="none" lIns="0" tIns="0" rIns="0" bIns="0">
            <a:spAutoFit/>
          </a:bodyPr>
          <a:lstStyle/>
          <a:p>
            <a:r>
              <a:rPr sz="1150" b="0">
                <a:solidFill>
                  <a:srgbClr val="2E2E2E"/>
                </a:solidFill>
                <a:latin typeface="Calibri"/>
              </a:rPr>
              <a:t>Age-Related Cognitive</a:t>
            </a:r>
          </a:p>
        </p:txBody>
      </p:sp>
      <p:sp>
        <p:nvSpPr>
          <p:cNvPr id="60" name="TextBox 59"/>
          <p:cNvSpPr txBox="1"/>
          <p:nvPr/>
        </p:nvSpPr>
        <p:spPr>
          <a:xfrm>
            <a:off x="6029325" y="4935854"/>
            <a:ext cx="921692" cy="194310"/>
          </a:xfrm>
          <a:prstGeom prst="rect">
            <a:avLst/>
          </a:prstGeom>
          <a:noFill/>
        </p:spPr>
        <p:txBody>
          <a:bodyPr wrap="none" lIns="0" tIns="0" rIns="0" bIns="0">
            <a:spAutoFit/>
          </a:bodyPr>
          <a:lstStyle/>
          <a:p>
            <a:r>
              <a:rPr sz="1150" b="0">
                <a:solidFill>
                  <a:srgbClr val="2E2E2E"/>
                </a:solidFill>
                <a:latin typeface="Calibri"/>
              </a:rPr>
              <a:t>Changes' adds</a:t>
            </a:r>
          </a:p>
        </p:txBody>
      </p:sp>
      <p:pic>
        <p:nvPicPr>
          <p:cNvPr id="61" name="Picture 60" descr="lock.png"/>
          <p:cNvPicPr>
            <a:picLocks noChangeAspect="1"/>
          </p:cNvPicPr>
          <p:nvPr/>
        </p:nvPicPr>
        <p:blipFill>
          <a:blip r:embed="rId4"/>
          <a:stretch>
            <a:fillRect/>
          </a:stretch>
        </p:blipFill>
        <p:spPr>
          <a:xfrm>
            <a:off x="6900171" y="4925631"/>
            <a:ext cx="134549" cy="195707"/>
          </a:xfrm>
          <a:prstGeom prst="rect">
            <a:avLst/>
          </a:prstGeom>
        </p:spPr>
      </p:pic>
      <p:sp>
        <p:nvSpPr>
          <p:cNvPr id="62" name="TextBox 61"/>
          <p:cNvSpPr txBox="1"/>
          <p:nvPr/>
        </p:nvSpPr>
        <p:spPr>
          <a:xfrm>
            <a:off x="7075280" y="4935854"/>
            <a:ext cx="546013" cy="194310"/>
          </a:xfrm>
          <a:prstGeom prst="rect">
            <a:avLst/>
          </a:prstGeom>
          <a:noFill/>
        </p:spPr>
        <p:txBody>
          <a:bodyPr wrap="none" lIns="0" tIns="0" rIns="0" bIns="0">
            <a:spAutoFit/>
          </a:bodyPr>
          <a:lstStyle/>
          <a:p>
            <a:r>
              <a:rPr sz="1150" b="0">
                <a:solidFill>
                  <a:srgbClr val="2E2E2E"/>
                </a:solidFill>
                <a:latin typeface="Calibri"/>
              </a:rPr>
              <a:t>US$ Mn</a:t>
            </a:r>
          </a:p>
        </p:txBody>
      </p:sp>
      <p:sp>
        <p:nvSpPr>
          <p:cNvPr id="63" name="TextBox 62"/>
          <p:cNvSpPr txBox="1"/>
          <p:nvPr/>
        </p:nvSpPr>
        <p:spPr>
          <a:xfrm>
            <a:off x="6029325" y="5111114"/>
            <a:ext cx="721729" cy="194310"/>
          </a:xfrm>
          <a:prstGeom prst="rect">
            <a:avLst/>
          </a:prstGeom>
          <a:noFill/>
        </p:spPr>
        <p:txBody>
          <a:bodyPr wrap="none" lIns="0" tIns="0" rIns="0" bIns="0">
            <a:spAutoFit/>
          </a:bodyPr>
          <a:lstStyle/>
          <a:p>
            <a:r>
              <a:rPr sz="1150" b="0">
                <a:solidFill>
                  <a:srgbClr val="2E2E2E"/>
                </a:solidFill>
                <a:latin typeface="Calibri"/>
              </a:rPr>
              <a:t>by 2036F –</a:t>
            </a:r>
          </a:p>
        </p:txBody>
      </p:sp>
      <p:pic>
        <p:nvPicPr>
          <p:cNvPr id="64" name="Picture 63" descr="lock.png"/>
          <p:cNvPicPr>
            <a:picLocks noChangeAspect="1"/>
          </p:cNvPicPr>
          <p:nvPr/>
        </p:nvPicPr>
        <p:blipFill>
          <a:blip r:embed="rId4"/>
          <a:stretch>
            <a:fillRect/>
          </a:stretch>
        </p:blipFill>
        <p:spPr>
          <a:xfrm>
            <a:off x="6700208" y="5100891"/>
            <a:ext cx="134549" cy="195707"/>
          </a:xfrm>
          <a:prstGeom prst="rect">
            <a:avLst/>
          </a:prstGeom>
        </p:spPr>
      </p:pic>
      <p:sp>
        <p:nvSpPr>
          <p:cNvPr id="65" name="TextBox 64"/>
          <p:cNvSpPr txBox="1"/>
          <p:nvPr/>
        </p:nvSpPr>
        <p:spPr>
          <a:xfrm>
            <a:off x="6875317" y="5111114"/>
            <a:ext cx="741126" cy="194310"/>
          </a:xfrm>
          <a:prstGeom prst="rect">
            <a:avLst/>
          </a:prstGeom>
          <a:noFill/>
        </p:spPr>
        <p:txBody>
          <a:bodyPr wrap="none" lIns="0" tIns="0" rIns="0" bIns="0">
            <a:spAutoFit/>
          </a:bodyPr>
          <a:lstStyle/>
          <a:p>
            <a:r>
              <a:rPr sz="1150" b="0">
                <a:solidFill>
                  <a:srgbClr val="2E2E2E"/>
                </a:solidFill>
                <a:latin typeface="Calibri"/>
              </a:rPr>
              <a:t>of the total</a:t>
            </a:r>
          </a:p>
        </p:txBody>
      </p:sp>
      <p:sp>
        <p:nvSpPr>
          <p:cNvPr id="66" name="TextBox 65"/>
          <p:cNvSpPr txBox="1"/>
          <p:nvPr/>
        </p:nvSpPr>
        <p:spPr>
          <a:xfrm>
            <a:off x="6029325" y="5286374"/>
            <a:ext cx="822994" cy="194310"/>
          </a:xfrm>
          <a:prstGeom prst="rect">
            <a:avLst/>
          </a:prstGeom>
          <a:noFill/>
        </p:spPr>
        <p:txBody>
          <a:bodyPr wrap="none" lIns="0" tIns="0" rIns="0" bIns="0">
            <a:spAutoFit/>
          </a:bodyPr>
          <a:lstStyle/>
          <a:p>
            <a:r>
              <a:rPr sz="1150" b="0">
                <a:solidFill>
                  <a:srgbClr val="2E2E2E"/>
                </a:solidFill>
                <a:latin typeface="Calibri"/>
              </a:rPr>
              <a:t>opportunity.</a:t>
            </a:r>
          </a:p>
        </p:txBody>
      </p:sp>
      <p:sp>
        <p:nvSpPr>
          <p:cNvPr id="67" name="TextBox 66"/>
          <p:cNvSpPr txBox="1"/>
          <p:nvPr/>
        </p:nvSpPr>
        <p:spPr>
          <a:xfrm>
            <a:off x="8124825" y="4410075"/>
            <a:ext cx="1639074" cy="194310"/>
          </a:xfrm>
          <a:prstGeom prst="rect">
            <a:avLst/>
          </a:prstGeom>
          <a:noFill/>
        </p:spPr>
        <p:txBody>
          <a:bodyPr wrap="none" lIns="0" tIns="0" rIns="0" bIns="0">
            <a:spAutoFit/>
          </a:bodyPr>
          <a:lstStyle/>
          <a:p>
            <a:r>
              <a:rPr sz="1150" b="0">
                <a:solidFill>
                  <a:srgbClr val="2E2E2E"/>
                </a:solidFill>
                <a:latin typeface="Calibri"/>
              </a:rPr>
              <a:t>▪ 'Third-Party E-commerce</a:t>
            </a:r>
          </a:p>
        </p:txBody>
      </p:sp>
      <p:sp>
        <p:nvSpPr>
          <p:cNvPr id="68" name="TextBox 67"/>
          <p:cNvSpPr txBox="1"/>
          <p:nvPr/>
        </p:nvSpPr>
        <p:spPr>
          <a:xfrm>
            <a:off x="8124825" y="4585335"/>
            <a:ext cx="1281683" cy="194310"/>
          </a:xfrm>
          <a:prstGeom prst="rect">
            <a:avLst/>
          </a:prstGeom>
          <a:noFill/>
        </p:spPr>
        <p:txBody>
          <a:bodyPr wrap="none" lIns="0" tIns="0" rIns="0" bIns="0">
            <a:spAutoFit/>
          </a:bodyPr>
          <a:lstStyle/>
          <a:p>
            <a:r>
              <a:rPr sz="1150" b="0">
                <a:solidFill>
                  <a:srgbClr val="2E2E2E"/>
                </a:solidFill>
                <a:latin typeface="Calibri"/>
              </a:rPr>
              <a:t>× Veterinary-Guided</a:t>
            </a:r>
          </a:p>
        </p:txBody>
      </p:sp>
      <p:sp>
        <p:nvSpPr>
          <p:cNvPr id="69" name="TextBox 68"/>
          <p:cNvSpPr txBox="1"/>
          <p:nvPr/>
        </p:nvSpPr>
        <p:spPr>
          <a:xfrm>
            <a:off x="8124825" y="4760595"/>
            <a:ext cx="1374105" cy="194310"/>
          </a:xfrm>
          <a:prstGeom prst="rect">
            <a:avLst/>
          </a:prstGeom>
          <a:noFill/>
        </p:spPr>
        <p:txBody>
          <a:bodyPr wrap="none" lIns="0" tIns="0" rIns="0" bIns="0">
            <a:spAutoFit/>
          </a:bodyPr>
          <a:lstStyle/>
          <a:p>
            <a:r>
              <a:rPr sz="1150" b="0">
                <a:solidFill>
                  <a:srgbClr val="2E2E2E"/>
                </a:solidFill>
                <a:latin typeface="Calibri"/>
              </a:rPr>
              <a:t>Cognitive Dysfunction</a:t>
            </a:r>
          </a:p>
        </p:txBody>
      </p:sp>
      <p:sp>
        <p:nvSpPr>
          <p:cNvPr id="70" name="TextBox 69"/>
          <p:cNvSpPr txBox="1"/>
          <p:nvPr/>
        </p:nvSpPr>
        <p:spPr>
          <a:xfrm>
            <a:off x="8124825" y="4935854"/>
            <a:ext cx="1229196" cy="194310"/>
          </a:xfrm>
          <a:prstGeom prst="rect">
            <a:avLst/>
          </a:prstGeom>
          <a:noFill/>
        </p:spPr>
        <p:txBody>
          <a:bodyPr wrap="none" lIns="0" tIns="0" rIns="0" bIns="0">
            <a:spAutoFit/>
          </a:bodyPr>
          <a:lstStyle/>
          <a:p>
            <a:r>
              <a:rPr sz="1150" b="0">
                <a:solidFill>
                  <a:srgbClr val="2E2E2E"/>
                </a:solidFill>
                <a:latin typeface="Calibri"/>
              </a:rPr>
              <a:t>Support' grows at a</a:t>
            </a:r>
          </a:p>
        </p:txBody>
      </p:sp>
      <p:pic>
        <p:nvPicPr>
          <p:cNvPr id="71" name="Picture 70" descr="lock.png"/>
          <p:cNvPicPr>
            <a:picLocks noChangeAspect="1"/>
          </p:cNvPicPr>
          <p:nvPr/>
        </p:nvPicPr>
        <p:blipFill>
          <a:blip r:embed="rId4"/>
          <a:stretch>
            <a:fillRect/>
          </a:stretch>
        </p:blipFill>
        <p:spPr>
          <a:xfrm>
            <a:off x="9303175" y="4925631"/>
            <a:ext cx="134549" cy="195707"/>
          </a:xfrm>
          <a:prstGeom prst="rect">
            <a:avLst/>
          </a:prstGeom>
        </p:spPr>
      </p:pic>
      <p:sp>
        <p:nvSpPr>
          <p:cNvPr id="72" name="TextBox 71"/>
          <p:cNvSpPr txBox="1"/>
          <p:nvPr/>
        </p:nvSpPr>
        <p:spPr>
          <a:xfrm>
            <a:off x="8124825" y="5111114"/>
            <a:ext cx="446441" cy="194310"/>
          </a:xfrm>
          <a:prstGeom prst="rect">
            <a:avLst/>
          </a:prstGeom>
          <a:noFill/>
        </p:spPr>
        <p:txBody>
          <a:bodyPr wrap="none" lIns="0" tIns="0" rIns="0" bIns="0">
            <a:spAutoFit/>
          </a:bodyPr>
          <a:lstStyle/>
          <a:p>
            <a:r>
              <a:rPr sz="1150" b="0">
                <a:solidFill>
                  <a:srgbClr val="2E2E2E"/>
                </a:solidFill>
                <a:latin typeface="Calibri"/>
              </a:rPr>
              <a:t>CAGR,</a:t>
            </a:r>
          </a:p>
        </p:txBody>
      </p:sp>
      <p:pic>
        <p:nvPicPr>
          <p:cNvPr id="73" name="Picture 72" descr="lock.png"/>
          <p:cNvPicPr>
            <a:picLocks noChangeAspect="1"/>
          </p:cNvPicPr>
          <p:nvPr/>
        </p:nvPicPr>
        <p:blipFill>
          <a:blip r:embed="rId4"/>
          <a:stretch>
            <a:fillRect/>
          </a:stretch>
        </p:blipFill>
        <p:spPr>
          <a:xfrm>
            <a:off x="8520420" y="5100891"/>
            <a:ext cx="134549" cy="195707"/>
          </a:xfrm>
          <a:prstGeom prst="rect">
            <a:avLst/>
          </a:prstGeom>
        </p:spPr>
      </p:pic>
      <p:sp>
        <p:nvSpPr>
          <p:cNvPr id="74" name="TextBox 73"/>
          <p:cNvSpPr txBox="1"/>
          <p:nvPr/>
        </p:nvSpPr>
        <p:spPr>
          <a:xfrm>
            <a:off x="8695529" y="5111114"/>
            <a:ext cx="925400" cy="194310"/>
          </a:xfrm>
          <a:prstGeom prst="rect">
            <a:avLst/>
          </a:prstGeom>
          <a:noFill/>
        </p:spPr>
        <p:txBody>
          <a:bodyPr wrap="none" lIns="0" tIns="0" rIns="0" bIns="0">
            <a:spAutoFit/>
          </a:bodyPr>
          <a:lstStyle/>
          <a:p>
            <a:r>
              <a:rPr sz="1150" b="0">
                <a:solidFill>
                  <a:srgbClr val="2E2E2E"/>
                </a:solidFill>
                <a:latin typeface="Calibri"/>
              </a:rPr>
              <a:t>BPS above the</a:t>
            </a:r>
          </a:p>
        </p:txBody>
      </p:sp>
      <p:sp>
        <p:nvSpPr>
          <p:cNvPr id="75" name="TextBox 74"/>
          <p:cNvSpPr txBox="1"/>
          <p:nvPr/>
        </p:nvSpPr>
        <p:spPr>
          <a:xfrm>
            <a:off x="8124825" y="5286374"/>
            <a:ext cx="890029" cy="194310"/>
          </a:xfrm>
          <a:prstGeom prst="rect">
            <a:avLst/>
          </a:prstGeom>
          <a:noFill/>
        </p:spPr>
        <p:txBody>
          <a:bodyPr wrap="none" lIns="0" tIns="0" rIns="0" bIns="0">
            <a:spAutoFit/>
          </a:bodyPr>
          <a:lstStyle/>
          <a:p>
            <a:r>
              <a:rPr sz="1150" b="0">
                <a:solidFill>
                  <a:srgbClr val="2E2E2E"/>
                </a:solidFill>
                <a:latin typeface="Calibri"/>
              </a:rPr>
              <a:t>cross-section.</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Europe Overview</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Volume Market Summary</a:t>
            </a:r>
          </a:p>
          <a:p>
            <a:pPr marL="342900" indent="-323850">
              <a:lnSpc>
                <a:spcPct val="100000"/>
              </a:lnSpc>
              <a:spcAft>
                <a:spcPts val="800"/>
              </a:spcAft>
            </a:pPr>
            <a:r>
              <a:rPr sz="2000" b="0">
                <a:solidFill>
                  <a:srgbClr val="000000"/>
                </a:solidFill>
                <a:latin typeface="Calibri"/>
              </a:rPr>
              <a:t>➤	Pricing &amp; Price Index</a:t>
            </a:r>
          </a:p>
          <a:p>
            <a:pPr marL="342900" indent="-323850">
              <a:lnSpc>
                <a:spcPct val="100000"/>
              </a:lnSpc>
              <a:spcAft>
                <a:spcPts val="800"/>
              </a:spcAft>
            </a:pPr>
            <a:r>
              <a:rPr sz="2000" b="0">
                <a:solidFill>
                  <a:srgbClr val="000000"/>
                </a:solidFill>
                <a:latin typeface="Calibri"/>
              </a:rPr>
              <a:t>➤	Value Market Summary</a:t>
            </a:r>
          </a:p>
          <a:p>
            <a:pPr marL="342900" indent="-323850">
              <a:lnSpc>
                <a:spcPct val="100000"/>
              </a:lnSpc>
              <a:spcAft>
                <a:spcPts val="800"/>
              </a:spcAft>
            </a:pPr>
            <a:r>
              <a:rPr sz="2000" b="0">
                <a:solidFill>
                  <a:srgbClr val="000000"/>
                </a:solidFill>
                <a:latin typeface="Calibri"/>
              </a:rPr>
              <a:t>➤	Market Volume &amp; Value Analysis</a:t>
            </a:r>
          </a:p>
          <a:p>
            <a:pPr marL="342900" indent="-323850">
              <a:lnSpc>
                <a:spcPct val="100000"/>
              </a:lnSpc>
              <a:spcAft>
                <a:spcPts val="800"/>
              </a:spcAft>
            </a:pPr>
            <a:r>
              <a:rPr sz="2000" b="0">
                <a:solidFill>
                  <a:srgbClr val="000000"/>
                </a:solidFill>
                <a:latin typeface="Calibri"/>
              </a:rPr>
              <a:t>➤	Country Outlook</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Summary, By Volume (MT)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Europe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MARKET SIZE (MT)</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MARKET SIZE (MT)</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685037"/>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4094525"/>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Market Addition (MT)</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xmlns:r="http://schemas.openxmlformats.org/officeDocument/2006/relationships" r:id="rId5"/>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8625" y="1713612"/>
            <a:ext cx="3867150" cy="209550"/>
          </a:xfrm>
          <a:prstGeom prst="rect">
            <a:avLst/>
          </a:prstGeom>
          <a:noFill/>
        </p:spPr>
        <p:txBody>
          <a:bodyPr wrap="square" lIns="0" tIns="9525" rIns="19050"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8625" y="2037462"/>
            <a:ext cx="3867150" cy="1868952"/>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8625" y="4123100"/>
            <a:ext cx="3867150" cy="209550"/>
          </a:xfrm>
          <a:prstGeom prst="rect">
            <a:avLst/>
          </a:prstGeom>
          <a:noFill/>
        </p:spPr>
        <p:txBody>
          <a:bodyPr wrap="square" lIns="0" tIns="9525" rIns="19050"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8625" y="4446950"/>
            <a:ext cx="3867150" cy="203323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8" name="TextBox 2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658468" cy="186689"/>
          </a:xfrm>
          <a:prstGeom prst="rect">
            <a:avLst/>
          </a:prstGeom>
          <a:noFill/>
        </p:spPr>
        <p:txBody>
          <a:bodyPr wrap="none" lIns="0" tIns="0" rIns="0" bIns="0">
            <a:spAutoFit/>
          </a:bodyPr>
          <a:lstStyle/>
          <a:p>
            <a:r>
              <a:rPr sz="1100" b="0">
                <a:solidFill>
                  <a:srgbClr val="2E2E2E"/>
                </a:solidFill>
                <a:latin typeface="Calibri"/>
              </a:rPr>
              <a:t>Europe senior dog cognitive supplement market is projected to</a:t>
            </a:r>
          </a:p>
        </p:txBody>
      </p:sp>
      <p:sp>
        <p:nvSpPr>
          <p:cNvPr id="35" name="TextBox 34"/>
          <p:cNvSpPr txBox="1"/>
          <p:nvPr/>
        </p:nvSpPr>
        <p:spPr>
          <a:xfrm>
            <a:off x="8048625" y="2214627"/>
            <a:ext cx="512489" cy="186689"/>
          </a:xfrm>
          <a:prstGeom prst="rect">
            <a:avLst/>
          </a:prstGeom>
          <a:noFill/>
        </p:spPr>
        <p:txBody>
          <a:bodyPr wrap="none" lIns="0" tIns="0" rIns="0" bIns="0">
            <a:spAutoFit/>
          </a:bodyPr>
          <a:lstStyle/>
          <a:p>
            <a:r>
              <a:rPr sz="1100" b="0">
                <a:solidFill>
                  <a:srgbClr val="2E2E2E"/>
                </a:solidFill>
                <a:latin typeface="Calibri"/>
              </a:rPr>
              <a:t>register</a:t>
            </a:r>
          </a:p>
        </p:txBody>
      </p:sp>
      <p:pic>
        <p:nvPicPr>
          <p:cNvPr id="36" name="Picture 35" descr="lock.png"/>
          <p:cNvPicPr>
            <a:picLocks noChangeAspect="1"/>
          </p:cNvPicPr>
          <p:nvPr/>
        </p:nvPicPr>
        <p:blipFill>
          <a:blip r:embed="rId6"/>
          <a:stretch>
            <a:fillRect/>
          </a:stretch>
        </p:blipFill>
        <p:spPr>
          <a:xfrm>
            <a:off x="8509166" y="2204848"/>
            <a:ext cx="128699" cy="187198"/>
          </a:xfrm>
          <a:prstGeom prst="rect">
            <a:avLst/>
          </a:prstGeom>
        </p:spPr>
      </p:pic>
      <p:sp>
        <p:nvSpPr>
          <p:cNvPr id="37" name="TextBox 36"/>
          <p:cNvSpPr txBox="1"/>
          <p:nvPr/>
        </p:nvSpPr>
        <p:spPr>
          <a:xfrm>
            <a:off x="8676662" y="2214627"/>
            <a:ext cx="2964333" cy="186689"/>
          </a:xfrm>
          <a:prstGeom prst="rect">
            <a:avLst/>
          </a:prstGeom>
          <a:noFill/>
        </p:spPr>
        <p:txBody>
          <a:bodyPr wrap="none" lIns="0" tIns="0" rIns="0" bIns="0">
            <a:spAutoFit/>
          </a:bodyPr>
          <a:lstStyle/>
          <a:p>
            <a:r>
              <a:rPr sz="1100" b="0">
                <a:solidFill>
                  <a:srgbClr val="2E2E2E"/>
                </a:solidFill>
                <a:latin typeface="Calibri"/>
              </a:rPr>
              <a:t>X increase in volume by the end of forecast period,</a:t>
            </a:r>
          </a:p>
        </p:txBody>
      </p:sp>
      <p:sp>
        <p:nvSpPr>
          <p:cNvPr id="38" name="TextBox 37"/>
          <p:cNvSpPr txBox="1"/>
          <p:nvPr/>
        </p:nvSpPr>
        <p:spPr>
          <a:xfrm>
            <a:off x="8048625" y="2382267"/>
            <a:ext cx="3613720" cy="186689"/>
          </a:xfrm>
          <a:prstGeom prst="rect">
            <a:avLst/>
          </a:prstGeom>
          <a:noFill/>
        </p:spPr>
        <p:txBody>
          <a:bodyPr wrap="none" lIns="0" tIns="0" rIns="0" bIns="0">
            <a:spAutoFit/>
          </a:bodyPr>
          <a:lstStyle/>
          <a:p>
            <a:r>
              <a:rPr sz="1100" b="0">
                <a:solidFill>
                  <a:srgbClr val="2E2E2E"/>
                </a:solidFill>
                <a:latin typeface="Calibri"/>
              </a:rPr>
              <a:t>2036. Europe senior dog cognitive supplement market volume</a:t>
            </a:r>
          </a:p>
        </p:txBody>
      </p:sp>
      <p:sp>
        <p:nvSpPr>
          <p:cNvPr id="39" name="TextBox 38"/>
          <p:cNvSpPr txBox="1"/>
          <p:nvPr/>
        </p:nvSpPr>
        <p:spPr>
          <a:xfrm>
            <a:off x="8048625" y="2549907"/>
            <a:ext cx="543867" cy="186689"/>
          </a:xfrm>
          <a:prstGeom prst="rect">
            <a:avLst/>
          </a:prstGeom>
          <a:noFill/>
        </p:spPr>
        <p:txBody>
          <a:bodyPr wrap="none" lIns="0" tIns="0" rIns="0" bIns="0">
            <a:spAutoFit/>
          </a:bodyPr>
          <a:lstStyle/>
          <a:p>
            <a:r>
              <a:rPr sz="1100" b="0">
                <a:solidFill>
                  <a:srgbClr val="2E2E2E"/>
                </a:solidFill>
                <a:latin typeface="Calibri"/>
              </a:rPr>
              <a:t>stood at</a:t>
            </a:r>
          </a:p>
        </p:txBody>
      </p:sp>
      <p:pic>
        <p:nvPicPr>
          <p:cNvPr id="40" name="Picture 39" descr="lock.png"/>
          <p:cNvPicPr>
            <a:picLocks noChangeAspect="1"/>
          </p:cNvPicPr>
          <p:nvPr/>
        </p:nvPicPr>
        <p:blipFill>
          <a:blip r:embed="rId6"/>
          <a:stretch>
            <a:fillRect/>
          </a:stretch>
        </p:blipFill>
        <p:spPr>
          <a:xfrm>
            <a:off x="8540544" y="2540128"/>
            <a:ext cx="128699" cy="187198"/>
          </a:xfrm>
          <a:prstGeom prst="rect">
            <a:avLst/>
          </a:prstGeom>
        </p:spPr>
      </p:pic>
      <p:sp>
        <p:nvSpPr>
          <p:cNvPr id="41" name="TextBox 40"/>
          <p:cNvSpPr txBox="1"/>
          <p:nvPr/>
        </p:nvSpPr>
        <p:spPr>
          <a:xfrm>
            <a:off x="8708039" y="2549907"/>
            <a:ext cx="2135956" cy="186689"/>
          </a:xfrm>
          <a:prstGeom prst="rect">
            <a:avLst/>
          </a:prstGeom>
          <a:noFill/>
        </p:spPr>
        <p:txBody>
          <a:bodyPr wrap="none" lIns="0" tIns="0" rIns="0" bIns="0">
            <a:spAutoFit/>
          </a:bodyPr>
          <a:lstStyle/>
          <a:p>
            <a:r>
              <a:rPr sz="1100" b="0">
                <a:solidFill>
                  <a:srgbClr val="2E2E2E"/>
                </a:solidFill>
                <a:latin typeface="Calibri"/>
              </a:rPr>
              <a:t>MT in 2025 and is expected to reach</a:t>
            </a:r>
          </a:p>
        </p:txBody>
      </p:sp>
      <p:pic>
        <p:nvPicPr>
          <p:cNvPr id="42" name="Picture 41" descr="lock.png"/>
          <p:cNvPicPr>
            <a:picLocks noChangeAspect="1"/>
          </p:cNvPicPr>
          <p:nvPr/>
        </p:nvPicPr>
        <p:blipFill>
          <a:blip r:embed="rId6"/>
          <a:stretch>
            <a:fillRect/>
          </a:stretch>
        </p:blipFill>
        <p:spPr>
          <a:xfrm>
            <a:off x="10792048" y="2540128"/>
            <a:ext cx="128699" cy="187198"/>
          </a:xfrm>
          <a:prstGeom prst="rect">
            <a:avLst/>
          </a:prstGeom>
        </p:spPr>
      </p:pic>
      <p:sp>
        <p:nvSpPr>
          <p:cNvPr id="43" name="TextBox 42"/>
          <p:cNvSpPr txBox="1"/>
          <p:nvPr/>
        </p:nvSpPr>
        <p:spPr>
          <a:xfrm>
            <a:off x="10959543" y="2549907"/>
            <a:ext cx="747687" cy="186689"/>
          </a:xfrm>
          <a:prstGeom prst="rect">
            <a:avLst/>
          </a:prstGeom>
          <a:noFill/>
        </p:spPr>
        <p:txBody>
          <a:bodyPr wrap="none" lIns="0" tIns="0" rIns="0" bIns="0">
            <a:spAutoFit/>
          </a:bodyPr>
          <a:lstStyle/>
          <a:p>
            <a:r>
              <a:rPr sz="1100" b="0">
                <a:solidFill>
                  <a:srgbClr val="2E2E2E"/>
                </a:solidFill>
                <a:latin typeface="Calibri"/>
              </a:rPr>
              <a:t>MT by 2036</a:t>
            </a:r>
          </a:p>
        </p:txBody>
      </p:sp>
      <p:sp>
        <p:nvSpPr>
          <p:cNvPr id="44" name="TextBox 43"/>
          <p:cNvSpPr txBox="1"/>
          <p:nvPr/>
        </p:nvSpPr>
        <p:spPr>
          <a:xfrm>
            <a:off x="8048625" y="2717547"/>
            <a:ext cx="1070181" cy="186689"/>
          </a:xfrm>
          <a:prstGeom prst="rect">
            <a:avLst/>
          </a:prstGeom>
          <a:noFill/>
        </p:spPr>
        <p:txBody>
          <a:bodyPr wrap="none" lIns="0" tIns="0" rIns="0" bIns="0">
            <a:spAutoFit/>
          </a:bodyPr>
          <a:lstStyle/>
          <a:p>
            <a:r>
              <a:rPr sz="1100" b="0">
                <a:solidFill>
                  <a:srgbClr val="2E2E2E"/>
                </a:solidFill>
                <a:latin typeface="Calibri"/>
              </a:rPr>
              <a:t>end, at a CAGR of</a:t>
            </a:r>
          </a:p>
        </p:txBody>
      </p:sp>
      <p:pic>
        <p:nvPicPr>
          <p:cNvPr id="45" name="Picture 44" descr="lock.png"/>
          <p:cNvPicPr>
            <a:picLocks noChangeAspect="1"/>
          </p:cNvPicPr>
          <p:nvPr/>
        </p:nvPicPr>
        <p:blipFill>
          <a:blip r:embed="rId6"/>
          <a:stretch>
            <a:fillRect/>
          </a:stretch>
        </p:blipFill>
        <p:spPr>
          <a:xfrm>
            <a:off x="9066857" y="2707768"/>
            <a:ext cx="128699" cy="187198"/>
          </a:xfrm>
          <a:prstGeom prst="rect">
            <a:avLst/>
          </a:prstGeom>
        </p:spPr>
      </p:pic>
      <p:sp>
        <p:nvSpPr>
          <p:cNvPr id="46" name="TextBox 45"/>
          <p:cNvSpPr txBox="1"/>
          <p:nvPr/>
        </p:nvSpPr>
        <p:spPr>
          <a:xfrm>
            <a:off x="9234353" y="2717547"/>
            <a:ext cx="111397" cy="186689"/>
          </a:xfrm>
          <a:prstGeom prst="rect">
            <a:avLst/>
          </a:prstGeom>
          <a:noFill/>
        </p:spPr>
        <p:txBody>
          <a:bodyPr wrap="none" lIns="0" tIns="0" rIns="0" bIns="0">
            <a:spAutoFit/>
          </a:bodyPr>
          <a:lstStyle/>
          <a:p>
            <a:r>
              <a:rPr sz="1100" b="0">
                <a:solidFill>
                  <a:srgbClr val="2E2E2E"/>
                </a:solidFill>
                <a:latin typeface="Calibri"/>
              </a:rPr>
              <a:t>.</a:t>
            </a:r>
          </a:p>
        </p:txBody>
      </p:sp>
      <p:sp>
        <p:nvSpPr>
          <p:cNvPr id="47" name="TextBox 46"/>
          <p:cNvSpPr txBox="1"/>
          <p:nvPr/>
        </p:nvSpPr>
        <p:spPr>
          <a:xfrm>
            <a:off x="8048625" y="2935479"/>
            <a:ext cx="3678386" cy="186689"/>
          </a:xfrm>
          <a:prstGeom prst="rect">
            <a:avLst/>
          </a:prstGeom>
          <a:noFill/>
        </p:spPr>
        <p:txBody>
          <a:bodyPr wrap="none" lIns="0" tIns="0" rIns="0" bIns="0">
            <a:spAutoFit/>
          </a:bodyPr>
          <a:lstStyle/>
          <a:p>
            <a:r>
              <a:rPr sz="1100" b="0">
                <a:solidFill>
                  <a:srgbClr val="2E2E2E"/>
                </a:solidFill>
                <a:latin typeface="Calibri"/>
              </a:rPr>
              <a:t>Value is projected to grow faster than volume over the forecast</a:t>
            </a:r>
          </a:p>
        </p:txBody>
      </p:sp>
      <p:sp>
        <p:nvSpPr>
          <p:cNvPr id="48" name="TextBox 47"/>
          <p:cNvSpPr txBox="1"/>
          <p:nvPr/>
        </p:nvSpPr>
        <p:spPr>
          <a:xfrm>
            <a:off x="8048625" y="3103119"/>
            <a:ext cx="3049736" cy="186689"/>
          </a:xfrm>
          <a:prstGeom prst="rect">
            <a:avLst/>
          </a:prstGeom>
          <a:noFill/>
        </p:spPr>
        <p:txBody>
          <a:bodyPr wrap="none" lIns="0" tIns="0" rIns="0" bIns="0">
            <a:spAutoFit/>
          </a:bodyPr>
          <a:lstStyle/>
          <a:p>
            <a:r>
              <a:rPr sz="1100" b="0">
                <a:solidFill>
                  <a:srgbClr val="2E2E2E"/>
                </a:solidFill>
                <a:latin typeface="Calibri"/>
              </a:rPr>
              <a:t>period, owing to an increase in average selling price.</a:t>
            </a:r>
          </a:p>
        </p:txBody>
      </p:sp>
      <p:sp>
        <p:nvSpPr>
          <p:cNvPr id="49" name="TextBox 48"/>
          <p:cNvSpPr txBox="1"/>
          <p:nvPr/>
        </p:nvSpPr>
        <p:spPr>
          <a:xfrm>
            <a:off x="8048625" y="4456475"/>
            <a:ext cx="2242703" cy="194310"/>
          </a:xfrm>
          <a:prstGeom prst="rect">
            <a:avLst/>
          </a:prstGeom>
          <a:noFill/>
        </p:spPr>
        <p:txBody>
          <a:bodyPr wrap="none" lIns="0" tIns="0" rIns="0" bIns="0">
            <a:spAutoFit/>
          </a:bodyPr>
          <a:lstStyle/>
          <a:p>
            <a:r>
              <a:rPr sz="1150" b="0">
                <a:solidFill>
                  <a:srgbClr val="2E2E2E"/>
                </a:solidFill>
                <a:latin typeface="Calibri"/>
              </a:rPr>
              <a:t>▪ 'Germany' leads regional growth at</a:t>
            </a:r>
          </a:p>
        </p:txBody>
      </p:sp>
      <p:pic>
        <p:nvPicPr>
          <p:cNvPr id="50" name="Picture 49" descr="lock.png"/>
          <p:cNvPicPr>
            <a:picLocks noChangeAspect="1"/>
          </p:cNvPicPr>
          <p:nvPr/>
        </p:nvPicPr>
        <p:blipFill>
          <a:blip r:embed="rId6"/>
          <a:stretch>
            <a:fillRect/>
          </a:stretch>
        </p:blipFill>
        <p:spPr>
          <a:xfrm>
            <a:off x="10240482" y="4446251"/>
            <a:ext cx="134549" cy="195707"/>
          </a:xfrm>
          <a:prstGeom prst="rect">
            <a:avLst/>
          </a:prstGeom>
        </p:spPr>
      </p:pic>
      <p:sp>
        <p:nvSpPr>
          <p:cNvPr id="51" name="TextBox 50"/>
          <p:cNvSpPr txBox="1"/>
          <p:nvPr/>
        </p:nvSpPr>
        <p:spPr>
          <a:xfrm>
            <a:off x="10415591" y="4456475"/>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52" name="TextBox 51"/>
          <p:cNvSpPr txBox="1"/>
          <p:nvPr/>
        </p:nvSpPr>
        <p:spPr>
          <a:xfrm>
            <a:off x="8048625" y="4684312"/>
            <a:ext cx="3253041" cy="194310"/>
          </a:xfrm>
          <a:prstGeom prst="rect">
            <a:avLst/>
          </a:prstGeom>
          <a:noFill/>
        </p:spPr>
        <p:txBody>
          <a:bodyPr wrap="none" lIns="0" tIns="0" rIns="0" bIns="0">
            <a:spAutoFit/>
          </a:bodyPr>
          <a:lstStyle/>
          <a:p>
            <a:r>
              <a:rPr sz="1150" b="0">
                <a:solidFill>
                  <a:srgbClr val="2E2E2E"/>
                </a:solidFill>
                <a:latin typeface="Calibri"/>
              </a:rPr>
              <a:t>▪ Demand concentrates in 'Tablets' within Form Type.</a:t>
            </a:r>
          </a:p>
        </p:txBody>
      </p:sp>
      <p:sp>
        <p:nvSpPr>
          <p:cNvPr id="53" name="TextBox 52"/>
          <p:cNvSpPr txBox="1"/>
          <p:nvPr/>
        </p:nvSpPr>
        <p:spPr>
          <a:xfrm>
            <a:off x="8048625" y="4912150"/>
            <a:ext cx="3291296" cy="194310"/>
          </a:xfrm>
          <a:prstGeom prst="rect">
            <a:avLst/>
          </a:prstGeom>
          <a:noFill/>
        </p:spPr>
        <p:txBody>
          <a:bodyPr wrap="none" lIns="0" tIns="0" rIns="0" bIns="0">
            <a:spAutoFit/>
          </a:bodyPr>
          <a:lstStyle/>
          <a:p>
            <a:r>
              <a:rPr sz="1150" b="0">
                <a:solidFill>
                  <a:srgbClr val="2E2E2E"/>
                </a:solidFill>
                <a:latin typeface="Calibri"/>
              </a:rPr>
              <a:t>▪ Product innovation and premiumisation lifting value.</a:t>
            </a:r>
          </a:p>
        </p:txBody>
      </p:sp>
      <p:sp>
        <p:nvSpPr>
          <p:cNvPr id="54" name="TextBox 53"/>
          <p:cNvSpPr txBox="1"/>
          <p:nvPr/>
        </p:nvSpPr>
        <p:spPr>
          <a:xfrm>
            <a:off x="8048625" y="5139988"/>
            <a:ext cx="2741327" cy="194310"/>
          </a:xfrm>
          <a:prstGeom prst="rect">
            <a:avLst/>
          </a:prstGeom>
          <a:noFill/>
        </p:spPr>
        <p:txBody>
          <a:bodyPr wrap="none" lIns="0" tIns="0" rIns="0" bIns="0">
            <a:spAutoFit/>
          </a:bodyPr>
          <a:lstStyle/>
          <a:p>
            <a:r>
              <a:rPr sz="1150" b="0">
                <a:solidFill>
                  <a:srgbClr val="2E2E2E"/>
                </a:solidFill>
                <a:latin typeface="Calibri"/>
              </a:rPr>
              <a:t>▪ Expanding end-use applications and access.</a:t>
            </a:r>
          </a:p>
        </p:txBody>
      </p:sp>
      <p:sp>
        <p:nvSpPr>
          <p:cNvPr id="5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110045"/>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Average Price by Form Type  ·  range across 2021–2036 (US$/MT)</a:t>
            </a:r>
          </a:p>
        </p:txBody>
      </p:sp>
      <p:cxnSp>
        <p:nvCxnSpPr>
          <p:cNvPr id="12" name="Connector 11"/>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01680"/>
            <a:ext cx="381000" cy="133350"/>
          </a:xfrm>
          <a:prstGeom prst="rect">
            <a:avLst/>
          </a:prstGeom>
          <a:noFill/>
        </p:spPr>
        <p:txBody>
          <a:bodyPr wrap="square" lIns="28575" tIns="9525" rIns="28575" bIns="9525" anchor="ctr">
            <a:spAutoFit/>
          </a:bodyPr>
          <a:lstStyle/>
          <a:p>
            <a:pPr algn="r"/>
            <a:endParaRPr/>
          </a:p>
        </p:txBody>
      </p:sp>
      <p:sp>
        <p:nvSpPr>
          <p:cNvPr id="24" name="FMI Scale tick"/>
          <p:cNvSpPr txBox="1"/>
          <p:nvPr/>
        </p:nvSpPr>
        <p:spPr>
          <a:xfrm>
            <a:off x="219075" y="2293975"/>
            <a:ext cx="381000" cy="133350"/>
          </a:xfrm>
          <a:prstGeom prst="rect">
            <a:avLst/>
          </a:prstGeom>
          <a:noFill/>
        </p:spPr>
        <p:txBody>
          <a:bodyPr wrap="square" lIns="28575" tIns="9525" rIns="28575" bIns="9525" anchor="ctr">
            <a:spAutoFit/>
          </a:bodyPr>
          <a:lstStyle/>
          <a:p>
            <a:pPr algn="r"/>
            <a:endParaRPr/>
          </a:p>
        </p:txBody>
      </p:sp>
      <p:sp>
        <p:nvSpPr>
          <p:cNvPr id="25" name="FMI Scale tick"/>
          <p:cNvSpPr txBox="1"/>
          <p:nvPr/>
        </p:nvSpPr>
        <p:spPr>
          <a:xfrm>
            <a:off x="219075" y="1386270"/>
            <a:ext cx="381000" cy="133350"/>
          </a:xfrm>
          <a:prstGeom prst="rect">
            <a:avLst/>
          </a:prstGeom>
          <a:noFill/>
        </p:spPr>
        <p:txBody>
          <a:bodyPr wrap="square" lIns="28575" tIns="9525" rIns="28575" bIns="9525" anchor="ctr">
            <a:spAutoFit/>
          </a:bodyPr>
          <a:lstStyle/>
          <a:p>
            <a:pPr algn="r"/>
            <a:endParaRPr/>
          </a:p>
        </p:txBody>
      </p:sp>
      <p:cxnSp>
        <p:nvCxnSpPr>
          <p:cNvPr id="26" name="Connector 25"/>
          <p:cNvCxnSpPr/>
          <p:nvPr/>
        </p:nvCxnSpPr>
        <p:spPr>
          <a:xfrm flipV="1">
            <a:off x="1241425" y="2731031"/>
            <a:ext cx="0" cy="23806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09980" y="296909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9980" y="273103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022350" y="2795033"/>
            <a:ext cx="438150" cy="11888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a:off x="1022350" y="285594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578631"/>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32" name="Connector 31"/>
          <p:cNvCxnSpPr/>
          <p:nvPr/>
        </p:nvCxnSpPr>
        <p:spPr>
          <a:xfrm flipV="1">
            <a:off x="2409825" y="2842399"/>
            <a:ext cx="0" cy="21648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27838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278380" y="284239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190750" y="2900589"/>
            <a:ext cx="438150" cy="10810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a:off x="2190750" y="295597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825625" y="2689999"/>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38" name="Connector 37"/>
          <p:cNvCxnSpPr/>
          <p:nvPr/>
        </p:nvCxnSpPr>
        <p:spPr>
          <a:xfrm flipV="1">
            <a:off x="3578225" y="1747430"/>
            <a:ext cx="0" cy="39505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446780" y="21424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446780" y="174743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3359150" y="1853536"/>
            <a:ext cx="438150" cy="19729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a:off x="3359150" y="195458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994025" y="1595030"/>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44" name="Connector 43"/>
          <p:cNvCxnSpPr/>
          <p:nvPr/>
        </p:nvCxnSpPr>
        <p:spPr>
          <a:xfrm flipV="1">
            <a:off x="4746625" y="1662416"/>
            <a:ext cx="0" cy="40965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615180" y="207207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6151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527550" y="1772461"/>
            <a:ext cx="438150" cy="20462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a:off x="4527550" y="187727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162425" y="1510016"/>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50" name="Connector 49"/>
          <p:cNvCxnSpPr/>
          <p:nvPr/>
        </p:nvCxnSpPr>
        <p:spPr>
          <a:xfrm flipV="1">
            <a:off x="5915025" y="1746478"/>
            <a:ext cx="0" cy="39569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783580" y="214217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783580" y="174647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695950" y="1852740"/>
            <a:ext cx="438150" cy="19761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a:off x="5695950" y="195396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330825" y="1594078"/>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cxnSp>
        <p:nvCxnSpPr>
          <p:cNvPr id="56" name="Connector 55"/>
          <p:cNvCxnSpPr/>
          <p:nvPr/>
        </p:nvCxnSpPr>
        <p:spPr>
          <a:xfrm flipV="1">
            <a:off x="7083425" y="2516843"/>
            <a:ext cx="0" cy="27152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951980" y="278836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51980" y="251684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6864350" y="2589841"/>
            <a:ext cx="438150" cy="13560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6864350" y="265931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99225" y="2364443"/>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sp>
        <p:nvSpPr>
          <p:cNvPr id="62" name="TextBox 61"/>
          <p:cNvSpPr txBox="1"/>
          <p:nvPr/>
        </p:nvSpPr>
        <p:spPr>
          <a:xfrm>
            <a:off x="6572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Chewables</a:t>
            </a:r>
          </a:p>
        </p:txBody>
      </p:sp>
      <p:sp>
        <p:nvSpPr>
          <p:cNvPr id="63" name="TextBox 62"/>
          <p:cNvSpPr txBox="1"/>
          <p:nvPr/>
        </p:nvSpPr>
        <p:spPr>
          <a:xfrm>
            <a:off x="18256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Tablets</a:t>
            </a:r>
          </a:p>
        </p:txBody>
      </p:sp>
      <p:sp>
        <p:nvSpPr>
          <p:cNvPr id="64" name="TextBox 63"/>
          <p:cNvSpPr txBox="1"/>
          <p:nvPr/>
        </p:nvSpPr>
        <p:spPr>
          <a:xfrm>
            <a:off x="29940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Capsules and Softgels</a:t>
            </a:r>
          </a:p>
        </p:txBody>
      </p:sp>
      <p:sp>
        <p:nvSpPr>
          <p:cNvPr id="65" name="TextBox 64"/>
          <p:cNvSpPr txBox="1"/>
          <p:nvPr/>
        </p:nvSpPr>
        <p:spPr>
          <a:xfrm>
            <a:off x="41624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Powders and Granules</a:t>
            </a:r>
          </a:p>
        </p:txBody>
      </p:sp>
      <p:sp>
        <p:nvSpPr>
          <p:cNvPr id="66" name="TextBox 65"/>
          <p:cNvSpPr txBox="1"/>
          <p:nvPr/>
        </p:nvSpPr>
        <p:spPr>
          <a:xfrm>
            <a:off x="53308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Liquids</a:t>
            </a:r>
          </a:p>
        </p:txBody>
      </p:sp>
      <p:sp>
        <p:nvSpPr>
          <p:cNvPr id="67" name="TextBox 66"/>
          <p:cNvSpPr txBox="1"/>
          <p:nvPr/>
        </p:nvSpPr>
        <p:spPr>
          <a:xfrm>
            <a:off x="6499225" y="3296930"/>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Gels and Pastes</a:t>
            </a:r>
          </a:p>
        </p:txBody>
      </p:sp>
      <p:sp>
        <p:nvSpPr>
          <p:cNvPr id="68" name="Rounded Rectangle 67"/>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38125" y="3829846"/>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Variation by Country vs Europe  ·  2026–2036</a:t>
            </a:r>
          </a:p>
        </p:txBody>
      </p:sp>
      <p:cxnSp>
        <p:nvCxnSpPr>
          <p:cNvPr id="70" name="Connector 69"/>
          <p:cNvCxnSpPr/>
          <p:nvPr/>
        </p:nvCxnSpPr>
        <p:spPr>
          <a:xfrm>
            <a:off x="619125" y="432470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19125" y="473224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19125" y="554731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19125" y="595484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19125" y="4324705"/>
            <a:ext cx="0" cy="1630142"/>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90550" y="432470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90550" y="47322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90550" y="554731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90550" y="595484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1" name="FMI Scale tick"/>
          <p:cNvSpPr txBox="1"/>
          <p:nvPr/>
        </p:nvSpPr>
        <p:spPr>
          <a:xfrm>
            <a:off x="138112" y="4258030"/>
            <a:ext cx="442912" cy="133350"/>
          </a:xfrm>
          <a:prstGeom prst="rect">
            <a:avLst/>
          </a:prstGeom>
          <a:noFill/>
        </p:spPr>
        <p:txBody>
          <a:bodyPr wrap="square" lIns="28575" tIns="9525" rIns="28575" bIns="9525" anchor="ctr">
            <a:spAutoFit/>
          </a:bodyPr>
          <a:lstStyle/>
          <a:p>
            <a:pPr algn="r"/>
            <a:r>
              <a:rPr sz="1100" b="0">
                <a:solidFill>
                  <a:srgbClr val="6C7A89"/>
                </a:solidFill>
                <a:latin typeface="Calibri"/>
              </a:rPr>
              <a:t>+5.6%</a:t>
            </a:r>
          </a:p>
        </p:txBody>
      </p:sp>
      <p:sp>
        <p:nvSpPr>
          <p:cNvPr id="82" name="FMI Scale tick"/>
          <p:cNvSpPr txBox="1"/>
          <p:nvPr/>
        </p:nvSpPr>
        <p:spPr>
          <a:xfrm>
            <a:off x="138112" y="4665565"/>
            <a:ext cx="442912" cy="133350"/>
          </a:xfrm>
          <a:prstGeom prst="rect">
            <a:avLst/>
          </a:prstGeom>
          <a:noFill/>
        </p:spPr>
        <p:txBody>
          <a:bodyPr wrap="square" lIns="28575" tIns="9525" rIns="28575" bIns="9525" anchor="ctr">
            <a:spAutoFit/>
          </a:bodyPr>
          <a:lstStyle/>
          <a:p>
            <a:pPr algn="r"/>
            <a:r>
              <a:rPr sz="1100" b="0">
                <a:solidFill>
                  <a:srgbClr val="6C7A89"/>
                </a:solidFill>
                <a:latin typeface="Calibri"/>
              </a:rPr>
              <a:t>+2.8%</a:t>
            </a:r>
          </a:p>
        </p:txBody>
      </p:sp>
      <p:sp>
        <p:nvSpPr>
          <p:cNvPr id="83" name="FMI Scale tick"/>
          <p:cNvSpPr txBox="1"/>
          <p:nvPr/>
        </p:nvSpPr>
        <p:spPr>
          <a:xfrm>
            <a:off x="66675" y="5073101"/>
            <a:ext cx="514350" cy="133350"/>
          </a:xfrm>
          <a:prstGeom prst="rect">
            <a:avLst/>
          </a:prstGeom>
          <a:noFill/>
        </p:spPr>
        <p:txBody>
          <a:bodyPr wrap="square" lIns="28575" tIns="9525" rIns="28575" bIns="9525" anchor="ctr">
            <a:spAutoFit/>
          </a:bodyPr>
          <a:lstStyle/>
          <a:p>
            <a:pPr algn="r"/>
            <a:r>
              <a:rPr sz="1100" b="1">
                <a:solidFill>
                  <a:srgbClr val="6C7A89"/>
                </a:solidFill>
                <a:latin typeface="Calibri"/>
              </a:rPr>
              <a:t>Europe</a:t>
            </a:r>
          </a:p>
        </p:txBody>
      </p:sp>
      <p:sp>
        <p:nvSpPr>
          <p:cNvPr id="84" name="FMI Scale tick"/>
          <p:cNvSpPr txBox="1"/>
          <p:nvPr/>
        </p:nvSpPr>
        <p:spPr>
          <a:xfrm>
            <a:off x="164306" y="5480636"/>
            <a:ext cx="416719" cy="133350"/>
          </a:xfrm>
          <a:prstGeom prst="rect">
            <a:avLst/>
          </a:prstGeom>
          <a:noFill/>
        </p:spPr>
        <p:txBody>
          <a:bodyPr wrap="square" lIns="28575" tIns="9525" rIns="28575" bIns="9525" anchor="ctr">
            <a:spAutoFit/>
          </a:bodyPr>
          <a:lstStyle/>
          <a:p>
            <a:pPr algn="r"/>
            <a:r>
              <a:rPr sz="1100" b="0">
                <a:solidFill>
                  <a:srgbClr val="6C7A89"/>
                </a:solidFill>
                <a:latin typeface="Calibri"/>
              </a:rPr>
              <a:t>-2.8%</a:t>
            </a:r>
          </a:p>
        </p:txBody>
      </p:sp>
      <p:sp>
        <p:nvSpPr>
          <p:cNvPr id="85" name="FMI Scale tick"/>
          <p:cNvSpPr txBox="1"/>
          <p:nvPr/>
        </p:nvSpPr>
        <p:spPr>
          <a:xfrm>
            <a:off x="164306" y="5888172"/>
            <a:ext cx="416719" cy="133350"/>
          </a:xfrm>
          <a:prstGeom prst="rect">
            <a:avLst/>
          </a:prstGeom>
          <a:noFill/>
        </p:spPr>
        <p:txBody>
          <a:bodyPr wrap="square" lIns="28575" tIns="9525" rIns="28575" bIns="9525" anchor="ctr">
            <a:spAutoFit/>
          </a:bodyPr>
          <a:lstStyle/>
          <a:p>
            <a:pPr algn="r"/>
            <a:r>
              <a:rPr sz="1100" b="0">
                <a:solidFill>
                  <a:srgbClr val="6C7A89"/>
                </a:solidFill>
                <a:latin typeface="Calibri"/>
              </a:rPr>
              <a:t>-5.6%</a:t>
            </a:r>
          </a:p>
        </p:txBody>
      </p:sp>
      <p:cxnSp>
        <p:nvCxnSpPr>
          <p:cNvPr id="86" name="Connector 85"/>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718979" y="4856743"/>
            <a:ext cx="387668" cy="28303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FMI Data Label"/>
          <p:cNvSpPr txBox="1"/>
          <p:nvPr/>
        </p:nvSpPr>
        <p:spPr>
          <a:xfrm>
            <a:off x="619125" y="4713868"/>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89" name="Rectangle 88"/>
          <p:cNvSpPr/>
          <p:nvPr/>
        </p:nvSpPr>
        <p:spPr>
          <a:xfrm>
            <a:off x="1306354" y="5139776"/>
            <a:ext cx="387668" cy="40611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FMI Data Label"/>
          <p:cNvSpPr txBox="1"/>
          <p:nvPr/>
        </p:nvSpPr>
        <p:spPr>
          <a:xfrm>
            <a:off x="1206500" y="5555417"/>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1" name="Rectangle 90"/>
          <p:cNvSpPr/>
          <p:nvPr/>
        </p:nvSpPr>
        <p:spPr>
          <a:xfrm>
            <a:off x="1893729" y="5139776"/>
            <a:ext cx="387668" cy="18671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FMI Data Label"/>
          <p:cNvSpPr txBox="1"/>
          <p:nvPr/>
        </p:nvSpPr>
        <p:spPr>
          <a:xfrm>
            <a:off x="1793875" y="5336017"/>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3" name="Rectangle 92"/>
          <p:cNvSpPr/>
          <p:nvPr/>
        </p:nvSpPr>
        <p:spPr>
          <a:xfrm>
            <a:off x="2481104" y="5054916"/>
            <a:ext cx="387668" cy="8486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FMI Data Label"/>
          <p:cNvSpPr txBox="1"/>
          <p:nvPr/>
        </p:nvSpPr>
        <p:spPr>
          <a:xfrm>
            <a:off x="2381250" y="4912041"/>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5" name="Rectangle 94"/>
          <p:cNvSpPr/>
          <p:nvPr/>
        </p:nvSpPr>
        <p:spPr>
          <a:xfrm>
            <a:off x="3068479" y="5139776"/>
            <a:ext cx="387668" cy="14016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FMI Data Label"/>
          <p:cNvSpPr txBox="1"/>
          <p:nvPr/>
        </p:nvSpPr>
        <p:spPr>
          <a:xfrm>
            <a:off x="2968625" y="5289467"/>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7" name="Rectangle 96"/>
          <p:cNvSpPr/>
          <p:nvPr/>
        </p:nvSpPr>
        <p:spPr>
          <a:xfrm>
            <a:off x="3655854" y="5139776"/>
            <a:ext cx="387668" cy="3329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FMI Data Label"/>
          <p:cNvSpPr txBox="1"/>
          <p:nvPr/>
        </p:nvSpPr>
        <p:spPr>
          <a:xfrm>
            <a:off x="3556000" y="5182591"/>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99" name="Rectangle 98"/>
          <p:cNvSpPr/>
          <p:nvPr/>
        </p:nvSpPr>
        <p:spPr>
          <a:xfrm>
            <a:off x="4243229" y="5139776"/>
            <a:ext cx="387668" cy="71631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FMI Data Label"/>
          <p:cNvSpPr txBox="1"/>
          <p:nvPr/>
        </p:nvSpPr>
        <p:spPr>
          <a:xfrm>
            <a:off x="4143375" y="5865619"/>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101" name="Rectangle 100"/>
          <p:cNvSpPr/>
          <p:nvPr/>
        </p:nvSpPr>
        <p:spPr>
          <a:xfrm>
            <a:off x="4830604" y="5139776"/>
            <a:ext cx="387668" cy="45670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FMI Data Label"/>
          <p:cNvSpPr txBox="1"/>
          <p:nvPr/>
        </p:nvSpPr>
        <p:spPr>
          <a:xfrm>
            <a:off x="4730750" y="5606004"/>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103" name="Rectangle 102"/>
          <p:cNvSpPr/>
          <p:nvPr/>
        </p:nvSpPr>
        <p:spPr>
          <a:xfrm>
            <a:off x="5417979" y="4629130"/>
            <a:ext cx="387668" cy="51064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FMI Data Label"/>
          <p:cNvSpPr txBox="1"/>
          <p:nvPr/>
        </p:nvSpPr>
        <p:spPr>
          <a:xfrm>
            <a:off x="5318125" y="4486255"/>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105" name="Rectangle 104"/>
          <p:cNvSpPr/>
          <p:nvPr/>
        </p:nvSpPr>
        <p:spPr>
          <a:xfrm>
            <a:off x="6005354" y="5139776"/>
            <a:ext cx="387668" cy="2613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FMI Data Label"/>
          <p:cNvSpPr txBox="1"/>
          <p:nvPr/>
        </p:nvSpPr>
        <p:spPr>
          <a:xfrm>
            <a:off x="5905500" y="5175432"/>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107" name="Rectangle 106"/>
          <p:cNvSpPr/>
          <p:nvPr/>
        </p:nvSpPr>
        <p:spPr>
          <a:xfrm>
            <a:off x="6592729" y="4757737"/>
            <a:ext cx="387668" cy="38203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FMI Data Label"/>
          <p:cNvSpPr txBox="1"/>
          <p:nvPr/>
        </p:nvSpPr>
        <p:spPr>
          <a:xfrm>
            <a:off x="6492875" y="4614862"/>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109" name="Rectangle 108"/>
          <p:cNvSpPr/>
          <p:nvPr/>
        </p:nvSpPr>
        <p:spPr>
          <a:xfrm>
            <a:off x="7180104" y="4773061"/>
            <a:ext cx="387668" cy="36671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FMI Data Label"/>
          <p:cNvSpPr txBox="1"/>
          <p:nvPr/>
        </p:nvSpPr>
        <p:spPr>
          <a:xfrm>
            <a:off x="7080250" y="4630186"/>
            <a:ext cx="587375"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111" name="TextBox 110"/>
          <p:cNvSpPr txBox="1"/>
          <p:nvPr/>
        </p:nvSpPr>
        <p:spPr>
          <a:xfrm>
            <a:off x="603250" y="6135380"/>
            <a:ext cx="619125" cy="247650"/>
          </a:xfrm>
          <a:prstGeom prst="rect">
            <a:avLst/>
          </a:prstGeom>
          <a:noFill/>
        </p:spPr>
        <p:txBody>
          <a:bodyPr wrap="square" lIns="28575" tIns="9525" rIns="28575" bIns="9525">
            <a:spAutoFit/>
          </a:bodyPr>
          <a:lstStyle/>
          <a:p>
            <a:pPr algn="ctr"/>
            <a:r>
              <a:rPr sz="1100" b="0">
                <a:solidFill>
                  <a:srgbClr val="2E2E2E"/>
                </a:solidFill>
                <a:latin typeface="Calibri"/>
              </a:rPr>
              <a:t>Germany</a:t>
            </a:r>
          </a:p>
        </p:txBody>
      </p:sp>
      <p:sp>
        <p:nvSpPr>
          <p:cNvPr id="112" name="TextBox 111"/>
          <p:cNvSpPr txBox="1"/>
          <p:nvPr/>
        </p:nvSpPr>
        <p:spPr>
          <a:xfrm>
            <a:off x="1206500" y="6135380"/>
            <a:ext cx="587375" cy="247650"/>
          </a:xfrm>
          <a:prstGeom prst="rect">
            <a:avLst/>
          </a:prstGeom>
          <a:noFill/>
        </p:spPr>
        <p:txBody>
          <a:bodyPr wrap="none" lIns="0" tIns="0" rIns="0" bIns="0">
            <a:spAutoFit/>
          </a:bodyPr>
          <a:lstStyle/>
          <a:p>
            <a:pPr algn="ctr"/>
            <a:r>
              <a:rPr sz="1100" b="0">
                <a:solidFill>
                  <a:srgbClr val="2E2E2E"/>
                </a:solidFill>
                <a:latin typeface="Calibri"/>
              </a:rPr>
              <a:t>U.K.</a:t>
            </a:r>
          </a:p>
        </p:txBody>
      </p:sp>
      <p:sp>
        <p:nvSpPr>
          <p:cNvPr id="113" name="TextBox 112"/>
          <p:cNvSpPr txBox="1"/>
          <p:nvPr/>
        </p:nvSpPr>
        <p:spPr>
          <a:xfrm>
            <a:off x="1793875" y="6135380"/>
            <a:ext cx="587375" cy="247650"/>
          </a:xfrm>
          <a:prstGeom prst="rect">
            <a:avLst/>
          </a:prstGeom>
          <a:noFill/>
        </p:spPr>
        <p:txBody>
          <a:bodyPr wrap="square" lIns="28575" tIns="9525" rIns="28575" bIns="9525">
            <a:spAutoFit/>
          </a:bodyPr>
          <a:lstStyle/>
          <a:p>
            <a:pPr algn="ctr"/>
            <a:r>
              <a:rPr sz="1100" b="0">
                <a:solidFill>
                  <a:srgbClr val="2E2E2E"/>
                </a:solidFill>
                <a:latin typeface="Calibri"/>
              </a:rPr>
              <a:t>France</a:t>
            </a:r>
          </a:p>
        </p:txBody>
      </p:sp>
      <p:sp>
        <p:nvSpPr>
          <p:cNvPr id="114" name="TextBox 113"/>
          <p:cNvSpPr txBox="1"/>
          <p:nvPr/>
        </p:nvSpPr>
        <p:spPr>
          <a:xfrm>
            <a:off x="2381250" y="6135380"/>
            <a:ext cx="587375" cy="247650"/>
          </a:xfrm>
          <a:prstGeom prst="rect">
            <a:avLst/>
          </a:prstGeom>
          <a:noFill/>
        </p:spPr>
        <p:txBody>
          <a:bodyPr wrap="square" lIns="28575" tIns="9525" rIns="28575" bIns="9525">
            <a:spAutoFit/>
          </a:bodyPr>
          <a:lstStyle/>
          <a:p>
            <a:pPr algn="ctr"/>
            <a:r>
              <a:rPr sz="1100" b="0">
                <a:solidFill>
                  <a:srgbClr val="2E2E2E"/>
                </a:solidFill>
                <a:latin typeface="Calibri"/>
              </a:rPr>
              <a:t>Italy</a:t>
            </a:r>
          </a:p>
        </p:txBody>
      </p:sp>
      <p:sp>
        <p:nvSpPr>
          <p:cNvPr id="115" name="TextBox 114"/>
          <p:cNvSpPr txBox="1"/>
          <p:nvPr/>
        </p:nvSpPr>
        <p:spPr>
          <a:xfrm>
            <a:off x="2968625" y="6135380"/>
            <a:ext cx="587375" cy="247650"/>
          </a:xfrm>
          <a:prstGeom prst="rect">
            <a:avLst/>
          </a:prstGeom>
          <a:noFill/>
        </p:spPr>
        <p:txBody>
          <a:bodyPr wrap="square" lIns="28575" tIns="9525" rIns="28575" bIns="9525">
            <a:spAutoFit/>
          </a:bodyPr>
          <a:lstStyle/>
          <a:p>
            <a:pPr algn="ctr"/>
            <a:r>
              <a:rPr sz="1100" b="0">
                <a:solidFill>
                  <a:srgbClr val="2E2E2E"/>
                </a:solidFill>
                <a:latin typeface="Calibri"/>
              </a:rPr>
              <a:t>Spain</a:t>
            </a:r>
          </a:p>
        </p:txBody>
      </p:sp>
      <p:sp>
        <p:nvSpPr>
          <p:cNvPr id="116" name="TextBox 115"/>
          <p:cNvSpPr txBox="1"/>
          <p:nvPr/>
        </p:nvSpPr>
        <p:spPr>
          <a:xfrm>
            <a:off x="3556000" y="6135380"/>
            <a:ext cx="587375" cy="247650"/>
          </a:xfrm>
          <a:prstGeom prst="rect">
            <a:avLst/>
          </a:prstGeom>
          <a:noFill/>
        </p:spPr>
        <p:txBody>
          <a:bodyPr wrap="square" lIns="28575" tIns="9525" rIns="28575" bIns="9525">
            <a:spAutoFit/>
          </a:bodyPr>
          <a:lstStyle/>
          <a:p>
            <a:pPr algn="ctr"/>
            <a:r>
              <a:rPr sz="1100" b="0">
                <a:solidFill>
                  <a:srgbClr val="2E2E2E"/>
                </a:solidFill>
                <a:latin typeface="Calibri"/>
              </a:rPr>
              <a:t>Belgium</a:t>
            </a:r>
          </a:p>
        </p:txBody>
      </p:sp>
      <p:sp>
        <p:nvSpPr>
          <p:cNvPr id="117" name="TextBox 116"/>
          <p:cNvSpPr txBox="1"/>
          <p:nvPr/>
        </p:nvSpPr>
        <p:spPr>
          <a:xfrm>
            <a:off x="4038203" y="6135380"/>
            <a:ext cx="797719" cy="247650"/>
          </a:xfrm>
          <a:prstGeom prst="rect">
            <a:avLst/>
          </a:prstGeom>
          <a:noFill/>
        </p:spPr>
        <p:txBody>
          <a:bodyPr wrap="square" lIns="28575" tIns="9525" rIns="28575" bIns="9525">
            <a:spAutoFit/>
          </a:bodyPr>
          <a:lstStyle/>
          <a:p>
            <a:pPr algn="ctr"/>
            <a:r>
              <a:rPr sz="1100" b="0">
                <a:solidFill>
                  <a:srgbClr val="2E2E2E"/>
                </a:solidFill>
                <a:latin typeface="Calibri"/>
              </a:rPr>
              <a:t>Netherlands</a:t>
            </a:r>
          </a:p>
        </p:txBody>
      </p:sp>
      <p:sp>
        <p:nvSpPr>
          <p:cNvPr id="118" name="TextBox 117"/>
          <p:cNvSpPr txBox="1"/>
          <p:nvPr/>
        </p:nvSpPr>
        <p:spPr>
          <a:xfrm>
            <a:off x="4730750" y="6135380"/>
            <a:ext cx="587375" cy="247650"/>
          </a:xfrm>
          <a:prstGeom prst="rect">
            <a:avLst/>
          </a:prstGeom>
          <a:noFill/>
        </p:spPr>
        <p:txBody>
          <a:bodyPr wrap="square" lIns="28575" tIns="9525" rIns="28575" bIns="9525">
            <a:spAutoFit/>
          </a:bodyPr>
          <a:lstStyle/>
          <a:p>
            <a:pPr algn="ctr"/>
            <a:r>
              <a:rPr sz="1100" b="0">
                <a:solidFill>
                  <a:srgbClr val="2E2E2E"/>
                </a:solidFill>
                <a:latin typeface="Calibri"/>
              </a:rPr>
              <a:t>Nordic</a:t>
            </a:r>
          </a:p>
        </p:txBody>
      </p:sp>
      <p:sp>
        <p:nvSpPr>
          <p:cNvPr id="119" name="TextBox 118"/>
          <p:cNvSpPr txBox="1"/>
          <p:nvPr/>
        </p:nvSpPr>
        <p:spPr>
          <a:xfrm>
            <a:off x="5318125" y="6135380"/>
            <a:ext cx="587375" cy="247650"/>
          </a:xfrm>
          <a:prstGeom prst="rect">
            <a:avLst/>
          </a:prstGeom>
          <a:noFill/>
        </p:spPr>
        <p:txBody>
          <a:bodyPr wrap="square" lIns="28575" tIns="9525" rIns="28575" bIns="9525">
            <a:spAutoFit/>
          </a:bodyPr>
          <a:lstStyle/>
          <a:p>
            <a:pPr algn="ctr"/>
            <a:r>
              <a:rPr sz="1100" b="0">
                <a:solidFill>
                  <a:srgbClr val="2E2E2E"/>
                </a:solidFill>
                <a:latin typeface="Calibri"/>
              </a:rPr>
              <a:t>Russia</a:t>
            </a:r>
          </a:p>
        </p:txBody>
      </p:sp>
      <p:sp>
        <p:nvSpPr>
          <p:cNvPr id="120" name="TextBox 119"/>
          <p:cNvSpPr txBox="1"/>
          <p:nvPr/>
        </p:nvSpPr>
        <p:spPr>
          <a:xfrm>
            <a:off x="5905500" y="6135380"/>
            <a:ext cx="587375" cy="247650"/>
          </a:xfrm>
          <a:prstGeom prst="rect">
            <a:avLst/>
          </a:prstGeom>
          <a:noFill/>
        </p:spPr>
        <p:txBody>
          <a:bodyPr wrap="square" lIns="28575" tIns="9525" rIns="28575" bIns="9525">
            <a:spAutoFit/>
          </a:bodyPr>
          <a:lstStyle/>
          <a:p>
            <a:pPr algn="ctr"/>
            <a:r>
              <a:rPr sz="1100" b="0">
                <a:solidFill>
                  <a:srgbClr val="2E2E2E"/>
                </a:solidFill>
                <a:latin typeface="Calibri"/>
              </a:rPr>
              <a:t>Poland</a:t>
            </a:r>
          </a:p>
        </p:txBody>
      </p:sp>
      <p:sp>
        <p:nvSpPr>
          <p:cNvPr id="121" name="TextBox 120"/>
          <p:cNvSpPr txBox="1"/>
          <p:nvPr/>
        </p:nvSpPr>
        <p:spPr>
          <a:xfrm>
            <a:off x="6405562" y="6135380"/>
            <a:ext cx="762000" cy="247650"/>
          </a:xfrm>
          <a:prstGeom prst="rect">
            <a:avLst/>
          </a:prstGeom>
          <a:noFill/>
        </p:spPr>
        <p:txBody>
          <a:bodyPr wrap="square" lIns="28575" tIns="9525" rIns="28575" bIns="9525">
            <a:spAutoFit/>
          </a:bodyPr>
          <a:lstStyle/>
          <a:p>
            <a:pPr algn="ctr"/>
            <a:r>
              <a:rPr sz="1100" b="0">
                <a:solidFill>
                  <a:srgbClr val="2E2E2E"/>
                </a:solidFill>
                <a:latin typeface="Calibri"/>
              </a:rPr>
              <a:t>Switzerland</a:t>
            </a:r>
          </a:p>
        </p:txBody>
      </p:sp>
      <p:sp>
        <p:nvSpPr>
          <p:cNvPr id="122" name="TextBox 121"/>
          <p:cNvSpPr txBox="1"/>
          <p:nvPr/>
        </p:nvSpPr>
        <p:spPr>
          <a:xfrm>
            <a:off x="7080250" y="6135380"/>
            <a:ext cx="587375" cy="247650"/>
          </a:xfrm>
          <a:prstGeom prst="rect">
            <a:avLst/>
          </a:prstGeom>
          <a:noFill/>
        </p:spPr>
        <p:txBody>
          <a:bodyPr wrap="square" lIns="28575" tIns="9525" rIns="28575" bIns="9525">
            <a:spAutoFit/>
          </a:bodyPr>
          <a:lstStyle/>
          <a:p>
            <a:pPr algn="ctr"/>
            <a:r>
              <a:rPr sz="1100" b="0">
                <a:solidFill>
                  <a:srgbClr val="2E2E2E"/>
                </a:solidFill>
                <a:latin typeface="Calibri"/>
              </a:rPr>
              <a:t>Rest of Europe</a:t>
            </a:r>
          </a:p>
        </p:txBody>
      </p:sp>
      <p:sp>
        <p:nvSpPr>
          <p:cNvPr id="123" name="Rounded Rectangle 122"/>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8048625" y="1138620"/>
            <a:ext cx="38671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125" name="Rectangle 124"/>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8048625" y="1462470"/>
            <a:ext cx="3867150" cy="501771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27" name="TextBox 12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28" name="Picture 127" descr="lock.png"/>
          <p:cNvPicPr>
            <a:picLocks noChangeAspect="1"/>
          </p:cNvPicPr>
          <p:nvPr/>
        </p:nvPicPr>
        <p:blipFill>
          <a:blip r:embed="rId4"/>
          <a:stretch>
            <a:fillRect/>
          </a:stretch>
        </p:blipFill>
        <p:spPr>
          <a:xfrm>
            <a:off x="1177075" y="2551707"/>
            <a:ext cx="128699" cy="187198"/>
          </a:xfrm>
          <a:prstGeom prst="rect">
            <a:avLst/>
          </a:prstGeom>
        </p:spPr>
      </p:pic>
      <p:pic>
        <p:nvPicPr>
          <p:cNvPr id="129" name="Picture 128" descr="lock.png"/>
          <p:cNvPicPr>
            <a:picLocks noChangeAspect="1"/>
          </p:cNvPicPr>
          <p:nvPr/>
        </p:nvPicPr>
        <p:blipFill>
          <a:blip r:embed="rId4"/>
          <a:stretch>
            <a:fillRect/>
          </a:stretch>
        </p:blipFill>
        <p:spPr>
          <a:xfrm>
            <a:off x="2345475" y="2663075"/>
            <a:ext cx="128699" cy="187198"/>
          </a:xfrm>
          <a:prstGeom prst="rect">
            <a:avLst/>
          </a:prstGeom>
        </p:spPr>
      </p:pic>
      <p:pic>
        <p:nvPicPr>
          <p:cNvPr id="130" name="Picture 129" descr="lock.png"/>
          <p:cNvPicPr>
            <a:picLocks noChangeAspect="1"/>
          </p:cNvPicPr>
          <p:nvPr/>
        </p:nvPicPr>
        <p:blipFill>
          <a:blip r:embed="rId4"/>
          <a:stretch>
            <a:fillRect/>
          </a:stretch>
        </p:blipFill>
        <p:spPr>
          <a:xfrm>
            <a:off x="3513875" y="1568106"/>
            <a:ext cx="128699" cy="187198"/>
          </a:xfrm>
          <a:prstGeom prst="rect">
            <a:avLst/>
          </a:prstGeom>
        </p:spPr>
      </p:pic>
      <p:pic>
        <p:nvPicPr>
          <p:cNvPr id="131" name="Picture 130" descr="lock.png"/>
          <p:cNvPicPr>
            <a:picLocks noChangeAspect="1"/>
          </p:cNvPicPr>
          <p:nvPr/>
        </p:nvPicPr>
        <p:blipFill>
          <a:blip r:embed="rId4"/>
          <a:stretch>
            <a:fillRect/>
          </a:stretch>
        </p:blipFill>
        <p:spPr>
          <a:xfrm>
            <a:off x="4682275" y="1483092"/>
            <a:ext cx="128699" cy="187198"/>
          </a:xfrm>
          <a:prstGeom prst="rect">
            <a:avLst/>
          </a:prstGeom>
        </p:spPr>
      </p:pic>
      <p:pic>
        <p:nvPicPr>
          <p:cNvPr id="132" name="Picture 131" descr="lock.png"/>
          <p:cNvPicPr>
            <a:picLocks noChangeAspect="1"/>
          </p:cNvPicPr>
          <p:nvPr/>
        </p:nvPicPr>
        <p:blipFill>
          <a:blip r:embed="rId4"/>
          <a:stretch>
            <a:fillRect/>
          </a:stretch>
        </p:blipFill>
        <p:spPr>
          <a:xfrm>
            <a:off x="5850675" y="1567154"/>
            <a:ext cx="128699" cy="187198"/>
          </a:xfrm>
          <a:prstGeom prst="rect">
            <a:avLst/>
          </a:prstGeom>
        </p:spPr>
      </p:pic>
      <p:pic>
        <p:nvPicPr>
          <p:cNvPr id="133" name="Picture 132" descr="lock.png"/>
          <p:cNvPicPr>
            <a:picLocks noChangeAspect="1"/>
          </p:cNvPicPr>
          <p:nvPr/>
        </p:nvPicPr>
        <p:blipFill>
          <a:blip r:embed="rId4"/>
          <a:stretch>
            <a:fillRect/>
          </a:stretch>
        </p:blipFill>
        <p:spPr>
          <a:xfrm>
            <a:off x="7019075" y="2337519"/>
            <a:ext cx="128699" cy="187198"/>
          </a:xfrm>
          <a:prstGeom prst="rect">
            <a:avLst/>
          </a:prstGeom>
        </p:spPr>
      </p:pic>
      <p:pic>
        <p:nvPicPr>
          <p:cNvPr id="134" name="Picture 133" descr="lock.png"/>
          <p:cNvPicPr>
            <a:picLocks noChangeAspect="1"/>
          </p:cNvPicPr>
          <p:nvPr/>
        </p:nvPicPr>
        <p:blipFill>
          <a:blip r:embed="rId4"/>
          <a:stretch>
            <a:fillRect/>
          </a:stretch>
        </p:blipFill>
        <p:spPr>
          <a:xfrm>
            <a:off x="848463" y="4686944"/>
            <a:ext cx="128699" cy="187198"/>
          </a:xfrm>
          <a:prstGeom prst="rect">
            <a:avLst/>
          </a:prstGeom>
        </p:spPr>
      </p:pic>
      <p:pic>
        <p:nvPicPr>
          <p:cNvPr id="135" name="Picture 134" descr="lock.png"/>
          <p:cNvPicPr>
            <a:picLocks noChangeAspect="1"/>
          </p:cNvPicPr>
          <p:nvPr/>
        </p:nvPicPr>
        <p:blipFill>
          <a:blip r:embed="rId4"/>
          <a:stretch>
            <a:fillRect/>
          </a:stretch>
        </p:blipFill>
        <p:spPr>
          <a:xfrm>
            <a:off x="1435838" y="5528492"/>
            <a:ext cx="128699" cy="187198"/>
          </a:xfrm>
          <a:prstGeom prst="rect">
            <a:avLst/>
          </a:prstGeom>
        </p:spPr>
      </p:pic>
      <p:pic>
        <p:nvPicPr>
          <p:cNvPr id="136" name="Picture 135" descr="lock.png"/>
          <p:cNvPicPr>
            <a:picLocks noChangeAspect="1"/>
          </p:cNvPicPr>
          <p:nvPr/>
        </p:nvPicPr>
        <p:blipFill>
          <a:blip r:embed="rId4"/>
          <a:stretch>
            <a:fillRect/>
          </a:stretch>
        </p:blipFill>
        <p:spPr>
          <a:xfrm>
            <a:off x="2023213" y="5309092"/>
            <a:ext cx="128699" cy="187198"/>
          </a:xfrm>
          <a:prstGeom prst="rect">
            <a:avLst/>
          </a:prstGeom>
        </p:spPr>
      </p:pic>
      <p:pic>
        <p:nvPicPr>
          <p:cNvPr id="137" name="Picture 136" descr="lock.png"/>
          <p:cNvPicPr>
            <a:picLocks noChangeAspect="1"/>
          </p:cNvPicPr>
          <p:nvPr/>
        </p:nvPicPr>
        <p:blipFill>
          <a:blip r:embed="rId4"/>
          <a:stretch>
            <a:fillRect/>
          </a:stretch>
        </p:blipFill>
        <p:spPr>
          <a:xfrm>
            <a:off x="2610588" y="4885117"/>
            <a:ext cx="128699" cy="187198"/>
          </a:xfrm>
          <a:prstGeom prst="rect">
            <a:avLst/>
          </a:prstGeom>
        </p:spPr>
      </p:pic>
      <p:pic>
        <p:nvPicPr>
          <p:cNvPr id="138" name="Picture 137" descr="lock.png"/>
          <p:cNvPicPr>
            <a:picLocks noChangeAspect="1"/>
          </p:cNvPicPr>
          <p:nvPr/>
        </p:nvPicPr>
        <p:blipFill>
          <a:blip r:embed="rId4"/>
          <a:stretch>
            <a:fillRect/>
          </a:stretch>
        </p:blipFill>
        <p:spPr>
          <a:xfrm>
            <a:off x="3197963" y="5262542"/>
            <a:ext cx="128699" cy="187198"/>
          </a:xfrm>
          <a:prstGeom prst="rect">
            <a:avLst/>
          </a:prstGeom>
        </p:spPr>
      </p:pic>
      <p:pic>
        <p:nvPicPr>
          <p:cNvPr id="139" name="Picture 138" descr="lock.png"/>
          <p:cNvPicPr>
            <a:picLocks noChangeAspect="1"/>
          </p:cNvPicPr>
          <p:nvPr/>
        </p:nvPicPr>
        <p:blipFill>
          <a:blip r:embed="rId4"/>
          <a:stretch>
            <a:fillRect/>
          </a:stretch>
        </p:blipFill>
        <p:spPr>
          <a:xfrm>
            <a:off x="3785337" y="5155667"/>
            <a:ext cx="128699" cy="187198"/>
          </a:xfrm>
          <a:prstGeom prst="rect">
            <a:avLst/>
          </a:prstGeom>
        </p:spPr>
      </p:pic>
      <p:pic>
        <p:nvPicPr>
          <p:cNvPr id="140" name="Picture 139" descr="lock.png"/>
          <p:cNvPicPr>
            <a:picLocks noChangeAspect="1"/>
          </p:cNvPicPr>
          <p:nvPr/>
        </p:nvPicPr>
        <p:blipFill>
          <a:blip r:embed="rId4"/>
          <a:stretch>
            <a:fillRect/>
          </a:stretch>
        </p:blipFill>
        <p:spPr>
          <a:xfrm>
            <a:off x="4372713" y="5838694"/>
            <a:ext cx="128699" cy="187198"/>
          </a:xfrm>
          <a:prstGeom prst="rect">
            <a:avLst/>
          </a:prstGeom>
        </p:spPr>
      </p:pic>
      <p:pic>
        <p:nvPicPr>
          <p:cNvPr id="141" name="Picture 140" descr="lock.png"/>
          <p:cNvPicPr>
            <a:picLocks noChangeAspect="1"/>
          </p:cNvPicPr>
          <p:nvPr/>
        </p:nvPicPr>
        <p:blipFill>
          <a:blip r:embed="rId4"/>
          <a:stretch>
            <a:fillRect/>
          </a:stretch>
        </p:blipFill>
        <p:spPr>
          <a:xfrm>
            <a:off x="4960088" y="5579079"/>
            <a:ext cx="128699" cy="187198"/>
          </a:xfrm>
          <a:prstGeom prst="rect">
            <a:avLst/>
          </a:prstGeom>
        </p:spPr>
      </p:pic>
      <p:pic>
        <p:nvPicPr>
          <p:cNvPr id="142" name="Picture 141" descr="lock.png"/>
          <p:cNvPicPr>
            <a:picLocks noChangeAspect="1"/>
          </p:cNvPicPr>
          <p:nvPr/>
        </p:nvPicPr>
        <p:blipFill>
          <a:blip r:embed="rId4"/>
          <a:stretch>
            <a:fillRect/>
          </a:stretch>
        </p:blipFill>
        <p:spPr>
          <a:xfrm>
            <a:off x="5547463" y="4459331"/>
            <a:ext cx="128699" cy="187198"/>
          </a:xfrm>
          <a:prstGeom prst="rect">
            <a:avLst/>
          </a:prstGeom>
        </p:spPr>
      </p:pic>
      <p:pic>
        <p:nvPicPr>
          <p:cNvPr id="143" name="Picture 142" descr="lock.png"/>
          <p:cNvPicPr>
            <a:picLocks noChangeAspect="1"/>
          </p:cNvPicPr>
          <p:nvPr/>
        </p:nvPicPr>
        <p:blipFill>
          <a:blip r:embed="rId4"/>
          <a:stretch>
            <a:fillRect/>
          </a:stretch>
        </p:blipFill>
        <p:spPr>
          <a:xfrm>
            <a:off x="6134838" y="5148508"/>
            <a:ext cx="128699" cy="187198"/>
          </a:xfrm>
          <a:prstGeom prst="rect">
            <a:avLst/>
          </a:prstGeom>
        </p:spPr>
      </p:pic>
      <p:pic>
        <p:nvPicPr>
          <p:cNvPr id="144" name="Picture 143" descr="lock.png"/>
          <p:cNvPicPr>
            <a:picLocks noChangeAspect="1"/>
          </p:cNvPicPr>
          <p:nvPr/>
        </p:nvPicPr>
        <p:blipFill>
          <a:blip r:embed="rId4"/>
          <a:stretch>
            <a:fillRect/>
          </a:stretch>
        </p:blipFill>
        <p:spPr>
          <a:xfrm>
            <a:off x="6722213" y="4587938"/>
            <a:ext cx="128699" cy="187198"/>
          </a:xfrm>
          <a:prstGeom prst="rect">
            <a:avLst/>
          </a:prstGeom>
        </p:spPr>
      </p:pic>
      <p:pic>
        <p:nvPicPr>
          <p:cNvPr id="145" name="Picture 144" descr="lock.png"/>
          <p:cNvPicPr>
            <a:picLocks noChangeAspect="1"/>
          </p:cNvPicPr>
          <p:nvPr/>
        </p:nvPicPr>
        <p:blipFill>
          <a:blip r:embed="rId4"/>
          <a:stretch>
            <a:fillRect/>
          </a:stretch>
        </p:blipFill>
        <p:spPr>
          <a:xfrm>
            <a:off x="7309588" y="4603262"/>
            <a:ext cx="128699" cy="187198"/>
          </a:xfrm>
          <a:prstGeom prst="rect">
            <a:avLst/>
          </a:prstGeom>
        </p:spPr>
      </p:pic>
      <p:sp>
        <p:nvSpPr>
          <p:cNvPr id="146" name="TextBox 145"/>
          <p:cNvSpPr txBox="1"/>
          <p:nvPr/>
        </p:nvSpPr>
        <p:spPr>
          <a:xfrm>
            <a:off x="8048625" y="1471995"/>
            <a:ext cx="3656136" cy="194310"/>
          </a:xfrm>
          <a:prstGeom prst="rect">
            <a:avLst/>
          </a:prstGeom>
          <a:noFill/>
        </p:spPr>
        <p:txBody>
          <a:bodyPr wrap="none" lIns="0" tIns="0" rIns="0" bIns="0">
            <a:spAutoFit/>
          </a:bodyPr>
          <a:lstStyle/>
          <a:p>
            <a:r>
              <a:rPr sz="1150" b="0">
                <a:solidFill>
                  <a:srgbClr val="2E2E2E"/>
                </a:solidFill>
                <a:latin typeface="Calibri"/>
              </a:rPr>
              <a:t>Powders and granules segment is expected to command the</a:t>
            </a:r>
          </a:p>
        </p:txBody>
      </p:sp>
      <p:sp>
        <p:nvSpPr>
          <p:cNvPr id="147" name="TextBox 146"/>
          <p:cNvSpPr txBox="1"/>
          <p:nvPr/>
        </p:nvSpPr>
        <p:spPr>
          <a:xfrm>
            <a:off x="8048625" y="1647255"/>
            <a:ext cx="1766899" cy="194310"/>
          </a:xfrm>
          <a:prstGeom prst="rect">
            <a:avLst/>
          </a:prstGeom>
          <a:noFill/>
        </p:spPr>
        <p:txBody>
          <a:bodyPr wrap="none" lIns="0" tIns="0" rIns="0" bIns="0">
            <a:spAutoFit/>
          </a:bodyPr>
          <a:lstStyle/>
          <a:p>
            <a:r>
              <a:rPr sz="1150" b="0">
                <a:solidFill>
                  <a:srgbClr val="2E2E2E"/>
                </a:solidFill>
                <a:latin typeface="Calibri"/>
              </a:rPr>
              <a:t>highest average price of US$</a:t>
            </a:r>
          </a:p>
        </p:txBody>
      </p:sp>
      <p:pic>
        <p:nvPicPr>
          <p:cNvPr id="148" name="Picture 147" descr="lock.png"/>
          <p:cNvPicPr>
            <a:picLocks noChangeAspect="1"/>
          </p:cNvPicPr>
          <p:nvPr/>
        </p:nvPicPr>
        <p:blipFill>
          <a:blip r:embed="rId4"/>
          <a:stretch>
            <a:fillRect/>
          </a:stretch>
        </p:blipFill>
        <p:spPr>
          <a:xfrm>
            <a:off x="9764678" y="1637031"/>
            <a:ext cx="134549" cy="195707"/>
          </a:xfrm>
          <a:prstGeom prst="rect">
            <a:avLst/>
          </a:prstGeom>
        </p:spPr>
      </p:pic>
      <p:sp>
        <p:nvSpPr>
          <p:cNvPr id="149" name="TextBox 148"/>
          <p:cNvSpPr txBox="1"/>
          <p:nvPr/>
        </p:nvSpPr>
        <p:spPr>
          <a:xfrm>
            <a:off x="9939788" y="1647255"/>
            <a:ext cx="1534663" cy="194310"/>
          </a:xfrm>
          <a:prstGeom prst="rect">
            <a:avLst/>
          </a:prstGeom>
          <a:noFill/>
        </p:spPr>
        <p:txBody>
          <a:bodyPr wrap="none" lIns="0" tIns="0" rIns="0" bIns="0">
            <a:spAutoFit/>
          </a:bodyPr>
          <a:lstStyle/>
          <a:p>
            <a:r>
              <a:rPr sz="1150" b="0">
                <a:solidFill>
                  <a:srgbClr val="2E2E2E"/>
                </a:solidFill>
                <a:latin typeface="Calibri"/>
              </a:rPr>
              <a:t>per MT in 2036. Average</a:t>
            </a:r>
          </a:p>
        </p:txBody>
      </p:sp>
      <p:sp>
        <p:nvSpPr>
          <p:cNvPr id="150" name="TextBox 149"/>
          <p:cNvSpPr txBox="1"/>
          <p:nvPr/>
        </p:nvSpPr>
        <p:spPr>
          <a:xfrm>
            <a:off x="8048625" y="1822515"/>
            <a:ext cx="3814167" cy="194310"/>
          </a:xfrm>
          <a:prstGeom prst="rect">
            <a:avLst/>
          </a:prstGeom>
          <a:noFill/>
        </p:spPr>
        <p:txBody>
          <a:bodyPr wrap="none" lIns="0" tIns="0" rIns="0" bIns="0">
            <a:spAutoFit/>
          </a:bodyPr>
          <a:lstStyle/>
          <a:p>
            <a:r>
              <a:rPr sz="1150" b="0">
                <a:solidFill>
                  <a:srgbClr val="2E2E2E"/>
                </a:solidFill>
                <a:latin typeface="Calibri"/>
              </a:rPr>
              <a:t>selling price of senior dog cognitive supplement is estimated at</a:t>
            </a:r>
          </a:p>
        </p:txBody>
      </p:sp>
      <p:sp>
        <p:nvSpPr>
          <p:cNvPr id="151" name="TextBox 150"/>
          <p:cNvSpPr txBox="1"/>
          <p:nvPr/>
        </p:nvSpPr>
        <p:spPr>
          <a:xfrm>
            <a:off x="8048625" y="1997775"/>
            <a:ext cx="311249" cy="194310"/>
          </a:xfrm>
          <a:prstGeom prst="rect">
            <a:avLst/>
          </a:prstGeom>
          <a:noFill/>
        </p:spPr>
        <p:txBody>
          <a:bodyPr wrap="none" lIns="0" tIns="0" rIns="0" bIns="0">
            <a:spAutoFit/>
          </a:bodyPr>
          <a:lstStyle/>
          <a:p>
            <a:r>
              <a:rPr sz="1150" b="0">
                <a:solidFill>
                  <a:srgbClr val="2E2E2E"/>
                </a:solidFill>
                <a:latin typeface="Calibri"/>
              </a:rPr>
              <a:t>US$</a:t>
            </a:r>
          </a:p>
        </p:txBody>
      </p:sp>
      <p:pic>
        <p:nvPicPr>
          <p:cNvPr id="152" name="Picture 151" descr="lock.png"/>
          <p:cNvPicPr>
            <a:picLocks noChangeAspect="1"/>
          </p:cNvPicPr>
          <p:nvPr/>
        </p:nvPicPr>
        <p:blipFill>
          <a:blip r:embed="rId4"/>
          <a:stretch>
            <a:fillRect/>
          </a:stretch>
        </p:blipFill>
        <p:spPr>
          <a:xfrm>
            <a:off x="8309028" y="1987551"/>
            <a:ext cx="134549" cy="195707"/>
          </a:xfrm>
          <a:prstGeom prst="rect">
            <a:avLst/>
          </a:prstGeom>
        </p:spPr>
      </p:pic>
      <p:sp>
        <p:nvSpPr>
          <p:cNvPr id="153" name="TextBox 152"/>
          <p:cNvSpPr txBox="1"/>
          <p:nvPr/>
        </p:nvSpPr>
        <p:spPr>
          <a:xfrm>
            <a:off x="8484137" y="1997775"/>
            <a:ext cx="3081064" cy="194310"/>
          </a:xfrm>
          <a:prstGeom prst="rect">
            <a:avLst/>
          </a:prstGeom>
          <a:noFill/>
        </p:spPr>
        <p:txBody>
          <a:bodyPr wrap="none" lIns="0" tIns="0" rIns="0" bIns="0">
            <a:spAutoFit/>
          </a:bodyPr>
          <a:lstStyle/>
          <a:p>
            <a:r>
              <a:rPr sz="1150" b="0">
                <a:solidFill>
                  <a:srgbClr val="2E2E2E"/>
                </a:solidFill>
                <a:latin typeface="Calibri"/>
              </a:rPr>
              <a:t>per MT in 2025 and is projected to increase to US$</a:t>
            </a:r>
          </a:p>
        </p:txBody>
      </p:sp>
      <p:pic>
        <p:nvPicPr>
          <p:cNvPr id="154" name="Picture 153" descr="lock.png"/>
          <p:cNvPicPr>
            <a:picLocks noChangeAspect="1"/>
          </p:cNvPicPr>
          <p:nvPr/>
        </p:nvPicPr>
        <p:blipFill>
          <a:blip r:embed="rId4"/>
          <a:stretch>
            <a:fillRect/>
          </a:stretch>
        </p:blipFill>
        <p:spPr>
          <a:xfrm>
            <a:off x="11514356" y="1987551"/>
            <a:ext cx="134549" cy="195707"/>
          </a:xfrm>
          <a:prstGeom prst="rect">
            <a:avLst/>
          </a:prstGeom>
        </p:spPr>
      </p:pic>
      <p:sp>
        <p:nvSpPr>
          <p:cNvPr id="155" name="TextBox 154"/>
          <p:cNvSpPr txBox="1"/>
          <p:nvPr/>
        </p:nvSpPr>
        <p:spPr>
          <a:xfrm>
            <a:off x="8048625" y="2173035"/>
            <a:ext cx="1048630" cy="194310"/>
          </a:xfrm>
          <a:prstGeom prst="rect">
            <a:avLst/>
          </a:prstGeom>
          <a:noFill/>
        </p:spPr>
        <p:txBody>
          <a:bodyPr wrap="none" lIns="0" tIns="0" rIns="0" bIns="0">
            <a:spAutoFit/>
          </a:bodyPr>
          <a:lstStyle/>
          <a:p>
            <a:r>
              <a:rPr sz="1150" b="0">
                <a:solidFill>
                  <a:srgbClr val="2E2E2E"/>
                </a:solidFill>
                <a:latin typeface="Calibri"/>
              </a:rPr>
              <a:t>per MT by 2036.</a:t>
            </a:r>
          </a:p>
        </p:txBody>
      </p:sp>
      <p:sp>
        <p:nvSpPr>
          <p:cNvPr id="156" name="TextBox 155"/>
          <p:cNvSpPr txBox="1"/>
          <p:nvPr/>
        </p:nvSpPr>
        <p:spPr>
          <a:xfrm>
            <a:off x="8048625" y="2400873"/>
            <a:ext cx="3692649" cy="194310"/>
          </a:xfrm>
          <a:prstGeom prst="rect">
            <a:avLst/>
          </a:prstGeom>
          <a:noFill/>
        </p:spPr>
        <p:txBody>
          <a:bodyPr wrap="none" lIns="0" tIns="0" rIns="0" bIns="0">
            <a:spAutoFit/>
          </a:bodyPr>
          <a:lstStyle/>
          <a:p>
            <a:r>
              <a:rPr sz="1150" b="0">
                <a:solidFill>
                  <a:srgbClr val="2E2E2E"/>
                </a:solidFill>
                <a:latin typeface="Calibri"/>
              </a:rPr>
              <a:t>Russia is the highest-priced country, while Netherlands is the</a:t>
            </a:r>
          </a:p>
        </p:txBody>
      </p:sp>
      <p:sp>
        <p:nvSpPr>
          <p:cNvPr id="157" name="TextBox 156"/>
          <p:cNvSpPr txBox="1"/>
          <p:nvPr/>
        </p:nvSpPr>
        <p:spPr>
          <a:xfrm>
            <a:off x="8048625" y="2576133"/>
            <a:ext cx="3601653" cy="194310"/>
          </a:xfrm>
          <a:prstGeom prst="rect">
            <a:avLst/>
          </a:prstGeom>
          <a:noFill/>
        </p:spPr>
        <p:txBody>
          <a:bodyPr wrap="none" lIns="0" tIns="0" rIns="0" bIns="0">
            <a:spAutoFit/>
          </a:bodyPr>
          <a:lstStyle/>
          <a:p>
            <a:r>
              <a:rPr sz="1150" b="0">
                <a:solidFill>
                  <a:srgbClr val="2E2E2E"/>
                </a:solidFill>
                <a:latin typeface="Calibri"/>
              </a:rPr>
              <a:t>most price-competitive market. Against the Europe price of</a:t>
            </a:r>
          </a:p>
        </p:txBody>
      </p:sp>
      <p:pic>
        <p:nvPicPr>
          <p:cNvPr id="158" name="Picture 157" descr="lock.png"/>
          <p:cNvPicPr>
            <a:picLocks noChangeAspect="1"/>
          </p:cNvPicPr>
          <p:nvPr/>
        </p:nvPicPr>
        <p:blipFill>
          <a:blip r:embed="rId4"/>
          <a:stretch>
            <a:fillRect/>
          </a:stretch>
        </p:blipFill>
        <p:spPr>
          <a:xfrm>
            <a:off x="11599431" y="2565909"/>
            <a:ext cx="134549" cy="195707"/>
          </a:xfrm>
          <a:prstGeom prst="rect">
            <a:avLst/>
          </a:prstGeom>
        </p:spPr>
      </p:pic>
      <p:sp>
        <p:nvSpPr>
          <p:cNvPr id="159" name="TextBox 158"/>
          <p:cNvSpPr txBox="1"/>
          <p:nvPr/>
        </p:nvSpPr>
        <p:spPr>
          <a:xfrm>
            <a:off x="8048625" y="2751393"/>
            <a:ext cx="3155515" cy="194310"/>
          </a:xfrm>
          <a:prstGeom prst="rect">
            <a:avLst/>
          </a:prstGeom>
          <a:noFill/>
        </p:spPr>
        <p:txBody>
          <a:bodyPr wrap="none" lIns="0" tIns="0" rIns="0" bIns="0">
            <a:spAutoFit/>
          </a:bodyPr>
          <a:lstStyle/>
          <a:p>
            <a:r>
              <a:rPr sz="1150" b="0">
                <a:solidFill>
                  <a:srgbClr val="2E2E2E"/>
                </a:solidFill>
                <a:latin typeface="Calibri"/>
              </a:rPr>
              <a:t>US$/MT, 5 of 12 countries price above and 7 below.</a:t>
            </a:r>
          </a:p>
        </p:txBody>
      </p:sp>
      <p:sp>
        <p:nvSpPr>
          <p:cNvPr id="160" name="TextBox 159"/>
          <p:cNvSpPr txBox="1"/>
          <p:nvPr/>
        </p:nvSpPr>
        <p:spPr>
          <a:xfrm>
            <a:off x="8048625" y="2979230"/>
            <a:ext cx="1610010" cy="194310"/>
          </a:xfrm>
          <a:prstGeom prst="rect">
            <a:avLst/>
          </a:prstGeom>
          <a:noFill/>
        </p:spPr>
        <p:txBody>
          <a:bodyPr wrap="none" lIns="0" tIns="0" rIns="0" bIns="0">
            <a:spAutoFit/>
          </a:bodyPr>
          <a:lstStyle/>
          <a:p>
            <a:r>
              <a:rPr sz="1150" b="0">
                <a:solidFill>
                  <a:srgbClr val="2E2E2E"/>
                </a:solidFill>
                <a:latin typeface="Calibri"/>
              </a:rPr>
              <a:t>'Russia' is the dearest at +</a:t>
            </a:r>
          </a:p>
        </p:txBody>
      </p:sp>
      <p:pic>
        <p:nvPicPr>
          <p:cNvPr id="161" name="Picture 160" descr="lock.png"/>
          <p:cNvPicPr>
            <a:picLocks noChangeAspect="1"/>
          </p:cNvPicPr>
          <p:nvPr/>
        </p:nvPicPr>
        <p:blipFill>
          <a:blip r:embed="rId4"/>
          <a:stretch>
            <a:fillRect/>
          </a:stretch>
        </p:blipFill>
        <p:spPr>
          <a:xfrm>
            <a:off x="9607789" y="2969007"/>
            <a:ext cx="134549" cy="195707"/>
          </a:xfrm>
          <a:prstGeom prst="rect">
            <a:avLst/>
          </a:prstGeom>
        </p:spPr>
      </p:pic>
      <p:sp>
        <p:nvSpPr>
          <p:cNvPr id="162" name="TextBox 161"/>
          <p:cNvSpPr txBox="1"/>
          <p:nvPr/>
        </p:nvSpPr>
        <p:spPr>
          <a:xfrm>
            <a:off x="9782898" y="2979230"/>
            <a:ext cx="2011933" cy="194310"/>
          </a:xfrm>
          <a:prstGeom prst="rect">
            <a:avLst/>
          </a:prstGeom>
          <a:noFill/>
        </p:spPr>
        <p:txBody>
          <a:bodyPr wrap="none" lIns="0" tIns="0" rIns="0" bIns="0">
            <a:spAutoFit/>
          </a:bodyPr>
          <a:lstStyle/>
          <a:p>
            <a:r>
              <a:rPr sz="1150" b="0">
                <a:solidFill>
                  <a:srgbClr val="2E2E2E"/>
                </a:solidFill>
                <a:latin typeface="Calibri"/>
              </a:rPr>
              <a:t>versus Europe, 'Netherlands' the</a:t>
            </a:r>
          </a:p>
        </p:txBody>
      </p:sp>
      <p:sp>
        <p:nvSpPr>
          <p:cNvPr id="163" name="TextBox 162"/>
          <p:cNvSpPr txBox="1"/>
          <p:nvPr/>
        </p:nvSpPr>
        <p:spPr>
          <a:xfrm>
            <a:off x="8048625" y="3154490"/>
            <a:ext cx="842962" cy="194310"/>
          </a:xfrm>
          <a:prstGeom prst="rect">
            <a:avLst/>
          </a:prstGeom>
          <a:noFill/>
        </p:spPr>
        <p:txBody>
          <a:bodyPr wrap="none" lIns="0" tIns="0" rIns="0" bIns="0">
            <a:spAutoFit/>
          </a:bodyPr>
          <a:lstStyle/>
          <a:p>
            <a:r>
              <a:rPr sz="1150" b="0">
                <a:solidFill>
                  <a:srgbClr val="2E2E2E"/>
                </a:solidFill>
                <a:latin typeface="Calibri"/>
              </a:rPr>
              <a:t>cheapest at -</a:t>
            </a:r>
          </a:p>
        </p:txBody>
      </p:sp>
      <p:pic>
        <p:nvPicPr>
          <p:cNvPr id="164" name="Picture 163" descr="lock.png"/>
          <p:cNvPicPr>
            <a:picLocks noChangeAspect="1"/>
          </p:cNvPicPr>
          <p:nvPr/>
        </p:nvPicPr>
        <p:blipFill>
          <a:blip r:embed="rId4"/>
          <a:stretch>
            <a:fillRect/>
          </a:stretch>
        </p:blipFill>
        <p:spPr>
          <a:xfrm>
            <a:off x="8840741" y="3144267"/>
            <a:ext cx="134549" cy="195707"/>
          </a:xfrm>
          <a:prstGeom prst="rect">
            <a:avLst/>
          </a:prstGeom>
        </p:spPr>
      </p:pic>
      <p:sp>
        <p:nvSpPr>
          <p:cNvPr id="165" name="TextBox 164"/>
          <p:cNvSpPr txBox="1"/>
          <p:nvPr/>
        </p:nvSpPr>
        <p:spPr>
          <a:xfrm>
            <a:off x="9015850" y="3154490"/>
            <a:ext cx="2728205" cy="194310"/>
          </a:xfrm>
          <a:prstGeom prst="rect">
            <a:avLst/>
          </a:prstGeom>
          <a:noFill/>
        </p:spPr>
        <p:txBody>
          <a:bodyPr wrap="none" lIns="0" tIns="0" rIns="0" bIns="0">
            <a:spAutoFit/>
          </a:bodyPr>
          <a:lstStyle/>
          <a:p>
            <a:r>
              <a:rPr sz="1150" b="0">
                <a:solidFill>
                  <a:srgbClr val="2E2E2E"/>
                </a:solidFill>
                <a:latin typeface="Calibri"/>
              </a:rPr>
              <a:t>pointing to premiumisation headroom in the</a:t>
            </a:r>
          </a:p>
        </p:txBody>
      </p:sp>
      <p:sp>
        <p:nvSpPr>
          <p:cNvPr id="166" name="TextBox 165"/>
          <p:cNvSpPr txBox="1"/>
          <p:nvPr/>
        </p:nvSpPr>
        <p:spPr>
          <a:xfrm>
            <a:off x="8048625" y="3329750"/>
            <a:ext cx="1458540" cy="194310"/>
          </a:xfrm>
          <a:prstGeom prst="rect">
            <a:avLst/>
          </a:prstGeom>
          <a:noFill/>
        </p:spPr>
        <p:txBody>
          <a:bodyPr wrap="none" lIns="0" tIns="0" rIns="0" bIns="0">
            <a:spAutoFit/>
          </a:bodyPr>
          <a:lstStyle/>
          <a:p>
            <a:r>
              <a:rPr sz="1150" b="0">
                <a:solidFill>
                  <a:srgbClr val="2E2E2E"/>
                </a:solidFill>
                <a:latin typeface="Calibri"/>
              </a:rPr>
              <a:t>lower-priced countries.</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Summary, By Value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Europe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685037"/>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4094525"/>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xmlns:r="http://schemas.openxmlformats.org/officeDocument/2006/relationships" r:id="rId5"/>
          </a:graphicData>
        </a:graphic>
      </p:graphicFrame>
      <p:sp>
        <p:nvSpPr>
          <p:cNvPr id="20" name="Rounded Rectangle 19"/>
          <p:cNvSpPr/>
          <p:nvPr/>
        </p:nvSpPr>
        <p:spPr>
          <a:xfrm>
            <a:off x="7915275" y="1627887"/>
            <a:ext cx="4133850" cy="3051231"/>
          </a:xfrm>
          <a:prstGeom prst="roundRect">
            <a:avLst>
              <a:gd name="adj" fmla="val 24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8625" y="1713612"/>
            <a:ext cx="3867150" cy="209550"/>
          </a:xfrm>
          <a:prstGeom prst="rect">
            <a:avLst/>
          </a:prstGeom>
          <a:noFill/>
        </p:spPr>
        <p:txBody>
          <a:bodyPr wrap="square" lIns="0" tIns="9525" rIns="19050"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8625" y="2037462"/>
            <a:ext cx="3867150" cy="2565456"/>
          </a:xfrm>
          <a:prstGeom prst="rect">
            <a:avLst/>
          </a:prstGeom>
          <a:noFill/>
        </p:spPr>
        <p:txBody>
          <a:bodyPr wrap="square" lIns="0" tIns="9525" rIns="19050" bIns="9525">
            <a:spAutoFit/>
          </a:bodyPr>
          <a:lstStyle/>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p:txBody>
      </p:sp>
      <p:sp>
        <p:nvSpPr>
          <p:cNvPr id="24" name="Rounded Rectangle 23"/>
          <p:cNvSpPr/>
          <p:nvPr/>
        </p:nvSpPr>
        <p:spPr>
          <a:xfrm>
            <a:off x="7915275" y="4733879"/>
            <a:ext cx="4133850" cy="1822506"/>
          </a:xfrm>
          <a:prstGeom prst="roundRect">
            <a:avLst>
              <a:gd name="adj" fmla="val 41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8625" y="4819604"/>
            <a:ext cx="3867150" cy="209550"/>
          </a:xfrm>
          <a:prstGeom prst="rect">
            <a:avLst/>
          </a:prstGeom>
          <a:noFill/>
        </p:spPr>
        <p:txBody>
          <a:bodyPr wrap="square" lIns="0" tIns="9525" rIns="19050" bIns="9525">
            <a:spAutoFit/>
          </a:bodyPr>
          <a:lstStyle/>
          <a:p>
            <a:pPr algn="l"/>
            <a:r>
              <a:rPr sz="1300" b="1">
                <a:solidFill>
                  <a:srgbClr val="0B2E4A"/>
                </a:solidFill>
                <a:latin typeface="Calibri"/>
              </a:rPr>
              <a:t>Growth Drivers</a:t>
            </a:r>
          </a:p>
        </p:txBody>
      </p:sp>
      <p:sp>
        <p:nvSpPr>
          <p:cNvPr id="26" name="Rectangle 25"/>
          <p:cNvSpPr/>
          <p:nvPr/>
        </p:nvSpPr>
        <p:spPr>
          <a:xfrm>
            <a:off x="8048625" y="5057729"/>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8625" y="5143454"/>
            <a:ext cx="3867150" cy="1336731"/>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8" name="TextBox 2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409900" cy="186689"/>
          </a:xfrm>
          <a:prstGeom prst="rect">
            <a:avLst/>
          </a:prstGeom>
          <a:noFill/>
        </p:spPr>
        <p:txBody>
          <a:bodyPr wrap="none" lIns="0" tIns="0" rIns="0" bIns="0">
            <a:spAutoFit/>
          </a:bodyPr>
          <a:lstStyle/>
          <a:p>
            <a:r>
              <a:rPr sz="1100" b="0">
                <a:solidFill>
                  <a:srgbClr val="2E2E2E"/>
                </a:solidFill>
                <a:latin typeface="Calibri"/>
              </a:rPr>
              <a:t>Senior dog cognitive supplement market value in Europe is</a:t>
            </a:r>
          </a:p>
        </p:txBody>
      </p:sp>
      <p:sp>
        <p:nvSpPr>
          <p:cNvPr id="35" name="TextBox 34"/>
          <p:cNvSpPr txBox="1"/>
          <p:nvPr/>
        </p:nvSpPr>
        <p:spPr>
          <a:xfrm>
            <a:off x="8048625" y="2214627"/>
            <a:ext cx="1256555" cy="186689"/>
          </a:xfrm>
          <a:prstGeom prst="rect">
            <a:avLst/>
          </a:prstGeom>
          <a:noFill/>
        </p:spPr>
        <p:txBody>
          <a:bodyPr wrap="none" lIns="0" tIns="0" rIns="0" bIns="0">
            <a:spAutoFit/>
          </a:bodyPr>
          <a:lstStyle/>
          <a:p>
            <a:r>
              <a:rPr sz="1100" b="0">
                <a:solidFill>
                  <a:srgbClr val="2E2E2E"/>
                </a:solidFill>
                <a:latin typeface="Calibri"/>
              </a:rPr>
              <a:t>expected to increase</a:t>
            </a:r>
          </a:p>
        </p:txBody>
      </p:sp>
      <p:pic>
        <p:nvPicPr>
          <p:cNvPr id="36" name="Picture 35" descr="lock.png"/>
          <p:cNvPicPr>
            <a:picLocks noChangeAspect="1"/>
          </p:cNvPicPr>
          <p:nvPr/>
        </p:nvPicPr>
        <p:blipFill>
          <a:blip r:embed="rId6"/>
          <a:stretch>
            <a:fillRect/>
          </a:stretch>
        </p:blipFill>
        <p:spPr>
          <a:xfrm>
            <a:off x="9253232" y="2204848"/>
            <a:ext cx="128699" cy="187198"/>
          </a:xfrm>
          <a:prstGeom prst="rect">
            <a:avLst/>
          </a:prstGeom>
        </p:spPr>
      </p:pic>
      <p:sp>
        <p:nvSpPr>
          <p:cNvPr id="37" name="TextBox 36"/>
          <p:cNvSpPr txBox="1"/>
          <p:nvPr/>
        </p:nvSpPr>
        <p:spPr>
          <a:xfrm>
            <a:off x="9420728" y="2214627"/>
            <a:ext cx="2306215" cy="186689"/>
          </a:xfrm>
          <a:prstGeom prst="rect">
            <a:avLst/>
          </a:prstGeom>
          <a:noFill/>
        </p:spPr>
        <p:txBody>
          <a:bodyPr wrap="none" lIns="0" tIns="0" rIns="0" bIns="0">
            <a:spAutoFit/>
          </a:bodyPr>
          <a:lstStyle/>
          <a:p>
            <a:r>
              <a:rPr sz="1100" b="0">
                <a:solidFill>
                  <a:srgbClr val="2E2E2E"/>
                </a:solidFill>
                <a:latin typeface="Calibri"/>
              </a:rPr>
              <a:t>X between 2025 and 2036. In 2025, the</a:t>
            </a:r>
          </a:p>
        </p:txBody>
      </p:sp>
      <p:sp>
        <p:nvSpPr>
          <p:cNvPr id="38" name="TextBox 37"/>
          <p:cNvSpPr txBox="1"/>
          <p:nvPr/>
        </p:nvSpPr>
        <p:spPr>
          <a:xfrm>
            <a:off x="8048625" y="2382267"/>
            <a:ext cx="3753693" cy="186689"/>
          </a:xfrm>
          <a:prstGeom prst="rect">
            <a:avLst/>
          </a:prstGeom>
          <a:noFill/>
        </p:spPr>
        <p:txBody>
          <a:bodyPr wrap="none" lIns="0" tIns="0" rIns="0" bIns="0">
            <a:spAutoFit/>
          </a:bodyPr>
          <a:lstStyle/>
          <a:p>
            <a:r>
              <a:rPr sz="1100" b="0">
                <a:solidFill>
                  <a:srgbClr val="2E2E2E"/>
                </a:solidFill>
                <a:latin typeface="Calibri"/>
              </a:rPr>
              <a:t>senior dog cognitive supplement market in Europe was valued at</a:t>
            </a:r>
          </a:p>
        </p:txBody>
      </p:sp>
      <p:sp>
        <p:nvSpPr>
          <p:cNvPr id="39" name="TextBox 38"/>
          <p:cNvSpPr txBox="1"/>
          <p:nvPr/>
        </p:nvSpPr>
        <p:spPr>
          <a:xfrm>
            <a:off x="8048625" y="2549907"/>
            <a:ext cx="301029" cy="186689"/>
          </a:xfrm>
          <a:prstGeom prst="rect">
            <a:avLst/>
          </a:prstGeom>
          <a:noFill/>
        </p:spPr>
        <p:txBody>
          <a:bodyPr wrap="none" lIns="0" tIns="0" rIns="0" bIns="0">
            <a:spAutoFit/>
          </a:bodyPr>
          <a:lstStyle/>
          <a:p>
            <a:r>
              <a:rPr sz="1100" b="0">
                <a:solidFill>
                  <a:srgbClr val="2E2E2E"/>
                </a:solidFill>
                <a:latin typeface="Calibri"/>
              </a:rPr>
              <a:t>US$</a:t>
            </a:r>
          </a:p>
        </p:txBody>
      </p:sp>
      <p:pic>
        <p:nvPicPr>
          <p:cNvPr id="40" name="Picture 39" descr="lock.png"/>
          <p:cNvPicPr>
            <a:picLocks noChangeAspect="1"/>
          </p:cNvPicPr>
          <p:nvPr/>
        </p:nvPicPr>
        <p:blipFill>
          <a:blip r:embed="rId6"/>
          <a:stretch>
            <a:fillRect/>
          </a:stretch>
        </p:blipFill>
        <p:spPr>
          <a:xfrm>
            <a:off x="8297706" y="2540128"/>
            <a:ext cx="128699" cy="187198"/>
          </a:xfrm>
          <a:prstGeom prst="rect">
            <a:avLst/>
          </a:prstGeom>
        </p:spPr>
      </p:pic>
      <p:sp>
        <p:nvSpPr>
          <p:cNvPr id="41" name="TextBox 40"/>
          <p:cNvSpPr txBox="1"/>
          <p:nvPr/>
        </p:nvSpPr>
        <p:spPr>
          <a:xfrm>
            <a:off x="8465202" y="2549907"/>
            <a:ext cx="2325861" cy="186689"/>
          </a:xfrm>
          <a:prstGeom prst="rect">
            <a:avLst/>
          </a:prstGeom>
          <a:noFill/>
        </p:spPr>
        <p:txBody>
          <a:bodyPr wrap="none" lIns="0" tIns="0" rIns="0" bIns="0">
            <a:spAutoFit/>
          </a:bodyPr>
          <a:lstStyle/>
          <a:p>
            <a:r>
              <a:rPr sz="1100" b="0">
                <a:solidFill>
                  <a:srgbClr val="2E2E2E"/>
                </a:solidFill>
                <a:latin typeface="Calibri"/>
              </a:rPr>
              <a:t>Mn and is estimated to account for US$</a:t>
            </a:r>
          </a:p>
        </p:txBody>
      </p:sp>
      <p:pic>
        <p:nvPicPr>
          <p:cNvPr id="42" name="Picture 41" descr="lock.png"/>
          <p:cNvPicPr>
            <a:picLocks noChangeAspect="1"/>
          </p:cNvPicPr>
          <p:nvPr/>
        </p:nvPicPr>
        <p:blipFill>
          <a:blip r:embed="rId6"/>
          <a:stretch>
            <a:fillRect/>
          </a:stretch>
        </p:blipFill>
        <p:spPr>
          <a:xfrm>
            <a:off x="10739114" y="2540128"/>
            <a:ext cx="128699" cy="187198"/>
          </a:xfrm>
          <a:prstGeom prst="rect">
            <a:avLst/>
          </a:prstGeom>
        </p:spPr>
      </p:pic>
      <p:sp>
        <p:nvSpPr>
          <p:cNvPr id="43" name="TextBox 42"/>
          <p:cNvSpPr txBox="1"/>
          <p:nvPr/>
        </p:nvSpPr>
        <p:spPr>
          <a:xfrm>
            <a:off x="10906610" y="2549907"/>
            <a:ext cx="907033" cy="186689"/>
          </a:xfrm>
          <a:prstGeom prst="rect">
            <a:avLst/>
          </a:prstGeom>
          <a:noFill/>
        </p:spPr>
        <p:txBody>
          <a:bodyPr wrap="none" lIns="0" tIns="0" rIns="0" bIns="0">
            <a:spAutoFit/>
          </a:bodyPr>
          <a:lstStyle/>
          <a:p>
            <a:r>
              <a:rPr sz="1100" b="0">
                <a:solidFill>
                  <a:srgbClr val="2E2E2E"/>
                </a:solidFill>
                <a:latin typeface="Calibri"/>
              </a:rPr>
              <a:t>Mn by the end</a:t>
            </a:r>
          </a:p>
        </p:txBody>
      </p:sp>
      <p:sp>
        <p:nvSpPr>
          <p:cNvPr id="44" name="TextBox 43"/>
          <p:cNvSpPr txBox="1"/>
          <p:nvPr/>
        </p:nvSpPr>
        <p:spPr>
          <a:xfrm>
            <a:off x="8048625" y="2717547"/>
            <a:ext cx="2392436" cy="186689"/>
          </a:xfrm>
          <a:prstGeom prst="rect">
            <a:avLst/>
          </a:prstGeom>
          <a:noFill/>
        </p:spPr>
        <p:txBody>
          <a:bodyPr wrap="none" lIns="0" tIns="0" rIns="0" bIns="0">
            <a:spAutoFit/>
          </a:bodyPr>
          <a:lstStyle/>
          <a:p>
            <a:r>
              <a:rPr sz="1100" b="0">
                <a:solidFill>
                  <a:srgbClr val="2E2E2E"/>
                </a:solidFill>
                <a:latin typeface="Calibri"/>
              </a:rPr>
              <a:t>of 2026, reflecting a Y-o-Y growth rate of</a:t>
            </a:r>
          </a:p>
        </p:txBody>
      </p:sp>
      <p:pic>
        <p:nvPicPr>
          <p:cNvPr id="45" name="Picture 44" descr="lock.png"/>
          <p:cNvPicPr>
            <a:picLocks noChangeAspect="1"/>
          </p:cNvPicPr>
          <p:nvPr/>
        </p:nvPicPr>
        <p:blipFill>
          <a:blip r:embed="rId6"/>
          <a:stretch>
            <a:fillRect/>
          </a:stretch>
        </p:blipFill>
        <p:spPr>
          <a:xfrm>
            <a:off x="10389113" y="2707768"/>
            <a:ext cx="128699" cy="187198"/>
          </a:xfrm>
          <a:prstGeom prst="rect">
            <a:avLst/>
          </a:prstGeom>
        </p:spPr>
      </p:pic>
      <p:sp>
        <p:nvSpPr>
          <p:cNvPr id="46" name="TextBox 45"/>
          <p:cNvSpPr txBox="1"/>
          <p:nvPr/>
        </p:nvSpPr>
        <p:spPr>
          <a:xfrm>
            <a:off x="10556609" y="2717547"/>
            <a:ext cx="111397" cy="186689"/>
          </a:xfrm>
          <a:prstGeom prst="rect">
            <a:avLst/>
          </a:prstGeom>
          <a:noFill/>
        </p:spPr>
        <p:txBody>
          <a:bodyPr wrap="none" lIns="0" tIns="0" rIns="0" bIns="0">
            <a:spAutoFit/>
          </a:bodyPr>
          <a:lstStyle/>
          <a:p>
            <a:r>
              <a:rPr sz="1100" b="0">
                <a:solidFill>
                  <a:srgbClr val="2E2E2E"/>
                </a:solidFill>
                <a:latin typeface="Calibri"/>
              </a:rPr>
              <a:t>.</a:t>
            </a:r>
          </a:p>
        </p:txBody>
      </p:sp>
      <p:sp>
        <p:nvSpPr>
          <p:cNvPr id="47" name="TextBox 46"/>
          <p:cNvSpPr txBox="1"/>
          <p:nvPr/>
        </p:nvSpPr>
        <p:spPr>
          <a:xfrm>
            <a:off x="8048625" y="2935479"/>
            <a:ext cx="3064470" cy="186689"/>
          </a:xfrm>
          <a:prstGeom prst="rect">
            <a:avLst/>
          </a:prstGeom>
          <a:noFill/>
        </p:spPr>
        <p:txBody>
          <a:bodyPr wrap="none" lIns="0" tIns="0" rIns="0" bIns="0">
            <a:spAutoFit/>
          </a:bodyPr>
          <a:lstStyle/>
          <a:p>
            <a:r>
              <a:rPr sz="1100" b="0">
                <a:solidFill>
                  <a:srgbClr val="2E2E2E"/>
                </a:solidFill>
                <a:latin typeface="Calibri"/>
              </a:rPr>
              <a:t>The market in Europe is expected to account for US$</a:t>
            </a:r>
          </a:p>
        </p:txBody>
      </p:sp>
      <p:pic>
        <p:nvPicPr>
          <p:cNvPr id="48" name="Picture 47" descr="lock.png"/>
          <p:cNvPicPr>
            <a:picLocks noChangeAspect="1"/>
          </p:cNvPicPr>
          <p:nvPr/>
        </p:nvPicPr>
        <p:blipFill>
          <a:blip r:embed="rId6"/>
          <a:stretch>
            <a:fillRect/>
          </a:stretch>
        </p:blipFill>
        <p:spPr>
          <a:xfrm>
            <a:off x="11061146" y="2925700"/>
            <a:ext cx="128699" cy="187198"/>
          </a:xfrm>
          <a:prstGeom prst="rect">
            <a:avLst/>
          </a:prstGeom>
        </p:spPr>
      </p:pic>
      <p:sp>
        <p:nvSpPr>
          <p:cNvPr id="49" name="TextBox 48"/>
          <p:cNvSpPr txBox="1"/>
          <p:nvPr/>
        </p:nvSpPr>
        <p:spPr>
          <a:xfrm>
            <a:off x="11228642" y="2935479"/>
            <a:ext cx="437455" cy="186689"/>
          </a:xfrm>
          <a:prstGeom prst="rect">
            <a:avLst/>
          </a:prstGeom>
          <a:noFill/>
        </p:spPr>
        <p:txBody>
          <a:bodyPr wrap="none" lIns="0" tIns="0" rIns="0" bIns="0">
            <a:spAutoFit/>
          </a:bodyPr>
          <a:lstStyle/>
          <a:p>
            <a:r>
              <a:rPr sz="1100" b="0">
                <a:solidFill>
                  <a:srgbClr val="2E2E2E"/>
                </a:solidFill>
                <a:latin typeface="Calibri"/>
              </a:rPr>
              <a:t>Mn by</a:t>
            </a:r>
          </a:p>
        </p:txBody>
      </p:sp>
      <p:sp>
        <p:nvSpPr>
          <p:cNvPr id="50" name="TextBox 49"/>
          <p:cNvSpPr txBox="1"/>
          <p:nvPr/>
        </p:nvSpPr>
        <p:spPr>
          <a:xfrm>
            <a:off x="8048625" y="3103119"/>
            <a:ext cx="1102650" cy="186689"/>
          </a:xfrm>
          <a:prstGeom prst="rect">
            <a:avLst/>
          </a:prstGeom>
          <a:noFill/>
        </p:spPr>
        <p:txBody>
          <a:bodyPr wrap="none" lIns="0" tIns="0" rIns="0" bIns="0">
            <a:spAutoFit/>
          </a:bodyPr>
          <a:lstStyle/>
          <a:p>
            <a:r>
              <a:rPr sz="1100" b="0">
                <a:solidFill>
                  <a:srgbClr val="2E2E2E"/>
                </a:solidFill>
                <a:latin typeface="Calibri"/>
              </a:rPr>
              <a:t>2036 at a CAGR of</a:t>
            </a:r>
          </a:p>
        </p:txBody>
      </p:sp>
      <p:pic>
        <p:nvPicPr>
          <p:cNvPr id="51" name="Picture 50" descr="lock.png"/>
          <p:cNvPicPr>
            <a:picLocks noChangeAspect="1"/>
          </p:cNvPicPr>
          <p:nvPr/>
        </p:nvPicPr>
        <p:blipFill>
          <a:blip r:embed="rId6"/>
          <a:stretch>
            <a:fillRect/>
          </a:stretch>
        </p:blipFill>
        <p:spPr>
          <a:xfrm>
            <a:off x="9099327" y="3093340"/>
            <a:ext cx="128699" cy="187198"/>
          </a:xfrm>
          <a:prstGeom prst="rect">
            <a:avLst/>
          </a:prstGeom>
        </p:spPr>
      </p:pic>
      <p:sp>
        <p:nvSpPr>
          <p:cNvPr id="52" name="TextBox 51"/>
          <p:cNvSpPr txBox="1"/>
          <p:nvPr/>
        </p:nvSpPr>
        <p:spPr>
          <a:xfrm>
            <a:off x="9266822" y="3103119"/>
            <a:ext cx="2041822" cy="186689"/>
          </a:xfrm>
          <a:prstGeom prst="rect">
            <a:avLst/>
          </a:prstGeom>
          <a:noFill/>
        </p:spPr>
        <p:txBody>
          <a:bodyPr wrap="none" lIns="0" tIns="0" rIns="0" bIns="0">
            <a:spAutoFit/>
          </a:bodyPr>
          <a:lstStyle/>
          <a:p>
            <a:r>
              <a:rPr sz="1100" b="0">
                <a:solidFill>
                  <a:srgbClr val="2E2E2E"/>
                </a:solidFill>
                <a:latin typeface="Calibri"/>
              </a:rPr>
              <a:t>over the forecast period. Europe is</a:t>
            </a:r>
          </a:p>
        </p:txBody>
      </p:sp>
      <p:sp>
        <p:nvSpPr>
          <p:cNvPr id="53" name="TextBox 52"/>
          <p:cNvSpPr txBox="1"/>
          <p:nvPr/>
        </p:nvSpPr>
        <p:spPr>
          <a:xfrm>
            <a:off x="8048625" y="3270759"/>
            <a:ext cx="3145780" cy="186689"/>
          </a:xfrm>
          <a:prstGeom prst="rect">
            <a:avLst/>
          </a:prstGeom>
          <a:noFill/>
        </p:spPr>
        <p:txBody>
          <a:bodyPr wrap="none" lIns="0" tIns="0" rIns="0" bIns="0">
            <a:spAutoFit/>
          </a:bodyPr>
          <a:lstStyle/>
          <a:p>
            <a:r>
              <a:rPr sz="1100" b="0">
                <a:solidFill>
                  <a:srgbClr val="2E2E2E"/>
                </a:solidFill>
                <a:latin typeface="Calibri"/>
              </a:rPr>
              <a:t>expected to create an incremental opportunity of US$</a:t>
            </a:r>
          </a:p>
        </p:txBody>
      </p:sp>
      <p:pic>
        <p:nvPicPr>
          <p:cNvPr id="54" name="Picture 53" descr="lock.png"/>
          <p:cNvPicPr>
            <a:picLocks noChangeAspect="1"/>
          </p:cNvPicPr>
          <p:nvPr/>
        </p:nvPicPr>
        <p:blipFill>
          <a:blip r:embed="rId6"/>
          <a:stretch>
            <a:fillRect/>
          </a:stretch>
        </p:blipFill>
        <p:spPr>
          <a:xfrm>
            <a:off x="11142456" y="3260980"/>
            <a:ext cx="128699" cy="187198"/>
          </a:xfrm>
          <a:prstGeom prst="rect">
            <a:avLst/>
          </a:prstGeom>
        </p:spPr>
      </p:pic>
      <p:sp>
        <p:nvSpPr>
          <p:cNvPr id="55" name="TextBox 54"/>
          <p:cNvSpPr txBox="1"/>
          <p:nvPr/>
        </p:nvSpPr>
        <p:spPr>
          <a:xfrm>
            <a:off x="11309952" y="3270759"/>
            <a:ext cx="465832" cy="186689"/>
          </a:xfrm>
          <a:prstGeom prst="rect">
            <a:avLst/>
          </a:prstGeom>
          <a:noFill/>
        </p:spPr>
        <p:txBody>
          <a:bodyPr wrap="none" lIns="0" tIns="0" rIns="0" bIns="0">
            <a:spAutoFit/>
          </a:bodyPr>
          <a:lstStyle/>
          <a:p>
            <a:r>
              <a:rPr sz="1100" b="0">
                <a:solidFill>
                  <a:srgbClr val="2E2E2E"/>
                </a:solidFill>
                <a:latin typeface="Calibri"/>
              </a:rPr>
              <a:t>Mn for</a:t>
            </a:r>
          </a:p>
        </p:txBody>
      </p:sp>
      <p:sp>
        <p:nvSpPr>
          <p:cNvPr id="56" name="TextBox 55"/>
          <p:cNvSpPr txBox="1"/>
          <p:nvPr/>
        </p:nvSpPr>
        <p:spPr>
          <a:xfrm>
            <a:off x="8048625" y="3438399"/>
            <a:ext cx="3784798" cy="186689"/>
          </a:xfrm>
          <a:prstGeom prst="rect">
            <a:avLst/>
          </a:prstGeom>
          <a:noFill/>
        </p:spPr>
        <p:txBody>
          <a:bodyPr wrap="none" lIns="0" tIns="0" rIns="0" bIns="0">
            <a:spAutoFit/>
          </a:bodyPr>
          <a:lstStyle/>
          <a:p>
            <a:r>
              <a:rPr sz="1100" b="0">
                <a:solidFill>
                  <a:srgbClr val="2E2E2E"/>
                </a:solidFill>
                <a:latin typeface="Calibri"/>
              </a:rPr>
              <a:t>the overall senior dog cognitive supplement market from 2025 to</a:t>
            </a:r>
          </a:p>
        </p:txBody>
      </p:sp>
      <p:sp>
        <p:nvSpPr>
          <p:cNvPr id="57" name="TextBox 56"/>
          <p:cNvSpPr txBox="1"/>
          <p:nvPr/>
        </p:nvSpPr>
        <p:spPr>
          <a:xfrm>
            <a:off x="8048625" y="3606039"/>
            <a:ext cx="395163" cy="186689"/>
          </a:xfrm>
          <a:prstGeom prst="rect">
            <a:avLst/>
          </a:prstGeom>
          <a:noFill/>
        </p:spPr>
        <p:txBody>
          <a:bodyPr wrap="none" lIns="0" tIns="0" rIns="0" bIns="0">
            <a:spAutoFit/>
          </a:bodyPr>
          <a:lstStyle/>
          <a:p>
            <a:r>
              <a:rPr sz="1100" b="0">
                <a:solidFill>
                  <a:srgbClr val="2E2E2E"/>
                </a:solidFill>
                <a:latin typeface="Calibri"/>
              </a:rPr>
              <a:t>2036.</a:t>
            </a:r>
          </a:p>
        </p:txBody>
      </p:sp>
      <p:sp>
        <p:nvSpPr>
          <p:cNvPr id="58" name="TextBox 57"/>
          <p:cNvSpPr txBox="1"/>
          <p:nvPr/>
        </p:nvSpPr>
        <p:spPr>
          <a:xfrm>
            <a:off x="8048625" y="3823971"/>
            <a:ext cx="2837184" cy="186689"/>
          </a:xfrm>
          <a:prstGeom prst="rect">
            <a:avLst/>
          </a:prstGeom>
          <a:noFill/>
        </p:spPr>
        <p:txBody>
          <a:bodyPr wrap="none" lIns="0" tIns="0" rIns="0" bIns="0">
            <a:spAutoFit/>
          </a:bodyPr>
          <a:lstStyle/>
          <a:p>
            <a:r>
              <a:rPr sz="1100" b="0">
                <a:solidFill>
                  <a:srgbClr val="2E2E2E"/>
                </a:solidFill>
                <a:latin typeface="Calibri"/>
              </a:rPr>
              <a:t>Absolute $ value for 2026 is estimated to be US$</a:t>
            </a:r>
          </a:p>
        </p:txBody>
      </p:sp>
      <p:pic>
        <p:nvPicPr>
          <p:cNvPr id="59" name="Picture 58" descr="lock.png"/>
          <p:cNvPicPr>
            <a:picLocks noChangeAspect="1"/>
          </p:cNvPicPr>
          <p:nvPr/>
        </p:nvPicPr>
        <p:blipFill>
          <a:blip r:embed="rId6"/>
          <a:stretch>
            <a:fillRect/>
          </a:stretch>
        </p:blipFill>
        <p:spPr>
          <a:xfrm>
            <a:off x="10833861" y="3814192"/>
            <a:ext cx="128699" cy="187198"/>
          </a:xfrm>
          <a:prstGeom prst="rect">
            <a:avLst/>
          </a:prstGeom>
        </p:spPr>
      </p:pic>
      <p:sp>
        <p:nvSpPr>
          <p:cNvPr id="60" name="TextBox 59"/>
          <p:cNvSpPr txBox="1"/>
          <p:nvPr/>
        </p:nvSpPr>
        <p:spPr>
          <a:xfrm>
            <a:off x="11001357" y="3823971"/>
            <a:ext cx="304303" cy="186689"/>
          </a:xfrm>
          <a:prstGeom prst="rect">
            <a:avLst/>
          </a:prstGeom>
          <a:noFill/>
        </p:spPr>
        <p:txBody>
          <a:bodyPr wrap="none" lIns="0" tIns="0" rIns="0" bIns="0">
            <a:spAutoFit/>
          </a:bodyPr>
          <a:lstStyle/>
          <a:p>
            <a:r>
              <a:rPr sz="1100" b="0">
                <a:solidFill>
                  <a:srgbClr val="2E2E2E"/>
                </a:solidFill>
                <a:latin typeface="Calibri"/>
              </a:rPr>
              <a:t>Mn.</a:t>
            </a:r>
          </a:p>
        </p:txBody>
      </p:sp>
      <p:sp>
        <p:nvSpPr>
          <p:cNvPr id="61" name="TextBox 60"/>
          <p:cNvSpPr txBox="1"/>
          <p:nvPr/>
        </p:nvSpPr>
        <p:spPr>
          <a:xfrm>
            <a:off x="8048625" y="5152979"/>
            <a:ext cx="2242703" cy="194310"/>
          </a:xfrm>
          <a:prstGeom prst="rect">
            <a:avLst/>
          </a:prstGeom>
          <a:noFill/>
        </p:spPr>
        <p:txBody>
          <a:bodyPr wrap="none" lIns="0" tIns="0" rIns="0" bIns="0">
            <a:spAutoFit/>
          </a:bodyPr>
          <a:lstStyle/>
          <a:p>
            <a:r>
              <a:rPr sz="1150" b="0">
                <a:solidFill>
                  <a:srgbClr val="2E2E2E"/>
                </a:solidFill>
                <a:latin typeface="Calibri"/>
              </a:rPr>
              <a:t>▪ 'Germany' leads regional growth at</a:t>
            </a:r>
          </a:p>
        </p:txBody>
      </p:sp>
      <p:pic>
        <p:nvPicPr>
          <p:cNvPr id="62" name="Picture 61" descr="lock.png"/>
          <p:cNvPicPr>
            <a:picLocks noChangeAspect="1"/>
          </p:cNvPicPr>
          <p:nvPr/>
        </p:nvPicPr>
        <p:blipFill>
          <a:blip r:embed="rId6"/>
          <a:stretch>
            <a:fillRect/>
          </a:stretch>
        </p:blipFill>
        <p:spPr>
          <a:xfrm>
            <a:off x="10240482" y="5142755"/>
            <a:ext cx="134549" cy="195707"/>
          </a:xfrm>
          <a:prstGeom prst="rect">
            <a:avLst/>
          </a:prstGeom>
        </p:spPr>
      </p:pic>
      <p:sp>
        <p:nvSpPr>
          <p:cNvPr id="63" name="TextBox 62"/>
          <p:cNvSpPr txBox="1"/>
          <p:nvPr/>
        </p:nvSpPr>
        <p:spPr>
          <a:xfrm>
            <a:off x="10415591" y="5152979"/>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64" name="TextBox 63"/>
          <p:cNvSpPr txBox="1"/>
          <p:nvPr/>
        </p:nvSpPr>
        <p:spPr>
          <a:xfrm>
            <a:off x="8048625" y="5380816"/>
            <a:ext cx="3746816" cy="194310"/>
          </a:xfrm>
          <a:prstGeom prst="rect">
            <a:avLst/>
          </a:prstGeom>
          <a:noFill/>
        </p:spPr>
        <p:txBody>
          <a:bodyPr wrap="none" lIns="0" tIns="0" rIns="0" bIns="0">
            <a:spAutoFit/>
          </a:bodyPr>
          <a:lstStyle/>
          <a:p>
            <a:r>
              <a:rPr sz="1150" b="0">
                <a:solidFill>
                  <a:srgbClr val="2E2E2E"/>
                </a:solidFill>
                <a:latin typeface="Calibri"/>
              </a:rPr>
              <a:t>▪ Demand concentrates in 'Capsules and Softgels' within Form</a:t>
            </a:r>
          </a:p>
        </p:txBody>
      </p:sp>
      <p:sp>
        <p:nvSpPr>
          <p:cNvPr id="65" name="TextBox 64"/>
          <p:cNvSpPr txBox="1"/>
          <p:nvPr/>
        </p:nvSpPr>
        <p:spPr>
          <a:xfrm>
            <a:off x="8048625" y="5556076"/>
            <a:ext cx="399963" cy="194310"/>
          </a:xfrm>
          <a:prstGeom prst="rect">
            <a:avLst/>
          </a:prstGeom>
          <a:noFill/>
        </p:spPr>
        <p:txBody>
          <a:bodyPr wrap="none" lIns="0" tIns="0" rIns="0" bIns="0">
            <a:spAutoFit/>
          </a:bodyPr>
          <a:lstStyle/>
          <a:p>
            <a:r>
              <a:rPr sz="1150" b="0">
                <a:solidFill>
                  <a:srgbClr val="2E2E2E"/>
                </a:solidFill>
                <a:latin typeface="Calibri"/>
              </a:rPr>
              <a:t>Type.</a:t>
            </a:r>
          </a:p>
        </p:txBody>
      </p:sp>
      <p:sp>
        <p:nvSpPr>
          <p:cNvPr id="66" name="TextBox 65"/>
          <p:cNvSpPr txBox="1"/>
          <p:nvPr/>
        </p:nvSpPr>
        <p:spPr>
          <a:xfrm>
            <a:off x="8048625" y="5783914"/>
            <a:ext cx="3291296" cy="194310"/>
          </a:xfrm>
          <a:prstGeom prst="rect">
            <a:avLst/>
          </a:prstGeom>
          <a:noFill/>
        </p:spPr>
        <p:txBody>
          <a:bodyPr wrap="none" lIns="0" tIns="0" rIns="0" bIns="0">
            <a:spAutoFit/>
          </a:bodyPr>
          <a:lstStyle/>
          <a:p>
            <a:r>
              <a:rPr sz="1150" b="0">
                <a:solidFill>
                  <a:srgbClr val="2E2E2E"/>
                </a:solidFill>
                <a:latin typeface="Calibri"/>
              </a:rPr>
              <a:t>▪ Product innovation and premiumisation lifting value.</a:t>
            </a:r>
          </a:p>
        </p:txBody>
      </p:sp>
      <p:sp>
        <p:nvSpPr>
          <p:cNvPr id="67" name="TextBox 66"/>
          <p:cNvSpPr txBox="1"/>
          <p:nvPr/>
        </p:nvSpPr>
        <p:spPr>
          <a:xfrm>
            <a:off x="8048625" y="6011752"/>
            <a:ext cx="2741327" cy="194310"/>
          </a:xfrm>
          <a:prstGeom prst="rect">
            <a:avLst/>
          </a:prstGeom>
          <a:noFill/>
        </p:spPr>
        <p:txBody>
          <a:bodyPr wrap="none" lIns="0" tIns="0" rIns="0" bIns="0">
            <a:spAutoFit/>
          </a:bodyPr>
          <a:lstStyle/>
          <a:p>
            <a:r>
              <a:rPr sz="1150" b="0">
                <a:solidFill>
                  <a:srgbClr val="2E2E2E"/>
                </a:solidFill>
                <a:latin typeface="Calibri"/>
              </a:rPr>
              <a:t>▪ Expanding end-use applications and access.</a:t>
            </a:r>
          </a:p>
        </p:txBody>
      </p:sp>
      <p:sp>
        <p:nvSpPr>
          <p:cNvPr id="68"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Volume &amp; Value Analysis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volume and value growth of the Europe market and the incremental $ opportunity it creates, 2021–2036</a:t>
            </a:r>
          </a:p>
        </p:txBody>
      </p:sp>
      <p:sp>
        <p:nvSpPr>
          <p:cNvPr id="10" name="Rounded Rectangle 9"/>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4505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Market, 2021–2025 (Historical)</a:t>
            </a:r>
          </a:p>
        </p:txBody>
      </p:sp>
      <p:graphicFrame>
        <p:nvGraphicFramePr>
          <p:cNvPr id="12" name="Chart 11"/>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86350" y="1038225"/>
            <a:ext cx="6858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Market, 2026–2036 (Forecast)</a:t>
            </a:r>
          </a:p>
        </p:txBody>
      </p:sp>
      <p:graphicFrame>
        <p:nvGraphicFramePr>
          <p:cNvPr id="15" name="Chart 14"/>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4543425"/>
            <a:ext cx="11639550" cy="209550"/>
          </a:xfrm>
          <a:prstGeom prst="rect">
            <a:avLst/>
          </a:prstGeom>
          <a:noFill/>
        </p:spPr>
        <p:txBody>
          <a:bodyPr wrap="square" lIns="0" tIns="9525" rIns="19050" bIns="9525">
            <a:spAutoFit/>
          </a:bodyPr>
          <a:lstStyle/>
          <a:p>
            <a:pPr algn="l"/>
            <a:r>
              <a:rPr sz="1300" b="1">
                <a:solidFill>
                  <a:srgbClr val="0B2E4A"/>
                </a:solidFill>
                <a:latin typeface="Calibri"/>
              </a:rPr>
              <a:t>Europe Volume &amp; Value Analysis</a:t>
            </a:r>
          </a:p>
        </p:txBody>
      </p:sp>
      <p:sp>
        <p:nvSpPr>
          <p:cNvPr id="22" name="Rectangle 21"/>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6225" y="4867275"/>
            <a:ext cx="11639550" cy="166687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5356" y="2029222"/>
            <a:ext cx="202455" cy="294480"/>
          </a:xfrm>
          <a:prstGeom prst="rect">
            <a:avLst/>
          </a:prstGeom>
        </p:spPr>
      </p:pic>
      <p:pic>
        <p:nvPicPr>
          <p:cNvPr id="26" name="Picture 25" descr="lock.png"/>
          <p:cNvPicPr>
            <a:picLocks noChangeAspect="1"/>
          </p:cNvPicPr>
          <p:nvPr/>
        </p:nvPicPr>
        <p:blipFill>
          <a:blip r:embed="rId6"/>
          <a:stretch>
            <a:fillRect/>
          </a:stretch>
        </p:blipFill>
        <p:spPr>
          <a:xfrm>
            <a:off x="8532694" y="1990329"/>
            <a:ext cx="255933" cy="372266"/>
          </a:xfrm>
          <a:prstGeom prst="rect">
            <a:avLst/>
          </a:prstGeom>
        </p:spPr>
      </p:pic>
      <p:pic>
        <p:nvPicPr>
          <p:cNvPr id="27" name="Picture 26" descr="lock.png"/>
          <p:cNvPicPr>
            <a:picLocks noChangeAspect="1"/>
          </p:cNvPicPr>
          <p:nvPr/>
        </p:nvPicPr>
        <p:blipFill>
          <a:blip r:embed="rId6"/>
          <a:stretch>
            <a:fillRect/>
          </a:stretch>
        </p:blipFill>
        <p:spPr>
          <a:xfrm>
            <a:off x="13215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3950970"/>
            <a:ext cx="157162" cy="228600"/>
          </a:xfrm>
          <a:prstGeom prst="rect">
            <a:avLst/>
          </a:prstGeom>
        </p:spPr>
      </p:pic>
      <p:sp>
        <p:nvSpPr>
          <p:cNvPr id="31" name="TextBox 30"/>
          <p:cNvSpPr txBox="1"/>
          <p:nvPr/>
        </p:nvSpPr>
        <p:spPr>
          <a:xfrm>
            <a:off x="276225" y="4876800"/>
            <a:ext cx="4828530" cy="194310"/>
          </a:xfrm>
          <a:prstGeom prst="rect">
            <a:avLst/>
          </a:prstGeom>
          <a:noFill/>
        </p:spPr>
        <p:txBody>
          <a:bodyPr wrap="none" lIns="0" tIns="0" rIns="0" bIns="0">
            <a:spAutoFit/>
          </a:bodyPr>
          <a:lstStyle/>
          <a:p>
            <a:r>
              <a:rPr sz="1150" b="0">
                <a:solidFill>
                  <a:srgbClr val="2E2E2E"/>
                </a:solidFill>
                <a:latin typeface="Calibri"/>
              </a:rPr>
              <a:t>Senior dog cognitive supplement market value in Europe is expected to increase</a:t>
            </a:r>
          </a:p>
        </p:txBody>
      </p:sp>
      <p:pic>
        <p:nvPicPr>
          <p:cNvPr id="32" name="Picture 31" descr="lock.png"/>
          <p:cNvPicPr>
            <a:picLocks noChangeAspect="1"/>
          </p:cNvPicPr>
          <p:nvPr/>
        </p:nvPicPr>
        <p:blipFill>
          <a:blip r:embed="rId6"/>
          <a:stretch>
            <a:fillRect/>
          </a:stretch>
        </p:blipFill>
        <p:spPr>
          <a:xfrm>
            <a:off x="5053909" y="4866576"/>
            <a:ext cx="134549" cy="195707"/>
          </a:xfrm>
          <a:prstGeom prst="rect">
            <a:avLst/>
          </a:prstGeom>
        </p:spPr>
      </p:pic>
      <p:sp>
        <p:nvSpPr>
          <p:cNvPr id="33" name="TextBox 32"/>
          <p:cNvSpPr txBox="1"/>
          <p:nvPr/>
        </p:nvSpPr>
        <p:spPr>
          <a:xfrm>
            <a:off x="5229018" y="4876800"/>
            <a:ext cx="6553460" cy="194310"/>
          </a:xfrm>
          <a:prstGeom prst="rect">
            <a:avLst/>
          </a:prstGeom>
          <a:noFill/>
        </p:spPr>
        <p:txBody>
          <a:bodyPr wrap="none" lIns="0" tIns="0" rIns="0" bIns="0">
            <a:spAutoFit/>
          </a:bodyPr>
          <a:lstStyle/>
          <a:p>
            <a:r>
              <a:rPr sz="1150" b="0">
                <a:solidFill>
                  <a:srgbClr val="2E2E2E"/>
                </a:solidFill>
                <a:latin typeface="Calibri"/>
              </a:rPr>
              <a:t>X between 2025 and 2036. In 2025, the senior dog cognitive supplement market in Europe was valued at US$</a:t>
            </a:r>
          </a:p>
        </p:txBody>
      </p:sp>
      <p:pic>
        <p:nvPicPr>
          <p:cNvPr id="34" name="Picture 33" descr="lock.png"/>
          <p:cNvPicPr>
            <a:picLocks noChangeAspect="1"/>
          </p:cNvPicPr>
          <p:nvPr/>
        </p:nvPicPr>
        <p:blipFill>
          <a:blip r:embed="rId6"/>
          <a:stretch>
            <a:fillRect/>
          </a:stretch>
        </p:blipFill>
        <p:spPr>
          <a:xfrm>
            <a:off x="262145" y="5041836"/>
            <a:ext cx="134549" cy="195707"/>
          </a:xfrm>
          <a:prstGeom prst="rect">
            <a:avLst/>
          </a:prstGeom>
        </p:spPr>
      </p:pic>
      <p:sp>
        <p:nvSpPr>
          <p:cNvPr id="35" name="TextBox 34"/>
          <p:cNvSpPr txBox="1"/>
          <p:nvPr/>
        </p:nvSpPr>
        <p:spPr>
          <a:xfrm>
            <a:off x="437254" y="5052060"/>
            <a:ext cx="2428118" cy="194310"/>
          </a:xfrm>
          <a:prstGeom prst="rect">
            <a:avLst/>
          </a:prstGeom>
          <a:noFill/>
        </p:spPr>
        <p:txBody>
          <a:bodyPr wrap="none" lIns="0" tIns="0" rIns="0" bIns="0">
            <a:spAutoFit/>
          </a:bodyPr>
          <a:lstStyle/>
          <a:p>
            <a:r>
              <a:rPr sz="1150" b="0">
                <a:solidFill>
                  <a:srgbClr val="2E2E2E"/>
                </a:solidFill>
                <a:latin typeface="Calibri"/>
              </a:rPr>
              <a:t>Mn and is estimated to account for US$</a:t>
            </a:r>
          </a:p>
        </p:txBody>
      </p:sp>
      <p:pic>
        <p:nvPicPr>
          <p:cNvPr id="36" name="Picture 35" descr="lock.png"/>
          <p:cNvPicPr>
            <a:picLocks noChangeAspect="1"/>
          </p:cNvPicPr>
          <p:nvPr/>
        </p:nvPicPr>
        <p:blipFill>
          <a:blip r:embed="rId6"/>
          <a:stretch>
            <a:fillRect/>
          </a:stretch>
        </p:blipFill>
        <p:spPr>
          <a:xfrm>
            <a:off x="2814527" y="5041836"/>
            <a:ext cx="134549" cy="195707"/>
          </a:xfrm>
          <a:prstGeom prst="rect">
            <a:avLst/>
          </a:prstGeom>
        </p:spPr>
      </p:pic>
      <p:sp>
        <p:nvSpPr>
          <p:cNvPr id="37" name="TextBox 36"/>
          <p:cNvSpPr txBox="1"/>
          <p:nvPr/>
        </p:nvSpPr>
        <p:spPr>
          <a:xfrm>
            <a:off x="2989636" y="5052060"/>
            <a:ext cx="3399408" cy="194310"/>
          </a:xfrm>
          <a:prstGeom prst="rect">
            <a:avLst/>
          </a:prstGeom>
          <a:noFill/>
        </p:spPr>
        <p:txBody>
          <a:bodyPr wrap="none" lIns="0" tIns="0" rIns="0" bIns="0">
            <a:spAutoFit/>
          </a:bodyPr>
          <a:lstStyle/>
          <a:p>
            <a:r>
              <a:rPr sz="1150" b="0">
                <a:solidFill>
                  <a:srgbClr val="2E2E2E"/>
                </a:solidFill>
                <a:latin typeface="Calibri"/>
              </a:rPr>
              <a:t>Mn by the end of 2026, reflecting a Y-o-Y growth rate of</a:t>
            </a:r>
          </a:p>
        </p:txBody>
      </p:sp>
      <p:pic>
        <p:nvPicPr>
          <p:cNvPr id="38" name="Picture 37" descr="lock.png"/>
          <p:cNvPicPr>
            <a:picLocks noChangeAspect="1"/>
          </p:cNvPicPr>
          <p:nvPr/>
        </p:nvPicPr>
        <p:blipFill>
          <a:blip r:embed="rId6"/>
          <a:stretch>
            <a:fillRect/>
          </a:stretch>
        </p:blipFill>
        <p:spPr>
          <a:xfrm>
            <a:off x="6338198" y="5041836"/>
            <a:ext cx="134549" cy="195707"/>
          </a:xfrm>
          <a:prstGeom prst="rect">
            <a:avLst/>
          </a:prstGeom>
        </p:spPr>
      </p:pic>
      <p:sp>
        <p:nvSpPr>
          <p:cNvPr id="39" name="TextBox 38"/>
          <p:cNvSpPr txBox="1"/>
          <p:nvPr/>
        </p:nvSpPr>
        <p:spPr>
          <a:xfrm>
            <a:off x="6513307" y="5052060"/>
            <a:ext cx="3270187" cy="194310"/>
          </a:xfrm>
          <a:prstGeom prst="rect">
            <a:avLst/>
          </a:prstGeom>
          <a:noFill/>
        </p:spPr>
        <p:txBody>
          <a:bodyPr wrap="none" lIns="0" tIns="0" rIns="0" bIns="0">
            <a:spAutoFit/>
          </a:bodyPr>
          <a:lstStyle/>
          <a:p>
            <a:r>
              <a:rPr sz="1150" b="0">
                <a:solidFill>
                  <a:srgbClr val="2E2E2E"/>
                </a:solidFill>
                <a:latin typeface="Calibri"/>
              </a:rPr>
              <a:t>. The market in Europe is expected to account for US$</a:t>
            </a:r>
          </a:p>
        </p:txBody>
      </p:sp>
      <p:pic>
        <p:nvPicPr>
          <p:cNvPr id="40" name="Picture 39" descr="lock.png"/>
          <p:cNvPicPr>
            <a:picLocks noChangeAspect="1"/>
          </p:cNvPicPr>
          <p:nvPr/>
        </p:nvPicPr>
        <p:blipFill>
          <a:blip r:embed="rId6"/>
          <a:stretch>
            <a:fillRect/>
          </a:stretch>
        </p:blipFill>
        <p:spPr>
          <a:xfrm>
            <a:off x="9732649" y="5041836"/>
            <a:ext cx="134549" cy="195707"/>
          </a:xfrm>
          <a:prstGeom prst="rect">
            <a:avLst/>
          </a:prstGeom>
        </p:spPr>
      </p:pic>
      <p:sp>
        <p:nvSpPr>
          <p:cNvPr id="41" name="TextBox 40"/>
          <p:cNvSpPr txBox="1"/>
          <p:nvPr/>
        </p:nvSpPr>
        <p:spPr>
          <a:xfrm>
            <a:off x="9907758" y="5052060"/>
            <a:ext cx="1560072" cy="194310"/>
          </a:xfrm>
          <a:prstGeom prst="rect">
            <a:avLst/>
          </a:prstGeom>
          <a:noFill/>
        </p:spPr>
        <p:txBody>
          <a:bodyPr wrap="none" lIns="0" tIns="0" rIns="0" bIns="0">
            <a:spAutoFit/>
          </a:bodyPr>
          <a:lstStyle/>
          <a:p>
            <a:r>
              <a:rPr sz="1150" b="0">
                <a:solidFill>
                  <a:srgbClr val="2E2E2E"/>
                </a:solidFill>
                <a:latin typeface="Calibri"/>
              </a:rPr>
              <a:t>Mn by 2036 at a CAGR of</a:t>
            </a:r>
          </a:p>
        </p:txBody>
      </p:sp>
      <p:pic>
        <p:nvPicPr>
          <p:cNvPr id="42" name="Picture 41" descr="lock.png"/>
          <p:cNvPicPr>
            <a:picLocks noChangeAspect="1"/>
          </p:cNvPicPr>
          <p:nvPr/>
        </p:nvPicPr>
        <p:blipFill>
          <a:blip r:embed="rId6"/>
          <a:stretch>
            <a:fillRect/>
          </a:stretch>
        </p:blipFill>
        <p:spPr>
          <a:xfrm>
            <a:off x="262145" y="5217096"/>
            <a:ext cx="134549" cy="195707"/>
          </a:xfrm>
          <a:prstGeom prst="rect">
            <a:avLst/>
          </a:prstGeom>
        </p:spPr>
      </p:pic>
      <p:sp>
        <p:nvSpPr>
          <p:cNvPr id="43" name="TextBox 42"/>
          <p:cNvSpPr txBox="1"/>
          <p:nvPr/>
        </p:nvSpPr>
        <p:spPr>
          <a:xfrm>
            <a:off x="437254" y="5227320"/>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44" name="TextBox 43"/>
          <p:cNvSpPr txBox="1"/>
          <p:nvPr/>
        </p:nvSpPr>
        <p:spPr>
          <a:xfrm>
            <a:off x="276225" y="5455157"/>
            <a:ext cx="3867794" cy="194310"/>
          </a:xfrm>
          <a:prstGeom prst="rect">
            <a:avLst/>
          </a:prstGeom>
          <a:noFill/>
        </p:spPr>
        <p:txBody>
          <a:bodyPr wrap="none" lIns="0" tIns="0" rIns="0" bIns="0">
            <a:spAutoFit/>
          </a:bodyPr>
          <a:lstStyle/>
          <a:p>
            <a:r>
              <a:rPr sz="1150" b="0">
                <a:solidFill>
                  <a:srgbClr val="2E2E2E"/>
                </a:solidFill>
                <a:latin typeface="Calibri"/>
              </a:rPr>
              <a:t>Europe is expected to create an incremental opportunity of US$</a:t>
            </a:r>
          </a:p>
        </p:txBody>
      </p:sp>
      <p:pic>
        <p:nvPicPr>
          <p:cNvPr id="45" name="Picture 44" descr="lock.png"/>
          <p:cNvPicPr>
            <a:picLocks noChangeAspect="1"/>
          </p:cNvPicPr>
          <p:nvPr/>
        </p:nvPicPr>
        <p:blipFill>
          <a:blip r:embed="rId6"/>
          <a:stretch>
            <a:fillRect/>
          </a:stretch>
        </p:blipFill>
        <p:spPr>
          <a:xfrm>
            <a:off x="4093173" y="5444934"/>
            <a:ext cx="134549" cy="195707"/>
          </a:xfrm>
          <a:prstGeom prst="rect">
            <a:avLst/>
          </a:prstGeom>
        </p:spPr>
      </p:pic>
      <p:sp>
        <p:nvSpPr>
          <p:cNvPr id="46" name="TextBox 45"/>
          <p:cNvSpPr txBox="1"/>
          <p:nvPr/>
        </p:nvSpPr>
        <p:spPr>
          <a:xfrm>
            <a:off x="4268283" y="5455157"/>
            <a:ext cx="7411789"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 market from 2025 to 2036. Absolute $ value for 2026 is estimated to be</a:t>
            </a:r>
          </a:p>
        </p:txBody>
      </p:sp>
      <p:sp>
        <p:nvSpPr>
          <p:cNvPr id="47" name="TextBox 46"/>
          <p:cNvSpPr txBox="1"/>
          <p:nvPr/>
        </p:nvSpPr>
        <p:spPr>
          <a:xfrm>
            <a:off x="276225" y="5630417"/>
            <a:ext cx="311249" cy="194310"/>
          </a:xfrm>
          <a:prstGeom prst="rect">
            <a:avLst/>
          </a:prstGeom>
          <a:noFill/>
        </p:spPr>
        <p:txBody>
          <a:bodyPr wrap="none" lIns="0" tIns="0" rIns="0" bIns="0">
            <a:spAutoFit/>
          </a:bodyPr>
          <a:lstStyle/>
          <a:p>
            <a:r>
              <a:rPr sz="1150" b="0">
                <a:solidFill>
                  <a:srgbClr val="2E2E2E"/>
                </a:solidFill>
                <a:latin typeface="Calibri"/>
              </a:rPr>
              <a:t>US$</a:t>
            </a:r>
          </a:p>
        </p:txBody>
      </p:sp>
      <p:pic>
        <p:nvPicPr>
          <p:cNvPr id="48" name="Picture 47" descr="lock.png"/>
          <p:cNvPicPr>
            <a:picLocks noChangeAspect="1"/>
          </p:cNvPicPr>
          <p:nvPr/>
        </p:nvPicPr>
        <p:blipFill>
          <a:blip r:embed="rId6"/>
          <a:stretch>
            <a:fillRect/>
          </a:stretch>
        </p:blipFill>
        <p:spPr>
          <a:xfrm>
            <a:off x="536628" y="5620194"/>
            <a:ext cx="134549" cy="195707"/>
          </a:xfrm>
          <a:prstGeom prst="rect">
            <a:avLst/>
          </a:prstGeom>
        </p:spPr>
      </p:pic>
      <p:sp>
        <p:nvSpPr>
          <p:cNvPr id="49" name="TextBox 48"/>
          <p:cNvSpPr txBox="1"/>
          <p:nvPr/>
        </p:nvSpPr>
        <p:spPr>
          <a:xfrm>
            <a:off x="711737" y="5630417"/>
            <a:ext cx="4582070" cy="194310"/>
          </a:xfrm>
          <a:prstGeom prst="rect">
            <a:avLst/>
          </a:prstGeom>
          <a:noFill/>
        </p:spPr>
        <p:txBody>
          <a:bodyPr wrap="none" lIns="0" tIns="0" rIns="0" bIns="0">
            <a:spAutoFit/>
          </a:bodyPr>
          <a:lstStyle/>
          <a:p>
            <a:r>
              <a:rPr sz="1150" b="0">
                <a:solidFill>
                  <a:srgbClr val="2E2E2E"/>
                </a:solidFill>
                <a:latin typeface="Calibri"/>
              </a:rPr>
              <a:t>Mn. Europe senior dog cognitive supplement market is projected to register</a:t>
            </a:r>
          </a:p>
        </p:txBody>
      </p:sp>
      <p:pic>
        <p:nvPicPr>
          <p:cNvPr id="50" name="Picture 49" descr="lock.png"/>
          <p:cNvPicPr>
            <a:picLocks noChangeAspect="1"/>
          </p:cNvPicPr>
          <p:nvPr/>
        </p:nvPicPr>
        <p:blipFill>
          <a:blip r:embed="rId6"/>
          <a:stretch>
            <a:fillRect/>
          </a:stretch>
        </p:blipFill>
        <p:spPr>
          <a:xfrm>
            <a:off x="5242962" y="5620194"/>
            <a:ext cx="134549" cy="195707"/>
          </a:xfrm>
          <a:prstGeom prst="rect">
            <a:avLst/>
          </a:prstGeom>
        </p:spPr>
      </p:pic>
      <p:sp>
        <p:nvSpPr>
          <p:cNvPr id="51" name="TextBox 50"/>
          <p:cNvSpPr txBox="1"/>
          <p:nvPr/>
        </p:nvSpPr>
        <p:spPr>
          <a:xfrm>
            <a:off x="5418071" y="5630417"/>
            <a:ext cx="3462163" cy="194310"/>
          </a:xfrm>
          <a:prstGeom prst="rect">
            <a:avLst/>
          </a:prstGeom>
          <a:noFill/>
        </p:spPr>
        <p:txBody>
          <a:bodyPr wrap="none" lIns="0" tIns="0" rIns="0" bIns="0">
            <a:spAutoFit/>
          </a:bodyPr>
          <a:lstStyle/>
          <a:p>
            <a:r>
              <a:rPr sz="1150" b="0">
                <a:solidFill>
                  <a:srgbClr val="2E2E2E"/>
                </a:solidFill>
                <a:latin typeface="Calibri"/>
              </a:rPr>
              <a:t>X increase in volume by the end of forecast period, 2036.</a:t>
            </a:r>
          </a:p>
        </p:txBody>
      </p:sp>
      <p:sp>
        <p:nvSpPr>
          <p:cNvPr id="52" name="TextBox 51"/>
          <p:cNvSpPr txBox="1"/>
          <p:nvPr/>
        </p:nvSpPr>
        <p:spPr>
          <a:xfrm>
            <a:off x="276225" y="5858255"/>
            <a:ext cx="3929980" cy="194310"/>
          </a:xfrm>
          <a:prstGeom prst="rect">
            <a:avLst/>
          </a:prstGeom>
          <a:noFill/>
        </p:spPr>
        <p:txBody>
          <a:bodyPr wrap="none" lIns="0" tIns="0" rIns="0" bIns="0">
            <a:spAutoFit/>
          </a:bodyPr>
          <a:lstStyle/>
          <a:p>
            <a:r>
              <a:rPr sz="1150" b="0">
                <a:solidFill>
                  <a:srgbClr val="2E2E2E"/>
                </a:solidFill>
                <a:latin typeface="Calibri"/>
              </a:rPr>
              <a:t>Europe senior dog cognitive supplement market volume stood at</a:t>
            </a:r>
          </a:p>
        </p:txBody>
      </p:sp>
      <p:pic>
        <p:nvPicPr>
          <p:cNvPr id="53" name="Picture 52" descr="lock.png"/>
          <p:cNvPicPr>
            <a:picLocks noChangeAspect="1"/>
          </p:cNvPicPr>
          <p:nvPr/>
        </p:nvPicPr>
        <p:blipFill>
          <a:blip r:embed="rId6"/>
          <a:stretch>
            <a:fillRect/>
          </a:stretch>
        </p:blipFill>
        <p:spPr>
          <a:xfrm>
            <a:off x="4155359" y="5848032"/>
            <a:ext cx="134549" cy="195707"/>
          </a:xfrm>
          <a:prstGeom prst="rect">
            <a:avLst/>
          </a:prstGeom>
        </p:spPr>
      </p:pic>
      <p:sp>
        <p:nvSpPr>
          <p:cNvPr id="54" name="TextBox 53"/>
          <p:cNvSpPr txBox="1"/>
          <p:nvPr/>
        </p:nvSpPr>
        <p:spPr>
          <a:xfrm>
            <a:off x="4330468" y="5858255"/>
            <a:ext cx="2229581" cy="194310"/>
          </a:xfrm>
          <a:prstGeom prst="rect">
            <a:avLst/>
          </a:prstGeom>
          <a:noFill/>
        </p:spPr>
        <p:txBody>
          <a:bodyPr wrap="none" lIns="0" tIns="0" rIns="0" bIns="0">
            <a:spAutoFit/>
          </a:bodyPr>
          <a:lstStyle/>
          <a:p>
            <a:r>
              <a:rPr sz="1150" b="0">
                <a:solidFill>
                  <a:srgbClr val="2E2E2E"/>
                </a:solidFill>
                <a:latin typeface="Calibri"/>
              </a:rPr>
              <a:t>MT in 2025 and is expected to reach</a:t>
            </a:r>
          </a:p>
        </p:txBody>
      </p:sp>
      <p:pic>
        <p:nvPicPr>
          <p:cNvPr id="55" name="Picture 54" descr="lock.png"/>
          <p:cNvPicPr>
            <a:picLocks noChangeAspect="1"/>
          </p:cNvPicPr>
          <p:nvPr/>
        </p:nvPicPr>
        <p:blipFill>
          <a:blip r:embed="rId6"/>
          <a:stretch>
            <a:fillRect/>
          </a:stretch>
        </p:blipFill>
        <p:spPr>
          <a:xfrm>
            <a:off x="6509204" y="5848032"/>
            <a:ext cx="134549" cy="195707"/>
          </a:xfrm>
          <a:prstGeom prst="rect">
            <a:avLst/>
          </a:prstGeom>
        </p:spPr>
      </p:pic>
      <p:sp>
        <p:nvSpPr>
          <p:cNvPr id="56" name="TextBox 55"/>
          <p:cNvSpPr txBox="1"/>
          <p:nvPr/>
        </p:nvSpPr>
        <p:spPr>
          <a:xfrm>
            <a:off x="6684313" y="5858255"/>
            <a:ext cx="1850461" cy="194310"/>
          </a:xfrm>
          <a:prstGeom prst="rect">
            <a:avLst/>
          </a:prstGeom>
          <a:noFill/>
        </p:spPr>
        <p:txBody>
          <a:bodyPr wrap="none" lIns="0" tIns="0" rIns="0" bIns="0">
            <a:spAutoFit/>
          </a:bodyPr>
          <a:lstStyle/>
          <a:p>
            <a:r>
              <a:rPr sz="1150" b="0">
                <a:solidFill>
                  <a:srgbClr val="2E2E2E"/>
                </a:solidFill>
                <a:latin typeface="Calibri"/>
              </a:rPr>
              <a:t>MT by 2036 end, at a CAGR of</a:t>
            </a:r>
          </a:p>
        </p:txBody>
      </p:sp>
      <p:pic>
        <p:nvPicPr>
          <p:cNvPr id="57" name="Picture 56" descr="lock.png"/>
          <p:cNvPicPr>
            <a:picLocks noChangeAspect="1"/>
          </p:cNvPicPr>
          <p:nvPr/>
        </p:nvPicPr>
        <p:blipFill>
          <a:blip r:embed="rId6"/>
          <a:stretch>
            <a:fillRect/>
          </a:stretch>
        </p:blipFill>
        <p:spPr>
          <a:xfrm>
            <a:off x="8483928" y="5848032"/>
            <a:ext cx="134549" cy="195707"/>
          </a:xfrm>
          <a:prstGeom prst="rect">
            <a:avLst/>
          </a:prstGeom>
        </p:spPr>
      </p:pic>
      <p:sp>
        <p:nvSpPr>
          <p:cNvPr id="58" name="TextBox 57"/>
          <p:cNvSpPr txBox="1"/>
          <p:nvPr/>
        </p:nvSpPr>
        <p:spPr>
          <a:xfrm>
            <a:off x="8659038" y="5858255"/>
            <a:ext cx="2864271" cy="194310"/>
          </a:xfrm>
          <a:prstGeom prst="rect">
            <a:avLst/>
          </a:prstGeom>
          <a:noFill/>
        </p:spPr>
        <p:txBody>
          <a:bodyPr wrap="none" lIns="0" tIns="0" rIns="0" bIns="0">
            <a:spAutoFit/>
          </a:bodyPr>
          <a:lstStyle/>
          <a:p>
            <a:r>
              <a:rPr sz="1150" b="0">
                <a:solidFill>
                  <a:srgbClr val="2E2E2E"/>
                </a:solidFill>
                <a:latin typeface="Calibri"/>
              </a:rPr>
              <a:t>. Value is projected to grow faster than volume</a:t>
            </a:r>
          </a:p>
        </p:txBody>
      </p:sp>
      <p:sp>
        <p:nvSpPr>
          <p:cNvPr id="59" name="TextBox 58"/>
          <p:cNvSpPr txBox="1"/>
          <p:nvPr/>
        </p:nvSpPr>
        <p:spPr>
          <a:xfrm>
            <a:off x="276225" y="6033515"/>
            <a:ext cx="4232634" cy="194310"/>
          </a:xfrm>
          <a:prstGeom prst="rect">
            <a:avLst/>
          </a:prstGeom>
          <a:noFill/>
        </p:spPr>
        <p:txBody>
          <a:bodyPr wrap="none" lIns="0" tIns="0" rIns="0" bIns="0">
            <a:spAutoFit/>
          </a:bodyPr>
          <a:lstStyle/>
          <a:p>
            <a:r>
              <a:rPr sz="1150" b="0">
                <a:solidFill>
                  <a:srgbClr val="2E2E2E"/>
                </a:solidFill>
                <a:latin typeface="Calibri"/>
              </a:rPr>
              <a:t>over the forecast period, owing to an increase in average selling price.</a:t>
            </a:r>
          </a:p>
        </p:txBody>
      </p:sp>
      <p:sp>
        <p:nvSpPr>
          <p:cNvPr id="60" name="lockshield_12"/>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lockshield_15"/>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64411"/>
            <a:ext cx="3743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13910">
                  <a:extLst>
                    <a:ext uri="{9D8B030D-6E8A-4147-A177-3AD203B41FA5}">
                      <a16:colId xmlns:a16="http://schemas.microsoft.com/office/drawing/2014/main" val="20000"/>
                    </a:ext>
                  </a:extLst>
                </a:gridCol>
                <a:gridCol w="969873">
                  <a:extLst>
                    <a:ext uri="{9D8B030D-6E8A-4147-A177-3AD203B41FA5}">
                      <a16:colId xmlns:a16="http://schemas.microsoft.com/office/drawing/2014/main" val="20001"/>
                    </a:ext>
                  </a:extLst>
                </a:gridCol>
                <a:gridCol w="661933">
                  <a:extLst>
                    <a:ext uri="{9D8B030D-6E8A-4147-A177-3AD203B41FA5}">
                      <a16:colId xmlns:a16="http://schemas.microsoft.com/office/drawing/2014/main" val="20002"/>
                    </a:ext>
                  </a:extLst>
                </a:gridCol>
                <a:gridCol w="1269060">
                  <a:extLst>
                    <a:ext uri="{9D8B030D-6E8A-4147-A177-3AD203B41FA5}">
                      <a16:colId xmlns:a16="http://schemas.microsoft.com/office/drawing/2014/main" val="20003"/>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77189">
                <a:tc>
                  <a:txBody>
                    <a:bodyPr/>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77189">
                <a:tc>
                  <a:txBody>
                    <a:bodyPr/>
                    <a:lstStyle/>
                    <a:p>
                      <a:pPr algn="l"/>
                      <a:r>
                        <a:rPr sz="1100" b="1">
                          <a:solidFill>
                            <a:srgbClr val="2E2E2E"/>
                          </a:solidFill>
                          <a:latin typeface="Calibri"/>
                        </a:rPr>
                        <a:t>Netherlands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77189">
                <a:tc>
                  <a:txBody>
                    <a:bodyPr/>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77189">
                <a:tc>
                  <a:txBody>
                    <a:bodyPr/>
                    <a:lstStyle/>
                    <a:p>
                      <a:pPr algn="l"/>
                      <a:r>
                        <a:rPr sz="1100" b="1">
                          <a:solidFill>
                            <a:srgbClr val="2E2E2E"/>
                          </a:solidFill>
                          <a:latin typeface="Calibri"/>
                        </a:rPr>
                        <a:t>Poland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77189">
                <a:tc>
                  <a:txBody>
                    <a:bodyPr/>
                    <a:lstStyle/>
                    <a:p>
                      <a:pPr algn="l"/>
                      <a:r>
                        <a:rPr sz="1100" b="1">
                          <a:solidFill>
                            <a:srgbClr val="2E2E2E"/>
                          </a:solidFill>
                          <a:latin typeface="Calibri"/>
                        </a:rPr>
                        <a:t>Russia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219075" y="5707558"/>
            <a:ext cx="37814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10050" y="1064411"/>
            <a:ext cx="3743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1952667"/>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9" name="Rectangle 18"/>
          <p:cNvSpPr/>
          <p:nvPr/>
        </p:nvSpPr>
        <p:spPr>
          <a:xfrm>
            <a:off x="4210050" y="3245678"/>
            <a:ext cx="1726354" cy="1480513"/>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U.K.</a:t>
            </a:r>
          </a:p>
          <a:p>
            <a:pPr algn="ctr"/>
            <a:r>
              <a:rPr sz="1100" b="0">
                <a:solidFill>
                  <a:srgbClr val="FFFFFF"/>
                </a:solidFill>
                <a:latin typeface="Calibri"/>
              </a:rPr>
              <a:t> </a:t>
            </a:r>
          </a:p>
        </p:txBody>
      </p:sp>
      <p:sp>
        <p:nvSpPr>
          <p:cNvPr id="20" name="Rectangle 19"/>
          <p:cNvSpPr/>
          <p:nvPr/>
        </p:nvSpPr>
        <p:spPr>
          <a:xfrm>
            <a:off x="4210050" y="4726192"/>
            <a:ext cx="1726354" cy="1152418"/>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5936404" y="3245678"/>
            <a:ext cx="1039820" cy="1086660"/>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Italy</a:t>
            </a:r>
          </a:p>
          <a:p>
            <a:pPr algn="ctr"/>
            <a:r>
              <a:rPr sz="1100" b="0">
                <a:solidFill>
                  <a:srgbClr val="FFFFFF"/>
                </a:solidFill>
                <a:latin typeface="Calibri"/>
              </a:rPr>
              <a:t> </a:t>
            </a:r>
          </a:p>
        </p:txBody>
      </p:sp>
      <p:sp>
        <p:nvSpPr>
          <p:cNvPr id="22" name="Rectangle 21"/>
          <p:cNvSpPr/>
          <p:nvPr/>
        </p:nvSpPr>
        <p:spPr>
          <a:xfrm>
            <a:off x="6976224" y="3245678"/>
            <a:ext cx="977151" cy="1086660"/>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Spain</a:t>
            </a:r>
          </a:p>
          <a:p>
            <a:pPr algn="ctr"/>
            <a:r>
              <a:rPr sz="1100" b="0">
                <a:solidFill>
                  <a:srgbClr val="FFFFFF"/>
                </a:solidFill>
                <a:latin typeface="Calibri"/>
              </a:rPr>
              <a:t> </a:t>
            </a:r>
          </a:p>
        </p:txBody>
      </p:sp>
      <p:sp>
        <p:nvSpPr>
          <p:cNvPr id="23" name="Rectangle 22"/>
          <p:cNvSpPr/>
          <p:nvPr/>
        </p:nvSpPr>
        <p:spPr>
          <a:xfrm>
            <a:off x="5936404" y="4332339"/>
            <a:ext cx="970616" cy="790945"/>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Netherlands</a:t>
            </a:r>
          </a:p>
          <a:p>
            <a:pPr algn="ctr"/>
            <a:r>
              <a:rPr sz="1100" b="0">
                <a:solidFill>
                  <a:srgbClr val="FFFFFF"/>
                </a:solidFill>
                <a:latin typeface="Calibri"/>
              </a:rPr>
              <a:t> </a:t>
            </a:r>
          </a:p>
        </p:txBody>
      </p:sp>
      <p:sp>
        <p:nvSpPr>
          <p:cNvPr id="24" name="Rectangle 23"/>
          <p:cNvSpPr/>
          <p:nvPr/>
        </p:nvSpPr>
        <p:spPr>
          <a:xfrm>
            <a:off x="5936404" y="5123284"/>
            <a:ext cx="970616" cy="755325"/>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Belgium</a:t>
            </a:r>
          </a:p>
          <a:p>
            <a:pPr algn="ctr"/>
            <a:r>
              <a:rPr sz="1100" b="0">
                <a:solidFill>
                  <a:srgbClr val="FFFFFF"/>
                </a:solidFill>
                <a:latin typeface="Calibri"/>
              </a:rPr>
              <a:t> </a:t>
            </a:r>
          </a:p>
        </p:txBody>
      </p:sp>
      <p:sp>
        <p:nvSpPr>
          <p:cNvPr id="25" name="Rectangle 24"/>
          <p:cNvSpPr/>
          <p:nvPr/>
        </p:nvSpPr>
        <p:spPr>
          <a:xfrm>
            <a:off x="6907019" y="4332339"/>
            <a:ext cx="1046356" cy="552466"/>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Nordic</a:t>
            </a:r>
          </a:p>
          <a:p>
            <a:pPr algn="ctr"/>
            <a:r>
              <a:rPr sz="1100" b="0">
                <a:solidFill>
                  <a:srgbClr val="FFFFFF"/>
                </a:solidFill>
                <a:latin typeface="Calibri"/>
              </a:rPr>
              <a:t> </a:t>
            </a:r>
          </a:p>
        </p:txBody>
      </p:sp>
      <p:sp>
        <p:nvSpPr>
          <p:cNvPr id="26" name="Rectangle 25"/>
          <p:cNvSpPr/>
          <p:nvPr/>
        </p:nvSpPr>
        <p:spPr>
          <a:xfrm>
            <a:off x="6907019" y="4884805"/>
            <a:ext cx="553720" cy="993805"/>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Russia</a:t>
            </a:r>
          </a:p>
          <a:p>
            <a:pPr algn="ctr"/>
            <a:r>
              <a:rPr sz="1100" b="0">
                <a:solidFill>
                  <a:srgbClr val="FFFFFF"/>
                </a:solidFill>
                <a:latin typeface="Calibri"/>
              </a:rPr>
              <a:t> </a:t>
            </a:r>
          </a:p>
        </p:txBody>
      </p:sp>
      <p:sp>
        <p:nvSpPr>
          <p:cNvPr id="27" name="Rectangle 26"/>
          <p:cNvSpPr/>
          <p:nvPr/>
        </p:nvSpPr>
        <p:spPr>
          <a:xfrm>
            <a:off x="7460739" y="4884805"/>
            <a:ext cx="492636" cy="993805"/>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Poland</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81975" y="1064411"/>
            <a:ext cx="3743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xmlns:r="http://schemas.openxmlformats.org/officeDocument/2006/relationships" r:id="rId5"/>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2" name="Table 31"/>
          <p:cNvGraphicFramePr>
            <a:graphicFrameLocks noGrp="1"/>
          </p:cNvGraphicFramePr>
          <p:nvPr/>
        </p:nvGraphicFramePr>
        <p:xfrm>
          <a:off x="8096250" y="3547710"/>
          <a:ext cx="3914775" cy="2159451"/>
        </p:xfrm>
        <a:graphic>
          <a:graphicData uri="http://schemas.openxmlformats.org/drawingml/2006/table">
            <a:tbl>
              <a:tblPr>
                <a:tableStyleId>{5C22544A-7EE6-4342-B048-85BDC9FD1C3A}</a:tableStyleId>
              </a:tblPr>
              <a:tblGrid>
                <a:gridCol w="955219">
                  <a:extLst>
                    <a:ext uri="{9D8B030D-6E8A-4147-A177-3AD203B41FA5}">
                      <a16:colId xmlns:a16="http://schemas.microsoft.com/office/drawing/2014/main" val="20000"/>
                    </a:ext>
                  </a:extLst>
                </a:gridCol>
                <a:gridCol w="1140340">
                  <a:extLst>
                    <a:ext uri="{9D8B030D-6E8A-4147-A177-3AD203B41FA5}">
                      <a16:colId xmlns:a16="http://schemas.microsoft.com/office/drawing/2014/main" val="20001"/>
                    </a:ext>
                  </a:extLst>
                </a:gridCol>
                <a:gridCol w="623616">
                  <a:extLst>
                    <a:ext uri="{9D8B030D-6E8A-4147-A177-3AD203B41FA5}">
                      <a16:colId xmlns:a16="http://schemas.microsoft.com/office/drawing/2014/main" val="20002"/>
                    </a:ext>
                  </a:extLst>
                </a:gridCol>
                <a:gridCol w="1195600">
                  <a:extLst>
                    <a:ext uri="{9D8B030D-6E8A-4147-A177-3AD203B41FA5}">
                      <a16:colId xmlns:a16="http://schemas.microsoft.com/office/drawing/2014/main" val="20003"/>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82665">
                <a:tc>
                  <a:txBody>
                    <a:bodyPr/>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82665">
                <a:tc>
                  <a:txBody>
                    <a:bodyPr/>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82665">
                <a:tc>
                  <a:txBody>
                    <a:bodyPr/>
                    <a:lstStyle/>
                    <a:p>
                      <a:pPr algn="l"/>
                      <a:r>
                        <a:rPr sz="1100" b="1">
                          <a:solidFill>
                            <a:srgbClr val="2E2E2E"/>
                          </a:solidFill>
                          <a:latin typeface="Calibri"/>
                        </a:rPr>
                        <a:t>U.K.</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82665">
                <a:tc>
                  <a:txBody>
                    <a:bodyPr/>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82665">
                <a:tc>
                  <a:txBody>
                    <a:bodyPr/>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33" name="TextBox 32"/>
          <p:cNvSpPr txBox="1"/>
          <p:nvPr/>
        </p:nvSpPr>
        <p:spPr>
          <a:xfrm>
            <a:off x="8162925" y="5716684"/>
            <a:ext cx="37814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35" name="TextBox 34"/>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47283" y="4512977"/>
            <a:ext cx="332867" cy="484170"/>
          </a:xfrm>
          <a:prstGeom prst="rect">
            <a:avLst/>
          </a:prstGeom>
        </p:spPr>
      </p:pic>
      <p:pic>
        <p:nvPicPr>
          <p:cNvPr id="38" name="Picture 37" descr="lock.png"/>
          <p:cNvPicPr>
            <a:picLocks noChangeAspect="1"/>
          </p:cNvPicPr>
          <p:nvPr/>
        </p:nvPicPr>
        <p:blipFill>
          <a:blip r:embed="rId6"/>
          <a:stretch>
            <a:fillRect/>
          </a:stretch>
        </p:blipFill>
        <p:spPr>
          <a:xfrm>
            <a:off x="6024086" y="2269344"/>
            <a:ext cx="115252" cy="167639"/>
          </a:xfrm>
          <a:prstGeom prst="rect">
            <a:avLst/>
          </a:prstGeom>
        </p:spPr>
      </p:pic>
      <p:pic>
        <p:nvPicPr>
          <p:cNvPr id="39" name="Picture 38" descr="lock.png"/>
          <p:cNvPicPr>
            <a:picLocks noChangeAspect="1"/>
          </p:cNvPicPr>
          <p:nvPr/>
        </p:nvPicPr>
        <p:blipFill>
          <a:blip r:embed="rId6"/>
          <a:stretch>
            <a:fillRect/>
          </a:stretch>
        </p:blipFill>
        <p:spPr>
          <a:xfrm>
            <a:off x="5015601" y="3985934"/>
            <a:ext cx="115252" cy="167639"/>
          </a:xfrm>
          <a:prstGeom prst="rect">
            <a:avLst/>
          </a:prstGeom>
        </p:spPr>
      </p:pic>
      <p:pic>
        <p:nvPicPr>
          <p:cNvPr id="40" name="Picture 39" descr="lock.png"/>
          <p:cNvPicPr>
            <a:picLocks noChangeAspect="1"/>
          </p:cNvPicPr>
          <p:nvPr/>
        </p:nvPicPr>
        <p:blipFill>
          <a:blip r:embed="rId6"/>
          <a:stretch>
            <a:fillRect/>
          </a:stretch>
        </p:blipFill>
        <p:spPr>
          <a:xfrm>
            <a:off x="5015601" y="5302401"/>
            <a:ext cx="115252" cy="167639"/>
          </a:xfrm>
          <a:prstGeom prst="rect">
            <a:avLst/>
          </a:prstGeom>
        </p:spPr>
      </p:pic>
      <p:pic>
        <p:nvPicPr>
          <p:cNvPr id="41" name="Picture 40" descr="lock.png"/>
          <p:cNvPicPr>
            <a:picLocks noChangeAspect="1"/>
          </p:cNvPicPr>
          <p:nvPr/>
        </p:nvPicPr>
        <p:blipFill>
          <a:blip r:embed="rId6"/>
          <a:stretch>
            <a:fillRect/>
          </a:stretch>
        </p:blipFill>
        <p:spPr>
          <a:xfrm>
            <a:off x="6398688" y="3789008"/>
            <a:ext cx="115252" cy="167639"/>
          </a:xfrm>
          <a:prstGeom prst="rect">
            <a:avLst/>
          </a:prstGeom>
        </p:spPr>
      </p:pic>
      <p:pic>
        <p:nvPicPr>
          <p:cNvPr id="42" name="Picture 41" descr="lock.png"/>
          <p:cNvPicPr>
            <a:picLocks noChangeAspect="1"/>
          </p:cNvPicPr>
          <p:nvPr/>
        </p:nvPicPr>
        <p:blipFill>
          <a:blip r:embed="rId6"/>
          <a:stretch>
            <a:fillRect/>
          </a:stretch>
        </p:blipFill>
        <p:spPr>
          <a:xfrm>
            <a:off x="7407173" y="3789008"/>
            <a:ext cx="115252" cy="167639"/>
          </a:xfrm>
          <a:prstGeom prst="rect">
            <a:avLst/>
          </a:prstGeom>
        </p:spPr>
      </p:pic>
      <p:pic>
        <p:nvPicPr>
          <p:cNvPr id="43" name="Picture 42" descr="lock.png"/>
          <p:cNvPicPr>
            <a:picLocks noChangeAspect="1"/>
          </p:cNvPicPr>
          <p:nvPr/>
        </p:nvPicPr>
        <p:blipFill>
          <a:blip r:embed="rId6"/>
          <a:stretch>
            <a:fillRect/>
          </a:stretch>
        </p:blipFill>
        <p:spPr>
          <a:xfrm>
            <a:off x="6364086" y="4727811"/>
            <a:ext cx="115252" cy="167639"/>
          </a:xfrm>
          <a:prstGeom prst="rect">
            <a:avLst/>
          </a:prstGeom>
        </p:spPr>
      </p:pic>
      <p:pic>
        <p:nvPicPr>
          <p:cNvPr id="44" name="Picture 43" descr="lock.png"/>
          <p:cNvPicPr>
            <a:picLocks noChangeAspect="1"/>
          </p:cNvPicPr>
          <p:nvPr/>
        </p:nvPicPr>
        <p:blipFill>
          <a:blip r:embed="rId6"/>
          <a:stretch>
            <a:fillRect/>
          </a:stretch>
        </p:blipFill>
        <p:spPr>
          <a:xfrm>
            <a:off x="6364086" y="5500946"/>
            <a:ext cx="115252" cy="167639"/>
          </a:xfrm>
          <a:prstGeom prst="rect">
            <a:avLst/>
          </a:prstGeom>
        </p:spPr>
      </p:pic>
      <p:pic>
        <p:nvPicPr>
          <p:cNvPr id="45" name="Picture 44" descr="lock.png"/>
          <p:cNvPicPr>
            <a:picLocks noChangeAspect="1"/>
          </p:cNvPicPr>
          <p:nvPr/>
        </p:nvPicPr>
        <p:blipFill>
          <a:blip r:embed="rId6"/>
          <a:stretch>
            <a:fillRect/>
          </a:stretch>
        </p:blipFill>
        <p:spPr>
          <a:xfrm>
            <a:off x="7372571" y="4608572"/>
            <a:ext cx="115252" cy="167639"/>
          </a:xfrm>
          <a:prstGeom prst="rect">
            <a:avLst/>
          </a:prstGeom>
        </p:spPr>
      </p:pic>
      <p:pic>
        <p:nvPicPr>
          <p:cNvPr id="46" name="Picture 45" descr="lock.png"/>
          <p:cNvPicPr>
            <a:picLocks noChangeAspect="1"/>
          </p:cNvPicPr>
          <p:nvPr/>
        </p:nvPicPr>
        <p:blipFill>
          <a:blip r:embed="rId6"/>
          <a:stretch>
            <a:fillRect/>
          </a:stretch>
        </p:blipFill>
        <p:spPr>
          <a:xfrm>
            <a:off x="7126253" y="5381707"/>
            <a:ext cx="115252" cy="167639"/>
          </a:xfrm>
          <a:prstGeom prst="rect">
            <a:avLst/>
          </a:prstGeom>
        </p:spPr>
      </p:pic>
      <p:pic>
        <p:nvPicPr>
          <p:cNvPr id="47" name="Picture 46" descr="lock.png"/>
          <p:cNvPicPr>
            <a:picLocks noChangeAspect="1"/>
          </p:cNvPicPr>
          <p:nvPr/>
        </p:nvPicPr>
        <p:blipFill>
          <a:blip r:embed="rId6"/>
          <a:stretch>
            <a:fillRect/>
          </a:stretch>
        </p:blipFill>
        <p:spPr>
          <a:xfrm>
            <a:off x="7649431" y="5381707"/>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358843" y="4504207"/>
            <a:ext cx="338649" cy="492581"/>
          </a:xfrm>
          <a:prstGeom prst="rect">
            <a:avLst/>
          </a:prstGeom>
        </p:spPr>
      </p:pic>
      <p:sp>
        <p:nvSpPr>
          <p:cNvPr id="50" name="TextBox 49"/>
          <p:cNvSpPr txBox="1"/>
          <p:nvPr/>
        </p:nvSpPr>
        <p:spPr>
          <a:xfrm>
            <a:off x="257175" y="6160574"/>
            <a:ext cx="4241006" cy="186689"/>
          </a:xfrm>
          <a:prstGeom prst="rect">
            <a:avLst/>
          </a:prstGeom>
          <a:noFill/>
        </p:spPr>
        <p:txBody>
          <a:bodyPr wrap="none" lIns="0" tIns="0" rIns="0" bIns="0">
            <a:spAutoFit/>
          </a:bodyPr>
          <a:lstStyle/>
          <a:p>
            <a:r>
              <a:rPr sz="1100" b="0">
                <a:solidFill>
                  <a:srgbClr val="2E2E2E"/>
                </a:solidFill>
                <a:latin typeface="Calibri"/>
              </a:rPr>
              <a:t>Germany senior dog cognitive supplement market is projected to register</a:t>
            </a:r>
          </a:p>
        </p:txBody>
      </p:sp>
      <p:pic>
        <p:nvPicPr>
          <p:cNvPr id="51" name="Picture 50" descr="lock.png"/>
          <p:cNvPicPr>
            <a:picLocks noChangeAspect="1"/>
          </p:cNvPicPr>
          <p:nvPr/>
        </p:nvPicPr>
        <p:blipFill>
          <a:blip r:embed="rId6"/>
          <a:stretch>
            <a:fillRect/>
          </a:stretch>
        </p:blipFill>
        <p:spPr>
          <a:xfrm>
            <a:off x="4446232" y="6150795"/>
            <a:ext cx="128699" cy="187198"/>
          </a:xfrm>
          <a:prstGeom prst="rect">
            <a:avLst/>
          </a:prstGeom>
        </p:spPr>
      </p:pic>
      <p:sp>
        <p:nvSpPr>
          <p:cNvPr id="52" name="TextBox 51"/>
          <p:cNvSpPr txBox="1"/>
          <p:nvPr/>
        </p:nvSpPr>
        <p:spPr>
          <a:xfrm>
            <a:off x="4613728" y="6160574"/>
            <a:ext cx="4472094" cy="186689"/>
          </a:xfrm>
          <a:prstGeom prst="rect">
            <a:avLst/>
          </a:prstGeom>
          <a:noFill/>
        </p:spPr>
        <p:txBody>
          <a:bodyPr wrap="none" lIns="0" tIns="0" rIns="0" bIns="0">
            <a:spAutoFit/>
          </a:bodyPr>
          <a:lstStyle/>
          <a:p>
            <a:r>
              <a:rPr sz="1100" b="0">
                <a:solidFill>
                  <a:srgbClr val="2E2E2E"/>
                </a:solidFill>
                <a:latin typeface="Calibri"/>
              </a:rPr>
              <a:t>X higher value than the U.K. in 2036. Germany posts the highest CAGR Index (</a:t>
            </a:r>
          </a:p>
        </p:txBody>
      </p:sp>
      <p:pic>
        <p:nvPicPr>
          <p:cNvPr id="53" name="Picture 52" descr="lock.png"/>
          <p:cNvPicPr>
            <a:picLocks noChangeAspect="1"/>
          </p:cNvPicPr>
          <p:nvPr/>
        </p:nvPicPr>
        <p:blipFill>
          <a:blip r:embed="rId6"/>
          <a:stretch>
            <a:fillRect/>
          </a:stretch>
        </p:blipFill>
        <p:spPr>
          <a:xfrm>
            <a:off x="9033874" y="6150795"/>
            <a:ext cx="128699" cy="187198"/>
          </a:xfrm>
          <a:prstGeom prst="rect">
            <a:avLst/>
          </a:prstGeom>
        </p:spPr>
      </p:pic>
      <p:sp>
        <p:nvSpPr>
          <p:cNvPr id="54" name="TextBox 53"/>
          <p:cNvSpPr txBox="1"/>
          <p:nvPr/>
        </p:nvSpPr>
        <p:spPr>
          <a:xfrm>
            <a:off x="9201370" y="6160574"/>
            <a:ext cx="789979" cy="186689"/>
          </a:xfrm>
          <a:prstGeom prst="rect">
            <a:avLst/>
          </a:prstGeom>
          <a:noFill/>
        </p:spPr>
        <p:txBody>
          <a:bodyPr wrap="none" lIns="0" tIns="0" r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9939401" y="6150795"/>
            <a:ext cx="128699" cy="187198"/>
          </a:xfrm>
          <a:prstGeom prst="rect">
            <a:avLst/>
          </a:prstGeom>
        </p:spPr>
      </p:pic>
      <p:sp>
        <p:nvSpPr>
          <p:cNvPr id="56" name="TextBox 55"/>
          <p:cNvSpPr txBox="1"/>
          <p:nvPr/>
        </p:nvSpPr>
        <p:spPr>
          <a:xfrm>
            <a:off x="10106897" y="6160574"/>
            <a:ext cx="482748" cy="186689"/>
          </a:xfrm>
          <a:prstGeom prst="rect">
            <a:avLst/>
          </a:prstGeom>
          <a:noFill/>
        </p:spPr>
        <p:txBody>
          <a:bodyPr wrap="none" lIns="0" tIns="0" rIns="0" bIns="0">
            <a:spAutoFit/>
          </a:bodyPr>
          <a:lstStyle/>
          <a:p>
            <a:r>
              <a:rPr sz="1100" b="0">
                <a:solidFill>
                  <a:srgbClr val="2E2E2E"/>
                </a:solidFill>
                <a:latin typeface="Calibri"/>
              </a:rPr>
              <a:t>against</a:t>
            </a:r>
          </a:p>
        </p:txBody>
      </p:sp>
      <p:sp>
        <p:nvSpPr>
          <p:cNvPr id="57" name="TextBox 56"/>
          <p:cNvSpPr txBox="1"/>
          <p:nvPr/>
        </p:nvSpPr>
        <p:spPr>
          <a:xfrm>
            <a:off x="257175" y="6328214"/>
            <a:ext cx="4537868" cy="186689"/>
          </a:xfrm>
          <a:prstGeom prst="rect">
            <a:avLst/>
          </a:prstGeom>
          <a:noFill/>
        </p:spPr>
        <p:txBody>
          <a:bodyPr wrap="none" lIns="0" tIns="0" rIns="0" bIns="0">
            <a:spAutoFit/>
          </a:bodyPr>
          <a:lstStyle/>
          <a:p>
            <a:r>
              <a:rPr sz="1100" b="0">
                <a:solidFill>
                  <a:srgbClr val="2E2E2E"/>
                </a:solidFill>
                <a:latin typeface="Calibri"/>
              </a:rPr>
              <a:t>the Europe benchmark, while Germany offers the largest absolute opportunity</a:t>
            </a:r>
          </a:p>
        </p:txBody>
      </p:sp>
      <p:pic>
        <p:nvPicPr>
          <p:cNvPr id="58" name="Picture 57" descr="lock.png"/>
          <p:cNvPicPr>
            <a:picLocks noChangeAspect="1"/>
          </p:cNvPicPr>
          <p:nvPr/>
        </p:nvPicPr>
        <p:blipFill>
          <a:blip r:embed="rId6"/>
          <a:stretch>
            <a:fillRect/>
          </a:stretch>
        </p:blipFill>
        <p:spPr>
          <a:xfrm>
            <a:off x="4743095" y="6318435"/>
            <a:ext cx="128699" cy="187198"/>
          </a:xfrm>
          <a:prstGeom prst="rect">
            <a:avLst/>
          </a:prstGeom>
        </p:spPr>
      </p:pic>
      <p:sp>
        <p:nvSpPr>
          <p:cNvPr id="59" name="TextBox 58"/>
          <p:cNvSpPr txBox="1"/>
          <p:nvPr/>
        </p:nvSpPr>
        <p:spPr>
          <a:xfrm>
            <a:off x="4910591" y="6328214"/>
            <a:ext cx="3311946" cy="186689"/>
          </a:xfrm>
          <a:prstGeom prst="rect">
            <a:avLst/>
          </a:prstGeom>
          <a:noFill/>
        </p:spPr>
        <p:txBody>
          <a:bodyPr wrap="none" lIns="0" tIns="0" r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8170589" y="6318435"/>
            <a:ext cx="128699" cy="187198"/>
          </a:xfrm>
          <a:prstGeom prst="rect">
            <a:avLst/>
          </a:prstGeom>
        </p:spPr>
      </p:pic>
      <p:sp>
        <p:nvSpPr>
          <p:cNvPr id="61" name="TextBox 60"/>
          <p:cNvSpPr txBox="1"/>
          <p:nvPr/>
        </p:nvSpPr>
        <p:spPr>
          <a:xfrm>
            <a:off x="8338085" y="6328214"/>
            <a:ext cx="1546597" cy="186689"/>
          </a:xfrm>
          <a:prstGeom prst="rect">
            <a:avLst/>
          </a:prstGeom>
          <a:noFill/>
        </p:spPr>
        <p:txBody>
          <a:bodyPr wrap="none" lIns="0" tIns="0" rIns="0" bIns="0">
            <a:spAutoFit/>
          </a:bodyPr>
          <a:lstStyle/>
          <a:p>
            <a:r>
              <a:rPr sz="1100" b="0">
                <a:solidFill>
                  <a:srgbClr val="2E2E2E"/>
                </a:solidFill>
                <a:latin typeface="Calibri"/>
              </a:rPr>
              <a:t>of the Europe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Table 10"/>
          <p:cNvGraphicFramePr>
            <a:graphicFrameLocks noGrp="1"/>
          </p:cNvGraphicFramePr>
          <p:nvPr/>
        </p:nvGraphicFramePr>
        <p:xfrm>
          <a:off x="152400" y="1057275"/>
          <a:ext cx="11887200" cy="1485896"/>
        </p:xfrm>
        <a:graphic>
          <a:graphicData uri="http://schemas.openxmlformats.org/drawingml/2006/table">
            <a:tbl>
              <a:tblPr>
                <a:tableStyleId>{5C22544A-7EE6-4342-B048-85BDC9FD1C3A}</a:tableStyleId>
              </a:tblPr>
              <a:tblGrid>
                <a:gridCol w="2407698">
                  <a:extLst>
                    <a:ext uri="{9D8B030D-6E8A-4147-A177-3AD203B41FA5}">
                      <a16:colId xmlns:a16="http://schemas.microsoft.com/office/drawing/2014/main" val="20000"/>
                    </a:ext>
                  </a:extLst>
                </a:gridCol>
                <a:gridCol w="3159834">
                  <a:extLst>
                    <a:ext uri="{9D8B030D-6E8A-4147-A177-3AD203B41FA5}">
                      <a16:colId xmlns:a16="http://schemas.microsoft.com/office/drawing/2014/main" val="20001"/>
                    </a:ext>
                  </a:extLst>
                </a:gridCol>
                <a:gridCol w="3159834">
                  <a:extLst>
                    <a:ext uri="{9D8B030D-6E8A-4147-A177-3AD203B41FA5}">
                      <a16:colId xmlns:a16="http://schemas.microsoft.com/office/drawing/2014/main" val="20002"/>
                    </a:ext>
                  </a:extLst>
                </a:gridCol>
                <a:gridCol w="3159834">
                  <a:extLst>
                    <a:ext uri="{9D8B030D-6E8A-4147-A177-3AD203B41FA5}">
                      <a16:colId xmlns:a16="http://schemas.microsoft.com/office/drawing/2014/main" val="20003"/>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954">
                <a:tc>
                  <a:txBody>
                    <a:bodyPr/>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7954">
                <a:tc>
                  <a:txBody>
                    <a:bodyPr/>
                    <a:lstStyle/>
                    <a:p>
                      <a:pPr algn="l"/>
                      <a:r>
                        <a:rPr sz="1100" b="1">
                          <a:solidFill>
                            <a:srgbClr val="2E2E2E"/>
                          </a:solidFill>
                          <a:latin typeface="Calibri"/>
                        </a:rPr>
                        <a:t>Switzerland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7954">
                <a:tc>
                  <a:txBody>
                    <a:bodyPr/>
                    <a:lstStyle/>
                    <a:p>
                      <a:pPr algn="l"/>
                      <a:r>
                        <a:rPr sz="1100" b="1">
                          <a:solidFill>
                            <a:srgbClr val="2E2E2E"/>
                          </a:solidFill>
                          <a:latin typeface="Calibri"/>
                        </a:rPr>
                        <a:t>Nordic</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7954">
                <a:tc>
                  <a:txBody>
                    <a:bodyPr/>
                    <a:lstStyle/>
                    <a:p>
                      <a:pPr algn="l"/>
                      <a:r>
                        <a:rPr sz="1100" b="1">
                          <a:solidFill>
                            <a:srgbClr val="2E2E2E"/>
                          </a:solidFill>
                          <a:latin typeface="Calibri"/>
                        </a:rPr>
                        <a:t>Belgium</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7954">
                <a:tc>
                  <a:txBody>
                    <a:bodyPr/>
                    <a:lstStyle/>
                    <a:p>
                      <a:pPr algn="l"/>
                      <a:r>
                        <a:rPr sz="1100" b="1">
                          <a:solidFill>
                            <a:srgbClr val="2E2E2E"/>
                          </a:solidFill>
                          <a:latin typeface="Calibri"/>
                        </a:rPr>
                        <a:t>U.K.</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219075" y="25527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152400" y="2981325"/>
          <a:ext cx="11887201" cy="1485896"/>
        </p:xfrm>
        <a:graphic>
          <a:graphicData uri="http://schemas.openxmlformats.org/drawingml/2006/table">
            <a:tbl>
              <a:tblPr>
                <a:tableStyleId>{5C22544A-7EE6-4342-B048-85BDC9FD1C3A}</a:tableStyleId>
              </a:tblPr>
              <a:tblGrid>
                <a:gridCol w="1865968">
                  <a:extLst>
                    <a:ext uri="{9D8B030D-6E8A-4147-A177-3AD203B41FA5}">
                      <a16:colId xmlns:a16="http://schemas.microsoft.com/office/drawing/2014/main" val="20000"/>
                    </a:ext>
                  </a:extLst>
                </a:gridCol>
                <a:gridCol w="3340411">
                  <a:extLst>
                    <a:ext uri="{9D8B030D-6E8A-4147-A177-3AD203B41FA5}">
                      <a16:colId xmlns:a16="http://schemas.microsoft.com/office/drawing/2014/main" val="20001"/>
                    </a:ext>
                  </a:extLst>
                </a:gridCol>
                <a:gridCol w="3340411">
                  <a:extLst>
                    <a:ext uri="{9D8B030D-6E8A-4147-A177-3AD203B41FA5}">
                      <a16:colId xmlns:a16="http://schemas.microsoft.com/office/drawing/2014/main" val="20002"/>
                    </a:ext>
                  </a:extLst>
                </a:gridCol>
                <a:gridCol w="3340411">
                  <a:extLst>
                    <a:ext uri="{9D8B030D-6E8A-4147-A177-3AD203B41FA5}">
                      <a16:colId xmlns:a16="http://schemas.microsoft.com/office/drawing/2014/main" val="20003"/>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ctr"/>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954">
                <a:tc>
                  <a:txBody>
                    <a:bodyPr/>
                    <a:lstStyle/>
                    <a:p>
                      <a:pPr algn="l"/>
                      <a:r>
                        <a:rPr sz="1100" b="1">
                          <a:solidFill>
                            <a:srgbClr val="2E2E2E"/>
                          </a:solidFill>
                          <a:latin typeface="Calibri"/>
                        </a:rPr>
                        <a:t>Italy</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7954">
                <a:tc>
                  <a:txBody>
                    <a:bodyPr/>
                    <a:lstStyle/>
                    <a:p>
                      <a:pPr algn="l"/>
                      <a:r>
                        <a:rPr sz="1100" b="1">
                          <a:solidFill>
                            <a:srgbClr val="2E2E2E"/>
                          </a:solidFill>
                          <a:latin typeface="Calibri"/>
                        </a:rPr>
                        <a:t>Russia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7954">
                <a:tc>
                  <a:txBody>
                    <a:bodyPr/>
                    <a:lstStyle/>
                    <a:p>
                      <a:pPr algn="l"/>
                      <a:r>
                        <a:rPr sz="1100" b="1">
                          <a:solidFill>
                            <a:srgbClr val="2E2E2E"/>
                          </a:solidFill>
                          <a:latin typeface="Calibri"/>
                        </a:rPr>
                        <a:t>Belgium</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7954">
                <a:tc>
                  <a:txBody>
                    <a:bodyPr/>
                    <a:lstStyle/>
                    <a:p>
                      <a:pPr algn="l"/>
                      <a:r>
                        <a:rPr sz="1100" b="1">
                          <a:solidFill>
                            <a:srgbClr val="2E2E2E"/>
                          </a:solidFill>
                          <a:latin typeface="Calibri"/>
                        </a:rPr>
                        <a:t>Nordic</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7954">
                <a:tc>
                  <a:txBody>
                    <a:bodyPr/>
                    <a:lstStyle/>
                    <a:p>
                      <a:pPr algn="l"/>
                      <a:r>
                        <a:rPr sz="1100" b="1">
                          <a:solidFill>
                            <a:srgbClr val="2E2E2E"/>
                          </a:solidFill>
                          <a:latin typeface="Calibri"/>
                        </a:rPr>
                        <a:t>Poland</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219075" y="44767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7113159" y="1656588"/>
            <a:ext cx="366712" cy="533399"/>
          </a:xfrm>
          <a:prstGeom prst="rect">
            <a:avLst/>
          </a:prstGeom>
        </p:spPr>
      </p:pic>
      <p:pic>
        <p:nvPicPr>
          <p:cNvPr id="18" name="Picture 17" descr="lock.png"/>
          <p:cNvPicPr>
            <a:picLocks noChangeAspect="1"/>
          </p:cNvPicPr>
          <p:nvPr/>
        </p:nvPicPr>
        <p:blipFill>
          <a:blip r:embed="rId4"/>
          <a:stretch>
            <a:fillRect/>
          </a:stretch>
        </p:blipFill>
        <p:spPr>
          <a:xfrm>
            <a:off x="6842294" y="3580638"/>
            <a:ext cx="366712" cy="5334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225" y="1066800"/>
            <a:ext cx="11639550" cy="209550"/>
          </a:xfrm>
          <a:prstGeom prst="rect">
            <a:avLst/>
          </a:prstGeom>
          <a:noFill/>
        </p:spPr>
        <p:txBody>
          <a:bodyPr wrap="square" lIns="0" tIns="9525" rIns="19050"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225" y="1390650"/>
            <a:ext cx="11639550" cy="12573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2943225"/>
            <a:ext cx="11639550" cy="209550"/>
          </a:xfrm>
          <a:prstGeom prst="rect">
            <a:avLst/>
          </a:prstGeom>
          <a:noFill/>
        </p:spPr>
        <p:txBody>
          <a:bodyPr wrap="square" lIns="0" tIns="9525" rIns="19050"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267075"/>
            <a:ext cx="11639550" cy="11430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4705350"/>
            <a:ext cx="3676650" cy="209550"/>
          </a:xfrm>
          <a:prstGeom prst="rect">
            <a:avLst/>
          </a:prstGeom>
          <a:noFill/>
        </p:spPr>
        <p:txBody>
          <a:bodyPr wrap="square" lIns="0" tIns="9525" rIns="19050"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5029200"/>
            <a:ext cx="3676650" cy="15049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71975" y="4705350"/>
            <a:ext cx="3552825" cy="209550"/>
          </a:xfrm>
          <a:prstGeom prst="rect">
            <a:avLst/>
          </a:prstGeom>
          <a:noFill/>
        </p:spPr>
        <p:txBody>
          <a:bodyPr wrap="square" lIns="0" tIns="9525" rIns="19050"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71975" y="5029200"/>
            <a:ext cx="3552825" cy="15049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43900" y="4705350"/>
            <a:ext cx="3552825" cy="209550"/>
          </a:xfrm>
          <a:prstGeom prst="rect">
            <a:avLst/>
          </a:prstGeom>
          <a:noFill/>
        </p:spPr>
        <p:txBody>
          <a:bodyPr wrap="square" lIns="0" tIns="9525" rIns="19050"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43900" y="5029200"/>
            <a:ext cx="3552825" cy="150495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'Chewables'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Germany outpacing the Europe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6 form type categories.</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235487" cy="194310"/>
          </a:xfrm>
          <a:prstGeom prst="rect">
            <a:avLst/>
          </a:prstGeom>
          <a:noFill/>
        </p:spPr>
        <p:txBody>
          <a:bodyPr wrap="none" lIns="0" tIns="0" rIns="0" bIns="0">
            <a:spAutoFit/>
          </a:bodyPr>
          <a:lstStyle/>
          <a:p>
            <a:r>
              <a:rPr sz="1150" b="0">
                <a:solidFill>
                  <a:srgbClr val="2E2E2E"/>
                </a:solidFill>
                <a:latin typeface="Calibri"/>
              </a:rPr>
              <a:t>Global senior dog cognitive supplement market is expected to witness</a:t>
            </a:r>
          </a:p>
        </p:txBody>
      </p:sp>
      <p:pic>
        <p:nvPicPr>
          <p:cNvPr id="32" name="Picture 31" descr="lock.png"/>
          <p:cNvPicPr>
            <a:picLocks noChangeAspect="1"/>
          </p:cNvPicPr>
          <p:nvPr/>
        </p:nvPicPr>
        <p:blipFill>
          <a:blip r:embed="rId4"/>
          <a:stretch>
            <a:fillRect/>
          </a:stretch>
        </p:blipFill>
        <p:spPr>
          <a:xfrm>
            <a:off x="4460866" y="1389951"/>
            <a:ext cx="134549" cy="195707"/>
          </a:xfrm>
          <a:prstGeom prst="rect">
            <a:avLst/>
          </a:prstGeom>
        </p:spPr>
      </p:pic>
      <p:sp>
        <p:nvSpPr>
          <p:cNvPr id="33" name="TextBox 32"/>
          <p:cNvSpPr txBox="1"/>
          <p:nvPr/>
        </p:nvSpPr>
        <p:spPr>
          <a:xfrm>
            <a:off x="4635975" y="1400175"/>
            <a:ext cx="6124153" cy="194310"/>
          </a:xfrm>
          <a:prstGeom prst="rect">
            <a:avLst/>
          </a:prstGeom>
          <a:noFill/>
        </p:spPr>
        <p:txBody>
          <a:bodyPr wrap="none" lIns="0" tIns="0" rIns="0" bIns="0">
            <a:spAutoFit/>
          </a:bodyPr>
          <a:lstStyle/>
          <a:p>
            <a:r>
              <a:rPr sz="1150" b="0">
                <a:solidFill>
                  <a:srgbClr val="2E2E2E"/>
                </a:solidFill>
                <a:latin typeface="Calibri"/>
              </a:rPr>
              <a:t>X increase in revenue by 2036 end. Global senior dog cognitive supplement market accounted for US$</a:t>
            </a:r>
          </a:p>
        </p:txBody>
      </p:sp>
      <p:pic>
        <p:nvPicPr>
          <p:cNvPr id="34" name="Picture 33" descr="lock.png"/>
          <p:cNvPicPr>
            <a:picLocks noChangeAspect="1"/>
          </p:cNvPicPr>
          <p:nvPr/>
        </p:nvPicPr>
        <p:blipFill>
          <a:blip r:embed="rId4"/>
          <a:stretch>
            <a:fillRect/>
          </a:stretch>
        </p:blipFill>
        <p:spPr>
          <a:xfrm>
            <a:off x="10709282" y="1389951"/>
            <a:ext cx="134549" cy="195707"/>
          </a:xfrm>
          <a:prstGeom prst="rect">
            <a:avLst/>
          </a:prstGeom>
        </p:spPr>
      </p:pic>
      <p:sp>
        <p:nvSpPr>
          <p:cNvPr id="35" name="TextBox 34"/>
          <p:cNvSpPr txBox="1"/>
          <p:nvPr/>
        </p:nvSpPr>
        <p:spPr>
          <a:xfrm>
            <a:off x="10884391" y="1400175"/>
            <a:ext cx="787623" cy="194310"/>
          </a:xfrm>
          <a:prstGeom prst="rect">
            <a:avLst/>
          </a:prstGeom>
          <a:noFill/>
        </p:spPr>
        <p:txBody>
          <a:bodyPr wrap="none" lIns="0" tIns="0" rIns="0" bIns="0">
            <a:spAutoFit/>
          </a:bodyPr>
          <a:lstStyle/>
          <a:p>
            <a:r>
              <a:rPr sz="1150" b="0">
                <a:solidFill>
                  <a:srgbClr val="2E2E2E"/>
                </a:solidFill>
                <a:latin typeface="Calibri"/>
              </a:rPr>
              <a:t>Mn in 2025,</a:t>
            </a:r>
          </a:p>
        </p:txBody>
      </p:sp>
      <p:sp>
        <p:nvSpPr>
          <p:cNvPr id="36" name="TextBox 35"/>
          <p:cNvSpPr txBox="1"/>
          <p:nvPr/>
        </p:nvSpPr>
        <p:spPr>
          <a:xfrm>
            <a:off x="276225" y="1575435"/>
            <a:ext cx="2247837" cy="194310"/>
          </a:xfrm>
          <a:prstGeom prst="rect">
            <a:avLst/>
          </a:prstGeom>
          <a:noFill/>
        </p:spPr>
        <p:txBody>
          <a:bodyPr wrap="none" lIns="0" tIns="0" rIns="0" bIns="0">
            <a:spAutoFit/>
          </a:bodyPr>
          <a:lstStyle/>
          <a:p>
            <a:r>
              <a:rPr sz="1150" b="0">
                <a:solidFill>
                  <a:srgbClr val="2E2E2E"/>
                </a:solidFill>
                <a:latin typeface="Calibri"/>
              </a:rPr>
              <a:t>which is expected to increase to US$</a:t>
            </a:r>
          </a:p>
        </p:txBody>
      </p:sp>
      <p:pic>
        <p:nvPicPr>
          <p:cNvPr id="37" name="Picture 36" descr="lock.png"/>
          <p:cNvPicPr>
            <a:picLocks noChangeAspect="1"/>
          </p:cNvPicPr>
          <p:nvPr/>
        </p:nvPicPr>
        <p:blipFill>
          <a:blip r:embed="rId4"/>
          <a:stretch>
            <a:fillRect/>
          </a:stretch>
        </p:blipFill>
        <p:spPr>
          <a:xfrm>
            <a:off x="2473216" y="1565211"/>
            <a:ext cx="134549" cy="195707"/>
          </a:xfrm>
          <a:prstGeom prst="rect">
            <a:avLst/>
          </a:prstGeom>
        </p:spPr>
      </p:pic>
      <p:sp>
        <p:nvSpPr>
          <p:cNvPr id="38" name="TextBox 37"/>
          <p:cNvSpPr txBox="1"/>
          <p:nvPr/>
        </p:nvSpPr>
        <p:spPr>
          <a:xfrm>
            <a:off x="2648326" y="1575435"/>
            <a:ext cx="1527554" cy="194310"/>
          </a:xfrm>
          <a:prstGeom prst="rect">
            <a:avLst/>
          </a:prstGeom>
          <a:noFill/>
        </p:spPr>
        <p:txBody>
          <a:bodyPr wrap="none" lIns="0" tIns="0" r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4125034" y="1565211"/>
            <a:ext cx="134549" cy="195707"/>
          </a:xfrm>
          <a:prstGeom prst="rect">
            <a:avLst/>
          </a:prstGeom>
        </p:spPr>
      </p:pic>
      <p:sp>
        <p:nvSpPr>
          <p:cNvPr id="40" name="TextBox 39"/>
          <p:cNvSpPr txBox="1"/>
          <p:nvPr/>
        </p:nvSpPr>
        <p:spPr>
          <a:xfrm>
            <a:off x="4300143" y="1575435"/>
            <a:ext cx="112997" cy="194310"/>
          </a:xfrm>
          <a:prstGeom prst="rect">
            <a:avLst/>
          </a:prstGeom>
          <a:noFill/>
        </p:spPr>
        <p:txBody>
          <a:bodyPr wrap="none" lIns="0" tIns="0" rIns="0" bIns="0">
            <a:spAutoFit/>
          </a:bodyPr>
          <a:lstStyle/>
          <a:p>
            <a:r>
              <a:rPr sz="1150" b="0">
                <a:solidFill>
                  <a:srgbClr val="2E2E2E"/>
                </a:solidFill>
                <a:latin typeface="Calibri"/>
              </a:rPr>
              <a:t>.</a:t>
            </a:r>
          </a:p>
        </p:txBody>
      </p:sp>
      <p:sp>
        <p:nvSpPr>
          <p:cNvPr id="41" name="TextBox 40"/>
          <p:cNvSpPr txBox="1"/>
          <p:nvPr/>
        </p:nvSpPr>
        <p:spPr>
          <a:xfrm>
            <a:off x="276225" y="1803273"/>
            <a:ext cx="11135779" cy="194310"/>
          </a:xfrm>
          <a:prstGeom prst="rect">
            <a:avLst/>
          </a:prstGeom>
          <a:noFill/>
        </p:spPr>
        <p:txBody>
          <a:bodyPr wrap="none" lIns="0" tIns="0" rIns="0" bIns="0">
            <a:spAutoFit/>
          </a:bodyPr>
          <a:lstStyle/>
          <a:p>
            <a:r>
              <a:rPr sz="1150" b="0">
                <a:solidFill>
                  <a:srgbClr val="2E2E2E"/>
                </a:solidFill>
                <a:latin typeface="Calibri"/>
              </a:rPr>
              <a:t>The global senior dog cognitive supplement market has been analysed on the basis of form type, active ingredient, end-use application and packaging format across the globe. Germany is</a:t>
            </a:r>
          </a:p>
        </p:txBody>
      </p:sp>
      <p:sp>
        <p:nvSpPr>
          <p:cNvPr id="42" name="TextBox 41"/>
          <p:cNvSpPr txBox="1"/>
          <p:nvPr/>
        </p:nvSpPr>
        <p:spPr>
          <a:xfrm>
            <a:off x="276225" y="1978533"/>
            <a:ext cx="8964408" cy="194310"/>
          </a:xfrm>
          <a:prstGeom prst="rect">
            <a:avLst/>
          </a:prstGeom>
          <a:noFill/>
        </p:spPr>
        <p:txBody>
          <a:bodyPr wrap="none" lIns="0" tIns="0" rIns="0" bIns="0">
            <a:spAutoFit/>
          </a:bodyPr>
          <a:lstStyle/>
          <a:p>
            <a:r>
              <a:rPr sz="1150" b="0">
                <a:solidFill>
                  <a:srgbClr val="2E2E2E"/>
                </a:solidFill>
                <a:latin typeface="Calibri"/>
              </a:rPr>
              <a:t>expected to remain the largest market for senior dog cognitive supplement, while demand in Germany is projected to increase at the highest CAGR of</a:t>
            </a:r>
          </a:p>
        </p:txBody>
      </p:sp>
      <p:pic>
        <p:nvPicPr>
          <p:cNvPr id="43" name="Picture 42" descr="lock.png"/>
          <p:cNvPicPr>
            <a:picLocks noChangeAspect="1"/>
          </p:cNvPicPr>
          <p:nvPr/>
        </p:nvPicPr>
        <p:blipFill>
          <a:blip r:embed="rId4"/>
          <a:stretch>
            <a:fillRect/>
          </a:stretch>
        </p:blipFill>
        <p:spPr>
          <a:xfrm>
            <a:off x="9189787" y="1968309"/>
            <a:ext cx="134549" cy="195707"/>
          </a:xfrm>
          <a:prstGeom prst="rect">
            <a:avLst/>
          </a:prstGeom>
        </p:spPr>
      </p:pic>
      <p:sp>
        <p:nvSpPr>
          <p:cNvPr id="44" name="TextBox 43"/>
          <p:cNvSpPr txBox="1"/>
          <p:nvPr/>
        </p:nvSpPr>
        <p:spPr>
          <a:xfrm>
            <a:off x="9364896" y="1978533"/>
            <a:ext cx="1960872" cy="194310"/>
          </a:xfrm>
          <a:prstGeom prst="rect">
            <a:avLst/>
          </a:prstGeom>
          <a:noFill/>
        </p:spPr>
        <p:txBody>
          <a:bodyPr wrap="none" lIns="0" tIns="0" r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76600"/>
            <a:ext cx="6053980" cy="194310"/>
          </a:xfrm>
          <a:prstGeom prst="rect">
            <a:avLst/>
          </a:prstGeom>
          <a:noFill/>
        </p:spPr>
        <p:txBody>
          <a:bodyPr wrap="none" lIns="0" tIns="0" rIns="0" bIns="0">
            <a:spAutoFit/>
          </a:bodyPr>
          <a:lstStyle/>
          <a:p>
            <a:r>
              <a:rPr sz="1150" b="0">
                <a:solidFill>
                  <a:srgbClr val="2E2E2E"/>
                </a:solidFill>
                <a:latin typeface="Calibri"/>
              </a:rPr>
              <a:t>▪ The market is moderately fragmented: the leading form type category 'Capsules and Softgels' holds</a:t>
            </a:r>
          </a:p>
        </p:txBody>
      </p:sp>
      <p:pic>
        <p:nvPicPr>
          <p:cNvPr id="46" name="Picture 45" descr="lock.png"/>
          <p:cNvPicPr>
            <a:picLocks noChangeAspect="1"/>
          </p:cNvPicPr>
          <p:nvPr/>
        </p:nvPicPr>
        <p:blipFill>
          <a:blip r:embed="rId4"/>
          <a:stretch>
            <a:fillRect/>
          </a:stretch>
        </p:blipFill>
        <p:spPr>
          <a:xfrm>
            <a:off x="6279359" y="3266376"/>
            <a:ext cx="134549" cy="195707"/>
          </a:xfrm>
          <a:prstGeom prst="rect">
            <a:avLst/>
          </a:prstGeom>
        </p:spPr>
      </p:pic>
      <p:sp>
        <p:nvSpPr>
          <p:cNvPr id="47" name="TextBox 46"/>
          <p:cNvSpPr txBox="1"/>
          <p:nvPr/>
        </p:nvSpPr>
        <p:spPr>
          <a:xfrm>
            <a:off x="6454469" y="3276600"/>
            <a:ext cx="916272" cy="194310"/>
          </a:xfrm>
          <a:prstGeom prst="rect">
            <a:avLst/>
          </a:prstGeom>
          <a:noFill/>
        </p:spPr>
        <p:txBody>
          <a:bodyPr wrap="none" lIns="0" tIns="0" rIns="0" bIns="0">
            <a:spAutoFit/>
          </a:bodyPr>
          <a:lstStyle/>
          <a:p>
            <a:r>
              <a:rPr sz="1150" b="0">
                <a:solidFill>
                  <a:srgbClr val="2E2E2E"/>
                </a:solidFill>
                <a:latin typeface="Calibri"/>
              </a:rPr>
              <a:t>of 2036 value.</a:t>
            </a:r>
          </a:p>
        </p:txBody>
      </p:sp>
      <p:sp>
        <p:nvSpPr>
          <p:cNvPr id="48" name="TextBox 47"/>
          <p:cNvSpPr txBox="1"/>
          <p:nvPr/>
        </p:nvSpPr>
        <p:spPr>
          <a:xfrm>
            <a:off x="276225" y="3504437"/>
            <a:ext cx="4924090" cy="194310"/>
          </a:xfrm>
          <a:prstGeom prst="rect">
            <a:avLst/>
          </a:prstGeom>
          <a:noFill/>
        </p:spPr>
        <p:txBody>
          <a:bodyPr wrap="none" lIns="0" tIns="0" rIns="0" bIns="0">
            <a:spAutoFit/>
          </a:bodyPr>
          <a:lstStyle/>
          <a:p>
            <a:r>
              <a:rPr sz="1150" b="0">
                <a:solidFill>
                  <a:srgbClr val="2E2E2E"/>
                </a:solidFill>
                <a:latin typeface="Calibri"/>
              </a:rPr>
              <a:t>▪ Demand spans 12 countries and 8 segmentation lenses (6 form type categories).</a:t>
            </a:r>
          </a:p>
        </p:txBody>
      </p:sp>
      <p:sp>
        <p:nvSpPr>
          <p:cNvPr id="49" name="TextBox 48"/>
          <p:cNvSpPr txBox="1"/>
          <p:nvPr/>
        </p:nvSpPr>
        <p:spPr>
          <a:xfrm>
            <a:off x="276225" y="3732275"/>
            <a:ext cx="2599841" cy="194310"/>
          </a:xfrm>
          <a:prstGeom prst="rect">
            <a:avLst/>
          </a:prstGeom>
          <a:noFill/>
        </p:spPr>
        <p:txBody>
          <a:bodyPr wrap="none" lIns="0" tIns="0" rIns="0" bIns="0">
            <a:spAutoFit/>
          </a:bodyPr>
          <a:lstStyle/>
          <a:p>
            <a:r>
              <a:rPr sz="1150" b="0">
                <a:solidFill>
                  <a:srgbClr val="2E2E2E"/>
                </a:solidFill>
                <a:latin typeface="Calibri"/>
              </a:rPr>
              <a:t>▪ Germany is the largest country market at</a:t>
            </a:r>
          </a:p>
        </p:txBody>
      </p:sp>
      <p:pic>
        <p:nvPicPr>
          <p:cNvPr id="50" name="Picture 49" descr="lock.png"/>
          <p:cNvPicPr>
            <a:picLocks noChangeAspect="1"/>
          </p:cNvPicPr>
          <p:nvPr/>
        </p:nvPicPr>
        <p:blipFill>
          <a:blip r:embed="rId4"/>
          <a:stretch>
            <a:fillRect/>
          </a:stretch>
        </p:blipFill>
        <p:spPr>
          <a:xfrm>
            <a:off x="2825220" y="3722052"/>
            <a:ext cx="134549" cy="195707"/>
          </a:xfrm>
          <a:prstGeom prst="rect">
            <a:avLst/>
          </a:prstGeom>
        </p:spPr>
      </p:pic>
      <p:sp>
        <p:nvSpPr>
          <p:cNvPr id="51" name="TextBox 50"/>
          <p:cNvSpPr txBox="1"/>
          <p:nvPr/>
        </p:nvSpPr>
        <p:spPr>
          <a:xfrm>
            <a:off x="3000329" y="3732275"/>
            <a:ext cx="916272" cy="194310"/>
          </a:xfrm>
          <a:prstGeom prst="rect">
            <a:avLst/>
          </a:prstGeom>
          <a:noFill/>
        </p:spPr>
        <p:txBody>
          <a:bodyPr wrap="none" lIns="0" tIns="0" rIns="0" bIns="0">
            <a:spAutoFit/>
          </a:bodyPr>
          <a:lstStyle/>
          <a:p>
            <a:r>
              <a:rPr sz="1150" b="0">
                <a:solidFill>
                  <a:srgbClr val="2E2E2E"/>
                </a:solidFill>
                <a:latin typeface="Calibri"/>
              </a:rPr>
              <a:t>of 2036 value.</a:t>
            </a:r>
          </a:p>
        </p:txBody>
      </p:sp>
      <p:sp>
        <p:nvSpPr>
          <p:cNvPr id="52" name="TextBox 51"/>
          <p:cNvSpPr txBox="1"/>
          <p:nvPr/>
        </p:nvSpPr>
        <p:spPr>
          <a:xfrm>
            <a:off x="276225" y="5038725"/>
            <a:ext cx="2313446" cy="194310"/>
          </a:xfrm>
          <a:prstGeom prst="rect">
            <a:avLst/>
          </a:prstGeom>
          <a:noFill/>
        </p:spPr>
        <p:txBody>
          <a:bodyPr wrap="none" lIns="0" tIns="0" rIns="0" bIns="0">
            <a:spAutoFit/>
          </a:bodyPr>
          <a:lstStyle/>
          <a:p>
            <a:r>
              <a:rPr sz="1150" b="0">
                <a:solidFill>
                  <a:srgbClr val="2E2E2E"/>
                </a:solidFill>
                <a:latin typeface="Calibri"/>
              </a:rPr>
              <a:t>▪ Accelerating uptake of 'Chewables' (</a:t>
            </a:r>
          </a:p>
        </p:txBody>
      </p:sp>
      <p:pic>
        <p:nvPicPr>
          <p:cNvPr id="53" name="Picture 52" descr="lock.png"/>
          <p:cNvPicPr>
            <a:picLocks noChangeAspect="1"/>
          </p:cNvPicPr>
          <p:nvPr/>
        </p:nvPicPr>
        <p:blipFill>
          <a:blip r:embed="rId4"/>
          <a:stretch>
            <a:fillRect/>
          </a:stretch>
        </p:blipFill>
        <p:spPr>
          <a:xfrm>
            <a:off x="2538825" y="5028501"/>
            <a:ext cx="134549" cy="195707"/>
          </a:xfrm>
          <a:prstGeom prst="rect">
            <a:avLst/>
          </a:prstGeom>
        </p:spPr>
      </p:pic>
      <p:sp>
        <p:nvSpPr>
          <p:cNvPr id="54" name="TextBox 53"/>
          <p:cNvSpPr txBox="1"/>
          <p:nvPr/>
        </p:nvSpPr>
        <p:spPr>
          <a:xfrm>
            <a:off x="2713934" y="5038725"/>
            <a:ext cx="490941"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55" name="TextBox 54"/>
          <p:cNvSpPr txBox="1"/>
          <p:nvPr/>
        </p:nvSpPr>
        <p:spPr>
          <a:xfrm>
            <a:off x="276225" y="5266563"/>
            <a:ext cx="2250913" cy="194310"/>
          </a:xfrm>
          <a:prstGeom prst="rect">
            <a:avLst/>
          </a:prstGeom>
          <a:noFill/>
        </p:spPr>
        <p:txBody>
          <a:bodyPr wrap="none" lIns="0" tIns="0" rIns="0" bIns="0">
            <a:spAutoFit/>
          </a:bodyPr>
          <a:lstStyle/>
          <a:p>
            <a:r>
              <a:rPr sz="1150" b="0">
                <a:solidFill>
                  <a:srgbClr val="2E2E2E"/>
                </a:solidFill>
                <a:latin typeface="Calibri"/>
              </a:rPr>
              <a:t>▪ Fast-growing demand in Germany (</a:t>
            </a:r>
          </a:p>
        </p:txBody>
      </p:sp>
      <p:pic>
        <p:nvPicPr>
          <p:cNvPr id="56" name="Picture 55" descr="lock.png"/>
          <p:cNvPicPr>
            <a:picLocks noChangeAspect="1"/>
          </p:cNvPicPr>
          <p:nvPr/>
        </p:nvPicPr>
        <p:blipFill>
          <a:blip r:embed="rId4"/>
          <a:stretch>
            <a:fillRect/>
          </a:stretch>
        </p:blipFill>
        <p:spPr>
          <a:xfrm>
            <a:off x="2476292" y="5256339"/>
            <a:ext cx="134549" cy="195707"/>
          </a:xfrm>
          <a:prstGeom prst="rect">
            <a:avLst/>
          </a:prstGeom>
        </p:spPr>
      </p:pic>
      <p:sp>
        <p:nvSpPr>
          <p:cNvPr id="57" name="TextBox 56"/>
          <p:cNvSpPr txBox="1"/>
          <p:nvPr/>
        </p:nvSpPr>
        <p:spPr>
          <a:xfrm>
            <a:off x="2651401" y="5266563"/>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58" name="TextBox 57"/>
          <p:cNvSpPr txBox="1"/>
          <p:nvPr/>
        </p:nvSpPr>
        <p:spPr>
          <a:xfrm>
            <a:off x="276225" y="5494400"/>
            <a:ext cx="3478708" cy="194310"/>
          </a:xfrm>
          <a:prstGeom prst="rect">
            <a:avLst/>
          </a:prstGeom>
          <a:noFill/>
        </p:spPr>
        <p:txBody>
          <a:bodyPr wrap="none" lIns="0" tIns="0" rIns="0" bIns="0">
            <a:spAutoFit/>
          </a:bodyPr>
          <a:lstStyle/>
          <a:p>
            <a:r>
              <a:rPr sz="1150" b="0">
                <a:solidFill>
                  <a:srgbClr val="2E2E2E"/>
                </a:solidFill>
                <a:latin typeface="Calibri"/>
              </a:rPr>
              <a:t>▪ Momentum in Veterinary-Guided Cognitive Dysfunction</a:t>
            </a:r>
          </a:p>
        </p:txBody>
      </p:sp>
      <p:sp>
        <p:nvSpPr>
          <p:cNvPr id="59" name="TextBox 58"/>
          <p:cNvSpPr txBox="1"/>
          <p:nvPr/>
        </p:nvSpPr>
        <p:spPr>
          <a:xfrm>
            <a:off x="276225" y="5669660"/>
            <a:ext cx="2237854" cy="194310"/>
          </a:xfrm>
          <a:prstGeom prst="rect">
            <a:avLst/>
          </a:prstGeom>
          <a:noFill/>
        </p:spPr>
        <p:txBody>
          <a:bodyPr wrap="none" lIns="0" tIns="0" rIns="0" bIns="0">
            <a:spAutoFit/>
          </a:bodyPr>
          <a:lstStyle/>
          <a:p>
            <a:r>
              <a:rPr sz="1150" b="0">
                <a:solidFill>
                  <a:srgbClr val="2E2E2E"/>
                </a:solidFill>
                <a:latin typeface="Calibri"/>
              </a:rPr>
              <a:t>Support within end-use application (</a:t>
            </a:r>
          </a:p>
        </p:txBody>
      </p:sp>
      <p:pic>
        <p:nvPicPr>
          <p:cNvPr id="60" name="Picture 59" descr="lock.png"/>
          <p:cNvPicPr>
            <a:picLocks noChangeAspect="1"/>
          </p:cNvPicPr>
          <p:nvPr/>
        </p:nvPicPr>
        <p:blipFill>
          <a:blip r:embed="rId4"/>
          <a:stretch>
            <a:fillRect/>
          </a:stretch>
        </p:blipFill>
        <p:spPr>
          <a:xfrm>
            <a:off x="2463233" y="5659437"/>
            <a:ext cx="134549" cy="195707"/>
          </a:xfrm>
          <a:prstGeom prst="rect">
            <a:avLst/>
          </a:prstGeom>
        </p:spPr>
      </p:pic>
      <p:sp>
        <p:nvSpPr>
          <p:cNvPr id="61" name="TextBox 60"/>
          <p:cNvSpPr txBox="1"/>
          <p:nvPr/>
        </p:nvSpPr>
        <p:spPr>
          <a:xfrm>
            <a:off x="2638342" y="5669660"/>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62" name="TextBox 61"/>
          <p:cNvSpPr txBox="1"/>
          <p:nvPr/>
        </p:nvSpPr>
        <p:spPr>
          <a:xfrm>
            <a:off x="4371975" y="5038725"/>
            <a:ext cx="2036464" cy="194310"/>
          </a:xfrm>
          <a:prstGeom prst="rect">
            <a:avLst/>
          </a:prstGeom>
          <a:noFill/>
        </p:spPr>
        <p:txBody>
          <a:bodyPr wrap="none" lIns="0" tIns="0" rIns="0" bIns="0">
            <a:spAutoFit/>
          </a:bodyPr>
          <a:lstStyle/>
          <a:p>
            <a:r>
              <a:rPr sz="1150" b="0">
                <a:solidFill>
                  <a:srgbClr val="2E2E2E"/>
                </a:solidFill>
                <a:latin typeface="Calibri"/>
              </a:rPr>
              <a:t>▪ Slower momentum in 'Liquids' (</a:t>
            </a:r>
          </a:p>
        </p:txBody>
      </p:sp>
      <p:pic>
        <p:nvPicPr>
          <p:cNvPr id="63" name="Picture 62" descr="lock.png"/>
          <p:cNvPicPr>
            <a:picLocks noChangeAspect="1"/>
          </p:cNvPicPr>
          <p:nvPr/>
        </p:nvPicPr>
        <p:blipFill>
          <a:blip r:embed="rId4"/>
          <a:stretch>
            <a:fillRect/>
          </a:stretch>
        </p:blipFill>
        <p:spPr>
          <a:xfrm>
            <a:off x="6357593" y="5028501"/>
            <a:ext cx="134549" cy="195707"/>
          </a:xfrm>
          <a:prstGeom prst="rect">
            <a:avLst/>
          </a:prstGeom>
        </p:spPr>
      </p:pic>
      <p:sp>
        <p:nvSpPr>
          <p:cNvPr id="64" name="TextBox 63"/>
          <p:cNvSpPr txBox="1"/>
          <p:nvPr/>
        </p:nvSpPr>
        <p:spPr>
          <a:xfrm>
            <a:off x="6532703" y="5038725"/>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65" name="TextBox 64"/>
          <p:cNvSpPr txBox="1"/>
          <p:nvPr/>
        </p:nvSpPr>
        <p:spPr>
          <a:xfrm>
            <a:off x="4371975" y="5266563"/>
            <a:ext cx="3264197" cy="194310"/>
          </a:xfrm>
          <a:prstGeom prst="rect">
            <a:avLst/>
          </a:prstGeom>
          <a:noFill/>
        </p:spPr>
        <p:txBody>
          <a:bodyPr wrap="none" lIns="0" tIns="0" r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441822"/>
            <a:ext cx="562272" cy="194310"/>
          </a:xfrm>
          <a:prstGeom prst="rect">
            <a:avLst/>
          </a:prstGeom>
          <a:noFill/>
        </p:spPr>
        <p:txBody>
          <a:bodyPr wrap="none" lIns="0" tIns="0" r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31599"/>
            <a:ext cx="134549" cy="195707"/>
          </a:xfrm>
          <a:prstGeom prst="rect">
            <a:avLst/>
          </a:prstGeom>
        </p:spPr>
      </p:pic>
      <p:sp>
        <p:nvSpPr>
          <p:cNvPr id="68" name="TextBox 67"/>
          <p:cNvSpPr txBox="1"/>
          <p:nvPr/>
        </p:nvSpPr>
        <p:spPr>
          <a:xfrm>
            <a:off x="5058510" y="5441822"/>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69" name="TextBox 68"/>
          <p:cNvSpPr txBox="1"/>
          <p:nvPr/>
        </p:nvSpPr>
        <p:spPr>
          <a:xfrm>
            <a:off x="4371975" y="5669660"/>
            <a:ext cx="3260204" cy="194310"/>
          </a:xfrm>
          <a:prstGeom prst="rect">
            <a:avLst/>
          </a:prstGeom>
          <a:noFill/>
        </p:spPr>
        <p:txBody>
          <a:bodyPr wrap="none" lIns="0" tIns="0" rIns="0" bIns="0">
            <a:spAutoFit/>
          </a:bodyPr>
          <a:lstStyle/>
          <a:p>
            <a:r>
              <a:rPr sz="1150" b="0">
                <a:solidFill>
                  <a:srgbClr val="2E2E2E"/>
                </a:solidFill>
                <a:latin typeface="Calibri"/>
              </a:rPr>
              <a:t>▪ Value concentration in 'Capsules and Softgels' raises</a:t>
            </a:r>
          </a:p>
        </p:txBody>
      </p:sp>
      <p:sp>
        <p:nvSpPr>
          <p:cNvPr id="70" name="TextBox 69"/>
          <p:cNvSpPr txBox="1"/>
          <p:nvPr/>
        </p:nvSpPr>
        <p:spPr>
          <a:xfrm>
            <a:off x="4371975" y="5844920"/>
            <a:ext cx="1604305" cy="194310"/>
          </a:xfrm>
          <a:prstGeom prst="rect">
            <a:avLst/>
          </a:prstGeom>
          <a:noFill/>
        </p:spPr>
        <p:txBody>
          <a:bodyPr wrap="none" lIns="0" tIns="0" rIns="0" bIns="0">
            <a:spAutoFit/>
          </a:bodyPr>
          <a:lstStyle/>
          <a:p>
            <a:r>
              <a:rPr sz="1150" b="0">
                <a:solidFill>
                  <a:srgbClr val="2E2E2E"/>
                </a:solidFill>
                <a:latin typeface="Calibri"/>
              </a:rPr>
              <a:t>barriers for new entrants.</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225"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225" y="1390650"/>
            <a:ext cx="5610225" cy="12954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'Chewables' and Germany.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form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Germany and Germany.</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390650"/>
            <a:ext cx="5610225" cy="12954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2981325"/>
            <a:ext cx="5610225" cy="209550"/>
          </a:xfrm>
          <a:prstGeom prst="rect">
            <a:avLst/>
          </a:prstGeom>
          <a:noFill/>
        </p:spPr>
        <p:txBody>
          <a:bodyPr wrap="square" lIns="0" tIns="9525" rIns="19050"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3305175"/>
            <a:ext cx="5610225" cy="8001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5550" y="2981325"/>
            <a:ext cx="5610225" cy="209550"/>
          </a:xfrm>
          <a:prstGeom prst="rect">
            <a:avLst/>
          </a:prstGeom>
          <a:noFill/>
        </p:spPr>
        <p:txBody>
          <a:bodyPr wrap="square" lIns="0" tIns="9525" rIns="19050"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5550" y="3305175"/>
            <a:ext cx="5610225" cy="8001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8125" y="437197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structure form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xmlns:r="http://schemas.openxmlformats.org/officeDocument/2006/relationships" r:id="rId4"/>
          </a:graphicData>
        </a:graphic>
      </p:graphicFrame>
      <p:sp>
        <p:nvSpPr>
          <p:cNvPr id="29" name="TextBox 28"/>
          <p:cNvSpPr txBox="1"/>
          <p:nvPr/>
        </p:nvSpPr>
        <p:spPr>
          <a:xfrm>
            <a:off x="3871570" y="5462588"/>
            <a:ext cx="934136" cy="228600"/>
          </a:xfrm>
          <a:prstGeom prst="rect">
            <a:avLst/>
          </a:prstGeom>
          <a:noFill/>
        </p:spPr>
        <p:txBody>
          <a:bodyPr wrap="square" lIns="28575" tIns="9525" rIns="28575" bIns="9525" anchor="ctr">
            <a:spAutoFit/>
          </a:bodyPr>
          <a:lstStyle/>
          <a:p>
            <a:pPr algn="ctr"/>
            <a:endParaRP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tIns="0" r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tIns="0" r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tIns="0" r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tIns="0" r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tIns="0" rIns="0" bIns="0">
            <a:spAutoFit/>
          </a:bodyPr>
          <a:lstStyle/>
          <a:p>
            <a:r>
              <a:rPr sz="1100" b="0">
                <a:solidFill>
                  <a:srgbClr val="2E2E2E"/>
                </a:solidFill>
                <a:latin typeface="Calibri"/>
              </a:rPr>
              <a:t>(2026–2036).</a:t>
            </a:r>
          </a:p>
        </p:txBody>
      </p:sp>
      <p:sp>
        <p:nvSpPr>
          <p:cNvPr id="40" name="TextBox 39"/>
          <p:cNvSpPr txBox="1"/>
          <p:nvPr/>
        </p:nvSpPr>
        <p:spPr>
          <a:xfrm>
            <a:off x="6305550" y="1836039"/>
            <a:ext cx="2270199" cy="186689"/>
          </a:xfrm>
          <a:prstGeom prst="rect">
            <a:avLst/>
          </a:prstGeom>
          <a:noFill/>
        </p:spPr>
        <p:txBody>
          <a:bodyPr wrap="none" lIns="0" tIns="0" rIns="0" bIns="0">
            <a:spAutoFit/>
          </a:bodyPr>
          <a:lstStyle/>
          <a:p>
            <a:r>
              <a:rPr sz="1100" b="0">
                <a:solidFill>
                  <a:srgbClr val="2E2E2E"/>
                </a:solidFill>
                <a:latin typeface="Calibri"/>
              </a:rPr>
              <a:t>▪ Lead category 'Capsules and Softgels'</a:t>
            </a:r>
          </a:p>
        </p:txBody>
      </p:sp>
      <p:pic>
        <p:nvPicPr>
          <p:cNvPr id="41" name="Picture 40" descr="lock.png"/>
          <p:cNvPicPr>
            <a:picLocks noChangeAspect="1"/>
          </p:cNvPicPr>
          <p:nvPr/>
        </p:nvPicPr>
        <p:blipFill>
          <a:blip r:embed="rId5"/>
          <a:stretch>
            <a:fillRect/>
          </a:stretch>
        </p:blipFill>
        <p:spPr>
          <a:xfrm>
            <a:off x="8523801" y="1826260"/>
            <a:ext cx="128699" cy="187198"/>
          </a:xfrm>
          <a:prstGeom prst="rect">
            <a:avLst/>
          </a:prstGeom>
        </p:spPr>
      </p:pic>
      <p:sp>
        <p:nvSpPr>
          <p:cNvPr id="42" name="TextBox 41"/>
          <p:cNvSpPr txBox="1"/>
          <p:nvPr/>
        </p:nvSpPr>
        <p:spPr>
          <a:xfrm>
            <a:off x="8691296" y="1836039"/>
            <a:ext cx="543049" cy="186689"/>
          </a:xfrm>
          <a:prstGeom prst="rect">
            <a:avLst/>
          </a:prstGeom>
          <a:noFill/>
        </p:spPr>
        <p:txBody>
          <a:bodyPr wrap="none" lIns="0" tIns="0" rIns="0" bIns="0">
            <a:spAutoFit/>
          </a:bodyPr>
          <a:lstStyle/>
          <a:p>
            <a:r>
              <a:rPr sz="1100" b="0">
                <a:solidFill>
                  <a:srgbClr val="2E2E2E"/>
                </a:solidFill>
                <a:latin typeface="Calibri"/>
              </a:rPr>
              <a:t>of 2036.</a:t>
            </a:r>
          </a:p>
        </p:txBody>
      </p:sp>
      <p:sp>
        <p:nvSpPr>
          <p:cNvPr id="43" name="TextBox 42"/>
          <p:cNvSpPr txBox="1"/>
          <p:nvPr/>
        </p:nvSpPr>
        <p:spPr>
          <a:xfrm>
            <a:off x="6305550" y="2053970"/>
            <a:ext cx="1449461" cy="186689"/>
          </a:xfrm>
          <a:prstGeom prst="rect">
            <a:avLst/>
          </a:prstGeom>
          <a:noFill/>
        </p:spPr>
        <p:txBody>
          <a:bodyPr wrap="none" lIns="0" tIns="0" rIns="0" bIns="0">
            <a:spAutoFit/>
          </a:bodyPr>
          <a:lstStyle/>
          <a:p>
            <a:r>
              <a:rPr sz="1100" b="0">
                <a:solidFill>
                  <a:srgbClr val="2E2E2E"/>
                </a:solidFill>
                <a:latin typeface="Calibri"/>
              </a:rPr>
              <a:t>▪ Lead country Germany</a:t>
            </a:r>
          </a:p>
        </p:txBody>
      </p:sp>
      <p:pic>
        <p:nvPicPr>
          <p:cNvPr id="44" name="Picture 43" descr="lock.png"/>
          <p:cNvPicPr>
            <a:picLocks noChangeAspect="1"/>
          </p:cNvPicPr>
          <p:nvPr/>
        </p:nvPicPr>
        <p:blipFill>
          <a:blip r:embed="rId5"/>
          <a:stretch>
            <a:fillRect/>
          </a:stretch>
        </p:blipFill>
        <p:spPr>
          <a:xfrm>
            <a:off x="7703063" y="2044192"/>
            <a:ext cx="128699" cy="187198"/>
          </a:xfrm>
          <a:prstGeom prst="rect">
            <a:avLst/>
          </a:prstGeom>
        </p:spPr>
      </p:pic>
      <p:sp>
        <p:nvSpPr>
          <p:cNvPr id="45" name="TextBox 44"/>
          <p:cNvSpPr txBox="1"/>
          <p:nvPr/>
        </p:nvSpPr>
        <p:spPr>
          <a:xfrm>
            <a:off x="7870559" y="2053970"/>
            <a:ext cx="111397" cy="186689"/>
          </a:xfrm>
          <a:prstGeom prst="rect">
            <a:avLst/>
          </a:prstGeom>
          <a:noFill/>
        </p:spPr>
        <p:txBody>
          <a:bodyPr wrap="none" lIns="0" tIns="0" r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tIns="0" r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tIns="0" rIns="0" bIns="0">
            <a:spAutoFit/>
          </a:bodyPr>
          <a:lstStyle/>
          <a:p>
            <a:r>
              <a:rPr sz="1100" b="0">
                <a:solidFill>
                  <a:srgbClr val="2E2E2E"/>
                </a:solidFill>
                <a:latin typeface="Calibri"/>
              </a:rPr>
              <a:t>US$ Mn.</a:t>
            </a:r>
          </a:p>
        </p:txBody>
      </p:sp>
      <p:sp>
        <p:nvSpPr>
          <p:cNvPr id="49" name="TextBox 48"/>
          <p:cNvSpPr txBox="1"/>
          <p:nvPr/>
        </p:nvSpPr>
        <p:spPr>
          <a:xfrm>
            <a:off x="276225" y="3314700"/>
            <a:ext cx="4136789" cy="194310"/>
          </a:xfrm>
          <a:prstGeom prst="rect">
            <a:avLst/>
          </a:prstGeom>
          <a:noFill/>
        </p:spPr>
        <p:txBody>
          <a:bodyPr wrap="none" lIns="0" tIns="0" rIns="0" bIns="0">
            <a:spAutoFit/>
          </a:bodyPr>
          <a:lstStyle/>
          <a:p>
            <a:r>
              <a:rPr sz="1150" b="0">
                <a:solidFill>
                  <a:srgbClr val="2E2E2E"/>
                </a:solidFill>
                <a:latin typeface="Calibri"/>
              </a:rPr>
              <a:t>▪ Investment is flowing toward the fastest-growing tier 'Chewables' (</a:t>
            </a:r>
          </a:p>
        </p:txBody>
      </p:sp>
      <p:pic>
        <p:nvPicPr>
          <p:cNvPr id="50" name="Picture 49" descr="lock.png"/>
          <p:cNvPicPr>
            <a:picLocks noChangeAspect="1"/>
          </p:cNvPicPr>
          <p:nvPr/>
        </p:nvPicPr>
        <p:blipFill>
          <a:blip r:embed="rId5"/>
          <a:stretch>
            <a:fillRect/>
          </a:stretch>
        </p:blipFill>
        <p:spPr>
          <a:xfrm>
            <a:off x="4362168" y="3304476"/>
            <a:ext cx="134549" cy="195707"/>
          </a:xfrm>
          <a:prstGeom prst="rect">
            <a:avLst/>
          </a:prstGeom>
        </p:spPr>
      </p:pic>
      <p:sp>
        <p:nvSpPr>
          <p:cNvPr id="51" name="TextBox 50"/>
          <p:cNvSpPr txBox="1"/>
          <p:nvPr/>
        </p:nvSpPr>
        <p:spPr>
          <a:xfrm>
            <a:off x="4537277" y="3314700"/>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52" name="TextBox 51"/>
          <p:cNvSpPr txBox="1"/>
          <p:nvPr/>
        </p:nvSpPr>
        <p:spPr>
          <a:xfrm>
            <a:off x="276225" y="3542537"/>
            <a:ext cx="783629" cy="194310"/>
          </a:xfrm>
          <a:prstGeom prst="rect">
            <a:avLst/>
          </a:prstGeom>
          <a:noFill/>
        </p:spPr>
        <p:txBody>
          <a:bodyPr wrap="none" lIns="0" tIns="0" rIns="0" bIns="0">
            <a:spAutoFit/>
          </a:bodyPr>
          <a:lstStyle/>
          <a:p>
            <a:r>
              <a:rPr sz="1150" b="0">
                <a:solidFill>
                  <a:srgbClr val="2E2E2E"/>
                </a:solidFill>
                <a:latin typeface="Calibri"/>
              </a:rPr>
              <a:t>▪ Germany (</a:t>
            </a:r>
          </a:p>
        </p:txBody>
      </p:sp>
      <p:pic>
        <p:nvPicPr>
          <p:cNvPr id="53" name="Picture 52" descr="lock.png"/>
          <p:cNvPicPr>
            <a:picLocks noChangeAspect="1"/>
          </p:cNvPicPr>
          <p:nvPr/>
        </p:nvPicPr>
        <p:blipFill>
          <a:blip r:embed="rId5"/>
          <a:stretch>
            <a:fillRect/>
          </a:stretch>
        </p:blipFill>
        <p:spPr>
          <a:xfrm>
            <a:off x="1009008" y="3532314"/>
            <a:ext cx="134549" cy="195707"/>
          </a:xfrm>
          <a:prstGeom prst="rect">
            <a:avLst/>
          </a:prstGeom>
        </p:spPr>
      </p:pic>
      <p:sp>
        <p:nvSpPr>
          <p:cNvPr id="54" name="TextBox 53"/>
          <p:cNvSpPr txBox="1"/>
          <p:nvPr/>
        </p:nvSpPr>
        <p:spPr>
          <a:xfrm>
            <a:off x="1184117" y="3542537"/>
            <a:ext cx="2362224" cy="194310"/>
          </a:xfrm>
          <a:prstGeom prst="rect">
            <a:avLst/>
          </a:prstGeom>
          <a:noFill/>
        </p:spPr>
        <p:txBody>
          <a:bodyPr wrap="none" lIns="0" tIns="0" rIns="0" bIns="0">
            <a:spAutoFit/>
          </a:bodyPr>
          <a:lstStyle/>
          <a:p>
            <a:r>
              <a:rPr sz="1150" b="0">
                <a:solidFill>
                  <a:srgbClr val="2E2E2E"/>
                </a:solidFill>
                <a:latin typeface="Calibri"/>
              </a:rPr>
              <a:t>) is a priority country for new capacity.</a:t>
            </a:r>
          </a:p>
        </p:txBody>
      </p:sp>
      <p:sp>
        <p:nvSpPr>
          <p:cNvPr id="55" name="TextBox 54"/>
          <p:cNvSpPr txBox="1"/>
          <p:nvPr/>
        </p:nvSpPr>
        <p:spPr>
          <a:xfrm>
            <a:off x="276225" y="3770375"/>
            <a:ext cx="3290155" cy="194310"/>
          </a:xfrm>
          <a:prstGeom prst="rect">
            <a:avLst/>
          </a:prstGeom>
          <a:noFill/>
        </p:spPr>
        <p:txBody>
          <a:bodyPr wrap="none" lIns="0" tIns="0" rIns="0" bIns="0">
            <a:spAutoFit/>
          </a:bodyPr>
          <a:lstStyle/>
          <a:p>
            <a:r>
              <a:rPr sz="1150" b="0">
                <a:solidFill>
                  <a:srgbClr val="2E2E2E"/>
                </a:solidFill>
                <a:latin typeface="Calibri"/>
              </a:rPr>
              <a:t>▪ Scale players anchor around 'Capsules and Softgels' (</a:t>
            </a:r>
          </a:p>
        </p:txBody>
      </p:sp>
      <p:pic>
        <p:nvPicPr>
          <p:cNvPr id="56" name="Picture 55" descr="lock.png"/>
          <p:cNvPicPr>
            <a:picLocks noChangeAspect="1"/>
          </p:cNvPicPr>
          <p:nvPr/>
        </p:nvPicPr>
        <p:blipFill>
          <a:blip r:embed="rId5"/>
          <a:stretch>
            <a:fillRect/>
          </a:stretch>
        </p:blipFill>
        <p:spPr>
          <a:xfrm>
            <a:off x="3515534" y="3760152"/>
            <a:ext cx="134549" cy="195707"/>
          </a:xfrm>
          <a:prstGeom prst="rect">
            <a:avLst/>
          </a:prstGeom>
        </p:spPr>
      </p:pic>
      <p:sp>
        <p:nvSpPr>
          <p:cNvPr id="57" name="TextBox 56"/>
          <p:cNvSpPr txBox="1"/>
          <p:nvPr/>
        </p:nvSpPr>
        <p:spPr>
          <a:xfrm>
            <a:off x="3690643" y="3770375"/>
            <a:ext cx="484683" cy="194310"/>
          </a:xfrm>
          <a:prstGeom prst="rect">
            <a:avLst/>
          </a:prstGeom>
          <a:noFill/>
        </p:spPr>
        <p:txBody>
          <a:bodyPr wrap="none" lIns="0" tIns="0" rIns="0" bIns="0">
            <a:spAutoFit/>
          </a:bodyPr>
          <a:lstStyle/>
          <a:p>
            <a:r>
              <a:rPr sz="1150" b="0">
                <a:solidFill>
                  <a:srgbClr val="2E2E2E"/>
                </a:solidFill>
                <a:latin typeface="Calibri"/>
              </a:rPr>
              <a:t>share).</a:t>
            </a:r>
          </a:p>
        </p:txBody>
      </p:sp>
      <p:sp>
        <p:nvSpPr>
          <p:cNvPr id="58" name="TextBox 57"/>
          <p:cNvSpPr txBox="1"/>
          <p:nvPr/>
        </p:nvSpPr>
        <p:spPr>
          <a:xfrm>
            <a:off x="6305550" y="3314700"/>
            <a:ext cx="4551548" cy="194310"/>
          </a:xfrm>
          <a:prstGeom prst="rect">
            <a:avLst/>
          </a:prstGeom>
          <a:noFill/>
        </p:spPr>
        <p:txBody>
          <a:bodyPr wrap="none" lIns="0" tIns="0" rIns="0" bIns="0">
            <a:spAutoFit/>
          </a:bodyPr>
          <a:lstStyle/>
          <a:p>
            <a:r>
              <a:rPr sz="1150" b="0">
                <a:solidFill>
                  <a:srgbClr val="2E2E2E"/>
                </a:solidFill>
                <a:latin typeface="Calibri"/>
              </a:rPr>
              <a:t>▪ R&amp;D aligns with the migration to 'Chewables' and adjacent premium tiers.</a:t>
            </a:r>
          </a:p>
        </p:txBody>
      </p:sp>
      <p:sp>
        <p:nvSpPr>
          <p:cNvPr id="59" name="TextBox 58"/>
          <p:cNvSpPr txBox="1"/>
          <p:nvPr/>
        </p:nvSpPr>
        <p:spPr>
          <a:xfrm>
            <a:off x="6305550" y="3542537"/>
            <a:ext cx="4423184" cy="194310"/>
          </a:xfrm>
          <a:prstGeom prst="rect">
            <a:avLst/>
          </a:prstGeom>
          <a:noFill/>
        </p:spPr>
        <p:txBody>
          <a:bodyPr wrap="none" lIns="0" tIns="0" rIns="0" bIns="0">
            <a:spAutoFit/>
          </a:bodyPr>
          <a:lstStyle/>
          <a:p>
            <a:r>
              <a:rPr sz="1150" b="0">
                <a:solidFill>
                  <a:srgbClr val="2E2E2E"/>
                </a:solidFill>
                <a:latin typeface="Calibri"/>
              </a:rPr>
              <a:t>▪ Development spend targets form type categories gaining share to 2036.</a:t>
            </a:r>
          </a:p>
        </p:txBody>
      </p:sp>
      <p:sp>
        <p:nvSpPr>
          <p:cNvPr id="60" name="TextBox 59"/>
          <p:cNvSpPr txBox="1"/>
          <p:nvPr/>
        </p:nvSpPr>
        <p:spPr>
          <a:xfrm>
            <a:off x="6305550" y="3770375"/>
            <a:ext cx="1663352" cy="194310"/>
          </a:xfrm>
          <a:prstGeom prst="rect">
            <a:avLst/>
          </a:prstGeom>
          <a:noFill/>
        </p:spPr>
        <p:txBody>
          <a:bodyPr wrap="none" lIns="0" tIns="0" rIns="0" bIns="0">
            <a:spAutoFit/>
          </a:bodyPr>
          <a:lstStyle/>
          <a:p>
            <a:r>
              <a:rPr sz="115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918056" y="3760152"/>
            <a:ext cx="134549" cy="195707"/>
          </a:xfrm>
          <a:prstGeom prst="rect">
            <a:avLst/>
          </a:prstGeom>
        </p:spPr>
      </p:pic>
      <p:sp>
        <p:nvSpPr>
          <p:cNvPr id="62" name="TextBox 61"/>
          <p:cNvSpPr txBox="1"/>
          <p:nvPr/>
        </p:nvSpPr>
        <p:spPr>
          <a:xfrm>
            <a:off x="8093165" y="3770375"/>
            <a:ext cx="963036" cy="194310"/>
          </a:xfrm>
          <a:prstGeom prst="rect">
            <a:avLst/>
          </a:prstGeom>
          <a:noFill/>
        </p:spPr>
        <p:txBody>
          <a:bodyPr wrap="none" lIns="0" tIns="0" rIns="0" bIns="0">
            <a:spAutoFit/>
          </a:bodyPr>
          <a:lstStyle/>
          <a:p>
            <a:r>
              <a:rPr sz="115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225"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225" y="1390650"/>
            <a:ext cx="5610225" cy="1257300"/>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390650"/>
            <a:ext cx="5610225" cy="12573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'Chewables' tier and Veterinary-Guided Cognitive Dysfunction Support within end-use application.</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2943225"/>
            <a:ext cx="5610225" cy="209550"/>
          </a:xfrm>
          <a:prstGeom prst="rect">
            <a:avLst/>
          </a:prstGeom>
          <a:noFill/>
        </p:spPr>
        <p:txBody>
          <a:bodyPr wrap="square" lIns="0" tIns="9525" rIns="19050"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3267075"/>
            <a:ext cx="5610225" cy="1076325"/>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5550" y="2943225"/>
            <a:ext cx="5610225" cy="209550"/>
          </a:xfrm>
          <a:prstGeom prst="rect">
            <a:avLst/>
          </a:prstGeom>
          <a:noFill/>
        </p:spPr>
        <p:txBody>
          <a:bodyPr wrap="square" lIns="0" tIns="9525" rIns="19050" bIns="9525">
            <a:spAutoFit/>
          </a:bodyPr>
          <a:lstStyle/>
          <a:p>
            <a:pPr algn="l"/>
            <a:r>
              <a:rPr sz="1300" b="1">
                <a:solidFill>
                  <a:srgbClr val="0B2E4A"/>
                </a:solidFill>
                <a:latin typeface="Calibri"/>
              </a:rPr>
              <a:t>Market Country</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5550" y="3267075"/>
            <a:ext cx="5610225" cy="1076325"/>
          </a:xfrm>
          <a:prstGeom prst="rect">
            <a:avLst/>
          </a:prstGeom>
          <a:noFill/>
        </p:spPr>
        <p:txBody>
          <a:bodyPr wrap="square" lIns="0" tIns="9525" rIns="19050" bIns="9525">
            <a:spAutoFit/>
          </a:bodyPr>
          <a:lstStyle/>
          <a:p>
            <a:pPr algn="l">
              <a:lnSpc>
                <a:spcPct val="110000"/>
              </a:lnSpc>
              <a:spcBef>
                <a:spcPts val="0"/>
              </a:spcBef>
              <a:spcAft>
                <a:spcPts val="500"/>
              </a:spcAft>
            </a:pPr>
            <a:endParaRP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6225" y="4638675"/>
            <a:ext cx="11639550" cy="209550"/>
          </a:xfrm>
          <a:prstGeom prst="rect">
            <a:avLst/>
          </a:prstGeom>
          <a:noFill/>
        </p:spPr>
        <p:txBody>
          <a:bodyPr wrap="square" lIns="0" tIns="9525" rIns="19050"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6225" y="4962525"/>
            <a:ext cx="11639550" cy="15716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477482" cy="194310"/>
          </a:xfrm>
          <a:prstGeom prst="rect">
            <a:avLst/>
          </a:prstGeom>
          <a:noFill/>
        </p:spPr>
        <p:txBody>
          <a:bodyPr wrap="none" lIns="0" tIns="0" rIns="0" bIns="0">
            <a:spAutoFit/>
          </a:bodyPr>
          <a:lstStyle/>
          <a:p>
            <a:r>
              <a:rPr sz="1150" b="0">
                <a:solidFill>
                  <a:srgbClr val="2E2E2E"/>
                </a:solidFill>
                <a:latin typeface="Calibri"/>
              </a:rPr>
              <a:t>▪ Balance scale in 'Capsules and Softgels' with targeted growth in 'Chewables', pursuing the</a:t>
            </a:r>
          </a:p>
        </p:txBody>
      </p:sp>
      <p:pic>
        <p:nvPicPr>
          <p:cNvPr id="32" name="Picture 31" descr="lock.png"/>
          <p:cNvPicPr>
            <a:picLocks noChangeAspect="1"/>
          </p:cNvPicPr>
          <p:nvPr/>
        </p:nvPicPr>
        <p:blipFill>
          <a:blip r:embed="rId4"/>
          <a:stretch>
            <a:fillRect/>
          </a:stretch>
        </p:blipFill>
        <p:spPr>
          <a:xfrm>
            <a:off x="262145" y="1565211"/>
            <a:ext cx="134549" cy="195707"/>
          </a:xfrm>
          <a:prstGeom prst="rect">
            <a:avLst/>
          </a:prstGeom>
        </p:spPr>
      </p:pic>
      <p:sp>
        <p:nvSpPr>
          <p:cNvPr id="33" name="TextBox 32"/>
          <p:cNvSpPr txBox="1"/>
          <p:nvPr/>
        </p:nvSpPr>
        <p:spPr>
          <a:xfrm>
            <a:off x="437254" y="1575435"/>
            <a:ext cx="1551800" cy="194310"/>
          </a:xfrm>
          <a:prstGeom prst="rect">
            <a:avLst/>
          </a:prstGeom>
          <a:noFill/>
        </p:spPr>
        <p:txBody>
          <a:bodyPr wrap="none" lIns="0" tIns="0" rIns="0" bIns="0">
            <a:spAutoFit/>
          </a:bodyPr>
          <a:lstStyle/>
          <a:p>
            <a:r>
              <a:rPr sz="1150" b="0">
                <a:solidFill>
                  <a:srgbClr val="2E2E2E"/>
                </a:solidFill>
                <a:latin typeface="Calibri"/>
              </a:rPr>
              <a:t>CAGR trajectory to 2036.</a:t>
            </a:r>
          </a:p>
        </p:txBody>
      </p:sp>
      <p:sp>
        <p:nvSpPr>
          <p:cNvPr id="34" name="TextBox 33"/>
          <p:cNvSpPr txBox="1"/>
          <p:nvPr/>
        </p:nvSpPr>
        <p:spPr>
          <a:xfrm>
            <a:off x="276225" y="3276600"/>
            <a:ext cx="1512168" cy="194310"/>
          </a:xfrm>
          <a:prstGeom prst="rect">
            <a:avLst/>
          </a:prstGeom>
          <a:noFill/>
        </p:spPr>
        <p:txBody>
          <a:bodyPr wrap="none" lIns="0" tIns="0" rIns="0" bIns="0">
            <a:spAutoFit/>
          </a:bodyPr>
          <a:lstStyle/>
          <a:p>
            <a:r>
              <a:rPr sz="1150" b="0">
                <a:solidFill>
                  <a:srgbClr val="2E2E2E"/>
                </a:solidFill>
                <a:latin typeface="Calibri"/>
              </a:rPr>
              <a:t>▪ Prioritise 'Chewables' (</a:t>
            </a:r>
          </a:p>
        </p:txBody>
      </p:sp>
      <p:pic>
        <p:nvPicPr>
          <p:cNvPr id="35" name="Picture 34" descr="lock.png"/>
          <p:cNvPicPr>
            <a:picLocks noChangeAspect="1"/>
          </p:cNvPicPr>
          <p:nvPr/>
        </p:nvPicPr>
        <p:blipFill>
          <a:blip r:embed="rId4"/>
          <a:stretch>
            <a:fillRect/>
          </a:stretch>
        </p:blipFill>
        <p:spPr>
          <a:xfrm>
            <a:off x="1737547" y="3266376"/>
            <a:ext cx="134549" cy="195707"/>
          </a:xfrm>
          <a:prstGeom prst="rect">
            <a:avLst/>
          </a:prstGeom>
        </p:spPr>
      </p:pic>
      <p:sp>
        <p:nvSpPr>
          <p:cNvPr id="36" name="TextBox 35"/>
          <p:cNvSpPr txBox="1"/>
          <p:nvPr/>
        </p:nvSpPr>
        <p:spPr>
          <a:xfrm>
            <a:off x="1912656" y="3276600"/>
            <a:ext cx="2041599" cy="194310"/>
          </a:xfrm>
          <a:prstGeom prst="rect">
            <a:avLst/>
          </a:prstGeom>
          <a:noFill/>
        </p:spPr>
        <p:txBody>
          <a:bodyPr wrap="none" lIns="0" tIns="0" rIns="0" bIns="0">
            <a:spAutoFit/>
          </a:bodyPr>
          <a:lstStyle/>
          <a:p>
            <a:r>
              <a:rPr sz="1150" b="0">
                <a:solidFill>
                  <a:srgbClr val="2E2E2E"/>
                </a:solidFill>
                <a:latin typeface="Calibri"/>
              </a:rPr>
              <a:t>); 'Capsules and Softgels' anchors</a:t>
            </a:r>
          </a:p>
        </p:txBody>
      </p:sp>
      <p:pic>
        <p:nvPicPr>
          <p:cNvPr id="37" name="Picture 36" descr="lock.png"/>
          <p:cNvPicPr>
            <a:picLocks noChangeAspect="1"/>
          </p:cNvPicPr>
          <p:nvPr/>
        </p:nvPicPr>
        <p:blipFill>
          <a:blip r:embed="rId4"/>
          <a:stretch>
            <a:fillRect/>
          </a:stretch>
        </p:blipFill>
        <p:spPr>
          <a:xfrm>
            <a:off x="3903409" y="3266376"/>
            <a:ext cx="134549" cy="195707"/>
          </a:xfrm>
          <a:prstGeom prst="rect">
            <a:avLst/>
          </a:prstGeom>
        </p:spPr>
      </p:pic>
      <p:sp>
        <p:nvSpPr>
          <p:cNvPr id="38" name="TextBox 37"/>
          <p:cNvSpPr txBox="1"/>
          <p:nvPr/>
        </p:nvSpPr>
        <p:spPr>
          <a:xfrm>
            <a:off x="4078518" y="3276600"/>
            <a:ext cx="586519" cy="194310"/>
          </a:xfrm>
          <a:prstGeom prst="rect">
            <a:avLst/>
          </a:prstGeom>
          <a:noFill/>
        </p:spPr>
        <p:txBody>
          <a:bodyPr wrap="none" lIns="0" tIns="0" rIns="0" bIns="0">
            <a:spAutoFit/>
          </a:bodyPr>
          <a:lstStyle/>
          <a:p>
            <a:r>
              <a:rPr sz="1150" b="0">
                <a:solidFill>
                  <a:srgbClr val="2E2E2E"/>
                </a:solidFill>
                <a:latin typeface="Calibri"/>
              </a:rPr>
              <a:t>of value.</a:t>
            </a:r>
          </a:p>
        </p:txBody>
      </p:sp>
      <p:sp>
        <p:nvSpPr>
          <p:cNvPr id="39" name="TextBox 38"/>
          <p:cNvSpPr txBox="1"/>
          <p:nvPr/>
        </p:nvSpPr>
        <p:spPr>
          <a:xfrm>
            <a:off x="6305550" y="3276600"/>
            <a:ext cx="1394358" cy="194310"/>
          </a:xfrm>
          <a:prstGeom prst="rect">
            <a:avLst/>
          </a:prstGeom>
          <a:noFill/>
        </p:spPr>
        <p:txBody>
          <a:bodyPr wrap="none" lIns="0" tIns="0" rIns="0" bIns="0">
            <a:spAutoFit/>
          </a:bodyPr>
          <a:lstStyle/>
          <a:p>
            <a:r>
              <a:rPr sz="1150" b="0">
                <a:solidFill>
                  <a:srgbClr val="2E2E2E"/>
                </a:solidFill>
                <a:latin typeface="Calibri"/>
              </a:rPr>
              <a:t>▪ Lead with Germany (</a:t>
            </a:r>
          </a:p>
        </p:txBody>
      </p:sp>
      <p:pic>
        <p:nvPicPr>
          <p:cNvPr id="40" name="Picture 39" descr="lock.png"/>
          <p:cNvPicPr>
            <a:picLocks noChangeAspect="1"/>
          </p:cNvPicPr>
          <p:nvPr/>
        </p:nvPicPr>
        <p:blipFill>
          <a:blip r:embed="rId4"/>
          <a:stretch>
            <a:fillRect/>
          </a:stretch>
        </p:blipFill>
        <p:spPr>
          <a:xfrm>
            <a:off x="7649062" y="3266376"/>
            <a:ext cx="134549" cy="195707"/>
          </a:xfrm>
          <a:prstGeom prst="rect">
            <a:avLst/>
          </a:prstGeom>
        </p:spPr>
      </p:pic>
      <p:sp>
        <p:nvSpPr>
          <p:cNvPr id="41" name="TextBox 40"/>
          <p:cNvSpPr txBox="1"/>
          <p:nvPr/>
        </p:nvSpPr>
        <p:spPr>
          <a:xfrm>
            <a:off x="7824171" y="3276600"/>
            <a:ext cx="1876722" cy="194310"/>
          </a:xfrm>
          <a:prstGeom prst="rect">
            <a:avLst/>
          </a:prstGeom>
          <a:noFill/>
        </p:spPr>
        <p:txBody>
          <a:bodyPr wrap="none" lIns="0" tIns="0" rIns="0" bIns="0">
            <a:spAutoFit/>
          </a:bodyPr>
          <a:lstStyle/>
          <a:p>
            <a:r>
              <a:rPr sz="1150" b="0">
                <a:solidFill>
                  <a:srgbClr val="2E2E2E"/>
                </a:solidFill>
                <a:latin typeface="Calibri"/>
              </a:rPr>
              <a:t>); capture upside in Germany (</a:t>
            </a:r>
          </a:p>
        </p:txBody>
      </p:sp>
      <p:pic>
        <p:nvPicPr>
          <p:cNvPr id="42" name="Picture 41" descr="lock.png"/>
          <p:cNvPicPr>
            <a:picLocks noChangeAspect="1"/>
          </p:cNvPicPr>
          <p:nvPr/>
        </p:nvPicPr>
        <p:blipFill>
          <a:blip r:embed="rId4"/>
          <a:stretch>
            <a:fillRect/>
          </a:stretch>
        </p:blipFill>
        <p:spPr>
          <a:xfrm>
            <a:off x="9650048" y="3266376"/>
            <a:ext cx="134549" cy="195707"/>
          </a:xfrm>
          <a:prstGeom prst="rect">
            <a:avLst/>
          </a:prstGeom>
        </p:spPr>
      </p:pic>
      <p:sp>
        <p:nvSpPr>
          <p:cNvPr id="43" name="TextBox 42"/>
          <p:cNvSpPr txBox="1"/>
          <p:nvPr/>
        </p:nvSpPr>
        <p:spPr>
          <a:xfrm>
            <a:off x="9825157" y="3276600"/>
            <a:ext cx="157212" cy="194310"/>
          </a:xfrm>
          <a:prstGeom prst="rect">
            <a:avLst/>
          </a:prstGeom>
          <a:noFill/>
        </p:spPr>
        <p:txBody>
          <a:bodyPr wrap="none" lIns="0" tIns="0" rIns="0" bIns="0">
            <a:spAutoFit/>
          </a:bodyPr>
          <a:lstStyle/>
          <a:p>
            <a:r>
              <a:rPr sz="1150" b="0">
                <a:solidFill>
                  <a:srgbClr val="2E2E2E"/>
                </a:solidFill>
                <a:latin typeface="Calibri"/>
              </a:rPr>
              <a:t>).</a:t>
            </a:r>
          </a:p>
        </p:txBody>
      </p:sp>
      <p:sp>
        <p:nvSpPr>
          <p:cNvPr id="44" name="TextBox 43"/>
          <p:cNvSpPr txBox="1"/>
          <p:nvPr/>
        </p:nvSpPr>
        <p:spPr>
          <a:xfrm>
            <a:off x="276225" y="4972050"/>
            <a:ext cx="2461778" cy="194310"/>
          </a:xfrm>
          <a:prstGeom prst="rect">
            <a:avLst/>
          </a:prstGeom>
          <a:noFill/>
        </p:spPr>
        <p:txBody>
          <a:bodyPr wrap="none" lIns="0" tIns="0" rIns="0" bIns="0">
            <a:spAutoFit/>
          </a:bodyPr>
          <a:lstStyle/>
          <a:p>
            <a:r>
              <a:rPr sz="1150" b="0">
                <a:solidFill>
                  <a:srgbClr val="2E2E2E"/>
                </a:solidFill>
                <a:latin typeface="Calibri"/>
              </a:rPr>
              <a:t>▪ Senior Dog Cognitive Supplement adds</a:t>
            </a:r>
          </a:p>
        </p:txBody>
      </p:sp>
      <p:pic>
        <p:nvPicPr>
          <p:cNvPr id="45" name="Picture 44" descr="lock.png"/>
          <p:cNvPicPr>
            <a:picLocks noChangeAspect="1"/>
          </p:cNvPicPr>
          <p:nvPr/>
        </p:nvPicPr>
        <p:blipFill>
          <a:blip r:embed="rId4"/>
          <a:stretch>
            <a:fillRect/>
          </a:stretch>
        </p:blipFill>
        <p:spPr>
          <a:xfrm>
            <a:off x="2687157" y="4961826"/>
            <a:ext cx="134549" cy="195707"/>
          </a:xfrm>
          <a:prstGeom prst="rect">
            <a:avLst/>
          </a:prstGeom>
        </p:spPr>
      </p:pic>
      <p:sp>
        <p:nvSpPr>
          <p:cNvPr id="46" name="TextBox 45"/>
          <p:cNvSpPr txBox="1"/>
          <p:nvPr/>
        </p:nvSpPr>
        <p:spPr>
          <a:xfrm>
            <a:off x="2862266" y="4972050"/>
            <a:ext cx="1815107" cy="194310"/>
          </a:xfrm>
          <a:prstGeom prst="rect">
            <a:avLst/>
          </a:prstGeom>
          <a:noFill/>
        </p:spPr>
        <p:txBody>
          <a:bodyPr wrap="none" lIns="0" tIns="0" r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4626528" y="4961826"/>
            <a:ext cx="134549" cy="195707"/>
          </a:xfrm>
          <a:prstGeom prst="rect">
            <a:avLst/>
          </a:prstGeom>
        </p:spPr>
      </p:pic>
      <p:sp>
        <p:nvSpPr>
          <p:cNvPr id="48" name="TextBox 47"/>
          <p:cNvSpPr txBox="1"/>
          <p:nvPr/>
        </p:nvSpPr>
        <p:spPr>
          <a:xfrm>
            <a:off x="4801637" y="4972050"/>
            <a:ext cx="822709" cy="194310"/>
          </a:xfrm>
          <a:prstGeom prst="rect">
            <a:avLst/>
          </a:prstGeom>
          <a:noFill/>
        </p:spPr>
        <p:txBody>
          <a:bodyPr wrap="none" lIns="0" tIns="0" rIns="0" bIns="0">
            <a:spAutoFit/>
          </a:bodyPr>
          <a:lstStyle/>
          <a:p>
            <a:r>
              <a:rPr sz="1150" b="0">
                <a:solidFill>
                  <a:srgbClr val="2E2E2E"/>
                </a:solidFill>
                <a:latin typeface="Calibri"/>
              </a:rPr>
              <a:t>× expansion.</a:t>
            </a:r>
          </a:p>
        </p:txBody>
      </p:sp>
      <p:sp>
        <p:nvSpPr>
          <p:cNvPr id="49" name="TextBox 48"/>
          <p:cNvSpPr txBox="1"/>
          <p:nvPr/>
        </p:nvSpPr>
        <p:spPr>
          <a:xfrm>
            <a:off x="276225" y="5199888"/>
            <a:ext cx="6344369" cy="194310"/>
          </a:xfrm>
          <a:prstGeom prst="rect">
            <a:avLst/>
          </a:prstGeom>
          <a:noFill/>
        </p:spPr>
        <p:txBody>
          <a:bodyPr wrap="none" lIns="0" tIns="0" rIns="0" bIns="0">
            <a:spAutoFit/>
          </a:bodyPr>
          <a:lstStyle/>
          <a:p>
            <a:r>
              <a:rPr sz="1150" b="0">
                <a:solidFill>
                  <a:srgbClr val="2E2E2E"/>
                </a:solidFill>
                <a:latin typeface="Calibri"/>
              </a:rPr>
              <a:t>▪ Concentrate resources on the leading segment/country while seeding the fastest-growing pockets early.</a:t>
            </a:r>
          </a:p>
        </p:txBody>
      </p:sp>
      <p:sp>
        <p:nvSpPr>
          <p:cNvPr id="50" name="TextBox 49"/>
          <p:cNvSpPr txBox="1"/>
          <p:nvPr/>
        </p:nvSpPr>
        <p:spPr>
          <a:xfrm>
            <a:off x="276225" y="5427725"/>
            <a:ext cx="4642829" cy="194310"/>
          </a:xfrm>
          <a:prstGeom prst="rect">
            <a:avLst/>
          </a:prstGeom>
          <a:noFill/>
        </p:spPr>
        <p:txBody>
          <a:bodyPr wrap="none" lIns="0" tIns="0" rIns="0" bIns="0">
            <a:spAutoFit/>
          </a:bodyPr>
          <a:lstStyle/>
          <a:p>
            <a:r>
              <a:rPr sz="1150" b="0">
                <a:solidFill>
                  <a:srgbClr val="2E2E2E"/>
                </a:solidFill>
                <a:latin typeface="Calibri"/>
              </a:rPr>
              <a:t>▪ Defend share in 'Capsules and Softgels' as the value anchor of the portfolio.</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a:p>
            <a:pPr algn="ctr">
              <a:lnSpc>
                <a:spcPct val="95000"/>
              </a:lnSpc>
            </a:pPr>
            <a:endParaRP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a:p>
            <a:pPr algn="ctr">
              <a:lnSpc>
                <a:spcPct val="95000"/>
              </a:lnSpc>
            </a:pPr>
            <a:endParaRP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a:p>
            <a:pPr algn="ctr">
              <a:lnSpc>
                <a:spcPct val="95000"/>
              </a:lnSpc>
            </a:pPr>
            <a:endParaRP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18669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Senior Dog Cognitive Supplement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533417"/>
            <a:ext cx="635826" cy="771883"/>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043936" y="3102934"/>
            <a:ext cx="635826" cy="1202366"/>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025725" y="2916916"/>
            <a:ext cx="635826" cy="138838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1456468" y="2969584"/>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64809"/>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wrap="square" lIns="19050" tIns="0" rIns="19050" bIns="0" rtlCol="0" anchor="ctr"/>
          <a:lstStyle/>
          <a:p>
            <a:pPr algn="ctr"/>
            <a:endParaRPr/>
          </a:p>
        </p:txBody>
      </p:sp>
      <p:cxnSp>
        <p:nvCxnSpPr>
          <p:cNvPr id="22" name="Connector 21"/>
          <p:cNvCxnSpPr/>
          <p:nvPr/>
        </p:nvCxnSpPr>
        <p:spPr>
          <a:xfrm>
            <a:off x="1456468" y="2712409"/>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607634"/>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19050" tIns="0" rIns="19050" bIns="0" rtlCol="0" anchor="ctr"/>
          <a:lstStyle/>
          <a:p>
            <a:pPr algn="ctr"/>
            <a:endParaRPr/>
          </a:p>
        </p:txBody>
      </p:sp>
      <p:cxnSp>
        <p:nvCxnSpPr>
          <p:cNvPr id="24" name="Connector 23"/>
          <p:cNvCxnSpPr/>
          <p:nvPr/>
        </p:nvCxnSpPr>
        <p:spPr>
          <a:xfrm>
            <a:off x="1456468" y="2455234"/>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50459"/>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wrap="square" lIns="19050" tIns="0" rIns="19050" bIns="0" rtlCol="0" anchor="ctr"/>
          <a:lstStyle/>
          <a:p>
            <a:pPr algn="ctr"/>
            <a:endParaRPr/>
          </a:p>
        </p:txBody>
      </p:sp>
      <p:sp>
        <p:nvSpPr>
          <p:cNvPr id="26" name="TextBox 25"/>
          <p:cNvSpPr txBox="1"/>
          <p:nvPr/>
        </p:nvSpPr>
        <p:spPr>
          <a:xfrm>
            <a:off x="643255" y="4333875"/>
            <a:ext cx="762000" cy="180975"/>
          </a:xfrm>
          <a:prstGeom prst="rect">
            <a:avLst/>
          </a:prstGeom>
          <a:noFill/>
        </p:spPr>
        <p:txBody>
          <a:bodyPr wrap="square" lIns="28575" tIns="9525" rIns="2857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tIns="9525" rIns="2857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5775" y="4543425"/>
            <a:ext cx="1647825" cy="190500"/>
          </a:xfrm>
          <a:prstGeom prst="rect">
            <a:avLst/>
          </a:prstGeom>
          <a:noFill/>
        </p:spPr>
        <p:txBody>
          <a:bodyPr wrap="none" lIns="28575" tIns="9525" rIns="2857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81250" y="4543425"/>
            <a:ext cx="1647825" cy="190500"/>
          </a:xfrm>
          <a:prstGeom prst="rect">
            <a:avLst/>
          </a:prstGeom>
          <a:noFill/>
        </p:spPr>
        <p:txBody>
          <a:bodyPr wrap="none" lIns="28575" tIns="9525" rIns="2857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76725" y="4543425"/>
            <a:ext cx="1647825" cy="190500"/>
          </a:xfrm>
          <a:prstGeom prst="rect">
            <a:avLst/>
          </a:prstGeom>
          <a:noFill/>
        </p:spPr>
        <p:txBody>
          <a:bodyPr wrap="none" lIns="28575" tIns="9525" rIns="2857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67450" y="18669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Senior Dog Cognitive Supplement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xmlns:r="http://schemas.openxmlformats.org/officeDocument/2006/relationships" r:id="rId4"/>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76225" y="5038725"/>
            <a:ext cx="11639550" cy="209550"/>
          </a:xfrm>
          <a:prstGeom prst="rect">
            <a:avLst/>
          </a:prstGeom>
          <a:noFill/>
        </p:spPr>
        <p:txBody>
          <a:bodyPr wrap="square" lIns="0" tIns="9525" rIns="19050"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6225" y="5362575"/>
            <a:ext cx="11639550" cy="11906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1" name="TextBox 4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tIns="0" r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tIns="0" r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tIns="0" r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tIns="0" r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tIns="0" r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tIns="0" r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899175"/>
            <a:ext cx="382383" cy="159867"/>
          </a:xfrm>
          <a:prstGeom prst="rect">
            <a:avLst/>
          </a:prstGeom>
          <a:noFill/>
        </p:spPr>
        <p:txBody>
          <a:bodyPr wrap="none" lIns="0" tIns="0" r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90960"/>
            <a:ext cx="108107" cy="157246"/>
          </a:xfrm>
          <a:prstGeom prst="rect">
            <a:avLst/>
          </a:prstGeom>
        </p:spPr>
      </p:pic>
      <p:sp>
        <p:nvSpPr>
          <p:cNvPr id="56" name="TextBox 55"/>
          <p:cNvSpPr txBox="1"/>
          <p:nvPr/>
        </p:nvSpPr>
        <p:spPr>
          <a:xfrm>
            <a:off x="2032418" y="2642000"/>
            <a:ext cx="382383" cy="159867"/>
          </a:xfrm>
          <a:prstGeom prst="rect">
            <a:avLst/>
          </a:prstGeom>
          <a:noFill/>
        </p:spPr>
        <p:txBody>
          <a:bodyPr wrap="none" lIns="0" tIns="0" r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633785"/>
            <a:ext cx="108107" cy="157246"/>
          </a:xfrm>
          <a:prstGeom prst="rect">
            <a:avLst/>
          </a:prstGeom>
        </p:spPr>
      </p:pic>
      <p:sp>
        <p:nvSpPr>
          <p:cNvPr id="58" name="TextBox 57"/>
          <p:cNvSpPr txBox="1"/>
          <p:nvPr/>
        </p:nvSpPr>
        <p:spPr>
          <a:xfrm>
            <a:off x="2032418" y="2384825"/>
            <a:ext cx="382383" cy="159867"/>
          </a:xfrm>
          <a:prstGeom prst="rect">
            <a:avLst/>
          </a:prstGeom>
          <a:noFill/>
        </p:spPr>
        <p:txBody>
          <a:bodyPr wrap="none" lIns="0" tIns="0" r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76610"/>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tIns="0" r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tIns="0" r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tIns="0" r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tIns="0" r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tIns="0" r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tIns="0" r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tIns="0" r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tIns="0" r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898775"/>
            <a:ext cx="8572500" cy="514350"/>
          </a:xfrm>
          <a:prstGeom prst="rect">
            <a:avLst/>
          </a:prstGeom>
          <a:noFill/>
        </p:spPr>
        <p:txBody>
          <a:bodyPr wrap="square" lIns="0" tIns="0" rIns="0">
            <a:spAutoFit/>
          </a:bodyPr>
          <a:lstStyle/>
          <a:p>
            <a:r>
              <a:rPr sz="3000" b="1">
                <a:solidFill>
                  <a:srgbClr val="0B3C8C"/>
                </a:solidFill>
                <a:latin typeface="Calibri"/>
              </a:rPr>
              <a:t>Europe Market Analysis By Country</a:t>
            </a:r>
          </a:p>
        </p:txBody>
      </p:sp>
      <p:sp>
        <p:nvSpPr>
          <p:cNvPr id="11" name="TextBox 10"/>
          <p:cNvSpPr txBox="1"/>
          <p:nvPr/>
        </p:nvSpPr>
        <p:spPr>
          <a:xfrm>
            <a:off x="914400" y="3584575"/>
            <a:ext cx="8458200" cy="16700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Europe Senior Dog Cognitive Supplement – Country Outlook</a:t>
            </a:r>
          </a:p>
          <a:p>
            <a:pPr marL="342900" indent="-323850">
              <a:lnSpc>
                <a:spcPct val="100000"/>
              </a:lnSpc>
              <a:spcAft>
                <a:spcPts val="800"/>
              </a:spcAft>
            </a:pPr>
            <a:r>
              <a:rPr sz="2000" b="0">
                <a:solidFill>
                  <a:srgbClr val="000000"/>
                </a:solidFill>
                <a:latin typeface="Calibri"/>
              </a:rPr>
              <a:t>➤	Market Analysis By Country</a:t>
            </a:r>
          </a:p>
          <a:p>
            <a:pPr marL="342900" indent="-323850">
              <a:lnSpc>
                <a:spcPct val="100000"/>
              </a:lnSpc>
              <a:spcAft>
                <a:spcPts val="800"/>
              </a:spcAft>
            </a:pPr>
            <a:r>
              <a:rPr sz="2000" b="0">
                <a:solidFill>
                  <a:srgbClr val="000000"/>
                </a:solidFill>
                <a:latin typeface="Calibri"/>
              </a:rPr>
              <a:t>➤	Volume Share Analysis By Country</a:t>
            </a:r>
          </a:p>
          <a:p>
            <a:pPr marL="342900" indent="-323850">
              <a:lnSpc>
                <a:spcPct val="100000"/>
              </a:lnSpc>
              <a:spcAft>
                <a:spcPts val="800"/>
              </a:spcAft>
            </a:pPr>
            <a:r>
              <a:rPr sz="2000" b="0">
                <a:solidFill>
                  <a:srgbClr val="000000"/>
                </a:solidFill>
                <a:latin typeface="Calibri"/>
              </a:rPr>
              <a:t>➤	Value Share Analysis By Country</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 Country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Regional analysis of size, growth and share across 12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By Country view breaks the Europe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728662"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728662"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652462" cy="438089"/>
          </a:xfrm>
          <a:prstGeom prst="rect">
            <a:avLst/>
          </a:prstGeom>
          <a:noFill/>
        </p:spPr>
        <p:txBody>
          <a:bodyPr wrap="square" lIns="28575" tIns="9525" rIns="28575" bIns="9525" anchor="ctr">
            <a:spAutoFit/>
          </a:bodyPr>
          <a:lstStyle/>
          <a:p>
            <a:pPr algn="ctr"/>
            <a:r>
              <a:rPr sz="1100" b="1">
                <a:solidFill>
                  <a:srgbClr val="FFFFFF"/>
                </a:solidFill>
                <a:latin typeface="Calibri"/>
              </a:rPr>
              <a:t>Germany</a:t>
            </a:r>
          </a:p>
        </p:txBody>
      </p:sp>
      <p:sp>
        <p:nvSpPr>
          <p:cNvPr id="22" name="Rectangle 21"/>
          <p:cNvSpPr/>
          <p:nvPr/>
        </p:nvSpPr>
        <p:spPr>
          <a:xfrm>
            <a:off x="186690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 </a:t>
            </a:r>
          </a:p>
        </p:txBody>
      </p:sp>
      <p:sp>
        <p:nvSpPr>
          <p:cNvPr id="23" name="Rectangle 22"/>
          <p:cNvSpPr/>
          <p:nvPr/>
        </p:nvSpPr>
        <p:spPr>
          <a:xfrm>
            <a:off x="186690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 </a:t>
            </a:r>
          </a:p>
        </p:txBody>
      </p:sp>
      <p:sp>
        <p:nvSpPr>
          <p:cNvPr id="24" name="Rectangle 23"/>
          <p:cNvSpPr/>
          <p:nvPr/>
        </p:nvSpPr>
        <p:spPr>
          <a:xfrm>
            <a:off x="186690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 </a:t>
            </a:r>
          </a:p>
        </p:txBody>
      </p:sp>
      <p:sp>
        <p:nvSpPr>
          <p:cNvPr id="25" name="Oval 24"/>
          <p:cNvSpPr/>
          <p:nvPr/>
        </p:nvSpPr>
        <p:spPr>
          <a:xfrm>
            <a:off x="2069306"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2709862" y="1773916"/>
            <a:ext cx="728662"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709862" y="1992961"/>
            <a:ext cx="728662"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7962" y="1773916"/>
            <a:ext cx="652462" cy="438089"/>
          </a:xfrm>
          <a:prstGeom prst="rect">
            <a:avLst/>
          </a:prstGeom>
          <a:noFill/>
        </p:spPr>
        <p:txBody>
          <a:bodyPr wrap="none" lIns="0" tIns="0" rIns="0" bIns="0" anchor="ctr">
            <a:spAutoFit/>
          </a:bodyPr>
          <a:lstStyle/>
          <a:p>
            <a:pPr algn="ctr"/>
            <a:r>
              <a:rPr sz="1100" b="1">
                <a:solidFill>
                  <a:srgbClr val="FFFFFF"/>
                </a:solidFill>
                <a:latin typeface="Calibri"/>
              </a:rPr>
              <a:t>U.K.</a:t>
            </a:r>
          </a:p>
        </p:txBody>
      </p:sp>
      <p:sp>
        <p:nvSpPr>
          <p:cNvPr id="29" name="Rectangle 28"/>
          <p:cNvSpPr/>
          <p:nvPr/>
        </p:nvSpPr>
        <p:spPr>
          <a:xfrm>
            <a:off x="270986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 </a:t>
            </a:r>
          </a:p>
        </p:txBody>
      </p:sp>
      <p:sp>
        <p:nvSpPr>
          <p:cNvPr id="30" name="Rectangle 29"/>
          <p:cNvSpPr/>
          <p:nvPr/>
        </p:nvSpPr>
        <p:spPr>
          <a:xfrm>
            <a:off x="270986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 </a:t>
            </a:r>
          </a:p>
        </p:txBody>
      </p:sp>
      <p:sp>
        <p:nvSpPr>
          <p:cNvPr id="31" name="Rectangle 30"/>
          <p:cNvSpPr/>
          <p:nvPr/>
        </p:nvSpPr>
        <p:spPr>
          <a:xfrm>
            <a:off x="270986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 </a:t>
            </a:r>
          </a:p>
        </p:txBody>
      </p:sp>
      <p:sp>
        <p:nvSpPr>
          <p:cNvPr id="32" name="Oval 31"/>
          <p:cNvSpPr/>
          <p:nvPr/>
        </p:nvSpPr>
        <p:spPr>
          <a:xfrm>
            <a:off x="2912269"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3552825" y="1773916"/>
            <a:ext cx="728662"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552825" y="1992961"/>
            <a:ext cx="728662"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590925" y="1773916"/>
            <a:ext cx="652462" cy="438089"/>
          </a:xfrm>
          <a:prstGeom prst="rect">
            <a:avLst/>
          </a:prstGeom>
          <a:noFill/>
        </p:spPr>
        <p:txBody>
          <a:bodyPr wrap="square" lIns="28575" tIns="9525" rIns="28575" bIns="9525" anchor="ctr">
            <a:spAutoFit/>
          </a:bodyPr>
          <a:lstStyle/>
          <a:p>
            <a:pPr algn="ctr"/>
            <a:r>
              <a:rPr sz="1100" b="1">
                <a:solidFill>
                  <a:srgbClr val="FFFFFF"/>
                </a:solidFill>
                <a:latin typeface="Calibri"/>
              </a:rPr>
              <a:t>France</a:t>
            </a:r>
          </a:p>
        </p:txBody>
      </p:sp>
      <p:sp>
        <p:nvSpPr>
          <p:cNvPr id="36" name="Rectangle 35"/>
          <p:cNvSpPr/>
          <p:nvPr/>
        </p:nvSpPr>
        <p:spPr>
          <a:xfrm>
            <a:off x="355282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 </a:t>
            </a:r>
          </a:p>
        </p:txBody>
      </p:sp>
      <p:sp>
        <p:nvSpPr>
          <p:cNvPr id="37" name="Rectangle 36"/>
          <p:cNvSpPr/>
          <p:nvPr/>
        </p:nvSpPr>
        <p:spPr>
          <a:xfrm>
            <a:off x="355282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 </a:t>
            </a:r>
          </a:p>
        </p:txBody>
      </p:sp>
      <p:sp>
        <p:nvSpPr>
          <p:cNvPr id="38" name="Rectangle 37"/>
          <p:cNvSpPr/>
          <p:nvPr/>
        </p:nvSpPr>
        <p:spPr>
          <a:xfrm>
            <a:off x="355282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 </a:t>
            </a:r>
          </a:p>
        </p:txBody>
      </p:sp>
      <p:sp>
        <p:nvSpPr>
          <p:cNvPr id="39" name="Oval 38"/>
          <p:cNvSpPr/>
          <p:nvPr/>
        </p:nvSpPr>
        <p:spPr>
          <a:xfrm>
            <a:off x="375523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4395788" y="1773916"/>
            <a:ext cx="728662"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395788" y="1992961"/>
            <a:ext cx="728662"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433888" y="1773916"/>
            <a:ext cx="652462" cy="438089"/>
          </a:xfrm>
          <a:prstGeom prst="rect">
            <a:avLst/>
          </a:prstGeom>
          <a:noFill/>
        </p:spPr>
        <p:txBody>
          <a:bodyPr wrap="square" lIns="28575" tIns="9525" rIns="28575" bIns="9525" anchor="ctr">
            <a:spAutoFit/>
          </a:bodyPr>
          <a:lstStyle/>
          <a:p>
            <a:pPr algn="ctr"/>
            <a:r>
              <a:rPr sz="1100" b="1">
                <a:solidFill>
                  <a:srgbClr val="FFFFFF"/>
                </a:solidFill>
                <a:latin typeface="Calibri"/>
              </a:rPr>
              <a:t>Italy</a:t>
            </a:r>
          </a:p>
        </p:txBody>
      </p:sp>
      <p:sp>
        <p:nvSpPr>
          <p:cNvPr id="43" name="Rectangle 42"/>
          <p:cNvSpPr/>
          <p:nvPr/>
        </p:nvSpPr>
        <p:spPr>
          <a:xfrm>
            <a:off x="439578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 </a:t>
            </a:r>
          </a:p>
        </p:txBody>
      </p:sp>
      <p:sp>
        <p:nvSpPr>
          <p:cNvPr id="44" name="Rectangle 43"/>
          <p:cNvSpPr/>
          <p:nvPr/>
        </p:nvSpPr>
        <p:spPr>
          <a:xfrm>
            <a:off x="439578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 </a:t>
            </a:r>
          </a:p>
        </p:txBody>
      </p:sp>
      <p:sp>
        <p:nvSpPr>
          <p:cNvPr id="45" name="Rectangle 44"/>
          <p:cNvSpPr/>
          <p:nvPr/>
        </p:nvSpPr>
        <p:spPr>
          <a:xfrm>
            <a:off x="439578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 </a:t>
            </a:r>
          </a:p>
        </p:txBody>
      </p:sp>
      <p:sp>
        <p:nvSpPr>
          <p:cNvPr id="46" name="Oval 45"/>
          <p:cNvSpPr/>
          <p:nvPr/>
        </p:nvSpPr>
        <p:spPr>
          <a:xfrm>
            <a:off x="4598194"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5238750" y="1773916"/>
            <a:ext cx="728662"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238750" y="1992961"/>
            <a:ext cx="728662"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76850" y="1773916"/>
            <a:ext cx="652462" cy="438089"/>
          </a:xfrm>
          <a:prstGeom prst="rect">
            <a:avLst/>
          </a:prstGeom>
          <a:noFill/>
        </p:spPr>
        <p:txBody>
          <a:bodyPr wrap="square" lIns="28575" tIns="9525" rIns="28575" bIns="9525" anchor="ctr">
            <a:spAutoFit/>
          </a:bodyPr>
          <a:lstStyle/>
          <a:p>
            <a:pPr algn="ctr"/>
            <a:r>
              <a:rPr sz="1100" b="1">
                <a:solidFill>
                  <a:srgbClr val="FFFFFF"/>
                </a:solidFill>
                <a:latin typeface="Calibri"/>
              </a:rPr>
              <a:t>Spain</a:t>
            </a:r>
          </a:p>
        </p:txBody>
      </p:sp>
      <p:sp>
        <p:nvSpPr>
          <p:cNvPr id="50" name="Rectangle 49"/>
          <p:cNvSpPr/>
          <p:nvPr/>
        </p:nvSpPr>
        <p:spPr>
          <a:xfrm>
            <a:off x="523875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 </a:t>
            </a:r>
          </a:p>
        </p:txBody>
      </p:sp>
      <p:sp>
        <p:nvSpPr>
          <p:cNvPr id="51" name="Rectangle 50"/>
          <p:cNvSpPr/>
          <p:nvPr/>
        </p:nvSpPr>
        <p:spPr>
          <a:xfrm>
            <a:off x="523875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 </a:t>
            </a:r>
          </a:p>
        </p:txBody>
      </p:sp>
      <p:sp>
        <p:nvSpPr>
          <p:cNvPr id="52" name="Rectangle 51"/>
          <p:cNvSpPr/>
          <p:nvPr/>
        </p:nvSpPr>
        <p:spPr>
          <a:xfrm>
            <a:off x="523875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 </a:t>
            </a:r>
          </a:p>
        </p:txBody>
      </p:sp>
      <p:sp>
        <p:nvSpPr>
          <p:cNvPr id="53" name="Oval 52"/>
          <p:cNvSpPr/>
          <p:nvPr/>
        </p:nvSpPr>
        <p:spPr>
          <a:xfrm>
            <a:off x="5441156"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6081712" y="1773916"/>
            <a:ext cx="728662"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081712" y="1992961"/>
            <a:ext cx="728662"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119812" y="1773916"/>
            <a:ext cx="652462" cy="438089"/>
          </a:xfrm>
          <a:prstGeom prst="rect">
            <a:avLst/>
          </a:prstGeom>
          <a:noFill/>
        </p:spPr>
        <p:txBody>
          <a:bodyPr wrap="square" lIns="28575" tIns="9525" rIns="28575" bIns="9525" anchor="ctr">
            <a:spAutoFit/>
          </a:bodyPr>
          <a:lstStyle/>
          <a:p>
            <a:pPr algn="ctr"/>
            <a:r>
              <a:rPr sz="1100" b="1">
                <a:solidFill>
                  <a:srgbClr val="FFFFFF"/>
                </a:solidFill>
                <a:latin typeface="Calibri"/>
              </a:rPr>
              <a:t>Belgium</a:t>
            </a:r>
          </a:p>
        </p:txBody>
      </p:sp>
      <p:sp>
        <p:nvSpPr>
          <p:cNvPr id="57" name="Rectangle 56"/>
          <p:cNvSpPr/>
          <p:nvPr/>
        </p:nvSpPr>
        <p:spPr>
          <a:xfrm>
            <a:off x="608171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 </a:t>
            </a:r>
          </a:p>
        </p:txBody>
      </p:sp>
      <p:sp>
        <p:nvSpPr>
          <p:cNvPr id="58" name="Rectangle 57"/>
          <p:cNvSpPr/>
          <p:nvPr/>
        </p:nvSpPr>
        <p:spPr>
          <a:xfrm>
            <a:off x="608171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 </a:t>
            </a:r>
          </a:p>
        </p:txBody>
      </p:sp>
      <p:sp>
        <p:nvSpPr>
          <p:cNvPr id="59" name="Rectangle 58"/>
          <p:cNvSpPr/>
          <p:nvPr/>
        </p:nvSpPr>
        <p:spPr>
          <a:xfrm>
            <a:off x="608171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 </a:t>
            </a:r>
          </a:p>
        </p:txBody>
      </p:sp>
      <p:sp>
        <p:nvSpPr>
          <p:cNvPr id="60" name="Oval 59"/>
          <p:cNvSpPr/>
          <p:nvPr/>
        </p:nvSpPr>
        <p:spPr>
          <a:xfrm>
            <a:off x="6284119"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6924675" y="1773916"/>
            <a:ext cx="728662"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924675" y="1992961"/>
            <a:ext cx="728662"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880622" y="1773916"/>
            <a:ext cx="816769" cy="438089"/>
          </a:xfrm>
          <a:prstGeom prst="rect">
            <a:avLst/>
          </a:prstGeom>
          <a:noFill/>
        </p:spPr>
        <p:txBody>
          <a:bodyPr wrap="square" lIns="28575" tIns="9525" rIns="28575" bIns="9525" anchor="ctr">
            <a:spAutoFit/>
          </a:bodyPr>
          <a:lstStyle/>
          <a:p>
            <a:pPr algn="ctr"/>
            <a:r>
              <a:rPr sz="1100" b="1">
                <a:solidFill>
                  <a:srgbClr val="FFFFFF"/>
                </a:solidFill>
                <a:latin typeface="Calibri"/>
              </a:rPr>
              <a:t>Netherlands</a:t>
            </a:r>
          </a:p>
        </p:txBody>
      </p:sp>
      <p:sp>
        <p:nvSpPr>
          <p:cNvPr id="64" name="Rectangle 63"/>
          <p:cNvSpPr/>
          <p:nvPr/>
        </p:nvSpPr>
        <p:spPr>
          <a:xfrm>
            <a:off x="692467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C7A89"/>
                </a:solidFill>
                <a:latin typeface="Calibri"/>
              </a:rPr>
              <a:t> </a:t>
            </a:r>
          </a:p>
        </p:txBody>
      </p:sp>
      <p:sp>
        <p:nvSpPr>
          <p:cNvPr id="65" name="Rectangle 64"/>
          <p:cNvSpPr/>
          <p:nvPr/>
        </p:nvSpPr>
        <p:spPr>
          <a:xfrm>
            <a:off x="692467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C7A89"/>
                </a:solidFill>
                <a:latin typeface="Calibri"/>
              </a:rPr>
              <a:t> </a:t>
            </a:r>
          </a:p>
        </p:txBody>
      </p:sp>
      <p:sp>
        <p:nvSpPr>
          <p:cNvPr id="66" name="Rectangle 65"/>
          <p:cNvSpPr/>
          <p:nvPr/>
        </p:nvSpPr>
        <p:spPr>
          <a:xfrm>
            <a:off x="692467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C7A89"/>
                </a:solidFill>
                <a:latin typeface="Calibri"/>
              </a:rPr>
              <a:t> </a:t>
            </a:r>
          </a:p>
        </p:txBody>
      </p:sp>
      <p:sp>
        <p:nvSpPr>
          <p:cNvPr id="67" name="Oval 66"/>
          <p:cNvSpPr/>
          <p:nvPr/>
        </p:nvSpPr>
        <p:spPr>
          <a:xfrm>
            <a:off x="7127081"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7</a:t>
            </a:r>
          </a:p>
        </p:txBody>
      </p:sp>
      <p:sp>
        <p:nvSpPr>
          <p:cNvPr id="68" name="Rounded Rectangle 67"/>
          <p:cNvSpPr/>
          <p:nvPr/>
        </p:nvSpPr>
        <p:spPr>
          <a:xfrm>
            <a:off x="7767638" y="1773916"/>
            <a:ext cx="728662"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7767638" y="1992961"/>
            <a:ext cx="728662"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805738" y="1773916"/>
            <a:ext cx="652462" cy="438089"/>
          </a:xfrm>
          <a:prstGeom prst="rect">
            <a:avLst/>
          </a:prstGeom>
          <a:noFill/>
        </p:spPr>
        <p:txBody>
          <a:bodyPr wrap="square" lIns="28575" tIns="9525" rIns="28575" bIns="9525" anchor="ctr">
            <a:spAutoFit/>
          </a:bodyPr>
          <a:lstStyle/>
          <a:p>
            <a:pPr algn="ctr"/>
            <a:r>
              <a:rPr sz="1100" b="1">
                <a:solidFill>
                  <a:srgbClr val="FFFFFF"/>
                </a:solidFill>
                <a:latin typeface="Calibri"/>
              </a:rPr>
              <a:t>Nordic</a:t>
            </a:r>
          </a:p>
        </p:txBody>
      </p:sp>
      <p:sp>
        <p:nvSpPr>
          <p:cNvPr id="71" name="Rectangle 70"/>
          <p:cNvSpPr/>
          <p:nvPr/>
        </p:nvSpPr>
        <p:spPr>
          <a:xfrm>
            <a:off x="776763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 </a:t>
            </a:r>
          </a:p>
        </p:txBody>
      </p:sp>
      <p:sp>
        <p:nvSpPr>
          <p:cNvPr id="72" name="Rectangle 71"/>
          <p:cNvSpPr/>
          <p:nvPr/>
        </p:nvSpPr>
        <p:spPr>
          <a:xfrm>
            <a:off x="776763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 </a:t>
            </a:r>
          </a:p>
        </p:txBody>
      </p:sp>
      <p:sp>
        <p:nvSpPr>
          <p:cNvPr id="73" name="Rectangle 72"/>
          <p:cNvSpPr/>
          <p:nvPr/>
        </p:nvSpPr>
        <p:spPr>
          <a:xfrm>
            <a:off x="776763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 </a:t>
            </a:r>
          </a:p>
        </p:txBody>
      </p:sp>
      <p:sp>
        <p:nvSpPr>
          <p:cNvPr id="74" name="Oval 73"/>
          <p:cNvSpPr/>
          <p:nvPr/>
        </p:nvSpPr>
        <p:spPr>
          <a:xfrm>
            <a:off x="797004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8</a:t>
            </a:r>
          </a:p>
        </p:txBody>
      </p:sp>
      <p:sp>
        <p:nvSpPr>
          <p:cNvPr id="75" name="Rounded Rectangle 74"/>
          <p:cNvSpPr/>
          <p:nvPr/>
        </p:nvSpPr>
        <p:spPr>
          <a:xfrm>
            <a:off x="8610600" y="1773916"/>
            <a:ext cx="728662"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610600" y="1992961"/>
            <a:ext cx="728662"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648700" y="1773916"/>
            <a:ext cx="652462" cy="438089"/>
          </a:xfrm>
          <a:prstGeom prst="rect">
            <a:avLst/>
          </a:prstGeom>
          <a:noFill/>
        </p:spPr>
        <p:txBody>
          <a:bodyPr wrap="square" lIns="28575" tIns="9525" rIns="28575" bIns="9525" anchor="ctr">
            <a:spAutoFit/>
          </a:bodyPr>
          <a:lstStyle/>
          <a:p>
            <a:pPr algn="ctr"/>
            <a:r>
              <a:rPr sz="1100" b="1">
                <a:solidFill>
                  <a:srgbClr val="FFFFFF"/>
                </a:solidFill>
                <a:latin typeface="Calibri"/>
              </a:rPr>
              <a:t>Russia</a:t>
            </a:r>
          </a:p>
        </p:txBody>
      </p:sp>
      <p:sp>
        <p:nvSpPr>
          <p:cNvPr id="78" name="Rectangle 77"/>
          <p:cNvSpPr/>
          <p:nvPr/>
        </p:nvSpPr>
        <p:spPr>
          <a:xfrm>
            <a:off x="861060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 </a:t>
            </a:r>
          </a:p>
        </p:txBody>
      </p:sp>
      <p:sp>
        <p:nvSpPr>
          <p:cNvPr id="79" name="Rectangle 78"/>
          <p:cNvSpPr/>
          <p:nvPr/>
        </p:nvSpPr>
        <p:spPr>
          <a:xfrm>
            <a:off x="861060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 </a:t>
            </a:r>
          </a:p>
        </p:txBody>
      </p:sp>
      <p:sp>
        <p:nvSpPr>
          <p:cNvPr id="80" name="Rectangle 79"/>
          <p:cNvSpPr/>
          <p:nvPr/>
        </p:nvSpPr>
        <p:spPr>
          <a:xfrm>
            <a:off x="861060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 </a:t>
            </a:r>
          </a:p>
        </p:txBody>
      </p:sp>
      <p:sp>
        <p:nvSpPr>
          <p:cNvPr id="81" name="Oval 80"/>
          <p:cNvSpPr/>
          <p:nvPr/>
        </p:nvSpPr>
        <p:spPr>
          <a:xfrm>
            <a:off x="881300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9</a:t>
            </a:r>
          </a:p>
        </p:txBody>
      </p:sp>
      <p:sp>
        <p:nvSpPr>
          <p:cNvPr id="82" name="Rounded Rectangle 81"/>
          <p:cNvSpPr/>
          <p:nvPr/>
        </p:nvSpPr>
        <p:spPr>
          <a:xfrm>
            <a:off x="9453562" y="1773916"/>
            <a:ext cx="728662"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453562" y="1992961"/>
            <a:ext cx="728662"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491662" y="1773916"/>
            <a:ext cx="652462" cy="438089"/>
          </a:xfrm>
          <a:prstGeom prst="rect">
            <a:avLst/>
          </a:prstGeom>
          <a:noFill/>
        </p:spPr>
        <p:txBody>
          <a:bodyPr wrap="square" lIns="28575" tIns="9525" rIns="28575" bIns="9525" anchor="ctr">
            <a:spAutoFit/>
          </a:bodyPr>
          <a:lstStyle/>
          <a:p>
            <a:pPr algn="ctr"/>
            <a:r>
              <a:rPr sz="1100" b="1">
                <a:solidFill>
                  <a:srgbClr val="FFFFFF"/>
                </a:solidFill>
                <a:latin typeface="Calibri"/>
              </a:rPr>
              <a:t>Poland</a:t>
            </a:r>
          </a:p>
        </p:txBody>
      </p:sp>
      <p:sp>
        <p:nvSpPr>
          <p:cNvPr id="85" name="Rectangle 84"/>
          <p:cNvSpPr/>
          <p:nvPr/>
        </p:nvSpPr>
        <p:spPr>
          <a:xfrm>
            <a:off x="945356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 </a:t>
            </a:r>
          </a:p>
        </p:txBody>
      </p:sp>
      <p:sp>
        <p:nvSpPr>
          <p:cNvPr id="86" name="Rectangle 85"/>
          <p:cNvSpPr/>
          <p:nvPr/>
        </p:nvSpPr>
        <p:spPr>
          <a:xfrm>
            <a:off x="945356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 </a:t>
            </a:r>
          </a:p>
        </p:txBody>
      </p:sp>
      <p:sp>
        <p:nvSpPr>
          <p:cNvPr id="87" name="Rectangle 86"/>
          <p:cNvSpPr/>
          <p:nvPr/>
        </p:nvSpPr>
        <p:spPr>
          <a:xfrm>
            <a:off x="945356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 </a:t>
            </a:r>
          </a:p>
        </p:txBody>
      </p:sp>
      <p:sp>
        <p:nvSpPr>
          <p:cNvPr id="88" name="Oval 87"/>
          <p:cNvSpPr/>
          <p:nvPr/>
        </p:nvSpPr>
        <p:spPr>
          <a:xfrm>
            <a:off x="9655969"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10</a:t>
            </a:r>
          </a:p>
        </p:txBody>
      </p:sp>
      <p:sp>
        <p:nvSpPr>
          <p:cNvPr id="89" name="Rounded Rectangle 88"/>
          <p:cNvSpPr/>
          <p:nvPr/>
        </p:nvSpPr>
        <p:spPr>
          <a:xfrm>
            <a:off x="10296525" y="1773916"/>
            <a:ext cx="728662"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10296525" y="1992961"/>
            <a:ext cx="728662"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0271522" y="1773916"/>
            <a:ext cx="778669" cy="438089"/>
          </a:xfrm>
          <a:prstGeom prst="rect">
            <a:avLst/>
          </a:prstGeom>
          <a:noFill/>
        </p:spPr>
        <p:txBody>
          <a:bodyPr wrap="square" lIns="28575" tIns="9525" rIns="28575" bIns="9525" anchor="ctr">
            <a:spAutoFit/>
          </a:bodyPr>
          <a:lstStyle/>
          <a:p>
            <a:pPr algn="ctr"/>
            <a:r>
              <a:rPr sz="1100" b="1">
                <a:solidFill>
                  <a:srgbClr val="FFFFFF"/>
                </a:solidFill>
                <a:latin typeface="Calibri"/>
              </a:rPr>
              <a:t>Switzerland</a:t>
            </a:r>
          </a:p>
        </p:txBody>
      </p:sp>
      <p:sp>
        <p:nvSpPr>
          <p:cNvPr id="92" name="Rectangle 91"/>
          <p:cNvSpPr/>
          <p:nvPr/>
        </p:nvSpPr>
        <p:spPr>
          <a:xfrm>
            <a:off x="1029652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 </a:t>
            </a:r>
          </a:p>
        </p:txBody>
      </p:sp>
      <p:sp>
        <p:nvSpPr>
          <p:cNvPr id="93" name="Rectangle 92"/>
          <p:cNvSpPr/>
          <p:nvPr/>
        </p:nvSpPr>
        <p:spPr>
          <a:xfrm>
            <a:off x="1029652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 </a:t>
            </a:r>
          </a:p>
        </p:txBody>
      </p:sp>
      <p:sp>
        <p:nvSpPr>
          <p:cNvPr id="94" name="Rectangle 93"/>
          <p:cNvSpPr/>
          <p:nvPr/>
        </p:nvSpPr>
        <p:spPr>
          <a:xfrm>
            <a:off x="1029652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 </a:t>
            </a:r>
          </a:p>
        </p:txBody>
      </p:sp>
      <p:sp>
        <p:nvSpPr>
          <p:cNvPr id="95" name="Oval 94"/>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11</a:t>
            </a:r>
          </a:p>
        </p:txBody>
      </p:sp>
      <p:sp>
        <p:nvSpPr>
          <p:cNvPr id="96" name="Rounded Rectangle 95"/>
          <p:cNvSpPr/>
          <p:nvPr/>
        </p:nvSpPr>
        <p:spPr>
          <a:xfrm>
            <a:off x="11139488" y="1773916"/>
            <a:ext cx="728662"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11139488" y="1992961"/>
            <a:ext cx="728662"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11177588" y="1773916"/>
            <a:ext cx="652462" cy="438089"/>
          </a:xfrm>
          <a:prstGeom prst="rect">
            <a:avLst/>
          </a:prstGeom>
          <a:noFill/>
        </p:spPr>
        <p:txBody>
          <a:bodyPr wrap="square" lIns="28575" tIns="9525" rIns="28575" bIns="9525" anchor="ctr">
            <a:spAutoFit/>
          </a:bodyPr>
          <a:lstStyle/>
          <a:p>
            <a:pPr algn="ctr"/>
            <a:r>
              <a:rPr sz="1100" b="1">
                <a:solidFill>
                  <a:srgbClr val="FFFFFF"/>
                </a:solidFill>
                <a:latin typeface="Calibri"/>
              </a:rPr>
              <a:t>Rest of Europe</a:t>
            </a:r>
          </a:p>
        </p:txBody>
      </p:sp>
      <p:sp>
        <p:nvSpPr>
          <p:cNvPr id="99" name="Rectangle 98"/>
          <p:cNvSpPr/>
          <p:nvPr/>
        </p:nvSpPr>
        <p:spPr>
          <a:xfrm>
            <a:off x="1113948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 </a:t>
            </a:r>
          </a:p>
        </p:txBody>
      </p:sp>
      <p:sp>
        <p:nvSpPr>
          <p:cNvPr id="100" name="Rectangle 99"/>
          <p:cNvSpPr/>
          <p:nvPr/>
        </p:nvSpPr>
        <p:spPr>
          <a:xfrm>
            <a:off x="1113948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 </a:t>
            </a:r>
          </a:p>
        </p:txBody>
      </p:sp>
      <p:sp>
        <p:nvSpPr>
          <p:cNvPr id="101" name="Rectangle 100"/>
          <p:cNvSpPr/>
          <p:nvPr/>
        </p:nvSpPr>
        <p:spPr>
          <a:xfrm>
            <a:off x="1113948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 </a:t>
            </a:r>
          </a:p>
        </p:txBody>
      </p:sp>
      <p:sp>
        <p:nvSpPr>
          <p:cNvPr id="102" name="Oval 101"/>
          <p:cNvSpPr/>
          <p:nvPr/>
        </p:nvSpPr>
        <p:spPr>
          <a:xfrm>
            <a:off x="11341894"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12</a:t>
            </a:r>
          </a:p>
        </p:txBody>
      </p:sp>
      <p:sp>
        <p:nvSpPr>
          <p:cNvPr id="103" name="Rounded Rectangle 10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105" name="Rectangle 10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57200" y="4219912"/>
            <a:ext cx="2971800" cy="2117429"/>
          </a:xfrm>
          <a:prstGeom prst="rect">
            <a:avLst/>
          </a:prstGeom>
          <a:noFill/>
        </p:spPr>
        <p:txBody>
          <a:bodyPr wrap="square" lIns="28575" tIns="9525" rIns="28575" bIns="9525">
            <a:spAutoFit/>
          </a:bodyPr>
          <a:lstStyle/>
          <a:p>
            <a:pPr algn="l">
              <a:lnSpc>
                <a:spcPct val="105000"/>
              </a:lnSpc>
              <a:spcBef>
                <a:spcPts val="0"/>
              </a:spcBef>
              <a:spcAft>
                <a:spcPts val="300"/>
              </a:spcAft>
            </a:pPr>
            <a:endParaRPr/>
          </a:p>
          <a:p>
            <a:pPr algn="l">
              <a:lnSpc>
                <a:spcPct val="105000"/>
              </a:lnSpc>
              <a:spcBef>
                <a:spcPts val="0"/>
              </a:spcBef>
              <a:spcAft>
                <a:spcPts val="300"/>
              </a:spcAft>
            </a:pPr>
            <a:endParaRPr/>
          </a:p>
        </p:txBody>
      </p:sp>
      <p:sp>
        <p:nvSpPr>
          <p:cNvPr id="107" name="Rounded Rectangle 10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Country Insights</a:t>
            </a:r>
          </a:p>
        </p:txBody>
      </p:sp>
      <p:sp>
        <p:nvSpPr>
          <p:cNvPr id="109" name="Rectangle 10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3810000" y="4219912"/>
            <a:ext cx="4210050" cy="2117429"/>
          </a:xfrm>
          <a:prstGeom prst="rect">
            <a:avLst/>
          </a:prstGeom>
          <a:noFill/>
        </p:spPr>
        <p:txBody>
          <a:bodyPr wrap="square" lIns="28575" tIns="9525" rIns="28575" bIns="9525">
            <a:spAutoFit/>
          </a:bodyPr>
          <a:lstStyle/>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a:p>
            <a:pPr algn="l">
              <a:lnSpc>
                <a:spcPct val="105000"/>
              </a:lnSpc>
              <a:spcBef>
                <a:spcPts val="0"/>
              </a:spcBef>
              <a:spcAft>
                <a:spcPts val="300"/>
              </a:spcAft>
            </a:pPr>
            <a:endParaRPr/>
          </a:p>
        </p:txBody>
      </p:sp>
      <p:sp>
        <p:nvSpPr>
          <p:cNvPr id="111" name="Rounded Rectangle 11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Country Overview</a:t>
            </a:r>
          </a:p>
        </p:txBody>
      </p:sp>
      <p:sp>
        <p:nvSpPr>
          <p:cNvPr id="113" name="Rectangle 11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115" name="Rectangle 11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117" name="TextBox 11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118" name="TextBox 1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19" name="Picture 118" descr="lock.png"/>
          <p:cNvPicPr>
            <a:picLocks noChangeAspect="1"/>
          </p:cNvPicPr>
          <p:nvPr/>
        </p:nvPicPr>
        <p:blipFill>
          <a:blip r:embed="rId4"/>
          <a:stretch>
            <a:fillRect/>
          </a:stretch>
        </p:blipFill>
        <p:spPr>
          <a:xfrm>
            <a:off x="2143482" y="2339922"/>
            <a:ext cx="175498" cy="255270"/>
          </a:xfrm>
          <a:prstGeom prst="rect">
            <a:avLst/>
          </a:prstGeom>
        </p:spPr>
      </p:pic>
      <p:pic>
        <p:nvPicPr>
          <p:cNvPr id="120" name="Picture 119" descr="lock.png"/>
          <p:cNvPicPr>
            <a:picLocks noChangeAspect="1"/>
          </p:cNvPicPr>
          <p:nvPr/>
        </p:nvPicPr>
        <p:blipFill>
          <a:blip r:embed="rId4"/>
          <a:stretch>
            <a:fillRect/>
          </a:stretch>
        </p:blipFill>
        <p:spPr>
          <a:xfrm>
            <a:off x="2143482" y="2832772"/>
            <a:ext cx="175498" cy="255270"/>
          </a:xfrm>
          <a:prstGeom prst="rect">
            <a:avLst/>
          </a:prstGeom>
        </p:spPr>
      </p:pic>
      <p:pic>
        <p:nvPicPr>
          <p:cNvPr id="121" name="Picture 120" descr="lock.png"/>
          <p:cNvPicPr>
            <a:picLocks noChangeAspect="1"/>
          </p:cNvPicPr>
          <p:nvPr/>
        </p:nvPicPr>
        <p:blipFill>
          <a:blip r:embed="rId4"/>
          <a:stretch>
            <a:fillRect/>
          </a:stretch>
        </p:blipFill>
        <p:spPr>
          <a:xfrm>
            <a:off x="2143482" y="3325622"/>
            <a:ext cx="175498" cy="255270"/>
          </a:xfrm>
          <a:prstGeom prst="rect">
            <a:avLst/>
          </a:prstGeom>
        </p:spPr>
      </p:pic>
      <p:pic>
        <p:nvPicPr>
          <p:cNvPr id="122" name="Picture 121" descr="lock.png"/>
          <p:cNvPicPr>
            <a:picLocks noChangeAspect="1"/>
          </p:cNvPicPr>
          <p:nvPr/>
        </p:nvPicPr>
        <p:blipFill>
          <a:blip r:embed="rId4"/>
          <a:stretch>
            <a:fillRect/>
          </a:stretch>
        </p:blipFill>
        <p:spPr>
          <a:xfrm>
            <a:off x="2986443" y="2339922"/>
            <a:ext cx="175498" cy="255270"/>
          </a:xfrm>
          <a:prstGeom prst="rect">
            <a:avLst/>
          </a:prstGeom>
        </p:spPr>
      </p:pic>
      <p:pic>
        <p:nvPicPr>
          <p:cNvPr id="123" name="Picture 122" descr="lock.png"/>
          <p:cNvPicPr>
            <a:picLocks noChangeAspect="1"/>
          </p:cNvPicPr>
          <p:nvPr/>
        </p:nvPicPr>
        <p:blipFill>
          <a:blip r:embed="rId4"/>
          <a:stretch>
            <a:fillRect/>
          </a:stretch>
        </p:blipFill>
        <p:spPr>
          <a:xfrm>
            <a:off x="2986443" y="2832772"/>
            <a:ext cx="175498" cy="255270"/>
          </a:xfrm>
          <a:prstGeom prst="rect">
            <a:avLst/>
          </a:prstGeom>
        </p:spPr>
      </p:pic>
      <p:pic>
        <p:nvPicPr>
          <p:cNvPr id="124" name="Picture 123" descr="lock.png"/>
          <p:cNvPicPr>
            <a:picLocks noChangeAspect="1"/>
          </p:cNvPicPr>
          <p:nvPr/>
        </p:nvPicPr>
        <p:blipFill>
          <a:blip r:embed="rId4"/>
          <a:stretch>
            <a:fillRect/>
          </a:stretch>
        </p:blipFill>
        <p:spPr>
          <a:xfrm>
            <a:off x="2986443" y="3325622"/>
            <a:ext cx="175498" cy="255270"/>
          </a:xfrm>
          <a:prstGeom prst="rect">
            <a:avLst/>
          </a:prstGeom>
        </p:spPr>
      </p:pic>
      <p:pic>
        <p:nvPicPr>
          <p:cNvPr id="125" name="Picture 124" descr="lock.png"/>
          <p:cNvPicPr>
            <a:picLocks noChangeAspect="1"/>
          </p:cNvPicPr>
          <p:nvPr/>
        </p:nvPicPr>
        <p:blipFill>
          <a:blip r:embed="rId4"/>
          <a:stretch>
            <a:fillRect/>
          </a:stretch>
        </p:blipFill>
        <p:spPr>
          <a:xfrm>
            <a:off x="3829407" y="2339922"/>
            <a:ext cx="175498" cy="255270"/>
          </a:xfrm>
          <a:prstGeom prst="rect">
            <a:avLst/>
          </a:prstGeom>
        </p:spPr>
      </p:pic>
      <p:pic>
        <p:nvPicPr>
          <p:cNvPr id="126" name="Picture 125" descr="lock.png"/>
          <p:cNvPicPr>
            <a:picLocks noChangeAspect="1"/>
          </p:cNvPicPr>
          <p:nvPr/>
        </p:nvPicPr>
        <p:blipFill>
          <a:blip r:embed="rId4"/>
          <a:stretch>
            <a:fillRect/>
          </a:stretch>
        </p:blipFill>
        <p:spPr>
          <a:xfrm>
            <a:off x="3829407" y="2832772"/>
            <a:ext cx="175498" cy="255270"/>
          </a:xfrm>
          <a:prstGeom prst="rect">
            <a:avLst/>
          </a:prstGeom>
        </p:spPr>
      </p:pic>
      <p:pic>
        <p:nvPicPr>
          <p:cNvPr id="127" name="Picture 126" descr="lock.png"/>
          <p:cNvPicPr>
            <a:picLocks noChangeAspect="1"/>
          </p:cNvPicPr>
          <p:nvPr/>
        </p:nvPicPr>
        <p:blipFill>
          <a:blip r:embed="rId4"/>
          <a:stretch>
            <a:fillRect/>
          </a:stretch>
        </p:blipFill>
        <p:spPr>
          <a:xfrm>
            <a:off x="3829407" y="3325622"/>
            <a:ext cx="175498" cy="255270"/>
          </a:xfrm>
          <a:prstGeom prst="rect">
            <a:avLst/>
          </a:prstGeom>
        </p:spPr>
      </p:pic>
      <p:pic>
        <p:nvPicPr>
          <p:cNvPr id="128" name="Picture 127" descr="lock.png"/>
          <p:cNvPicPr>
            <a:picLocks noChangeAspect="1"/>
          </p:cNvPicPr>
          <p:nvPr/>
        </p:nvPicPr>
        <p:blipFill>
          <a:blip r:embed="rId4"/>
          <a:stretch>
            <a:fillRect/>
          </a:stretch>
        </p:blipFill>
        <p:spPr>
          <a:xfrm>
            <a:off x="4672370" y="2339922"/>
            <a:ext cx="175498" cy="255270"/>
          </a:xfrm>
          <a:prstGeom prst="rect">
            <a:avLst/>
          </a:prstGeom>
        </p:spPr>
      </p:pic>
      <p:pic>
        <p:nvPicPr>
          <p:cNvPr id="129" name="Picture 128" descr="lock.png"/>
          <p:cNvPicPr>
            <a:picLocks noChangeAspect="1"/>
          </p:cNvPicPr>
          <p:nvPr/>
        </p:nvPicPr>
        <p:blipFill>
          <a:blip r:embed="rId4"/>
          <a:stretch>
            <a:fillRect/>
          </a:stretch>
        </p:blipFill>
        <p:spPr>
          <a:xfrm>
            <a:off x="4672370" y="2832772"/>
            <a:ext cx="175498" cy="255270"/>
          </a:xfrm>
          <a:prstGeom prst="rect">
            <a:avLst/>
          </a:prstGeom>
        </p:spPr>
      </p:pic>
      <p:pic>
        <p:nvPicPr>
          <p:cNvPr id="130" name="Picture 129" descr="lock.png"/>
          <p:cNvPicPr>
            <a:picLocks noChangeAspect="1"/>
          </p:cNvPicPr>
          <p:nvPr/>
        </p:nvPicPr>
        <p:blipFill>
          <a:blip r:embed="rId4"/>
          <a:stretch>
            <a:fillRect/>
          </a:stretch>
        </p:blipFill>
        <p:spPr>
          <a:xfrm>
            <a:off x="4672370" y="3325622"/>
            <a:ext cx="175498" cy="255270"/>
          </a:xfrm>
          <a:prstGeom prst="rect">
            <a:avLst/>
          </a:prstGeom>
        </p:spPr>
      </p:pic>
      <p:pic>
        <p:nvPicPr>
          <p:cNvPr id="131" name="Picture 130" descr="lock.png"/>
          <p:cNvPicPr>
            <a:picLocks noChangeAspect="1"/>
          </p:cNvPicPr>
          <p:nvPr/>
        </p:nvPicPr>
        <p:blipFill>
          <a:blip r:embed="rId4"/>
          <a:stretch>
            <a:fillRect/>
          </a:stretch>
        </p:blipFill>
        <p:spPr>
          <a:xfrm>
            <a:off x="5515332" y="2339922"/>
            <a:ext cx="175498" cy="255270"/>
          </a:xfrm>
          <a:prstGeom prst="rect">
            <a:avLst/>
          </a:prstGeom>
        </p:spPr>
      </p:pic>
      <p:pic>
        <p:nvPicPr>
          <p:cNvPr id="132" name="Picture 131" descr="lock.png"/>
          <p:cNvPicPr>
            <a:picLocks noChangeAspect="1"/>
          </p:cNvPicPr>
          <p:nvPr/>
        </p:nvPicPr>
        <p:blipFill>
          <a:blip r:embed="rId4"/>
          <a:stretch>
            <a:fillRect/>
          </a:stretch>
        </p:blipFill>
        <p:spPr>
          <a:xfrm>
            <a:off x="5515332" y="2832772"/>
            <a:ext cx="175498" cy="255270"/>
          </a:xfrm>
          <a:prstGeom prst="rect">
            <a:avLst/>
          </a:prstGeom>
        </p:spPr>
      </p:pic>
      <p:pic>
        <p:nvPicPr>
          <p:cNvPr id="133" name="Picture 132" descr="lock.png"/>
          <p:cNvPicPr>
            <a:picLocks noChangeAspect="1"/>
          </p:cNvPicPr>
          <p:nvPr/>
        </p:nvPicPr>
        <p:blipFill>
          <a:blip r:embed="rId4"/>
          <a:stretch>
            <a:fillRect/>
          </a:stretch>
        </p:blipFill>
        <p:spPr>
          <a:xfrm>
            <a:off x="5515332" y="3325622"/>
            <a:ext cx="175498" cy="255270"/>
          </a:xfrm>
          <a:prstGeom prst="rect">
            <a:avLst/>
          </a:prstGeom>
        </p:spPr>
      </p:pic>
      <p:pic>
        <p:nvPicPr>
          <p:cNvPr id="134" name="Picture 133" descr="lock.png"/>
          <p:cNvPicPr>
            <a:picLocks noChangeAspect="1"/>
          </p:cNvPicPr>
          <p:nvPr/>
        </p:nvPicPr>
        <p:blipFill>
          <a:blip r:embed="rId4"/>
          <a:stretch>
            <a:fillRect/>
          </a:stretch>
        </p:blipFill>
        <p:spPr>
          <a:xfrm>
            <a:off x="6358294" y="2339922"/>
            <a:ext cx="175498" cy="255270"/>
          </a:xfrm>
          <a:prstGeom prst="rect">
            <a:avLst/>
          </a:prstGeom>
        </p:spPr>
      </p:pic>
      <p:pic>
        <p:nvPicPr>
          <p:cNvPr id="135" name="Picture 134" descr="lock.png"/>
          <p:cNvPicPr>
            <a:picLocks noChangeAspect="1"/>
          </p:cNvPicPr>
          <p:nvPr/>
        </p:nvPicPr>
        <p:blipFill>
          <a:blip r:embed="rId4"/>
          <a:stretch>
            <a:fillRect/>
          </a:stretch>
        </p:blipFill>
        <p:spPr>
          <a:xfrm>
            <a:off x="6358294" y="2832772"/>
            <a:ext cx="175498" cy="255270"/>
          </a:xfrm>
          <a:prstGeom prst="rect">
            <a:avLst/>
          </a:prstGeom>
        </p:spPr>
      </p:pic>
      <p:pic>
        <p:nvPicPr>
          <p:cNvPr id="136" name="Picture 135" descr="lock.png"/>
          <p:cNvPicPr>
            <a:picLocks noChangeAspect="1"/>
          </p:cNvPicPr>
          <p:nvPr/>
        </p:nvPicPr>
        <p:blipFill>
          <a:blip r:embed="rId4"/>
          <a:stretch>
            <a:fillRect/>
          </a:stretch>
        </p:blipFill>
        <p:spPr>
          <a:xfrm>
            <a:off x="6358294" y="3325622"/>
            <a:ext cx="175498" cy="255270"/>
          </a:xfrm>
          <a:prstGeom prst="rect">
            <a:avLst/>
          </a:prstGeom>
        </p:spPr>
      </p:pic>
      <p:pic>
        <p:nvPicPr>
          <p:cNvPr id="137" name="Picture 136" descr="lock.png"/>
          <p:cNvPicPr>
            <a:picLocks noChangeAspect="1"/>
          </p:cNvPicPr>
          <p:nvPr/>
        </p:nvPicPr>
        <p:blipFill>
          <a:blip r:embed="rId4"/>
          <a:stretch>
            <a:fillRect/>
          </a:stretch>
        </p:blipFill>
        <p:spPr>
          <a:xfrm>
            <a:off x="7201257" y="2339922"/>
            <a:ext cx="175498" cy="255270"/>
          </a:xfrm>
          <a:prstGeom prst="rect">
            <a:avLst/>
          </a:prstGeom>
        </p:spPr>
      </p:pic>
      <p:pic>
        <p:nvPicPr>
          <p:cNvPr id="138" name="Picture 137" descr="lock.png"/>
          <p:cNvPicPr>
            <a:picLocks noChangeAspect="1"/>
          </p:cNvPicPr>
          <p:nvPr/>
        </p:nvPicPr>
        <p:blipFill>
          <a:blip r:embed="rId4"/>
          <a:stretch>
            <a:fillRect/>
          </a:stretch>
        </p:blipFill>
        <p:spPr>
          <a:xfrm>
            <a:off x="7201257" y="2832772"/>
            <a:ext cx="175498" cy="255270"/>
          </a:xfrm>
          <a:prstGeom prst="rect">
            <a:avLst/>
          </a:prstGeom>
        </p:spPr>
      </p:pic>
      <p:pic>
        <p:nvPicPr>
          <p:cNvPr id="139" name="Picture 138" descr="lock.png"/>
          <p:cNvPicPr>
            <a:picLocks noChangeAspect="1"/>
          </p:cNvPicPr>
          <p:nvPr/>
        </p:nvPicPr>
        <p:blipFill>
          <a:blip r:embed="rId4"/>
          <a:stretch>
            <a:fillRect/>
          </a:stretch>
        </p:blipFill>
        <p:spPr>
          <a:xfrm>
            <a:off x="7201257" y="3325622"/>
            <a:ext cx="175498" cy="255270"/>
          </a:xfrm>
          <a:prstGeom prst="rect">
            <a:avLst/>
          </a:prstGeom>
        </p:spPr>
      </p:pic>
      <p:pic>
        <p:nvPicPr>
          <p:cNvPr id="140" name="Picture 139" descr="lock.png"/>
          <p:cNvPicPr>
            <a:picLocks noChangeAspect="1"/>
          </p:cNvPicPr>
          <p:nvPr/>
        </p:nvPicPr>
        <p:blipFill>
          <a:blip r:embed="rId4"/>
          <a:stretch>
            <a:fillRect/>
          </a:stretch>
        </p:blipFill>
        <p:spPr>
          <a:xfrm>
            <a:off x="8044220" y="2339922"/>
            <a:ext cx="175498" cy="255270"/>
          </a:xfrm>
          <a:prstGeom prst="rect">
            <a:avLst/>
          </a:prstGeom>
        </p:spPr>
      </p:pic>
      <p:pic>
        <p:nvPicPr>
          <p:cNvPr id="141" name="Picture 140" descr="lock.png"/>
          <p:cNvPicPr>
            <a:picLocks noChangeAspect="1"/>
          </p:cNvPicPr>
          <p:nvPr/>
        </p:nvPicPr>
        <p:blipFill>
          <a:blip r:embed="rId4"/>
          <a:stretch>
            <a:fillRect/>
          </a:stretch>
        </p:blipFill>
        <p:spPr>
          <a:xfrm>
            <a:off x="8044220" y="2832772"/>
            <a:ext cx="175498" cy="255270"/>
          </a:xfrm>
          <a:prstGeom prst="rect">
            <a:avLst/>
          </a:prstGeom>
        </p:spPr>
      </p:pic>
      <p:pic>
        <p:nvPicPr>
          <p:cNvPr id="142" name="Picture 141" descr="lock.png"/>
          <p:cNvPicPr>
            <a:picLocks noChangeAspect="1"/>
          </p:cNvPicPr>
          <p:nvPr/>
        </p:nvPicPr>
        <p:blipFill>
          <a:blip r:embed="rId4"/>
          <a:stretch>
            <a:fillRect/>
          </a:stretch>
        </p:blipFill>
        <p:spPr>
          <a:xfrm>
            <a:off x="8044220" y="3325622"/>
            <a:ext cx="175498" cy="255270"/>
          </a:xfrm>
          <a:prstGeom prst="rect">
            <a:avLst/>
          </a:prstGeom>
        </p:spPr>
      </p:pic>
      <p:pic>
        <p:nvPicPr>
          <p:cNvPr id="143" name="Picture 142" descr="lock.png"/>
          <p:cNvPicPr>
            <a:picLocks noChangeAspect="1"/>
          </p:cNvPicPr>
          <p:nvPr/>
        </p:nvPicPr>
        <p:blipFill>
          <a:blip r:embed="rId4"/>
          <a:stretch>
            <a:fillRect/>
          </a:stretch>
        </p:blipFill>
        <p:spPr>
          <a:xfrm>
            <a:off x="8887182" y="2339922"/>
            <a:ext cx="175498" cy="255270"/>
          </a:xfrm>
          <a:prstGeom prst="rect">
            <a:avLst/>
          </a:prstGeom>
        </p:spPr>
      </p:pic>
      <p:pic>
        <p:nvPicPr>
          <p:cNvPr id="144" name="Picture 143" descr="lock.png"/>
          <p:cNvPicPr>
            <a:picLocks noChangeAspect="1"/>
          </p:cNvPicPr>
          <p:nvPr/>
        </p:nvPicPr>
        <p:blipFill>
          <a:blip r:embed="rId4"/>
          <a:stretch>
            <a:fillRect/>
          </a:stretch>
        </p:blipFill>
        <p:spPr>
          <a:xfrm>
            <a:off x="8887182" y="2832772"/>
            <a:ext cx="175498" cy="255270"/>
          </a:xfrm>
          <a:prstGeom prst="rect">
            <a:avLst/>
          </a:prstGeom>
        </p:spPr>
      </p:pic>
      <p:pic>
        <p:nvPicPr>
          <p:cNvPr id="145" name="Picture 144" descr="lock.png"/>
          <p:cNvPicPr>
            <a:picLocks noChangeAspect="1"/>
          </p:cNvPicPr>
          <p:nvPr/>
        </p:nvPicPr>
        <p:blipFill>
          <a:blip r:embed="rId4"/>
          <a:stretch>
            <a:fillRect/>
          </a:stretch>
        </p:blipFill>
        <p:spPr>
          <a:xfrm>
            <a:off x="8887182" y="3325622"/>
            <a:ext cx="175498" cy="255270"/>
          </a:xfrm>
          <a:prstGeom prst="rect">
            <a:avLst/>
          </a:prstGeom>
        </p:spPr>
      </p:pic>
      <p:pic>
        <p:nvPicPr>
          <p:cNvPr id="146" name="Picture 145" descr="lock.png"/>
          <p:cNvPicPr>
            <a:picLocks noChangeAspect="1"/>
          </p:cNvPicPr>
          <p:nvPr/>
        </p:nvPicPr>
        <p:blipFill>
          <a:blip r:embed="rId4"/>
          <a:stretch>
            <a:fillRect/>
          </a:stretch>
        </p:blipFill>
        <p:spPr>
          <a:xfrm>
            <a:off x="9730144" y="2339922"/>
            <a:ext cx="175498" cy="255270"/>
          </a:xfrm>
          <a:prstGeom prst="rect">
            <a:avLst/>
          </a:prstGeom>
        </p:spPr>
      </p:pic>
      <p:pic>
        <p:nvPicPr>
          <p:cNvPr id="147" name="Picture 146" descr="lock.png"/>
          <p:cNvPicPr>
            <a:picLocks noChangeAspect="1"/>
          </p:cNvPicPr>
          <p:nvPr/>
        </p:nvPicPr>
        <p:blipFill>
          <a:blip r:embed="rId4"/>
          <a:stretch>
            <a:fillRect/>
          </a:stretch>
        </p:blipFill>
        <p:spPr>
          <a:xfrm>
            <a:off x="9730144" y="2832772"/>
            <a:ext cx="175498" cy="255270"/>
          </a:xfrm>
          <a:prstGeom prst="rect">
            <a:avLst/>
          </a:prstGeom>
        </p:spPr>
      </p:pic>
      <p:pic>
        <p:nvPicPr>
          <p:cNvPr id="148" name="Picture 147" descr="lock.png"/>
          <p:cNvPicPr>
            <a:picLocks noChangeAspect="1"/>
          </p:cNvPicPr>
          <p:nvPr/>
        </p:nvPicPr>
        <p:blipFill>
          <a:blip r:embed="rId4"/>
          <a:stretch>
            <a:fillRect/>
          </a:stretch>
        </p:blipFill>
        <p:spPr>
          <a:xfrm>
            <a:off x="9730144" y="3325622"/>
            <a:ext cx="175498" cy="255270"/>
          </a:xfrm>
          <a:prstGeom prst="rect">
            <a:avLst/>
          </a:prstGeom>
        </p:spPr>
      </p:pic>
      <p:pic>
        <p:nvPicPr>
          <p:cNvPr id="149" name="Picture 148" descr="lock.png"/>
          <p:cNvPicPr>
            <a:picLocks noChangeAspect="1"/>
          </p:cNvPicPr>
          <p:nvPr/>
        </p:nvPicPr>
        <p:blipFill>
          <a:blip r:embed="rId4"/>
          <a:stretch>
            <a:fillRect/>
          </a:stretch>
        </p:blipFill>
        <p:spPr>
          <a:xfrm>
            <a:off x="10573106" y="2339922"/>
            <a:ext cx="175498" cy="255270"/>
          </a:xfrm>
          <a:prstGeom prst="rect">
            <a:avLst/>
          </a:prstGeom>
        </p:spPr>
      </p:pic>
      <p:pic>
        <p:nvPicPr>
          <p:cNvPr id="150" name="Picture 149" descr="lock.png"/>
          <p:cNvPicPr>
            <a:picLocks noChangeAspect="1"/>
          </p:cNvPicPr>
          <p:nvPr/>
        </p:nvPicPr>
        <p:blipFill>
          <a:blip r:embed="rId4"/>
          <a:stretch>
            <a:fillRect/>
          </a:stretch>
        </p:blipFill>
        <p:spPr>
          <a:xfrm>
            <a:off x="10573106" y="2832772"/>
            <a:ext cx="175498" cy="255270"/>
          </a:xfrm>
          <a:prstGeom prst="rect">
            <a:avLst/>
          </a:prstGeom>
        </p:spPr>
      </p:pic>
      <p:pic>
        <p:nvPicPr>
          <p:cNvPr id="151" name="Picture 150" descr="lock.png"/>
          <p:cNvPicPr>
            <a:picLocks noChangeAspect="1"/>
          </p:cNvPicPr>
          <p:nvPr/>
        </p:nvPicPr>
        <p:blipFill>
          <a:blip r:embed="rId4"/>
          <a:stretch>
            <a:fillRect/>
          </a:stretch>
        </p:blipFill>
        <p:spPr>
          <a:xfrm>
            <a:off x="10573106" y="3325622"/>
            <a:ext cx="175498" cy="255270"/>
          </a:xfrm>
          <a:prstGeom prst="rect">
            <a:avLst/>
          </a:prstGeom>
        </p:spPr>
      </p:pic>
      <p:pic>
        <p:nvPicPr>
          <p:cNvPr id="152" name="Picture 151" descr="lock.png"/>
          <p:cNvPicPr>
            <a:picLocks noChangeAspect="1"/>
          </p:cNvPicPr>
          <p:nvPr/>
        </p:nvPicPr>
        <p:blipFill>
          <a:blip r:embed="rId4"/>
          <a:stretch>
            <a:fillRect/>
          </a:stretch>
        </p:blipFill>
        <p:spPr>
          <a:xfrm>
            <a:off x="11416069" y="2339922"/>
            <a:ext cx="175498" cy="255270"/>
          </a:xfrm>
          <a:prstGeom prst="rect">
            <a:avLst/>
          </a:prstGeom>
        </p:spPr>
      </p:pic>
      <p:pic>
        <p:nvPicPr>
          <p:cNvPr id="153" name="Picture 152" descr="lock.png"/>
          <p:cNvPicPr>
            <a:picLocks noChangeAspect="1"/>
          </p:cNvPicPr>
          <p:nvPr/>
        </p:nvPicPr>
        <p:blipFill>
          <a:blip r:embed="rId4"/>
          <a:stretch>
            <a:fillRect/>
          </a:stretch>
        </p:blipFill>
        <p:spPr>
          <a:xfrm>
            <a:off x="11416069" y="2832772"/>
            <a:ext cx="175498" cy="255270"/>
          </a:xfrm>
          <a:prstGeom prst="rect">
            <a:avLst/>
          </a:prstGeom>
        </p:spPr>
      </p:pic>
      <p:pic>
        <p:nvPicPr>
          <p:cNvPr id="154" name="Picture 153" descr="lock.png"/>
          <p:cNvPicPr>
            <a:picLocks noChangeAspect="1"/>
          </p:cNvPicPr>
          <p:nvPr/>
        </p:nvPicPr>
        <p:blipFill>
          <a:blip r:embed="rId4"/>
          <a:stretch>
            <a:fillRect/>
          </a:stretch>
        </p:blipFill>
        <p:spPr>
          <a:xfrm>
            <a:off x="11416069" y="3325622"/>
            <a:ext cx="175498" cy="255270"/>
          </a:xfrm>
          <a:prstGeom prst="rect">
            <a:avLst/>
          </a:prstGeom>
        </p:spPr>
      </p:pic>
      <p:sp>
        <p:nvSpPr>
          <p:cNvPr id="155" name="TextBox 154"/>
          <p:cNvSpPr txBox="1"/>
          <p:nvPr/>
        </p:nvSpPr>
        <p:spPr>
          <a:xfrm>
            <a:off x="485775" y="4229437"/>
            <a:ext cx="2914650" cy="186689"/>
          </a:xfrm>
          <a:prstGeom prst="rect">
            <a:avLst/>
          </a:prstGeom>
          <a:noFill/>
        </p:spPr>
        <p:txBody>
          <a:bodyPr wrap="none" lIns="0" tIns="0" rIns="0" bIns="0">
            <a:spAutoFit/>
          </a:bodyPr>
          <a:lstStyle/>
          <a:p>
            <a:r>
              <a:rPr sz="1100" b="0">
                <a:solidFill>
                  <a:srgbClr val="2E2E2E"/>
                </a:solidFill>
                <a:latin typeface="Calibri"/>
              </a:rPr>
              <a:t>Germany senior dog cognitive supplement market</a:t>
            </a:r>
          </a:p>
        </p:txBody>
      </p:sp>
      <p:sp>
        <p:nvSpPr>
          <p:cNvPr id="156" name="TextBox 155"/>
          <p:cNvSpPr txBox="1"/>
          <p:nvPr/>
        </p:nvSpPr>
        <p:spPr>
          <a:xfrm>
            <a:off x="485775" y="4397077"/>
            <a:ext cx="1362967" cy="186689"/>
          </a:xfrm>
          <a:prstGeom prst="rect">
            <a:avLst/>
          </a:prstGeom>
          <a:noFill/>
        </p:spPr>
        <p:txBody>
          <a:bodyPr wrap="none" lIns="0" tIns="0" rIns="0" bIns="0">
            <a:spAutoFit/>
          </a:bodyPr>
          <a:lstStyle/>
          <a:p>
            <a:r>
              <a:rPr sz="1100" b="0">
                <a:solidFill>
                  <a:srgbClr val="2E2E2E"/>
                </a:solidFill>
                <a:latin typeface="Calibri"/>
              </a:rPr>
              <a:t>is projected to register</a:t>
            </a:r>
          </a:p>
        </p:txBody>
      </p:sp>
      <p:pic>
        <p:nvPicPr>
          <p:cNvPr id="157" name="Picture 156" descr="lock.png"/>
          <p:cNvPicPr>
            <a:picLocks noChangeAspect="1"/>
          </p:cNvPicPr>
          <p:nvPr/>
        </p:nvPicPr>
        <p:blipFill>
          <a:blip r:embed="rId4"/>
          <a:stretch>
            <a:fillRect/>
          </a:stretch>
        </p:blipFill>
        <p:spPr>
          <a:xfrm>
            <a:off x="1796794" y="4387298"/>
            <a:ext cx="128699" cy="187198"/>
          </a:xfrm>
          <a:prstGeom prst="rect">
            <a:avLst/>
          </a:prstGeom>
        </p:spPr>
      </p:pic>
      <p:sp>
        <p:nvSpPr>
          <p:cNvPr id="158" name="TextBox 157"/>
          <p:cNvSpPr txBox="1"/>
          <p:nvPr/>
        </p:nvSpPr>
        <p:spPr>
          <a:xfrm>
            <a:off x="1964290" y="4397077"/>
            <a:ext cx="1394073" cy="186689"/>
          </a:xfrm>
          <a:prstGeom prst="rect">
            <a:avLst/>
          </a:prstGeom>
          <a:noFill/>
        </p:spPr>
        <p:txBody>
          <a:bodyPr wrap="none" lIns="0" tIns="0" rIns="0" bIns="0">
            <a:spAutoFit/>
          </a:bodyPr>
          <a:lstStyle/>
          <a:p>
            <a:r>
              <a:rPr sz="1100" b="0">
                <a:solidFill>
                  <a:srgbClr val="2E2E2E"/>
                </a:solidFill>
                <a:latin typeface="Calibri"/>
              </a:rPr>
              <a:t>X higher value than the</a:t>
            </a:r>
          </a:p>
        </p:txBody>
      </p:sp>
      <p:sp>
        <p:nvSpPr>
          <p:cNvPr id="159" name="TextBox 158"/>
          <p:cNvSpPr txBox="1"/>
          <p:nvPr/>
        </p:nvSpPr>
        <p:spPr>
          <a:xfrm>
            <a:off x="485775" y="4564717"/>
            <a:ext cx="2409626" cy="186689"/>
          </a:xfrm>
          <a:prstGeom prst="rect">
            <a:avLst/>
          </a:prstGeom>
          <a:noFill/>
        </p:spPr>
        <p:txBody>
          <a:bodyPr wrap="none" lIns="0" tIns="0" rIns="0" bIns="0">
            <a:spAutoFit/>
          </a:bodyPr>
          <a:lstStyle/>
          <a:p>
            <a:r>
              <a:rPr sz="1100" b="0">
                <a:solidFill>
                  <a:srgbClr val="2E2E2E"/>
                </a:solidFill>
                <a:latin typeface="Calibri"/>
              </a:rPr>
              <a:t>U.K. in 2036. Among senior dog cognitive</a:t>
            </a:r>
          </a:p>
        </p:txBody>
      </p:sp>
      <p:sp>
        <p:nvSpPr>
          <p:cNvPr id="160" name="TextBox 159"/>
          <p:cNvSpPr txBox="1"/>
          <p:nvPr/>
        </p:nvSpPr>
        <p:spPr>
          <a:xfrm>
            <a:off x="485775" y="4732357"/>
            <a:ext cx="2805807" cy="186689"/>
          </a:xfrm>
          <a:prstGeom prst="rect">
            <a:avLst/>
          </a:prstGeom>
          <a:noFill/>
        </p:spPr>
        <p:txBody>
          <a:bodyPr wrap="none" lIns="0" tIns="0" rIns="0" bIns="0">
            <a:spAutoFit/>
          </a:bodyPr>
          <a:lstStyle/>
          <a:p>
            <a:r>
              <a:rPr sz="1100" b="0">
                <a:solidFill>
                  <a:srgbClr val="2E2E2E"/>
                </a:solidFill>
                <a:latin typeface="Calibri"/>
              </a:rPr>
              <a:t>supplement by country, Germany is expected to</a:t>
            </a:r>
          </a:p>
        </p:txBody>
      </p:sp>
      <p:sp>
        <p:nvSpPr>
          <p:cNvPr id="161" name="TextBox 160"/>
          <p:cNvSpPr txBox="1"/>
          <p:nvPr/>
        </p:nvSpPr>
        <p:spPr>
          <a:xfrm>
            <a:off x="485775" y="4899997"/>
            <a:ext cx="1675093" cy="186689"/>
          </a:xfrm>
          <a:prstGeom prst="rect">
            <a:avLst/>
          </a:prstGeom>
          <a:noFill/>
        </p:spPr>
        <p:txBody>
          <a:bodyPr wrap="none" lIns="0" tIns="0" rIns="0" bIns="0">
            <a:spAutoFit/>
          </a:bodyPr>
          <a:lstStyle/>
          <a:p>
            <a:r>
              <a:rPr sz="1100" b="0">
                <a:solidFill>
                  <a:srgbClr val="2E2E2E"/>
                </a:solidFill>
                <a:latin typeface="Calibri"/>
              </a:rPr>
              <a:t>witness the highest CAGR of</a:t>
            </a:r>
          </a:p>
        </p:txBody>
      </p:sp>
      <p:pic>
        <p:nvPicPr>
          <p:cNvPr id="162" name="Picture 161" descr="lock.png"/>
          <p:cNvPicPr>
            <a:picLocks noChangeAspect="1"/>
          </p:cNvPicPr>
          <p:nvPr/>
        </p:nvPicPr>
        <p:blipFill>
          <a:blip r:embed="rId4"/>
          <a:stretch>
            <a:fillRect/>
          </a:stretch>
        </p:blipFill>
        <p:spPr>
          <a:xfrm>
            <a:off x="2108919" y="4890217"/>
            <a:ext cx="128699" cy="187198"/>
          </a:xfrm>
          <a:prstGeom prst="rect">
            <a:avLst/>
          </a:prstGeom>
        </p:spPr>
      </p:pic>
      <p:sp>
        <p:nvSpPr>
          <p:cNvPr id="163" name="TextBox 162"/>
          <p:cNvSpPr txBox="1"/>
          <p:nvPr/>
        </p:nvSpPr>
        <p:spPr>
          <a:xfrm>
            <a:off x="2276415" y="4899997"/>
            <a:ext cx="1046733" cy="186689"/>
          </a:xfrm>
          <a:prstGeom prst="rect">
            <a:avLst/>
          </a:prstGeom>
          <a:noFill/>
        </p:spPr>
        <p:txBody>
          <a:bodyPr wrap="none" lIns="0" tIns="0" rIns="0" bIns="0">
            <a:spAutoFit/>
          </a:bodyPr>
          <a:lstStyle/>
          <a:p>
            <a:r>
              <a:rPr sz="1100" b="0">
                <a:solidFill>
                  <a:srgbClr val="2E2E2E"/>
                </a:solidFill>
                <a:latin typeface="Calibri"/>
              </a:rPr>
              <a:t>over the forecast</a:t>
            </a:r>
          </a:p>
        </p:txBody>
      </p:sp>
      <p:sp>
        <p:nvSpPr>
          <p:cNvPr id="164" name="TextBox 163"/>
          <p:cNvSpPr txBox="1"/>
          <p:nvPr/>
        </p:nvSpPr>
        <p:spPr>
          <a:xfrm>
            <a:off x="485775" y="5067637"/>
            <a:ext cx="482475" cy="186689"/>
          </a:xfrm>
          <a:prstGeom prst="rect">
            <a:avLst/>
          </a:prstGeom>
          <a:noFill/>
        </p:spPr>
        <p:txBody>
          <a:bodyPr wrap="none" lIns="0" tIns="0" rIns="0" bIns="0">
            <a:spAutoFit/>
          </a:bodyPr>
          <a:lstStyle/>
          <a:p>
            <a:r>
              <a:rPr sz="1100" b="0">
                <a:solidFill>
                  <a:srgbClr val="2E2E2E"/>
                </a:solidFill>
                <a:latin typeface="Calibri"/>
              </a:rPr>
              <a:t>period.</a:t>
            </a:r>
          </a:p>
        </p:txBody>
      </p:sp>
      <p:sp>
        <p:nvSpPr>
          <p:cNvPr id="165" name="TextBox 164"/>
          <p:cNvSpPr txBox="1"/>
          <p:nvPr/>
        </p:nvSpPr>
        <p:spPr>
          <a:xfrm>
            <a:off x="485775" y="5285569"/>
            <a:ext cx="2722860" cy="186689"/>
          </a:xfrm>
          <a:prstGeom prst="rect">
            <a:avLst/>
          </a:prstGeom>
          <a:noFill/>
        </p:spPr>
        <p:txBody>
          <a:bodyPr wrap="none" lIns="0" tIns="0" rIns="0" bIns="0">
            <a:spAutoFit/>
          </a:bodyPr>
          <a:lstStyle/>
          <a:p>
            <a:r>
              <a:rPr sz="1100" b="0">
                <a:solidFill>
                  <a:srgbClr val="2E2E2E"/>
                </a:solidFill>
                <a:latin typeface="Calibri"/>
              </a:rPr>
              <a:t>In terms of value share by country, Germany is</a:t>
            </a:r>
          </a:p>
        </p:txBody>
      </p:sp>
      <p:sp>
        <p:nvSpPr>
          <p:cNvPr id="166" name="TextBox 165"/>
          <p:cNvSpPr txBox="1"/>
          <p:nvPr/>
        </p:nvSpPr>
        <p:spPr>
          <a:xfrm>
            <a:off x="485775" y="5453209"/>
            <a:ext cx="2466652" cy="186689"/>
          </a:xfrm>
          <a:prstGeom prst="rect">
            <a:avLst/>
          </a:prstGeom>
          <a:noFill/>
        </p:spPr>
        <p:txBody>
          <a:bodyPr wrap="none" lIns="0" tIns="0" rIns="0" bIns="0">
            <a:spAutoFit/>
          </a:bodyPr>
          <a:lstStyle/>
          <a:p>
            <a:r>
              <a:rPr sz="1100" b="0">
                <a:solidFill>
                  <a:srgbClr val="2E2E2E"/>
                </a:solidFill>
                <a:latin typeface="Calibri"/>
              </a:rPr>
              <a:t>expected to dominate the market, gaining</a:t>
            </a:r>
          </a:p>
        </p:txBody>
      </p:sp>
      <p:pic>
        <p:nvPicPr>
          <p:cNvPr id="167" name="Picture 166" descr="lock.png"/>
          <p:cNvPicPr>
            <a:picLocks noChangeAspect="1"/>
          </p:cNvPicPr>
          <p:nvPr/>
        </p:nvPicPr>
        <p:blipFill>
          <a:blip r:embed="rId4"/>
          <a:stretch>
            <a:fillRect/>
          </a:stretch>
        </p:blipFill>
        <p:spPr>
          <a:xfrm>
            <a:off x="2900479" y="5443430"/>
            <a:ext cx="128699" cy="187198"/>
          </a:xfrm>
          <a:prstGeom prst="rect">
            <a:avLst/>
          </a:prstGeom>
        </p:spPr>
      </p:pic>
      <p:sp>
        <p:nvSpPr>
          <p:cNvPr id="168" name="TextBox 167"/>
          <p:cNvSpPr txBox="1"/>
          <p:nvPr/>
        </p:nvSpPr>
        <p:spPr>
          <a:xfrm>
            <a:off x="3067974" y="5453209"/>
            <a:ext cx="288751" cy="186689"/>
          </a:xfrm>
          <a:prstGeom prst="rect">
            <a:avLst/>
          </a:prstGeom>
          <a:noFill/>
        </p:spPr>
        <p:txBody>
          <a:bodyPr wrap="none" lIns="0" tIns="0" rIns="0" bIns="0">
            <a:spAutoFit/>
          </a:bodyPr>
          <a:lstStyle/>
          <a:p>
            <a:r>
              <a:rPr sz="1100" b="0">
                <a:solidFill>
                  <a:srgbClr val="2E2E2E"/>
                </a:solidFill>
                <a:latin typeface="Calibri"/>
              </a:rPr>
              <a:t>BPS</a:t>
            </a:r>
          </a:p>
        </p:txBody>
      </p:sp>
      <p:sp>
        <p:nvSpPr>
          <p:cNvPr id="169" name="TextBox 168"/>
          <p:cNvSpPr txBox="1"/>
          <p:nvPr/>
        </p:nvSpPr>
        <p:spPr>
          <a:xfrm>
            <a:off x="485775" y="5620849"/>
            <a:ext cx="1142231" cy="186689"/>
          </a:xfrm>
          <a:prstGeom prst="rect">
            <a:avLst/>
          </a:prstGeom>
          <a:noFill/>
        </p:spPr>
        <p:txBody>
          <a:bodyPr wrap="none" lIns="0" tIns="0" rIns="0" bIns="0">
            <a:spAutoFit/>
          </a:bodyPr>
          <a:lstStyle/>
          <a:p>
            <a:r>
              <a:rPr sz="1100" b="0">
                <a:solidFill>
                  <a:srgbClr val="2E2E2E"/>
                </a:solidFill>
                <a:latin typeface="Calibri"/>
              </a:rPr>
              <a:t>and accounting for</a:t>
            </a:r>
          </a:p>
        </p:txBody>
      </p:sp>
      <p:pic>
        <p:nvPicPr>
          <p:cNvPr id="170" name="Picture 169" descr="lock.png"/>
          <p:cNvPicPr>
            <a:picLocks noChangeAspect="1"/>
          </p:cNvPicPr>
          <p:nvPr/>
        </p:nvPicPr>
        <p:blipFill>
          <a:blip r:embed="rId4"/>
          <a:stretch>
            <a:fillRect/>
          </a:stretch>
        </p:blipFill>
        <p:spPr>
          <a:xfrm>
            <a:off x="1576057" y="5611070"/>
            <a:ext cx="128699" cy="187198"/>
          </a:xfrm>
          <a:prstGeom prst="rect">
            <a:avLst/>
          </a:prstGeom>
        </p:spPr>
      </p:pic>
      <p:sp>
        <p:nvSpPr>
          <p:cNvPr id="171" name="TextBox 170"/>
          <p:cNvSpPr txBox="1"/>
          <p:nvPr/>
        </p:nvSpPr>
        <p:spPr>
          <a:xfrm>
            <a:off x="1743553" y="5620849"/>
            <a:ext cx="1291208" cy="186689"/>
          </a:xfrm>
          <a:prstGeom prst="rect">
            <a:avLst/>
          </a:prstGeom>
          <a:noFill/>
        </p:spPr>
        <p:txBody>
          <a:bodyPr wrap="none" lIns="0" tIns="0" rIns="0" bIns="0">
            <a:spAutoFit/>
          </a:bodyPr>
          <a:lstStyle/>
          <a:p>
            <a:r>
              <a:rPr sz="1100" b="0">
                <a:solidFill>
                  <a:srgbClr val="2E2E2E"/>
                </a:solidFill>
                <a:latin typeface="Calibri"/>
              </a:rPr>
              <a:t>share by 2036. U.K. is</a:t>
            </a:r>
          </a:p>
        </p:txBody>
      </p:sp>
      <p:sp>
        <p:nvSpPr>
          <p:cNvPr id="172" name="TextBox 171"/>
          <p:cNvSpPr txBox="1"/>
          <p:nvPr/>
        </p:nvSpPr>
        <p:spPr>
          <a:xfrm>
            <a:off x="485775" y="5788489"/>
            <a:ext cx="1012353" cy="186689"/>
          </a:xfrm>
          <a:prstGeom prst="rect">
            <a:avLst/>
          </a:prstGeom>
          <a:noFill/>
        </p:spPr>
        <p:txBody>
          <a:bodyPr wrap="none" lIns="0" tIns="0" rIns="0" bIns="0">
            <a:spAutoFit/>
          </a:bodyPr>
          <a:lstStyle/>
          <a:p>
            <a:r>
              <a:rPr sz="1100" b="0">
                <a:solidFill>
                  <a:srgbClr val="2E2E2E"/>
                </a:solidFill>
                <a:latin typeface="Calibri"/>
              </a:rPr>
              <a:t>expected to lose</a:t>
            </a:r>
          </a:p>
        </p:txBody>
      </p:sp>
      <p:pic>
        <p:nvPicPr>
          <p:cNvPr id="173" name="Picture 172" descr="lock.png"/>
          <p:cNvPicPr>
            <a:picLocks noChangeAspect="1"/>
          </p:cNvPicPr>
          <p:nvPr/>
        </p:nvPicPr>
        <p:blipFill>
          <a:blip r:embed="rId4"/>
          <a:stretch>
            <a:fillRect/>
          </a:stretch>
        </p:blipFill>
        <p:spPr>
          <a:xfrm>
            <a:off x="1446180" y="5778710"/>
            <a:ext cx="128699" cy="187198"/>
          </a:xfrm>
          <a:prstGeom prst="rect">
            <a:avLst/>
          </a:prstGeom>
        </p:spPr>
      </p:pic>
      <p:sp>
        <p:nvSpPr>
          <p:cNvPr id="174" name="TextBox 173"/>
          <p:cNvSpPr txBox="1"/>
          <p:nvPr/>
        </p:nvSpPr>
        <p:spPr>
          <a:xfrm>
            <a:off x="1613676" y="5788489"/>
            <a:ext cx="1693664" cy="186689"/>
          </a:xfrm>
          <a:prstGeom prst="rect">
            <a:avLst/>
          </a:prstGeom>
          <a:noFill/>
        </p:spPr>
        <p:txBody>
          <a:bodyPr wrap="none" lIns="0" tIns="0" rIns="0" bIns="0">
            <a:spAutoFit/>
          </a:bodyPr>
          <a:lstStyle/>
          <a:p>
            <a:r>
              <a:rPr sz="1100" b="0">
                <a:solidFill>
                  <a:srgbClr val="2E2E2E"/>
                </a:solidFill>
                <a:latin typeface="Calibri"/>
              </a:rPr>
              <a:t>BPS over the forecast period</a:t>
            </a:r>
          </a:p>
        </p:txBody>
      </p:sp>
      <p:sp>
        <p:nvSpPr>
          <p:cNvPr id="175" name="TextBox 174"/>
          <p:cNvSpPr txBox="1"/>
          <p:nvPr/>
        </p:nvSpPr>
        <p:spPr>
          <a:xfrm>
            <a:off x="485775" y="5956129"/>
            <a:ext cx="877837" cy="186689"/>
          </a:xfrm>
          <a:prstGeom prst="rect">
            <a:avLst/>
          </a:prstGeom>
          <a:noFill/>
        </p:spPr>
        <p:txBody>
          <a:bodyPr wrap="none" lIns="0" tIns="0" rIns="0" bIns="0">
            <a:spAutoFit/>
          </a:bodyPr>
          <a:lstStyle/>
          <a:p>
            <a:r>
              <a:rPr sz="1100" b="0">
                <a:solidFill>
                  <a:srgbClr val="2E2E2E"/>
                </a:solidFill>
                <a:latin typeface="Calibri"/>
              </a:rPr>
              <a:t>to account for</a:t>
            </a:r>
          </a:p>
        </p:txBody>
      </p:sp>
      <p:pic>
        <p:nvPicPr>
          <p:cNvPr id="176" name="Picture 175" descr="lock.png"/>
          <p:cNvPicPr>
            <a:picLocks noChangeAspect="1"/>
          </p:cNvPicPr>
          <p:nvPr/>
        </p:nvPicPr>
        <p:blipFill>
          <a:blip r:embed="rId4"/>
          <a:stretch>
            <a:fillRect/>
          </a:stretch>
        </p:blipFill>
        <p:spPr>
          <a:xfrm>
            <a:off x="1311664" y="5946350"/>
            <a:ext cx="128699" cy="187198"/>
          </a:xfrm>
          <a:prstGeom prst="rect">
            <a:avLst/>
          </a:prstGeom>
        </p:spPr>
      </p:pic>
      <p:sp>
        <p:nvSpPr>
          <p:cNvPr id="177" name="TextBox 176"/>
          <p:cNvSpPr txBox="1"/>
          <p:nvPr/>
        </p:nvSpPr>
        <p:spPr>
          <a:xfrm>
            <a:off x="1479160" y="5956129"/>
            <a:ext cx="908397" cy="186689"/>
          </a:xfrm>
          <a:prstGeom prst="rect">
            <a:avLst/>
          </a:prstGeom>
          <a:noFill/>
        </p:spPr>
        <p:txBody>
          <a:bodyPr wrap="none" lIns="0" tIns="0" rIns="0" bIns="0">
            <a:spAutoFit/>
          </a:bodyPr>
          <a:lstStyle/>
          <a:p>
            <a:r>
              <a:rPr sz="1100" b="0">
                <a:solidFill>
                  <a:srgbClr val="2E2E2E"/>
                </a:solidFill>
                <a:latin typeface="Calibri"/>
              </a:rPr>
              <a:t>share by 2036.</a:t>
            </a:r>
          </a:p>
        </p:txBody>
      </p:sp>
      <p:sp>
        <p:nvSpPr>
          <p:cNvPr id="178" name="TextBox 177"/>
          <p:cNvSpPr txBox="1"/>
          <p:nvPr/>
        </p:nvSpPr>
        <p:spPr>
          <a:xfrm>
            <a:off x="3838575" y="4229437"/>
            <a:ext cx="589226" cy="146456"/>
          </a:xfrm>
          <a:prstGeom prst="rect">
            <a:avLst/>
          </a:prstGeom>
          <a:noFill/>
        </p:spPr>
        <p:txBody>
          <a:bodyPr wrap="none" lIns="0" tIns="0" rIns="0" bIns="0">
            <a:spAutoFit/>
          </a:bodyPr>
          <a:lstStyle/>
          <a:p>
            <a:r>
              <a:rPr sz="835" b="0">
                <a:solidFill>
                  <a:srgbClr val="2E2E2E"/>
                </a:solidFill>
                <a:latin typeface="Calibri"/>
              </a:rPr>
              <a:t>● Germany:</a:t>
            </a:r>
          </a:p>
        </p:txBody>
      </p:sp>
      <p:pic>
        <p:nvPicPr>
          <p:cNvPr id="179" name="Picture 178" descr="lock.png"/>
          <p:cNvPicPr>
            <a:picLocks noChangeAspect="1"/>
          </p:cNvPicPr>
          <p:nvPr/>
        </p:nvPicPr>
        <p:blipFill>
          <a:blip r:embed="rId4"/>
          <a:stretch>
            <a:fillRect/>
          </a:stretch>
        </p:blipFill>
        <p:spPr>
          <a:xfrm>
            <a:off x="4370032" y="4222004"/>
            <a:ext cx="97811" cy="142270"/>
          </a:xfrm>
          <a:prstGeom prst="rect">
            <a:avLst/>
          </a:prstGeom>
        </p:spPr>
      </p:pic>
      <p:sp>
        <p:nvSpPr>
          <p:cNvPr id="180" name="TextBox 179"/>
          <p:cNvSpPr txBox="1"/>
          <p:nvPr/>
        </p:nvSpPr>
        <p:spPr>
          <a:xfrm>
            <a:off x="4497329" y="4229437"/>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181" name="Picture 180" descr="lock.png"/>
          <p:cNvPicPr>
            <a:picLocks noChangeAspect="1"/>
          </p:cNvPicPr>
          <p:nvPr/>
        </p:nvPicPr>
        <p:blipFill>
          <a:blip r:embed="rId4"/>
          <a:stretch>
            <a:fillRect/>
          </a:stretch>
        </p:blipFill>
        <p:spPr>
          <a:xfrm>
            <a:off x="5150511" y="4222004"/>
            <a:ext cx="97811" cy="142270"/>
          </a:xfrm>
          <a:prstGeom prst="rect">
            <a:avLst/>
          </a:prstGeom>
        </p:spPr>
      </p:pic>
      <p:sp>
        <p:nvSpPr>
          <p:cNvPr id="182" name="TextBox 181"/>
          <p:cNvSpPr txBox="1"/>
          <p:nvPr/>
        </p:nvSpPr>
        <p:spPr>
          <a:xfrm>
            <a:off x="5277808" y="4229437"/>
            <a:ext cx="1097055" cy="146456"/>
          </a:xfrm>
          <a:prstGeom prst="rect">
            <a:avLst/>
          </a:prstGeom>
          <a:noFill/>
        </p:spPr>
        <p:txBody>
          <a:bodyPr wrap="none" lIns="0" tIns="0" rIns="0" bIns="0">
            <a:spAutoFit/>
          </a:bodyPr>
          <a:lstStyle/>
          <a:p>
            <a:r>
              <a:rPr sz="835" b="0">
                <a:solidFill>
                  <a:srgbClr val="2E2E2E"/>
                </a:solidFill>
                <a:latin typeface="Calibri"/>
              </a:rPr>
              <a:t>CAGR leads the market.</a:t>
            </a:r>
          </a:p>
        </p:txBody>
      </p:sp>
      <p:sp>
        <p:nvSpPr>
          <p:cNvPr id="183" name="TextBox 182"/>
          <p:cNvSpPr txBox="1"/>
          <p:nvPr/>
        </p:nvSpPr>
        <p:spPr>
          <a:xfrm>
            <a:off x="3838575" y="4395065"/>
            <a:ext cx="369624" cy="146456"/>
          </a:xfrm>
          <a:prstGeom prst="rect">
            <a:avLst/>
          </a:prstGeom>
          <a:noFill/>
        </p:spPr>
        <p:txBody>
          <a:bodyPr wrap="none" lIns="0" tIns="0" rIns="0" bIns="0">
            <a:spAutoFit/>
          </a:bodyPr>
          <a:lstStyle/>
          <a:p>
            <a:r>
              <a:rPr sz="835" b="0">
                <a:solidFill>
                  <a:srgbClr val="2E2E2E"/>
                </a:solidFill>
                <a:latin typeface="Calibri"/>
              </a:rPr>
              <a:t>● U.K.:</a:t>
            </a:r>
          </a:p>
        </p:txBody>
      </p:sp>
      <p:pic>
        <p:nvPicPr>
          <p:cNvPr id="184" name="Picture 183" descr="lock.png"/>
          <p:cNvPicPr>
            <a:picLocks noChangeAspect="1"/>
          </p:cNvPicPr>
          <p:nvPr/>
        </p:nvPicPr>
        <p:blipFill>
          <a:blip r:embed="rId4"/>
          <a:stretch>
            <a:fillRect/>
          </a:stretch>
        </p:blipFill>
        <p:spPr>
          <a:xfrm>
            <a:off x="4150430" y="4387633"/>
            <a:ext cx="97811" cy="142270"/>
          </a:xfrm>
          <a:prstGeom prst="rect">
            <a:avLst/>
          </a:prstGeom>
        </p:spPr>
      </p:pic>
      <p:sp>
        <p:nvSpPr>
          <p:cNvPr id="185" name="TextBox 184"/>
          <p:cNvSpPr txBox="1"/>
          <p:nvPr/>
        </p:nvSpPr>
        <p:spPr>
          <a:xfrm>
            <a:off x="4277727" y="4395065"/>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186" name="Picture 185" descr="lock.png"/>
          <p:cNvPicPr>
            <a:picLocks noChangeAspect="1"/>
          </p:cNvPicPr>
          <p:nvPr/>
        </p:nvPicPr>
        <p:blipFill>
          <a:blip r:embed="rId4"/>
          <a:stretch>
            <a:fillRect/>
          </a:stretch>
        </p:blipFill>
        <p:spPr>
          <a:xfrm>
            <a:off x="4930909" y="4387633"/>
            <a:ext cx="97811" cy="142270"/>
          </a:xfrm>
          <a:prstGeom prst="rect">
            <a:avLst/>
          </a:prstGeom>
        </p:spPr>
      </p:pic>
      <p:sp>
        <p:nvSpPr>
          <p:cNvPr id="187" name="TextBox 186"/>
          <p:cNvSpPr txBox="1"/>
          <p:nvPr/>
        </p:nvSpPr>
        <p:spPr>
          <a:xfrm>
            <a:off x="5058206" y="4395065"/>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188" name="TextBox 187"/>
          <p:cNvSpPr txBox="1"/>
          <p:nvPr/>
        </p:nvSpPr>
        <p:spPr>
          <a:xfrm>
            <a:off x="3838575" y="4560693"/>
            <a:ext cx="483054" cy="146456"/>
          </a:xfrm>
          <a:prstGeom prst="rect">
            <a:avLst/>
          </a:prstGeom>
          <a:noFill/>
        </p:spPr>
        <p:txBody>
          <a:bodyPr wrap="none" lIns="0" tIns="0" rIns="0" bIns="0">
            <a:spAutoFit/>
          </a:bodyPr>
          <a:lstStyle/>
          <a:p>
            <a:r>
              <a:rPr sz="835" b="0">
                <a:solidFill>
                  <a:srgbClr val="2E2E2E"/>
                </a:solidFill>
                <a:latin typeface="Calibri"/>
              </a:rPr>
              <a:t>● France:</a:t>
            </a:r>
          </a:p>
        </p:txBody>
      </p:sp>
      <p:pic>
        <p:nvPicPr>
          <p:cNvPr id="189" name="Picture 188" descr="lock.png"/>
          <p:cNvPicPr>
            <a:picLocks noChangeAspect="1"/>
          </p:cNvPicPr>
          <p:nvPr/>
        </p:nvPicPr>
        <p:blipFill>
          <a:blip r:embed="rId4"/>
          <a:stretch>
            <a:fillRect/>
          </a:stretch>
        </p:blipFill>
        <p:spPr>
          <a:xfrm>
            <a:off x="4263860" y="4553261"/>
            <a:ext cx="97811" cy="142270"/>
          </a:xfrm>
          <a:prstGeom prst="rect">
            <a:avLst/>
          </a:prstGeom>
        </p:spPr>
      </p:pic>
      <p:sp>
        <p:nvSpPr>
          <p:cNvPr id="190" name="TextBox 189"/>
          <p:cNvSpPr txBox="1"/>
          <p:nvPr/>
        </p:nvSpPr>
        <p:spPr>
          <a:xfrm>
            <a:off x="4391157" y="4560693"/>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191" name="Picture 190" descr="lock.png"/>
          <p:cNvPicPr>
            <a:picLocks noChangeAspect="1"/>
          </p:cNvPicPr>
          <p:nvPr/>
        </p:nvPicPr>
        <p:blipFill>
          <a:blip r:embed="rId4"/>
          <a:stretch>
            <a:fillRect/>
          </a:stretch>
        </p:blipFill>
        <p:spPr>
          <a:xfrm>
            <a:off x="5044339" y="4553261"/>
            <a:ext cx="97811" cy="142270"/>
          </a:xfrm>
          <a:prstGeom prst="rect">
            <a:avLst/>
          </a:prstGeom>
        </p:spPr>
      </p:pic>
      <p:sp>
        <p:nvSpPr>
          <p:cNvPr id="192" name="TextBox 191"/>
          <p:cNvSpPr txBox="1"/>
          <p:nvPr/>
        </p:nvSpPr>
        <p:spPr>
          <a:xfrm>
            <a:off x="5171636" y="4560693"/>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193" name="TextBox 192"/>
          <p:cNvSpPr txBox="1"/>
          <p:nvPr/>
        </p:nvSpPr>
        <p:spPr>
          <a:xfrm>
            <a:off x="3838575" y="4726321"/>
            <a:ext cx="378541" cy="146456"/>
          </a:xfrm>
          <a:prstGeom prst="rect">
            <a:avLst/>
          </a:prstGeom>
          <a:noFill/>
        </p:spPr>
        <p:txBody>
          <a:bodyPr wrap="none" lIns="0" tIns="0" rIns="0" bIns="0">
            <a:spAutoFit/>
          </a:bodyPr>
          <a:lstStyle/>
          <a:p>
            <a:r>
              <a:rPr sz="835" b="0">
                <a:solidFill>
                  <a:srgbClr val="2E2E2E"/>
                </a:solidFill>
                <a:latin typeface="Calibri"/>
              </a:rPr>
              <a:t>● Italy:</a:t>
            </a:r>
          </a:p>
        </p:txBody>
      </p:sp>
      <p:pic>
        <p:nvPicPr>
          <p:cNvPr id="194" name="Picture 193" descr="lock.png"/>
          <p:cNvPicPr>
            <a:picLocks noChangeAspect="1"/>
          </p:cNvPicPr>
          <p:nvPr/>
        </p:nvPicPr>
        <p:blipFill>
          <a:blip r:embed="rId4"/>
          <a:stretch>
            <a:fillRect/>
          </a:stretch>
        </p:blipFill>
        <p:spPr>
          <a:xfrm>
            <a:off x="4159347" y="4718889"/>
            <a:ext cx="97811" cy="142270"/>
          </a:xfrm>
          <a:prstGeom prst="rect">
            <a:avLst/>
          </a:prstGeom>
        </p:spPr>
      </p:pic>
      <p:sp>
        <p:nvSpPr>
          <p:cNvPr id="195" name="TextBox 194"/>
          <p:cNvSpPr txBox="1"/>
          <p:nvPr/>
        </p:nvSpPr>
        <p:spPr>
          <a:xfrm>
            <a:off x="4286644" y="4726321"/>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196" name="Picture 195" descr="lock.png"/>
          <p:cNvPicPr>
            <a:picLocks noChangeAspect="1"/>
          </p:cNvPicPr>
          <p:nvPr/>
        </p:nvPicPr>
        <p:blipFill>
          <a:blip r:embed="rId4"/>
          <a:stretch>
            <a:fillRect/>
          </a:stretch>
        </p:blipFill>
        <p:spPr>
          <a:xfrm>
            <a:off x="4939826" y="4718889"/>
            <a:ext cx="97811" cy="142270"/>
          </a:xfrm>
          <a:prstGeom prst="rect">
            <a:avLst/>
          </a:prstGeom>
        </p:spPr>
      </p:pic>
      <p:sp>
        <p:nvSpPr>
          <p:cNvPr id="197" name="TextBox 196"/>
          <p:cNvSpPr txBox="1"/>
          <p:nvPr/>
        </p:nvSpPr>
        <p:spPr>
          <a:xfrm>
            <a:off x="5067123" y="4726321"/>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198" name="TextBox 197"/>
          <p:cNvSpPr txBox="1"/>
          <p:nvPr/>
        </p:nvSpPr>
        <p:spPr>
          <a:xfrm>
            <a:off x="3838575" y="4891950"/>
            <a:ext cx="428309" cy="146456"/>
          </a:xfrm>
          <a:prstGeom prst="rect">
            <a:avLst/>
          </a:prstGeom>
          <a:noFill/>
        </p:spPr>
        <p:txBody>
          <a:bodyPr wrap="none" lIns="0" tIns="0" rIns="0" bIns="0">
            <a:spAutoFit/>
          </a:bodyPr>
          <a:lstStyle/>
          <a:p>
            <a:r>
              <a:rPr sz="835" b="0">
                <a:solidFill>
                  <a:srgbClr val="2E2E2E"/>
                </a:solidFill>
                <a:latin typeface="Calibri"/>
              </a:rPr>
              <a:t>● Spain:</a:t>
            </a:r>
          </a:p>
        </p:txBody>
      </p:sp>
      <p:pic>
        <p:nvPicPr>
          <p:cNvPr id="199" name="Picture 198" descr="lock.png"/>
          <p:cNvPicPr>
            <a:picLocks noChangeAspect="1"/>
          </p:cNvPicPr>
          <p:nvPr/>
        </p:nvPicPr>
        <p:blipFill>
          <a:blip r:embed="rId4"/>
          <a:stretch>
            <a:fillRect/>
          </a:stretch>
        </p:blipFill>
        <p:spPr>
          <a:xfrm>
            <a:off x="4209115" y="4884518"/>
            <a:ext cx="97811" cy="142270"/>
          </a:xfrm>
          <a:prstGeom prst="rect">
            <a:avLst/>
          </a:prstGeom>
        </p:spPr>
      </p:pic>
      <p:sp>
        <p:nvSpPr>
          <p:cNvPr id="200" name="TextBox 199"/>
          <p:cNvSpPr txBox="1"/>
          <p:nvPr/>
        </p:nvSpPr>
        <p:spPr>
          <a:xfrm>
            <a:off x="4336412" y="4891950"/>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201" name="Picture 200" descr="lock.png"/>
          <p:cNvPicPr>
            <a:picLocks noChangeAspect="1"/>
          </p:cNvPicPr>
          <p:nvPr/>
        </p:nvPicPr>
        <p:blipFill>
          <a:blip r:embed="rId4"/>
          <a:stretch>
            <a:fillRect/>
          </a:stretch>
        </p:blipFill>
        <p:spPr>
          <a:xfrm>
            <a:off x="4989594" y="4884518"/>
            <a:ext cx="97811" cy="142270"/>
          </a:xfrm>
          <a:prstGeom prst="rect">
            <a:avLst/>
          </a:prstGeom>
        </p:spPr>
      </p:pic>
      <p:sp>
        <p:nvSpPr>
          <p:cNvPr id="202" name="TextBox 201"/>
          <p:cNvSpPr txBox="1"/>
          <p:nvPr/>
        </p:nvSpPr>
        <p:spPr>
          <a:xfrm>
            <a:off x="5116891" y="4891950"/>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203" name="TextBox 202"/>
          <p:cNvSpPr txBox="1"/>
          <p:nvPr/>
        </p:nvSpPr>
        <p:spPr>
          <a:xfrm>
            <a:off x="3838575" y="5057578"/>
            <a:ext cx="542983" cy="146456"/>
          </a:xfrm>
          <a:prstGeom prst="rect">
            <a:avLst/>
          </a:prstGeom>
          <a:noFill/>
        </p:spPr>
        <p:txBody>
          <a:bodyPr wrap="none" lIns="0" tIns="0" rIns="0" bIns="0">
            <a:spAutoFit/>
          </a:bodyPr>
          <a:lstStyle/>
          <a:p>
            <a:r>
              <a:rPr sz="835" b="0">
                <a:solidFill>
                  <a:srgbClr val="2E2E2E"/>
                </a:solidFill>
                <a:latin typeface="Calibri"/>
              </a:rPr>
              <a:t>● Belgium:</a:t>
            </a:r>
          </a:p>
        </p:txBody>
      </p:sp>
      <p:pic>
        <p:nvPicPr>
          <p:cNvPr id="204" name="Picture 203" descr="lock.png"/>
          <p:cNvPicPr>
            <a:picLocks noChangeAspect="1"/>
          </p:cNvPicPr>
          <p:nvPr/>
        </p:nvPicPr>
        <p:blipFill>
          <a:blip r:embed="rId4"/>
          <a:stretch>
            <a:fillRect/>
          </a:stretch>
        </p:blipFill>
        <p:spPr>
          <a:xfrm>
            <a:off x="4323789" y="5050146"/>
            <a:ext cx="97811" cy="142270"/>
          </a:xfrm>
          <a:prstGeom prst="rect">
            <a:avLst/>
          </a:prstGeom>
        </p:spPr>
      </p:pic>
      <p:sp>
        <p:nvSpPr>
          <p:cNvPr id="205" name="TextBox 204"/>
          <p:cNvSpPr txBox="1"/>
          <p:nvPr/>
        </p:nvSpPr>
        <p:spPr>
          <a:xfrm>
            <a:off x="4451086" y="5057578"/>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206" name="Picture 205" descr="lock.png"/>
          <p:cNvPicPr>
            <a:picLocks noChangeAspect="1"/>
          </p:cNvPicPr>
          <p:nvPr/>
        </p:nvPicPr>
        <p:blipFill>
          <a:blip r:embed="rId4"/>
          <a:stretch>
            <a:fillRect/>
          </a:stretch>
        </p:blipFill>
        <p:spPr>
          <a:xfrm>
            <a:off x="5104268" y="5050146"/>
            <a:ext cx="97811" cy="142270"/>
          </a:xfrm>
          <a:prstGeom prst="rect">
            <a:avLst/>
          </a:prstGeom>
        </p:spPr>
      </p:pic>
      <p:sp>
        <p:nvSpPr>
          <p:cNvPr id="207" name="TextBox 206"/>
          <p:cNvSpPr txBox="1"/>
          <p:nvPr/>
        </p:nvSpPr>
        <p:spPr>
          <a:xfrm>
            <a:off x="5231565" y="5057578"/>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208" name="TextBox 207"/>
          <p:cNvSpPr txBox="1"/>
          <p:nvPr/>
        </p:nvSpPr>
        <p:spPr>
          <a:xfrm>
            <a:off x="3838575" y="5223206"/>
            <a:ext cx="724015" cy="146456"/>
          </a:xfrm>
          <a:prstGeom prst="rect">
            <a:avLst/>
          </a:prstGeom>
          <a:noFill/>
        </p:spPr>
        <p:txBody>
          <a:bodyPr wrap="none" lIns="0" tIns="0" rIns="0" bIns="0">
            <a:spAutoFit/>
          </a:bodyPr>
          <a:lstStyle/>
          <a:p>
            <a:r>
              <a:rPr sz="835" b="0">
                <a:solidFill>
                  <a:srgbClr val="2E2E2E"/>
                </a:solidFill>
                <a:latin typeface="Calibri"/>
              </a:rPr>
              <a:t>● Netherlands:</a:t>
            </a:r>
          </a:p>
        </p:txBody>
      </p:sp>
      <p:pic>
        <p:nvPicPr>
          <p:cNvPr id="209" name="Picture 208" descr="lock.png"/>
          <p:cNvPicPr>
            <a:picLocks noChangeAspect="1"/>
          </p:cNvPicPr>
          <p:nvPr/>
        </p:nvPicPr>
        <p:blipFill>
          <a:blip r:embed="rId4"/>
          <a:stretch>
            <a:fillRect/>
          </a:stretch>
        </p:blipFill>
        <p:spPr>
          <a:xfrm>
            <a:off x="4504821" y="5215774"/>
            <a:ext cx="97811" cy="142270"/>
          </a:xfrm>
          <a:prstGeom prst="rect">
            <a:avLst/>
          </a:prstGeom>
        </p:spPr>
      </p:pic>
      <p:sp>
        <p:nvSpPr>
          <p:cNvPr id="210" name="TextBox 209"/>
          <p:cNvSpPr txBox="1"/>
          <p:nvPr/>
        </p:nvSpPr>
        <p:spPr>
          <a:xfrm>
            <a:off x="4632118" y="5223206"/>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211" name="Picture 210" descr="lock.png"/>
          <p:cNvPicPr>
            <a:picLocks noChangeAspect="1"/>
          </p:cNvPicPr>
          <p:nvPr/>
        </p:nvPicPr>
        <p:blipFill>
          <a:blip r:embed="rId4"/>
          <a:stretch>
            <a:fillRect/>
          </a:stretch>
        </p:blipFill>
        <p:spPr>
          <a:xfrm>
            <a:off x="5285300" y="5215774"/>
            <a:ext cx="97811" cy="142270"/>
          </a:xfrm>
          <a:prstGeom prst="rect">
            <a:avLst/>
          </a:prstGeom>
        </p:spPr>
      </p:pic>
      <p:sp>
        <p:nvSpPr>
          <p:cNvPr id="212" name="TextBox 211"/>
          <p:cNvSpPr txBox="1"/>
          <p:nvPr/>
        </p:nvSpPr>
        <p:spPr>
          <a:xfrm>
            <a:off x="5412597" y="5223206"/>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213" name="TextBox 212"/>
          <p:cNvSpPr txBox="1"/>
          <p:nvPr/>
        </p:nvSpPr>
        <p:spPr>
          <a:xfrm>
            <a:off x="3838575" y="5388835"/>
            <a:ext cx="479736" cy="146456"/>
          </a:xfrm>
          <a:prstGeom prst="rect">
            <a:avLst/>
          </a:prstGeom>
          <a:noFill/>
        </p:spPr>
        <p:txBody>
          <a:bodyPr wrap="none" lIns="0" tIns="0" rIns="0" bIns="0">
            <a:spAutoFit/>
          </a:bodyPr>
          <a:lstStyle/>
          <a:p>
            <a:r>
              <a:rPr sz="835" b="0">
                <a:solidFill>
                  <a:srgbClr val="2E2E2E"/>
                </a:solidFill>
                <a:latin typeface="Calibri"/>
              </a:rPr>
              <a:t>● Nordic:</a:t>
            </a:r>
          </a:p>
        </p:txBody>
      </p:sp>
      <p:pic>
        <p:nvPicPr>
          <p:cNvPr id="214" name="Picture 213" descr="lock.png"/>
          <p:cNvPicPr>
            <a:picLocks noChangeAspect="1"/>
          </p:cNvPicPr>
          <p:nvPr/>
        </p:nvPicPr>
        <p:blipFill>
          <a:blip r:embed="rId4"/>
          <a:stretch>
            <a:fillRect/>
          </a:stretch>
        </p:blipFill>
        <p:spPr>
          <a:xfrm>
            <a:off x="4260542" y="5381403"/>
            <a:ext cx="97811" cy="142270"/>
          </a:xfrm>
          <a:prstGeom prst="rect">
            <a:avLst/>
          </a:prstGeom>
        </p:spPr>
      </p:pic>
      <p:sp>
        <p:nvSpPr>
          <p:cNvPr id="215" name="TextBox 214"/>
          <p:cNvSpPr txBox="1"/>
          <p:nvPr/>
        </p:nvSpPr>
        <p:spPr>
          <a:xfrm>
            <a:off x="4387839" y="5388835"/>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216" name="Picture 215" descr="lock.png"/>
          <p:cNvPicPr>
            <a:picLocks noChangeAspect="1"/>
          </p:cNvPicPr>
          <p:nvPr/>
        </p:nvPicPr>
        <p:blipFill>
          <a:blip r:embed="rId4"/>
          <a:stretch>
            <a:fillRect/>
          </a:stretch>
        </p:blipFill>
        <p:spPr>
          <a:xfrm>
            <a:off x="5041021" y="5381403"/>
            <a:ext cx="97811" cy="142270"/>
          </a:xfrm>
          <a:prstGeom prst="rect">
            <a:avLst/>
          </a:prstGeom>
        </p:spPr>
      </p:pic>
      <p:sp>
        <p:nvSpPr>
          <p:cNvPr id="217" name="TextBox 216"/>
          <p:cNvSpPr txBox="1"/>
          <p:nvPr/>
        </p:nvSpPr>
        <p:spPr>
          <a:xfrm>
            <a:off x="5168318" y="5388835"/>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218" name="TextBox 217"/>
          <p:cNvSpPr txBox="1"/>
          <p:nvPr/>
        </p:nvSpPr>
        <p:spPr>
          <a:xfrm>
            <a:off x="3838575" y="5554463"/>
            <a:ext cx="464391" cy="146456"/>
          </a:xfrm>
          <a:prstGeom prst="rect">
            <a:avLst/>
          </a:prstGeom>
          <a:noFill/>
        </p:spPr>
        <p:txBody>
          <a:bodyPr wrap="none" lIns="0" tIns="0" rIns="0" bIns="0">
            <a:spAutoFit/>
          </a:bodyPr>
          <a:lstStyle/>
          <a:p>
            <a:r>
              <a:rPr sz="835" b="0">
                <a:solidFill>
                  <a:srgbClr val="2E2E2E"/>
                </a:solidFill>
                <a:latin typeface="Calibri"/>
              </a:rPr>
              <a:t>● Russia:</a:t>
            </a:r>
          </a:p>
        </p:txBody>
      </p:sp>
      <p:pic>
        <p:nvPicPr>
          <p:cNvPr id="219" name="Picture 218" descr="lock.png"/>
          <p:cNvPicPr>
            <a:picLocks noChangeAspect="1"/>
          </p:cNvPicPr>
          <p:nvPr/>
        </p:nvPicPr>
        <p:blipFill>
          <a:blip r:embed="rId4"/>
          <a:stretch>
            <a:fillRect/>
          </a:stretch>
        </p:blipFill>
        <p:spPr>
          <a:xfrm>
            <a:off x="4245197" y="5547031"/>
            <a:ext cx="97811" cy="142270"/>
          </a:xfrm>
          <a:prstGeom prst="rect">
            <a:avLst/>
          </a:prstGeom>
        </p:spPr>
      </p:pic>
      <p:sp>
        <p:nvSpPr>
          <p:cNvPr id="220" name="TextBox 219"/>
          <p:cNvSpPr txBox="1"/>
          <p:nvPr/>
        </p:nvSpPr>
        <p:spPr>
          <a:xfrm>
            <a:off x="4372494" y="5554463"/>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221" name="Picture 220" descr="lock.png"/>
          <p:cNvPicPr>
            <a:picLocks noChangeAspect="1"/>
          </p:cNvPicPr>
          <p:nvPr/>
        </p:nvPicPr>
        <p:blipFill>
          <a:blip r:embed="rId4"/>
          <a:stretch>
            <a:fillRect/>
          </a:stretch>
        </p:blipFill>
        <p:spPr>
          <a:xfrm>
            <a:off x="5025676" y="5547031"/>
            <a:ext cx="97811" cy="142270"/>
          </a:xfrm>
          <a:prstGeom prst="rect">
            <a:avLst/>
          </a:prstGeom>
        </p:spPr>
      </p:pic>
      <p:sp>
        <p:nvSpPr>
          <p:cNvPr id="222" name="TextBox 221"/>
          <p:cNvSpPr txBox="1"/>
          <p:nvPr/>
        </p:nvSpPr>
        <p:spPr>
          <a:xfrm>
            <a:off x="5152973" y="5554463"/>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223" name="TextBox 222"/>
          <p:cNvSpPr txBox="1"/>
          <p:nvPr/>
        </p:nvSpPr>
        <p:spPr>
          <a:xfrm>
            <a:off x="3838575" y="5720091"/>
            <a:ext cx="490519" cy="146456"/>
          </a:xfrm>
          <a:prstGeom prst="rect">
            <a:avLst/>
          </a:prstGeom>
          <a:noFill/>
        </p:spPr>
        <p:txBody>
          <a:bodyPr wrap="none" lIns="0" tIns="0" rIns="0" bIns="0">
            <a:spAutoFit/>
          </a:bodyPr>
          <a:lstStyle/>
          <a:p>
            <a:r>
              <a:rPr sz="835" b="0">
                <a:solidFill>
                  <a:srgbClr val="2E2E2E"/>
                </a:solidFill>
                <a:latin typeface="Calibri"/>
              </a:rPr>
              <a:t>● Poland:</a:t>
            </a:r>
          </a:p>
        </p:txBody>
      </p:sp>
      <p:pic>
        <p:nvPicPr>
          <p:cNvPr id="224" name="Picture 223" descr="lock.png"/>
          <p:cNvPicPr>
            <a:picLocks noChangeAspect="1"/>
          </p:cNvPicPr>
          <p:nvPr/>
        </p:nvPicPr>
        <p:blipFill>
          <a:blip r:embed="rId4"/>
          <a:stretch>
            <a:fillRect/>
          </a:stretch>
        </p:blipFill>
        <p:spPr>
          <a:xfrm>
            <a:off x="4271325" y="5712659"/>
            <a:ext cx="97811" cy="142270"/>
          </a:xfrm>
          <a:prstGeom prst="rect">
            <a:avLst/>
          </a:prstGeom>
        </p:spPr>
      </p:pic>
      <p:sp>
        <p:nvSpPr>
          <p:cNvPr id="225" name="TextBox 224"/>
          <p:cNvSpPr txBox="1"/>
          <p:nvPr/>
        </p:nvSpPr>
        <p:spPr>
          <a:xfrm>
            <a:off x="4398622" y="5720091"/>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226" name="Picture 225" descr="lock.png"/>
          <p:cNvPicPr>
            <a:picLocks noChangeAspect="1"/>
          </p:cNvPicPr>
          <p:nvPr/>
        </p:nvPicPr>
        <p:blipFill>
          <a:blip r:embed="rId4"/>
          <a:stretch>
            <a:fillRect/>
          </a:stretch>
        </p:blipFill>
        <p:spPr>
          <a:xfrm>
            <a:off x="5051804" y="5712659"/>
            <a:ext cx="97811" cy="142270"/>
          </a:xfrm>
          <a:prstGeom prst="rect">
            <a:avLst/>
          </a:prstGeom>
        </p:spPr>
      </p:pic>
      <p:sp>
        <p:nvSpPr>
          <p:cNvPr id="227" name="TextBox 226"/>
          <p:cNvSpPr txBox="1"/>
          <p:nvPr/>
        </p:nvSpPr>
        <p:spPr>
          <a:xfrm>
            <a:off x="5179101" y="5720091"/>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228" name="TextBox 227"/>
          <p:cNvSpPr txBox="1"/>
          <p:nvPr/>
        </p:nvSpPr>
        <p:spPr>
          <a:xfrm>
            <a:off x="3838575" y="5885720"/>
            <a:ext cx="696227" cy="146456"/>
          </a:xfrm>
          <a:prstGeom prst="rect">
            <a:avLst/>
          </a:prstGeom>
          <a:noFill/>
        </p:spPr>
        <p:txBody>
          <a:bodyPr wrap="none" lIns="0" tIns="0" rIns="0" bIns="0">
            <a:spAutoFit/>
          </a:bodyPr>
          <a:lstStyle/>
          <a:p>
            <a:r>
              <a:rPr sz="835" b="0">
                <a:solidFill>
                  <a:srgbClr val="2E2E2E"/>
                </a:solidFill>
                <a:latin typeface="Calibri"/>
              </a:rPr>
              <a:t>● Switzerland:</a:t>
            </a:r>
          </a:p>
        </p:txBody>
      </p:sp>
      <p:pic>
        <p:nvPicPr>
          <p:cNvPr id="229" name="Picture 228" descr="lock.png"/>
          <p:cNvPicPr>
            <a:picLocks noChangeAspect="1"/>
          </p:cNvPicPr>
          <p:nvPr/>
        </p:nvPicPr>
        <p:blipFill>
          <a:blip r:embed="rId4"/>
          <a:stretch>
            <a:fillRect/>
          </a:stretch>
        </p:blipFill>
        <p:spPr>
          <a:xfrm>
            <a:off x="4477034" y="5878288"/>
            <a:ext cx="97811" cy="142270"/>
          </a:xfrm>
          <a:prstGeom prst="rect">
            <a:avLst/>
          </a:prstGeom>
        </p:spPr>
      </p:pic>
      <p:sp>
        <p:nvSpPr>
          <p:cNvPr id="230" name="TextBox 229"/>
          <p:cNvSpPr txBox="1"/>
          <p:nvPr/>
        </p:nvSpPr>
        <p:spPr>
          <a:xfrm>
            <a:off x="4604330" y="5885720"/>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231" name="Picture 230" descr="lock.png"/>
          <p:cNvPicPr>
            <a:picLocks noChangeAspect="1"/>
          </p:cNvPicPr>
          <p:nvPr/>
        </p:nvPicPr>
        <p:blipFill>
          <a:blip r:embed="rId4"/>
          <a:stretch>
            <a:fillRect/>
          </a:stretch>
        </p:blipFill>
        <p:spPr>
          <a:xfrm>
            <a:off x="5257513" y="5878288"/>
            <a:ext cx="97811" cy="142270"/>
          </a:xfrm>
          <a:prstGeom prst="rect">
            <a:avLst/>
          </a:prstGeom>
        </p:spPr>
      </p:pic>
      <p:sp>
        <p:nvSpPr>
          <p:cNvPr id="232" name="TextBox 231"/>
          <p:cNvSpPr txBox="1"/>
          <p:nvPr/>
        </p:nvSpPr>
        <p:spPr>
          <a:xfrm>
            <a:off x="5384809" y="5885720"/>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233" name="TextBox 232"/>
          <p:cNvSpPr txBox="1"/>
          <p:nvPr/>
        </p:nvSpPr>
        <p:spPr>
          <a:xfrm>
            <a:off x="3838575" y="6051348"/>
            <a:ext cx="826247" cy="146456"/>
          </a:xfrm>
          <a:prstGeom prst="rect">
            <a:avLst/>
          </a:prstGeom>
          <a:noFill/>
        </p:spPr>
        <p:txBody>
          <a:bodyPr wrap="none" lIns="0" tIns="0" rIns="0" bIns="0">
            <a:spAutoFit/>
          </a:bodyPr>
          <a:lstStyle/>
          <a:p>
            <a:r>
              <a:rPr sz="835" b="0">
                <a:solidFill>
                  <a:srgbClr val="2E2E2E"/>
                </a:solidFill>
                <a:latin typeface="Calibri"/>
              </a:rPr>
              <a:t>● Rest of Europe:</a:t>
            </a:r>
          </a:p>
        </p:txBody>
      </p:sp>
      <p:pic>
        <p:nvPicPr>
          <p:cNvPr id="234" name="Picture 233" descr="lock.png"/>
          <p:cNvPicPr>
            <a:picLocks noChangeAspect="1"/>
          </p:cNvPicPr>
          <p:nvPr/>
        </p:nvPicPr>
        <p:blipFill>
          <a:blip r:embed="rId4"/>
          <a:stretch>
            <a:fillRect/>
          </a:stretch>
        </p:blipFill>
        <p:spPr>
          <a:xfrm>
            <a:off x="4607053" y="6043916"/>
            <a:ext cx="97811" cy="142270"/>
          </a:xfrm>
          <a:prstGeom prst="rect">
            <a:avLst/>
          </a:prstGeom>
        </p:spPr>
      </p:pic>
      <p:sp>
        <p:nvSpPr>
          <p:cNvPr id="235" name="TextBox 234"/>
          <p:cNvSpPr txBox="1"/>
          <p:nvPr/>
        </p:nvSpPr>
        <p:spPr>
          <a:xfrm>
            <a:off x="4734350" y="6051348"/>
            <a:ext cx="710950" cy="146456"/>
          </a:xfrm>
          <a:prstGeom prst="rect">
            <a:avLst/>
          </a:prstGeom>
          <a:noFill/>
        </p:spPr>
        <p:txBody>
          <a:bodyPr wrap="none" lIns="0" tIns="0" rIns="0" bIns="0">
            <a:spAutoFit/>
          </a:bodyPr>
          <a:lstStyle/>
          <a:p>
            <a:r>
              <a:rPr sz="835" b="0">
                <a:solidFill>
                  <a:srgbClr val="2E2E2E"/>
                </a:solidFill>
                <a:latin typeface="Calibri"/>
              </a:rPr>
              <a:t>of 2026 value ·</a:t>
            </a:r>
          </a:p>
        </p:txBody>
      </p:sp>
      <p:pic>
        <p:nvPicPr>
          <p:cNvPr id="236" name="Picture 235" descr="lock.png"/>
          <p:cNvPicPr>
            <a:picLocks noChangeAspect="1"/>
          </p:cNvPicPr>
          <p:nvPr/>
        </p:nvPicPr>
        <p:blipFill>
          <a:blip r:embed="rId4"/>
          <a:stretch>
            <a:fillRect/>
          </a:stretch>
        </p:blipFill>
        <p:spPr>
          <a:xfrm>
            <a:off x="5387532" y="6043916"/>
            <a:ext cx="97811" cy="142270"/>
          </a:xfrm>
          <a:prstGeom prst="rect">
            <a:avLst/>
          </a:prstGeom>
        </p:spPr>
      </p:pic>
      <p:sp>
        <p:nvSpPr>
          <p:cNvPr id="237" name="TextBox 236"/>
          <p:cNvSpPr txBox="1"/>
          <p:nvPr/>
        </p:nvSpPr>
        <p:spPr>
          <a:xfrm>
            <a:off x="5514829" y="6051348"/>
            <a:ext cx="1094152" cy="146456"/>
          </a:xfrm>
          <a:prstGeom prst="rect">
            <a:avLst/>
          </a:prstGeom>
          <a:noFill/>
        </p:spPr>
        <p:txBody>
          <a:bodyPr wrap="none" lIns="0" tIns="0" rIns="0" bIns="0">
            <a:spAutoFit/>
          </a:bodyPr>
          <a:lstStyle/>
          <a:p>
            <a:r>
              <a:rPr sz="835" b="0">
                <a:solidFill>
                  <a:srgbClr val="2E2E2E"/>
                </a:solidFill>
                <a:latin typeface="Calibri"/>
              </a:rPr>
              <a:t>CAGR a smaller market.</a:t>
            </a:r>
          </a:p>
        </p:txBody>
      </p:sp>
      <p:sp>
        <p:nvSpPr>
          <p:cNvPr id="238" name="TextBox 237"/>
          <p:cNvSpPr txBox="1"/>
          <p:nvPr/>
        </p:nvSpPr>
        <p:spPr>
          <a:xfrm>
            <a:off x="8524875" y="5842641"/>
            <a:ext cx="3119832" cy="194310"/>
          </a:xfrm>
          <a:prstGeom prst="rect">
            <a:avLst/>
          </a:prstGeom>
          <a:noFill/>
        </p:spPr>
        <p:txBody>
          <a:bodyPr wrap="none" lIns="0" tIns="0" rIns="0" bIns="0">
            <a:spAutoFit/>
          </a:bodyPr>
          <a:lstStyle/>
          <a:p>
            <a:r>
              <a:rPr sz="1150" b="1">
                <a:solidFill>
                  <a:srgbClr val="0B2E4A"/>
                </a:solidFill>
                <a:latin typeface="Calibri"/>
              </a:rPr>
              <a:t>The Europe market is projected to grow at a CAGR</a:t>
            </a:r>
          </a:p>
        </p:txBody>
      </p:sp>
      <p:sp>
        <p:nvSpPr>
          <p:cNvPr id="239" name="TextBox 238"/>
          <p:cNvSpPr txBox="1"/>
          <p:nvPr/>
        </p:nvSpPr>
        <p:spPr>
          <a:xfrm>
            <a:off x="8524875" y="6017901"/>
            <a:ext cx="200855" cy="194310"/>
          </a:xfrm>
          <a:prstGeom prst="rect">
            <a:avLst/>
          </a:prstGeom>
          <a:noFill/>
        </p:spPr>
        <p:txBody>
          <a:bodyPr wrap="none" lIns="0" tIns="0" rIns="0" bIns="0">
            <a:spAutoFit/>
          </a:bodyPr>
          <a:lstStyle/>
          <a:p>
            <a:r>
              <a:rPr sz="1150" b="1">
                <a:solidFill>
                  <a:srgbClr val="0B2E4A"/>
                </a:solidFill>
                <a:latin typeface="Calibri"/>
              </a:rPr>
              <a:t>of</a:t>
            </a:r>
          </a:p>
        </p:txBody>
      </p:sp>
      <p:pic>
        <p:nvPicPr>
          <p:cNvPr id="240" name="Picture 239" descr="lock.png"/>
          <p:cNvPicPr>
            <a:picLocks noChangeAspect="1"/>
          </p:cNvPicPr>
          <p:nvPr/>
        </p:nvPicPr>
        <p:blipFill>
          <a:blip r:embed="rId4"/>
          <a:stretch>
            <a:fillRect/>
          </a:stretch>
        </p:blipFill>
        <p:spPr>
          <a:xfrm>
            <a:off x="8674884" y="6007677"/>
            <a:ext cx="134549" cy="195707"/>
          </a:xfrm>
          <a:prstGeom prst="rect">
            <a:avLst/>
          </a:prstGeom>
        </p:spPr>
      </p:pic>
      <p:sp>
        <p:nvSpPr>
          <p:cNvPr id="241" name="TextBox 240"/>
          <p:cNvSpPr txBox="1"/>
          <p:nvPr/>
        </p:nvSpPr>
        <p:spPr>
          <a:xfrm>
            <a:off x="8849994"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Analysis, By Country Volume (MT)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61987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474845" y="1419225"/>
            <a:ext cx="2383155" cy="133350"/>
          </a:xfrm>
          <a:prstGeom prst="rect">
            <a:avLst/>
          </a:prstGeom>
          <a:noFill/>
        </p:spPr>
        <p:txBody>
          <a:bodyPr wrap="square" lIns="28575" tIns="9525" rIns="2857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a:endParaRPr/>
          </a:p>
        </p:txBody>
      </p:sp>
      <p:sp>
        <p:nvSpPr>
          <p:cNvPr id="15" name="FMI Legend Chip"/>
          <p:cNvSpPr/>
          <p:nvPr/>
        </p:nvSpPr>
        <p:spPr>
          <a:xfrm>
            <a:off x="4551045" y="162401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a:off x="4717732" y="16240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4855845" y="15811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Germany</a:t>
            </a:r>
          </a:p>
        </p:txBody>
      </p:sp>
      <p:sp>
        <p:nvSpPr>
          <p:cNvPr id="18" name="BPS Value 1"/>
          <p:cNvSpPr txBox="1"/>
          <p:nvPr/>
        </p:nvSpPr>
        <p:spPr>
          <a:xfrm>
            <a:off x="6305550" y="158115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19" name="FMI Legend Chip"/>
          <p:cNvSpPr/>
          <p:nvPr/>
        </p:nvSpPr>
        <p:spPr>
          <a:xfrm>
            <a:off x="4551045" y="179546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4717732" y="17954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4855845" y="17526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France</a:t>
            </a:r>
          </a:p>
        </p:txBody>
      </p:sp>
      <p:sp>
        <p:nvSpPr>
          <p:cNvPr id="22" name="BPS Value 2"/>
          <p:cNvSpPr txBox="1"/>
          <p:nvPr/>
        </p:nvSpPr>
        <p:spPr>
          <a:xfrm>
            <a:off x="6305550" y="175260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3" name="FMI Legend Chip"/>
          <p:cNvSpPr/>
          <p:nvPr/>
        </p:nvSpPr>
        <p:spPr>
          <a:xfrm>
            <a:off x="4551045" y="196691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a:off x="4717732" y="19669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4855845" y="19240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Netherlands</a:t>
            </a:r>
          </a:p>
        </p:txBody>
      </p:sp>
      <p:sp>
        <p:nvSpPr>
          <p:cNvPr id="26" name="BPS Value 3"/>
          <p:cNvSpPr txBox="1"/>
          <p:nvPr/>
        </p:nvSpPr>
        <p:spPr>
          <a:xfrm>
            <a:off x="6305550" y="192405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7" name="FMI Legend Chip"/>
          <p:cNvSpPr/>
          <p:nvPr/>
        </p:nvSpPr>
        <p:spPr>
          <a:xfrm>
            <a:off x="4551045" y="213836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a:off x="4717732" y="21383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4855845" y="20955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Spain</a:t>
            </a:r>
          </a:p>
        </p:txBody>
      </p:sp>
      <p:sp>
        <p:nvSpPr>
          <p:cNvPr id="30" name="BPS Value 4"/>
          <p:cNvSpPr txBox="1"/>
          <p:nvPr/>
        </p:nvSpPr>
        <p:spPr>
          <a:xfrm>
            <a:off x="6305550" y="209550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1" name="FMI Legend Chip"/>
          <p:cNvSpPr/>
          <p:nvPr/>
        </p:nvSpPr>
        <p:spPr>
          <a:xfrm>
            <a:off x="4551045" y="2309812"/>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a:off x="4717732" y="23098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4855845" y="22669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Russia</a:t>
            </a:r>
          </a:p>
        </p:txBody>
      </p:sp>
      <p:sp>
        <p:nvSpPr>
          <p:cNvPr id="34" name="BPS Value 5"/>
          <p:cNvSpPr txBox="1"/>
          <p:nvPr/>
        </p:nvSpPr>
        <p:spPr>
          <a:xfrm>
            <a:off x="6305550" y="226695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5" name="FMI Legend Chip"/>
          <p:cNvSpPr/>
          <p:nvPr/>
        </p:nvSpPr>
        <p:spPr>
          <a:xfrm>
            <a:off x="4551045" y="2481262"/>
            <a:ext cx="85725" cy="85725"/>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4717732" y="24812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4855845" y="24384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Poland</a:t>
            </a:r>
          </a:p>
        </p:txBody>
      </p:sp>
      <p:sp>
        <p:nvSpPr>
          <p:cNvPr id="38" name="BPS Value 6"/>
          <p:cNvSpPr txBox="1"/>
          <p:nvPr/>
        </p:nvSpPr>
        <p:spPr>
          <a:xfrm>
            <a:off x="6305550" y="243840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FMI Legend Chip"/>
          <p:cNvSpPr/>
          <p:nvPr/>
        </p:nvSpPr>
        <p:spPr>
          <a:xfrm>
            <a:off x="4551045" y="2652712"/>
            <a:ext cx="85725" cy="85725"/>
          </a:xfrm>
          <a:prstGeom prst="rect">
            <a:avLst/>
          </a:prstGeom>
          <a:solidFill>
            <a:srgbClr val="B2B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Isosceles Triangle 39"/>
          <p:cNvSpPr/>
          <p:nvPr/>
        </p:nvSpPr>
        <p:spPr>
          <a:xfrm rot="10800000">
            <a:off x="4717732" y="26527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BPS Name 7"/>
          <p:cNvSpPr txBox="1"/>
          <p:nvPr/>
        </p:nvSpPr>
        <p:spPr>
          <a:xfrm>
            <a:off x="4855845" y="26098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Switzerland</a:t>
            </a:r>
          </a:p>
        </p:txBody>
      </p:sp>
      <p:sp>
        <p:nvSpPr>
          <p:cNvPr id="42" name="BPS Value 7"/>
          <p:cNvSpPr txBox="1"/>
          <p:nvPr/>
        </p:nvSpPr>
        <p:spPr>
          <a:xfrm>
            <a:off x="6305550" y="260985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43" name="FMI Legend Chip"/>
          <p:cNvSpPr/>
          <p:nvPr/>
        </p:nvSpPr>
        <p:spPr>
          <a:xfrm>
            <a:off x="4551045" y="2824162"/>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Isosceles Triangle 43"/>
          <p:cNvSpPr/>
          <p:nvPr/>
        </p:nvSpPr>
        <p:spPr>
          <a:xfrm rot="10800000">
            <a:off x="4717732" y="28241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BPS Name 8"/>
          <p:cNvSpPr txBox="1"/>
          <p:nvPr/>
        </p:nvSpPr>
        <p:spPr>
          <a:xfrm>
            <a:off x="4855845" y="27813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Nordic</a:t>
            </a:r>
          </a:p>
        </p:txBody>
      </p:sp>
      <p:sp>
        <p:nvSpPr>
          <p:cNvPr id="46" name="BPS Value 8"/>
          <p:cNvSpPr txBox="1"/>
          <p:nvPr/>
        </p:nvSpPr>
        <p:spPr>
          <a:xfrm>
            <a:off x="6305550" y="278130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47" name="FMI Legend Chip"/>
          <p:cNvSpPr/>
          <p:nvPr/>
        </p:nvSpPr>
        <p:spPr>
          <a:xfrm>
            <a:off x="4551045" y="2995612"/>
            <a:ext cx="85725" cy="85725"/>
          </a:xfrm>
          <a:prstGeom prst="rect">
            <a:avLst/>
          </a:prstGeom>
          <a:solidFill>
            <a:srgbClr val="5F5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Isosceles Triangle 47"/>
          <p:cNvSpPr/>
          <p:nvPr/>
        </p:nvSpPr>
        <p:spPr>
          <a:xfrm rot="10800000">
            <a:off x="4717732" y="29956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BPS Name 9"/>
          <p:cNvSpPr txBox="1"/>
          <p:nvPr/>
        </p:nvSpPr>
        <p:spPr>
          <a:xfrm>
            <a:off x="4855845" y="29527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Rest of Europe</a:t>
            </a:r>
          </a:p>
        </p:txBody>
      </p:sp>
      <p:sp>
        <p:nvSpPr>
          <p:cNvPr id="50" name="BPS Value 9"/>
          <p:cNvSpPr txBox="1"/>
          <p:nvPr/>
        </p:nvSpPr>
        <p:spPr>
          <a:xfrm>
            <a:off x="6305550" y="295275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51" name="FMI Legend Chip"/>
          <p:cNvSpPr/>
          <p:nvPr/>
        </p:nvSpPr>
        <p:spPr>
          <a:xfrm>
            <a:off x="4551045" y="316706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10800000">
            <a:off x="4717732" y="31670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BPS Name 10"/>
          <p:cNvSpPr txBox="1"/>
          <p:nvPr/>
        </p:nvSpPr>
        <p:spPr>
          <a:xfrm>
            <a:off x="4855845" y="31242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Belgium</a:t>
            </a:r>
          </a:p>
        </p:txBody>
      </p:sp>
      <p:sp>
        <p:nvSpPr>
          <p:cNvPr id="54" name="BPS Value 10"/>
          <p:cNvSpPr txBox="1"/>
          <p:nvPr/>
        </p:nvSpPr>
        <p:spPr>
          <a:xfrm>
            <a:off x="6305550" y="312420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55" name="FMI Legend Chip"/>
          <p:cNvSpPr/>
          <p:nvPr/>
        </p:nvSpPr>
        <p:spPr>
          <a:xfrm>
            <a:off x="4551045" y="333851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Isosceles Triangle 55"/>
          <p:cNvSpPr/>
          <p:nvPr/>
        </p:nvSpPr>
        <p:spPr>
          <a:xfrm rot="10800000">
            <a:off x="4717732" y="33385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BPS Name 11"/>
          <p:cNvSpPr txBox="1"/>
          <p:nvPr/>
        </p:nvSpPr>
        <p:spPr>
          <a:xfrm>
            <a:off x="4855845" y="32956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Italy</a:t>
            </a:r>
          </a:p>
        </p:txBody>
      </p:sp>
      <p:sp>
        <p:nvSpPr>
          <p:cNvPr id="58" name="BPS Value 11"/>
          <p:cNvSpPr txBox="1"/>
          <p:nvPr/>
        </p:nvSpPr>
        <p:spPr>
          <a:xfrm>
            <a:off x="6305550" y="329565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59" name="FMI Legend Chip"/>
          <p:cNvSpPr/>
          <p:nvPr/>
        </p:nvSpPr>
        <p:spPr>
          <a:xfrm>
            <a:off x="4551045" y="35099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Isosceles Triangle 59"/>
          <p:cNvSpPr/>
          <p:nvPr/>
        </p:nvSpPr>
        <p:spPr>
          <a:xfrm rot="10800000">
            <a:off x="4717732" y="35099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BPS Name 12"/>
          <p:cNvSpPr txBox="1"/>
          <p:nvPr/>
        </p:nvSpPr>
        <p:spPr>
          <a:xfrm>
            <a:off x="4855845" y="34671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U.K.</a:t>
            </a:r>
          </a:p>
        </p:txBody>
      </p:sp>
      <p:sp>
        <p:nvSpPr>
          <p:cNvPr id="62" name="BPS Value 12"/>
          <p:cNvSpPr txBox="1"/>
          <p:nvPr/>
        </p:nvSpPr>
        <p:spPr>
          <a:xfrm>
            <a:off x="6305550" y="346710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63" name="Rounded Rectangle 6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239000" y="1066800"/>
            <a:ext cx="4667250" cy="209550"/>
          </a:xfrm>
          <a:prstGeom prst="rect">
            <a:avLst/>
          </a:prstGeom>
          <a:noFill/>
        </p:spPr>
        <p:txBody>
          <a:bodyPr wrap="square" lIns="0" tIns="9525" rIns="19050" bIns="9525">
            <a:spAutoFit/>
          </a:bodyPr>
          <a:lstStyle/>
          <a:p>
            <a:pPr algn="l"/>
            <a:r>
              <a:rPr sz="1300" b="1">
                <a:solidFill>
                  <a:srgbClr val="0B2E4A"/>
                </a:solidFill>
                <a:latin typeface="Calibri"/>
              </a:rPr>
              <a:t>Regional Highlights</a:t>
            </a:r>
          </a:p>
        </p:txBody>
      </p:sp>
      <p:sp>
        <p:nvSpPr>
          <p:cNvPr id="65" name="Rectangle 6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239000" y="1390650"/>
            <a:ext cx="4667250" cy="40481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7" name="Rounded Rectangle 6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p:txBody>
      </p:sp>
      <p:sp>
        <p:nvSpPr>
          <p:cNvPr id="68" name="Rounded Rectangle 6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endParaRPr/>
          </a:p>
          <a:p>
            <a:pPr algn="ctr">
              <a:lnSpc>
                <a:spcPct val="95000"/>
              </a:lnSpc>
            </a:pPr>
            <a:endParaRPr/>
          </a:p>
        </p:txBody>
      </p:sp>
      <p:sp>
        <p:nvSpPr>
          <p:cNvPr id="69" name="Rounded Rectangle 6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70" name="TextBox 6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1" name="Picture 70" descr="lock.png"/>
          <p:cNvPicPr>
            <a:picLocks noChangeAspect="1"/>
          </p:cNvPicPr>
          <p:nvPr/>
        </p:nvPicPr>
        <p:blipFill>
          <a:blip r:embed="rId5"/>
          <a:stretch>
            <a:fillRect/>
          </a:stretch>
        </p:blipFill>
        <p:spPr>
          <a:xfrm>
            <a:off x="2368867" y="3171825"/>
            <a:ext cx="275034" cy="400050"/>
          </a:xfrm>
          <a:prstGeom prst="rect">
            <a:avLst/>
          </a:prstGeom>
        </p:spPr>
      </p:pic>
      <p:pic>
        <p:nvPicPr>
          <p:cNvPr id="72" name="Picture 71" descr="lock.png"/>
          <p:cNvPicPr>
            <a:picLocks noChangeAspect="1"/>
          </p:cNvPicPr>
          <p:nvPr/>
        </p:nvPicPr>
        <p:blipFill>
          <a:blip r:embed="rId5"/>
          <a:stretch>
            <a:fillRect/>
          </a:stretch>
        </p:blipFill>
        <p:spPr>
          <a:xfrm>
            <a:off x="10015537" y="6070282"/>
            <a:ext cx="209550" cy="304800"/>
          </a:xfrm>
          <a:prstGeom prst="rect">
            <a:avLst/>
          </a:prstGeom>
        </p:spPr>
      </p:pic>
      <p:sp>
        <p:nvSpPr>
          <p:cNvPr id="73" name="TextBox 72"/>
          <p:cNvSpPr txBox="1"/>
          <p:nvPr/>
        </p:nvSpPr>
        <p:spPr>
          <a:xfrm>
            <a:off x="7239000" y="1400175"/>
            <a:ext cx="4430315" cy="194310"/>
          </a:xfrm>
          <a:prstGeom prst="rect">
            <a:avLst/>
          </a:prstGeom>
          <a:noFill/>
        </p:spPr>
        <p:txBody>
          <a:bodyPr wrap="none" lIns="0" tIns="0" rIns="0" bIns="0">
            <a:spAutoFit/>
          </a:bodyPr>
          <a:lstStyle/>
          <a:p>
            <a:r>
              <a:rPr sz="1150" b="0">
                <a:solidFill>
                  <a:srgbClr val="2E2E2E"/>
                </a:solidFill>
                <a:latin typeface="Calibri"/>
              </a:rPr>
              <a:t>Germany senior dog cognitive supplement market is projected to register</a:t>
            </a:r>
          </a:p>
        </p:txBody>
      </p:sp>
      <p:pic>
        <p:nvPicPr>
          <p:cNvPr id="74" name="Picture 73" descr="lock.png"/>
          <p:cNvPicPr>
            <a:picLocks noChangeAspect="1"/>
          </p:cNvPicPr>
          <p:nvPr/>
        </p:nvPicPr>
        <p:blipFill>
          <a:blip r:embed="rId5"/>
          <a:stretch>
            <a:fillRect/>
          </a:stretch>
        </p:blipFill>
        <p:spPr>
          <a:xfrm>
            <a:off x="7224920" y="1565211"/>
            <a:ext cx="134549" cy="195707"/>
          </a:xfrm>
          <a:prstGeom prst="rect">
            <a:avLst/>
          </a:prstGeom>
        </p:spPr>
      </p:pic>
      <p:sp>
        <p:nvSpPr>
          <p:cNvPr id="75" name="TextBox 74"/>
          <p:cNvSpPr txBox="1"/>
          <p:nvPr/>
        </p:nvSpPr>
        <p:spPr>
          <a:xfrm>
            <a:off x="7400029" y="1575435"/>
            <a:ext cx="4050357" cy="194310"/>
          </a:xfrm>
          <a:prstGeom prst="rect">
            <a:avLst/>
          </a:prstGeom>
          <a:noFill/>
        </p:spPr>
        <p:txBody>
          <a:bodyPr wrap="none" lIns="0" tIns="0" rIns="0" bIns="0">
            <a:spAutoFit/>
          </a:bodyPr>
          <a:lstStyle/>
          <a:p>
            <a:r>
              <a:rPr sz="1150" b="0">
                <a:solidFill>
                  <a:srgbClr val="2E2E2E"/>
                </a:solidFill>
                <a:latin typeface="Calibri"/>
              </a:rPr>
              <a:t>X higher volume than the U.K. in 2036. Among senior dog cognitive</a:t>
            </a:r>
          </a:p>
        </p:txBody>
      </p:sp>
      <p:sp>
        <p:nvSpPr>
          <p:cNvPr id="76" name="TextBox 75"/>
          <p:cNvSpPr txBox="1"/>
          <p:nvPr/>
        </p:nvSpPr>
        <p:spPr>
          <a:xfrm>
            <a:off x="7239000" y="1750695"/>
            <a:ext cx="4634539" cy="194310"/>
          </a:xfrm>
          <a:prstGeom prst="rect">
            <a:avLst/>
          </a:prstGeom>
          <a:noFill/>
        </p:spPr>
        <p:txBody>
          <a:bodyPr wrap="none" lIns="0" tIns="0" rIns="0" bIns="0">
            <a:spAutoFit/>
          </a:bodyPr>
          <a:lstStyle/>
          <a:p>
            <a:r>
              <a:rPr sz="1150" b="0">
                <a:solidFill>
                  <a:srgbClr val="2E2E2E"/>
                </a:solidFill>
                <a:latin typeface="Calibri"/>
              </a:rPr>
              <a:t>supplement by country, Germany is expected to witness the highest CAGR of</a:t>
            </a:r>
          </a:p>
        </p:txBody>
      </p:sp>
      <p:pic>
        <p:nvPicPr>
          <p:cNvPr id="77" name="Picture 76" descr="lock.png"/>
          <p:cNvPicPr>
            <a:picLocks noChangeAspect="1"/>
          </p:cNvPicPr>
          <p:nvPr/>
        </p:nvPicPr>
        <p:blipFill>
          <a:blip r:embed="rId5"/>
          <a:stretch>
            <a:fillRect/>
          </a:stretch>
        </p:blipFill>
        <p:spPr>
          <a:xfrm>
            <a:off x="7224920" y="1915731"/>
            <a:ext cx="134549" cy="195707"/>
          </a:xfrm>
          <a:prstGeom prst="rect">
            <a:avLst/>
          </a:prstGeom>
        </p:spPr>
      </p:pic>
      <p:sp>
        <p:nvSpPr>
          <p:cNvPr id="78" name="TextBox 77"/>
          <p:cNvSpPr txBox="1"/>
          <p:nvPr/>
        </p:nvSpPr>
        <p:spPr>
          <a:xfrm>
            <a:off x="7400029" y="192595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79" name="TextBox 78"/>
          <p:cNvSpPr txBox="1"/>
          <p:nvPr/>
        </p:nvSpPr>
        <p:spPr>
          <a:xfrm>
            <a:off x="7239000" y="2153793"/>
            <a:ext cx="4542420" cy="194310"/>
          </a:xfrm>
          <a:prstGeom prst="rect">
            <a:avLst/>
          </a:prstGeom>
          <a:noFill/>
        </p:spPr>
        <p:txBody>
          <a:bodyPr wrap="none" lIns="0" tIns="0" rIns="0" bIns="0">
            <a:spAutoFit/>
          </a:bodyPr>
          <a:lstStyle/>
          <a:p>
            <a:r>
              <a:rPr sz="1150" b="0">
                <a:solidFill>
                  <a:srgbClr val="2E2E2E"/>
                </a:solidFill>
                <a:latin typeface="Calibri"/>
              </a:rPr>
              <a:t>In terms of volume share by country, Germany is expected to dominate the</a:t>
            </a:r>
          </a:p>
        </p:txBody>
      </p:sp>
      <p:sp>
        <p:nvSpPr>
          <p:cNvPr id="80" name="TextBox 79"/>
          <p:cNvSpPr txBox="1"/>
          <p:nvPr/>
        </p:nvSpPr>
        <p:spPr>
          <a:xfrm>
            <a:off x="7239000" y="2329053"/>
            <a:ext cx="999852" cy="194310"/>
          </a:xfrm>
          <a:prstGeom prst="rect">
            <a:avLst/>
          </a:prstGeom>
          <a:noFill/>
        </p:spPr>
        <p:txBody>
          <a:bodyPr wrap="none" lIns="0" tIns="0" rIns="0" bIns="0">
            <a:spAutoFit/>
          </a:bodyPr>
          <a:lstStyle/>
          <a:p>
            <a:r>
              <a:rPr sz="1150" b="0">
                <a:solidFill>
                  <a:srgbClr val="2E2E2E"/>
                </a:solidFill>
                <a:latin typeface="Calibri"/>
              </a:rPr>
              <a:t>market, gaining</a:t>
            </a:r>
          </a:p>
        </p:txBody>
      </p:sp>
      <p:pic>
        <p:nvPicPr>
          <p:cNvPr id="81" name="Picture 80" descr="lock.png"/>
          <p:cNvPicPr>
            <a:picLocks noChangeAspect="1"/>
          </p:cNvPicPr>
          <p:nvPr/>
        </p:nvPicPr>
        <p:blipFill>
          <a:blip r:embed="rId5"/>
          <a:stretch>
            <a:fillRect/>
          </a:stretch>
        </p:blipFill>
        <p:spPr>
          <a:xfrm>
            <a:off x="8188006" y="2318829"/>
            <a:ext cx="134549" cy="195707"/>
          </a:xfrm>
          <a:prstGeom prst="rect">
            <a:avLst/>
          </a:prstGeom>
        </p:spPr>
      </p:pic>
      <p:sp>
        <p:nvSpPr>
          <p:cNvPr id="82" name="TextBox 81"/>
          <p:cNvSpPr txBox="1"/>
          <p:nvPr/>
        </p:nvSpPr>
        <p:spPr>
          <a:xfrm>
            <a:off x="8363115" y="2329053"/>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83" name="Picture 82" descr="lock.png"/>
          <p:cNvPicPr>
            <a:picLocks noChangeAspect="1"/>
          </p:cNvPicPr>
          <p:nvPr/>
        </p:nvPicPr>
        <p:blipFill>
          <a:blip r:embed="rId5"/>
          <a:stretch>
            <a:fillRect/>
          </a:stretch>
        </p:blipFill>
        <p:spPr>
          <a:xfrm>
            <a:off x="9758258" y="2318829"/>
            <a:ext cx="134549" cy="195707"/>
          </a:xfrm>
          <a:prstGeom prst="rect">
            <a:avLst/>
          </a:prstGeom>
        </p:spPr>
      </p:pic>
      <p:sp>
        <p:nvSpPr>
          <p:cNvPr id="84" name="TextBox 83"/>
          <p:cNvSpPr txBox="1"/>
          <p:nvPr/>
        </p:nvSpPr>
        <p:spPr>
          <a:xfrm>
            <a:off x="9933367" y="2329053"/>
            <a:ext cx="1346435" cy="194310"/>
          </a:xfrm>
          <a:prstGeom prst="rect">
            <a:avLst/>
          </a:prstGeom>
          <a:noFill/>
        </p:spPr>
        <p:txBody>
          <a:bodyPr wrap="none" lIns="0" tIns="0" rIns="0" bIns="0">
            <a:spAutoFit/>
          </a:bodyPr>
          <a:lstStyle/>
          <a:p>
            <a:r>
              <a:rPr sz="1150" b="0">
                <a:solidFill>
                  <a:srgbClr val="2E2E2E"/>
                </a:solidFill>
                <a:latin typeface="Calibri"/>
              </a:rPr>
              <a:t>share by 2036. U.K. is</a:t>
            </a:r>
          </a:p>
        </p:txBody>
      </p:sp>
      <p:sp>
        <p:nvSpPr>
          <p:cNvPr id="85" name="TextBox 84"/>
          <p:cNvSpPr txBox="1"/>
          <p:nvPr/>
        </p:nvSpPr>
        <p:spPr>
          <a:xfrm>
            <a:off x="7239000" y="2504313"/>
            <a:ext cx="1054906" cy="194310"/>
          </a:xfrm>
          <a:prstGeom prst="rect">
            <a:avLst/>
          </a:prstGeom>
          <a:noFill/>
        </p:spPr>
        <p:txBody>
          <a:bodyPr wrap="none" lIns="0" tIns="0" rIns="0" bIns="0">
            <a:spAutoFit/>
          </a:bodyPr>
          <a:lstStyle/>
          <a:p>
            <a:r>
              <a:rPr sz="1150" b="0">
                <a:solidFill>
                  <a:srgbClr val="2E2E2E"/>
                </a:solidFill>
                <a:latin typeface="Calibri"/>
              </a:rPr>
              <a:t>expected to lose</a:t>
            </a:r>
          </a:p>
        </p:txBody>
      </p:sp>
      <p:pic>
        <p:nvPicPr>
          <p:cNvPr id="86" name="Picture 85" descr="lock.png"/>
          <p:cNvPicPr>
            <a:picLocks noChangeAspect="1"/>
          </p:cNvPicPr>
          <p:nvPr/>
        </p:nvPicPr>
        <p:blipFill>
          <a:blip r:embed="rId5"/>
          <a:stretch>
            <a:fillRect/>
          </a:stretch>
        </p:blipFill>
        <p:spPr>
          <a:xfrm>
            <a:off x="8243060" y="2494089"/>
            <a:ext cx="134549" cy="195707"/>
          </a:xfrm>
          <a:prstGeom prst="rect">
            <a:avLst/>
          </a:prstGeom>
        </p:spPr>
      </p:pic>
      <p:sp>
        <p:nvSpPr>
          <p:cNvPr id="87" name="TextBox 86"/>
          <p:cNvSpPr txBox="1"/>
          <p:nvPr/>
        </p:nvSpPr>
        <p:spPr>
          <a:xfrm>
            <a:off x="8418169" y="2504313"/>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88" name="Picture 87" descr="lock.png"/>
          <p:cNvPicPr>
            <a:picLocks noChangeAspect="1"/>
          </p:cNvPicPr>
          <p:nvPr/>
        </p:nvPicPr>
        <p:blipFill>
          <a:blip r:embed="rId5"/>
          <a:stretch>
            <a:fillRect/>
          </a:stretch>
        </p:blipFill>
        <p:spPr>
          <a:xfrm>
            <a:off x="11005673" y="2494089"/>
            <a:ext cx="134549" cy="195707"/>
          </a:xfrm>
          <a:prstGeom prst="rect">
            <a:avLst/>
          </a:prstGeom>
        </p:spPr>
      </p:pic>
      <p:sp>
        <p:nvSpPr>
          <p:cNvPr id="89" name="TextBox 88"/>
          <p:cNvSpPr txBox="1"/>
          <p:nvPr/>
        </p:nvSpPr>
        <p:spPr>
          <a:xfrm>
            <a:off x="11180783" y="2504313"/>
            <a:ext cx="403671" cy="194310"/>
          </a:xfrm>
          <a:prstGeom prst="rect">
            <a:avLst/>
          </a:prstGeom>
          <a:noFill/>
        </p:spPr>
        <p:txBody>
          <a:bodyPr wrap="none" lIns="0" tIns="0" rIns="0" bIns="0">
            <a:spAutoFit/>
          </a:bodyPr>
          <a:lstStyle/>
          <a:p>
            <a:r>
              <a:rPr sz="1150" b="0">
                <a:solidFill>
                  <a:srgbClr val="2E2E2E"/>
                </a:solidFill>
                <a:latin typeface="Calibri"/>
              </a:rPr>
              <a:t>share</a:t>
            </a:r>
          </a:p>
        </p:txBody>
      </p:sp>
      <p:sp>
        <p:nvSpPr>
          <p:cNvPr id="90" name="TextBox 89"/>
          <p:cNvSpPr txBox="1"/>
          <p:nvPr/>
        </p:nvSpPr>
        <p:spPr>
          <a:xfrm>
            <a:off x="7239000" y="2679573"/>
            <a:ext cx="585663" cy="194310"/>
          </a:xfrm>
          <a:prstGeom prst="rect">
            <a:avLst/>
          </a:prstGeom>
          <a:noFill/>
        </p:spPr>
        <p:txBody>
          <a:bodyPr wrap="none" lIns="0" tIns="0" rIns="0" bIns="0">
            <a:spAutoFit/>
          </a:bodyPr>
          <a:lstStyle/>
          <a:p>
            <a:r>
              <a:rPr sz="1150" b="0">
                <a:solidFill>
                  <a:srgbClr val="2E2E2E"/>
                </a:solidFill>
                <a:latin typeface="Calibri"/>
              </a:rPr>
              <a:t>by 2036.</a:t>
            </a:r>
          </a:p>
        </p:txBody>
      </p:sp>
      <p:sp>
        <p:nvSpPr>
          <p:cNvPr id="91" name="TextBox 90"/>
          <p:cNvSpPr txBox="1"/>
          <p:nvPr/>
        </p:nvSpPr>
        <p:spPr>
          <a:xfrm>
            <a:off x="1613208" y="5877496"/>
            <a:ext cx="1078882" cy="186689"/>
          </a:xfrm>
          <a:prstGeom prst="rect">
            <a:avLst/>
          </a:prstGeom>
          <a:noFill/>
        </p:spPr>
        <p:txBody>
          <a:bodyPr wrap="none" lIns="0" tIns="0" rIns="0" bIns="0">
            <a:spAutoFit/>
          </a:bodyPr>
          <a:lstStyle/>
          <a:p>
            <a:r>
              <a:rPr sz="1100" b="1">
                <a:solidFill>
                  <a:srgbClr val="6C7A89"/>
                </a:solidFill>
                <a:latin typeface="Calibri"/>
              </a:rPr>
              <a:t>2026 TOTAL (MT)</a:t>
            </a:r>
          </a:p>
        </p:txBody>
      </p:sp>
      <p:pic>
        <p:nvPicPr>
          <p:cNvPr id="92" name="Picture 91" descr="lock.png"/>
          <p:cNvPicPr>
            <a:picLocks noChangeAspect="1"/>
          </p:cNvPicPr>
          <p:nvPr/>
        </p:nvPicPr>
        <p:blipFill>
          <a:blip r:embed="rId5"/>
          <a:stretch>
            <a:fillRect/>
          </a:stretch>
        </p:blipFill>
        <p:spPr>
          <a:xfrm>
            <a:off x="1984327" y="6077648"/>
            <a:ext cx="233998" cy="340360"/>
          </a:xfrm>
          <a:prstGeom prst="rect">
            <a:avLst/>
          </a:prstGeom>
        </p:spPr>
      </p:pic>
      <p:sp>
        <p:nvSpPr>
          <p:cNvPr id="93" name="TextBox 92"/>
          <p:cNvSpPr txBox="1"/>
          <p:nvPr/>
        </p:nvSpPr>
        <p:spPr>
          <a:xfrm>
            <a:off x="5647046" y="5877496"/>
            <a:ext cx="1078882" cy="186689"/>
          </a:xfrm>
          <a:prstGeom prst="rect">
            <a:avLst/>
          </a:prstGeom>
          <a:noFill/>
        </p:spPr>
        <p:txBody>
          <a:bodyPr wrap="none" lIns="0" tIns="0" rIns="0" bIns="0">
            <a:spAutoFit/>
          </a:bodyPr>
          <a:lstStyle/>
          <a:p>
            <a:r>
              <a:rPr sz="1100" b="1">
                <a:solidFill>
                  <a:srgbClr val="6C7A89"/>
                </a:solidFill>
                <a:latin typeface="Calibri"/>
              </a:rPr>
              <a:t>2036 TOTAL (MT)</a:t>
            </a:r>
          </a:p>
        </p:txBody>
      </p:sp>
      <p:pic>
        <p:nvPicPr>
          <p:cNvPr id="94" name="Picture 93" descr="lock.png"/>
          <p:cNvPicPr>
            <a:picLocks noChangeAspect="1"/>
          </p:cNvPicPr>
          <p:nvPr/>
        </p:nvPicPr>
        <p:blipFill>
          <a:blip r:embed="rId5"/>
          <a:stretch>
            <a:fillRect/>
          </a:stretch>
        </p:blipFill>
        <p:spPr>
          <a:xfrm>
            <a:off x="6018165" y="6077648"/>
            <a:ext cx="233998" cy="340360"/>
          </a:xfrm>
          <a:prstGeom prst="rect">
            <a:avLst/>
          </a:prstGeom>
        </p:spPr>
      </p:pic>
      <p:sp>
        <p:nvSpPr>
          <p:cNvPr id="95"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Analysis, By Country Value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61987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474845" y="1419225"/>
            <a:ext cx="2383155" cy="133350"/>
          </a:xfrm>
          <a:prstGeom prst="rect">
            <a:avLst/>
          </a:prstGeom>
          <a:noFill/>
        </p:spPr>
        <p:txBody>
          <a:bodyPr wrap="square" lIns="28575" tIns="9525" rIns="2857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a:endParaRPr/>
          </a:p>
        </p:txBody>
      </p:sp>
      <p:sp>
        <p:nvSpPr>
          <p:cNvPr id="15" name="FMI Legend Chip"/>
          <p:cNvSpPr/>
          <p:nvPr/>
        </p:nvSpPr>
        <p:spPr>
          <a:xfrm>
            <a:off x="4551045" y="162401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a:off x="4717732" y="16240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4855845" y="15811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Germany</a:t>
            </a:r>
          </a:p>
        </p:txBody>
      </p:sp>
      <p:sp>
        <p:nvSpPr>
          <p:cNvPr id="18" name="BPS Value 1"/>
          <p:cNvSpPr txBox="1"/>
          <p:nvPr/>
        </p:nvSpPr>
        <p:spPr>
          <a:xfrm>
            <a:off x="6305550" y="158115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19" name="FMI Legend Chip"/>
          <p:cNvSpPr/>
          <p:nvPr/>
        </p:nvSpPr>
        <p:spPr>
          <a:xfrm>
            <a:off x="4551045" y="179546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4717732" y="17954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4855845" y="17526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France</a:t>
            </a:r>
          </a:p>
        </p:txBody>
      </p:sp>
      <p:sp>
        <p:nvSpPr>
          <p:cNvPr id="22" name="BPS Value 2"/>
          <p:cNvSpPr txBox="1"/>
          <p:nvPr/>
        </p:nvSpPr>
        <p:spPr>
          <a:xfrm>
            <a:off x="6305550" y="175260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3" name="FMI Legend Chip"/>
          <p:cNvSpPr/>
          <p:nvPr/>
        </p:nvSpPr>
        <p:spPr>
          <a:xfrm>
            <a:off x="4551045" y="196691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a:off x="4717732" y="19669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4855845" y="19240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Netherlands</a:t>
            </a:r>
          </a:p>
        </p:txBody>
      </p:sp>
      <p:sp>
        <p:nvSpPr>
          <p:cNvPr id="26" name="BPS Value 3"/>
          <p:cNvSpPr txBox="1"/>
          <p:nvPr/>
        </p:nvSpPr>
        <p:spPr>
          <a:xfrm>
            <a:off x="6305550" y="192405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7" name="FMI Legend Chip"/>
          <p:cNvSpPr/>
          <p:nvPr/>
        </p:nvSpPr>
        <p:spPr>
          <a:xfrm>
            <a:off x="4551045" y="2138362"/>
            <a:ext cx="85725" cy="85725"/>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a:off x="4717732" y="21383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4855845" y="20955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Poland</a:t>
            </a:r>
          </a:p>
        </p:txBody>
      </p:sp>
      <p:sp>
        <p:nvSpPr>
          <p:cNvPr id="30" name="BPS Value 4"/>
          <p:cNvSpPr txBox="1"/>
          <p:nvPr/>
        </p:nvSpPr>
        <p:spPr>
          <a:xfrm>
            <a:off x="6305550" y="209550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1" name="FMI Legend Chip"/>
          <p:cNvSpPr/>
          <p:nvPr/>
        </p:nvSpPr>
        <p:spPr>
          <a:xfrm>
            <a:off x="4551045" y="2309812"/>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a:off x="4717732" y="23098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4855845" y="22669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Russia</a:t>
            </a:r>
          </a:p>
        </p:txBody>
      </p:sp>
      <p:sp>
        <p:nvSpPr>
          <p:cNvPr id="34" name="BPS Value 5"/>
          <p:cNvSpPr txBox="1"/>
          <p:nvPr/>
        </p:nvSpPr>
        <p:spPr>
          <a:xfrm>
            <a:off x="6305550" y="226695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5" name="FMI Legend Chip"/>
          <p:cNvSpPr/>
          <p:nvPr/>
        </p:nvSpPr>
        <p:spPr>
          <a:xfrm>
            <a:off x="4551045" y="248126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4717732" y="24812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4855845" y="24384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Spain</a:t>
            </a:r>
          </a:p>
        </p:txBody>
      </p:sp>
      <p:sp>
        <p:nvSpPr>
          <p:cNvPr id="38" name="BPS Value 6"/>
          <p:cNvSpPr txBox="1"/>
          <p:nvPr/>
        </p:nvSpPr>
        <p:spPr>
          <a:xfrm>
            <a:off x="6305550" y="2438400"/>
            <a:ext cx="514350" cy="171450"/>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FMI Legend Chip"/>
          <p:cNvSpPr/>
          <p:nvPr/>
        </p:nvSpPr>
        <p:spPr>
          <a:xfrm>
            <a:off x="4551045" y="2652712"/>
            <a:ext cx="85725" cy="85725"/>
          </a:xfrm>
          <a:prstGeom prst="rect">
            <a:avLst/>
          </a:prstGeom>
          <a:solidFill>
            <a:srgbClr val="B2B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Isosceles Triangle 39"/>
          <p:cNvSpPr/>
          <p:nvPr/>
        </p:nvSpPr>
        <p:spPr>
          <a:xfrm rot="10800000">
            <a:off x="4717732" y="26527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BPS Name 7"/>
          <p:cNvSpPr txBox="1"/>
          <p:nvPr/>
        </p:nvSpPr>
        <p:spPr>
          <a:xfrm>
            <a:off x="4855845" y="26098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Switzerland</a:t>
            </a:r>
          </a:p>
        </p:txBody>
      </p:sp>
      <p:sp>
        <p:nvSpPr>
          <p:cNvPr id="42" name="BPS Value 7"/>
          <p:cNvSpPr txBox="1"/>
          <p:nvPr/>
        </p:nvSpPr>
        <p:spPr>
          <a:xfrm>
            <a:off x="6305550" y="260985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43" name="FMI Legend Chip"/>
          <p:cNvSpPr/>
          <p:nvPr/>
        </p:nvSpPr>
        <p:spPr>
          <a:xfrm>
            <a:off x="4551045" y="2824162"/>
            <a:ext cx="85725" cy="85725"/>
          </a:xfrm>
          <a:prstGeom prst="rect">
            <a:avLst/>
          </a:prstGeom>
          <a:solidFill>
            <a:srgbClr val="5F5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Isosceles Triangle 43"/>
          <p:cNvSpPr/>
          <p:nvPr/>
        </p:nvSpPr>
        <p:spPr>
          <a:xfrm rot="10800000">
            <a:off x="4717732" y="28241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BPS Name 8"/>
          <p:cNvSpPr txBox="1"/>
          <p:nvPr/>
        </p:nvSpPr>
        <p:spPr>
          <a:xfrm>
            <a:off x="4855845" y="27813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Rest of Europe</a:t>
            </a:r>
          </a:p>
        </p:txBody>
      </p:sp>
      <p:sp>
        <p:nvSpPr>
          <p:cNvPr id="46" name="BPS Value 8"/>
          <p:cNvSpPr txBox="1"/>
          <p:nvPr/>
        </p:nvSpPr>
        <p:spPr>
          <a:xfrm>
            <a:off x="6305550" y="278130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47" name="FMI Legend Chip"/>
          <p:cNvSpPr/>
          <p:nvPr/>
        </p:nvSpPr>
        <p:spPr>
          <a:xfrm>
            <a:off x="4551045" y="2995612"/>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Isosceles Triangle 47"/>
          <p:cNvSpPr/>
          <p:nvPr/>
        </p:nvSpPr>
        <p:spPr>
          <a:xfrm rot="10800000">
            <a:off x="4717732" y="29956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BPS Name 9"/>
          <p:cNvSpPr txBox="1"/>
          <p:nvPr/>
        </p:nvSpPr>
        <p:spPr>
          <a:xfrm>
            <a:off x="4855845" y="29527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Nordic</a:t>
            </a:r>
          </a:p>
        </p:txBody>
      </p:sp>
      <p:sp>
        <p:nvSpPr>
          <p:cNvPr id="50" name="BPS Value 9"/>
          <p:cNvSpPr txBox="1"/>
          <p:nvPr/>
        </p:nvSpPr>
        <p:spPr>
          <a:xfrm>
            <a:off x="6305550" y="295275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51" name="FMI Legend Chip"/>
          <p:cNvSpPr/>
          <p:nvPr/>
        </p:nvSpPr>
        <p:spPr>
          <a:xfrm>
            <a:off x="4551045" y="316706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10800000">
            <a:off x="4717732" y="31670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BPS Name 10"/>
          <p:cNvSpPr txBox="1"/>
          <p:nvPr/>
        </p:nvSpPr>
        <p:spPr>
          <a:xfrm>
            <a:off x="4855845" y="31242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Belgium</a:t>
            </a:r>
          </a:p>
        </p:txBody>
      </p:sp>
      <p:sp>
        <p:nvSpPr>
          <p:cNvPr id="54" name="BPS Value 10"/>
          <p:cNvSpPr txBox="1"/>
          <p:nvPr/>
        </p:nvSpPr>
        <p:spPr>
          <a:xfrm>
            <a:off x="6305550" y="312420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55" name="FMI Legend Chip"/>
          <p:cNvSpPr/>
          <p:nvPr/>
        </p:nvSpPr>
        <p:spPr>
          <a:xfrm>
            <a:off x="4551045" y="333851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Isosceles Triangle 55"/>
          <p:cNvSpPr/>
          <p:nvPr/>
        </p:nvSpPr>
        <p:spPr>
          <a:xfrm rot="10800000">
            <a:off x="4717732" y="33385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BPS Name 11"/>
          <p:cNvSpPr txBox="1"/>
          <p:nvPr/>
        </p:nvSpPr>
        <p:spPr>
          <a:xfrm>
            <a:off x="4855845" y="329565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Italy</a:t>
            </a:r>
          </a:p>
        </p:txBody>
      </p:sp>
      <p:sp>
        <p:nvSpPr>
          <p:cNvPr id="58" name="BPS Value 11"/>
          <p:cNvSpPr txBox="1"/>
          <p:nvPr/>
        </p:nvSpPr>
        <p:spPr>
          <a:xfrm>
            <a:off x="6305550" y="329565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59" name="FMI Legend Chip"/>
          <p:cNvSpPr/>
          <p:nvPr/>
        </p:nvSpPr>
        <p:spPr>
          <a:xfrm>
            <a:off x="4551045" y="35099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Isosceles Triangle 59"/>
          <p:cNvSpPr/>
          <p:nvPr/>
        </p:nvSpPr>
        <p:spPr>
          <a:xfrm rot="10800000">
            <a:off x="4717732" y="35099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BPS Name 12"/>
          <p:cNvSpPr txBox="1"/>
          <p:nvPr/>
        </p:nvSpPr>
        <p:spPr>
          <a:xfrm>
            <a:off x="4855845" y="3467100"/>
            <a:ext cx="1449705" cy="171450"/>
          </a:xfrm>
          <a:prstGeom prst="rect">
            <a:avLst/>
          </a:prstGeom>
          <a:noFill/>
        </p:spPr>
        <p:txBody>
          <a:bodyPr wrap="none" lIns="19050" tIns="0" rIns="19050" bIns="0" anchor="ctr">
            <a:spAutoFit/>
          </a:bodyPr>
          <a:lstStyle/>
          <a:p>
            <a:pPr algn="l"/>
            <a:r>
              <a:rPr sz="900" b="0">
                <a:solidFill>
                  <a:srgbClr val="2E2E2E"/>
                </a:solidFill>
                <a:latin typeface="Calibri"/>
              </a:rPr>
              <a:t>U.K.</a:t>
            </a:r>
          </a:p>
        </p:txBody>
      </p:sp>
      <p:sp>
        <p:nvSpPr>
          <p:cNvPr id="62" name="BPS Value 12"/>
          <p:cNvSpPr txBox="1"/>
          <p:nvPr/>
        </p:nvSpPr>
        <p:spPr>
          <a:xfrm>
            <a:off x="6305550" y="3467100"/>
            <a:ext cx="514350" cy="171450"/>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63" name="Rounded Rectangle 6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239000" y="1066800"/>
            <a:ext cx="4667250" cy="209550"/>
          </a:xfrm>
          <a:prstGeom prst="rect">
            <a:avLst/>
          </a:prstGeom>
          <a:noFill/>
        </p:spPr>
        <p:txBody>
          <a:bodyPr wrap="square" lIns="0" tIns="9525" rIns="19050" bIns="9525">
            <a:spAutoFit/>
          </a:bodyPr>
          <a:lstStyle/>
          <a:p>
            <a:pPr algn="l"/>
            <a:r>
              <a:rPr sz="1300" b="1">
                <a:solidFill>
                  <a:srgbClr val="0B2E4A"/>
                </a:solidFill>
                <a:latin typeface="Calibri"/>
              </a:rPr>
              <a:t>Regional Highlights</a:t>
            </a:r>
          </a:p>
        </p:txBody>
      </p:sp>
      <p:sp>
        <p:nvSpPr>
          <p:cNvPr id="65" name="Rectangle 6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239000" y="1390650"/>
            <a:ext cx="4667250" cy="40481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7" name="Rounded Rectangle 6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68" name="Rounded Rectangle 6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69" name="Rounded Rectangle 6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70" name="TextBox 6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1" name="Picture 70" descr="lock.png"/>
          <p:cNvPicPr>
            <a:picLocks noChangeAspect="1"/>
          </p:cNvPicPr>
          <p:nvPr/>
        </p:nvPicPr>
        <p:blipFill>
          <a:blip r:embed="rId5"/>
          <a:stretch>
            <a:fillRect/>
          </a:stretch>
        </p:blipFill>
        <p:spPr>
          <a:xfrm>
            <a:off x="2368867" y="3171825"/>
            <a:ext cx="275034" cy="400050"/>
          </a:xfrm>
          <a:prstGeom prst="rect">
            <a:avLst/>
          </a:prstGeom>
        </p:spPr>
      </p:pic>
      <p:pic>
        <p:nvPicPr>
          <p:cNvPr id="72" name="Picture 71" descr="lock.png"/>
          <p:cNvPicPr>
            <a:picLocks noChangeAspect="1"/>
          </p:cNvPicPr>
          <p:nvPr/>
        </p:nvPicPr>
        <p:blipFill>
          <a:blip r:embed="rId5"/>
          <a:stretch>
            <a:fillRect/>
          </a:stretch>
        </p:blipFill>
        <p:spPr>
          <a:xfrm>
            <a:off x="2009775" y="6070282"/>
            <a:ext cx="209550" cy="304800"/>
          </a:xfrm>
          <a:prstGeom prst="rect">
            <a:avLst/>
          </a:prstGeom>
        </p:spPr>
      </p:pic>
      <p:pic>
        <p:nvPicPr>
          <p:cNvPr id="73" name="Picture 72" descr="lock.png"/>
          <p:cNvPicPr>
            <a:picLocks noChangeAspect="1"/>
          </p:cNvPicPr>
          <p:nvPr/>
        </p:nvPicPr>
        <p:blipFill>
          <a:blip r:embed="rId5"/>
          <a:stretch>
            <a:fillRect/>
          </a:stretch>
        </p:blipFill>
        <p:spPr>
          <a:xfrm>
            <a:off x="6043612" y="6070282"/>
            <a:ext cx="209550" cy="304800"/>
          </a:xfrm>
          <a:prstGeom prst="rect">
            <a:avLst/>
          </a:prstGeom>
        </p:spPr>
      </p:pic>
      <p:pic>
        <p:nvPicPr>
          <p:cNvPr id="74" name="Picture 73" descr="lock.png"/>
          <p:cNvPicPr>
            <a:picLocks noChangeAspect="1"/>
          </p:cNvPicPr>
          <p:nvPr/>
        </p:nvPicPr>
        <p:blipFill>
          <a:blip r:embed="rId5"/>
          <a:stretch>
            <a:fillRect/>
          </a:stretch>
        </p:blipFill>
        <p:spPr>
          <a:xfrm>
            <a:off x="10015537" y="6070282"/>
            <a:ext cx="209550" cy="304800"/>
          </a:xfrm>
          <a:prstGeom prst="rect">
            <a:avLst/>
          </a:prstGeom>
        </p:spPr>
      </p:pic>
      <p:sp>
        <p:nvSpPr>
          <p:cNvPr id="75" name="TextBox 74"/>
          <p:cNvSpPr txBox="1"/>
          <p:nvPr/>
        </p:nvSpPr>
        <p:spPr>
          <a:xfrm>
            <a:off x="7239000" y="1400175"/>
            <a:ext cx="4430315" cy="194310"/>
          </a:xfrm>
          <a:prstGeom prst="rect">
            <a:avLst/>
          </a:prstGeom>
          <a:noFill/>
        </p:spPr>
        <p:txBody>
          <a:bodyPr wrap="none" lIns="0" tIns="0" rIns="0" bIns="0">
            <a:spAutoFit/>
          </a:bodyPr>
          <a:lstStyle/>
          <a:p>
            <a:r>
              <a:rPr sz="1150" b="0">
                <a:solidFill>
                  <a:srgbClr val="2E2E2E"/>
                </a:solidFill>
                <a:latin typeface="Calibri"/>
              </a:rPr>
              <a:t>Germany senior dog cognitive supplement market is projected to register</a:t>
            </a:r>
          </a:p>
        </p:txBody>
      </p:sp>
      <p:pic>
        <p:nvPicPr>
          <p:cNvPr id="76" name="Picture 75" descr="lock.png"/>
          <p:cNvPicPr>
            <a:picLocks noChangeAspect="1"/>
          </p:cNvPicPr>
          <p:nvPr/>
        </p:nvPicPr>
        <p:blipFill>
          <a:blip r:embed="rId5"/>
          <a:stretch>
            <a:fillRect/>
          </a:stretch>
        </p:blipFill>
        <p:spPr>
          <a:xfrm>
            <a:off x="7224920" y="1565211"/>
            <a:ext cx="134549" cy="195707"/>
          </a:xfrm>
          <a:prstGeom prst="rect">
            <a:avLst/>
          </a:prstGeom>
        </p:spPr>
      </p:pic>
      <p:sp>
        <p:nvSpPr>
          <p:cNvPr id="77" name="TextBox 76"/>
          <p:cNvSpPr txBox="1"/>
          <p:nvPr/>
        </p:nvSpPr>
        <p:spPr>
          <a:xfrm>
            <a:off x="7400029" y="1575435"/>
            <a:ext cx="3926557" cy="194310"/>
          </a:xfrm>
          <a:prstGeom prst="rect">
            <a:avLst/>
          </a:prstGeom>
          <a:noFill/>
        </p:spPr>
        <p:txBody>
          <a:bodyPr wrap="none" lIns="0" tIns="0" rIns="0" bIns="0">
            <a:spAutoFit/>
          </a:bodyPr>
          <a:lstStyle/>
          <a:p>
            <a:r>
              <a:rPr sz="1150" b="0">
                <a:solidFill>
                  <a:srgbClr val="2E2E2E"/>
                </a:solidFill>
                <a:latin typeface="Calibri"/>
              </a:rPr>
              <a:t>X higher value than the U.K. in 2036. Among senior dog cognitive</a:t>
            </a:r>
          </a:p>
        </p:txBody>
      </p:sp>
      <p:sp>
        <p:nvSpPr>
          <p:cNvPr id="78" name="TextBox 77"/>
          <p:cNvSpPr txBox="1"/>
          <p:nvPr/>
        </p:nvSpPr>
        <p:spPr>
          <a:xfrm>
            <a:off x="7239000" y="1750695"/>
            <a:ext cx="4634539" cy="194310"/>
          </a:xfrm>
          <a:prstGeom prst="rect">
            <a:avLst/>
          </a:prstGeom>
          <a:noFill/>
        </p:spPr>
        <p:txBody>
          <a:bodyPr wrap="none" lIns="0" tIns="0" rIns="0" bIns="0">
            <a:spAutoFit/>
          </a:bodyPr>
          <a:lstStyle/>
          <a:p>
            <a:r>
              <a:rPr sz="1150" b="0">
                <a:solidFill>
                  <a:srgbClr val="2E2E2E"/>
                </a:solidFill>
                <a:latin typeface="Calibri"/>
              </a:rPr>
              <a:t>supplement by country, Germany is expected to witness the highest CAGR of</a:t>
            </a:r>
          </a:p>
        </p:txBody>
      </p:sp>
      <p:pic>
        <p:nvPicPr>
          <p:cNvPr id="79" name="Picture 78" descr="lock.png"/>
          <p:cNvPicPr>
            <a:picLocks noChangeAspect="1"/>
          </p:cNvPicPr>
          <p:nvPr/>
        </p:nvPicPr>
        <p:blipFill>
          <a:blip r:embed="rId5"/>
          <a:stretch>
            <a:fillRect/>
          </a:stretch>
        </p:blipFill>
        <p:spPr>
          <a:xfrm>
            <a:off x="7224920" y="1915731"/>
            <a:ext cx="134549" cy="195707"/>
          </a:xfrm>
          <a:prstGeom prst="rect">
            <a:avLst/>
          </a:prstGeom>
        </p:spPr>
      </p:pic>
      <p:sp>
        <p:nvSpPr>
          <p:cNvPr id="80" name="TextBox 79"/>
          <p:cNvSpPr txBox="1"/>
          <p:nvPr/>
        </p:nvSpPr>
        <p:spPr>
          <a:xfrm>
            <a:off x="7400029" y="192595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81" name="TextBox 80"/>
          <p:cNvSpPr txBox="1"/>
          <p:nvPr/>
        </p:nvSpPr>
        <p:spPr>
          <a:xfrm>
            <a:off x="7239000" y="2153793"/>
            <a:ext cx="4418620" cy="194310"/>
          </a:xfrm>
          <a:prstGeom prst="rect">
            <a:avLst/>
          </a:prstGeom>
          <a:noFill/>
        </p:spPr>
        <p:txBody>
          <a:bodyPr wrap="none" lIns="0" tIns="0" rIns="0" bIns="0">
            <a:spAutoFit/>
          </a:bodyPr>
          <a:lstStyle/>
          <a:p>
            <a:r>
              <a:rPr sz="1150" b="0">
                <a:solidFill>
                  <a:srgbClr val="2E2E2E"/>
                </a:solidFill>
                <a:latin typeface="Calibri"/>
              </a:rPr>
              <a:t>In terms of value share by country, Germany is expected to dominate the</a:t>
            </a:r>
          </a:p>
        </p:txBody>
      </p:sp>
      <p:sp>
        <p:nvSpPr>
          <p:cNvPr id="82" name="TextBox 81"/>
          <p:cNvSpPr txBox="1"/>
          <p:nvPr/>
        </p:nvSpPr>
        <p:spPr>
          <a:xfrm>
            <a:off x="7239000" y="2329053"/>
            <a:ext cx="999852" cy="194310"/>
          </a:xfrm>
          <a:prstGeom prst="rect">
            <a:avLst/>
          </a:prstGeom>
          <a:noFill/>
        </p:spPr>
        <p:txBody>
          <a:bodyPr wrap="none" lIns="0" tIns="0" rIns="0" bIns="0">
            <a:spAutoFit/>
          </a:bodyPr>
          <a:lstStyle/>
          <a:p>
            <a:r>
              <a:rPr sz="1150" b="0">
                <a:solidFill>
                  <a:srgbClr val="2E2E2E"/>
                </a:solidFill>
                <a:latin typeface="Calibri"/>
              </a:rPr>
              <a:t>market, gaining</a:t>
            </a:r>
          </a:p>
        </p:txBody>
      </p:sp>
      <p:pic>
        <p:nvPicPr>
          <p:cNvPr id="83" name="Picture 82" descr="lock.png"/>
          <p:cNvPicPr>
            <a:picLocks noChangeAspect="1"/>
          </p:cNvPicPr>
          <p:nvPr/>
        </p:nvPicPr>
        <p:blipFill>
          <a:blip r:embed="rId5"/>
          <a:stretch>
            <a:fillRect/>
          </a:stretch>
        </p:blipFill>
        <p:spPr>
          <a:xfrm>
            <a:off x="8188006" y="2318829"/>
            <a:ext cx="134549" cy="195707"/>
          </a:xfrm>
          <a:prstGeom prst="rect">
            <a:avLst/>
          </a:prstGeom>
        </p:spPr>
      </p:pic>
      <p:sp>
        <p:nvSpPr>
          <p:cNvPr id="84" name="TextBox 83"/>
          <p:cNvSpPr txBox="1"/>
          <p:nvPr/>
        </p:nvSpPr>
        <p:spPr>
          <a:xfrm>
            <a:off x="8363115" y="2329053"/>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85" name="Picture 84" descr="lock.png"/>
          <p:cNvPicPr>
            <a:picLocks noChangeAspect="1"/>
          </p:cNvPicPr>
          <p:nvPr/>
        </p:nvPicPr>
        <p:blipFill>
          <a:blip r:embed="rId5"/>
          <a:stretch>
            <a:fillRect/>
          </a:stretch>
        </p:blipFill>
        <p:spPr>
          <a:xfrm>
            <a:off x="9758258" y="2318829"/>
            <a:ext cx="134549" cy="195707"/>
          </a:xfrm>
          <a:prstGeom prst="rect">
            <a:avLst/>
          </a:prstGeom>
        </p:spPr>
      </p:pic>
      <p:sp>
        <p:nvSpPr>
          <p:cNvPr id="86" name="TextBox 85"/>
          <p:cNvSpPr txBox="1"/>
          <p:nvPr/>
        </p:nvSpPr>
        <p:spPr>
          <a:xfrm>
            <a:off x="9933367" y="2329053"/>
            <a:ext cx="1346435" cy="194310"/>
          </a:xfrm>
          <a:prstGeom prst="rect">
            <a:avLst/>
          </a:prstGeom>
          <a:noFill/>
        </p:spPr>
        <p:txBody>
          <a:bodyPr wrap="none" lIns="0" tIns="0" rIns="0" bIns="0">
            <a:spAutoFit/>
          </a:bodyPr>
          <a:lstStyle/>
          <a:p>
            <a:r>
              <a:rPr sz="1150" b="0">
                <a:solidFill>
                  <a:srgbClr val="2E2E2E"/>
                </a:solidFill>
                <a:latin typeface="Calibri"/>
              </a:rPr>
              <a:t>share by 2036. U.K. is</a:t>
            </a:r>
          </a:p>
        </p:txBody>
      </p:sp>
      <p:sp>
        <p:nvSpPr>
          <p:cNvPr id="87" name="TextBox 86"/>
          <p:cNvSpPr txBox="1"/>
          <p:nvPr/>
        </p:nvSpPr>
        <p:spPr>
          <a:xfrm>
            <a:off x="7239000" y="2504313"/>
            <a:ext cx="1054906" cy="194310"/>
          </a:xfrm>
          <a:prstGeom prst="rect">
            <a:avLst/>
          </a:prstGeom>
          <a:noFill/>
        </p:spPr>
        <p:txBody>
          <a:bodyPr wrap="none" lIns="0" tIns="0" rIns="0" bIns="0">
            <a:spAutoFit/>
          </a:bodyPr>
          <a:lstStyle/>
          <a:p>
            <a:r>
              <a:rPr sz="1150" b="0">
                <a:solidFill>
                  <a:srgbClr val="2E2E2E"/>
                </a:solidFill>
                <a:latin typeface="Calibri"/>
              </a:rPr>
              <a:t>expected to lose</a:t>
            </a:r>
          </a:p>
        </p:txBody>
      </p:sp>
      <p:pic>
        <p:nvPicPr>
          <p:cNvPr id="88" name="Picture 87" descr="lock.png"/>
          <p:cNvPicPr>
            <a:picLocks noChangeAspect="1"/>
          </p:cNvPicPr>
          <p:nvPr/>
        </p:nvPicPr>
        <p:blipFill>
          <a:blip r:embed="rId5"/>
          <a:stretch>
            <a:fillRect/>
          </a:stretch>
        </p:blipFill>
        <p:spPr>
          <a:xfrm>
            <a:off x="8243060" y="2494089"/>
            <a:ext cx="134549" cy="195707"/>
          </a:xfrm>
          <a:prstGeom prst="rect">
            <a:avLst/>
          </a:prstGeom>
        </p:spPr>
      </p:pic>
      <p:sp>
        <p:nvSpPr>
          <p:cNvPr id="89" name="TextBox 88"/>
          <p:cNvSpPr txBox="1"/>
          <p:nvPr/>
        </p:nvSpPr>
        <p:spPr>
          <a:xfrm>
            <a:off x="8418169" y="2504313"/>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90" name="Picture 89" descr="lock.png"/>
          <p:cNvPicPr>
            <a:picLocks noChangeAspect="1"/>
          </p:cNvPicPr>
          <p:nvPr/>
        </p:nvPicPr>
        <p:blipFill>
          <a:blip r:embed="rId5"/>
          <a:stretch>
            <a:fillRect/>
          </a:stretch>
        </p:blipFill>
        <p:spPr>
          <a:xfrm>
            <a:off x="11005673" y="2494089"/>
            <a:ext cx="134549" cy="195707"/>
          </a:xfrm>
          <a:prstGeom prst="rect">
            <a:avLst/>
          </a:prstGeom>
        </p:spPr>
      </p:pic>
      <p:sp>
        <p:nvSpPr>
          <p:cNvPr id="91" name="TextBox 90"/>
          <p:cNvSpPr txBox="1"/>
          <p:nvPr/>
        </p:nvSpPr>
        <p:spPr>
          <a:xfrm>
            <a:off x="11180783" y="2504313"/>
            <a:ext cx="403671" cy="194310"/>
          </a:xfrm>
          <a:prstGeom prst="rect">
            <a:avLst/>
          </a:prstGeom>
          <a:noFill/>
        </p:spPr>
        <p:txBody>
          <a:bodyPr wrap="none" lIns="0" tIns="0" rIns="0" bIns="0">
            <a:spAutoFit/>
          </a:bodyPr>
          <a:lstStyle/>
          <a:p>
            <a:r>
              <a:rPr sz="1150" b="0">
                <a:solidFill>
                  <a:srgbClr val="2E2E2E"/>
                </a:solidFill>
                <a:latin typeface="Calibri"/>
              </a:rPr>
              <a:t>share</a:t>
            </a:r>
          </a:p>
        </p:txBody>
      </p:sp>
      <p:sp>
        <p:nvSpPr>
          <p:cNvPr id="92" name="TextBox 91"/>
          <p:cNvSpPr txBox="1"/>
          <p:nvPr/>
        </p:nvSpPr>
        <p:spPr>
          <a:xfrm>
            <a:off x="7239000" y="2679573"/>
            <a:ext cx="585663" cy="194310"/>
          </a:xfrm>
          <a:prstGeom prst="rect">
            <a:avLst/>
          </a:prstGeom>
          <a:noFill/>
        </p:spPr>
        <p:txBody>
          <a:bodyPr wrap="none" lIns="0" tIns="0" rIns="0" bIns="0">
            <a:spAutoFit/>
          </a:bodyPr>
          <a:lstStyle/>
          <a:p>
            <a:r>
              <a:rPr sz="1150" b="0">
                <a:solidFill>
                  <a:srgbClr val="2E2E2E"/>
                </a:solidFill>
                <a:latin typeface="Calibri"/>
              </a:rPr>
              <a:t>by 2036.</a:t>
            </a:r>
          </a:p>
        </p:txBody>
      </p:sp>
      <p:sp>
        <p:nvSpPr>
          <p:cNvPr id="93"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Share Analysis, By Country Volume (MT)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42875" y="981075"/>
            <a:ext cx="11906250" cy="3914775"/>
          </a:xfrm>
          <a:prstGeom prst="roundRect">
            <a:avLst>
              <a:gd name="adj" fmla="val 19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Market Size, By Country (MT)</a:t>
            </a:r>
          </a:p>
        </p:txBody>
      </p:sp>
      <p:graphicFrame>
        <p:nvGraphicFramePr>
          <p:cNvPr id="12" name="Table 11"/>
          <p:cNvGraphicFramePr>
            <a:graphicFrameLocks noGrp="1"/>
          </p:cNvGraphicFramePr>
          <p:nvPr/>
        </p:nvGraphicFramePr>
        <p:xfrm>
          <a:off x="152400" y="1238250"/>
          <a:ext cx="11887203" cy="3448052"/>
        </p:xfrm>
        <a:graphic>
          <a:graphicData uri="http://schemas.openxmlformats.org/drawingml/2006/table">
            <a:tbl>
              <a:tblPr>
                <a:tableStyleId>{5C22544A-7EE6-4342-B048-85BDC9FD1C3A}</a:tableStyleId>
              </a:tblPr>
              <a:tblGrid>
                <a:gridCol w="1077243">
                  <a:extLst>
                    <a:ext uri="{9D8B030D-6E8A-4147-A177-3AD203B41FA5}">
                      <a16:colId xmlns:a16="http://schemas.microsoft.com/office/drawing/2014/main" val="20000"/>
                    </a:ext>
                  </a:extLst>
                </a:gridCol>
                <a:gridCol w="635880">
                  <a:extLst>
                    <a:ext uri="{9D8B030D-6E8A-4147-A177-3AD203B41FA5}">
                      <a16:colId xmlns:a16="http://schemas.microsoft.com/office/drawing/2014/main" val="20001"/>
                    </a:ext>
                  </a:extLst>
                </a:gridCol>
                <a:gridCol w="635880">
                  <a:extLst>
                    <a:ext uri="{9D8B030D-6E8A-4147-A177-3AD203B41FA5}">
                      <a16:colId xmlns:a16="http://schemas.microsoft.com/office/drawing/2014/main" val="20002"/>
                    </a:ext>
                  </a:extLst>
                </a:gridCol>
                <a:gridCol w="635880">
                  <a:extLst>
                    <a:ext uri="{9D8B030D-6E8A-4147-A177-3AD203B41FA5}">
                      <a16:colId xmlns:a16="http://schemas.microsoft.com/office/drawing/2014/main" val="20003"/>
                    </a:ext>
                  </a:extLst>
                </a:gridCol>
                <a:gridCol w="635880">
                  <a:extLst>
                    <a:ext uri="{9D8B030D-6E8A-4147-A177-3AD203B41FA5}">
                      <a16:colId xmlns:a16="http://schemas.microsoft.com/office/drawing/2014/main" val="20004"/>
                    </a:ext>
                  </a:extLst>
                </a:gridCol>
                <a:gridCol w="635880">
                  <a:extLst>
                    <a:ext uri="{9D8B030D-6E8A-4147-A177-3AD203B41FA5}">
                      <a16:colId xmlns:a16="http://schemas.microsoft.com/office/drawing/2014/main" val="20005"/>
                    </a:ext>
                  </a:extLst>
                </a:gridCol>
                <a:gridCol w="635880">
                  <a:extLst>
                    <a:ext uri="{9D8B030D-6E8A-4147-A177-3AD203B41FA5}">
                      <a16:colId xmlns:a16="http://schemas.microsoft.com/office/drawing/2014/main" val="20006"/>
                    </a:ext>
                  </a:extLst>
                </a:gridCol>
                <a:gridCol w="635880">
                  <a:extLst>
                    <a:ext uri="{9D8B030D-6E8A-4147-A177-3AD203B41FA5}">
                      <a16:colId xmlns:a16="http://schemas.microsoft.com/office/drawing/2014/main" val="20007"/>
                    </a:ext>
                  </a:extLst>
                </a:gridCol>
                <a:gridCol w="635880">
                  <a:extLst>
                    <a:ext uri="{9D8B030D-6E8A-4147-A177-3AD203B41FA5}">
                      <a16:colId xmlns:a16="http://schemas.microsoft.com/office/drawing/2014/main" val="20008"/>
                    </a:ext>
                  </a:extLst>
                </a:gridCol>
                <a:gridCol w="635880">
                  <a:extLst>
                    <a:ext uri="{9D8B030D-6E8A-4147-A177-3AD203B41FA5}">
                      <a16:colId xmlns:a16="http://schemas.microsoft.com/office/drawing/2014/main" val="20009"/>
                    </a:ext>
                  </a:extLst>
                </a:gridCol>
                <a:gridCol w="635880">
                  <a:extLst>
                    <a:ext uri="{9D8B030D-6E8A-4147-A177-3AD203B41FA5}">
                      <a16:colId xmlns:a16="http://schemas.microsoft.com/office/drawing/2014/main" val="20010"/>
                    </a:ext>
                  </a:extLst>
                </a:gridCol>
                <a:gridCol w="635880">
                  <a:extLst>
                    <a:ext uri="{9D8B030D-6E8A-4147-A177-3AD203B41FA5}">
                      <a16:colId xmlns:a16="http://schemas.microsoft.com/office/drawing/2014/main" val="20011"/>
                    </a:ext>
                  </a:extLst>
                </a:gridCol>
                <a:gridCol w="635880">
                  <a:extLst>
                    <a:ext uri="{9D8B030D-6E8A-4147-A177-3AD203B41FA5}">
                      <a16:colId xmlns:a16="http://schemas.microsoft.com/office/drawing/2014/main" val="20012"/>
                    </a:ext>
                  </a:extLst>
                </a:gridCol>
                <a:gridCol w="635880">
                  <a:extLst>
                    <a:ext uri="{9D8B030D-6E8A-4147-A177-3AD203B41FA5}">
                      <a16:colId xmlns:a16="http://schemas.microsoft.com/office/drawing/2014/main" val="20013"/>
                    </a:ext>
                  </a:extLst>
                </a:gridCol>
                <a:gridCol w="635880">
                  <a:extLst>
                    <a:ext uri="{9D8B030D-6E8A-4147-A177-3AD203B41FA5}">
                      <a16:colId xmlns:a16="http://schemas.microsoft.com/office/drawing/2014/main" val="20014"/>
                    </a:ext>
                  </a:extLst>
                </a:gridCol>
                <a:gridCol w="635880">
                  <a:extLst>
                    <a:ext uri="{9D8B030D-6E8A-4147-A177-3AD203B41FA5}">
                      <a16:colId xmlns:a16="http://schemas.microsoft.com/office/drawing/2014/main" val="20015"/>
                    </a:ext>
                  </a:extLst>
                </a:gridCol>
                <a:gridCol w="635880">
                  <a:extLst>
                    <a:ext uri="{9D8B030D-6E8A-4147-A177-3AD203B41FA5}">
                      <a16:colId xmlns:a16="http://schemas.microsoft.com/office/drawing/2014/main" val="20016"/>
                    </a:ext>
                  </a:extLst>
                </a:gridCol>
                <a:gridCol w="635880">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302">
                <a:tc>
                  <a:txBody>
                    <a:bodyPr/>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302">
                <a:tc>
                  <a:txBody>
                    <a:bodyPr/>
                    <a:lstStyle/>
                    <a:p>
                      <a:pPr algn="l"/>
                      <a:r>
                        <a:rPr sz="1100" b="1">
                          <a:solidFill>
                            <a:srgbClr val="2E2E2E"/>
                          </a:solidFill>
                          <a:latin typeface="Calibri"/>
                        </a:rPr>
                        <a:t>U.K.</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302">
                <a:tc>
                  <a:txBody>
                    <a:bodyPr/>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302">
                <a:tc>
                  <a:txBody>
                    <a:bodyPr/>
                    <a:lstStyle/>
                    <a:p>
                      <a:pPr algn="l"/>
                      <a:r>
                        <a:rPr sz="1100" b="1">
                          <a:solidFill>
                            <a:srgbClr val="2E2E2E"/>
                          </a:solidFill>
                          <a:latin typeface="Calibri"/>
                        </a:rPr>
                        <a:t>Italy</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302">
                <a:tc>
                  <a:txBody>
                    <a:bodyPr/>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302">
                <a:tc>
                  <a:txBody>
                    <a:bodyPr/>
                    <a:lstStyle/>
                    <a:p>
                      <a:pPr algn="l"/>
                      <a:r>
                        <a:rPr sz="1100" b="1">
                          <a:solidFill>
                            <a:srgbClr val="2E2E2E"/>
                          </a:solidFill>
                          <a:latin typeface="Calibri"/>
                        </a:rPr>
                        <a:t>Belgium</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302">
                <a:tc>
                  <a:txBody>
                    <a:bodyPr/>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7"/>
                  </a:ext>
                </a:extLst>
              </a:tr>
              <a:tr h="246302">
                <a:tc>
                  <a:txBody>
                    <a:bodyPr/>
                    <a:lstStyle/>
                    <a:p>
                      <a:pPr algn="l"/>
                      <a:r>
                        <a:rPr sz="1100" b="1">
                          <a:solidFill>
                            <a:srgbClr val="2E2E2E"/>
                          </a:solidFill>
                          <a:latin typeface="Calibri"/>
                        </a:rPr>
                        <a:t>Nordic</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8"/>
                  </a:ext>
                </a:extLst>
              </a:tr>
              <a:tr h="246302">
                <a:tc>
                  <a:txBody>
                    <a:bodyPr/>
                    <a:lstStyle/>
                    <a:p>
                      <a:pPr algn="l"/>
                      <a:r>
                        <a:rPr sz="1100" b="1">
                          <a:solidFill>
                            <a:srgbClr val="2E2E2E"/>
                          </a:solidFill>
                          <a:latin typeface="Calibri"/>
                        </a:rPr>
                        <a:t>Russia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9"/>
                  </a:ext>
                </a:extLst>
              </a:tr>
              <a:tr h="246302">
                <a:tc>
                  <a:txBody>
                    <a:bodyPr/>
                    <a:lstStyle/>
                    <a:p>
                      <a:pPr algn="l"/>
                      <a:r>
                        <a:rPr sz="1100" b="1">
                          <a:solidFill>
                            <a:srgbClr val="2E2E2E"/>
                          </a:solidFill>
                          <a:latin typeface="Calibri"/>
                        </a:rPr>
                        <a:t>Poland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0"/>
                  </a:ext>
                </a:extLst>
              </a:tr>
              <a:tr h="246302">
                <a:tc>
                  <a:txBody>
                    <a:bodyPr/>
                    <a:lstStyle/>
                    <a:p>
                      <a:pPr algn="l"/>
                      <a:r>
                        <a:rPr sz="1100" b="1">
                          <a:solidFill>
                            <a:srgbClr val="2E2E2E"/>
                          </a:solidFill>
                          <a:latin typeface="Calibri"/>
                        </a:rPr>
                        <a:t>Switzerland</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1"/>
                  </a:ext>
                </a:extLst>
              </a:tr>
              <a:tr h="246302">
                <a:tc>
                  <a:txBody>
                    <a:bodyPr/>
                    <a:lstStyle/>
                    <a:p>
                      <a:pPr algn="l"/>
                      <a:r>
                        <a:rPr sz="1100" b="1">
                          <a:solidFill>
                            <a:srgbClr val="2E2E2E"/>
                          </a:solidFill>
                          <a:latin typeface="Calibri"/>
                        </a:rPr>
                        <a:t>Rest of Europe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2"/>
                  </a:ext>
                </a:extLst>
              </a:tr>
              <a:tr h="246302">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13"/>
                  </a:ext>
                </a:extLst>
              </a:tr>
            </a:tbl>
          </a:graphicData>
        </a:graphic>
      </p:graphicFrame>
      <p:sp>
        <p:nvSpPr>
          <p:cNvPr id="13" name="TextBox 12"/>
          <p:cNvSpPr txBox="1"/>
          <p:nvPr/>
        </p:nvSpPr>
        <p:spPr>
          <a:xfrm>
            <a:off x="219075" y="469582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029200"/>
            <a:ext cx="11906250"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5114925"/>
            <a:ext cx="11639550" cy="209550"/>
          </a:xfrm>
          <a:prstGeom prst="rect">
            <a:avLst/>
          </a:prstGeom>
          <a:noFill/>
        </p:spPr>
        <p:txBody>
          <a:bodyPr wrap="square" lIns="0" tIns="9525" rIns="19050" bIns="9525">
            <a:spAutoFit/>
          </a:bodyPr>
          <a:lstStyle/>
          <a:p>
            <a:pPr algn="l"/>
            <a:r>
              <a:rPr sz="1300" b="1">
                <a:solidFill>
                  <a:srgbClr val="0B2E4A"/>
                </a:solidFill>
                <a:latin typeface="Calibri"/>
              </a:rPr>
              <a:t>Europe Volume Share Read-out, By Country</a:t>
            </a:r>
          </a:p>
        </p:txBody>
      </p:sp>
      <p:sp>
        <p:nvSpPr>
          <p:cNvPr id="16" name="Rectangle 15"/>
          <p:cNvSpPr/>
          <p:nvPr/>
        </p:nvSpPr>
        <p:spPr>
          <a:xfrm>
            <a:off x="276225" y="5353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5438775"/>
            <a:ext cx="11639550" cy="11144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47933" y="2818639"/>
            <a:ext cx="366712" cy="533400"/>
          </a:xfrm>
          <a:prstGeom prst="rect">
            <a:avLst/>
          </a:prstGeom>
        </p:spPr>
      </p:pic>
      <p:sp>
        <p:nvSpPr>
          <p:cNvPr id="20" name="TextBox 19"/>
          <p:cNvSpPr txBox="1"/>
          <p:nvPr/>
        </p:nvSpPr>
        <p:spPr>
          <a:xfrm>
            <a:off x="276225" y="5448300"/>
            <a:ext cx="4430315" cy="194310"/>
          </a:xfrm>
          <a:prstGeom prst="rect">
            <a:avLst/>
          </a:prstGeom>
          <a:noFill/>
        </p:spPr>
        <p:txBody>
          <a:bodyPr wrap="none" lIns="0" tIns="0" rIns="0" bIns="0">
            <a:spAutoFit/>
          </a:bodyPr>
          <a:lstStyle/>
          <a:p>
            <a:r>
              <a:rPr sz="1150" b="0">
                <a:solidFill>
                  <a:srgbClr val="2E2E2E"/>
                </a:solidFill>
                <a:latin typeface="Calibri"/>
              </a:rPr>
              <a:t>Germany senior dog cognitive supplement market is projected to register</a:t>
            </a:r>
          </a:p>
        </p:txBody>
      </p:sp>
      <p:pic>
        <p:nvPicPr>
          <p:cNvPr id="21" name="Picture 20" descr="lock.png"/>
          <p:cNvPicPr>
            <a:picLocks noChangeAspect="1"/>
          </p:cNvPicPr>
          <p:nvPr/>
        </p:nvPicPr>
        <p:blipFill>
          <a:blip r:embed="rId4"/>
          <a:stretch>
            <a:fillRect/>
          </a:stretch>
        </p:blipFill>
        <p:spPr>
          <a:xfrm>
            <a:off x="4655694" y="5438076"/>
            <a:ext cx="134549" cy="195707"/>
          </a:xfrm>
          <a:prstGeom prst="rect">
            <a:avLst/>
          </a:prstGeom>
        </p:spPr>
      </p:pic>
      <p:sp>
        <p:nvSpPr>
          <p:cNvPr id="22" name="TextBox 21"/>
          <p:cNvSpPr txBox="1"/>
          <p:nvPr/>
        </p:nvSpPr>
        <p:spPr>
          <a:xfrm>
            <a:off x="4830803" y="5448300"/>
            <a:ext cx="6937126" cy="194310"/>
          </a:xfrm>
          <a:prstGeom prst="rect">
            <a:avLst/>
          </a:prstGeom>
          <a:noFill/>
        </p:spPr>
        <p:txBody>
          <a:bodyPr wrap="none" lIns="0" tIns="0" rIns="0" bIns="0">
            <a:spAutoFit/>
          </a:bodyPr>
          <a:lstStyle/>
          <a:p>
            <a:r>
              <a:rPr sz="1150" b="0">
                <a:solidFill>
                  <a:srgbClr val="2E2E2E"/>
                </a:solidFill>
                <a:latin typeface="Calibri"/>
              </a:rPr>
              <a:t>X higher volume than the U.K. in 2036. Among senior dog cognitive supplement by country, Germany is expected to</a:t>
            </a:r>
          </a:p>
        </p:txBody>
      </p:sp>
      <p:sp>
        <p:nvSpPr>
          <p:cNvPr id="23" name="TextBox 22"/>
          <p:cNvSpPr txBox="1"/>
          <p:nvPr/>
        </p:nvSpPr>
        <p:spPr>
          <a:xfrm>
            <a:off x="276225" y="5623560"/>
            <a:ext cx="1747770" cy="194310"/>
          </a:xfrm>
          <a:prstGeom prst="rect">
            <a:avLst/>
          </a:prstGeom>
          <a:noFill/>
        </p:spPr>
        <p:txBody>
          <a:bodyPr wrap="none" lIns="0" tIns="0" r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5613336"/>
            <a:ext cx="134549" cy="195707"/>
          </a:xfrm>
          <a:prstGeom prst="rect">
            <a:avLst/>
          </a:prstGeom>
        </p:spPr>
      </p:pic>
      <p:sp>
        <p:nvSpPr>
          <p:cNvPr id="25" name="TextBox 24"/>
          <p:cNvSpPr txBox="1"/>
          <p:nvPr/>
        </p:nvSpPr>
        <p:spPr>
          <a:xfrm>
            <a:off x="2148258" y="5623560"/>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5851397"/>
            <a:ext cx="5499162" cy="194310"/>
          </a:xfrm>
          <a:prstGeom prst="rect">
            <a:avLst/>
          </a:prstGeom>
          <a:noFill/>
        </p:spPr>
        <p:txBody>
          <a:bodyPr wrap="none" lIns="0" tIns="0" rIns="0" bIns="0">
            <a:spAutoFit/>
          </a:bodyPr>
          <a:lstStyle/>
          <a:p>
            <a:r>
              <a:rPr sz="1150" b="0">
                <a:solidFill>
                  <a:srgbClr val="2E2E2E"/>
                </a:solidFill>
                <a:latin typeface="Calibri"/>
              </a:rPr>
              <a:t>In terms of volume share by country, Germany is expected to dominate the market, gaining</a:t>
            </a:r>
          </a:p>
        </p:txBody>
      </p:sp>
      <p:pic>
        <p:nvPicPr>
          <p:cNvPr id="27" name="Picture 26" descr="lock.png"/>
          <p:cNvPicPr>
            <a:picLocks noChangeAspect="1"/>
          </p:cNvPicPr>
          <p:nvPr/>
        </p:nvPicPr>
        <p:blipFill>
          <a:blip r:embed="rId4"/>
          <a:stretch>
            <a:fillRect/>
          </a:stretch>
        </p:blipFill>
        <p:spPr>
          <a:xfrm>
            <a:off x="5724540" y="5841174"/>
            <a:ext cx="134549" cy="195707"/>
          </a:xfrm>
          <a:prstGeom prst="rect">
            <a:avLst/>
          </a:prstGeom>
        </p:spPr>
      </p:pic>
      <p:sp>
        <p:nvSpPr>
          <p:cNvPr id="28" name="TextBox 27"/>
          <p:cNvSpPr txBox="1"/>
          <p:nvPr/>
        </p:nvSpPr>
        <p:spPr>
          <a:xfrm>
            <a:off x="5899650" y="5851397"/>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294793" y="5841174"/>
            <a:ext cx="134549" cy="195707"/>
          </a:xfrm>
          <a:prstGeom prst="rect">
            <a:avLst/>
          </a:prstGeom>
        </p:spPr>
      </p:pic>
      <p:sp>
        <p:nvSpPr>
          <p:cNvPr id="30" name="TextBox 29"/>
          <p:cNvSpPr txBox="1"/>
          <p:nvPr/>
        </p:nvSpPr>
        <p:spPr>
          <a:xfrm>
            <a:off x="7469902" y="5851397"/>
            <a:ext cx="2358231" cy="194310"/>
          </a:xfrm>
          <a:prstGeom prst="rect">
            <a:avLst/>
          </a:prstGeom>
          <a:noFill/>
        </p:spPr>
        <p:txBody>
          <a:bodyPr wrap="none" lIns="0" tIns="0" rIns="0" bIns="0">
            <a:spAutoFit/>
          </a:bodyPr>
          <a:lstStyle/>
          <a:p>
            <a:r>
              <a:rPr sz="1150" b="0">
                <a:solidFill>
                  <a:srgbClr val="2E2E2E"/>
                </a:solidFill>
                <a:latin typeface="Calibri"/>
              </a:rPr>
              <a:t>share by 2036. U.K. is expected to lose</a:t>
            </a:r>
          </a:p>
        </p:txBody>
      </p:sp>
      <p:pic>
        <p:nvPicPr>
          <p:cNvPr id="31" name="Picture 30" descr="lock.png"/>
          <p:cNvPicPr>
            <a:picLocks noChangeAspect="1"/>
          </p:cNvPicPr>
          <p:nvPr/>
        </p:nvPicPr>
        <p:blipFill>
          <a:blip r:embed="rId4"/>
          <a:stretch>
            <a:fillRect/>
          </a:stretch>
        </p:blipFill>
        <p:spPr>
          <a:xfrm>
            <a:off x="9777287" y="5841174"/>
            <a:ext cx="134549" cy="195707"/>
          </a:xfrm>
          <a:prstGeom prst="rect">
            <a:avLst/>
          </a:prstGeom>
        </p:spPr>
      </p:pic>
      <p:sp>
        <p:nvSpPr>
          <p:cNvPr id="32" name="TextBox 31"/>
          <p:cNvSpPr txBox="1"/>
          <p:nvPr/>
        </p:nvSpPr>
        <p:spPr>
          <a:xfrm>
            <a:off x="9952397" y="5851397"/>
            <a:ext cx="1346150" cy="194310"/>
          </a:xfrm>
          <a:prstGeom prst="rect">
            <a:avLst/>
          </a:prstGeom>
          <a:noFill/>
        </p:spPr>
        <p:txBody>
          <a:bodyPr wrap="none" lIns="0" tIns="0" rIns="0" bIns="0">
            <a:spAutoFit/>
          </a:bodyPr>
          <a:lstStyle/>
          <a:p>
            <a:r>
              <a:rPr sz="1150" b="0">
                <a:solidFill>
                  <a:srgbClr val="2E2E2E"/>
                </a:solidFill>
                <a:latin typeface="Calibri"/>
              </a:rPr>
              <a:t>BPS over the forecast</a:t>
            </a:r>
          </a:p>
        </p:txBody>
      </p:sp>
      <p:sp>
        <p:nvSpPr>
          <p:cNvPr id="33" name="TextBox 32"/>
          <p:cNvSpPr txBox="1"/>
          <p:nvPr/>
        </p:nvSpPr>
        <p:spPr>
          <a:xfrm>
            <a:off x="276225" y="6026657"/>
            <a:ext cx="1335310" cy="194310"/>
          </a:xfrm>
          <a:prstGeom prst="rect">
            <a:avLst/>
          </a:prstGeom>
          <a:noFill/>
        </p:spPr>
        <p:txBody>
          <a:bodyPr wrap="none" lIns="0" tIns="0" rIns="0" bIns="0">
            <a:spAutoFit/>
          </a:bodyPr>
          <a:lstStyle/>
          <a:p>
            <a:r>
              <a:rPr sz="1150" b="0">
                <a:solidFill>
                  <a:srgbClr val="2E2E2E"/>
                </a:solidFill>
                <a:latin typeface="Calibri"/>
              </a:rPr>
              <a:t>period to account for</a:t>
            </a:r>
          </a:p>
        </p:txBody>
      </p:sp>
      <p:pic>
        <p:nvPicPr>
          <p:cNvPr id="34" name="Picture 33" descr="lock.png"/>
          <p:cNvPicPr>
            <a:picLocks noChangeAspect="1"/>
          </p:cNvPicPr>
          <p:nvPr/>
        </p:nvPicPr>
        <p:blipFill>
          <a:blip r:embed="rId4"/>
          <a:stretch>
            <a:fillRect/>
          </a:stretch>
        </p:blipFill>
        <p:spPr>
          <a:xfrm>
            <a:off x="1560689" y="6016434"/>
            <a:ext cx="134549" cy="195707"/>
          </a:xfrm>
          <a:prstGeom prst="rect">
            <a:avLst/>
          </a:prstGeom>
        </p:spPr>
      </p:pic>
      <p:sp>
        <p:nvSpPr>
          <p:cNvPr id="35" name="TextBox 34"/>
          <p:cNvSpPr txBox="1"/>
          <p:nvPr/>
        </p:nvSpPr>
        <p:spPr>
          <a:xfrm>
            <a:off x="1735798" y="6026657"/>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42875" y="981075"/>
            <a:ext cx="11906250" cy="3914775"/>
          </a:xfrm>
          <a:prstGeom prst="roundRect">
            <a:avLst>
              <a:gd name="adj" fmla="val 19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Market Size, By Country (US$ Mn)</a:t>
            </a:r>
          </a:p>
        </p:txBody>
      </p:sp>
      <p:graphicFrame>
        <p:nvGraphicFramePr>
          <p:cNvPr id="12" name="Table 11"/>
          <p:cNvGraphicFramePr>
            <a:graphicFrameLocks noGrp="1"/>
          </p:cNvGraphicFramePr>
          <p:nvPr/>
        </p:nvGraphicFramePr>
        <p:xfrm>
          <a:off x="152400" y="1238250"/>
          <a:ext cx="11887203" cy="3448052"/>
        </p:xfrm>
        <a:graphic>
          <a:graphicData uri="http://schemas.openxmlformats.org/drawingml/2006/table">
            <a:tbl>
              <a:tblPr>
                <a:tableStyleId>{5C22544A-7EE6-4342-B048-85BDC9FD1C3A}</a:tableStyleId>
              </a:tblPr>
              <a:tblGrid>
                <a:gridCol w="1129144">
                  <a:extLst>
                    <a:ext uri="{9D8B030D-6E8A-4147-A177-3AD203B41FA5}">
                      <a16:colId xmlns:a16="http://schemas.microsoft.com/office/drawing/2014/main" val="20000"/>
                    </a:ext>
                  </a:extLst>
                </a:gridCol>
                <a:gridCol w="632827">
                  <a:extLst>
                    <a:ext uri="{9D8B030D-6E8A-4147-A177-3AD203B41FA5}">
                      <a16:colId xmlns:a16="http://schemas.microsoft.com/office/drawing/2014/main" val="20001"/>
                    </a:ext>
                  </a:extLst>
                </a:gridCol>
                <a:gridCol w="632827">
                  <a:extLst>
                    <a:ext uri="{9D8B030D-6E8A-4147-A177-3AD203B41FA5}">
                      <a16:colId xmlns:a16="http://schemas.microsoft.com/office/drawing/2014/main" val="20002"/>
                    </a:ext>
                  </a:extLst>
                </a:gridCol>
                <a:gridCol w="632827">
                  <a:extLst>
                    <a:ext uri="{9D8B030D-6E8A-4147-A177-3AD203B41FA5}">
                      <a16:colId xmlns:a16="http://schemas.microsoft.com/office/drawing/2014/main" val="20003"/>
                    </a:ext>
                  </a:extLst>
                </a:gridCol>
                <a:gridCol w="632827">
                  <a:extLst>
                    <a:ext uri="{9D8B030D-6E8A-4147-A177-3AD203B41FA5}">
                      <a16:colId xmlns:a16="http://schemas.microsoft.com/office/drawing/2014/main" val="20004"/>
                    </a:ext>
                  </a:extLst>
                </a:gridCol>
                <a:gridCol w="632827">
                  <a:extLst>
                    <a:ext uri="{9D8B030D-6E8A-4147-A177-3AD203B41FA5}">
                      <a16:colId xmlns:a16="http://schemas.microsoft.com/office/drawing/2014/main" val="20005"/>
                    </a:ext>
                  </a:extLst>
                </a:gridCol>
                <a:gridCol w="632827">
                  <a:extLst>
                    <a:ext uri="{9D8B030D-6E8A-4147-A177-3AD203B41FA5}">
                      <a16:colId xmlns:a16="http://schemas.microsoft.com/office/drawing/2014/main" val="20006"/>
                    </a:ext>
                  </a:extLst>
                </a:gridCol>
                <a:gridCol w="632827">
                  <a:extLst>
                    <a:ext uri="{9D8B030D-6E8A-4147-A177-3AD203B41FA5}">
                      <a16:colId xmlns:a16="http://schemas.microsoft.com/office/drawing/2014/main" val="20007"/>
                    </a:ext>
                  </a:extLst>
                </a:gridCol>
                <a:gridCol w="632827">
                  <a:extLst>
                    <a:ext uri="{9D8B030D-6E8A-4147-A177-3AD203B41FA5}">
                      <a16:colId xmlns:a16="http://schemas.microsoft.com/office/drawing/2014/main" val="20008"/>
                    </a:ext>
                  </a:extLst>
                </a:gridCol>
                <a:gridCol w="632827">
                  <a:extLst>
                    <a:ext uri="{9D8B030D-6E8A-4147-A177-3AD203B41FA5}">
                      <a16:colId xmlns:a16="http://schemas.microsoft.com/office/drawing/2014/main" val="20009"/>
                    </a:ext>
                  </a:extLst>
                </a:gridCol>
                <a:gridCol w="632827">
                  <a:extLst>
                    <a:ext uri="{9D8B030D-6E8A-4147-A177-3AD203B41FA5}">
                      <a16:colId xmlns:a16="http://schemas.microsoft.com/office/drawing/2014/main" val="20010"/>
                    </a:ext>
                  </a:extLst>
                </a:gridCol>
                <a:gridCol w="632827">
                  <a:extLst>
                    <a:ext uri="{9D8B030D-6E8A-4147-A177-3AD203B41FA5}">
                      <a16:colId xmlns:a16="http://schemas.microsoft.com/office/drawing/2014/main" val="20011"/>
                    </a:ext>
                  </a:extLst>
                </a:gridCol>
                <a:gridCol w="632827">
                  <a:extLst>
                    <a:ext uri="{9D8B030D-6E8A-4147-A177-3AD203B41FA5}">
                      <a16:colId xmlns:a16="http://schemas.microsoft.com/office/drawing/2014/main" val="20012"/>
                    </a:ext>
                  </a:extLst>
                </a:gridCol>
                <a:gridCol w="632827">
                  <a:extLst>
                    <a:ext uri="{9D8B030D-6E8A-4147-A177-3AD203B41FA5}">
                      <a16:colId xmlns:a16="http://schemas.microsoft.com/office/drawing/2014/main" val="20013"/>
                    </a:ext>
                  </a:extLst>
                </a:gridCol>
                <a:gridCol w="632827">
                  <a:extLst>
                    <a:ext uri="{9D8B030D-6E8A-4147-A177-3AD203B41FA5}">
                      <a16:colId xmlns:a16="http://schemas.microsoft.com/office/drawing/2014/main" val="20014"/>
                    </a:ext>
                  </a:extLst>
                </a:gridCol>
                <a:gridCol w="632827">
                  <a:extLst>
                    <a:ext uri="{9D8B030D-6E8A-4147-A177-3AD203B41FA5}">
                      <a16:colId xmlns:a16="http://schemas.microsoft.com/office/drawing/2014/main" val="20015"/>
                    </a:ext>
                  </a:extLst>
                </a:gridCol>
                <a:gridCol w="632827">
                  <a:extLst>
                    <a:ext uri="{9D8B030D-6E8A-4147-A177-3AD203B41FA5}">
                      <a16:colId xmlns:a16="http://schemas.microsoft.com/office/drawing/2014/main" val="20016"/>
                    </a:ext>
                  </a:extLst>
                </a:gridCol>
                <a:gridCol w="632827">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302">
                <a:tc>
                  <a:txBody>
                    <a:bodyPr/>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302">
                <a:tc>
                  <a:txBody>
                    <a:bodyPr/>
                    <a:lstStyle/>
                    <a:p>
                      <a:pPr algn="l"/>
                      <a:r>
                        <a:rPr sz="1100" b="1">
                          <a:solidFill>
                            <a:srgbClr val="2E2E2E"/>
                          </a:solidFill>
                          <a:latin typeface="Calibri"/>
                        </a:rPr>
                        <a:t>U.K.</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302">
                <a:tc>
                  <a:txBody>
                    <a:bodyPr/>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302">
                <a:tc>
                  <a:txBody>
                    <a:bodyPr/>
                    <a:lstStyle/>
                    <a:p>
                      <a:pPr algn="l"/>
                      <a:r>
                        <a:rPr sz="1100" b="1">
                          <a:solidFill>
                            <a:srgbClr val="2E2E2E"/>
                          </a:solidFill>
                          <a:latin typeface="Calibri"/>
                        </a:rPr>
                        <a:t>Italy</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302">
                <a:tc>
                  <a:txBody>
                    <a:bodyPr/>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302">
                <a:tc>
                  <a:txBody>
                    <a:bodyPr/>
                    <a:lstStyle/>
                    <a:p>
                      <a:pPr algn="l"/>
                      <a:r>
                        <a:rPr sz="1100" b="1">
                          <a:solidFill>
                            <a:srgbClr val="2E2E2E"/>
                          </a:solidFill>
                          <a:latin typeface="Calibri"/>
                        </a:rPr>
                        <a:t>Belgium</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302">
                <a:tc>
                  <a:txBody>
                    <a:bodyPr/>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7"/>
                  </a:ext>
                </a:extLst>
              </a:tr>
              <a:tr h="246302">
                <a:tc>
                  <a:txBody>
                    <a:bodyPr/>
                    <a:lstStyle/>
                    <a:p>
                      <a:pPr algn="l"/>
                      <a:r>
                        <a:rPr sz="1100" b="1">
                          <a:solidFill>
                            <a:srgbClr val="2E2E2E"/>
                          </a:solidFill>
                          <a:latin typeface="Calibri"/>
                        </a:rPr>
                        <a:t>Nordic</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8"/>
                  </a:ext>
                </a:extLst>
              </a:tr>
              <a:tr h="246302">
                <a:tc>
                  <a:txBody>
                    <a:bodyPr/>
                    <a:lstStyle/>
                    <a:p>
                      <a:pPr algn="l"/>
                      <a:r>
                        <a:rPr sz="1100" b="1">
                          <a:solidFill>
                            <a:srgbClr val="2E2E2E"/>
                          </a:solidFill>
                          <a:latin typeface="Calibri"/>
                        </a:rPr>
                        <a:t>Russia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9"/>
                  </a:ext>
                </a:extLst>
              </a:tr>
              <a:tr h="246302">
                <a:tc>
                  <a:txBody>
                    <a:bodyPr/>
                    <a:lstStyle/>
                    <a:p>
                      <a:pPr algn="l"/>
                      <a:r>
                        <a:rPr sz="1100" b="1">
                          <a:solidFill>
                            <a:srgbClr val="2E2E2E"/>
                          </a:solidFill>
                          <a:latin typeface="Calibri"/>
                        </a:rPr>
                        <a:t>Poland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0"/>
                  </a:ext>
                </a:extLst>
              </a:tr>
              <a:tr h="246302">
                <a:tc>
                  <a:txBody>
                    <a:bodyPr/>
                    <a:lstStyle/>
                    <a:p>
                      <a:pPr algn="l"/>
                      <a:r>
                        <a:rPr sz="1100" b="1">
                          <a:solidFill>
                            <a:srgbClr val="2E2E2E"/>
                          </a:solidFill>
                          <a:latin typeface="Calibri"/>
                        </a:rPr>
                        <a:t>Switzerland</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1"/>
                  </a:ext>
                </a:extLst>
              </a:tr>
              <a:tr h="246302">
                <a:tc>
                  <a:txBody>
                    <a:bodyPr/>
                    <a:lstStyle/>
                    <a:p>
                      <a:pPr algn="l"/>
                      <a:r>
                        <a:rPr sz="1100" b="1">
                          <a:solidFill>
                            <a:srgbClr val="2E2E2E"/>
                          </a:solidFill>
                          <a:latin typeface="Calibri"/>
                        </a:rPr>
                        <a:t>Rest of Europe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2"/>
                  </a:ext>
                </a:extLst>
              </a:tr>
              <a:tr h="246302">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13"/>
                  </a:ext>
                </a:extLst>
              </a:tr>
            </a:tbl>
          </a:graphicData>
        </a:graphic>
      </p:graphicFrame>
      <p:sp>
        <p:nvSpPr>
          <p:cNvPr id="13" name="TextBox 12"/>
          <p:cNvSpPr txBox="1"/>
          <p:nvPr/>
        </p:nvSpPr>
        <p:spPr>
          <a:xfrm>
            <a:off x="219075" y="469582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029200"/>
            <a:ext cx="11906250"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5114925"/>
            <a:ext cx="11639550" cy="209550"/>
          </a:xfrm>
          <a:prstGeom prst="rect">
            <a:avLst/>
          </a:prstGeom>
          <a:noFill/>
        </p:spPr>
        <p:txBody>
          <a:bodyPr wrap="square" lIns="0" tIns="9525" rIns="19050" bIns="9525">
            <a:spAutoFit/>
          </a:bodyPr>
          <a:lstStyle/>
          <a:p>
            <a:pPr algn="l"/>
            <a:r>
              <a:rPr sz="1300" b="1">
                <a:solidFill>
                  <a:srgbClr val="0B2E4A"/>
                </a:solidFill>
                <a:latin typeface="Calibri"/>
              </a:rPr>
              <a:t>Europe Value Share Read-out, By Country</a:t>
            </a:r>
          </a:p>
        </p:txBody>
      </p:sp>
      <p:sp>
        <p:nvSpPr>
          <p:cNvPr id="16" name="Rectangle 15"/>
          <p:cNvSpPr/>
          <p:nvPr/>
        </p:nvSpPr>
        <p:spPr>
          <a:xfrm>
            <a:off x="276225" y="5353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5438775"/>
            <a:ext cx="11639550" cy="11144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73883" y="2818639"/>
            <a:ext cx="366712" cy="533400"/>
          </a:xfrm>
          <a:prstGeom prst="rect">
            <a:avLst/>
          </a:prstGeom>
        </p:spPr>
      </p:pic>
      <p:sp>
        <p:nvSpPr>
          <p:cNvPr id="20" name="TextBox 19"/>
          <p:cNvSpPr txBox="1"/>
          <p:nvPr/>
        </p:nvSpPr>
        <p:spPr>
          <a:xfrm>
            <a:off x="276225" y="5448300"/>
            <a:ext cx="4430315" cy="194310"/>
          </a:xfrm>
          <a:prstGeom prst="rect">
            <a:avLst/>
          </a:prstGeom>
          <a:noFill/>
        </p:spPr>
        <p:txBody>
          <a:bodyPr wrap="none" lIns="0" tIns="0" rIns="0" bIns="0">
            <a:spAutoFit/>
          </a:bodyPr>
          <a:lstStyle/>
          <a:p>
            <a:r>
              <a:rPr sz="1150" b="0">
                <a:solidFill>
                  <a:srgbClr val="2E2E2E"/>
                </a:solidFill>
                <a:latin typeface="Calibri"/>
              </a:rPr>
              <a:t>Germany senior dog cognitive supplement market is projected to register</a:t>
            </a:r>
          </a:p>
        </p:txBody>
      </p:sp>
      <p:pic>
        <p:nvPicPr>
          <p:cNvPr id="21" name="Picture 20" descr="lock.png"/>
          <p:cNvPicPr>
            <a:picLocks noChangeAspect="1"/>
          </p:cNvPicPr>
          <p:nvPr/>
        </p:nvPicPr>
        <p:blipFill>
          <a:blip r:embed="rId4"/>
          <a:stretch>
            <a:fillRect/>
          </a:stretch>
        </p:blipFill>
        <p:spPr>
          <a:xfrm>
            <a:off x="4655694" y="5438076"/>
            <a:ext cx="134549" cy="195707"/>
          </a:xfrm>
          <a:prstGeom prst="rect">
            <a:avLst/>
          </a:prstGeom>
        </p:spPr>
      </p:pic>
      <p:sp>
        <p:nvSpPr>
          <p:cNvPr id="22" name="TextBox 21"/>
          <p:cNvSpPr txBox="1"/>
          <p:nvPr/>
        </p:nvSpPr>
        <p:spPr>
          <a:xfrm>
            <a:off x="4830803" y="5448300"/>
            <a:ext cx="6813326" cy="194310"/>
          </a:xfrm>
          <a:prstGeom prst="rect">
            <a:avLst/>
          </a:prstGeom>
          <a:noFill/>
        </p:spPr>
        <p:txBody>
          <a:bodyPr wrap="none" lIns="0" tIns="0" rIns="0" bIns="0">
            <a:spAutoFit/>
          </a:bodyPr>
          <a:lstStyle/>
          <a:p>
            <a:r>
              <a:rPr sz="1150" b="0">
                <a:solidFill>
                  <a:srgbClr val="2E2E2E"/>
                </a:solidFill>
                <a:latin typeface="Calibri"/>
              </a:rPr>
              <a:t>X higher value than the U.K. in 2036. Among senior dog cognitive supplement by country, Germany is expected to</a:t>
            </a:r>
          </a:p>
        </p:txBody>
      </p:sp>
      <p:sp>
        <p:nvSpPr>
          <p:cNvPr id="23" name="TextBox 22"/>
          <p:cNvSpPr txBox="1"/>
          <p:nvPr/>
        </p:nvSpPr>
        <p:spPr>
          <a:xfrm>
            <a:off x="276225" y="5623560"/>
            <a:ext cx="1747770" cy="194310"/>
          </a:xfrm>
          <a:prstGeom prst="rect">
            <a:avLst/>
          </a:prstGeom>
          <a:noFill/>
        </p:spPr>
        <p:txBody>
          <a:bodyPr wrap="none" lIns="0" tIns="0" r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5613336"/>
            <a:ext cx="134549" cy="195707"/>
          </a:xfrm>
          <a:prstGeom prst="rect">
            <a:avLst/>
          </a:prstGeom>
        </p:spPr>
      </p:pic>
      <p:sp>
        <p:nvSpPr>
          <p:cNvPr id="25" name="TextBox 24"/>
          <p:cNvSpPr txBox="1"/>
          <p:nvPr/>
        </p:nvSpPr>
        <p:spPr>
          <a:xfrm>
            <a:off x="2148258" y="5623560"/>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5851397"/>
            <a:ext cx="5375361" cy="194310"/>
          </a:xfrm>
          <a:prstGeom prst="rect">
            <a:avLst/>
          </a:prstGeom>
          <a:noFill/>
        </p:spPr>
        <p:txBody>
          <a:bodyPr wrap="none" lIns="0" tIns="0" rIns="0" bIns="0">
            <a:spAutoFit/>
          </a:bodyPr>
          <a:lstStyle/>
          <a:p>
            <a:r>
              <a:rPr sz="1150" b="0">
                <a:solidFill>
                  <a:srgbClr val="2E2E2E"/>
                </a:solidFill>
                <a:latin typeface="Calibri"/>
              </a:rPr>
              <a:t>In terms of value share by country, Germany is expected to dominate the market, gaining</a:t>
            </a:r>
          </a:p>
        </p:txBody>
      </p:sp>
      <p:pic>
        <p:nvPicPr>
          <p:cNvPr id="27" name="Picture 26" descr="lock.png"/>
          <p:cNvPicPr>
            <a:picLocks noChangeAspect="1"/>
          </p:cNvPicPr>
          <p:nvPr/>
        </p:nvPicPr>
        <p:blipFill>
          <a:blip r:embed="rId4"/>
          <a:stretch>
            <a:fillRect/>
          </a:stretch>
        </p:blipFill>
        <p:spPr>
          <a:xfrm>
            <a:off x="5600740" y="5841174"/>
            <a:ext cx="134549" cy="195707"/>
          </a:xfrm>
          <a:prstGeom prst="rect">
            <a:avLst/>
          </a:prstGeom>
        </p:spPr>
      </p:pic>
      <p:sp>
        <p:nvSpPr>
          <p:cNvPr id="28" name="TextBox 27"/>
          <p:cNvSpPr txBox="1"/>
          <p:nvPr/>
        </p:nvSpPr>
        <p:spPr>
          <a:xfrm>
            <a:off x="5775850" y="5851397"/>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170993" y="5841174"/>
            <a:ext cx="134549" cy="195707"/>
          </a:xfrm>
          <a:prstGeom prst="rect">
            <a:avLst/>
          </a:prstGeom>
        </p:spPr>
      </p:pic>
      <p:sp>
        <p:nvSpPr>
          <p:cNvPr id="30" name="TextBox 29"/>
          <p:cNvSpPr txBox="1"/>
          <p:nvPr/>
        </p:nvSpPr>
        <p:spPr>
          <a:xfrm>
            <a:off x="7346102" y="5851397"/>
            <a:ext cx="2358231" cy="194310"/>
          </a:xfrm>
          <a:prstGeom prst="rect">
            <a:avLst/>
          </a:prstGeom>
          <a:noFill/>
        </p:spPr>
        <p:txBody>
          <a:bodyPr wrap="none" lIns="0" tIns="0" rIns="0" bIns="0">
            <a:spAutoFit/>
          </a:bodyPr>
          <a:lstStyle/>
          <a:p>
            <a:r>
              <a:rPr sz="1150" b="0">
                <a:solidFill>
                  <a:srgbClr val="2E2E2E"/>
                </a:solidFill>
                <a:latin typeface="Calibri"/>
              </a:rPr>
              <a:t>share by 2036. U.K. is expected to lose</a:t>
            </a:r>
          </a:p>
        </p:txBody>
      </p:sp>
      <p:pic>
        <p:nvPicPr>
          <p:cNvPr id="31" name="Picture 30" descr="lock.png"/>
          <p:cNvPicPr>
            <a:picLocks noChangeAspect="1"/>
          </p:cNvPicPr>
          <p:nvPr/>
        </p:nvPicPr>
        <p:blipFill>
          <a:blip r:embed="rId4"/>
          <a:stretch>
            <a:fillRect/>
          </a:stretch>
        </p:blipFill>
        <p:spPr>
          <a:xfrm>
            <a:off x="9653487" y="5841174"/>
            <a:ext cx="134549" cy="195707"/>
          </a:xfrm>
          <a:prstGeom prst="rect">
            <a:avLst/>
          </a:prstGeom>
        </p:spPr>
      </p:pic>
      <p:sp>
        <p:nvSpPr>
          <p:cNvPr id="32" name="TextBox 31"/>
          <p:cNvSpPr txBox="1"/>
          <p:nvPr/>
        </p:nvSpPr>
        <p:spPr>
          <a:xfrm>
            <a:off x="9828596" y="5851397"/>
            <a:ext cx="1767185" cy="194310"/>
          </a:xfrm>
          <a:prstGeom prst="rect">
            <a:avLst/>
          </a:prstGeom>
          <a:noFill/>
        </p:spPr>
        <p:txBody>
          <a:bodyPr wrap="none" lIns="0" tIns="0" rIns="0" bIns="0">
            <a:spAutoFit/>
          </a:bodyPr>
          <a:lstStyle/>
          <a:p>
            <a:r>
              <a:rPr sz="1150" b="0">
                <a:solidFill>
                  <a:srgbClr val="2E2E2E"/>
                </a:solidFill>
                <a:latin typeface="Calibri"/>
              </a:rPr>
              <a:t>BPS over the forecast period</a:t>
            </a:r>
          </a:p>
        </p:txBody>
      </p:sp>
      <p:sp>
        <p:nvSpPr>
          <p:cNvPr id="33" name="TextBox 32"/>
          <p:cNvSpPr txBox="1"/>
          <p:nvPr/>
        </p:nvSpPr>
        <p:spPr>
          <a:xfrm>
            <a:off x="276225" y="6026657"/>
            <a:ext cx="914275" cy="194310"/>
          </a:xfrm>
          <a:prstGeom prst="rect">
            <a:avLst/>
          </a:prstGeom>
          <a:noFill/>
        </p:spPr>
        <p:txBody>
          <a:bodyPr wrap="none" lIns="0" tIns="0" rIns="0" bIns="0">
            <a:spAutoFit/>
          </a:bodyPr>
          <a:lstStyle/>
          <a:p>
            <a:r>
              <a:rPr sz="1150" b="0">
                <a:solidFill>
                  <a:srgbClr val="2E2E2E"/>
                </a:solidFill>
                <a:latin typeface="Calibri"/>
              </a:rPr>
              <a:t>to account for</a:t>
            </a:r>
          </a:p>
        </p:txBody>
      </p:sp>
      <p:pic>
        <p:nvPicPr>
          <p:cNvPr id="34" name="Picture 33" descr="lock.png"/>
          <p:cNvPicPr>
            <a:picLocks noChangeAspect="1"/>
          </p:cNvPicPr>
          <p:nvPr/>
        </p:nvPicPr>
        <p:blipFill>
          <a:blip r:embed="rId4"/>
          <a:stretch>
            <a:fillRect/>
          </a:stretch>
        </p:blipFill>
        <p:spPr>
          <a:xfrm>
            <a:off x="1139654" y="6016434"/>
            <a:ext cx="134549" cy="195707"/>
          </a:xfrm>
          <a:prstGeom prst="rect">
            <a:avLst/>
          </a:prstGeom>
        </p:spPr>
      </p:pic>
      <p:sp>
        <p:nvSpPr>
          <p:cNvPr id="35" name="TextBox 34"/>
          <p:cNvSpPr txBox="1"/>
          <p:nvPr/>
        </p:nvSpPr>
        <p:spPr>
          <a:xfrm>
            <a:off x="1314764" y="6026657"/>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Trends, By Country</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Volume By Country (MT)</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MI Dense Legend"/>
          <p:cNvSpPr txBox="1"/>
          <p:nvPr/>
        </p:nvSpPr>
        <p:spPr>
          <a:xfrm>
            <a:off x="9839325" y="1362075"/>
            <a:ext cx="2057400" cy="171450"/>
          </a:xfrm>
          <a:prstGeom prst="rect">
            <a:avLst/>
          </a:prstGeom>
          <a:noFill/>
        </p:spPr>
        <p:txBody>
          <a:bodyPr wrap="none">
            <a:spAutoFit/>
          </a:bodyPr>
          <a:lstStyle/>
          <a:p>
            <a:r>
              <a:rPr sz="850" b="1">
                <a:solidFill>
                  <a:srgbClr val="6C7A89"/>
                </a:solidFill>
                <a:latin typeface="Calibri"/>
              </a:rPr>
              <a:t>By segment</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220"/>
              </a:spcBef>
            </a:pPr>
            <a:r>
              <a:rPr sz="750">
                <a:solidFill>
                  <a:srgbClr val="3D85C6"/>
                </a:solidFill>
                <a:latin typeface="Calibri"/>
              </a:rPr>
              <a:t>■  </a:t>
            </a:r>
            <a:r>
              <a:rPr sz="680">
                <a:solidFill>
                  <a:srgbClr val="2E2E2E"/>
                </a:solidFill>
                <a:latin typeface="Calibri"/>
              </a:rPr>
              <a:t>   Germany</a:t>
            </a:r>
          </a:p>
          <a:p>
            <a:pPr>
              <a:spcBef>
                <a:spcPts val="220"/>
              </a:spcBef>
            </a:pPr>
            <a:r>
              <a:rPr sz="750">
                <a:solidFill>
                  <a:srgbClr val="9E7E0A"/>
                </a:solidFill>
                <a:latin typeface="Calibri"/>
              </a:rPr>
              <a:t>■  </a:t>
            </a:r>
            <a:r>
              <a:rPr sz="680">
                <a:solidFill>
                  <a:srgbClr val="2E2E2E"/>
                </a:solidFill>
                <a:latin typeface="Calibri"/>
              </a:rPr>
              <a:t>   U.K.</a:t>
            </a:r>
          </a:p>
          <a:p>
            <a:pPr>
              <a:spcBef>
                <a:spcPts val="220"/>
              </a:spcBef>
            </a:pPr>
            <a:r>
              <a:rPr sz="750">
                <a:solidFill>
                  <a:srgbClr val="008189"/>
                </a:solidFill>
                <a:latin typeface="Calibri"/>
              </a:rPr>
              <a:t>■  </a:t>
            </a:r>
            <a:r>
              <a:rPr sz="680">
                <a:solidFill>
                  <a:srgbClr val="2E2E2E"/>
                </a:solidFill>
                <a:latin typeface="Calibri"/>
              </a:rPr>
              <a:t>   France</a:t>
            </a:r>
          </a:p>
          <a:p>
            <a:pPr>
              <a:spcBef>
                <a:spcPts val="220"/>
              </a:spcBef>
            </a:pPr>
            <a:r>
              <a:rPr sz="750">
                <a:solidFill>
                  <a:srgbClr val="40315E"/>
                </a:solidFill>
                <a:latin typeface="Calibri"/>
              </a:rPr>
              <a:t>■  </a:t>
            </a:r>
            <a:r>
              <a:rPr sz="680">
                <a:solidFill>
                  <a:srgbClr val="2E2E2E"/>
                </a:solidFill>
                <a:latin typeface="Calibri"/>
              </a:rPr>
              <a:t>   Italy</a:t>
            </a:r>
          </a:p>
          <a:p>
            <a:pPr>
              <a:spcBef>
                <a:spcPts val="220"/>
              </a:spcBef>
            </a:pPr>
            <a:r>
              <a:rPr sz="750">
                <a:solidFill>
                  <a:srgbClr val="A35313"/>
                </a:solidFill>
                <a:latin typeface="Calibri"/>
              </a:rPr>
              <a:t>■  </a:t>
            </a:r>
            <a:r>
              <a:rPr sz="680">
                <a:solidFill>
                  <a:srgbClr val="2E2E2E"/>
                </a:solidFill>
                <a:latin typeface="Calibri"/>
              </a:rPr>
              <a:t>   Spain</a:t>
            </a:r>
          </a:p>
          <a:p>
            <a:pPr>
              <a:spcBef>
                <a:spcPts val="220"/>
              </a:spcBef>
            </a:pPr>
            <a:r>
              <a:rPr sz="750">
                <a:solidFill>
                  <a:srgbClr val="0E72AE"/>
                </a:solidFill>
                <a:latin typeface="Calibri"/>
              </a:rPr>
              <a:t>■  </a:t>
            </a:r>
            <a:r>
              <a:rPr sz="680">
                <a:solidFill>
                  <a:srgbClr val="2E2E2E"/>
                </a:solidFill>
                <a:latin typeface="Calibri"/>
              </a:rPr>
              <a:t>   Netherlands</a:t>
            </a:r>
          </a:p>
          <a:p>
            <a:pPr>
              <a:spcBef>
                <a:spcPts val="220"/>
              </a:spcBef>
            </a:pPr>
            <a:r>
              <a:rPr sz="750">
                <a:solidFill>
                  <a:srgbClr val="808080"/>
                </a:solidFill>
                <a:latin typeface="Calibri"/>
              </a:rPr>
              <a:t>■  </a:t>
            </a:r>
            <a:r>
              <a:rPr sz="680">
                <a:solidFill>
                  <a:srgbClr val="2E2E2E"/>
                </a:solidFill>
                <a:latin typeface="Calibri"/>
              </a:rPr>
              <a:t>   Belgium</a:t>
            </a:r>
          </a:p>
          <a:p>
            <a:pPr>
              <a:spcBef>
                <a:spcPts val="220"/>
              </a:spcBef>
            </a:pPr>
            <a:r>
              <a:rPr sz="750">
                <a:solidFill>
                  <a:srgbClr val="A86F00"/>
                </a:solidFill>
                <a:latin typeface="Calibri"/>
              </a:rPr>
              <a:t>■  </a:t>
            </a:r>
            <a:r>
              <a:rPr sz="680">
                <a:solidFill>
                  <a:srgbClr val="2E2E2E"/>
                </a:solidFill>
                <a:latin typeface="Calibri"/>
              </a:rPr>
              <a:t>   Nordic</a:t>
            </a:r>
          </a:p>
          <a:p>
            <a:pPr>
              <a:spcBef>
                <a:spcPts val="220"/>
              </a:spcBef>
            </a:pPr>
            <a:r>
              <a:rPr sz="750">
                <a:solidFill>
                  <a:srgbClr val="0B2E4A"/>
                </a:solidFill>
                <a:latin typeface="Calibri"/>
              </a:rPr>
              <a:t>■  </a:t>
            </a:r>
            <a:r>
              <a:rPr sz="680">
                <a:solidFill>
                  <a:srgbClr val="2E2E2E"/>
                </a:solidFill>
                <a:latin typeface="Calibri"/>
              </a:rPr>
              <a:t>   Russia</a:t>
            </a:r>
          </a:p>
          <a:p>
            <a:pPr>
              <a:spcBef>
                <a:spcPts val="220"/>
              </a:spcBef>
            </a:pPr>
            <a:r>
              <a:rPr sz="750">
                <a:solidFill>
                  <a:srgbClr val="6C7A89"/>
                </a:solidFill>
                <a:latin typeface="Calibri"/>
              </a:rPr>
              <a:t>■  </a:t>
            </a:r>
            <a:r>
              <a:rPr sz="680">
                <a:solidFill>
                  <a:srgbClr val="2E2E2E"/>
                </a:solidFill>
                <a:latin typeface="Calibri"/>
              </a:rPr>
              <a:t>   Poland</a:t>
            </a:r>
          </a:p>
          <a:p>
            <a:pPr>
              <a:spcBef>
                <a:spcPts val="220"/>
              </a:spcBef>
            </a:pPr>
            <a:r>
              <a:rPr sz="750">
                <a:solidFill>
                  <a:srgbClr val="B2B2B2"/>
                </a:solidFill>
                <a:latin typeface="Calibri"/>
              </a:rPr>
              <a:t>■  </a:t>
            </a:r>
            <a:r>
              <a:rPr sz="680">
                <a:solidFill>
                  <a:srgbClr val="2E2E2E"/>
                </a:solidFill>
                <a:latin typeface="Calibri"/>
              </a:rPr>
              <a:t>   Switzerland</a:t>
            </a:r>
          </a:p>
          <a:p>
            <a:pPr>
              <a:spcBef>
                <a:spcPts val="220"/>
              </a:spcBef>
            </a:pPr>
            <a:r>
              <a:rPr sz="750">
                <a:solidFill>
                  <a:srgbClr val="5F5F5F"/>
                </a:solidFill>
                <a:latin typeface="Calibri"/>
              </a:rPr>
              <a:t>■  </a:t>
            </a:r>
            <a:r>
              <a:rPr sz="680">
                <a:solidFill>
                  <a:srgbClr val="2E2E2E"/>
                </a:solidFill>
                <a:latin typeface="Calibri"/>
              </a:rPr>
              <a:t>   Rest of Europe</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By Country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MI Dense Legend"/>
          <p:cNvSpPr txBox="1"/>
          <p:nvPr/>
        </p:nvSpPr>
        <p:spPr>
          <a:xfrm>
            <a:off x="9839325" y="4248150"/>
            <a:ext cx="2057400" cy="171450"/>
          </a:xfrm>
          <a:prstGeom prst="rect">
            <a:avLst/>
          </a:prstGeom>
          <a:noFill/>
        </p:spPr>
        <p:txBody>
          <a:bodyPr wrap="none">
            <a:spAutoFit/>
          </a:bodyPr>
          <a:lstStyle/>
          <a:p>
            <a:r>
              <a:rPr sz="850" b="1">
                <a:solidFill>
                  <a:srgbClr val="6C7A89"/>
                </a:solidFill>
                <a:latin typeface="Calibri"/>
              </a:rPr>
              <a:t>By segment</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220"/>
              </a:spcBef>
            </a:pPr>
            <a:r>
              <a:rPr sz="750">
                <a:solidFill>
                  <a:srgbClr val="3D85C6"/>
                </a:solidFill>
                <a:latin typeface="Calibri"/>
              </a:rPr>
              <a:t>■  </a:t>
            </a:r>
            <a:r>
              <a:rPr sz="680">
                <a:solidFill>
                  <a:srgbClr val="2E2E2E"/>
                </a:solidFill>
                <a:latin typeface="Calibri"/>
              </a:rPr>
              <a:t>   Germany</a:t>
            </a:r>
          </a:p>
          <a:p>
            <a:pPr>
              <a:spcBef>
                <a:spcPts val="220"/>
              </a:spcBef>
            </a:pPr>
            <a:r>
              <a:rPr sz="750">
                <a:solidFill>
                  <a:srgbClr val="9E7E0A"/>
                </a:solidFill>
                <a:latin typeface="Calibri"/>
              </a:rPr>
              <a:t>■  </a:t>
            </a:r>
            <a:r>
              <a:rPr sz="680">
                <a:solidFill>
                  <a:srgbClr val="2E2E2E"/>
                </a:solidFill>
                <a:latin typeface="Calibri"/>
              </a:rPr>
              <a:t>   U.K.</a:t>
            </a:r>
          </a:p>
          <a:p>
            <a:pPr>
              <a:spcBef>
                <a:spcPts val="220"/>
              </a:spcBef>
            </a:pPr>
            <a:r>
              <a:rPr sz="750">
                <a:solidFill>
                  <a:srgbClr val="008189"/>
                </a:solidFill>
                <a:latin typeface="Calibri"/>
              </a:rPr>
              <a:t>■  </a:t>
            </a:r>
            <a:r>
              <a:rPr sz="680">
                <a:solidFill>
                  <a:srgbClr val="2E2E2E"/>
                </a:solidFill>
                <a:latin typeface="Calibri"/>
              </a:rPr>
              <a:t>   France</a:t>
            </a:r>
          </a:p>
          <a:p>
            <a:pPr>
              <a:spcBef>
                <a:spcPts val="220"/>
              </a:spcBef>
            </a:pPr>
            <a:r>
              <a:rPr sz="750">
                <a:solidFill>
                  <a:srgbClr val="40315E"/>
                </a:solidFill>
                <a:latin typeface="Calibri"/>
              </a:rPr>
              <a:t>■  </a:t>
            </a:r>
            <a:r>
              <a:rPr sz="680">
                <a:solidFill>
                  <a:srgbClr val="2E2E2E"/>
                </a:solidFill>
                <a:latin typeface="Calibri"/>
              </a:rPr>
              <a:t>   Italy</a:t>
            </a:r>
          </a:p>
          <a:p>
            <a:pPr>
              <a:spcBef>
                <a:spcPts val="220"/>
              </a:spcBef>
            </a:pPr>
            <a:r>
              <a:rPr sz="750">
                <a:solidFill>
                  <a:srgbClr val="A35313"/>
                </a:solidFill>
                <a:latin typeface="Calibri"/>
              </a:rPr>
              <a:t>■  </a:t>
            </a:r>
            <a:r>
              <a:rPr sz="680">
                <a:solidFill>
                  <a:srgbClr val="2E2E2E"/>
                </a:solidFill>
                <a:latin typeface="Calibri"/>
              </a:rPr>
              <a:t>   Spain</a:t>
            </a:r>
          </a:p>
          <a:p>
            <a:pPr>
              <a:spcBef>
                <a:spcPts val="220"/>
              </a:spcBef>
            </a:pPr>
            <a:r>
              <a:rPr sz="750">
                <a:solidFill>
                  <a:srgbClr val="0E72AE"/>
                </a:solidFill>
                <a:latin typeface="Calibri"/>
              </a:rPr>
              <a:t>■  </a:t>
            </a:r>
            <a:r>
              <a:rPr sz="680">
                <a:solidFill>
                  <a:srgbClr val="2E2E2E"/>
                </a:solidFill>
                <a:latin typeface="Calibri"/>
              </a:rPr>
              <a:t>   Netherlands</a:t>
            </a:r>
          </a:p>
          <a:p>
            <a:pPr>
              <a:spcBef>
                <a:spcPts val="220"/>
              </a:spcBef>
            </a:pPr>
            <a:r>
              <a:rPr sz="750">
                <a:solidFill>
                  <a:srgbClr val="808080"/>
                </a:solidFill>
                <a:latin typeface="Calibri"/>
              </a:rPr>
              <a:t>■  </a:t>
            </a:r>
            <a:r>
              <a:rPr sz="680">
                <a:solidFill>
                  <a:srgbClr val="2E2E2E"/>
                </a:solidFill>
                <a:latin typeface="Calibri"/>
              </a:rPr>
              <a:t>   Belgium</a:t>
            </a:r>
          </a:p>
          <a:p>
            <a:pPr>
              <a:spcBef>
                <a:spcPts val="220"/>
              </a:spcBef>
            </a:pPr>
            <a:r>
              <a:rPr sz="750">
                <a:solidFill>
                  <a:srgbClr val="A86F00"/>
                </a:solidFill>
                <a:latin typeface="Calibri"/>
              </a:rPr>
              <a:t>■  </a:t>
            </a:r>
            <a:r>
              <a:rPr sz="680">
                <a:solidFill>
                  <a:srgbClr val="2E2E2E"/>
                </a:solidFill>
                <a:latin typeface="Calibri"/>
              </a:rPr>
              <a:t>   Nordic</a:t>
            </a:r>
          </a:p>
          <a:p>
            <a:pPr>
              <a:spcBef>
                <a:spcPts val="220"/>
              </a:spcBef>
            </a:pPr>
            <a:r>
              <a:rPr sz="750">
                <a:solidFill>
                  <a:srgbClr val="0B2E4A"/>
                </a:solidFill>
                <a:latin typeface="Calibri"/>
              </a:rPr>
              <a:t>■  </a:t>
            </a:r>
            <a:r>
              <a:rPr sz="680">
                <a:solidFill>
                  <a:srgbClr val="2E2E2E"/>
                </a:solidFill>
                <a:latin typeface="Calibri"/>
              </a:rPr>
              <a:t>   Russia</a:t>
            </a:r>
          </a:p>
          <a:p>
            <a:pPr>
              <a:spcBef>
                <a:spcPts val="220"/>
              </a:spcBef>
            </a:pPr>
            <a:r>
              <a:rPr sz="750">
                <a:solidFill>
                  <a:srgbClr val="6C7A89"/>
                </a:solidFill>
                <a:latin typeface="Calibri"/>
              </a:rPr>
              <a:t>■  </a:t>
            </a:r>
            <a:r>
              <a:rPr sz="680">
                <a:solidFill>
                  <a:srgbClr val="2E2E2E"/>
                </a:solidFill>
                <a:latin typeface="Calibri"/>
              </a:rPr>
              <a:t>   Poland</a:t>
            </a:r>
          </a:p>
          <a:p>
            <a:pPr>
              <a:spcBef>
                <a:spcPts val="220"/>
              </a:spcBef>
            </a:pPr>
            <a:r>
              <a:rPr sz="750">
                <a:solidFill>
                  <a:srgbClr val="B2B2B2"/>
                </a:solidFill>
                <a:latin typeface="Calibri"/>
              </a:rPr>
              <a:t>■  </a:t>
            </a:r>
            <a:r>
              <a:rPr sz="680">
                <a:solidFill>
                  <a:srgbClr val="2E2E2E"/>
                </a:solidFill>
                <a:latin typeface="Calibri"/>
              </a:rPr>
              <a:t>   Switzerland</a:t>
            </a:r>
          </a:p>
          <a:p>
            <a:pPr>
              <a:spcBef>
                <a:spcPts val="220"/>
              </a:spcBef>
            </a:pPr>
            <a:r>
              <a:rPr sz="750">
                <a:solidFill>
                  <a:srgbClr val="5F5F5F"/>
                </a:solidFill>
                <a:latin typeface="Calibri"/>
              </a:rPr>
              <a:t>■  </a:t>
            </a:r>
            <a:r>
              <a:rPr sz="680">
                <a:solidFill>
                  <a:srgbClr val="2E2E2E"/>
                </a:solidFill>
                <a:latin typeface="Calibri"/>
              </a:rPr>
              <a:t>   Rest of Europe</a:t>
            </a:r>
          </a:p>
        </p:txBody>
      </p:sp>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6"/>
          <a:stretch>
            <a:fillRect/>
          </a:stretch>
        </p:blipFill>
        <p:spPr>
          <a:xfrm>
            <a:off x="4933434" y="2176405"/>
            <a:ext cx="347145" cy="504938"/>
          </a:xfrm>
          <a:prstGeom prst="rect">
            <a:avLst/>
          </a:prstGeom>
        </p:spPr>
      </p:pic>
      <p:pic>
        <p:nvPicPr>
          <p:cNvPr id="24" name="Picture 23" descr="lock.png"/>
          <p:cNvPicPr>
            <a:picLocks noChangeAspect="1"/>
          </p:cNvPicPr>
          <p:nvPr/>
        </p:nvPicPr>
        <p:blipFill>
          <a:blip r:embed="rId6"/>
          <a:stretch>
            <a:fillRect/>
          </a:stretch>
        </p:blipFill>
        <p:spPr>
          <a:xfrm>
            <a:off x="4933434" y="5062480"/>
            <a:ext cx="347145" cy="504938"/>
          </a:xfrm>
          <a:prstGeom prst="rect">
            <a:avLst/>
          </a:prstGeom>
        </p:spPr>
      </p:pic>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Senior Dog Cognitive Supplement Market Top 10 Countries (2036)</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Country hierarchy of the Europe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market by country  ·  2036 (US$ Mn)  ·  tile size = market value</a:t>
            </a:r>
          </a:p>
        </p:txBody>
      </p:sp>
      <p:sp>
        <p:nvSpPr>
          <p:cNvPr id="12" name="Rectangle 11"/>
          <p:cNvSpPr/>
          <p:nvPr/>
        </p:nvSpPr>
        <p:spPr>
          <a:xfrm>
            <a:off x="238125" y="1266825"/>
            <a:ext cx="4988872"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3" name="Rectangle 12"/>
          <p:cNvSpPr/>
          <p:nvPr/>
        </p:nvSpPr>
        <p:spPr>
          <a:xfrm>
            <a:off x="5226997" y="1266825"/>
            <a:ext cx="3102314" cy="2983273"/>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U.K.</a:t>
            </a:r>
          </a:p>
          <a:p>
            <a:pPr algn="ctr"/>
            <a:r>
              <a:rPr sz="1100" b="0">
                <a:solidFill>
                  <a:srgbClr val="FFFFFF"/>
                </a:solidFill>
                <a:latin typeface="Calibri"/>
              </a:rPr>
              <a:t> </a:t>
            </a:r>
          </a:p>
        </p:txBody>
      </p:sp>
      <p:sp>
        <p:nvSpPr>
          <p:cNvPr id="14" name="Rectangle 13"/>
          <p:cNvSpPr/>
          <p:nvPr/>
        </p:nvSpPr>
        <p:spPr>
          <a:xfrm>
            <a:off x="5226997" y="4250098"/>
            <a:ext cx="3102314" cy="2322152"/>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France</a:t>
            </a:r>
          </a:p>
          <a:p>
            <a:pPr algn="ctr"/>
            <a:r>
              <a:rPr sz="1100" b="0">
                <a:solidFill>
                  <a:srgbClr val="FFFFFF"/>
                </a:solidFill>
                <a:latin typeface="Calibri"/>
              </a:rPr>
              <a:t> </a:t>
            </a:r>
          </a:p>
        </p:txBody>
      </p:sp>
      <p:sp>
        <p:nvSpPr>
          <p:cNvPr id="15" name="Rectangle 14"/>
          <p:cNvSpPr/>
          <p:nvPr/>
        </p:nvSpPr>
        <p:spPr>
          <a:xfrm>
            <a:off x="8329311" y="1266825"/>
            <a:ext cx="1868591" cy="2189649"/>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Italy</a:t>
            </a:r>
          </a:p>
          <a:p>
            <a:pPr algn="ctr"/>
            <a:r>
              <a:rPr sz="1100" b="0">
                <a:solidFill>
                  <a:srgbClr val="FFFFFF"/>
                </a:solidFill>
                <a:latin typeface="Calibri"/>
              </a:rPr>
              <a:t> </a:t>
            </a:r>
          </a:p>
        </p:txBody>
      </p:sp>
      <p:sp>
        <p:nvSpPr>
          <p:cNvPr id="16" name="Rectangle 15"/>
          <p:cNvSpPr/>
          <p:nvPr/>
        </p:nvSpPr>
        <p:spPr>
          <a:xfrm>
            <a:off x="10197902" y="1266825"/>
            <a:ext cx="1755973" cy="2189649"/>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Spain</a:t>
            </a:r>
          </a:p>
          <a:p>
            <a:pPr algn="ctr"/>
            <a:r>
              <a:rPr sz="1100" b="0">
                <a:solidFill>
                  <a:srgbClr val="FFFFFF"/>
                </a:solidFill>
                <a:latin typeface="Calibri"/>
              </a:rPr>
              <a:t> </a:t>
            </a:r>
          </a:p>
        </p:txBody>
      </p:sp>
      <p:sp>
        <p:nvSpPr>
          <p:cNvPr id="17" name="Rectangle 16"/>
          <p:cNvSpPr/>
          <p:nvPr/>
        </p:nvSpPr>
        <p:spPr>
          <a:xfrm>
            <a:off x="8329311" y="3456474"/>
            <a:ext cx="1744228" cy="1593776"/>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Netherlands</a:t>
            </a:r>
          </a:p>
          <a:p>
            <a:pPr algn="ctr"/>
            <a:r>
              <a:rPr sz="1100" b="0">
                <a:solidFill>
                  <a:srgbClr val="FFFFFF"/>
                </a:solidFill>
                <a:latin typeface="Calibri"/>
              </a:rPr>
              <a:t> </a:t>
            </a:r>
          </a:p>
        </p:txBody>
      </p:sp>
      <p:sp>
        <p:nvSpPr>
          <p:cNvPr id="18" name="Rectangle 17"/>
          <p:cNvSpPr/>
          <p:nvPr/>
        </p:nvSpPr>
        <p:spPr>
          <a:xfrm>
            <a:off x="8329311" y="5050250"/>
            <a:ext cx="1744228" cy="1522000"/>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Belgium</a:t>
            </a:r>
          </a:p>
          <a:p>
            <a:pPr algn="ctr"/>
            <a:r>
              <a:rPr sz="1100" b="0">
                <a:solidFill>
                  <a:srgbClr val="FFFFFF"/>
                </a:solidFill>
                <a:latin typeface="Calibri"/>
              </a:rPr>
              <a:t> </a:t>
            </a:r>
          </a:p>
        </p:txBody>
      </p:sp>
      <p:sp>
        <p:nvSpPr>
          <p:cNvPr id="19" name="Rectangle 18"/>
          <p:cNvSpPr/>
          <p:nvPr/>
        </p:nvSpPr>
        <p:spPr>
          <a:xfrm>
            <a:off x="10073540" y="3456474"/>
            <a:ext cx="1880335" cy="1113234"/>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Nordic</a:t>
            </a:r>
          </a:p>
          <a:p>
            <a:pPr algn="ctr"/>
            <a:r>
              <a:rPr sz="1100" b="0">
                <a:solidFill>
                  <a:srgbClr val="FFFFFF"/>
                </a:solidFill>
                <a:latin typeface="Calibri"/>
              </a:rPr>
              <a:t> </a:t>
            </a:r>
          </a:p>
        </p:txBody>
      </p:sp>
      <p:sp>
        <p:nvSpPr>
          <p:cNvPr id="20" name="Rectangle 19"/>
          <p:cNvSpPr/>
          <p:nvPr/>
        </p:nvSpPr>
        <p:spPr>
          <a:xfrm>
            <a:off x="10073540" y="4569707"/>
            <a:ext cx="1880335" cy="1059724"/>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Russia</a:t>
            </a:r>
          </a:p>
          <a:p>
            <a:pPr algn="ctr"/>
            <a:r>
              <a:rPr sz="1100" b="0">
                <a:solidFill>
                  <a:srgbClr val="FFFFFF"/>
                </a:solidFill>
                <a:latin typeface="Calibri"/>
              </a:rPr>
              <a:t> </a:t>
            </a:r>
          </a:p>
        </p:txBody>
      </p:sp>
      <p:sp>
        <p:nvSpPr>
          <p:cNvPr id="21" name="Rectangle 20"/>
          <p:cNvSpPr/>
          <p:nvPr/>
        </p:nvSpPr>
        <p:spPr>
          <a:xfrm>
            <a:off x="10073540" y="5629431"/>
            <a:ext cx="1880335" cy="942819"/>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Poland</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2578122"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6623715" y="2758461"/>
            <a:ext cx="308877" cy="449275"/>
          </a:xfrm>
          <a:prstGeom prst="rect">
            <a:avLst/>
          </a:prstGeom>
        </p:spPr>
      </p:pic>
      <p:pic>
        <p:nvPicPr>
          <p:cNvPr id="25" name="Picture 24" descr="lock.png"/>
          <p:cNvPicPr>
            <a:picLocks noChangeAspect="1"/>
          </p:cNvPicPr>
          <p:nvPr/>
        </p:nvPicPr>
        <p:blipFill>
          <a:blip r:embed="rId4"/>
          <a:stretch>
            <a:fillRect/>
          </a:stretch>
        </p:blipFill>
        <p:spPr>
          <a:xfrm>
            <a:off x="6623715" y="5411174"/>
            <a:ext cx="308877" cy="449275"/>
          </a:xfrm>
          <a:prstGeom prst="rect">
            <a:avLst/>
          </a:prstGeom>
        </p:spPr>
      </p:pic>
      <p:pic>
        <p:nvPicPr>
          <p:cNvPr id="26" name="Picture 25" descr="lock.png"/>
          <p:cNvPicPr>
            <a:picLocks noChangeAspect="1"/>
          </p:cNvPicPr>
          <p:nvPr/>
        </p:nvPicPr>
        <p:blipFill>
          <a:blip r:embed="rId4"/>
          <a:stretch>
            <a:fillRect/>
          </a:stretch>
        </p:blipFill>
        <p:spPr>
          <a:xfrm>
            <a:off x="9109168" y="2361649"/>
            <a:ext cx="308877" cy="449275"/>
          </a:xfrm>
          <a:prstGeom prst="rect">
            <a:avLst/>
          </a:prstGeom>
        </p:spPr>
      </p:pic>
      <p:pic>
        <p:nvPicPr>
          <p:cNvPr id="27" name="Picture 26" descr="lock.png"/>
          <p:cNvPicPr>
            <a:picLocks noChangeAspect="1"/>
          </p:cNvPicPr>
          <p:nvPr/>
        </p:nvPicPr>
        <p:blipFill>
          <a:blip r:embed="rId4"/>
          <a:stretch>
            <a:fillRect/>
          </a:stretch>
        </p:blipFill>
        <p:spPr>
          <a:xfrm>
            <a:off x="10921450" y="2361649"/>
            <a:ext cx="308877" cy="449275"/>
          </a:xfrm>
          <a:prstGeom prst="rect">
            <a:avLst/>
          </a:prstGeom>
        </p:spPr>
      </p:pic>
      <p:pic>
        <p:nvPicPr>
          <p:cNvPr id="28" name="Picture 27" descr="lock.png"/>
          <p:cNvPicPr>
            <a:picLocks noChangeAspect="1"/>
          </p:cNvPicPr>
          <p:nvPr/>
        </p:nvPicPr>
        <p:blipFill>
          <a:blip r:embed="rId4"/>
          <a:stretch>
            <a:fillRect/>
          </a:stretch>
        </p:blipFill>
        <p:spPr>
          <a:xfrm>
            <a:off x="9046986" y="4253362"/>
            <a:ext cx="308877" cy="449275"/>
          </a:xfrm>
          <a:prstGeom prst="rect">
            <a:avLst/>
          </a:prstGeom>
        </p:spPr>
      </p:pic>
      <p:pic>
        <p:nvPicPr>
          <p:cNvPr id="29" name="Picture 28" descr="lock.png"/>
          <p:cNvPicPr>
            <a:picLocks noChangeAspect="1"/>
          </p:cNvPicPr>
          <p:nvPr/>
        </p:nvPicPr>
        <p:blipFill>
          <a:blip r:embed="rId4"/>
          <a:stretch>
            <a:fillRect/>
          </a:stretch>
        </p:blipFill>
        <p:spPr>
          <a:xfrm>
            <a:off x="9046986" y="5811250"/>
            <a:ext cx="308877" cy="449275"/>
          </a:xfrm>
          <a:prstGeom prst="rect">
            <a:avLst/>
          </a:prstGeom>
        </p:spPr>
      </p:pic>
      <p:pic>
        <p:nvPicPr>
          <p:cNvPr id="30" name="Picture 29" descr="lock.png"/>
          <p:cNvPicPr>
            <a:picLocks noChangeAspect="1"/>
          </p:cNvPicPr>
          <p:nvPr/>
        </p:nvPicPr>
        <p:blipFill>
          <a:blip r:embed="rId4"/>
          <a:stretch>
            <a:fillRect/>
          </a:stretch>
        </p:blipFill>
        <p:spPr>
          <a:xfrm>
            <a:off x="10859269" y="4013090"/>
            <a:ext cx="308877" cy="449275"/>
          </a:xfrm>
          <a:prstGeom prst="rect">
            <a:avLst/>
          </a:prstGeom>
        </p:spPr>
      </p:pic>
      <p:pic>
        <p:nvPicPr>
          <p:cNvPr id="31" name="Picture 30" descr="lock.png"/>
          <p:cNvPicPr>
            <a:picLocks noChangeAspect="1"/>
          </p:cNvPicPr>
          <p:nvPr/>
        </p:nvPicPr>
        <p:blipFill>
          <a:blip r:embed="rId4"/>
          <a:stretch>
            <a:fillRect/>
          </a:stretch>
        </p:blipFill>
        <p:spPr>
          <a:xfrm>
            <a:off x="10859269" y="5099569"/>
            <a:ext cx="308877" cy="449275"/>
          </a:xfrm>
          <a:prstGeom prst="rect">
            <a:avLst/>
          </a:prstGeom>
        </p:spPr>
      </p:pic>
      <p:pic>
        <p:nvPicPr>
          <p:cNvPr id="32" name="Picture 31" descr="lock.png"/>
          <p:cNvPicPr>
            <a:picLocks noChangeAspect="1"/>
          </p:cNvPicPr>
          <p:nvPr/>
        </p:nvPicPr>
        <p:blipFill>
          <a:blip r:embed="rId4"/>
          <a:stretch>
            <a:fillRect/>
          </a:stretch>
        </p:blipFill>
        <p:spPr>
          <a:xfrm>
            <a:off x="10859269" y="6100840"/>
            <a:ext cx="308877" cy="449275"/>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Europe Market Analysis By Segments</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Form Type</a:t>
            </a:r>
          </a:p>
          <a:p>
            <a:pPr marL="342900" indent="-323850">
              <a:lnSpc>
                <a:spcPct val="100000"/>
              </a:lnSpc>
              <a:spcAft>
                <a:spcPts val="800"/>
              </a:spcAft>
            </a:pPr>
            <a:r>
              <a:rPr sz="2000" b="0">
                <a:solidFill>
                  <a:srgbClr val="000000"/>
                </a:solidFill>
                <a:latin typeface="Calibri"/>
              </a:rPr>
              <a:t>➤	By Active Ingredient</a:t>
            </a:r>
          </a:p>
          <a:p>
            <a:pPr marL="342900" indent="-323850">
              <a:lnSpc>
                <a:spcPct val="100000"/>
              </a:lnSpc>
              <a:spcAft>
                <a:spcPts val="800"/>
              </a:spcAft>
            </a:pPr>
            <a:r>
              <a:rPr sz="2000" b="0">
                <a:solidFill>
                  <a:srgbClr val="000000"/>
                </a:solidFill>
                <a:latin typeface="Calibri"/>
              </a:rPr>
              <a:t>➤	By End-use Application</a:t>
            </a:r>
          </a:p>
          <a:p>
            <a:pPr marL="342900" indent="-323850">
              <a:lnSpc>
                <a:spcPct val="100000"/>
              </a:lnSpc>
              <a:spcAft>
                <a:spcPts val="800"/>
              </a:spcAft>
            </a:pPr>
            <a:r>
              <a:rPr sz="2000" b="0">
                <a:solidFill>
                  <a:srgbClr val="000000"/>
                </a:solidFill>
                <a:latin typeface="Calibri"/>
              </a:rPr>
              <a:t>➤	By Packaging Format</a:t>
            </a:r>
          </a:p>
          <a:p>
            <a:pPr marL="342900" indent="-323850">
              <a:lnSpc>
                <a:spcPct val="100000"/>
              </a:lnSpc>
              <a:spcAft>
                <a:spcPts val="800"/>
              </a:spcAft>
            </a:pPr>
            <a:r>
              <a:rPr sz="2000" b="0">
                <a:solidFill>
                  <a:srgbClr val="000000"/>
                </a:solidFill>
                <a:latin typeface="Calibri"/>
              </a:rPr>
              <a:t>➤	By Sales Channel</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14.1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Form Type</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Form Type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Form Type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6 sub-segments of Form Type,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Form Type segment categorizes the market by form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Capsules and Softgels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Tablets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Chewables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Gels and Pastes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Liquids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Powders and Granules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Form Type split shows how demand is distributed across form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7" name="Picture 76" descr="1_005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867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6_4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651_6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048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4_9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480_2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948_6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7_0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393_3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577_8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3_9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263_1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381_9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3_8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149_8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233_1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4_5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43733" cy="186689"/>
          </a:xfrm>
          <a:prstGeom prst="rect">
            <a:avLst/>
          </a:prstGeom>
          <a:noFill/>
        </p:spPr>
        <p:txBody>
          <a:bodyPr wrap="none" lIns="0" tIns="0" rIns="0" bIns="0">
            <a:spAutoFit/>
          </a:bodyPr>
          <a:lstStyle/>
          <a:p>
            <a:r>
              <a:rPr sz="1100" b="0">
                <a:solidFill>
                  <a:srgbClr val="2E2E2E"/>
                </a:solidFill>
                <a:latin typeface="Calibri"/>
              </a:rPr>
              <a:t>Among senior dog cognitive supplement by form</a:t>
            </a:r>
          </a:p>
        </p:txBody>
      </p:sp>
      <p:sp>
        <p:nvSpPr>
          <p:cNvPr id="102" name="TextBox 101"/>
          <p:cNvSpPr txBox="1"/>
          <p:nvPr/>
        </p:nvSpPr>
        <p:spPr>
          <a:xfrm>
            <a:off x="485775" y="4397077"/>
            <a:ext cx="2804988" cy="186689"/>
          </a:xfrm>
          <a:prstGeom prst="rect">
            <a:avLst/>
          </a:prstGeom>
          <a:noFill/>
        </p:spPr>
        <p:txBody>
          <a:bodyPr wrap="none" lIns="0" tIns="0" rIns="0" bIns="0">
            <a:spAutoFit/>
          </a:bodyPr>
          <a:lstStyle/>
          <a:p>
            <a:r>
              <a:rPr sz="1100" b="0">
                <a:solidFill>
                  <a:srgbClr val="2E2E2E"/>
                </a:solidFill>
                <a:latin typeface="Calibri"/>
              </a:rPr>
              <a:t>type, chewables segment is expected to witness</a:t>
            </a:r>
          </a:p>
        </p:txBody>
      </p:sp>
      <p:sp>
        <p:nvSpPr>
          <p:cNvPr id="103" name="TextBox 102"/>
          <p:cNvSpPr txBox="1"/>
          <p:nvPr/>
        </p:nvSpPr>
        <p:spPr>
          <a:xfrm>
            <a:off x="485775" y="4564717"/>
            <a:ext cx="1212336" cy="186689"/>
          </a:xfrm>
          <a:prstGeom prst="rect">
            <a:avLst/>
          </a:prstGeom>
          <a:noFill/>
        </p:spPr>
        <p:txBody>
          <a:bodyPr wrap="none" lIns="0" tIns="0" rIns="0" bIns="0">
            <a:spAutoFit/>
          </a:bodyPr>
          <a:lstStyle/>
          <a:p>
            <a:r>
              <a:rPr sz="1100" b="0">
                <a:solidFill>
                  <a:srgbClr val="2E2E2E"/>
                </a:solidFill>
                <a:latin typeface="Calibri"/>
              </a:rPr>
              <a:t>the highest CAGR of</a:t>
            </a:r>
          </a:p>
        </p:txBody>
      </p:sp>
      <p:pic>
        <p:nvPicPr>
          <p:cNvPr id="104" name="Picture 103" descr="lock.png"/>
          <p:cNvPicPr>
            <a:picLocks noChangeAspect="1"/>
          </p:cNvPicPr>
          <p:nvPr/>
        </p:nvPicPr>
        <p:blipFill>
          <a:blip r:embed="rId22"/>
          <a:stretch>
            <a:fillRect/>
          </a:stretch>
        </p:blipFill>
        <p:spPr>
          <a:xfrm>
            <a:off x="1646163" y="4554938"/>
            <a:ext cx="128699" cy="187198"/>
          </a:xfrm>
          <a:prstGeom prst="rect">
            <a:avLst/>
          </a:prstGeom>
        </p:spPr>
      </p:pic>
      <p:sp>
        <p:nvSpPr>
          <p:cNvPr id="105" name="TextBox 104"/>
          <p:cNvSpPr txBox="1"/>
          <p:nvPr/>
        </p:nvSpPr>
        <p:spPr>
          <a:xfrm>
            <a:off x="1813659" y="4564717"/>
            <a:ext cx="1484659" cy="186689"/>
          </a:xfrm>
          <a:prstGeom prst="rect">
            <a:avLst/>
          </a:prstGeom>
          <a:noFill/>
        </p:spPr>
        <p:txBody>
          <a:bodyPr wrap="none" lIns="0" tIns="0" rIns="0" bIns="0">
            <a:spAutoFit/>
          </a:bodyPr>
          <a:lstStyle/>
          <a:p>
            <a:r>
              <a:rPr sz="1100" b="0">
                <a:solidFill>
                  <a:srgbClr val="2E2E2E"/>
                </a:solidFill>
                <a:latin typeface="Calibri"/>
              </a:rPr>
              <a:t>over the forecast period.</a:t>
            </a:r>
          </a:p>
        </p:txBody>
      </p:sp>
      <p:sp>
        <p:nvSpPr>
          <p:cNvPr id="106" name="TextBox 105"/>
          <p:cNvSpPr txBox="1"/>
          <p:nvPr/>
        </p:nvSpPr>
        <p:spPr>
          <a:xfrm>
            <a:off x="485775" y="4732357"/>
            <a:ext cx="2910854" cy="186689"/>
          </a:xfrm>
          <a:prstGeom prst="rect">
            <a:avLst/>
          </a:prstGeom>
          <a:noFill/>
        </p:spPr>
        <p:txBody>
          <a:bodyPr wrap="none" lIns="0" tIns="0" rIns="0" bIns="0">
            <a:spAutoFit/>
          </a:bodyPr>
          <a:lstStyle/>
          <a:p>
            <a:r>
              <a:rPr sz="1100" b="0">
                <a:solidFill>
                  <a:srgbClr val="2E2E2E"/>
                </a:solidFill>
                <a:latin typeface="Calibri"/>
              </a:rPr>
              <a:t>In terms of value share by form type, the capsules</a:t>
            </a:r>
          </a:p>
        </p:txBody>
      </p:sp>
      <p:sp>
        <p:nvSpPr>
          <p:cNvPr id="107" name="TextBox 106"/>
          <p:cNvSpPr txBox="1"/>
          <p:nvPr/>
        </p:nvSpPr>
        <p:spPr>
          <a:xfrm>
            <a:off x="485775" y="4899997"/>
            <a:ext cx="2909763" cy="186689"/>
          </a:xfrm>
          <a:prstGeom prst="rect">
            <a:avLst/>
          </a:prstGeom>
          <a:noFill/>
        </p:spPr>
        <p:txBody>
          <a:bodyPr wrap="none" lIns="0" tIns="0" rIns="0" bIns="0">
            <a:spAutoFit/>
          </a:bodyPr>
          <a:lstStyle/>
          <a:p>
            <a:r>
              <a:rPr sz="1100" b="0">
                <a:solidFill>
                  <a:srgbClr val="2E2E2E"/>
                </a:solidFill>
                <a:latin typeface="Calibri"/>
              </a:rPr>
              <a:t>and softgels segment is expected to dominate the</a:t>
            </a:r>
          </a:p>
        </p:txBody>
      </p:sp>
      <p:sp>
        <p:nvSpPr>
          <p:cNvPr id="108" name="TextBox 107"/>
          <p:cNvSpPr txBox="1"/>
          <p:nvPr/>
        </p:nvSpPr>
        <p:spPr>
          <a:xfrm>
            <a:off x="485775" y="5067637"/>
            <a:ext cx="959693" cy="186689"/>
          </a:xfrm>
          <a:prstGeom prst="rect">
            <a:avLst/>
          </a:prstGeom>
          <a:noFill/>
        </p:spPr>
        <p:txBody>
          <a:bodyPr wrap="none" lIns="0" tIns="0" rIns="0" bIns="0">
            <a:spAutoFit/>
          </a:bodyPr>
          <a:lstStyle/>
          <a:p>
            <a:r>
              <a:rPr sz="1100" b="0">
                <a:solidFill>
                  <a:srgbClr val="2E2E2E"/>
                </a:solidFill>
                <a:latin typeface="Calibri"/>
              </a:rPr>
              <a:t>market, gaining</a:t>
            </a:r>
          </a:p>
        </p:txBody>
      </p:sp>
      <p:pic>
        <p:nvPicPr>
          <p:cNvPr id="109" name="Picture 108" descr="lock.png"/>
          <p:cNvPicPr>
            <a:picLocks noChangeAspect="1"/>
          </p:cNvPicPr>
          <p:nvPr/>
        </p:nvPicPr>
        <p:blipFill>
          <a:blip r:embed="rId22"/>
          <a:stretch>
            <a:fillRect/>
          </a:stretch>
        </p:blipFill>
        <p:spPr>
          <a:xfrm>
            <a:off x="1393519" y="5057858"/>
            <a:ext cx="128699" cy="187198"/>
          </a:xfrm>
          <a:prstGeom prst="rect">
            <a:avLst/>
          </a:prstGeom>
        </p:spPr>
      </p:pic>
      <p:sp>
        <p:nvSpPr>
          <p:cNvPr id="110" name="TextBox 109"/>
          <p:cNvSpPr txBox="1"/>
          <p:nvPr/>
        </p:nvSpPr>
        <p:spPr>
          <a:xfrm>
            <a:off x="1561015" y="5067637"/>
            <a:ext cx="1386433" cy="186689"/>
          </a:xfrm>
          <a:prstGeom prst="rect">
            <a:avLst/>
          </a:prstGeom>
          <a:noFill/>
        </p:spPr>
        <p:txBody>
          <a:bodyPr wrap="none" lIns="0" tIns="0" rIns="0" bIns="0">
            <a:spAutoFit/>
          </a:bodyPr>
          <a:lstStyle/>
          <a:p>
            <a:r>
              <a:rPr sz="1100" b="0">
                <a:solidFill>
                  <a:srgbClr val="2E2E2E"/>
                </a:solidFill>
                <a:latin typeface="Calibri"/>
              </a:rPr>
              <a:t>BPS and accounting for</a:t>
            </a:r>
          </a:p>
        </p:txBody>
      </p:sp>
      <p:pic>
        <p:nvPicPr>
          <p:cNvPr id="111" name="Picture 110" descr="lock.png"/>
          <p:cNvPicPr>
            <a:picLocks noChangeAspect="1"/>
          </p:cNvPicPr>
          <p:nvPr/>
        </p:nvPicPr>
        <p:blipFill>
          <a:blip r:embed="rId22"/>
          <a:stretch>
            <a:fillRect/>
          </a:stretch>
        </p:blipFill>
        <p:spPr>
          <a:xfrm>
            <a:off x="2895500" y="5057858"/>
            <a:ext cx="128699" cy="187198"/>
          </a:xfrm>
          <a:prstGeom prst="rect">
            <a:avLst/>
          </a:prstGeom>
        </p:spPr>
      </p:pic>
      <p:sp>
        <p:nvSpPr>
          <p:cNvPr id="112" name="TextBox 111"/>
          <p:cNvSpPr txBox="1"/>
          <p:nvPr/>
        </p:nvSpPr>
        <p:spPr>
          <a:xfrm>
            <a:off x="485775" y="5235277"/>
            <a:ext cx="908397" cy="186689"/>
          </a:xfrm>
          <a:prstGeom prst="rect">
            <a:avLst/>
          </a:prstGeom>
          <a:noFill/>
        </p:spPr>
        <p:txBody>
          <a:bodyPr wrap="none" lIns="0" tIns="0" rIns="0" bIns="0">
            <a:spAutoFit/>
          </a:bodyPr>
          <a:lstStyle/>
          <a:p>
            <a:r>
              <a:rPr sz="1100" b="0">
                <a:solidFill>
                  <a:srgbClr val="2E2E2E"/>
                </a:solidFill>
                <a:latin typeface="Calibri"/>
              </a:rPr>
              <a:t>share by 2036.</a:t>
            </a:r>
          </a:p>
        </p:txBody>
      </p:sp>
      <p:sp>
        <p:nvSpPr>
          <p:cNvPr id="113" name="TextBox 112"/>
          <p:cNvSpPr txBox="1"/>
          <p:nvPr/>
        </p:nvSpPr>
        <p:spPr>
          <a:xfrm>
            <a:off x="485775" y="5453209"/>
            <a:ext cx="2665561" cy="186689"/>
          </a:xfrm>
          <a:prstGeom prst="rect">
            <a:avLst/>
          </a:prstGeom>
          <a:noFill/>
        </p:spPr>
        <p:txBody>
          <a:bodyPr wrap="none" lIns="0" tIns="0" rIns="0" bIns="0">
            <a:spAutoFit/>
          </a:bodyPr>
          <a:lstStyle/>
          <a:p>
            <a:r>
              <a:rPr sz="1100" b="0">
                <a:solidFill>
                  <a:srgbClr val="2E2E2E"/>
                </a:solidFill>
                <a:latin typeface="Calibri"/>
              </a:rPr>
              <a:t>Capsules and softgels segment is projected to</a:t>
            </a:r>
          </a:p>
        </p:txBody>
      </p:sp>
      <p:sp>
        <p:nvSpPr>
          <p:cNvPr id="114" name="TextBox 113"/>
          <p:cNvSpPr txBox="1"/>
          <p:nvPr/>
        </p:nvSpPr>
        <p:spPr>
          <a:xfrm>
            <a:off x="485775" y="5620849"/>
            <a:ext cx="512489" cy="186689"/>
          </a:xfrm>
          <a:prstGeom prst="rect">
            <a:avLst/>
          </a:prstGeom>
          <a:noFill/>
        </p:spPr>
        <p:txBody>
          <a:bodyPr wrap="none" lIns="0" tIns="0" rIns="0" bIns="0">
            <a:spAutoFit/>
          </a:bodyPr>
          <a:lstStyle/>
          <a:p>
            <a:r>
              <a:rPr sz="1100" b="0">
                <a:solidFill>
                  <a:srgbClr val="2E2E2E"/>
                </a:solidFill>
                <a:latin typeface="Calibri"/>
              </a:rPr>
              <a:t>register</a:t>
            </a:r>
          </a:p>
        </p:txBody>
      </p:sp>
      <p:pic>
        <p:nvPicPr>
          <p:cNvPr id="115" name="Picture 114" descr="lock.png"/>
          <p:cNvPicPr>
            <a:picLocks noChangeAspect="1"/>
          </p:cNvPicPr>
          <p:nvPr/>
        </p:nvPicPr>
        <p:blipFill>
          <a:blip r:embed="rId22"/>
          <a:stretch>
            <a:fillRect/>
          </a:stretch>
        </p:blipFill>
        <p:spPr>
          <a:xfrm>
            <a:off x="946316" y="5611070"/>
            <a:ext cx="128699" cy="187198"/>
          </a:xfrm>
          <a:prstGeom prst="rect">
            <a:avLst/>
          </a:prstGeom>
        </p:spPr>
      </p:pic>
      <p:sp>
        <p:nvSpPr>
          <p:cNvPr id="116" name="TextBox 115"/>
          <p:cNvSpPr txBox="1"/>
          <p:nvPr/>
        </p:nvSpPr>
        <p:spPr>
          <a:xfrm>
            <a:off x="1113812" y="5620849"/>
            <a:ext cx="2254919" cy="186689"/>
          </a:xfrm>
          <a:prstGeom prst="rect">
            <a:avLst/>
          </a:prstGeom>
          <a:noFill/>
        </p:spPr>
        <p:txBody>
          <a:bodyPr wrap="none" lIns="0" tIns="0" rIns="0" bIns="0">
            <a:spAutoFit/>
          </a:bodyPr>
          <a:lstStyle/>
          <a:p>
            <a:r>
              <a:rPr sz="1100" b="0">
                <a:solidFill>
                  <a:srgbClr val="2E2E2E"/>
                </a:solidFill>
                <a:latin typeface="Calibri"/>
              </a:rPr>
              <a:t>X higher value than tablets segment in</a:t>
            </a:r>
          </a:p>
        </p:txBody>
      </p:sp>
      <p:sp>
        <p:nvSpPr>
          <p:cNvPr id="117" name="TextBox 116"/>
          <p:cNvSpPr txBox="1"/>
          <p:nvPr/>
        </p:nvSpPr>
        <p:spPr>
          <a:xfrm>
            <a:off x="485775" y="5788489"/>
            <a:ext cx="395163" cy="186689"/>
          </a:xfrm>
          <a:prstGeom prst="rect">
            <a:avLst/>
          </a:prstGeom>
          <a:noFill/>
        </p:spPr>
        <p:txBody>
          <a:bodyPr wrap="none" lIns="0" tIns="0" rIns="0" bIns="0">
            <a:spAutoFit/>
          </a:bodyPr>
          <a:lstStyle/>
          <a:p>
            <a:r>
              <a:rPr sz="1100" b="0">
                <a:solidFill>
                  <a:srgbClr val="2E2E2E"/>
                </a:solidFill>
                <a:latin typeface="Calibri"/>
              </a:rPr>
              <a:t>2036.</a:t>
            </a:r>
          </a:p>
        </p:txBody>
      </p:sp>
      <p:sp>
        <p:nvSpPr>
          <p:cNvPr id="118" name="TextBox 117"/>
          <p:cNvSpPr txBox="1"/>
          <p:nvPr/>
        </p:nvSpPr>
        <p:spPr>
          <a:xfrm>
            <a:off x="3838575" y="4229437"/>
            <a:ext cx="1454918" cy="186689"/>
          </a:xfrm>
          <a:prstGeom prst="rect">
            <a:avLst/>
          </a:prstGeom>
          <a:noFill/>
        </p:spPr>
        <p:txBody>
          <a:bodyPr wrap="none" lIns="0" tIns="0" rIns="0" bIns="0">
            <a:spAutoFit/>
          </a:bodyPr>
          <a:lstStyle/>
          <a:p>
            <a:r>
              <a:rPr sz="1100" b="0">
                <a:solidFill>
                  <a:srgbClr val="2E2E2E"/>
                </a:solidFill>
                <a:latin typeface="Calibri"/>
              </a:rPr>
              <a:t>● Capsules and Softgels:</a:t>
            </a:r>
          </a:p>
        </p:txBody>
      </p:sp>
      <p:pic>
        <p:nvPicPr>
          <p:cNvPr id="119" name="Picture 118" descr="lock.png"/>
          <p:cNvPicPr>
            <a:picLocks noChangeAspect="1"/>
          </p:cNvPicPr>
          <p:nvPr/>
        </p:nvPicPr>
        <p:blipFill>
          <a:blip r:embed="rId22"/>
          <a:stretch>
            <a:fillRect/>
          </a:stretch>
        </p:blipFill>
        <p:spPr>
          <a:xfrm>
            <a:off x="5241545" y="4219658"/>
            <a:ext cx="128699" cy="187198"/>
          </a:xfrm>
          <a:prstGeom prst="rect">
            <a:avLst/>
          </a:prstGeom>
        </p:spPr>
      </p:pic>
      <p:sp>
        <p:nvSpPr>
          <p:cNvPr id="120" name="TextBox 119"/>
          <p:cNvSpPr txBox="1"/>
          <p:nvPr/>
        </p:nvSpPr>
        <p:spPr>
          <a:xfrm>
            <a:off x="5409041" y="422943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6268491" y="4219658"/>
            <a:ext cx="128699" cy="187198"/>
          </a:xfrm>
          <a:prstGeom prst="rect">
            <a:avLst/>
          </a:prstGeom>
        </p:spPr>
      </p:pic>
      <p:sp>
        <p:nvSpPr>
          <p:cNvPr id="122" name="TextBox 121"/>
          <p:cNvSpPr txBox="1"/>
          <p:nvPr/>
        </p:nvSpPr>
        <p:spPr>
          <a:xfrm>
            <a:off x="6435987" y="4229437"/>
            <a:ext cx="945215" cy="186689"/>
          </a:xfrm>
          <a:prstGeom prst="rect">
            <a:avLst/>
          </a:prstGeom>
          <a:noFill/>
        </p:spPr>
        <p:txBody>
          <a:bodyPr wrap="none" lIns="0" tIns="0" rIns="0" bIns="0">
            <a:spAutoFit/>
          </a:bodyPr>
          <a:lstStyle/>
          <a:p>
            <a:r>
              <a:rPr sz="1100" b="0">
                <a:solidFill>
                  <a:srgbClr val="2E2E2E"/>
                </a:solidFill>
                <a:latin typeface="Calibri"/>
              </a:rPr>
              <a:t>CAGR leads the</a:t>
            </a:r>
          </a:p>
        </p:txBody>
      </p:sp>
      <p:sp>
        <p:nvSpPr>
          <p:cNvPr id="123" name="TextBox 122"/>
          <p:cNvSpPr txBox="1"/>
          <p:nvPr/>
        </p:nvSpPr>
        <p:spPr>
          <a:xfrm>
            <a:off x="3838575" y="4397077"/>
            <a:ext cx="602803" cy="186689"/>
          </a:xfrm>
          <a:prstGeom prst="rect">
            <a:avLst/>
          </a:prstGeom>
          <a:noFill/>
        </p:spPr>
        <p:txBody>
          <a:bodyPr wrap="none" lIns="0" tIns="0" rIns="0" bIns="0">
            <a:spAutoFit/>
          </a:bodyPr>
          <a:lstStyle/>
          <a:p>
            <a:r>
              <a:rPr sz="1100" b="0">
                <a:solidFill>
                  <a:srgbClr val="2E2E2E"/>
                </a:solidFill>
                <a:latin typeface="Calibri"/>
              </a:rPr>
              <a:t>segment.</a:t>
            </a:r>
          </a:p>
        </p:txBody>
      </p:sp>
      <p:sp>
        <p:nvSpPr>
          <p:cNvPr id="124" name="TextBox 123"/>
          <p:cNvSpPr txBox="1"/>
          <p:nvPr/>
        </p:nvSpPr>
        <p:spPr>
          <a:xfrm>
            <a:off x="3838575" y="4615009"/>
            <a:ext cx="641275" cy="186689"/>
          </a:xfrm>
          <a:prstGeom prst="rect">
            <a:avLst/>
          </a:prstGeom>
          <a:noFill/>
        </p:spPr>
        <p:txBody>
          <a:bodyPr wrap="none" lIns="0" tIns="0" rIns="0" bIns="0">
            <a:spAutoFit/>
          </a:bodyPr>
          <a:lstStyle/>
          <a:p>
            <a:r>
              <a:rPr sz="1100" b="0">
                <a:solidFill>
                  <a:srgbClr val="2E2E2E"/>
                </a:solidFill>
                <a:latin typeface="Calibri"/>
              </a:rPr>
              <a:t>● Tablets:</a:t>
            </a:r>
          </a:p>
        </p:txBody>
      </p:sp>
      <p:pic>
        <p:nvPicPr>
          <p:cNvPr id="125" name="Picture 124" descr="lock.png"/>
          <p:cNvPicPr>
            <a:picLocks noChangeAspect="1"/>
          </p:cNvPicPr>
          <p:nvPr/>
        </p:nvPicPr>
        <p:blipFill>
          <a:blip r:embed="rId22"/>
          <a:stretch>
            <a:fillRect/>
          </a:stretch>
        </p:blipFill>
        <p:spPr>
          <a:xfrm>
            <a:off x="4427902" y="4605230"/>
            <a:ext cx="128699" cy="187198"/>
          </a:xfrm>
          <a:prstGeom prst="rect">
            <a:avLst/>
          </a:prstGeom>
        </p:spPr>
      </p:pic>
      <p:sp>
        <p:nvSpPr>
          <p:cNvPr id="126" name="TextBox 125"/>
          <p:cNvSpPr txBox="1"/>
          <p:nvPr/>
        </p:nvSpPr>
        <p:spPr>
          <a:xfrm>
            <a:off x="4595398" y="461500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22"/>
          <a:stretch>
            <a:fillRect/>
          </a:stretch>
        </p:blipFill>
        <p:spPr>
          <a:xfrm>
            <a:off x="5454848" y="4605230"/>
            <a:ext cx="128699" cy="187198"/>
          </a:xfrm>
          <a:prstGeom prst="rect">
            <a:avLst/>
          </a:prstGeom>
        </p:spPr>
      </p:pic>
      <p:sp>
        <p:nvSpPr>
          <p:cNvPr id="128" name="TextBox 127"/>
          <p:cNvSpPr txBox="1"/>
          <p:nvPr/>
        </p:nvSpPr>
        <p:spPr>
          <a:xfrm>
            <a:off x="5622344" y="4615009"/>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29" name="TextBox 128"/>
          <p:cNvSpPr txBox="1"/>
          <p:nvPr/>
        </p:nvSpPr>
        <p:spPr>
          <a:xfrm>
            <a:off x="3838575" y="4832941"/>
            <a:ext cx="843458" cy="186689"/>
          </a:xfrm>
          <a:prstGeom prst="rect">
            <a:avLst/>
          </a:prstGeom>
          <a:noFill/>
        </p:spPr>
        <p:txBody>
          <a:bodyPr wrap="none" lIns="0" tIns="0" rIns="0" bIns="0">
            <a:spAutoFit/>
          </a:bodyPr>
          <a:lstStyle/>
          <a:p>
            <a:r>
              <a:rPr sz="1100" b="0">
                <a:solidFill>
                  <a:srgbClr val="2E2E2E"/>
                </a:solidFill>
                <a:latin typeface="Calibri"/>
              </a:rPr>
              <a:t>● Chewables:</a:t>
            </a:r>
          </a:p>
        </p:txBody>
      </p:sp>
      <p:pic>
        <p:nvPicPr>
          <p:cNvPr id="130" name="Picture 129" descr="lock.png"/>
          <p:cNvPicPr>
            <a:picLocks noChangeAspect="1"/>
          </p:cNvPicPr>
          <p:nvPr/>
        </p:nvPicPr>
        <p:blipFill>
          <a:blip r:embed="rId22"/>
          <a:stretch>
            <a:fillRect/>
          </a:stretch>
        </p:blipFill>
        <p:spPr>
          <a:xfrm>
            <a:off x="4630085" y="4823162"/>
            <a:ext cx="128699" cy="187198"/>
          </a:xfrm>
          <a:prstGeom prst="rect">
            <a:avLst/>
          </a:prstGeom>
        </p:spPr>
      </p:pic>
      <p:sp>
        <p:nvSpPr>
          <p:cNvPr id="131" name="TextBox 130"/>
          <p:cNvSpPr txBox="1"/>
          <p:nvPr/>
        </p:nvSpPr>
        <p:spPr>
          <a:xfrm>
            <a:off x="4797581" y="4832941"/>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5657031" y="4823162"/>
            <a:ext cx="128699" cy="187198"/>
          </a:xfrm>
          <a:prstGeom prst="rect">
            <a:avLst/>
          </a:prstGeom>
        </p:spPr>
      </p:pic>
      <p:sp>
        <p:nvSpPr>
          <p:cNvPr id="133" name="TextBox 132"/>
          <p:cNvSpPr txBox="1"/>
          <p:nvPr/>
        </p:nvSpPr>
        <p:spPr>
          <a:xfrm>
            <a:off x="5824527" y="4832941"/>
            <a:ext cx="1218612" cy="186689"/>
          </a:xfrm>
          <a:prstGeom prst="rect">
            <a:avLst/>
          </a:prstGeom>
          <a:noFill/>
        </p:spPr>
        <p:txBody>
          <a:bodyPr wrap="none" lIns="0" tIns="0" rIns="0" bIns="0">
            <a:spAutoFit/>
          </a:bodyPr>
          <a:lstStyle/>
          <a:p>
            <a:r>
              <a:rPr sz="1100" b="0">
                <a:solidFill>
                  <a:srgbClr val="2E2E2E"/>
                </a:solidFill>
                <a:latin typeface="Calibri"/>
              </a:rPr>
              <a:t>CAGR grows fastest.</a:t>
            </a:r>
          </a:p>
        </p:txBody>
      </p:sp>
      <p:sp>
        <p:nvSpPr>
          <p:cNvPr id="134" name="TextBox 133"/>
          <p:cNvSpPr txBox="1"/>
          <p:nvPr/>
        </p:nvSpPr>
        <p:spPr>
          <a:xfrm>
            <a:off x="3838575" y="5050872"/>
            <a:ext cx="1115764" cy="186689"/>
          </a:xfrm>
          <a:prstGeom prst="rect">
            <a:avLst/>
          </a:prstGeom>
          <a:noFill/>
        </p:spPr>
        <p:txBody>
          <a:bodyPr wrap="none" lIns="0" tIns="0" rIns="0" bIns="0">
            <a:spAutoFit/>
          </a:bodyPr>
          <a:lstStyle/>
          <a:p>
            <a:r>
              <a:rPr sz="1100" b="0">
                <a:solidFill>
                  <a:srgbClr val="2E2E2E"/>
                </a:solidFill>
                <a:latin typeface="Calibri"/>
              </a:rPr>
              <a:t>● Gels and Pastes:</a:t>
            </a:r>
          </a:p>
        </p:txBody>
      </p:sp>
      <p:pic>
        <p:nvPicPr>
          <p:cNvPr id="135" name="Picture 134" descr="lock.png"/>
          <p:cNvPicPr>
            <a:picLocks noChangeAspect="1"/>
          </p:cNvPicPr>
          <p:nvPr/>
        </p:nvPicPr>
        <p:blipFill>
          <a:blip r:embed="rId22"/>
          <a:stretch>
            <a:fillRect/>
          </a:stretch>
        </p:blipFill>
        <p:spPr>
          <a:xfrm>
            <a:off x="4902391" y="5041093"/>
            <a:ext cx="128699" cy="187198"/>
          </a:xfrm>
          <a:prstGeom prst="rect">
            <a:avLst/>
          </a:prstGeom>
        </p:spPr>
      </p:pic>
      <p:sp>
        <p:nvSpPr>
          <p:cNvPr id="136" name="TextBox 135"/>
          <p:cNvSpPr txBox="1"/>
          <p:nvPr/>
        </p:nvSpPr>
        <p:spPr>
          <a:xfrm>
            <a:off x="5069886" y="5050872"/>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5929337" y="5041093"/>
            <a:ext cx="128699" cy="187198"/>
          </a:xfrm>
          <a:prstGeom prst="rect">
            <a:avLst/>
          </a:prstGeom>
        </p:spPr>
      </p:pic>
      <p:sp>
        <p:nvSpPr>
          <p:cNvPr id="138" name="TextBox 137"/>
          <p:cNvSpPr txBox="1"/>
          <p:nvPr/>
        </p:nvSpPr>
        <p:spPr>
          <a:xfrm>
            <a:off x="6096832" y="5050872"/>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39" name="TextBox 138"/>
          <p:cNvSpPr txBox="1"/>
          <p:nvPr/>
        </p:nvSpPr>
        <p:spPr>
          <a:xfrm>
            <a:off x="3838575" y="5268804"/>
            <a:ext cx="627360" cy="186689"/>
          </a:xfrm>
          <a:prstGeom prst="rect">
            <a:avLst/>
          </a:prstGeom>
          <a:noFill/>
        </p:spPr>
        <p:txBody>
          <a:bodyPr wrap="none" lIns="0" tIns="0" rIns="0" bIns="0">
            <a:spAutoFit/>
          </a:bodyPr>
          <a:lstStyle/>
          <a:p>
            <a:r>
              <a:rPr sz="1100" b="0">
                <a:solidFill>
                  <a:srgbClr val="2E2E2E"/>
                </a:solidFill>
                <a:latin typeface="Calibri"/>
              </a:rPr>
              <a:t>● Liquids:</a:t>
            </a:r>
          </a:p>
        </p:txBody>
      </p:sp>
      <p:pic>
        <p:nvPicPr>
          <p:cNvPr id="140" name="Picture 139" descr="lock.png"/>
          <p:cNvPicPr>
            <a:picLocks noChangeAspect="1"/>
          </p:cNvPicPr>
          <p:nvPr/>
        </p:nvPicPr>
        <p:blipFill>
          <a:blip r:embed="rId22"/>
          <a:stretch>
            <a:fillRect/>
          </a:stretch>
        </p:blipFill>
        <p:spPr>
          <a:xfrm>
            <a:off x="4413986" y="5259025"/>
            <a:ext cx="128699" cy="187198"/>
          </a:xfrm>
          <a:prstGeom prst="rect">
            <a:avLst/>
          </a:prstGeom>
        </p:spPr>
      </p:pic>
      <p:sp>
        <p:nvSpPr>
          <p:cNvPr id="141" name="TextBox 140"/>
          <p:cNvSpPr txBox="1"/>
          <p:nvPr/>
        </p:nvSpPr>
        <p:spPr>
          <a:xfrm>
            <a:off x="4581482" y="5268804"/>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2"/>
          <a:stretch>
            <a:fillRect/>
          </a:stretch>
        </p:blipFill>
        <p:spPr>
          <a:xfrm>
            <a:off x="5440932" y="5259025"/>
            <a:ext cx="128699" cy="187198"/>
          </a:xfrm>
          <a:prstGeom prst="rect">
            <a:avLst/>
          </a:prstGeom>
        </p:spPr>
      </p:pic>
      <p:sp>
        <p:nvSpPr>
          <p:cNvPr id="143" name="TextBox 142"/>
          <p:cNvSpPr txBox="1"/>
          <p:nvPr/>
        </p:nvSpPr>
        <p:spPr>
          <a:xfrm>
            <a:off x="5608428" y="5268804"/>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4" name="TextBox 143"/>
          <p:cNvSpPr txBox="1"/>
          <p:nvPr/>
        </p:nvSpPr>
        <p:spPr>
          <a:xfrm>
            <a:off x="3838575" y="5486736"/>
            <a:ext cx="1505669" cy="186689"/>
          </a:xfrm>
          <a:prstGeom prst="rect">
            <a:avLst/>
          </a:prstGeom>
          <a:noFill/>
        </p:spPr>
        <p:txBody>
          <a:bodyPr wrap="none" lIns="0" tIns="0" rIns="0" bIns="0">
            <a:spAutoFit/>
          </a:bodyPr>
          <a:lstStyle/>
          <a:p>
            <a:r>
              <a:rPr sz="1100" b="0">
                <a:solidFill>
                  <a:srgbClr val="2E2E2E"/>
                </a:solidFill>
                <a:latin typeface="Calibri"/>
              </a:rPr>
              <a:t>● Powders and Granules:</a:t>
            </a:r>
          </a:p>
        </p:txBody>
      </p:sp>
      <p:pic>
        <p:nvPicPr>
          <p:cNvPr id="145" name="Picture 144" descr="lock.png"/>
          <p:cNvPicPr>
            <a:picLocks noChangeAspect="1"/>
          </p:cNvPicPr>
          <p:nvPr/>
        </p:nvPicPr>
        <p:blipFill>
          <a:blip r:embed="rId22"/>
          <a:stretch>
            <a:fillRect/>
          </a:stretch>
        </p:blipFill>
        <p:spPr>
          <a:xfrm>
            <a:off x="5292295" y="5476957"/>
            <a:ext cx="128699" cy="187198"/>
          </a:xfrm>
          <a:prstGeom prst="rect">
            <a:avLst/>
          </a:prstGeom>
        </p:spPr>
      </p:pic>
      <p:sp>
        <p:nvSpPr>
          <p:cNvPr id="146" name="TextBox 145"/>
          <p:cNvSpPr txBox="1"/>
          <p:nvPr/>
        </p:nvSpPr>
        <p:spPr>
          <a:xfrm>
            <a:off x="5459791" y="5486736"/>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2"/>
          <a:stretch>
            <a:fillRect/>
          </a:stretch>
        </p:blipFill>
        <p:spPr>
          <a:xfrm>
            <a:off x="6319241" y="5476957"/>
            <a:ext cx="128699" cy="187198"/>
          </a:xfrm>
          <a:prstGeom prst="rect">
            <a:avLst/>
          </a:prstGeom>
        </p:spPr>
      </p:pic>
      <p:sp>
        <p:nvSpPr>
          <p:cNvPr id="148" name="TextBox 147"/>
          <p:cNvSpPr txBox="1"/>
          <p:nvPr/>
        </p:nvSpPr>
        <p:spPr>
          <a:xfrm>
            <a:off x="6486737" y="5486736"/>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9" name="TextBox 148"/>
          <p:cNvSpPr txBox="1"/>
          <p:nvPr/>
        </p:nvSpPr>
        <p:spPr>
          <a:xfrm>
            <a:off x="8524875" y="5842641"/>
            <a:ext cx="3042243" cy="194310"/>
          </a:xfrm>
          <a:prstGeom prst="rect">
            <a:avLst/>
          </a:prstGeom>
          <a:noFill/>
        </p:spPr>
        <p:txBody>
          <a:bodyPr wrap="none" lIns="0" tIns="0" rIns="0" bIns="0">
            <a:spAutoFit/>
          </a:bodyPr>
          <a:lstStyle/>
          <a:p>
            <a:r>
              <a:rPr sz="1150" b="1">
                <a:solidFill>
                  <a:srgbClr val="0B2E4A"/>
                </a:solidFill>
                <a:latin typeface="Calibri"/>
              </a:rPr>
              <a:t>The Form Type segment is projected to grow at a</a:t>
            </a:r>
          </a:p>
        </p:txBody>
      </p:sp>
      <p:sp>
        <p:nvSpPr>
          <p:cNvPr id="150" name="TextBox 149"/>
          <p:cNvSpPr txBox="1"/>
          <p:nvPr/>
        </p:nvSpPr>
        <p:spPr>
          <a:xfrm>
            <a:off x="8524875" y="6017901"/>
            <a:ext cx="574797" cy="194310"/>
          </a:xfrm>
          <a:prstGeom prst="rect">
            <a:avLst/>
          </a:prstGeom>
          <a:noFill/>
        </p:spPr>
        <p:txBody>
          <a:bodyPr wrap="none" lIns="0" tIns="0" rIns="0" bIns="0">
            <a:spAutoFit/>
          </a:bodyPr>
          <a:lstStyle/>
          <a:p>
            <a:r>
              <a:rPr sz="1150" b="1">
                <a:solidFill>
                  <a:srgbClr val="0B2E4A"/>
                </a:solidFill>
                <a:latin typeface="Calibri"/>
              </a:rPr>
              <a:t>CAGR of</a:t>
            </a:r>
          </a:p>
        </p:txBody>
      </p:sp>
      <p:pic>
        <p:nvPicPr>
          <p:cNvPr id="151" name="Picture 150" descr="lock.png"/>
          <p:cNvPicPr>
            <a:picLocks noChangeAspect="1"/>
          </p:cNvPicPr>
          <p:nvPr/>
        </p:nvPicPr>
        <p:blipFill>
          <a:blip r:embed="rId22"/>
          <a:stretch>
            <a:fillRect/>
          </a:stretch>
        </p:blipFill>
        <p:spPr>
          <a:xfrm>
            <a:off x="9048826" y="6007677"/>
            <a:ext cx="134549" cy="195707"/>
          </a:xfrm>
          <a:prstGeom prst="rect">
            <a:avLst/>
          </a:prstGeom>
        </p:spPr>
      </p:pic>
      <p:sp>
        <p:nvSpPr>
          <p:cNvPr id="152" name="TextBox 151"/>
          <p:cNvSpPr txBox="1"/>
          <p:nvPr/>
        </p:nvSpPr>
        <p:spPr>
          <a:xfrm>
            <a:off x="9223935"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Structure &amp; Attractiveness, By Form Type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Form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Form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Form Type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368434" cy="186689"/>
          </a:xfrm>
          <a:prstGeom prst="rect">
            <a:avLst/>
          </a:prstGeom>
          <a:noFill/>
        </p:spPr>
        <p:txBody>
          <a:bodyPr wrap="none" lIns="0" tIns="0" rIns="0" bIns="0">
            <a:spAutoFit/>
          </a:bodyPr>
          <a:lstStyle/>
          <a:p>
            <a:r>
              <a:rPr sz="1100" b="0">
                <a:solidFill>
                  <a:srgbClr val="2E2E2E"/>
                </a:solidFill>
                <a:latin typeface="Calibri"/>
              </a:rPr>
              <a:t>Capsules and softgels followed by chewables are expected to be the two most attractive form type segments in the Europe senior dog cognitive supplement market in terms of value over the forecast</a:t>
            </a:r>
          </a:p>
        </p:txBody>
      </p:sp>
      <p:sp>
        <p:nvSpPr>
          <p:cNvPr id="20" name="TextBox 19"/>
          <p:cNvSpPr txBox="1"/>
          <p:nvPr/>
        </p:nvSpPr>
        <p:spPr>
          <a:xfrm>
            <a:off x="257175" y="5861685"/>
            <a:ext cx="3963499" cy="186689"/>
          </a:xfrm>
          <a:prstGeom prst="rect">
            <a:avLst/>
          </a:prstGeom>
          <a:noFill/>
        </p:spPr>
        <p:txBody>
          <a:bodyPr wrap="none" lIns="0" tIns="0" rIns="0" bIns="0">
            <a:spAutoFit/>
          </a:bodyPr>
          <a:lstStyle/>
          <a:p>
            <a:r>
              <a:rPr sz="1100" b="0">
                <a:solidFill>
                  <a:srgbClr val="2E2E2E"/>
                </a:solidFill>
                <a:latin typeface="Calibri"/>
              </a:rPr>
              <a:t>period. Capsules and softgels and chewables exhibit a CAGR index of</a:t>
            </a:r>
          </a:p>
        </p:txBody>
      </p:sp>
      <p:pic>
        <p:nvPicPr>
          <p:cNvPr id="21" name="Picture 20" descr="lock.png"/>
          <p:cNvPicPr>
            <a:picLocks noChangeAspect="1"/>
          </p:cNvPicPr>
          <p:nvPr/>
        </p:nvPicPr>
        <p:blipFill>
          <a:blip r:embed="rId6"/>
          <a:stretch>
            <a:fillRect/>
          </a:stretch>
        </p:blipFill>
        <p:spPr>
          <a:xfrm>
            <a:off x="4168725" y="5851905"/>
            <a:ext cx="128699" cy="187198"/>
          </a:xfrm>
          <a:prstGeom prst="rect">
            <a:avLst/>
          </a:prstGeom>
        </p:spPr>
      </p:pic>
      <p:sp>
        <p:nvSpPr>
          <p:cNvPr id="22" name="TextBox 21"/>
          <p:cNvSpPr txBox="1"/>
          <p:nvPr/>
        </p:nvSpPr>
        <p:spPr>
          <a:xfrm>
            <a:off x="4336221"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574115" y="5851905"/>
            <a:ext cx="128699" cy="187198"/>
          </a:xfrm>
          <a:prstGeom prst="rect">
            <a:avLst/>
          </a:prstGeom>
        </p:spPr>
      </p:pic>
      <p:sp>
        <p:nvSpPr>
          <p:cNvPr id="24" name="TextBox 23"/>
          <p:cNvSpPr txBox="1"/>
          <p:nvPr/>
        </p:nvSpPr>
        <p:spPr>
          <a:xfrm>
            <a:off x="4741611" y="5861685"/>
            <a:ext cx="1660921" cy="186689"/>
          </a:xfrm>
          <a:prstGeom prst="rect">
            <a:avLst/>
          </a:prstGeom>
          <a:noFill/>
        </p:spPr>
        <p:txBody>
          <a:bodyPr wrap="none" lIns="0" tIns="0" r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350585" y="5851905"/>
            <a:ext cx="128699" cy="187198"/>
          </a:xfrm>
          <a:prstGeom prst="rect">
            <a:avLst/>
          </a:prstGeom>
        </p:spPr>
      </p:pic>
      <p:sp>
        <p:nvSpPr>
          <p:cNvPr id="26" name="TextBox 25"/>
          <p:cNvSpPr txBox="1"/>
          <p:nvPr/>
        </p:nvSpPr>
        <p:spPr>
          <a:xfrm>
            <a:off x="6518081"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755975" y="5851905"/>
            <a:ext cx="128699" cy="187198"/>
          </a:xfrm>
          <a:prstGeom prst="rect">
            <a:avLst/>
          </a:prstGeom>
        </p:spPr>
      </p:pic>
      <p:sp>
        <p:nvSpPr>
          <p:cNvPr id="28" name="TextBox 27"/>
          <p:cNvSpPr txBox="1"/>
          <p:nvPr/>
        </p:nvSpPr>
        <p:spPr>
          <a:xfrm>
            <a:off x="6923471" y="5861685"/>
            <a:ext cx="2606352" cy="186689"/>
          </a:xfrm>
          <a:prstGeom prst="rect">
            <a:avLst/>
          </a:prstGeom>
          <a:noFill/>
        </p:spPr>
        <p:txBody>
          <a:bodyPr wrap="none" lIns="0" tIns="0" r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477875" y="5851905"/>
            <a:ext cx="128699" cy="187198"/>
          </a:xfrm>
          <a:prstGeom prst="rect">
            <a:avLst/>
          </a:prstGeom>
        </p:spPr>
      </p:pic>
      <p:sp>
        <p:nvSpPr>
          <p:cNvPr id="30" name="TextBox 29"/>
          <p:cNvSpPr txBox="1"/>
          <p:nvPr/>
        </p:nvSpPr>
        <p:spPr>
          <a:xfrm>
            <a:off x="9645371" y="5861685"/>
            <a:ext cx="1640730" cy="186689"/>
          </a:xfrm>
          <a:prstGeom prst="rect">
            <a:avLst/>
          </a:prstGeom>
          <a:noFill/>
        </p:spPr>
        <p:txBody>
          <a:bodyPr wrap="none" lIns="0" tIns="0" rIns="0" bIns="0">
            <a:spAutoFit/>
          </a:bodyPr>
          <a:lstStyle/>
          <a:p>
            <a:r>
              <a:rPr sz="1100" b="0">
                <a:solidFill>
                  <a:srgbClr val="2E2E2E"/>
                </a:solidFill>
                <a:latin typeface="Calibri"/>
              </a:rPr>
              <a:t>. The powders and granules</a:t>
            </a:r>
          </a:p>
        </p:txBody>
      </p:sp>
      <p:sp>
        <p:nvSpPr>
          <p:cNvPr id="31" name="TextBox 30"/>
          <p:cNvSpPr txBox="1"/>
          <p:nvPr/>
        </p:nvSpPr>
        <p:spPr>
          <a:xfrm>
            <a:off x="257175" y="6029325"/>
            <a:ext cx="11549028" cy="186689"/>
          </a:xfrm>
          <a:prstGeom prst="rect">
            <a:avLst/>
          </a:prstGeom>
          <a:noFill/>
        </p:spPr>
        <p:txBody>
          <a:bodyPr wrap="none" lIns="0" tIns="0" rIns="0" bIns="0">
            <a:spAutoFit/>
          </a:bodyPr>
          <a:lstStyle/>
          <a:p>
            <a:r>
              <a:rPr sz="1100" b="0">
                <a:solidFill>
                  <a:srgbClr val="2E2E2E"/>
                </a:solidFill>
                <a:latin typeface="Calibri"/>
              </a:rPr>
              <a:t>segment is expected to be less attractive as compared to other segments over the forecast period, owing to its lower CAGR and incremental opportunity. Bubbles right of the CAGR-Index line grow faster</a:t>
            </a:r>
          </a:p>
        </p:txBody>
      </p:sp>
      <p:sp>
        <p:nvSpPr>
          <p:cNvPr id="32" name="TextBox 31"/>
          <p:cNvSpPr txBox="1"/>
          <p:nvPr/>
        </p:nvSpPr>
        <p:spPr>
          <a:xfrm>
            <a:off x="257175" y="6196965"/>
            <a:ext cx="1598711" cy="186689"/>
          </a:xfrm>
          <a:prstGeom prst="rect">
            <a:avLst/>
          </a:prstGeom>
          <a:noFill/>
        </p:spPr>
        <p:txBody>
          <a:bodyPr wrap="none" lIns="0" tIns="0" rIns="0" bIns="0">
            <a:spAutoFit/>
          </a:bodyPr>
          <a:lstStyle/>
          <a:p>
            <a:r>
              <a:rPr sz="1100" b="0">
                <a:solidFill>
                  <a:srgbClr val="2E2E2E"/>
                </a:solidFill>
                <a:latin typeface="Calibri"/>
              </a:rPr>
              <a:t>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Analysis, By Form Type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Chewables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Tablets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Capsules and Softgels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Powders and Granules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Analysis, By Form Type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Liquids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Gels and Pastes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Summary of Europe Absolute $ Opportunity Analysis, By Form Type</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5550" y="1390650"/>
            <a:ext cx="5610225"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0" name="TextBox 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400175"/>
            <a:ext cx="4756338" cy="194310"/>
          </a:xfrm>
          <a:prstGeom prst="rect">
            <a:avLst/>
          </a:prstGeom>
          <a:noFill/>
        </p:spPr>
        <p:txBody>
          <a:bodyPr wrap="none" lIns="0" tIns="0" rIns="0" bIns="0">
            <a:spAutoFit/>
          </a:bodyPr>
          <a:lstStyle/>
          <a:p>
            <a:r>
              <a:rPr sz="1150" b="0">
                <a:solidFill>
                  <a:srgbClr val="2E2E2E"/>
                </a:solidFill>
                <a:latin typeface="Calibri"/>
              </a:rPr>
              <a:t>By 2036, capsules and softgels segment is anticipated to witness an increase of</a:t>
            </a:r>
          </a:p>
        </p:txBody>
      </p:sp>
      <p:pic>
        <p:nvPicPr>
          <p:cNvPr id="24" name="Picture 23" descr="lock.png"/>
          <p:cNvPicPr>
            <a:picLocks noChangeAspect="1"/>
          </p:cNvPicPr>
          <p:nvPr/>
        </p:nvPicPr>
        <p:blipFill>
          <a:blip r:embed="rId6"/>
          <a:stretch>
            <a:fillRect/>
          </a:stretch>
        </p:blipFill>
        <p:spPr>
          <a:xfrm>
            <a:off x="11011042" y="1389951"/>
            <a:ext cx="134549" cy="195707"/>
          </a:xfrm>
          <a:prstGeom prst="rect">
            <a:avLst/>
          </a:prstGeom>
        </p:spPr>
      </p:pic>
      <p:sp>
        <p:nvSpPr>
          <p:cNvPr id="25" name="TextBox 24"/>
          <p:cNvSpPr txBox="1"/>
          <p:nvPr/>
        </p:nvSpPr>
        <p:spPr>
          <a:xfrm>
            <a:off x="11186151" y="1400175"/>
            <a:ext cx="675233" cy="194310"/>
          </a:xfrm>
          <a:prstGeom prst="rect">
            <a:avLst/>
          </a:prstGeom>
          <a:noFill/>
        </p:spPr>
        <p:txBody>
          <a:bodyPr wrap="none" lIns="0" tIns="0" rIns="0" bIns="0">
            <a:spAutoFit/>
          </a:bodyPr>
          <a:lstStyle/>
          <a:p>
            <a:r>
              <a:rPr sz="1150" b="0">
                <a:solidFill>
                  <a:srgbClr val="2E2E2E"/>
                </a:solidFill>
                <a:latin typeface="Calibri"/>
              </a:rPr>
              <a:t>X in terms</a:t>
            </a:r>
          </a:p>
        </p:txBody>
      </p:sp>
      <p:sp>
        <p:nvSpPr>
          <p:cNvPr id="26" name="TextBox 25"/>
          <p:cNvSpPr txBox="1"/>
          <p:nvPr/>
        </p:nvSpPr>
        <p:spPr>
          <a:xfrm>
            <a:off x="6305550" y="1575435"/>
            <a:ext cx="5412444" cy="194310"/>
          </a:xfrm>
          <a:prstGeom prst="rect">
            <a:avLst/>
          </a:prstGeom>
          <a:noFill/>
        </p:spPr>
        <p:txBody>
          <a:bodyPr wrap="none" lIns="0" tIns="0" rIns="0" bIns="0">
            <a:spAutoFit/>
          </a:bodyPr>
          <a:lstStyle/>
          <a:p>
            <a:r>
              <a:rPr sz="1150" b="0">
                <a:solidFill>
                  <a:srgbClr val="2E2E2E"/>
                </a:solidFill>
                <a:latin typeface="Calibri"/>
              </a:rPr>
              <a:t>of value as compared to 2026. The capsules and softgels segment is expected to create an</a:t>
            </a:r>
          </a:p>
        </p:txBody>
      </p:sp>
      <p:sp>
        <p:nvSpPr>
          <p:cNvPr id="27" name="TextBox 26"/>
          <p:cNvSpPr txBox="1"/>
          <p:nvPr/>
        </p:nvSpPr>
        <p:spPr>
          <a:xfrm>
            <a:off x="6305550" y="1750695"/>
            <a:ext cx="1956879" cy="194310"/>
          </a:xfrm>
          <a:prstGeom prst="rect">
            <a:avLst/>
          </a:prstGeom>
          <a:noFill/>
        </p:spPr>
        <p:txBody>
          <a:bodyPr wrap="none" lIns="0" tIns="0" rIns="0" bIns="0">
            <a:spAutoFit/>
          </a:bodyPr>
          <a:lstStyle/>
          <a:p>
            <a:r>
              <a:rPr sz="1150" b="0">
                <a:solidFill>
                  <a:srgbClr val="2E2E2E"/>
                </a:solidFill>
                <a:latin typeface="Calibri"/>
              </a:rPr>
              <a:t>incremental opportunity of US$</a:t>
            </a:r>
          </a:p>
        </p:txBody>
      </p:sp>
      <p:pic>
        <p:nvPicPr>
          <p:cNvPr id="28" name="Picture 27" descr="lock.png"/>
          <p:cNvPicPr>
            <a:picLocks noChangeAspect="1"/>
          </p:cNvPicPr>
          <p:nvPr/>
        </p:nvPicPr>
        <p:blipFill>
          <a:blip r:embed="rId6"/>
          <a:stretch>
            <a:fillRect/>
          </a:stretch>
        </p:blipFill>
        <p:spPr>
          <a:xfrm>
            <a:off x="8211582" y="1740471"/>
            <a:ext cx="134549" cy="195707"/>
          </a:xfrm>
          <a:prstGeom prst="rect">
            <a:avLst/>
          </a:prstGeom>
        </p:spPr>
      </p:pic>
      <p:sp>
        <p:nvSpPr>
          <p:cNvPr id="29" name="TextBox 28"/>
          <p:cNvSpPr txBox="1"/>
          <p:nvPr/>
        </p:nvSpPr>
        <p:spPr>
          <a:xfrm>
            <a:off x="8386692" y="1750695"/>
            <a:ext cx="3123567"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a:t>
            </a:r>
          </a:p>
        </p:txBody>
      </p:sp>
      <p:sp>
        <p:nvSpPr>
          <p:cNvPr id="30" name="TextBox 29"/>
          <p:cNvSpPr txBox="1"/>
          <p:nvPr/>
        </p:nvSpPr>
        <p:spPr>
          <a:xfrm>
            <a:off x="6305550" y="1925955"/>
            <a:ext cx="1679897" cy="194310"/>
          </a:xfrm>
          <a:prstGeom prst="rect">
            <a:avLst/>
          </a:prstGeom>
          <a:noFill/>
        </p:spPr>
        <p:txBody>
          <a:bodyPr wrap="none" lIns="0" tIns="0" rIns="0" bIns="0">
            <a:spAutoFit/>
          </a:bodyPr>
          <a:lstStyle/>
          <a:p>
            <a:r>
              <a:rPr sz="1150" b="0">
                <a:solidFill>
                  <a:srgbClr val="2E2E2E"/>
                </a:solidFill>
                <a:latin typeface="Calibri"/>
              </a:rPr>
              <a:t>market from 2026 to 2036.</a:t>
            </a:r>
          </a:p>
        </p:txBody>
      </p:sp>
      <p:sp>
        <p:nvSpPr>
          <p:cNvPr id="31" name="TextBox 30"/>
          <p:cNvSpPr txBox="1"/>
          <p:nvPr/>
        </p:nvSpPr>
        <p:spPr>
          <a:xfrm>
            <a:off x="6305550" y="2153793"/>
            <a:ext cx="4868750" cy="194310"/>
          </a:xfrm>
          <a:prstGeom prst="rect">
            <a:avLst/>
          </a:prstGeom>
          <a:noFill/>
        </p:spPr>
        <p:txBody>
          <a:bodyPr wrap="none" lIns="0" tIns="0" rIns="0" bIns="0">
            <a:spAutoFit/>
          </a:bodyPr>
          <a:lstStyle/>
          <a:p>
            <a:r>
              <a:rPr sz="1150" b="0">
                <a:solidFill>
                  <a:srgbClr val="2E2E2E"/>
                </a:solidFill>
                <a:latin typeface="Calibri"/>
              </a:rPr>
              <a:t>The chewables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11123454" y="2143569"/>
            <a:ext cx="134549" cy="195707"/>
          </a:xfrm>
          <a:prstGeom prst="rect">
            <a:avLst/>
          </a:prstGeom>
        </p:spPr>
      </p:pic>
      <p:sp>
        <p:nvSpPr>
          <p:cNvPr id="33" name="TextBox 32"/>
          <p:cNvSpPr txBox="1"/>
          <p:nvPr/>
        </p:nvSpPr>
        <p:spPr>
          <a:xfrm>
            <a:off x="11298564" y="2153793"/>
            <a:ext cx="483542" cy="194310"/>
          </a:xfrm>
          <a:prstGeom prst="rect">
            <a:avLst/>
          </a:prstGeom>
          <a:noFill/>
        </p:spPr>
        <p:txBody>
          <a:bodyPr wrap="none" lIns="0" tIns="0" rIns="0" bIns="0">
            <a:spAutoFit/>
          </a:bodyPr>
          <a:lstStyle/>
          <a:p>
            <a:r>
              <a:rPr sz="1150" b="0">
                <a:solidFill>
                  <a:srgbClr val="2E2E2E"/>
                </a:solidFill>
                <a:latin typeface="Calibri"/>
              </a:rPr>
              <a:t>Mn for</a:t>
            </a:r>
          </a:p>
        </p:txBody>
      </p:sp>
      <p:sp>
        <p:nvSpPr>
          <p:cNvPr id="34" name="TextBox 33"/>
          <p:cNvSpPr txBox="1"/>
          <p:nvPr/>
        </p:nvSpPr>
        <p:spPr>
          <a:xfrm>
            <a:off x="6305550" y="2329053"/>
            <a:ext cx="5561917" cy="194310"/>
          </a:xfrm>
          <a:prstGeom prst="rect">
            <a:avLst/>
          </a:prstGeom>
          <a:noFill/>
        </p:spPr>
        <p:txBody>
          <a:bodyPr wrap="none" lIns="0" tIns="0" rIns="0" bIns="0">
            <a:spAutoFit/>
          </a:bodyPr>
          <a:lstStyle/>
          <a:p>
            <a:r>
              <a:rPr sz="1150" b="0">
                <a:solidFill>
                  <a:srgbClr val="2E2E2E"/>
                </a:solidFill>
                <a:latin typeface="Calibri"/>
              </a:rPr>
              <a:t>the overall senior dog cognitive supplement market from 2026 to 2036. The tablets segment</a:t>
            </a:r>
          </a:p>
        </p:txBody>
      </p:sp>
      <p:sp>
        <p:nvSpPr>
          <p:cNvPr id="35" name="TextBox 34"/>
          <p:cNvSpPr txBox="1"/>
          <p:nvPr/>
        </p:nvSpPr>
        <p:spPr>
          <a:xfrm>
            <a:off x="6305550" y="2504313"/>
            <a:ext cx="3409106" cy="194310"/>
          </a:xfrm>
          <a:prstGeom prst="rect">
            <a:avLst/>
          </a:prstGeom>
          <a:noFill/>
        </p:spPr>
        <p:txBody>
          <a:bodyPr wrap="none" lIns="0" tIns="0" rIns="0" bIns="0">
            <a:spAutoFit/>
          </a:bodyPr>
          <a:lstStyle/>
          <a:p>
            <a:r>
              <a:rPr sz="1150" b="0">
                <a:solidFill>
                  <a:srgbClr val="2E2E2E"/>
                </a:solidFill>
                <a:latin typeface="Calibri"/>
              </a:rPr>
              <a:t>is expected to create an incremental opportunity of US$</a:t>
            </a:r>
          </a:p>
        </p:txBody>
      </p:sp>
      <p:pic>
        <p:nvPicPr>
          <p:cNvPr id="36" name="Picture 35" descr="lock.png"/>
          <p:cNvPicPr>
            <a:picLocks noChangeAspect="1"/>
          </p:cNvPicPr>
          <p:nvPr/>
        </p:nvPicPr>
        <p:blipFill>
          <a:blip r:embed="rId6"/>
          <a:stretch>
            <a:fillRect/>
          </a:stretch>
        </p:blipFill>
        <p:spPr>
          <a:xfrm>
            <a:off x="9663810" y="2494089"/>
            <a:ext cx="134549" cy="195707"/>
          </a:xfrm>
          <a:prstGeom prst="rect">
            <a:avLst/>
          </a:prstGeom>
        </p:spPr>
      </p:pic>
      <p:sp>
        <p:nvSpPr>
          <p:cNvPr id="37" name="TextBox 36"/>
          <p:cNvSpPr txBox="1"/>
          <p:nvPr/>
        </p:nvSpPr>
        <p:spPr>
          <a:xfrm>
            <a:off x="9838919" y="2504313"/>
            <a:ext cx="1809117" cy="194310"/>
          </a:xfrm>
          <a:prstGeom prst="rect">
            <a:avLst/>
          </a:prstGeom>
          <a:noFill/>
        </p:spPr>
        <p:txBody>
          <a:bodyPr wrap="none" lIns="0" tIns="0" rIns="0" bIns="0">
            <a:spAutoFit/>
          </a:bodyPr>
          <a:lstStyle/>
          <a:p>
            <a:r>
              <a:rPr sz="1150" b="0">
                <a:solidFill>
                  <a:srgbClr val="2E2E2E"/>
                </a:solidFill>
                <a:latin typeface="Calibri"/>
              </a:rPr>
              <a:t>Mn for the overall senior dog</a:t>
            </a:r>
          </a:p>
        </p:txBody>
      </p:sp>
      <p:sp>
        <p:nvSpPr>
          <p:cNvPr id="38" name="TextBox 37"/>
          <p:cNvSpPr txBox="1"/>
          <p:nvPr/>
        </p:nvSpPr>
        <p:spPr>
          <a:xfrm>
            <a:off x="6305550" y="2679573"/>
            <a:ext cx="2994347" cy="194310"/>
          </a:xfrm>
          <a:prstGeom prst="rect">
            <a:avLst/>
          </a:prstGeom>
          <a:noFill/>
        </p:spPr>
        <p:txBody>
          <a:bodyPr wrap="none" lIns="0" tIns="0" rIns="0" bIns="0">
            <a:spAutoFit/>
          </a:bodyPr>
          <a:lstStyle/>
          <a:p>
            <a:r>
              <a:rPr sz="1150" b="0">
                <a:solidFill>
                  <a:srgbClr val="2E2E2E"/>
                </a:solidFill>
                <a:latin typeface="Calibri"/>
              </a:rPr>
              <a:t>cognitive supplement market from 2026 to 2036.</a:t>
            </a:r>
          </a:p>
        </p:txBody>
      </p:sp>
      <p:sp>
        <p:nvSpPr>
          <p:cNvPr id="3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Analysis, By Form Type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Form Type,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By Form Type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597554">
                  <a:extLst>
                    <a:ext uri="{9D8B030D-6E8A-4147-A177-3AD203B41FA5}">
                      <a16:colId xmlns:a16="http://schemas.microsoft.com/office/drawing/2014/main" val="20000"/>
                    </a:ext>
                  </a:extLst>
                </a:gridCol>
                <a:gridCol w="605273">
                  <a:extLst>
                    <a:ext uri="{9D8B030D-6E8A-4147-A177-3AD203B41FA5}">
                      <a16:colId xmlns:a16="http://schemas.microsoft.com/office/drawing/2014/main" val="20001"/>
                    </a:ext>
                  </a:extLst>
                </a:gridCol>
                <a:gridCol w="605273">
                  <a:extLst>
                    <a:ext uri="{9D8B030D-6E8A-4147-A177-3AD203B41FA5}">
                      <a16:colId xmlns:a16="http://schemas.microsoft.com/office/drawing/2014/main" val="20002"/>
                    </a:ext>
                  </a:extLst>
                </a:gridCol>
                <a:gridCol w="605273">
                  <a:extLst>
                    <a:ext uri="{9D8B030D-6E8A-4147-A177-3AD203B41FA5}">
                      <a16:colId xmlns:a16="http://schemas.microsoft.com/office/drawing/2014/main" val="20003"/>
                    </a:ext>
                  </a:extLst>
                </a:gridCol>
                <a:gridCol w="605273">
                  <a:extLst>
                    <a:ext uri="{9D8B030D-6E8A-4147-A177-3AD203B41FA5}">
                      <a16:colId xmlns:a16="http://schemas.microsoft.com/office/drawing/2014/main" val="20004"/>
                    </a:ext>
                  </a:extLst>
                </a:gridCol>
                <a:gridCol w="605273">
                  <a:extLst>
                    <a:ext uri="{9D8B030D-6E8A-4147-A177-3AD203B41FA5}">
                      <a16:colId xmlns:a16="http://schemas.microsoft.com/office/drawing/2014/main" val="20005"/>
                    </a:ext>
                  </a:extLst>
                </a:gridCol>
                <a:gridCol w="605273">
                  <a:extLst>
                    <a:ext uri="{9D8B030D-6E8A-4147-A177-3AD203B41FA5}">
                      <a16:colId xmlns:a16="http://schemas.microsoft.com/office/drawing/2014/main" val="20006"/>
                    </a:ext>
                  </a:extLst>
                </a:gridCol>
                <a:gridCol w="605273">
                  <a:extLst>
                    <a:ext uri="{9D8B030D-6E8A-4147-A177-3AD203B41FA5}">
                      <a16:colId xmlns:a16="http://schemas.microsoft.com/office/drawing/2014/main" val="20007"/>
                    </a:ext>
                  </a:extLst>
                </a:gridCol>
                <a:gridCol w="605273">
                  <a:extLst>
                    <a:ext uri="{9D8B030D-6E8A-4147-A177-3AD203B41FA5}">
                      <a16:colId xmlns:a16="http://schemas.microsoft.com/office/drawing/2014/main" val="20008"/>
                    </a:ext>
                  </a:extLst>
                </a:gridCol>
                <a:gridCol w="605273">
                  <a:extLst>
                    <a:ext uri="{9D8B030D-6E8A-4147-A177-3AD203B41FA5}">
                      <a16:colId xmlns:a16="http://schemas.microsoft.com/office/drawing/2014/main" val="20009"/>
                    </a:ext>
                  </a:extLst>
                </a:gridCol>
                <a:gridCol w="605273">
                  <a:extLst>
                    <a:ext uri="{9D8B030D-6E8A-4147-A177-3AD203B41FA5}">
                      <a16:colId xmlns:a16="http://schemas.microsoft.com/office/drawing/2014/main" val="20010"/>
                    </a:ext>
                  </a:extLst>
                </a:gridCol>
                <a:gridCol w="605273">
                  <a:extLst>
                    <a:ext uri="{9D8B030D-6E8A-4147-A177-3AD203B41FA5}">
                      <a16:colId xmlns:a16="http://schemas.microsoft.com/office/drawing/2014/main" val="20011"/>
                    </a:ext>
                  </a:extLst>
                </a:gridCol>
                <a:gridCol w="605273">
                  <a:extLst>
                    <a:ext uri="{9D8B030D-6E8A-4147-A177-3AD203B41FA5}">
                      <a16:colId xmlns:a16="http://schemas.microsoft.com/office/drawing/2014/main" val="20012"/>
                    </a:ext>
                  </a:extLst>
                </a:gridCol>
                <a:gridCol w="605273">
                  <a:extLst>
                    <a:ext uri="{9D8B030D-6E8A-4147-A177-3AD203B41FA5}">
                      <a16:colId xmlns:a16="http://schemas.microsoft.com/office/drawing/2014/main" val="20013"/>
                    </a:ext>
                  </a:extLst>
                </a:gridCol>
                <a:gridCol w="605273">
                  <a:extLst>
                    <a:ext uri="{9D8B030D-6E8A-4147-A177-3AD203B41FA5}">
                      <a16:colId xmlns:a16="http://schemas.microsoft.com/office/drawing/2014/main" val="20014"/>
                    </a:ext>
                  </a:extLst>
                </a:gridCol>
                <a:gridCol w="605273">
                  <a:extLst>
                    <a:ext uri="{9D8B030D-6E8A-4147-A177-3AD203B41FA5}">
                      <a16:colId xmlns:a16="http://schemas.microsoft.com/office/drawing/2014/main" val="20015"/>
                    </a:ext>
                  </a:extLst>
                </a:gridCol>
                <a:gridCol w="605273">
                  <a:extLst>
                    <a:ext uri="{9D8B030D-6E8A-4147-A177-3AD203B41FA5}">
                      <a16:colId xmlns:a16="http://schemas.microsoft.com/office/drawing/2014/main" val="20016"/>
                    </a:ext>
                  </a:extLst>
                </a:gridCol>
                <a:gridCol w="605273">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638550"/>
            <a:ext cx="11639550" cy="209550"/>
          </a:xfrm>
          <a:prstGeom prst="rect">
            <a:avLst/>
          </a:prstGeom>
          <a:noFill/>
        </p:spPr>
        <p:txBody>
          <a:bodyPr wrap="square" lIns="0" tIns="9525" rIns="19050" bIns="9525">
            <a:spAutoFit/>
          </a:bodyPr>
          <a:lstStyle/>
          <a:p>
            <a:pPr algn="l"/>
            <a:r>
              <a:rPr sz="1300" b="1">
                <a:solidFill>
                  <a:srgbClr val="0B2E4A"/>
                </a:solidFill>
                <a:latin typeface="Calibri"/>
              </a:rPr>
              <a:t>Europe Value Analysis, By Form Type</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962400"/>
            <a:ext cx="11639550" cy="2590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08084" y="2080450"/>
            <a:ext cx="366712" cy="533400"/>
          </a:xfrm>
          <a:prstGeom prst="rect">
            <a:avLst/>
          </a:prstGeom>
        </p:spPr>
      </p:pic>
      <p:sp>
        <p:nvSpPr>
          <p:cNvPr id="20" name="TextBox 19"/>
          <p:cNvSpPr txBox="1"/>
          <p:nvPr/>
        </p:nvSpPr>
        <p:spPr>
          <a:xfrm>
            <a:off x="276225" y="3971925"/>
            <a:ext cx="3272470" cy="194310"/>
          </a:xfrm>
          <a:prstGeom prst="rect">
            <a:avLst/>
          </a:prstGeom>
          <a:noFill/>
        </p:spPr>
        <p:txBody>
          <a:bodyPr wrap="none" lIns="0" tIns="0" rIns="0" bIns="0">
            <a:spAutoFit/>
          </a:bodyPr>
          <a:lstStyle/>
          <a:p>
            <a:r>
              <a:rPr sz="1150" b="0">
                <a:solidFill>
                  <a:srgbClr val="2E2E2E"/>
                </a:solidFill>
                <a:latin typeface="Calibri"/>
              </a:rPr>
              <a:t>Capsules and softgels segment is projected to register</a:t>
            </a:r>
          </a:p>
        </p:txBody>
      </p:sp>
      <p:pic>
        <p:nvPicPr>
          <p:cNvPr id="21" name="Picture 20" descr="lock.png"/>
          <p:cNvPicPr>
            <a:picLocks noChangeAspect="1"/>
          </p:cNvPicPr>
          <p:nvPr/>
        </p:nvPicPr>
        <p:blipFill>
          <a:blip r:embed="rId4"/>
          <a:stretch>
            <a:fillRect/>
          </a:stretch>
        </p:blipFill>
        <p:spPr>
          <a:xfrm>
            <a:off x="3497848" y="3961701"/>
            <a:ext cx="134549" cy="195707"/>
          </a:xfrm>
          <a:prstGeom prst="rect">
            <a:avLst/>
          </a:prstGeom>
        </p:spPr>
      </p:pic>
      <p:sp>
        <p:nvSpPr>
          <p:cNvPr id="22" name="TextBox 21"/>
          <p:cNvSpPr txBox="1"/>
          <p:nvPr/>
        </p:nvSpPr>
        <p:spPr>
          <a:xfrm>
            <a:off x="3672958" y="3971925"/>
            <a:ext cx="8049046" cy="194310"/>
          </a:xfrm>
          <a:prstGeom prst="rect">
            <a:avLst/>
          </a:prstGeom>
          <a:noFill/>
        </p:spPr>
        <p:txBody>
          <a:bodyPr wrap="none" lIns="0" tIns="0" rIns="0" bIns="0">
            <a:spAutoFit/>
          </a:bodyPr>
          <a:lstStyle/>
          <a:p>
            <a:r>
              <a:rPr sz="1150" b="0">
                <a:solidFill>
                  <a:srgbClr val="2E2E2E"/>
                </a:solidFill>
                <a:latin typeface="Calibri"/>
              </a:rPr>
              <a:t>X higher value than tablets segment in 2036. Among senior dog cognitive supplement by form type, chewables segment is expected to</a:t>
            </a:r>
          </a:p>
        </p:txBody>
      </p:sp>
      <p:sp>
        <p:nvSpPr>
          <p:cNvPr id="23" name="TextBox 22"/>
          <p:cNvSpPr txBox="1"/>
          <p:nvPr/>
        </p:nvSpPr>
        <p:spPr>
          <a:xfrm>
            <a:off x="276225" y="4147185"/>
            <a:ext cx="1747770" cy="194310"/>
          </a:xfrm>
          <a:prstGeom prst="rect">
            <a:avLst/>
          </a:prstGeom>
          <a:noFill/>
        </p:spPr>
        <p:txBody>
          <a:bodyPr wrap="none" lIns="0" tIns="0" r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4136961"/>
            <a:ext cx="134549" cy="195707"/>
          </a:xfrm>
          <a:prstGeom prst="rect">
            <a:avLst/>
          </a:prstGeom>
        </p:spPr>
      </p:pic>
      <p:sp>
        <p:nvSpPr>
          <p:cNvPr id="25" name="TextBox 24"/>
          <p:cNvSpPr txBox="1"/>
          <p:nvPr/>
        </p:nvSpPr>
        <p:spPr>
          <a:xfrm>
            <a:off x="2148258" y="414718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991895" cy="194310"/>
          </a:xfrm>
          <a:prstGeom prst="rect">
            <a:avLst/>
          </a:prstGeom>
          <a:noFill/>
        </p:spPr>
        <p:txBody>
          <a:bodyPr wrap="none" lIns="0" tIns="0" rIns="0" bIns="0">
            <a:spAutoFit/>
          </a:bodyPr>
          <a:lstStyle/>
          <a:p>
            <a:r>
              <a:rPr sz="1150" b="0">
                <a:solidFill>
                  <a:srgbClr val="2E2E2E"/>
                </a:solidFill>
                <a:latin typeface="Calibri"/>
              </a:rPr>
              <a:t>In terms of value share by form type, the capsules and softgels segment is expected to dominate the market, gaining</a:t>
            </a:r>
          </a:p>
        </p:txBody>
      </p:sp>
      <p:pic>
        <p:nvPicPr>
          <p:cNvPr id="27" name="Picture 26" descr="lock.png"/>
          <p:cNvPicPr>
            <a:picLocks noChangeAspect="1"/>
          </p:cNvPicPr>
          <p:nvPr/>
        </p:nvPicPr>
        <p:blipFill>
          <a:blip r:embed="rId4"/>
          <a:stretch>
            <a:fillRect/>
          </a:stretch>
        </p:blipFill>
        <p:spPr>
          <a:xfrm>
            <a:off x="7217274" y="4364799"/>
            <a:ext cx="134549" cy="195707"/>
          </a:xfrm>
          <a:prstGeom prst="rect">
            <a:avLst/>
          </a:prstGeom>
        </p:spPr>
      </p:pic>
      <p:sp>
        <p:nvSpPr>
          <p:cNvPr id="28" name="TextBox 27"/>
          <p:cNvSpPr txBox="1"/>
          <p:nvPr/>
        </p:nvSpPr>
        <p:spPr>
          <a:xfrm>
            <a:off x="7392383" y="4375022"/>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787527" y="4364799"/>
            <a:ext cx="134549" cy="195707"/>
          </a:xfrm>
          <a:prstGeom prst="rect">
            <a:avLst/>
          </a:prstGeom>
        </p:spPr>
      </p:pic>
      <p:sp>
        <p:nvSpPr>
          <p:cNvPr id="30" name="TextBox 29"/>
          <p:cNvSpPr txBox="1"/>
          <p:nvPr/>
        </p:nvSpPr>
        <p:spPr>
          <a:xfrm>
            <a:off x="8962636" y="4375022"/>
            <a:ext cx="2684276" cy="194310"/>
          </a:xfrm>
          <a:prstGeom prst="rect">
            <a:avLst/>
          </a:prstGeom>
          <a:noFill/>
        </p:spPr>
        <p:txBody>
          <a:bodyPr wrap="none" lIns="0" tIns="0" rIns="0" bIns="0">
            <a:spAutoFit/>
          </a:bodyPr>
          <a:lstStyle/>
          <a:p>
            <a:r>
              <a:rPr sz="1150" b="0">
                <a:solidFill>
                  <a:srgbClr val="2E2E2E"/>
                </a:solidFill>
                <a:latin typeface="Calibri"/>
              </a:rPr>
              <a:t>share by 2036. The gels and pastes segment</a:t>
            </a:r>
          </a:p>
        </p:txBody>
      </p:sp>
      <p:sp>
        <p:nvSpPr>
          <p:cNvPr id="31" name="TextBox 30"/>
          <p:cNvSpPr txBox="1"/>
          <p:nvPr/>
        </p:nvSpPr>
        <p:spPr>
          <a:xfrm>
            <a:off x="276225" y="4550282"/>
            <a:ext cx="1178706" cy="194310"/>
          </a:xfrm>
          <a:prstGeom prst="rect">
            <a:avLst/>
          </a:prstGeom>
          <a:noFill/>
        </p:spPr>
        <p:txBody>
          <a:bodyPr wrap="none" lIns="0" tIns="0" rIns="0" bIns="0">
            <a:spAutoFit/>
          </a:bodyPr>
          <a:lstStyle/>
          <a:p>
            <a:r>
              <a:rPr sz="1150" b="0">
                <a:solidFill>
                  <a:srgbClr val="2E2E2E"/>
                </a:solidFill>
                <a:latin typeface="Calibri"/>
              </a:rPr>
              <a:t>is expected to lose</a:t>
            </a:r>
          </a:p>
        </p:txBody>
      </p:sp>
      <p:pic>
        <p:nvPicPr>
          <p:cNvPr id="32" name="Picture 31" descr="lock.png"/>
          <p:cNvPicPr>
            <a:picLocks noChangeAspect="1"/>
          </p:cNvPicPr>
          <p:nvPr/>
        </p:nvPicPr>
        <p:blipFill>
          <a:blip r:embed="rId4"/>
          <a:stretch>
            <a:fillRect/>
          </a:stretch>
        </p:blipFill>
        <p:spPr>
          <a:xfrm>
            <a:off x="1404085" y="4540059"/>
            <a:ext cx="134549" cy="195707"/>
          </a:xfrm>
          <a:prstGeom prst="rect">
            <a:avLst/>
          </a:prstGeom>
        </p:spPr>
      </p:pic>
      <p:sp>
        <p:nvSpPr>
          <p:cNvPr id="33" name="TextBox 32"/>
          <p:cNvSpPr txBox="1"/>
          <p:nvPr/>
        </p:nvSpPr>
        <p:spPr>
          <a:xfrm>
            <a:off x="1579194" y="4550282"/>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166699" y="4540059"/>
            <a:ext cx="134549" cy="195707"/>
          </a:xfrm>
          <a:prstGeom prst="rect">
            <a:avLst/>
          </a:prstGeom>
        </p:spPr>
      </p:pic>
      <p:sp>
        <p:nvSpPr>
          <p:cNvPr id="35" name="TextBox 34"/>
          <p:cNvSpPr txBox="1"/>
          <p:nvPr/>
        </p:nvSpPr>
        <p:spPr>
          <a:xfrm>
            <a:off x="4341808" y="4550282"/>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&amp; Share Shift, By Form Type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Form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Composition, By Form Type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419225"/>
            <a:ext cx="2595753" cy="177927"/>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a:endParaRPr/>
          </a:p>
        </p:txBody>
      </p:sp>
      <p:sp>
        <p:nvSpPr>
          <p:cNvPr id="15" name="FMI Legend Chip"/>
          <p:cNvSpPr/>
          <p:nvPr/>
        </p:nvSpPr>
        <p:spPr>
          <a:xfrm>
            <a:off x="4928997" y="161584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10800000">
            <a:off x="5090922" y="161107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534879"/>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Powders and Granules</a:t>
            </a:r>
          </a:p>
        </p:txBody>
      </p:sp>
      <p:sp>
        <p:nvSpPr>
          <p:cNvPr id="18" name="BPS Value 1"/>
          <p:cNvSpPr txBox="1"/>
          <p:nvPr/>
        </p:nvSpPr>
        <p:spPr>
          <a:xfrm>
            <a:off x="6896100" y="1596792"/>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19" name="FMI Legend Chip"/>
          <p:cNvSpPr/>
          <p:nvPr/>
        </p:nvSpPr>
        <p:spPr>
          <a:xfrm>
            <a:off x="4928997" y="1903906"/>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rot="10800000">
            <a:off x="5090922" y="189914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1822944"/>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Liquids</a:t>
            </a:r>
          </a:p>
        </p:txBody>
      </p:sp>
      <p:sp>
        <p:nvSpPr>
          <p:cNvPr id="22" name="BPS Value 2"/>
          <p:cNvSpPr txBox="1"/>
          <p:nvPr/>
        </p:nvSpPr>
        <p:spPr>
          <a:xfrm>
            <a:off x="6896100" y="1884856"/>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3" name="FMI Legend Chip"/>
          <p:cNvSpPr/>
          <p:nvPr/>
        </p:nvSpPr>
        <p:spPr>
          <a:xfrm>
            <a:off x="4928997" y="2353450"/>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rot="10800000">
            <a:off x="5090922" y="234868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2272487"/>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Gels and Pastes</a:t>
            </a:r>
          </a:p>
        </p:txBody>
      </p:sp>
      <p:sp>
        <p:nvSpPr>
          <p:cNvPr id="26" name="BPS Value 3"/>
          <p:cNvSpPr txBox="1"/>
          <p:nvPr/>
        </p:nvSpPr>
        <p:spPr>
          <a:xfrm>
            <a:off x="6896100" y="2334400"/>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7" name="FMI Legend Chip"/>
          <p:cNvSpPr/>
          <p:nvPr/>
        </p:nvSpPr>
        <p:spPr>
          <a:xfrm>
            <a:off x="4928997" y="306843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a:off x="5090922" y="306367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2987472"/>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Chewables</a:t>
            </a:r>
          </a:p>
        </p:txBody>
      </p:sp>
      <p:sp>
        <p:nvSpPr>
          <p:cNvPr id="30" name="BPS Value 4"/>
          <p:cNvSpPr txBox="1"/>
          <p:nvPr/>
        </p:nvSpPr>
        <p:spPr>
          <a:xfrm>
            <a:off x="6896100" y="3049385"/>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1" name="FMI Legend Chip"/>
          <p:cNvSpPr/>
          <p:nvPr/>
        </p:nvSpPr>
        <p:spPr>
          <a:xfrm>
            <a:off x="4928997" y="400362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10800000">
            <a:off x="5090922" y="399886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5233797" y="392266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Tablets</a:t>
            </a:r>
          </a:p>
        </p:txBody>
      </p:sp>
      <p:sp>
        <p:nvSpPr>
          <p:cNvPr id="34" name="BPS Value 5"/>
          <p:cNvSpPr txBox="1"/>
          <p:nvPr/>
        </p:nvSpPr>
        <p:spPr>
          <a:xfrm>
            <a:off x="6896100" y="3984575"/>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5" name="FMI Legend Chip"/>
          <p:cNvSpPr/>
          <p:nvPr/>
        </p:nvSpPr>
        <p:spPr>
          <a:xfrm>
            <a:off x="4928997" y="536906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5090922" y="536430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5233797" y="528810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Capsules and Softgels</a:t>
            </a:r>
          </a:p>
        </p:txBody>
      </p:sp>
      <p:sp>
        <p:nvSpPr>
          <p:cNvPr id="38" name="BPS Value 6"/>
          <p:cNvSpPr txBox="1"/>
          <p:nvPr/>
        </p:nvSpPr>
        <p:spPr>
          <a:xfrm>
            <a:off x="6896100" y="5350013"/>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Europe Read-out, By Form Type</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TextBox 4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751325"/>
            <a:ext cx="275034" cy="400050"/>
          </a:xfrm>
          <a:prstGeom prst="rect">
            <a:avLst/>
          </a:prstGeom>
        </p:spPr>
      </p:pic>
      <p:sp>
        <p:nvSpPr>
          <p:cNvPr id="45" name="TextBox 44"/>
          <p:cNvSpPr txBox="1"/>
          <p:nvPr/>
        </p:nvSpPr>
        <p:spPr>
          <a:xfrm>
            <a:off x="7829550" y="1400175"/>
            <a:ext cx="3962784" cy="194310"/>
          </a:xfrm>
          <a:prstGeom prst="rect">
            <a:avLst/>
          </a:prstGeom>
          <a:noFill/>
        </p:spPr>
        <p:txBody>
          <a:bodyPr wrap="none" lIns="0" tIns="0" rIns="0" bIns="0">
            <a:spAutoFit/>
          </a:bodyPr>
          <a:lstStyle/>
          <a:p>
            <a:r>
              <a:rPr sz="1150" b="0">
                <a:solidFill>
                  <a:srgbClr val="2E2E2E"/>
                </a:solidFill>
                <a:latin typeface="Calibri"/>
              </a:rPr>
              <a:t>Among senior dog cognitive supplement by form type, chewables</a:t>
            </a:r>
          </a:p>
        </p:txBody>
      </p:sp>
      <p:sp>
        <p:nvSpPr>
          <p:cNvPr id="46" name="TextBox 45"/>
          <p:cNvSpPr txBox="1"/>
          <p:nvPr/>
        </p:nvSpPr>
        <p:spPr>
          <a:xfrm>
            <a:off x="7829550" y="1575435"/>
            <a:ext cx="3156639" cy="194310"/>
          </a:xfrm>
          <a:prstGeom prst="rect">
            <a:avLst/>
          </a:prstGeom>
          <a:noFill/>
        </p:spPr>
        <p:txBody>
          <a:bodyPr wrap="none" lIns="0" tIns="0" rIns="0" bIns="0">
            <a:spAutoFit/>
          </a:bodyPr>
          <a:lstStyle/>
          <a:p>
            <a:r>
              <a:rPr sz="1150" b="0">
                <a:solidFill>
                  <a:srgbClr val="2E2E2E"/>
                </a:solidFill>
                <a:latin typeface="Calibri"/>
              </a:rPr>
              <a:t>segment is expected to witness the highest CAGR of</a:t>
            </a:r>
          </a:p>
        </p:txBody>
      </p:sp>
      <p:pic>
        <p:nvPicPr>
          <p:cNvPr id="47" name="Picture 46" descr="lock.png"/>
          <p:cNvPicPr>
            <a:picLocks noChangeAspect="1"/>
          </p:cNvPicPr>
          <p:nvPr/>
        </p:nvPicPr>
        <p:blipFill>
          <a:blip r:embed="rId5"/>
          <a:stretch>
            <a:fillRect/>
          </a:stretch>
        </p:blipFill>
        <p:spPr>
          <a:xfrm>
            <a:off x="10935343" y="1565211"/>
            <a:ext cx="134549" cy="195707"/>
          </a:xfrm>
          <a:prstGeom prst="rect">
            <a:avLst/>
          </a:prstGeom>
        </p:spPr>
      </p:pic>
      <p:sp>
        <p:nvSpPr>
          <p:cNvPr id="48" name="TextBox 47"/>
          <p:cNvSpPr txBox="1"/>
          <p:nvPr/>
        </p:nvSpPr>
        <p:spPr>
          <a:xfrm>
            <a:off x="11110452" y="1575435"/>
            <a:ext cx="574538" cy="194310"/>
          </a:xfrm>
          <a:prstGeom prst="rect">
            <a:avLst/>
          </a:prstGeom>
          <a:noFill/>
        </p:spPr>
        <p:txBody>
          <a:bodyPr wrap="none" lIns="0" tIns="0" rIns="0" bIns="0">
            <a:spAutoFit/>
          </a:bodyPr>
          <a:lstStyle/>
          <a:p>
            <a:r>
              <a:rPr sz="1150" b="0">
                <a:solidFill>
                  <a:srgbClr val="2E2E2E"/>
                </a:solidFill>
                <a:latin typeface="Calibri"/>
              </a:rPr>
              <a:t>over the</a:t>
            </a:r>
          </a:p>
        </p:txBody>
      </p:sp>
      <p:sp>
        <p:nvSpPr>
          <p:cNvPr id="49" name="TextBox 48"/>
          <p:cNvSpPr txBox="1"/>
          <p:nvPr/>
        </p:nvSpPr>
        <p:spPr>
          <a:xfrm>
            <a:off x="7829550" y="1750695"/>
            <a:ext cx="4013844" cy="194310"/>
          </a:xfrm>
          <a:prstGeom prst="rect">
            <a:avLst/>
          </a:prstGeom>
          <a:noFill/>
        </p:spPr>
        <p:txBody>
          <a:bodyPr wrap="none" lIns="0" tIns="0" rIns="0" bIns="0">
            <a:spAutoFit/>
          </a:bodyPr>
          <a:lstStyle/>
          <a:p>
            <a:r>
              <a:rPr sz="1150" b="0">
                <a:solidFill>
                  <a:srgbClr val="2E2E2E"/>
                </a:solidFill>
                <a:latin typeface="Calibri"/>
              </a:rPr>
              <a:t>forecast period. In terms of value share by form type, the capsules</a:t>
            </a:r>
          </a:p>
        </p:txBody>
      </p:sp>
      <p:sp>
        <p:nvSpPr>
          <p:cNvPr id="50" name="TextBox 49"/>
          <p:cNvSpPr txBox="1"/>
          <p:nvPr/>
        </p:nvSpPr>
        <p:spPr>
          <a:xfrm>
            <a:off x="7829550" y="1925955"/>
            <a:ext cx="3995303" cy="194310"/>
          </a:xfrm>
          <a:prstGeom prst="rect">
            <a:avLst/>
          </a:prstGeom>
          <a:noFill/>
        </p:spPr>
        <p:txBody>
          <a:bodyPr wrap="none" lIns="0" tIns="0" rIns="0" bIns="0">
            <a:spAutoFit/>
          </a:bodyPr>
          <a:lstStyle/>
          <a:p>
            <a:r>
              <a:rPr sz="1150" b="0">
                <a:solidFill>
                  <a:srgbClr val="2E2E2E"/>
                </a:solidFill>
                <a:latin typeface="Calibri"/>
              </a:rPr>
              <a:t>and softgels segment is expected to dominate the market, gaining</a:t>
            </a:r>
          </a:p>
        </p:txBody>
      </p:sp>
      <p:pic>
        <p:nvPicPr>
          <p:cNvPr id="51" name="Picture 50" descr="lock.png"/>
          <p:cNvPicPr>
            <a:picLocks noChangeAspect="1"/>
          </p:cNvPicPr>
          <p:nvPr/>
        </p:nvPicPr>
        <p:blipFill>
          <a:blip r:embed="rId5"/>
          <a:stretch>
            <a:fillRect/>
          </a:stretch>
        </p:blipFill>
        <p:spPr>
          <a:xfrm>
            <a:off x="7815470" y="2090991"/>
            <a:ext cx="134549" cy="195707"/>
          </a:xfrm>
          <a:prstGeom prst="rect">
            <a:avLst/>
          </a:prstGeom>
        </p:spPr>
      </p:pic>
      <p:sp>
        <p:nvSpPr>
          <p:cNvPr id="52" name="TextBox 51"/>
          <p:cNvSpPr txBox="1"/>
          <p:nvPr/>
        </p:nvSpPr>
        <p:spPr>
          <a:xfrm>
            <a:off x="7990579" y="2101215"/>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9385722" y="2090991"/>
            <a:ext cx="134549" cy="195707"/>
          </a:xfrm>
          <a:prstGeom prst="rect">
            <a:avLst/>
          </a:prstGeom>
        </p:spPr>
      </p:pic>
      <p:sp>
        <p:nvSpPr>
          <p:cNvPr id="54" name="TextBox 53"/>
          <p:cNvSpPr txBox="1"/>
          <p:nvPr/>
        </p:nvSpPr>
        <p:spPr>
          <a:xfrm>
            <a:off x="9560832" y="2101215"/>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55" name="TextBox 54"/>
          <p:cNvSpPr txBox="1"/>
          <p:nvPr/>
        </p:nvSpPr>
        <p:spPr>
          <a:xfrm>
            <a:off x="7829550" y="2329053"/>
            <a:ext cx="2916758" cy="194310"/>
          </a:xfrm>
          <a:prstGeom prst="rect">
            <a:avLst/>
          </a:prstGeom>
          <a:noFill/>
        </p:spPr>
        <p:txBody>
          <a:bodyPr wrap="none" lIns="0" tIns="0" rIns="0" bIns="0">
            <a:spAutoFit/>
          </a:bodyPr>
          <a:lstStyle/>
          <a:p>
            <a:r>
              <a:rPr sz="1150" b="0">
                <a:solidFill>
                  <a:srgbClr val="2E2E2E"/>
                </a:solidFill>
                <a:latin typeface="Calibri"/>
              </a:rPr>
              <a:t>The gels and pastes segment is expected to lose</a:t>
            </a:r>
          </a:p>
        </p:txBody>
      </p:sp>
      <p:pic>
        <p:nvPicPr>
          <p:cNvPr id="56" name="Picture 55" descr="lock.png"/>
          <p:cNvPicPr>
            <a:picLocks noChangeAspect="1"/>
          </p:cNvPicPr>
          <p:nvPr/>
        </p:nvPicPr>
        <p:blipFill>
          <a:blip r:embed="rId5"/>
          <a:stretch>
            <a:fillRect/>
          </a:stretch>
        </p:blipFill>
        <p:spPr>
          <a:xfrm>
            <a:off x="10695462" y="2318829"/>
            <a:ext cx="134549" cy="195707"/>
          </a:xfrm>
          <a:prstGeom prst="rect">
            <a:avLst/>
          </a:prstGeom>
        </p:spPr>
      </p:pic>
      <p:sp>
        <p:nvSpPr>
          <p:cNvPr id="57" name="TextBox 56"/>
          <p:cNvSpPr txBox="1"/>
          <p:nvPr/>
        </p:nvSpPr>
        <p:spPr>
          <a:xfrm>
            <a:off x="10870571" y="2329053"/>
            <a:ext cx="829840" cy="194310"/>
          </a:xfrm>
          <a:prstGeom prst="rect">
            <a:avLst/>
          </a:prstGeom>
          <a:noFill/>
        </p:spPr>
        <p:txBody>
          <a:bodyPr wrap="none" lIns="0" tIns="0" rIns="0" bIns="0">
            <a:spAutoFit/>
          </a:bodyPr>
          <a:lstStyle/>
          <a:p>
            <a:r>
              <a:rPr sz="1150" b="0">
                <a:solidFill>
                  <a:srgbClr val="2E2E2E"/>
                </a:solidFill>
                <a:latin typeface="Calibri"/>
              </a:rPr>
              <a:t>BPS over the</a:t>
            </a:r>
          </a:p>
        </p:txBody>
      </p:sp>
      <p:sp>
        <p:nvSpPr>
          <p:cNvPr id="58" name="TextBox 57"/>
          <p:cNvSpPr txBox="1"/>
          <p:nvPr/>
        </p:nvSpPr>
        <p:spPr>
          <a:xfrm>
            <a:off x="7829550" y="2504313"/>
            <a:ext cx="1851620" cy="194310"/>
          </a:xfrm>
          <a:prstGeom prst="rect">
            <a:avLst/>
          </a:prstGeom>
          <a:noFill/>
        </p:spPr>
        <p:txBody>
          <a:bodyPr wrap="none" lIns="0" tIns="0" rIns="0" bIns="0">
            <a:spAutoFit/>
          </a:bodyPr>
          <a:lstStyle/>
          <a:p>
            <a:r>
              <a:rPr sz="1150" b="0">
                <a:solidFill>
                  <a:srgbClr val="2E2E2E"/>
                </a:solidFill>
                <a:latin typeface="Calibri"/>
              </a:rPr>
              <a:t>forecast period to account for</a:t>
            </a:r>
          </a:p>
        </p:txBody>
      </p:sp>
      <p:pic>
        <p:nvPicPr>
          <p:cNvPr id="59" name="Picture 58" descr="lock.png"/>
          <p:cNvPicPr>
            <a:picLocks noChangeAspect="1"/>
          </p:cNvPicPr>
          <p:nvPr/>
        </p:nvPicPr>
        <p:blipFill>
          <a:blip r:embed="rId5"/>
          <a:stretch>
            <a:fillRect/>
          </a:stretch>
        </p:blipFill>
        <p:spPr>
          <a:xfrm>
            <a:off x="9630324" y="2494089"/>
            <a:ext cx="134549" cy="195707"/>
          </a:xfrm>
          <a:prstGeom prst="rect">
            <a:avLst/>
          </a:prstGeom>
        </p:spPr>
      </p:pic>
      <p:sp>
        <p:nvSpPr>
          <p:cNvPr id="60" name="TextBox 59"/>
          <p:cNvSpPr txBox="1"/>
          <p:nvPr/>
        </p:nvSpPr>
        <p:spPr>
          <a:xfrm>
            <a:off x="9805433" y="250431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1"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14.2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Active Ingredient</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Active Ingredient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Active Ingredient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6 sub-segments of Active Ingredient,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Active Ingredient segment categorizes the market by active ingredient.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Antioxidant Ingredients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Cellular Energy Support Ingredien…</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Omega-3 Fatty Acids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Microbiome-Targeted Ingredients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Botanical Ingredients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Neurofunctional Nutrients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Active Ingredient split shows how demand is distributed across active ingredient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7" name="Picture 76" descr="636_3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174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6_3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594_6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114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6_5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482_6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795_2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5_1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478_3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777_6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5_0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384_5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612_4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4_8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366_7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582_7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4_7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904852" cy="186689"/>
          </a:xfrm>
          <a:prstGeom prst="rect">
            <a:avLst/>
          </a:prstGeom>
          <a:noFill/>
        </p:spPr>
        <p:txBody>
          <a:bodyPr wrap="none" lIns="0" tIns="0" rIns="0" bIns="0">
            <a:spAutoFit/>
          </a:bodyPr>
          <a:lstStyle/>
          <a:p>
            <a:r>
              <a:rPr sz="1100" b="0">
                <a:solidFill>
                  <a:srgbClr val="2E2E2E"/>
                </a:solidFill>
                <a:latin typeface="Calibri"/>
              </a:rPr>
              <a:t>Among senior dog cognitive supplement by active</a:t>
            </a:r>
          </a:p>
        </p:txBody>
      </p:sp>
      <p:sp>
        <p:nvSpPr>
          <p:cNvPr id="102" name="TextBox 101"/>
          <p:cNvSpPr txBox="1"/>
          <p:nvPr/>
        </p:nvSpPr>
        <p:spPr>
          <a:xfrm>
            <a:off x="485775" y="4397077"/>
            <a:ext cx="2711946" cy="186689"/>
          </a:xfrm>
          <a:prstGeom prst="rect">
            <a:avLst/>
          </a:prstGeom>
          <a:noFill/>
        </p:spPr>
        <p:txBody>
          <a:bodyPr wrap="none" lIns="0" tIns="0" rIns="0" bIns="0">
            <a:spAutoFit/>
          </a:bodyPr>
          <a:lstStyle/>
          <a:p>
            <a:r>
              <a:rPr sz="1100" b="0">
                <a:solidFill>
                  <a:srgbClr val="2E2E2E"/>
                </a:solidFill>
                <a:latin typeface="Calibri"/>
              </a:rPr>
              <a:t>ingredient, cellular energy support ingredients</a:t>
            </a:r>
          </a:p>
        </p:txBody>
      </p:sp>
      <p:sp>
        <p:nvSpPr>
          <p:cNvPr id="103" name="TextBox 102"/>
          <p:cNvSpPr txBox="1"/>
          <p:nvPr/>
        </p:nvSpPr>
        <p:spPr>
          <a:xfrm>
            <a:off x="485775" y="4564717"/>
            <a:ext cx="2874821" cy="186689"/>
          </a:xfrm>
          <a:prstGeom prst="rect">
            <a:avLst/>
          </a:prstGeom>
          <a:noFill/>
        </p:spPr>
        <p:txBody>
          <a:bodyPr wrap="none" lIns="0" tIns="0" rIns="0" bIns="0">
            <a:spAutoFit/>
          </a:bodyPr>
          <a:lstStyle/>
          <a:p>
            <a:r>
              <a:rPr sz="1100" b="0">
                <a:solidFill>
                  <a:srgbClr val="2E2E2E"/>
                </a:solidFill>
                <a:latin typeface="Calibri"/>
              </a:rPr>
              <a:t>segment is expected to witness the highest CAGR</a:t>
            </a:r>
          </a:p>
        </p:txBody>
      </p:sp>
      <p:sp>
        <p:nvSpPr>
          <p:cNvPr id="104" name="TextBox 103"/>
          <p:cNvSpPr txBox="1"/>
          <p:nvPr/>
        </p:nvSpPr>
        <p:spPr>
          <a:xfrm>
            <a:off x="485775" y="4732357"/>
            <a:ext cx="192434" cy="186689"/>
          </a:xfrm>
          <a:prstGeom prst="rect">
            <a:avLst/>
          </a:prstGeom>
          <a:noFill/>
        </p:spPr>
        <p:txBody>
          <a:bodyPr wrap="none" lIns="0" tIns="0" rIns="0" bIns="0">
            <a:spAutoFit/>
          </a:bodyPr>
          <a:lstStyle/>
          <a:p>
            <a:r>
              <a:rPr sz="1100" b="0">
                <a:solidFill>
                  <a:srgbClr val="2E2E2E"/>
                </a:solidFill>
                <a:latin typeface="Calibri"/>
              </a:rPr>
              <a:t>of</a:t>
            </a:r>
          </a:p>
        </p:txBody>
      </p:sp>
      <p:pic>
        <p:nvPicPr>
          <p:cNvPr id="105" name="Picture 104" descr="lock.png"/>
          <p:cNvPicPr>
            <a:picLocks noChangeAspect="1"/>
          </p:cNvPicPr>
          <p:nvPr/>
        </p:nvPicPr>
        <p:blipFill>
          <a:blip r:embed="rId22"/>
          <a:stretch>
            <a:fillRect/>
          </a:stretch>
        </p:blipFill>
        <p:spPr>
          <a:xfrm>
            <a:off x="626261" y="4722578"/>
            <a:ext cx="128699" cy="187198"/>
          </a:xfrm>
          <a:prstGeom prst="rect">
            <a:avLst/>
          </a:prstGeom>
        </p:spPr>
      </p:pic>
      <p:sp>
        <p:nvSpPr>
          <p:cNvPr id="106" name="TextBox 105"/>
          <p:cNvSpPr txBox="1"/>
          <p:nvPr/>
        </p:nvSpPr>
        <p:spPr>
          <a:xfrm>
            <a:off x="793757" y="4732357"/>
            <a:ext cx="2472655" cy="186689"/>
          </a:xfrm>
          <a:prstGeom prst="rect">
            <a:avLst/>
          </a:prstGeom>
          <a:noFill/>
        </p:spPr>
        <p:txBody>
          <a:bodyPr wrap="none" lIns="0" tIns="0" rIns="0" bIns="0">
            <a:spAutoFit/>
          </a:bodyPr>
          <a:lstStyle/>
          <a:p>
            <a:r>
              <a:rPr sz="1100" b="0">
                <a:solidFill>
                  <a:srgbClr val="2E2E2E"/>
                </a:solidFill>
                <a:latin typeface="Calibri"/>
              </a:rPr>
              <a:t>over the forecast period. In terms of value</a:t>
            </a:r>
          </a:p>
        </p:txBody>
      </p:sp>
      <p:sp>
        <p:nvSpPr>
          <p:cNvPr id="107" name="TextBox 106"/>
          <p:cNvSpPr txBox="1"/>
          <p:nvPr/>
        </p:nvSpPr>
        <p:spPr>
          <a:xfrm>
            <a:off x="485775" y="4899997"/>
            <a:ext cx="2478658" cy="186689"/>
          </a:xfrm>
          <a:prstGeom prst="rect">
            <a:avLst/>
          </a:prstGeom>
          <a:noFill/>
        </p:spPr>
        <p:txBody>
          <a:bodyPr wrap="none" lIns="0" tIns="0" rIns="0" bIns="0">
            <a:spAutoFit/>
          </a:bodyPr>
          <a:lstStyle/>
          <a:p>
            <a:r>
              <a:rPr sz="1100" b="0">
                <a:solidFill>
                  <a:srgbClr val="2E2E2E"/>
                </a:solidFill>
                <a:latin typeface="Calibri"/>
              </a:rPr>
              <a:t>share by active ingredient, the antioxidant</a:t>
            </a:r>
          </a:p>
        </p:txBody>
      </p:sp>
      <p:sp>
        <p:nvSpPr>
          <p:cNvPr id="108" name="TextBox 107"/>
          <p:cNvSpPr txBox="1"/>
          <p:nvPr/>
        </p:nvSpPr>
        <p:spPr>
          <a:xfrm>
            <a:off x="485775" y="5067637"/>
            <a:ext cx="2864470" cy="186689"/>
          </a:xfrm>
          <a:prstGeom prst="rect">
            <a:avLst/>
          </a:prstGeom>
          <a:noFill/>
        </p:spPr>
        <p:txBody>
          <a:bodyPr wrap="none" lIns="0" tIns="0" rIns="0" bIns="0">
            <a:spAutoFit/>
          </a:bodyPr>
          <a:lstStyle/>
          <a:p>
            <a:r>
              <a:rPr sz="1100" b="0">
                <a:solidFill>
                  <a:srgbClr val="2E2E2E"/>
                </a:solidFill>
                <a:latin typeface="Calibri"/>
              </a:rPr>
              <a:t>ingredients segment is expected to dominate the</a:t>
            </a:r>
          </a:p>
        </p:txBody>
      </p:sp>
      <p:sp>
        <p:nvSpPr>
          <p:cNvPr id="109" name="TextBox 108"/>
          <p:cNvSpPr txBox="1"/>
          <p:nvPr/>
        </p:nvSpPr>
        <p:spPr>
          <a:xfrm>
            <a:off x="485775" y="5235277"/>
            <a:ext cx="959693" cy="186689"/>
          </a:xfrm>
          <a:prstGeom prst="rect">
            <a:avLst/>
          </a:prstGeom>
          <a:noFill/>
        </p:spPr>
        <p:txBody>
          <a:bodyPr wrap="none" lIns="0" tIns="0" rIns="0" bIns="0">
            <a:spAutoFit/>
          </a:bodyPr>
          <a:lstStyle/>
          <a:p>
            <a:r>
              <a:rPr sz="1100" b="0">
                <a:solidFill>
                  <a:srgbClr val="2E2E2E"/>
                </a:solidFill>
                <a:latin typeface="Calibri"/>
              </a:rPr>
              <a:t>market, gaining</a:t>
            </a:r>
          </a:p>
        </p:txBody>
      </p:sp>
      <p:pic>
        <p:nvPicPr>
          <p:cNvPr id="110" name="Picture 109" descr="lock.png"/>
          <p:cNvPicPr>
            <a:picLocks noChangeAspect="1"/>
          </p:cNvPicPr>
          <p:nvPr/>
        </p:nvPicPr>
        <p:blipFill>
          <a:blip r:embed="rId22"/>
          <a:stretch>
            <a:fillRect/>
          </a:stretch>
        </p:blipFill>
        <p:spPr>
          <a:xfrm>
            <a:off x="1393519" y="5225498"/>
            <a:ext cx="128699" cy="187198"/>
          </a:xfrm>
          <a:prstGeom prst="rect">
            <a:avLst/>
          </a:prstGeom>
        </p:spPr>
      </p:pic>
      <p:sp>
        <p:nvSpPr>
          <p:cNvPr id="111" name="TextBox 110"/>
          <p:cNvSpPr txBox="1"/>
          <p:nvPr/>
        </p:nvSpPr>
        <p:spPr>
          <a:xfrm>
            <a:off x="1561015" y="5235277"/>
            <a:ext cx="1386433" cy="186689"/>
          </a:xfrm>
          <a:prstGeom prst="rect">
            <a:avLst/>
          </a:prstGeom>
          <a:noFill/>
        </p:spPr>
        <p:txBody>
          <a:bodyPr wrap="none" lIns="0" tIns="0" rIns="0" bIns="0">
            <a:spAutoFit/>
          </a:bodyPr>
          <a:lstStyle/>
          <a:p>
            <a:r>
              <a:rPr sz="1100" b="0">
                <a:solidFill>
                  <a:srgbClr val="2E2E2E"/>
                </a:solidFill>
                <a:latin typeface="Calibri"/>
              </a:rPr>
              <a:t>BPS and accounting for</a:t>
            </a:r>
          </a:p>
        </p:txBody>
      </p:sp>
      <p:pic>
        <p:nvPicPr>
          <p:cNvPr id="112" name="Picture 111" descr="lock.png"/>
          <p:cNvPicPr>
            <a:picLocks noChangeAspect="1"/>
          </p:cNvPicPr>
          <p:nvPr/>
        </p:nvPicPr>
        <p:blipFill>
          <a:blip r:embed="rId22"/>
          <a:stretch>
            <a:fillRect/>
          </a:stretch>
        </p:blipFill>
        <p:spPr>
          <a:xfrm>
            <a:off x="2895500" y="5225498"/>
            <a:ext cx="128699" cy="187198"/>
          </a:xfrm>
          <a:prstGeom prst="rect">
            <a:avLst/>
          </a:prstGeom>
        </p:spPr>
      </p:pic>
      <p:sp>
        <p:nvSpPr>
          <p:cNvPr id="113" name="TextBox 112"/>
          <p:cNvSpPr txBox="1"/>
          <p:nvPr/>
        </p:nvSpPr>
        <p:spPr>
          <a:xfrm>
            <a:off x="485775" y="5402917"/>
            <a:ext cx="908397" cy="186689"/>
          </a:xfrm>
          <a:prstGeom prst="rect">
            <a:avLst/>
          </a:prstGeom>
          <a:noFill/>
        </p:spPr>
        <p:txBody>
          <a:bodyPr wrap="none" lIns="0" tIns="0" rIns="0" bIns="0">
            <a:spAutoFit/>
          </a:bodyPr>
          <a:lstStyle/>
          <a:p>
            <a:r>
              <a:rPr sz="1100" b="0">
                <a:solidFill>
                  <a:srgbClr val="2E2E2E"/>
                </a:solidFill>
                <a:latin typeface="Calibri"/>
              </a:rPr>
              <a:t>share by 2036.</a:t>
            </a:r>
          </a:p>
        </p:txBody>
      </p:sp>
      <p:sp>
        <p:nvSpPr>
          <p:cNvPr id="114" name="TextBox 113"/>
          <p:cNvSpPr txBox="1"/>
          <p:nvPr/>
        </p:nvSpPr>
        <p:spPr>
          <a:xfrm>
            <a:off x="485775" y="5620849"/>
            <a:ext cx="2781523" cy="186689"/>
          </a:xfrm>
          <a:prstGeom prst="rect">
            <a:avLst/>
          </a:prstGeom>
          <a:noFill/>
        </p:spPr>
        <p:txBody>
          <a:bodyPr wrap="none" lIns="0" tIns="0" rIns="0" bIns="0">
            <a:spAutoFit/>
          </a:bodyPr>
          <a:lstStyle/>
          <a:p>
            <a:r>
              <a:rPr sz="1100" b="0">
                <a:solidFill>
                  <a:srgbClr val="2E2E2E"/>
                </a:solidFill>
                <a:latin typeface="Calibri"/>
              </a:rPr>
              <a:t>Antioxidant ingredients segment is projected to</a:t>
            </a:r>
          </a:p>
        </p:txBody>
      </p:sp>
      <p:sp>
        <p:nvSpPr>
          <p:cNvPr id="115" name="TextBox 114"/>
          <p:cNvSpPr txBox="1"/>
          <p:nvPr/>
        </p:nvSpPr>
        <p:spPr>
          <a:xfrm>
            <a:off x="485775" y="5788489"/>
            <a:ext cx="512489" cy="186689"/>
          </a:xfrm>
          <a:prstGeom prst="rect">
            <a:avLst/>
          </a:prstGeom>
          <a:noFill/>
        </p:spPr>
        <p:txBody>
          <a:bodyPr wrap="none" lIns="0" tIns="0" rIns="0" bIns="0">
            <a:spAutoFit/>
          </a:bodyPr>
          <a:lstStyle/>
          <a:p>
            <a:r>
              <a:rPr sz="1100" b="0">
                <a:solidFill>
                  <a:srgbClr val="2E2E2E"/>
                </a:solidFill>
                <a:latin typeface="Calibri"/>
              </a:rPr>
              <a:t>register</a:t>
            </a:r>
          </a:p>
        </p:txBody>
      </p:sp>
      <p:pic>
        <p:nvPicPr>
          <p:cNvPr id="116" name="Picture 115" descr="lock.png"/>
          <p:cNvPicPr>
            <a:picLocks noChangeAspect="1"/>
          </p:cNvPicPr>
          <p:nvPr/>
        </p:nvPicPr>
        <p:blipFill>
          <a:blip r:embed="rId22"/>
          <a:stretch>
            <a:fillRect/>
          </a:stretch>
        </p:blipFill>
        <p:spPr>
          <a:xfrm>
            <a:off x="946316" y="5778710"/>
            <a:ext cx="128699" cy="187198"/>
          </a:xfrm>
          <a:prstGeom prst="rect">
            <a:avLst/>
          </a:prstGeom>
        </p:spPr>
      </p:pic>
      <p:sp>
        <p:nvSpPr>
          <p:cNvPr id="117" name="TextBox 116"/>
          <p:cNvSpPr txBox="1"/>
          <p:nvPr/>
        </p:nvSpPr>
        <p:spPr>
          <a:xfrm>
            <a:off x="1113812" y="5788489"/>
            <a:ext cx="2040731" cy="186689"/>
          </a:xfrm>
          <a:prstGeom prst="rect">
            <a:avLst/>
          </a:prstGeom>
          <a:noFill/>
        </p:spPr>
        <p:txBody>
          <a:bodyPr wrap="none" lIns="0" tIns="0" rIns="0" bIns="0">
            <a:spAutoFit/>
          </a:bodyPr>
          <a:lstStyle/>
          <a:p>
            <a:r>
              <a:rPr sz="1100" b="0">
                <a:solidFill>
                  <a:srgbClr val="2E2E2E"/>
                </a:solidFill>
                <a:latin typeface="Calibri"/>
              </a:rPr>
              <a:t>X higher value than cellular energy</a:t>
            </a:r>
          </a:p>
        </p:txBody>
      </p:sp>
      <p:sp>
        <p:nvSpPr>
          <p:cNvPr id="118" name="TextBox 117"/>
          <p:cNvSpPr txBox="1"/>
          <p:nvPr/>
        </p:nvSpPr>
        <p:spPr>
          <a:xfrm>
            <a:off x="485775" y="5956129"/>
            <a:ext cx="2202805" cy="186689"/>
          </a:xfrm>
          <a:prstGeom prst="rect">
            <a:avLst/>
          </a:prstGeom>
          <a:noFill/>
        </p:spPr>
        <p:txBody>
          <a:bodyPr wrap="none" lIns="0" tIns="0" rIns="0" bIns="0">
            <a:spAutoFit/>
          </a:bodyPr>
          <a:lstStyle/>
          <a:p>
            <a:r>
              <a:rPr sz="1100" b="0">
                <a:solidFill>
                  <a:srgbClr val="2E2E2E"/>
                </a:solidFill>
                <a:latin typeface="Calibri"/>
              </a:rPr>
              <a:t>support ingredients segment in 2036.</a:t>
            </a:r>
          </a:p>
        </p:txBody>
      </p:sp>
      <p:sp>
        <p:nvSpPr>
          <p:cNvPr id="119" name="TextBox 118"/>
          <p:cNvSpPr txBox="1"/>
          <p:nvPr/>
        </p:nvSpPr>
        <p:spPr>
          <a:xfrm>
            <a:off x="3838575" y="4229437"/>
            <a:ext cx="1564332" cy="186689"/>
          </a:xfrm>
          <a:prstGeom prst="rect">
            <a:avLst/>
          </a:prstGeom>
          <a:noFill/>
        </p:spPr>
        <p:txBody>
          <a:bodyPr wrap="none" lIns="0" tIns="0" rIns="0" bIns="0">
            <a:spAutoFit/>
          </a:bodyPr>
          <a:lstStyle/>
          <a:p>
            <a:r>
              <a:rPr sz="1100" b="0">
                <a:solidFill>
                  <a:srgbClr val="2E2E2E"/>
                </a:solidFill>
                <a:latin typeface="Calibri"/>
              </a:rPr>
              <a:t>● Antioxidant Ingredients:</a:t>
            </a:r>
          </a:p>
        </p:txBody>
      </p:sp>
      <p:pic>
        <p:nvPicPr>
          <p:cNvPr id="120" name="Picture 119" descr="lock.png"/>
          <p:cNvPicPr>
            <a:picLocks noChangeAspect="1"/>
          </p:cNvPicPr>
          <p:nvPr/>
        </p:nvPicPr>
        <p:blipFill>
          <a:blip r:embed="rId22"/>
          <a:stretch>
            <a:fillRect/>
          </a:stretch>
        </p:blipFill>
        <p:spPr>
          <a:xfrm>
            <a:off x="5350959" y="4219658"/>
            <a:ext cx="128699" cy="187198"/>
          </a:xfrm>
          <a:prstGeom prst="rect">
            <a:avLst/>
          </a:prstGeom>
        </p:spPr>
      </p:pic>
      <p:sp>
        <p:nvSpPr>
          <p:cNvPr id="121" name="TextBox 120"/>
          <p:cNvSpPr txBox="1"/>
          <p:nvPr/>
        </p:nvSpPr>
        <p:spPr>
          <a:xfrm>
            <a:off x="5518454" y="422943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22"/>
          <a:stretch>
            <a:fillRect/>
          </a:stretch>
        </p:blipFill>
        <p:spPr>
          <a:xfrm>
            <a:off x="6377905" y="4219658"/>
            <a:ext cx="128699" cy="187198"/>
          </a:xfrm>
          <a:prstGeom prst="rect">
            <a:avLst/>
          </a:prstGeom>
        </p:spPr>
      </p:pic>
      <p:sp>
        <p:nvSpPr>
          <p:cNvPr id="123" name="TextBox 122"/>
          <p:cNvSpPr txBox="1"/>
          <p:nvPr/>
        </p:nvSpPr>
        <p:spPr>
          <a:xfrm>
            <a:off x="6545400" y="4229437"/>
            <a:ext cx="945215" cy="186689"/>
          </a:xfrm>
          <a:prstGeom prst="rect">
            <a:avLst/>
          </a:prstGeom>
          <a:noFill/>
        </p:spPr>
        <p:txBody>
          <a:bodyPr wrap="none" lIns="0" tIns="0" rIns="0" bIns="0">
            <a:spAutoFit/>
          </a:bodyPr>
          <a:lstStyle/>
          <a:p>
            <a:r>
              <a:rPr sz="1100" b="0">
                <a:solidFill>
                  <a:srgbClr val="2E2E2E"/>
                </a:solidFill>
                <a:latin typeface="Calibri"/>
              </a:rPr>
              <a:t>CAGR leads the</a:t>
            </a:r>
          </a:p>
        </p:txBody>
      </p:sp>
      <p:sp>
        <p:nvSpPr>
          <p:cNvPr id="124" name="TextBox 123"/>
          <p:cNvSpPr txBox="1"/>
          <p:nvPr/>
        </p:nvSpPr>
        <p:spPr>
          <a:xfrm>
            <a:off x="3838575" y="4397077"/>
            <a:ext cx="602803" cy="186689"/>
          </a:xfrm>
          <a:prstGeom prst="rect">
            <a:avLst/>
          </a:prstGeom>
          <a:noFill/>
        </p:spPr>
        <p:txBody>
          <a:bodyPr wrap="none" lIns="0" tIns="0" rIns="0" bIns="0">
            <a:spAutoFit/>
          </a:bodyPr>
          <a:lstStyle/>
          <a:p>
            <a:r>
              <a:rPr sz="1100" b="0">
                <a:solidFill>
                  <a:srgbClr val="2E2E2E"/>
                </a:solidFill>
                <a:latin typeface="Calibri"/>
              </a:rPr>
              <a:t>segment.</a:t>
            </a:r>
          </a:p>
        </p:txBody>
      </p:sp>
      <p:sp>
        <p:nvSpPr>
          <p:cNvPr id="125" name="TextBox 124"/>
          <p:cNvSpPr txBox="1"/>
          <p:nvPr/>
        </p:nvSpPr>
        <p:spPr>
          <a:xfrm>
            <a:off x="3838575" y="4615009"/>
            <a:ext cx="2239912" cy="186689"/>
          </a:xfrm>
          <a:prstGeom prst="rect">
            <a:avLst/>
          </a:prstGeom>
          <a:noFill/>
        </p:spPr>
        <p:txBody>
          <a:bodyPr wrap="none" lIns="0" tIns="0" rIns="0" bIns="0">
            <a:spAutoFit/>
          </a:bodyPr>
          <a:lstStyle/>
          <a:p>
            <a:r>
              <a:rPr sz="1100" b="0">
                <a:solidFill>
                  <a:srgbClr val="2E2E2E"/>
                </a:solidFill>
                <a:latin typeface="Calibri"/>
              </a:rPr>
              <a:t>● Cellular Energy Support Ingredients:</a:t>
            </a:r>
          </a:p>
        </p:txBody>
      </p:sp>
      <p:pic>
        <p:nvPicPr>
          <p:cNvPr id="126" name="Picture 125" descr="lock.png"/>
          <p:cNvPicPr>
            <a:picLocks noChangeAspect="1"/>
          </p:cNvPicPr>
          <p:nvPr/>
        </p:nvPicPr>
        <p:blipFill>
          <a:blip r:embed="rId22"/>
          <a:stretch>
            <a:fillRect/>
          </a:stretch>
        </p:blipFill>
        <p:spPr>
          <a:xfrm>
            <a:off x="6026539" y="4605230"/>
            <a:ext cx="128699" cy="187198"/>
          </a:xfrm>
          <a:prstGeom prst="rect">
            <a:avLst/>
          </a:prstGeom>
        </p:spPr>
      </p:pic>
      <p:sp>
        <p:nvSpPr>
          <p:cNvPr id="127" name="TextBox 126"/>
          <p:cNvSpPr txBox="1"/>
          <p:nvPr/>
        </p:nvSpPr>
        <p:spPr>
          <a:xfrm>
            <a:off x="6194035" y="461500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22"/>
          <a:stretch>
            <a:fillRect/>
          </a:stretch>
        </p:blipFill>
        <p:spPr>
          <a:xfrm>
            <a:off x="7053485" y="4605230"/>
            <a:ext cx="128699" cy="187198"/>
          </a:xfrm>
          <a:prstGeom prst="rect">
            <a:avLst/>
          </a:prstGeom>
        </p:spPr>
      </p:pic>
      <p:sp>
        <p:nvSpPr>
          <p:cNvPr id="129" name="TextBox 128"/>
          <p:cNvSpPr txBox="1"/>
          <p:nvPr/>
        </p:nvSpPr>
        <p:spPr>
          <a:xfrm>
            <a:off x="7220981" y="4615009"/>
            <a:ext cx="395419" cy="186689"/>
          </a:xfrm>
          <a:prstGeom prst="rect">
            <a:avLst/>
          </a:prstGeom>
          <a:noFill/>
        </p:spPr>
        <p:txBody>
          <a:bodyPr wrap="none" lIns="0" tIns="0" rIns="0" bIns="0">
            <a:spAutoFit/>
          </a:bodyPr>
          <a:lstStyle/>
          <a:p>
            <a:r>
              <a:rPr sz="1100" b="0">
                <a:solidFill>
                  <a:srgbClr val="2E2E2E"/>
                </a:solidFill>
                <a:latin typeface="Calibri"/>
              </a:rPr>
              <a:t>CAGR</a:t>
            </a:r>
          </a:p>
        </p:txBody>
      </p:sp>
      <p:sp>
        <p:nvSpPr>
          <p:cNvPr id="130" name="TextBox 129"/>
          <p:cNvSpPr txBox="1"/>
          <p:nvPr/>
        </p:nvSpPr>
        <p:spPr>
          <a:xfrm>
            <a:off x="3838575" y="4782649"/>
            <a:ext cx="867742" cy="186689"/>
          </a:xfrm>
          <a:prstGeom prst="rect">
            <a:avLst/>
          </a:prstGeom>
          <a:noFill/>
        </p:spPr>
        <p:txBody>
          <a:bodyPr wrap="none" lIns="0" tIns="0" rIns="0" bIns="0">
            <a:spAutoFit/>
          </a:bodyPr>
          <a:lstStyle/>
          <a:p>
            <a:r>
              <a:rPr sz="1100" b="0">
                <a:solidFill>
                  <a:srgbClr val="2E2E2E"/>
                </a:solidFill>
                <a:latin typeface="Calibri"/>
              </a:rPr>
              <a:t>grows fastest.</a:t>
            </a:r>
          </a:p>
        </p:txBody>
      </p:sp>
      <p:sp>
        <p:nvSpPr>
          <p:cNvPr id="131" name="TextBox 130"/>
          <p:cNvSpPr txBox="1"/>
          <p:nvPr/>
        </p:nvSpPr>
        <p:spPr>
          <a:xfrm>
            <a:off x="3838575" y="5000581"/>
            <a:ext cx="1401107" cy="186689"/>
          </a:xfrm>
          <a:prstGeom prst="rect">
            <a:avLst/>
          </a:prstGeom>
          <a:noFill/>
        </p:spPr>
        <p:txBody>
          <a:bodyPr wrap="none" lIns="0" tIns="0" rIns="0" bIns="0">
            <a:spAutoFit/>
          </a:bodyPr>
          <a:lstStyle/>
          <a:p>
            <a:r>
              <a:rPr sz="1100" b="0">
                <a:solidFill>
                  <a:srgbClr val="2E2E2E"/>
                </a:solidFill>
                <a:latin typeface="Calibri"/>
              </a:rPr>
              <a:t>● Omega-3 Fatty Acids:</a:t>
            </a:r>
          </a:p>
        </p:txBody>
      </p:sp>
      <p:pic>
        <p:nvPicPr>
          <p:cNvPr id="132" name="Picture 131" descr="lock.png"/>
          <p:cNvPicPr>
            <a:picLocks noChangeAspect="1"/>
          </p:cNvPicPr>
          <p:nvPr/>
        </p:nvPicPr>
        <p:blipFill>
          <a:blip r:embed="rId22"/>
          <a:stretch>
            <a:fillRect/>
          </a:stretch>
        </p:blipFill>
        <p:spPr>
          <a:xfrm>
            <a:off x="5187734" y="4990801"/>
            <a:ext cx="128699" cy="187198"/>
          </a:xfrm>
          <a:prstGeom prst="rect">
            <a:avLst/>
          </a:prstGeom>
        </p:spPr>
      </p:pic>
      <p:sp>
        <p:nvSpPr>
          <p:cNvPr id="133" name="TextBox 132"/>
          <p:cNvSpPr txBox="1"/>
          <p:nvPr/>
        </p:nvSpPr>
        <p:spPr>
          <a:xfrm>
            <a:off x="5355229" y="5000581"/>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4" name="Picture 133" descr="lock.png"/>
          <p:cNvPicPr>
            <a:picLocks noChangeAspect="1"/>
          </p:cNvPicPr>
          <p:nvPr/>
        </p:nvPicPr>
        <p:blipFill>
          <a:blip r:embed="rId22"/>
          <a:stretch>
            <a:fillRect/>
          </a:stretch>
        </p:blipFill>
        <p:spPr>
          <a:xfrm>
            <a:off x="6214680" y="4990801"/>
            <a:ext cx="128699" cy="187198"/>
          </a:xfrm>
          <a:prstGeom prst="rect">
            <a:avLst/>
          </a:prstGeom>
        </p:spPr>
      </p:pic>
      <p:sp>
        <p:nvSpPr>
          <p:cNvPr id="135" name="TextBox 134"/>
          <p:cNvSpPr txBox="1"/>
          <p:nvPr/>
        </p:nvSpPr>
        <p:spPr>
          <a:xfrm>
            <a:off x="6382175" y="5000581"/>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36" name="TextBox 135"/>
          <p:cNvSpPr txBox="1"/>
          <p:nvPr/>
        </p:nvSpPr>
        <p:spPr>
          <a:xfrm>
            <a:off x="3838575" y="5218513"/>
            <a:ext cx="2149871" cy="186689"/>
          </a:xfrm>
          <a:prstGeom prst="rect">
            <a:avLst/>
          </a:prstGeom>
          <a:noFill/>
        </p:spPr>
        <p:txBody>
          <a:bodyPr wrap="none" lIns="0" tIns="0" rIns="0" bIns="0">
            <a:spAutoFit/>
          </a:bodyPr>
          <a:lstStyle/>
          <a:p>
            <a:r>
              <a:rPr sz="1100" b="0">
                <a:solidFill>
                  <a:srgbClr val="2E2E2E"/>
                </a:solidFill>
                <a:latin typeface="Calibri"/>
              </a:rPr>
              <a:t>● Microbiome-Targeted Ingredients:</a:t>
            </a:r>
          </a:p>
        </p:txBody>
      </p:sp>
      <p:pic>
        <p:nvPicPr>
          <p:cNvPr id="137" name="Picture 136" descr="lock.png"/>
          <p:cNvPicPr>
            <a:picLocks noChangeAspect="1"/>
          </p:cNvPicPr>
          <p:nvPr/>
        </p:nvPicPr>
        <p:blipFill>
          <a:blip r:embed="rId22"/>
          <a:stretch>
            <a:fillRect/>
          </a:stretch>
        </p:blipFill>
        <p:spPr>
          <a:xfrm>
            <a:off x="5936498" y="5208733"/>
            <a:ext cx="128699" cy="187198"/>
          </a:xfrm>
          <a:prstGeom prst="rect">
            <a:avLst/>
          </a:prstGeom>
        </p:spPr>
      </p:pic>
      <p:sp>
        <p:nvSpPr>
          <p:cNvPr id="138" name="TextBox 137"/>
          <p:cNvSpPr txBox="1"/>
          <p:nvPr/>
        </p:nvSpPr>
        <p:spPr>
          <a:xfrm>
            <a:off x="6103994" y="5218513"/>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9" name="Picture 138" descr="lock.png"/>
          <p:cNvPicPr>
            <a:picLocks noChangeAspect="1"/>
          </p:cNvPicPr>
          <p:nvPr/>
        </p:nvPicPr>
        <p:blipFill>
          <a:blip r:embed="rId22"/>
          <a:stretch>
            <a:fillRect/>
          </a:stretch>
        </p:blipFill>
        <p:spPr>
          <a:xfrm>
            <a:off x="6963444" y="5208733"/>
            <a:ext cx="128699" cy="187198"/>
          </a:xfrm>
          <a:prstGeom prst="rect">
            <a:avLst/>
          </a:prstGeom>
        </p:spPr>
      </p:pic>
      <p:sp>
        <p:nvSpPr>
          <p:cNvPr id="140" name="TextBox 139"/>
          <p:cNvSpPr txBox="1"/>
          <p:nvPr/>
        </p:nvSpPr>
        <p:spPr>
          <a:xfrm>
            <a:off x="7130940" y="5218513"/>
            <a:ext cx="395419" cy="186689"/>
          </a:xfrm>
          <a:prstGeom prst="rect">
            <a:avLst/>
          </a:prstGeom>
          <a:noFill/>
        </p:spPr>
        <p:txBody>
          <a:bodyPr wrap="none" lIns="0" tIns="0" rIns="0" bIns="0">
            <a:spAutoFit/>
          </a:bodyPr>
          <a:lstStyle/>
          <a:p>
            <a:r>
              <a:rPr sz="1100" b="0">
                <a:solidFill>
                  <a:srgbClr val="2E2E2E"/>
                </a:solidFill>
                <a:latin typeface="Calibri"/>
              </a:rPr>
              <a:t>CAGR</a:t>
            </a:r>
          </a:p>
        </p:txBody>
      </p:sp>
      <p:sp>
        <p:nvSpPr>
          <p:cNvPr id="141" name="TextBox 140"/>
          <p:cNvSpPr txBox="1"/>
          <p:nvPr/>
        </p:nvSpPr>
        <p:spPr>
          <a:xfrm>
            <a:off x="3838575" y="5386153"/>
            <a:ext cx="909488" cy="186689"/>
          </a:xfrm>
          <a:prstGeom prst="rect">
            <a:avLst/>
          </a:prstGeom>
          <a:noFill/>
        </p:spPr>
        <p:txBody>
          <a:bodyPr wrap="none" lIns="0" tIns="0" rIns="0" bIns="0">
            <a:spAutoFit/>
          </a:bodyPr>
          <a:lstStyle/>
          <a:p>
            <a:r>
              <a:rPr sz="1100" b="0">
                <a:solidFill>
                  <a:srgbClr val="2E2E2E"/>
                </a:solidFill>
                <a:latin typeface="Calibri"/>
              </a:rPr>
              <a:t>serves a niche.</a:t>
            </a:r>
          </a:p>
        </p:txBody>
      </p:sp>
      <p:sp>
        <p:nvSpPr>
          <p:cNvPr id="142" name="TextBox 141"/>
          <p:cNvSpPr txBox="1"/>
          <p:nvPr/>
        </p:nvSpPr>
        <p:spPr>
          <a:xfrm>
            <a:off x="3838575" y="5604085"/>
            <a:ext cx="1431453" cy="186689"/>
          </a:xfrm>
          <a:prstGeom prst="rect">
            <a:avLst/>
          </a:prstGeom>
          <a:noFill/>
        </p:spPr>
        <p:txBody>
          <a:bodyPr wrap="none" lIns="0" tIns="0" rIns="0" bIns="0">
            <a:spAutoFit/>
          </a:bodyPr>
          <a:lstStyle/>
          <a:p>
            <a:r>
              <a:rPr sz="1100" b="0">
                <a:solidFill>
                  <a:srgbClr val="2E2E2E"/>
                </a:solidFill>
                <a:latin typeface="Calibri"/>
              </a:rPr>
              <a:t>● Botanical Ingredients:</a:t>
            </a:r>
          </a:p>
        </p:txBody>
      </p:sp>
      <p:pic>
        <p:nvPicPr>
          <p:cNvPr id="143" name="Picture 142" descr="lock.png"/>
          <p:cNvPicPr>
            <a:picLocks noChangeAspect="1"/>
          </p:cNvPicPr>
          <p:nvPr/>
        </p:nvPicPr>
        <p:blipFill>
          <a:blip r:embed="rId22"/>
          <a:stretch>
            <a:fillRect/>
          </a:stretch>
        </p:blipFill>
        <p:spPr>
          <a:xfrm>
            <a:off x="5218080" y="5594305"/>
            <a:ext cx="128699" cy="187198"/>
          </a:xfrm>
          <a:prstGeom prst="rect">
            <a:avLst/>
          </a:prstGeom>
        </p:spPr>
      </p:pic>
      <p:sp>
        <p:nvSpPr>
          <p:cNvPr id="144" name="TextBox 143"/>
          <p:cNvSpPr txBox="1"/>
          <p:nvPr/>
        </p:nvSpPr>
        <p:spPr>
          <a:xfrm>
            <a:off x="5385576" y="5604085"/>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2"/>
          <a:stretch>
            <a:fillRect/>
          </a:stretch>
        </p:blipFill>
        <p:spPr>
          <a:xfrm>
            <a:off x="6245026" y="5594305"/>
            <a:ext cx="128699" cy="187198"/>
          </a:xfrm>
          <a:prstGeom prst="rect">
            <a:avLst/>
          </a:prstGeom>
        </p:spPr>
      </p:pic>
      <p:sp>
        <p:nvSpPr>
          <p:cNvPr id="146" name="TextBox 145"/>
          <p:cNvSpPr txBox="1"/>
          <p:nvPr/>
        </p:nvSpPr>
        <p:spPr>
          <a:xfrm>
            <a:off x="6412522" y="5604085"/>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7" name="TextBox 146"/>
          <p:cNvSpPr txBox="1"/>
          <p:nvPr/>
        </p:nvSpPr>
        <p:spPr>
          <a:xfrm>
            <a:off x="3838575" y="5822017"/>
            <a:ext cx="1726951" cy="186689"/>
          </a:xfrm>
          <a:prstGeom prst="rect">
            <a:avLst/>
          </a:prstGeom>
          <a:noFill/>
        </p:spPr>
        <p:txBody>
          <a:bodyPr wrap="none" lIns="0" tIns="0" rIns="0" bIns="0">
            <a:spAutoFit/>
          </a:bodyPr>
          <a:lstStyle/>
          <a:p>
            <a:r>
              <a:rPr sz="1100" b="0">
                <a:solidFill>
                  <a:srgbClr val="2E2E2E"/>
                </a:solidFill>
                <a:latin typeface="Calibri"/>
              </a:rPr>
              <a:t>● Neurofunctional Nutrients:</a:t>
            </a:r>
          </a:p>
        </p:txBody>
      </p:sp>
      <p:pic>
        <p:nvPicPr>
          <p:cNvPr id="148" name="Picture 147" descr="lock.png"/>
          <p:cNvPicPr>
            <a:picLocks noChangeAspect="1"/>
          </p:cNvPicPr>
          <p:nvPr/>
        </p:nvPicPr>
        <p:blipFill>
          <a:blip r:embed="rId22"/>
          <a:stretch>
            <a:fillRect/>
          </a:stretch>
        </p:blipFill>
        <p:spPr>
          <a:xfrm>
            <a:off x="5513578" y="5812237"/>
            <a:ext cx="128699" cy="187198"/>
          </a:xfrm>
          <a:prstGeom prst="rect">
            <a:avLst/>
          </a:prstGeom>
        </p:spPr>
      </p:pic>
      <p:sp>
        <p:nvSpPr>
          <p:cNvPr id="149" name="TextBox 148"/>
          <p:cNvSpPr txBox="1"/>
          <p:nvPr/>
        </p:nvSpPr>
        <p:spPr>
          <a:xfrm>
            <a:off x="5681074" y="582201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50" name="Picture 149" descr="lock.png"/>
          <p:cNvPicPr>
            <a:picLocks noChangeAspect="1"/>
          </p:cNvPicPr>
          <p:nvPr/>
        </p:nvPicPr>
        <p:blipFill>
          <a:blip r:embed="rId22"/>
          <a:stretch>
            <a:fillRect/>
          </a:stretch>
        </p:blipFill>
        <p:spPr>
          <a:xfrm>
            <a:off x="6540524" y="5812237"/>
            <a:ext cx="128699" cy="187198"/>
          </a:xfrm>
          <a:prstGeom prst="rect">
            <a:avLst/>
          </a:prstGeom>
        </p:spPr>
      </p:pic>
      <p:sp>
        <p:nvSpPr>
          <p:cNvPr id="151" name="TextBox 150"/>
          <p:cNvSpPr txBox="1"/>
          <p:nvPr/>
        </p:nvSpPr>
        <p:spPr>
          <a:xfrm>
            <a:off x="6708020" y="5822017"/>
            <a:ext cx="885733" cy="186689"/>
          </a:xfrm>
          <a:prstGeom prst="rect">
            <a:avLst/>
          </a:prstGeom>
          <a:noFill/>
        </p:spPr>
        <p:txBody>
          <a:bodyPr wrap="none" lIns="0" tIns="0" rIns="0" bIns="0">
            <a:spAutoFit/>
          </a:bodyPr>
          <a:lstStyle/>
          <a:p>
            <a:r>
              <a:rPr sz="1100" b="0">
                <a:solidFill>
                  <a:srgbClr val="2E2E2E"/>
                </a:solidFill>
                <a:latin typeface="Calibri"/>
              </a:rPr>
              <a:t>CAGR serves a</a:t>
            </a:r>
          </a:p>
        </p:txBody>
      </p:sp>
      <p:sp>
        <p:nvSpPr>
          <p:cNvPr id="152" name="TextBox 151"/>
          <p:cNvSpPr txBox="1"/>
          <p:nvPr/>
        </p:nvSpPr>
        <p:spPr>
          <a:xfrm>
            <a:off x="3838575" y="5989657"/>
            <a:ext cx="419174" cy="186689"/>
          </a:xfrm>
          <a:prstGeom prst="rect">
            <a:avLst/>
          </a:prstGeom>
          <a:noFill/>
        </p:spPr>
        <p:txBody>
          <a:bodyPr wrap="none" lIns="0" tIns="0" rIns="0" bIns="0">
            <a:spAutoFit/>
          </a:bodyPr>
          <a:lstStyle/>
          <a:p>
            <a:r>
              <a:rPr sz="1100" b="0">
                <a:solidFill>
                  <a:srgbClr val="2E2E2E"/>
                </a:solidFill>
                <a:latin typeface="Calibri"/>
              </a:rPr>
              <a:t>niche.</a:t>
            </a:r>
          </a:p>
        </p:txBody>
      </p:sp>
      <p:sp>
        <p:nvSpPr>
          <p:cNvPr id="153" name="TextBox 152"/>
          <p:cNvSpPr txBox="1"/>
          <p:nvPr/>
        </p:nvSpPr>
        <p:spPr>
          <a:xfrm>
            <a:off x="8524875" y="5842641"/>
            <a:ext cx="3162300" cy="194310"/>
          </a:xfrm>
          <a:prstGeom prst="rect">
            <a:avLst/>
          </a:prstGeom>
          <a:noFill/>
        </p:spPr>
        <p:txBody>
          <a:bodyPr wrap="none" lIns="0" tIns="0" rIns="0" bIns="0">
            <a:spAutoFit/>
          </a:bodyPr>
          <a:lstStyle/>
          <a:p>
            <a:r>
              <a:rPr sz="1150" b="1">
                <a:solidFill>
                  <a:srgbClr val="0B2E4A"/>
                </a:solidFill>
                <a:latin typeface="Calibri"/>
              </a:rPr>
              <a:t>The Active Ingredient segment is projected to grow</a:t>
            </a:r>
          </a:p>
        </p:txBody>
      </p:sp>
      <p:sp>
        <p:nvSpPr>
          <p:cNvPr id="154" name="TextBox 153"/>
          <p:cNvSpPr txBox="1"/>
          <p:nvPr/>
        </p:nvSpPr>
        <p:spPr>
          <a:xfrm>
            <a:off x="8524875" y="6017901"/>
            <a:ext cx="836089" cy="194310"/>
          </a:xfrm>
          <a:prstGeom prst="rect">
            <a:avLst/>
          </a:prstGeom>
          <a:noFill/>
        </p:spPr>
        <p:txBody>
          <a:bodyPr wrap="none" lIns="0" tIns="0" rIns="0" bIns="0">
            <a:spAutoFit/>
          </a:bodyPr>
          <a:lstStyle/>
          <a:p>
            <a:r>
              <a:rPr sz="1150" b="1">
                <a:solidFill>
                  <a:srgbClr val="0B2E4A"/>
                </a:solidFill>
                <a:latin typeface="Calibri"/>
              </a:rPr>
              <a:t>at a CAGR of</a:t>
            </a:r>
          </a:p>
        </p:txBody>
      </p:sp>
      <p:pic>
        <p:nvPicPr>
          <p:cNvPr id="155" name="Picture 154" descr="lock.png"/>
          <p:cNvPicPr>
            <a:picLocks noChangeAspect="1"/>
          </p:cNvPicPr>
          <p:nvPr/>
        </p:nvPicPr>
        <p:blipFill>
          <a:blip r:embed="rId22"/>
          <a:stretch>
            <a:fillRect/>
          </a:stretch>
        </p:blipFill>
        <p:spPr>
          <a:xfrm>
            <a:off x="9310118" y="6007677"/>
            <a:ext cx="134549" cy="195707"/>
          </a:xfrm>
          <a:prstGeom prst="rect">
            <a:avLst/>
          </a:prstGeom>
        </p:spPr>
      </p:pic>
      <p:sp>
        <p:nvSpPr>
          <p:cNvPr id="156" name="TextBox 155"/>
          <p:cNvSpPr txBox="1"/>
          <p:nvPr/>
        </p:nvSpPr>
        <p:spPr>
          <a:xfrm>
            <a:off x="9485227"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Structure &amp; Attractiveness, By Active Ingredient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Active Ingredient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Active Ingredient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Active Ingredient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12909" cy="186689"/>
          </a:xfrm>
          <a:prstGeom prst="rect">
            <a:avLst/>
          </a:prstGeom>
          <a:noFill/>
        </p:spPr>
        <p:txBody>
          <a:bodyPr wrap="none" lIns="0" tIns="0" rIns="0" bIns="0">
            <a:spAutoFit/>
          </a:bodyPr>
          <a:lstStyle/>
          <a:p>
            <a:r>
              <a:rPr sz="1100" b="0">
                <a:solidFill>
                  <a:srgbClr val="2E2E2E"/>
                </a:solidFill>
                <a:latin typeface="Calibri"/>
              </a:rPr>
              <a:t>Antioxidant ingredients followed by cellular energy support ingredients are expected to be the two most attractive active ingredient segments in the Europe senior dog cognitive supplement market in</a:t>
            </a:r>
          </a:p>
        </p:txBody>
      </p:sp>
      <p:sp>
        <p:nvSpPr>
          <p:cNvPr id="20" name="TextBox 19"/>
          <p:cNvSpPr txBox="1"/>
          <p:nvPr/>
        </p:nvSpPr>
        <p:spPr>
          <a:xfrm>
            <a:off x="257175" y="5861685"/>
            <a:ext cx="7314662" cy="186689"/>
          </a:xfrm>
          <a:prstGeom prst="rect">
            <a:avLst/>
          </a:prstGeom>
          <a:noFill/>
        </p:spPr>
        <p:txBody>
          <a:bodyPr wrap="none" lIns="0" tIns="0" rIns="0" bIns="0">
            <a:spAutoFit/>
          </a:bodyPr>
          <a:lstStyle/>
          <a:p>
            <a:r>
              <a:rPr sz="1100" b="0">
                <a:solidFill>
                  <a:srgbClr val="2E2E2E"/>
                </a:solidFill>
                <a:latin typeface="Calibri"/>
              </a:rPr>
              <a:t>terms of value over the forecast period. Antioxidant ingredients and cellular energy support ingredients exhibit a CAGR index of</a:t>
            </a:r>
          </a:p>
        </p:txBody>
      </p:sp>
      <p:pic>
        <p:nvPicPr>
          <p:cNvPr id="21" name="Picture 20" descr="lock.png"/>
          <p:cNvPicPr>
            <a:picLocks noChangeAspect="1"/>
          </p:cNvPicPr>
          <p:nvPr/>
        </p:nvPicPr>
        <p:blipFill>
          <a:blip r:embed="rId6"/>
          <a:stretch>
            <a:fillRect/>
          </a:stretch>
        </p:blipFill>
        <p:spPr>
          <a:xfrm>
            <a:off x="7519888" y="5851905"/>
            <a:ext cx="128699" cy="187198"/>
          </a:xfrm>
          <a:prstGeom prst="rect">
            <a:avLst/>
          </a:prstGeom>
        </p:spPr>
      </p:pic>
      <p:sp>
        <p:nvSpPr>
          <p:cNvPr id="22" name="TextBox 21"/>
          <p:cNvSpPr txBox="1"/>
          <p:nvPr/>
        </p:nvSpPr>
        <p:spPr>
          <a:xfrm>
            <a:off x="7687384"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925278" y="5851905"/>
            <a:ext cx="128699" cy="187198"/>
          </a:xfrm>
          <a:prstGeom prst="rect">
            <a:avLst/>
          </a:prstGeom>
        </p:spPr>
      </p:pic>
      <p:sp>
        <p:nvSpPr>
          <p:cNvPr id="24" name="TextBox 23"/>
          <p:cNvSpPr txBox="1"/>
          <p:nvPr/>
        </p:nvSpPr>
        <p:spPr>
          <a:xfrm>
            <a:off x="8092774" y="5861685"/>
            <a:ext cx="1660921" cy="186689"/>
          </a:xfrm>
          <a:prstGeom prst="rect">
            <a:avLst/>
          </a:prstGeom>
          <a:noFill/>
        </p:spPr>
        <p:txBody>
          <a:bodyPr wrap="none" lIns="0" tIns="0" r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701748" y="5851905"/>
            <a:ext cx="128699" cy="187198"/>
          </a:xfrm>
          <a:prstGeom prst="rect">
            <a:avLst/>
          </a:prstGeom>
        </p:spPr>
      </p:pic>
      <p:sp>
        <p:nvSpPr>
          <p:cNvPr id="26" name="TextBox 25"/>
          <p:cNvSpPr txBox="1"/>
          <p:nvPr/>
        </p:nvSpPr>
        <p:spPr>
          <a:xfrm>
            <a:off x="9869243"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10107138" y="5851905"/>
            <a:ext cx="128699" cy="187198"/>
          </a:xfrm>
          <a:prstGeom prst="rect">
            <a:avLst/>
          </a:prstGeom>
        </p:spPr>
      </p:pic>
      <p:sp>
        <p:nvSpPr>
          <p:cNvPr id="28" name="TextBox 27"/>
          <p:cNvSpPr txBox="1"/>
          <p:nvPr/>
        </p:nvSpPr>
        <p:spPr>
          <a:xfrm>
            <a:off x="10274634" y="5861685"/>
            <a:ext cx="1231726" cy="186689"/>
          </a:xfrm>
          <a:prstGeom prst="rect">
            <a:avLst/>
          </a:prstGeom>
          <a:noFill/>
        </p:spPr>
        <p:txBody>
          <a:bodyPr wrap="none" lIns="0" tIns="0" rIns="0" bIns="0">
            <a:spAutoFit/>
          </a:bodyPr>
          <a:lstStyle/>
          <a:p>
            <a:r>
              <a:rPr sz="1100" b="0">
                <a:solidFill>
                  <a:srgbClr val="2E2E2E"/>
                </a:solidFill>
                <a:latin typeface="Calibri"/>
              </a:rPr>
              <a:t>respectively, against</a:t>
            </a:r>
          </a:p>
        </p:txBody>
      </p:sp>
      <p:sp>
        <p:nvSpPr>
          <p:cNvPr id="29" name="TextBox 28"/>
          <p:cNvSpPr txBox="1"/>
          <p:nvPr/>
        </p:nvSpPr>
        <p:spPr>
          <a:xfrm>
            <a:off x="257175" y="6029325"/>
            <a:ext cx="1419175" cy="186689"/>
          </a:xfrm>
          <a:prstGeom prst="rect">
            <a:avLst/>
          </a:prstGeom>
          <a:noFill/>
        </p:spPr>
        <p:txBody>
          <a:bodyPr wrap="none" lIns="0" tIns="0" rIns="0" bIns="0">
            <a:spAutoFit/>
          </a:bodyPr>
          <a:lstStyle/>
          <a:p>
            <a:r>
              <a:rPr sz="1100" b="0">
                <a:solidFill>
                  <a:srgbClr val="2E2E2E"/>
                </a:solidFill>
                <a:latin typeface="Calibri"/>
              </a:rPr>
              <a:t>the segment average of</a:t>
            </a:r>
          </a:p>
        </p:txBody>
      </p:sp>
      <p:pic>
        <p:nvPicPr>
          <p:cNvPr id="30" name="Picture 29" descr="lock.png"/>
          <p:cNvPicPr>
            <a:picLocks noChangeAspect="1"/>
          </p:cNvPicPr>
          <p:nvPr/>
        </p:nvPicPr>
        <p:blipFill>
          <a:blip r:embed="rId6"/>
          <a:stretch>
            <a:fillRect/>
          </a:stretch>
        </p:blipFill>
        <p:spPr>
          <a:xfrm>
            <a:off x="1624401" y="6019545"/>
            <a:ext cx="128699" cy="187198"/>
          </a:xfrm>
          <a:prstGeom prst="rect">
            <a:avLst/>
          </a:prstGeom>
        </p:spPr>
      </p:pic>
      <p:sp>
        <p:nvSpPr>
          <p:cNvPr id="31" name="TextBox 30"/>
          <p:cNvSpPr txBox="1"/>
          <p:nvPr/>
        </p:nvSpPr>
        <p:spPr>
          <a:xfrm>
            <a:off x="1791897" y="6029325"/>
            <a:ext cx="9829807" cy="186689"/>
          </a:xfrm>
          <a:prstGeom prst="rect">
            <a:avLst/>
          </a:prstGeom>
          <a:noFill/>
        </p:spPr>
        <p:txBody>
          <a:bodyPr wrap="none" lIns="0" tIns="0" rIns="0" bIns="0">
            <a:spAutoFit/>
          </a:bodyPr>
          <a:lstStyle/>
          <a:p>
            <a:r>
              <a:rPr sz="1100" b="0">
                <a:solidFill>
                  <a:srgbClr val="2E2E2E"/>
                </a:solidFill>
                <a:latin typeface="Calibri"/>
              </a:rPr>
              <a:t>. The neurofunctional nutrients segment is expected to be less attractive as compared to other segments over the forecast period, owing to its lower CAGR and incremental</a:t>
            </a:r>
          </a:p>
        </p:txBody>
      </p:sp>
      <p:sp>
        <p:nvSpPr>
          <p:cNvPr id="32" name="TextBox 31"/>
          <p:cNvSpPr txBox="1"/>
          <p:nvPr/>
        </p:nvSpPr>
        <p:spPr>
          <a:xfrm>
            <a:off x="257175" y="6196965"/>
            <a:ext cx="5122845" cy="186689"/>
          </a:xfrm>
          <a:prstGeom prst="rect">
            <a:avLst/>
          </a:prstGeom>
          <a:noFill/>
        </p:spPr>
        <p:txBody>
          <a:bodyPr wrap="none" lIns="0" tIns="0" rIns="0" bIns="0">
            <a:spAutoFit/>
          </a:bodyPr>
          <a:lstStyle/>
          <a:p>
            <a:r>
              <a:rPr sz="1100" b="0">
                <a:solidFill>
                  <a:srgbClr val="2E2E2E"/>
                </a:solidFill>
                <a:latin typeface="Calibri"/>
              </a:rPr>
              <a:t>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Analysis, By Active Ingredient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Active Ingredient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Omega-3 Fatty Acids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Antioxidant Ingredients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Neurofunctional Nutrients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Cellular Energy Support Ingredients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Analysis, By Active Ingredient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Active Ingredient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Botanical Ingredients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Microbiome-Targeted Ingredients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066800"/>
            <a:ext cx="5610225" cy="407620"/>
          </a:xfrm>
          <a:prstGeom prst="rect">
            <a:avLst/>
          </a:prstGeom>
          <a:noFill/>
        </p:spPr>
        <p:txBody>
          <a:bodyPr wrap="square" lIns="0" tIns="9525" rIns="19050" bIns="9525">
            <a:spAutoFit/>
          </a:bodyPr>
          <a:lstStyle/>
          <a:p>
            <a:pPr algn="l"/>
            <a:r>
              <a:rPr sz="1300" b="1">
                <a:solidFill>
                  <a:srgbClr val="0B2E4A"/>
                </a:solidFill>
                <a:latin typeface="Calibri"/>
              </a:rPr>
              <a:t>Summary of Europe Absolute $ Opportunity Analysis, By Active Ingredient</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5550" y="1588720"/>
            <a:ext cx="5610225" cy="496448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0" name="TextBox 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4878997" cy="194310"/>
          </a:xfrm>
          <a:prstGeom prst="rect">
            <a:avLst/>
          </a:prstGeom>
          <a:noFill/>
        </p:spPr>
        <p:txBody>
          <a:bodyPr wrap="none" lIns="0" tIns="0" rIns="0" bIns="0">
            <a:spAutoFit/>
          </a:bodyPr>
          <a:lstStyle/>
          <a:p>
            <a:r>
              <a:rPr sz="1150" b="0">
                <a:solidFill>
                  <a:srgbClr val="2E2E2E"/>
                </a:solidFill>
                <a:latin typeface="Calibri"/>
              </a:rPr>
              <a:t>By 2036, antioxidant ingredients segment is anticipated to witness an increase of</a:t>
            </a:r>
          </a:p>
        </p:txBody>
      </p:sp>
      <p:pic>
        <p:nvPicPr>
          <p:cNvPr id="24" name="Picture 23" descr="lock.png"/>
          <p:cNvPicPr>
            <a:picLocks noChangeAspect="1"/>
          </p:cNvPicPr>
          <p:nvPr/>
        </p:nvPicPr>
        <p:blipFill>
          <a:blip r:embed="rId6"/>
          <a:stretch>
            <a:fillRect/>
          </a:stretch>
        </p:blipFill>
        <p:spPr>
          <a:xfrm>
            <a:off x="11133701" y="1588021"/>
            <a:ext cx="134549" cy="195707"/>
          </a:xfrm>
          <a:prstGeom prst="rect">
            <a:avLst/>
          </a:prstGeom>
        </p:spPr>
      </p:pic>
      <p:sp>
        <p:nvSpPr>
          <p:cNvPr id="25" name="TextBox 24"/>
          <p:cNvSpPr txBox="1"/>
          <p:nvPr/>
        </p:nvSpPr>
        <p:spPr>
          <a:xfrm>
            <a:off x="11308810" y="1598245"/>
            <a:ext cx="295560" cy="194310"/>
          </a:xfrm>
          <a:prstGeom prst="rect">
            <a:avLst/>
          </a:prstGeom>
          <a:noFill/>
        </p:spPr>
        <p:txBody>
          <a:bodyPr wrap="none" lIns="0" tIns="0" rIns="0" bIns="0">
            <a:spAutoFit/>
          </a:bodyPr>
          <a:lstStyle/>
          <a:p>
            <a:r>
              <a:rPr sz="1150" b="0">
                <a:solidFill>
                  <a:srgbClr val="2E2E2E"/>
                </a:solidFill>
                <a:latin typeface="Calibri"/>
              </a:rPr>
              <a:t>X in</a:t>
            </a:r>
          </a:p>
        </p:txBody>
      </p:sp>
      <p:sp>
        <p:nvSpPr>
          <p:cNvPr id="26" name="TextBox 25"/>
          <p:cNvSpPr txBox="1"/>
          <p:nvPr/>
        </p:nvSpPr>
        <p:spPr>
          <a:xfrm>
            <a:off x="6305550" y="1773505"/>
            <a:ext cx="5324586" cy="194310"/>
          </a:xfrm>
          <a:prstGeom prst="rect">
            <a:avLst/>
          </a:prstGeom>
          <a:noFill/>
        </p:spPr>
        <p:txBody>
          <a:bodyPr wrap="none" lIns="0" tIns="0" rIns="0" bIns="0">
            <a:spAutoFit/>
          </a:bodyPr>
          <a:lstStyle/>
          <a:p>
            <a:r>
              <a:rPr sz="1150" b="0">
                <a:solidFill>
                  <a:srgbClr val="2E2E2E"/>
                </a:solidFill>
                <a:latin typeface="Calibri"/>
              </a:rPr>
              <a:t>terms of value as compared to 2026. The antioxidant ingredients segment is expected to</a:t>
            </a:r>
          </a:p>
        </p:txBody>
      </p:sp>
      <p:sp>
        <p:nvSpPr>
          <p:cNvPr id="27" name="TextBox 26"/>
          <p:cNvSpPr txBox="1"/>
          <p:nvPr/>
        </p:nvSpPr>
        <p:spPr>
          <a:xfrm>
            <a:off x="6305550" y="1948765"/>
            <a:ext cx="2547069" cy="194310"/>
          </a:xfrm>
          <a:prstGeom prst="rect">
            <a:avLst/>
          </a:prstGeom>
          <a:noFill/>
        </p:spPr>
        <p:txBody>
          <a:bodyPr wrap="none" lIns="0" tIns="0" rIns="0" bIns="0">
            <a:spAutoFit/>
          </a:bodyPr>
          <a:lstStyle/>
          <a:p>
            <a:r>
              <a:rPr sz="1150" b="0">
                <a:solidFill>
                  <a:srgbClr val="2E2E2E"/>
                </a:solidFill>
                <a:latin typeface="Calibri"/>
              </a:rPr>
              <a:t>create an incremental opportunity of US$</a:t>
            </a:r>
          </a:p>
        </p:txBody>
      </p:sp>
      <p:pic>
        <p:nvPicPr>
          <p:cNvPr id="28" name="Picture 27" descr="lock.png"/>
          <p:cNvPicPr>
            <a:picLocks noChangeAspect="1"/>
          </p:cNvPicPr>
          <p:nvPr/>
        </p:nvPicPr>
        <p:blipFill>
          <a:blip r:embed="rId6"/>
          <a:stretch>
            <a:fillRect/>
          </a:stretch>
        </p:blipFill>
        <p:spPr>
          <a:xfrm>
            <a:off x="8801773" y="1938541"/>
            <a:ext cx="134549" cy="195707"/>
          </a:xfrm>
          <a:prstGeom prst="rect">
            <a:avLst/>
          </a:prstGeom>
        </p:spPr>
      </p:pic>
      <p:sp>
        <p:nvSpPr>
          <p:cNvPr id="29" name="TextBox 28"/>
          <p:cNvSpPr txBox="1"/>
          <p:nvPr/>
        </p:nvSpPr>
        <p:spPr>
          <a:xfrm>
            <a:off x="8976882" y="1948765"/>
            <a:ext cx="2381622" cy="194310"/>
          </a:xfrm>
          <a:prstGeom prst="rect">
            <a:avLst/>
          </a:prstGeom>
          <a:noFill/>
        </p:spPr>
        <p:txBody>
          <a:bodyPr wrap="none" lIns="0" tIns="0" rIns="0" bIns="0">
            <a:spAutoFit/>
          </a:bodyPr>
          <a:lstStyle/>
          <a:p>
            <a:r>
              <a:rPr sz="1150" b="0">
                <a:solidFill>
                  <a:srgbClr val="2E2E2E"/>
                </a:solidFill>
                <a:latin typeface="Calibri"/>
              </a:rPr>
              <a:t>Mn for the overall senior dog cognitive</a:t>
            </a:r>
          </a:p>
        </p:txBody>
      </p:sp>
      <p:sp>
        <p:nvSpPr>
          <p:cNvPr id="30" name="TextBox 29"/>
          <p:cNvSpPr txBox="1"/>
          <p:nvPr/>
        </p:nvSpPr>
        <p:spPr>
          <a:xfrm>
            <a:off x="6305550" y="2124025"/>
            <a:ext cx="2421842" cy="194310"/>
          </a:xfrm>
          <a:prstGeom prst="rect">
            <a:avLst/>
          </a:prstGeom>
          <a:noFill/>
        </p:spPr>
        <p:txBody>
          <a:bodyPr wrap="none" lIns="0" tIns="0" rIns="0" bIns="0">
            <a:spAutoFit/>
          </a:bodyPr>
          <a:lstStyle/>
          <a:p>
            <a:r>
              <a:rPr sz="1150" b="0">
                <a:solidFill>
                  <a:srgbClr val="2E2E2E"/>
                </a:solidFill>
                <a:latin typeface="Calibri"/>
              </a:rPr>
              <a:t>supplement market from 2026 to 2036.</a:t>
            </a:r>
          </a:p>
        </p:txBody>
      </p:sp>
      <p:sp>
        <p:nvSpPr>
          <p:cNvPr id="31" name="TextBox 30"/>
          <p:cNvSpPr txBox="1"/>
          <p:nvPr/>
        </p:nvSpPr>
        <p:spPr>
          <a:xfrm>
            <a:off x="6305550" y="2351863"/>
            <a:ext cx="5151152" cy="194310"/>
          </a:xfrm>
          <a:prstGeom prst="rect">
            <a:avLst/>
          </a:prstGeom>
          <a:noFill/>
        </p:spPr>
        <p:txBody>
          <a:bodyPr wrap="none" lIns="0" tIns="0" rIns="0" bIns="0">
            <a:spAutoFit/>
          </a:bodyPr>
          <a:lstStyle/>
          <a:p>
            <a:r>
              <a:rPr sz="1150" b="0">
                <a:solidFill>
                  <a:srgbClr val="2E2E2E"/>
                </a:solidFill>
                <a:latin typeface="Calibri"/>
              </a:rPr>
              <a:t>The cellular energy support ingredients segment is expected to create an incremental</a:t>
            </a:r>
          </a:p>
        </p:txBody>
      </p:sp>
      <p:sp>
        <p:nvSpPr>
          <p:cNvPr id="32" name="TextBox 31"/>
          <p:cNvSpPr txBox="1"/>
          <p:nvPr/>
        </p:nvSpPr>
        <p:spPr>
          <a:xfrm>
            <a:off x="6305550" y="2527123"/>
            <a:ext cx="1208943" cy="194310"/>
          </a:xfrm>
          <a:prstGeom prst="rect">
            <a:avLst/>
          </a:prstGeom>
          <a:noFill/>
        </p:spPr>
        <p:txBody>
          <a:bodyPr wrap="none" lIns="0" tIns="0" rIns="0" bIns="0">
            <a:spAutoFit/>
          </a:bodyPr>
          <a:lstStyle/>
          <a:p>
            <a:r>
              <a:rPr sz="1150" b="0">
                <a:solidFill>
                  <a:srgbClr val="2E2E2E"/>
                </a:solidFill>
                <a:latin typeface="Calibri"/>
              </a:rPr>
              <a:t>opportunity of US$</a:t>
            </a:r>
          </a:p>
        </p:txBody>
      </p:sp>
      <p:pic>
        <p:nvPicPr>
          <p:cNvPr id="33" name="Picture 32" descr="lock.png"/>
          <p:cNvPicPr>
            <a:picLocks noChangeAspect="1"/>
          </p:cNvPicPr>
          <p:nvPr/>
        </p:nvPicPr>
        <p:blipFill>
          <a:blip r:embed="rId6"/>
          <a:stretch>
            <a:fillRect/>
          </a:stretch>
        </p:blipFill>
        <p:spPr>
          <a:xfrm>
            <a:off x="7463647" y="2516899"/>
            <a:ext cx="134549" cy="195707"/>
          </a:xfrm>
          <a:prstGeom prst="rect">
            <a:avLst/>
          </a:prstGeom>
        </p:spPr>
      </p:pic>
      <p:sp>
        <p:nvSpPr>
          <p:cNvPr id="34" name="TextBox 33"/>
          <p:cNvSpPr txBox="1"/>
          <p:nvPr/>
        </p:nvSpPr>
        <p:spPr>
          <a:xfrm>
            <a:off x="7638756" y="2527123"/>
            <a:ext cx="4234631"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 market from 2026</a:t>
            </a:r>
          </a:p>
        </p:txBody>
      </p:sp>
      <p:sp>
        <p:nvSpPr>
          <p:cNvPr id="35" name="TextBox 34"/>
          <p:cNvSpPr txBox="1"/>
          <p:nvPr/>
        </p:nvSpPr>
        <p:spPr>
          <a:xfrm>
            <a:off x="6305550" y="2702383"/>
            <a:ext cx="5533677" cy="194310"/>
          </a:xfrm>
          <a:prstGeom prst="rect">
            <a:avLst/>
          </a:prstGeom>
          <a:noFill/>
        </p:spPr>
        <p:txBody>
          <a:bodyPr wrap="none" lIns="0" tIns="0" rIns="0" bIns="0">
            <a:spAutoFit/>
          </a:bodyPr>
          <a:lstStyle/>
          <a:p>
            <a:r>
              <a:rPr sz="1150" b="0">
                <a:solidFill>
                  <a:srgbClr val="2E2E2E"/>
                </a:solidFill>
                <a:latin typeface="Calibri"/>
              </a:rPr>
              <a:t>to 2036. The Omega-3 fatty acids segment is expected to create an incremental opportunity</a:t>
            </a:r>
          </a:p>
        </p:txBody>
      </p:sp>
      <p:sp>
        <p:nvSpPr>
          <p:cNvPr id="36" name="TextBox 35"/>
          <p:cNvSpPr txBox="1"/>
          <p:nvPr/>
        </p:nvSpPr>
        <p:spPr>
          <a:xfrm>
            <a:off x="6305550" y="2877643"/>
            <a:ext cx="465856" cy="194310"/>
          </a:xfrm>
          <a:prstGeom prst="rect">
            <a:avLst/>
          </a:prstGeom>
          <a:noFill/>
        </p:spPr>
        <p:txBody>
          <a:bodyPr wrap="none" lIns="0" tIns="0" rIns="0" bIns="0">
            <a:spAutoFit/>
          </a:bodyPr>
          <a:lstStyle/>
          <a:p>
            <a:r>
              <a:rPr sz="1150" b="0">
                <a:solidFill>
                  <a:srgbClr val="2E2E2E"/>
                </a:solidFill>
                <a:latin typeface="Calibri"/>
              </a:rPr>
              <a:t>of US$</a:t>
            </a:r>
          </a:p>
        </p:txBody>
      </p:sp>
      <p:pic>
        <p:nvPicPr>
          <p:cNvPr id="37" name="Picture 36" descr="lock.png"/>
          <p:cNvPicPr>
            <a:picLocks noChangeAspect="1"/>
          </p:cNvPicPr>
          <p:nvPr/>
        </p:nvPicPr>
        <p:blipFill>
          <a:blip r:embed="rId6"/>
          <a:stretch>
            <a:fillRect/>
          </a:stretch>
        </p:blipFill>
        <p:spPr>
          <a:xfrm>
            <a:off x="6720560" y="2867419"/>
            <a:ext cx="134549" cy="195707"/>
          </a:xfrm>
          <a:prstGeom prst="rect">
            <a:avLst/>
          </a:prstGeom>
        </p:spPr>
      </p:pic>
      <p:sp>
        <p:nvSpPr>
          <p:cNvPr id="38" name="TextBox 37"/>
          <p:cNvSpPr txBox="1"/>
          <p:nvPr/>
        </p:nvSpPr>
        <p:spPr>
          <a:xfrm>
            <a:off x="6895670" y="2877643"/>
            <a:ext cx="4760354"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 market from 2026 to 2036.</a:t>
            </a:r>
          </a:p>
        </p:txBody>
      </p:sp>
      <p:sp>
        <p:nvSpPr>
          <p:cNvPr id="39"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Analysis, By Active Ingredient (US$ Mn)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Active Ingredient, 2021–2036, highlighting the sub-segments driving growth</a:t>
            </a:r>
          </a:p>
        </p:txBody>
      </p:sp>
      <p:sp>
        <p:nvSpPr>
          <p:cNvPr id="10" name="Rounded Rectangle 9"/>
          <p:cNvSpPr/>
          <p:nvPr/>
        </p:nvSpPr>
        <p:spPr>
          <a:xfrm>
            <a:off x="142875" y="981075"/>
            <a:ext cx="11906250" cy="5638800"/>
          </a:xfrm>
          <a:prstGeom prst="roundRect">
            <a:avLst>
              <a:gd name="adj" fmla="val 13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By Active Ingredient (US$ Mn)</a:t>
            </a:r>
          </a:p>
        </p:txBody>
      </p:sp>
      <p:graphicFrame>
        <p:nvGraphicFramePr>
          <p:cNvPr id="12" name="Table 11"/>
          <p:cNvGraphicFramePr>
            <a:graphicFrameLocks noGrp="1"/>
          </p:cNvGraphicFramePr>
          <p:nvPr/>
        </p:nvGraphicFramePr>
        <p:xfrm>
          <a:off x="152400" y="1238250"/>
          <a:ext cx="11887193" cy="5172066"/>
        </p:xfrm>
        <a:graphic>
          <a:graphicData uri="http://schemas.openxmlformats.org/drawingml/2006/table">
            <a:tbl>
              <a:tblPr>
                <a:tableStyleId>{5C22544A-7EE6-4342-B048-85BDC9FD1C3A}</a:tableStyleId>
              </a:tblPr>
              <a:tblGrid>
                <a:gridCol w="2280255">
                  <a:extLst>
                    <a:ext uri="{9D8B030D-6E8A-4147-A177-3AD203B41FA5}">
                      <a16:colId xmlns:a16="http://schemas.microsoft.com/office/drawing/2014/main" val="20000"/>
                    </a:ext>
                  </a:extLst>
                </a:gridCol>
                <a:gridCol w="565114">
                  <a:extLst>
                    <a:ext uri="{9D8B030D-6E8A-4147-A177-3AD203B41FA5}">
                      <a16:colId xmlns:a16="http://schemas.microsoft.com/office/drawing/2014/main" val="20001"/>
                    </a:ext>
                  </a:extLst>
                </a:gridCol>
                <a:gridCol w="565114">
                  <a:extLst>
                    <a:ext uri="{9D8B030D-6E8A-4147-A177-3AD203B41FA5}">
                      <a16:colId xmlns:a16="http://schemas.microsoft.com/office/drawing/2014/main" val="20002"/>
                    </a:ext>
                  </a:extLst>
                </a:gridCol>
                <a:gridCol w="565114">
                  <a:extLst>
                    <a:ext uri="{9D8B030D-6E8A-4147-A177-3AD203B41FA5}">
                      <a16:colId xmlns:a16="http://schemas.microsoft.com/office/drawing/2014/main" val="20003"/>
                    </a:ext>
                  </a:extLst>
                </a:gridCol>
                <a:gridCol w="565114">
                  <a:extLst>
                    <a:ext uri="{9D8B030D-6E8A-4147-A177-3AD203B41FA5}">
                      <a16:colId xmlns:a16="http://schemas.microsoft.com/office/drawing/2014/main" val="20004"/>
                    </a:ext>
                  </a:extLst>
                </a:gridCol>
                <a:gridCol w="565114">
                  <a:extLst>
                    <a:ext uri="{9D8B030D-6E8A-4147-A177-3AD203B41FA5}">
                      <a16:colId xmlns:a16="http://schemas.microsoft.com/office/drawing/2014/main" val="20005"/>
                    </a:ext>
                  </a:extLst>
                </a:gridCol>
                <a:gridCol w="565114">
                  <a:extLst>
                    <a:ext uri="{9D8B030D-6E8A-4147-A177-3AD203B41FA5}">
                      <a16:colId xmlns:a16="http://schemas.microsoft.com/office/drawing/2014/main" val="20006"/>
                    </a:ext>
                  </a:extLst>
                </a:gridCol>
                <a:gridCol w="565114">
                  <a:extLst>
                    <a:ext uri="{9D8B030D-6E8A-4147-A177-3AD203B41FA5}">
                      <a16:colId xmlns:a16="http://schemas.microsoft.com/office/drawing/2014/main" val="20007"/>
                    </a:ext>
                  </a:extLst>
                </a:gridCol>
                <a:gridCol w="565114">
                  <a:extLst>
                    <a:ext uri="{9D8B030D-6E8A-4147-A177-3AD203B41FA5}">
                      <a16:colId xmlns:a16="http://schemas.microsoft.com/office/drawing/2014/main" val="20008"/>
                    </a:ext>
                  </a:extLst>
                </a:gridCol>
                <a:gridCol w="565114">
                  <a:extLst>
                    <a:ext uri="{9D8B030D-6E8A-4147-A177-3AD203B41FA5}">
                      <a16:colId xmlns:a16="http://schemas.microsoft.com/office/drawing/2014/main" val="20009"/>
                    </a:ext>
                  </a:extLst>
                </a:gridCol>
                <a:gridCol w="565114">
                  <a:extLst>
                    <a:ext uri="{9D8B030D-6E8A-4147-A177-3AD203B41FA5}">
                      <a16:colId xmlns:a16="http://schemas.microsoft.com/office/drawing/2014/main" val="20010"/>
                    </a:ext>
                  </a:extLst>
                </a:gridCol>
                <a:gridCol w="565114">
                  <a:extLst>
                    <a:ext uri="{9D8B030D-6E8A-4147-A177-3AD203B41FA5}">
                      <a16:colId xmlns:a16="http://schemas.microsoft.com/office/drawing/2014/main" val="20011"/>
                    </a:ext>
                  </a:extLst>
                </a:gridCol>
                <a:gridCol w="565114">
                  <a:extLst>
                    <a:ext uri="{9D8B030D-6E8A-4147-A177-3AD203B41FA5}">
                      <a16:colId xmlns:a16="http://schemas.microsoft.com/office/drawing/2014/main" val="20012"/>
                    </a:ext>
                  </a:extLst>
                </a:gridCol>
                <a:gridCol w="565114">
                  <a:extLst>
                    <a:ext uri="{9D8B030D-6E8A-4147-A177-3AD203B41FA5}">
                      <a16:colId xmlns:a16="http://schemas.microsoft.com/office/drawing/2014/main" val="20013"/>
                    </a:ext>
                  </a:extLst>
                </a:gridCol>
                <a:gridCol w="565114">
                  <a:extLst>
                    <a:ext uri="{9D8B030D-6E8A-4147-A177-3AD203B41FA5}">
                      <a16:colId xmlns:a16="http://schemas.microsoft.com/office/drawing/2014/main" val="20014"/>
                    </a:ext>
                  </a:extLst>
                </a:gridCol>
                <a:gridCol w="565114">
                  <a:extLst>
                    <a:ext uri="{9D8B030D-6E8A-4147-A177-3AD203B41FA5}">
                      <a16:colId xmlns:a16="http://schemas.microsoft.com/office/drawing/2014/main" val="20015"/>
                    </a:ext>
                  </a:extLst>
                </a:gridCol>
                <a:gridCol w="565114">
                  <a:extLst>
                    <a:ext uri="{9D8B030D-6E8A-4147-A177-3AD203B41FA5}">
                      <a16:colId xmlns:a16="http://schemas.microsoft.com/office/drawing/2014/main" val="20016"/>
                    </a:ext>
                  </a:extLst>
                </a:gridCol>
                <a:gridCol w="565114">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297">
                <a:tc>
                  <a:txBody>
                    <a:bodyPr/>
                    <a:lstStyle/>
                    <a:p>
                      <a:pPr algn="l"/>
                      <a:r>
                        <a:rPr sz="1100" b="1">
                          <a:solidFill>
                            <a:srgbClr val="2E2E2E"/>
                          </a:solidFill>
                          <a:latin typeface="Calibri"/>
                        </a:rPr>
                        <a:t>Omega-3 Fatty Acids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297">
                <a:tc>
                  <a:txBody>
                    <a:bodyPr/>
                    <a:lstStyle/>
                    <a:p>
                      <a:pPr algn="l"/>
                      <a:r>
                        <a:rPr sz="1100" b="1">
                          <a:solidFill>
                            <a:srgbClr val="2E2E2E"/>
                          </a:solidFill>
                          <a:latin typeface="Calibri"/>
                        </a:rPr>
                        <a:t>– DHA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297">
                <a:tc>
                  <a:txBody>
                    <a:bodyPr/>
                    <a:lstStyle/>
                    <a:p>
                      <a:pPr algn="l"/>
                      <a:r>
                        <a:rPr sz="1100" b="1">
                          <a:solidFill>
                            <a:srgbClr val="2E2E2E"/>
                          </a:solidFill>
                          <a:latin typeface="Calibri"/>
                        </a:rPr>
                        <a:t>– EPA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297">
                <a:tc>
                  <a:txBody>
                    <a:bodyPr/>
                    <a:lstStyle/>
                    <a:p>
                      <a:pPr algn="l"/>
                      <a:r>
                        <a:rPr sz="1100" b="1">
                          <a:solidFill>
                            <a:srgbClr val="2E2E2E"/>
                          </a:solidFill>
                          <a:latin typeface="Calibri"/>
                        </a:rPr>
                        <a:t>– DHA–EPA Combinations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297">
                <a:tc>
                  <a:txBody>
                    <a:bodyPr/>
                    <a:lstStyle/>
                    <a:p>
                      <a:pPr algn="l"/>
                      <a:r>
                        <a:rPr sz="1100" b="1">
                          <a:solidFill>
                            <a:srgbClr val="2E2E2E"/>
                          </a:solidFill>
                          <a:latin typeface="Calibri"/>
                        </a:rPr>
                        <a:t>Antioxidant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297">
                <a:tc>
                  <a:txBody>
                    <a:bodyPr/>
                    <a:lstStyle/>
                    <a:p>
                      <a:pPr algn="l"/>
                      <a:r>
                        <a:rPr sz="1100" b="1">
                          <a:solidFill>
                            <a:srgbClr val="2E2E2E"/>
                          </a:solidFill>
                          <a:latin typeface="Calibri"/>
                        </a:rPr>
                        <a:t>– Vitamin 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297">
                <a:tc>
                  <a:txBody>
                    <a:bodyPr/>
                    <a:lstStyle/>
                    <a:p>
                      <a:pPr algn="l"/>
                      <a:r>
                        <a:rPr sz="1100" b="1">
                          <a:solidFill>
                            <a:srgbClr val="2E2E2E"/>
                          </a:solidFill>
                          <a:latin typeface="Calibri"/>
                        </a:rPr>
                        <a:t>– Vitamin C</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7"/>
                  </a:ext>
                </a:extLst>
              </a:tr>
              <a:tr h="246297">
                <a:tc>
                  <a:txBody>
                    <a:bodyPr/>
                    <a:lstStyle/>
                    <a:p>
                      <a:pPr algn="l"/>
                      <a:r>
                        <a:rPr sz="1100" b="1">
                          <a:solidFill>
                            <a:srgbClr val="2E2E2E"/>
                          </a:solidFill>
                          <a:latin typeface="Calibri"/>
                        </a:rPr>
                        <a:t>– Selenium</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8"/>
                  </a:ext>
                </a:extLst>
              </a:tr>
              <a:tr h="246297">
                <a:tc>
                  <a:txBody>
                    <a:bodyPr/>
                    <a:lstStyle/>
                    <a:p>
                      <a:pPr algn="l"/>
                      <a:r>
                        <a:rPr sz="1100" b="1">
                          <a:solidFill>
                            <a:srgbClr val="2E2E2E"/>
                          </a:solidFill>
                          <a:latin typeface="Calibri"/>
                        </a:rPr>
                        <a:t>– Other Antioxidants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9"/>
                  </a:ext>
                </a:extLst>
              </a:tr>
              <a:tr h="246297">
                <a:tc>
                  <a:txBody>
                    <a:bodyPr/>
                    <a:lstStyle/>
                    <a:p>
                      <a:pPr algn="l"/>
                      <a:r>
                        <a:rPr sz="1100" b="1">
                          <a:solidFill>
                            <a:srgbClr val="2E2E2E"/>
                          </a:solidFill>
                          <a:latin typeface="Calibri"/>
                        </a:rPr>
                        <a:t>Neurofunctional Nutrients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0"/>
                  </a:ext>
                </a:extLst>
              </a:tr>
              <a:tr h="246297">
                <a:tc>
                  <a:txBody>
                    <a:bodyPr/>
                    <a:lstStyle/>
                    <a:p>
                      <a:pPr algn="l"/>
                      <a:r>
                        <a:rPr sz="1100" b="1">
                          <a:solidFill>
                            <a:srgbClr val="2E2E2E"/>
                          </a:solidFill>
                          <a:latin typeface="Calibri"/>
                        </a:rPr>
                        <a:t>– Phosphatidylserine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1"/>
                  </a:ext>
                </a:extLst>
              </a:tr>
              <a:tr h="246297">
                <a:tc>
                  <a:txBody>
                    <a:bodyPr/>
                    <a:lstStyle/>
                    <a:p>
                      <a:pPr algn="l"/>
                      <a:r>
                        <a:rPr sz="1100" b="1">
                          <a:solidFill>
                            <a:srgbClr val="2E2E2E"/>
                          </a:solidFill>
                          <a:latin typeface="Calibri"/>
                        </a:rPr>
                        <a:t>– B Vitamins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2"/>
                  </a:ext>
                </a:extLst>
              </a:tr>
              <a:tr h="246297">
                <a:tc>
                  <a:txBody>
                    <a:bodyPr/>
                    <a:lstStyle/>
                    <a:p>
                      <a:pPr algn="l"/>
                      <a:r>
                        <a:rPr sz="1100" b="1">
                          <a:solidFill>
                            <a:srgbClr val="2E2E2E"/>
                          </a:solidFill>
                          <a:latin typeface="Calibri"/>
                        </a:rPr>
                        <a:t>– Choline-Related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3"/>
                  </a:ext>
                </a:extLst>
              </a:tr>
              <a:tr h="246297">
                <a:tc>
                  <a:txBody>
                    <a:bodyPr/>
                    <a:lstStyle/>
                    <a:p>
                      <a:pPr algn="l"/>
                      <a:r>
                        <a:rPr sz="1100" b="1">
                          <a:solidFill>
                            <a:srgbClr val="2E2E2E"/>
                          </a:solidFill>
                          <a:latin typeface="Calibri"/>
                        </a:rPr>
                        <a:t>Cellular Energy Support Ingredients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4"/>
                  </a:ext>
                </a:extLst>
              </a:tr>
              <a:tr h="246297">
                <a:tc>
                  <a:txBody>
                    <a:bodyPr/>
                    <a:lstStyle/>
                    <a:p>
                      <a:pPr algn="l"/>
                      <a:r>
                        <a:rPr sz="1100" b="1">
                          <a:solidFill>
                            <a:srgbClr val="2E2E2E"/>
                          </a:solidFill>
                          <a:latin typeface="Calibri"/>
                        </a:rPr>
                        <a:t>– L-Carnitine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5"/>
                  </a:ext>
                </a:extLst>
              </a:tr>
              <a:tr h="246297">
                <a:tc>
                  <a:txBody>
                    <a:bodyPr/>
                    <a:lstStyle/>
                    <a:p>
                      <a:pPr algn="l"/>
                      <a:r>
                        <a:rPr sz="1100" b="1">
                          <a:solidFill>
                            <a:srgbClr val="2E2E2E"/>
                          </a:solidFill>
                          <a:latin typeface="Calibri"/>
                        </a:rPr>
                        <a:t>– Acetyl-L-Carnitine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6"/>
                  </a:ext>
                </a:extLst>
              </a:tr>
              <a:tr h="246297">
                <a:tc>
                  <a:txBody>
                    <a:bodyPr/>
                    <a:lstStyle/>
                    <a:p>
                      <a:pPr algn="l"/>
                      <a:r>
                        <a:rPr sz="1100" b="1">
                          <a:solidFill>
                            <a:srgbClr val="2E2E2E"/>
                          </a:solidFill>
                          <a:latin typeface="Calibri"/>
                        </a:rPr>
                        <a:t>– Coenzyme Q10</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7"/>
                  </a:ext>
                </a:extLst>
              </a:tr>
              <a:tr h="246297">
                <a:tc>
                  <a:txBody>
                    <a:bodyPr/>
                    <a:lstStyle/>
                    <a:p>
                      <a:pPr algn="l"/>
                      <a:r>
                        <a:rPr sz="1100" b="1">
                          <a:solidFill>
                            <a:srgbClr val="2E2E2E"/>
                          </a:solidFill>
                          <a:latin typeface="Calibri"/>
                        </a:rPr>
                        <a:t>– Alpha-Lipoic Acid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8"/>
                  </a:ext>
                </a:extLst>
              </a:tr>
              <a:tr h="246297">
                <a:tc>
                  <a:txBody>
                    <a:bodyPr/>
                    <a:lstStyle/>
                    <a:p>
                      <a:pPr algn="l"/>
                      <a:r>
                        <a:rPr sz="1100" b="1">
                          <a:solidFill>
                            <a:srgbClr val="2E2E2E"/>
                          </a:solidFill>
                          <a:latin typeface="Calibri"/>
                        </a:rPr>
                        <a:t>Botanical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9"/>
                  </a:ext>
                </a:extLst>
              </a:tr>
              <a:tr h="246297">
                <a:tc>
                  <a:txBody>
                    <a:bodyPr/>
                    <a:lstStyle/>
                    <a:p>
                      <a:pPr algn="l"/>
                      <a:r>
                        <a:rPr sz="1100" b="1">
                          <a:solidFill>
                            <a:srgbClr val="2E2E2E"/>
                          </a:solidFill>
                          <a:latin typeface="Calibri"/>
                        </a:rPr>
                        <a:t>– Ginkgo Biloba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20"/>
                  </a:ext>
                </a:extLst>
              </a:tr>
            </a:tbl>
          </a:graphicData>
        </a:graphic>
      </p:graphicFrame>
      <p:sp>
        <p:nvSpPr>
          <p:cNvPr id="13" name="TextBox 12"/>
          <p:cNvSpPr txBox="1"/>
          <p:nvPr/>
        </p:nvSpPr>
        <p:spPr>
          <a:xfrm>
            <a:off x="219075" y="64198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049433" y="3680645"/>
            <a:ext cx="366712" cy="533400"/>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Analysis, By Active Ingredient (US$ Mn)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Active Ingredient,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By Active Ingredient (US$ Mn)</a:t>
            </a:r>
          </a:p>
        </p:txBody>
      </p:sp>
      <p:graphicFrame>
        <p:nvGraphicFramePr>
          <p:cNvPr id="12" name="Table 11"/>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2358529">
                  <a:extLst>
                    <a:ext uri="{9D8B030D-6E8A-4147-A177-3AD203B41FA5}">
                      <a16:colId xmlns:a16="http://schemas.microsoft.com/office/drawing/2014/main" val="20000"/>
                    </a:ext>
                  </a:extLst>
                </a:gridCol>
                <a:gridCol w="560510">
                  <a:extLst>
                    <a:ext uri="{9D8B030D-6E8A-4147-A177-3AD203B41FA5}">
                      <a16:colId xmlns:a16="http://schemas.microsoft.com/office/drawing/2014/main" val="20001"/>
                    </a:ext>
                  </a:extLst>
                </a:gridCol>
                <a:gridCol w="560510">
                  <a:extLst>
                    <a:ext uri="{9D8B030D-6E8A-4147-A177-3AD203B41FA5}">
                      <a16:colId xmlns:a16="http://schemas.microsoft.com/office/drawing/2014/main" val="20002"/>
                    </a:ext>
                  </a:extLst>
                </a:gridCol>
                <a:gridCol w="560510">
                  <a:extLst>
                    <a:ext uri="{9D8B030D-6E8A-4147-A177-3AD203B41FA5}">
                      <a16:colId xmlns:a16="http://schemas.microsoft.com/office/drawing/2014/main" val="20003"/>
                    </a:ext>
                  </a:extLst>
                </a:gridCol>
                <a:gridCol w="560510">
                  <a:extLst>
                    <a:ext uri="{9D8B030D-6E8A-4147-A177-3AD203B41FA5}">
                      <a16:colId xmlns:a16="http://schemas.microsoft.com/office/drawing/2014/main" val="20004"/>
                    </a:ext>
                  </a:extLst>
                </a:gridCol>
                <a:gridCol w="560510">
                  <a:extLst>
                    <a:ext uri="{9D8B030D-6E8A-4147-A177-3AD203B41FA5}">
                      <a16:colId xmlns:a16="http://schemas.microsoft.com/office/drawing/2014/main" val="20005"/>
                    </a:ext>
                  </a:extLst>
                </a:gridCol>
                <a:gridCol w="560510">
                  <a:extLst>
                    <a:ext uri="{9D8B030D-6E8A-4147-A177-3AD203B41FA5}">
                      <a16:colId xmlns:a16="http://schemas.microsoft.com/office/drawing/2014/main" val="20006"/>
                    </a:ext>
                  </a:extLst>
                </a:gridCol>
                <a:gridCol w="560510">
                  <a:extLst>
                    <a:ext uri="{9D8B030D-6E8A-4147-A177-3AD203B41FA5}">
                      <a16:colId xmlns:a16="http://schemas.microsoft.com/office/drawing/2014/main" val="20007"/>
                    </a:ext>
                  </a:extLst>
                </a:gridCol>
                <a:gridCol w="560510">
                  <a:extLst>
                    <a:ext uri="{9D8B030D-6E8A-4147-A177-3AD203B41FA5}">
                      <a16:colId xmlns:a16="http://schemas.microsoft.com/office/drawing/2014/main" val="20008"/>
                    </a:ext>
                  </a:extLst>
                </a:gridCol>
                <a:gridCol w="560510">
                  <a:extLst>
                    <a:ext uri="{9D8B030D-6E8A-4147-A177-3AD203B41FA5}">
                      <a16:colId xmlns:a16="http://schemas.microsoft.com/office/drawing/2014/main" val="20009"/>
                    </a:ext>
                  </a:extLst>
                </a:gridCol>
                <a:gridCol w="560510">
                  <a:extLst>
                    <a:ext uri="{9D8B030D-6E8A-4147-A177-3AD203B41FA5}">
                      <a16:colId xmlns:a16="http://schemas.microsoft.com/office/drawing/2014/main" val="20010"/>
                    </a:ext>
                  </a:extLst>
                </a:gridCol>
                <a:gridCol w="560510">
                  <a:extLst>
                    <a:ext uri="{9D8B030D-6E8A-4147-A177-3AD203B41FA5}">
                      <a16:colId xmlns:a16="http://schemas.microsoft.com/office/drawing/2014/main" val="20011"/>
                    </a:ext>
                  </a:extLst>
                </a:gridCol>
                <a:gridCol w="560510">
                  <a:extLst>
                    <a:ext uri="{9D8B030D-6E8A-4147-A177-3AD203B41FA5}">
                      <a16:colId xmlns:a16="http://schemas.microsoft.com/office/drawing/2014/main" val="20012"/>
                    </a:ext>
                  </a:extLst>
                </a:gridCol>
                <a:gridCol w="560510">
                  <a:extLst>
                    <a:ext uri="{9D8B030D-6E8A-4147-A177-3AD203B41FA5}">
                      <a16:colId xmlns:a16="http://schemas.microsoft.com/office/drawing/2014/main" val="20013"/>
                    </a:ext>
                  </a:extLst>
                </a:gridCol>
                <a:gridCol w="560510">
                  <a:extLst>
                    <a:ext uri="{9D8B030D-6E8A-4147-A177-3AD203B41FA5}">
                      <a16:colId xmlns:a16="http://schemas.microsoft.com/office/drawing/2014/main" val="20014"/>
                    </a:ext>
                  </a:extLst>
                </a:gridCol>
                <a:gridCol w="560510">
                  <a:extLst>
                    <a:ext uri="{9D8B030D-6E8A-4147-A177-3AD203B41FA5}">
                      <a16:colId xmlns:a16="http://schemas.microsoft.com/office/drawing/2014/main" val="20015"/>
                    </a:ext>
                  </a:extLst>
                </a:gridCol>
                <a:gridCol w="560510">
                  <a:extLst>
                    <a:ext uri="{9D8B030D-6E8A-4147-A177-3AD203B41FA5}">
                      <a16:colId xmlns:a16="http://schemas.microsoft.com/office/drawing/2014/main" val="20016"/>
                    </a:ext>
                  </a:extLst>
                </a:gridCol>
                <a:gridCol w="560510">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 Resveratrol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 Other Cognitive-Support Botanicals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Microbiome-Targeted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 Prebiotics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 Probiotics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 Postbiotics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638550"/>
            <a:ext cx="11639550" cy="209550"/>
          </a:xfrm>
          <a:prstGeom prst="rect">
            <a:avLst/>
          </a:prstGeom>
          <a:noFill/>
        </p:spPr>
        <p:txBody>
          <a:bodyPr wrap="square" lIns="0" tIns="9525" rIns="19050" bIns="9525">
            <a:spAutoFit/>
          </a:bodyPr>
          <a:lstStyle/>
          <a:p>
            <a:pPr algn="l"/>
            <a:r>
              <a:rPr sz="1300" b="1">
                <a:solidFill>
                  <a:srgbClr val="0B2E4A"/>
                </a:solidFill>
                <a:latin typeface="Calibri"/>
              </a:rPr>
              <a:t>Europe Value Analysis, By Active Ingredient</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962400"/>
            <a:ext cx="11639550" cy="2590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88574" y="2080450"/>
            <a:ext cx="366712" cy="533400"/>
          </a:xfrm>
          <a:prstGeom prst="rect">
            <a:avLst/>
          </a:prstGeom>
        </p:spPr>
      </p:pic>
      <p:sp>
        <p:nvSpPr>
          <p:cNvPr id="20" name="TextBox 19"/>
          <p:cNvSpPr txBox="1"/>
          <p:nvPr/>
        </p:nvSpPr>
        <p:spPr>
          <a:xfrm>
            <a:off x="276225" y="3971925"/>
            <a:ext cx="3393702" cy="194310"/>
          </a:xfrm>
          <a:prstGeom prst="rect">
            <a:avLst/>
          </a:prstGeom>
          <a:noFill/>
        </p:spPr>
        <p:txBody>
          <a:bodyPr wrap="none" lIns="0" tIns="0" rIns="0" bIns="0">
            <a:spAutoFit/>
          </a:bodyPr>
          <a:lstStyle/>
          <a:p>
            <a:r>
              <a:rPr sz="1150" b="0">
                <a:solidFill>
                  <a:srgbClr val="2E2E2E"/>
                </a:solidFill>
                <a:latin typeface="Calibri"/>
              </a:rPr>
              <a:t>Antioxidant ingredients segment is projected to register</a:t>
            </a:r>
          </a:p>
        </p:txBody>
      </p:sp>
      <p:pic>
        <p:nvPicPr>
          <p:cNvPr id="21" name="Picture 20" descr="lock.png"/>
          <p:cNvPicPr>
            <a:picLocks noChangeAspect="1"/>
          </p:cNvPicPr>
          <p:nvPr/>
        </p:nvPicPr>
        <p:blipFill>
          <a:blip r:embed="rId4"/>
          <a:stretch>
            <a:fillRect/>
          </a:stretch>
        </p:blipFill>
        <p:spPr>
          <a:xfrm>
            <a:off x="3619081" y="3961701"/>
            <a:ext cx="134549" cy="195707"/>
          </a:xfrm>
          <a:prstGeom prst="rect">
            <a:avLst/>
          </a:prstGeom>
        </p:spPr>
      </p:pic>
      <p:sp>
        <p:nvSpPr>
          <p:cNvPr id="22" name="TextBox 21"/>
          <p:cNvSpPr txBox="1"/>
          <p:nvPr/>
        </p:nvSpPr>
        <p:spPr>
          <a:xfrm>
            <a:off x="3794191" y="3971925"/>
            <a:ext cx="8058174" cy="194310"/>
          </a:xfrm>
          <a:prstGeom prst="rect">
            <a:avLst/>
          </a:prstGeom>
          <a:noFill/>
        </p:spPr>
        <p:txBody>
          <a:bodyPr wrap="none" lIns="0" tIns="0" rIns="0" bIns="0">
            <a:spAutoFit/>
          </a:bodyPr>
          <a:lstStyle/>
          <a:p>
            <a:r>
              <a:rPr sz="1150" b="0">
                <a:solidFill>
                  <a:srgbClr val="2E2E2E"/>
                </a:solidFill>
                <a:latin typeface="Calibri"/>
              </a:rPr>
              <a:t>X higher value than cellular energy support ingredients segment in 2036. Among senior dog cognitive supplement by active ingredient,</a:t>
            </a:r>
          </a:p>
        </p:txBody>
      </p:sp>
      <p:sp>
        <p:nvSpPr>
          <p:cNvPr id="23" name="TextBox 22"/>
          <p:cNvSpPr txBox="1"/>
          <p:nvPr/>
        </p:nvSpPr>
        <p:spPr>
          <a:xfrm>
            <a:off x="276225" y="4147185"/>
            <a:ext cx="5263809" cy="194310"/>
          </a:xfrm>
          <a:prstGeom prst="rect">
            <a:avLst/>
          </a:prstGeom>
          <a:noFill/>
        </p:spPr>
        <p:txBody>
          <a:bodyPr wrap="none" lIns="0" tIns="0" rIns="0" bIns="0">
            <a:spAutoFit/>
          </a:bodyPr>
          <a:lstStyle/>
          <a:p>
            <a:r>
              <a:rPr sz="1150" b="0">
                <a:solidFill>
                  <a:srgbClr val="2E2E2E"/>
                </a:solidFill>
                <a:latin typeface="Calibri"/>
              </a:rPr>
              <a:t>cellular energy support ingredients segment is expected to witness the highest CAGR of</a:t>
            </a:r>
          </a:p>
        </p:txBody>
      </p:sp>
      <p:pic>
        <p:nvPicPr>
          <p:cNvPr id="24" name="Picture 23" descr="lock.png"/>
          <p:cNvPicPr>
            <a:picLocks noChangeAspect="1"/>
          </p:cNvPicPr>
          <p:nvPr/>
        </p:nvPicPr>
        <p:blipFill>
          <a:blip r:embed="rId4"/>
          <a:stretch>
            <a:fillRect/>
          </a:stretch>
        </p:blipFill>
        <p:spPr>
          <a:xfrm>
            <a:off x="5489188" y="4136961"/>
            <a:ext cx="134549" cy="195707"/>
          </a:xfrm>
          <a:prstGeom prst="rect">
            <a:avLst/>
          </a:prstGeom>
        </p:spPr>
      </p:pic>
      <p:sp>
        <p:nvSpPr>
          <p:cNvPr id="25" name="TextBox 24"/>
          <p:cNvSpPr txBox="1"/>
          <p:nvPr/>
        </p:nvSpPr>
        <p:spPr>
          <a:xfrm>
            <a:off x="5664297" y="414718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525605" cy="194310"/>
          </a:xfrm>
          <a:prstGeom prst="rect">
            <a:avLst/>
          </a:prstGeom>
          <a:noFill/>
        </p:spPr>
        <p:txBody>
          <a:bodyPr wrap="none" lIns="0" tIns="0" rIns="0" bIns="0">
            <a:spAutoFit/>
          </a:bodyPr>
          <a:lstStyle/>
          <a:p>
            <a:r>
              <a:rPr sz="1150" b="0">
                <a:solidFill>
                  <a:srgbClr val="2E2E2E"/>
                </a:solidFill>
                <a:latin typeface="Calibri"/>
              </a:rPr>
              <a:t>In terms of value share by active ingredient, the antioxidant ingredients segment is expected to dominate the market, gaining</a:t>
            </a:r>
          </a:p>
        </p:txBody>
      </p:sp>
      <p:pic>
        <p:nvPicPr>
          <p:cNvPr id="27" name="Picture 26" descr="lock.png"/>
          <p:cNvPicPr>
            <a:picLocks noChangeAspect="1"/>
          </p:cNvPicPr>
          <p:nvPr/>
        </p:nvPicPr>
        <p:blipFill>
          <a:blip r:embed="rId4"/>
          <a:stretch>
            <a:fillRect/>
          </a:stretch>
        </p:blipFill>
        <p:spPr>
          <a:xfrm>
            <a:off x="7750984" y="4364799"/>
            <a:ext cx="134549" cy="195707"/>
          </a:xfrm>
          <a:prstGeom prst="rect">
            <a:avLst/>
          </a:prstGeom>
        </p:spPr>
      </p:pic>
      <p:sp>
        <p:nvSpPr>
          <p:cNvPr id="28" name="TextBox 27"/>
          <p:cNvSpPr txBox="1"/>
          <p:nvPr/>
        </p:nvSpPr>
        <p:spPr>
          <a:xfrm>
            <a:off x="7926093" y="4375022"/>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321237" y="4364799"/>
            <a:ext cx="134549" cy="195707"/>
          </a:xfrm>
          <a:prstGeom prst="rect">
            <a:avLst/>
          </a:prstGeom>
        </p:spPr>
      </p:pic>
      <p:sp>
        <p:nvSpPr>
          <p:cNvPr id="30" name="TextBox 29"/>
          <p:cNvSpPr txBox="1"/>
          <p:nvPr/>
        </p:nvSpPr>
        <p:spPr>
          <a:xfrm>
            <a:off x="9496346" y="4375022"/>
            <a:ext cx="1781733" cy="194310"/>
          </a:xfrm>
          <a:prstGeom prst="rect">
            <a:avLst/>
          </a:prstGeom>
          <a:noFill/>
        </p:spPr>
        <p:txBody>
          <a:bodyPr wrap="none" lIns="0" tIns="0" rIns="0" bIns="0">
            <a:spAutoFit/>
          </a:bodyPr>
          <a:lstStyle/>
          <a:p>
            <a:r>
              <a:rPr sz="1150" b="0">
                <a:solidFill>
                  <a:srgbClr val="2E2E2E"/>
                </a:solidFill>
                <a:latin typeface="Calibri"/>
              </a:rPr>
              <a:t>share by 2036. The botanical</a:t>
            </a:r>
          </a:p>
        </p:txBody>
      </p:sp>
      <p:sp>
        <p:nvSpPr>
          <p:cNvPr id="31" name="TextBox 30"/>
          <p:cNvSpPr txBox="1"/>
          <p:nvPr/>
        </p:nvSpPr>
        <p:spPr>
          <a:xfrm>
            <a:off x="276225" y="4550282"/>
            <a:ext cx="2427547" cy="194310"/>
          </a:xfrm>
          <a:prstGeom prst="rect">
            <a:avLst/>
          </a:prstGeom>
          <a:noFill/>
        </p:spPr>
        <p:txBody>
          <a:bodyPr wrap="none" lIns="0" tIns="0" rIns="0" bIns="0">
            <a:spAutoFit/>
          </a:bodyPr>
          <a:lstStyle/>
          <a:p>
            <a:r>
              <a:rPr sz="1150" b="0">
                <a:solidFill>
                  <a:srgbClr val="2E2E2E"/>
                </a:solidFill>
                <a:latin typeface="Calibri"/>
              </a:rPr>
              <a:t>ingredients segment is expected to lose</a:t>
            </a:r>
          </a:p>
        </p:txBody>
      </p:sp>
      <p:pic>
        <p:nvPicPr>
          <p:cNvPr id="32" name="Picture 31" descr="lock.png"/>
          <p:cNvPicPr>
            <a:picLocks noChangeAspect="1"/>
          </p:cNvPicPr>
          <p:nvPr/>
        </p:nvPicPr>
        <p:blipFill>
          <a:blip r:embed="rId4"/>
          <a:stretch>
            <a:fillRect/>
          </a:stretch>
        </p:blipFill>
        <p:spPr>
          <a:xfrm>
            <a:off x="2652926" y="4540059"/>
            <a:ext cx="134549" cy="195707"/>
          </a:xfrm>
          <a:prstGeom prst="rect">
            <a:avLst/>
          </a:prstGeom>
        </p:spPr>
      </p:pic>
      <p:sp>
        <p:nvSpPr>
          <p:cNvPr id="33" name="TextBox 32"/>
          <p:cNvSpPr txBox="1"/>
          <p:nvPr/>
        </p:nvSpPr>
        <p:spPr>
          <a:xfrm>
            <a:off x="2828036" y="4550282"/>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415540" y="4540059"/>
            <a:ext cx="134549" cy="195707"/>
          </a:xfrm>
          <a:prstGeom prst="rect">
            <a:avLst/>
          </a:prstGeom>
        </p:spPr>
      </p:pic>
      <p:sp>
        <p:nvSpPr>
          <p:cNvPr id="35" name="TextBox 34"/>
          <p:cNvSpPr txBox="1"/>
          <p:nvPr/>
        </p:nvSpPr>
        <p:spPr>
          <a:xfrm>
            <a:off x="5590649" y="4550282"/>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&amp; Share Shift, By Active Ingredient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Active Ingredient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Composition, By Active Ingredient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590675"/>
            <a:ext cx="2595753" cy="171069"/>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a:endParaRPr/>
          </a:p>
        </p:txBody>
      </p:sp>
      <p:sp>
        <p:nvSpPr>
          <p:cNvPr id="15" name="FMI Legend Chip"/>
          <p:cNvSpPr/>
          <p:nvPr/>
        </p:nvSpPr>
        <p:spPr>
          <a:xfrm>
            <a:off x="4928997" y="1934724"/>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10800000">
            <a:off x="5090922" y="192996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853761"/>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Neurofunctional Nutrients</a:t>
            </a:r>
          </a:p>
        </p:txBody>
      </p:sp>
      <p:sp>
        <p:nvSpPr>
          <p:cNvPr id="18" name="BPS Value 1"/>
          <p:cNvSpPr txBox="1"/>
          <p:nvPr/>
        </p:nvSpPr>
        <p:spPr>
          <a:xfrm>
            <a:off x="6896100" y="1915674"/>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19" name="FMI Legend Chip"/>
          <p:cNvSpPr/>
          <p:nvPr/>
        </p:nvSpPr>
        <p:spPr>
          <a:xfrm>
            <a:off x="4928997" y="247508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rot="10800000">
            <a:off x="5090922" y="247031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2394119"/>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Botanical Ingredients</a:t>
            </a:r>
          </a:p>
        </p:txBody>
      </p:sp>
      <p:sp>
        <p:nvSpPr>
          <p:cNvPr id="22" name="BPS Value 2"/>
          <p:cNvSpPr txBox="1"/>
          <p:nvPr/>
        </p:nvSpPr>
        <p:spPr>
          <a:xfrm>
            <a:off x="6896100" y="2456031"/>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3" name="FMI Legend Chip"/>
          <p:cNvSpPr/>
          <p:nvPr/>
        </p:nvSpPr>
        <p:spPr>
          <a:xfrm>
            <a:off x="4928997" y="310357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rot="10800000">
            <a:off x="5090922" y="309881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302261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Microbiome-Targeted Ingredients</a:t>
            </a:r>
          </a:p>
        </p:txBody>
      </p:sp>
      <p:sp>
        <p:nvSpPr>
          <p:cNvPr id="26" name="BPS Value 3"/>
          <p:cNvSpPr txBox="1"/>
          <p:nvPr/>
        </p:nvSpPr>
        <p:spPr>
          <a:xfrm>
            <a:off x="6896100" y="3084523"/>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7" name="FMI Legend Chip"/>
          <p:cNvSpPr/>
          <p:nvPr/>
        </p:nvSpPr>
        <p:spPr>
          <a:xfrm>
            <a:off x="4928997" y="381474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rot="10800000">
            <a:off x="5090922" y="380997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3733778"/>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Omega-3 Fatty Acids</a:t>
            </a:r>
          </a:p>
        </p:txBody>
      </p:sp>
      <p:sp>
        <p:nvSpPr>
          <p:cNvPr id="30" name="BPS Value 4"/>
          <p:cNvSpPr txBox="1"/>
          <p:nvPr/>
        </p:nvSpPr>
        <p:spPr>
          <a:xfrm>
            <a:off x="6896100" y="3795690"/>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1" name="FMI Legend Chip"/>
          <p:cNvSpPr/>
          <p:nvPr/>
        </p:nvSpPr>
        <p:spPr>
          <a:xfrm>
            <a:off x="4928997" y="467798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a:off x="5090922" y="467322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5233797" y="459702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Cellular Energy Support Ingredients</a:t>
            </a:r>
          </a:p>
        </p:txBody>
      </p:sp>
      <p:sp>
        <p:nvSpPr>
          <p:cNvPr id="34" name="BPS Value 5"/>
          <p:cNvSpPr txBox="1"/>
          <p:nvPr/>
        </p:nvSpPr>
        <p:spPr>
          <a:xfrm>
            <a:off x="6896100" y="4658932"/>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5" name="FMI Legend Chip"/>
          <p:cNvSpPr/>
          <p:nvPr/>
        </p:nvSpPr>
        <p:spPr>
          <a:xfrm>
            <a:off x="4928997" y="571264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5090922" y="570788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5233797" y="5631686"/>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Antioxidant Ingredients</a:t>
            </a:r>
          </a:p>
        </p:txBody>
      </p:sp>
      <p:sp>
        <p:nvSpPr>
          <p:cNvPr id="38" name="BPS Value 6"/>
          <p:cNvSpPr txBox="1"/>
          <p:nvPr/>
        </p:nvSpPr>
        <p:spPr>
          <a:xfrm>
            <a:off x="6896100" y="5693598"/>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Europe Read-out, By Active Ingredient</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TextBox 4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714898" cy="194310"/>
          </a:xfrm>
          <a:prstGeom prst="rect">
            <a:avLst/>
          </a:prstGeom>
          <a:noFill/>
        </p:spPr>
        <p:txBody>
          <a:bodyPr wrap="none" lIns="0" tIns="0" rIns="0" bIns="0">
            <a:spAutoFit/>
          </a:bodyPr>
          <a:lstStyle/>
          <a:p>
            <a:r>
              <a:rPr sz="1150" b="0">
                <a:solidFill>
                  <a:srgbClr val="2E2E2E"/>
                </a:solidFill>
                <a:latin typeface="Calibri"/>
              </a:rPr>
              <a:t>Among senior dog cognitive supplement by active ingredient,</a:t>
            </a:r>
          </a:p>
        </p:txBody>
      </p:sp>
      <p:sp>
        <p:nvSpPr>
          <p:cNvPr id="46" name="TextBox 45"/>
          <p:cNvSpPr txBox="1"/>
          <p:nvPr/>
        </p:nvSpPr>
        <p:spPr>
          <a:xfrm>
            <a:off x="7829550" y="1575435"/>
            <a:ext cx="4042940" cy="194310"/>
          </a:xfrm>
          <a:prstGeom prst="rect">
            <a:avLst/>
          </a:prstGeom>
          <a:noFill/>
        </p:spPr>
        <p:txBody>
          <a:bodyPr wrap="none" lIns="0" tIns="0" rIns="0" bIns="0">
            <a:spAutoFit/>
          </a:bodyPr>
          <a:lstStyle/>
          <a:p>
            <a:r>
              <a:rPr sz="1150" b="0">
                <a:solidFill>
                  <a:srgbClr val="2E2E2E"/>
                </a:solidFill>
                <a:latin typeface="Calibri"/>
              </a:rPr>
              <a:t>cellular energy support ingredients segment is expected to witness</a:t>
            </a:r>
          </a:p>
        </p:txBody>
      </p:sp>
      <p:sp>
        <p:nvSpPr>
          <p:cNvPr id="47" name="TextBox 46"/>
          <p:cNvSpPr txBox="1"/>
          <p:nvPr/>
        </p:nvSpPr>
        <p:spPr>
          <a:xfrm>
            <a:off x="7829550" y="1750695"/>
            <a:ext cx="1263979" cy="194310"/>
          </a:xfrm>
          <a:prstGeom prst="rect">
            <a:avLst/>
          </a:prstGeom>
          <a:noFill/>
        </p:spPr>
        <p:txBody>
          <a:bodyPr wrap="none" lIns="0" tIns="0" rIns="0" bIns="0">
            <a:spAutoFit/>
          </a:bodyPr>
          <a:lstStyle/>
          <a:p>
            <a:r>
              <a:rPr sz="1150" b="0">
                <a:solidFill>
                  <a:srgbClr val="2E2E2E"/>
                </a:solidFill>
                <a:latin typeface="Calibri"/>
              </a:rPr>
              <a:t>the highest CAGR of</a:t>
            </a:r>
          </a:p>
        </p:txBody>
      </p:sp>
      <p:pic>
        <p:nvPicPr>
          <p:cNvPr id="48" name="Picture 47" descr="lock.png"/>
          <p:cNvPicPr>
            <a:picLocks noChangeAspect="1"/>
          </p:cNvPicPr>
          <p:nvPr/>
        </p:nvPicPr>
        <p:blipFill>
          <a:blip r:embed="rId5"/>
          <a:stretch>
            <a:fillRect/>
          </a:stretch>
        </p:blipFill>
        <p:spPr>
          <a:xfrm>
            <a:off x="9042683" y="1740471"/>
            <a:ext cx="134549" cy="195707"/>
          </a:xfrm>
          <a:prstGeom prst="rect">
            <a:avLst/>
          </a:prstGeom>
        </p:spPr>
      </p:pic>
      <p:sp>
        <p:nvSpPr>
          <p:cNvPr id="49" name="TextBox 48"/>
          <p:cNvSpPr txBox="1"/>
          <p:nvPr/>
        </p:nvSpPr>
        <p:spPr>
          <a:xfrm>
            <a:off x="9217792" y="1750695"/>
            <a:ext cx="2581585" cy="194310"/>
          </a:xfrm>
          <a:prstGeom prst="rect">
            <a:avLst/>
          </a:prstGeom>
          <a:noFill/>
        </p:spPr>
        <p:txBody>
          <a:bodyPr wrap="none" lIns="0" tIns="0" rIns="0" bIns="0">
            <a:spAutoFit/>
          </a:bodyPr>
          <a:lstStyle/>
          <a:p>
            <a:r>
              <a:rPr sz="1150" b="0">
                <a:solidFill>
                  <a:srgbClr val="2E2E2E"/>
                </a:solidFill>
                <a:latin typeface="Calibri"/>
              </a:rPr>
              <a:t>over the forecast period. In terms of value</a:t>
            </a:r>
          </a:p>
        </p:txBody>
      </p:sp>
      <p:sp>
        <p:nvSpPr>
          <p:cNvPr id="50" name="TextBox 49"/>
          <p:cNvSpPr txBox="1"/>
          <p:nvPr/>
        </p:nvSpPr>
        <p:spPr>
          <a:xfrm>
            <a:off x="7829550" y="1925955"/>
            <a:ext cx="3960502" cy="194310"/>
          </a:xfrm>
          <a:prstGeom prst="rect">
            <a:avLst/>
          </a:prstGeom>
          <a:noFill/>
        </p:spPr>
        <p:txBody>
          <a:bodyPr wrap="none" lIns="0" tIns="0" rIns="0" bIns="0">
            <a:spAutoFit/>
          </a:bodyPr>
          <a:lstStyle/>
          <a:p>
            <a:r>
              <a:rPr sz="1150" b="0">
                <a:solidFill>
                  <a:srgbClr val="2E2E2E"/>
                </a:solidFill>
                <a:latin typeface="Calibri"/>
              </a:rPr>
              <a:t>share by active ingredient, the antioxidant ingredients segment is</a:t>
            </a:r>
          </a:p>
        </p:txBody>
      </p:sp>
      <p:sp>
        <p:nvSpPr>
          <p:cNvPr id="51" name="TextBox 50"/>
          <p:cNvSpPr txBox="1"/>
          <p:nvPr/>
        </p:nvSpPr>
        <p:spPr>
          <a:xfrm>
            <a:off x="7829550" y="2101215"/>
            <a:ext cx="2575309" cy="194310"/>
          </a:xfrm>
          <a:prstGeom prst="rect">
            <a:avLst/>
          </a:prstGeom>
          <a:noFill/>
        </p:spPr>
        <p:txBody>
          <a:bodyPr wrap="none" lIns="0" tIns="0" rIns="0" bIns="0">
            <a:spAutoFit/>
          </a:bodyPr>
          <a:lstStyle/>
          <a:p>
            <a:r>
              <a:rPr sz="1150" b="0">
                <a:solidFill>
                  <a:srgbClr val="2E2E2E"/>
                </a:solidFill>
                <a:latin typeface="Calibri"/>
              </a:rPr>
              <a:t>expected to dominate the market, gaining</a:t>
            </a:r>
          </a:p>
        </p:txBody>
      </p:sp>
      <p:pic>
        <p:nvPicPr>
          <p:cNvPr id="52" name="Picture 51" descr="lock.png"/>
          <p:cNvPicPr>
            <a:picLocks noChangeAspect="1"/>
          </p:cNvPicPr>
          <p:nvPr/>
        </p:nvPicPr>
        <p:blipFill>
          <a:blip r:embed="rId5"/>
          <a:stretch>
            <a:fillRect/>
          </a:stretch>
        </p:blipFill>
        <p:spPr>
          <a:xfrm>
            <a:off x="10354013" y="2090991"/>
            <a:ext cx="134549" cy="195707"/>
          </a:xfrm>
          <a:prstGeom prst="rect">
            <a:avLst/>
          </a:prstGeom>
        </p:spPr>
      </p:pic>
      <p:sp>
        <p:nvSpPr>
          <p:cNvPr id="53" name="TextBox 52"/>
          <p:cNvSpPr txBox="1"/>
          <p:nvPr/>
        </p:nvSpPr>
        <p:spPr>
          <a:xfrm>
            <a:off x="10529122" y="2101215"/>
            <a:ext cx="1240321" cy="194310"/>
          </a:xfrm>
          <a:prstGeom prst="rect">
            <a:avLst/>
          </a:prstGeom>
          <a:noFill/>
        </p:spPr>
        <p:txBody>
          <a:bodyPr wrap="none" lIns="0" tIns="0" rIns="0" bIns="0">
            <a:spAutoFit/>
          </a:bodyPr>
          <a:lstStyle/>
          <a:p>
            <a:r>
              <a:rPr sz="1150" b="0">
                <a:solidFill>
                  <a:srgbClr val="2E2E2E"/>
                </a:solidFill>
                <a:latin typeface="Calibri"/>
              </a:rPr>
              <a:t>BPS and accounting</a:t>
            </a:r>
          </a:p>
        </p:txBody>
      </p:sp>
      <p:sp>
        <p:nvSpPr>
          <p:cNvPr id="54" name="TextBox 53"/>
          <p:cNvSpPr txBox="1"/>
          <p:nvPr/>
        </p:nvSpPr>
        <p:spPr>
          <a:xfrm>
            <a:off x="7829550" y="2276475"/>
            <a:ext cx="248778" cy="194310"/>
          </a:xfrm>
          <a:prstGeom prst="rect">
            <a:avLst/>
          </a:prstGeom>
          <a:noFill/>
        </p:spPr>
        <p:txBody>
          <a:bodyPr wrap="none" lIns="0" tIns="0" rIns="0" bIns="0">
            <a:spAutoFit/>
          </a:bodyPr>
          <a:lstStyle/>
          <a:p>
            <a:r>
              <a:rPr sz="1150" b="0">
                <a:solidFill>
                  <a:srgbClr val="2E2E2E"/>
                </a:solidFill>
                <a:latin typeface="Calibri"/>
              </a:rPr>
              <a:t>for</a:t>
            </a:r>
          </a:p>
        </p:txBody>
      </p:sp>
      <p:pic>
        <p:nvPicPr>
          <p:cNvPr id="55" name="Picture 54" descr="lock.png"/>
          <p:cNvPicPr>
            <a:picLocks noChangeAspect="1"/>
          </p:cNvPicPr>
          <p:nvPr/>
        </p:nvPicPr>
        <p:blipFill>
          <a:blip r:embed="rId5"/>
          <a:stretch>
            <a:fillRect/>
          </a:stretch>
        </p:blipFill>
        <p:spPr>
          <a:xfrm>
            <a:off x="8027482" y="2266251"/>
            <a:ext cx="134549" cy="195707"/>
          </a:xfrm>
          <a:prstGeom prst="rect">
            <a:avLst/>
          </a:prstGeom>
        </p:spPr>
      </p:pic>
      <p:sp>
        <p:nvSpPr>
          <p:cNvPr id="56" name="TextBox 55"/>
          <p:cNvSpPr txBox="1"/>
          <p:nvPr/>
        </p:nvSpPr>
        <p:spPr>
          <a:xfrm>
            <a:off x="8202591" y="2276475"/>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57" name="TextBox 56"/>
          <p:cNvSpPr txBox="1"/>
          <p:nvPr/>
        </p:nvSpPr>
        <p:spPr>
          <a:xfrm>
            <a:off x="7829550" y="2504313"/>
            <a:ext cx="3263056" cy="194310"/>
          </a:xfrm>
          <a:prstGeom prst="rect">
            <a:avLst/>
          </a:prstGeom>
          <a:noFill/>
        </p:spPr>
        <p:txBody>
          <a:bodyPr wrap="none" lIns="0" tIns="0" rIns="0" bIns="0">
            <a:spAutoFit/>
          </a:bodyPr>
          <a:lstStyle/>
          <a:p>
            <a:r>
              <a:rPr sz="1150" b="0">
                <a:solidFill>
                  <a:srgbClr val="2E2E2E"/>
                </a:solidFill>
                <a:latin typeface="Calibri"/>
              </a:rPr>
              <a:t>The botanical ingredients segment is expected to lose</a:t>
            </a:r>
          </a:p>
        </p:txBody>
      </p:sp>
      <p:pic>
        <p:nvPicPr>
          <p:cNvPr id="58" name="Picture 57" descr="lock.png"/>
          <p:cNvPicPr>
            <a:picLocks noChangeAspect="1"/>
          </p:cNvPicPr>
          <p:nvPr/>
        </p:nvPicPr>
        <p:blipFill>
          <a:blip r:embed="rId5"/>
          <a:stretch>
            <a:fillRect/>
          </a:stretch>
        </p:blipFill>
        <p:spPr>
          <a:xfrm>
            <a:off x="11041760" y="2494089"/>
            <a:ext cx="134549" cy="195707"/>
          </a:xfrm>
          <a:prstGeom prst="rect">
            <a:avLst/>
          </a:prstGeom>
        </p:spPr>
      </p:pic>
      <p:sp>
        <p:nvSpPr>
          <p:cNvPr id="59" name="TextBox 58"/>
          <p:cNvSpPr txBox="1"/>
          <p:nvPr/>
        </p:nvSpPr>
        <p:spPr>
          <a:xfrm>
            <a:off x="11216869" y="2504313"/>
            <a:ext cx="598214" cy="194310"/>
          </a:xfrm>
          <a:prstGeom prst="rect">
            <a:avLst/>
          </a:prstGeom>
          <a:noFill/>
        </p:spPr>
        <p:txBody>
          <a:bodyPr wrap="none" lIns="0" tIns="0" rIns="0" bIns="0">
            <a:spAutoFit/>
          </a:bodyPr>
          <a:lstStyle/>
          <a:p>
            <a:r>
              <a:rPr sz="1150" b="0">
                <a:solidFill>
                  <a:srgbClr val="2E2E2E"/>
                </a:solidFill>
                <a:latin typeface="Calibri"/>
              </a:rPr>
              <a:t>BPS over</a:t>
            </a:r>
          </a:p>
        </p:txBody>
      </p:sp>
      <p:sp>
        <p:nvSpPr>
          <p:cNvPr id="60" name="TextBox 59"/>
          <p:cNvSpPr txBox="1"/>
          <p:nvPr/>
        </p:nvSpPr>
        <p:spPr>
          <a:xfrm>
            <a:off x="7829550" y="2679573"/>
            <a:ext cx="2083246" cy="194310"/>
          </a:xfrm>
          <a:prstGeom prst="rect">
            <a:avLst/>
          </a:prstGeom>
          <a:noFill/>
        </p:spPr>
        <p:txBody>
          <a:bodyPr wrap="none" lIns="0" tIns="0" rIns="0" bIns="0">
            <a:spAutoFit/>
          </a:bodyPr>
          <a:lstStyle/>
          <a:p>
            <a:r>
              <a:rPr sz="1150" b="0">
                <a:solidFill>
                  <a:srgbClr val="2E2E2E"/>
                </a:solidFill>
                <a:latin typeface="Calibri"/>
              </a:rPr>
              <a:t>the forecast period to account for</a:t>
            </a:r>
          </a:p>
        </p:txBody>
      </p:sp>
      <p:pic>
        <p:nvPicPr>
          <p:cNvPr id="61" name="Picture 60" descr="lock.png"/>
          <p:cNvPicPr>
            <a:picLocks noChangeAspect="1"/>
          </p:cNvPicPr>
          <p:nvPr/>
        </p:nvPicPr>
        <p:blipFill>
          <a:blip r:embed="rId5"/>
          <a:stretch>
            <a:fillRect/>
          </a:stretch>
        </p:blipFill>
        <p:spPr>
          <a:xfrm>
            <a:off x="9861950" y="2669349"/>
            <a:ext cx="134549" cy="195707"/>
          </a:xfrm>
          <a:prstGeom prst="rect">
            <a:avLst/>
          </a:prstGeom>
        </p:spPr>
      </p:pic>
      <p:sp>
        <p:nvSpPr>
          <p:cNvPr id="62" name="TextBox 61"/>
          <p:cNvSpPr txBox="1"/>
          <p:nvPr/>
        </p:nvSpPr>
        <p:spPr>
          <a:xfrm>
            <a:off x="10037059" y="267957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3"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14.3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End-use Application</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End-use Application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End-use Application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4 sub-segments of End-use Application,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End-use Application segment categorizes the market by end-use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2338388" cy="438089"/>
          </a:xfrm>
          <a:prstGeom prst="rect">
            <a:avLst/>
          </a:prstGeom>
          <a:noFill/>
        </p:spPr>
        <p:txBody>
          <a:bodyPr wrap="square" lIns="28575" tIns="9525" rIns="28575" bIns="9525" anchor="ctr">
            <a:spAutoFit/>
          </a:bodyPr>
          <a:lstStyle/>
          <a:p>
            <a:pPr algn="ctr"/>
            <a:r>
              <a:rPr sz="1100" b="1">
                <a:solidFill>
                  <a:srgbClr val="FFFFFF"/>
                </a:solidFill>
                <a:latin typeface="Calibri"/>
              </a:rPr>
              <a:t>Support for Observable Age-Relate…</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33888" y="1773916"/>
            <a:ext cx="2338388" cy="438089"/>
          </a:xfrm>
          <a:prstGeom prst="rect">
            <a:avLst/>
          </a:prstGeom>
          <a:noFill/>
        </p:spPr>
        <p:txBody>
          <a:bodyPr wrap="square" lIns="28575" tIns="9525" rIns="28575" bIns="9525" anchor="ctr">
            <a:spAutoFit/>
          </a:bodyPr>
          <a:lstStyle/>
          <a:p>
            <a:pPr algn="ctr"/>
            <a:r>
              <a:rPr sz="1100" b="1">
                <a:solidFill>
                  <a:srgbClr val="FFFFFF"/>
                </a:solidFill>
                <a:latin typeface="Calibri"/>
              </a:rPr>
              <a:t>Routine Cognitive Wellness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62775" y="1773916"/>
            <a:ext cx="2338388" cy="438089"/>
          </a:xfrm>
          <a:prstGeom prst="rect">
            <a:avLst/>
          </a:prstGeom>
          <a:noFill/>
        </p:spPr>
        <p:txBody>
          <a:bodyPr wrap="square" lIns="28575" tIns="9525" rIns="28575" bIns="9525" anchor="ctr">
            <a:spAutoFit/>
          </a:bodyPr>
          <a:lstStyle/>
          <a:p>
            <a:pPr algn="ctr"/>
            <a:r>
              <a:rPr sz="1100" b="1">
                <a:solidFill>
                  <a:srgbClr val="FFFFFF"/>
                </a:solidFill>
                <a:latin typeface="Calibri"/>
              </a:rPr>
              <a:t>Preventive Cognitive Support for…</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491662" y="1773916"/>
            <a:ext cx="2338388" cy="438089"/>
          </a:xfrm>
          <a:prstGeom prst="rect">
            <a:avLst/>
          </a:prstGeom>
          <a:noFill/>
        </p:spPr>
        <p:txBody>
          <a:bodyPr wrap="square" lIns="28575" tIns="9525" rIns="28575" bIns="9525" anchor="ctr">
            <a:spAutoFit/>
          </a:bodyPr>
          <a:lstStyle/>
          <a:p>
            <a:pPr algn="ctr"/>
            <a:r>
              <a:rPr sz="1100" b="1">
                <a:solidFill>
                  <a:srgbClr val="FFFFFF"/>
                </a:solidFill>
                <a:latin typeface="Calibri"/>
              </a:rPr>
              <a:t>Veterinary-Guided Cognitive Dysfu…</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7200" y="4219912"/>
            <a:ext cx="2971800" cy="2117429"/>
          </a:xfrm>
          <a:prstGeom prst="rect">
            <a:avLst/>
          </a:prstGeom>
          <a:noFill/>
        </p:spPr>
        <p:txBody>
          <a:bodyPr wrap="square" lIns="28575" tIns="9525" rIns="28575" bIns="9525">
            <a:spAutoFit/>
          </a:bodyPr>
          <a:lstStyle/>
          <a:p>
            <a:pPr algn="l">
              <a:lnSpc>
                <a:spcPct val="105000"/>
              </a:lnSpc>
              <a:spcBef>
                <a:spcPts val="0"/>
              </a:spcBef>
              <a:spcAft>
                <a:spcPts val="300"/>
              </a:spcAft>
            </a:pPr>
            <a:endParaRPr/>
          </a:p>
          <a:p>
            <a:pPr algn="l">
              <a:lnSpc>
                <a:spcPct val="105000"/>
              </a:lnSpc>
              <a:spcBef>
                <a:spcPts val="0"/>
              </a:spcBef>
              <a:spcAft>
                <a:spcPts val="300"/>
              </a:spcAft>
            </a:pPr>
            <a:endParaRP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63" name="Picture 62" descr="1_815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2_793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4_4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679_3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1_197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5_8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239_7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562_2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8_9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208_8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504_8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9_2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905910" cy="179984"/>
          </a:xfrm>
          <a:prstGeom prst="rect">
            <a:avLst/>
          </a:prstGeom>
          <a:noFill/>
        </p:spPr>
        <p:txBody>
          <a:bodyPr wrap="none" lIns="0" tIns="0" rIns="0" bIns="0">
            <a:spAutoFit/>
          </a:bodyPr>
          <a:lstStyle/>
          <a:p>
            <a:r>
              <a:rPr sz="1055" b="0">
                <a:solidFill>
                  <a:srgbClr val="2E2E2E"/>
                </a:solidFill>
                <a:latin typeface="Calibri"/>
              </a:rPr>
              <a:t>Among senior dog cognitive supplement by end-use</a:t>
            </a:r>
          </a:p>
        </p:txBody>
      </p:sp>
      <p:sp>
        <p:nvSpPr>
          <p:cNvPr id="80" name="TextBox 79"/>
          <p:cNvSpPr txBox="1"/>
          <p:nvPr/>
        </p:nvSpPr>
        <p:spPr>
          <a:xfrm>
            <a:off x="485775" y="4390371"/>
            <a:ext cx="2913245" cy="179984"/>
          </a:xfrm>
          <a:prstGeom prst="rect">
            <a:avLst/>
          </a:prstGeom>
          <a:noFill/>
        </p:spPr>
        <p:txBody>
          <a:bodyPr wrap="none" lIns="0" tIns="0" rIns="0" bIns="0">
            <a:spAutoFit/>
          </a:bodyPr>
          <a:lstStyle/>
          <a:p>
            <a:r>
              <a:rPr sz="1055" b="0">
                <a:solidFill>
                  <a:srgbClr val="2E2E2E"/>
                </a:solidFill>
                <a:latin typeface="Calibri"/>
              </a:rPr>
              <a:t>application, veterinary-guided cognitive dysfunction</a:t>
            </a:r>
          </a:p>
        </p:txBody>
      </p:sp>
      <p:sp>
        <p:nvSpPr>
          <p:cNvPr id="81" name="TextBox 80"/>
          <p:cNvSpPr txBox="1"/>
          <p:nvPr/>
        </p:nvSpPr>
        <p:spPr>
          <a:xfrm>
            <a:off x="485775" y="4551305"/>
            <a:ext cx="2882860" cy="179984"/>
          </a:xfrm>
          <a:prstGeom prst="rect">
            <a:avLst/>
          </a:prstGeom>
          <a:noFill/>
        </p:spPr>
        <p:txBody>
          <a:bodyPr wrap="none" lIns="0" tIns="0" rIns="0" bIns="0">
            <a:spAutoFit/>
          </a:bodyPr>
          <a:lstStyle/>
          <a:p>
            <a:r>
              <a:rPr sz="1055" b="0">
                <a:solidFill>
                  <a:srgbClr val="2E2E2E"/>
                </a:solidFill>
                <a:latin typeface="Calibri"/>
              </a:rPr>
              <a:t>support segment is expected to witness the highest</a:t>
            </a:r>
          </a:p>
        </p:txBody>
      </p:sp>
      <p:sp>
        <p:nvSpPr>
          <p:cNvPr id="82" name="TextBox 81"/>
          <p:cNvSpPr txBox="1"/>
          <p:nvPr/>
        </p:nvSpPr>
        <p:spPr>
          <a:xfrm>
            <a:off x="485775" y="4712240"/>
            <a:ext cx="524620" cy="179984"/>
          </a:xfrm>
          <a:prstGeom prst="rect">
            <a:avLst/>
          </a:prstGeom>
          <a:noFill/>
        </p:spPr>
        <p:txBody>
          <a:bodyPr wrap="none" lIns="0" tIns="0" rIns="0" bIns="0">
            <a:spAutoFit/>
          </a:bodyPr>
          <a:lstStyle/>
          <a:p>
            <a:r>
              <a:rPr sz="1055" b="0">
                <a:solidFill>
                  <a:srgbClr val="2E2E2E"/>
                </a:solidFill>
                <a:latin typeface="Calibri"/>
              </a:rPr>
              <a:t>CAGR of</a:t>
            </a:r>
          </a:p>
        </p:txBody>
      </p:sp>
      <p:pic>
        <p:nvPicPr>
          <p:cNvPr id="83" name="Picture 82" descr="lock.png"/>
          <p:cNvPicPr>
            <a:picLocks noChangeAspect="1"/>
          </p:cNvPicPr>
          <p:nvPr/>
        </p:nvPicPr>
        <p:blipFill>
          <a:blip r:embed="rId16"/>
          <a:stretch>
            <a:fillRect/>
          </a:stretch>
        </p:blipFill>
        <p:spPr>
          <a:xfrm>
            <a:off x="957477" y="4702852"/>
            <a:ext cx="123551" cy="179710"/>
          </a:xfrm>
          <a:prstGeom prst="rect">
            <a:avLst/>
          </a:prstGeom>
        </p:spPr>
      </p:pic>
      <p:sp>
        <p:nvSpPr>
          <p:cNvPr id="84" name="TextBox 83"/>
          <p:cNvSpPr txBox="1"/>
          <p:nvPr/>
        </p:nvSpPr>
        <p:spPr>
          <a:xfrm>
            <a:off x="1118273" y="4712240"/>
            <a:ext cx="2053566" cy="179984"/>
          </a:xfrm>
          <a:prstGeom prst="rect">
            <a:avLst/>
          </a:prstGeom>
          <a:noFill/>
        </p:spPr>
        <p:txBody>
          <a:bodyPr wrap="none" lIns="0" tIns="0" rIns="0" bIns="0">
            <a:spAutoFit/>
          </a:bodyPr>
          <a:lstStyle/>
          <a:p>
            <a:r>
              <a:rPr sz="1055" b="0">
                <a:solidFill>
                  <a:srgbClr val="2E2E2E"/>
                </a:solidFill>
                <a:latin typeface="Calibri"/>
              </a:rPr>
              <a:t>over the forecast period. In terms of</a:t>
            </a:r>
          </a:p>
        </p:txBody>
      </p:sp>
      <p:sp>
        <p:nvSpPr>
          <p:cNvPr id="85" name="TextBox 84"/>
          <p:cNvSpPr txBox="1"/>
          <p:nvPr/>
        </p:nvSpPr>
        <p:spPr>
          <a:xfrm>
            <a:off x="485775" y="4873174"/>
            <a:ext cx="2857976" cy="179984"/>
          </a:xfrm>
          <a:prstGeom prst="rect">
            <a:avLst/>
          </a:prstGeom>
          <a:noFill/>
        </p:spPr>
        <p:txBody>
          <a:bodyPr wrap="none" lIns="0" tIns="0" rIns="0" bIns="0">
            <a:spAutoFit/>
          </a:bodyPr>
          <a:lstStyle/>
          <a:p>
            <a:r>
              <a:rPr sz="1055" b="0">
                <a:solidFill>
                  <a:srgbClr val="2E2E2E"/>
                </a:solidFill>
                <a:latin typeface="Calibri"/>
              </a:rPr>
              <a:t>value share by end-use application, the support for</a:t>
            </a:r>
          </a:p>
        </p:txBody>
      </p:sp>
      <p:sp>
        <p:nvSpPr>
          <p:cNvPr id="86" name="TextBox 85"/>
          <p:cNvSpPr txBox="1"/>
          <p:nvPr/>
        </p:nvSpPr>
        <p:spPr>
          <a:xfrm>
            <a:off x="485775" y="5034109"/>
            <a:ext cx="2914650" cy="179984"/>
          </a:xfrm>
          <a:prstGeom prst="rect">
            <a:avLst/>
          </a:prstGeom>
          <a:noFill/>
        </p:spPr>
        <p:txBody>
          <a:bodyPr wrap="none" lIns="0" tIns="0" rIns="0" bIns="0">
            <a:spAutoFit/>
          </a:bodyPr>
          <a:lstStyle/>
          <a:p>
            <a:r>
              <a:rPr sz="1055" b="0">
                <a:solidFill>
                  <a:srgbClr val="2E2E2E"/>
                </a:solidFill>
                <a:latin typeface="Calibri"/>
              </a:rPr>
              <a:t>observable age-related cognitive changes segment is</a:t>
            </a:r>
          </a:p>
        </p:txBody>
      </p:sp>
      <p:sp>
        <p:nvSpPr>
          <p:cNvPr id="87" name="TextBox 86"/>
          <p:cNvSpPr txBox="1"/>
          <p:nvPr/>
        </p:nvSpPr>
        <p:spPr>
          <a:xfrm>
            <a:off x="485775" y="5195043"/>
            <a:ext cx="2296382" cy="179984"/>
          </a:xfrm>
          <a:prstGeom prst="rect">
            <a:avLst/>
          </a:prstGeom>
          <a:noFill/>
        </p:spPr>
        <p:txBody>
          <a:bodyPr wrap="none" lIns="0" tIns="0" rIns="0" bIns="0">
            <a:spAutoFit/>
          </a:bodyPr>
          <a:lstStyle/>
          <a:p>
            <a:r>
              <a:rPr sz="1055" b="0">
                <a:solidFill>
                  <a:srgbClr val="2E2E2E"/>
                </a:solidFill>
                <a:latin typeface="Calibri"/>
              </a:rPr>
              <a:t>expected to dominate the market, losing</a:t>
            </a:r>
          </a:p>
        </p:txBody>
      </p:sp>
      <p:pic>
        <p:nvPicPr>
          <p:cNvPr id="88" name="Picture 87" descr="lock.png"/>
          <p:cNvPicPr>
            <a:picLocks noChangeAspect="1"/>
          </p:cNvPicPr>
          <p:nvPr/>
        </p:nvPicPr>
        <p:blipFill>
          <a:blip r:embed="rId16"/>
          <a:stretch>
            <a:fillRect/>
          </a:stretch>
        </p:blipFill>
        <p:spPr>
          <a:xfrm>
            <a:off x="2729238" y="5185655"/>
            <a:ext cx="123551" cy="179710"/>
          </a:xfrm>
          <a:prstGeom prst="rect">
            <a:avLst/>
          </a:prstGeom>
        </p:spPr>
      </p:pic>
      <p:sp>
        <p:nvSpPr>
          <p:cNvPr id="89" name="TextBox 88"/>
          <p:cNvSpPr txBox="1"/>
          <p:nvPr/>
        </p:nvSpPr>
        <p:spPr>
          <a:xfrm>
            <a:off x="2890034" y="5195043"/>
            <a:ext cx="280249" cy="179984"/>
          </a:xfrm>
          <a:prstGeom prst="rect">
            <a:avLst/>
          </a:prstGeom>
          <a:noFill/>
        </p:spPr>
        <p:txBody>
          <a:bodyPr wrap="none" lIns="0" tIns="0" rIns="0" bIns="0">
            <a:spAutoFit/>
          </a:bodyPr>
          <a:lstStyle/>
          <a:p>
            <a:r>
              <a:rPr sz="1055" b="0">
                <a:solidFill>
                  <a:srgbClr val="2E2E2E"/>
                </a:solidFill>
                <a:latin typeface="Calibri"/>
              </a:rPr>
              <a:t>BPS</a:t>
            </a:r>
          </a:p>
        </p:txBody>
      </p:sp>
      <p:sp>
        <p:nvSpPr>
          <p:cNvPr id="90" name="TextBox 89"/>
          <p:cNvSpPr txBox="1"/>
          <p:nvPr/>
        </p:nvSpPr>
        <p:spPr>
          <a:xfrm>
            <a:off x="485775" y="5355977"/>
            <a:ext cx="1099589" cy="179984"/>
          </a:xfrm>
          <a:prstGeom prst="rect">
            <a:avLst/>
          </a:prstGeom>
          <a:noFill/>
        </p:spPr>
        <p:txBody>
          <a:bodyPr wrap="none" lIns="0" tIns="0" rIns="0" bIns="0">
            <a:spAutoFit/>
          </a:bodyPr>
          <a:lstStyle/>
          <a:p>
            <a:r>
              <a:rPr sz="1055" b="0">
                <a:solidFill>
                  <a:srgbClr val="2E2E2E"/>
                </a:solidFill>
                <a:latin typeface="Calibri"/>
              </a:rPr>
              <a:t>and accounting for</a:t>
            </a:r>
          </a:p>
        </p:txBody>
      </p:sp>
      <p:pic>
        <p:nvPicPr>
          <p:cNvPr id="91" name="Picture 90" descr="lock.png"/>
          <p:cNvPicPr>
            <a:picLocks noChangeAspect="1"/>
          </p:cNvPicPr>
          <p:nvPr/>
        </p:nvPicPr>
        <p:blipFill>
          <a:blip r:embed="rId16"/>
          <a:stretch>
            <a:fillRect/>
          </a:stretch>
        </p:blipFill>
        <p:spPr>
          <a:xfrm>
            <a:off x="1532446" y="5346589"/>
            <a:ext cx="123551" cy="179710"/>
          </a:xfrm>
          <a:prstGeom prst="rect">
            <a:avLst/>
          </a:prstGeom>
        </p:spPr>
      </p:pic>
      <p:sp>
        <p:nvSpPr>
          <p:cNvPr id="92" name="TextBox 91"/>
          <p:cNvSpPr txBox="1"/>
          <p:nvPr/>
        </p:nvSpPr>
        <p:spPr>
          <a:xfrm>
            <a:off x="1693242" y="5355977"/>
            <a:ext cx="875109" cy="179984"/>
          </a:xfrm>
          <a:prstGeom prst="rect">
            <a:avLst/>
          </a:prstGeom>
          <a:noFill/>
        </p:spPr>
        <p:txBody>
          <a:bodyPr wrap="none" lIns="0" tIns="0" rIns="0" bIns="0">
            <a:spAutoFit/>
          </a:bodyPr>
          <a:lstStyle/>
          <a:p>
            <a:r>
              <a:rPr sz="1055" b="0">
                <a:solidFill>
                  <a:srgbClr val="2E2E2E"/>
                </a:solidFill>
                <a:latin typeface="Calibri"/>
              </a:rPr>
              <a:t>share by 2036.</a:t>
            </a:r>
          </a:p>
        </p:txBody>
      </p:sp>
      <p:sp>
        <p:nvSpPr>
          <p:cNvPr id="93" name="TextBox 92"/>
          <p:cNvSpPr txBox="1"/>
          <p:nvPr/>
        </p:nvSpPr>
        <p:spPr>
          <a:xfrm>
            <a:off x="485775" y="5565192"/>
            <a:ext cx="2914650" cy="179984"/>
          </a:xfrm>
          <a:prstGeom prst="rect">
            <a:avLst/>
          </a:prstGeom>
          <a:noFill/>
        </p:spPr>
        <p:txBody>
          <a:bodyPr wrap="none" lIns="0" tIns="0" rIns="0" bIns="0">
            <a:spAutoFit/>
          </a:bodyPr>
          <a:lstStyle/>
          <a:p>
            <a:r>
              <a:rPr sz="1055" b="0">
                <a:solidFill>
                  <a:srgbClr val="2E2E2E"/>
                </a:solidFill>
                <a:latin typeface="Calibri"/>
              </a:rPr>
              <a:t>Support for observable age-related cognitive changes</a:t>
            </a:r>
          </a:p>
        </p:txBody>
      </p:sp>
      <p:sp>
        <p:nvSpPr>
          <p:cNvPr id="94" name="TextBox 93"/>
          <p:cNvSpPr txBox="1"/>
          <p:nvPr/>
        </p:nvSpPr>
        <p:spPr>
          <a:xfrm>
            <a:off x="485775" y="5726126"/>
            <a:ext cx="1813631" cy="179984"/>
          </a:xfrm>
          <a:prstGeom prst="rect">
            <a:avLst/>
          </a:prstGeom>
          <a:noFill/>
        </p:spPr>
        <p:txBody>
          <a:bodyPr wrap="none" lIns="0" tIns="0" rIns="0" bIns="0">
            <a:spAutoFit/>
          </a:bodyPr>
          <a:lstStyle/>
          <a:p>
            <a:r>
              <a:rPr sz="1055" b="0">
                <a:solidFill>
                  <a:srgbClr val="2E2E2E"/>
                </a:solidFill>
                <a:latin typeface="Calibri"/>
              </a:rPr>
              <a:t>segment is projected to register</a:t>
            </a:r>
          </a:p>
        </p:txBody>
      </p:sp>
      <p:pic>
        <p:nvPicPr>
          <p:cNvPr id="95" name="Picture 94" descr="lock.png"/>
          <p:cNvPicPr>
            <a:picLocks noChangeAspect="1"/>
          </p:cNvPicPr>
          <p:nvPr/>
        </p:nvPicPr>
        <p:blipFill>
          <a:blip r:embed="rId16"/>
          <a:stretch>
            <a:fillRect/>
          </a:stretch>
        </p:blipFill>
        <p:spPr>
          <a:xfrm>
            <a:off x="2246487" y="5716739"/>
            <a:ext cx="123551" cy="179710"/>
          </a:xfrm>
          <a:prstGeom prst="rect">
            <a:avLst/>
          </a:prstGeom>
        </p:spPr>
      </p:pic>
      <p:sp>
        <p:nvSpPr>
          <p:cNvPr id="96" name="TextBox 95"/>
          <p:cNvSpPr txBox="1"/>
          <p:nvPr/>
        </p:nvSpPr>
        <p:spPr>
          <a:xfrm>
            <a:off x="2407283" y="5726126"/>
            <a:ext cx="848129" cy="179984"/>
          </a:xfrm>
          <a:prstGeom prst="rect">
            <a:avLst/>
          </a:prstGeom>
          <a:noFill/>
        </p:spPr>
        <p:txBody>
          <a:bodyPr wrap="none" lIns="0" tIns="0" rIns="0" bIns="0">
            <a:spAutoFit/>
          </a:bodyPr>
          <a:lstStyle/>
          <a:p>
            <a:r>
              <a:rPr sz="1055" b="0">
                <a:solidFill>
                  <a:srgbClr val="2E2E2E"/>
                </a:solidFill>
                <a:latin typeface="Calibri"/>
              </a:rPr>
              <a:t>X higher value</a:t>
            </a:r>
          </a:p>
        </p:txBody>
      </p:sp>
      <p:sp>
        <p:nvSpPr>
          <p:cNvPr id="97" name="TextBox 96"/>
          <p:cNvSpPr txBox="1"/>
          <p:nvPr/>
        </p:nvSpPr>
        <p:spPr>
          <a:xfrm>
            <a:off x="485775" y="5887061"/>
            <a:ext cx="2751105" cy="179984"/>
          </a:xfrm>
          <a:prstGeom prst="rect">
            <a:avLst/>
          </a:prstGeom>
          <a:noFill/>
        </p:spPr>
        <p:txBody>
          <a:bodyPr wrap="none" lIns="0" tIns="0" rIns="0" bIns="0">
            <a:spAutoFit/>
          </a:bodyPr>
          <a:lstStyle/>
          <a:p>
            <a:r>
              <a:rPr sz="1055" b="0">
                <a:solidFill>
                  <a:srgbClr val="2E2E2E"/>
                </a:solidFill>
                <a:latin typeface="Calibri"/>
              </a:rPr>
              <a:t>than routine cognitive wellness segment in 2036.</a:t>
            </a:r>
          </a:p>
        </p:txBody>
      </p:sp>
      <p:sp>
        <p:nvSpPr>
          <p:cNvPr id="98" name="TextBox 97"/>
          <p:cNvSpPr txBox="1"/>
          <p:nvPr/>
        </p:nvSpPr>
        <p:spPr>
          <a:xfrm>
            <a:off x="3838575" y="4229437"/>
            <a:ext cx="3422178" cy="186689"/>
          </a:xfrm>
          <a:prstGeom prst="rect">
            <a:avLst/>
          </a:prstGeom>
          <a:noFill/>
        </p:spPr>
        <p:txBody>
          <a:bodyPr wrap="none" lIns="0" tIns="0" rIns="0" bIns="0">
            <a:spAutoFit/>
          </a:bodyPr>
          <a:lstStyle/>
          <a:p>
            <a:r>
              <a:rPr sz="1100" b="1">
                <a:solidFill>
                  <a:srgbClr val="0B2E4A"/>
                </a:solidFill>
                <a:latin typeface="Calibri"/>
              </a:rPr>
              <a:t>● Support for Observable Age-Related Cognitive Changes:</a:t>
            </a:r>
          </a:p>
        </p:txBody>
      </p:sp>
      <p:pic>
        <p:nvPicPr>
          <p:cNvPr id="99" name="Picture 98" descr="lock.png"/>
          <p:cNvPicPr>
            <a:picLocks noChangeAspect="1"/>
          </p:cNvPicPr>
          <p:nvPr/>
        </p:nvPicPr>
        <p:blipFill>
          <a:blip r:embed="rId16"/>
          <a:stretch>
            <a:fillRect/>
          </a:stretch>
        </p:blipFill>
        <p:spPr>
          <a:xfrm>
            <a:off x="7208805" y="4219658"/>
            <a:ext cx="128699" cy="187198"/>
          </a:xfrm>
          <a:prstGeom prst="rect">
            <a:avLst/>
          </a:prstGeom>
        </p:spPr>
      </p:pic>
      <p:sp>
        <p:nvSpPr>
          <p:cNvPr id="100" name="TextBox 99"/>
          <p:cNvSpPr txBox="1"/>
          <p:nvPr/>
        </p:nvSpPr>
        <p:spPr>
          <a:xfrm>
            <a:off x="7376301" y="4229437"/>
            <a:ext cx="510852" cy="186689"/>
          </a:xfrm>
          <a:prstGeom prst="rect">
            <a:avLst/>
          </a:prstGeom>
          <a:noFill/>
        </p:spPr>
        <p:txBody>
          <a:bodyPr wrap="none" lIns="0" tIns="0" rIns="0" bIns="0">
            <a:spAutoFit/>
          </a:bodyPr>
          <a:lstStyle/>
          <a:p>
            <a:r>
              <a:rPr sz="1100" b="1">
                <a:solidFill>
                  <a:srgbClr val="0B2E4A"/>
                </a:solidFill>
                <a:latin typeface="Calibri"/>
              </a:rPr>
              <a:t>of 2026</a:t>
            </a:r>
          </a:p>
        </p:txBody>
      </p:sp>
      <p:sp>
        <p:nvSpPr>
          <p:cNvPr id="101" name="TextBox 100"/>
          <p:cNvSpPr txBox="1"/>
          <p:nvPr/>
        </p:nvSpPr>
        <p:spPr>
          <a:xfrm>
            <a:off x="3838575" y="4397077"/>
            <a:ext cx="460102" cy="186689"/>
          </a:xfrm>
          <a:prstGeom prst="rect">
            <a:avLst/>
          </a:prstGeom>
          <a:noFill/>
        </p:spPr>
        <p:txBody>
          <a:bodyPr wrap="none" lIns="0" tIns="0" rIns="0" bIns="0">
            <a:spAutoFit/>
          </a:bodyPr>
          <a:lstStyle/>
          <a:p>
            <a:r>
              <a:rPr sz="1100" b="1">
                <a:solidFill>
                  <a:srgbClr val="0B2E4A"/>
                </a:solidFill>
                <a:latin typeface="Calibri"/>
              </a:rPr>
              <a:t>value ·</a:t>
            </a:r>
          </a:p>
        </p:txBody>
      </p:sp>
      <p:pic>
        <p:nvPicPr>
          <p:cNvPr id="102" name="Picture 101" descr="lock.png"/>
          <p:cNvPicPr>
            <a:picLocks noChangeAspect="1"/>
          </p:cNvPicPr>
          <p:nvPr/>
        </p:nvPicPr>
        <p:blipFill>
          <a:blip r:embed="rId16"/>
          <a:stretch>
            <a:fillRect/>
          </a:stretch>
        </p:blipFill>
        <p:spPr>
          <a:xfrm>
            <a:off x="4246728" y="4387298"/>
            <a:ext cx="128699" cy="187198"/>
          </a:xfrm>
          <a:prstGeom prst="rect">
            <a:avLst/>
          </a:prstGeom>
        </p:spPr>
      </p:pic>
      <p:sp>
        <p:nvSpPr>
          <p:cNvPr id="103" name="TextBox 102"/>
          <p:cNvSpPr txBox="1"/>
          <p:nvPr/>
        </p:nvSpPr>
        <p:spPr>
          <a:xfrm>
            <a:off x="4414224" y="4397077"/>
            <a:ext cx="1533201" cy="186689"/>
          </a:xfrm>
          <a:prstGeom prst="rect">
            <a:avLst/>
          </a:prstGeom>
          <a:noFill/>
        </p:spPr>
        <p:txBody>
          <a:bodyPr wrap="none" lIns="0" tIns="0" rIns="0" bIns="0">
            <a:spAutoFit/>
          </a:bodyPr>
          <a:lstStyle/>
          <a:p>
            <a:r>
              <a:rPr sz="1100" b="1">
                <a:solidFill>
                  <a:srgbClr val="0B2E4A"/>
                </a:solidFill>
                <a:latin typeface="Calibri"/>
              </a:rPr>
              <a:t>CAGR leads the segment.</a:t>
            </a:r>
          </a:p>
        </p:txBody>
      </p:sp>
      <p:sp>
        <p:nvSpPr>
          <p:cNvPr id="104" name="TextBox 103"/>
          <p:cNvSpPr txBox="1"/>
          <p:nvPr/>
        </p:nvSpPr>
        <p:spPr>
          <a:xfrm>
            <a:off x="3838575" y="4615009"/>
            <a:ext cx="1779612" cy="186689"/>
          </a:xfrm>
          <a:prstGeom prst="rect">
            <a:avLst/>
          </a:prstGeom>
          <a:noFill/>
        </p:spPr>
        <p:txBody>
          <a:bodyPr wrap="none" lIns="0" tIns="0" rIns="0" bIns="0">
            <a:spAutoFit/>
          </a:bodyPr>
          <a:lstStyle/>
          <a:p>
            <a:r>
              <a:rPr sz="1100" b="0">
                <a:solidFill>
                  <a:srgbClr val="2E2E2E"/>
                </a:solidFill>
                <a:latin typeface="Calibri"/>
              </a:rPr>
              <a:t>● Routine Cognitive Wellness:</a:t>
            </a:r>
          </a:p>
        </p:txBody>
      </p:sp>
      <p:pic>
        <p:nvPicPr>
          <p:cNvPr id="105" name="Picture 104" descr="lock.png"/>
          <p:cNvPicPr>
            <a:picLocks noChangeAspect="1"/>
          </p:cNvPicPr>
          <p:nvPr/>
        </p:nvPicPr>
        <p:blipFill>
          <a:blip r:embed="rId16"/>
          <a:stretch>
            <a:fillRect/>
          </a:stretch>
        </p:blipFill>
        <p:spPr>
          <a:xfrm>
            <a:off x="5566238" y="4605230"/>
            <a:ext cx="128699" cy="187198"/>
          </a:xfrm>
          <a:prstGeom prst="rect">
            <a:avLst/>
          </a:prstGeom>
        </p:spPr>
      </p:pic>
      <p:sp>
        <p:nvSpPr>
          <p:cNvPr id="106" name="TextBox 105"/>
          <p:cNvSpPr txBox="1"/>
          <p:nvPr/>
        </p:nvSpPr>
        <p:spPr>
          <a:xfrm>
            <a:off x="5733734" y="461500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6593184" y="4605230"/>
            <a:ext cx="128699" cy="187198"/>
          </a:xfrm>
          <a:prstGeom prst="rect">
            <a:avLst/>
          </a:prstGeom>
        </p:spPr>
      </p:pic>
      <p:sp>
        <p:nvSpPr>
          <p:cNvPr id="108" name="TextBox 107"/>
          <p:cNvSpPr txBox="1"/>
          <p:nvPr/>
        </p:nvSpPr>
        <p:spPr>
          <a:xfrm>
            <a:off x="6760680" y="4615009"/>
            <a:ext cx="885733" cy="186689"/>
          </a:xfrm>
          <a:prstGeom prst="rect">
            <a:avLst/>
          </a:prstGeom>
          <a:noFill/>
        </p:spPr>
        <p:txBody>
          <a:bodyPr wrap="none" lIns="0" tIns="0" rIns="0" bIns="0">
            <a:spAutoFit/>
          </a:bodyPr>
          <a:lstStyle/>
          <a:p>
            <a:r>
              <a:rPr sz="1100" b="0">
                <a:solidFill>
                  <a:srgbClr val="2E2E2E"/>
                </a:solidFill>
                <a:latin typeface="Calibri"/>
              </a:rPr>
              <a:t>CAGR serves a</a:t>
            </a:r>
          </a:p>
        </p:txBody>
      </p:sp>
      <p:sp>
        <p:nvSpPr>
          <p:cNvPr id="109" name="TextBox 108"/>
          <p:cNvSpPr txBox="1"/>
          <p:nvPr/>
        </p:nvSpPr>
        <p:spPr>
          <a:xfrm>
            <a:off x="3838575" y="4782649"/>
            <a:ext cx="419174" cy="186689"/>
          </a:xfrm>
          <a:prstGeom prst="rect">
            <a:avLst/>
          </a:prstGeom>
          <a:noFill/>
        </p:spPr>
        <p:txBody>
          <a:bodyPr wrap="none" lIns="0" tIns="0" rIns="0" bIns="0">
            <a:spAutoFit/>
          </a:bodyPr>
          <a:lstStyle/>
          <a:p>
            <a:r>
              <a:rPr sz="1100" b="0">
                <a:solidFill>
                  <a:srgbClr val="2E2E2E"/>
                </a:solidFill>
                <a:latin typeface="Calibri"/>
              </a:rPr>
              <a:t>niche.</a:t>
            </a:r>
          </a:p>
        </p:txBody>
      </p:sp>
      <p:sp>
        <p:nvSpPr>
          <p:cNvPr id="110" name="TextBox 109"/>
          <p:cNvSpPr txBox="1"/>
          <p:nvPr/>
        </p:nvSpPr>
        <p:spPr>
          <a:xfrm>
            <a:off x="3838575" y="5000581"/>
            <a:ext cx="2847280" cy="186689"/>
          </a:xfrm>
          <a:prstGeom prst="rect">
            <a:avLst/>
          </a:prstGeom>
          <a:noFill/>
        </p:spPr>
        <p:txBody>
          <a:bodyPr wrap="none" lIns="0" tIns="0" rIns="0" bIns="0">
            <a:spAutoFit/>
          </a:bodyPr>
          <a:lstStyle/>
          <a:p>
            <a:r>
              <a:rPr sz="1100" b="1">
                <a:solidFill>
                  <a:srgbClr val="008189"/>
                </a:solidFill>
                <a:latin typeface="Calibri"/>
              </a:rPr>
              <a:t>● Preventive Cognitive Support for Senior Dogs:</a:t>
            </a:r>
          </a:p>
        </p:txBody>
      </p:sp>
      <p:pic>
        <p:nvPicPr>
          <p:cNvPr id="111" name="Picture 110" descr="lock.png"/>
          <p:cNvPicPr>
            <a:picLocks noChangeAspect="1"/>
          </p:cNvPicPr>
          <p:nvPr/>
        </p:nvPicPr>
        <p:blipFill>
          <a:blip r:embed="rId16"/>
          <a:stretch>
            <a:fillRect/>
          </a:stretch>
        </p:blipFill>
        <p:spPr>
          <a:xfrm>
            <a:off x="6633907" y="4990801"/>
            <a:ext cx="128699" cy="187198"/>
          </a:xfrm>
          <a:prstGeom prst="rect">
            <a:avLst/>
          </a:prstGeom>
        </p:spPr>
      </p:pic>
      <p:sp>
        <p:nvSpPr>
          <p:cNvPr id="112" name="TextBox 111"/>
          <p:cNvSpPr txBox="1"/>
          <p:nvPr/>
        </p:nvSpPr>
        <p:spPr>
          <a:xfrm>
            <a:off x="6801402" y="5000581"/>
            <a:ext cx="926405" cy="186689"/>
          </a:xfrm>
          <a:prstGeom prst="rect">
            <a:avLst/>
          </a:prstGeom>
          <a:noFill/>
        </p:spPr>
        <p:txBody>
          <a:bodyPr wrap="none" lIns="0" tIns="0" rIns="0" bIns="0">
            <a:spAutoFit/>
          </a:bodyPr>
          <a:lstStyle/>
          <a:p>
            <a:r>
              <a:rPr sz="1100" b="1">
                <a:solidFill>
                  <a:srgbClr val="008189"/>
                </a:solidFill>
                <a:latin typeface="Calibri"/>
              </a:rPr>
              <a:t>of 2026 value ·</a:t>
            </a:r>
          </a:p>
        </p:txBody>
      </p:sp>
      <p:pic>
        <p:nvPicPr>
          <p:cNvPr id="113" name="Picture 112" descr="lock.png"/>
          <p:cNvPicPr>
            <a:picLocks noChangeAspect="1"/>
          </p:cNvPicPr>
          <p:nvPr/>
        </p:nvPicPr>
        <p:blipFill>
          <a:blip r:embed="rId16"/>
          <a:stretch>
            <a:fillRect/>
          </a:stretch>
        </p:blipFill>
        <p:spPr>
          <a:xfrm>
            <a:off x="3825107" y="5158441"/>
            <a:ext cx="128699" cy="187198"/>
          </a:xfrm>
          <a:prstGeom prst="rect">
            <a:avLst/>
          </a:prstGeom>
        </p:spPr>
      </p:pic>
      <p:sp>
        <p:nvSpPr>
          <p:cNvPr id="114" name="TextBox 113"/>
          <p:cNvSpPr txBox="1"/>
          <p:nvPr/>
        </p:nvSpPr>
        <p:spPr>
          <a:xfrm>
            <a:off x="3992603" y="5168221"/>
            <a:ext cx="1284633" cy="186689"/>
          </a:xfrm>
          <a:prstGeom prst="rect">
            <a:avLst/>
          </a:prstGeom>
          <a:noFill/>
        </p:spPr>
        <p:txBody>
          <a:bodyPr wrap="none" lIns="0" tIns="0" rIns="0" bIns="0">
            <a:spAutoFit/>
          </a:bodyPr>
          <a:lstStyle/>
          <a:p>
            <a:r>
              <a:rPr sz="1100" b="1">
                <a:solidFill>
                  <a:srgbClr val="008189"/>
                </a:solidFill>
                <a:latin typeface="Calibri"/>
              </a:rPr>
              <a:t>CAGR serves a niche.</a:t>
            </a:r>
          </a:p>
        </p:txBody>
      </p:sp>
      <p:sp>
        <p:nvSpPr>
          <p:cNvPr id="115" name="TextBox 114"/>
          <p:cNvSpPr txBox="1"/>
          <p:nvPr/>
        </p:nvSpPr>
        <p:spPr>
          <a:xfrm>
            <a:off x="3838575" y="5386153"/>
            <a:ext cx="3107580" cy="186689"/>
          </a:xfrm>
          <a:prstGeom prst="rect">
            <a:avLst/>
          </a:prstGeom>
          <a:noFill/>
        </p:spPr>
        <p:txBody>
          <a:bodyPr wrap="none" lIns="0" tIns="0" rIns="0" bIns="0">
            <a:spAutoFit/>
          </a:bodyPr>
          <a:lstStyle/>
          <a:p>
            <a:r>
              <a:rPr sz="1100" b="1">
                <a:solidFill>
                  <a:srgbClr val="6F3CC2"/>
                </a:solidFill>
                <a:latin typeface="Calibri"/>
              </a:rPr>
              <a:t>● Veterinary-Guided Cognitive Dysfunction Support:</a:t>
            </a:r>
          </a:p>
        </p:txBody>
      </p:sp>
      <p:pic>
        <p:nvPicPr>
          <p:cNvPr id="116" name="Picture 115" descr="lock.png"/>
          <p:cNvPicPr>
            <a:picLocks noChangeAspect="1"/>
          </p:cNvPicPr>
          <p:nvPr/>
        </p:nvPicPr>
        <p:blipFill>
          <a:blip r:embed="rId16"/>
          <a:stretch>
            <a:fillRect/>
          </a:stretch>
        </p:blipFill>
        <p:spPr>
          <a:xfrm>
            <a:off x="6894207" y="5376373"/>
            <a:ext cx="128699" cy="187198"/>
          </a:xfrm>
          <a:prstGeom prst="rect">
            <a:avLst/>
          </a:prstGeom>
        </p:spPr>
      </p:pic>
      <p:sp>
        <p:nvSpPr>
          <p:cNvPr id="117" name="TextBox 116"/>
          <p:cNvSpPr txBox="1"/>
          <p:nvPr/>
        </p:nvSpPr>
        <p:spPr>
          <a:xfrm>
            <a:off x="7061703" y="5386153"/>
            <a:ext cx="857374" cy="186689"/>
          </a:xfrm>
          <a:prstGeom prst="rect">
            <a:avLst/>
          </a:prstGeom>
          <a:noFill/>
        </p:spPr>
        <p:txBody>
          <a:bodyPr wrap="none" lIns="0" tIns="0" rIns="0" bIns="0">
            <a:spAutoFit/>
          </a:bodyPr>
          <a:lstStyle/>
          <a:p>
            <a:r>
              <a:rPr sz="1100" b="1">
                <a:solidFill>
                  <a:srgbClr val="6F3CC2"/>
                </a:solidFill>
                <a:latin typeface="Calibri"/>
              </a:rPr>
              <a:t>of 2026 value</a:t>
            </a:r>
          </a:p>
        </p:txBody>
      </p:sp>
      <p:sp>
        <p:nvSpPr>
          <p:cNvPr id="118" name="TextBox 117"/>
          <p:cNvSpPr txBox="1"/>
          <p:nvPr/>
        </p:nvSpPr>
        <p:spPr>
          <a:xfrm>
            <a:off x="3838575" y="5553793"/>
            <a:ext cx="113580" cy="186689"/>
          </a:xfrm>
          <a:prstGeom prst="rect">
            <a:avLst/>
          </a:prstGeom>
          <a:noFill/>
        </p:spPr>
        <p:txBody>
          <a:bodyPr wrap="none" lIns="0" tIns="0" rIns="0" bIns="0">
            <a:spAutoFit/>
          </a:bodyPr>
          <a:lstStyle/>
          <a:p>
            <a:r>
              <a:rPr sz="1100" b="1">
                <a:solidFill>
                  <a:srgbClr val="6F3CC2"/>
                </a:solidFill>
                <a:latin typeface="Calibri"/>
              </a:rPr>
              <a:t>·</a:t>
            </a:r>
          </a:p>
        </p:txBody>
      </p:sp>
      <p:pic>
        <p:nvPicPr>
          <p:cNvPr id="119" name="Picture 118" descr="lock.png"/>
          <p:cNvPicPr>
            <a:picLocks noChangeAspect="1"/>
          </p:cNvPicPr>
          <p:nvPr/>
        </p:nvPicPr>
        <p:blipFill>
          <a:blip r:embed="rId16"/>
          <a:stretch>
            <a:fillRect/>
          </a:stretch>
        </p:blipFill>
        <p:spPr>
          <a:xfrm>
            <a:off x="3900207" y="5544013"/>
            <a:ext cx="128699" cy="187198"/>
          </a:xfrm>
          <a:prstGeom prst="rect">
            <a:avLst/>
          </a:prstGeom>
        </p:spPr>
      </p:pic>
      <p:sp>
        <p:nvSpPr>
          <p:cNvPr id="120" name="TextBox 119"/>
          <p:cNvSpPr txBox="1"/>
          <p:nvPr/>
        </p:nvSpPr>
        <p:spPr>
          <a:xfrm>
            <a:off x="4067703" y="5553793"/>
            <a:ext cx="1245889" cy="186689"/>
          </a:xfrm>
          <a:prstGeom prst="rect">
            <a:avLst/>
          </a:prstGeom>
          <a:noFill/>
        </p:spPr>
        <p:txBody>
          <a:bodyPr wrap="none" lIns="0" tIns="0" rIns="0" bIns="0">
            <a:spAutoFit/>
          </a:bodyPr>
          <a:lstStyle/>
          <a:p>
            <a:r>
              <a:rPr sz="1100" b="1">
                <a:solidFill>
                  <a:srgbClr val="6F3CC2"/>
                </a:solidFill>
                <a:latin typeface="Calibri"/>
              </a:rPr>
              <a:t>CAGR grows fastest.</a:t>
            </a:r>
          </a:p>
        </p:txBody>
      </p:sp>
      <p:sp>
        <p:nvSpPr>
          <p:cNvPr id="121" name="TextBox 120"/>
          <p:cNvSpPr txBox="1"/>
          <p:nvPr/>
        </p:nvSpPr>
        <p:spPr>
          <a:xfrm>
            <a:off x="8524875" y="5842641"/>
            <a:ext cx="3006328" cy="194310"/>
          </a:xfrm>
          <a:prstGeom prst="rect">
            <a:avLst/>
          </a:prstGeom>
          <a:noFill/>
        </p:spPr>
        <p:txBody>
          <a:bodyPr wrap="none" lIns="0" tIns="0" rIns="0" bIns="0">
            <a:spAutoFit/>
          </a:bodyPr>
          <a:lstStyle/>
          <a:p>
            <a:r>
              <a:rPr sz="1150" b="1">
                <a:solidFill>
                  <a:srgbClr val="0B2E4A"/>
                </a:solidFill>
                <a:latin typeface="Calibri"/>
              </a:rPr>
              <a:t>The End-use Application segment is projected to</a:t>
            </a:r>
          </a:p>
        </p:txBody>
      </p:sp>
      <p:sp>
        <p:nvSpPr>
          <p:cNvPr id="122" name="TextBox 121"/>
          <p:cNvSpPr txBox="1"/>
          <p:nvPr/>
        </p:nvSpPr>
        <p:spPr>
          <a:xfrm>
            <a:off x="8524875" y="6017901"/>
            <a:ext cx="1177823" cy="194310"/>
          </a:xfrm>
          <a:prstGeom prst="rect">
            <a:avLst/>
          </a:prstGeom>
          <a:noFill/>
        </p:spPr>
        <p:txBody>
          <a:bodyPr wrap="none" lIns="0" tIns="0" rIns="0" bIns="0">
            <a:spAutoFit/>
          </a:bodyPr>
          <a:lstStyle/>
          <a:p>
            <a:r>
              <a:rPr sz="1150" b="1">
                <a:solidFill>
                  <a:srgbClr val="0B2E4A"/>
                </a:solidFill>
                <a:latin typeface="Calibri"/>
              </a:rPr>
              <a:t>grow at a CAGR of</a:t>
            </a:r>
          </a:p>
        </p:txBody>
      </p:sp>
      <p:pic>
        <p:nvPicPr>
          <p:cNvPr id="123" name="Picture 122" descr="lock.png"/>
          <p:cNvPicPr>
            <a:picLocks noChangeAspect="1"/>
          </p:cNvPicPr>
          <p:nvPr/>
        </p:nvPicPr>
        <p:blipFill>
          <a:blip r:embed="rId16"/>
          <a:stretch>
            <a:fillRect/>
          </a:stretch>
        </p:blipFill>
        <p:spPr>
          <a:xfrm>
            <a:off x="9651852" y="6007677"/>
            <a:ext cx="134549" cy="195707"/>
          </a:xfrm>
          <a:prstGeom prst="rect">
            <a:avLst/>
          </a:prstGeom>
        </p:spPr>
      </p:pic>
      <p:sp>
        <p:nvSpPr>
          <p:cNvPr id="124" name="TextBox 123"/>
          <p:cNvSpPr txBox="1"/>
          <p:nvPr/>
        </p:nvSpPr>
        <p:spPr>
          <a:xfrm>
            <a:off x="9826962"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Structure &amp; Attractiveness, By End-use Application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End-use Application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End-use Application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End-use Application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91763" cy="186689"/>
          </a:xfrm>
          <a:prstGeom prst="rect">
            <a:avLst/>
          </a:prstGeom>
          <a:noFill/>
        </p:spPr>
        <p:txBody>
          <a:bodyPr wrap="none" lIns="0" tIns="0" rIns="0" bIns="0">
            <a:spAutoFit/>
          </a:bodyPr>
          <a:lstStyle/>
          <a:p>
            <a:r>
              <a:rPr sz="1100" b="0">
                <a:solidFill>
                  <a:srgbClr val="2E2E2E"/>
                </a:solidFill>
                <a:latin typeface="Calibri"/>
              </a:rPr>
              <a:t>Support for observable age-related cognitive changes followed by routine cognitive wellness are expected to be the two most attractive end-use application segments in the Europe senior dog cognitive</a:t>
            </a:r>
          </a:p>
        </p:txBody>
      </p:sp>
      <p:sp>
        <p:nvSpPr>
          <p:cNvPr id="20" name="TextBox 19"/>
          <p:cNvSpPr txBox="1"/>
          <p:nvPr/>
        </p:nvSpPr>
        <p:spPr>
          <a:xfrm>
            <a:off x="257175" y="5861685"/>
            <a:ext cx="9842358" cy="186689"/>
          </a:xfrm>
          <a:prstGeom prst="rect">
            <a:avLst/>
          </a:prstGeom>
          <a:noFill/>
        </p:spPr>
        <p:txBody>
          <a:bodyPr wrap="none" lIns="0" tIns="0" rIns="0" bIns="0">
            <a:spAutoFit/>
          </a:bodyPr>
          <a:lstStyle/>
          <a:p>
            <a:r>
              <a:rPr sz="1100" b="0">
                <a:solidFill>
                  <a:srgbClr val="2E2E2E"/>
                </a:solidFill>
                <a:latin typeface="Calibri"/>
              </a:rPr>
              <a:t>supplement market in terms of value over the forecast period. Support for observable Age-Related cognitive changes and routine cognitive wellness exhibit a CAGR index of</a:t>
            </a:r>
          </a:p>
        </p:txBody>
      </p:sp>
      <p:pic>
        <p:nvPicPr>
          <p:cNvPr id="21" name="Picture 20" descr="lock.png"/>
          <p:cNvPicPr>
            <a:picLocks noChangeAspect="1"/>
          </p:cNvPicPr>
          <p:nvPr/>
        </p:nvPicPr>
        <p:blipFill>
          <a:blip r:embed="rId6"/>
          <a:stretch>
            <a:fillRect/>
          </a:stretch>
        </p:blipFill>
        <p:spPr>
          <a:xfrm>
            <a:off x="10047585" y="5851905"/>
            <a:ext cx="128699" cy="187198"/>
          </a:xfrm>
          <a:prstGeom prst="rect">
            <a:avLst/>
          </a:prstGeom>
        </p:spPr>
      </p:pic>
      <p:sp>
        <p:nvSpPr>
          <p:cNvPr id="22" name="TextBox 21"/>
          <p:cNvSpPr txBox="1"/>
          <p:nvPr/>
        </p:nvSpPr>
        <p:spPr>
          <a:xfrm>
            <a:off x="10215081"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10452975" y="5851905"/>
            <a:ext cx="128699" cy="187198"/>
          </a:xfrm>
          <a:prstGeom prst="rect">
            <a:avLst/>
          </a:prstGeom>
        </p:spPr>
      </p:pic>
      <p:sp>
        <p:nvSpPr>
          <p:cNvPr id="24" name="TextBox 23"/>
          <p:cNvSpPr txBox="1"/>
          <p:nvPr/>
        </p:nvSpPr>
        <p:spPr>
          <a:xfrm>
            <a:off x="10620471" y="5861685"/>
            <a:ext cx="827360" cy="186689"/>
          </a:xfrm>
          <a:prstGeom prst="rect">
            <a:avLst/>
          </a:prstGeom>
          <a:noFill/>
        </p:spPr>
        <p:txBody>
          <a:bodyPr wrap="none" lIns="0" tIns="0" rIns="0" bIns="0">
            <a:spAutoFit/>
          </a:bodyPr>
          <a:lstStyle/>
          <a:p>
            <a:r>
              <a:rPr sz="1100" b="0">
                <a:solidFill>
                  <a:srgbClr val="2E2E2E"/>
                </a:solidFill>
                <a:latin typeface="Calibri"/>
              </a:rPr>
              <a:t>and a market</a:t>
            </a:r>
          </a:p>
        </p:txBody>
      </p:sp>
      <p:sp>
        <p:nvSpPr>
          <p:cNvPr id="25" name="TextBox 24"/>
          <p:cNvSpPr txBox="1"/>
          <p:nvPr/>
        </p:nvSpPr>
        <p:spPr>
          <a:xfrm>
            <a:off x="257175" y="6029325"/>
            <a:ext cx="878110" cy="186689"/>
          </a:xfrm>
          <a:prstGeom prst="rect">
            <a:avLst/>
          </a:prstGeom>
          <a:noFill/>
        </p:spPr>
        <p:txBody>
          <a:bodyPr wrap="none" lIns="0" tIns="0" rIns="0" bIns="0">
            <a:spAutoFit/>
          </a:bodyPr>
          <a:lstStyle/>
          <a:p>
            <a:r>
              <a:rPr sz="1100" b="0">
                <a:solidFill>
                  <a:srgbClr val="2E2E2E"/>
                </a:solidFill>
                <a:latin typeface="Calibri"/>
              </a:rPr>
              <a:t>share index of</a:t>
            </a:r>
          </a:p>
        </p:txBody>
      </p:sp>
      <p:pic>
        <p:nvPicPr>
          <p:cNvPr id="26" name="Picture 25" descr="lock.png"/>
          <p:cNvPicPr>
            <a:picLocks noChangeAspect="1"/>
          </p:cNvPicPr>
          <p:nvPr/>
        </p:nvPicPr>
        <p:blipFill>
          <a:blip r:embed="rId6"/>
          <a:stretch>
            <a:fillRect/>
          </a:stretch>
        </p:blipFill>
        <p:spPr>
          <a:xfrm>
            <a:off x="1083337" y="6019545"/>
            <a:ext cx="128699" cy="187198"/>
          </a:xfrm>
          <a:prstGeom prst="rect">
            <a:avLst/>
          </a:prstGeom>
        </p:spPr>
      </p:pic>
      <p:sp>
        <p:nvSpPr>
          <p:cNvPr id="27" name="TextBox 26"/>
          <p:cNvSpPr txBox="1"/>
          <p:nvPr/>
        </p:nvSpPr>
        <p:spPr>
          <a:xfrm>
            <a:off x="1250833" y="602932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1488727" y="6019545"/>
            <a:ext cx="128699" cy="187198"/>
          </a:xfrm>
          <a:prstGeom prst="rect">
            <a:avLst/>
          </a:prstGeom>
        </p:spPr>
      </p:pic>
      <p:sp>
        <p:nvSpPr>
          <p:cNvPr id="29" name="TextBox 28"/>
          <p:cNvSpPr txBox="1"/>
          <p:nvPr/>
        </p:nvSpPr>
        <p:spPr>
          <a:xfrm>
            <a:off x="1656223" y="6029325"/>
            <a:ext cx="2606352" cy="186689"/>
          </a:xfrm>
          <a:prstGeom prst="rect">
            <a:avLst/>
          </a:prstGeom>
          <a:noFill/>
        </p:spPr>
        <p:txBody>
          <a:bodyPr wrap="none" lIns="0" tIns="0" r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4210627" y="6019545"/>
            <a:ext cx="128699" cy="187198"/>
          </a:xfrm>
          <a:prstGeom prst="rect">
            <a:avLst/>
          </a:prstGeom>
        </p:spPr>
      </p:pic>
      <p:sp>
        <p:nvSpPr>
          <p:cNvPr id="31" name="TextBox 30"/>
          <p:cNvSpPr txBox="1"/>
          <p:nvPr/>
        </p:nvSpPr>
        <p:spPr>
          <a:xfrm>
            <a:off x="4378123" y="6029325"/>
            <a:ext cx="7077571" cy="186689"/>
          </a:xfrm>
          <a:prstGeom prst="rect">
            <a:avLst/>
          </a:prstGeom>
          <a:noFill/>
        </p:spPr>
        <p:txBody>
          <a:bodyPr wrap="none" lIns="0" tIns="0" rIns="0" bIns="0">
            <a:spAutoFit/>
          </a:bodyPr>
          <a:lstStyle/>
          <a:p>
            <a:r>
              <a:rPr sz="1100" b="0">
                <a:solidFill>
                  <a:srgbClr val="2E2E2E"/>
                </a:solidFill>
                <a:latin typeface="Calibri"/>
              </a:rPr>
              <a:t>. The preventive cognitive support for senior dogs segment is expected to be less attractive as compared to other segments</a:t>
            </a:r>
          </a:p>
        </p:txBody>
      </p:sp>
      <p:sp>
        <p:nvSpPr>
          <p:cNvPr id="32" name="TextBox 31"/>
          <p:cNvSpPr txBox="1"/>
          <p:nvPr/>
        </p:nvSpPr>
        <p:spPr>
          <a:xfrm>
            <a:off x="257175" y="6196965"/>
            <a:ext cx="8924196" cy="186689"/>
          </a:xfrm>
          <a:prstGeom prst="rect">
            <a:avLst/>
          </a:prstGeom>
          <a:noFill/>
        </p:spPr>
        <p:txBody>
          <a:bodyPr wrap="none" lIns="0" tIns="0" rIns="0" bIns="0">
            <a:spAutoFit/>
          </a:bodyPr>
          <a:lstStyle/>
          <a:p>
            <a:r>
              <a:rPr sz="1100" b="0">
                <a:solidFill>
                  <a:srgbClr val="2E2E2E"/>
                </a:solidFill>
                <a:latin typeface="Calibri"/>
              </a:rPr>
              <a:t>over the forecast period, owing to its lower CAGR and incremental 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Analysis, By End-use Application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End-use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Routine Cognitive Wellness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Preventive Cognitive Support for Senior Dogs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Support for Observable Age-Related Cognitive Changes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Veterinary-Guided Cognitive Dysfunction Support</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Analysis, By End-use Application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End-use Application,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By End-use Application (US$ Mn)</a:t>
            </a:r>
          </a:p>
        </p:txBody>
      </p:sp>
      <p:graphicFrame>
        <p:nvGraphicFramePr>
          <p:cNvPr id="12" name="Table 11"/>
          <p:cNvGraphicFramePr>
            <a:graphicFrameLocks noGrp="1"/>
          </p:cNvGraphicFramePr>
          <p:nvPr/>
        </p:nvGraphicFramePr>
        <p:xfrm>
          <a:off x="152400" y="1238250"/>
          <a:ext cx="11887202" cy="1485896"/>
        </p:xfrm>
        <a:graphic>
          <a:graphicData uri="http://schemas.openxmlformats.org/drawingml/2006/table">
            <a:tbl>
              <a:tblPr>
                <a:tableStyleId>{5C22544A-7EE6-4342-B048-85BDC9FD1C3A}</a:tableStyleId>
              </a:tblPr>
              <a:tblGrid>
                <a:gridCol w="3519985">
                  <a:extLst>
                    <a:ext uri="{9D8B030D-6E8A-4147-A177-3AD203B41FA5}">
                      <a16:colId xmlns:a16="http://schemas.microsoft.com/office/drawing/2014/main" val="20000"/>
                    </a:ext>
                  </a:extLst>
                </a:gridCol>
                <a:gridCol w="502606">
                  <a:extLst>
                    <a:ext uri="{9D8B030D-6E8A-4147-A177-3AD203B41FA5}">
                      <a16:colId xmlns:a16="http://schemas.microsoft.com/office/drawing/2014/main" val="20001"/>
                    </a:ext>
                  </a:extLst>
                </a:gridCol>
                <a:gridCol w="502606">
                  <a:extLst>
                    <a:ext uri="{9D8B030D-6E8A-4147-A177-3AD203B41FA5}">
                      <a16:colId xmlns:a16="http://schemas.microsoft.com/office/drawing/2014/main" val="20002"/>
                    </a:ext>
                  </a:extLst>
                </a:gridCol>
                <a:gridCol w="502606">
                  <a:extLst>
                    <a:ext uri="{9D8B030D-6E8A-4147-A177-3AD203B41FA5}">
                      <a16:colId xmlns:a16="http://schemas.microsoft.com/office/drawing/2014/main" val="20003"/>
                    </a:ext>
                  </a:extLst>
                </a:gridCol>
                <a:gridCol w="502606">
                  <a:extLst>
                    <a:ext uri="{9D8B030D-6E8A-4147-A177-3AD203B41FA5}">
                      <a16:colId xmlns:a16="http://schemas.microsoft.com/office/drawing/2014/main" val="20004"/>
                    </a:ext>
                  </a:extLst>
                </a:gridCol>
                <a:gridCol w="502606">
                  <a:extLst>
                    <a:ext uri="{9D8B030D-6E8A-4147-A177-3AD203B41FA5}">
                      <a16:colId xmlns:a16="http://schemas.microsoft.com/office/drawing/2014/main" val="20005"/>
                    </a:ext>
                  </a:extLst>
                </a:gridCol>
                <a:gridCol w="484901">
                  <a:extLst>
                    <a:ext uri="{9D8B030D-6E8A-4147-A177-3AD203B41FA5}">
                      <a16:colId xmlns:a16="http://schemas.microsoft.com/office/drawing/2014/main" val="20006"/>
                    </a:ext>
                  </a:extLst>
                </a:gridCol>
                <a:gridCol w="479843">
                  <a:extLst>
                    <a:ext uri="{9D8B030D-6E8A-4147-A177-3AD203B41FA5}">
                      <a16:colId xmlns:a16="http://schemas.microsoft.com/office/drawing/2014/main" val="20007"/>
                    </a:ext>
                  </a:extLst>
                </a:gridCol>
                <a:gridCol w="479843">
                  <a:extLst>
                    <a:ext uri="{9D8B030D-6E8A-4147-A177-3AD203B41FA5}">
                      <a16:colId xmlns:a16="http://schemas.microsoft.com/office/drawing/2014/main" val="20008"/>
                    </a:ext>
                  </a:extLst>
                </a:gridCol>
                <a:gridCol w="479843">
                  <a:extLst>
                    <a:ext uri="{9D8B030D-6E8A-4147-A177-3AD203B41FA5}">
                      <a16:colId xmlns:a16="http://schemas.microsoft.com/office/drawing/2014/main" val="20009"/>
                    </a:ext>
                  </a:extLst>
                </a:gridCol>
                <a:gridCol w="479843">
                  <a:extLst>
                    <a:ext uri="{9D8B030D-6E8A-4147-A177-3AD203B41FA5}">
                      <a16:colId xmlns:a16="http://schemas.microsoft.com/office/drawing/2014/main" val="20010"/>
                    </a:ext>
                  </a:extLst>
                </a:gridCol>
                <a:gridCol w="479843">
                  <a:extLst>
                    <a:ext uri="{9D8B030D-6E8A-4147-A177-3AD203B41FA5}">
                      <a16:colId xmlns:a16="http://schemas.microsoft.com/office/drawing/2014/main" val="20011"/>
                    </a:ext>
                  </a:extLst>
                </a:gridCol>
                <a:gridCol w="479843">
                  <a:extLst>
                    <a:ext uri="{9D8B030D-6E8A-4147-A177-3AD203B41FA5}">
                      <a16:colId xmlns:a16="http://schemas.microsoft.com/office/drawing/2014/main" val="20012"/>
                    </a:ext>
                  </a:extLst>
                </a:gridCol>
                <a:gridCol w="479843">
                  <a:extLst>
                    <a:ext uri="{9D8B030D-6E8A-4147-A177-3AD203B41FA5}">
                      <a16:colId xmlns:a16="http://schemas.microsoft.com/office/drawing/2014/main" val="20013"/>
                    </a:ext>
                  </a:extLst>
                </a:gridCol>
                <a:gridCol w="479843">
                  <a:extLst>
                    <a:ext uri="{9D8B030D-6E8A-4147-A177-3AD203B41FA5}">
                      <a16:colId xmlns:a16="http://schemas.microsoft.com/office/drawing/2014/main" val="20014"/>
                    </a:ext>
                  </a:extLst>
                </a:gridCol>
                <a:gridCol w="479843">
                  <a:extLst>
                    <a:ext uri="{9D8B030D-6E8A-4147-A177-3AD203B41FA5}">
                      <a16:colId xmlns:a16="http://schemas.microsoft.com/office/drawing/2014/main" val="20015"/>
                    </a:ext>
                  </a:extLst>
                </a:gridCol>
                <a:gridCol w="479843">
                  <a:extLst>
                    <a:ext uri="{9D8B030D-6E8A-4147-A177-3AD203B41FA5}">
                      <a16:colId xmlns:a16="http://schemas.microsoft.com/office/drawing/2014/main" val="20016"/>
                    </a:ext>
                  </a:extLst>
                </a:gridCol>
                <a:gridCol w="570856">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954">
                <a:tc>
                  <a:txBody>
                    <a:bodyPr/>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7954">
                <a:tc>
                  <a:txBody>
                    <a:bodyPr/>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7954">
                <a:tc>
                  <a:txBody>
                    <a:bodyPr/>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7954">
                <a:tc>
                  <a:txBody>
                    <a:bodyPr/>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7954">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219075" y="27336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152775"/>
            <a:ext cx="11639550" cy="209550"/>
          </a:xfrm>
          <a:prstGeom prst="rect">
            <a:avLst/>
          </a:prstGeom>
          <a:noFill/>
        </p:spPr>
        <p:txBody>
          <a:bodyPr wrap="square" lIns="0" tIns="9525" rIns="19050" bIns="9525">
            <a:spAutoFit/>
          </a:bodyPr>
          <a:lstStyle/>
          <a:p>
            <a:pPr algn="l"/>
            <a:r>
              <a:rPr sz="1300" b="1">
                <a:solidFill>
                  <a:srgbClr val="0B2E4A"/>
                </a:solidFill>
                <a:latin typeface="Calibri"/>
              </a:rPr>
              <a:t>Europe Value Analysis, By End-use Application</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476625"/>
            <a:ext cx="11639550" cy="307657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669303" y="1837563"/>
            <a:ext cx="366712" cy="533399"/>
          </a:xfrm>
          <a:prstGeom prst="rect">
            <a:avLst/>
          </a:prstGeom>
        </p:spPr>
      </p:pic>
      <p:sp>
        <p:nvSpPr>
          <p:cNvPr id="20" name="TextBox 19"/>
          <p:cNvSpPr txBox="1"/>
          <p:nvPr/>
        </p:nvSpPr>
        <p:spPr>
          <a:xfrm>
            <a:off x="276225" y="3486150"/>
            <a:ext cx="5172546" cy="194310"/>
          </a:xfrm>
          <a:prstGeom prst="rect">
            <a:avLst/>
          </a:prstGeom>
          <a:noFill/>
        </p:spPr>
        <p:txBody>
          <a:bodyPr wrap="none" lIns="0" tIns="0" rIns="0" bIns="0">
            <a:spAutoFit/>
          </a:bodyPr>
          <a:lstStyle/>
          <a:p>
            <a:r>
              <a:rPr sz="1150" b="0">
                <a:solidFill>
                  <a:srgbClr val="2E2E2E"/>
                </a:solidFill>
                <a:latin typeface="Calibri"/>
              </a:rPr>
              <a:t>Support for observable age-related cognitive changes segment is projected to register</a:t>
            </a:r>
          </a:p>
        </p:txBody>
      </p:sp>
      <p:pic>
        <p:nvPicPr>
          <p:cNvPr id="21" name="Picture 20" descr="lock.png"/>
          <p:cNvPicPr>
            <a:picLocks noChangeAspect="1"/>
          </p:cNvPicPr>
          <p:nvPr/>
        </p:nvPicPr>
        <p:blipFill>
          <a:blip r:embed="rId4"/>
          <a:stretch>
            <a:fillRect/>
          </a:stretch>
        </p:blipFill>
        <p:spPr>
          <a:xfrm>
            <a:off x="5397925" y="3475926"/>
            <a:ext cx="134549" cy="195707"/>
          </a:xfrm>
          <a:prstGeom prst="rect">
            <a:avLst/>
          </a:prstGeom>
        </p:spPr>
      </p:pic>
      <p:sp>
        <p:nvSpPr>
          <p:cNvPr id="22" name="TextBox 21"/>
          <p:cNvSpPr txBox="1"/>
          <p:nvPr/>
        </p:nvSpPr>
        <p:spPr>
          <a:xfrm>
            <a:off x="5573034" y="3486150"/>
            <a:ext cx="6291026" cy="194310"/>
          </a:xfrm>
          <a:prstGeom prst="rect">
            <a:avLst/>
          </a:prstGeom>
          <a:noFill/>
        </p:spPr>
        <p:txBody>
          <a:bodyPr wrap="none" lIns="0" tIns="0" rIns="0" bIns="0">
            <a:spAutoFit/>
          </a:bodyPr>
          <a:lstStyle/>
          <a:p>
            <a:r>
              <a:rPr sz="1150" b="0">
                <a:solidFill>
                  <a:srgbClr val="2E2E2E"/>
                </a:solidFill>
                <a:latin typeface="Calibri"/>
              </a:rPr>
              <a:t>X higher value than routine cognitive wellness segment in 2036. Among senior dog cognitive supplement</a:t>
            </a:r>
          </a:p>
        </p:txBody>
      </p:sp>
      <p:sp>
        <p:nvSpPr>
          <p:cNvPr id="23" name="TextBox 22"/>
          <p:cNvSpPr txBox="1"/>
          <p:nvPr/>
        </p:nvSpPr>
        <p:spPr>
          <a:xfrm>
            <a:off x="276225" y="3661410"/>
            <a:ext cx="7463402" cy="194310"/>
          </a:xfrm>
          <a:prstGeom prst="rect">
            <a:avLst/>
          </a:prstGeom>
          <a:noFill/>
        </p:spPr>
        <p:txBody>
          <a:bodyPr wrap="none" lIns="0" tIns="0" rIns="0" bIns="0">
            <a:spAutoFit/>
          </a:bodyPr>
          <a:lstStyle/>
          <a:p>
            <a:r>
              <a:rPr sz="1150" b="0">
                <a:solidFill>
                  <a:srgbClr val="2E2E2E"/>
                </a:solidFill>
                <a:latin typeface="Calibri"/>
              </a:rPr>
              <a:t>by end-use application, veterinary-guided cognitive dysfunction support segment is expected to witness the highest CAGR of</a:t>
            </a:r>
          </a:p>
        </p:txBody>
      </p:sp>
      <p:pic>
        <p:nvPicPr>
          <p:cNvPr id="24" name="Picture 23" descr="lock.png"/>
          <p:cNvPicPr>
            <a:picLocks noChangeAspect="1"/>
          </p:cNvPicPr>
          <p:nvPr/>
        </p:nvPicPr>
        <p:blipFill>
          <a:blip r:embed="rId4"/>
          <a:stretch>
            <a:fillRect/>
          </a:stretch>
        </p:blipFill>
        <p:spPr>
          <a:xfrm>
            <a:off x="7688781" y="3651186"/>
            <a:ext cx="134549" cy="195707"/>
          </a:xfrm>
          <a:prstGeom prst="rect">
            <a:avLst/>
          </a:prstGeom>
        </p:spPr>
      </p:pic>
      <p:sp>
        <p:nvSpPr>
          <p:cNvPr id="25" name="TextBox 24"/>
          <p:cNvSpPr txBox="1"/>
          <p:nvPr/>
        </p:nvSpPr>
        <p:spPr>
          <a:xfrm>
            <a:off x="7863890" y="3661410"/>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9399153" cy="194310"/>
          </a:xfrm>
          <a:prstGeom prst="rect">
            <a:avLst/>
          </a:prstGeom>
          <a:noFill/>
        </p:spPr>
        <p:txBody>
          <a:bodyPr wrap="none" lIns="0" tIns="0" rIns="0" bIns="0">
            <a:spAutoFit/>
          </a:bodyPr>
          <a:lstStyle/>
          <a:p>
            <a:r>
              <a:rPr sz="1150" b="0">
                <a:solidFill>
                  <a:srgbClr val="2E2E2E"/>
                </a:solidFill>
                <a:latin typeface="Calibri"/>
              </a:rPr>
              <a:t>In terms of value share by end-use application, the support for observable age-related cognitive changes segment is expected to dominate the market, losing</a:t>
            </a:r>
          </a:p>
        </p:txBody>
      </p:sp>
      <p:pic>
        <p:nvPicPr>
          <p:cNvPr id="27" name="Picture 26" descr="lock.png"/>
          <p:cNvPicPr>
            <a:picLocks noChangeAspect="1"/>
          </p:cNvPicPr>
          <p:nvPr/>
        </p:nvPicPr>
        <p:blipFill>
          <a:blip r:embed="rId4"/>
          <a:stretch>
            <a:fillRect/>
          </a:stretch>
        </p:blipFill>
        <p:spPr>
          <a:xfrm>
            <a:off x="9624532" y="3879024"/>
            <a:ext cx="134549" cy="195707"/>
          </a:xfrm>
          <a:prstGeom prst="rect">
            <a:avLst/>
          </a:prstGeom>
        </p:spPr>
      </p:pic>
      <p:sp>
        <p:nvSpPr>
          <p:cNvPr id="28" name="TextBox 27"/>
          <p:cNvSpPr txBox="1"/>
          <p:nvPr/>
        </p:nvSpPr>
        <p:spPr>
          <a:xfrm>
            <a:off x="9799641" y="3889247"/>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1194784" y="3879024"/>
            <a:ext cx="134549" cy="195707"/>
          </a:xfrm>
          <a:prstGeom prst="rect">
            <a:avLst/>
          </a:prstGeom>
        </p:spPr>
      </p:pic>
      <p:sp>
        <p:nvSpPr>
          <p:cNvPr id="30" name="TextBox 29"/>
          <p:cNvSpPr txBox="1"/>
          <p:nvPr/>
        </p:nvSpPr>
        <p:spPr>
          <a:xfrm>
            <a:off x="276225" y="4064507"/>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&amp; Share Shift, By End-use Application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End-use Application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Composition, By End-use Application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590675"/>
            <a:ext cx="2595753" cy="171069"/>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a:endParaRPr/>
          </a:p>
        </p:txBody>
      </p:sp>
      <p:sp>
        <p:nvSpPr>
          <p:cNvPr id="15" name="FMI Legend Chip"/>
          <p:cNvSpPr/>
          <p:nvPr/>
        </p:nvSpPr>
        <p:spPr>
          <a:xfrm>
            <a:off x="4928997" y="189951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a:off x="5090922" y="189475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81855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Veterinary-Guided Cognitive Dysfunction Support</a:t>
            </a:r>
          </a:p>
        </p:txBody>
      </p:sp>
      <p:sp>
        <p:nvSpPr>
          <p:cNvPr id="18" name="BPS Value 1"/>
          <p:cNvSpPr txBox="1"/>
          <p:nvPr/>
        </p:nvSpPr>
        <p:spPr>
          <a:xfrm>
            <a:off x="6896100" y="1880466"/>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19" name="FMI Legend Chip"/>
          <p:cNvSpPr/>
          <p:nvPr/>
        </p:nvSpPr>
        <p:spPr>
          <a:xfrm>
            <a:off x="4928997" y="238197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5090922" y="237721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230101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Preventive Cognitive Support for Senior Dogs</a:t>
            </a:r>
          </a:p>
        </p:txBody>
      </p:sp>
      <p:sp>
        <p:nvSpPr>
          <p:cNvPr id="22" name="BPS Value 2"/>
          <p:cNvSpPr txBox="1"/>
          <p:nvPr/>
        </p:nvSpPr>
        <p:spPr>
          <a:xfrm>
            <a:off x="6896100" y="2362928"/>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3" name="FMI Legend Chip"/>
          <p:cNvSpPr/>
          <p:nvPr/>
        </p:nvSpPr>
        <p:spPr>
          <a:xfrm>
            <a:off x="4928997" y="317718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a:off x="5090922" y="317242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309622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Routine Cognitive Wellness</a:t>
            </a:r>
          </a:p>
        </p:txBody>
      </p:sp>
      <p:sp>
        <p:nvSpPr>
          <p:cNvPr id="26" name="BPS Value 3"/>
          <p:cNvSpPr txBox="1"/>
          <p:nvPr/>
        </p:nvSpPr>
        <p:spPr>
          <a:xfrm>
            <a:off x="6896100" y="3158132"/>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7" name="FMI Legend Chip"/>
          <p:cNvSpPr/>
          <p:nvPr/>
        </p:nvSpPr>
        <p:spPr>
          <a:xfrm>
            <a:off x="4928997" y="498091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rot="10800000">
            <a:off x="5090922" y="497614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4899948"/>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Support for Observable Age-Related Cognitive Changes</a:t>
            </a:r>
          </a:p>
        </p:txBody>
      </p:sp>
      <p:sp>
        <p:nvSpPr>
          <p:cNvPr id="30" name="BPS Value 4"/>
          <p:cNvSpPr txBox="1"/>
          <p:nvPr/>
        </p:nvSpPr>
        <p:spPr>
          <a:xfrm>
            <a:off x="6896100" y="4961861"/>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Europe Read-out, By End-use Application</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35" name="TextBox 34"/>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886336" cy="194310"/>
          </a:xfrm>
          <a:prstGeom prst="rect">
            <a:avLst/>
          </a:prstGeom>
          <a:noFill/>
        </p:spPr>
        <p:txBody>
          <a:bodyPr wrap="none" lIns="0" tIns="0" rIns="0" bIns="0">
            <a:spAutoFit/>
          </a:bodyPr>
          <a:lstStyle/>
          <a:p>
            <a:r>
              <a:rPr sz="1150" b="0">
                <a:solidFill>
                  <a:srgbClr val="2E2E2E"/>
                </a:solidFill>
                <a:latin typeface="Calibri"/>
              </a:rPr>
              <a:t>Among senior dog cognitive supplement by end-use application,</a:t>
            </a:r>
          </a:p>
        </p:txBody>
      </p:sp>
      <p:sp>
        <p:nvSpPr>
          <p:cNvPr id="38" name="TextBox 37"/>
          <p:cNvSpPr txBox="1"/>
          <p:nvPr/>
        </p:nvSpPr>
        <p:spPr>
          <a:xfrm>
            <a:off x="7829550" y="1575435"/>
            <a:ext cx="3605361" cy="194310"/>
          </a:xfrm>
          <a:prstGeom prst="rect">
            <a:avLst/>
          </a:prstGeom>
          <a:noFill/>
        </p:spPr>
        <p:txBody>
          <a:bodyPr wrap="none" lIns="0" tIns="0" rIns="0" bIns="0">
            <a:spAutoFit/>
          </a:bodyPr>
          <a:lstStyle/>
          <a:p>
            <a:r>
              <a:rPr sz="1150" b="0">
                <a:solidFill>
                  <a:srgbClr val="2E2E2E"/>
                </a:solidFill>
                <a:latin typeface="Calibri"/>
              </a:rPr>
              <a:t>veterinary-guided cognitive dysfunction support segment is</a:t>
            </a:r>
          </a:p>
        </p:txBody>
      </p:sp>
      <p:sp>
        <p:nvSpPr>
          <p:cNvPr id="39" name="TextBox 38"/>
          <p:cNvSpPr txBox="1"/>
          <p:nvPr/>
        </p:nvSpPr>
        <p:spPr>
          <a:xfrm>
            <a:off x="7829550" y="1750695"/>
            <a:ext cx="2486007" cy="194310"/>
          </a:xfrm>
          <a:prstGeom prst="rect">
            <a:avLst/>
          </a:prstGeom>
          <a:noFill/>
        </p:spPr>
        <p:txBody>
          <a:bodyPr wrap="none" lIns="0" tIns="0" rIns="0" bIns="0">
            <a:spAutoFit/>
          </a:bodyPr>
          <a:lstStyle/>
          <a:p>
            <a:r>
              <a:rPr sz="1150" b="0">
                <a:solidFill>
                  <a:srgbClr val="2E2E2E"/>
                </a:solidFill>
                <a:latin typeface="Calibri"/>
              </a:rPr>
              <a:t>expected to witness the highest CAGR of</a:t>
            </a:r>
          </a:p>
        </p:txBody>
      </p:sp>
      <p:pic>
        <p:nvPicPr>
          <p:cNvPr id="40" name="Picture 39" descr="lock.png"/>
          <p:cNvPicPr>
            <a:picLocks noChangeAspect="1"/>
          </p:cNvPicPr>
          <p:nvPr/>
        </p:nvPicPr>
        <p:blipFill>
          <a:blip r:embed="rId5"/>
          <a:stretch>
            <a:fillRect/>
          </a:stretch>
        </p:blipFill>
        <p:spPr>
          <a:xfrm>
            <a:off x="10264711" y="1740471"/>
            <a:ext cx="134549" cy="195707"/>
          </a:xfrm>
          <a:prstGeom prst="rect">
            <a:avLst/>
          </a:prstGeom>
        </p:spPr>
      </p:pic>
      <p:sp>
        <p:nvSpPr>
          <p:cNvPr id="41" name="TextBox 40"/>
          <p:cNvSpPr txBox="1"/>
          <p:nvPr/>
        </p:nvSpPr>
        <p:spPr>
          <a:xfrm>
            <a:off x="10439820" y="1750695"/>
            <a:ext cx="1090848" cy="194310"/>
          </a:xfrm>
          <a:prstGeom prst="rect">
            <a:avLst/>
          </a:prstGeom>
          <a:noFill/>
        </p:spPr>
        <p:txBody>
          <a:bodyPr wrap="none" lIns="0" tIns="0" rIns="0" bIns="0">
            <a:spAutoFit/>
          </a:bodyPr>
          <a:lstStyle/>
          <a:p>
            <a:r>
              <a:rPr sz="1150" b="0">
                <a:solidFill>
                  <a:srgbClr val="2E2E2E"/>
                </a:solidFill>
                <a:latin typeface="Calibri"/>
              </a:rPr>
              <a:t>over the forecast</a:t>
            </a:r>
          </a:p>
        </p:txBody>
      </p:sp>
      <p:sp>
        <p:nvSpPr>
          <p:cNvPr id="42" name="TextBox 41"/>
          <p:cNvSpPr txBox="1"/>
          <p:nvPr/>
        </p:nvSpPr>
        <p:spPr>
          <a:xfrm>
            <a:off x="7829550" y="1925955"/>
            <a:ext cx="500943" cy="194310"/>
          </a:xfrm>
          <a:prstGeom prst="rect">
            <a:avLst/>
          </a:prstGeom>
          <a:noFill/>
        </p:spPr>
        <p:txBody>
          <a:bodyPr wrap="none" lIns="0" tIns="0" rIns="0" bIns="0">
            <a:spAutoFit/>
          </a:bodyPr>
          <a:lstStyle/>
          <a:p>
            <a:r>
              <a:rPr sz="1150" b="0">
                <a:solidFill>
                  <a:srgbClr val="2E2E2E"/>
                </a:solidFill>
                <a:latin typeface="Calibri"/>
              </a:rPr>
              <a:t>period.</a:t>
            </a:r>
          </a:p>
        </p:txBody>
      </p:sp>
      <p:sp>
        <p:nvSpPr>
          <p:cNvPr id="43" name="TextBox 42"/>
          <p:cNvSpPr txBox="1"/>
          <p:nvPr/>
        </p:nvSpPr>
        <p:spPr>
          <a:xfrm>
            <a:off x="7829550" y="2153793"/>
            <a:ext cx="3786497" cy="194310"/>
          </a:xfrm>
          <a:prstGeom prst="rect">
            <a:avLst/>
          </a:prstGeom>
          <a:noFill/>
        </p:spPr>
        <p:txBody>
          <a:bodyPr wrap="none" lIns="0" tIns="0" rIns="0" bIns="0">
            <a:spAutoFit/>
          </a:bodyPr>
          <a:lstStyle/>
          <a:p>
            <a:r>
              <a:rPr sz="1150" b="0">
                <a:solidFill>
                  <a:srgbClr val="2E2E2E"/>
                </a:solidFill>
                <a:latin typeface="Calibri"/>
              </a:rPr>
              <a:t>In terms of value share by end-use application, the support for</a:t>
            </a:r>
          </a:p>
        </p:txBody>
      </p:sp>
      <p:sp>
        <p:nvSpPr>
          <p:cNvPr id="44" name="TextBox 43"/>
          <p:cNvSpPr txBox="1"/>
          <p:nvPr/>
        </p:nvSpPr>
        <p:spPr>
          <a:xfrm>
            <a:off x="7829550" y="2329053"/>
            <a:ext cx="3943101" cy="194310"/>
          </a:xfrm>
          <a:prstGeom prst="rect">
            <a:avLst/>
          </a:prstGeom>
          <a:noFill/>
        </p:spPr>
        <p:txBody>
          <a:bodyPr wrap="none" lIns="0" tIns="0" rIns="0" bIns="0">
            <a:spAutoFit/>
          </a:bodyPr>
          <a:lstStyle/>
          <a:p>
            <a:r>
              <a:rPr sz="1150" b="0">
                <a:solidFill>
                  <a:srgbClr val="2E2E2E"/>
                </a:solidFill>
                <a:latin typeface="Calibri"/>
              </a:rPr>
              <a:t>observable age-related cognitive changes segment is expected to</a:t>
            </a:r>
          </a:p>
        </p:txBody>
      </p:sp>
      <p:sp>
        <p:nvSpPr>
          <p:cNvPr id="45" name="TextBox 44"/>
          <p:cNvSpPr txBox="1"/>
          <p:nvPr/>
        </p:nvSpPr>
        <p:spPr>
          <a:xfrm>
            <a:off x="7829550" y="2504313"/>
            <a:ext cx="1755774" cy="194310"/>
          </a:xfrm>
          <a:prstGeom prst="rect">
            <a:avLst/>
          </a:prstGeom>
          <a:noFill/>
        </p:spPr>
        <p:txBody>
          <a:bodyPr wrap="none" lIns="0" tIns="0" rIns="0" bIns="0">
            <a:spAutoFit/>
          </a:bodyPr>
          <a:lstStyle/>
          <a:p>
            <a:r>
              <a:rPr sz="1150" b="0">
                <a:solidFill>
                  <a:srgbClr val="2E2E2E"/>
                </a:solidFill>
                <a:latin typeface="Calibri"/>
              </a:rPr>
              <a:t>dominate the market, losing</a:t>
            </a:r>
          </a:p>
        </p:txBody>
      </p:sp>
      <p:pic>
        <p:nvPicPr>
          <p:cNvPr id="46" name="Picture 45" descr="lock.png"/>
          <p:cNvPicPr>
            <a:picLocks noChangeAspect="1"/>
          </p:cNvPicPr>
          <p:nvPr/>
        </p:nvPicPr>
        <p:blipFill>
          <a:blip r:embed="rId5"/>
          <a:stretch>
            <a:fillRect/>
          </a:stretch>
        </p:blipFill>
        <p:spPr>
          <a:xfrm>
            <a:off x="9534478" y="2494089"/>
            <a:ext cx="134549" cy="195707"/>
          </a:xfrm>
          <a:prstGeom prst="rect">
            <a:avLst/>
          </a:prstGeom>
        </p:spPr>
      </p:pic>
      <p:sp>
        <p:nvSpPr>
          <p:cNvPr id="47" name="TextBox 46"/>
          <p:cNvSpPr txBox="1"/>
          <p:nvPr/>
        </p:nvSpPr>
        <p:spPr>
          <a:xfrm>
            <a:off x="9709588" y="2504313"/>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48" name="Picture 47" descr="lock.png"/>
          <p:cNvPicPr>
            <a:picLocks noChangeAspect="1"/>
          </p:cNvPicPr>
          <p:nvPr/>
        </p:nvPicPr>
        <p:blipFill>
          <a:blip r:embed="rId5"/>
          <a:stretch>
            <a:fillRect/>
          </a:stretch>
        </p:blipFill>
        <p:spPr>
          <a:xfrm>
            <a:off x="11104731" y="2494089"/>
            <a:ext cx="134549" cy="195707"/>
          </a:xfrm>
          <a:prstGeom prst="rect">
            <a:avLst/>
          </a:prstGeom>
        </p:spPr>
      </p:pic>
      <p:sp>
        <p:nvSpPr>
          <p:cNvPr id="49" name="TextBox 48"/>
          <p:cNvSpPr txBox="1"/>
          <p:nvPr/>
        </p:nvSpPr>
        <p:spPr>
          <a:xfrm>
            <a:off x="11279840" y="2504313"/>
            <a:ext cx="403671" cy="194310"/>
          </a:xfrm>
          <a:prstGeom prst="rect">
            <a:avLst/>
          </a:prstGeom>
          <a:noFill/>
        </p:spPr>
        <p:txBody>
          <a:bodyPr wrap="none" lIns="0" tIns="0" rIns="0" bIns="0">
            <a:spAutoFit/>
          </a:bodyPr>
          <a:lstStyle/>
          <a:p>
            <a:r>
              <a:rPr sz="1150" b="0">
                <a:solidFill>
                  <a:srgbClr val="2E2E2E"/>
                </a:solidFill>
                <a:latin typeface="Calibri"/>
              </a:rPr>
              <a:t>share</a:t>
            </a:r>
          </a:p>
        </p:txBody>
      </p:sp>
      <p:sp>
        <p:nvSpPr>
          <p:cNvPr id="50" name="TextBox 49"/>
          <p:cNvSpPr txBox="1"/>
          <p:nvPr/>
        </p:nvSpPr>
        <p:spPr>
          <a:xfrm>
            <a:off x="7829550" y="2679573"/>
            <a:ext cx="585663" cy="194310"/>
          </a:xfrm>
          <a:prstGeom prst="rect">
            <a:avLst/>
          </a:prstGeom>
          <a:noFill/>
        </p:spPr>
        <p:txBody>
          <a:bodyPr wrap="none" lIns="0" tIns="0" rIns="0" bIns="0">
            <a:spAutoFit/>
          </a:bodyPr>
          <a:lstStyle/>
          <a:p>
            <a:r>
              <a:rPr sz="1150" b="0">
                <a:solidFill>
                  <a:srgbClr val="2E2E2E"/>
                </a:solidFill>
                <a:latin typeface="Calibri"/>
              </a:rPr>
              <a:t>by 2036.</a:t>
            </a:r>
          </a:p>
        </p:txBody>
      </p:sp>
      <p:sp>
        <p:nvSpPr>
          <p:cNvPr id="5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14.4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Packaging Format</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Packaging Format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Packaging Format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6 sub-segments of Packaging Format,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Packaging Format segment categorizes the market by packaging format.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Sachets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Blister Packs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Canisters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Pouches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Bottles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Jars and Tubs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Packaging Format split shows how demand is distributed across packaging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7" name="Picture 76" descr="667_7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935_4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3_4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646_1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004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4_5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604_4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1_017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5_3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519_4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1_195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8_7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267_5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404_8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4_2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238_0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499_9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7_7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535411" cy="186689"/>
          </a:xfrm>
          <a:prstGeom prst="rect">
            <a:avLst/>
          </a:prstGeom>
          <a:noFill/>
        </p:spPr>
        <p:txBody>
          <a:bodyPr wrap="none" lIns="0" tIns="0" rIns="0" bIns="0">
            <a:spAutoFit/>
          </a:bodyPr>
          <a:lstStyle/>
          <a:p>
            <a:r>
              <a:rPr sz="1100" b="0">
                <a:solidFill>
                  <a:srgbClr val="2E2E2E"/>
                </a:solidFill>
                <a:latin typeface="Calibri"/>
              </a:rPr>
              <a:t>Among senior dog cognitive supplement by</a:t>
            </a:r>
          </a:p>
        </p:txBody>
      </p:sp>
      <p:sp>
        <p:nvSpPr>
          <p:cNvPr id="102" name="TextBox 101"/>
          <p:cNvSpPr txBox="1"/>
          <p:nvPr/>
        </p:nvSpPr>
        <p:spPr>
          <a:xfrm>
            <a:off x="485775" y="4397077"/>
            <a:ext cx="2914650" cy="186689"/>
          </a:xfrm>
          <a:prstGeom prst="rect">
            <a:avLst/>
          </a:prstGeom>
          <a:noFill/>
        </p:spPr>
        <p:txBody>
          <a:bodyPr wrap="none" lIns="0" tIns="0" rIns="0" bIns="0">
            <a:spAutoFit/>
          </a:bodyPr>
          <a:lstStyle/>
          <a:p>
            <a:r>
              <a:rPr sz="1100" b="0">
                <a:solidFill>
                  <a:srgbClr val="2E2E2E"/>
                </a:solidFill>
                <a:latin typeface="Calibri"/>
              </a:rPr>
              <a:t>packaging format, pouches segment is expected to</a:t>
            </a:r>
          </a:p>
        </p:txBody>
      </p:sp>
      <p:sp>
        <p:nvSpPr>
          <p:cNvPr id="103" name="TextBox 102"/>
          <p:cNvSpPr txBox="1"/>
          <p:nvPr/>
        </p:nvSpPr>
        <p:spPr>
          <a:xfrm>
            <a:off x="485775" y="4564717"/>
            <a:ext cx="1675093" cy="186689"/>
          </a:xfrm>
          <a:prstGeom prst="rect">
            <a:avLst/>
          </a:prstGeom>
          <a:noFill/>
        </p:spPr>
        <p:txBody>
          <a:bodyPr wrap="none" lIns="0" tIns="0" rIns="0" bIns="0">
            <a:spAutoFit/>
          </a:bodyPr>
          <a:lstStyle/>
          <a:p>
            <a:r>
              <a:rPr sz="1100" b="0">
                <a:solidFill>
                  <a:srgbClr val="2E2E2E"/>
                </a:solidFill>
                <a:latin typeface="Calibri"/>
              </a:rPr>
              <a:t>witness the highest CAGR of</a:t>
            </a:r>
          </a:p>
        </p:txBody>
      </p:sp>
      <p:pic>
        <p:nvPicPr>
          <p:cNvPr id="104" name="Picture 103" descr="lock.png"/>
          <p:cNvPicPr>
            <a:picLocks noChangeAspect="1"/>
          </p:cNvPicPr>
          <p:nvPr/>
        </p:nvPicPr>
        <p:blipFill>
          <a:blip r:embed="rId22"/>
          <a:stretch>
            <a:fillRect/>
          </a:stretch>
        </p:blipFill>
        <p:spPr>
          <a:xfrm>
            <a:off x="2108919" y="4554938"/>
            <a:ext cx="128699" cy="187198"/>
          </a:xfrm>
          <a:prstGeom prst="rect">
            <a:avLst/>
          </a:prstGeom>
        </p:spPr>
      </p:pic>
      <p:sp>
        <p:nvSpPr>
          <p:cNvPr id="105" name="TextBox 104"/>
          <p:cNvSpPr txBox="1"/>
          <p:nvPr/>
        </p:nvSpPr>
        <p:spPr>
          <a:xfrm>
            <a:off x="2276415" y="4564717"/>
            <a:ext cx="1046733" cy="186689"/>
          </a:xfrm>
          <a:prstGeom prst="rect">
            <a:avLst/>
          </a:prstGeom>
          <a:noFill/>
        </p:spPr>
        <p:txBody>
          <a:bodyPr wrap="none" lIns="0" tIns="0" rIns="0" bIns="0">
            <a:spAutoFit/>
          </a:bodyPr>
          <a:lstStyle/>
          <a:p>
            <a:r>
              <a:rPr sz="1100" b="0">
                <a:solidFill>
                  <a:srgbClr val="2E2E2E"/>
                </a:solidFill>
                <a:latin typeface="Calibri"/>
              </a:rPr>
              <a:t>over the forecast</a:t>
            </a:r>
          </a:p>
        </p:txBody>
      </p:sp>
      <p:sp>
        <p:nvSpPr>
          <p:cNvPr id="106" name="TextBox 105"/>
          <p:cNvSpPr txBox="1"/>
          <p:nvPr/>
        </p:nvSpPr>
        <p:spPr>
          <a:xfrm>
            <a:off x="485775" y="4732357"/>
            <a:ext cx="2582341" cy="186689"/>
          </a:xfrm>
          <a:prstGeom prst="rect">
            <a:avLst/>
          </a:prstGeom>
          <a:noFill/>
        </p:spPr>
        <p:txBody>
          <a:bodyPr wrap="none" lIns="0" tIns="0" rIns="0" bIns="0">
            <a:spAutoFit/>
          </a:bodyPr>
          <a:lstStyle/>
          <a:p>
            <a:r>
              <a:rPr sz="1100" b="0">
                <a:solidFill>
                  <a:srgbClr val="2E2E2E"/>
                </a:solidFill>
                <a:latin typeface="Calibri"/>
              </a:rPr>
              <a:t>period. In terms of value share by packaging</a:t>
            </a:r>
          </a:p>
        </p:txBody>
      </p:sp>
      <p:sp>
        <p:nvSpPr>
          <p:cNvPr id="107" name="TextBox 106"/>
          <p:cNvSpPr txBox="1"/>
          <p:nvPr/>
        </p:nvSpPr>
        <p:spPr>
          <a:xfrm>
            <a:off x="485775" y="4899997"/>
            <a:ext cx="2579613" cy="186689"/>
          </a:xfrm>
          <a:prstGeom prst="rect">
            <a:avLst/>
          </a:prstGeom>
          <a:noFill/>
        </p:spPr>
        <p:txBody>
          <a:bodyPr wrap="none" lIns="0" tIns="0" rIns="0" bIns="0">
            <a:spAutoFit/>
          </a:bodyPr>
          <a:lstStyle/>
          <a:p>
            <a:r>
              <a:rPr sz="1100" b="0">
                <a:solidFill>
                  <a:srgbClr val="2E2E2E"/>
                </a:solidFill>
                <a:latin typeface="Calibri"/>
              </a:rPr>
              <a:t>format, the pouches segment is expected to</a:t>
            </a:r>
          </a:p>
        </p:txBody>
      </p:sp>
      <p:sp>
        <p:nvSpPr>
          <p:cNvPr id="108" name="TextBox 107"/>
          <p:cNvSpPr txBox="1"/>
          <p:nvPr/>
        </p:nvSpPr>
        <p:spPr>
          <a:xfrm>
            <a:off x="485775" y="5067637"/>
            <a:ext cx="1760512" cy="186689"/>
          </a:xfrm>
          <a:prstGeom prst="rect">
            <a:avLst/>
          </a:prstGeom>
          <a:noFill/>
        </p:spPr>
        <p:txBody>
          <a:bodyPr wrap="none" lIns="0" tIns="0" rIns="0" bIns="0">
            <a:spAutoFit/>
          </a:bodyPr>
          <a:lstStyle/>
          <a:p>
            <a:r>
              <a:rPr sz="1100" b="0">
                <a:solidFill>
                  <a:srgbClr val="2E2E2E"/>
                </a:solidFill>
                <a:latin typeface="Calibri"/>
              </a:rPr>
              <a:t>dominate the market, gaining</a:t>
            </a:r>
          </a:p>
        </p:txBody>
      </p:sp>
      <p:pic>
        <p:nvPicPr>
          <p:cNvPr id="109" name="Picture 108" descr="lock.png"/>
          <p:cNvPicPr>
            <a:picLocks noChangeAspect="1"/>
          </p:cNvPicPr>
          <p:nvPr/>
        </p:nvPicPr>
        <p:blipFill>
          <a:blip r:embed="rId22"/>
          <a:stretch>
            <a:fillRect/>
          </a:stretch>
        </p:blipFill>
        <p:spPr>
          <a:xfrm>
            <a:off x="2194339" y="5057858"/>
            <a:ext cx="128699" cy="187198"/>
          </a:xfrm>
          <a:prstGeom prst="rect">
            <a:avLst/>
          </a:prstGeom>
        </p:spPr>
      </p:pic>
      <p:sp>
        <p:nvSpPr>
          <p:cNvPr id="110" name="TextBox 109"/>
          <p:cNvSpPr txBox="1"/>
          <p:nvPr/>
        </p:nvSpPr>
        <p:spPr>
          <a:xfrm>
            <a:off x="2361835" y="5067637"/>
            <a:ext cx="534044" cy="186689"/>
          </a:xfrm>
          <a:prstGeom prst="rect">
            <a:avLst/>
          </a:prstGeom>
          <a:noFill/>
        </p:spPr>
        <p:txBody>
          <a:bodyPr wrap="none" lIns="0" tIns="0" rIns="0" bIns="0">
            <a:spAutoFit/>
          </a:bodyPr>
          <a:lstStyle/>
          <a:p>
            <a:r>
              <a:rPr sz="1100" b="0">
                <a:solidFill>
                  <a:srgbClr val="2E2E2E"/>
                </a:solidFill>
                <a:latin typeface="Calibri"/>
              </a:rPr>
              <a:t>BPS and</a:t>
            </a:r>
          </a:p>
        </p:txBody>
      </p:sp>
      <p:sp>
        <p:nvSpPr>
          <p:cNvPr id="111" name="TextBox 110"/>
          <p:cNvSpPr txBox="1"/>
          <p:nvPr/>
        </p:nvSpPr>
        <p:spPr>
          <a:xfrm>
            <a:off x="485775" y="5235277"/>
            <a:ext cx="896937" cy="186689"/>
          </a:xfrm>
          <a:prstGeom prst="rect">
            <a:avLst/>
          </a:prstGeom>
          <a:noFill/>
        </p:spPr>
        <p:txBody>
          <a:bodyPr wrap="none" lIns="0" tIns="0" rIns="0" bIns="0">
            <a:spAutoFit/>
          </a:bodyPr>
          <a:lstStyle/>
          <a:p>
            <a:r>
              <a:rPr sz="1100" b="0">
                <a:solidFill>
                  <a:srgbClr val="2E2E2E"/>
                </a:solidFill>
                <a:latin typeface="Calibri"/>
              </a:rPr>
              <a:t>accounting for</a:t>
            </a:r>
          </a:p>
        </p:txBody>
      </p:sp>
      <p:pic>
        <p:nvPicPr>
          <p:cNvPr id="112" name="Picture 111" descr="lock.png"/>
          <p:cNvPicPr>
            <a:picLocks noChangeAspect="1"/>
          </p:cNvPicPr>
          <p:nvPr/>
        </p:nvPicPr>
        <p:blipFill>
          <a:blip r:embed="rId22"/>
          <a:stretch>
            <a:fillRect/>
          </a:stretch>
        </p:blipFill>
        <p:spPr>
          <a:xfrm>
            <a:off x="1330764" y="5225498"/>
            <a:ext cx="128699" cy="187198"/>
          </a:xfrm>
          <a:prstGeom prst="rect">
            <a:avLst/>
          </a:prstGeom>
        </p:spPr>
      </p:pic>
      <p:sp>
        <p:nvSpPr>
          <p:cNvPr id="113" name="TextBox 112"/>
          <p:cNvSpPr txBox="1"/>
          <p:nvPr/>
        </p:nvSpPr>
        <p:spPr>
          <a:xfrm>
            <a:off x="1498259" y="5235277"/>
            <a:ext cx="908397" cy="186689"/>
          </a:xfrm>
          <a:prstGeom prst="rect">
            <a:avLst/>
          </a:prstGeom>
          <a:noFill/>
        </p:spPr>
        <p:txBody>
          <a:bodyPr wrap="none" lIns="0" tIns="0" rIns="0" bIns="0">
            <a:spAutoFit/>
          </a:bodyPr>
          <a:lstStyle/>
          <a:p>
            <a:r>
              <a:rPr sz="1100" b="0">
                <a:solidFill>
                  <a:srgbClr val="2E2E2E"/>
                </a:solidFill>
                <a:latin typeface="Calibri"/>
              </a:rPr>
              <a:t>share by 2036.</a:t>
            </a:r>
          </a:p>
        </p:txBody>
      </p:sp>
      <p:sp>
        <p:nvSpPr>
          <p:cNvPr id="114" name="TextBox 113"/>
          <p:cNvSpPr txBox="1"/>
          <p:nvPr/>
        </p:nvSpPr>
        <p:spPr>
          <a:xfrm>
            <a:off x="485775" y="5453209"/>
            <a:ext cx="2393801" cy="186689"/>
          </a:xfrm>
          <a:prstGeom prst="rect">
            <a:avLst/>
          </a:prstGeom>
          <a:noFill/>
        </p:spPr>
        <p:txBody>
          <a:bodyPr wrap="none" lIns="0" tIns="0" rIns="0" bIns="0">
            <a:spAutoFit/>
          </a:bodyPr>
          <a:lstStyle/>
          <a:p>
            <a:r>
              <a:rPr sz="1100" b="0">
                <a:solidFill>
                  <a:srgbClr val="2E2E2E"/>
                </a:solidFill>
                <a:latin typeface="Calibri"/>
              </a:rPr>
              <a:t>Pouches segment is projected to register</a:t>
            </a:r>
          </a:p>
        </p:txBody>
      </p:sp>
      <p:pic>
        <p:nvPicPr>
          <p:cNvPr id="115" name="Picture 114" descr="lock.png"/>
          <p:cNvPicPr>
            <a:picLocks noChangeAspect="1"/>
          </p:cNvPicPr>
          <p:nvPr/>
        </p:nvPicPr>
        <p:blipFill>
          <a:blip r:embed="rId22"/>
          <a:stretch>
            <a:fillRect/>
          </a:stretch>
        </p:blipFill>
        <p:spPr>
          <a:xfrm>
            <a:off x="2827627" y="5443430"/>
            <a:ext cx="128699" cy="187198"/>
          </a:xfrm>
          <a:prstGeom prst="rect">
            <a:avLst/>
          </a:prstGeom>
        </p:spPr>
      </p:pic>
      <p:sp>
        <p:nvSpPr>
          <p:cNvPr id="116" name="TextBox 115"/>
          <p:cNvSpPr txBox="1"/>
          <p:nvPr/>
        </p:nvSpPr>
        <p:spPr>
          <a:xfrm>
            <a:off x="2995123" y="5453209"/>
            <a:ext cx="148778" cy="186689"/>
          </a:xfrm>
          <a:prstGeom prst="rect">
            <a:avLst/>
          </a:prstGeom>
          <a:noFill/>
        </p:spPr>
        <p:txBody>
          <a:bodyPr wrap="none" lIns="0" tIns="0" rIns="0" bIns="0">
            <a:spAutoFit/>
          </a:bodyPr>
          <a:lstStyle/>
          <a:p>
            <a:r>
              <a:rPr sz="1100" b="0">
                <a:solidFill>
                  <a:srgbClr val="2E2E2E"/>
                </a:solidFill>
                <a:latin typeface="Calibri"/>
              </a:rPr>
              <a:t>X</a:t>
            </a:r>
          </a:p>
        </p:txBody>
      </p:sp>
      <p:sp>
        <p:nvSpPr>
          <p:cNvPr id="117" name="TextBox 116"/>
          <p:cNvSpPr txBox="1"/>
          <p:nvPr/>
        </p:nvSpPr>
        <p:spPr>
          <a:xfrm>
            <a:off x="485775" y="5620849"/>
            <a:ext cx="2616993" cy="186689"/>
          </a:xfrm>
          <a:prstGeom prst="rect">
            <a:avLst/>
          </a:prstGeom>
          <a:noFill/>
        </p:spPr>
        <p:txBody>
          <a:bodyPr wrap="none" lIns="0" tIns="0" rIns="0" bIns="0">
            <a:spAutoFit/>
          </a:bodyPr>
          <a:lstStyle/>
          <a:p>
            <a:r>
              <a:rPr sz="1100" b="0">
                <a:solidFill>
                  <a:srgbClr val="2E2E2E"/>
                </a:solidFill>
                <a:latin typeface="Calibri"/>
              </a:rPr>
              <a:t>higher value than canisters segment in 2036.</a:t>
            </a:r>
          </a:p>
        </p:txBody>
      </p:sp>
      <p:sp>
        <p:nvSpPr>
          <p:cNvPr id="118" name="TextBox 117"/>
          <p:cNvSpPr txBox="1"/>
          <p:nvPr/>
        </p:nvSpPr>
        <p:spPr>
          <a:xfrm>
            <a:off x="3838575" y="4229437"/>
            <a:ext cx="664195" cy="186689"/>
          </a:xfrm>
          <a:prstGeom prst="rect">
            <a:avLst/>
          </a:prstGeom>
          <a:noFill/>
        </p:spPr>
        <p:txBody>
          <a:bodyPr wrap="none" lIns="0" tIns="0" rIns="0" bIns="0">
            <a:spAutoFit/>
          </a:bodyPr>
          <a:lstStyle/>
          <a:p>
            <a:r>
              <a:rPr sz="1100" b="0">
                <a:solidFill>
                  <a:srgbClr val="2E2E2E"/>
                </a:solidFill>
                <a:latin typeface="Calibri"/>
              </a:rPr>
              <a:t>● Sachets:</a:t>
            </a:r>
          </a:p>
        </p:txBody>
      </p:sp>
      <p:pic>
        <p:nvPicPr>
          <p:cNvPr id="119" name="Picture 118" descr="lock.png"/>
          <p:cNvPicPr>
            <a:picLocks noChangeAspect="1"/>
          </p:cNvPicPr>
          <p:nvPr/>
        </p:nvPicPr>
        <p:blipFill>
          <a:blip r:embed="rId22"/>
          <a:stretch>
            <a:fillRect/>
          </a:stretch>
        </p:blipFill>
        <p:spPr>
          <a:xfrm>
            <a:off x="4450821" y="4219658"/>
            <a:ext cx="128699" cy="187198"/>
          </a:xfrm>
          <a:prstGeom prst="rect">
            <a:avLst/>
          </a:prstGeom>
        </p:spPr>
      </p:pic>
      <p:sp>
        <p:nvSpPr>
          <p:cNvPr id="120" name="TextBox 119"/>
          <p:cNvSpPr txBox="1"/>
          <p:nvPr/>
        </p:nvSpPr>
        <p:spPr>
          <a:xfrm>
            <a:off x="4618317" y="422943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5477767" y="4219658"/>
            <a:ext cx="128699" cy="187198"/>
          </a:xfrm>
          <a:prstGeom prst="rect">
            <a:avLst/>
          </a:prstGeom>
        </p:spPr>
      </p:pic>
      <p:sp>
        <p:nvSpPr>
          <p:cNvPr id="122" name="TextBox 121"/>
          <p:cNvSpPr txBox="1"/>
          <p:nvPr/>
        </p:nvSpPr>
        <p:spPr>
          <a:xfrm>
            <a:off x="5645263" y="4229437"/>
            <a:ext cx="1503469" cy="186689"/>
          </a:xfrm>
          <a:prstGeom prst="rect">
            <a:avLst/>
          </a:prstGeom>
          <a:noFill/>
        </p:spPr>
        <p:txBody>
          <a:bodyPr wrap="none" lIns="0" tIns="0" rIns="0" bIns="0">
            <a:spAutoFit/>
          </a:bodyPr>
          <a:lstStyle/>
          <a:p>
            <a:r>
              <a:rPr sz="1100" b="0">
                <a:solidFill>
                  <a:srgbClr val="2E2E2E"/>
                </a:solidFill>
                <a:latin typeface="Calibri"/>
              </a:rPr>
              <a:t>CAGR leads the segment.</a:t>
            </a:r>
          </a:p>
        </p:txBody>
      </p:sp>
      <p:sp>
        <p:nvSpPr>
          <p:cNvPr id="123" name="TextBox 122"/>
          <p:cNvSpPr txBox="1"/>
          <p:nvPr/>
        </p:nvSpPr>
        <p:spPr>
          <a:xfrm>
            <a:off x="3838575" y="4447369"/>
            <a:ext cx="938138" cy="186689"/>
          </a:xfrm>
          <a:prstGeom prst="rect">
            <a:avLst/>
          </a:prstGeom>
          <a:noFill/>
        </p:spPr>
        <p:txBody>
          <a:bodyPr wrap="none" lIns="0" tIns="0" rIns="0" bIns="0">
            <a:spAutoFit/>
          </a:bodyPr>
          <a:lstStyle/>
          <a:p>
            <a:r>
              <a:rPr sz="1100" b="0">
                <a:solidFill>
                  <a:srgbClr val="2E2E2E"/>
                </a:solidFill>
                <a:latin typeface="Calibri"/>
              </a:rPr>
              <a:t>● Blister Packs:</a:t>
            </a:r>
          </a:p>
        </p:txBody>
      </p:sp>
      <p:pic>
        <p:nvPicPr>
          <p:cNvPr id="124" name="Picture 123" descr="lock.png"/>
          <p:cNvPicPr>
            <a:picLocks noChangeAspect="1"/>
          </p:cNvPicPr>
          <p:nvPr/>
        </p:nvPicPr>
        <p:blipFill>
          <a:blip r:embed="rId22"/>
          <a:stretch>
            <a:fillRect/>
          </a:stretch>
        </p:blipFill>
        <p:spPr>
          <a:xfrm>
            <a:off x="4724764" y="4437590"/>
            <a:ext cx="128699" cy="187198"/>
          </a:xfrm>
          <a:prstGeom prst="rect">
            <a:avLst/>
          </a:prstGeom>
        </p:spPr>
      </p:pic>
      <p:sp>
        <p:nvSpPr>
          <p:cNvPr id="125" name="TextBox 124"/>
          <p:cNvSpPr txBox="1"/>
          <p:nvPr/>
        </p:nvSpPr>
        <p:spPr>
          <a:xfrm>
            <a:off x="4892260" y="444736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5751710" y="4437590"/>
            <a:ext cx="128699" cy="187198"/>
          </a:xfrm>
          <a:prstGeom prst="rect">
            <a:avLst/>
          </a:prstGeom>
        </p:spPr>
      </p:pic>
      <p:sp>
        <p:nvSpPr>
          <p:cNvPr id="127" name="TextBox 126"/>
          <p:cNvSpPr txBox="1"/>
          <p:nvPr/>
        </p:nvSpPr>
        <p:spPr>
          <a:xfrm>
            <a:off x="5919206" y="4447369"/>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28" name="TextBox 127"/>
          <p:cNvSpPr txBox="1"/>
          <p:nvPr/>
        </p:nvSpPr>
        <p:spPr>
          <a:xfrm>
            <a:off x="3838575" y="4665301"/>
            <a:ext cx="750961" cy="186689"/>
          </a:xfrm>
          <a:prstGeom prst="rect">
            <a:avLst/>
          </a:prstGeom>
          <a:noFill/>
        </p:spPr>
        <p:txBody>
          <a:bodyPr wrap="none" lIns="0" tIns="0" rIns="0" bIns="0">
            <a:spAutoFit/>
          </a:bodyPr>
          <a:lstStyle/>
          <a:p>
            <a:r>
              <a:rPr sz="1100" b="0">
                <a:solidFill>
                  <a:srgbClr val="2E2E2E"/>
                </a:solidFill>
                <a:latin typeface="Calibri"/>
              </a:rPr>
              <a:t>● Canisters:</a:t>
            </a:r>
          </a:p>
        </p:txBody>
      </p:sp>
      <p:pic>
        <p:nvPicPr>
          <p:cNvPr id="129" name="Picture 128" descr="lock.png"/>
          <p:cNvPicPr>
            <a:picLocks noChangeAspect="1"/>
          </p:cNvPicPr>
          <p:nvPr/>
        </p:nvPicPr>
        <p:blipFill>
          <a:blip r:embed="rId22"/>
          <a:stretch>
            <a:fillRect/>
          </a:stretch>
        </p:blipFill>
        <p:spPr>
          <a:xfrm>
            <a:off x="4537588" y="4655522"/>
            <a:ext cx="128699" cy="187198"/>
          </a:xfrm>
          <a:prstGeom prst="rect">
            <a:avLst/>
          </a:prstGeom>
        </p:spPr>
      </p:pic>
      <p:sp>
        <p:nvSpPr>
          <p:cNvPr id="130" name="TextBox 129"/>
          <p:cNvSpPr txBox="1"/>
          <p:nvPr/>
        </p:nvSpPr>
        <p:spPr>
          <a:xfrm>
            <a:off x="4705084" y="4665301"/>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5564534" y="4655522"/>
            <a:ext cx="128699" cy="187198"/>
          </a:xfrm>
          <a:prstGeom prst="rect">
            <a:avLst/>
          </a:prstGeom>
        </p:spPr>
      </p:pic>
      <p:sp>
        <p:nvSpPr>
          <p:cNvPr id="132" name="TextBox 131"/>
          <p:cNvSpPr txBox="1"/>
          <p:nvPr/>
        </p:nvSpPr>
        <p:spPr>
          <a:xfrm>
            <a:off x="5732030" y="4665301"/>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33" name="TextBox 132"/>
          <p:cNvSpPr txBox="1"/>
          <p:nvPr/>
        </p:nvSpPr>
        <p:spPr>
          <a:xfrm>
            <a:off x="3838575" y="4883233"/>
            <a:ext cx="705668" cy="186689"/>
          </a:xfrm>
          <a:prstGeom prst="rect">
            <a:avLst/>
          </a:prstGeom>
          <a:noFill/>
        </p:spPr>
        <p:txBody>
          <a:bodyPr wrap="none" lIns="0" tIns="0" rIns="0" bIns="0">
            <a:spAutoFit/>
          </a:bodyPr>
          <a:lstStyle/>
          <a:p>
            <a:r>
              <a:rPr sz="1100" b="0">
                <a:solidFill>
                  <a:srgbClr val="2E2E2E"/>
                </a:solidFill>
                <a:latin typeface="Calibri"/>
              </a:rPr>
              <a:t>● Pouches:</a:t>
            </a:r>
          </a:p>
        </p:txBody>
      </p:sp>
      <p:pic>
        <p:nvPicPr>
          <p:cNvPr id="134" name="Picture 133" descr="lock.png"/>
          <p:cNvPicPr>
            <a:picLocks noChangeAspect="1"/>
          </p:cNvPicPr>
          <p:nvPr/>
        </p:nvPicPr>
        <p:blipFill>
          <a:blip r:embed="rId22"/>
          <a:stretch>
            <a:fillRect/>
          </a:stretch>
        </p:blipFill>
        <p:spPr>
          <a:xfrm>
            <a:off x="4492295" y="4873454"/>
            <a:ext cx="128699" cy="187198"/>
          </a:xfrm>
          <a:prstGeom prst="rect">
            <a:avLst/>
          </a:prstGeom>
        </p:spPr>
      </p:pic>
      <p:sp>
        <p:nvSpPr>
          <p:cNvPr id="135" name="TextBox 134"/>
          <p:cNvSpPr txBox="1"/>
          <p:nvPr/>
        </p:nvSpPr>
        <p:spPr>
          <a:xfrm>
            <a:off x="4659790" y="4883233"/>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2"/>
          <a:stretch>
            <a:fillRect/>
          </a:stretch>
        </p:blipFill>
        <p:spPr>
          <a:xfrm>
            <a:off x="5519241" y="4873454"/>
            <a:ext cx="128699" cy="187198"/>
          </a:xfrm>
          <a:prstGeom prst="rect">
            <a:avLst/>
          </a:prstGeom>
        </p:spPr>
      </p:pic>
      <p:sp>
        <p:nvSpPr>
          <p:cNvPr id="137" name="TextBox 136"/>
          <p:cNvSpPr txBox="1"/>
          <p:nvPr/>
        </p:nvSpPr>
        <p:spPr>
          <a:xfrm>
            <a:off x="5686737" y="4883233"/>
            <a:ext cx="1218612" cy="186689"/>
          </a:xfrm>
          <a:prstGeom prst="rect">
            <a:avLst/>
          </a:prstGeom>
          <a:noFill/>
        </p:spPr>
        <p:txBody>
          <a:bodyPr wrap="none" lIns="0" tIns="0" rIns="0" bIns="0">
            <a:spAutoFit/>
          </a:bodyPr>
          <a:lstStyle/>
          <a:p>
            <a:r>
              <a:rPr sz="1100" b="0">
                <a:solidFill>
                  <a:srgbClr val="2E2E2E"/>
                </a:solidFill>
                <a:latin typeface="Calibri"/>
              </a:rPr>
              <a:t>CAGR grows fastest.</a:t>
            </a:r>
          </a:p>
        </p:txBody>
      </p:sp>
      <p:sp>
        <p:nvSpPr>
          <p:cNvPr id="138" name="TextBox 137"/>
          <p:cNvSpPr txBox="1"/>
          <p:nvPr/>
        </p:nvSpPr>
        <p:spPr>
          <a:xfrm>
            <a:off x="3838575" y="5101165"/>
            <a:ext cx="629542" cy="186689"/>
          </a:xfrm>
          <a:prstGeom prst="rect">
            <a:avLst/>
          </a:prstGeom>
          <a:noFill/>
        </p:spPr>
        <p:txBody>
          <a:bodyPr wrap="none" lIns="0" tIns="0" rIns="0" bIns="0">
            <a:spAutoFit/>
          </a:bodyPr>
          <a:lstStyle/>
          <a:p>
            <a:r>
              <a:rPr sz="1100" b="0">
                <a:solidFill>
                  <a:srgbClr val="2E2E2E"/>
                </a:solidFill>
                <a:latin typeface="Calibri"/>
              </a:rPr>
              <a:t>● Bottles:</a:t>
            </a:r>
          </a:p>
        </p:txBody>
      </p:sp>
      <p:pic>
        <p:nvPicPr>
          <p:cNvPr id="139" name="Picture 138" descr="lock.png"/>
          <p:cNvPicPr>
            <a:picLocks noChangeAspect="1"/>
          </p:cNvPicPr>
          <p:nvPr/>
        </p:nvPicPr>
        <p:blipFill>
          <a:blip r:embed="rId22"/>
          <a:stretch>
            <a:fillRect/>
          </a:stretch>
        </p:blipFill>
        <p:spPr>
          <a:xfrm>
            <a:off x="4416169" y="5091385"/>
            <a:ext cx="128699" cy="187198"/>
          </a:xfrm>
          <a:prstGeom prst="rect">
            <a:avLst/>
          </a:prstGeom>
        </p:spPr>
      </p:pic>
      <p:sp>
        <p:nvSpPr>
          <p:cNvPr id="140" name="TextBox 139"/>
          <p:cNvSpPr txBox="1"/>
          <p:nvPr/>
        </p:nvSpPr>
        <p:spPr>
          <a:xfrm>
            <a:off x="4583665" y="5101165"/>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5443115" y="5091385"/>
            <a:ext cx="128699" cy="187198"/>
          </a:xfrm>
          <a:prstGeom prst="rect">
            <a:avLst/>
          </a:prstGeom>
        </p:spPr>
      </p:pic>
      <p:sp>
        <p:nvSpPr>
          <p:cNvPr id="142" name="TextBox 141"/>
          <p:cNvSpPr txBox="1"/>
          <p:nvPr/>
        </p:nvSpPr>
        <p:spPr>
          <a:xfrm>
            <a:off x="5610611" y="5101165"/>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3" name="TextBox 142"/>
          <p:cNvSpPr txBox="1"/>
          <p:nvPr/>
        </p:nvSpPr>
        <p:spPr>
          <a:xfrm>
            <a:off x="3838575" y="5319097"/>
            <a:ext cx="990798" cy="186689"/>
          </a:xfrm>
          <a:prstGeom prst="rect">
            <a:avLst/>
          </a:prstGeom>
          <a:noFill/>
        </p:spPr>
        <p:txBody>
          <a:bodyPr wrap="none" lIns="0" tIns="0" rIns="0" bIns="0">
            <a:spAutoFit/>
          </a:bodyPr>
          <a:lstStyle/>
          <a:p>
            <a:r>
              <a:rPr sz="1100" b="0">
                <a:solidFill>
                  <a:srgbClr val="2E2E2E"/>
                </a:solidFill>
                <a:latin typeface="Calibri"/>
              </a:rPr>
              <a:t>● Jars and Tubs:</a:t>
            </a:r>
          </a:p>
        </p:txBody>
      </p:sp>
      <p:pic>
        <p:nvPicPr>
          <p:cNvPr id="144" name="Picture 143" descr="lock.png"/>
          <p:cNvPicPr>
            <a:picLocks noChangeAspect="1"/>
          </p:cNvPicPr>
          <p:nvPr/>
        </p:nvPicPr>
        <p:blipFill>
          <a:blip r:embed="rId22"/>
          <a:stretch>
            <a:fillRect/>
          </a:stretch>
        </p:blipFill>
        <p:spPr>
          <a:xfrm>
            <a:off x="4777425" y="5309317"/>
            <a:ext cx="128699" cy="187198"/>
          </a:xfrm>
          <a:prstGeom prst="rect">
            <a:avLst/>
          </a:prstGeom>
        </p:spPr>
      </p:pic>
      <p:sp>
        <p:nvSpPr>
          <p:cNvPr id="145" name="TextBox 144"/>
          <p:cNvSpPr txBox="1"/>
          <p:nvPr/>
        </p:nvSpPr>
        <p:spPr>
          <a:xfrm>
            <a:off x="4944920" y="531909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5804371" y="5309317"/>
            <a:ext cx="128699" cy="187198"/>
          </a:xfrm>
          <a:prstGeom prst="rect">
            <a:avLst/>
          </a:prstGeom>
        </p:spPr>
      </p:pic>
      <p:sp>
        <p:nvSpPr>
          <p:cNvPr id="147" name="TextBox 146"/>
          <p:cNvSpPr txBox="1"/>
          <p:nvPr/>
        </p:nvSpPr>
        <p:spPr>
          <a:xfrm>
            <a:off x="5971866" y="5319097"/>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8" name="TextBox 147"/>
          <p:cNvSpPr txBox="1"/>
          <p:nvPr/>
        </p:nvSpPr>
        <p:spPr>
          <a:xfrm>
            <a:off x="8524875" y="5842641"/>
            <a:ext cx="3162300" cy="194310"/>
          </a:xfrm>
          <a:prstGeom prst="rect">
            <a:avLst/>
          </a:prstGeom>
          <a:noFill/>
        </p:spPr>
        <p:txBody>
          <a:bodyPr wrap="none" lIns="0" tIns="0" rIns="0" bIns="0">
            <a:spAutoFit/>
          </a:bodyPr>
          <a:lstStyle/>
          <a:p>
            <a:r>
              <a:rPr sz="1150" b="1">
                <a:solidFill>
                  <a:srgbClr val="0B2E4A"/>
                </a:solidFill>
                <a:latin typeface="Calibri"/>
              </a:rPr>
              <a:t>The Packaging Format segment is projected to grow</a:t>
            </a:r>
          </a:p>
        </p:txBody>
      </p:sp>
      <p:sp>
        <p:nvSpPr>
          <p:cNvPr id="149" name="TextBox 148"/>
          <p:cNvSpPr txBox="1"/>
          <p:nvPr/>
        </p:nvSpPr>
        <p:spPr>
          <a:xfrm>
            <a:off x="8524875" y="6017901"/>
            <a:ext cx="836089" cy="194310"/>
          </a:xfrm>
          <a:prstGeom prst="rect">
            <a:avLst/>
          </a:prstGeom>
          <a:noFill/>
        </p:spPr>
        <p:txBody>
          <a:bodyPr wrap="none" lIns="0" tIns="0" rIns="0" bIns="0">
            <a:spAutoFit/>
          </a:bodyPr>
          <a:lstStyle/>
          <a:p>
            <a:r>
              <a:rPr sz="1150" b="1">
                <a:solidFill>
                  <a:srgbClr val="0B2E4A"/>
                </a:solidFill>
                <a:latin typeface="Calibri"/>
              </a:rPr>
              <a:t>at a CAGR of</a:t>
            </a:r>
          </a:p>
        </p:txBody>
      </p:sp>
      <p:pic>
        <p:nvPicPr>
          <p:cNvPr id="150" name="Picture 149" descr="lock.png"/>
          <p:cNvPicPr>
            <a:picLocks noChangeAspect="1"/>
          </p:cNvPicPr>
          <p:nvPr/>
        </p:nvPicPr>
        <p:blipFill>
          <a:blip r:embed="rId22"/>
          <a:stretch>
            <a:fillRect/>
          </a:stretch>
        </p:blipFill>
        <p:spPr>
          <a:xfrm>
            <a:off x="9310118" y="6007677"/>
            <a:ext cx="134549" cy="195707"/>
          </a:xfrm>
          <a:prstGeom prst="rect">
            <a:avLst/>
          </a:prstGeom>
        </p:spPr>
      </p:pic>
      <p:sp>
        <p:nvSpPr>
          <p:cNvPr id="151" name="TextBox 150"/>
          <p:cNvSpPr txBox="1"/>
          <p:nvPr/>
        </p:nvSpPr>
        <p:spPr>
          <a:xfrm>
            <a:off x="9485227"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Structure &amp; Attractiveness, By Packaging Format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Packaging Format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Packaging Format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Packaging Format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401722" cy="186689"/>
          </a:xfrm>
          <a:prstGeom prst="rect">
            <a:avLst/>
          </a:prstGeom>
          <a:noFill/>
        </p:spPr>
        <p:txBody>
          <a:bodyPr wrap="none" lIns="0" tIns="0" rIns="0" bIns="0">
            <a:spAutoFit/>
          </a:bodyPr>
          <a:lstStyle/>
          <a:p>
            <a:r>
              <a:rPr sz="1100" b="0">
                <a:solidFill>
                  <a:srgbClr val="2E2E2E"/>
                </a:solidFill>
                <a:latin typeface="Calibri"/>
              </a:rPr>
              <a:t>Pouches followed by canisters are expected to be the two most attractive packaging format segments in the Europe senior dog cognitive supplement market in terms of value over the forecast period.</a:t>
            </a:r>
          </a:p>
        </p:txBody>
      </p:sp>
      <p:sp>
        <p:nvSpPr>
          <p:cNvPr id="20" name="TextBox 19"/>
          <p:cNvSpPr txBox="1"/>
          <p:nvPr/>
        </p:nvSpPr>
        <p:spPr>
          <a:xfrm>
            <a:off x="257175" y="5945505"/>
            <a:ext cx="2693375" cy="186689"/>
          </a:xfrm>
          <a:prstGeom prst="rect">
            <a:avLst/>
          </a:prstGeom>
          <a:noFill/>
        </p:spPr>
        <p:txBody>
          <a:bodyPr wrap="none" lIns="0" tIns="0" rIns="0" bIns="0">
            <a:spAutoFit/>
          </a:bodyPr>
          <a:lstStyle/>
          <a:p>
            <a:r>
              <a:rPr sz="1100" b="0">
                <a:solidFill>
                  <a:srgbClr val="2E2E2E"/>
                </a:solidFill>
                <a:latin typeface="Calibri"/>
              </a:rPr>
              <a:t>Pouches and canisters exhibit a CAGR index of</a:t>
            </a:r>
          </a:p>
        </p:txBody>
      </p:sp>
      <p:pic>
        <p:nvPicPr>
          <p:cNvPr id="21" name="Picture 20" descr="lock.png"/>
          <p:cNvPicPr>
            <a:picLocks noChangeAspect="1"/>
          </p:cNvPicPr>
          <p:nvPr/>
        </p:nvPicPr>
        <p:blipFill>
          <a:blip r:embed="rId6"/>
          <a:stretch>
            <a:fillRect/>
          </a:stretch>
        </p:blipFill>
        <p:spPr>
          <a:xfrm>
            <a:off x="2898601" y="5935726"/>
            <a:ext cx="128699" cy="187198"/>
          </a:xfrm>
          <a:prstGeom prst="rect">
            <a:avLst/>
          </a:prstGeom>
        </p:spPr>
      </p:pic>
      <p:sp>
        <p:nvSpPr>
          <p:cNvPr id="22" name="TextBox 21"/>
          <p:cNvSpPr txBox="1"/>
          <p:nvPr/>
        </p:nvSpPr>
        <p:spPr>
          <a:xfrm>
            <a:off x="3066097" y="594550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303991" y="5935726"/>
            <a:ext cx="128699" cy="187198"/>
          </a:xfrm>
          <a:prstGeom prst="rect">
            <a:avLst/>
          </a:prstGeom>
        </p:spPr>
      </p:pic>
      <p:sp>
        <p:nvSpPr>
          <p:cNvPr id="24" name="TextBox 23"/>
          <p:cNvSpPr txBox="1"/>
          <p:nvPr/>
        </p:nvSpPr>
        <p:spPr>
          <a:xfrm>
            <a:off x="3471487" y="5945505"/>
            <a:ext cx="1660921" cy="186689"/>
          </a:xfrm>
          <a:prstGeom prst="rect">
            <a:avLst/>
          </a:prstGeom>
          <a:noFill/>
        </p:spPr>
        <p:txBody>
          <a:bodyPr wrap="none" lIns="0" tIns="0" r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080461" y="5935726"/>
            <a:ext cx="128699" cy="187198"/>
          </a:xfrm>
          <a:prstGeom prst="rect">
            <a:avLst/>
          </a:prstGeom>
        </p:spPr>
      </p:pic>
      <p:sp>
        <p:nvSpPr>
          <p:cNvPr id="26" name="TextBox 25"/>
          <p:cNvSpPr txBox="1"/>
          <p:nvPr/>
        </p:nvSpPr>
        <p:spPr>
          <a:xfrm>
            <a:off x="5247957" y="594550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485851" y="5935726"/>
            <a:ext cx="128699" cy="187198"/>
          </a:xfrm>
          <a:prstGeom prst="rect">
            <a:avLst/>
          </a:prstGeom>
        </p:spPr>
      </p:pic>
      <p:sp>
        <p:nvSpPr>
          <p:cNvPr id="28" name="TextBox 27"/>
          <p:cNvSpPr txBox="1"/>
          <p:nvPr/>
        </p:nvSpPr>
        <p:spPr>
          <a:xfrm>
            <a:off x="5653347" y="5945505"/>
            <a:ext cx="2606352" cy="186689"/>
          </a:xfrm>
          <a:prstGeom prst="rect">
            <a:avLst/>
          </a:prstGeom>
          <a:noFill/>
        </p:spPr>
        <p:txBody>
          <a:bodyPr wrap="none" lIns="0" tIns="0" r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207751" y="5935726"/>
            <a:ext cx="128699" cy="187198"/>
          </a:xfrm>
          <a:prstGeom prst="rect">
            <a:avLst/>
          </a:prstGeom>
        </p:spPr>
      </p:pic>
      <p:sp>
        <p:nvSpPr>
          <p:cNvPr id="30" name="TextBox 29"/>
          <p:cNvSpPr txBox="1"/>
          <p:nvPr/>
        </p:nvSpPr>
        <p:spPr>
          <a:xfrm>
            <a:off x="8375247" y="5945505"/>
            <a:ext cx="2547962" cy="186689"/>
          </a:xfrm>
          <a:prstGeom prst="rect">
            <a:avLst/>
          </a:prstGeom>
          <a:noFill/>
        </p:spPr>
        <p:txBody>
          <a:bodyPr wrap="none" lIns="0" tIns="0" rIns="0" bIns="0">
            <a:spAutoFit/>
          </a:bodyPr>
          <a:lstStyle/>
          <a:p>
            <a:r>
              <a:rPr sz="1100" b="0">
                <a:solidFill>
                  <a:srgbClr val="2E2E2E"/>
                </a:solidFill>
                <a:latin typeface="Calibri"/>
              </a:rPr>
              <a:t>. The bottles segment is expected to be less</a:t>
            </a:r>
          </a:p>
        </p:txBody>
      </p:sp>
      <p:sp>
        <p:nvSpPr>
          <p:cNvPr id="31" name="TextBox 30"/>
          <p:cNvSpPr txBox="1"/>
          <p:nvPr/>
        </p:nvSpPr>
        <p:spPr>
          <a:xfrm>
            <a:off x="257175" y="6113145"/>
            <a:ext cx="11338386" cy="186689"/>
          </a:xfrm>
          <a:prstGeom prst="rect">
            <a:avLst/>
          </a:prstGeom>
          <a:noFill/>
        </p:spPr>
        <p:txBody>
          <a:bodyPr wrap="none" lIns="0" tIns="0" r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Analysis, By Packaging Format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Packaging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Bottles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Jars and Tubs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Pouches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Sachets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Analysis, By Packaging Format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Packaging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Blister Packs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Canisters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066800"/>
            <a:ext cx="5610225" cy="407620"/>
          </a:xfrm>
          <a:prstGeom prst="rect">
            <a:avLst/>
          </a:prstGeom>
          <a:noFill/>
        </p:spPr>
        <p:txBody>
          <a:bodyPr wrap="square" lIns="0" tIns="9525" rIns="19050" bIns="9525">
            <a:spAutoFit/>
          </a:bodyPr>
          <a:lstStyle/>
          <a:p>
            <a:pPr algn="l"/>
            <a:r>
              <a:rPr sz="1300" b="1">
                <a:solidFill>
                  <a:srgbClr val="0B2E4A"/>
                </a:solidFill>
                <a:latin typeface="Calibri"/>
              </a:rPr>
              <a:t>Summary of Europe Absolute $ Opportunity Analysis, By Packaging Format</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5550" y="1588720"/>
            <a:ext cx="5610225" cy="496448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0" name="TextBox 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598245"/>
            <a:ext cx="4000130" cy="194310"/>
          </a:xfrm>
          <a:prstGeom prst="rect">
            <a:avLst/>
          </a:prstGeom>
          <a:noFill/>
        </p:spPr>
        <p:txBody>
          <a:bodyPr wrap="none" lIns="0" tIns="0" rIns="0" bIns="0">
            <a:spAutoFit/>
          </a:bodyPr>
          <a:lstStyle/>
          <a:p>
            <a:r>
              <a:rPr sz="1150" b="0">
                <a:solidFill>
                  <a:srgbClr val="2E2E2E"/>
                </a:solidFill>
                <a:latin typeface="Calibri"/>
              </a:rPr>
              <a:t>By 2036, pouches segment is anticipated to witness an increase of</a:t>
            </a:r>
          </a:p>
        </p:txBody>
      </p:sp>
      <p:pic>
        <p:nvPicPr>
          <p:cNvPr id="24" name="Picture 23" descr="lock.png"/>
          <p:cNvPicPr>
            <a:picLocks noChangeAspect="1"/>
          </p:cNvPicPr>
          <p:nvPr/>
        </p:nvPicPr>
        <p:blipFill>
          <a:blip r:embed="rId6"/>
          <a:stretch>
            <a:fillRect/>
          </a:stretch>
        </p:blipFill>
        <p:spPr>
          <a:xfrm>
            <a:off x="10254834" y="1588021"/>
            <a:ext cx="134549" cy="195707"/>
          </a:xfrm>
          <a:prstGeom prst="rect">
            <a:avLst/>
          </a:prstGeom>
        </p:spPr>
      </p:pic>
      <p:sp>
        <p:nvSpPr>
          <p:cNvPr id="25" name="TextBox 24"/>
          <p:cNvSpPr txBox="1"/>
          <p:nvPr/>
        </p:nvSpPr>
        <p:spPr>
          <a:xfrm>
            <a:off x="10429943" y="1598245"/>
            <a:ext cx="1341871" cy="194310"/>
          </a:xfrm>
          <a:prstGeom prst="rect">
            <a:avLst/>
          </a:prstGeom>
          <a:noFill/>
        </p:spPr>
        <p:txBody>
          <a:bodyPr wrap="none" lIns="0" tIns="0" rIns="0" bIns="0">
            <a:spAutoFit/>
          </a:bodyPr>
          <a:lstStyle/>
          <a:p>
            <a:r>
              <a:rPr sz="1150" b="0">
                <a:solidFill>
                  <a:srgbClr val="2E2E2E"/>
                </a:solidFill>
                <a:latin typeface="Calibri"/>
              </a:rPr>
              <a:t>X in terms of value as</a:t>
            </a:r>
          </a:p>
        </p:txBody>
      </p:sp>
      <p:sp>
        <p:nvSpPr>
          <p:cNvPr id="26" name="TextBox 25"/>
          <p:cNvSpPr txBox="1"/>
          <p:nvPr/>
        </p:nvSpPr>
        <p:spPr>
          <a:xfrm>
            <a:off x="6305550" y="1773505"/>
            <a:ext cx="5591175" cy="194310"/>
          </a:xfrm>
          <a:prstGeom prst="rect">
            <a:avLst/>
          </a:prstGeom>
          <a:noFill/>
        </p:spPr>
        <p:txBody>
          <a:bodyPr wrap="none" lIns="0" tIns="0" rIns="0" bIns="0">
            <a:spAutoFit/>
          </a:bodyPr>
          <a:lstStyle/>
          <a:p>
            <a:r>
              <a:rPr sz="1150" b="0">
                <a:solidFill>
                  <a:srgbClr val="2E2E2E"/>
                </a:solidFill>
                <a:latin typeface="Calibri"/>
              </a:rPr>
              <a:t>compared to 2026. The pouches segment is expected to create an incremental opportunity of</a:t>
            </a:r>
          </a:p>
        </p:txBody>
      </p:sp>
      <p:sp>
        <p:nvSpPr>
          <p:cNvPr id="27" name="TextBox 26"/>
          <p:cNvSpPr txBox="1"/>
          <p:nvPr/>
        </p:nvSpPr>
        <p:spPr>
          <a:xfrm>
            <a:off x="6305550" y="1948765"/>
            <a:ext cx="311249" cy="194310"/>
          </a:xfrm>
          <a:prstGeom prst="rect">
            <a:avLst/>
          </a:prstGeom>
          <a:noFill/>
        </p:spPr>
        <p:txBody>
          <a:bodyPr wrap="none" lIns="0" tIns="0" rIns="0" bIns="0">
            <a:spAutoFit/>
          </a:bodyPr>
          <a:lstStyle/>
          <a:p>
            <a:r>
              <a:rPr sz="1150" b="0">
                <a:solidFill>
                  <a:srgbClr val="2E2E2E"/>
                </a:solidFill>
                <a:latin typeface="Calibri"/>
              </a:rPr>
              <a:t>US$</a:t>
            </a:r>
          </a:p>
        </p:txBody>
      </p:sp>
      <p:pic>
        <p:nvPicPr>
          <p:cNvPr id="28" name="Picture 27" descr="lock.png"/>
          <p:cNvPicPr>
            <a:picLocks noChangeAspect="1"/>
          </p:cNvPicPr>
          <p:nvPr/>
        </p:nvPicPr>
        <p:blipFill>
          <a:blip r:embed="rId6"/>
          <a:stretch>
            <a:fillRect/>
          </a:stretch>
        </p:blipFill>
        <p:spPr>
          <a:xfrm>
            <a:off x="6565953" y="1938541"/>
            <a:ext cx="134549" cy="195707"/>
          </a:xfrm>
          <a:prstGeom prst="rect">
            <a:avLst/>
          </a:prstGeom>
        </p:spPr>
      </p:pic>
      <p:sp>
        <p:nvSpPr>
          <p:cNvPr id="29" name="TextBox 28"/>
          <p:cNvSpPr txBox="1"/>
          <p:nvPr/>
        </p:nvSpPr>
        <p:spPr>
          <a:xfrm>
            <a:off x="6741062" y="1948765"/>
            <a:ext cx="4760354"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 market from 2026 to 2036.</a:t>
            </a:r>
          </a:p>
        </p:txBody>
      </p:sp>
      <p:sp>
        <p:nvSpPr>
          <p:cNvPr id="30" name="TextBox 29"/>
          <p:cNvSpPr txBox="1"/>
          <p:nvPr/>
        </p:nvSpPr>
        <p:spPr>
          <a:xfrm>
            <a:off x="6305550" y="2176603"/>
            <a:ext cx="4772049" cy="194310"/>
          </a:xfrm>
          <a:prstGeom prst="rect">
            <a:avLst/>
          </a:prstGeom>
          <a:noFill/>
        </p:spPr>
        <p:txBody>
          <a:bodyPr wrap="none" lIns="0" tIns="0" rIns="0" bIns="0">
            <a:spAutoFit/>
          </a:bodyPr>
          <a:lstStyle/>
          <a:p>
            <a:r>
              <a:rPr sz="1150" b="0">
                <a:solidFill>
                  <a:srgbClr val="2E2E2E"/>
                </a:solidFill>
                <a:latin typeface="Calibri"/>
              </a:rPr>
              <a:t>The canisters segment is expected to create an incremental opportunity of US$</a:t>
            </a:r>
          </a:p>
        </p:txBody>
      </p:sp>
      <p:pic>
        <p:nvPicPr>
          <p:cNvPr id="31" name="Picture 30" descr="lock.png"/>
          <p:cNvPicPr>
            <a:picLocks noChangeAspect="1"/>
          </p:cNvPicPr>
          <p:nvPr/>
        </p:nvPicPr>
        <p:blipFill>
          <a:blip r:embed="rId6"/>
          <a:stretch>
            <a:fillRect/>
          </a:stretch>
        </p:blipFill>
        <p:spPr>
          <a:xfrm>
            <a:off x="11026753" y="2166379"/>
            <a:ext cx="134549" cy="195707"/>
          </a:xfrm>
          <a:prstGeom prst="rect">
            <a:avLst/>
          </a:prstGeom>
        </p:spPr>
      </p:pic>
      <p:sp>
        <p:nvSpPr>
          <p:cNvPr id="32" name="TextBox 31"/>
          <p:cNvSpPr txBox="1"/>
          <p:nvPr/>
        </p:nvSpPr>
        <p:spPr>
          <a:xfrm>
            <a:off x="11201863" y="2176603"/>
            <a:ext cx="483542" cy="194310"/>
          </a:xfrm>
          <a:prstGeom prst="rect">
            <a:avLst/>
          </a:prstGeom>
          <a:noFill/>
        </p:spPr>
        <p:txBody>
          <a:bodyPr wrap="none" lIns="0" tIns="0" rIns="0" bIns="0">
            <a:spAutoFit/>
          </a:bodyPr>
          <a:lstStyle/>
          <a:p>
            <a:r>
              <a:rPr sz="1150" b="0">
                <a:solidFill>
                  <a:srgbClr val="2E2E2E"/>
                </a:solidFill>
                <a:latin typeface="Calibri"/>
              </a:rPr>
              <a:t>Mn for</a:t>
            </a:r>
          </a:p>
        </p:txBody>
      </p:sp>
      <p:sp>
        <p:nvSpPr>
          <p:cNvPr id="33" name="TextBox 32"/>
          <p:cNvSpPr txBox="1"/>
          <p:nvPr/>
        </p:nvSpPr>
        <p:spPr>
          <a:xfrm>
            <a:off x="6305550" y="2351863"/>
            <a:ext cx="5345980" cy="194310"/>
          </a:xfrm>
          <a:prstGeom prst="rect">
            <a:avLst/>
          </a:prstGeom>
          <a:noFill/>
        </p:spPr>
        <p:txBody>
          <a:bodyPr wrap="none" lIns="0" tIns="0" rIns="0" bIns="0">
            <a:spAutoFit/>
          </a:bodyPr>
          <a:lstStyle/>
          <a:p>
            <a:r>
              <a:rPr sz="1150" b="0">
                <a:solidFill>
                  <a:srgbClr val="2E2E2E"/>
                </a:solidFill>
                <a:latin typeface="Calibri"/>
              </a:rPr>
              <a:t>the overall senior dog cognitive supplement market from 2026 to 2036. The blister packs</a:t>
            </a:r>
          </a:p>
        </p:txBody>
      </p:sp>
      <p:sp>
        <p:nvSpPr>
          <p:cNvPr id="34" name="TextBox 33"/>
          <p:cNvSpPr txBox="1"/>
          <p:nvPr/>
        </p:nvSpPr>
        <p:spPr>
          <a:xfrm>
            <a:off x="6305550" y="2527123"/>
            <a:ext cx="3955938" cy="194310"/>
          </a:xfrm>
          <a:prstGeom prst="rect">
            <a:avLst/>
          </a:prstGeom>
          <a:noFill/>
        </p:spPr>
        <p:txBody>
          <a:bodyPr wrap="none" lIns="0" tIns="0" rIns="0" bIns="0">
            <a:spAutoFit/>
          </a:bodyPr>
          <a:lstStyle/>
          <a:p>
            <a:r>
              <a:rPr sz="1150" b="0">
                <a:solidFill>
                  <a:srgbClr val="2E2E2E"/>
                </a:solidFill>
                <a:latin typeface="Calibri"/>
              </a:rPr>
              <a:t>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0210642" y="2516899"/>
            <a:ext cx="134549" cy="195707"/>
          </a:xfrm>
          <a:prstGeom prst="rect">
            <a:avLst/>
          </a:prstGeom>
        </p:spPr>
      </p:pic>
      <p:sp>
        <p:nvSpPr>
          <p:cNvPr id="36" name="TextBox 35"/>
          <p:cNvSpPr txBox="1"/>
          <p:nvPr/>
        </p:nvSpPr>
        <p:spPr>
          <a:xfrm>
            <a:off x="10385751" y="2527123"/>
            <a:ext cx="1152177" cy="194310"/>
          </a:xfrm>
          <a:prstGeom prst="rect">
            <a:avLst/>
          </a:prstGeom>
          <a:noFill/>
        </p:spPr>
        <p:txBody>
          <a:bodyPr wrap="none" lIns="0" tIns="0" rIns="0" bIns="0">
            <a:spAutoFit/>
          </a:bodyPr>
          <a:lstStyle/>
          <a:p>
            <a:r>
              <a:rPr sz="1150" b="0">
                <a:solidFill>
                  <a:srgbClr val="2E2E2E"/>
                </a:solidFill>
                <a:latin typeface="Calibri"/>
              </a:rPr>
              <a:t>Mn for the overall</a:t>
            </a:r>
          </a:p>
        </p:txBody>
      </p:sp>
      <p:sp>
        <p:nvSpPr>
          <p:cNvPr id="37" name="TextBox 36"/>
          <p:cNvSpPr txBox="1"/>
          <p:nvPr/>
        </p:nvSpPr>
        <p:spPr>
          <a:xfrm>
            <a:off x="6305550" y="2702383"/>
            <a:ext cx="3651287" cy="194310"/>
          </a:xfrm>
          <a:prstGeom prst="rect">
            <a:avLst/>
          </a:prstGeom>
          <a:noFill/>
        </p:spPr>
        <p:txBody>
          <a:bodyPr wrap="none" lIns="0" tIns="0" rIns="0" bIns="0">
            <a:spAutoFit/>
          </a:bodyPr>
          <a:lstStyle/>
          <a:p>
            <a:r>
              <a:rPr sz="1150" b="0">
                <a:solidFill>
                  <a:srgbClr val="2E2E2E"/>
                </a:solidFill>
                <a:latin typeface="Calibri"/>
              </a:rPr>
              <a:t>senior dog cognitive supplement market from 2026 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Analysis, By Packaging Format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Packaging Format,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By Packaging Format (US$ Mn)</a:t>
            </a:r>
          </a:p>
        </p:txBody>
      </p:sp>
      <p:graphicFrame>
        <p:nvGraphicFramePr>
          <p:cNvPr id="12" name="Table 11"/>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1313658">
                  <a:extLst>
                    <a:ext uri="{9D8B030D-6E8A-4147-A177-3AD203B41FA5}">
                      <a16:colId xmlns:a16="http://schemas.microsoft.com/office/drawing/2014/main" val="20000"/>
                    </a:ext>
                  </a:extLst>
                </a:gridCol>
                <a:gridCol w="621973">
                  <a:extLst>
                    <a:ext uri="{9D8B030D-6E8A-4147-A177-3AD203B41FA5}">
                      <a16:colId xmlns:a16="http://schemas.microsoft.com/office/drawing/2014/main" val="20001"/>
                    </a:ext>
                  </a:extLst>
                </a:gridCol>
                <a:gridCol w="621973">
                  <a:extLst>
                    <a:ext uri="{9D8B030D-6E8A-4147-A177-3AD203B41FA5}">
                      <a16:colId xmlns:a16="http://schemas.microsoft.com/office/drawing/2014/main" val="20002"/>
                    </a:ext>
                  </a:extLst>
                </a:gridCol>
                <a:gridCol w="621973">
                  <a:extLst>
                    <a:ext uri="{9D8B030D-6E8A-4147-A177-3AD203B41FA5}">
                      <a16:colId xmlns:a16="http://schemas.microsoft.com/office/drawing/2014/main" val="20003"/>
                    </a:ext>
                  </a:extLst>
                </a:gridCol>
                <a:gridCol w="621973">
                  <a:extLst>
                    <a:ext uri="{9D8B030D-6E8A-4147-A177-3AD203B41FA5}">
                      <a16:colId xmlns:a16="http://schemas.microsoft.com/office/drawing/2014/main" val="20004"/>
                    </a:ext>
                  </a:extLst>
                </a:gridCol>
                <a:gridCol w="621973">
                  <a:extLst>
                    <a:ext uri="{9D8B030D-6E8A-4147-A177-3AD203B41FA5}">
                      <a16:colId xmlns:a16="http://schemas.microsoft.com/office/drawing/2014/main" val="20005"/>
                    </a:ext>
                  </a:extLst>
                </a:gridCol>
                <a:gridCol w="621973">
                  <a:extLst>
                    <a:ext uri="{9D8B030D-6E8A-4147-A177-3AD203B41FA5}">
                      <a16:colId xmlns:a16="http://schemas.microsoft.com/office/drawing/2014/main" val="20006"/>
                    </a:ext>
                  </a:extLst>
                </a:gridCol>
                <a:gridCol w="621973">
                  <a:extLst>
                    <a:ext uri="{9D8B030D-6E8A-4147-A177-3AD203B41FA5}">
                      <a16:colId xmlns:a16="http://schemas.microsoft.com/office/drawing/2014/main" val="20007"/>
                    </a:ext>
                  </a:extLst>
                </a:gridCol>
                <a:gridCol w="621973">
                  <a:extLst>
                    <a:ext uri="{9D8B030D-6E8A-4147-A177-3AD203B41FA5}">
                      <a16:colId xmlns:a16="http://schemas.microsoft.com/office/drawing/2014/main" val="20008"/>
                    </a:ext>
                  </a:extLst>
                </a:gridCol>
                <a:gridCol w="621973">
                  <a:extLst>
                    <a:ext uri="{9D8B030D-6E8A-4147-A177-3AD203B41FA5}">
                      <a16:colId xmlns:a16="http://schemas.microsoft.com/office/drawing/2014/main" val="20009"/>
                    </a:ext>
                  </a:extLst>
                </a:gridCol>
                <a:gridCol w="621973">
                  <a:extLst>
                    <a:ext uri="{9D8B030D-6E8A-4147-A177-3AD203B41FA5}">
                      <a16:colId xmlns:a16="http://schemas.microsoft.com/office/drawing/2014/main" val="20010"/>
                    </a:ext>
                  </a:extLst>
                </a:gridCol>
                <a:gridCol w="621973">
                  <a:extLst>
                    <a:ext uri="{9D8B030D-6E8A-4147-A177-3AD203B41FA5}">
                      <a16:colId xmlns:a16="http://schemas.microsoft.com/office/drawing/2014/main" val="20011"/>
                    </a:ext>
                  </a:extLst>
                </a:gridCol>
                <a:gridCol w="621973">
                  <a:extLst>
                    <a:ext uri="{9D8B030D-6E8A-4147-A177-3AD203B41FA5}">
                      <a16:colId xmlns:a16="http://schemas.microsoft.com/office/drawing/2014/main" val="20012"/>
                    </a:ext>
                  </a:extLst>
                </a:gridCol>
                <a:gridCol w="621973">
                  <a:extLst>
                    <a:ext uri="{9D8B030D-6E8A-4147-A177-3AD203B41FA5}">
                      <a16:colId xmlns:a16="http://schemas.microsoft.com/office/drawing/2014/main" val="20013"/>
                    </a:ext>
                  </a:extLst>
                </a:gridCol>
                <a:gridCol w="621973">
                  <a:extLst>
                    <a:ext uri="{9D8B030D-6E8A-4147-A177-3AD203B41FA5}">
                      <a16:colId xmlns:a16="http://schemas.microsoft.com/office/drawing/2014/main" val="20014"/>
                    </a:ext>
                  </a:extLst>
                </a:gridCol>
                <a:gridCol w="621973">
                  <a:extLst>
                    <a:ext uri="{9D8B030D-6E8A-4147-A177-3AD203B41FA5}">
                      <a16:colId xmlns:a16="http://schemas.microsoft.com/office/drawing/2014/main" val="20015"/>
                    </a:ext>
                  </a:extLst>
                </a:gridCol>
                <a:gridCol w="621973">
                  <a:extLst>
                    <a:ext uri="{9D8B030D-6E8A-4147-A177-3AD203B41FA5}">
                      <a16:colId xmlns:a16="http://schemas.microsoft.com/office/drawing/2014/main" val="20016"/>
                    </a:ext>
                  </a:extLst>
                </a:gridCol>
                <a:gridCol w="621973">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Packaging Format</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Bottles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Jars and Tubs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Pouches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Sachets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Blister Packs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Canisters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638550"/>
            <a:ext cx="11639550" cy="209550"/>
          </a:xfrm>
          <a:prstGeom prst="rect">
            <a:avLst/>
          </a:prstGeom>
          <a:noFill/>
        </p:spPr>
        <p:txBody>
          <a:bodyPr wrap="square" lIns="0" tIns="9525" rIns="19050" bIns="9525">
            <a:spAutoFit/>
          </a:bodyPr>
          <a:lstStyle/>
          <a:p>
            <a:pPr algn="l"/>
            <a:r>
              <a:rPr sz="1300" b="1">
                <a:solidFill>
                  <a:srgbClr val="0B2E4A"/>
                </a:solidFill>
                <a:latin typeface="Calibri"/>
              </a:rPr>
              <a:t>Europe Value Analysis, By Packaging Format</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962400"/>
            <a:ext cx="11639550" cy="2590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66138" y="2080450"/>
            <a:ext cx="366712" cy="533400"/>
          </a:xfrm>
          <a:prstGeom prst="rect">
            <a:avLst/>
          </a:prstGeom>
        </p:spPr>
      </p:pic>
      <p:sp>
        <p:nvSpPr>
          <p:cNvPr id="20" name="TextBox 19"/>
          <p:cNvSpPr txBox="1"/>
          <p:nvPr/>
        </p:nvSpPr>
        <p:spPr>
          <a:xfrm>
            <a:off x="276225" y="3971925"/>
            <a:ext cx="2499146" cy="194310"/>
          </a:xfrm>
          <a:prstGeom prst="rect">
            <a:avLst/>
          </a:prstGeom>
          <a:noFill/>
        </p:spPr>
        <p:txBody>
          <a:bodyPr wrap="none" lIns="0" tIns="0" rIns="0" bIns="0">
            <a:spAutoFit/>
          </a:bodyPr>
          <a:lstStyle/>
          <a:p>
            <a:r>
              <a:rPr sz="1150" b="0">
                <a:solidFill>
                  <a:srgbClr val="2E2E2E"/>
                </a:solidFill>
                <a:latin typeface="Calibri"/>
              </a:rPr>
              <a:t>Pouches segment is projected to register</a:t>
            </a:r>
          </a:p>
        </p:txBody>
      </p:sp>
      <p:pic>
        <p:nvPicPr>
          <p:cNvPr id="21" name="Picture 20" descr="lock.png"/>
          <p:cNvPicPr>
            <a:picLocks noChangeAspect="1"/>
          </p:cNvPicPr>
          <p:nvPr/>
        </p:nvPicPr>
        <p:blipFill>
          <a:blip r:embed="rId4"/>
          <a:stretch>
            <a:fillRect/>
          </a:stretch>
        </p:blipFill>
        <p:spPr>
          <a:xfrm>
            <a:off x="2724525" y="3961701"/>
            <a:ext cx="134549" cy="195707"/>
          </a:xfrm>
          <a:prstGeom prst="rect">
            <a:avLst/>
          </a:prstGeom>
        </p:spPr>
      </p:pic>
      <p:sp>
        <p:nvSpPr>
          <p:cNvPr id="22" name="TextBox 21"/>
          <p:cNvSpPr txBox="1"/>
          <p:nvPr/>
        </p:nvSpPr>
        <p:spPr>
          <a:xfrm>
            <a:off x="2899634" y="3971925"/>
            <a:ext cx="8973839" cy="194310"/>
          </a:xfrm>
          <a:prstGeom prst="rect">
            <a:avLst/>
          </a:prstGeom>
          <a:noFill/>
        </p:spPr>
        <p:txBody>
          <a:bodyPr wrap="none" lIns="0" tIns="0" rIns="0" bIns="0">
            <a:spAutoFit/>
          </a:bodyPr>
          <a:lstStyle/>
          <a:p>
            <a:r>
              <a:rPr sz="1150" b="0">
                <a:solidFill>
                  <a:srgbClr val="2E2E2E"/>
                </a:solidFill>
                <a:latin typeface="Calibri"/>
              </a:rPr>
              <a:t>X higher value than canisters segment in 2036. Among senior dog cognitive supplement by packaging format, pouches segment is expected to witness</a:t>
            </a:r>
          </a:p>
        </p:txBody>
      </p:sp>
      <p:sp>
        <p:nvSpPr>
          <p:cNvPr id="23" name="TextBox 22"/>
          <p:cNvSpPr txBox="1"/>
          <p:nvPr/>
        </p:nvSpPr>
        <p:spPr>
          <a:xfrm>
            <a:off x="276225" y="4147185"/>
            <a:ext cx="1263979" cy="194310"/>
          </a:xfrm>
          <a:prstGeom prst="rect">
            <a:avLst/>
          </a:prstGeom>
          <a:noFill/>
        </p:spPr>
        <p:txBody>
          <a:bodyPr wrap="none" lIns="0" tIns="0" r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4136961"/>
            <a:ext cx="134549" cy="195707"/>
          </a:xfrm>
          <a:prstGeom prst="rect">
            <a:avLst/>
          </a:prstGeom>
        </p:spPr>
      </p:pic>
      <p:sp>
        <p:nvSpPr>
          <p:cNvPr id="25" name="TextBox 24"/>
          <p:cNvSpPr txBox="1"/>
          <p:nvPr/>
        </p:nvSpPr>
        <p:spPr>
          <a:xfrm>
            <a:off x="1664467" y="414718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682680" cy="194310"/>
          </a:xfrm>
          <a:prstGeom prst="rect">
            <a:avLst/>
          </a:prstGeom>
          <a:noFill/>
        </p:spPr>
        <p:txBody>
          <a:bodyPr wrap="none" lIns="0" tIns="0" rIns="0" bIns="0">
            <a:spAutoFit/>
          </a:bodyPr>
          <a:lstStyle/>
          <a:p>
            <a:r>
              <a:rPr sz="1150" b="0">
                <a:solidFill>
                  <a:srgbClr val="2E2E2E"/>
                </a:solidFill>
                <a:latin typeface="Calibri"/>
              </a:rPr>
              <a:t>In terms of value share by packaging format, the pouches segment is expected to dominate the market, gaining</a:t>
            </a:r>
          </a:p>
        </p:txBody>
      </p:sp>
      <p:pic>
        <p:nvPicPr>
          <p:cNvPr id="27" name="Picture 26" descr="lock.png"/>
          <p:cNvPicPr>
            <a:picLocks noChangeAspect="1"/>
          </p:cNvPicPr>
          <p:nvPr/>
        </p:nvPicPr>
        <p:blipFill>
          <a:blip r:embed="rId4"/>
          <a:stretch>
            <a:fillRect/>
          </a:stretch>
        </p:blipFill>
        <p:spPr>
          <a:xfrm>
            <a:off x="6908059" y="4364799"/>
            <a:ext cx="134549" cy="195707"/>
          </a:xfrm>
          <a:prstGeom prst="rect">
            <a:avLst/>
          </a:prstGeom>
        </p:spPr>
      </p:pic>
      <p:sp>
        <p:nvSpPr>
          <p:cNvPr id="28" name="TextBox 27"/>
          <p:cNvSpPr txBox="1"/>
          <p:nvPr/>
        </p:nvSpPr>
        <p:spPr>
          <a:xfrm>
            <a:off x="7083168" y="4375022"/>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478311" y="4364799"/>
            <a:ext cx="134549" cy="195707"/>
          </a:xfrm>
          <a:prstGeom prst="rect">
            <a:avLst/>
          </a:prstGeom>
        </p:spPr>
      </p:pic>
      <p:sp>
        <p:nvSpPr>
          <p:cNvPr id="30" name="TextBox 29"/>
          <p:cNvSpPr txBox="1"/>
          <p:nvPr/>
        </p:nvSpPr>
        <p:spPr>
          <a:xfrm>
            <a:off x="8653421" y="4375022"/>
            <a:ext cx="3086484" cy="194310"/>
          </a:xfrm>
          <a:prstGeom prst="rect">
            <a:avLst/>
          </a:prstGeom>
          <a:noFill/>
        </p:spPr>
        <p:txBody>
          <a:bodyPr wrap="none" lIns="0" tIns="0" rIns="0" bIns="0">
            <a:spAutoFit/>
          </a:bodyPr>
          <a:lstStyle/>
          <a:p>
            <a:r>
              <a:rPr sz="1150" b="0">
                <a:solidFill>
                  <a:srgbClr val="2E2E2E"/>
                </a:solidFill>
                <a:latin typeface="Calibri"/>
              </a:rPr>
              <a:t>share by 2036. The sachets segment is expected to</a:t>
            </a:r>
          </a:p>
        </p:txBody>
      </p:sp>
      <p:sp>
        <p:nvSpPr>
          <p:cNvPr id="31" name="TextBox 30"/>
          <p:cNvSpPr txBox="1"/>
          <p:nvPr/>
        </p:nvSpPr>
        <p:spPr>
          <a:xfrm>
            <a:off x="276225" y="4550282"/>
            <a:ext cx="316669" cy="194310"/>
          </a:xfrm>
          <a:prstGeom prst="rect">
            <a:avLst/>
          </a:prstGeom>
          <a:noFill/>
        </p:spPr>
        <p:txBody>
          <a:bodyPr wrap="none" lIns="0" tIns="0" r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4540059"/>
            <a:ext cx="134549" cy="195707"/>
          </a:xfrm>
          <a:prstGeom prst="rect">
            <a:avLst/>
          </a:prstGeom>
        </p:spPr>
      </p:pic>
      <p:sp>
        <p:nvSpPr>
          <p:cNvPr id="33" name="TextBox 32"/>
          <p:cNvSpPr txBox="1"/>
          <p:nvPr/>
        </p:nvSpPr>
        <p:spPr>
          <a:xfrm>
            <a:off x="717157" y="4550282"/>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4540059"/>
            <a:ext cx="134549" cy="195707"/>
          </a:xfrm>
          <a:prstGeom prst="rect">
            <a:avLst/>
          </a:prstGeom>
        </p:spPr>
      </p:pic>
      <p:sp>
        <p:nvSpPr>
          <p:cNvPr id="35" name="TextBox 34"/>
          <p:cNvSpPr txBox="1"/>
          <p:nvPr/>
        </p:nvSpPr>
        <p:spPr>
          <a:xfrm>
            <a:off x="3479771" y="4550282"/>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&amp; Share Shift, By Packaging Format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Packaging Format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Composition, By Packaging Format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590675"/>
            <a:ext cx="2595753" cy="171069"/>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a:endParaRPr/>
          </a:p>
        </p:txBody>
      </p:sp>
      <p:sp>
        <p:nvSpPr>
          <p:cNvPr id="15" name="FMI Legend Chip"/>
          <p:cNvSpPr/>
          <p:nvPr/>
        </p:nvSpPr>
        <p:spPr>
          <a:xfrm>
            <a:off x="4928997" y="1854279"/>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10800000">
            <a:off x="5090922" y="184951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773317"/>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Bottles</a:t>
            </a:r>
          </a:p>
        </p:txBody>
      </p:sp>
      <p:sp>
        <p:nvSpPr>
          <p:cNvPr id="18" name="BPS Value 1"/>
          <p:cNvSpPr txBox="1"/>
          <p:nvPr/>
        </p:nvSpPr>
        <p:spPr>
          <a:xfrm>
            <a:off x="6896100" y="1835229"/>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19" name="FMI Legend Chip"/>
          <p:cNvSpPr/>
          <p:nvPr/>
        </p:nvSpPr>
        <p:spPr>
          <a:xfrm>
            <a:off x="4928997" y="2263346"/>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5090922" y="225858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218238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Jars and Tubs</a:t>
            </a:r>
          </a:p>
        </p:txBody>
      </p:sp>
      <p:sp>
        <p:nvSpPr>
          <p:cNvPr id="22" name="BPS Value 2"/>
          <p:cNvSpPr txBox="1"/>
          <p:nvPr/>
        </p:nvSpPr>
        <p:spPr>
          <a:xfrm>
            <a:off x="6896100" y="2244296"/>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23" name="FMI Legend Chip"/>
          <p:cNvSpPr/>
          <p:nvPr/>
        </p:nvSpPr>
        <p:spPr>
          <a:xfrm>
            <a:off x="4928997" y="2912317"/>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rot="10800000">
            <a:off x="5090922" y="290755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2831354"/>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Sachets</a:t>
            </a:r>
          </a:p>
        </p:txBody>
      </p:sp>
      <p:sp>
        <p:nvSpPr>
          <p:cNvPr id="26" name="BPS Value 3"/>
          <p:cNvSpPr txBox="1"/>
          <p:nvPr/>
        </p:nvSpPr>
        <p:spPr>
          <a:xfrm>
            <a:off x="6896100" y="2893267"/>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7" name="FMI Legend Chip"/>
          <p:cNvSpPr/>
          <p:nvPr/>
        </p:nvSpPr>
        <p:spPr>
          <a:xfrm>
            <a:off x="4928997" y="378909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rot="10800000">
            <a:off x="5090922" y="37843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3708137"/>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Blister Packs</a:t>
            </a:r>
          </a:p>
        </p:txBody>
      </p:sp>
      <p:sp>
        <p:nvSpPr>
          <p:cNvPr id="30" name="BPS Value 4"/>
          <p:cNvSpPr txBox="1"/>
          <p:nvPr/>
        </p:nvSpPr>
        <p:spPr>
          <a:xfrm>
            <a:off x="6896100" y="3770049"/>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1" name="FMI Legend Chip"/>
          <p:cNvSpPr/>
          <p:nvPr/>
        </p:nvSpPr>
        <p:spPr>
          <a:xfrm>
            <a:off x="4928997" y="470276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10800000">
            <a:off x="5090922" y="469800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5233797" y="462180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Canisters</a:t>
            </a:r>
          </a:p>
        </p:txBody>
      </p:sp>
      <p:sp>
        <p:nvSpPr>
          <p:cNvPr id="34" name="BPS Value 5"/>
          <p:cNvSpPr txBox="1"/>
          <p:nvPr/>
        </p:nvSpPr>
        <p:spPr>
          <a:xfrm>
            <a:off x="6896100" y="4683716"/>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5" name="FMI Legend Chip"/>
          <p:cNvSpPr/>
          <p:nvPr/>
        </p:nvSpPr>
        <p:spPr>
          <a:xfrm>
            <a:off x="4928997" y="570310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5090922" y="569834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5233797" y="562214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Pouches</a:t>
            </a:r>
          </a:p>
        </p:txBody>
      </p:sp>
      <p:sp>
        <p:nvSpPr>
          <p:cNvPr id="38" name="BPS Value 6"/>
          <p:cNvSpPr txBox="1"/>
          <p:nvPr/>
        </p:nvSpPr>
        <p:spPr>
          <a:xfrm>
            <a:off x="6896100" y="5684057"/>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Europe Read-out, By Packaging Format</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TextBox 4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750840" cy="194310"/>
          </a:xfrm>
          <a:prstGeom prst="rect">
            <a:avLst/>
          </a:prstGeom>
          <a:noFill/>
        </p:spPr>
        <p:txBody>
          <a:bodyPr wrap="none" lIns="0" tIns="0" rIns="0" bIns="0">
            <a:spAutoFit/>
          </a:bodyPr>
          <a:lstStyle/>
          <a:p>
            <a:r>
              <a:rPr sz="1150" b="0">
                <a:solidFill>
                  <a:srgbClr val="2E2E2E"/>
                </a:solidFill>
                <a:latin typeface="Calibri"/>
              </a:rPr>
              <a:t>Among senior dog cognitive supplement by packaging format,</a:t>
            </a:r>
          </a:p>
        </p:txBody>
      </p:sp>
      <p:sp>
        <p:nvSpPr>
          <p:cNvPr id="46" name="TextBox 45"/>
          <p:cNvSpPr txBox="1"/>
          <p:nvPr/>
        </p:nvSpPr>
        <p:spPr>
          <a:xfrm>
            <a:off x="7829550" y="1575435"/>
            <a:ext cx="3688637" cy="194310"/>
          </a:xfrm>
          <a:prstGeom prst="rect">
            <a:avLst/>
          </a:prstGeom>
          <a:noFill/>
        </p:spPr>
        <p:txBody>
          <a:bodyPr wrap="none" lIns="0" tIns="0" rIns="0" bIns="0">
            <a:spAutoFit/>
          </a:bodyPr>
          <a:lstStyle/>
          <a:p>
            <a:r>
              <a:rPr sz="1150" b="0">
                <a:solidFill>
                  <a:srgbClr val="2E2E2E"/>
                </a:solidFill>
                <a:latin typeface="Calibri"/>
              </a:rPr>
              <a:t>pouches segment is expected to witness the highest CAGR of</a:t>
            </a:r>
          </a:p>
        </p:txBody>
      </p:sp>
      <p:pic>
        <p:nvPicPr>
          <p:cNvPr id="47" name="Picture 46" descr="lock.png"/>
          <p:cNvPicPr>
            <a:picLocks noChangeAspect="1"/>
          </p:cNvPicPr>
          <p:nvPr/>
        </p:nvPicPr>
        <p:blipFill>
          <a:blip r:embed="rId5"/>
          <a:stretch>
            <a:fillRect/>
          </a:stretch>
        </p:blipFill>
        <p:spPr>
          <a:xfrm>
            <a:off x="11467341" y="1565211"/>
            <a:ext cx="134549" cy="195707"/>
          </a:xfrm>
          <a:prstGeom prst="rect">
            <a:avLst/>
          </a:prstGeom>
        </p:spPr>
      </p:pic>
      <p:sp>
        <p:nvSpPr>
          <p:cNvPr id="48" name="TextBox 47"/>
          <p:cNvSpPr txBox="1"/>
          <p:nvPr/>
        </p:nvSpPr>
        <p:spPr>
          <a:xfrm>
            <a:off x="7829550" y="1750695"/>
            <a:ext cx="3743994" cy="194310"/>
          </a:xfrm>
          <a:prstGeom prst="rect">
            <a:avLst/>
          </a:prstGeom>
          <a:noFill/>
        </p:spPr>
        <p:txBody>
          <a:bodyPr wrap="none" lIns="0" tIns="0" rIns="0" bIns="0">
            <a:spAutoFit/>
          </a:bodyPr>
          <a:lstStyle/>
          <a:p>
            <a:r>
              <a:rPr sz="1150" b="0">
                <a:solidFill>
                  <a:srgbClr val="2E2E2E"/>
                </a:solidFill>
                <a:latin typeface="Calibri"/>
              </a:rPr>
              <a:t>over the forecast period. In terms of value share by packaging</a:t>
            </a:r>
          </a:p>
        </p:txBody>
      </p:sp>
      <p:sp>
        <p:nvSpPr>
          <p:cNvPr id="49" name="TextBox 48"/>
          <p:cNvSpPr txBox="1"/>
          <p:nvPr/>
        </p:nvSpPr>
        <p:spPr>
          <a:xfrm>
            <a:off x="7829550" y="1925955"/>
            <a:ext cx="4026110" cy="194310"/>
          </a:xfrm>
          <a:prstGeom prst="rect">
            <a:avLst/>
          </a:prstGeom>
          <a:noFill/>
        </p:spPr>
        <p:txBody>
          <a:bodyPr wrap="none" lIns="0" tIns="0" rIns="0" bIns="0">
            <a:spAutoFit/>
          </a:bodyPr>
          <a:lstStyle/>
          <a:p>
            <a:r>
              <a:rPr sz="1150" b="0">
                <a:solidFill>
                  <a:srgbClr val="2E2E2E"/>
                </a:solidFill>
                <a:latin typeface="Calibri"/>
              </a:rPr>
              <a:t>format, the pouches segment is expected to dominate the market,</a:t>
            </a:r>
          </a:p>
        </p:txBody>
      </p:sp>
      <p:sp>
        <p:nvSpPr>
          <p:cNvPr id="50" name="TextBox 49"/>
          <p:cNvSpPr txBox="1"/>
          <p:nvPr/>
        </p:nvSpPr>
        <p:spPr>
          <a:xfrm>
            <a:off x="7829550" y="2101215"/>
            <a:ext cx="504366" cy="194310"/>
          </a:xfrm>
          <a:prstGeom prst="rect">
            <a:avLst/>
          </a:prstGeom>
          <a:noFill/>
        </p:spPr>
        <p:txBody>
          <a:bodyPr wrap="none" lIns="0" tIns="0" rIns="0" bIns="0">
            <a:spAutoFit/>
          </a:bodyPr>
          <a:lstStyle/>
          <a:p>
            <a:r>
              <a:rPr sz="1150" b="0">
                <a:solidFill>
                  <a:srgbClr val="2E2E2E"/>
                </a:solidFill>
                <a:latin typeface="Calibri"/>
              </a:rPr>
              <a:t>gaining</a:t>
            </a:r>
          </a:p>
        </p:txBody>
      </p:sp>
      <p:pic>
        <p:nvPicPr>
          <p:cNvPr id="51" name="Picture 50" descr="lock.png"/>
          <p:cNvPicPr>
            <a:picLocks noChangeAspect="1"/>
          </p:cNvPicPr>
          <p:nvPr/>
        </p:nvPicPr>
        <p:blipFill>
          <a:blip r:embed="rId5"/>
          <a:stretch>
            <a:fillRect/>
          </a:stretch>
        </p:blipFill>
        <p:spPr>
          <a:xfrm>
            <a:off x="8283070" y="2090991"/>
            <a:ext cx="134549" cy="195707"/>
          </a:xfrm>
          <a:prstGeom prst="rect">
            <a:avLst/>
          </a:prstGeom>
        </p:spPr>
      </p:pic>
      <p:sp>
        <p:nvSpPr>
          <p:cNvPr id="52" name="TextBox 51"/>
          <p:cNvSpPr txBox="1"/>
          <p:nvPr/>
        </p:nvSpPr>
        <p:spPr>
          <a:xfrm>
            <a:off x="8458179" y="2101215"/>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9853322" y="2090991"/>
            <a:ext cx="134549" cy="195707"/>
          </a:xfrm>
          <a:prstGeom prst="rect">
            <a:avLst/>
          </a:prstGeom>
        </p:spPr>
      </p:pic>
      <p:sp>
        <p:nvSpPr>
          <p:cNvPr id="54" name="TextBox 53"/>
          <p:cNvSpPr txBox="1"/>
          <p:nvPr/>
        </p:nvSpPr>
        <p:spPr>
          <a:xfrm>
            <a:off x="10028431" y="2101215"/>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55" name="TextBox 54"/>
          <p:cNvSpPr txBox="1"/>
          <p:nvPr/>
        </p:nvSpPr>
        <p:spPr>
          <a:xfrm>
            <a:off x="7829550" y="2329053"/>
            <a:ext cx="2456929" cy="194310"/>
          </a:xfrm>
          <a:prstGeom prst="rect">
            <a:avLst/>
          </a:prstGeom>
          <a:noFill/>
        </p:spPr>
        <p:txBody>
          <a:bodyPr wrap="none" lIns="0" tIns="0" rIns="0" bIns="0">
            <a:spAutoFit/>
          </a:bodyPr>
          <a:lstStyle/>
          <a:p>
            <a:r>
              <a:rPr sz="1150" b="0">
                <a:solidFill>
                  <a:srgbClr val="2E2E2E"/>
                </a:solidFill>
                <a:latin typeface="Calibri"/>
              </a:rPr>
              <a:t>The sachets segment is expected to lose</a:t>
            </a:r>
          </a:p>
        </p:txBody>
      </p:sp>
      <p:pic>
        <p:nvPicPr>
          <p:cNvPr id="56" name="Picture 55" descr="lock.png"/>
          <p:cNvPicPr>
            <a:picLocks noChangeAspect="1"/>
          </p:cNvPicPr>
          <p:nvPr/>
        </p:nvPicPr>
        <p:blipFill>
          <a:blip r:embed="rId5"/>
          <a:stretch>
            <a:fillRect/>
          </a:stretch>
        </p:blipFill>
        <p:spPr>
          <a:xfrm>
            <a:off x="10235633" y="2318829"/>
            <a:ext cx="134549" cy="195707"/>
          </a:xfrm>
          <a:prstGeom prst="rect">
            <a:avLst/>
          </a:prstGeom>
        </p:spPr>
      </p:pic>
      <p:sp>
        <p:nvSpPr>
          <p:cNvPr id="57" name="TextBox 56"/>
          <p:cNvSpPr txBox="1"/>
          <p:nvPr/>
        </p:nvSpPr>
        <p:spPr>
          <a:xfrm>
            <a:off x="10410742" y="2329053"/>
            <a:ext cx="1346150" cy="194310"/>
          </a:xfrm>
          <a:prstGeom prst="rect">
            <a:avLst/>
          </a:prstGeom>
          <a:noFill/>
        </p:spPr>
        <p:txBody>
          <a:bodyPr wrap="none" lIns="0" tIns="0" rIns="0" bIns="0">
            <a:spAutoFit/>
          </a:bodyPr>
          <a:lstStyle/>
          <a:p>
            <a:r>
              <a:rPr sz="1150" b="0">
                <a:solidFill>
                  <a:srgbClr val="2E2E2E"/>
                </a:solidFill>
                <a:latin typeface="Calibri"/>
              </a:rPr>
              <a:t>BPS over the forecast</a:t>
            </a:r>
          </a:p>
        </p:txBody>
      </p:sp>
      <p:sp>
        <p:nvSpPr>
          <p:cNvPr id="58" name="TextBox 57"/>
          <p:cNvSpPr txBox="1"/>
          <p:nvPr/>
        </p:nvSpPr>
        <p:spPr>
          <a:xfrm>
            <a:off x="7829550" y="2504313"/>
            <a:ext cx="1335310" cy="194310"/>
          </a:xfrm>
          <a:prstGeom prst="rect">
            <a:avLst/>
          </a:prstGeom>
          <a:noFill/>
        </p:spPr>
        <p:txBody>
          <a:bodyPr wrap="none" lIns="0" tIns="0" rIns="0" bIns="0">
            <a:spAutoFit/>
          </a:bodyPr>
          <a:lstStyle/>
          <a:p>
            <a:r>
              <a:rPr sz="1150" b="0">
                <a:solidFill>
                  <a:srgbClr val="2E2E2E"/>
                </a:solidFill>
                <a:latin typeface="Calibri"/>
              </a:rPr>
              <a:t>period to account for</a:t>
            </a:r>
          </a:p>
        </p:txBody>
      </p:sp>
      <p:pic>
        <p:nvPicPr>
          <p:cNvPr id="59" name="Picture 58" descr="lock.png"/>
          <p:cNvPicPr>
            <a:picLocks noChangeAspect="1"/>
          </p:cNvPicPr>
          <p:nvPr/>
        </p:nvPicPr>
        <p:blipFill>
          <a:blip r:embed="rId5"/>
          <a:stretch>
            <a:fillRect/>
          </a:stretch>
        </p:blipFill>
        <p:spPr>
          <a:xfrm>
            <a:off x="9114014" y="2494089"/>
            <a:ext cx="134549" cy="195707"/>
          </a:xfrm>
          <a:prstGeom prst="rect">
            <a:avLst/>
          </a:prstGeom>
        </p:spPr>
      </p:pic>
      <p:sp>
        <p:nvSpPr>
          <p:cNvPr id="60" name="TextBox 59"/>
          <p:cNvSpPr txBox="1"/>
          <p:nvPr/>
        </p:nvSpPr>
        <p:spPr>
          <a:xfrm>
            <a:off x="9289123" y="250431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14.5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Sales Channel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6 sub-segments of Sales Channel, 2026–2036</a:t>
            </a:r>
          </a:p>
        </p:txBody>
      </p:sp>
      <p:sp>
        <p:nvSpPr>
          <p:cNvPr id="10" name="TextBox 9"/>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Veterinary Channels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Brand-Owned E-commerce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Specialist Pet Retail</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Third-Party E-commerce</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Other Direct Sales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General Retail</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endParaRP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6300" y="5789730"/>
            <a:ext cx="3219450" cy="456342"/>
          </a:xfrm>
          <a:prstGeom prst="rect">
            <a:avLst/>
          </a:prstGeom>
          <a:noFill/>
        </p:spPr>
        <p:txBody>
          <a:bodyPr wrap="square" lIns="28575" tIns="9525" rIns="28575" bIns="9525" anchor="ctr">
            <a:spAutoFit/>
          </a:bodyPr>
          <a:lstStyle/>
          <a:p>
            <a:pPr algn="l"/>
            <a:endParaRP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77" name="Picture 76" descr="734_1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173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8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629_8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881_5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3_4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543_5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1_142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7_7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540_9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1_177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8_1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252_2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370_8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3_9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242_5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312_5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2_6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44824" cy="186689"/>
          </a:xfrm>
          <a:prstGeom prst="rect">
            <a:avLst/>
          </a:prstGeom>
          <a:noFill/>
        </p:spPr>
        <p:txBody>
          <a:bodyPr wrap="none" lIns="0" tIns="0" rIns="0" bIns="0">
            <a:spAutoFit/>
          </a:bodyPr>
          <a:lstStyle/>
          <a:p>
            <a:r>
              <a:rPr sz="1100" b="0">
                <a:solidFill>
                  <a:srgbClr val="2E2E2E"/>
                </a:solidFill>
                <a:latin typeface="Calibri"/>
              </a:rPr>
              <a:t>Among senior dog cognitive supplement by sales</a:t>
            </a:r>
          </a:p>
        </p:txBody>
      </p:sp>
      <p:sp>
        <p:nvSpPr>
          <p:cNvPr id="102" name="TextBox 101"/>
          <p:cNvSpPr txBox="1"/>
          <p:nvPr/>
        </p:nvSpPr>
        <p:spPr>
          <a:xfrm>
            <a:off x="485775" y="4397077"/>
            <a:ext cx="2596529" cy="186689"/>
          </a:xfrm>
          <a:prstGeom prst="rect">
            <a:avLst/>
          </a:prstGeom>
          <a:noFill/>
        </p:spPr>
        <p:txBody>
          <a:bodyPr wrap="none" lIns="0" tIns="0" rIns="0" bIns="0">
            <a:spAutoFit/>
          </a:bodyPr>
          <a:lstStyle/>
          <a:p>
            <a:r>
              <a:rPr sz="1100" b="0">
                <a:solidFill>
                  <a:srgbClr val="2E2E2E"/>
                </a:solidFill>
                <a:latin typeface="Calibri"/>
              </a:rPr>
              <a:t>channel, third-party e-commerce segment is</a:t>
            </a:r>
          </a:p>
        </p:txBody>
      </p:sp>
      <p:sp>
        <p:nvSpPr>
          <p:cNvPr id="103" name="TextBox 102"/>
          <p:cNvSpPr txBox="1"/>
          <p:nvPr/>
        </p:nvSpPr>
        <p:spPr>
          <a:xfrm>
            <a:off x="485775" y="4564717"/>
            <a:ext cx="2381232" cy="186689"/>
          </a:xfrm>
          <a:prstGeom prst="rect">
            <a:avLst/>
          </a:prstGeom>
          <a:noFill/>
        </p:spPr>
        <p:txBody>
          <a:bodyPr wrap="none" lIns="0" tIns="0" rIns="0" bIns="0">
            <a:spAutoFit/>
          </a:bodyPr>
          <a:lstStyle/>
          <a:p>
            <a:r>
              <a:rPr sz="1100" b="0">
                <a:solidFill>
                  <a:srgbClr val="2E2E2E"/>
                </a:solidFill>
                <a:latin typeface="Calibri"/>
              </a:rPr>
              <a:t>expected to witness the highest CAGR of</a:t>
            </a:r>
          </a:p>
        </p:txBody>
      </p:sp>
      <p:pic>
        <p:nvPicPr>
          <p:cNvPr id="104" name="Picture 103" descr="lock.png"/>
          <p:cNvPicPr>
            <a:picLocks noChangeAspect="1"/>
          </p:cNvPicPr>
          <p:nvPr/>
        </p:nvPicPr>
        <p:blipFill>
          <a:blip r:embed="rId22"/>
          <a:stretch>
            <a:fillRect/>
          </a:stretch>
        </p:blipFill>
        <p:spPr>
          <a:xfrm>
            <a:off x="2815059" y="4554938"/>
            <a:ext cx="128699" cy="187198"/>
          </a:xfrm>
          <a:prstGeom prst="rect">
            <a:avLst/>
          </a:prstGeom>
        </p:spPr>
      </p:pic>
      <p:sp>
        <p:nvSpPr>
          <p:cNvPr id="105" name="TextBox 104"/>
          <p:cNvSpPr txBox="1"/>
          <p:nvPr/>
        </p:nvSpPr>
        <p:spPr>
          <a:xfrm>
            <a:off x="2982555" y="4564717"/>
            <a:ext cx="331316" cy="186689"/>
          </a:xfrm>
          <a:prstGeom prst="rect">
            <a:avLst/>
          </a:prstGeom>
          <a:noFill/>
        </p:spPr>
        <p:txBody>
          <a:bodyPr wrap="none" lIns="0" tIns="0" rIns="0" bIns="0">
            <a:spAutoFit/>
          </a:bodyPr>
          <a:lstStyle/>
          <a:p>
            <a:r>
              <a:rPr sz="1100" b="0">
                <a:solidFill>
                  <a:srgbClr val="2E2E2E"/>
                </a:solidFill>
                <a:latin typeface="Calibri"/>
              </a:rPr>
              <a:t>over</a:t>
            </a:r>
          </a:p>
        </p:txBody>
      </p:sp>
      <p:sp>
        <p:nvSpPr>
          <p:cNvPr id="106" name="TextBox 105"/>
          <p:cNvSpPr txBox="1"/>
          <p:nvPr/>
        </p:nvSpPr>
        <p:spPr>
          <a:xfrm>
            <a:off x="485775" y="4732357"/>
            <a:ext cx="2699122" cy="186689"/>
          </a:xfrm>
          <a:prstGeom prst="rect">
            <a:avLst/>
          </a:prstGeom>
          <a:noFill/>
        </p:spPr>
        <p:txBody>
          <a:bodyPr wrap="none" lIns="0" tIns="0" rIns="0" bIns="0">
            <a:spAutoFit/>
          </a:bodyPr>
          <a:lstStyle/>
          <a:p>
            <a:r>
              <a:rPr sz="1100" b="0">
                <a:solidFill>
                  <a:srgbClr val="2E2E2E"/>
                </a:solidFill>
                <a:latin typeface="Calibri"/>
              </a:rPr>
              <a:t>the forecast period. In terms of value share by</a:t>
            </a:r>
          </a:p>
        </p:txBody>
      </p:sp>
      <p:sp>
        <p:nvSpPr>
          <p:cNvPr id="107" name="TextBox 106"/>
          <p:cNvSpPr txBox="1"/>
          <p:nvPr/>
        </p:nvSpPr>
        <p:spPr>
          <a:xfrm>
            <a:off x="485775" y="4899997"/>
            <a:ext cx="2486025" cy="186689"/>
          </a:xfrm>
          <a:prstGeom prst="rect">
            <a:avLst/>
          </a:prstGeom>
          <a:noFill/>
        </p:spPr>
        <p:txBody>
          <a:bodyPr wrap="none" lIns="0" tIns="0" rIns="0" bIns="0">
            <a:spAutoFit/>
          </a:bodyPr>
          <a:lstStyle/>
          <a:p>
            <a:r>
              <a:rPr sz="1100" b="0">
                <a:solidFill>
                  <a:srgbClr val="2E2E2E"/>
                </a:solidFill>
                <a:latin typeface="Calibri"/>
              </a:rPr>
              <a:t>sales channel, the third-party e-commerce</a:t>
            </a:r>
          </a:p>
        </p:txBody>
      </p:sp>
      <p:sp>
        <p:nvSpPr>
          <p:cNvPr id="108" name="TextBox 107"/>
          <p:cNvSpPr txBox="1"/>
          <p:nvPr/>
        </p:nvSpPr>
        <p:spPr>
          <a:xfrm>
            <a:off x="485775" y="5067637"/>
            <a:ext cx="2666925" cy="186689"/>
          </a:xfrm>
          <a:prstGeom prst="rect">
            <a:avLst/>
          </a:prstGeom>
          <a:noFill/>
        </p:spPr>
        <p:txBody>
          <a:bodyPr wrap="none" lIns="0" tIns="0" rIns="0" bIns="0">
            <a:spAutoFit/>
          </a:bodyPr>
          <a:lstStyle/>
          <a:p>
            <a:r>
              <a:rPr sz="1100" b="0">
                <a:solidFill>
                  <a:srgbClr val="2E2E2E"/>
                </a:solidFill>
                <a:latin typeface="Calibri"/>
              </a:rPr>
              <a:t>segment is expected to dominate the market,</a:t>
            </a:r>
          </a:p>
        </p:txBody>
      </p:sp>
      <p:sp>
        <p:nvSpPr>
          <p:cNvPr id="109" name="TextBox 108"/>
          <p:cNvSpPr txBox="1"/>
          <p:nvPr/>
        </p:nvSpPr>
        <p:spPr>
          <a:xfrm>
            <a:off x="485775" y="5235277"/>
            <a:ext cx="485750" cy="186689"/>
          </a:xfrm>
          <a:prstGeom prst="rect">
            <a:avLst/>
          </a:prstGeom>
          <a:noFill/>
        </p:spPr>
        <p:txBody>
          <a:bodyPr wrap="none" lIns="0" tIns="0" rIns="0" bIns="0">
            <a:spAutoFit/>
          </a:bodyPr>
          <a:lstStyle/>
          <a:p>
            <a:r>
              <a:rPr sz="1100" b="0">
                <a:solidFill>
                  <a:srgbClr val="2E2E2E"/>
                </a:solidFill>
                <a:latin typeface="Calibri"/>
              </a:rPr>
              <a:t>gaining</a:t>
            </a:r>
          </a:p>
        </p:txBody>
      </p:sp>
      <p:pic>
        <p:nvPicPr>
          <p:cNvPr id="110" name="Picture 109" descr="lock.png"/>
          <p:cNvPicPr>
            <a:picLocks noChangeAspect="1"/>
          </p:cNvPicPr>
          <p:nvPr/>
        </p:nvPicPr>
        <p:blipFill>
          <a:blip r:embed="rId22"/>
          <a:stretch>
            <a:fillRect/>
          </a:stretch>
        </p:blipFill>
        <p:spPr>
          <a:xfrm>
            <a:off x="919576" y="5225498"/>
            <a:ext cx="128699" cy="187198"/>
          </a:xfrm>
          <a:prstGeom prst="rect">
            <a:avLst/>
          </a:prstGeom>
        </p:spPr>
      </p:pic>
      <p:sp>
        <p:nvSpPr>
          <p:cNvPr id="111" name="TextBox 110"/>
          <p:cNvSpPr txBox="1"/>
          <p:nvPr/>
        </p:nvSpPr>
        <p:spPr>
          <a:xfrm>
            <a:off x="1087072" y="5235277"/>
            <a:ext cx="1386433" cy="186689"/>
          </a:xfrm>
          <a:prstGeom prst="rect">
            <a:avLst/>
          </a:prstGeom>
          <a:noFill/>
        </p:spPr>
        <p:txBody>
          <a:bodyPr wrap="none" lIns="0" tIns="0" rIns="0" bIns="0">
            <a:spAutoFit/>
          </a:bodyPr>
          <a:lstStyle/>
          <a:p>
            <a:r>
              <a:rPr sz="1100" b="0">
                <a:solidFill>
                  <a:srgbClr val="2E2E2E"/>
                </a:solidFill>
                <a:latin typeface="Calibri"/>
              </a:rPr>
              <a:t>BPS and accounting for</a:t>
            </a:r>
          </a:p>
        </p:txBody>
      </p:sp>
      <p:pic>
        <p:nvPicPr>
          <p:cNvPr id="112" name="Picture 111" descr="lock.png"/>
          <p:cNvPicPr>
            <a:picLocks noChangeAspect="1"/>
          </p:cNvPicPr>
          <p:nvPr/>
        </p:nvPicPr>
        <p:blipFill>
          <a:blip r:embed="rId22"/>
          <a:stretch>
            <a:fillRect/>
          </a:stretch>
        </p:blipFill>
        <p:spPr>
          <a:xfrm>
            <a:off x="2421557" y="5225498"/>
            <a:ext cx="128699" cy="187198"/>
          </a:xfrm>
          <a:prstGeom prst="rect">
            <a:avLst/>
          </a:prstGeom>
        </p:spPr>
      </p:pic>
      <p:sp>
        <p:nvSpPr>
          <p:cNvPr id="113" name="TextBox 112"/>
          <p:cNvSpPr txBox="1"/>
          <p:nvPr/>
        </p:nvSpPr>
        <p:spPr>
          <a:xfrm>
            <a:off x="2589053" y="5235277"/>
            <a:ext cx="557783" cy="186689"/>
          </a:xfrm>
          <a:prstGeom prst="rect">
            <a:avLst/>
          </a:prstGeom>
          <a:noFill/>
        </p:spPr>
        <p:txBody>
          <a:bodyPr wrap="none" lIns="0" tIns="0" rIns="0" bIns="0">
            <a:spAutoFit/>
          </a:bodyPr>
          <a:lstStyle/>
          <a:p>
            <a:r>
              <a:rPr sz="1100" b="0">
                <a:solidFill>
                  <a:srgbClr val="2E2E2E"/>
                </a:solidFill>
                <a:latin typeface="Calibri"/>
              </a:rPr>
              <a:t>share by</a:t>
            </a:r>
          </a:p>
        </p:txBody>
      </p:sp>
      <p:sp>
        <p:nvSpPr>
          <p:cNvPr id="114" name="TextBox 113"/>
          <p:cNvSpPr txBox="1"/>
          <p:nvPr/>
        </p:nvSpPr>
        <p:spPr>
          <a:xfrm>
            <a:off x="485775" y="5402917"/>
            <a:ext cx="395163" cy="186689"/>
          </a:xfrm>
          <a:prstGeom prst="rect">
            <a:avLst/>
          </a:prstGeom>
          <a:noFill/>
        </p:spPr>
        <p:txBody>
          <a:bodyPr wrap="none" lIns="0" tIns="0" rIns="0" bIns="0">
            <a:spAutoFit/>
          </a:bodyPr>
          <a:lstStyle/>
          <a:p>
            <a:r>
              <a:rPr sz="1100" b="0">
                <a:solidFill>
                  <a:srgbClr val="2E2E2E"/>
                </a:solidFill>
                <a:latin typeface="Calibri"/>
              </a:rPr>
              <a:t>2036.</a:t>
            </a:r>
          </a:p>
        </p:txBody>
      </p:sp>
      <p:sp>
        <p:nvSpPr>
          <p:cNvPr id="115" name="TextBox 114"/>
          <p:cNvSpPr txBox="1"/>
          <p:nvPr/>
        </p:nvSpPr>
        <p:spPr>
          <a:xfrm>
            <a:off x="485775" y="5620849"/>
            <a:ext cx="2835274" cy="186689"/>
          </a:xfrm>
          <a:prstGeom prst="rect">
            <a:avLst/>
          </a:prstGeom>
          <a:noFill/>
        </p:spPr>
        <p:txBody>
          <a:bodyPr wrap="none" lIns="0" tIns="0" rIns="0" bIns="0">
            <a:spAutoFit/>
          </a:bodyPr>
          <a:lstStyle/>
          <a:p>
            <a:r>
              <a:rPr sz="1100" b="0">
                <a:solidFill>
                  <a:srgbClr val="2E2E2E"/>
                </a:solidFill>
                <a:latin typeface="Calibri"/>
              </a:rPr>
              <a:t>Third-party e-commerce segment is projected to</a:t>
            </a:r>
          </a:p>
        </p:txBody>
      </p:sp>
      <p:sp>
        <p:nvSpPr>
          <p:cNvPr id="116" name="TextBox 115"/>
          <p:cNvSpPr txBox="1"/>
          <p:nvPr/>
        </p:nvSpPr>
        <p:spPr>
          <a:xfrm>
            <a:off x="485775" y="5788489"/>
            <a:ext cx="512489" cy="186689"/>
          </a:xfrm>
          <a:prstGeom prst="rect">
            <a:avLst/>
          </a:prstGeom>
          <a:noFill/>
        </p:spPr>
        <p:txBody>
          <a:bodyPr wrap="none" lIns="0" tIns="0" rIns="0" bIns="0">
            <a:spAutoFit/>
          </a:bodyPr>
          <a:lstStyle/>
          <a:p>
            <a:r>
              <a:rPr sz="1100" b="0">
                <a:solidFill>
                  <a:srgbClr val="2E2E2E"/>
                </a:solidFill>
                <a:latin typeface="Calibri"/>
              </a:rPr>
              <a:t>register</a:t>
            </a:r>
          </a:p>
        </p:txBody>
      </p:sp>
      <p:pic>
        <p:nvPicPr>
          <p:cNvPr id="117" name="Picture 116" descr="lock.png"/>
          <p:cNvPicPr>
            <a:picLocks noChangeAspect="1"/>
          </p:cNvPicPr>
          <p:nvPr/>
        </p:nvPicPr>
        <p:blipFill>
          <a:blip r:embed="rId22"/>
          <a:stretch>
            <a:fillRect/>
          </a:stretch>
        </p:blipFill>
        <p:spPr>
          <a:xfrm>
            <a:off x="946316" y="5778710"/>
            <a:ext cx="128699" cy="187198"/>
          </a:xfrm>
          <a:prstGeom prst="rect">
            <a:avLst/>
          </a:prstGeom>
        </p:spPr>
      </p:pic>
      <p:sp>
        <p:nvSpPr>
          <p:cNvPr id="118" name="TextBox 117"/>
          <p:cNvSpPr txBox="1"/>
          <p:nvPr/>
        </p:nvSpPr>
        <p:spPr>
          <a:xfrm>
            <a:off x="1113812" y="5788489"/>
            <a:ext cx="1786706" cy="186689"/>
          </a:xfrm>
          <a:prstGeom prst="rect">
            <a:avLst/>
          </a:prstGeom>
          <a:noFill/>
        </p:spPr>
        <p:txBody>
          <a:bodyPr wrap="none" lIns="0" tIns="0" rIns="0" bIns="0">
            <a:spAutoFit/>
          </a:bodyPr>
          <a:lstStyle/>
          <a:p>
            <a:r>
              <a:rPr sz="1100" b="0">
                <a:solidFill>
                  <a:srgbClr val="2E2E2E"/>
                </a:solidFill>
                <a:latin typeface="Calibri"/>
              </a:rPr>
              <a:t>X higher value than veterinary</a:t>
            </a:r>
          </a:p>
        </p:txBody>
      </p:sp>
      <p:sp>
        <p:nvSpPr>
          <p:cNvPr id="119" name="TextBox 118"/>
          <p:cNvSpPr txBox="1"/>
          <p:nvPr/>
        </p:nvSpPr>
        <p:spPr>
          <a:xfrm>
            <a:off x="485775" y="5956129"/>
            <a:ext cx="1589707" cy="186689"/>
          </a:xfrm>
          <a:prstGeom prst="rect">
            <a:avLst/>
          </a:prstGeom>
          <a:noFill/>
        </p:spPr>
        <p:txBody>
          <a:bodyPr wrap="none" lIns="0" tIns="0" rIns="0" bIns="0">
            <a:spAutoFit/>
          </a:bodyPr>
          <a:lstStyle/>
          <a:p>
            <a:r>
              <a:rPr sz="1100" b="0">
                <a:solidFill>
                  <a:srgbClr val="2E2E2E"/>
                </a:solidFill>
                <a:latin typeface="Calibri"/>
              </a:rPr>
              <a:t>channels segment in 2036.</a:t>
            </a:r>
          </a:p>
        </p:txBody>
      </p:sp>
      <p:sp>
        <p:nvSpPr>
          <p:cNvPr id="120" name="TextBox 119"/>
          <p:cNvSpPr txBox="1"/>
          <p:nvPr/>
        </p:nvSpPr>
        <p:spPr>
          <a:xfrm>
            <a:off x="3838575" y="4229437"/>
            <a:ext cx="1377974" cy="186689"/>
          </a:xfrm>
          <a:prstGeom prst="rect">
            <a:avLst/>
          </a:prstGeom>
          <a:noFill/>
        </p:spPr>
        <p:txBody>
          <a:bodyPr wrap="none" lIns="0" tIns="0" rIns="0" bIns="0">
            <a:spAutoFit/>
          </a:bodyPr>
          <a:lstStyle/>
          <a:p>
            <a:r>
              <a:rPr sz="1100" b="0">
                <a:solidFill>
                  <a:srgbClr val="2E2E2E"/>
                </a:solidFill>
                <a:latin typeface="Calibri"/>
              </a:rPr>
              <a:t>● Veterinary Channels:</a:t>
            </a:r>
          </a:p>
        </p:txBody>
      </p:sp>
      <p:pic>
        <p:nvPicPr>
          <p:cNvPr id="121" name="Picture 120" descr="lock.png"/>
          <p:cNvPicPr>
            <a:picLocks noChangeAspect="1"/>
          </p:cNvPicPr>
          <p:nvPr/>
        </p:nvPicPr>
        <p:blipFill>
          <a:blip r:embed="rId22"/>
          <a:stretch>
            <a:fillRect/>
          </a:stretch>
        </p:blipFill>
        <p:spPr>
          <a:xfrm>
            <a:off x="5164601" y="4219658"/>
            <a:ext cx="128699" cy="187198"/>
          </a:xfrm>
          <a:prstGeom prst="rect">
            <a:avLst/>
          </a:prstGeom>
        </p:spPr>
      </p:pic>
      <p:sp>
        <p:nvSpPr>
          <p:cNvPr id="122" name="TextBox 121"/>
          <p:cNvSpPr txBox="1"/>
          <p:nvPr/>
        </p:nvSpPr>
        <p:spPr>
          <a:xfrm>
            <a:off x="5332097" y="422943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3" name="Picture 122" descr="lock.png"/>
          <p:cNvPicPr>
            <a:picLocks noChangeAspect="1"/>
          </p:cNvPicPr>
          <p:nvPr/>
        </p:nvPicPr>
        <p:blipFill>
          <a:blip r:embed="rId22"/>
          <a:stretch>
            <a:fillRect/>
          </a:stretch>
        </p:blipFill>
        <p:spPr>
          <a:xfrm>
            <a:off x="6191547" y="4219658"/>
            <a:ext cx="128699" cy="187198"/>
          </a:xfrm>
          <a:prstGeom prst="rect">
            <a:avLst/>
          </a:prstGeom>
        </p:spPr>
      </p:pic>
      <p:sp>
        <p:nvSpPr>
          <p:cNvPr id="124" name="TextBox 123"/>
          <p:cNvSpPr txBox="1"/>
          <p:nvPr/>
        </p:nvSpPr>
        <p:spPr>
          <a:xfrm>
            <a:off x="6359043" y="4229437"/>
            <a:ext cx="945215" cy="186689"/>
          </a:xfrm>
          <a:prstGeom prst="rect">
            <a:avLst/>
          </a:prstGeom>
          <a:noFill/>
        </p:spPr>
        <p:txBody>
          <a:bodyPr wrap="none" lIns="0" tIns="0" rIns="0" bIns="0">
            <a:spAutoFit/>
          </a:bodyPr>
          <a:lstStyle/>
          <a:p>
            <a:r>
              <a:rPr sz="1100" b="0">
                <a:solidFill>
                  <a:srgbClr val="2E2E2E"/>
                </a:solidFill>
                <a:latin typeface="Calibri"/>
              </a:rPr>
              <a:t>CAGR leads the</a:t>
            </a:r>
          </a:p>
        </p:txBody>
      </p:sp>
      <p:sp>
        <p:nvSpPr>
          <p:cNvPr id="125" name="TextBox 124"/>
          <p:cNvSpPr txBox="1"/>
          <p:nvPr/>
        </p:nvSpPr>
        <p:spPr>
          <a:xfrm>
            <a:off x="3838575" y="4397077"/>
            <a:ext cx="602803" cy="186689"/>
          </a:xfrm>
          <a:prstGeom prst="rect">
            <a:avLst/>
          </a:prstGeom>
          <a:noFill/>
        </p:spPr>
        <p:txBody>
          <a:bodyPr wrap="none" lIns="0" tIns="0" rIns="0" bIns="0">
            <a:spAutoFit/>
          </a:bodyPr>
          <a:lstStyle/>
          <a:p>
            <a:r>
              <a:rPr sz="1100" b="0">
                <a:solidFill>
                  <a:srgbClr val="2E2E2E"/>
                </a:solidFill>
                <a:latin typeface="Calibri"/>
              </a:rPr>
              <a:t>segment.</a:t>
            </a:r>
          </a:p>
        </p:txBody>
      </p:sp>
      <p:sp>
        <p:nvSpPr>
          <p:cNvPr id="126" name="TextBox 125"/>
          <p:cNvSpPr txBox="1"/>
          <p:nvPr/>
        </p:nvSpPr>
        <p:spPr>
          <a:xfrm>
            <a:off x="3838575" y="4615009"/>
            <a:ext cx="1765667" cy="186689"/>
          </a:xfrm>
          <a:prstGeom prst="rect">
            <a:avLst/>
          </a:prstGeom>
          <a:noFill/>
        </p:spPr>
        <p:txBody>
          <a:bodyPr wrap="none" lIns="0" tIns="0" rIns="0" bIns="0">
            <a:spAutoFit/>
          </a:bodyPr>
          <a:lstStyle/>
          <a:p>
            <a:r>
              <a:rPr sz="1100" b="0">
                <a:solidFill>
                  <a:srgbClr val="2E2E2E"/>
                </a:solidFill>
                <a:latin typeface="Calibri"/>
              </a:rPr>
              <a:t>● Brand-Owned E-commerce:</a:t>
            </a:r>
          </a:p>
        </p:txBody>
      </p:sp>
      <p:pic>
        <p:nvPicPr>
          <p:cNvPr id="127" name="Picture 126" descr="lock.png"/>
          <p:cNvPicPr>
            <a:picLocks noChangeAspect="1"/>
          </p:cNvPicPr>
          <p:nvPr/>
        </p:nvPicPr>
        <p:blipFill>
          <a:blip r:embed="rId22"/>
          <a:stretch>
            <a:fillRect/>
          </a:stretch>
        </p:blipFill>
        <p:spPr>
          <a:xfrm>
            <a:off x="5552293" y="4605230"/>
            <a:ext cx="128699" cy="187198"/>
          </a:xfrm>
          <a:prstGeom prst="rect">
            <a:avLst/>
          </a:prstGeom>
        </p:spPr>
      </p:pic>
      <p:sp>
        <p:nvSpPr>
          <p:cNvPr id="128" name="TextBox 127"/>
          <p:cNvSpPr txBox="1"/>
          <p:nvPr/>
        </p:nvSpPr>
        <p:spPr>
          <a:xfrm>
            <a:off x="5719789" y="4615009"/>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29" name="Picture 128" descr="lock.png"/>
          <p:cNvPicPr>
            <a:picLocks noChangeAspect="1"/>
          </p:cNvPicPr>
          <p:nvPr/>
        </p:nvPicPr>
        <p:blipFill>
          <a:blip r:embed="rId22"/>
          <a:stretch>
            <a:fillRect/>
          </a:stretch>
        </p:blipFill>
        <p:spPr>
          <a:xfrm>
            <a:off x="6579239" y="4605230"/>
            <a:ext cx="128699" cy="187198"/>
          </a:xfrm>
          <a:prstGeom prst="rect">
            <a:avLst/>
          </a:prstGeom>
        </p:spPr>
      </p:pic>
      <p:sp>
        <p:nvSpPr>
          <p:cNvPr id="130" name="TextBox 129"/>
          <p:cNvSpPr txBox="1"/>
          <p:nvPr/>
        </p:nvSpPr>
        <p:spPr>
          <a:xfrm>
            <a:off x="6746735" y="4615009"/>
            <a:ext cx="885733" cy="186689"/>
          </a:xfrm>
          <a:prstGeom prst="rect">
            <a:avLst/>
          </a:prstGeom>
          <a:noFill/>
        </p:spPr>
        <p:txBody>
          <a:bodyPr wrap="none" lIns="0" tIns="0" rIns="0" bIns="0">
            <a:spAutoFit/>
          </a:bodyPr>
          <a:lstStyle/>
          <a:p>
            <a:r>
              <a:rPr sz="1100" b="0">
                <a:solidFill>
                  <a:srgbClr val="2E2E2E"/>
                </a:solidFill>
                <a:latin typeface="Calibri"/>
              </a:rPr>
              <a:t>CAGR serves a</a:t>
            </a:r>
          </a:p>
        </p:txBody>
      </p:sp>
      <p:sp>
        <p:nvSpPr>
          <p:cNvPr id="131" name="TextBox 130"/>
          <p:cNvSpPr txBox="1"/>
          <p:nvPr/>
        </p:nvSpPr>
        <p:spPr>
          <a:xfrm>
            <a:off x="3838575" y="4782649"/>
            <a:ext cx="419174" cy="186689"/>
          </a:xfrm>
          <a:prstGeom prst="rect">
            <a:avLst/>
          </a:prstGeom>
          <a:noFill/>
        </p:spPr>
        <p:txBody>
          <a:bodyPr wrap="none" lIns="0" tIns="0" rIns="0" bIns="0">
            <a:spAutoFit/>
          </a:bodyPr>
          <a:lstStyle/>
          <a:p>
            <a:r>
              <a:rPr sz="1100" b="0">
                <a:solidFill>
                  <a:srgbClr val="2E2E2E"/>
                </a:solidFill>
                <a:latin typeface="Calibri"/>
              </a:rPr>
              <a:t>niche.</a:t>
            </a:r>
          </a:p>
        </p:txBody>
      </p:sp>
      <p:sp>
        <p:nvSpPr>
          <p:cNvPr id="132" name="TextBox 131"/>
          <p:cNvSpPr txBox="1"/>
          <p:nvPr/>
        </p:nvSpPr>
        <p:spPr>
          <a:xfrm>
            <a:off x="3838575" y="5000581"/>
            <a:ext cx="1336501" cy="186689"/>
          </a:xfrm>
          <a:prstGeom prst="rect">
            <a:avLst/>
          </a:prstGeom>
          <a:noFill/>
        </p:spPr>
        <p:txBody>
          <a:bodyPr wrap="none" lIns="0" tIns="0" rIns="0" bIns="0">
            <a:spAutoFit/>
          </a:bodyPr>
          <a:lstStyle/>
          <a:p>
            <a:r>
              <a:rPr sz="1100" b="0">
                <a:solidFill>
                  <a:srgbClr val="2E2E2E"/>
                </a:solidFill>
                <a:latin typeface="Calibri"/>
              </a:rPr>
              <a:t>● Specialist Pet Retail:</a:t>
            </a:r>
          </a:p>
        </p:txBody>
      </p:sp>
      <p:pic>
        <p:nvPicPr>
          <p:cNvPr id="133" name="Picture 132" descr="lock.png"/>
          <p:cNvPicPr>
            <a:picLocks noChangeAspect="1"/>
          </p:cNvPicPr>
          <p:nvPr/>
        </p:nvPicPr>
        <p:blipFill>
          <a:blip r:embed="rId22"/>
          <a:stretch>
            <a:fillRect/>
          </a:stretch>
        </p:blipFill>
        <p:spPr>
          <a:xfrm>
            <a:off x="5123127" y="4990801"/>
            <a:ext cx="128699" cy="187198"/>
          </a:xfrm>
          <a:prstGeom prst="rect">
            <a:avLst/>
          </a:prstGeom>
        </p:spPr>
      </p:pic>
      <p:sp>
        <p:nvSpPr>
          <p:cNvPr id="134" name="TextBox 133"/>
          <p:cNvSpPr txBox="1"/>
          <p:nvPr/>
        </p:nvSpPr>
        <p:spPr>
          <a:xfrm>
            <a:off x="5290623" y="5000581"/>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2"/>
          <a:stretch>
            <a:fillRect/>
          </a:stretch>
        </p:blipFill>
        <p:spPr>
          <a:xfrm>
            <a:off x="6150074" y="4990801"/>
            <a:ext cx="128699" cy="187198"/>
          </a:xfrm>
          <a:prstGeom prst="rect">
            <a:avLst/>
          </a:prstGeom>
        </p:spPr>
      </p:pic>
      <p:sp>
        <p:nvSpPr>
          <p:cNvPr id="136" name="TextBox 135"/>
          <p:cNvSpPr txBox="1"/>
          <p:nvPr/>
        </p:nvSpPr>
        <p:spPr>
          <a:xfrm>
            <a:off x="6317569" y="5000581"/>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37" name="TextBox 136"/>
          <p:cNvSpPr txBox="1"/>
          <p:nvPr/>
        </p:nvSpPr>
        <p:spPr>
          <a:xfrm>
            <a:off x="3838575" y="5218513"/>
            <a:ext cx="1612597" cy="186689"/>
          </a:xfrm>
          <a:prstGeom prst="rect">
            <a:avLst/>
          </a:prstGeom>
          <a:noFill/>
        </p:spPr>
        <p:txBody>
          <a:bodyPr wrap="none" lIns="0" tIns="0" rIns="0" bIns="0">
            <a:spAutoFit/>
          </a:bodyPr>
          <a:lstStyle/>
          <a:p>
            <a:r>
              <a:rPr sz="1100" b="0">
                <a:solidFill>
                  <a:srgbClr val="2E2E2E"/>
                </a:solidFill>
                <a:latin typeface="Calibri"/>
              </a:rPr>
              <a:t>● Third-Party E-commerce:</a:t>
            </a:r>
          </a:p>
        </p:txBody>
      </p:sp>
      <p:pic>
        <p:nvPicPr>
          <p:cNvPr id="138" name="Picture 137" descr="lock.png"/>
          <p:cNvPicPr>
            <a:picLocks noChangeAspect="1"/>
          </p:cNvPicPr>
          <p:nvPr/>
        </p:nvPicPr>
        <p:blipFill>
          <a:blip r:embed="rId22"/>
          <a:stretch>
            <a:fillRect/>
          </a:stretch>
        </p:blipFill>
        <p:spPr>
          <a:xfrm>
            <a:off x="5399223" y="5208733"/>
            <a:ext cx="128699" cy="187198"/>
          </a:xfrm>
          <a:prstGeom prst="rect">
            <a:avLst/>
          </a:prstGeom>
        </p:spPr>
      </p:pic>
      <p:sp>
        <p:nvSpPr>
          <p:cNvPr id="139" name="TextBox 138"/>
          <p:cNvSpPr txBox="1"/>
          <p:nvPr/>
        </p:nvSpPr>
        <p:spPr>
          <a:xfrm>
            <a:off x="5566719" y="5218513"/>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2"/>
          <a:stretch>
            <a:fillRect/>
          </a:stretch>
        </p:blipFill>
        <p:spPr>
          <a:xfrm>
            <a:off x="6426169" y="5208733"/>
            <a:ext cx="128699" cy="187198"/>
          </a:xfrm>
          <a:prstGeom prst="rect">
            <a:avLst/>
          </a:prstGeom>
        </p:spPr>
      </p:pic>
      <p:sp>
        <p:nvSpPr>
          <p:cNvPr id="141" name="TextBox 140"/>
          <p:cNvSpPr txBox="1"/>
          <p:nvPr/>
        </p:nvSpPr>
        <p:spPr>
          <a:xfrm>
            <a:off x="6593665" y="5218513"/>
            <a:ext cx="1218612" cy="186689"/>
          </a:xfrm>
          <a:prstGeom prst="rect">
            <a:avLst/>
          </a:prstGeom>
          <a:noFill/>
        </p:spPr>
        <p:txBody>
          <a:bodyPr wrap="none" lIns="0" tIns="0" rIns="0" bIns="0">
            <a:spAutoFit/>
          </a:bodyPr>
          <a:lstStyle/>
          <a:p>
            <a:r>
              <a:rPr sz="1100" b="0">
                <a:solidFill>
                  <a:srgbClr val="2E2E2E"/>
                </a:solidFill>
                <a:latin typeface="Calibri"/>
              </a:rPr>
              <a:t>CAGR grows fastest.</a:t>
            </a:r>
          </a:p>
        </p:txBody>
      </p:sp>
      <p:sp>
        <p:nvSpPr>
          <p:cNvPr id="142" name="TextBox 141"/>
          <p:cNvSpPr txBox="1"/>
          <p:nvPr/>
        </p:nvSpPr>
        <p:spPr>
          <a:xfrm>
            <a:off x="3838575" y="5436445"/>
            <a:ext cx="1254100" cy="186689"/>
          </a:xfrm>
          <a:prstGeom prst="rect">
            <a:avLst/>
          </a:prstGeom>
          <a:noFill/>
        </p:spPr>
        <p:txBody>
          <a:bodyPr wrap="none" lIns="0" tIns="0" rIns="0" bIns="0">
            <a:spAutoFit/>
          </a:bodyPr>
          <a:lstStyle/>
          <a:p>
            <a:r>
              <a:rPr sz="1100" b="0">
                <a:solidFill>
                  <a:srgbClr val="2E2E2E"/>
                </a:solidFill>
                <a:latin typeface="Calibri"/>
              </a:rPr>
              <a:t>● Other Direct Sales:</a:t>
            </a:r>
          </a:p>
        </p:txBody>
      </p:sp>
      <p:pic>
        <p:nvPicPr>
          <p:cNvPr id="143" name="Picture 142" descr="lock.png"/>
          <p:cNvPicPr>
            <a:picLocks noChangeAspect="1"/>
          </p:cNvPicPr>
          <p:nvPr/>
        </p:nvPicPr>
        <p:blipFill>
          <a:blip r:embed="rId22"/>
          <a:stretch>
            <a:fillRect/>
          </a:stretch>
        </p:blipFill>
        <p:spPr>
          <a:xfrm>
            <a:off x="5040726" y="5426665"/>
            <a:ext cx="128699" cy="187198"/>
          </a:xfrm>
          <a:prstGeom prst="rect">
            <a:avLst/>
          </a:prstGeom>
        </p:spPr>
      </p:pic>
      <p:sp>
        <p:nvSpPr>
          <p:cNvPr id="144" name="TextBox 143"/>
          <p:cNvSpPr txBox="1"/>
          <p:nvPr/>
        </p:nvSpPr>
        <p:spPr>
          <a:xfrm>
            <a:off x="5208222" y="5436445"/>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2"/>
          <a:stretch>
            <a:fillRect/>
          </a:stretch>
        </p:blipFill>
        <p:spPr>
          <a:xfrm>
            <a:off x="6067672" y="5426665"/>
            <a:ext cx="128699" cy="187198"/>
          </a:xfrm>
          <a:prstGeom prst="rect">
            <a:avLst/>
          </a:prstGeom>
        </p:spPr>
      </p:pic>
      <p:sp>
        <p:nvSpPr>
          <p:cNvPr id="146" name="TextBox 145"/>
          <p:cNvSpPr txBox="1"/>
          <p:nvPr/>
        </p:nvSpPr>
        <p:spPr>
          <a:xfrm>
            <a:off x="6235168" y="5436445"/>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47" name="TextBox 146"/>
          <p:cNvSpPr txBox="1"/>
          <p:nvPr/>
        </p:nvSpPr>
        <p:spPr>
          <a:xfrm>
            <a:off x="3838575" y="5654377"/>
            <a:ext cx="1033363" cy="186689"/>
          </a:xfrm>
          <a:prstGeom prst="rect">
            <a:avLst/>
          </a:prstGeom>
          <a:noFill/>
        </p:spPr>
        <p:txBody>
          <a:bodyPr wrap="none" lIns="0" tIns="0" rIns="0" bIns="0">
            <a:spAutoFit/>
          </a:bodyPr>
          <a:lstStyle/>
          <a:p>
            <a:r>
              <a:rPr sz="1100" b="0">
                <a:solidFill>
                  <a:srgbClr val="2E2E2E"/>
                </a:solidFill>
                <a:latin typeface="Calibri"/>
              </a:rPr>
              <a:t>● General Retail:</a:t>
            </a:r>
          </a:p>
        </p:txBody>
      </p:sp>
      <p:pic>
        <p:nvPicPr>
          <p:cNvPr id="148" name="Picture 147" descr="lock.png"/>
          <p:cNvPicPr>
            <a:picLocks noChangeAspect="1"/>
          </p:cNvPicPr>
          <p:nvPr/>
        </p:nvPicPr>
        <p:blipFill>
          <a:blip r:embed="rId22"/>
          <a:stretch>
            <a:fillRect/>
          </a:stretch>
        </p:blipFill>
        <p:spPr>
          <a:xfrm>
            <a:off x="4819989" y="5644597"/>
            <a:ext cx="128699" cy="187198"/>
          </a:xfrm>
          <a:prstGeom prst="rect">
            <a:avLst/>
          </a:prstGeom>
        </p:spPr>
      </p:pic>
      <p:sp>
        <p:nvSpPr>
          <p:cNvPr id="149" name="TextBox 148"/>
          <p:cNvSpPr txBox="1"/>
          <p:nvPr/>
        </p:nvSpPr>
        <p:spPr>
          <a:xfrm>
            <a:off x="4987485" y="5654377"/>
            <a:ext cx="911398" cy="186689"/>
          </a:xfrm>
          <a:prstGeom prst="rect">
            <a:avLst/>
          </a:prstGeom>
          <a:noFill/>
        </p:spPr>
        <p:txBody>
          <a:bodyPr wrap="none" lIns="0" tIns="0" rIns="0" bIns="0">
            <a:spAutoFit/>
          </a:bodyPr>
          <a:lstStyle/>
          <a:p>
            <a:r>
              <a:rPr sz="1100" b="0">
                <a:solidFill>
                  <a:srgbClr val="2E2E2E"/>
                </a:solidFill>
                <a:latin typeface="Calibri"/>
              </a:rPr>
              <a:t>of 2026 value ·</a:t>
            </a:r>
          </a:p>
        </p:txBody>
      </p:sp>
      <p:pic>
        <p:nvPicPr>
          <p:cNvPr id="150" name="Picture 149" descr="lock.png"/>
          <p:cNvPicPr>
            <a:picLocks noChangeAspect="1"/>
          </p:cNvPicPr>
          <p:nvPr/>
        </p:nvPicPr>
        <p:blipFill>
          <a:blip r:embed="rId22"/>
          <a:stretch>
            <a:fillRect/>
          </a:stretch>
        </p:blipFill>
        <p:spPr>
          <a:xfrm>
            <a:off x="5846935" y="5644597"/>
            <a:ext cx="128699" cy="187198"/>
          </a:xfrm>
          <a:prstGeom prst="rect">
            <a:avLst/>
          </a:prstGeom>
        </p:spPr>
      </p:pic>
      <p:sp>
        <p:nvSpPr>
          <p:cNvPr id="151" name="TextBox 150"/>
          <p:cNvSpPr txBox="1"/>
          <p:nvPr/>
        </p:nvSpPr>
        <p:spPr>
          <a:xfrm>
            <a:off x="6014431" y="5654377"/>
            <a:ext cx="1260358" cy="186689"/>
          </a:xfrm>
          <a:prstGeom prst="rect">
            <a:avLst/>
          </a:prstGeom>
          <a:noFill/>
        </p:spPr>
        <p:txBody>
          <a:bodyPr wrap="none" lIns="0" tIns="0" rIns="0" bIns="0">
            <a:spAutoFit/>
          </a:bodyPr>
          <a:lstStyle/>
          <a:p>
            <a:r>
              <a:rPr sz="1100" b="0">
                <a:solidFill>
                  <a:srgbClr val="2E2E2E"/>
                </a:solidFill>
                <a:latin typeface="Calibri"/>
              </a:rPr>
              <a:t>CAGR serves a niche.</a:t>
            </a:r>
          </a:p>
        </p:txBody>
      </p:sp>
      <p:sp>
        <p:nvSpPr>
          <p:cNvPr id="152" name="TextBox 151"/>
          <p:cNvSpPr txBox="1"/>
          <p:nvPr/>
        </p:nvSpPr>
        <p:spPr>
          <a:xfrm>
            <a:off x="8524875" y="5842641"/>
            <a:ext cx="3162300" cy="194310"/>
          </a:xfrm>
          <a:prstGeom prst="rect">
            <a:avLst/>
          </a:prstGeom>
          <a:noFill/>
        </p:spPr>
        <p:txBody>
          <a:bodyPr wrap="none" lIns="0" tIns="0" rIns="0" bIns="0">
            <a:spAutoFit/>
          </a:bodyPr>
          <a:lstStyle/>
          <a:p>
            <a:r>
              <a:rPr sz="1150" b="1">
                <a:solidFill>
                  <a:srgbClr val="0B2E4A"/>
                </a:solidFill>
                <a:latin typeface="Calibri"/>
              </a:rPr>
              <a:t>The Sales Channel segment is projected to grow at a</a:t>
            </a:r>
          </a:p>
        </p:txBody>
      </p:sp>
      <p:sp>
        <p:nvSpPr>
          <p:cNvPr id="153" name="TextBox 152"/>
          <p:cNvSpPr txBox="1"/>
          <p:nvPr/>
        </p:nvSpPr>
        <p:spPr>
          <a:xfrm>
            <a:off x="8524875" y="6017901"/>
            <a:ext cx="574797" cy="194310"/>
          </a:xfrm>
          <a:prstGeom prst="rect">
            <a:avLst/>
          </a:prstGeom>
          <a:noFill/>
        </p:spPr>
        <p:txBody>
          <a:bodyPr wrap="none" lIns="0" tIns="0" rIns="0" bIns="0">
            <a:spAutoFit/>
          </a:bodyPr>
          <a:lstStyle/>
          <a:p>
            <a:r>
              <a:rPr sz="1150" b="1">
                <a:solidFill>
                  <a:srgbClr val="0B2E4A"/>
                </a:solidFill>
                <a:latin typeface="Calibri"/>
              </a:rPr>
              <a:t>CAGR of</a:t>
            </a:r>
          </a:p>
        </p:txBody>
      </p:sp>
      <p:pic>
        <p:nvPicPr>
          <p:cNvPr id="154" name="Picture 153" descr="lock.png"/>
          <p:cNvPicPr>
            <a:picLocks noChangeAspect="1"/>
          </p:cNvPicPr>
          <p:nvPr/>
        </p:nvPicPr>
        <p:blipFill>
          <a:blip r:embed="rId22"/>
          <a:stretch>
            <a:fillRect/>
          </a:stretch>
        </p:blipFill>
        <p:spPr>
          <a:xfrm>
            <a:off x="9048826" y="6007677"/>
            <a:ext cx="134549" cy="195707"/>
          </a:xfrm>
          <a:prstGeom prst="rect">
            <a:avLst/>
          </a:prstGeom>
        </p:spPr>
      </p:pic>
      <p:sp>
        <p:nvSpPr>
          <p:cNvPr id="155" name="TextBox 154"/>
          <p:cNvSpPr txBox="1"/>
          <p:nvPr/>
        </p:nvSpPr>
        <p:spPr>
          <a:xfrm>
            <a:off x="9223935" y="6017901"/>
            <a:ext cx="1232619" cy="194310"/>
          </a:xfrm>
          <a:prstGeom prst="rect">
            <a:avLst/>
          </a:prstGeom>
          <a:noFill/>
        </p:spPr>
        <p:txBody>
          <a:bodyPr wrap="none" lIns="0" tIns="0" rIns="0" bIns="0">
            <a:spAutoFit/>
          </a:bodyPr>
          <a:lstStyle/>
          <a:p>
            <a:r>
              <a:rPr sz="1150" b="1">
                <a:solidFill>
                  <a:srgbClr val="0B2E4A"/>
                </a:solidFill>
                <a:latin typeface="Calibri"/>
              </a:rPr>
              <a:t>from 2026 to 2036.</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Sales Channel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Sales Channel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tIns="0" rIns="0" bIns="0">
            <a:spAutoFit/>
          </a:bodyPr>
          <a:lstStyle/>
          <a:p>
            <a:r>
              <a:rPr sz="1100" b="0">
                <a:solidFill>
                  <a:srgbClr val="2E2E2E"/>
                </a:solidFill>
                <a:latin typeface="Calibri"/>
              </a:rPr>
              <a:t>Third-party e-commerce followed by specialist pet retail are expected to be the two most attractive sales channel segments in the Europe senior dog cognitive supplement market in terms of value over the</a:t>
            </a:r>
          </a:p>
        </p:txBody>
      </p:sp>
      <p:sp>
        <p:nvSpPr>
          <p:cNvPr id="20" name="TextBox 19"/>
          <p:cNvSpPr txBox="1"/>
          <p:nvPr/>
        </p:nvSpPr>
        <p:spPr>
          <a:xfrm>
            <a:off x="257175" y="5861685"/>
            <a:ext cx="5098834" cy="186689"/>
          </a:xfrm>
          <a:prstGeom prst="rect">
            <a:avLst/>
          </a:prstGeom>
          <a:noFill/>
        </p:spPr>
        <p:txBody>
          <a:bodyPr wrap="none" lIns="0" tIns="0" rIns="0" bIns="0">
            <a:spAutoFit/>
          </a:bodyPr>
          <a:lstStyle/>
          <a:p>
            <a:r>
              <a:rPr sz="1100" b="0">
                <a:solidFill>
                  <a:srgbClr val="2E2E2E"/>
                </a:solidFill>
                <a:latin typeface="Calibri"/>
              </a:rPr>
              <a:t>forecast period. Third-Party e-commerce and specialist pet retail exhibit a CAGR index of</a:t>
            </a:r>
          </a:p>
        </p:txBody>
      </p:sp>
      <p:pic>
        <p:nvPicPr>
          <p:cNvPr id="21" name="Picture 20" descr="lock.png"/>
          <p:cNvPicPr>
            <a:picLocks noChangeAspect="1"/>
          </p:cNvPicPr>
          <p:nvPr/>
        </p:nvPicPr>
        <p:blipFill>
          <a:blip r:embed="rId6"/>
          <a:stretch>
            <a:fillRect/>
          </a:stretch>
        </p:blipFill>
        <p:spPr>
          <a:xfrm>
            <a:off x="5304061" y="5851905"/>
            <a:ext cx="128699" cy="187198"/>
          </a:xfrm>
          <a:prstGeom prst="rect">
            <a:avLst/>
          </a:prstGeom>
        </p:spPr>
      </p:pic>
      <p:sp>
        <p:nvSpPr>
          <p:cNvPr id="22" name="TextBox 21"/>
          <p:cNvSpPr txBox="1"/>
          <p:nvPr/>
        </p:nvSpPr>
        <p:spPr>
          <a:xfrm>
            <a:off x="5471556"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709451" y="5851905"/>
            <a:ext cx="128699" cy="187198"/>
          </a:xfrm>
          <a:prstGeom prst="rect">
            <a:avLst/>
          </a:prstGeom>
        </p:spPr>
      </p:pic>
      <p:sp>
        <p:nvSpPr>
          <p:cNvPr id="24" name="TextBox 23"/>
          <p:cNvSpPr txBox="1"/>
          <p:nvPr/>
        </p:nvSpPr>
        <p:spPr>
          <a:xfrm>
            <a:off x="5876947" y="5861685"/>
            <a:ext cx="1660921" cy="186689"/>
          </a:xfrm>
          <a:prstGeom prst="rect">
            <a:avLst/>
          </a:prstGeom>
          <a:noFill/>
        </p:spPr>
        <p:txBody>
          <a:bodyPr wrap="none" lIns="0" tIns="0" r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485920" y="5851905"/>
            <a:ext cx="128699" cy="187198"/>
          </a:xfrm>
          <a:prstGeom prst="rect">
            <a:avLst/>
          </a:prstGeom>
        </p:spPr>
      </p:pic>
      <p:sp>
        <p:nvSpPr>
          <p:cNvPr id="26" name="TextBox 25"/>
          <p:cNvSpPr txBox="1"/>
          <p:nvPr/>
        </p:nvSpPr>
        <p:spPr>
          <a:xfrm>
            <a:off x="7653416" y="5861685"/>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891310" y="5851905"/>
            <a:ext cx="128699" cy="187198"/>
          </a:xfrm>
          <a:prstGeom prst="rect">
            <a:avLst/>
          </a:prstGeom>
        </p:spPr>
      </p:pic>
      <p:sp>
        <p:nvSpPr>
          <p:cNvPr id="28" name="TextBox 27"/>
          <p:cNvSpPr txBox="1"/>
          <p:nvPr/>
        </p:nvSpPr>
        <p:spPr>
          <a:xfrm>
            <a:off x="8058806" y="5861685"/>
            <a:ext cx="2606352" cy="186689"/>
          </a:xfrm>
          <a:prstGeom prst="rect">
            <a:avLst/>
          </a:prstGeom>
          <a:noFill/>
        </p:spPr>
        <p:txBody>
          <a:bodyPr wrap="none" lIns="0" tIns="0" r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613210" y="5851905"/>
            <a:ext cx="128699" cy="187198"/>
          </a:xfrm>
          <a:prstGeom prst="rect">
            <a:avLst/>
          </a:prstGeom>
        </p:spPr>
      </p:pic>
      <p:sp>
        <p:nvSpPr>
          <p:cNvPr id="30" name="TextBox 29"/>
          <p:cNvSpPr txBox="1"/>
          <p:nvPr/>
        </p:nvSpPr>
        <p:spPr>
          <a:xfrm>
            <a:off x="10780706" y="5861685"/>
            <a:ext cx="354235" cy="186689"/>
          </a:xfrm>
          <a:prstGeom prst="rect">
            <a:avLst/>
          </a:prstGeom>
          <a:noFill/>
        </p:spPr>
        <p:txBody>
          <a:bodyPr wrap="none" lIns="0" tIns="0" rIns="0" bIns="0">
            <a:spAutoFit/>
          </a:bodyPr>
          <a:lstStyle/>
          <a:p>
            <a:r>
              <a:rPr sz="1100" b="0">
                <a:solidFill>
                  <a:srgbClr val="2E2E2E"/>
                </a:solidFill>
                <a:latin typeface="Calibri"/>
              </a:rPr>
              <a:t>. The</a:t>
            </a:r>
          </a:p>
        </p:txBody>
      </p:sp>
      <p:sp>
        <p:nvSpPr>
          <p:cNvPr id="31" name="TextBox 30"/>
          <p:cNvSpPr txBox="1"/>
          <p:nvPr/>
        </p:nvSpPr>
        <p:spPr>
          <a:xfrm>
            <a:off x="257175" y="6029325"/>
            <a:ext cx="11654349" cy="186689"/>
          </a:xfrm>
          <a:prstGeom prst="rect">
            <a:avLst/>
          </a:prstGeom>
          <a:noFill/>
        </p:spPr>
        <p:txBody>
          <a:bodyPr wrap="none" lIns="0" tIns="0" rIns="0" bIns="0">
            <a:spAutoFit/>
          </a:bodyPr>
          <a:lstStyle/>
          <a:p>
            <a:r>
              <a:rPr sz="1100" b="0">
                <a:solidFill>
                  <a:srgbClr val="2E2E2E"/>
                </a:solidFill>
                <a:latin typeface="Calibri"/>
              </a:rPr>
              <a:t>general retail segment is expected to be less attractive as compared to other segments over the forecast period, owing to its lower CAGR and incremental opportunity. Bubbles right of the CAGR-Index line</a:t>
            </a:r>
          </a:p>
        </p:txBody>
      </p:sp>
      <p:sp>
        <p:nvSpPr>
          <p:cNvPr id="32" name="TextBox 31"/>
          <p:cNvSpPr txBox="1"/>
          <p:nvPr/>
        </p:nvSpPr>
        <p:spPr>
          <a:xfrm>
            <a:off x="257175" y="6196965"/>
            <a:ext cx="2279476" cy="186689"/>
          </a:xfrm>
          <a:prstGeom prst="rect">
            <a:avLst/>
          </a:prstGeom>
          <a:noFill/>
        </p:spPr>
        <p:txBody>
          <a:bodyPr wrap="none" lIns="0" tIns="0" rIns="0" bIns="0">
            <a:spAutoFit/>
          </a:bodyPr>
          <a:lstStyle/>
          <a:p>
            <a:r>
              <a:rPr sz="1100" b="0">
                <a:solidFill>
                  <a:srgbClr val="2E2E2E"/>
                </a:solidFill>
                <a:latin typeface="Calibri"/>
              </a:rPr>
              <a:t>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Analysis, By Sales Channel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Veterinary Channels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Specialist Pet Retail</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General Retail</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7450"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Brand-Owned E-commerce</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Absolute $ Opportunity Analysis, By Sales Channel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Third-Party E-commerce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Incremental $ Opportunity (US$ Mn), 2026-2036, By Other Direct Sales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Summary of Europe Absolute $ Opportunity Analysis, By Sales Channel</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5550" y="1390650"/>
            <a:ext cx="5610225"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0" name="TextBox 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400175"/>
            <a:ext cx="4927490" cy="194310"/>
          </a:xfrm>
          <a:prstGeom prst="rect">
            <a:avLst/>
          </a:prstGeom>
          <a:noFill/>
        </p:spPr>
        <p:txBody>
          <a:bodyPr wrap="none" lIns="0" tIns="0" rIns="0" bIns="0">
            <a:spAutoFit/>
          </a:bodyPr>
          <a:lstStyle/>
          <a:p>
            <a:r>
              <a:rPr sz="1150" b="0">
                <a:solidFill>
                  <a:srgbClr val="2E2E2E"/>
                </a:solidFill>
                <a:latin typeface="Calibri"/>
              </a:rPr>
              <a:t>By 2036, third-party e-commerce segment is anticipated to witness an increase of</a:t>
            </a:r>
          </a:p>
        </p:txBody>
      </p:sp>
      <p:pic>
        <p:nvPicPr>
          <p:cNvPr id="24" name="Picture 23" descr="lock.png"/>
          <p:cNvPicPr>
            <a:picLocks noChangeAspect="1"/>
          </p:cNvPicPr>
          <p:nvPr/>
        </p:nvPicPr>
        <p:blipFill>
          <a:blip r:embed="rId6"/>
          <a:stretch>
            <a:fillRect/>
          </a:stretch>
        </p:blipFill>
        <p:spPr>
          <a:xfrm>
            <a:off x="11182194" y="1389951"/>
            <a:ext cx="134549" cy="195707"/>
          </a:xfrm>
          <a:prstGeom prst="rect">
            <a:avLst/>
          </a:prstGeom>
        </p:spPr>
      </p:pic>
      <p:sp>
        <p:nvSpPr>
          <p:cNvPr id="25" name="TextBox 24"/>
          <p:cNvSpPr txBox="1"/>
          <p:nvPr/>
        </p:nvSpPr>
        <p:spPr>
          <a:xfrm>
            <a:off x="11357304" y="1400175"/>
            <a:ext cx="295560" cy="194310"/>
          </a:xfrm>
          <a:prstGeom prst="rect">
            <a:avLst/>
          </a:prstGeom>
          <a:noFill/>
        </p:spPr>
        <p:txBody>
          <a:bodyPr wrap="none" lIns="0" tIns="0" rIns="0" bIns="0">
            <a:spAutoFit/>
          </a:bodyPr>
          <a:lstStyle/>
          <a:p>
            <a:r>
              <a:rPr sz="1150" b="0">
                <a:solidFill>
                  <a:srgbClr val="2E2E2E"/>
                </a:solidFill>
                <a:latin typeface="Calibri"/>
              </a:rPr>
              <a:t>X in</a:t>
            </a:r>
          </a:p>
        </p:txBody>
      </p:sp>
      <p:sp>
        <p:nvSpPr>
          <p:cNvPr id="26" name="TextBox 25"/>
          <p:cNvSpPr txBox="1"/>
          <p:nvPr/>
        </p:nvSpPr>
        <p:spPr>
          <a:xfrm>
            <a:off x="6305550" y="1575435"/>
            <a:ext cx="5394188" cy="194310"/>
          </a:xfrm>
          <a:prstGeom prst="rect">
            <a:avLst/>
          </a:prstGeom>
          <a:noFill/>
        </p:spPr>
        <p:txBody>
          <a:bodyPr wrap="none" lIns="0" tIns="0" rIns="0" bIns="0">
            <a:spAutoFit/>
          </a:bodyPr>
          <a:lstStyle/>
          <a:p>
            <a:r>
              <a:rPr sz="1150" b="0">
                <a:solidFill>
                  <a:srgbClr val="2E2E2E"/>
                </a:solidFill>
                <a:latin typeface="Calibri"/>
              </a:rPr>
              <a:t>terms of value as compared to 2026. The Third-Party e-commerce segment is expected to</a:t>
            </a:r>
          </a:p>
        </p:txBody>
      </p:sp>
      <p:sp>
        <p:nvSpPr>
          <p:cNvPr id="27" name="TextBox 26"/>
          <p:cNvSpPr txBox="1"/>
          <p:nvPr/>
        </p:nvSpPr>
        <p:spPr>
          <a:xfrm>
            <a:off x="6305550" y="1750695"/>
            <a:ext cx="2547069" cy="194310"/>
          </a:xfrm>
          <a:prstGeom prst="rect">
            <a:avLst/>
          </a:prstGeom>
          <a:noFill/>
        </p:spPr>
        <p:txBody>
          <a:bodyPr wrap="none" lIns="0" tIns="0" rIns="0" bIns="0">
            <a:spAutoFit/>
          </a:bodyPr>
          <a:lstStyle/>
          <a:p>
            <a:r>
              <a:rPr sz="1150" b="0">
                <a:solidFill>
                  <a:srgbClr val="2E2E2E"/>
                </a:solidFill>
                <a:latin typeface="Calibri"/>
              </a:rPr>
              <a:t>create an incremental opportunity of US$</a:t>
            </a:r>
          </a:p>
        </p:txBody>
      </p:sp>
      <p:pic>
        <p:nvPicPr>
          <p:cNvPr id="28" name="Picture 27" descr="lock.png"/>
          <p:cNvPicPr>
            <a:picLocks noChangeAspect="1"/>
          </p:cNvPicPr>
          <p:nvPr/>
        </p:nvPicPr>
        <p:blipFill>
          <a:blip r:embed="rId6"/>
          <a:stretch>
            <a:fillRect/>
          </a:stretch>
        </p:blipFill>
        <p:spPr>
          <a:xfrm>
            <a:off x="8801773" y="1740471"/>
            <a:ext cx="134549" cy="195707"/>
          </a:xfrm>
          <a:prstGeom prst="rect">
            <a:avLst/>
          </a:prstGeom>
        </p:spPr>
      </p:pic>
      <p:sp>
        <p:nvSpPr>
          <p:cNvPr id="29" name="TextBox 28"/>
          <p:cNvSpPr txBox="1"/>
          <p:nvPr/>
        </p:nvSpPr>
        <p:spPr>
          <a:xfrm>
            <a:off x="8976882" y="1750695"/>
            <a:ext cx="2381622" cy="194310"/>
          </a:xfrm>
          <a:prstGeom prst="rect">
            <a:avLst/>
          </a:prstGeom>
          <a:noFill/>
        </p:spPr>
        <p:txBody>
          <a:bodyPr wrap="none" lIns="0" tIns="0" rIns="0" bIns="0">
            <a:spAutoFit/>
          </a:bodyPr>
          <a:lstStyle/>
          <a:p>
            <a:r>
              <a:rPr sz="1150" b="0">
                <a:solidFill>
                  <a:srgbClr val="2E2E2E"/>
                </a:solidFill>
                <a:latin typeface="Calibri"/>
              </a:rPr>
              <a:t>Mn for the overall senior dog cognitive</a:t>
            </a:r>
          </a:p>
        </p:txBody>
      </p:sp>
      <p:sp>
        <p:nvSpPr>
          <p:cNvPr id="30" name="TextBox 29"/>
          <p:cNvSpPr txBox="1"/>
          <p:nvPr/>
        </p:nvSpPr>
        <p:spPr>
          <a:xfrm>
            <a:off x="6305550" y="1925955"/>
            <a:ext cx="2421842" cy="194310"/>
          </a:xfrm>
          <a:prstGeom prst="rect">
            <a:avLst/>
          </a:prstGeom>
          <a:noFill/>
        </p:spPr>
        <p:txBody>
          <a:bodyPr wrap="none" lIns="0" tIns="0" rIns="0" bIns="0">
            <a:spAutoFit/>
          </a:bodyPr>
          <a:lstStyle/>
          <a:p>
            <a:r>
              <a:rPr sz="1150" b="0">
                <a:solidFill>
                  <a:srgbClr val="2E2E2E"/>
                </a:solidFill>
                <a:latin typeface="Calibri"/>
              </a:rPr>
              <a:t>supplement market from 2026 to 2036.</a:t>
            </a:r>
          </a:p>
        </p:txBody>
      </p:sp>
      <p:sp>
        <p:nvSpPr>
          <p:cNvPr id="31" name="TextBox 30"/>
          <p:cNvSpPr txBox="1"/>
          <p:nvPr/>
        </p:nvSpPr>
        <p:spPr>
          <a:xfrm>
            <a:off x="6305550" y="2153793"/>
            <a:ext cx="5363095" cy="194310"/>
          </a:xfrm>
          <a:prstGeom prst="rect">
            <a:avLst/>
          </a:prstGeom>
          <a:noFill/>
        </p:spPr>
        <p:txBody>
          <a:bodyPr wrap="none" lIns="0" tIns="0" rIns="0" bIns="0">
            <a:spAutoFit/>
          </a:bodyPr>
          <a:lstStyle/>
          <a:p>
            <a:r>
              <a:rPr sz="1150" b="0">
                <a:solidFill>
                  <a:srgbClr val="2E2E2E"/>
                </a:solidFill>
                <a:latin typeface="Calibri"/>
              </a:rPr>
              <a:t>The specialist pet retail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6291470" y="2318829"/>
            <a:ext cx="134549" cy="195707"/>
          </a:xfrm>
          <a:prstGeom prst="rect">
            <a:avLst/>
          </a:prstGeom>
        </p:spPr>
      </p:pic>
      <p:sp>
        <p:nvSpPr>
          <p:cNvPr id="33" name="TextBox 32"/>
          <p:cNvSpPr txBox="1"/>
          <p:nvPr/>
        </p:nvSpPr>
        <p:spPr>
          <a:xfrm>
            <a:off x="6466579" y="2329053"/>
            <a:ext cx="5014230" cy="194310"/>
          </a:xfrm>
          <a:prstGeom prst="rect">
            <a:avLst/>
          </a:prstGeom>
          <a:noFill/>
        </p:spPr>
        <p:txBody>
          <a:bodyPr wrap="none" lIns="0" tIns="0" rIns="0" bIns="0">
            <a:spAutoFit/>
          </a:bodyPr>
          <a:lstStyle/>
          <a:p>
            <a:r>
              <a:rPr sz="1150" b="0">
                <a:solidFill>
                  <a:srgbClr val="2E2E2E"/>
                </a:solidFill>
                <a:latin typeface="Calibri"/>
              </a:rPr>
              <a:t>Mn for the overall senior dog cognitive supplement market from 2026 to 2036. The</a:t>
            </a:r>
          </a:p>
        </p:txBody>
      </p:sp>
      <p:sp>
        <p:nvSpPr>
          <p:cNvPr id="34" name="TextBox 33"/>
          <p:cNvSpPr txBox="1"/>
          <p:nvPr/>
        </p:nvSpPr>
        <p:spPr>
          <a:xfrm>
            <a:off x="6305550" y="2504313"/>
            <a:ext cx="5156572" cy="194310"/>
          </a:xfrm>
          <a:prstGeom prst="rect">
            <a:avLst/>
          </a:prstGeom>
          <a:noFill/>
        </p:spPr>
        <p:txBody>
          <a:bodyPr wrap="none" lIns="0" tIns="0" rIns="0" bIns="0">
            <a:spAutoFit/>
          </a:bodyPr>
          <a:lstStyle/>
          <a:p>
            <a:r>
              <a:rPr sz="1150" b="0">
                <a:solidFill>
                  <a:srgbClr val="2E2E2E"/>
                </a:solidFill>
                <a:latin typeface="Calibri"/>
              </a:rPr>
              <a:t>veterinary channels 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1411276" y="2494089"/>
            <a:ext cx="134549" cy="195707"/>
          </a:xfrm>
          <a:prstGeom prst="rect">
            <a:avLst/>
          </a:prstGeom>
        </p:spPr>
      </p:pic>
      <p:sp>
        <p:nvSpPr>
          <p:cNvPr id="36" name="TextBox 35"/>
          <p:cNvSpPr txBox="1"/>
          <p:nvPr/>
        </p:nvSpPr>
        <p:spPr>
          <a:xfrm>
            <a:off x="11586385" y="2504313"/>
            <a:ext cx="277874" cy="194310"/>
          </a:xfrm>
          <a:prstGeom prst="rect">
            <a:avLst/>
          </a:prstGeom>
          <a:noFill/>
        </p:spPr>
        <p:txBody>
          <a:bodyPr wrap="none" lIns="0" tIns="0" rIns="0" bIns="0">
            <a:spAutoFit/>
          </a:bodyPr>
          <a:lstStyle/>
          <a:p>
            <a:r>
              <a:rPr sz="1150" b="0">
                <a:solidFill>
                  <a:srgbClr val="2E2E2E"/>
                </a:solidFill>
                <a:latin typeface="Calibri"/>
              </a:rPr>
              <a:t>Mn</a:t>
            </a:r>
          </a:p>
        </p:txBody>
      </p:sp>
      <p:sp>
        <p:nvSpPr>
          <p:cNvPr id="37" name="TextBox 36"/>
          <p:cNvSpPr txBox="1"/>
          <p:nvPr/>
        </p:nvSpPr>
        <p:spPr>
          <a:xfrm>
            <a:off x="6305550" y="2679573"/>
            <a:ext cx="4525590" cy="194310"/>
          </a:xfrm>
          <a:prstGeom prst="rect">
            <a:avLst/>
          </a:prstGeom>
          <a:noFill/>
        </p:spPr>
        <p:txBody>
          <a:bodyPr wrap="none" lIns="0" tIns="0" rIns="0" bIns="0">
            <a:spAutoFit/>
          </a:bodyPr>
          <a:lstStyle/>
          <a:p>
            <a:r>
              <a:rPr sz="1150" b="0">
                <a:solidFill>
                  <a:srgbClr val="2E2E2E"/>
                </a:solidFill>
                <a:latin typeface="Calibri"/>
              </a:rPr>
              <a:t>for the overall senior dog cognitive supplement market from 2026 to 2036.</a:t>
            </a:r>
          </a:p>
        </p:txBody>
      </p:sp>
      <p:sp>
        <p:nvSpPr>
          <p:cNvPr id="38"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By Sales Channel (US$ Mn)</a:t>
            </a:r>
          </a:p>
        </p:txBody>
      </p:sp>
      <p:graphicFrame>
        <p:nvGraphicFramePr>
          <p:cNvPr id="12" name="Table 11"/>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1844471">
                  <a:extLst>
                    <a:ext uri="{9D8B030D-6E8A-4147-A177-3AD203B41FA5}">
                      <a16:colId xmlns:a16="http://schemas.microsoft.com/office/drawing/2014/main" val="20000"/>
                    </a:ext>
                  </a:extLst>
                </a:gridCol>
                <a:gridCol w="590749">
                  <a:extLst>
                    <a:ext uri="{9D8B030D-6E8A-4147-A177-3AD203B41FA5}">
                      <a16:colId xmlns:a16="http://schemas.microsoft.com/office/drawing/2014/main" val="20001"/>
                    </a:ext>
                  </a:extLst>
                </a:gridCol>
                <a:gridCol w="590749">
                  <a:extLst>
                    <a:ext uri="{9D8B030D-6E8A-4147-A177-3AD203B41FA5}">
                      <a16:colId xmlns:a16="http://schemas.microsoft.com/office/drawing/2014/main" val="20002"/>
                    </a:ext>
                  </a:extLst>
                </a:gridCol>
                <a:gridCol w="590749">
                  <a:extLst>
                    <a:ext uri="{9D8B030D-6E8A-4147-A177-3AD203B41FA5}">
                      <a16:colId xmlns:a16="http://schemas.microsoft.com/office/drawing/2014/main" val="20003"/>
                    </a:ext>
                  </a:extLst>
                </a:gridCol>
                <a:gridCol w="590749">
                  <a:extLst>
                    <a:ext uri="{9D8B030D-6E8A-4147-A177-3AD203B41FA5}">
                      <a16:colId xmlns:a16="http://schemas.microsoft.com/office/drawing/2014/main" val="20004"/>
                    </a:ext>
                  </a:extLst>
                </a:gridCol>
                <a:gridCol w="590749">
                  <a:extLst>
                    <a:ext uri="{9D8B030D-6E8A-4147-A177-3AD203B41FA5}">
                      <a16:colId xmlns:a16="http://schemas.microsoft.com/office/drawing/2014/main" val="20005"/>
                    </a:ext>
                  </a:extLst>
                </a:gridCol>
                <a:gridCol w="590749">
                  <a:extLst>
                    <a:ext uri="{9D8B030D-6E8A-4147-A177-3AD203B41FA5}">
                      <a16:colId xmlns:a16="http://schemas.microsoft.com/office/drawing/2014/main" val="20006"/>
                    </a:ext>
                  </a:extLst>
                </a:gridCol>
                <a:gridCol w="590749">
                  <a:extLst>
                    <a:ext uri="{9D8B030D-6E8A-4147-A177-3AD203B41FA5}">
                      <a16:colId xmlns:a16="http://schemas.microsoft.com/office/drawing/2014/main" val="20007"/>
                    </a:ext>
                  </a:extLst>
                </a:gridCol>
                <a:gridCol w="590749">
                  <a:extLst>
                    <a:ext uri="{9D8B030D-6E8A-4147-A177-3AD203B41FA5}">
                      <a16:colId xmlns:a16="http://schemas.microsoft.com/office/drawing/2014/main" val="20008"/>
                    </a:ext>
                  </a:extLst>
                </a:gridCol>
                <a:gridCol w="590749">
                  <a:extLst>
                    <a:ext uri="{9D8B030D-6E8A-4147-A177-3AD203B41FA5}">
                      <a16:colId xmlns:a16="http://schemas.microsoft.com/office/drawing/2014/main" val="20009"/>
                    </a:ext>
                  </a:extLst>
                </a:gridCol>
                <a:gridCol w="590749">
                  <a:extLst>
                    <a:ext uri="{9D8B030D-6E8A-4147-A177-3AD203B41FA5}">
                      <a16:colId xmlns:a16="http://schemas.microsoft.com/office/drawing/2014/main" val="20010"/>
                    </a:ext>
                  </a:extLst>
                </a:gridCol>
                <a:gridCol w="590749">
                  <a:extLst>
                    <a:ext uri="{9D8B030D-6E8A-4147-A177-3AD203B41FA5}">
                      <a16:colId xmlns:a16="http://schemas.microsoft.com/office/drawing/2014/main" val="20011"/>
                    </a:ext>
                  </a:extLst>
                </a:gridCol>
                <a:gridCol w="590749">
                  <a:extLst>
                    <a:ext uri="{9D8B030D-6E8A-4147-A177-3AD203B41FA5}">
                      <a16:colId xmlns:a16="http://schemas.microsoft.com/office/drawing/2014/main" val="20012"/>
                    </a:ext>
                  </a:extLst>
                </a:gridCol>
                <a:gridCol w="590749">
                  <a:extLst>
                    <a:ext uri="{9D8B030D-6E8A-4147-A177-3AD203B41FA5}">
                      <a16:colId xmlns:a16="http://schemas.microsoft.com/office/drawing/2014/main" val="20013"/>
                    </a:ext>
                  </a:extLst>
                </a:gridCol>
                <a:gridCol w="590749">
                  <a:extLst>
                    <a:ext uri="{9D8B030D-6E8A-4147-A177-3AD203B41FA5}">
                      <a16:colId xmlns:a16="http://schemas.microsoft.com/office/drawing/2014/main" val="20014"/>
                    </a:ext>
                  </a:extLst>
                </a:gridCol>
                <a:gridCol w="590749">
                  <a:extLst>
                    <a:ext uri="{9D8B030D-6E8A-4147-A177-3AD203B41FA5}">
                      <a16:colId xmlns:a16="http://schemas.microsoft.com/office/drawing/2014/main" val="20015"/>
                    </a:ext>
                  </a:extLst>
                </a:gridCol>
                <a:gridCol w="590749">
                  <a:extLst>
                    <a:ext uri="{9D8B030D-6E8A-4147-A177-3AD203B41FA5}">
                      <a16:colId xmlns:a16="http://schemas.microsoft.com/office/drawing/2014/main" val="20016"/>
                    </a:ext>
                  </a:extLst>
                </a:gridCol>
                <a:gridCol w="590749">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3638550"/>
            <a:ext cx="11639550" cy="209550"/>
          </a:xfrm>
          <a:prstGeom prst="rect">
            <a:avLst/>
          </a:prstGeom>
          <a:noFill/>
        </p:spPr>
        <p:txBody>
          <a:bodyPr wrap="square" lIns="0" tIns="9525" rIns="19050" bIns="9525">
            <a:spAutoFit/>
          </a:bodyPr>
          <a:lstStyle/>
          <a:p>
            <a:pPr algn="l"/>
            <a:r>
              <a:rPr sz="1300" b="1">
                <a:solidFill>
                  <a:srgbClr val="0B2E4A"/>
                </a:solidFill>
                <a:latin typeface="Calibri"/>
              </a:rPr>
              <a:t>Europe Value Analysis, By Sales Channel</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962400"/>
            <a:ext cx="11639550" cy="259080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31547" y="2080450"/>
            <a:ext cx="366712" cy="533400"/>
          </a:xfrm>
          <a:prstGeom prst="rect">
            <a:avLst/>
          </a:prstGeom>
        </p:spPr>
      </p:pic>
      <p:sp>
        <p:nvSpPr>
          <p:cNvPr id="20" name="TextBox 19"/>
          <p:cNvSpPr txBox="1"/>
          <p:nvPr/>
        </p:nvSpPr>
        <p:spPr>
          <a:xfrm>
            <a:off x="276225" y="3971925"/>
            <a:ext cx="3449897" cy="194310"/>
          </a:xfrm>
          <a:prstGeom prst="rect">
            <a:avLst/>
          </a:prstGeom>
          <a:noFill/>
        </p:spPr>
        <p:txBody>
          <a:bodyPr wrap="none" lIns="0" tIns="0" rIns="0" bIns="0">
            <a:spAutoFit/>
          </a:bodyPr>
          <a:lstStyle/>
          <a:p>
            <a:r>
              <a:rPr sz="1150" b="0">
                <a:solidFill>
                  <a:srgbClr val="2E2E2E"/>
                </a:solidFill>
                <a:latin typeface="Calibri"/>
              </a:rPr>
              <a:t>Third-party e-commerce segment is projected to register</a:t>
            </a:r>
          </a:p>
        </p:txBody>
      </p:sp>
      <p:pic>
        <p:nvPicPr>
          <p:cNvPr id="21" name="Picture 20" descr="lock.png"/>
          <p:cNvPicPr>
            <a:picLocks noChangeAspect="1"/>
          </p:cNvPicPr>
          <p:nvPr/>
        </p:nvPicPr>
        <p:blipFill>
          <a:blip r:embed="rId4"/>
          <a:stretch>
            <a:fillRect/>
          </a:stretch>
        </p:blipFill>
        <p:spPr>
          <a:xfrm>
            <a:off x="3675276" y="3961701"/>
            <a:ext cx="134549" cy="195707"/>
          </a:xfrm>
          <a:prstGeom prst="rect">
            <a:avLst/>
          </a:prstGeom>
        </p:spPr>
      </p:pic>
      <p:sp>
        <p:nvSpPr>
          <p:cNvPr id="22" name="TextBox 21"/>
          <p:cNvSpPr txBox="1"/>
          <p:nvPr/>
        </p:nvSpPr>
        <p:spPr>
          <a:xfrm>
            <a:off x="3850386" y="3971925"/>
            <a:ext cx="7623447" cy="194310"/>
          </a:xfrm>
          <a:prstGeom prst="rect">
            <a:avLst/>
          </a:prstGeom>
          <a:noFill/>
        </p:spPr>
        <p:txBody>
          <a:bodyPr wrap="none" lIns="0" tIns="0" rIns="0" bIns="0">
            <a:spAutoFit/>
          </a:bodyPr>
          <a:lstStyle/>
          <a:p>
            <a:r>
              <a:rPr sz="1150" b="0">
                <a:solidFill>
                  <a:srgbClr val="2E2E2E"/>
                </a:solidFill>
                <a:latin typeface="Calibri"/>
              </a:rPr>
              <a:t>X higher value than veterinary channels segment in 2036. Among senior dog cognitive supplement by sales channel, third-party</a:t>
            </a:r>
          </a:p>
        </p:txBody>
      </p:sp>
      <p:sp>
        <p:nvSpPr>
          <p:cNvPr id="23" name="TextBox 22"/>
          <p:cNvSpPr txBox="1"/>
          <p:nvPr/>
        </p:nvSpPr>
        <p:spPr>
          <a:xfrm>
            <a:off x="276225" y="4147185"/>
            <a:ext cx="3937949" cy="194310"/>
          </a:xfrm>
          <a:prstGeom prst="rect">
            <a:avLst/>
          </a:prstGeom>
          <a:noFill/>
        </p:spPr>
        <p:txBody>
          <a:bodyPr wrap="none" lIns="0" tIns="0" rIns="0" bIns="0">
            <a:spAutoFit/>
          </a:bodyPr>
          <a:lstStyle/>
          <a:p>
            <a:r>
              <a:rPr sz="1150" b="0">
                <a:solidFill>
                  <a:srgbClr val="2E2E2E"/>
                </a:solidFill>
                <a:latin typeface="Calibri"/>
              </a:rPr>
              <a:t>e-commerce segment is expected to witness the highest CAGR of</a:t>
            </a:r>
          </a:p>
        </p:txBody>
      </p:sp>
      <p:pic>
        <p:nvPicPr>
          <p:cNvPr id="24" name="Picture 23" descr="lock.png"/>
          <p:cNvPicPr>
            <a:picLocks noChangeAspect="1"/>
          </p:cNvPicPr>
          <p:nvPr/>
        </p:nvPicPr>
        <p:blipFill>
          <a:blip r:embed="rId4"/>
          <a:stretch>
            <a:fillRect/>
          </a:stretch>
        </p:blipFill>
        <p:spPr>
          <a:xfrm>
            <a:off x="4163328" y="4136961"/>
            <a:ext cx="134549" cy="195707"/>
          </a:xfrm>
          <a:prstGeom prst="rect">
            <a:avLst/>
          </a:prstGeom>
        </p:spPr>
      </p:pic>
      <p:sp>
        <p:nvSpPr>
          <p:cNvPr id="25" name="TextBox 24"/>
          <p:cNvSpPr txBox="1"/>
          <p:nvPr/>
        </p:nvSpPr>
        <p:spPr>
          <a:xfrm>
            <a:off x="4338437" y="4147185"/>
            <a:ext cx="1548680" cy="194310"/>
          </a:xfrm>
          <a:prstGeom prst="rect">
            <a:avLst/>
          </a:prstGeom>
          <a:noFill/>
        </p:spPr>
        <p:txBody>
          <a:bodyPr wrap="none" lIns="0" tIns="0" r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367860" cy="194310"/>
          </a:xfrm>
          <a:prstGeom prst="rect">
            <a:avLst/>
          </a:prstGeom>
          <a:noFill/>
        </p:spPr>
        <p:txBody>
          <a:bodyPr wrap="none" lIns="0" tIns="0" rIns="0" bIns="0">
            <a:spAutoFit/>
          </a:bodyPr>
          <a:lstStyle/>
          <a:p>
            <a:r>
              <a:rPr sz="1150" b="0">
                <a:solidFill>
                  <a:srgbClr val="2E2E2E"/>
                </a:solidFill>
                <a:latin typeface="Calibri"/>
              </a:rPr>
              <a:t>In terms of value share by sales channel, the third-party e-commerce segment is expected to dominate the market, gaining</a:t>
            </a:r>
          </a:p>
        </p:txBody>
      </p:sp>
      <p:pic>
        <p:nvPicPr>
          <p:cNvPr id="27" name="Picture 26" descr="lock.png"/>
          <p:cNvPicPr>
            <a:picLocks noChangeAspect="1"/>
          </p:cNvPicPr>
          <p:nvPr/>
        </p:nvPicPr>
        <p:blipFill>
          <a:blip r:embed="rId4"/>
          <a:stretch>
            <a:fillRect/>
          </a:stretch>
        </p:blipFill>
        <p:spPr>
          <a:xfrm>
            <a:off x="7593239" y="4364799"/>
            <a:ext cx="134549" cy="195707"/>
          </a:xfrm>
          <a:prstGeom prst="rect">
            <a:avLst/>
          </a:prstGeom>
        </p:spPr>
      </p:pic>
      <p:sp>
        <p:nvSpPr>
          <p:cNvPr id="28" name="TextBox 27"/>
          <p:cNvSpPr txBox="1"/>
          <p:nvPr/>
        </p:nvSpPr>
        <p:spPr>
          <a:xfrm>
            <a:off x="7768348" y="4375022"/>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163491" y="4364799"/>
            <a:ext cx="134549" cy="195707"/>
          </a:xfrm>
          <a:prstGeom prst="rect">
            <a:avLst/>
          </a:prstGeom>
        </p:spPr>
      </p:pic>
      <p:sp>
        <p:nvSpPr>
          <p:cNvPr id="30" name="TextBox 29"/>
          <p:cNvSpPr txBox="1"/>
          <p:nvPr/>
        </p:nvSpPr>
        <p:spPr>
          <a:xfrm>
            <a:off x="9338601" y="4375022"/>
            <a:ext cx="2036750" cy="194310"/>
          </a:xfrm>
          <a:prstGeom prst="rect">
            <a:avLst/>
          </a:prstGeom>
          <a:noFill/>
        </p:spPr>
        <p:txBody>
          <a:bodyPr wrap="none" lIns="0" tIns="0" rIns="0" bIns="0">
            <a:spAutoFit/>
          </a:bodyPr>
          <a:lstStyle/>
          <a:p>
            <a:r>
              <a:rPr sz="1150" b="0">
                <a:solidFill>
                  <a:srgbClr val="2E2E2E"/>
                </a:solidFill>
                <a:latin typeface="Calibri"/>
              </a:rPr>
              <a:t>share by 2036. The brand-owned</a:t>
            </a:r>
          </a:p>
        </p:txBody>
      </p:sp>
      <p:sp>
        <p:nvSpPr>
          <p:cNvPr id="31" name="TextBox 30"/>
          <p:cNvSpPr txBox="1"/>
          <p:nvPr/>
        </p:nvSpPr>
        <p:spPr>
          <a:xfrm>
            <a:off x="276225" y="4550282"/>
            <a:ext cx="2506848" cy="194310"/>
          </a:xfrm>
          <a:prstGeom prst="rect">
            <a:avLst/>
          </a:prstGeom>
          <a:noFill/>
        </p:spPr>
        <p:txBody>
          <a:bodyPr wrap="none" lIns="0" tIns="0" rIns="0" bIns="0">
            <a:spAutoFit/>
          </a:bodyPr>
          <a:lstStyle/>
          <a:p>
            <a:r>
              <a:rPr sz="1150" b="0">
                <a:solidFill>
                  <a:srgbClr val="2E2E2E"/>
                </a:solidFill>
                <a:latin typeface="Calibri"/>
              </a:rPr>
              <a:t>e-commerce segment is expected to lose</a:t>
            </a:r>
          </a:p>
        </p:txBody>
      </p:sp>
      <p:pic>
        <p:nvPicPr>
          <p:cNvPr id="32" name="Picture 31" descr="lock.png"/>
          <p:cNvPicPr>
            <a:picLocks noChangeAspect="1"/>
          </p:cNvPicPr>
          <p:nvPr/>
        </p:nvPicPr>
        <p:blipFill>
          <a:blip r:embed="rId4"/>
          <a:stretch>
            <a:fillRect/>
          </a:stretch>
        </p:blipFill>
        <p:spPr>
          <a:xfrm>
            <a:off x="2732227" y="4540059"/>
            <a:ext cx="134549" cy="195707"/>
          </a:xfrm>
          <a:prstGeom prst="rect">
            <a:avLst/>
          </a:prstGeom>
        </p:spPr>
      </p:pic>
      <p:sp>
        <p:nvSpPr>
          <p:cNvPr id="33" name="TextBox 32"/>
          <p:cNvSpPr txBox="1"/>
          <p:nvPr/>
        </p:nvSpPr>
        <p:spPr>
          <a:xfrm>
            <a:off x="2907336" y="4550282"/>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494841" y="4540059"/>
            <a:ext cx="134549" cy="195707"/>
          </a:xfrm>
          <a:prstGeom prst="rect">
            <a:avLst/>
          </a:prstGeom>
        </p:spPr>
      </p:pic>
      <p:sp>
        <p:nvSpPr>
          <p:cNvPr id="35" name="TextBox 34"/>
          <p:cNvSpPr txBox="1"/>
          <p:nvPr/>
        </p:nvSpPr>
        <p:spPr>
          <a:xfrm>
            <a:off x="5669950" y="4550282"/>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Europe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7210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Europe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852797" y="1590675"/>
            <a:ext cx="2595753" cy="171069"/>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a:endParaRPr/>
          </a:p>
        </p:txBody>
      </p:sp>
      <p:sp>
        <p:nvSpPr>
          <p:cNvPr id="15" name="FMI Legend Chip"/>
          <p:cNvSpPr/>
          <p:nvPr/>
        </p:nvSpPr>
        <p:spPr>
          <a:xfrm>
            <a:off x="4928997" y="1812563"/>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10800000">
            <a:off x="5090922" y="180780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BPS Name 1"/>
          <p:cNvSpPr txBox="1"/>
          <p:nvPr/>
        </p:nvSpPr>
        <p:spPr>
          <a:xfrm>
            <a:off x="5233797" y="1731601"/>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General Retail</a:t>
            </a:r>
          </a:p>
        </p:txBody>
      </p:sp>
      <p:sp>
        <p:nvSpPr>
          <p:cNvPr id="18" name="BPS Value 1"/>
          <p:cNvSpPr txBox="1"/>
          <p:nvPr/>
        </p:nvSpPr>
        <p:spPr>
          <a:xfrm>
            <a:off x="6896100" y="1793513"/>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19" name="FMI Legend Chip"/>
          <p:cNvSpPr/>
          <p:nvPr/>
        </p:nvSpPr>
        <p:spPr>
          <a:xfrm>
            <a:off x="4928997" y="2121506"/>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rot="10800000">
            <a:off x="5090922" y="211674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PS Name 2"/>
          <p:cNvSpPr txBox="1"/>
          <p:nvPr/>
        </p:nvSpPr>
        <p:spPr>
          <a:xfrm>
            <a:off x="5233797" y="2040544"/>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Other Direct Sales</a:t>
            </a:r>
          </a:p>
        </p:txBody>
      </p:sp>
      <p:sp>
        <p:nvSpPr>
          <p:cNvPr id="22" name="BPS Value 2"/>
          <p:cNvSpPr txBox="1"/>
          <p:nvPr/>
        </p:nvSpPr>
        <p:spPr>
          <a:xfrm>
            <a:off x="6896100" y="2102456"/>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3" name="FMI Legend Chip"/>
          <p:cNvSpPr/>
          <p:nvPr/>
        </p:nvSpPr>
        <p:spPr>
          <a:xfrm>
            <a:off x="4928997" y="268770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sosceles Triangle 23"/>
          <p:cNvSpPr/>
          <p:nvPr/>
        </p:nvSpPr>
        <p:spPr>
          <a:xfrm rot="10800000">
            <a:off x="5090922" y="268294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PS Name 3"/>
          <p:cNvSpPr txBox="1"/>
          <p:nvPr/>
        </p:nvSpPr>
        <p:spPr>
          <a:xfrm>
            <a:off x="5233797" y="260674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Brand-Owned E-commerce</a:t>
            </a:r>
          </a:p>
        </p:txBody>
      </p:sp>
      <p:sp>
        <p:nvSpPr>
          <p:cNvPr id="26" name="BPS Value 3"/>
          <p:cNvSpPr txBox="1"/>
          <p:nvPr/>
        </p:nvSpPr>
        <p:spPr>
          <a:xfrm>
            <a:off x="6896100" y="2668656"/>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27" name="FMI Legend Chip"/>
          <p:cNvSpPr/>
          <p:nvPr/>
        </p:nvSpPr>
        <p:spPr>
          <a:xfrm>
            <a:off x="4928997" y="360260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osceles Triangle 27"/>
          <p:cNvSpPr/>
          <p:nvPr/>
        </p:nvSpPr>
        <p:spPr>
          <a:xfrm>
            <a:off x="5090922" y="359784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PS Name 4"/>
          <p:cNvSpPr txBox="1"/>
          <p:nvPr/>
        </p:nvSpPr>
        <p:spPr>
          <a:xfrm>
            <a:off x="5233797" y="352164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Specialist Pet Retail</a:t>
            </a:r>
          </a:p>
        </p:txBody>
      </p:sp>
      <p:sp>
        <p:nvSpPr>
          <p:cNvPr id="30" name="BPS Value 4"/>
          <p:cNvSpPr txBox="1"/>
          <p:nvPr/>
        </p:nvSpPr>
        <p:spPr>
          <a:xfrm>
            <a:off x="6896100" y="3583552"/>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1" name="FMI Legend Chip"/>
          <p:cNvSpPr/>
          <p:nvPr/>
        </p:nvSpPr>
        <p:spPr>
          <a:xfrm>
            <a:off x="4928997" y="464912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10800000">
            <a:off x="5090922" y="464436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PS Name 5"/>
          <p:cNvSpPr txBox="1"/>
          <p:nvPr/>
        </p:nvSpPr>
        <p:spPr>
          <a:xfrm>
            <a:off x="5233797" y="456816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Veterinary Channels</a:t>
            </a:r>
          </a:p>
        </p:txBody>
      </p:sp>
      <p:sp>
        <p:nvSpPr>
          <p:cNvPr id="34" name="BPS Value 5"/>
          <p:cNvSpPr txBox="1"/>
          <p:nvPr/>
        </p:nvSpPr>
        <p:spPr>
          <a:xfrm>
            <a:off x="6896100" y="4630078"/>
            <a:ext cx="514350" cy="123825"/>
          </a:xfrm>
          <a:prstGeom prst="rect">
            <a:avLst/>
          </a:prstGeom>
          <a:noFill/>
        </p:spPr>
        <p:txBody>
          <a:bodyPr wrap="none" lIns="0" tIns="0" rIns="0" bIns="0" anchor="ctr">
            <a:spAutoFit/>
          </a:bodyPr>
          <a:lstStyle/>
          <a:p>
            <a:pPr algn="r"/>
            <a:r>
              <a:rPr sz="900" b="1">
                <a:solidFill>
                  <a:srgbClr val="E44D3A"/>
                </a:solidFill>
                <a:latin typeface="Calibri"/>
              </a:rPr>
              <a:t>XX</a:t>
            </a:r>
          </a:p>
        </p:txBody>
      </p:sp>
      <p:sp>
        <p:nvSpPr>
          <p:cNvPr id="35" name="FMI Legend Chip"/>
          <p:cNvSpPr/>
          <p:nvPr/>
        </p:nvSpPr>
        <p:spPr>
          <a:xfrm>
            <a:off x="4928997" y="571147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sosceles Triangle 35"/>
          <p:cNvSpPr/>
          <p:nvPr/>
        </p:nvSpPr>
        <p:spPr>
          <a:xfrm>
            <a:off x="5090922" y="570671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PS Name 6"/>
          <p:cNvSpPr txBox="1"/>
          <p:nvPr/>
        </p:nvSpPr>
        <p:spPr>
          <a:xfrm>
            <a:off x="5233797" y="5630517"/>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Third-Party E-commerce</a:t>
            </a:r>
          </a:p>
        </p:txBody>
      </p:sp>
      <p:sp>
        <p:nvSpPr>
          <p:cNvPr id="38" name="BPS Value 6"/>
          <p:cNvSpPr txBox="1"/>
          <p:nvPr/>
        </p:nvSpPr>
        <p:spPr>
          <a:xfrm>
            <a:off x="6896100" y="5692429"/>
            <a:ext cx="514350" cy="123825"/>
          </a:xfrm>
          <a:prstGeom prst="rect">
            <a:avLst/>
          </a:prstGeom>
          <a:noFill/>
        </p:spPr>
        <p:txBody>
          <a:bodyPr wrap="none" lIns="0" tIns="0" r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Europe Read-out, By Sales Channel</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43" name="TextBox 4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508660" cy="194310"/>
          </a:xfrm>
          <a:prstGeom prst="rect">
            <a:avLst/>
          </a:prstGeom>
          <a:noFill/>
        </p:spPr>
        <p:txBody>
          <a:bodyPr wrap="none" lIns="0" tIns="0" rIns="0" bIns="0">
            <a:spAutoFit/>
          </a:bodyPr>
          <a:lstStyle/>
          <a:p>
            <a:r>
              <a:rPr sz="1150" b="0">
                <a:solidFill>
                  <a:srgbClr val="2E2E2E"/>
                </a:solidFill>
                <a:latin typeface="Calibri"/>
              </a:rPr>
              <a:t>Among senior dog cognitive supplement by sales channel,</a:t>
            </a:r>
          </a:p>
        </p:txBody>
      </p:sp>
      <p:sp>
        <p:nvSpPr>
          <p:cNvPr id="46" name="TextBox 45"/>
          <p:cNvSpPr txBox="1"/>
          <p:nvPr/>
        </p:nvSpPr>
        <p:spPr>
          <a:xfrm>
            <a:off x="7829550" y="1575435"/>
            <a:ext cx="4057650" cy="194310"/>
          </a:xfrm>
          <a:prstGeom prst="rect">
            <a:avLst/>
          </a:prstGeom>
          <a:noFill/>
        </p:spPr>
        <p:txBody>
          <a:bodyPr wrap="none" lIns="0" tIns="0" rIns="0" bIns="0">
            <a:spAutoFit/>
          </a:bodyPr>
          <a:lstStyle/>
          <a:p>
            <a:r>
              <a:rPr sz="1150" b="0">
                <a:solidFill>
                  <a:srgbClr val="2E2E2E"/>
                </a:solidFill>
                <a:latin typeface="Calibri"/>
              </a:rPr>
              <a:t>third-party e-commerce segment is expected to witness the highest</a:t>
            </a:r>
          </a:p>
        </p:txBody>
      </p:sp>
      <p:sp>
        <p:nvSpPr>
          <p:cNvPr id="47" name="TextBox 46"/>
          <p:cNvSpPr txBox="1"/>
          <p:nvPr/>
        </p:nvSpPr>
        <p:spPr>
          <a:xfrm>
            <a:off x="7829550" y="1750695"/>
            <a:ext cx="564536" cy="194310"/>
          </a:xfrm>
          <a:prstGeom prst="rect">
            <a:avLst/>
          </a:prstGeom>
          <a:noFill/>
        </p:spPr>
        <p:txBody>
          <a:bodyPr wrap="none" lIns="0" tIns="0" rIns="0" bIns="0">
            <a:spAutoFit/>
          </a:bodyPr>
          <a:lstStyle/>
          <a:p>
            <a:r>
              <a:rPr sz="1150" b="0">
                <a:solidFill>
                  <a:srgbClr val="2E2E2E"/>
                </a:solidFill>
                <a:latin typeface="Calibri"/>
              </a:rPr>
              <a:t>CAGR of</a:t>
            </a:r>
          </a:p>
        </p:txBody>
      </p:sp>
      <p:pic>
        <p:nvPicPr>
          <p:cNvPr id="48" name="Picture 47" descr="lock.png"/>
          <p:cNvPicPr>
            <a:picLocks noChangeAspect="1"/>
          </p:cNvPicPr>
          <p:nvPr/>
        </p:nvPicPr>
        <p:blipFill>
          <a:blip r:embed="rId5"/>
          <a:stretch>
            <a:fillRect/>
          </a:stretch>
        </p:blipFill>
        <p:spPr>
          <a:xfrm>
            <a:off x="8343240" y="1740471"/>
            <a:ext cx="134549" cy="195707"/>
          </a:xfrm>
          <a:prstGeom prst="rect">
            <a:avLst/>
          </a:prstGeom>
        </p:spPr>
      </p:pic>
      <p:sp>
        <p:nvSpPr>
          <p:cNvPr id="49" name="TextBox 48"/>
          <p:cNvSpPr txBox="1"/>
          <p:nvPr/>
        </p:nvSpPr>
        <p:spPr>
          <a:xfrm>
            <a:off x="8518350" y="1750695"/>
            <a:ext cx="3118147" cy="194310"/>
          </a:xfrm>
          <a:prstGeom prst="rect">
            <a:avLst/>
          </a:prstGeom>
          <a:noFill/>
        </p:spPr>
        <p:txBody>
          <a:bodyPr wrap="none" lIns="0" tIns="0" rIns="0" bIns="0">
            <a:spAutoFit/>
          </a:bodyPr>
          <a:lstStyle/>
          <a:p>
            <a:r>
              <a:rPr sz="1150" b="0">
                <a:solidFill>
                  <a:srgbClr val="2E2E2E"/>
                </a:solidFill>
                <a:latin typeface="Calibri"/>
              </a:rPr>
              <a:t>over the forecast period. In terms of value share by</a:t>
            </a:r>
          </a:p>
        </p:txBody>
      </p:sp>
      <p:sp>
        <p:nvSpPr>
          <p:cNvPr id="50" name="TextBox 49"/>
          <p:cNvSpPr txBox="1"/>
          <p:nvPr/>
        </p:nvSpPr>
        <p:spPr>
          <a:xfrm>
            <a:off x="7829550" y="1925955"/>
            <a:ext cx="4004431" cy="194310"/>
          </a:xfrm>
          <a:prstGeom prst="rect">
            <a:avLst/>
          </a:prstGeom>
          <a:noFill/>
        </p:spPr>
        <p:txBody>
          <a:bodyPr wrap="none" lIns="0" tIns="0" rIns="0" bIns="0">
            <a:spAutoFit/>
          </a:bodyPr>
          <a:lstStyle/>
          <a:p>
            <a:r>
              <a:rPr sz="1150" b="0">
                <a:solidFill>
                  <a:srgbClr val="2E2E2E"/>
                </a:solidFill>
                <a:latin typeface="Calibri"/>
              </a:rPr>
              <a:t>sales channel, the third-party e-commerce segment is expected to</a:t>
            </a:r>
          </a:p>
        </p:txBody>
      </p:sp>
      <p:sp>
        <p:nvSpPr>
          <p:cNvPr id="51" name="TextBox 50"/>
          <p:cNvSpPr txBox="1"/>
          <p:nvPr/>
        </p:nvSpPr>
        <p:spPr>
          <a:xfrm>
            <a:off x="7829550" y="2101215"/>
            <a:ext cx="1837072" cy="194310"/>
          </a:xfrm>
          <a:prstGeom prst="rect">
            <a:avLst/>
          </a:prstGeom>
          <a:noFill/>
        </p:spPr>
        <p:txBody>
          <a:bodyPr wrap="none" lIns="0" tIns="0" rIns="0" bIns="0">
            <a:spAutoFit/>
          </a:bodyPr>
          <a:lstStyle/>
          <a:p>
            <a:r>
              <a:rPr sz="1150" b="0">
                <a:solidFill>
                  <a:srgbClr val="2E2E2E"/>
                </a:solidFill>
                <a:latin typeface="Calibri"/>
              </a:rPr>
              <a:t>dominate the market, gaining</a:t>
            </a:r>
          </a:p>
        </p:txBody>
      </p:sp>
      <p:pic>
        <p:nvPicPr>
          <p:cNvPr id="52" name="Picture 51" descr="lock.png"/>
          <p:cNvPicPr>
            <a:picLocks noChangeAspect="1"/>
          </p:cNvPicPr>
          <p:nvPr/>
        </p:nvPicPr>
        <p:blipFill>
          <a:blip r:embed="rId5"/>
          <a:stretch>
            <a:fillRect/>
          </a:stretch>
        </p:blipFill>
        <p:spPr>
          <a:xfrm>
            <a:off x="9615776" y="2090991"/>
            <a:ext cx="134549" cy="195707"/>
          </a:xfrm>
          <a:prstGeom prst="rect">
            <a:avLst/>
          </a:prstGeom>
        </p:spPr>
      </p:pic>
      <p:sp>
        <p:nvSpPr>
          <p:cNvPr id="53" name="TextBox 52"/>
          <p:cNvSpPr txBox="1"/>
          <p:nvPr/>
        </p:nvSpPr>
        <p:spPr>
          <a:xfrm>
            <a:off x="9790885" y="2101215"/>
            <a:ext cx="1445989" cy="194310"/>
          </a:xfrm>
          <a:prstGeom prst="rect">
            <a:avLst/>
          </a:prstGeom>
          <a:noFill/>
        </p:spPr>
        <p:txBody>
          <a:bodyPr wrap="none" lIns="0" tIns="0" r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11186028" y="2090991"/>
            <a:ext cx="134549" cy="195707"/>
          </a:xfrm>
          <a:prstGeom prst="rect">
            <a:avLst/>
          </a:prstGeom>
        </p:spPr>
      </p:pic>
      <p:sp>
        <p:nvSpPr>
          <p:cNvPr id="55" name="TextBox 54"/>
          <p:cNvSpPr txBox="1"/>
          <p:nvPr/>
        </p:nvSpPr>
        <p:spPr>
          <a:xfrm>
            <a:off x="7829550" y="2276475"/>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56" name="TextBox 55"/>
          <p:cNvSpPr txBox="1"/>
          <p:nvPr/>
        </p:nvSpPr>
        <p:spPr>
          <a:xfrm>
            <a:off x="7829550" y="2504313"/>
            <a:ext cx="3597374" cy="194310"/>
          </a:xfrm>
          <a:prstGeom prst="rect">
            <a:avLst/>
          </a:prstGeom>
          <a:noFill/>
        </p:spPr>
        <p:txBody>
          <a:bodyPr wrap="none" lIns="0" tIns="0" rIns="0" bIns="0">
            <a:spAutoFit/>
          </a:bodyPr>
          <a:lstStyle/>
          <a:p>
            <a:r>
              <a:rPr sz="1150" b="0">
                <a:solidFill>
                  <a:srgbClr val="2E2E2E"/>
                </a:solidFill>
                <a:latin typeface="Calibri"/>
              </a:rPr>
              <a:t>The brand-owned e-commerce segment is expected to lose</a:t>
            </a:r>
          </a:p>
        </p:txBody>
      </p:sp>
      <p:pic>
        <p:nvPicPr>
          <p:cNvPr id="57" name="Picture 56" descr="lock.png"/>
          <p:cNvPicPr>
            <a:picLocks noChangeAspect="1"/>
          </p:cNvPicPr>
          <p:nvPr/>
        </p:nvPicPr>
        <p:blipFill>
          <a:blip r:embed="rId5"/>
          <a:stretch>
            <a:fillRect/>
          </a:stretch>
        </p:blipFill>
        <p:spPr>
          <a:xfrm>
            <a:off x="11376078" y="2494089"/>
            <a:ext cx="134549" cy="195707"/>
          </a:xfrm>
          <a:prstGeom prst="rect">
            <a:avLst/>
          </a:prstGeom>
        </p:spPr>
      </p:pic>
      <p:sp>
        <p:nvSpPr>
          <p:cNvPr id="58" name="TextBox 57"/>
          <p:cNvSpPr txBox="1"/>
          <p:nvPr/>
        </p:nvSpPr>
        <p:spPr>
          <a:xfrm>
            <a:off x="7829550" y="2679573"/>
            <a:ext cx="2638350" cy="194310"/>
          </a:xfrm>
          <a:prstGeom prst="rect">
            <a:avLst/>
          </a:prstGeom>
          <a:noFill/>
        </p:spPr>
        <p:txBody>
          <a:bodyPr wrap="none" lIns="0" tIns="0" rIns="0" bIns="0">
            <a:spAutoFit/>
          </a:bodyPr>
          <a:lstStyle/>
          <a:p>
            <a:r>
              <a:rPr sz="1150" b="0">
                <a:solidFill>
                  <a:srgbClr val="2E2E2E"/>
                </a:solidFill>
                <a:latin typeface="Calibri"/>
              </a:rPr>
              <a:t>BPS over the forecast period to account for</a:t>
            </a:r>
          </a:p>
        </p:txBody>
      </p:sp>
      <p:pic>
        <p:nvPicPr>
          <p:cNvPr id="59" name="Picture 58" descr="lock.png"/>
          <p:cNvPicPr>
            <a:picLocks noChangeAspect="1"/>
          </p:cNvPicPr>
          <p:nvPr/>
        </p:nvPicPr>
        <p:blipFill>
          <a:blip r:embed="rId5"/>
          <a:stretch>
            <a:fillRect/>
          </a:stretch>
        </p:blipFill>
        <p:spPr>
          <a:xfrm>
            <a:off x="10417054" y="2669349"/>
            <a:ext cx="134549" cy="195707"/>
          </a:xfrm>
          <a:prstGeom prst="rect">
            <a:avLst/>
          </a:prstGeom>
        </p:spPr>
      </p:pic>
      <p:sp>
        <p:nvSpPr>
          <p:cNvPr id="60" name="TextBox 59"/>
          <p:cNvSpPr txBox="1"/>
          <p:nvPr/>
        </p:nvSpPr>
        <p:spPr>
          <a:xfrm>
            <a:off x="10592163" y="2679573"/>
            <a:ext cx="946224" cy="194310"/>
          </a:xfrm>
          <a:prstGeom prst="rect">
            <a:avLst/>
          </a:prstGeom>
          <a:noFill/>
        </p:spPr>
        <p:txBody>
          <a:bodyPr wrap="none" lIns="0" tIns="0" r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2508250"/>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2813050"/>
            <a:ext cx="7239000" cy="514350"/>
          </a:xfrm>
          <a:prstGeom prst="rect">
            <a:avLst/>
          </a:prstGeom>
          <a:noFill/>
        </p:spPr>
        <p:txBody>
          <a:bodyPr wrap="square" lIns="0" tIns="0" rIns="0">
            <a:spAutoFit/>
          </a:bodyPr>
          <a:lstStyle/>
          <a:p>
            <a:r>
              <a:rPr sz="3000" b="1" cap="all" spc="400">
                <a:solidFill>
                  <a:srgbClr val="FFFFFF"/>
                </a:solidFill>
                <a:latin typeface="Calibri"/>
              </a:rPr>
              <a:t>Country Market Outlook</a:t>
            </a:r>
          </a:p>
        </p:txBody>
      </p:sp>
      <p:sp>
        <p:nvSpPr>
          <p:cNvPr id="7" name="TextBox 6"/>
          <p:cNvSpPr txBox="1"/>
          <p:nvPr/>
        </p:nvSpPr>
        <p:spPr>
          <a:xfrm>
            <a:off x="914400" y="3517900"/>
            <a:ext cx="7124700" cy="226060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Overview (Volume &amp; Value)</a:t>
            </a:r>
          </a:p>
          <a:p>
            <a:pPr marL="342900" indent="-323850">
              <a:lnSpc>
                <a:spcPct val="100000"/>
              </a:lnSpc>
              <a:spcAft>
                <a:spcPts val="800"/>
              </a:spcAft>
            </a:pPr>
            <a:r>
              <a:rPr sz="2000" b="0">
                <a:solidFill>
                  <a:srgbClr val="FFD447"/>
                </a:solidFill>
                <a:latin typeface="Calibri"/>
              </a:rPr>
              <a:t>➤	Segment Overview (Volume &amp; Value)</a:t>
            </a:r>
          </a:p>
          <a:p>
            <a:pPr marL="685800" indent="-323850">
              <a:lnSpc>
                <a:spcPct val="100000"/>
              </a:lnSpc>
              <a:spcAft>
                <a:spcPts val="560"/>
              </a:spcAft>
            </a:pPr>
            <a:r>
              <a:rPr sz="1400" b="0">
                <a:solidFill>
                  <a:srgbClr val="FFD447"/>
                </a:solidFill>
                <a:latin typeface="Calibri"/>
              </a:rPr>
              <a:t>›	Form Type</a:t>
            </a:r>
          </a:p>
          <a:p>
            <a:pPr marL="685800" indent="-323850">
              <a:lnSpc>
                <a:spcPct val="100000"/>
              </a:lnSpc>
              <a:spcAft>
                <a:spcPts val="560"/>
              </a:spcAft>
            </a:pPr>
            <a:r>
              <a:rPr sz="1400" b="0">
                <a:solidFill>
                  <a:srgbClr val="FFD447"/>
                </a:solidFill>
                <a:latin typeface="Calibri"/>
              </a:rPr>
              <a:t>›	Active Ingredient</a:t>
            </a:r>
          </a:p>
          <a:p>
            <a:pPr marL="685800" indent="-323850">
              <a:lnSpc>
                <a:spcPct val="100000"/>
              </a:lnSpc>
              <a:spcAft>
                <a:spcPts val="560"/>
              </a:spcAft>
            </a:pPr>
            <a:r>
              <a:rPr sz="1400" b="0">
                <a:solidFill>
                  <a:srgbClr val="FFD447"/>
                </a:solidFill>
                <a:latin typeface="Calibri"/>
              </a:rPr>
              <a:t>›	End-use Application</a:t>
            </a:r>
          </a:p>
          <a:p>
            <a:pPr marL="685800" indent="-323850">
              <a:lnSpc>
                <a:spcPct val="100000"/>
              </a:lnSpc>
              <a:spcAft>
                <a:spcPts val="560"/>
              </a:spcAft>
            </a:pPr>
            <a:r>
              <a:rPr sz="1400" b="0">
                <a:solidFill>
                  <a:srgbClr val="FFD447"/>
                </a:solidFill>
                <a:latin typeface="Calibri"/>
              </a:rPr>
              <a:t>›	Packaging Format</a:t>
            </a:r>
          </a:p>
          <a:p>
            <a:pPr marL="685800" indent="-323850">
              <a:lnSpc>
                <a:spcPct val="100000"/>
              </a:lnSpc>
              <a:spcAft>
                <a:spcPts val="560"/>
              </a:spcAft>
            </a:pPr>
            <a:r>
              <a:rPr sz="1400" b="0">
                <a:solidFill>
                  <a:srgbClr val="FFD447"/>
                </a:solidFill>
                <a:latin typeface="Calibri"/>
              </a:rPr>
              <a:t>›	Sales Channel</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Volume Overview</a:t>
            </a:r>
          </a:p>
          <a:p>
            <a:pPr marL="342900" indent="-323850">
              <a:lnSpc>
                <a:spcPct val="100000"/>
              </a:lnSpc>
              <a:spcAft>
                <a:spcPts val="800"/>
              </a:spcAft>
            </a:pPr>
            <a:r>
              <a:rPr sz="2000" b="0">
                <a:solidFill>
                  <a:srgbClr val="000000"/>
                </a:solidFill>
                <a:latin typeface="Calibri"/>
              </a:rPr>
              <a:t>➤	Value Overview</a:t>
            </a:r>
          </a:p>
          <a:p>
            <a:pPr marL="342900" indent="-323850">
              <a:lnSpc>
                <a:spcPct val="100000"/>
              </a:lnSpc>
              <a:spcAft>
                <a:spcPts val="800"/>
              </a:spcAft>
            </a:pPr>
            <a:r>
              <a:rPr sz="2000" b="0">
                <a:solidFill>
                  <a:srgbClr val="000000"/>
                </a:solidFill>
                <a:latin typeface="Calibri"/>
              </a:rPr>
              <a:t>➤	Key Segments (Value)</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Volume Overview (MT)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Overview of the U.K. market in volume: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2025 MARKET SIZE (MT)</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MARKET SIZE (MT)</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876425"/>
            <a:ext cx="4505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Volume (MT),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86350" y="1876425"/>
            <a:ext cx="6858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p:cNvSpPr txBox="1"/>
          <p:nvPr/>
        </p:nvSpPr>
        <p:spPr>
          <a:xfrm>
            <a:off x="8042910" y="2124075"/>
            <a:ext cx="3901440" cy="704850"/>
          </a:xfrm>
          <a:prstGeom prst="rect">
            <a:avLst/>
          </a:prstGeom>
          <a:noFill/>
        </p:spPr>
        <p:txBody>
          <a:bodyPr wrap="square" lIns="28575" tIns="9525" rIns="28575" bIns="9525">
            <a:spAutoFit/>
          </a:bodyPr>
          <a:lstStyle/>
          <a:p>
            <a:pPr algn="ctr"/>
            <a:r>
              <a:rPr sz="2200" b="1">
                <a:solidFill>
                  <a:srgbClr val="E44D3A"/>
                </a:solidFill>
                <a:latin typeface="Calibri"/>
              </a:rPr>
              <a:t> </a:t>
            </a:r>
          </a:p>
          <a:p>
            <a:pPr algn="ctr"/>
            <a:r>
              <a:rPr sz="1100" b="0">
                <a:solidFill>
                  <a:srgbClr val="6C7A89"/>
                </a:solidFill>
                <a:latin typeface="Calibri"/>
              </a:rPr>
              <a:t>vs Europe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tIns="9525" rIns="28575" bIns="9525" anchor="t">
            <a:spAutoFit/>
          </a:bodyPr>
          <a:lstStyle/>
          <a:p>
            <a:pPr algn="l"/>
            <a:endParaRP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8125" y="3790950"/>
            <a:ext cx="4505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Forecast Build-up 2026–2036 (MT)</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xmlns:r="http://schemas.openxmlformats.org/officeDocument/2006/relationships" r:id="rId6"/>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86350" y="3790950"/>
            <a:ext cx="6858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xmlns:r="http://schemas.openxmlformats.org/officeDocument/2006/relationships" r:id="rId7"/>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3367881" cy="186689"/>
          </a:xfrm>
          <a:prstGeom prst="rect">
            <a:avLst/>
          </a:prstGeom>
          <a:noFill/>
        </p:spPr>
        <p:txBody>
          <a:bodyPr wrap="none" lIns="0" tIns="0" rIns="0" bIns="0">
            <a:spAutoFit/>
          </a:bodyPr>
          <a:lstStyle/>
          <a:p>
            <a:r>
              <a:rPr sz="1100" b="0">
                <a:solidFill>
                  <a:srgbClr val="2E2E2E"/>
                </a:solidFill>
                <a:latin typeface="Calibri"/>
              </a:rPr>
              <a:t>U.K.'s senior dog cognitive supplement market expands at</a:t>
            </a:r>
          </a:p>
        </p:txBody>
      </p:sp>
      <p:pic>
        <p:nvPicPr>
          <p:cNvPr id="41" name="Picture 40" descr="lock.png"/>
          <p:cNvPicPr>
            <a:picLocks noChangeAspect="1"/>
          </p:cNvPicPr>
          <p:nvPr/>
        </p:nvPicPr>
        <p:blipFill>
          <a:blip r:embed="rId8"/>
          <a:stretch>
            <a:fillRect/>
          </a:stretch>
        </p:blipFill>
        <p:spPr>
          <a:xfrm>
            <a:off x="11387417" y="2866771"/>
            <a:ext cx="128699" cy="187198"/>
          </a:xfrm>
          <a:prstGeom prst="rect">
            <a:avLst/>
          </a:prstGeom>
        </p:spPr>
      </p:pic>
      <p:sp>
        <p:nvSpPr>
          <p:cNvPr id="42" name="TextBox 41"/>
          <p:cNvSpPr txBox="1"/>
          <p:nvPr/>
        </p:nvSpPr>
        <p:spPr>
          <a:xfrm>
            <a:off x="8071485" y="3044190"/>
            <a:ext cx="3142488" cy="186689"/>
          </a:xfrm>
          <a:prstGeom prst="rect">
            <a:avLst/>
          </a:prstGeom>
          <a:noFill/>
        </p:spPr>
        <p:txBody>
          <a:bodyPr wrap="none" lIns="0" tIns="0" rIns="0" bIns="0">
            <a:spAutoFit/>
          </a:bodyPr>
          <a:lstStyle/>
          <a:p>
            <a:r>
              <a:rPr sz="1100" b="0">
                <a:solidFill>
                  <a:srgbClr val="2E2E2E"/>
                </a:solidFill>
                <a:latin typeface="Calibri"/>
              </a:rPr>
              <a:t>CAGR through 2036, trailing the Europe benchmark of</a:t>
            </a:r>
          </a:p>
        </p:txBody>
      </p:sp>
      <p:pic>
        <p:nvPicPr>
          <p:cNvPr id="43" name="Picture 42" descr="lock.png"/>
          <p:cNvPicPr>
            <a:picLocks noChangeAspect="1"/>
          </p:cNvPicPr>
          <p:nvPr/>
        </p:nvPicPr>
        <p:blipFill>
          <a:blip r:embed="rId8"/>
          <a:stretch>
            <a:fillRect/>
          </a:stretch>
        </p:blipFill>
        <p:spPr>
          <a:xfrm>
            <a:off x="11162025" y="3034411"/>
            <a:ext cx="128699" cy="187198"/>
          </a:xfrm>
          <a:prstGeom prst="rect">
            <a:avLst/>
          </a:prstGeom>
        </p:spPr>
      </p:pic>
      <p:sp>
        <p:nvSpPr>
          <p:cNvPr id="44" name="TextBox 43"/>
          <p:cNvSpPr txBox="1"/>
          <p:nvPr/>
        </p:nvSpPr>
        <p:spPr>
          <a:xfrm>
            <a:off x="11329521" y="3044190"/>
            <a:ext cx="212898" cy="186689"/>
          </a:xfrm>
          <a:prstGeom prst="rect">
            <a:avLst/>
          </a:prstGeom>
          <a:noFill/>
        </p:spPr>
        <p:txBody>
          <a:bodyPr wrap="none" lIns="0" tIns="0" rIns="0" bIns="0">
            <a:spAutoFit/>
          </a:bodyPr>
          <a:lstStyle/>
          <a:p>
            <a:r>
              <a:rPr sz="1100" b="0">
                <a:solidFill>
                  <a:srgbClr val="2E2E2E"/>
                </a:solidFill>
                <a:latin typeface="Calibri"/>
              </a:rPr>
              <a:t>by</a:t>
            </a:r>
          </a:p>
        </p:txBody>
      </p:sp>
      <p:pic>
        <p:nvPicPr>
          <p:cNvPr id="45" name="Picture 44" descr="lock.png"/>
          <p:cNvPicPr>
            <a:picLocks noChangeAspect="1"/>
          </p:cNvPicPr>
          <p:nvPr/>
        </p:nvPicPr>
        <p:blipFill>
          <a:blip r:embed="rId8"/>
          <a:stretch>
            <a:fillRect/>
          </a:stretch>
        </p:blipFill>
        <p:spPr>
          <a:xfrm>
            <a:off x="11490471" y="3034411"/>
            <a:ext cx="128699" cy="187198"/>
          </a:xfrm>
          <a:prstGeom prst="rect">
            <a:avLst/>
          </a:prstGeom>
        </p:spPr>
      </p:pic>
      <p:sp>
        <p:nvSpPr>
          <p:cNvPr id="46" name="TextBox 45"/>
          <p:cNvSpPr txBox="1"/>
          <p:nvPr/>
        </p:nvSpPr>
        <p:spPr>
          <a:xfrm>
            <a:off x="8071485" y="3211830"/>
            <a:ext cx="323949" cy="186689"/>
          </a:xfrm>
          <a:prstGeom prst="rect">
            <a:avLst/>
          </a:prstGeom>
          <a:noFill/>
        </p:spPr>
        <p:txBody>
          <a:bodyPr wrap="none" lIns="0" tIns="0" rIns="0" bIns="0">
            <a:spAutoFit/>
          </a:bodyPr>
          <a:lstStyle/>
          <a:p>
            <a:r>
              <a:rPr sz="1100" b="0">
                <a:solidFill>
                  <a:srgbClr val="2E2E2E"/>
                </a:solidFill>
                <a:latin typeface="Calibri"/>
              </a:rPr>
              <a:t>BPS.</a:t>
            </a:r>
          </a:p>
        </p:txBody>
      </p:sp>
      <p:sp>
        <p:nvSpPr>
          <p:cNvPr id="47" name="TextBox 46"/>
          <p:cNvSpPr txBox="1"/>
          <p:nvPr/>
        </p:nvSpPr>
        <p:spPr>
          <a:xfrm>
            <a:off x="257175" y="5966460"/>
            <a:ext cx="647824" cy="186689"/>
          </a:xfrm>
          <a:prstGeom prst="rect">
            <a:avLst/>
          </a:prstGeom>
          <a:noFill/>
        </p:spPr>
        <p:txBody>
          <a:bodyPr wrap="none" lIns="0" tIns="0" rIns="0" bIns="0">
            <a:spAutoFit/>
          </a:bodyPr>
          <a:lstStyle/>
          <a:p>
            <a:r>
              <a:rPr sz="1100" b="0">
                <a:solidFill>
                  <a:srgbClr val="2E2E2E"/>
                </a:solidFill>
                <a:latin typeface="Calibri"/>
              </a:rPr>
              <a:t>U.K. holds</a:t>
            </a:r>
          </a:p>
        </p:txBody>
      </p:sp>
      <p:pic>
        <p:nvPicPr>
          <p:cNvPr id="48" name="Picture 47" descr="lock.png"/>
          <p:cNvPicPr>
            <a:picLocks noChangeAspect="1"/>
          </p:cNvPicPr>
          <p:nvPr/>
        </p:nvPicPr>
        <p:blipFill>
          <a:blip r:embed="rId8"/>
          <a:stretch>
            <a:fillRect/>
          </a:stretch>
        </p:blipFill>
        <p:spPr>
          <a:xfrm>
            <a:off x="853050" y="5956680"/>
            <a:ext cx="128699" cy="187198"/>
          </a:xfrm>
          <a:prstGeom prst="rect">
            <a:avLst/>
          </a:prstGeom>
        </p:spPr>
      </p:pic>
      <p:sp>
        <p:nvSpPr>
          <p:cNvPr id="49" name="TextBox 48"/>
          <p:cNvSpPr txBox="1"/>
          <p:nvPr/>
        </p:nvSpPr>
        <p:spPr>
          <a:xfrm>
            <a:off x="1020546" y="5966460"/>
            <a:ext cx="1035000" cy="186689"/>
          </a:xfrm>
          <a:prstGeom prst="rect">
            <a:avLst/>
          </a:prstGeom>
          <a:noFill/>
        </p:spPr>
        <p:txBody>
          <a:bodyPr wrap="none" lIns="0" tIns="0" rIns="0" bIns="0">
            <a:spAutoFit/>
          </a:bodyPr>
          <a:lstStyle/>
          <a:p>
            <a:r>
              <a:rPr sz="1100" b="0">
                <a:solidFill>
                  <a:srgbClr val="2E2E2E"/>
                </a:solidFill>
                <a:latin typeface="Calibri"/>
              </a:rPr>
              <a:t>of the global and</a:t>
            </a:r>
          </a:p>
        </p:txBody>
      </p:sp>
      <p:pic>
        <p:nvPicPr>
          <p:cNvPr id="50" name="Picture 49" descr="lock.png"/>
          <p:cNvPicPr>
            <a:picLocks noChangeAspect="1"/>
          </p:cNvPicPr>
          <p:nvPr/>
        </p:nvPicPr>
        <p:blipFill>
          <a:blip r:embed="rId8"/>
          <a:stretch>
            <a:fillRect/>
          </a:stretch>
        </p:blipFill>
        <p:spPr>
          <a:xfrm>
            <a:off x="2003598" y="5956680"/>
            <a:ext cx="128699" cy="187198"/>
          </a:xfrm>
          <a:prstGeom prst="rect">
            <a:avLst/>
          </a:prstGeom>
        </p:spPr>
      </p:pic>
      <p:sp>
        <p:nvSpPr>
          <p:cNvPr id="51" name="TextBox 50"/>
          <p:cNvSpPr txBox="1"/>
          <p:nvPr/>
        </p:nvSpPr>
        <p:spPr>
          <a:xfrm>
            <a:off x="2171094" y="5966460"/>
            <a:ext cx="3314675" cy="186689"/>
          </a:xfrm>
          <a:prstGeom prst="rect">
            <a:avLst/>
          </a:prstGeom>
          <a:noFill/>
        </p:spPr>
        <p:txBody>
          <a:bodyPr wrap="none" lIns="0" tIns="0" rIns="0" bIns="0">
            <a:spAutoFit/>
          </a:bodyPr>
          <a:lstStyle/>
          <a:p>
            <a:r>
              <a:rPr sz="1100" b="0">
                <a:solidFill>
                  <a:srgbClr val="2E2E2E"/>
                </a:solidFill>
                <a:latin typeface="Calibri"/>
              </a:rPr>
              <a:t>of the Europe senior dog cognitive supplement market in</a:t>
            </a:r>
          </a:p>
        </p:txBody>
      </p:sp>
      <p:sp>
        <p:nvSpPr>
          <p:cNvPr id="52" name="TextBox 51"/>
          <p:cNvSpPr txBox="1"/>
          <p:nvPr/>
        </p:nvSpPr>
        <p:spPr>
          <a:xfrm>
            <a:off x="257175" y="6134100"/>
            <a:ext cx="2132136" cy="186689"/>
          </a:xfrm>
          <a:prstGeom prst="rect">
            <a:avLst/>
          </a:prstGeom>
          <a:noFill/>
        </p:spPr>
        <p:txBody>
          <a:bodyPr wrap="none" lIns="0" tIns="0" rIns="0" bIns="0">
            <a:spAutoFit/>
          </a:bodyPr>
          <a:lstStyle/>
          <a:p>
            <a:r>
              <a:rPr sz="1100" b="0">
                <a:solidFill>
                  <a:srgbClr val="2E2E2E"/>
                </a:solidFill>
                <a:latin typeface="Calibri"/>
              </a:rPr>
              <a:t>2026; by 2036 those shares move to</a:t>
            </a:r>
          </a:p>
        </p:txBody>
      </p:sp>
      <p:pic>
        <p:nvPicPr>
          <p:cNvPr id="53" name="Picture 52" descr="lock.png"/>
          <p:cNvPicPr>
            <a:picLocks noChangeAspect="1"/>
          </p:cNvPicPr>
          <p:nvPr/>
        </p:nvPicPr>
        <p:blipFill>
          <a:blip r:embed="rId8"/>
          <a:stretch>
            <a:fillRect/>
          </a:stretch>
        </p:blipFill>
        <p:spPr>
          <a:xfrm>
            <a:off x="2337363" y="6124320"/>
            <a:ext cx="128699" cy="187198"/>
          </a:xfrm>
          <a:prstGeom prst="rect">
            <a:avLst/>
          </a:prstGeom>
        </p:spPr>
      </p:pic>
      <p:sp>
        <p:nvSpPr>
          <p:cNvPr id="54" name="TextBox 53"/>
          <p:cNvSpPr txBox="1"/>
          <p:nvPr/>
        </p:nvSpPr>
        <p:spPr>
          <a:xfrm>
            <a:off x="2504858" y="6134100"/>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55" name="Picture 54" descr="lock.png"/>
          <p:cNvPicPr>
            <a:picLocks noChangeAspect="1"/>
          </p:cNvPicPr>
          <p:nvPr/>
        </p:nvPicPr>
        <p:blipFill>
          <a:blip r:embed="rId8"/>
          <a:stretch>
            <a:fillRect/>
          </a:stretch>
        </p:blipFill>
        <p:spPr>
          <a:xfrm>
            <a:off x="2742753" y="6124320"/>
            <a:ext cx="128699" cy="187198"/>
          </a:xfrm>
          <a:prstGeom prst="rect">
            <a:avLst/>
          </a:prstGeom>
        </p:spPr>
      </p:pic>
      <p:sp>
        <p:nvSpPr>
          <p:cNvPr id="56" name="TextBox 55"/>
          <p:cNvSpPr txBox="1"/>
          <p:nvPr/>
        </p:nvSpPr>
        <p:spPr>
          <a:xfrm>
            <a:off x="2910249" y="6134100"/>
            <a:ext cx="793799" cy="186689"/>
          </a:xfrm>
          <a:prstGeom prst="rect">
            <a:avLst/>
          </a:prstGeom>
          <a:noFill/>
        </p:spPr>
        <p:txBody>
          <a:bodyPr wrap="none" lIns="0" tIns="0" rIns="0" bIns="0">
            <a:spAutoFit/>
          </a:bodyPr>
          <a:lstStyle/>
          <a:p>
            <a:r>
              <a:rPr sz="1100" b="0">
                <a:solidFill>
                  <a:srgbClr val="2E2E2E"/>
                </a:solidFill>
                <a:latin typeface="Calibri"/>
              </a:rPr>
              <a:t>respectively.</a:t>
            </a:r>
          </a:p>
        </p:txBody>
      </p:sp>
      <p:sp>
        <p:nvSpPr>
          <p:cNvPr id="57" name="TextBox 56"/>
          <p:cNvSpPr txBox="1"/>
          <p:nvPr/>
        </p:nvSpPr>
        <p:spPr>
          <a:xfrm>
            <a:off x="6286500" y="5966460"/>
            <a:ext cx="1586979" cy="186689"/>
          </a:xfrm>
          <a:prstGeom prst="rect">
            <a:avLst/>
          </a:prstGeom>
          <a:noFill/>
        </p:spPr>
        <p:txBody>
          <a:bodyPr wrap="none" lIns="0" tIns="0" rIns="0" bIns="0">
            <a:spAutoFit/>
          </a:bodyPr>
          <a:lstStyle/>
          <a:p>
            <a:r>
              <a:rPr sz="1100" b="0">
                <a:solidFill>
                  <a:srgbClr val="2E2E2E"/>
                </a:solidFill>
                <a:latin typeface="Calibri"/>
              </a:rPr>
              <a:t>The forecast build-up adds</a:t>
            </a:r>
          </a:p>
        </p:txBody>
      </p:sp>
      <p:pic>
        <p:nvPicPr>
          <p:cNvPr id="58" name="Picture 57" descr="lock.png"/>
          <p:cNvPicPr>
            <a:picLocks noChangeAspect="1"/>
          </p:cNvPicPr>
          <p:nvPr/>
        </p:nvPicPr>
        <p:blipFill>
          <a:blip r:embed="rId8"/>
          <a:stretch>
            <a:fillRect/>
          </a:stretch>
        </p:blipFill>
        <p:spPr>
          <a:xfrm>
            <a:off x="7821530" y="5956680"/>
            <a:ext cx="128699" cy="187198"/>
          </a:xfrm>
          <a:prstGeom prst="rect">
            <a:avLst/>
          </a:prstGeom>
        </p:spPr>
      </p:pic>
      <p:sp>
        <p:nvSpPr>
          <p:cNvPr id="59" name="TextBox 58"/>
          <p:cNvSpPr txBox="1"/>
          <p:nvPr/>
        </p:nvSpPr>
        <p:spPr>
          <a:xfrm>
            <a:off x="7989026" y="5966460"/>
            <a:ext cx="3125589" cy="186689"/>
          </a:xfrm>
          <a:prstGeom prst="rect">
            <a:avLst/>
          </a:prstGeom>
          <a:noFill/>
        </p:spPr>
        <p:txBody>
          <a:bodyPr wrap="none" lIns="0" tIns="0" rIns="0" bIns="0">
            <a:spAutoFit/>
          </a:bodyPr>
          <a:lstStyle/>
          <a:p>
            <a:r>
              <a:rPr sz="1100" b="0">
                <a:solidFill>
                  <a:srgbClr val="2E2E2E"/>
                </a:solidFill>
                <a:latin typeface="Calibri"/>
              </a:rPr>
              <a:t>MT between 2026 and 2036 the U.K. market grows to</a:t>
            </a:r>
          </a:p>
        </p:txBody>
      </p:sp>
      <p:pic>
        <p:nvPicPr>
          <p:cNvPr id="60" name="Picture 59" descr="lock.png"/>
          <p:cNvPicPr>
            <a:picLocks noChangeAspect="1"/>
          </p:cNvPicPr>
          <p:nvPr/>
        </p:nvPicPr>
        <p:blipFill>
          <a:blip r:embed="rId8"/>
          <a:stretch>
            <a:fillRect/>
          </a:stretch>
        </p:blipFill>
        <p:spPr>
          <a:xfrm>
            <a:off x="11062667" y="5956680"/>
            <a:ext cx="128699" cy="187198"/>
          </a:xfrm>
          <a:prstGeom prst="rect">
            <a:avLst/>
          </a:prstGeom>
        </p:spPr>
      </p:pic>
      <p:sp>
        <p:nvSpPr>
          <p:cNvPr id="61" name="TextBox 60"/>
          <p:cNvSpPr txBox="1"/>
          <p:nvPr/>
        </p:nvSpPr>
        <p:spPr>
          <a:xfrm>
            <a:off x="11230162" y="5966460"/>
            <a:ext cx="311125" cy="186689"/>
          </a:xfrm>
          <a:prstGeom prst="rect">
            <a:avLst/>
          </a:prstGeom>
          <a:noFill/>
        </p:spPr>
        <p:txBody>
          <a:bodyPr wrap="none" lIns="0" tIns="0" rIns="0" bIns="0">
            <a:spAutoFit/>
          </a:bodyPr>
          <a:lstStyle/>
          <a:p>
            <a:r>
              <a:rPr sz="1100" b="0">
                <a:solidFill>
                  <a:srgbClr val="2E2E2E"/>
                </a:solidFill>
                <a:latin typeface="Calibri"/>
              </a:rPr>
              <a:t>× its</a:t>
            </a:r>
          </a:p>
        </p:txBody>
      </p:sp>
      <p:sp>
        <p:nvSpPr>
          <p:cNvPr id="62" name="TextBox 61"/>
          <p:cNvSpPr txBox="1"/>
          <p:nvPr/>
        </p:nvSpPr>
        <p:spPr>
          <a:xfrm>
            <a:off x="6286500" y="6134100"/>
            <a:ext cx="1590253" cy="186689"/>
          </a:xfrm>
          <a:prstGeom prst="rect">
            <a:avLst/>
          </a:prstGeom>
          <a:noFill/>
        </p:spPr>
        <p:txBody>
          <a:bodyPr wrap="none" lIns="0" tIns="0" rIns="0" bIns="0">
            <a:spAutoFit/>
          </a:bodyPr>
          <a:lstStyle/>
          <a:p>
            <a:r>
              <a:rPr sz="1100" b="0">
                <a:solidFill>
                  <a:srgbClr val="2E2E2E"/>
                </a:solidFill>
                <a:latin typeface="Calibri"/>
              </a:rPr>
              <a:t>2026 size over the decade.</a:t>
            </a:r>
          </a:p>
        </p:txBody>
      </p:sp>
      <p:sp>
        <p:nvSpPr>
          <p:cNvPr id="63"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Value Overview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Overview of the U.K. market in value: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876425"/>
            <a:ext cx="4505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Value (US$ Mn),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86350" y="1876425"/>
            <a:ext cx="6858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p:cNvSpPr txBox="1"/>
          <p:nvPr/>
        </p:nvSpPr>
        <p:spPr>
          <a:xfrm>
            <a:off x="8042910" y="2124075"/>
            <a:ext cx="3901440" cy="704850"/>
          </a:xfrm>
          <a:prstGeom prst="rect">
            <a:avLst/>
          </a:prstGeom>
          <a:noFill/>
        </p:spPr>
        <p:txBody>
          <a:bodyPr wrap="square" lIns="28575" tIns="9525" rIns="28575" bIns="9525">
            <a:spAutoFit/>
          </a:bodyPr>
          <a:lstStyle/>
          <a:p>
            <a:pPr algn="ctr"/>
            <a:r>
              <a:rPr sz="2200" b="1">
                <a:solidFill>
                  <a:srgbClr val="E44D3A"/>
                </a:solidFill>
                <a:latin typeface="Calibri"/>
              </a:rPr>
              <a:t> </a:t>
            </a:r>
          </a:p>
          <a:p>
            <a:pPr algn="ctr"/>
            <a:r>
              <a:rPr sz="1100" b="0">
                <a:solidFill>
                  <a:srgbClr val="6C7A89"/>
                </a:solidFill>
                <a:latin typeface="Calibri"/>
              </a:rPr>
              <a:t>vs Europe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tIns="9525" rIns="28575" bIns="9525" anchor="t">
            <a:spAutoFit/>
          </a:bodyPr>
          <a:lstStyle/>
          <a:p>
            <a:pPr algn="l"/>
            <a:endParaRP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8125" y="3790950"/>
            <a:ext cx="4505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Forecast Build-up 2026–2036 (US$ Mn)</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xmlns:r="http://schemas.openxmlformats.org/officeDocument/2006/relationships" r:id="rId6"/>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86350" y="3790950"/>
            <a:ext cx="6858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xmlns:r="http://schemas.openxmlformats.org/officeDocument/2006/relationships" r:id="rId7"/>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endParaRP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3367881" cy="186689"/>
          </a:xfrm>
          <a:prstGeom prst="rect">
            <a:avLst/>
          </a:prstGeom>
          <a:noFill/>
        </p:spPr>
        <p:txBody>
          <a:bodyPr wrap="none" lIns="0" tIns="0" rIns="0" bIns="0">
            <a:spAutoFit/>
          </a:bodyPr>
          <a:lstStyle/>
          <a:p>
            <a:r>
              <a:rPr sz="1100" b="0">
                <a:solidFill>
                  <a:srgbClr val="2E2E2E"/>
                </a:solidFill>
                <a:latin typeface="Calibri"/>
              </a:rPr>
              <a:t>U.K.'s senior dog cognitive supplement market expands at</a:t>
            </a:r>
          </a:p>
        </p:txBody>
      </p:sp>
      <p:pic>
        <p:nvPicPr>
          <p:cNvPr id="41" name="Picture 40" descr="lock.png"/>
          <p:cNvPicPr>
            <a:picLocks noChangeAspect="1"/>
          </p:cNvPicPr>
          <p:nvPr/>
        </p:nvPicPr>
        <p:blipFill>
          <a:blip r:embed="rId8"/>
          <a:stretch>
            <a:fillRect/>
          </a:stretch>
        </p:blipFill>
        <p:spPr>
          <a:xfrm>
            <a:off x="11387417" y="2866771"/>
            <a:ext cx="128699" cy="187198"/>
          </a:xfrm>
          <a:prstGeom prst="rect">
            <a:avLst/>
          </a:prstGeom>
        </p:spPr>
      </p:pic>
      <p:sp>
        <p:nvSpPr>
          <p:cNvPr id="42" name="TextBox 41"/>
          <p:cNvSpPr txBox="1"/>
          <p:nvPr/>
        </p:nvSpPr>
        <p:spPr>
          <a:xfrm>
            <a:off x="8071485" y="3044190"/>
            <a:ext cx="3142488" cy="186689"/>
          </a:xfrm>
          <a:prstGeom prst="rect">
            <a:avLst/>
          </a:prstGeom>
          <a:noFill/>
        </p:spPr>
        <p:txBody>
          <a:bodyPr wrap="none" lIns="0" tIns="0" rIns="0" bIns="0">
            <a:spAutoFit/>
          </a:bodyPr>
          <a:lstStyle/>
          <a:p>
            <a:r>
              <a:rPr sz="1100" b="0">
                <a:solidFill>
                  <a:srgbClr val="2E2E2E"/>
                </a:solidFill>
                <a:latin typeface="Calibri"/>
              </a:rPr>
              <a:t>CAGR through 2036, trailing the Europe benchmark of</a:t>
            </a:r>
          </a:p>
        </p:txBody>
      </p:sp>
      <p:pic>
        <p:nvPicPr>
          <p:cNvPr id="43" name="Picture 42" descr="lock.png"/>
          <p:cNvPicPr>
            <a:picLocks noChangeAspect="1"/>
          </p:cNvPicPr>
          <p:nvPr/>
        </p:nvPicPr>
        <p:blipFill>
          <a:blip r:embed="rId8"/>
          <a:stretch>
            <a:fillRect/>
          </a:stretch>
        </p:blipFill>
        <p:spPr>
          <a:xfrm>
            <a:off x="11162025" y="3034411"/>
            <a:ext cx="128699" cy="187198"/>
          </a:xfrm>
          <a:prstGeom prst="rect">
            <a:avLst/>
          </a:prstGeom>
        </p:spPr>
      </p:pic>
      <p:sp>
        <p:nvSpPr>
          <p:cNvPr id="44" name="TextBox 43"/>
          <p:cNvSpPr txBox="1"/>
          <p:nvPr/>
        </p:nvSpPr>
        <p:spPr>
          <a:xfrm>
            <a:off x="11329521" y="3044190"/>
            <a:ext cx="212898" cy="186689"/>
          </a:xfrm>
          <a:prstGeom prst="rect">
            <a:avLst/>
          </a:prstGeom>
          <a:noFill/>
        </p:spPr>
        <p:txBody>
          <a:bodyPr wrap="none" lIns="0" tIns="0" rIns="0" bIns="0">
            <a:spAutoFit/>
          </a:bodyPr>
          <a:lstStyle/>
          <a:p>
            <a:r>
              <a:rPr sz="1100" b="0">
                <a:solidFill>
                  <a:srgbClr val="2E2E2E"/>
                </a:solidFill>
                <a:latin typeface="Calibri"/>
              </a:rPr>
              <a:t>by</a:t>
            </a:r>
          </a:p>
        </p:txBody>
      </p:sp>
      <p:pic>
        <p:nvPicPr>
          <p:cNvPr id="45" name="Picture 44" descr="lock.png"/>
          <p:cNvPicPr>
            <a:picLocks noChangeAspect="1"/>
          </p:cNvPicPr>
          <p:nvPr/>
        </p:nvPicPr>
        <p:blipFill>
          <a:blip r:embed="rId8"/>
          <a:stretch>
            <a:fillRect/>
          </a:stretch>
        </p:blipFill>
        <p:spPr>
          <a:xfrm>
            <a:off x="11490471" y="3034411"/>
            <a:ext cx="128699" cy="187198"/>
          </a:xfrm>
          <a:prstGeom prst="rect">
            <a:avLst/>
          </a:prstGeom>
        </p:spPr>
      </p:pic>
      <p:sp>
        <p:nvSpPr>
          <p:cNvPr id="46" name="TextBox 45"/>
          <p:cNvSpPr txBox="1"/>
          <p:nvPr/>
        </p:nvSpPr>
        <p:spPr>
          <a:xfrm>
            <a:off x="8071485" y="3211830"/>
            <a:ext cx="323949" cy="186689"/>
          </a:xfrm>
          <a:prstGeom prst="rect">
            <a:avLst/>
          </a:prstGeom>
          <a:noFill/>
        </p:spPr>
        <p:txBody>
          <a:bodyPr wrap="none" lIns="0" tIns="0" rIns="0" bIns="0">
            <a:spAutoFit/>
          </a:bodyPr>
          <a:lstStyle/>
          <a:p>
            <a:r>
              <a:rPr sz="1100" b="0">
                <a:solidFill>
                  <a:srgbClr val="2E2E2E"/>
                </a:solidFill>
                <a:latin typeface="Calibri"/>
              </a:rPr>
              <a:t>BPS.</a:t>
            </a:r>
          </a:p>
        </p:txBody>
      </p:sp>
      <p:sp>
        <p:nvSpPr>
          <p:cNvPr id="47" name="TextBox 46"/>
          <p:cNvSpPr txBox="1"/>
          <p:nvPr/>
        </p:nvSpPr>
        <p:spPr>
          <a:xfrm>
            <a:off x="257175" y="5966460"/>
            <a:ext cx="647824" cy="186689"/>
          </a:xfrm>
          <a:prstGeom prst="rect">
            <a:avLst/>
          </a:prstGeom>
          <a:noFill/>
        </p:spPr>
        <p:txBody>
          <a:bodyPr wrap="none" lIns="0" tIns="0" rIns="0" bIns="0">
            <a:spAutoFit/>
          </a:bodyPr>
          <a:lstStyle/>
          <a:p>
            <a:r>
              <a:rPr sz="1100" b="0">
                <a:solidFill>
                  <a:srgbClr val="2E2E2E"/>
                </a:solidFill>
                <a:latin typeface="Calibri"/>
              </a:rPr>
              <a:t>U.K. holds</a:t>
            </a:r>
          </a:p>
        </p:txBody>
      </p:sp>
      <p:pic>
        <p:nvPicPr>
          <p:cNvPr id="48" name="Picture 47" descr="lock.png"/>
          <p:cNvPicPr>
            <a:picLocks noChangeAspect="1"/>
          </p:cNvPicPr>
          <p:nvPr/>
        </p:nvPicPr>
        <p:blipFill>
          <a:blip r:embed="rId8"/>
          <a:stretch>
            <a:fillRect/>
          </a:stretch>
        </p:blipFill>
        <p:spPr>
          <a:xfrm>
            <a:off x="853050" y="5956680"/>
            <a:ext cx="128699" cy="187198"/>
          </a:xfrm>
          <a:prstGeom prst="rect">
            <a:avLst/>
          </a:prstGeom>
        </p:spPr>
      </p:pic>
      <p:sp>
        <p:nvSpPr>
          <p:cNvPr id="49" name="TextBox 48"/>
          <p:cNvSpPr txBox="1"/>
          <p:nvPr/>
        </p:nvSpPr>
        <p:spPr>
          <a:xfrm>
            <a:off x="1020546" y="5966460"/>
            <a:ext cx="1035000" cy="186689"/>
          </a:xfrm>
          <a:prstGeom prst="rect">
            <a:avLst/>
          </a:prstGeom>
          <a:noFill/>
        </p:spPr>
        <p:txBody>
          <a:bodyPr wrap="none" lIns="0" tIns="0" rIns="0" bIns="0">
            <a:spAutoFit/>
          </a:bodyPr>
          <a:lstStyle/>
          <a:p>
            <a:r>
              <a:rPr sz="1100" b="0">
                <a:solidFill>
                  <a:srgbClr val="2E2E2E"/>
                </a:solidFill>
                <a:latin typeface="Calibri"/>
              </a:rPr>
              <a:t>of the global and</a:t>
            </a:r>
          </a:p>
        </p:txBody>
      </p:sp>
      <p:pic>
        <p:nvPicPr>
          <p:cNvPr id="50" name="Picture 49" descr="lock.png"/>
          <p:cNvPicPr>
            <a:picLocks noChangeAspect="1"/>
          </p:cNvPicPr>
          <p:nvPr/>
        </p:nvPicPr>
        <p:blipFill>
          <a:blip r:embed="rId8"/>
          <a:stretch>
            <a:fillRect/>
          </a:stretch>
        </p:blipFill>
        <p:spPr>
          <a:xfrm>
            <a:off x="2003598" y="5956680"/>
            <a:ext cx="128699" cy="187198"/>
          </a:xfrm>
          <a:prstGeom prst="rect">
            <a:avLst/>
          </a:prstGeom>
        </p:spPr>
      </p:pic>
      <p:sp>
        <p:nvSpPr>
          <p:cNvPr id="51" name="TextBox 50"/>
          <p:cNvSpPr txBox="1"/>
          <p:nvPr/>
        </p:nvSpPr>
        <p:spPr>
          <a:xfrm>
            <a:off x="2171094" y="5966460"/>
            <a:ext cx="3314675" cy="186689"/>
          </a:xfrm>
          <a:prstGeom prst="rect">
            <a:avLst/>
          </a:prstGeom>
          <a:noFill/>
        </p:spPr>
        <p:txBody>
          <a:bodyPr wrap="none" lIns="0" tIns="0" rIns="0" bIns="0">
            <a:spAutoFit/>
          </a:bodyPr>
          <a:lstStyle/>
          <a:p>
            <a:r>
              <a:rPr sz="1100" b="0">
                <a:solidFill>
                  <a:srgbClr val="2E2E2E"/>
                </a:solidFill>
                <a:latin typeface="Calibri"/>
              </a:rPr>
              <a:t>of the Europe senior dog cognitive supplement market in</a:t>
            </a:r>
          </a:p>
        </p:txBody>
      </p:sp>
      <p:sp>
        <p:nvSpPr>
          <p:cNvPr id="52" name="TextBox 51"/>
          <p:cNvSpPr txBox="1"/>
          <p:nvPr/>
        </p:nvSpPr>
        <p:spPr>
          <a:xfrm>
            <a:off x="257175" y="6134100"/>
            <a:ext cx="2132136" cy="186689"/>
          </a:xfrm>
          <a:prstGeom prst="rect">
            <a:avLst/>
          </a:prstGeom>
          <a:noFill/>
        </p:spPr>
        <p:txBody>
          <a:bodyPr wrap="none" lIns="0" tIns="0" rIns="0" bIns="0">
            <a:spAutoFit/>
          </a:bodyPr>
          <a:lstStyle/>
          <a:p>
            <a:r>
              <a:rPr sz="1100" b="0">
                <a:solidFill>
                  <a:srgbClr val="2E2E2E"/>
                </a:solidFill>
                <a:latin typeface="Calibri"/>
              </a:rPr>
              <a:t>2026; by 2036 those shares move to</a:t>
            </a:r>
          </a:p>
        </p:txBody>
      </p:sp>
      <p:pic>
        <p:nvPicPr>
          <p:cNvPr id="53" name="Picture 52" descr="lock.png"/>
          <p:cNvPicPr>
            <a:picLocks noChangeAspect="1"/>
          </p:cNvPicPr>
          <p:nvPr/>
        </p:nvPicPr>
        <p:blipFill>
          <a:blip r:embed="rId8"/>
          <a:stretch>
            <a:fillRect/>
          </a:stretch>
        </p:blipFill>
        <p:spPr>
          <a:xfrm>
            <a:off x="2337363" y="6124320"/>
            <a:ext cx="128699" cy="187198"/>
          </a:xfrm>
          <a:prstGeom prst="rect">
            <a:avLst/>
          </a:prstGeom>
        </p:spPr>
      </p:pic>
      <p:sp>
        <p:nvSpPr>
          <p:cNvPr id="54" name="TextBox 53"/>
          <p:cNvSpPr txBox="1"/>
          <p:nvPr/>
        </p:nvSpPr>
        <p:spPr>
          <a:xfrm>
            <a:off x="2504858" y="6134100"/>
            <a:ext cx="289842" cy="186689"/>
          </a:xfrm>
          <a:prstGeom prst="rect">
            <a:avLst/>
          </a:prstGeom>
          <a:noFill/>
        </p:spPr>
        <p:txBody>
          <a:bodyPr wrap="none" lIns="0" tIns="0" rIns="0" bIns="0">
            <a:spAutoFit/>
          </a:bodyPr>
          <a:lstStyle/>
          <a:p>
            <a:r>
              <a:rPr sz="1100" b="0">
                <a:solidFill>
                  <a:srgbClr val="2E2E2E"/>
                </a:solidFill>
                <a:latin typeface="Calibri"/>
              </a:rPr>
              <a:t>and</a:t>
            </a:r>
          </a:p>
        </p:txBody>
      </p:sp>
      <p:pic>
        <p:nvPicPr>
          <p:cNvPr id="55" name="Picture 54" descr="lock.png"/>
          <p:cNvPicPr>
            <a:picLocks noChangeAspect="1"/>
          </p:cNvPicPr>
          <p:nvPr/>
        </p:nvPicPr>
        <p:blipFill>
          <a:blip r:embed="rId8"/>
          <a:stretch>
            <a:fillRect/>
          </a:stretch>
        </p:blipFill>
        <p:spPr>
          <a:xfrm>
            <a:off x="2742753" y="6124320"/>
            <a:ext cx="128699" cy="187198"/>
          </a:xfrm>
          <a:prstGeom prst="rect">
            <a:avLst/>
          </a:prstGeom>
        </p:spPr>
      </p:pic>
      <p:sp>
        <p:nvSpPr>
          <p:cNvPr id="56" name="TextBox 55"/>
          <p:cNvSpPr txBox="1"/>
          <p:nvPr/>
        </p:nvSpPr>
        <p:spPr>
          <a:xfrm>
            <a:off x="2910249" y="6134100"/>
            <a:ext cx="793799" cy="186689"/>
          </a:xfrm>
          <a:prstGeom prst="rect">
            <a:avLst/>
          </a:prstGeom>
          <a:noFill/>
        </p:spPr>
        <p:txBody>
          <a:bodyPr wrap="none" lIns="0" tIns="0" rIns="0" bIns="0">
            <a:spAutoFit/>
          </a:bodyPr>
          <a:lstStyle/>
          <a:p>
            <a:r>
              <a:rPr sz="1100" b="0">
                <a:solidFill>
                  <a:srgbClr val="2E2E2E"/>
                </a:solidFill>
                <a:latin typeface="Calibri"/>
              </a:rPr>
              <a:t>respectively.</a:t>
            </a:r>
          </a:p>
        </p:txBody>
      </p:sp>
      <p:sp>
        <p:nvSpPr>
          <p:cNvPr id="57" name="TextBox 56"/>
          <p:cNvSpPr txBox="1"/>
          <p:nvPr/>
        </p:nvSpPr>
        <p:spPr>
          <a:xfrm>
            <a:off x="6286500" y="5882640"/>
            <a:ext cx="3111673" cy="186689"/>
          </a:xfrm>
          <a:prstGeom prst="rect">
            <a:avLst/>
          </a:prstGeom>
          <a:noFill/>
        </p:spPr>
        <p:txBody>
          <a:bodyPr wrap="none" lIns="0" tIns="0" rIns="0" bIns="0">
            <a:spAutoFit/>
          </a:bodyPr>
          <a:lstStyle/>
          <a:p>
            <a:r>
              <a:rPr sz="1100" b="0">
                <a:solidFill>
                  <a:srgbClr val="2E2E2E"/>
                </a:solidFill>
                <a:latin typeface="Calibri"/>
              </a:rPr>
              <a:t>The market in the U.K. is expected to account for US$</a:t>
            </a:r>
          </a:p>
        </p:txBody>
      </p:sp>
      <p:pic>
        <p:nvPicPr>
          <p:cNvPr id="58" name="Picture 57" descr="lock.png"/>
          <p:cNvPicPr>
            <a:picLocks noChangeAspect="1"/>
          </p:cNvPicPr>
          <p:nvPr/>
        </p:nvPicPr>
        <p:blipFill>
          <a:blip r:embed="rId8"/>
          <a:stretch>
            <a:fillRect/>
          </a:stretch>
        </p:blipFill>
        <p:spPr>
          <a:xfrm>
            <a:off x="9346225" y="5872860"/>
            <a:ext cx="128699" cy="187198"/>
          </a:xfrm>
          <a:prstGeom prst="rect">
            <a:avLst/>
          </a:prstGeom>
        </p:spPr>
      </p:pic>
      <p:sp>
        <p:nvSpPr>
          <p:cNvPr id="59" name="TextBox 58"/>
          <p:cNvSpPr txBox="1"/>
          <p:nvPr/>
        </p:nvSpPr>
        <p:spPr>
          <a:xfrm>
            <a:off x="9513721" y="5882640"/>
            <a:ext cx="1495556" cy="186689"/>
          </a:xfrm>
          <a:prstGeom prst="rect">
            <a:avLst/>
          </a:prstGeom>
          <a:noFill/>
        </p:spPr>
        <p:txBody>
          <a:bodyPr wrap="none" lIns="0" tIns="0" rIns="0" bIns="0">
            <a:spAutoFit/>
          </a:bodyPr>
          <a:lstStyle/>
          <a:p>
            <a:r>
              <a:rPr sz="1100" b="0">
                <a:solidFill>
                  <a:srgbClr val="2E2E2E"/>
                </a:solidFill>
                <a:latin typeface="Calibri"/>
              </a:rPr>
              <a:t>Mn by 2036 at a CAGR of</a:t>
            </a:r>
          </a:p>
        </p:txBody>
      </p:sp>
      <p:pic>
        <p:nvPicPr>
          <p:cNvPr id="60" name="Picture 59" descr="lock.png"/>
          <p:cNvPicPr>
            <a:picLocks noChangeAspect="1"/>
          </p:cNvPicPr>
          <p:nvPr/>
        </p:nvPicPr>
        <p:blipFill>
          <a:blip r:embed="rId8"/>
          <a:stretch>
            <a:fillRect/>
          </a:stretch>
        </p:blipFill>
        <p:spPr>
          <a:xfrm>
            <a:off x="10957329" y="5872860"/>
            <a:ext cx="128699" cy="187198"/>
          </a:xfrm>
          <a:prstGeom prst="rect">
            <a:avLst/>
          </a:prstGeom>
        </p:spPr>
      </p:pic>
      <p:sp>
        <p:nvSpPr>
          <p:cNvPr id="61" name="TextBox 60"/>
          <p:cNvSpPr txBox="1"/>
          <p:nvPr/>
        </p:nvSpPr>
        <p:spPr>
          <a:xfrm>
            <a:off x="11124825" y="5882640"/>
            <a:ext cx="552871" cy="186689"/>
          </a:xfrm>
          <a:prstGeom prst="rect">
            <a:avLst/>
          </a:prstGeom>
          <a:noFill/>
        </p:spPr>
        <p:txBody>
          <a:bodyPr wrap="none" lIns="0" tIns="0" rIns="0" bIns="0">
            <a:spAutoFit/>
          </a:bodyPr>
          <a:lstStyle/>
          <a:p>
            <a:r>
              <a:rPr sz="1100" b="0">
                <a:solidFill>
                  <a:srgbClr val="2E2E2E"/>
                </a:solidFill>
                <a:latin typeface="Calibri"/>
              </a:rPr>
              <a:t>over the</a:t>
            </a:r>
          </a:p>
        </p:txBody>
      </p:sp>
      <p:sp>
        <p:nvSpPr>
          <p:cNvPr id="62" name="TextBox 61"/>
          <p:cNvSpPr txBox="1"/>
          <p:nvPr/>
        </p:nvSpPr>
        <p:spPr>
          <a:xfrm>
            <a:off x="6286500" y="6050280"/>
            <a:ext cx="4703216" cy="186689"/>
          </a:xfrm>
          <a:prstGeom prst="rect">
            <a:avLst/>
          </a:prstGeom>
          <a:noFill/>
        </p:spPr>
        <p:txBody>
          <a:bodyPr wrap="none" lIns="0" tIns="0" rIns="0" bIns="0">
            <a:spAutoFit/>
          </a:bodyPr>
          <a:lstStyle/>
          <a:p>
            <a:r>
              <a:rPr sz="1100" b="0">
                <a:solidFill>
                  <a:srgbClr val="2E2E2E"/>
                </a:solidFill>
                <a:latin typeface="Calibri"/>
              </a:rPr>
              <a:t>forecast period. The U.K. is expected to create an incremental opportunity of US$</a:t>
            </a:r>
          </a:p>
        </p:txBody>
      </p:sp>
      <p:pic>
        <p:nvPicPr>
          <p:cNvPr id="63" name="Picture 62" descr="lock.png"/>
          <p:cNvPicPr>
            <a:picLocks noChangeAspect="1"/>
          </p:cNvPicPr>
          <p:nvPr/>
        </p:nvPicPr>
        <p:blipFill>
          <a:blip r:embed="rId8"/>
          <a:stretch>
            <a:fillRect/>
          </a:stretch>
        </p:blipFill>
        <p:spPr>
          <a:xfrm>
            <a:off x="10937768" y="6040501"/>
            <a:ext cx="128699" cy="187198"/>
          </a:xfrm>
          <a:prstGeom prst="rect">
            <a:avLst/>
          </a:prstGeom>
        </p:spPr>
      </p:pic>
      <p:sp>
        <p:nvSpPr>
          <p:cNvPr id="64" name="TextBox 63"/>
          <p:cNvSpPr txBox="1"/>
          <p:nvPr/>
        </p:nvSpPr>
        <p:spPr>
          <a:xfrm>
            <a:off x="11105264" y="6050280"/>
            <a:ext cx="687387" cy="186689"/>
          </a:xfrm>
          <a:prstGeom prst="rect">
            <a:avLst/>
          </a:prstGeom>
          <a:noFill/>
        </p:spPr>
        <p:txBody>
          <a:bodyPr wrap="none" lIns="0" tIns="0" rIns="0" bIns="0">
            <a:spAutoFit/>
          </a:bodyPr>
          <a:lstStyle/>
          <a:p>
            <a:r>
              <a:rPr sz="1100" b="0">
                <a:solidFill>
                  <a:srgbClr val="2E2E2E"/>
                </a:solidFill>
                <a:latin typeface="Calibri"/>
              </a:rPr>
              <a:t>Mn for the</a:t>
            </a:r>
          </a:p>
        </p:txBody>
      </p:sp>
      <p:sp>
        <p:nvSpPr>
          <p:cNvPr id="65" name="TextBox 64"/>
          <p:cNvSpPr txBox="1"/>
          <p:nvPr/>
        </p:nvSpPr>
        <p:spPr>
          <a:xfrm>
            <a:off x="6286500" y="6217920"/>
            <a:ext cx="3913857" cy="186689"/>
          </a:xfrm>
          <a:prstGeom prst="rect">
            <a:avLst/>
          </a:prstGeom>
          <a:noFill/>
        </p:spPr>
        <p:txBody>
          <a:bodyPr wrap="none" lIns="0" tIns="0" rIns="0" bIns="0">
            <a:spAutoFit/>
          </a:bodyPr>
          <a:lstStyle/>
          <a:p>
            <a:r>
              <a:rPr sz="1100" b="0">
                <a:solidFill>
                  <a:srgbClr val="2E2E2E"/>
                </a:solidFill>
                <a:latin typeface="Calibri"/>
              </a:rPr>
              <a:t>overall senior dog cognitive supplement market from 2025 to 2036.</a:t>
            </a:r>
          </a:p>
        </p:txBody>
      </p:sp>
      <p:sp>
        <p:nvSpPr>
          <p:cNvPr id="66"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Key Segments Overview, By Value (2026)</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Overview of U.K.'s key segments by value, highlighting the leading sub-segment of every segmentation</a:t>
            </a:r>
          </a:p>
        </p:txBody>
      </p:sp>
      <p:sp>
        <p:nvSpPr>
          <p:cNvPr id="10" name="Rounded Rectangle 9"/>
          <p:cNvSpPr/>
          <p:nvPr/>
        </p:nvSpPr>
        <p:spPr>
          <a:xfrm>
            <a:off x="1428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2667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Form Type  (US$ Mn)</a:t>
            </a:r>
          </a:p>
        </p:txBody>
      </p:sp>
      <p:graphicFrame>
        <p:nvGraphicFramePr>
          <p:cNvPr id="12" name="Chart 11"/>
          <p:cNvGraphicFramePr>
            <a:graphicFrameLocks noGrp="1"/>
          </p:cNvGraphicFramePr>
          <p:nvPr/>
        </p:nvGraphicFramePr>
        <p:xfrm>
          <a:off x="238125" y="1266825"/>
          <a:ext cx="2667000" cy="1428750"/>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31527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48025" y="1038225"/>
            <a:ext cx="2667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Active Ingredient  (US$ Mn)</a:t>
            </a:r>
          </a:p>
        </p:txBody>
      </p:sp>
      <p:graphicFrame>
        <p:nvGraphicFramePr>
          <p:cNvPr id="15" name="Chart 14"/>
          <p:cNvGraphicFramePr>
            <a:graphicFrameLocks noGrp="1"/>
          </p:cNvGraphicFramePr>
          <p:nvPr/>
        </p:nvGraphicFramePr>
        <p:xfrm>
          <a:off x="3248025" y="1266825"/>
          <a:ext cx="2667000" cy="1428750"/>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626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57925" y="1038225"/>
            <a:ext cx="2667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End-use Application  (US$ Mn)</a:t>
            </a:r>
          </a:p>
        </p:txBody>
      </p:sp>
      <p:graphicFrame>
        <p:nvGraphicFramePr>
          <p:cNvPr id="18" name="Chart 17"/>
          <p:cNvGraphicFramePr>
            <a:graphicFrameLocks noGrp="1"/>
          </p:cNvGraphicFramePr>
          <p:nvPr/>
        </p:nvGraphicFramePr>
        <p:xfrm>
          <a:off x="6257925" y="1266825"/>
          <a:ext cx="2667000" cy="1428750"/>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91725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67825" y="1038225"/>
            <a:ext cx="2667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Packaging Format  (US$ Mn)</a:t>
            </a:r>
          </a:p>
        </p:txBody>
      </p:sp>
      <p:graphicFrame>
        <p:nvGraphicFramePr>
          <p:cNvPr id="21" name="Chart 20"/>
          <p:cNvGraphicFramePr>
            <a:graphicFrameLocks noGrp="1"/>
          </p:cNvGraphicFramePr>
          <p:nvPr/>
        </p:nvGraphicFramePr>
        <p:xfrm>
          <a:off x="9267825" y="1266825"/>
          <a:ext cx="2667000" cy="1428750"/>
        </p:xfrm>
        <a:graphic>
          <a:graphicData uri="http://schemas.openxmlformats.org/drawingml/2006/chart">
            <c:chart xmlns:c="http://schemas.openxmlformats.org/drawingml/2006/chart" xmlns:r="http://schemas.openxmlformats.org/officeDocument/2006/relationships" r:id="rId7"/>
          </a:graphicData>
        </a:graphic>
      </p:graphicFrame>
      <p:sp>
        <p:nvSpPr>
          <p:cNvPr id="22" name="Rounded Rectangle 21"/>
          <p:cNvSpPr/>
          <p:nvPr/>
        </p:nvSpPr>
        <p:spPr>
          <a:xfrm>
            <a:off x="142875" y="2886075"/>
            <a:ext cx="29718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8125" y="2943225"/>
            <a:ext cx="27813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Sales Channel  (US$ Mn)</a:t>
            </a:r>
          </a:p>
        </p:txBody>
      </p:sp>
      <p:graphicFrame>
        <p:nvGraphicFramePr>
          <p:cNvPr id="24" name="Chart 23"/>
          <p:cNvGraphicFramePr>
            <a:graphicFrameLocks noGrp="1"/>
          </p:cNvGraphicFramePr>
          <p:nvPr/>
        </p:nvGraphicFramePr>
        <p:xfrm>
          <a:off x="238125" y="3171825"/>
          <a:ext cx="2781300" cy="1428750"/>
        </p:xfrm>
        <a:graphic>
          <a:graphicData uri="http://schemas.openxmlformats.org/drawingml/2006/chart">
            <c:chart xmlns:c="http://schemas.openxmlformats.org/drawingml/2006/chart" xmlns:r="http://schemas.openxmlformats.org/officeDocument/2006/relationships" r:id="rId8"/>
          </a:graphicData>
        </a:graphic>
      </p:graphicFrame>
      <p:sp>
        <p:nvSpPr>
          <p:cNvPr id="25" name="Rounded Rectangle 24"/>
          <p:cNvSpPr/>
          <p:nvPr/>
        </p:nvSpPr>
        <p:spPr>
          <a:xfrm>
            <a:off x="142875" y="4791075"/>
            <a:ext cx="11906250" cy="1828800"/>
          </a:xfrm>
          <a:prstGeom prst="roundRect">
            <a:avLst>
              <a:gd name="adj" fmla="val 41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6225" y="4876800"/>
            <a:ext cx="11639550" cy="209550"/>
          </a:xfrm>
          <a:prstGeom prst="rect">
            <a:avLst/>
          </a:prstGeom>
          <a:noFill/>
        </p:spPr>
        <p:txBody>
          <a:bodyPr wrap="square" lIns="0" tIns="9525" rIns="19050" bIns="9525">
            <a:spAutoFit/>
          </a:bodyPr>
          <a:lstStyle/>
          <a:p>
            <a:pPr algn="l"/>
            <a:endParaRPr/>
          </a:p>
        </p:txBody>
      </p:sp>
      <p:sp>
        <p:nvSpPr>
          <p:cNvPr id="27" name="Rectangle 26"/>
          <p:cNvSpPr/>
          <p:nvPr/>
        </p:nvSpPr>
        <p:spPr>
          <a:xfrm>
            <a:off x="276225" y="511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6225" y="5200650"/>
            <a:ext cx="11639550" cy="1343025"/>
          </a:xfrm>
          <a:prstGeom prst="rect">
            <a:avLst/>
          </a:prstGeom>
          <a:noFill/>
        </p:spPr>
        <p:txBody>
          <a:bodyPr wrap="square" lIns="0" tIns="9525" rIns="19050" bIns="9525">
            <a:spAutoFit/>
          </a:bodyPr>
          <a:lstStyle/>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p:txBody>
      </p:sp>
      <p:sp>
        <p:nvSpPr>
          <p:cNvPr id="29" name="TextBox 2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9"/>
          <a:stretch>
            <a:fillRect/>
          </a:stretch>
        </p:blipFill>
        <p:spPr>
          <a:xfrm>
            <a:off x="1811655" y="1762125"/>
            <a:ext cx="183356" cy="266700"/>
          </a:xfrm>
          <a:prstGeom prst="rect">
            <a:avLst/>
          </a:prstGeom>
        </p:spPr>
      </p:pic>
      <p:pic>
        <p:nvPicPr>
          <p:cNvPr id="31" name="Picture 30" descr="lock.png"/>
          <p:cNvPicPr>
            <a:picLocks noChangeAspect="1"/>
          </p:cNvPicPr>
          <p:nvPr/>
        </p:nvPicPr>
        <p:blipFill>
          <a:blip r:embed="rId9"/>
          <a:stretch>
            <a:fillRect/>
          </a:stretch>
        </p:blipFill>
        <p:spPr>
          <a:xfrm>
            <a:off x="4821555" y="1762125"/>
            <a:ext cx="183356" cy="266700"/>
          </a:xfrm>
          <a:prstGeom prst="rect">
            <a:avLst/>
          </a:prstGeom>
        </p:spPr>
      </p:pic>
      <p:pic>
        <p:nvPicPr>
          <p:cNvPr id="32" name="Picture 31" descr="lock.png"/>
          <p:cNvPicPr>
            <a:picLocks noChangeAspect="1"/>
          </p:cNvPicPr>
          <p:nvPr/>
        </p:nvPicPr>
        <p:blipFill>
          <a:blip r:embed="rId9"/>
          <a:stretch>
            <a:fillRect/>
          </a:stretch>
        </p:blipFill>
        <p:spPr>
          <a:xfrm>
            <a:off x="7831455" y="1762125"/>
            <a:ext cx="183356" cy="266700"/>
          </a:xfrm>
          <a:prstGeom prst="rect">
            <a:avLst/>
          </a:prstGeom>
        </p:spPr>
      </p:pic>
      <p:pic>
        <p:nvPicPr>
          <p:cNvPr id="33" name="Picture 32" descr="lock.png"/>
          <p:cNvPicPr>
            <a:picLocks noChangeAspect="1"/>
          </p:cNvPicPr>
          <p:nvPr/>
        </p:nvPicPr>
        <p:blipFill>
          <a:blip r:embed="rId9"/>
          <a:stretch>
            <a:fillRect/>
          </a:stretch>
        </p:blipFill>
        <p:spPr>
          <a:xfrm>
            <a:off x="10841355" y="1762125"/>
            <a:ext cx="183356" cy="266700"/>
          </a:xfrm>
          <a:prstGeom prst="rect">
            <a:avLst/>
          </a:prstGeom>
        </p:spPr>
      </p:pic>
      <p:pic>
        <p:nvPicPr>
          <p:cNvPr id="34" name="Picture 33" descr="lock.png"/>
          <p:cNvPicPr>
            <a:picLocks noChangeAspect="1"/>
          </p:cNvPicPr>
          <p:nvPr/>
        </p:nvPicPr>
        <p:blipFill>
          <a:blip r:embed="rId9"/>
          <a:stretch>
            <a:fillRect/>
          </a:stretch>
        </p:blipFill>
        <p:spPr>
          <a:xfrm>
            <a:off x="1868805" y="3667125"/>
            <a:ext cx="183356" cy="266700"/>
          </a:xfrm>
          <a:prstGeom prst="rect">
            <a:avLst/>
          </a:prstGeom>
        </p:spPr>
      </p:pic>
      <p:sp>
        <p:nvSpPr>
          <p:cNvPr id="35" name="TextBox 34"/>
          <p:cNvSpPr txBox="1"/>
          <p:nvPr/>
        </p:nvSpPr>
        <p:spPr>
          <a:xfrm>
            <a:off x="276225" y="4886325"/>
            <a:ext cx="1468037" cy="161696"/>
          </a:xfrm>
          <a:prstGeom prst="rect">
            <a:avLst/>
          </a:prstGeom>
          <a:noFill/>
        </p:spPr>
        <p:txBody>
          <a:bodyPr wrap="none" lIns="0" tIns="0" rIns="0" bIns="0">
            <a:spAutoFit/>
          </a:bodyPr>
          <a:lstStyle/>
          <a:p>
            <a:r>
              <a:rPr sz="935" b="1">
                <a:solidFill>
                  <a:srgbClr val="0B2E4A"/>
                </a:solidFill>
                <a:latin typeface="Calibri"/>
              </a:rPr>
              <a:t>Key Takeaways · 2026 Total:</a:t>
            </a:r>
          </a:p>
        </p:txBody>
      </p:sp>
      <p:pic>
        <p:nvPicPr>
          <p:cNvPr id="36" name="Picture 35" descr="lock.png"/>
          <p:cNvPicPr>
            <a:picLocks noChangeAspect="1"/>
          </p:cNvPicPr>
          <p:nvPr/>
        </p:nvPicPr>
        <p:blipFill>
          <a:blip r:embed="rId9"/>
          <a:stretch>
            <a:fillRect/>
          </a:stretch>
        </p:blipFill>
        <p:spPr>
          <a:xfrm>
            <a:off x="1688698" y="4878003"/>
            <a:ext cx="109510" cy="159288"/>
          </a:xfrm>
          <a:prstGeom prst="rect">
            <a:avLst/>
          </a:prstGeom>
        </p:spPr>
      </p:pic>
      <p:sp>
        <p:nvSpPr>
          <p:cNvPr id="37" name="TextBox 36"/>
          <p:cNvSpPr txBox="1"/>
          <p:nvPr/>
        </p:nvSpPr>
        <p:spPr>
          <a:xfrm>
            <a:off x="1831222" y="4886325"/>
            <a:ext cx="465087" cy="161696"/>
          </a:xfrm>
          <a:prstGeom prst="rect">
            <a:avLst/>
          </a:prstGeom>
          <a:noFill/>
        </p:spPr>
        <p:txBody>
          <a:bodyPr wrap="none" lIns="0" tIns="0" rIns="0" bIns="0">
            <a:spAutoFit/>
          </a:bodyPr>
          <a:lstStyle/>
          <a:p>
            <a:r>
              <a:rPr sz="935" b="1">
                <a:solidFill>
                  <a:srgbClr val="0B2E4A"/>
                </a:solidFill>
                <a:latin typeface="Calibri"/>
              </a:rPr>
              <a:t>US$ Mn</a:t>
            </a:r>
          </a:p>
        </p:txBody>
      </p:sp>
      <p:sp>
        <p:nvSpPr>
          <p:cNvPr id="38" name="TextBox 37"/>
          <p:cNvSpPr txBox="1"/>
          <p:nvPr/>
        </p:nvSpPr>
        <p:spPr>
          <a:xfrm>
            <a:off x="276225" y="5210175"/>
            <a:ext cx="2759916" cy="186689"/>
          </a:xfrm>
          <a:prstGeom prst="rect">
            <a:avLst/>
          </a:prstGeom>
          <a:noFill/>
        </p:spPr>
        <p:txBody>
          <a:bodyPr wrap="none" lIns="0" tIns="0" rIns="0" bIns="0">
            <a:spAutoFit/>
          </a:bodyPr>
          <a:lstStyle/>
          <a:p>
            <a:r>
              <a:rPr sz="1100" b="0">
                <a:solidFill>
                  <a:srgbClr val="2E2E2E"/>
                </a:solidFill>
                <a:latin typeface="Calibri"/>
              </a:rPr>
              <a:t>▪ By Form Type, 'Capsules and Softgels' leads at</a:t>
            </a:r>
          </a:p>
        </p:txBody>
      </p:sp>
      <p:pic>
        <p:nvPicPr>
          <p:cNvPr id="39" name="Picture 38" descr="lock.png"/>
          <p:cNvPicPr>
            <a:picLocks noChangeAspect="1"/>
          </p:cNvPicPr>
          <p:nvPr/>
        </p:nvPicPr>
        <p:blipFill>
          <a:blip r:embed="rId9"/>
          <a:stretch>
            <a:fillRect/>
          </a:stretch>
        </p:blipFill>
        <p:spPr>
          <a:xfrm>
            <a:off x="2984193" y="5200395"/>
            <a:ext cx="128699" cy="187198"/>
          </a:xfrm>
          <a:prstGeom prst="rect">
            <a:avLst/>
          </a:prstGeom>
        </p:spPr>
      </p:pic>
      <p:sp>
        <p:nvSpPr>
          <p:cNvPr id="40" name="TextBox 39"/>
          <p:cNvSpPr txBox="1"/>
          <p:nvPr/>
        </p:nvSpPr>
        <p:spPr>
          <a:xfrm>
            <a:off x="3151689" y="5210175"/>
            <a:ext cx="599529" cy="186689"/>
          </a:xfrm>
          <a:prstGeom prst="rect">
            <a:avLst/>
          </a:prstGeom>
          <a:noFill/>
        </p:spPr>
        <p:txBody>
          <a:bodyPr wrap="none" lIns="0" tIns="0" rIns="0" bIns="0">
            <a:spAutoFit/>
          </a:bodyPr>
          <a:lstStyle/>
          <a:p>
            <a:r>
              <a:rPr sz="1100" b="0">
                <a:solidFill>
                  <a:srgbClr val="2E2E2E"/>
                </a:solidFill>
                <a:latin typeface="Calibri"/>
              </a:rPr>
              <a:t>US$ Mn (</a:t>
            </a:r>
          </a:p>
        </p:txBody>
      </p:sp>
      <p:pic>
        <p:nvPicPr>
          <p:cNvPr id="41" name="Picture 40" descr="lock.png"/>
          <p:cNvPicPr>
            <a:picLocks noChangeAspect="1"/>
          </p:cNvPicPr>
          <p:nvPr/>
        </p:nvPicPr>
        <p:blipFill>
          <a:blip r:embed="rId9"/>
          <a:stretch>
            <a:fillRect/>
          </a:stretch>
        </p:blipFill>
        <p:spPr>
          <a:xfrm>
            <a:off x="3699270" y="5200395"/>
            <a:ext cx="128699" cy="187198"/>
          </a:xfrm>
          <a:prstGeom prst="rect">
            <a:avLst/>
          </a:prstGeom>
        </p:spPr>
      </p:pic>
      <p:sp>
        <p:nvSpPr>
          <p:cNvPr id="42" name="TextBox 41"/>
          <p:cNvSpPr txBox="1"/>
          <p:nvPr/>
        </p:nvSpPr>
        <p:spPr>
          <a:xfrm>
            <a:off x="3866765" y="5210175"/>
            <a:ext cx="1575246" cy="186689"/>
          </a:xfrm>
          <a:prstGeom prst="rect">
            <a:avLst/>
          </a:prstGeom>
          <a:noFill/>
        </p:spPr>
        <p:txBody>
          <a:bodyPr wrap="none" lIns="0" tIns="0" rIns="0" bIns="0">
            <a:spAutoFit/>
          </a:bodyPr>
          <a:lstStyle/>
          <a:p>
            <a:r>
              <a:rPr sz="1100" b="0">
                <a:solidFill>
                  <a:srgbClr val="2E2E2E"/>
                </a:solidFill>
                <a:latin typeface="Calibri"/>
              </a:rPr>
              <a:t>share), ahead of 'Tablets' (</a:t>
            </a:r>
          </a:p>
        </p:txBody>
      </p:sp>
      <p:pic>
        <p:nvPicPr>
          <p:cNvPr id="43" name="Picture 42" descr="lock.png"/>
          <p:cNvPicPr>
            <a:picLocks noChangeAspect="1"/>
          </p:cNvPicPr>
          <p:nvPr/>
        </p:nvPicPr>
        <p:blipFill>
          <a:blip r:embed="rId9"/>
          <a:stretch>
            <a:fillRect/>
          </a:stretch>
        </p:blipFill>
        <p:spPr>
          <a:xfrm>
            <a:off x="5390064" y="5200395"/>
            <a:ext cx="128699" cy="187198"/>
          </a:xfrm>
          <a:prstGeom prst="rect">
            <a:avLst/>
          </a:prstGeom>
        </p:spPr>
      </p:pic>
      <p:sp>
        <p:nvSpPr>
          <p:cNvPr id="44" name="TextBox 43"/>
          <p:cNvSpPr txBox="1"/>
          <p:nvPr/>
        </p:nvSpPr>
        <p:spPr>
          <a:xfrm>
            <a:off x="5557559" y="5210175"/>
            <a:ext cx="603076" cy="186689"/>
          </a:xfrm>
          <a:prstGeom prst="rect">
            <a:avLst/>
          </a:prstGeom>
          <a:noFill/>
        </p:spPr>
        <p:txBody>
          <a:bodyPr wrap="none" lIns="0" tIns="0" rIns="0" bIns="0">
            <a:spAutoFit/>
          </a:bodyPr>
          <a:lstStyle/>
          <a:p>
            <a:r>
              <a:rPr sz="1100" b="0">
                <a:solidFill>
                  <a:srgbClr val="2E2E2E"/>
                </a:solidFill>
                <a:latin typeface="Calibri"/>
              </a:rPr>
              <a:t>US$ Mn).</a:t>
            </a:r>
          </a:p>
        </p:txBody>
      </p:sp>
      <p:sp>
        <p:nvSpPr>
          <p:cNvPr id="45" name="TextBox 44"/>
          <p:cNvSpPr txBox="1"/>
          <p:nvPr/>
        </p:nvSpPr>
        <p:spPr>
          <a:xfrm>
            <a:off x="276225" y="5428107"/>
            <a:ext cx="3236618" cy="186689"/>
          </a:xfrm>
          <a:prstGeom prst="rect">
            <a:avLst/>
          </a:prstGeom>
          <a:noFill/>
        </p:spPr>
        <p:txBody>
          <a:bodyPr wrap="none" lIns="0" tIns="0" rIns="0" bIns="0">
            <a:spAutoFit/>
          </a:bodyPr>
          <a:lstStyle/>
          <a:p>
            <a:r>
              <a:rPr sz="1100" b="0">
                <a:solidFill>
                  <a:srgbClr val="2E2E2E"/>
                </a:solidFill>
                <a:latin typeface="Calibri"/>
              </a:rPr>
              <a:t>▪ By Active Ingredient, 'Antioxidant Ingredients' leads at</a:t>
            </a:r>
          </a:p>
        </p:txBody>
      </p:sp>
      <p:pic>
        <p:nvPicPr>
          <p:cNvPr id="46" name="Picture 45" descr="lock.png"/>
          <p:cNvPicPr>
            <a:picLocks noChangeAspect="1"/>
          </p:cNvPicPr>
          <p:nvPr/>
        </p:nvPicPr>
        <p:blipFill>
          <a:blip r:embed="rId9"/>
          <a:stretch>
            <a:fillRect/>
          </a:stretch>
        </p:blipFill>
        <p:spPr>
          <a:xfrm>
            <a:off x="3460894" y="5418327"/>
            <a:ext cx="128699" cy="187198"/>
          </a:xfrm>
          <a:prstGeom prst="rect">
            <a:avLst/>
          </a:prstGeom>
        </p:spPr>
      </p:pic>
      <p:sp>
        <p:nvSpPr>
          <p:cNvPr id="47" name="TextBox 46"/>
          <p:cNvSpPr txBox="1"/>
          <p:nvPr/>
        </p:nvSpPr>
        <p:spPr>
          <a:xfrm>
            <a:off x="3628390" y="5428107"/>
            <a:ext cx="599529" cy="186689"/>
          </a:xfrm>
          <a:prstGeom prst="rect">
            <a:avLst/>
          </a:prstGeom>
          <a:noFill/>
        </p:spPr>
        <p:txBody>
          <a:bodyPr wrap="none" lIns="0" tIns="0" rIns="0" bIns="0">
            <a:spAutoFit/>
          </a:bodyPr>
          <a:lstStyle/>
          <a:p>
            <a:r>
              <a:rPr sz="1100" b="0">
                <a:solidFill>
                  <a:srgbClr val="2E2E2E"/>
                </a:solidFill>
                <a:latin typeface="Calibri"/>
              </a:rPr>
              <a:t>US$ Mn (</a:t>
            </a:r>
          </a:p>
        </p:txBody>
      </p:sp>
      <p:pic>
        <p:nvPicPr>
          <p:cNvPr id="48" name="Picture 47" descr="lock.png"/>
          <p:cNvPicPr>
            <a:picLocks noChangeAspect="1"/>
          </p:cNvPicPr>
          <p:nvPr/>
        </p:nvPicPr>
        <p:blipFill>
          <a:blip r:embed="rId9"/>
          <a:stretch>
            <a:fillRect/>
          </a:stretch>
        </p:blipFill>
        <p:spPr>
          <a:xfrm>
            <a:off x="4175971" y="5418327"/>
            <a:ext cx="128699" cy="187198"/>
          </a:xfrm>
          <a:prstGeom prst="rect">
            <a:avLst/>
          </a:prstGeom>
        </p:spPr>
      </p:pic>
      <p:sp>
        <p:nvSpPr>
          <p:cNvPr id="49" name="TextBox 48"/>
          <p:cNvSpPr txBox="1"/>
          <p:nvPr/>
        </p:nvSpPr>
        <p:spPr>
          <a:xfrm>
            <a:off x="4343467" y="5428107"/>
            <a:ext cx="3173883" cy="186689"/>
          </a:xfrm>
          <a:prstGeom prst="rect">
            <a:avLst/>
          </a:prstGeom>
          <a:noFill/>
        </p:spPr>
        <p:txBody>
          <a:bodyPr wrap="none" lIns="0" tIns="0" rIns="0" bIns="0">
            <a:spAutoFit/>
          </a:bodyPr>
          <a:lstStyle/>
          <a:p>
            <a:r>
              <a:rPr sz="1100" b="0">
                <a:solidFill>
                  <a:srgbClr val="2E2E2E"/>
                </a:solidFill>
                <a:latin typeface="Calibri"/>
              </a:rPr>
              <a:t>share), ahead of 'Cellular Energy Support Ingredients' (</a:t>
            </a:r>
          </a:p>
        </p:txBody>
      </p:sp>
      <p:pic>
        <p:nvPicPr>
          <p:cNvPr id="50" name="Picture 49" descr="lock.png"/>
          <p:cNvPicPr>
            <a:picLocks noChangeAspect="1"/>
          </p:cNvPicPr>
          <p:nvPr/>
        </p:nvPicPr>
        <p:blipFill>
          <a:blip r:embed="rId9"/>
          <a:stretch>
            <a:fillRect/>
          </a:stretch>
        </p:blipFill>
        <p:spPr>
          <a:xfrm>
            <a:off x="7465402" y="5418327"/>
            <a:ext cx="128699" cy="187198"/>
          </a:xfrm>
          <a:prstGeom prst="rect">
            <a:avLst/>
          </a:prstGeom>
        </p:spPr>
      </p:pic>
      <p:sp>
        <p:nvSpPr>
          <p:cNvPr id="51" name="TextBox 50"/>
          <p:cNvSpPr txBox="1"/>
          <p:nvPr/>
        </p:nvSpPr>
        <p:spPr>
          <a:xfrm>
            <a:off x="7632898" y="5428107"/>
            <a:ext cx="603076" cy="186689"/>
          </a:xfrm>
          <a:prstGeom prst="rect">
            <a:avLst/>
          </a:prstGeom>
          <a:noFill/>
        </p:spPr>
        <p:txBody>
          <a:bodyPr wrap="none" lIns="0" tIns="0" rIns="0" bIns="0">
            <a:spAutoFit/>
          </a:bodyPr>
          <a:lstStyle/>
          <a:p>
            <a:r>
              <a:rPr sz="1100" b="0">
                <a:solidFill>
                  <a:srgbClr val="2E2E2E"/>
                </a:solidFill>
                <a:latin typeface="Calibri"/>
              </a:rPr>
              <a:t>US$ Mn).</a:t>
            </a:r>
          </a:p>
        </p:txBody>
      </p:sp>
      <p:sp>
        <p:nvSpPr>
          <p:cNvPr id="52" name="TextBox 51"/>
          <p:cNvSpPr txBox="1"/>
          <p:nvPr/>
        </p:nvSpPr>
        <p:spPr>
          <a:xfrm>
            <a:off x="276225" y="5646039"/>
            <a:ext cx="5185051" cy="186689"/>
          </a:xfrm>
          <a:prstGeom prst="rect">
            <a:avLst/>
          </a:prstGeom>
          <a:noFill/>
        </p:spPr>
        <p:txBody>
          <a:bodyPr wrap="none" lIns="0" tIns="0" rIns="0" bIns="0">
            <a:spAutoFit/>
          </a:bodyPr>
          <a:lstStyle/>
          <a:p>
            <a:r>
              <a:rPr sz="1100" b="0">
                <a:solidFill>
                  <a:srgbClr val="2E2E2E"/>
                </a:solidFill>
                <a:latin typeface="Calibri"/>
              </a:rPr>
              <a:t>▪ By End-use Application, 'Support for Observable Age-Related Cognitive Changes' leads at</a:t>
            </a:r>
          </a:p>
        </p:txBody>
      </p:sp>
      <p:pic>
        <p:nvPicPr>
          <p:cNvPr id="53" name="Picture 52" descr="lock.png"/>
          <p:cNvPicPr>
            <a:picLocks noChangeAspect="1"/>
          </p:cNvPicPr>
          <p:nvPr/>
        </p:nvPicPr>
        <p:blipFill>
          <a:blip r:embed="rId9"/>
          <a:stretch>
            <a:fillRect/>
          </a:stretch>
        </p:blipFill>
        <p:spPr>
          <a:xfrm>
            <a:off x="5409327" y="5636259"/>
            <a:ext cx="128699" cy="187198"/>
          </a:xfrm>
          <a:prstGeom prst="rect">
            <a:avLst/>
          </a:prstGeom>
        </p:spPr>
      </p:pic>
      <p:sp>
        <p:nvSpPr>
          <p:cNvPr id="54" name="TextBox 53"/>
          <p:cNvSpPr txBox="1"/>
          <p:nvPr/>
        </p:nvSpPr>
        <p:spPr>
          <a:xfrm>
            <a:off x="5576823" y="5646039"/>
            <a:ext cx="599529" cy="186689"/>
          </a:xfrm>
          <a:prstGeom prst="rect">
            <a:avLst/>
          </a:prstGeom>
          <a:noFill/>
        </p:spPr>
        <p:txBody>
          <a:bodyPr wrap="none" lIns="0" tIns="0" rIns="0" bIns="0">
            <a:spAutoFit/>
          </a:bodyPr>
          <a:lstStyle/>
          <a:p>
            <a:r>
              <a:rPr sz="1100" b="0">
                <a:solidFill>
                  <a:srgbClr val="2E2E2E"/>
                </a:solidFill>
                <a:latin typeface="Calibri"/>
              </a:rPr>
              <a:t>US$ Mn (</a:t>
            </a:r>
          </a:p>
        </p:txBody>
      </p:sp>
      <p:pic>
        <p:nvPicPr>
          <p:cNvPr id="55" name="Picture 54" descr="lock.png"/>
          <p:cNvPicPr>
            <a:picLocks noChangeAspect="1"/>
          </p:cNvPicPr>
          <p:nvPr/>
        </p:nvPicPr>
        <p:blipFill>
          <a:blip r:embed="rId9"/>
          <a:stretch>
            <a:fillRect/>
          </a:stretch>
        </p:blipFill>
        <p:spPr>
          <a:xfrm>
            <a:off x="6124404" y="5636259"/>
            <a:ext cx="128699" cy="187198"/>
          </a:xfrm>
          <a:prstGeom prst="rect">
            <a:avLst/>
          </a:prstGeom>
        </p:spPr>
      </p:pic>
      <p:sp>
        <p:nvSpPr>
          <p:cNvPr id="56" name="TextBox 55"/>
          <p:cNvSpPr txBox="1"/>
          <p:nvPr/>
        </p:nvSpPr>
        <p:spPr>
          <a:xfrm>
            <a:off x="6291900" y="5646039"/>
            <a:ext cx="2713583" cy="186689"/>
          </a:xfrm>
          <a:prstGeom prst="rect">
            <a:avLst/>
          </a:prstGeom>
          <a:noFill/>
        </p:spPr>
        <p:txBody>
          <a:bodyPr wrap="none" lIns="0" tIns="0" rIns="0" bIns="0">
            <a:spAutoFit/>
          </a:bodyPr>
          <a:lstStyle/>
          <a:p>
            <a:r>
              <a:rPr sz="1100" b="0">
                <a:solidFill>
                  <a:srgbClr val="2E2E2E"/>
                </a:solidFill>
                <a:latin typeface="Calibri"/>
              </a:rPr>
              <a:t>share), ahead of 'Routine Cognitive Wellness' (</a:t>
            </a:r>
          </a:p>
        </p:txBody>
      </p:sp>
      <p:pic>
        <p:nvPicPr>
          <p:cNvPr id="57" name="Picture 56" descr="lock.png"/>
          <p:cNvPicPr>
            <a:picLocks noChangeAspect="1"/>
          </p:cNvPicPr>
          <p:nvPr/>
        </p:nvPicPr>
        <p:blipFill>
          <a:blip r:embed="rId9"/>
          <a:stretch>
            <a:fillRect/>
          </a:stretch>
        </p:blipFill>
        <p:spPr>
          <a:xfrm>
            <a:off x="8953535" y="5636259"/>
            <a:ext cx="128699" cy="187198"/>
          </a:xfrm>
          <a:prstGeom prst="rect">
            <a:avLst/>
          </a:prstGeom>
        </p:spPr>
      </p:pic>
      <p:sp>
        <p:nvSpPr>
          <p:cNvPr id="58" name="TextBox 57"/>
          <p:cNvSpPr txBox="1"/>
          <p:nvPr/>
        </p:nvSpPr>
        <p:spPr>
          <a:xfrm>
            <a:off x="9121031" y="5646039"/>
            <a:ext cx="603076" cy="186689"/>
          </a:xfrm>
          <a:prstGeom prst="rect">
            <a:avLst/>
          </a:prstGeom>
          <a:noFill/>
        </p:spPr>
        <p:txBody>
          <a:bodyPr wrap="none" lIns="0" tIns="0" rIns="0" bIns="0">
            <a:spAutoFit/>
          </a:bodyPr>
          <a:lstStyle/>
          <a:p>
            <a:r>
              <a:rPr sz="1100" b="0">
                <a:solidFill>
                  <a:srgbClr val="2E2E2E"/>
                </a:solidFill>
                <a:latin typeface="Calibri"/>
              </a:rPr>
              <a:t>US$ Mn).</a:t>
            </a:r>
          </a:p>
        </p:txBody>
      </p:sp>
      <p:sp>
        <p:nvSpPr>
          <p:cNvPr id="59" name="TextBox 58"/>
          <p:cNvSpPr txBox="1"/>
          <p:nvPr/>
        </p:nvSpPr>
        <p:spPr>
          <a:xfrm>
            <a:off x="276225" y="5863971"/>
            <a:ext cx="2648320" cy="186689"/>
          </a:xfrm>
          <a:prstGeom prst="rect">
            <a:avLst/>
          </a:prstGeom>
          <a:noFill/>
        </p:spPr>
        <p:txBody>
          <a:bodyPr wrap="none" lIns="0" tIns="0" rIns="0" bIns="0">
            <a:spAutoFit/>
          </a:bodyPr>
          <a:lstStyle/>
          <a:p>
            <a:r>
              <a:rPr sz="1100" b="0">
                <a:solidFill>
                  <a:srgbClr val="2E2E2E"/>
                </a:solidFill>
                <a:latin typeface="Calibri"/>
              </a:rPr>
              <a:t>▪ By Packaging Format, 'Blister Packs' leads at</a:t>
            </a:r>
          </a:p>
        </p:txBody>
      </p:sp>
      <p:pic>
        <p:nvPicPr>
          <p:cNvPr id="60" name="Picture 59" descr="lock.png"/>
          <p:cNvPicPr>
            <a:picLocks noChangeAspect="1"/>
          </p:cNvPicPr>
          <p:nvPr/>
        </p:nvPicPr>
        <p:blipFill>
          <a:blip r:embed="rId9"/>
          <a:stretch>
            <a:fillRect/>
          </a:stretch>
        </p:blipFill>
        <p:spPr>
          <a:xfrm>
            <a:off x="2872597" y="5854191"/>
            <a:ext cx="128699" cy="187198"/>
          </a:xfrm>
          <a:prstGeom prst="rect">
            <a:avLst/>
          </a:prstGeom>
        </p:spPr>
      </p:pic>
      <p:sp>
        <p:nvSpPr>
          <p:cNvPr id="61" name="TextBox 60"/>
          <p:cNvSpPr txBox="1"/>
          <p:nvPr/>
        </p:nvSpPr>
        <p:spPr>
          <a:xfrm>
            <a:off x="3040092" y="5863971"/>
            <a:ext cx="599529" cy="186689"/>
          </a:xfrm>
          <a:prstGeom prst="rect">
            <a:avLst/>
          </a:prstGeom>
          <a:noFill/>
        </p:spPr>
        <p:txBody>
          <a:bodyPr wrap="none" lIns="0" tIns="0" rIns="0" bIns="0">
            <a:spAutoFit/>
          </a:bodyPr>
          <a:lstStyle/>
          <a:p>
            <a:r>
              <a:rPr sz="1100" b="0">
                <a:solidFill>
                  <a:srgbClr val="2E2E2E"/>
                </a:solidFill>
                <a:latin typeface="Calibri"/>
              </a:rPr>
              <a:t>US$ Mn (</a:t>
            </a:r>
          </a:p>
        </p:txBody>
      </p:sp>
      <p:pic>
        <p:nvPicPr>
          <p:cNvPr id="62" name="Picture 61" descr="lock.png"/>
          <p:cNvPicPr>
            <a:picLocks noChangeAspect="1"/>
          </p:cNvPicPr>
          <p:nvPr/>
        </p:nvPicPr>
        <p:blipFill>
          <a:blip r:embed="rId9"/>
          <a:stretch>
            <a:fillRect/>
          </a:stretch>
        </p:blipFill>
        <p:spPr>
          <a:xfrm>
            <a:off x="3587673" y="5854191"/>
            <a:ext cx="128699" cy="187198"/>
          </a:xfrm>
          <a:prstGeom prst="rect">
            <a:avLst/>
          </a:prstGeom>
        </p:spPr>
      </p:pic>
      <p:sp>
        <p:nvSpPr>
          <p:cNvPr id="63" name="TextBox 62"/>
          <p:cNvSpPr txBox="1"/>
          <p:nvPr/>
        </p:nvSpPr>
        <p:spPr>
          <a:xfrm>
            <a:off x="3755169" y="5863971"/>
            <a:ext cx="1684932" cy="186689"/>
          </a:xfrm>
          <a:prstGeom prst="rect">
            <a:avLst/>
          </a:prstGeom>
          <a:noFill/>
        </p:spPr>
        <p:txBody>
          <a:bodyPr wrap="none" lIns="0" tIns="0" rIns="0" bIns="0">
            <a:spAutoFit/>
          </a:bodyPr>
          <a:lstStyle/>
          <a:p>
            <a:r>
              <a:rPr sz="1100" b="0">
                <a:solidFill>
                  <a:srgbClr val="2E2E2E"/>
                </a:solidFill>
                <a:latin typeface="Calibri"/>
              </a:rPr>
              <a:t>share), ahead of 'Canisters' (</a:t>
            </a:r>
          </a:p>
        </p:txBody>
      </p:sp>
      <p:pic>
        <p:nvPicPr>
          <p:cNvPr id="64" name="Picture 63" descr="lock.png"/>
          <p:cNvPicPr>
            <a:picLocks noChangeAspect="1"/>
          </p:cNvPicPr>
          <p:nvPr/>
        </p:nvPicPr>
        <p:blipFill>
          <a:blip r:embed="rId9"/>
          <a:stretch>
            <a:fillRect/>
          </a:stretch>
        </p:blipFill>
        <p:spPr>
          <a:xfrm>
            <a:off x="5388154" y="5854191"/>
            <a:ext cx="128699" cy="187198"/>
          </a:xfrm>
          <a:prstGeom prst="rect">
            <a:avLst/>
          </a:prstGeom>
        </p:spPr>
      </p:pic>
      <p:sp>
        <p:nvSpPr>
          <p:cNvPr id="65" name="TextBox 64"/>
          <p:cNvSpPr txBox="1"/>
          <p:nvPr/>
        </p:nvSpPr>
        <p:spPr>
          <a:xfrm>
            <a:off x="5555649" y="5863971"/>
            <a:ext cx="603076" cy="186689"/>
          </a:xfrm>
          <a:prstGeom prst="rect">
            <a:avLst/>
          </a:prstGeom>
          <a:noFill/>
        </p:spPr>
        <p:txBody>
          <a:bodyPr wrap="none" lIns="0" tIns="0" rIns="0" bIns="0">
            <a:spAutoFit/>
          </a:bodyPr>
          <a:lstStyle/>
          <a:p>
            <a:r>
              <a:rPr sz="1100" b="0">
                <a:solidFill>
                  <a:srgbClr val="2E2E2E"/>
                </a:solidFill>
                <a:latin typeface="Calibri"/>
              </a:rPr>
              <a:t>US$ Mn).</a:t>
            </a:r>
          </a:p>
        </p:txBody>
      </p:sp>
      <p:sp>
        <p:nvSpPr>
          <p:cNvPr id="66" name="TextBox 65"/>
          <p:cNvSpPr txBox="1"/>
          <p:nvPr/>
        </p:nvSpPr>
        <p:spPr>
          <a:xfrm>
            <a:off x="276225" y="6081903"/>
            <a:ext cx="2860901" cy="186689"/>
          </a:xfrm>
          <a:prstGeom prst="rect">
            <a:avLst/>
          </a:prstGeom>
          <a:noFill/>
        </p:spPr>
        <p:txBody>
          <a:bodyPr wrap="none" lIns="0" tIns="0" rIns="0" bIns="0">
            <a:spAutoFit/>
          </a:bodyPr>
          <a:lstStyle/>
          <a:p>
            <a:r>
              <a:rPr sz="1100" b="0">
                <a:solidFill>
                  <a:srgbClr val="2E2E2E"/>
                </a:solidFill>
                <a:latin typeface="Calibri"/>
              </a:rPr>
              <a:t>▪ By Sales Channel, 'Veterinary Channels' leads at</a:t>
            </a:r>
          </a:p>
        </p:txBody>
      </p:sp>
      <p:pic>
        <p:nvPicPr>
          <p:cNvPr id="67" name="Picture 66" descr="lock.png"/>
          <p:cNvPicPr>
            <a:picLocks noChangeAspect="1"/>
          </p:cNvPicPr>
          <p:nvPr/>
        </p:nvPicPr>
        <p:blipFill>
          <a:blip r:embed="rId9"/>
          <a:stretch>
            <a:fillRect/>
          </a:stretch>
        </p:blipFill>
        <p:spPr>
          <a:xfrm>
            <a:off x="3085178" y="6072123"/>
            <a:ext cx="128699" cy="187198"/>
          </a:xfrm>
          <a:prstGeom prst="rect">
            <a:avLst/>
          </a:prstGeom>
        </p:spPr>
      </p:pic>
      <p:sp>
        <p:nvSpPr>
          <p:cNvPr id="68" name="TextBox 67"/>
          <p:cNvSpPr txBox="1"/>
          <p:nvPr/>
        </p:nvSpPr>
        <p:spPr>
          <a:xfrm>
            <a:off x="3252674" y="6081903"/>
            <a:ext cx="599529" cy="186689"/>
          </a:xfrm>
          <a:prstGeom prst="rect">
            <a:avLst/>
          </a:prstGeom>
          <a:noFill/>
        </p:spPr>
        <p:txBody>
          <a:bodyPr wrap="none" lIns="0" tIns="0" rIns="0" bIns="0">
            <a:spAutoFit/>
          </a:bodyPr>
          <a:lstStyle/>
          <a:p>
            <a:r>
              <a:rPr sz="1100" b="0">
                <a:solidFill>
                  <a:srgbClr val="2E2E2E"/>
                </a:solidFill>
                <a:latin typeface="Calibri"/>
              </a:rPr>
              <a:t>US$ Mn (</a:t>
            </a:r>
          </a:p>
        </p:txBody>
      </p:sp>
      <p:pic>
        <p:nvPicPr>
          <p:cNvPr id="69" name="Picture 68" descr="lock.png"/>
          <p:cNvPicPr>
            <a:picLocks noChangeAspect="1"/>
          </p:cNvPicPr>
          <p:nvPr/>
        </p:nvPicPr>
        <p:blipFill>
          <a:blip r:embed="rId9"/>
          <a:stretch>
            <a:fillRect/>
          </a:stretch>
        </p:blipFill>
        <p:spPr>
          <a:xfrm>
            <a:off x="3800255" y="6072123"/>
            <a:ext cx="128699" cy="187198"/>
          </a:xfrm>
          <a:prstGeom prst="rect">
            <a:avLst/>
          </a:prstGeom>
        </p:spPr>
      </p:pic>
      <p:sp>
        <p:nvSpPr>
          <p:cNvPr id="70" name="TextBox 69"/>
          <p:cNvSpPr txBox="1"/>
          <p:nvPr/>
        </p:nvSpPr>
        <p:spPr>
          <a:xfrm>
            <a:off x="3967750" y="6081903"/>
            <a:ext cx="2699637" cy="186689"/>
          </a:xfrm>
          <a:prstGeom prst="rect">
            <a:avLst/>
          </a:prstGeom>
          <a:noFill/>
        </p:spPr>
        <p:txBody>
          <a:bodyPr wrap="none" lIns="0" tIns="0" rIns="0" bIns="0">
            <a:spAutoFit/>
          </a:bodyPr>
          <a:lstStyle/>
          <a:p>
            <a:r>
              <a:rPr sz="1100" b="0">
                <a:solidFill>
                  <a:srgbClr val="2E2E2E"/>
                </a:solidFill>
                <a:latin typeface="Calibri"/>
              </a:rPr>
              <a:t>share), ahead of 'Brand-Owned E-commerce' (</a:t>
            </a:r>
          </a:p>
        </p:txBody>
      </p:sp>
      <p:pic>
        <p:nvPicPr>
          <p:cNvPr id="71" name="Picture 70" descr="lock.png"/>
          <p:cNvPicPr>
            <a:picLocks noChangeAspect="1"/>
          </p:cNvPicPr>
          <p:nvPr/>
        </p:nvPicPr>
        <p:blipFill>
          <a:blip r:embed="rId9"/>
          <a:stretch>
            <a:fillRect/>
          </a:stretch>
        </p:blipFill>
        <p:spPr>
          <a:xfrm>
            <a:off x="6615440" y="6072123"/>
            <a:ext cx="128699" cy="187198"/>
          </a:xfrm>
          <a:prstGeom prst="rect">
            <a:avLst/>
          </a:prstGeom>
        </p:spPr>
      </p:pic>
      <p:sp>
        <p:nvSpPr>
          <p:cNvPr id="72" name="TextBox 71"/>
          <p:cNvSpPr txBox="1"/>
          <p:nvPr/>
        </p:nvSpPr>
        <p:spPr>
          <a:xfrm>
            <a:off x="6782936" y="6081903"/>
            <a:ext cx="603076" cy="186689"/>
          </a:xfrm>
          <a:prstGeom prst="rect">
            <a:avLst/>
          </a:prstGeom>
          <a:noFill/>
        </p:spPr>
        <p:txBody>
          <a:bodyPr wrap="none" lIns="0" tIns="0" rIns="0" bIns="0">
            <a:spAutoFit/>
          </a:bodyPr>
          <a:lstStyle/>
          <a:p>
            <a:r>
              <a:rPr sz="1100" b="0">
                <a:solidFill>
                  <a:srgbClr val="2E2E2E"/>
                </a:solidFill>
                <a:latin typeface="Calibri"/>
              </a:rPr>
              <a:t>US$ Mn).</a:t>
            </a:r>
          </a:p>
        </p:txBody>
      </p:sp>
      <p:sp>
        <p:nvSpPr>
          <p:cNvPr id="73" name="TextBox 72"/>
          <p:cNvSpPr txBox="1"/>
          <p:nvPr/>
        </p:nvSpPr>
        <p:spPr>
          <a:xfrm>
            <a:off x="276225" y="6299835"/>
            <a:ext cx="6677843" cy="186689"/>
          </a:xfrm>
          <a:prstGeom prst="rect">
            <a:avLst/>
          </a:prstGeom>
          <a:noFill/>
        </p:spPr>
        <p:txBody>
          <a:bodyPr wrap="none" lIns="0" tIns="0" rIns="0" bIns="0">
            <a:spAutoFit/>
          </a:bodyPr>
          <a:lstStyle/>
          <a:p>
            <a:r>
              <a:rPr sz="1100" b="0">
                <a:solidFill>
                  <a:srgbClr val="2E2E2E"/>
                </a:solidFill>
                <a:latin typeface="Calibri"/>
              </a:rPr>
              <a:t>▪ Use the Country slicer in the top band to switch country the selection stays synced across every page of the report.</a:t>
            </a:r>
          </a:p>
        </p:txBody>
      </p:sp>
      <p:sp>
        <p:nvSpPr>
          <p:cNvPr id="74" name="lockshield_12"/>
          <p:cNvSpPr/>
          <p:nvPr/>
        </p:nvSpPr>
        <p:spPr>
          <a:xfrm>
            <a:off x="2381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lockshield_15"/>
          <p:cNvSpPr/>
          <p:nvPr/>
        </p:nvSpPr>
        <p:spPr>
          <a:xfrm>
            <a:off x="32480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lockshield_18"/>
          <p:cNvSpPr/>
          <p:nvPr/>
        </p:nvSpPr>
        <p:spPr>
          <a:xfrm>
            <a:off x="62579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lockshield_21"/>
          <p:cNvSpPr/>
          <p:nvPr/>
        </p:nvSpPr>
        <p:spPr>
          <a:xfrm>
            <a:off x="92678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lockshield_24"/>
          <p:cNvSpPr/>
          <p:nvPr/>
        </p:nvSpPr>
        <p:spPr>
          <a:xfrm>
            <a:off x="238125" y="3171825"/>
            <a:ext cx="27813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Segment Overview (Volume &amp; Value)</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Form Type</a:t>
            </a:r>
          </a:p>
          <a:p>
            <a:pPr marL="342900" indent="-323850">
              <a:lnSpc>
                <a:spcPct val="100000"/>
              </a:lnSpc>
              <a:spcAft>
                <a:spcPts val="800"/>
              </a:spcAft>
            </a:pPr>
            <a:r>
              <a:rPr sz="2000" b="0">
                <a:solidFill>
                  <a:srgbClr val="000000"/>
                </a:solidFill>
                <a:latin typeface="Calibri"/>
              </a:rPr>
              <a:t>➤	Active Ingredient</a:t>
            </a:r>
          </a:p>
          <a:p>
            <a:pPr marL="342900" indent="-323850">
              <a:lnSpc>
                <a:spcPct val="100000"/>
              </a:lnSpc>
              <a:spcAft>
                <a:spcPts val="800"/>
              </a:spcAft>
            </a:pPr>
            <a:r>
              <a:rPr sz="2000" b="0">
                <a:solidFill>
                  <a:srgbClr val="000000"/>
                </a:solidFill>
                <a:latin typeface="Calibri"/>
              </a:rPr>
              <a:t>➤	End-use Application</a:t>
            </a:r>
          </a:p>
          <a:p>
            <a:pPr marL="342900" indent="-323850">
              <a:lnSpc>
                <a:spcPct val="100000"/>
              </a:lnSpc>
              <a:spcAft>
                <a:spcPts val="800"/>
              </a:spcAft>
            </a:pPr>
            <a:r>
              <a:rPr sz="2000" b="0">
                <a:solidFill>
                  <a:srgbClr val="000000"/>
                </a:solidFill>
                <a:latin typeface="Calibri"/>
              </a:rPr>
              <a:t>➤	Packaging Format</a:t>
            </a:r>
          </a:p>
          <a:p>
            <a:pPr marL="342900" indent="-323850">
              <a:lnSpc>
                <a:spcPct val="100000"/>
              </a:lnSpc>
              <a:spcAft>
                <a:spcPts val="800"/>
              </a:spcAft>
            </a:pPr>
            <a:r>
              <a:rPr sz="2000" b="0">
                <a:solidFill>
                  <a:srgbClr val="000000"/>
                </a:solidFill>
                <a:latin typeface="Calibri"/>
              </a:rPr>
              <a:t>➤	Sales Channel</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16.1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Form Type</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Segmental</a:t>
            </a:r>
          </a:p>
          <a:p>
            <a:pPr marL="342900" indent="-323850">
              <a:lnSpc>
                <a:spcPct val="100000"/>
              </a:lnSpc>
              <a:spcAft>
                <a:spcPts val="800"/>
              </a:spcAft>
            </a:pPr>
            <a:r>
              <a:rPr sz="2000" b="0">
                <a:solidFill>
                  <a:srgbClr val="000000"/>
                </a:solidFill>
                <a:latin typeface="Calibri"/>
              </a:rPr>
              <a:t>➤	Table (Volume &amp; Value)</a:t>
            </a:r>
          </a:p>
          <a:p>
            <a:pPr marL="342900" indent="-323850">
              <a:lnSpc>
                <a:spcPct val="100000"/>
              </a:lnSpc>
              <a:spcAft>
                <a:spcPts val="800"/>
              </a:spcAft>
            </a:pPr>
            <a:r>
              <a:rPr sz="2000" b="0">
                <a:solidFill>
                  <a:srgbClr val="000000"/>
                </a:solidFill>
                <a:latin typeface="Calibri"/>
              </a:rPr>
              <a:t>➤	YoY</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Segmental Analysis Form Type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U.K. segmental analysis by Form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Growth Contribution 2026 → 2036, By Form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Value Shares &amp; Variance, By Form Type</a:t>
            </a:r>
          </a:p>
        </p:txBody>
      </p:sp>
      <p:graphicFrame>
        <p:nvGraphicFramePr>
          <p:cNvPr id="15" name="Table 14"/>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593014">
                  <a:extLst>
                    <a:ext uri="{9D8B030D-6E8A-4147-A177-3AD203B41FA5}">
                      <a16:colId xmlns:a16="http://schemas.microsoft.com/office/drawing/2014/main" val="20000"/>
                    </a:ext>
                  </a:extLst>
                </a:gridCol>
                <a:gridCol w="1066215">
                  <a:extLst>
                    <a:ext uri="{9D8B030D-6E8A-4147-A177-3AD203B41FA5}">
                      <a16:colId xmlns:a16="http://schemas.microsoft.com/office/drawing/2014/main" val="20001"/>
                    </a:ext>
                  </a:extLst>
                </a:gridCol>
                <a:gridCol w="1066215">
                  <a:extLst>
                    <a:ext uri="{9D8B030D-6E8A-4147-A177-3AD203B41FA5}">
                      <a16:colId xmlns:a16="http://schemas.microsoft.com/office/drawing/2014/main" val="20002"/>
                    </a:ext>
                  </a:extLst>
                </a:gridCol>
                <a:gridCol w="1066215">
                  <a:extLst>
                    <a:ext uri="{9D8B030D-6E8A-4147-A177-3AD203B41FA5}">
                      <a16:colId xmlns:a16="http://schemas.microsoft.com/office/drawing/2014/main" val="20003"/>
                    </a:ext>
                  </a:extLst>
                </a:gridCol>
                <a:gridCol w="1066215">
                  <a:extLst>
                    <a:ext uri="{9D8B030D-6E8A-4147-A177-3AD203B41FA5}">
                      <a16:colId xmlns:a16="http://schemas.microsoft.com/office/drawing/2014/main" val="20004"/>
                    </a:ext>
                  </a:extLst>
                </a:gridCol>
              </a:tblGrid>
              <a:tr h="246126">
                <a:tc>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39979">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39979">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39979">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39979">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39979">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339979">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248400" y="3533775"/>
            <a:ext cx="57245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3924300"/>
            <a:ext cx="11520309"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Absolute $ Opportunity, By Form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720479"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Tables Form Type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of the U.K. market by Form Type,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Value, By Form Type (US$ Mn)</a:t>
            </a:r>
          </a:p>
        </p:txBody>
      </p:sp>
      <p:graphicFrame>
        <p:nvGraphicFramePr>
          <p:cNvPr id="16" name="Table 15"/>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597554">
                  <a:extLst>
                    <a:ext uri="{9D8B030D-6E8A-4147-A177-3AD203B41FA5}">
                      <a16:colId xmlns:a16="http://schemas.microsoft.com/office/drawing/2014/main" val="20000"/>
                    </a:ext>
                  </a:extLst>
                </a:gridCol>
                <a:gridCol w="605273">
                  <a:extLst>
                    <a:ext uri="{9D8B030D-6E8A-4147-A177-3AD203B41FA5}">
                      <a16:colId xmlns:a16="http://schemas.microsoft.com/office/drawing/2014/main" val="20001"/>
                    </a:ext>
                  </a:extLst>
                </a:gridCol>
                <a:gridCol w="605273">
                  <a:extLst>
                    <a:ext uri="{9D8B030D-6E8A-4147-A177-3AD203B41FA5}">
                      <a16:colId xmlns:a16="http://schemas.microsoft.com/office/drawing/2014/main" val="20002"/>
                    </a:ext>
                  </a:extLst>
                </a:gridCol>
                <a:gridCol w="605273">
                  <a:extLst>
                    <a:ext uri="{9D8B030D-6E8A-4147-A177-3AD203B41FA5}">
                      <a16:colId xmlns:a16="http://schemas.microsoft.com/office/drawing/2014/main" val="20003"/>
                    </a:ext>
                  </a:extLst>
                </a:gridCol>
                <a:gridCol w="605273">
                  <a:extLst>
                    <a:ext uri="{9D8B030D-6E8A-4147-A177-3AD203B41FA5}">
                      <a16:colId xmlns:a16="http://schemas.microsoft.com/office/drawing/2014/main" val="20004"/>
                    </a:ext>
                  </a:extLst>
                </a:gridCol>
                <a:gridCol w="605273">
                  <a:extLst>
                    <a:ext uri="{9D8B030D-6E8A-4147-A177-3AD203B41FA5}">
                      <a16:colId xmlns:a16="http://schemas.microsoft.com/office/drawing/2014/main" val="20005"/>
                    </a:ext>
                  </a:extLst>
                </a:gridCol>
                <a:gridCol w="605273">
                  <a:extLst>
                    <a:ext uri="{9D8B030D-6E8A-4147-A177-3AD203B41FA5}">
                      <a16:colId xmlns:a16="http://schemas.microsoft.com/office/drawing/2014/main" val="20006"/>
                    </a:ext>
                  </a:extLst>
                </a:gridCol>
                <a:gridCol w="605273">
                  <a:extLst>
                    <a:ext uri="{9D8B030D-6E8A-4147-A177-3AD203B41FA5}">
                      <a16:colId xmlns:a16="http://schemas.microsoft.com/office/drawing/2014/main" val="20007"/>
                    </a:ext>
                  </a:extLst>
                </a:gridCol>
                <a:gridCol w="605273">
                  <a:extLst>
                    <a:ext uri="{9D8B030D-6E8A-4147-A177-3AD203B41FA5}">
                      <a16:colId xmlns:a16="http://schemas.microsoft.com/office/drawing/2014/main" val="20008"/>
                    </a:ext>
                  </a:extLst>
                </a:gridCol>
                <a:gridCol w="605273">
                  <a:extLst>
                    <a:ext uri="{9D8B030D-6E8A-4147-A177-3AD203B41FA5}">
                      <a16:colId xmlns:a16="http://schemas.microsoft.com/office/drawing/2014/main" val="20009"/>
                    </a:ext>
                  </a:extLst>
                </a:gridCol>
                <a:gridCol w="605273">
                  <a:extLst>
                    <a:ext uri="{9D8B030D-6E8A-4147-A177-3AD203B41FA5}">
                      <a16:colId xmlns:a16="http://schemas.microsoft.com/office/drawing/2014/main" val="20010"/>
                    </a:ext>
                  </a:extLst>
                </a:gridCol>
                <a:gridCol w="605273">
                  <a:extLst>
                    <a:ext uri="{9D8B030D-6E8A-4147-A177-3AD203B41FA5}">
                      <a16:colId xmlns:a16="http://schemas.microsoft.com/office/drawing/2014/main" val="20011"/>
                    </a:ext>
                  </a:extLst>
                </a:gridCol>
                <a:gridCol w="605273">
                  <a:extLst>
                    <a:ext uri="{9D8B030D-6E8A-4147-A177-3AD203B41FA5}">
                      <a16:colId xmlns:a16="http://schemas.microsoft.com/office/drawing/2014/main" val="20012"/>
                    </a:ext>
                  </a:extLst>
                </a:gridCol>
                <a:gridCol w="605273">
                  <a:extLst>
                    <a:ext uri="{9D8B030D-6E8A-4147-A177-3AD203B41FA5}">
                      <a16:colId xmlns:a16="http://schemas.microsoft.com/office/drawing/2014/main" val="20013"/>
                    </a:ext>
                  </a:extLst>
                </a:gridCol>
                <a:gridCol w="605273">
                  <a:extLst>
                    <a:ext uri="{9D8B030D-6E8A-4147-A177-3AD203B41FA5}">
                      <a16:colId xmlns:a16="http://schemas.microsoft.com/office/drawing/2014/main" val="20014"/>
                    </a:ext>
                  </a:extLst>
                </a:gridCol>
                <a:gridCol w="605273">
                  <a:extLst>
                    <a:ext uri="{9D8B030D-6E8A-4147-A177-3AD203B41FA5}">
                      <a16:colId xmlns:a16="http://schemas.microsoft.com/office/drawing/2014/main" val="20015"/>
                    </a:ext>
                  </a:extLst>
                </a:gridCol>
                <a:gridCol w="605273">
                  <a:extLst>
                    <a:ext uri="{9D8B030D-6E8A-4147-A177-3AD203B41FA5}">
                      <a16:colId xmlns:a16="http://schemas.microsoft.com/office/drawing/2014/main" val="20016"/>
                    </a:ext>
                  </a:extLst>
                </a:gridCol>
                <a:gridCol w="605273">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7" name="TextBox 16"/>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708084" y="2080450"/>
            <a:ext cx="366712" cy="533400"/>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16.2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Active Ingredient</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Segmental</a:t>
            </a:r>
          </a:p>
          <a:p>
            <a:pPr marL="342900" indent="-323850">
              <a:lnSpc>
                <a:spcPct val="100000"/>
              </a:lnSpc>
              <a:spcAft>
                <a:spcPts val="800"/>
              </a:spcAft>
            </a:pPr>
            <a:r>
              <a:rPr sz="2000" b="0">
                <a:solidFill>
                  <a:srgbClr val="000000"/>
                </a:solidFill>
                <a:latin typeface="Calibri"/>
              </a:rPr>
              <a:t>➤	Table (Volume &amp; Value)</a:t>
            </a:r>
          </a:p>
          <a:p>
            <a:pPr marL="342900" indent="-323850">
              <a:lnSpc>
                <a:spcPct val="100000"/>
              </a:lnSpc>
              <a:spcAft>
                <a:spcPts val="800"/>
              </a:spcAft>
            </a:pPr>
            <a:r>
              <a:rPr sz="2000" b="0">
                <a:solidFill>
                  <a:srgbClr val="000000"/>
                </a:solidFill>
                <a:latin typeface="Calibri"/>
              </a:rPr>
              <a:t>➤	YoY</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Segmental Analysis Active Ingredient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U.K. segmental analysis by Active Ingredient: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Growth Contribution 2026 → 2036, By Active Ingredient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Value Shares &amp; Variance, By Active Ingredient</a:t>
            </a:r>
          </a:p>
        </p:txBody>
      </p:sp>
      <p:graphicFrame>
        <p:nvGraphicFramePr>
          <p:cNvPr id="15" name="Table 14"/>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2462352">
                  <a:extLst>
                    <a:ext uri="{9D8B030D-6E8A-4147-A177-3AD203B41FA5}">
                      <a16:colId xmlns:a16="http://schemas.microsoft.com/office/drawing/2014/main" val="20000"/>
                    </a:ext>
                  </a:extLst>
                </a:gridCol>
                <a:gridCol w="853623">
                  <a:extLst>
                    <a:ext uri="{9D8B030D-6E8A-4147-A177-3AD203B41FA5}">
                      <a16:colId xmlns:a16="http://schemas.microsoft.com/office/drawing/2014/main" val="20001"/>
                    </a:ext>
                  </a:extLst>
                </a:gridCol>
                <a:gridCol w="853623">
                  <a:extLst>
                    <a:ext uri="{9D8B030D-6E8A-4147-A177-3AD203B41FA5}">
                      <a16:colId xmlns:a16="http://schemas.microsoft.com/office/drawing/2014/main" val="20002"/>
                    </a:ext>
                  </a:extLst>
                </a:gridCol>
                <a:gridCol w="1078034">
                  <a:extLst>
                    <a:ext uri="{9D8B030D-6E8A-4147-A177-3AD203B41FA5}">
                      <a16:colId xmlns:a16="http://schemas.microsoft.com/office/drawing/2014/main" val="20003"/>
                    </a:ext>
                  </a:extLst>
                </a:gridCol>
                <a:gridCol w="610243">
                  <a:extLst>
                    <a:ext uri="{9D8B030D-6E8A-4147-A177-3AD203B41FA5}">
                      <a16:colId xmlns:a16="http://schemas.microsoft.com/office/drawing/2014/main" val="20004"/>
                    </a:ext>
                  </a:extLst>
                </a:gridCol>
              </a:tblGrid>
              <a:tr h="246126">
                <a:tc>
                  <a:txBody>
                    <a:bodyPr/>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39979">
                <a:tc>
                  <a:txBody>
                    <a:bodyPr/>
                    <a:lstStyle/>
                    <a:p>
                      <a:pPr algn="l"/>
                      <a:r>
                        <a:rPr sz="1100" b="1">
                          <a:solidFill>
                            <a:srgbClr val="2E2E2E"/>
                          </a:solidFill>
                          <a:latin typeface="Calibri"/>
                        </a:rPr>
                        <a:t>Omega-3 Fatty Acids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39979">
                <a:tc>
                  <a:txBody>
                    <a:bodyPr/>
                    <a:lstStyle/>
                    <a:p>
                      <a:pPr algn="l"/>
                      <a:r>
                        <a:rPr sz="1100" b="1">
                          <a:solidFill>
                            <a:srgbClr val="2E2E2E"/>
                          </a:solidFill>
                          <a:latin typeface="Calibri"/>
                        </a:rPr>
                        <a:t>Antioxidant Ingredients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39979">
                <a:tc>
                  <a:txBody>
                    <a:bodyPr/>
                    <a:lstStyle/>
                    <a:p>
                      <a:pPr algn="l"/>
                      <a:r>
                        <a:rPr sz="1100" b="1">
                          <a:solidFill>
                            <a:srgbClr val="2E2E2E"/>
                          </a:solidFill>
                          <a:latin typeface="Calibri"/>
                        </a:rPr>
                        <a:t>Neurofunctional Nutrients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39979">
                <a:tc>
                  <a:txBody>
                    <a:bodyPr/>
                    <a:lstStyle/>
                    <a:p>
                      <a:pPr algn="l"/>
                      <a:r>
                        <a:rPr sz="1100" b="1">
                          <a:solidFill>
                            <a:srgbClr val="2E2E2E"/>
                          </a:solidFill>
                          <a:latin typeface="Calibri"/>
                        </a:rPr>
                        <a:t>Cellular Energy Support Ingredients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39979">
                <a:tc>
                  <a:txBody>
                    <a:bodyPr/>
                    <a:lstStyle/>
                    <a:p>
                      <a:pPr algn="l"/>
                      <a:r>
                        <a:rPr sz="1100" b="1">
                          <a:solidFill>
                            <a:srgbClr val="2E2E2E"/>
                          </a:solidFill>
                          <a:latin typeface="Calibri"/>
                        </a:rPr>
                        <a:t>Botanical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339979">
                <a:tc>
                  <a:txBody>
                    <a:bodyPr/>
                    <a:lstStyle/>
                    <a:p>
                      <a:pPr algn="l"/>
                      <a:r>
                        <a:rPr sz="1100" b="1">
                          <a:solidFill>
                            <a:srgbClr val="2E2E2E"/>
                          </a:solidFill>
                          <a:latin typeface="Calibri"/>
                        </a:rPr>
                        <a:t>Microbiome-Targeted Ingredients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248400" y="3533775"/>
            <a:ext cx="57245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3924300"/>
            <a:ext cx="11520309"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Absolute $ Opportunity, By Active Ingredient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155148"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Tables Active Ingredient (1/3)</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of the U.K. market by Active Ingredient, 2021–2036</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Tables Active Ingredient (2/3)</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of the U.K. market by Active Ingredient, 2021–2036</a:t>
            </a:r>
          </a:p>
        </p:txBody>
      </p:sp>
      <p:sp>
        <p:nvSpPr>
          <p:cNvPr id="14" name="Rounded Rectangle 13"/>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Value, By Active Ingredient (US$ Mn)</a:t>
            </a:r>
          </a:p>
        </p:txBody>
      </p:sp>
      <p:graphicFrame>
        <p:nvGraphicFramePr>
          <p:cNvPr id="16" name="Table 15"/>
          <p:cNvGraphicFramePr>
            <a:graphicFrameLocks noGrp="1"/>
          </p:cNvGraphicFramePr>
          <p:nvPr/>
        </p:nvGraphicFramePr>
        <p:xfrm>
          <a:off x="152400" y="1238250"/>
          <a:ext cx="11887207" cy="2466975"/>
        </p:xfrm>
        <a:graphic>
          <a:graphicData uri="http://schemas.openxmlformats.org/drawingml/2006/table">
            <a:tbl>
              <a:tblPr>
                <a:tableStyleId>{5C22544A-7EE6-4342-B048-85BDC9FD1C3A}</a:tableStyleId>
              </a:tblPr>
              <a:tblGrid>
                <a:gridCol w="1773244">
                  <a:extLst>
                    <a:ext uri="{9D8B030D-6E8A-4147-A177-3AD203B41FA5}">
                      <a16:colId xmlns:a16="http://schemas.microsoft.com/office/drawing/2014/main" val="20000"/>
                    </a:ext>
                  </a:extLst>
                </a:gridCol>
                <a:gridCol w="594939">
                  <a:extLst>
                    <a:ext uri="{9D8B030D-6E8A-4147-A177-3AD203B41FA5}">
                      <a16:colId xmlns:a16="http://schemas.microsoft.com/office/drawing/2014/main" val="20001"/>
                    </a:ext>
                  </a:extLst>
                </a:gridCol>
                <a:gridCol w="594939">
                  <a:extLst>
                    <a:ext uri="{9D8B030D-6E8A-4147-A177-3AD203B41FA5}">
                      <a16:colId xmlns:a16="http://schemas.microsoft.com/office/drawing/2014/main" val="20002"/>
                    </a:ext>
                  </a:extLst>
                </a:gridCol>
                <a:gridCol w="594939">
                  <a:extLst>
                    <a:ext uri="{9D8B030D-6E8A-4147-A177-3AD203B41FA5}">
                      <a16:colId xmlns:a16="http://schemas.microsoft.com/office/drawing/2014/main" val="20003"/>
                    </a:ext>
                  </a:extLst>
                </a:gridCol>
                <a:gridCol w="594939">
                  <a:extLst>
                    <a:ext uri="{9D8B030D-6E8A-4147-A177-3AD203B41FA5}">
                      <a16:colId xmlns:a16="http://schemas.microsoft.com/office/drawing/2014/main" val="20004"/>
                    </a:ext>
                  </a:extLst>
                </a:gridCol>
                <a:gridCol w="594939">
                  <a:extLst>
                    <a:ext uri="{9D8B030D-6E8A-4147-A177-3AD203B41FA5}">
                      <a16:colId xmlns:a16="http://schemas.microsoft.com/office/drawing/2014/main" val="20005"/>
                    </a:ext>
                  </a:extLst>
                </a:gridCol>
                <a:gridCol w="594939">
                  <a:extLst>
                    <a:ext uri="{9D8B030D-6E8A-4147-A177-3AD203B41FA5}">
                      <a16:colId xmlns:a16="http://schemas.microsoft.com/office/drawing/2014/main" val="20006"/>
                    </a:ext>
                  </a:extLst>
                </a:gridCol>
                <a:gridCol w="594939">
                  <a:extLst>
                    <a:ext uri="{9D8B030D-6E8A-4147-A177-3AD203B41FA5}">
                      <a16:colId xmlns:a16="http://schemas.microsoft.com/office/drawing/2014/main" val="20007"/>
                    </a:ext>
                  </a:extLst>
                </a:gridCol>
                <a:gridCol w="594939">
                  <a:extLst>
                    <a:ext uri="{9D8B030D-6E8A-4147-A177-3AD203B41FA5}">
                      <a16:colId xmlns:a16="http://schemas.microsoft.com/office/drawing/2014/main" val="20008"/>
                    </a:ext>
                  </a:extLst>
                </a:gridCol>
                <a:gridCol w="594939">
                  <a:extLst>
                    <a:ext uri="{9D8B030D-6E8A-4147-A177-3AD203B41FA5}">
                      <a16:colId xmlns:a16="http://schemas.microsoft.com/office/drawing/2014/main" val="20009"/>
                    </a:ext>
                  </a:extLst>
                </a:gridCol>
                <a:gridCol w="594939">
                  <a:extLst>
                    <a:ext uri="{9D8B030D-6E8A-4147-A177-3AD203B41FA5}">
                      <a16:colId xmlns:a16="http://schemas.microsoft.com/office/drawing/2014/main" val="20010"/>
                    </a:ext>
                  </a:extLst>
                </a:gridCol>
                <a:gridCol w="594939">
                  <a:extLst>
                    <a:ext uri="{9D8B030D-6E8A-4147-A177-3AD203B41FA5}">
                      <a16:colId xmlns:a16="http://schemas.microsoft.com/office/drawing/2014/main" val="20011"/>
                    </a:ext>
                  </a:extLst>
                </a:gridCol>
                <a:gridCol w="594939">
                  <a:extLst>
                    <a:ext uri="{9D8B030D-6E8A-4147-A177-3AD203B41FA5}">
                      <a16:colId xmlns:a16="http://schemas.microsoft.com/office/drawing/2014/main" val="20012"/>
                    </a:ext>
                  </a:extLst>
                </a:gridCol>
                <a:gridCol w="594939">
                  <a:extLst>
                    <a:ext uri="{9D8B030D-6E8A-4147-A177-3AD203B41FA5}">
                      <a16:colId xmlns:a16="http://schemas.microsoft.com/office/drawing/2014/main" val="20013"/>
                    </a:ext>
                  </a:extLst>
                </a:gridCol>
                <a:gridCol w="594939">
                  <a:extLst>
                    <a:ext uri="{9D8B030D-6E8A-4147-A177-3AD203B41FA5}">
                      <a16:colId xmlns:a16="http://schemas.microsoft.com/office/drawing/2014/main" val="20014"/>
                    </a:ext>
                  </a:extLst>
                </a:gridCol>
                <a:gridCol w="594939">
                  <a:extLst>
                    <a:ext uri="{9D8B030D-6E8A-4147-A177-3AD203B41FA5}">
                      <a16:colId xmlns:a16="http://schemas.microsoft.com/office/drawing/2014/main" val="20015"/>
                    </a:ext>
                  </a:extLst>
                </a:gridCol>
                <a:gridCol w="594939">
                  <a:extLst>
                    <a:ext uri="{9D8B030D-6E8A-4147-A177-3AD203B41FA5}">
                      <a16:colId xmlns:a16="http://schemas.microsoft.com/office/drawing/2014/main" val="20016"/>
                    </a:ext>
                  </a:extLst>
                </a:gridCol>
                <a:gridCol w="594939">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761">
                <a:tc>
                  <a:txBody>
                    <a:bodyPr/>
                    <a:lstStyle/>
                    <a:p>
                      <a:pPr algn="l"/>
                      <a:r>
                        <a:rPr sz="1100" b="1">
                          <a:solidFill>
                            <a:srgbClr val="2E2E2E"/>
                          </a:solidFill>
                          <a:latin typeface="Calibri"/>
                        </a:rPr>
                        <a:t>Omega-3 Fatty Acids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761">
                <a:tc>
                  <a:txBody>
                    <a:bodyPr/>
                    <a:lstStyle/>
                    <a:p>
                      <a:pPr algn="l"/>
                      <a:r>
                        <a:rPr sz="1100" b="1">
                          <a:solidFill>
                            <a:srgbClr val="2E2E2E"/>
                          </a:solidFill>
                          <a:latin typeface="Calibri"/>
                        </a:rPr>
                        <a:t>– DHA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761">
                <a:tc>
                  <a:txBody>
                    <a:bodyPr/>
                    <a:lstStyle/>
                    <a:p>
                      <a:pPr algn="l"/>
                      <a:r>
                        <a:rPr sz="1100" b="1">
                          <a:solidFill>
                            <a:srgbClr val="2E2E2E"/>
                          </a:solidFill>
                          <a:latin typeface="Calibri"/>
                        </a:rPr>
                        <a:t>– EPA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761">
                <a:tc>
                  <a:txBody>
                    <a:bodyPr/>
                    <a:lstStyle/>
                    <a:p>
                      <a:pPr algn="l"/>
                      <a:r>
                        <a:rPr sz="1100" b="1">
                          <a:solidFill>
                            <a:srgbClr val="2E2E2E"/>
                          </a:solidFill>
                          <a:latin typeface="Calibri"/>
                        </a:rPr>
                        <a:t>– DHA–EPA Combinations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761">
                <a:tc>
                  <a:txBody>
                    <a:bodyPr/>
                    <a:lstStyle/>
                    <a:p>
                      <a:pPr algn="l"/>
                      <a:r>
                        <a:rPr sz="1100" b="1">
                          <a:solidFill>
                            <a:srgbClr val="2E2E2E"/>
                          </a:solidFill>
                          <a:latin typeface="Calibri"/>
                        </a:rPr>
                        <a:t>Antioxidant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761">
                <a:tc>
                  <a:txBody>
                    <a:bodyPr/>
                    <a:lstStyle/>
                    <a:p>
                      <a:pPr algn="l"/>
                      <a:r>
                        <a:rPr sz="1100" b="1">
                          <a:solidFill>
                            <a:srgbClr val="2E2E2E"/>
                          </a:solidFill>
                          <a:latin typeface="Calibri"/>
                        </a:rPr>
                        <a:t>– Vitamin 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761">
                <a:tc>
                  <a:txBody>
                    <a:bodyPr/>
                    <a:lstStyle/>
                    <a:p>
                      <a:pPr algn="l"/>
                      <a:r>
                        <a:rPr sz="1100" b="1">
                          <a:solidFill>
                            <a:srgbClr val="2E2E2E"/>
                          </a:solidFill>
                          <a:latin typeface="Calibri"/>
                        </a:rPr>
                        <a:t>– Vitamin C</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7"/>
                  </a:ext>
                </a:extLst>
              </a:tr>
              <a:tr h="246761">
                <a:tc>
                  <a:txBody>
                    <a:bodyPr/>
                    <a:lstStyle/>
                    <a:p>
                      <a:pPr algn="l"/>
                      <a:r>
                        <a:rPr sz="1100" b="1">
                          <a:solidFill>
                            <a:srgbClr val="2E2E2E"/>
                          </a:solidFill>
                          <a:latin typeface="Calibri"/>
                        </a:rPr>
                        <a:t>– Selenium</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8"/>
                  </a:ext>
                </a:extLst>
              </a:tr>
              <a:tr h="246761">
                <a:tc>
                  <a:txBody>
                    <a:bodyPr/>
                    <a:lstStyle/>
                    <a:p>
                      <a:pPr algn="l"/>
                      <a:r>
                        <a:rPr sz="1100" b="1">
                          <a:solidFill>
                            <a:srgbClr val="2E2E2E"/>
                          </a:solidFill>
                          <a:latin typeface="Calibri"/>
                        </a:rPr>
                        <a:t>– Other Antioxidants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9"/>
                  </a:ext>
                </a:extLst>
              </a:tr>
            </a:tbl>
          </a:graphicData>
        </a:graphic>
      </p:graphicFrame>
      <p:sp>
        <p:nvSpPr>
          <p:cNvPr id="17" name="TextBox 16"/>
          <p:cNvSpPr txBox="1"/>
          <p:nvPr/>
        </p:nvSpPr>
        <p:spPr>
          <a:xfrm>
            <a:off x="219075" y="37147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795935" y="2328100"/>
            <a:ext cx="366712" cy="533400"/>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Tables Active Ingredient (3/3)</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volume and value of the U.K. market by Active Ingredient, 2021–2036</a:t>
            </a:r>
          </a:p>
        </p:txBody>
      </p:sp>
      <p:sp>
        <p:nvSpPr>
          <p:cNvPr id="10" name="Rounded Rectangle 9"/>
          <p:cNvSpPr/>
          <p:nvPr/>
        </p:nvSpPr>
        <p:spPr>
          <a:xfrm>
            <a:off x="142875" y="981075"/>
            <a:ext cx="11906250" cy="5143500"/>
          </a:xfrm>
          <a:prstGeom prst="roundRect">
            <a:avLst>
              <a:gd name="adj" fmla="val 14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Value, By Active Ingredient (US$ Mn)</a:t>
            </a:r>
          </a:p>
        </p:txBody>
      </p:sp>
      <p:graphicFrame>
        <p:nvGraphicFramePr>
          <p:cNvPr id="12" name="Table 11"/>
          <p:cNvGraphicFramePr>
            <a:graphicFrameLocks noGrp="1"/>
          </p:cNvGraphicFramePr>
          <p:nvPr/>
        </p:nvGraphicFramePr>
        <p:xfrm>
          <a:off x="152400" y="1238250"/>
          <a:ext cx="11887199" cy="4676772"/>
        </p:xfrm>
        <a:graphic>
          <a:graphicData uri="http://schemas.openxmlformats.org/drawingml/2006/table">
            <a:tbl>
              <a:tblPr>
                <a:tableStyleId>{5C22544A-7EE6-4342-B048-85BDC9FD1C3A}</a:tableStyleId>
              </a:tblPr>
              <a:tblGrid>
                <a:gridCol w="2358529">
                  <a:extLst>
                    <a:ext uri="{9D8B030D-6E8A-4147-A177-3AD203B41FA5}">
                      <a16:colId xmlns:a16="http://schemas.microsoft.com/office/drawing/2014/main" val="20000"/>
                    </a:ext>
                  </a:extLst>
                </a:gridCol>
                <a:gridCol w="560510">
                  <a:extLst>
                    <a:ext uri="{9D8B030D-6E8A-4147-A177-3AD203B41FA5}">
                      <a16:colId xmlns:a16="http://schemas.microsoft.com/office/drawing/2014/main" val="20001"/>
                    </a:ext>
                  </a:extLst>
                </a:gridCol>
                <a:gridCol w="560510">
                  <a:extLst>
                    <a:ext uri="{9D8B030D-6E8A-4147-A177-3AD203B41FA5}">
                      <a16:colId xmlns:a16="http://schemas.microsoft.com/office/drawing/2014/main" val="20002"/>
                    </a:ext>
                  </a:extLst>
                </a:gridCol>
                <a:gridCol w="560510">
                  <a:extLst>
                    <a:ext uri="{9D8B030D-6E8A-4147-A177-3AD203B41FA5}">
                      <a16:colId xmlns:a16="http://schemas.microsoft.com/office/drawing/2014/main" val="20003"/>
                    </a:ext>
                  </a:extLst>
                </a:gridCol>
                <a:gridCol w="560510">
                  <a:extLst>
                    <a:ext uri="{9D8B030D-6E8A-4147-A177-3AD203B41FA5}">
                      <a16:colId xmlns:a16="http://schemas.microsoft.com/office/drawing/2014/main" val="20004"/>
                    </a:ext>
                  </a:extLst>
                </a:gridCol>
                <a:gridCol w="560510">
                  <a:extLst>
                    <a:ext uri="{9D8B030D-6E8A-4147-A177-3AD203B41FA5}">
                      <a16:colId xmlns:a16="http://schemas.microsoft.com/office/drawing/2014/main" val="20005"/>
                    </a:ext>
                  </a:extLst>
                </a:gridCol>
                <a:gridCol w="560510">
                  <a:extLst>
                    <a:ext uri="{9D8B030D-6E8A-4147-A177-3AD203B41FA5}">
                      <a16:colId xmlns:a16="http://schemas.microsoft.com/office/drawing/2014/main" val="20006"/>
                    </a:ext>
                  </a:extLst>
                </a:gridCol>
                <a:gridCol w="560510">
                  <a:extLst>
                    <a:ext uri="{9D8B030D-6E8A-4147-A177-3AD203B41FA5}">
                      <a16:colId xmlns:a16="http://schemas.microsoft.com/office/drawing/2014/main" val="20007"/>
                    </a:ext>
                  </a:extLst>
                </a:gridCol>
                <a:gridCol w="560510">
                  <a:extLst>
                    <a:ext uri="{9D8B030D-6E8A-4147-A177-3AD203B41FA5}">
                      <a16:colId xmlns:a16="http://schemas.microsoft.com/office/drawing/2014/main" val="20008"/>
                    </a:ext>
                  </a:extLst>
                </a:gridCol>
                <a:gridCol w="560510">
                  <a:extLst>
                    <a:ext uri="{9D8B030D-6E8A-4147-A177-3AD203B41FA5}">
                      <a16:colId xmlns:a16="http://schemas.microsoft.com/office/drawing/2014/main" val="20009"/>
                    </a:ext>
                  </a:extLst>
                </a:gridCol>
                <a:gridCol w="560510">
                  <a:extLst>
                    <a:ext uri="{9D8B030D-6E8A-4147-A177-3AD203B41FA5}">
                      <a16:colId xmlns:a16="http://schemas.microsoft.com/office/drawing/2014/main" val="20010"/>
                    </a:ext>
                  </a:extLst>
                </a:gridCol>
                <a:gridCol w="560510">
                  <a:extLst>
                    <a:ext uri="{9D8B030D-6E8A-4147-A177-3AD203B41FA5}">
                      <a16:colId xmlns:a16="http://schemas.microsoft.com/office/drawing/2014/main" val="20011"/>
                    </a:ext>
                  </a:extLst>
                </a:gridCol>
                <a:gridCol w="560510">
                  <a:extLst>
                    <a:ext uri="{9D8B030D-6E8A-4147-A177-3AD203B41FA5}">
                      <a16:colId xmlns:a16="http://schemas.microsoft.com/office/drawing/2014/main" val="20012"/>
                    </a:ext>
                  </a:extLst>
                </a:gridCol>
                <a:gridCol w="560510">
                  <a:extLst>
                    <a:ext uri="{9D8B030D-6E8A-4147-A177-3AD203B41FA5}">
                      <a16:colId xmlns:a16="http://schemas.microsoft.com/office/drawing/2014/main" val="20013"/>
                    </a:ext>
                  </a:extLst>
                </a:gridCol>
                <a:gridCol w="560510">
                  <a:extLst>
                    <a:ext uri="{9D8B030D-6E8A-4147-A177-3AD203B41FA5}">
                      <a16:colId xmlns:a16="http://schemas.microsoft.com/office/drawing/2014/main" val="20014"/>
                    </a:ext>
                  </a:extLst>
                </a:gridCol>
                <a:gridCol w="560510">
                  <a:extLst>
                    <a:ext uri="{9D8B030D-6E8A-4147-A177-3AD203B41FA5}">
                      <a16:colId xmlns:a16="http://schemas.microsoft.com/office/drawing/2014/main" val="20015"/>
                    </a:ext>
                  </a:extLst>
                </a:gridCol>
                <a:gridCol w="560510">
                  <a:extLst>
                    <a:ext uri="{9D8B030D-6E8A-4147-A177-3AD203B41FA5}">
                      <a16:colId xmlns:a16="http://schemas.microsoft.com/office/drawing/2014/main" val="20016"/>
                    </a:ext>
                  </a:extLst>
                </a:gridCol>
                <a:gridCol w="560510">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147">
                <a:tc>
                  <a:txBody>
                    <a:bodyPr/>
                    <a:lstStyle/>
                    <a:p>
                      <a:pPr algn="l"/>
                      <a:r>
                        <a:rPr sz="1100" b="1">
                          <a:solidFill>
                            <a:srgbClr val="2E2E2E"/>
                          </a:solidFill>
                          <a:latin typeface="Calibri"/>
                        </a:rPr>
                        <a:t>Neurofunctional Nutrients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147">
                <a:tc>
                  <a:txBody>
                    <a:bodyPr/>
                    <a:lstStyle/>
                    <a:p>
                      <a:pPr algn="l"/>
                      <a:r>
                        <a:rPr sz="1100" b="1">
                          <a:solidFill>
                            <a:srgbClr val="2E2E2E"/>
                          </a:solidFill>
                          <a:latin typeface="Calibri"/>
                        </a:rPr>
                        <a:t>– Phosphatidylserine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147">
                <a:tc>
                  <a:txBody>
                    <a:bodyPr/>
                    <a:lstStyle/>
                    <a:p>
                      <a:pPr algn="l"/>
                      <a:r>
                        <a:rPr sz="1100" b="1">
                          <a:solidFill>
                            <a:srgbClr val="2E2E2E"/>
                          </a:solidFill>
                          <a:latin typeface="Calibri"/>
                        </a:rPr>
                        <a:t>– B Vitamins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147">
                <a:tc>
                  <a:txBody>
                    <a:bodyPr/>
                    <a:lstStyle/>
                    <a:p>
                      <a:pPr algn="l"/>
                      <a:r>
                        <a:rPr sz="1100" b="1">
                          <a:solidFill>
                            <a:srgbClr val="2E2E2E"/>
                          </a:solidFill>
                          <a:latin typeface="Calibri"/>
                        </a:rPr>
                        <a:t>– Choline-Related Ingredients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147">
                <a:tc>
                  <a:txBody>
                    <a:bodyPr/>
                    <a:lstStyle/>
                    <a:p>
                      <a:pPr algn="l"/>
                      <a:r>
                        <a:rPr sz="1100" b="1">
                          <a:solidFill>
                            <a:srgbClr val="2E2E2E"/>
                          </a:solidFill>
                          <a:latin typeface="Calibri"/>
                        </a:rPr>
                        <a:t>Cellular Energy Support Ingredients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147">
                <a:tc>
                  <a:txBody>
                    <a:bodyPr/>
                    <a:lstStyle/>
                    <a:p>
                      <a:pPr algn="l"/>
                      <a:r>
                        <a:rPr sz="1100" b="1">
                          <a:solidFill>
                            <a:srgbClr val="2E2E2E"/>
                          </a:solidFill>
                          <a:latin typeface="Calibri"/>
                        </a:rPr>
                        <a:t>– L-Carnitine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147">
                <a:tc>
                  <a:txBody>
                    <a:bodyPr/>
                    <a:lstStyle/>
                    <a:p>
                      <a:pPr algn="l"/>
                      <a:r>
                        <a:rPr sz="1100" b="1">
                          <a:solidFill>
                            <a:srgbClr val="2E2E2E"/>
                          </a:solidFill>
                          <a:latin typeface="Calibri"/>
                        </a:rPr>
                        <a:t>– Acetyl-L-Carnitine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7"/>
                  </a:ext>
                </a:extLst>
              </a:tr>
              <a:tr h="246147">
                <a:tc>
                  <a:txBody>
                    <a:bodyPr/>
                    <a:lstStyle/>
                    <a:p>
                      <a:pPr algn="l"/>
                      <a:r>
                        <a:rPr sz="1100" b="1">
                          <a:solidFill>
                            <a:srgbClr val="2E2E2E"/>
                          </a:solidFill>
                          <a:latin typeface="Calibri"/>
                        </a:rPr>
                        <a:t>– Coenzyme Q10</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8"/>
                  </a:ext>
                </a:extLst>
              </a:tr>
              <a:tr h="246147">
                <a:tc>
                  <a:txBody>
                    <a:bodyPr/>
                    <a:lstStyle/>
                    <a:p>
                      <a:pPr algn="l"/>
                      <a:r>
                        <a:rPr sz="1100" b="1">
                          <a:solidFill>
                            <a:srgbClr val="2E2E2E"/>
                          </a:solidFill>
                          <a:latin typeface="Calibri"/>
                        </a:rPr>
                        <a:t>– Alpha-Lipoic Acid</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9"/>
                  </a:ext>
                </a:extLst>
              </a:tr>
              <a:tr h="246147">
                <a:tc>
                  <a:txBody>
                    <a:bodyPr/>
                    <a:lstStyle/>
                    <a:p>
                      <a:pPr algn="l"/>
                      <a:r>
                        <a:rPr sz="1100" b="1">
                          <a:solidFill>
                            <a:srgbClr val="2E2E2E"/>
                          </a:solidFill>
                          <a:latin typeface="Calibri"/>
                        </a:rPr>
                        <a:t>Botanical Ingredients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0"/>
                  </a:ext>
                </a:extLst>
              </a:tr>
              <a:tr h="246147">
                <a:tc>
                  <a:txBody>
                    <a:bodyPr/>
                    <a:lstStyle/>
                    <a:p>
                      <a:pPr algn="l"/>
                      <a:r>
                        <a:rPr sz="1100" b="1">
                          <a:solidFill>
                            <a:srgbClr val="2E2E2E"/>
                          </a:solidFill>
                          <a:latin typeface="Calibri"/>
                        </a:rPr>
                        <a:t>– Ginkgo Biloba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1"/>
                  </a:ext>
                </a:extLst>
              </a:tr>
              <a:tr h="246147">
                <a:tc>
                  <a:txBody>
                    <a:bodyPr/>
                    <a:lstStyle/>
                    <a:p>
                      <a:pPr algn="l"/>
                      <a:r>
                        <a:rPr sz="1100" b="1">
                          <a:solidFill>
                            <a:srgbClr val="2E2E2E"/>
                          </a:solidFill>
                          <a:latin typeface="Calibri"/>
                        </a:rPr>
                        <a:t>– Resveratrol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2"/>
                  </a:ext>
                </a:extLst>
              </a:tr>
              <a:tr h="246147">
                <a:tc>
                  <a:txBody>
                    <a:bodyPr/>
                    <a:lstStyle/>
                    <a:p>
                      <a:pPr algn="l"/>
                      <a:r>
                        <a:rPr sz="1100" b="1">
                          <a:solidFill>
                            <a:srgbClr val="2E2E2E"/>
                          </a:solidFill>
                          <a:latin typeface="Calibri"/>
                        </a:rPr>
                        <a:t>– Other Cognitive-Support Botanicals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3"/>
                  </a:ext>
                </a:extLst>
              </a:tr>
              <a:tr h="246147">
                <a:tc>
                  <a:txBody>
                    <a:bodyPr/>
                    <a:lstStyle/>
                    <a:p>
                      <a:pPr algn="l"/>
                      <a:r>
                        <a:rPr sz="1100" b="1">
                          <a:solidFill>
                            <a:srgbClr val="2E2E2E"/>
                          </a:solidFill>
                          <a:latin typeface="Calibri"/>
                        </a:rPr>
                        <a:t>Microbiome-Targeted Ingredients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4"/>
                  </a:ext>
                </a:extLst>
              </a:tr>
              <a:tr h="246147">
                <a:tc>
                  <a:txBody>
                    <a:bodyPr/>
                    <a:lstStyle/>
                    <a:p>
                      <a:pPr algn="l"/>
                      <a:r>
                        <a:rPr sz="1100" b="1">
                          <a:solidFill>
                            <a:srgbClr val="2E2E2E"/>
                          </a:solidFill>
                          <a:latin typeface="Calibri"/>
                        </a:rPr>
                        <a:t>– Prebiotics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5"/>
                  </a:ext>
                </a:extLst>
              </a:tr>
              <a:tr h="246147">
                <a:tc>
                  <a:txBody>
                    <a:bodyPr/>
                    <a:lstStyle/>
                    <a:p>
                      <a:pPr algn="l"/>
                      <a:r>
                        <a:rPr sz="1100" b="1">
                          <a:solidFill>
                            <a:srgbClr val="2E2E2E"/>
                          </a:solidFill>
                          <a:latin typeface="Calibri"/>
                        </a:rPr>
                        <a:t>– Probiotics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16"/>
                  </a:ext>
                </a:extLst>
              </a:tr>
              <a:tr h="246147">
                <a:tc>
                  <a:txBody>
                    <a:bodyPr/>
                    <a:lstStyle/>
                    <a:p>
                      <a:pPr algn="l"/>
                      <a:r>
                        <a:rPr sz="1100" b="1">
                          <a:solidFill>
                            <a:srgbClr val="2E2E2E"/>
                          </a:solidFill>
                          <a:latin typeface="Calibri"/>
                        </a:rPr>
                        <a:t>– Postbiotics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17"/>
                  </a:ext>
                </a:extLst>
              </a:tr>
              <a:tr h="24614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18"/>
                  </a:ext>
                </a:extLst>
              </a:tr>
            </a:tbl>
          </a:graphicData>
        </a:graphic>
      </p:graphicFrame>
      <p:sp>
        <p:nvSpPr>
          <p:cNvPr id="13" name="TextBox 12"/>
          <p:cNvSpPr txBox="1"/>
          <p:nvPr/>
        </p:nvSpPr>
        <p:spPr>
          <a:xfrm>
            <a:off x="219075" y="59245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088574" y="3432998"/>
            <a:ext cx="366712" cy="533400"/>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16.3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End-use Application</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Segmental</a:t>
            </a:r>
          </a:p>
          <a:p>
            <a:pPr marL="342900" indent="-323850">
              <a:lnSpc>
                <a:spcPct val="100000"/>
              </a:lnSpc>
              <a:spcAft>
                <a:spcPts val="800"/>
              </a:spcAft>
            </a:pPr>
            <a:r>
              <a:rPr sz="2000" b="0">
                <a:solidFill>
                  <a:srgbClr val="000000"/>
                </a:solidFill>
                <a:latin typeface="Calibri"/>
              </a:rPr>
              <a:t>➤	Table (Volume &amp; Value)</a:t>
            </a:r>
          </a:p>
          <a:p>
            <a:pPr marL="342900" indent="-323850">
              <a:lnSpc>
                <a:spcPct val="100000"/>
              </a:lnSpc>
              <a:spcAft>
                <a:spcPts val="800"/>
              </a:spcAft>
            </a:pPr>
            <a:r>
              <a:rPr sz="2000" b="0">
                <a:solidFill>
                  <a:srgbClr val="000000"/>
                </a:solidFill>
                <a:latin typeface="Calibri"/>
              </a:rPr>
              <a:t>➤	YoY</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Segmental Analysis End-use Application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U.K. segmental analysis by End-use Application: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Growth Contribution 2026 → 2036, By End-use Application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Value Shares &amp; Variance, By End-use Application</a:t>
            </a:r>
          </a:p>
        </p:txBody>
      </p:sp>
      <p:graphicFrame>
        <p:nvGraphicFramePr>
          <p:cNvPr id="15" name="Table 14"/>
          <p:cNvGraphicFramePr>
            <a:graphicFrameLocks noGrp="1"/>
          </p:cNvGraphicFramePr>
          <p:nvPr/>
        </p:nvGraphicFramePr>
        <p:xfrm>
          <a:off x="6181725" y="1238250"/>
          <a:ext cx="5857873" cy="2285996"/>
        </p:xfrm>
        <a:graphic>
          <a:graphicData uri="http://schemas.openxmlformats.org/drawingml/2006/table">
            <a:tbl>
              <a:tblPr>
                <a:tableStyleId>{5C22544A-7EE6-4342-B048-85BDC9FD1C3A}</a:tableStyleId>
              </a:tblPr>
              <a:tblGrid>
                <a:gridCol w="3413450">
                  <a:extLst>
                    <a:ext uri="{9D8B030D-6E8A-4147-A177-3AD203B41FA5}">
                      <a16:colId xmlns:a16="http://schemas.microsoft.com/office/drawing/2014/main" val="20000"/>
                    </a:ext>
                  </a:extLst>
                </a:gridCol>
                <a:gridCol w="591456">
                  <a:extLst>
                    <a:ext uri="{9D8B030D-6E8A-4147-A177-3AD203B41FA5}">
                      <a16:colId xmlns:a16="http://schemas.microsoft.com/office/drawing/2014/main" val="20001"/>
                    </a:ext>
                  </a:extLst>
                </a:gridCol>
                <a:gridCol w="591456">
                  <a:extLst>
                    <a:ext uri="{9D8B030D-6E8A-4147-A177-3AD203B41FA5}">
                      <a16:colId xmlns:a16="http://schemas.microsoft.com/office/drawing/2014/main" val="20002"/>
                    </a:ext>
                  </a:extLst>
                </a:gridCol>
                <a:gridCol w="773255">
                  <a:extLst>
                    <a:ext uri="{9D8B030D-6E8A-4147-A177-3AD203B41FA5}">
                      <a16:colId xmlns:a16="http://schemas.microsoft.com/office/drawing/2014/main" val="20003"/>
                    </a:ext>
                  </a:extLst>
                </a:gridCol>
                <a:gridCol w="488256">
                  <a:extLst>
                    <a:ext uri="{9D8B030D-6E8A-4147-A177-3AD203B41FA5}">
                      <a16:colId xmlns:a16="http://schemas.microsoft.com/office/drawing/2014/main" val="20004"/>
                    </a:ext>
                  </a:extLst>
                </a:gridCol>
              </a:tblGrid>
              <a:tr h="438912">
                <a:tc>
                  <a:txBody>
                    <a:bodyPr/>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461771">
                <a:tc>
                  <a:txBody>
                    <a:bodyPr/>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461771">
                <a:tc>
                  <a:txBody>
                    <a:bodyPr/>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461771">
                <a:tc>
                  <a:txBody>
                    <a:bodyPr/>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461771">
                <a:tc>
                  <a:txBody>
                    <a:bodyPr/>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bl>
          </a:graphicData>
        </a:graphic>
      </p:graphicFrame>
      <p:sp>
        <p:nvSpPr>
          <p:cNvPr id="16" name="TextBox 15"/>
          <p:cNvSpPr txBox="1"/>
          <p:nvPr/>
        </p:nvSpPr>
        <p:spPr>
          <a:xfrm>
            <a:off x="6248400" y="3533775"/>
            <a:ext cx="57245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3924300"/>
            <a:ext cx="11520309"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Absolute $ Opportunity, By End-use Application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649365" y="2360675"/>
            <a:ext cx="330041" cy="48006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Tables End-use Application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of the U.K. market by End-use Application, 2021–2036</a:t>
            </a:r>
          </a:p>
        </p:txBody>
      </p:sp>
      <p:sp>
        <p:nvSpPr>
          <p:cNvPr id="14" name="Rounded Rectangle 13"/>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Value, By End-use Application (US$ Mn)</a:t>
            </a:r>
          </a:p>
        </p:txBody>
      </p:sp>
      <p:graphicFrame>
        <p:nvGraphicFramePr>
          <p:cNvPr id="16" name="Table 15"/>
          <p:cNvGraphicFramePr>
            <a:graphicFrameLocks noGrp="1"/>
          </p:cNvGraphicFramePr>
          <p:nvPr/>
        </p:nvGraphicFramePr>
        <p:xfrm>
          <a:off x="152400" y="1238250"/>
          <a:ext cx="11887202" cy="1485896"/>
        </p:xfrm>
        <a:graphic>
          <a:graphicData uri="http://schemas.openxmlformats.org/drawingml/2006/table">
            <a:tbl>
              <a:tblPr>
                <a:tableStyleId>{5C22544A-7EE6-4342-B048-85BDC9FD1C3A}</a:tableStyleId>
              </a:tblPr>
              <a:tblGrid>
                <a:gridCol w="3519985">
                  <a:extLst>
                    <a:ext uri="{9D8B030D-6E8A-4147-A177-3AD203B41FA5}">
                      <a16:colId xmlns:a16="http://schemas.microsoft.com/office/drawing/2014/main" val="20000"/>
                    </a:ext>
                  </a:extLst>
                </a:gridCol>
                <a:gridCol w="502606">
                  <a:extLst>
                    <a:ext uri="{9D8B030D-6E8A-4147-A177-3AD203B41FA5}">
                      <a16:colId xmlns:a16="http://schemas.microsoft.com/office/drawing/2014/main" val="20001"/>
                    </a:ext>
                  </a:extLst>
                </a:gridCol>
                <a:gridCol w="502606">
                  <a:extLst>
                    <a:ext uri="{9D8B030D-6E8A-4147-A177-3AD203B41FA5}">
                      <a16:colId xmlns:a16="http://schemas.microsoft.com/office/drawing/2014/main" val="20002"/>
                    </a:ext>
                  </a:extLst>
                </a:gridCol>
                <a:gridCol w="502606">
                  <a:extLst>
                    <a:ext uri="{9D8B030D-6E8A-4147-A177-3AD203B41FA5}">
                      <a16:colId xmlns:a16="http://schemas.microsoft.com/office/drawing/2014/main" val="20003"/>
                    </a:ext>
                  </a:extLst>
                </a:gridCol>
                <a:gridCol w="502606">
                  <a:extLst>
                    <a:ext uri="{9D8B030D-6E8A-4147-A177-3AD203B41FA5}">
                      <a16:colId xmlns:a16="http://schemas.microsoft.com/office/drawing/2014/main" val="20004"/>
                    </a:ext>
                  </a:extLst>
                </a:gridCol>
                <a:gridCol w="502606">
                  <a:extLst>
                    <a:ext uri="{9D8B030D-6E8A-4147-A177-3AD203B41FA5}">
                      <a16:colId xmlns:a16="http://schemas.microsoft.com/office/drawing/2014/main" val="20005"/>
                    </a:ext>
                  </a:extLst>
                </a:gridCol>
                <a:gridCol w="484901">
                  <a:extLst>
                    <a:ext uri="{9D8B030D-6E8A-4147-A177-3AD203B41FA5}">
                      <a16:colId xmlns:a16="http://schemas.microsoft.com/office/drawing/2014/main" val="20006"/>
                    </a:ext>
                  </a:extLst>
                </a:gridCol>
                <a:gridCol w="479843">
                  <a:extLst>
                    <a:ext uri="{9D8B030D-6E8A-4147-A177-3AD203B41FA5}">
                      <a16:colId xmlns:a16="http://schemas.microsoft.com/office/drawing/2014/main" val="20007"/>
                    </a:ext>
                  </a:extLst>
                </a:gridCol>
                <a:gridCol w="479843">
                  <a:extLst>
                    <a:ext uri="{9D8B030D-6E8A-4147-A177-3AD203B41FA5}">
                      <a16:colId xmlns:a16="http://schemas.microsoft.com/office/drawing/2014/main" val="20008"/>
                    </a:ext>
                  </a:extLst>
                </a:gridCol>
                <a:gridCol w="479843">
                  <a:extLst>
                    <a:ext uri="{9D8B030D-6E8A-4147-A177-3AD203B41FA5}">
                      <a16:colId xmlns:a16="http://schemas.microsoft.com/office/drawing/2014/main" val="20009"/>
                    </a:ext>
                  </a:extLst>
                </a:gridCol>
                <a:gridCol w="479843">
                  <a:extLst>
                    <a:ext uri="{9D8B030D-6E8A-4147-A177-3AD203B41FA5}">
                      <a16:colId xmlns:a16="http://schemas.microsoft.com/office/drawing/2014/main" val="20010"/>
                    </a:ext>
                  </a:extLst>
                </a:gridCol>
                <a:gridCol w="479843">
                  <a:extLst>
                    <a:ext uri="{9D8B030D-6E8A-4147-A177-3AD203B41FA5}">
                      <a16:colId xmlns:a16="http://schemas.microsoft.com/office/drawing/2014/main" val="20011"/>
                    </a:ext>
                  </a:extLst>
                </a:gridCol>
                <a:gridCol w="479843">
                  <a:extLst>
                    <a:ext uri="{9D8B030D-6E8A-4147-A177-3AD203B41FA5}">
                      <a16:colId xmlns:a16="http://schemas.microsoft.com/office/drawing/2014/main" val="20012"/>
                    </a:ext>
                  </a:extLst>
                </a:gridCol>
                <a:gridCol w="479843">
                  <a:extLst>
                    <a:ext uri="{9D8B030D-6E8A-4147-A177-3AD203B41FA5}">
                      <a16:colId xmlns:a16="http://schemas.microsoft.com/office/drawing/2014/main" val="20013"/>
                    </a:ext>
                  </a:extLst>
                </a:gridCol>
                <a:gridCol w="479843">
                  <a:extLst>
                    <a:ext uri="{9D8B030D-6E8A-4147-A177-3AD203B41FA5}">
                      <a16:colId xmlns:a16="http://schemas.microsoft.com/office/drawing/2014/main" val="20014"/>
                    </a:ext>
                  </a:extLst>
                </a:gridCol>
                <a:gridCol w="479843">
                  <a:extLst>
                    <a:ext uri="{9D8B030D-6E8A-4147-A177-3AD203B41FA5}">
                      <a16:colId xmlns:a16="http://schemas.microsoft.com/office/drawing/2014/main" val="20015"/>
                    </a:ext>
                  </a:extLst>
                </a:gridCol>
                <a:gridCol w="479843">
                  <a:extLst>
                    <a:ext uri="{9D8B030D-6E8A-4147-A177-3AD203B41FA5}">
                      <a16:colId xmlns:a16="http://schemas.microsoft.com/office/drawing/2014/main" val="20016"/>
                    </a:ext>
                  </a:extLst>
                </a:gridCol>
                <a:gridCol w="570856">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954">
                <a:tc>
                  <a:txBody>
                    <a:bodyPr/>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7954">
                <a:tc>
                  <a:txBody>
                    <a:bodyPr/>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7954">
                <a:tc>
                  <a:txBody>
                    <a:bodyPr/>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7954">
                <a:tc>
                  <a:txBody>
                    <a:bodyPr/>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7954">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5"/>
                  </a:ext>
                </a:extLst>
              </a:tr>
            </a:tbl>
          </a:graphicData>
        </a:graphic>
      </p:graphicFrame>
      <p:sp>
        <p:nvSpPr>
          <p:cNvPr id="17" name="TextBox 16"/>
          <p:cNvSpPr txBox="1"/>
          <p:nvPr/>
        </p:nvSpPr>
        <p:spPr>
          <a:xfrm>
            <a:off x="219075" y="27336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669303" y="1837563"/>
            <a:ext cx="366712" cy="533400"/>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16.4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Packaging Format</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Segmental</a:t>
            </a:r>
          </a:p>
          <a:p>
            <a:pPr marL="342900" indent="-323850">
              <a:lnSpc>
                <a:spcPct val="100000"/>
              </a:lnSpc>
              <a:spcAft>
                <a:spcPts val="800"/>
              </a:spcAft>
            </a:pPr>
            <a:r>
              <a:rPr sz="2000" b="0">
                <a:solidFill>
                  <a:srgbClr val="000000"/>
                </a:solidFill>
                <a:latin typeface="Calibri"/>
              </a:rPr>
              <a:t>➤	Table (Volume &amp; Value)</a:t>
            </a:r>
          </a:p>
          <a:p>
            <a:pPr marL="342900" indent="-323850">
              <a:lnSpc>
                <a:spcPct val="100000"/>
              </a:lnSpc>
              <a:spcAft>
                <a:spcPts val="800"/>
              </a:spcAft>
            </a:pPr>
            <a:r>
              <a:rPr sz="2000" b="0">
                <a:solidFill>
                  <a:srgbClr val="000000"/>
                </a:solidFill>
                <a:latin typeface="Calibri"/>
              </a:rPr>
              <a:t>➤	YoY</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Segmental Analysis Packaging Format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U.K. segmental analysis by Packaging Format: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Growth Contribution 2026 → 2036, By Packaging Format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Value Shares &amp; Variance, By Packaging Format</a:t>
            </a:r>
          </a:p>
        </p:txBody>
      </p:sp>
      <p:graphicFrame>
        <p:nvGraphicFramePr>
          <p:cNvPr id="15" name="Table 14"/>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347990">
                  <a:extLst>
                    <a:ext uri="{9D8B030D-6E8A-4147-A177-3AD203B41FA5}">
                      <a16:colId xmlns:a16="http://schemas.microsoft.com/office/drawing/2014/main" val="20000"/>
                    </a:ext>
                  </a:extLst>
                </a:gridCol>
                <a:gridCol w="1127471">
                  <a:extLst>
                    <a:ext uri="{9D8B030D-6E8A-4147-A177-3AD203B41FA5}">
                      <a16:colId xmlns:a16="http://schemas.microsoft.com/office/drawing/2014/main" val="20001"/>
                    </a:ext>
                  </a:extLst>
                </a:gridCol>
                <a:gridCol w="1127471">
                  <a:extLst>
                    <a:ext uri="{9D8B030D-6E8A-4147-A177-3AD203B41FA5}">
                      <a16:colId xmlns:a16="http://schemas.microsoft.com/office/drawing/2014/main" val="20002"/>
                    </a:ext>
                  </a:extLst>
                </a:gridCol>
                <a:gridCol w="1127471">
                  <a:extLst>
                    <a:ext uri="{9D8B030D-6E8A-4147-A177-3AD203B41FA5}">
                      <a16:colId xmlns:a16="http://schemas.microsoft.com/office/drawing/2014/main" val="20003"/>
                    </a:ext>
                  </a:extLst>
                </a:gridCol>
                <a:gridCol w="1127471">
                  <a:extLst>
                    <a:ext uri="{9D8B030D-6E8A-4147-A177-3AD203B41FA5}">
                      <a16:colId xmlns:a16="http://schemas.microsoft.com/office/drawing/2014/main" val="20004"/>
                    </a:ext>
                  </a:extLst>
                </a:gridCol>
              </a:tblGrid>
              <a:tr h="246126">
                <a:tc>
                  <a:txBody>
                    <a:bodyPr/>
                    <a:lstStyle/>
                    <a:p>
                      <a:pPr algn="l"/>
                      <a:r>
                        <a:rPr sz="1100" b="1">
                          <a:solidFill>
                            <a:srgbClr val="0B2E4A"/>
                          </a:solidFill>
                          <a:latin typeface="Calibri"/>
                        </a:rPr>
                        <a:t>Packaging Format</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39979">
                <a:tc>
                  <a:txBody>
                    <a:bodyPr/>
                    <a:lstStyle/>
                    <a:p>
                      <a:pPr algn="l"/>
                      <a:r>
                        <a:rPr sz="1100" b="1">
                          <a:solidFill>
                            <a:srgbClr val="2E2E2E"/>
                          </a:solidFill>
                          <a:latin typeface="Calibri"/>
                        </a:rPr>
                        <a:t>Bottles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39979">
                <a:tc>
                  <a:txBody>
                    <a:bodyPr/>
                    <a:lstStyle/>
                    <a:p>
                      <a:pPr algn="l"/>
                      <a:r>
                        <a:rPr sz="1100" b="1">
                          <a:solidFill>
                            <a:srgbClr val="2E2E2E"/>
                          </a:solidFill>
                          <a:latin typeface="Calibri"/>
                        </a:rPr>
                        <a:t>Jars and Tubs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39979">
                <a:tc>
                  <a:txBody>
                    <a:bodyPr/>
                    <a:lstStyle/>
                    <a:p>
                      <a:pPr algn="l"/>
                      <a:r>
                        <a:rPr sz="1100" b="1">
                          <a:solidFill>
                            <a:srgbClr val="2E2E2E"/>
                          </a:solidFill>
                          <a:latin typeface="Calibri"/>
                        </a:rPr>
                        <a:t>Pouches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39979">
                <a:tc>
                  <a:txBody>
                    <a:bodyPr/>
                    <a:lstStyle/>
                    <a:p>
                      <a:pPr algn="l"/>
                      <a:r>
                        <a:rPr sz="1100" b="1">
                          <a:solidFill>
                            <a:srgbClr val="2E2E2E"/>
                          </a:solidFill>
                          <a:latin typeface="Calibri"/>
                        </a:rPr>
                        <a:t>Sachets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39979">
                <a:tc>
                  <a:txBody>
                    <a:bodyPr/>
                    <a:lstStyle/>
                    <a:p>
                      <a:pPr algn="l"/>
                      <a:r>
                        <a:rPr sz="1100" b="1">
                          <a:solidFill>
                            <a:srgbClr val="2E2E2E"/>
                          </a:solidFill>
                          <a:latin typeface="Calibri"/>
                        </a:rPr>
                        <a:t>Blister Packs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339979">
                <a:tc>
                  <a:txBody>
                    <a:bodyPr/>
                    <a:lstStyle/>
                    <a:p>
                      <a:pPr algn="l"/>
                      <a:r>
                        <a:rPr sz="1100" b="1">
                          <a:solidFill>
                            <a:srgbClr val="2E2E2E"/>
                          </a:solidFill>
                          <a:latin typeface="Calibri"/>
                        </a:rPr>
                        <a:t>Canisters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248400" y="3533775"/>
            <a:ext cx="57245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3924300"/>
            <a:ext cx="11520309"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Absolute $ Opportunity, By Packaging Format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597967"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Tables Packaging Format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of the U.K. market by Packaging Format,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Value, By Packaging Format (US$ Mn)</a:t>
            </a:r>
          </a:p>
        </p:txBody>
      </p:sp>
      <p:graphicFrame>
        <p:nvGraphicFramePr>
          <p:cNvPr id="16" name="Table 15"/>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1313658">
                  <a:extLst>
                    <a:ext uri="{9D8B030D-6E8A-4147-A177-3AD203B41FA5}">
                      <a16:colId xmlns:a16="http://schemas.microsoft.com/office/drawing/2014/main" val="20000"/>
                    </a:ext>
                  </a:extLst>
                </a:gridCol>
                <a:gridCol w="621973">
                  <a:extLst>
                    <a:ext uri="{9D8B030D-6E8A-4147-A177-3AD203B41FA5}">
                      <a16:colId xmlns:a16="http://schemas.microsoft.com/office/drawing/2014/main" val="20001"/>
                    </a:ext>
                  </a:extLst>
                </a:gridCol>
                <a:gridCol w="621973">
                  <a:extLst>
                    <a:ext uri="{9D8B030D-6E8A-4147-A177-3AD203B41FA5}">
                      <a16:colId xmlns:a16="http://schemas.microsoft.com/office/drawing/2014/main" val="20002"/>
                    </a:ext>
                  </a:extLst>
                </a:gridCol>
                <a:gridCol w="621973">
                  <a:extLst>
                    <a:ext uri="{9D8B030D-6E8A-4147-A177-3AD203B41FA5}">
                      <a16:colId xmlns:a16="http://schemas.microsoft.com/office/drawing/2014/main" val="20003"/>
                    </a:ext>
                  </a:extLst>
                </a:gridCol>
                <a:gridCol w="621973">
                  <a:extLst>
                    <a:ext uri="{9D8B030D-6E8A-4147-A177-3AD203B41FA5}">
                      <a16:colId xmlns:a16="http://schemas.microsoft.com/office/drawing/2014/main" val="20004"/>
                    </a:ext>
                  </a:extLst>
                </a:gridCol>
                <a:gridCol w="621973">
                  <a:extLst>
                    <a:ext uri="{9D8B030D-6E8A-4147-A177-3AD203B41FA5}">
                      <a16:colId xmlns:a16="http://schemas.microsoft.com/office/drawing/2014/main" val="20005"/>
                    </a:ext>
                  </a:extLst>
                </a:gridCol>
                <a:gridCol w="621973">
                  <a:extLst>
                    <a:ext uri="{9D8B030D-6E8A-4147-A177-3AD203B41FA5}">
                      <a16:colId xmlns:a16="http://schemas.microsoft.com/office/drawing/2014/main" val="20006"/>
                    </a:ext>
                  </a:extLst>
                </a:gridCol>
                <a:gridCol w="621973">
                  <a:extLst>
                    <a:ext uri="{9D8B030D-6E8A-4147-A177-3AD203B41FA5}">
                      <a16:colId xmlns:a16="http://schemas.microsoft.com/office/drawing/2014/main" val="20007"/>
                    </a:ext>
                  </a:extLst>
                </a:gridCol>
                <a:gridCol w="621973">
                  <a:extLst>
                    <a:ext uri="{9D8B030D-6E8A-4147-A177-3AD203B41FA5}">
                      <a16:colId xmlns:a16="http://schemas.microsoft.com/office/drawing/2014/main" val="20008"/>
                    </a:ext>
                  </a:extLst>
                </a:gridCol>
                <a:gridCol w="621973">
                  <a:extLst>
                    <a:ext uri="{9D8B030D-6E8A-4147-A177-3AD203B41FA5}">
                      <a16:colId xmlns:a16="http://schemas.microsoft.com/office/drawing/2014/main" val="20009"/>
                    </a:ext>
                  </a:extLst>
                </a:gridCol>
                <a:gridCol w="621973">
                  <a:extLst>
                    <a:ext uri="{9D8B030D-6E8A-4147-A177-3AD203B41FA5}">
                      <a16:colId xmlns:a16="http://schemas.microsoft.com/office/drawing/2014/main" val="20010"/>
                    </a:ext>
                  </a:extLst>
                </a:gridCol>
                <a:gridCol w="621973">
                  <a:extLst>
                    <a:ext uri="{9D8B030D-6E8A-4147-A177-3AD203B41FA5}">
                      <a16:colId xmlns:a16="http://schemas.microsoft.com/office/drawing/2014/main" val="20011"/>
                    </a:ext>
                  </a:extLst>
                </a:gridCol>
                <a:gridCol w="621973">
                  <a:extLst>
                    <a:ext uri="{9D8B030D-6E8A-4147-A177-3AD203B41FA5}">
                      <a16:colId xmlns:a16="http://schemas.microsoft.com/office/drawing/2014/main" val="20012"/>
                    </a:ext>
                  </a:extLst>
                </a:gridCol>
                <a:gridCol w="621973">
                  <a:extLst>
                    <a:ext uri="{9D8B030D-6E8A-4147-A177-3AD203B41FA5}">
                      <a16:colId xmlns:a16="http://schemas.microsoft.com/office/drawing/2014/main" val="20013"/>
                    </a:ext>
                  </a:extLst>
                </a:gridCol>
                <a:gridCol w="621973">
                  <a:extLst>
                    <a:ext uri="{9D8B030D-6E8A-4147-A177-3AD203B41FA5}">
                      <a16:colId xmlns:a16="http://schemas.microsoft.com/office/drawing/2014/main" val="20014"/>
                    </a:ext>
                  </a:extLst>
                </a:gridCol>
                <a:gridCol w="621973">
                  <a:extLst>
                    <a:ext uri="{9D8B030D-6E8A-4147-A177-3AD203B41FA5}">
                      <a16:colId xmlns:a16="http://schemas.microsoft.com/office/drawing/2014/main" val="20015"/>
                    </a:ext>
                  </a:extLst>
                </a:gridCol>
                <a:gridCol w="621973">
                  <a:extLst>
                    <a:ext uri="{9D8B030D-6E8A-4147-A177-3AD203B41FA5}">
                      <a16:colId xmlns:a16="http://schemas.microsoft.com/office/drawing/2014/main" val="20016"/>
                    </a:ext>
                  </a:extLst>
                </a:gridCol>
                <a:gridCol w="621973">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Packaging Format</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Bottles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Jars and Tubs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Pouches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Sachets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Blister Packs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Canisters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7" name="TextBox 16"/>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66138" y="2080450"/>
            <a:ext cx="366712" cy="533400"/>
          </a:xfrm>
          <a:prstGeom prst="rect">
            <a:avLst/>
          </a:prstGeo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16.5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Sales Channel</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Segmental</a:t>
            </a:r>
          </a:p>
          <a:p>
            <a:pPr marL="342900" indent="-323850">
              <a:lnSpc>
                <a:spcPct val="100000"/>
              </a:lnSpc>
              <a:spcAft>
                <a:spcPts val="800"/>
              </a:spcAft>
            </a:pPr>
            <a:r>
              <a:rPr sz="2000" b="0">
                <a:solidFill>
                  <a:srgbClr val="000000"/>
                </a:solidFill>
                <a:latin typeface="Calibri"/>
              </a:rPr>
              <a:t>➤	Table (Volume &amp; Value)</a:t>
            </a:r>
          </a:p>
          <a:p>
            <a:pPr marL="342900" indent="-323850">
              <a:lnSpc>
                <a:spcPct val="100000"/>
              </a:lnSpc>
              <a:spcAft>
                <a:spcPts val="800"/>
              </a:spcAft>
            </a:pPr>
            <a:r>
              <a:rPr sz="2000" b="0">
                <a:solidFill>
                  <a:srgbClr val="000000"/>
                </a:solidFill>
                <a:latin typeface="Calibri"/>
              </a:rPr>
              <a:t>➤	YoY</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Segmental Analysis Sales Channel</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U.K. segmental analysis by Sales Channel: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Growth Contribution 2026 → 2036, By Sales Channel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Value Shares &amp; Variance, By Sales Channel</a:t>
            </a:r>
          </a:p>
        </p:txBody>
      </p:sp>
      <p:graphicFrame>
        <p:nvGraphicFramePr>
          <p:cNvPr id="15" name="Table 14"/>
          <p:cNvGraphicFramePr>
            <a:graphicFrameLocks noGrp="1"/>
          </p:cNvGraphicFramePr>
          <p:nvPr/>
        </p:nvGraphicFramePr>
        <p:xfrm>
          <a:off x="6181725" y="1238250"/>
          <a:ext cx="5857876" cy="2286000"/>
        </p:xfrm>
        <a:graphic>
          <a:graphicData uri="http://schemas.openxmlformats.org/drawingml/2006/table">
            <a:tbl>
              <a:tblPr>
                <a:tableStyleId>{5C22544A-7EE6-4342-B048-85BDC9FD1C3A}</a:tableStyleId>
              </a:tblPr>
              <a:tblGrid>
                <a:gridCol w="1795140">
                  <a:extLst>
                    <a:ext uri="{9D8B030D-6E8A-4147-A177-3AD203B41FA5}">
                      <a16:colId xmlns:a16="http://schemas.microsoft.com/office/drawing/2014/main" val="20000"/>
                    </a:ext>
                  </a:extLst>
                </a:gridCol>
                <a:gridCol w="1015684">
                  <a:extLst>
                    <a:ext uri="{9D8B030D-6E8A-4147-A177-3AD203B41FA5}">
                      <a16:colId xmlns:a16="http://schemas.microsoft.com/office/drawing/2014/main" val="20001"/>
                    </a:ext>
                  </a:extLst>
                </a:gridCol>
                <a:gridCol w="1015684">
                  <a:extLst>
                    <a:ext uri="{9D8B030D-6E8A-4147-A177-3AD203B41FA5}">
                      <a16:colId xmlns:a16="http://schemas.microsoft.com/office/drawing/2014/main" val="20002"/>
                    </a:ext>
                  </a:extLst>
                </a:gridCol>
                <a:gridCol w="1015684">
                  <a:extLst>
                    <a:ext uri="{9D8B030D-6E8A-4147-A177-3AD203B41FA5}">
                      <a16:colId xmlns:a16="http://schemas.microsoft.com/office/drawing/2014/main" val="20003"/>
                    </a:ext>
                  </a:extLst>
                </a:gridCol>
                <a:gridCol w="1015684">
                  <a:extLst>
                    <a:ext uri="{9D8B030D-6E8A-4147-A177-3AD203B41FA5}">
                      <a16:colId xmlns:a16="http://schemas.microsoft.com/office/drawing/2014/main" val="20004"/>
                    </a:ext>
                  </a:extLst>
                </a:gridCol>
              </a:tblGrid>
              <a:tr h="246126">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39979">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39979">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39979">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39979">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39979">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339979">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248400" y="3533775"/>
            <a:ext cx="57245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3924300"/>
            <a:ext cx="11520309"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Absolute $ Opportunity, By Sales Channel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821543" y="2237613"/>
            <a:ext cx="366712" cy="533399"/>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U.K. Senior Dog Cognitive Supplement Market Tables Sales Channel</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of the U.K. market by Sales Channel,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U.K. Value, By Sales Channel (US$ Mn)</a:t>
            </a:r>
          </a:p>
        </p:txBody>
      </p:sp>
      <p:graphicFrame>
        <p:nvGraphicFramePr>
          <p:cNvPr id="16" name="Table 15"/>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1844471">
                  <a:extLst>
                    <a:ext uri="{9D8B030D-6E8A-4147-A177-3AD203B41FA5}">
                      <a16:colId xmlns:a16="http://schemas.microsoft.com/office/drawing/2014/main" val="20000"/>
                    </a:ext>
                  </a:extLst>
                </a:gridCol>
                <a:gridCol w="590749">
                  <a:extLst>
                    <a:ext uri="{9D8B030D-6E8A-4147-A177-3AD203B41FA5}">
                      <a16:colId xmlns:a16="http://schemas.microsoft.com/office/drawing/2014/main" val="20001"/>
                    </a:ext>
                  </a:extLst>
                </a:gridCol>
                <a:gridCol w="590749">
                  <a:extLst>
                    <a:ext uri="{9D8B030D-6E8A-4147-A177-3AD203B41FA5}">
                      <a16:colId xmlns:a16="http://schemas.microsoft.com/office/drawing/2014/main" val="20002"/>
                    </a:ext>
                  </a:extLst>
                </a:gridCol>
                <a:gridCol w="590749">
                  <a:extLst>
                    <a:ext uri="{9D8B030D-6E8A-4147-A177-3AD203B41FA5}">
                      <a16:colId xmlns:a16="http://schemas.microsoft.com/office/drawing/2014/main" val="20003"/>
                    </a:ext>
                  </a:extLst>
                </a:gridCol>
                <a:gridCol w="590749">
                  <a:extLst>
                    <a:ext uri="{9D8B030D-6E8A-4147-A177-3AD203B41FA5}">
                      <a16:colId xmlns:a16="http://schemas.microsoft.com/office/drawing/2014/main" val="20004"/>
                    </a:ext>
                  </a:extLst>
                </a:gridCol>
                <a:gridCol w="590749">
                  <a:extLst>
                    <a:ext uri="{9D8B030D-6E8A-4147-A177-3AD203B41FA5}">
                      <a16:colId xmlns:a16="http://schemas.microsoft.com/office/drawing/2014/main" val="20005"/>
                    </a:ext>
                  </a:extLst>
                </a:gridCol>
                <a:gridCol w="590749">
                  <a:extLst>
                    <a:ext uri="{9D8B030D-6E8A-4147-A177-3AD203B41FA5}">
                      <a16:colId xmlns:a16="http://schemas.microsoft.com/office/drawing/2014/main" val="20006"/>
                    </a:ext>
                  </a:extLst>
                </a:gridCol>
                <a:gridCol w="590749">
                  <a:extLst>
                    <a:ext uri="{9D8B030D-6E8A-4147-A177-3AD203B41FA5}">
                      <a16:colId xmlns:a16="http://schemas.microsoft.com/office/drawing/2014/main" val="20007"/>
                    </a:ext>
                  </a:extLst>
                </a:gridCol>
                <a:gridCol w="590749">
                  <a:extLst>
                    <a:ext uri="{9D8B030D-6E8A-4147-A177-3AD203B41FA5}">
                      <a16:colId xmlns:a16="http://schemas.microsoft.com/office/drawing/2014/main" val="20008"/>
                    </a:ext>
                  </a:extLst>
                </a:gridCol>
                <a:gridCol w="590749">
                  <a:extLst>
                    <a:ext uri="{9D8B030D-6E8A-4147-A177-3AD203B41FA5}">
                      <a16:colId xmlns:a16="http://schemas.microsoft.com/office/drawing/2014/main" val="20009"/>
                    </a:ext>
                  </a:extLst>
                </a:gridCol>
                <a:gridCol w="590749">
                  <a:extLst>
                    <a:ext uri="{9D8B030D-6E8A-4147-A177-3AD203B41FA5}">
                      <a16:colId xmlns:a16="http://schemas.microsoft.com/office/drawing/2014/main" val="20010"/>
                    </a:ext>
                  </a:extLst>
                </a:gridCol>
                <a:gridCol w="590749">
                  <a:extLst>
                    <a:ext uri="{9D8B030D-6E8A-4147-A177-3AD203B41FA5}">
                      <a16:colId xmlns:a16="http://schemas.microsoft.com/office/drawing/2014/main" val="20011"/>
                    </a:ext>
                  </a:extLst>
                </a:gridCol>
                <a:gridCol w="590749">
                  <a:extLst>
                    <a:ext uri="{9D8B030D-6E8A-4147-A177-3AD203B41FA5}">
                      <a16:colId xmlns:a16="http://schemas.microsoft.com/office/drawing/2014/main" val="20012"/>
                    </a:ext>
                  </a:extLst>
                </a:gridCol>
                <a:gridCol w="590749">
                  <a:extLst>
                    <a:ext uri="{9D8B030D-6E8A-4147-A177-3AD203B41FA5}">
                      <a16:colId xmlns:a16="http://schemas.microsoft.com/office/drawing/2014/main" val="20013"/>
                    </a:ext>
                  </a:extLst>
                </a:gridCol>
                <a:gridCol w="590749">
                  <a:extLst>
                    <a:ext uri="{9D8B030D-6E8A-4147-A177-3AD203B41FA5}">
                      <a16:colId xmlns:a16="http://schemas.microsoft.com/office/drawing/2014/main" val="20014"/>
                    </a:ext>
                  </a:extLst>
                </a:gridCol>
                <a:gridCol w="590749">
                  <a:extLst>
                    <a:ext uri="{9D8B030D-6E8A-4147-A177-3AD203B41FA5}">
                      <a16:colId xmlns:a16="http://schemas.microsoft.com/office/drawing/2014/main" val="20015"/>
                    </a:ext>
                  </a:extLst>
                </a:gridCol>
                <a:gridCol w="590749">
                  <a:extLst>
                    <a:ext uri="{9D8B030D-6E8A-4147-A177-3AD203B41FA5}">
                      <a16:colId xmlns:a16="http://schemas.microsoft.com/office/drawing/2014/main" val="20016"/>
                    </a:ext>
                  </a:extLst>
                </a:gridCol>
                <a:gridCol w="590749">
                  <a:extLst>
                    <a:ext uri="{9D8B030D-6E8A-4147-A177-3AD203B41FA5}">
                      <a16:colId xmlns:a16="http://schemas.microsoft.com/office/drawing/2014/main" val="20017"/>
                    </a:ext>
                  </a:extLst>
                </a:gridCol>
              </a:tblGrid>
              <a:tr h="246126">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ctr"/>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507">
                <a:tc>
                  <a:txBody>
                    <a:bodyPr/>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6507">
                <a:tc>
                  <a:txBody>
                    <a:bodyPr/>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6507">
                <a:tc>
                  <a:txBody>
                    <a:bodyPr/>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6507">
                <a:tc>
                  <a:txBody>
                    <a:bodyPr/>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6507">
                <a:tc>
                  <a:txBody>
                    <a:bodyPr/>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246507">
                <a:tc>
                  <a:txBody>
                    <a:bodyPr/>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r h="24650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tc>
                  <a:txBody>
                    <a:bodyPr/>
                    <a:lstStyle/>
                    <a:p>
                      <a:pPr algn="ctr"/>
                      <a:r>
                        <a:rPr sz="1100"/>
                        <a:t> </a:t>
                      </a:r>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7" name="TextBox 16"/>
          <p:cNvSpPr txBox="1"/>
          <p:nvPr/>
        </p:nvSpPr>
        <p:spPr>
          <a:xfrm>
            <a:off x="219075" y="32194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831547" y="2080450"/>
            <a:ext cx="366712" cy="533400"/>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698875"/>
            <a:ext cx="7239000" cy="514350"/>
          </a:xfrm>
          <a:prstGeom prst="rect">
            <a:avLst/>
          </a:prstGeom>
          <a:noFill/>
        </p:spPr>
        <p:txBody>
          <a:bodyPr wrap="square" lIns="0" tIns="0" r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Market Pricing</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Product Pricing &amp; Regional Price Index Trends</a:t>
            </a:r>
          </a:p>
          <a:p>
            <a:pPr marL="342900" indent="-323850">
              <a:lnSpc>
                <a:spcPct val="100000"/>
              </a:lnSpc>
              <a:spcAft>
                <a:spcPts val="800"/>
              </a:spcAft>
            </a:pPr>
            <a:r>
              <a:rPr sz="2000" b="0">
                <a:solidFill>
                  <a:srgbClr val="000000"/>
                </a:solidFill>
                <a:latin typeface="Calibri"/>
              </a:rPr>
              <a:t>➤	Global Pricing Assessment</a:t>
            </a:r>
          </a:p>
          <a:p>
            <a:pPr marL="342900" indent="-323850">
              <a:lnSpc>
                <a:spcPct val="100000"/>
              </a:lnSpc>
              <a:spcAft>
                <a:spcPts val="800"/>
              </a:spcAft>
            </a:pPr>
            <a:r>
              <a:rPr sz="2000" b="0">
                <a:solidFill>
                  <a:srgbClr val="000000"/>
                </a:solidFill>
                <a:latin typeface="Calibri"/>
              </a:rPr>
              <a:t>➤	Price Positioning &amp; Key Findings</a:t>
            </a:r>
          </a:p>
          <a:p>
            <a:pPr marL="342900" indent="-323850">
              <a:lnSpc>
                <a:spcPct val="100000"/>
              </a:lnSpc>
              <a:spcAft>
                <a:spcPts val="800"/>
              </a:spcAft>
            </a:pPr>
            <a:r>
              <a:rPr sz="2000" b="0">
                <a:solidFill>
                  <a:srgbClr val="000000"/>
                </a:solidFill>
                <a:latin typeface="Calibri"/>
              </a:rPr>
              <a:t>➤	Key Pricing Drivers</a:t>
            </a:r>
          </a:p>
          <a:p>
            <a:pPr marL="342900" indent="-323850">
              <a:lnSpc>
                <a:spcPct val="100000"/>
              </a:lnSpc>
              <a:spcAft>
                <a:spcPts val="800"/>
              </a:spcAft>
            </a:pPr>
            <a:r>
              <a:rPr sz="2000" b="0">
                <a:solidFill>
                  <a:srgbClr val="000000"/>
                </a:solidFill>
                <a:latin typeface="Calibri"/>
              </a:rPr>
              <a:t>➤	Factors Impacting Pricing</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4724"/>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111919" y="3471051"/>
            <a:ext cx="488156" cy="133350"/>
          </a:xfrm>
          <a:prstGeom prst="rect">
            <a:avLst/>
          </a:prstGeom>
          <a:noFill/>
        </p:spPr>
        <p:txBody>
          <a:bodyPr wrap="square" lIns="28575" tIns="9525" rIns="28575" bIns="9525" anchor="ctr">
            <a:spAutoFit/>
          </a:bodyPr>
          <a:lstStyle/>
          <a:p>
            <a:pPr algn="r"/>
            <a:r>
              <a:rPr sz="1100" b="0">
                <a:solidFill>
                  <a:srgbClr val="6C7A89"/>
                </a:solidFill>
                <a:latin typeface="Calibri"/>
              </a:rPr>
              <a:t>2457.0</a:t>
            </a:r>
          </a:p>
        </p:txBody>
      </p:sp>
      <p:sp>
        <p:nvSpPr>
          <p:cNvPr id="14" name="TextBox 13"/>
          <p:cNvSpPr txBox="1"/>
          <p:nvPr/>
        </p:nvSpPr>
        <p:spPr>
          <a:xfrm>
            <a:off x="111919" y="2561000"/>
            <a:ext cx="488156" cy="133350"/>
          </a:xfrm>
          <a:prstGeom prst="rect">
            <a:avLst/>
          </a:prstGeom>
          <a:noFill/>
        </p:spPr>
        <p:txBody>
          <a:bodyPr wrap="square" lIns="28575" tIns="9525" rIns="28575" bIns="9525" anchor="ctr">
            <a:spAutoFit/>
          </a:bodyPr>
          <a:lstStyle/>
          <a:p>
            <a:pPr algn="r"/>
            <a:r>
              <a:rPr sz="1100" b="0">
                <a:solidFill>
                  <a:srgbClr val="6C7A89"/>
                </a:solidFill>
                <a:latin typeface="Calibri"/>
              </a:rPr>
              <a:t>4444.0</a:t>
            </a:r>
          </a:p>
        </p:txBody>
      </p:sp>
      <p:sp>
        <p:nvSpPr>
          <p:cNvPr id="15" name="TextBox 14"/>
          <p:cNvSpPr txBox="1"/>
          <p:nvPr/>
        </p:nvSpPr>
        <p:spPr>
          <a:xfrm>
            <a:off x="111919" y="1650949"/>
            <a:ext cx="488156" cy="133350"/>
          </a:xfrm>
          <a:prstGeom prst="rect">
            <a:avLst/>
          </a:prstGeom>
          <a:noFill/>
        </p:spPr>
        <p:txBody>
          <a:bodyPr wrap="square" lIns="28575" tIns="9525" rIns="28575" bIns="9525" anchor="ctr">
            <a:spAutoFit/>
          </a:bodyPr>
          <a:lstStyle/>
          <a:p>
            <a:pPr algn="r"/>
            <a:r>
              <a:rPr sz="1100" b="0">
                <a:solidFill>
                  <a:srgbClr val="6C7A89"/>
                </a:solidFill>
                <a:latin typeface="Calibri"/>
              </a:rPr>
              <a:t>6430.9</a:t>
            </a:r>
          </a:p>
        </p:txBody>
      </p:sp>
      <p:cxnSp>
        <p:nvCxnSpPr>
          <p:cNvPr id="16" name="Connector 15"/>
          <p:cNvCxnSpPr/>
          <p:nvPr/>
        </p:nvCxnSpPr>
        <p:spPr>
          <a:xfrm>
            <a:off x="1241425" y="3056827"/>
            <a:ext cx="0" cy="129134"/>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022350" y="3056827"/>
            <a:ext cx="438150" cy="129134"/>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7225" y="2904427"/>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sp>
        <p:nvSpPr>
          <p:cNvPr id="19" name="TextBox 18"/>
          <p:cNvSpPr txBox="1"/>
          <p:nvPr/>
        </p:nvSpPr>
        <p:spPr>
          <a:xfrm>
            <a:off x="657225" y="3566301"/>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Chewables</a:t>
            </a:r>
          </a:p>
        </p:txBody>
      </p:sp>
      <p:cxnSp>
        <p:nvCxnSpPr>
          <p:cNvPr id="20" name="Connector 19"/>
          <p:cNvCxnSpPr/>
          <p:nvPr/>
        </p:nvCxnSpPr>
        <p:spPr>
          <a:xfrm>
            <a:off x="2409825" y="3222287"/>
            <a:ext cx="0" cy="10542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2190750" y="3222287"/>
            <a:ext cx="438150" cy="10542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825625" y="3069887"/>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sp>
        <p:nvSpPr>
          <p:cNvPr id="23" name="TextBox 22"/>
          <p:cNvSpPr txBox="1"/>
          <p:nvPr/>
        </p:nvSpPr>
        <p:spPr>
          <a:xfrm>
            <a:off x="1825625" y="3566301"/>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Tablets</a:t>
            </a:r>
          </a:p>
        </p:txBody>
      </p:sp>
      <p:cxnSp>
        <p:nvCxnSpPr>
          <p:cNvPr id="24" name="Connector 23"/>
          <p:cNvCxnSpPr/>
          <p:nvPr/>
        </p:nvCxnSpPr>
        <p:spPr>
          <a:xfrm>
            <a:off x="3578225" y="1927636"/>
            <a:ext cx="0" cy="228529"/>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359150" y="1927636"/>
            <a:ext cx="438150" cy="228529"/>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94025" y="1775236"/>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sp>
        <p:nvSpPr>
          <p:cNvPr id="27" name="TextBox 26"/>
          <p:cNvSpPr txBox="1"/>
          <p:nvPr/>
        </p:nvSpPr>
        <p:spPr>
          <a:xfrm>
            <a:off x="2994025" y="3566301"/>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Capsules and Softgels</a:t>
            </a:r>
          </a:p>
        </p:txBody>
      </p:sp>
      <p:cxnSp>
        <p:nvCxnSpPr>
          <p:cNvPr id="28" name="Connector 27"/>
          <p:cNvCxnSpPr/>
          <p:nvPr/>
        </p:nvCxnSpPr>
        <p:spPr>
          <a:xfrm>
            <a:off x="4746625" y="2013198"/>
            <a:ext cx="0" cy="18257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27550" y="2013198"/>
            <a:ext cx="438150" cy="18257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62425" y="1860798"/>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sp>
        <p:nvSpPr>
          <p:cNvPr id="31" name="TextBox 30"/>
          <p:cNvSpPr txBox="1"/>
          <p:nvPr/>
        </p:nvSpPr>
        <p:spPr>
          <a:xfrm>
            <a:off x="4162425" y="3566301"/>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Powders and Granules</a:t>
            </a:r>
          </a:p>
        </p:txBody>
      </p:sp>
      <p:cxnSp>
        <p:nvCxnSpPr>
          <p:cNvPr id="32" name="Connector 31"/>
          <p:cNvCxnSpPr/>
          <p:nvPr/>
        </p:nvCxnSpPr>
        <p:spPr>
          <a:xfrm>
            <a:off x="5915025" y="2045868"/>
            <a:ext cx="0" cy="19171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695950" y="2045868"/>
            <a:ext cx="438150" cy="19171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30825" y="1893468"/>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sp>
        <p:nvSpPr>
          <p:cNvPr id="35" name="TextBox 34"/>
          <p:cNvSpPr txBox="1"/>
          <p:nvPr/>
        </p:nvSpPr>
        <p:spPr>
          <a:xfrm>
            <a:off x="5330825" y="3566301"/>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Liquids</a:t>
            </a:r>
          </a:p>
        </p:txBody>
      </p:sp>
      <p:cxnSp>
        <p:nvCxnSpPr>
          <p:cNvPr id="36" name="Connector 35"/>
          <p:cNvCxnSpPr/>
          <p:nvPr/>
        </p:nvCxnSpPr>
        <p:spPr>
          <a:xfrm>
            <a:off x="7083425" y="2839018"/>
            <a:ext cx="0" cy="14789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864350" y="2839018"/>
            <a:ext cx="438150" cy="14789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99225" y="2686618"/>
            <a:ext cx="1168400" cy="133350"/>
          </a:xfrm>
          <a:prstGeom prst="rect">
            <a:avLst/>
          </a:prstGeom>
          <a:noFill/>
        </p:spPr>
        <p:txBody>
          <a:bodyPr wrap="square" lIns="28575" tIns="9525" rIns="28575" bIns="9525">
            <a:spAutoFit/>
          </a:bodyPr>
          <a:lstStyle/>
          <a:p>
            <a:pPr algn="ctr"/>
            <a:r>
              <a:rPr sz="1100" b="1">
                <a:solidFill>
                  <a:srgbClr val="0B2E4A"/>
                </a:solidFill>
                <a:latin typeface="Calibri"/>
              </a:rPr>
              <a:t> </a:t>
            </a:r>
          </a:p>
        </p:txBody>
      </p:sp>
      <p:sp>
        <p:nvSpPr>
          <p:cNvPr id="39" name="TextBox 38"/>
          <p:cNvSpPr txBox="1"/>
          <p:nvPr/>
        </p:nvSpPr>
        <p:spPr>
          <a:xfrm>
            <a:off x="6499225" y="3566301"/>
            <a:ext cx="1168400" cy="285750"/>
          </a:xfrm>
          <a:prstGeom prst="rect">
            <a:avLst/>
          </a:prstGeom>
          <a:noFill/>
        </p:spPr>
        <p:txBody>
          <a:bodyPr wrap="square" lIns="28575" tIns="9525" rIns="28575" bIns="9525">
            <a:spAutoFit/>
          </a:bodyPr>
          <a:lstStyle/>
          <a:p>
            <a:pPr algn="ctr"/>
            <a:r>
              <a:rPr sz="1100" b="0">
                <a:solidFill>
                  <a:srgbClr val="2E2E2E"/>
                </a:solidFill>
                <a:latin typeface="Calibri"/>
              </a:rPr>
              <a:t>Gels and Pastes</a:t>
            </a:r>
          </a:p>
        </p:txBody>
      </p:sp>
      <p:sp>
        <p:nvSpPr>
          <p:cNvPr id="40" name="Rounded Rectangle 39"/>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38125" y="4048891"/>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42" name="Connector 41"/>
          <p:cNvCxnSpPr/>
          <p:nvPr/>
        </p:nvCxnSpPr>
        <p:spPr>
          <a:xfrm>
            <a:off x="619125" y="452283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488606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561252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597576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522836"/>
            <a:ext cx="0" cy="145292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52283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488606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561252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597576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3" name="FMI Scale tick"/>
          <p:cNvSpPr txBox="1"/>
          <p:nvPr/>
        </p:nvSpPr>
        <p:spPr>
          <a:xfrm>
            <a:off x="219075" y="4456161"/>
            <a:ext cx="361950" cy="133350"/>
          </a:xfrm>
          <a:prstGeom prst="rect">
            <a:avLst/>
          </a:prstGeom>
          <a:noFill/>
        </p:spPr>
        <p:txBody>
          <a:bodyPr wrap="none" lIns="0" tIns="0" rIns="0" bIns="0" anchor="ctr">
            <a:spAutoFit/>
          </a:bodyPr>
          <a:lstStyle/>
          <a:p>
            <a:pPr algn="r"/>
            <a:r>
              <a:rPr sz="1100" b="0">
                <a:solidFill>
                  <a:srgbClr val="6C7A89"/>
                </a:solidFill>
                <a:latin typeface="Calibri"/>
              </a:rPr>
              <a:t>+11%</a:t>
            </a:r>
          </a:p>
        </p:txBody>
      </p:sp>
      <p:sp>
        <p:nvSpPr>
          <p:cNvPr id="54" name="FMI Scale tick"/>
          <p:cNvSpPr txBox="1"/>
          <p:nvPr/>
        </p:nvSpPr>
        <p:spPr>
          <a:xfrm>
            <a:off x="219075" y="4819392"/>
            <a:ext cx="361950" cy="133350"/>
          </a:xfrm>
          <a:prstGeom prst="rect">
            <a:avLst/>
          </a:prstGeom>
          <a:noFill/>
        </p:spPr>
        <p:txBody>
          <a:bodyPr wrap="none" lIns="0" tIns="0" rIns="0" bIns="0" anchor="ctr">
            <a:spAutoFit/>
          </a:bodyPr>
          <a:lstStyle/>
          <a:p>
            <a:pPr algn="r"/>
            <a:r>
              <a:rPr sz="1100" b="0">
                <a:solidFill>
                  <a:srgbClr val="6C7A89"/>
                </a:solidFill>
                <a:latin typeface="Calibri"/>
              </a:rPr>
              <a:t>+5%</a:t>
            </a:r>
          </a:p>
        </p:txBody>
      </p:sp>
      <p:sp>
        <p:nvSpPr>
          <p:cNvPr id="55" name="FMI Scale tick"/>
          <p:cNvSpPr txBox="1"/>
          <p:nvPr/>
        </p:nvSpPr>
        <p:spPr>
          <a:xfrm>
            <a:off x="219075" y="5182623"/>
            <a:ext cx="361950" cy="133350"/>
          </a:xfrm>
          <a:prstGeom prst="rect">
            <a:avLst/>
          </a:prstGeom>
          <a:noFill/>
        </p:spPr>
        <p:txBody>
          <a:bodyPr wrap="none" lIns="0" tIns="0" rIns="0" bIns="0" anchor="ctr">
            <a:spAutoFit/>
          </a:bodyPr>
          <a:lstStyle/>
          <a:p>
            <a:pPr algn="r"/>
            <a:r>
              <a:rPr sz="1100" b="0">
                <a:solidFill>
                  <a:srgbClr val="6C7A89"/>
                </a:solidFill>
                <a:latin typeface="Calibri"/>
              </a:rPr>
              <a:t>0%</a:t>
            </a:r>
          </a:p>
        </p:txBody>
      </p:sp>
      <p:sp>
        <p:nvSpPr>
          <p:cNvPr id="56" name="FMI Scale tick"/>
          <p:cNvSpPr txBox="1"/>
          <p:nvPr/>
        </p:nvSpPr>
        <p:spPr>
          <a:xfrm>
            <a:off x="219075" y="5545854"/>
            <a:ext cx="361950" cy="133350"/>
          </a:xfrm>
          <a:prstGeom prst="rect">
            <a:avLst/>
          </a:prstGeom>
          <a:noFill/>
        </p:spPr>
        <p:txBody>
          <a:bodyPr wrap="none" lIns="0" tIns="0" rIns="0" bIns="0" anchor="ctr">
            <a:spAutoFit/>
          </a:bodyPr>
          <a:lstStyle/>
          <a:p>
            <a:pPr algn="r"/>
            <a:r>
              <a:rPr sz="1100" b="0">
                <a:solidFill>
                  <a:srgbClr val="6C7A89"/>
                </a:solidFill>
                <a:latin typeface="Calibri"/>
              </a:rPr>
              <a:t>-5%</a:t>
            </a:r>
          </a:p>
        </p:txBody>
      </p:sp>
      <p:sp>
        <p:nvSpPr>
          <p:cNvPr id="57" name="FMI Scale tick"/>
          <p:cNvSpPr txBox="1"/>
          <p:nvPr/>
        </p:nvSpPr>
        <p:spPr>
          <a:xfrm>
            <a:off x="219075" y="5909085"/>
            <a:ext cx="361950" cy="133350"/>
          </a:xfrm>
          <a:prstGeom prst="rect">
            <a:avLst/>
          </a:prstGeom>
          <a:noFill/>
        </p:spPr>
        <p:txBody>
          <a:bodyPr wrap="none" lIns="0" tIns="0" rIns="0" bIns="0" anchor="ctr">
            <a:spAutoFit/>
          </a:bodyPr>
          <a:lstStyle/>
          <a:p>
            <a:pPr algn="r"/>
            <a:r>
              <a:rPr sz="1100" b="0">
                <a:solidFill>
                  <a:srgbClr val="6C7A89"/>
                </a:solidFill>
                <a:latin typeface="Calibri"/>
              </a:rPr>
              <a:t>-11%</a:t>
            </a:r>
          </a:p>
        </p:txBody>
      </p:sp>
      <p:cxnSp>
        <p:nvCxnSpPr>
          <p:cNvPr id="58" name="Connector 57"/>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FMI Data Label"/>
          <p:cNvSpPr txBox="1"/>
          <p:nvPr/>
        </p:nvSpPr>
        <p:spPr>
          <a:xfrm>
            <a:off x="619125" y="4471232"/>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61" name="Rectangle 60"/>
          <p:cNvSpPr/>
          <p:nvPr/>
        </p:nvSpPr>
        <p:spPr>
          <a:xfrm>
            <a:off x="2152650" y="5205209"/>
            <a:ext cx="457200" cy="4408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FMI Data Label"/>
          <p:cNvSpPr txBox="1"/>
          <p:nvPr/>
        </p:nvSpPr>
        <p:spPr>
          <a:xfrm>
            <a:off x="1793875" y="5062334"/>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63" name="Rectangle 62"/>
          <p:cNvSpPr/>
          <p:nvPr/>
        </p:nvSpPr>
        <p:spPr>
          <a:xfrm>
            <a:off x="3327400" y="4769281"/>
            <a:ext cx="457200" cy="48001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FMI Data Label"/>
          <p:cNvSpPr txBox="1"/>
          <p:nvPr/>
        </p:nvSpPr>
        <p:spPr>
          <a:xfrm>
            <a:off x="2968625" y="4626406"/>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65" name="Rectangle 64"/>
          <p:cNvSpPr/>
          <p:nvPr/>
        </p:nvSpPr>
        <p:spPr>
          <a:xfrm>
            <a:off x="4502150" y="5249298"/>
            <a:ext cx="457200" cy="37973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FMI Data Label"/>
          <p:cNvSpPr txBox="1"/>
          <p:nvPr/>
        </p:nvSpPr>
        <p:spPr>
          <a:xfrm>
            <a:off x="4143375" y="5638555"/>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67" name="Rectangle 66"/>
          <p:cNvSpPr/>
          <p:nvPr/>
        </p:nvSpPr>
        <p:spPr>
          <a:xfrm>
            <a:off x="5676900" y="5249298"/>
            <a:ext cx="457200" cy="37896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FMI Data Label"/>
          <p:cNvSpPr txBox="1"/>
          <p:nvPr/>
        </p:nvSpPr>
        <p:spPr>
          <a:xfrm>
            <a:off x="5318125" y="5637791"/>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69" name="Rectangle 68"/>
          <p:cNvSpPr/>
          <p:nvPr/>
        </p:nvSpPr>
        <p:spPr>
          <a:xfrm>
            <a:off x="6851650" y="5249298"/>
            <a:ext cx="457200" cy="7662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FMI Data Label"/>
          <p:cNvSpPr txBox="1"/>
          <p:nvPr/>
        </p:nvSpPr>
        <p:spPr>
          <a:xfrm>
            <a:off x="6492875" y="5335449"/>
            <a:ext cx="1174750" cy="133350"/>
          </a:xfrm>
          <a:prstGeom prst="rect">
            <a:avLst/>
          </a:prstGeom>
          <a:noFill/>
        </p:spPr>
        <p:txBody>
          <a:bodyPr wrap="square" lIns="28575" tIns="9525" rIns="28575" bIns="9525">
            <a:spAutoFit/>
          </a:bodyPr>
          <a:lstStyle/>
          <a:p>
            <a:pPr algn="ctr"/>
            <a:r>
              <a:rPr sz="1100" b="1">
                <a:solidFill>
                  <a:srgbClr val="2E2E2E"/>
                </a:solidFill>
                <a:latin typeface="Calibri"/>
              </a:rPr>
              <a:t> </a:t>
            </a:r>
          </a:p>
        </p:txBody>
      </p:sp>
      <p:sp>
        <p:nvSpPr>
          <p:cNvPr id="71" name="TextBox 70"/>
          <p:cNvSpPr txBox="1"/>
          <p:nvPr/>
        </p:nvSpPr>
        <p:spPr>
          <a:xfrm>
            <a:off x="61912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North America</a:t>
            </a:r>
          </a:p>
        </p:txBody>
      </p:sp>
      <p:sp>
        <p:nvSpPr>
          <p:cNvPr id="72" name="TextBox 71"/>
          <p:cNvSpPr txBox="1"/>
          <p:nvPr/>
        </p:nvSpPr>
        <p:spPr>
          <a:xfrm>
            <a:off x="179387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Latin America</a:t>
            </a:r>
          </a:p>
        </p:txBody>
      </p:sp>
      <p:sp>
        <p:nvSpPr>
          <p:cNvPr id="73" name="TextBox 72"/>
          <p:cNvSpPr txBox="1"/>
          <p:nvPr/>
        </p:nvSpPr>
        <p:spPr>
          <a:xfrm>
            <a:off x="296862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Europe</a:t>
            </a:r>
          </a:p>
        </p:txBody>
      </p:sp>
      <p:sp>
        <p:nvSpPr>
          <p:cNvPr id="74" name="TextBox 73"/>
          <p:cNvSpPr txBox="1"/>
          <p:nvPr/>
        </p:nvSpPr>
        <p:spPr>
          <a:xfrm>
            <a:off x="414337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East Asia</a:t>
            </a:r>
          </a:p>
        </p:txBody>
      </p:sp>
      <p:sp>
        <p:nvSpPr>
          <p:cNvPr id="75" name="TextBox 74"/>
          <p:cNvSpPr txBox="1"/>
          <p:nvPr/>
        </p:nvSpPr>
        <p:spPr>
          <a:xfrm>
            <a:off x="531812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South Asia &amp; Pacific</a:t>
            </a:r>
          </a:p>
        </p:txBody>
      </p:sp>
      <p:sp>
        <p:nvSpPr>
          <p:cNvPr id="76" name="TextBox 75"/>
          <p:cNvSpPr txBox="1"/>
          <p:nvPr/>
        </p:nvSpPr>
        <p:spPr>
          <a:xfrm>
            <a:off x="6492875" y="6135380"/>
            <a:ext cx="1174750" cy="247650"/>
          </a:xfrm>
          <a:prstGeom prst="rect">
            <a:avLst/>
          </a:prstGeom>
          <a:noFill/>
        </p:spPr>
        <p:txBody>
          <a:bodyPr wrap="square" lIns="28575" tIns="9525" rIns="28575" bIns="9525">
            <a:spAutoFit/>
          </a:bodyPr>
          <a:lstStyle/>
          <a:p>
            <a:pPr algn="ctr"/>
            <a:r>
              <a:rPr sz="1100" b="0">
                <a:solidFill>
                  <a:srgbClr val="2E2E2E"/>
                </a:solidFill>
                <a:latin typeface="Calibri"/>
              </a:rPr>
              <a:t>Middle East &amp; Africa</a:t>
            </a:r>
          </a:p>
        </p:txBody>
      </p:sp>
      <p:sp>
        <p:nvSpPr>
          <p:cNvPr id="77" name="Rounded Rectangle 76"/>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048625" y="1403299"/>
            <a:ext cx="38671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79" name="Rectangle 7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048625" y="1727149"/>
            <a:ext cx="3867150" cy="4753036"/>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81" name="TextBox 8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82" name="Picture 81" descr="lock.png"/>
          <p:cNvPicPr>
            <a:picLocks noChangeAspect="1"/>
          </p:cNvPicPr>
          <p:nvPr/>
        </p:nvPicPr>
        <p:blipFill>
          <a:blip r:embed="rId4"/>
          <a:stretch>
            <a:fillRect/>
          </a:stretch>
        </p:blipFill>
        <p:spPr>
          <a:xfrm>
            <a:off x="1177075" y="2877503"/>
            <a:ext cx="128699" cy="187198"/>
          </a:xfrm>
          <a:prstGeom prst="rect">
            <a:avLst/>
          </a:prstGeom>
        </p:spPr>
      </p:pic>
      <p:pic>
        <p:nvPicPr>
          <p:cNvPr id="83" name="Picture 82" descr="lock.png"/>
          <p:cNvPicPr>
            <a:picLocks noChangeAspect="1"/>
          </p:cNvPicPr>
          <p:nvPr/>
        </p:nvPicPr>
        <p:blipFill>
          <a:blip r:embed="rId4"/>
          <a:stretch>
            <a:fillRect/>
          </a:stretch>
        </p:blipFill>
        <p:spPr>
          <a:xfrm>
            <a:off x="2345475" y="3042963"/>
            <a:ext cx="128699" cy="187198"/>
          </a:xfrm>
          <a:prstGeom prst="rect">
            <a:avLst/>
          </a:prstGeom>
        </p:spPr>
      </p:pic>
      <p:pic>
        <p:nvPicPr>
          <p:cNvPr id="84" name="Picture 83" descr="lock.png"/>
          <p:cNvPicPr>
            <a:picLocks noChangeAspect="1"/>
          </p:cNvPicPr>
          <p:nvPr/>
        </p:nvPicPr>
        <p:blipFill>
          <a:blip r:embed="rId4"/>
          <a:stretch>
            <a:fillRect/>
          </a:stretch>
        </p:blipFill>
        <p:spPr>
          <a:xfrm>
            <a:off x="3513875" y="1748312"/>
            <a:ext cx="128699" cy="187198"/>
          </a:xfrm>
          <a:prstGeom prst="rect">
            <a:avLst/>
          </a:prstGeom>
        </p:spPr>
      </p:pic>
      <p:pic>
        <p:nvPicPr>
          <p:cNvPr id="85" name="Picture 84" descr="lock.png"/>
          <p:cNvPicPr>
            <a:picLocks noChangeAspect="1"/>
          </p:cNvPicPr>
          <p:nvPr/>
        </p:nvPicPr>
        <p:blipFill>
          <a:blip r:embed="rId4"/>
          <a:stretch>
            <a:fillRect/>
          </a:stretch>
        </p:blipFill>
        <p:spPr>
          <a:xfrm>
            <a:off x="4682275" y="1833874"/>
            <a:ext cx="128699" cy="187198"/>
          </a:xfrm>
          <a:prstGeom prst="rect">
            <a:avLst/>
          </a:prstGeom>
        </p:spPr>
      </p:pic>
      <p:pic>
        <p:nvPicPr>
          <p:cNvPr id="86" name="Picture 85" descr="lock.png"/>
          <p:cNvPicPr>
            <a:picLocks noChangeAspect="1"/>
          </p:cNvPicPr>
          <p:nvPr/>
        </p:nvPicPr>
        <p:blipFill>
          <a:blip r:embed="rId4"/>
          <a:stretch>
            <a:fillRect/>
          </a:stretch>
        </p:blipFill>
        <p:spPr>
          <a:xfrm>
            <a:off x="5850675" y="1866544"/>
            <a:ext cx="128699" cy="187198"/>
          </a:xfrm>
          <a:prstGeom prst="rect">
            <a:avLst/>
          </a:prstGeom>
        </p:spPr>
      </p:pic>
      <p:pic>
        <p:nvPicPr>
          <p:cNvPr id="87" name="Picture 86" descr="lock.png"/>
          <p:cNvPicPr>
            <a:picLocks noChangeAspect="1"/>
          </p:cNvPicPr>
          <p:nvPr/>
        </p:nvPicPr>
        <p:blipFill>
          <a:blip r:embed="rId4"/>
          <a:stretch>
            <a:fillRect/>
          </a:stretch>
        </p:blipFill>
        <p:spPr>
          <a:xfrm>
            <a:off x="7019075" y="2659694"/>
            <a:ext cx="128699" cy="187198"/>
          </a:xfrm>
          <a:prstGeom prst="rect">
            <a:avLst/>
          </a:prstGeom>
        </p:spPr>
      </p:pic>
      <p:pic>
        <p:nvPicPr>
          <p:cNvPr id="88" name="Picture 87" descr="lock.png"/>
          <p:cNvPicPr>
            <a:picLocks noChangeAspect="1"/>
          </p:cNvPicPr>
          <p:nvPr/>
        </p:nvPicPr>
        <p:blipFill>
          <a:blip r:embed="rId4"/>
          <a:stretch>
            <a:fillRect/>
          </a:stretch>
        </p:blipFill>
        <p:spPr>
          <a:xfrm>
            <a:off x="1142150" y="4444308"/>
            <a:ext cx="128699" cy="187198"/>
          </a:xfrm>
          <a:prstGeom prst="rect">
            <a:avLst/>
          </a:prstGeom>
        </p:spPr>
      </p:pic>
      <p:pic>
        <p:nvPicPr>
          <p:cNvPr id="89" name="Picture 88" descr="lock.png"/>
          <p:cNvPicPr>
            <a:picLocks noChangeAspect="1"/>
          </p:cNvPicPr>
          <p:nvPr/>
        </p:nvPicPr>
        <p:blipFill>
          <a:blip r:embed="rId4"/>
          <a:stretch>
            <a:fillRect/>
          </a:stretch>
        </p:blipFill>
        <p:spPr>
          <a:xfrm>
            <a:off x="2316900" y="5035409"/>
            <a:ext cx="128699" cy="187198"/>
          </a:xfrm>
          <a:prstGeom prst="rect">
            <a:avLst/>
          </a:prstGeom>
        </p:spPr>
      </p:pic>
      <p:pic>
        <p:nvPicPr>
          <p:cNvPr id="90" name="Picture 89" descr="lock.png"/>
          <p:cNvPicPr>
            <a:picLocks noChangeAspect="1"/>
          </p:cNvPicPr>
          <p:nvPr/>
        </p:nvPicPr>
        <p:blipFill>
          <a:blip r:embed="rId4"/>
          <a:stretch>
            <a:fillRect/>
          </a:stretch>
        </p:blipFill>
        <p:spPr>
          <a:xfrm>
            <a:off x="3491650" y="4599482"/>
            <a:ext cx="128699" cy="187198"/>
          </a:xfrm>
          <a:prstGeom prst="rect">
            <a:avLst/>
          </a:prstGeom>
        </p:spPr>
      </p:pic>
      <p:pic>
        <p:nvPicPr>
          <p:cNvPr id="91" name="Picture 90" descr="lock.png"/>
          <p:cNvPicPr>
            <a:picLocks noChangeAspect="1"/>
          </p:cNvPicPr>
          <p:nvPr/>
        </p:nvPicPr>
        <p:blipFill>
          <a:blip r:embed="rId4"/>
          <a:stretch>
            <a:fillRect/>
          </a:stretch>
        </p:blipFill>
        <p:spPr>
          <a:xfrm>
            <a:off x="4666400" y="5611630"/>
            <a:ext cx="128699" cy="187198"/>
          </a:xfrm>
          <a:prstGeom prst="rect">
            <a:avLst/>
          </a:prstGeom>
        </p:spPr>
      </p:pic>
      <p:pic>
        <p:nvPicPr>
          <p:cNvPr id="92" name="Picture 91" descr="lock.png"/>
          <p:cNvPicPr>
            <a:picLocks noChangeAspect="1"/>
          </p:cNvPicPr>
          <p:nvPr/>
        </p:nvPicPr>
        <p:blipFill>
          <a:blip r:embed="rId4"/>
          <a:stretch>
            <a:fillRect/>
          </a:stretch>
        </p:blipFill>
        <p:spPr>
          <a:xfrm>
            <a:off x="5841150" y="5610866"/>
            <a:ext cx="128699" cy="187198"/>
          </a:xfrm>
          <a:prstGeom prst="rect">
            <a:avLst/>
          </a:prstGeom>
        </p:spPr>
      </p:pic>
      <p:pic>
        <p:nvPicPr>
          <p:cNvPr id="93" name="Picture 92" descr="lock.png"/>
          <p:cNvPicPr>
            <a:picLocks noChangeAspect="1"/>
          </p:cNvPicPr>
          <p:nvPr/>
        </p:nvPicPr>
        <p:blipFill>
          <a:blip r:embed="rId4"/>
          <a:stretch>
            <a:fillRect/>
          </a:stretch>
        </p:blipFill>
        <p:spPr>
          <a:xfrm>
            <a:off x="7015900" y="5308524"/>
            <a:ext cx="128699" cy="187198"/>
          </a:xfrm>
          <a:prstGeom prst="rect">
            <a:avLst/>
          </a:prstGeom>
        </p:spPr>
      </p:pic>
      <p:sp>
        <p:nvSpPr>
          <p:cNvPr id="94" name="TextBox 93"/>
          <p:cNvSpPr txBox="1"/>
          <p:nvPr/>
        </p:nvSpPr>
        <p:spPr>
          <a:xfrm>
            <a:off x="8048625" y="1736673"/>
            <a:ext cx="3829285" cy="194310"/>
          </a:xfrm>
          <a:prstGeom prst="rect">
            <a:avLst/>
          </a:prstGeom>
          <a:noFill/>
        </p:spPr>
        <p:txBody>
          <a:bodyPr wrap="none" lIns="0" tIns="0" rIns="0" bIns="0">
            <a:spAutoFit/>
          </a:bodyPr>
          <a:lstStyle/>
          <a:p>
            <a:r>
              <a:rPr sz="1150" b="0">
                <a:solidFill>
                  <a:srgbClr val="2E2E2E"/>
                </a:solidFill>
                <a:latin typeface="Calibri"/>
              </a:rPr>
              <a:t>▪ The chart shows global average pricing of key form type types</a:t>
            </a:r>
          </a:p>
        </p:txBody>
      </p:sp>
      <p:sp>
        <p:nvSpPr>
          <p:cNvPr id="95" name="TextBox 94"/>
          <p:cNvSpPr txBox="1"/>
          <p:nvPr/>
        </p:nvSpPr>
        <p:spPr>
          <a:xfrm>
            <a:off x="8048625" y="1911934"/>
            <a:ext cx="3770140" cy="194310"/>
          </a:xfrm>
          <a:prstGeom prst="rect">
            <a:avLst/>
          </a:prstGeom>
          <a:noFill/>
        </p:spPr>
        <p:txBody>
          <a:bodyPr wrap="none" lIns="0" tIns="0" rIns="0" bIns="0">
            <a:spAutoFit/>
          </a:bodyPr>
          <a:lstStyle/>
          <a:p>
            <a:r>
              <a:rPr sz="1150" b="0">
                <a:solidFill>
                  <a:srgbClr val="2E2E2E"/>
                </a:solidFill>
                <a:latin typeface="Calibri"/>
              </a:rPr>
              <a:t>in USD, harmonised across regions. Each candlestick spans the</a:t>
            </a:r>
          </a:p>
        </p:txBody>
      </p:sp>
      <p:sp>
        <p:nvSpPr>
          <p:cNvPr id="96" name="TextBox 95"/>
          <p:cNvSpPr txBox="1"/>
          <p:nvPr/>
        </p:nvSpPr>
        <p:spPr>
          <a:xfrm>
            <a:off x="8048625" y="2087194"/>
            <a:ext cx="3646437" cy="194310"/>
          </a:xfrm>
          <a:prstGeom prst="rect">
            <a:avLst/>
          </a:prstGeom>
          <a:noFill/>
        </p:spPr>
        <p:txBody>
          <a:bodyPr wrap="none" lIns="0" tIns="0" rIns="0" bIns="0">
            <a:spAutoFit/>
          </a:bodyPr>
          <a:lstStyle/>
          <a:p>
            <a:r>
              <a:rPr sz="1150" b="0">
                <a:solidFill>
                  <a:srgbClr val="2E2E2E"/>
                </a:solidFill>
                <a:latin typeface="Calibri"/>
              </a:rPr>
              <a:t>minimum-to-maximum observed price within the base year,</a:t>
            </a:r>
          </a:p>
        </p:txBody>
      </p:sp>
      <p:sp>
        <p:nvSpPr>
          <p:cNvPr id="97" name="TextBox 96"/>
          <p:cNvSpPr txBox="1"/>
          <p:nvPr/>
        </p:nvSpPr>
        <p:spPr>
          <a:xfrm>
            <a:off x="8048625" y="2262454"/>
            <a:ext cx="3406254" cy="194310"/>
          </a:xfrm>
          <a:prstGeom prst="rect">
            <a:avLst/>
          </a:prstGeom>
          <a:noFill/>
        </p:spPr>
        <p:txBody>
          <a:bodyPr wrap="none" lIns="0" tIns="0" rIns="0" bIns="0">
            <a:spAutoFit/>
          </a:bodyPr>
          <a:lstStyle/>
          <a:p>
            <a:r>
              <a:rPr sz="1150" b="0">
                <a:solidFill>
                  <a:srgbClr val="2E2E2E"/>
                </a:solidFill>
                <a:latin typeface="Calibri"/>
              </a:rPr>
              <a:t>giving a clear read of price range and market dispersion.</a:t>
            </a:r>
          </a:p>
        </p:txBody>
      </p:sp>
      <p:sp>
        <p:nvSpPr>
          <p:cNvPr id="98" name="TextBox 97"/>
          <p:cNvSpPr txBox="1"/>
          <p:nvPr/>
        </p:nvSpPr>
        <p:spPr>
          <a:xfrm>
            <a:off x="8048625" y="2490292"/>
            <a:ext cx="3793058" cy="194310"/>
          </a:xfrm>
          <a:prstGeom prst="rect">
            <a:avLst/>
          </a:prstGeom>
          <a:noFill/>
        </p:spPr>
        <p:txBody>
          <a:bodyPr wrap="none" lIns="0" tIns="0" rIns="0" bIns="0">
            <a:spAutoFit/>
          </a:bodyPr>
          <a:lstStyle/>
          <a:p>
            <a:r>
              <a:rPr sz="1150" b="0">
                <a:solidFill>
                  <a:srgbClr val="2E2E2E"/>
                </a:solidFill>
                <a:latin typeface="Calibri"/>
              </a:rPr>
              <a:t>▪ Wider bodies mark a larger gap between opening and closing</a:t>
            </a:r>
          </a:p>
        </p:txBody>
      </p:sp>
      <p:sp>
        <p:nvSpPr>
          <p:cNvPr id="99" name="TextBox 98"/>
          <p:cNvSpPr txBox="1"/>
          <p:nvPr/>
        </p:nvSpPr>
        <p:spPr>
          <a:xfrm>
            <a:off x="8048625" y="2665551"/>
            <a:ext cx="3770238" cy="194310"/>
          </a:xfrm>
          <a:prstGeom prst="rect">
            <a:avLst/>
          </a:prstGeom>
          <a:noFill/>
        </p:spPr>
        <p:txBody>
          <a:bodyPr wrap="none" lIns="0" tIns="0" rIns="0" bIns="0">
            <a:spAutoFit/>
          </a:bodyPr>
          <a:lstStyle/>
          <a:p>
            <a:r>
              <a:rPr sz="1150" b="0">
                <a:solidFill>
                  <a:srgbClr val="2E2E2E"/>
                </a:solidFill>
                <a:latin typeface="Calibri"/>
              </a:rPr>
              <a:t>price levels 'Capsules and Softgels' shows the most movement</a:t>
            </a:r>
          </a:p>
        </p:txBody>
      </p:sp>
      <p:sp>
        <p:nvSpPr>
          <p:cNvPr id="100" name="TextBox 99"/>
          <p:cNvSpPr txBox="1"/>
          <p:nvPr/>
        </p:nvSpPr>
        <p:spPr>
          <a:xfrm>
            <a:off x="8048625" y="2840811"/>
            <a:ext cx="193154" cy="194310"/>
          </a:xfrm>
          <a:prstGeom prst="rect">
            <a:avLst/>
          </a:prstGeom>
          <a:noFill/>
        </p:spPr>
        <p:txBody>
          <a:bodyPr wrap="none" lIns="0" tIns="0" rIns="0" bIns="0">
            <a:spAutoFit/>
          </a:bodyPr>
          <a:lstStyle/>
          <a:p>
            <a:r>
              <a:rPr sz="1150" b="0">
                <a:solidFill>
                  <a:srgbClr val="2E2E2E"/>
                </a:solidFill>
                <a:latin typeface="Calibri"/>
              </a:rPr>
              <a:t>(+</a:t>
            </a:r>
          </a:p>
        </p:txBody>
      </p:sp>
      <p:pic>
        <p:nvPicPr>
          <p:cNvPr id="101" name="Picture 100" descr="lock.png"/>
          <p:cNvPicPr>
            <a:picLocks noChangeAspect="1"/>
          </p:cNvPicPr>
          <p:nvPr/>
        </p:nvPicPr>
        <p:blipFill>
          <a:blip r:embed="rId4"/>
          <a:stretch>
            <a:fillRect/>
          </a:stretch>
        </p:blipFill>
        <p:spPr>
          <a:xfrm>
            <a:off x="8190933" y="2830588"/>
            <a:ext cx="134549" cy="195707"/>
          </a:xfrm>
          <a:prstGeom prst="rect">
            <a:avLst/>
          </a:prstGeom>
        </p:spPr>
      </p:pic>
      <p:sp>
        <p:nvSpPr>
          <p:cNvPr id="102" name="TextBox 101"/>
          <p:cNvSpPr txBox="1"/>
          <p:nvPr/>
        </p:nvSpPr>
        <p:spPr>
          <a:xfrm>
            <a:off x="8366042" y="2840811"/>
            <a:ext cx="2505707" cy="194310"/>
          </a:xfrm>
          <a:prstGeom prst="rect">
            <a:avLst/>
          </a:prstGeom>
          <a:noFill/>
        </p:spPr>
        <p:txBody>
          <a:bodyPr wrap="none" lIns="0" tIns="0" rIns="0" bIns="0">
            <a:spAutoFit/>
          </a:bodyPr>
          <a:lstStyle/>
          <a:p>
            <a:r>
              <a:rPr sz="1150" b="0">
                <a:solidFill>
                  <a:srgbClr val="2E2E2E"/>
                </a:solidFill>
                <a:latin typeface="Calibri"/>
              </a:rPr>
              <a:t>) and 'Powders and Granules' the least (+</a:t>
            </a:r>
          </a:p>
        </p:txBody>
      </p:sp>
      <p:pic>
        <p:nvPicPr>
          <p:cNvPr id="103" name="Picture 102" descr="lock.png"/>
          <p:cNvPicPr>
            <a:picLocks noChangeAspect="1"/>
          </p:cNvPicPr>
          <p:nvPr/>
        </p:nvPicPr>
        <p:blipFill>
          <a:blip r:embed="rId4"/>
          <a:stretch>
            <a:fillRect/>
          </a:stretch>
        </p:blipFill>
        <p:spPr>
          <a:xfrm>
            <a:off x="10820903" y="2830588"/>
            <a:ext cx="134549" cy="195707"/>
          </a:xfrm>
          <a:prstGeom prst="rect">
            <a:avLst/>
          </a:prstGeom>
        </p:spPr>
      </p:pic>
      <p:sp>
        <p:nvSpPr>
          <p:cNvPr id="104" name="TextBox 103"/>
          <p:cNvSpPr txBox="1"/>
          <p:nvPr/>
        </p:nvSpPr>
        <p:spPr>
          <a:xfrm>
            <a:off x="10996013" y="2840811"/>
            <a:ext cx="736848" cy="194310"/>
          </a:xfrm>
          <a:prstGeom prst="rect">
            <a:avLst/>
          </a:prstGeom>
          <a:noFill/>
        </p:spPr>
        <p:txBody>
          <a:bodyPr wrap="none" lIns="0" tIns="0" rIns="0" bIns="0">
            <a:spAutoFit/>
          </a:bodyPr>
          <a:lstStyle/>
          <a:p>
            <a:r>
              <a:rPr sz="1150" b="0">
                <a:solidFill>
                  <a:srgbClr val="2E2E2E"/>
                </a:solidFill>
                <a:latin typeface="Calibri"/>
              </a:rPr>
              <a:t>) variability</a:t>
            </a:r>
          </a:p>
        </p:txBody>
      </p:sp>
      <p:sp>
        <p:nvSpPr>
          <p:cNvPr id="105" name="TextBox 104"/>
          <p:cNvSpPr txBox="1"/>
          <p:nvPr/>
        </p:nvSpPr>
        <p:spPr>
          <a:xfrm>
            <a:off x="8048625" y="3016071"/>
            <a:ext cx="3668117" cy="194310"/>
          </a:xfrm>
          <a:prstGeom prst="rect">
            <a:avLst/>
          </a:prstGeom>
          <a:noFill/>
        </p:spPr>
        <p:txBody>
          <a:bodyPr wrap="none" lIns="0" tIns="0" rIns="0" bIns="0">
            <a:spAutoFit/>
          </a:bodyPr>
          <a:lstStyle/>
          <a:p>
            <a:r>
              <a:rPr sz="1150" b="0">
                <a:solidFill>
                  <a:srgbClr val="2E2E2E"/>
                </a:solidFill>
                <a:latin typeface="Calibri"/>
              </a:rPr>
              <a:t>stakeholders should monitor when planning procurement or</a:t>
            </a:r>
          </a:p>
        </p:txBody>
      </p:sp>
      <p:sp>
        <p:nvSpPr>
          <p:cNvPr id="106" name="TextBox 105"/>
          <p:cNvSpPr txBox="1"/>
          <p:nvPr/>
        </p:nvSpPr>
        <p:spPr>
          <a:xfrm>
            <a:off x="8048625" y="3191331"/>
            <a:ext cx="515491" cy="194310"/>
          </a:xfrm>
          <a:prstGeom prst="rect">
            <a:avLst/>
          </a:prstGeom>
          <a:noFill/>
        </p:spPr>
        <p:txBody>
          <a:bodyPr wrap="none" lIns="0" tIns="0" rIns="0" bIns="0">
            <a:spAutoFit/>
          </a:bodyPr>
          <a:lstStyle/>
          <a:p>
            <a:r>
              <a:rPr sz="1150" b="0">
                <a:solidFill>
                  <a:srgbClr val="2E2E2E"/>
                </a:solidFill>
                <a:latin typeface="Calibri"/>
              </a:rPr>
              <a:t>pricing.</a:t>
            </a:r>
          </a:p>
        </p:txBody>
      </p:sp>
      <p:sp>
        <p:nvSpPr>
          <p:cNvPr id="107" name="TextBox 106"/>
          <p:cNvSpPr txBox="1"/>
          <p:nvPr/>
        </p:nvSpPr>
        <p:spPr>
          <a:xfrm>
            <a:off x="8048625" y="3419169"/>
            <a:ext cx="3718607" cy="194310"/>
          </a:xfrm>
          <a:prstGeom prst="rect">
            <a:avLst/>
          </a:prstGeom>
          <a:noFill/>
        </p:spPr>
        <p:txBody>
          <a:bodyPr wrap="none" lIns="0" tIns="0" rIns="0" bIns="0">
            <a:spAutoFit/>
          </a:bodyPr>
          <a:lstStyle/>
          <a:p>
            <a:r>
              <a:rPr sz="1150" b="0">
                <a:solidFill>
                  <a:srgbClr val="2E2E2E"/>
                </a:solidFill>
                <a:latin typeface="Calibri"/>
              </a:rPr>
              <a:t>▪ The lower chart indexes region-level price movement to the</a:t>
            </a:r>
          </a:p>
        </p:txBody>
      </p:sp>
      <p:sp>
        <p:nvSpPr>
          <p:cNvPr id="108" name="TextBox 107"/>
          <p:cNvSpPr txBox="1"/>
          <p:nvPr/>
        </p:nvSpPr>
        <p:spPr>
          <a:xfrm>
            <a:off x="8048625" y="3594429"/>
            <a:ext cx="3716610" cy="194310"/>
          </a:xfrm>
          <a:prstGeom prst="rect">
            <a:avLst/>
          </a:prstGeom>
          <a:noFill/>
        </p:spPr>
        <p:txBody>
          <a:bodyPr wrap="none" lIns="0" tIns="0" rIns="0" bIns="0">
            <a:spAutoFit/>
          </a:bodyPr>
          <a:lstStyle/>
          <a:p>
            <a:r>
              <a:rPr sz="1150" b="0">
                <a:solidFill>
                  <a:srgbClr val="2E2E2E"/>
                </a:solidFill>
                <a:latin typeface="Calibri"/>
              </a:rPr>
              <a:t>base year, applied consistently across the horizon to strip out</a:t>
            </a:r>
          </a:p>
        </p:txBody>
      </p:sp>
      <p:sp>
        <p:nvSpPr>
          <p:cNvPr id="109" name="TextBox 108"/>
          <p:cNvSpPr txBox="1"/>
          <p:nvPr/>
        </p:nvSpPr>
        <p:spPr>
          <a:xfrm>
            <a:off x="8048625" y="3769689"/>
            <a:ext cx="3693219" cy="194310"/>
          </a:xfrm>
          <a:prstGeom prst="rect">
            <a:avLst/>
          </a:prstGeom>
          <a:noFill/>
        </p:spPr>
        <p:txBody>
          <a:bodyPr wrap="none" lIns="0" tIns="0" rIns="0" bIns="0">
            <a:spAutoFit/>
          </a:bodyPr>
          <a:lstStyle/>
          <a:p>
            <a:r>
              <a:rPr sz="1150" b="0">
                <a:solidFill>
                  <a:srgbClr val="2E2E2E"/>
                </a:solidFill>
                <a:latin typeface="Calibri"/>
              </a:rPr>
              <a:t>year-on-year inflationary volatility and reveal structural price</a:t>
            </a:r>
          </a:p>
        </p:txBody>
      </p:sp>
      <p:sp>
        <p:nvSpPr>
          <p:cNvPr id="110" name="TextBox 109"/>
          <p:cNvSpPr txBox="1"/>
          <p:nvPr/>
        </p:nvSpPr>
        <p:spPr>
          <a:xfrm>
            <a:off x="8048625" y="3944949"/>
            <a:ext cx="431055" cy="194310"/>
          </a:xfrm>
          <a:prstGeom prst="rect">
            <a:avLst/>
          </a:prstGeom>
          <a:noFill/>
        </p:spPr>
        <p:txBody>
          <a:bodyPr wrap="none" lIns="0" tIns="0" rIns="0" bIns="0">
            <a:spAutoFit/>
          </a:bodyPr>
          <a:lstStyle/>
          <a:p>
            <a:r>
              <a:rPr sz="1150" b="0">
                <a:solidFill>
                  <a:srgbClr val="2E2E2E"/>
                </a:solidFill>
                <a:latin typeface="Calibri"/>
              </a:rPr>
              <a:t>shifts.</a:t>
            </a:r>
          </a:p>
        </p:txBody>
      </p:sp>
      <p:sp>
        <p:nvSpPr>
          <p:cNvPr id="111" name="TextBox 110"/>
          <p:cNvSpPr txBox="1"/>
          <p:nvPr/>
        </p:nvSpPr>
        <p:spPr>
          <a:xfrm>
            <a:off x="8048625" y="4172787"/>
            <a:ext cx="2340260" cy="194310"/>
          </a:xfrm>
          <a:prstGeom prst="rect">
            <a:avLst/>
          </a:prstGeom>
          <a:noFill/>
        </p:spPr>
        <p:txBody>
          <a:bodyPr wrap="none" lIns="0" tIns="0" rIns="0" bIns="0">
            <a:spAutoFit/>
          </a:bodyPr>
          <a:lstStyle/>
          <a:p>
            <a:r>
              <a:rPr sz="1150" b="0">
                <a:solidFill>
                  <a:srgbClr val="2E2E2E"/>
                </a:solidFill>
                <a:latin typeface="Calibri"/>
              </a:rPr>
              <a:t>▪ Region price indices diverge by up to</a:t>
            </a:r>
          </a:p>
        </p:txBody>
      </p:sp>
      <p:pic>
        <p:nvPicPr>
          <p:cNvPr id="112" name="Picture 111" descr="lock.png"/>
          <p:cNvPicPr>
            <a:picLocks noChangeAspect="1"/>
          </p:cNvPicPr>
          <p:nvPr/>
        </p:nvPicPr>
        <p:blipFill>
          <a:blip r:embed="rId4"/>
          <a:stretch>
            <a:fillRect/>
          </a:stretch>
        </p:blipFill>
        <p:spPr>
          <a:xfrm>
            <a:off x="10338039" y="4162564"/>
            <a:ext cx="134549" cy="195707"/>
          </a:xfrm>
          <a:prstGeom prst="rect">
            <a:avLst/>
          </a:prstGeom>
        </p:spPr>
      </p:pic>
      <p:sp>
        <p:nvSpPr>
          <p:cNvPr id="113" name="TextBox 112"/>
          <p:cNvSpPr txBox="1"/>
          <p:nvPr/>
        </p:nvSpPr>
        <p:spPr>
          <a:xfrm>
            <a:off x="10513148" y="4172787"/>
            <a:ext cx="1187549" cy="194310"/>
          </a:xfrm>
          <a:prstGeom prst="rect">
            <a:avLst/>
          </a:prstGeom>
          <a:noFill/>
        </p:spPr>
        <p:txBody>
          <a:bodyPr wrap="none" lIns="0" tIns="0" rIns="0" bIns="0">
            <a:spAutoFit/>
          </a:bodyPr>
          <a:lstStyle/>
          <a:p>
            <a:r>
              <a:rPr sz="1150" b="0">
                <a:solidFill>
                  <a:srgbClr val="2E2E2E"/>
                </a:solidFill>
                <a:latin typeface="Calibri"/>
              </a:rPr>
              <a:t>between 2026 and</a:t>
            </a:r>
          </a:p>
        </p:txBody>
      </p:sp>
      <p:sp>
        <p:nvSpPr>
          <p:cNvPr id="114" name="TextBox 113"/>
          <p:cNvSpPr txBox="1"/>
          <p:nvPr/>
        </p:nvSpPr>
        <p:spPr>
          <a:xfrm>
            <a:off x="8048625" y="4348047"/>
            <a:ext cx="3848100" cy="194310"/>
          </a:xfrm>
          <a:prstGeom prst="rect">
            <a:avLst/>
          </a:prstGeom>
          <a:noFill/>
        </p:spPr>
        <p:txBody>
          <a:bodyPr wrap="none" lIns="0" tIns="0" rIns="0" bIns="0">
            <a:spAutoFit/>
          </a:bodyPr>
          <a:lstStyle/>
          <a:p>
            <a:r>
              <a:rPr sz="1150" b="0">
                <a:solidFill>
                  <a:srgbClr val="2E2E2E"/>
                </a:solidFill>
                <a:latin typeface="Calibri"/>
              </a:rPr>
              <a:t>2036: higher-priced regions start higher and grow steadily, while</a:t>
            </a:r>
          </a:p>
        </p:txBody>
      </p:sp>
      <p:sp>
        <p:nvSpPr>
          <p:cNvPr id="115" name="TextBox 114"/>
          <p:cNvSpPr txBox="1"/>
          <p:nvPr/>
        </p:nvSpPr>
        <p:spPr>
          <a:xfrm>
            <a:off x="8048625" y="4523307"/>
            <a:ext cx="3454747" cy="194310"/>
          </a:xfrm>
          <a:prstGeom prst="rect">
            <a:avLst/>
          </a:prstGeom>
          <a:noFill/>
        </p:spPr>
        <p:txBody>
          <a:bodyPr wrap="none" lIns="0" tIns="0" rIns="0" bIns="0">
            <a:spAutoFit/>
          </a:bodyPr>
          <a:lstStyle/>
          <a:p>
            <a:r>
              <a:rPr sz="1150" b="0">
                <a:solidFill>
                  <a:srgbClr val="2E2E2E"/>
                </a:solidFill>
                <a:latin typeface="Calibri"/>
              </a:rPr>
              <a:t>lower-priced regions start lower and converge, reflecting</a:t>
            </a:r>
          </a:p>
        </p:txBody>
      </p:sp>
      <p:sp>
        <p:nvSpPr>
          <p:cNvPr id="116" name="TextBox 115"/>
          <p:cNvSpPr txBox="1"/>
          <p:nvPr/>
        </p:nvSpPr>
        <p:spPr>
          <a:xfrm>
            <a:off x="8048625" y="4698567"/>
            <a:ext cx="1090848" cy="194310"/>
          </a:xfrm>
          <a:prstGeom prst="rect">
            <a:avLst/>
          </a:prstGeom>
          <a:noFill/>
        </p:spPr>
        <p:txBody>
          <a:bodyPr wrap="none" lIns="0" tIns="0" rIns="0" bIns="0">
            <a:spAutoFit/>
          </a:bodyPr>
          <a:lstStyle/>
          <a:p>
            <a:r>
              <a:rPr sz="1150" b="0">
                <a:solidFill>
                  <a:srgbClr val="2E2E2E"/>
                </a:solidFill>
                <a:latin typeface="Calibri"/>
              </a:rPr>
              <a:t>catch-up growth.</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Pricing Assessment: By Form Type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Average price (US$/MT) by form type,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wrap="square" lIns="137160" rtlCol="0" anchor="ctr"/>
          <a:lstStyle/>
          <a:p>
            <a:pPr algn="l"/>
            <a:endParaRP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endParaRPr/>
          </a:p>
        </p:txBody>
      </p:sp>
      <p:sp>
        <p:nvSpPr>
          <p:cNvPr id="12" name="TextBox 11"/>
          <p:cNvSpPr txBox="1"/>
          <p:nvPr/>
        </p:nvSpPr>
        <p:spPr>
          <a:xfrm>
            <a:off x="384048" y="1575435"/>
            <a:ext cx="6217920" cy="257175"/>
          </a:xfrm>
          <a:prstGeom prst="rect">
            <a:avLst/>
          </a:prstGeom>
          <a:noFill/>
        </p:spPr>
        <p:txBody>
          <a:bodyPr wrap="square" lIns="27432" tIns="27432" rIns="27432" bIns="27432" anchor="t">
            <a:spAutoFit/>
          </a:bodyPr>
          <a:lstStyle/>
          <a:p>
            <a:pPr algn="l"/>
            <a:r>
              <a:rPr sz="1150" b="1" i="0">
                <a:solidFill>
                  <a:srgbClr val="0B2E4A"/>
                </a:solidFill>
                <a:latin typeface="Calibri"/>
              </a:rPr>
              <a:t>Price Trend by Form Type, 2021 to 2036 (US$/MT)</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4572000" y="1593723"/>
            <a:ext cx="2103120" cy="228600"/>
          </a:xfrm>
          <a:prstGeom prst="rect">
            <a:avLst/>
          </a:prstGeom>
          <a:noFill/>
        </p:spPr>
        <p:txBody>
          <a:bodyPr wrap="square" lIns="27432" tIns="27432" rIns="27432" bIns="27432" anchor="t">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endParaRPr/>
          </a:p>
        </p:txBody>
      </p:sp>
      <p:sp>
        <p:nvSpPr>
          <p:cNvPr id="16" name="TextBox 15"/>
          <p:cNvSpPr txBox="1"/>
          <p:nvPr/>
        </p:nvSpPr>
        <p:spPr>
          <a:xfrm>
            <a:off x="6967728" y="1575435"/>
            <a:ext cx="4846320" cy="257175"/>
          </a:xfrm>
          <a:prstGeom prst="rect">
            <a:avLst/>
          </a:prstGeom>
          <a:noFill/>
        </p:spPr>
        <p:txBody>
          <a:bodyPr wrap="square" lIns="27432" tIns="27432" rIns="27432" bIns="27432" anchor="t">
            <a:spAutoFit/>
          </a:bodyPr>
          <a:lstStyle/>
          <a:p>
            <a:pPr algn="l"/>
            <a:endParaRP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8" name="Table 17"/>
          <p:cNvGraphicFramePr>
            <a:graphicFrameLocks noGrp="1"/>
          </p:cNvGraphicFramePr>
          <p:nvPr/>
        </p:nvGraphicFramePr>
        <p:xfrm>
          <a:off x="6858000" y="3203067"/>
          <a:ext cx="5056632" cy="1893570"/>
        </p:xfrm>
        <a:graphic>
          <a:graphicData uri="http://schemas.openxmlformats.org/drawingml/2006/table">
            <a:tbl>
              <a:tblPr firstRow="1" bandRow="1">
                <a:tableStyleId>{5C22544A-7EE6-4342-B048-85BDC9FD1C3A}</a:tableStyleId>
              </a:tblPr>
              <a:tblGrid>
                <a:gridCol w="2130552">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tblGrid>
              <a:tr h="230886">
                <a:tc>
                  <a:txBody>
                    <a:bodyPr/>
                    <a:lstStyle/>
                    <a:p>
                      <a:pPr algn="l"/>
                      <a:r>
                        <a:rPr sz="850" b="1">
                          <a:solidFill>
                            <a:srgbClr val="FFFFFF"/>
                          </a:solidFill>
                          <a:latin typeface="Calibri"/>
                        </a:rPr>
                        <a:t>Form Type</a:t>
                      </a:r>
                    </a:p>
                  </a:txBody>
                  <a:tcPr marL="36576" marR="36576" marT="9144" marB="9144" anchor="ctr">
                    <a:solidFill>
                      <a:srgbClr val="0B2E4A"/>
                    </a:solidFill>
                  </a:tcPr>
                </a:tc>
                <a:tc>
                  <a:txBody>
                    <a:bodyPr/>
                    <a:lstStyle/>
                    <a:p>
                      <a:pPr algn="ctr"/>
                      <a:r>
                        <a:rPr sz="850" b="1">
                          <a:solidFill>
                            <a:srgbClr val="FFFFFF"/>
                          </a:solidFill>
                          <a:latin typeface="Calibri"/>
                        </a:rPr>
                        <a:t>2021</a:t>
                      </a:r>
                    </a:p>
                  </a:txBody>
                  <a:tcPr marL="36576" marR="36576" marT="9144" marB="9144" anchor="ctr">
                    <a:solidFill>
                      <a:srgbClr val="0B2E4A"/>
                    </a:solidFill>
                  </a:tcPr>
                </a:tc>
                <a:tc>
                  <a:txBody>
                    <a:bodyPr/>
                    <a:lstStyle/>
                    <a:p>
                      <a:pPr algn="ctr"/>
                      <a:r>
                        <a:rPr sz="850" b="1">
                          <a:solidFill>
                            <a:srgbClr val="FFFFFF"/>
                          </a:solidFill>
                          <a:latin typeface="Calibri"/>
                        </a:rPr>
                        <a:t>2026</a:t>
                      </a:r>
                    </a:p>
                  </a:txBody>
                  <a:tcPr marL="36576" marR="36576" marT="9144" marB="9144" anchor="ctr">
                    <a:solidFill>
                      <a:srgbClr val="0B2E4A"/>
                    </a:solidFill>
                  </a:tcPr>
                </a:tc>
                <a:tc>
                  <a:txBody>
                    <a:bodyPr/>
                    <a:lstStyle/>
                    <a:p>
                      <a:pPr algn="ctr"/>
                      <a:r>
                        <a:rPr sz="850" b="1">
                          <a:solidFill>
                            <a:srgbClr val="FFFFFF"/>
                          </a:solidFill>
                          <a:latin typeface="Calibri"/>
                        </a:rPr>
                        <a:t>2036</a:t>
                      </a:r>
                    </a:p>
                  </a:txBody>
                  <a:tcPr marL="36576" marR="36576" marT="9144" marB="9144" anchor="ctr">
                    <a:solidFill>
                      <a:srgbClr val="0B2E4A"/>
                    </a:solidFill>
                  </a:tcPr>
                </a:tc>
                <a:tc>
                  <a:txBody>
                    <a:bodyPr/>
                    <a:lstStyle/>
                    <a:p>
                      <a:pPr algn="ctr"/>
                      <a:r>
                        <a:rPr sz="850" b="1">
                          <a:solidFill>
                            <a:srgbClr val="FFFFFF"/>
                          </a:solidFill>
                          <a:latin typeface="Calibri"/>
                        </a:rPr>
                        <a:t>CAGR 2026 to 2036</a:t>
                      </a:r>
                    </a:p>
                  </a:txBody>
                  <a:tcPr marL="36576" marR="36576" marT="9144" marB="9144" anchor="ctr">
                    <a:solidFill>
                      <a:srgbClr val="0B2E4A"/>
                    </a:solidFill>
                  </a:tcPr>
                </a:tc>
                <a:tc>
                  <a:txBody>
                    <a:bodyPr/>
                    <a:lstStyle/>
                    <a:p>
                      <a:pPr algn="ctr"/>
                      <a:r>
                        <a:rPr sz="850" b="1">
                          <a:solidFill>
                            <a:srgbClr val="FFFFFF"/>
                          </a:solidFill>
                          <a:latin typeface="Calibri"/>
                        </a:rPr>
                        <a:t>Index</a:t>
                      </a:r>
                    </a:p>
                  </a:txBody>
                  <a:tcPr marL="36576" marR="36576" marT="9144" marB="9144" anchor="ctr">
                    <a:solidFill>
                      <a:srgbClr val="0B2E4A"/>
                    </a:solidFill>
                  </a:tcPr>
                </a:tc>
                <a:extLst>
                  <a:ext uri="{0D108BD9-81ED-4DB2-BD59-A6C34878D82A}">
                    <a16:rowId xmlns:a16="http://schemas.microsoft.com/office/drawing/2014/main" val="10000"/>
                  </a:ext>
                </a:extLst>
              </a:tr>
              <a:tr h="230886">
                <a:tc>
                  <a:txBody>
                    <a:bodyPr/>
                    <a:lstStyle/>
                    <a:p>
                      <a:pPr algn="l"/>
                      <a:r>
                        <a:rPr sz="850" b="1">
                          <a:solidFill>
                            <a:srgbClr val="1F1F1F"/>
                          </a:solidFill>
                          <a:latin typeface="Calibri"/>
                        </a:rPr>
                        <a:t>Capsules and Softgels</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4B183"/>
                    </a:solidFill>
                  </a:tcPr>
                </a:tc>
                <a:extLst>
                  <a:ext uri="{0D108BD9-81ED-4DB2-BD59-A6C34878D82A}">
                    <a16:rowId xmlns:a16="http://schemas.microsoft.com/office/drawing/2014/main" val="10001"/>
                  </a:ext>
                </a:extLst>
              </a:tr>
              <a:tr h="230886">
                <a:tc>
                  <a:txBody>
                    <a:bodyPr/>
                    <a:lstStyle/>
                    <a:p>
                      <a:pPr algn="l"/>
                      <a:r>
                        <a:rPr sz="850" b="1">
                          <a:solidFill>
                            <a:srgbClr val="1F1F1F"/>
                          </a:solidFill>
                          <a:latin typeface="Calibri"/>
                        </a:rPr>
                        <a:t>Powders and Granules</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4B183"/>
                    </a:solidFill>
                  </a:tcPr>
                </a:tc>
                <a:extLst>
                  <a:ext uri="{0D108BD9-81ED-4DB2-BD59-A6C34878D82A}">
                    <a16:rowId xmlns:a16="http://schemas.microsoft.com/office/drawing/2014/main" val="10002"/>
                  </a:ext>
                </a:extLst>
              </a:tr>
              <a:tr h="230886">
                <a:tc>
                  <a:txBody>
                    <a:bodyPr/>
                    <a:lstStyle/>
                    <a:p>
                      <a:pPr algn="l"/>
                      <a:r>
                        <a:rPr sz="850" b="1">
                          <a:solidFill>
                            <a:srgbClr val="1F1F1F"/>
                          </a:solidFill>
                          <a:latin typeface="Calibri"/>
                        </a:rPr>
                        <a:t>Liquids</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4B183"/>
                    </a:solidFill>
                  </a:tcPr>
                </a:tc>
                <a:extLst>
                  <a:ext uri="{0D108BD9-81ED-4DB2-BD59-A6C34878D82A}">
                    <a16:rowId xmlns:a16="http://schemas.microsoft.com/office/drawing/2014/main" val="10003"/>
                  </a:ext>
                </a:extLst>
              </a:tr>
              <a:tr h="230886">
                <a:tc>
                  <a:txBody>
                    <a:bodyPr/>
                    <a:lstStyle/>
                    <a:p>
                      <a:pPr algn="l"/>
                      <a:r>
                        <a:rPr sz="850" b="1">
                          <a:solidFill>
                            <a:srgbClr val="1F1F1F"/>
                          </a:solidFill>
                          <a:latin typeface="Calibri"/>
                        </a:rPr>
                        <a:t>Gels and Pastes</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9DC0E0"/>
                    </a:solidFill>
                  </a:tcPr>
                </a:tc>
                <a:extLst>
                  <a:ext uri="{0D108BD9-81ED-4DB2-BD59-A6C34878D82A}">
                    <a16:rowId xmlns:a16="http://schemas.microsoft.com/office/drawing/2014/main" val="10004"/>
                  </a:ext>
                </a:extLst>
              </a:tr>
              <a:tr h="230886">
                <a:tc>
                  <a:txBody>
                    <a:bodyPr/>
                    <a:lstStyle/>
                    <a:p>
                      <a:pPr algn="l"/>
                      <a:r>
                        <a:rPr sz="850" b="1">
                          <a:solidFill>
                            <a:srgbClr val="1F1F1F"/>
                          </a:solidFill>
                          <a:latin typeface="Calibri"/>
                        </a:rPr>
                        <a:t>Chewables</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FFFFFF"/>
                    </a:solidFill>
                  </a:tcPr>
                </a:tc>
                <a:tc>
                  <a:txBody>
                    <a:bodyPr/>
                    <a:lstStyle/>
                    <a:p>
                      <a:pPr algn="ctr"/>
                      <a:r>
                        <a:rPr sz="850"/>
                        <a:t> </a:t>
                      </a:r>
                    </a:p>
                  </a:txBody>
                  <a:tcPr marL="36576" marR="36576" marT="9144" marB="9144" anchor="ctr">
                    <a:solidFill>
                      <a:srgbClr val="9DC0E0"/>
                    </a:solidFill>
                  </a:tcPr>
                </a:tc>
                <a:extLst>
                  <a:ext uri="{0D108BD9-81ED-4DB2-BD59-A6C34878D82A}">
                    <a16:rowId xmlns:a16="http://schemas.microsoft.com/office/drawing/2014/main" val="10005"/>
                  </a:ext>
                </a:extLst>
              </a:tr>
              <a:tr h="230886">
                <a:tc>
                  <a:txBody>
                    <a:bodyPr/>
                    <a:lstStyle/>
                    <a:p>
                      <a:pPr algn="l"/>
                      <a:r>
                        <a:rPr sz="850" b="1">
                          <a:solidFill>
                            <a:srgbClr val="1F1F1F"/>
                          </a:solidFill>
                          <a:latin typeface="Calibri"/>
                        </a:rPr>
                        <a:t>Tablets</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9DC0E0"/>
                    </a:solidFill>
                  </a:tcPr>
                </a:tc>
                <a:extLst>
                  <a:ext uri="{0D108BD9-81ED-4DB2-BD59-A6C34878D82A}">
                    <a16:rowId xmlns:a16="http://schemas.microsoft.com/office/drawing/2014/main" val="10006"/>
                  </a:ext>
                </a:extLst>
              </a:tr>
              <a:tr h="230886">
                <a:tc>
                  <a:txBody>
                    <a:bodyPr/>
                    <a:lstStyle/>
                    <a:p>
                      <a:pPr algn="l"/>
                      <a:r>
                        <a:rPr sz="850" b="1">
                          <a:solidFill>
                            <a:srgbClr val="1F1F1F"/>
                          </a:solidFill>
                          <a:latin typeface="Calibri"/>
                        </a:rPr>
                        <a:t>Global Average</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tc>
                  <a:txBody>
                    <a:bodyPr/>
                    <a:lstStyle/>
                    <a:p>
                      <a:pPr algn="ctr"/>
                      <a:r>
                        <a:rPr sz="850"/>
                        <a:t> </a:t>
                      </a:r>
                    </a:p>
                  </a:txBody>
                  <a:tcPr marL="36576" marR="36576" marT="9144" marB="9144" anchor="ctr">
                    <a:solidFill>
                      <a:srgbClr val="F3F6F9"/>
                    </a:solidFill>
                  </a:tcPr>
                </a:tc>
                <a:extLst>
                  <a:ext uri="{0D108BD9-81ED-4DB2-BD59-A6C34878D82A}">
                    <a16:rowId xmlns:a16="http://schemas.microsoft.com/office/drawing/2014/main" val="10007"/>
                  </a:ext>
                </a:extLst>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endParaRPr/>
          </a:p>
        </p:txBody>
      </p:sp>
      <p:sp>
        <p:nvSpPr>
          <p:cNvPr id="20" name="Oval 19"/>
          <p:cNvSpPr/>
          <p:nvPr/>
        </p:nvSpPr>
        <p:spPr>
          <a:xfrm>
            <a:off x="388620"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lIns="27432" tIns="27432" rIns="27432" bIns="27432" anchor="t">
            <a:spAutoFit/>
          </a:bodyPr>
          <a:lstStyle/>
          <a:p>
            <a:pPr algn="l"/>
            <a:endParaRP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endParaRPr/>
          </a:p>
        </p:txBody>
      </p:sp>
      <p:sp>
        <p:nvSpPr>
          <p:cNvPr id="24" name="Oval 23"/>
          <p:cNvSpPr/>
          <p:nvPr/>
        </p:nvSpPr>
        <p:spPr>
          <a:xfrm>
            <a:off x="4314444"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lIns="27432" tIns="27432" rIns="27432" bIns="27432" anchor="t">
            <a:spAutoFit/>
          </a:bodyPr>
          <a:lstStyle/>
          <a:p>
            <a:pPr algn="l"/>
            <a:endParaRP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endParaRPr/>
          </a:p>
        </p:txBody>
      </p:sp>
      <p:sp>
        <p:nvSpPr>
          <p:cNvPr id="28" name="Oval 27"/>
          <p:cNvSpPr/>
          <p:nvPr/>
        </p:nvSpPr>
        <p:spPr>
          <a:xfrm>
            <a:off x="8240268"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lIns="27432" tIns="27432" rIns="27432" bIns="27432" anchor="t">
            <a:spAutoFit/>
          </a:bodyPr>
          <a:lstStyle/>
          <a:p>
            <a:pPr algn="l"/>
            <a:endParaRPr/>
          </a:p>
        </p:txBody>
      </p:sp>
      <p:sp>
        <p:nvSpPr>
          <p:cNvPr id="31" name="TextBox 30"/>
          <p:cNvSpPr txBox="1"/>
          <p:nvPr/>
        </p:nvSpPr>
        <p:spPr>
          <a:xfrm>
            <a:off x="274320" y="6363843"/>
            <a:ext cx="11612880" cy="209550"/>
          </a:xfrm>
          <a:prstGeom prst="rect">
            <a:avLst/>
          </a:prstGeom>
          <a:noFill/>
        </p:spPr>
        <p:txBody>
          <a:bodyPr wrap="square" lIns="27432" tIns="27432" rIns="27432" bIns="27432" anchor="t">
            <a:spAutoFit/>
          </a:bodyPr>
          <a:lstStyle/>
          <a:p>
            <a:pPr algn="l"/>
            <a:r>
              <a:rPr sz="850" b="0" i="0">
                <a:solidFill>
                  <a:srgbClr val="59636E"/>
                </a:solidFill>
                <a:latin typeface="Calibri"/>
              </a:rPr>
              <a:t>Source: FMI analysis. Average price = market value (US$) / market volume (MT).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4002023"/>
            <a:ext cx="330041" cy="480060"/>
          </a:xfrm>
          <a:prstGeom prst="rect">
            <a:avLst/>
          </a:prstGeom>
        </p:spPr>
      </p:pic>
      <p:sp>
        <p:nvSpPr>
          <p:cNvPr id="34" name="TextBox 33"/>
          <p:cNvSpPr txBox="1"/>
          <p:nvPr/>
        </p:nvSpPr>
        <p:spPr>
          <a:xfrm>
            <a:off x="411480" y="1110615"/>
            <a:ext cx="4720927" cy="217169"/>
          </a:xfrm>
          <a:prstGeom prst="rect">
            <a:avLst/>
          </a:prstGeom>
          <a:noFill/>
        </p:spPr>
        <p:txBody>
          <a:bodyPr wrap="none" lIns="0" tIns="0" rIns="0" bIns="0">
            <a:spAutoFit/>
          </a:bodyPr>
          <a:lstStyle/>
          <a:p>
            <a:r>
              <a:rPr sz="1300" b="1">
                <a:solidFill>
                  <a:srgbClr val="FFFFFF"/>
                </a:solidFill>
                <a:latin typeface="Calibri"/>
              </a:rPr>
              <a:t>Capsules and Softgels command the highest 2026 price point at US$</a:t>
            </a:r>
          </a:p>
        </p:txBody>
      </p:sp>
      <p:pic>
        <p:nvPicPr>
          <p:cNvPr id="35" name="Picture 34" descr="lock.png"/>
          <p:cNvPicPr>
            <a:picLocks noChangeAspect="1"/>
          </p:cNvPicPr>
          <p:nvPr/>
        </p:nvPicPr>
        <p:blipFill>
          <a:blip r:embed="rId6"/>
          <a:stretch>
            <a:fillRect/>
          </a:stretch>
        </p:blipFill>
        <p:spPr>
          <a:xfrm>
            <a:off x="5084868" y="1099058"/>
            <a:ext cx="152098" cy="221234"/>
          </a:xfrm>
          <a:prstGeom prst="rect">
            <a:avLst/>
          </a:prstGeom>
        </p:spPr>
      </p:pic>
      <p:sp>
        <p:nvSpPr>
          <p:cNvPr id="36" name="TextBox 35"/>
          <p:cNvSpPr txBox="1"/>
          <p:nvPr/>
        </p:nvSpPr>
        <p:spPr>
          <a:xfrm>
            <a:off x="5282817" y="1110615"/>
            <a:ext cx="535061" cy="217169"/>
          </a:xfrm>
          <a:prstGeom prst="rect">
            <a:avLst/>
          </a:prstGeom>
          <a:noFill/>
        </p:spPr>
        <p:txBody>
          <a:bodyPr wrap="none" lIns="0" tIns="0" rIns="0" bIns="0">
            <a:spAutoFit/>
          </a:bodyPr>
          <a:lstStyle/>
          <a:p>
            <a:r>
              <a:rPr sz="1300" b="1">
                <a:solidFill>
                  <a:srgbClr val="FFFFFF"/>
                </a:solidFill>
                <a:latin typeface="Calibri"/>
              </a:rPr>
              <a:t>/MT, a</a:t>
            </a:r>
          </a:p>
        </p:txBody>
      </p:sp>
      <p:pic>
        <p:nvPicPr>
          <p:cNvPr id="37" name="Picture 36" descr="lock.png"/>
          <p:cNvPicPr>
            <a:picLocks noChangeAspect="1"/>
          </p:cNvPicPr>
          <p:nvPr/>
        </p:nvPicPr>
        <p:blipFill>
          <a:blip r:embed="rId6"/>
          <a:stretch>
            <a:fillRect/>
          </a:stretch>
        </p:blipFill>
        <p:spPr>
          <a:xfrm>
            <a:off x="5770340" y="1099058"/>
            <a:ext cx="152098" cy="221234"/>
          </a:xfrm>
          <a:prstGeom prst="rect">
            <a:avLst/>
          </a:prstGeom>
        </p:spPr>
      </p:pic>
      <p:sp>
        <p:nvSpPr>
          <p:cNvPr id="38" name="TextBox 37"/>
          <p:cNvSpPr txBox="1"/>
          <p:nvPr/>
        </p:nvSpPr>
        <p:spPr>
          <a:xfrm>
            <a:off x="5968290" y="1110615"/>
            <a:ext cx="1631751" cy="217169"/>
          </a:xfrm>
          <a:prstGeom prst="rect">
            <a:avLst/>
          </a:prstGeom>
          <a:noFill/>
        </p:spPr>
        <p:txBody>
          <a:bodyPr wrap="none" lIns="0" tIns="0" rIns="0" bIns="0">
            <a:spAutoFit/>
          </a:bodyPr>
          <a:lstStyle/>
          <a:p>
            <a:r>
              <a:rPr sz="1300" b="1">
                <a:solidFill>
                  <a:srgbClr val="FFFFFF"/>
                </a:solidFill>
                <a:latin typeface="Calibri"/>
              </a:rPr>
              <a:t>premium over Tablets.</a:t>
            </a:r>
          </a:p>
        </p:txBody>
      </p:sp>
      <p:sp>
        <p:nvSpPr>
          <p:cNvPr id="39" name="TextBox 38"/>
          <p:cNvSpPr txBox="1"/>
          <p:nvPr/>
        </p:nvSpPr>
        <p:spPr>
          <a:xfrm>
            <a:off x="6995160" y="1602867"/>
            <a:ext cx="2164334" cy="180289"/>
          </a:xfrm>
          <a:prstGeom prst="rect">
            <a:avLst/>
          </a:prstGeom>
          <a:noFill/>
        </p:spPr>
        <p:txBody>
          <a:bodyPr wrap="none" lIns="0" tIns="0" rIns="0" bIns="0">
            <a:spAutoFit/>
          </a:bodyPr>
          <a:lstStyle/>
          <a:p>
            <a:r>
              <a:rPr sz="1057" b="1">
                <a:solidFill>
                  <a:srgbClr val="0B2E4A"/>
                </a:solidFill>
                <a:latin typeface="Calibri"/>
              </a:rPr>
              <a:t>2026 Price Index vs Global Average (=</a:t>
            </a:r>
          </a:p>
        </p:txBody>
      </p:sp>
      <p:pic>
        <p:nvPicPr>
          <p:cNvPr id="40" name="Picture 39" descr="lock.png"/>
          <p:cNvPicPr>
            <a:picLocks noChangeAspect="1"/>
          </p:cNvPicPr>
          <p:nvPr/>
        </p:nvPicPr>
        <p:blipFill>
          <a:blip r:embed="rId6"/>
          <a:stretch>
            <a:fillRect/>
          </a:stretch>
        </p:blipFill>
        <p:spPr>
          <a:xfrm>
            <a:off x="9106620" y="1593461"/>
            <a:ext cx="123784" cy="180050"/>
          </a:xfrm>
          <a:prstGeom prst="rect">
            <a:avLst/>
          </a:prstGeom>
        </p:spPr>
      </p:pic>
      <p:sp>
        <p:nvSpPr>
          <p:cNvPr id="41" name="TextBox 40"/>
          <p:cNvSpPr txBox="1"/>
          <p:nvPr/>
        </p:nvSpPr>
        <p:spPr>
          <a:xfrm>
            <a:off x="9267721" y="1602867"/>
            <a:ext cx="118189" cy="180289"/>
          </a:xfrm>
          <a:prstGeom prst="rect">
            <a:avLst/>
          </a:prstGeom>
          <a:noFill/>
        </p:spPr>
        <p:txBody>
          <a:bodyPr wrap="none" lIns="0" tIns="0" rIns="0" bIns="0">
            <a:spAutoFit/>
          </a:bodyPr>
          <a:lstStyle/>
          <a:p>
            <a:r>
              <a:rPr sz="1057" b="1">
                <a:solidFill>
                  <a:srgbClr val="0B2E4A"/>
                </a:solidFill>
                <a:latin typeface="Calibri"/>
              </a:rPr>
              <a:t>)</a:t>
            </a:r>
          </a:p>
        </p:txBody>
      </p:sp>
      <p:sp>
        <p:nvSpPr>
          <p:cNvPr id="42" name="TextBox 41"/>
          <p:cNvSpPr txBox="1"/>
          <p:nvPr/>
        </p:nvSpPr>
        <p:spPr>
          <a:xfrm>
            <a:off x="806576" y="5530976"/>
            <a:ext cx="2923691" cy="179069"/>
          </a:xfrm>
          <a:prstGeom prst="rect">
            <a:avLst/>
          </a:prstGeom>
          <a:noFill/>
        </p:spPr>
        <p:txBody>
          <a:bodyPr wrap="none" lIns="0" tIns="0" rIns="0" bIns="0">
            <a:spAutoFit/>
          </a:bodyPr>
          <a:lstStyle/>
          <a:p>
            <a:r>
              <a:rPr sz="1050" b="0">
                <a:solidFill>
                  <a:srgbClr val="1F1F1F"/>
                </a:solidFill>
                <a:latin typeface="Calibri"/>
              </a:rPr>
              <a:t>Capsules and Softgels sit at the top of the 2026 price</a:t>
            </a:r>
          </a:p>
        </p:txBody>
      </p:sp>
      <p:sp>
        <p:nvSpPr>
          <p:cNvPr id="43" name="TextBox 42"/>
          <p:cNvSpPr txBox="1"/>
          <p:nvPr/>
        </p:nvSpPr>
        <p:spPr>
          <a:xfrm>
            <a:off x="806576" y="5690996"/>
            <a:ext cx="1193266" cy="179069"/>
          </a:xfrm>
          <a:prstGeom prst="rect">
            <a:avLst/>
          </a:prstGeom>
          <a:noFill/>
        </p:spPr>
        <p:txBody>
          <a:bodyPr wrap="none" lIns="0" tIns="0" rIns="0" bIns="0">
            <a:spAutoFit/>
          </a:bodyPr>
          <a:lstStyle/>
          <a:p>
            <a:r>
              <a:rPr sz="1050" b="0">
                <a:solidFill>
                  <a:srgbClr val="1F1F1F"/>
                </a:solidFill>
                <a:latin typeface="Calibri"/>
              </a:rPr>
              <a:t>ladder at an index of</a:t>
            </a:r>
          </a:p>
        </p:txBody>
      </p:sp>
      <p:pic>
        <p:nvPicPr>
          <p:cNvPr id="44" name="Picture 43" descr="lock.png"/>
          <p:cNvPicPr>
            <a:picLocks noChangeAspect="1"/>
          </p:cNvPicPr>
          <p:nvPr/>
        </p:nvPicPr>
        <p:blipFill>
          <a:blip r:embed="rId6"/>
          <a:stretch>
            <a:fillRect/>
          </a:stretch>
        </p:blipFill>
        <p:spPr>
          <a:xfrm>
            <a:off x="1946792" y="5681662"/>
            <a:ext cx="122849" cy="178689"/>
          </a:xfrm>
          <a:prstGeom prst="rect">
            <a:avLst/>
          </a:prstGeom>
        </p:spPr>
      </p:pic>
      <p:sp>
        <p:nvSpPr>
          <p:cNvPr id="45" name="TextBox 44"/>
          <p:cNvSpPr txBox="1"/>
          <p:nvPr/>
        </p:nvSpPr>
        <p:spPr>
          <a:xfrm>
            <a:off x="2106675" y="5690996"/>
            <a:ext cx="1316980" cy="179069"/>
          </a:xfrm>
          <a:prstGeom prst="rect">
            <a:avLst/>
          </a:prstGeom>
          <a:noFill/>
        </p:spPr>
        <p:txBody>
          <a:bodyPr wrap="none" lIns="0" tIns="0" rIns="0" bIns="0">
            <a:spAutoFit/>
          </a:bodyPr>
          <a:lstStyle/>
          <a:p>
            <a:r>
              <a:rPr sz="1050" b="0">
                <a:solidFill>
                  <a:srgbClr val="1F1F1F"/>
                </a:solidFill>
                <a:latin typeface="Calibri"/>
              </a:rPr>
              <a:t>, while Tablets trade at</a:t>
            </a:r>
          </a:p>
        </p:txBody>
      </p:sp>
      <p:pic>
        <p:nvPicPr>
          <p:cNvPr id="46" name="Picture 45" descr="lock.png"/>
          <p:cNvPicPr>
            <a:picLocks noChangeAspect="1"/>
          </p:cNvPicPr>
          <p:nvPr/>
        </p:nvPicPr>
        <p:blipFill>
          <a:blip r:embed="rId6"/>
          <a:stretch>
            <a:fillRect/>
          </a:stretch>
        </p:blipFill>
        <p:spPr>
          <a:xfrm>
            <a:off x="3370604" y="5681662"/>
            <a:ext cx="122849" cy="178689"/>
          </a:xfrm>
          <a:prstGeom prst="rect">
            <a:avLst/>
          </a:prstGeom>
        </p:spPr>
      </p:pic>
      <p:sp>
        <p:nvSpPr>
          <p:cNvPr id="47" name="TextBox 46"/>
          <p:cNvSpPr txBox="1"/>
          <p:nvPr/>
        </p:nvSpPr>
        <p:spPr>
          <a:xfrm>
            <a:off x="3530487" y="5690996"/>
            <a:ext cx="109537" cy="179069"/>
          </a:xfrm>
          <a:prstGeom prst="rect">
            <a:avLst/>
          </a:prstGeom>
          <a:noFill/>
        </p:spPr>
        <p:txBody>
          <a:bodyPr wrap="none" lIns="0" tIns="0" rIns="0" bIns="0">
            <a:spAutoFit/>
          </a:bodyPr>
          <a:lstStyle/>
          <a:p>
            <a:r>
              <a:rPr sz="1050" b="0">
                <a:solidFill>
                  <a:srgbClr val="1F1F1F"/>
                </a:solidFill>
                <a:latin typeface="Calibri"/>
              </a:rPr>
              <a:t>,</a:t>
            </a:r>
          </a:p>
        </p:txBody>
      </p:sp>
      <p:sp>
        <p:nvSpPr>
          <p:cNvPr id="48" name="TextBox 47"/>
          <p:cNvSpPr txBox="1"/>
          <p:nvPr/>
        </p:nvSpPr>
        <p:spPr>
          <a:xfrm>
            <a:off x="806576" y="5851016"/>
            <a:ext cx="2496033" cy="179069"/>
          </a:xfrm>
          <a:prstGeom prst="rect">
            <a:avLst/>
          </a:prstGeom>
          <a:noFill/>
        </p:spPr>
        <p:txBody>
          <a:bodyPr wrap="none" lIns="0" tIns="0" rIns="0" bIns="0">
            <a:spAutoFit/>
          </a:bodyPr>
          <a:lstStyle/>
          <a:p>
            <a:r>
              <a:rPr sz="1050" b="0">
                <a:solidFill>
                  <a:srgbClr val="1F1F1F"/>
                </a:solidFill>
                <a:latin typeface="Calibri"/>
              </a:rPr>
              <a:t>which keeps the full form type spread within</a:t>
            </a:r>
          </a:p>
        </p:txBody>
      </p:sp>
      <p:pic>
        <p:nvPicPr>
          <p:cNvPr id="49" name="Picture 48" descr="lock.png"/>
          <p:cNvPicPr>
            <a:picLocks noChangeAspect="1"/>
          </p:cNvPicPr>
          <p:nvPr/>
        </p:nvPicPr>
        <p:blipFill>
          <a:blip r:embed="rId6"/>
          <a:stretch>
            <a:fillRect/>
          </a:stretch>
        </p:blipFill>
        <p:spPr>
          <a:xfrm>
            <a:off x="3249559" y="5841682"/>
            <a:ext cx="122849" cy="178689"/>
          </a:xfrm>
          <a:prstGeom prst="rect">
            <a:avLst/>
          </a:prstGeom>
        </p:spPr>
      </p:pic>
      <p:sp>
        <p:nvSpPr>
          <p:cNvPr id="50" name="TextBox 49"/>
          <p:cNvSpPr txBox="1"/>
          <p:nvPr/>
        </p:nvSpPr>
        <p:spPr>
          <a:xfrm>
            <a:off x="3409442" y="5851016"/>
            <a:ext cx="109797" cy="179069"/>
          </a:xfrm>
          <a:prstGeom prst="rect">
            <a:avLst/>
          </a:prstGeom>
          <a:noFill/>
        </p:spPr>
        <p:txBody>
          <a:bodyPr wrap="none" lIns="0" tIns="0" rIns="0" bIns="0">
            <a:spAutoFit/>
          </a:bodyPr>
          <a:lstStyle/>
          <a:p>
            <a:r>
              <a:rPr sz="1050" b="0">
                <a:solidFill>
                  <a:srgbClr val="1F1F1F"/>
                </a:solidFill>
                <a:latin typeface="Calibri"/>
              </a:rPr>
              <a:t>.</a:t>
            </a:r>
          </a:p>
        </p:txBody>
      </p:sp>
      <p:sp>
        <p:nvSpPr>
          <p:cNvPr id="51" name="TextBox 50"/>
          <p:cNvSpPr txBox="1"/>
          <p:nvPr/>
        </p:nvSpPr>
        <p:spPr>
          <a:xfrm>
            <a:off x="4732401" y="5530976"/>
            <a:ext cx="3073189" cy="179069"/>
          </a:xfrm>
          <a:prstGeom prst="rect">
            <a:avLst/>
          </a:prstGeom>
          <a:noFill/>
        </p:spPr>
        <p:txBody>
          <a:bodyPr wrap="none" lIns="0" tIns="0" rIns="0" bIns="0">
            <a:spAutoFit/>
          </a:bodyPr>
          <a:lstStyle/>
          <a:p>
            <a:r>
              <a:rPr sz="1050" b="0">
                <a:solidFill>
                  <a:srgbClr val="1F1F1F"/>
                </a:solidFill>
                <a:latin typeface="Calibri"/>
              </a:rPr>
              <a:t>Capsules and Softgels post the fastest price growth at a</a:t>
            </a:r>
          </a:p>
        </p:txBody>
      </p:sp>
      <p:pic>
        <p:nvPicPr>
          <p:cNvPr id="52" name="Picture 51" descr="lock.png"/>
          <p:cNvPicPr>
            <a:picLocks noChangeAspect="1"/>
          </p:cNvPicPr>
          <p:nvPr/>
        </p:nvPicPr>
        <p:blipFill>
          <a:blip r:embed="rId6"/>
          <a:stretch>
            <a:fillRect/>
          </a:stretch>
        </p:blipFill>
        <p:spPr>
          <a:xfrm>
            <a:off x="4719545" y="5681662"/>
            <a:ext cx="122849" cy="178689"/>
          </a:xfrm>
          <a:prstGeom prst="rect">
            <a:avLst/>
          </a:prstGeom>
        </p:spPr>
      </p:pic>
      <p:sp>
        <p:nvSpPr>
          <p:cNvPr id="53" name="TextBox 52"/>
          <p:cNvSpPr txBox="1"/>
          <p:nvPr/>
        </p:nvSpPr>
        <p:spPr>
          <a:xfrm>
            <a:off x="4879428" y="5690996"/>
            <a:ext cx="2611917" cy="179069"/>
          </a:xfrm>
          <a:prstGeom prst="rect">
            <a:avLst/>
          </a:prstGeom>
          <a:noFill/>
        </p:spPr>
        <p:txBody>
          <a:bodyPr wrap="none" lIns="0" tIns="0" rIns="0" bIns="0">
            <a:spAutoFit/>
          </a:bodyPr>
          <a:lstStyle/>
          <a:p>
            <a:r>
              <a:rPr sz="1050" b="0">
                <a:solidFill>
                  <a:srgbClr val="1F1F1F"/>
                </a:solidFill>
                <a:latin typeface="Calibri"/>
              </a:rPr>
              <a:t>CAGR between 2026 and 2036, compared with</a:t>
            </a:r>
          </a:p>
        </p:txBody>
      </p:sp>
      <p:pic>
        <p:nvPicPr>
          <p:cNvPr id="54" name="Picture 53" descr="lock.png"/>
          <p:cNvPicPr>
            <a:picLocks noChangeAspect="1"/>
          </p:cNvPicPr>
          <p:nvPr/>
        </p:nvPicPr>
        <p:blipFill>
          <a:blip r:embed="rId6"/>
          <a:stretch>
            <a:fillRect/>
          </a:stretch>
        </p:blipFill>
        <p:spPr>
          <a:xfrm>
            <a:off x="7438294" y="5681662"/>
            <a:ext cx="122849" cy="178689"/>
          </a:xfrm>
          <a:prstGeom prst="rect">
            <a:avLst/>
          </a:prstGeom>
        </p:spPr>
      </p:pic>
      <p:sp>
        <p:nvSpPr>
          <p:cNvPr id="55" name="TextBox 54"/>
          <p:cNvSpPr txBox="1"/>
          <p:nvPr/>
        </p:nvSpPr>
        <p:spPr>
          <a:xfrm>
            <a:off x="4732401" y="5851016"/>
            <a:ext cx="1515702" cy="179069"/>
          </a:xfrm>
          <a:prstGeom prst="rect">
            <a:avLst/>
          </a:prstGeom>
          <a:noFill/>
        </p:spPr>
        <p:txBody>
          <a:bodyPr wrap="none" lIns="0" tIns="0" rIns="0" bIns="0">
            <a:spAutoFit/>
          </a:bodyPr>
          <a:lstStyle/>
          <a:p>
            <a:r>
              <a:rPr sz="1050" b="0">
                <a:solidFill>
                  <a:srgbClr val="1F1F1F"/>
                </a:solidFill>
                <a:latin typeface="Calibri"/>
              </a:rPr>
              <a:t>for Powders and Granules.</a:t>
            </a:r>
          </a:p>
        </p:txBody>
      </p:sp>
      <p:sp>
        <p:nvSpPr>
          <p:cNvPr id="56" name="TextBox 55"/>
          <p:cNvSpPr txBox="1"/>
          <p:nvPr/>
        </p:nvSpPr>
        <p:spPr>
          <a:xfrm>
            <a:off x="8658225" y="5530976"/>
            <a:ext cx="2235844" cy="179069"/>
          </a:xfrm>
          <a:prstGeom prst="rect">
            <a:avLst/>
          </a:prstGeom>
          <a:noFill/>
        </p:spPr>
        <p:txBody>
          <a:bodyPr wrap="none" lIns="0" tIns="0" rIns="0" bIns="0">
            <a:spAutoFit/>
          </a:bodyPr>
          <a:lstStyle/>
          <a:p>
            <a:r>
              <a:rPr sz="1050" b="0">
                <a:solidFill>
                  <a:srgbClr val="1F1F1F"/>
                </a:solidFill>
                <a:latin typeface="Calibri"/>
              </a:rPr>
              <a:t>The Global average price rises from US$</a:t>
            </a:r>
          </a:p>
        </p:txBody>
      </p:sp>
      <p:pic>
        <p:nvPicPr>
          <p:cNvPr id="57" name="Picture 56" descr="lock.png"/>
          <p:cNvPicPr>
            <a:picLocks noChangeAspect="1"/>
          </p:cNvPicPr>
          <p:nvPr/>
        </p:nvPicPr>
        <p:blipFill>
          <a:blip r:embed="rId6"/>
          <a:stretch>
            <a:fillRect/>
          </a:stretch>
        </p:blipFill>
        <p:spPr>
          <a:xfrm>
            <a:off x="10841019" y="5521642"/>
            <a:ext cx="122849" cy="178689"/>
          </a:xfrm>
          <a:prstGeom prst="rect">
            <a:avLst/>
          </a:prstGeom>
        </p:spPr>
      </p:pic>
      <p:sp>
        <p:nvSpPr>
          <p:cNvPr id="58" name="TextBox 57"/>
          <p:cNvSpPr txBox="1"/>
          <p:nvPr/>
        </p:nvSpPr>
        <p:spPr>
          <a:xfrm>
            <a:off x="11000901" y="5530976"/>
            <a:ext cx="739043" cy="179069"/>
          </a:xfrm>
          <a:prstGeom prst="rect">
            <a:avLst/>
          </a:prstGeom>
          <a:noFill/>
        </p:spPr>
        <p:txBody>
          <a:bodyPr wrap="none" lIns="0" tIns="0" rIns="0" bIns="0">
            <a:spAutoFit/>
          </a:bodyPr>
          <a:lstStyle/>
          <a:p>
            <a:r>
              <a:rPr sz="1050" b="0">
                <a:solidFill>
                  <a:srgbClr val="1F1F1F"/>
                </a:solidFill>
                <a:latin typeface="Calibri"/>
              </a:rPr>
              <a:t>/MT in 2026</a:t>
            </a:r>
          </a:p>
        </p:txBody>
      </p:sp>
      <p:sp>
        <p:nvSpPr>
          <p:cNvPr id="59" name="TextBox 58"/>
          <p:cNvSpPr txBox="1"/>
          <p:nvPr/>
        </p:nvSpPr>
        <p:spPr>
          <a:xfrm>
            <a:off x="8658225" y="5690996"/>
            <a:ext cx="436140" cy="179069"/>
          </a:xfrm>
          <a:prstGeom prst="rect">
            <a:avLst/>
          </a:prstGeom>
          <a:noFill/>
        </p:spPr>
        <p:txBody>
          <a:bodyPr wrap="none" lIns="0" tIns="0" rIns="0" bIns="0">
            <a:spAutoFit/>
          </a:bodyPr>
          <a:lstStyle/>
          <a:p>
            <a:r>
              <a:rPr sz="1050" b="0">
                <a:solidFill>
                  <a:srgbClr val="1F1F1F"/>
                </a:solidFill>
                <a:latin typeface="Calibri"/>
              </a:rPr>
              <a:t>to US$</a:t>
            </a:r>
          </a:p>
        </p:txBody>
      </p:sp>
      <p:pic>
        <p:nvPicPr>
          <p:cNvPr id="60" name="Picture 59" descr="lock.png"/>
          <p:cNvPicPr>
            <a:picLocks noChangeAspect="1"/>
          </p:cNvPicPr>
          <p:nvPr/>
        </p:nvPicPr>
        <p:blipFill>
          <a:blip r:embed="rId6"/>
          <a:stretch>
            <a:fillRect/>
          </a:stretch>
        </p:blipFill>
        <p:spPr>
          <a:xfrm>
            <a:off x="9041315" y="5681662"/>
            <a:ext cx="122849" cy="178689"/>
          </a:xfrm>
          <a:prstGeom prst="rect">
            <a:avLst/>
          </a:prstGeom>
        </p:spPr>
      </p:pic>
      <p:sp>
        <p:nvSpPr>
          <p:cNvPr id="61" name="TextBox 60"/>
          <p:cNvSpPr txBox="1"/>
          <p:nvPr/>
        </p:nvSpPr>
        <p:spPr>
          <a:xfrm>
            <a:off x="9201197" y="5690996"/>
            <a:ext cx="2593181" cy="179069"/>
          </a:xfrm>
          <a:prstGeom prst="rect">
            <a:avLst/>
          </a:prstGeom>
          <a:noFill/>
        </p:spPr>
        <p:txBody>
          <a:bodyPr wrap="none" lIns="0" tIns="0" rIns="0" bIns="0">
            <a:spAutoFit/>
          </a:bodyPr>
          <a:lstStyle/>
          <a:p>
            <a:r>
              <a:rPr sz="1050" b="0">
                <a:solidFill>
                  <a:srgbClr val="1F1F1F"/>
                </a:solidFill>
                <a:latin typeface="Calibri"/>
              </a:rPr>
              <a:t>/MT in 2036, and the gap between the highest</a:t>
            </a:r>
          </a:p>
        </p:txBody>
      </p:sp>
      <p:sp>
        <p:nvSpPr>
          <p:cNvPr id="62" name="TextBox 61"/>
          <p:cNvSpPr txBox="1"/>
          <p:nvPr/>
        </p:nvSpPr>
        <p:spPr>
          <a:xfrm>
            <a:off x="8658225" y="5851016"/>
            <a:ext cx="2286892" cy="179069"/>
          </a:xfrm>
          <a:prstGeom prst="rect">
            <a:avLst/>
          </a:prstGeom>
          <a:noFill/>
        </p:spPr>
        <p:txBody>
          <a:bodyPr wrap="none" lIns="0" tIns="0" rIns="0" bIns="0">
            <a:spAutoFit/>
          </a:bodyPr>
          <a:lstStyle/>
          <a:p>
            <a:r>
              <a:rPr sz="1050" b="0">
                <a:solidFill>
                  <a:srgbClr val="1F1F1F"/>
                </a:solidFill>
                <a:latin typeface="Calibri"/>
              </a:rPr>
              <a:t>and lowest priced form type moves from</a:t>
            </a:r>
          </a:p>
        </p:txBody>
      </p:sp>
      <p:pic>
        <p:nvPicPr>
          <p:cNvPr id="63" name="Picture 62" descr="lock.png"/>
          <p:cNvPicPr>
            <a:picLocks noChangeAspect="1"/>
          </p:cNvPicPr>
          <p:nvPr/>
        </p:nvPicPr>
        <p:blipFill>
          <a:blip r:embed="rId6"/>
          <a:stretch>
            <a:fillRect/>
          </a:stretch>
        </p:blipFill>
        <p:spPr>
          <a:xfrm>
            <a:off x="10892067" y="5841682"/>
            <a:ext cx="122849" cy="178689"/>
          </a:xfrm>
          <a:prstGeom prst="rect">
            <a:avLst/>
          </a:prstGeom>
        </p:spPr>
      </p:pic>
      <p:sp>
        <p:nvSpPr>
          <p:cNvPr id="64" name="TextBox 63"/>
          <p:cNvSpPr txBox="1"/>
          <p:nvPr/>
        </p:nvSpPr>
        <p:spPr>
          <a:xfrm>
            <a:off x="11051949" y="5851016"/>
            <a:ext cx="623403" cy="179069"/>
          </a:xfrm>
          <a:prstGeom prst="rect">
            <a:avLst/>
          </a:prstGeom>
          <a:noFill/>
        </p:spPr>
        <p:txBody>
          <a:bodyPr wrap="none" lIns="0" tIns="0" rIns="0" bIns="0">
            <a:spAutoFit/>
          </a:bodyPr>
          <a:lstStyle/>
          <a:p>
            <a:r>
              <a:rPr sz="1050" b="0">
                <a:solidFill>
                  <a:srgbClr val="1F1F1F"/>
                </a:solidFill>
                <a:latin typeface="Calibri"/>
              </a:rPr>
              <a:t>in 2021 to</a:t>
            </a:r>
          </a:p>
        </p:txBody>
      </p:sp>
      <p:pic>
        <p:nvPicPr>
          <p:cNvPr id="65" name="Picture 64" descr="lock.png"/>
          <p:cNvPicPr>
            <a:picLocks noChangeAspect="1"/>
          </p:cNvPicPr>
          <p:nvPr/>
        </p:nvPicPr>
        <p:blipFill>
          <a:blip r:embed="rId6"/>
          <a:stretch>
            <a:fillRect/>
          </a:stretch>
        </p:blipFill>
        <p:spPr>
          <a:xfrm>
            <a:off x="8645369" y="6001702"/>
            <a:ext cx="122849" cy="178689"/>
          </a:xfrm>
          <a:prstGeom prst="rect">
            <a:avLst/>
          </a:prstGeom>
        </p:spPr>
      </p:pic>
      <p:sp>
        <p:nvSpPr>
          <p:cNvPr id="66" name="TextBox 65"/>
          <p:cNvSpPr txBox="1"/>
          <p:nvPr/>
        </p:nvSpPr>
        <p:spPr>
          <a:xfrm>
            <a:off x="8805252" y="6011036"/>
            <a:ext cx="511671" cy="179069"/>
          </a:xfrm>
          <a:prstGeom prst="rect">
            <a:avLst/>
          </a:prstGeom>
          <a:noFill/>
        </p:spPr>
        <p:txBody>
          <a:bodyPr wrap="none" lIns="0" tIns="0" rIns="0" bIns="0">
            <a:spAutoFit/>
          </a:bodyPr>
          <a:lstStyle/>
          <a:p>
            <a:r>
              <a:rPr sz="1050" b="0">
                <a:solidFill>
                  <a:srgbClr val="1F1F1F"/>
                </a:solidFill>
                <a:latin typeface="Calibri"/>
              </a:rPr>
              <a:t>in 2036.</a:t>
            </a:r>
          </a:p>
        </p:txBody>
      </p:sp>
      <p:pic>
        <p:nvPicPr>
          <p:cNvPr id="67" name="Picture 66" descr="lock.png"/>
          <p:cNvPicPr>
            <a:picLocks noChangeAspect="1"/>
          </p:cNvPicPr>
          <p:nvPr/>
        </p:nvPicPr>
        <p:blipFill>
          <a:blip r:embed="rId6"/>
          <a:stretch>
            <a:fillRect/>
          </a:stretch>
        </p:blipFill>
        <p:spPr>
          <a:xfrm>
            <a:off x="3418190" y="3048804"/>
            <a:ext cx="454926" cy="661711"/>
          </a:xfrm>
          <a:prstGeom prst="rect">
            <a:avLst/>
          </a:prstGeom>
        </p:spPr>
      </p:pic>
      <p:pic>
        <p:nvPicPr>
          <p:cNvPr id="68" name="Picture 67" descr="lock.png"/>
          <p:cNvPicPr>
            <a:picLocks noChangeAspect="1"/>
          </p:cNvPicPr>
          <p:nvPr/>
        </p:nvPicPr>
        <p:blipFill>
          <a:blip r:embed="rId6"/>
          <a:stretch>
            <a:fillRect/>
          </a:stretch>
        </p:blipFill>
        <p:spPr>
          <a:xfrm>
            <a:off x="9403270" y="2219134"/>
            <a:ext cx="256698" cy="373379"/>
          </a:xfrm>
          <a:prstGeom prst="rect">
            <a:avLst/>
          </a:prstGeom>
        </p:spPr>
      </p:pic>
      <p:sp>
        <p:nvSpPr>
          <p:cNvPr id="69"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Price Matrix: Form Type × Active Ingredient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Average price (US$/MT) for every form type and active ingredient combination, 2026</a:t>
            </a:r>
          </a:p>
        </p:txBody>
      </p:sp>
      <p:sp>
        <p:nvSpPr>
          <p:cNvPr id="10" name="Rectangle 9"/>
          <p:cNvSpPr/>
          <p:nvPr/>
        </p:nvSpPr>
        <p:spPr>
          <a:xfrm>
            <a:off x="274320" y="981075"/>
            <a:ext cx="11640312" cy="457200"/>
          </a:xfrm>
          <a:prstGeom prst="rect">
            <a:avLst/>
          </a:prstGeom>
          <a:solidFill>
            <a:srgbClr val="0B2E4A"/>
          </a:solidFill>
          <a:ln>
            <a:noFill/>
          </a:ln>
          <a:effectLst/>
        </p:spPr>
        <p:txBody>
          <a:bodyPr wrap="square" lIns="137160" rtlCol="0" anchor="ctr"/>
          <a:lstStyle/>
          <a:p>
            <a:pPr algn="l"/>
            <a:endParaRP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endParaRPr/>
          </a:p>
        </p:txBody>
      </p:sp>
      <p:sp>
        <p:nvSpPr>
          <p:cNvPr id="12" name="TextBox 11"/>
          <p:cNvSpPr txBox="1"/>
          <p:nvPr/>
        </p:nvSpPr>
        <p:spPr>
          <a:xfrm>
            <a:off x="384048" y="1575435"/>
            <a:ext cx="7315200" cy="257175"/>
          </a:xfrm>
          <a:prstGeom prst="rect">
            <a:avLst/>
          </a:prstGeom>
          <a:noFill/>
        </p:spPr>
        <p:txBody>
          <a:bodyPr wrap="square" lIns="27432" tIns="27432" rIns="27432" bIns="27432" anchor="t">
            <a:spAutoFit/>
          </a:bodyPr>
          <a:lstStyle/>
          <a:p>
            <a:pPr algn="l"/>
            <a:r>
              <a:rPr sz="1150" b="1" i="0">
                <a:solidFill>
                  <a:srgbClr val="0B2E4A"/>
                </a:solidFill>
                <a:latin typeface="Calibri"/>
              </a:rPr>
              <a:t>2026 Price Matrix (US$/MT), Shaded by Index vs Global Average</a:t>
            </a:r>
          </a:p>
        </p:txBody>
      </p:sp>
      <p:graphicFrame>
        <p:nvGraphicFramePr>
          <p:cNvPr id="13" name="Table 12"/>
          <p:cNvGraphicFramePr>
            <a:graphicFrameLocks noGrp="1"/>
          </p:cNvGraphicFramePr>
          <p:nvPr/>
        </p:nvGraphicFramePr>
        <p:xfrm>
          <a:off x="365760" y="1868043"/>
          <a:ext cx="7360920" cy="2864358"/>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867156">
                  <a:extLst>
                    <a:ext uri="{9D8B030D-6E8A-4147-A177-3AD203B41FA5}">
                      <a16:colId xmlns:a16="http://schemas.microsoft.com/office/drawing/2014/main" val="20001"/>
                    </a:ext>
                  </a:extLst>
                </a:gridCol>
                <a:gridCol w="867156">
                  <a:extLst>
                    <a:ext uri="{9D8B030D-6E8A-4147-A177-3AD203B41FA5}">
                      <a16:colId xmlns:a16="http://schemas.microsoft.com/office/drawing/2014/main" val="20002"/>
                    </a:ext>
                  </a:extLst>
                </a:gridCol>
                <a:gridCol w="867156">
                  <a:extLst>
                    <a:ext uri="{9D8B030D-6E8A-4147-A177-3AD203B41FA5}">
                      <a16:colId xmlns:a16="http://schemas.microsoft.com/office/drawing/2014/main" val="20003"/>
                    </a:ext>
                  </a:extLst>
                </a:gridCol>
                <a:gridCol w="867156">
                  <a:extLst>
                    <a:ext uri="{9D8B030D-6E8A-4147-A177-3AD203B41FA5}">
                      <a16:colId xmlns:a16="http://schemas.microsoft.com/office/drawing/2014/main" val="20004"/>
                    </a:ext>
                  </a:extLst>
                </a:gridCol>
                <a:gridCol w="867156">
                  <a:extLst>
                    <a:ext uri="{9D8B030D-6E8A-4147-A177-3AD203B41FA5}">
                      <a16:colId xmlns:a16="http://schemas.microsoft.com/office/drawing/2014/main" val="20005"/>
                    </a:ext>
                  </a:extLst>
                </a:gridCol>
                <a:gridCol w="867156">
                  <a:extLst>
                    <a:ext uri="{9D8B030D-6E8A-4147-A177-3AD203B41FA5}">
                      <a16:colId xmlns:a16="http://schemas.microsoft.com/office/drawing/2014/main" val="20006"/>
                    </a:ext>
                  </a:extLst>
                </a:gridCol>
                <a:gridCol w="603504">
                  <a:extLst>
                    <a:ext uri="{9D8B030D-6E8A-4147-A177-3AD203B41FA5}">
                      <a16:colId xmlns:a16="http://schemas.microsoft.com/office/drawing/2014/main" val="20007"/>
                    </a:ext>
                  </a:extLst>
                </a:gridCol>
              </a:tblGrid>
              <a:tr h="354330">
                <a:tc>
                  <a:txBody>
                    <a:bodyPr/>
                    <a:lstStyle/>
                    <a:p>
                      <a:pPr algn="l"/>
                      <a:r>
                        <a:rPr sz="800" b="1">
                          <a:solidFill>
                            <a:srgbClr val="FFFFFF"/>
                          </a:solidFill>
                          <a:latin typeface="Calibri"/>
                        </a:rPr>
                        <a:t>Form Type</a:t>
                      </a:r>
                    </a:p>
                  </a:txBody>
                  <a:tcPr marL="36576" marR="36576" marT="9144" marB="9144" anchor="ctr">
                    <a:solidFill>
                      <a:srgbClr val="0B2E4A"/>
                    </a:solidFill>
                  </a:tcPr>
                </a:tc>
                <a:tc>
                  <a:txBody>
                    <a:bodyPr/>
                    <a:lstStyle/>
                    <a:p>
                      <a:pPr algn="ctr"/>
                      <a:r>
                        <a:rPr sz="800" b="1">
                          <a:solidFill>
                            <a:srgbClr val="FFFFFF"/>
                          </a:solidFill>
                          <a:latin typeface="Calibri"/>
                        </a:rPr>
                        <a:t>Omega-3 Fatty Acids</a:t>
                      </a:r>
                    </a:p>
                  </a:txBody>
                  <a:tcPr marL="36576" marR="36576" marT="9144" marB="9144" anchor="ctr">
                    <a:solidFill>
                      <a:srgbClr val="0B2E4A"/>
                    </a:solidFill>
                  </a:tcPr>
                </a:tc>
                <a:tc>
                  <a:txBody>
                    <a:bodyPr/>
                    <a:lstStyle/>
                    <a:p>
                      <a:pPr algn="ctr"/>
                      <a:r>
                        <a:rPr sz="800" b="1">
                          <a:solidFill>
                            <a:srgbClr val="FFFFFF"/>
                          </a:solidFill>
                          <a:latin typeface="Calibri"/>
                        </a:rPr>
                        <a:t>Antioxidant Ingredients</a:t>
                      </a:r>
                    </a:p>
                  </a:txBody>
                  <a:tcPr marL="36576" marR="36576" marT="9144" marB="9144" anchor="ctr">
                    <a:solidFill>
                      <a:srgbClr val="0B2E4A"/>
                    </a:solidFill>
                  </a:tcPr>
                </a:tc>
                <a:tc>
                  <a:txBody>
                    <a:bodyPr/>
                    <a:lstStyle/>
                    <a:p>
                      <a:pPr algn="ctr"/>
                      <a:r>
                        <a:rPr sz="800" b="1">
                          <a:solidFill>
                            <a:srgbClr val="FFFFFF"/>
                          </a:solidFill>
                          <a:latin typeface="Calibri"/>
                        </a:rPr>
                        <a:t>Neurofunctional Nutrients</a:t>
                      </a:r>
                    </a:p>
                  </a:txBody>
                  <a:tcPr marL="36576" marR="36576" marT="9144" marB="9144" anchor="ctr">
                    <a:solidFill>
                      <a:srgbClr val="0B2E4A"/>
                    </a:solidFill>
                  </a:tcPr>
                </a:tc>
                <a:tc>
                  <a:txBody>
                    <a:bodyPr/>
                    <a:lstStyle/>
                    <a:p>
                      <a:pPr algn="ctr"/>
                      <a:r>
                        <a:rPr sz="800" b="1">
                          <a:solidFill>
                            <a:srgbClr val="FFFFFF"/>
                          </a:solidFill>
                          <a:latin typeface="Calibri"/>
                        </a:rPr>
                        <a:t>Cellular Energy Support Ingredients</a:t>
                      </a:r>
                    </a:p>
                  </a:txBody>
                  <a:tcPr marL="36576" marR="36576" marT="9144" marB="9144" anchor="ctr">
                    <a:solidFill>
                      <a:srgbClr val="0B2E4A"/>
                    </a:solidFill>
                  </a:tcPr>
                </a:tc>
                <a:tc>
                  <a:txBody>
                    <a:bodyPr/>
                    <a:lstStyle/>
                    <a:p>
                      <a:pPr algn="ctr"/>
                      <a:r>
                        <a:rPr sz="800" b="1">
                          <a:solidFill>
                            <a:srgbClr val="FFFFFF"/>
                          </a:solidFill>
                          <a:latin typeface="Calibri"/>
                        </a:rPr>
                        <a:t>Botanical Ingredients</a:t>
                      </a:r>
                    </a:p>
                  </a:txBody>
                  <a:tcPr marL="36576" marR="36576" marT="9144" marB="9144" anchor="ctr">
                    <a:solidFill>
                      <a:srgbClr val="0B2E4A"/>
                    </a:solidFill>
                  </a:tcPr>
                </a:tc>
                <a:tc>
                  <a:txBody>
                    <a:bodyPr/>
                    <a:lstStyle/>
                    <a:p>
                      <a:pPr algn="ctr"/>
                      <a:r>
                        <a:rPr sz="800" b="1">
                          <a:solidFill>
                            <a:srgbClr val="FFFFFF"/>
                          </a:solidFill>
                          <a:latin typeface="Calibri"/>
                        </a:rPr>
                        <a:t>Microbiome-Targeted Ingredients</a:t>
                      </a:r>
                    </a:p>
                  </a:txBody>
                  <a:tcPr marL="36576" marR="36576" marT="9144" marB="9144" anchor="ctr">
                    <a:solidFill>
                      <a:srgbClr val="0B2E4A"/>
                    </a:solidFill>
                  </a:tcPr>
                </a:tc>
                <a:tc>
                  <a:txBody>
                    <a:bodyPr/>
                    <a:lstStyle/>
                    <a:p>
                      <a:pPr algn="ctr"/>
                      <a:r>
                        <a:rPr sz="800" b="1">
                          <a:solidFill>
                            <a:srgbClr val="FFFFFF"/>
                          </a:solidFill>
                          <a:latin typeface="Calibri"/>
                        </a:rPr>
                        <a:t>Row Avg.</a:t>
                      </a:r>
                    </a:p>
                  </a:txBody>
                  <a:tcPr marL="36576" marR="36576" marT="9144" marB="9144" anchor="ctr">
                    <a:solidFill>
                      <a:srgbClr val="0B2E4A"/>
                    </a:solidFill>
                  </a:tcPr>
                </a:tc>
                <a:extLst>
                  <a:ext uri="{0D108BD9-81ED-4DB2-BD59-A6C34878D82A}">
                    <a16:rowId xmlns:a16="http://schemas.microsoft.com/office/drawing/2014/main" val="10000"/>
                  </a:ext>
                </a:extLst>
              </a:tr>
              <a:tr h="354330">
                <a:tc>
                  <a:txBody>
                    <a:bodyPr/>
                    <a:lstStyle/>
                    <a:p>
                      <a:pPr algn="l"/>
                      <a:r>
                        <a:rPr sz="900" b="1">
                          <a:solidFill>
                            <a:srgbClr val="1F1F1F"/>
                          </a:solidFill>
                          <a:latin typeface="Calibri"/>
                        </a:rPr>
                        <a:t>Capsules and Softgels</a:t>
                      </a:r>
                    </a:p>
                  </a:txBody>
                  <a:tcPr marL="36576" marR="36576" marT="9144" marB="9144" anchor="ctr">
                    <a:solidFill>
                      <a:srgbClr val="FFFFFF"/>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1"/>
                  </a:ext>
                </a:extLst>
              </a:tr>
              <a:tr h="354330">
                <a:tc>
                  <a:txBody>
                    <a:bodyPr/>
                    <a:lstStyle/>
                    <a:p>
                      <a:pPr algn="l"/>
                      <a:r>
                        <a:rPr sz="900" b="1">
                          <a:solidFill>
                            <a:srgbClr val="1F1F1F"/>
                          </a:solidFill>
                          <a:latin typeface="Calibri"/>
                        </a:rPr>
                        <a:t>Powders and Granules</a:t>
                      </a:r>
                    </a:p>
                  </a:txBody>
                  <a:tcPr marL="36576" marR="36576" marT="9144" marB="9144" anchor="ctr">
                    <a:solidFill>
                      <a:srgbClr val="FFFFFF"/>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2"/>
                  </a:ext>
                </a:extLst>
              </a:tr>
              <a:tr h="354330">
                <a:tc>
                  <a:txBody>
                    <a:bodyPr/>
                    <a:lstStyle/>
                    <a:p>
                      <a:pPr algn="l"/>
                      <a:r>
                        <a:rPr sz="900" b="1">
                          <a:solidFill>
                            <a:srgbClr val="1F1F1F"/>
                          </a:solidFill>
                          <a:latin typeface="Calibri"/>
                        </a:rPr>
                        <a:t>Liquids</a:t>
                      </a:r>
                    </a:p>
                  </a:txBody>
                  <a:tcPr marL="36576" marR="36576" marT="9144" marB="9144" anchor="ctr">
                    <a:solidFill>
                      <a:srgbClr val="FFFFFF"/>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3"/>
                  </a:ext>
                </a:extLst>
              </a:tr>
              <a:tr h="354330">
                <a:tc>
                  <a:txBody>
                    <a:bodyPr/>
                    <a:lstStyle/>
                    <a:p>
                      <a:pPr algn="l"/>
                      <a:r>
                        <a:rPr sz="900" b="1">
                          <a:solidFill>
                            <a:srgbClr val="1F1F1F"/>
                          </a:solidFill>
                          <a:latin typeface="Calibri"/>
                        </a:rPr>
                        <a:t>Gels and Pastes</a:t>
                      </a:r>
                    </a:p>
                  </a:txBody>
                  <a:tcPr marL="36576" marR="36576" marT="9144" marB="9144" anchor="ctr">
                    <a:solidFill>
                      <a:srgbClr val="FFFFFF"/>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D9E6F2"/>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4"/>
                  </a:ext>
                </a:extLst>
              </a:tr>
              <a:tr h="354330">
                <a:tc>
                  <a:txBody>
                    <a:bodyPr/>
                    <a:lstStyle/>
                    <a:p>
                      <a:pPr algn="l"/>
                      <a:r>
                        <a:rPr sz="900" b="1">
                          <a:solidFill>
                            <a:srgbClr val="1F1F1F"/>
                          </a:solidFill>
                          <a:latin typeface="Calibri"/>
                        </a:rPr>
                        <a:t>Chewables</a:t>
                      </a:r>
                    </a:p>
                  </a:txBody>
                  <a:tcPr marL="36576" marR="36576" marT="9144" marB="9144" anchor="ctr">
                    <a:solidFill>
                      <a:srgbClr val="FFFFFF"/>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FBE3D3"/>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5"/>
                  </a:ext>
                </a:extLst>
              </a:tr>
              <a:tr h="354330">
                <a:tc>
                  <a:txBody>
                    <a:bodyPr/>
                    <a:lstStyle/>
                    <a:p>
                      <a:pPr algn="l"/>
                      <a:r>
                        <a:rPr sz="900" b="1">
                          <a:solidFill>
                            <a:srgbClr val="1F1F1F"/>
                          </a:solidFill>
                          <a:latin typeface="Calibri"/>
                        </a:rPr>
                        <a:t>Tablets</a:t>
                      </a:r>
                    </a:p>
                  </a:txBody>
                  <a:tcPr marL="36576" marR="36576" marT="9144" marB="9144" anchor="ctr">
                    <a:solidFill>
                      <a:srgbClr val="FFFFFF"/>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6"/>
                  </a:ext>
                </a:extLst>
              </a:tr>
              <a:tr h="354330">
                <a:tc>
                  <a:txBody>
                    <a:bodyPr/>
                    <a:lstStyle/>
                    <a:p>
                      <a:pPr algn="l"/>
                      <a:r>
                        <a:rPr sz="900" b="1">
                          <a:solidFill>
                            <a:srgbClr val="1F1F1F"/>
                          </a:solidFill>
                          <a:latin typeface="Calibri"/>
                        </a:rPr>
                        <a:t>Column Avg.</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7"/>
                  </a:ext>
                </a:extLst>
              </a:tr>
            </a:tbl>
          </a:graphicData>
        </a:graphic>
      </p:graphicFrame>
      <p:sp>
        <p:nvSpPr>
          <p:cNvPr id="14" name="Rectangle 13"/>
          <p:cNvSpPr/>
          <p:nvPr/>
        </p:nvSpPr>
        <p:spPr>
          <a:xfrm>
            <a:off x="384048" y="4794123"/>
            <a:ext cx="180975" cy="142875"/>
          </a:xfrm>
          <a:prstGeom prst="rect">
            <a:avLst/>
          </a:prstGeom>
          <a:solidFill>
            <a:srgbClr val="9DC0E0"/>
          </a:solidFill>
          <a:ln w="9525">
            <a:solidFill>
              <a:srgbClr val="D9DEE4"/>
            </a:solidFill>
          </a:ln>
          <a:effectLst/>
        </p:spPr>
        <p:txBody>
          <a:bodyPr rtlCol="0" anchor="ctr"/>
          <a:lstStyle/>
          <a:p>
            <a:pPr algn="ctr"/>
            <a:endParaRPr/>
          </a:p>
        </p:txBody>
      </p:sp>
      <p:sp>
        <p:nvSpPr>
          <p:cNvPr id="15" name="FMI Scale legend"/>
          <p:cNvSpPr txBox="1"/>
          <p:nvPr/>
        </p:nvSpPr>
        <p:spPr>
          <a:xfrm>
            <a:off x="593598" y="4739259"/>
            <a:ext cx="1276350" cy="238125"/>
          </a:xfrm>
          <a:prstGeom prst="rect">
            <a:avLst/>
          </a:prstGeom>
          <a:noFill/>
        </p:spPr>
        <p:txBody>
          <a:bodyPr wrap="square" lIns="27432" tIns="27432" rIns="27432" bIns="27432" anchor="t">
            <a:spAutoFit/>
          </a:bodyPr>
          <a:lstStyle/>
          <a:p>
            <a:pPr algn="l"/>
            <a:r>
              <a:rPr sz="850" b="0" i="0">
                <a:solidFill>
                  <a:srgbClr val="59636E"/>
                </a:solidFill>
                <a:latin typeface="Calibri"/>
              </a:rPr>
              <a:t>Index below 97.5</a:t>
            </a:r>
          </a:p>
        </p:txBody>
      </p:sp>
      <p:sp>
        <p:nvSpPr>
          <p:cNvPr id="16" name="Rectangle 15"/>
          <p:cNvSpPr/>
          <p:nvPr/>
        </p:nvSpPr>
        <p:spPr>
          <a:xfrm>
            <a:off x="1850898" y="4794123"/>
            <a:ext cx="180975" cy="142875"/>
          </a:xfrm>
          <a:prstGeom prst="rect">
            <a:avLst/>
          </a:prstGeom>
          <a:solidFill>
            <a:srgbClr val="D9E6F2"/>
          </a:solidFill>
          <a:ln w="9525">
            <a:solidFill>
              <a:srgbClr val="D9DEE4"/>
            </a:solidFill>
          </a:ln>
          <a:effectLst/>
        </p:spPr>
        <p:txBody>
          <a:bodyPr rtlCol="0" anchor="ctr"/>
          <a:lstStyle/>
          <a:p>
            <a:pPr algn="ctr"/>
            <a:endParaRPr/>
          </a:p>
        </p:txBody>
      </p:sp>
      <p:sp>
        <p:nvSpPr>
          <p:cNvPr id="17" name="FMI Scale legend"/>
          <p:cNvSpPr txBox="1"/>
          <p:nvPr/>
        </p:nvSpPr>
        <p:spPr>
          <a:xfrm>
            <a:off x="2060448" y="4739259"/>
            <a:ext cx="1276350" cy="238125"/>
          </a:xfrm>
          <a:prstGeom prst="rect">
            <a:avLst/>
          </a:prstGeom>
          <a:noFill/>
        </p:spPr>
        <p:txBody>
          <a:bodyPr wrap="square" lIns="27432" tIns="27432" rIns="27432" bIns="27432" anchor="t">
            <a:spAutoFit/>
          </a:bodyPr>
          <a:lstStyle/>
          <a:p>
            <a:pPr algn="l"/>
            <a:r>
              <a:rPr sz="850" b="0" i="0">
                <a:solidFill>
                  <a:srgbClr val="59636E"/>
                </a:solidFill>
                <a:latin typeface="Calibri"/>
              </a:rPr>
              <a:t>97.5 to 99</a:t>
            </a:r>
          </a:p>
        </p:txBody>
      </p:sp>
      <p:sp>
        <p:nvSpPr>
          <p:cNvPr id="18" name="Rectangle 17"/>
          <p:cNvSpPr/>
          <p:nvPr/>
        </p:nvSpPr>
        <p:spPr>
          <a:xfrm>
            <a:off x="3317748" y="4794123"/>
            <a:ext cx="180975" cy="142875"/>
          </a:xfrm>
          <a:prstGeom prst="rect">
            <a:avLst/>
          </a:prstGeom>
          <a:solidFill>
            <a:srgbClr val="F7F7F7"/>
          </a:solidFill>
          <a:ln w="9525">
            <a:solidFill>
              <a:srgbClr val="D9DEE4"/>
            </a:solidFill>
          </a:ln>
          <a:effectLst/>
        </p:spPr>
        <p:txBody>
          <a:bodyPr rtlCol="0" anchor="ctr"/>
          <a:lstStyle/>
          <a:p>
            <a:pPr algn="ctr"/>
            <a:endParaRPr/>
          </a:p>
        </p:txBody>
      </p:sp>
      <p:sp>
        <p:nvSpPr>
          <p:cNvPr id="19" name="FMI Scale legend"/>
          <p:cNvSpPr txBox="1"/>
          <p:nvPr/>
        </p:nvSpPr>
        <p:spPr>
          <a:xfrm>
            <a:off x="3527298" y="4739259"/>
            <a:ext cx="1276350" cy="238125"/>
          </a:xfrm>
          <a:prstGeom prst="rect">
            <a:avLst/>
          </a:prstGeom>
          <a:noFill/>
        </p:spPr>
        <p:txBody>
          <a:bodyPr wrap="square" lIns="27432" tIns="27432" rIns="27432" bIns="27432" anchor="t">
            <a:spAutoFit/>
          </a:bodyPr>
          <a:lstStyle/>
          <a:p>
            <a:pPr algn="l"/>
            <a:r>
              <a:rPr sz="850" b="0" i="0">
                <a:solidFill>
                  <a:srgbClr val="59636E"/>
                </a:solidFill>
                <a:latin typeface="Calibri"/>
              </a:rPr>
              <a:t>Parity: 99 to 101</a:t>
            </a:r>
          </a:p>
        </p:txBody>
      </p:sp>
      <p:sp>
        <p:nvSpPr>
          <p:cNvPr id="20" name="Rectangle 19"/>
          <p:cNvSpPr/>
          <p:nvPr/>
        </p:nvSpPr>
        <p:spPr>
          <a:xfrm>
            <a:off x="4784598" y="4794123"/>
            <a:ext cx="180975" cy="142875"/>
          </a:xfrm>
          <a:prstGeom prst="rect">
            <a:avLst/>
          </a:prstGeom>
          <a:solidFill>
            <a:srgbClr val="FBE3D3"/>
          </a:solidFill>
          <a:ln w="9525">
            <a:solidFill>
              <a:srgbClr val="D9DEE4"/>
            </a:solidFill>
          </a:ln>
          <a:effectLst/>
        </p:spPr>
        <p:txBody>
          <a:bodyPr rtlCol="0" anchor="ctr"/>
          <a:lstStyle/>
          <a:p>
            <a:pPr algn="ctr"/>
            <a:endParaRPr/>
          </a:p>
        </p:txBody>
      </p:sp>
      <p:sp>
        <p:nvSpPr>
          <p:cNvPr id="21" name="FMI Scale legend"/>
          <p:cNvSpPr txBox="1"/>
          <p:nvPr/>
        </p:nvSpPr>
        <p:spPr>
          <a:xfrm>
            <a:off x="4994148" y="4739259"/>
            <a:ext cx="1276350" cy="238125"/>
          </a:xfrm>
          <a:prstGeom prst="rect">
            <a:avLst/>
          </a:prstGeom>
          <a:noFill/>
        </p:spPr>
        <p:txBody>
          <a:bodyPr wrap="square" lIns="27432" tIns="27432" rIns="27432" bIns="27432" anchor="t">
            <a:spAutoFit/>
          </a:bodyPr>
          <a:lstStyle/>
          <a:p>
            <a:pPr algn="l"/>
            <a:r>
              <a:rPr sz="850" b="0" i="0">
                <a:solidFill>
                  <a:srgbClr val="59636E"/>
                </a:solidFill>
                <a:latin typeface="Calibri"/>
              </a:rPr>
              <a:t>101 to 102.5</a:t>
            </a:r>
          </a:p>
        </p:txBody>
      </p:sp>
      <p:sp>
        <p:nvSpPr>
          <p:cNvPr id="22" name="Rectangle 21"/>
          <p:cNvSpPr/>
          <p:nvPr/>
        </p:nvSpPr>
        <p:spPr>
          <a:xfrm>
            <a:off x="6251448" y="4794123"/>
            <a:ext cx="180975" cy="142875"/>
          </a:xfrm>
          <a:prstGeom prst="rect">
            <a:avLst/>
          </a:prstGeom>
          <a:solidFill>
            <a:srgbClr val="F4B183"/>
          </a:solidFill>
          <a:ln w="9525">
            <a:solidFill>
              <a:srgbClr val="D9DEE4"/>
            </a:solidFill>
          </a:ln>
          <a:effectLst/>
        </p:spPr>
        <p:txBody>
          <a:bodyPr rtlCol="0" anchor="ctr"/>
          <a:lstStyle/>
          <a:p>
            <a:pPr algn="ctr"/>
            <a:endParaRPr/>
          </a:p>
        </p:txBody>
      </p:sp>
      <p:sp>
        <p:nvSpPr>
          <p:cNvPr id="23" name="FMI Scale legend"/>
          <p:cNvSpPr txBox="1"/>
          <p:nvPr/>
        </p:nvSpPr>
        <p:spPr>
          <a:xfrm>
            <a:off x="6460998" y="4739259"/>
            <a:ext cx="1276350" cy="238125"/>
          </a:xfrm>
          <a:prstGeom prst="rect">
            <a:avLst/>
          </a:prstGeom>
          <a:noFill/>
        </p:spPr>
        <p:txBody>
          <a:bodyPr wrap="square" lIns="27432" tIns="27432" rIns="27432" bIns="27432" anchor="t">
            <a:spAutoFit/>
          </a:bodyPr>
          <a:lstStyle/>
          <a:p>
            <a:pPr algn="l"/>
            <a:r>
              <a:rPr sz="850" b="0" i="0">
                <a:solidFill>
                  <a:srgbClr val="59636E"/>
                </a:solidFill>
                <a:latin typeface="Calibri"/>
              </a:rPr>
              <a:t>Index above 102.5</a:t>
            </a:r>
          </a:p>
        </p:txBody>
      </p:sp>
      <p:sp>
        <p:nvSpPr>
          <p:cNvPr id="24" name="Rectangle 23"/>
          <p:cNvSpPr/>
          <p:nvPr/>
        </p:nvSpPr>
        <p:spPr>
          <a:xfrm>
            <a:off x="7955280" y="1529715"/>
            <a:ext cx="3959352" cy="3520440"/>
          </a:xfrm>
          <a:prstGeom prst="rect">
            <a:avLst/>
          </a:prstGeom>
          <a:solidFill>
            <a:srgbClr val="F3F6F9"/>
          </a:solidFill>
          <a:ln>
            <a:noFill/>
          </a:ln>
          <a:effectLst/>
        </p:spPr>
        <p:txBody>
          <a:bodyPr rtlCol="0" anchor="ctr"/>
          <a:lstStyle/>
          <a:p>
            <a:pPr algn="ctr"/>
            <a:endParaRPr/>
          </a:p>
        </p:txBody>
      </p:sp>
      <p:sp>
        <p:nvSpPr>
          <p:cNvPr id="25" name="TextBox 24"/>
          <p:cNvSpPr txBox="1"/>
          <p:nvPr/>
        </p:nvSpPr>
        <p:spPr>
          <a:xfrm>
            <a:off x="8065008" y="1575435"/>
            <a:ext cx="3749040" cy="257175"/>
          </a:xfrm>
          <a:prstGeom prst="rect">
            <a:avLst/>
          </a:prstGeom>
          <a:noFill/>
        </p:spPr>
        <p:txBody>
          <a:bodyPr wrap="square" lIns="27432" tIns="27432" rIns="27432" bIns="27432" anchor="t">
            <a:spAutoFit/>
          </a:bodyPr>
          <a:lstStyle/>
          <a:p>
            <a:pPr algn="l"/>
            <a:r>
              <a:rPr sz="1150" b="1" i="0">
                <a:solidFill>
                  <a:srgbClr val="0B2E4A"/>
                </a:solidFill>
                <a:latin typeface="Calibri"/>
              </a:rPr>
              <a:t>Price Range Across All Active Ingredient Sub-Types, 2026</a:t>
            </a:r>
          </a:p>
        </p:txBody>
      </p:sp>
      <p:sp>
        <p:nvSpPr>
          <p:cNvPr id="26" name="TextBox 25"/>
          <p:cNvSpPr txBox="1"/>
          <p:nvPr/>
        </p:nvSpPr>
        <p:spPr>
          <a:xfrm>
            <a:off x="8065008" y="1965579"/>
            <a:ext cx="3749040" cy="219075"/>
          </a:xfrm>
          <a:prstGeom prst="rect">
            <a:avLst/>
          </a:prstGeom>
          <a:noFill/>
        </p:spPr>
        <p:txBody>
          <a:bodyPr wrap="square" lIns="27432" tIns="27432" rIns="27432" bIns="27432" anchor="t">
            <a:spAutoFit/>
          </a:bodyPr>
          <a:lstStyle/>
          <a:p>
            <a:pPr algn="l"/>
            <a:r>
              <a:rPr sz="850" b="0" i="1">
                <a:solidFill>
                  <a:srgbClr val="59636E"/>
                </a:solidFill>
                <a:latin typeface="Calibri"/>
              </a:rPr>
              <a:t>Bar spans lowest to highest price (US$/MT) at the finest data level.</a:t>
            </a:r>
          </a:p>
        </p:txBody>
      </p:sp>
      <p:graphicFrame>
        <p:nvGraphicFramePr>
          <p:cNvPr id="27" name="FMI Price Chart"/>
          <p:cNvGraphicFramePr>
            <a:graphicFrameLocks noGrp="1"/>
          </p:cNvGraphicFramePr>
          <p:nvPr/>
        </p:nvGraphicFramePr>
        <p:xfrm>
          <a:off x="8001000" y="2032635"/>
          <a:ext cx="3867912" cy="2971800"/>
        </p:xfrm>
        <a:graphic>
          <a:graphicData uri="http://schemas.openxmlformats.org/drawingml/2006/chart">
            <c:chart xmlns:c="http://schemas.openxmlformats.org/drawingml/2006/chart" xmlns:r="http://schemas.openxmlformats.org/officeDocument/2006/relationships" r:id="rId4"/>
          </a:graphicData>
        </a:graphic>
      </p:graphicFrame>
      <p:sp>
        <p:nvSpPr>
          <p:cNvPr id="28" name="Rectangle 27"/>
          <p:cNvSpPr/>
          <p:nvPr/>
        </p:nvSpPr>
        <p:spPr>
          <a:xfrm>
            <a:off x="274320" y="5141595"/>
            <a:ext cx="3788664" cy="1234440"/>
          </a:xfrm>
          <a:prstGeom prst="rect">
            <a:avLst/>
          </a:prstGeom>
          <a:solidFill>
            <a:srgbClr val="F3F6F9"/>
          </a:solidFill>
          <a:ln>
            <a:noFill/>
          </a:ln>
          <a:effectLst/>
        </p:spPr>
        <p:txBody>
          <a:bodyPr rtlCol="0" anchor="ctr"/>
          <a:lstStyle/>
          <a:p>
            <a:pPr algn="ctr"/>
            <a:endParaRPr/>
          </a:p>
        </p:txBody>
      </p:sp>
      <p:sp>
        <p:nvSpPr>
          <p:cNvPr id="29" name="Oval 28"/>
          <p:cNvSpPr/>
          <p:nvPr/>
        </p:nvSpPr>
        <p:spPr>
          <a:xfrm>
            <a:off x="388620"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1</a:t>
            </a:r>
          </a:p>
        </p:txBody>
      </p:sp>
      <p:sp>
        <p:nvSpPr>
          <p:cNvPr id="30" name="TextBox 29"/>
          <p:cNvSpPr txBox="1"/>
          <p:nvPr/>
        </p:nvSpPr>
        <p:spPr>
          <a:xfrm>
            <a:off x="779145"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Premium Pockets</a:t>
            </a:r>
          </a:p>
        </p:txBody>
      </p:sp>
      <p:sp>
        <p:nvSpPr>
          <p:cNvPr id="31" name="TextBox 30"/>
          <p:cNvSpPr txBox="1"/>
          <p:nvPr/>
        </p:nvSpPr>
        <p:spPr>
          <a:xfrm>
            <a:off x="779145" y="5503545"/>
            <a:ext cx="3198114" cy="834390"/>
          </a:xfrm>
          <a:prstGeom prst="rect">
            <a:avLst/>
          </a:prstGeom>
          <a:noFill/>
        </p:spPr>
        <p:txBody>
          <a:bodyPr wrap="square" lIns="27432" tIns="27432" rIns="27432" bIns="27432" anchor="t">
            <a:spAutoFit/>
          </a:bodyPr>
          <a:lstStyle/>
          <a:p>
            <a:pPr algn="l"/>
            <a:endParaRPr/>
          </a:p>
        </p:txBody>
      </p:sp>
      <p:sp>
        <p:nvSpPr>
          <p:cNvPr id="32" name="Rectangle 31"/>
          <p:cNvSpPr/>
          <p:nvPr/>
        </p:nvSpPr>
        <p:spPr>
          <a:xfrm>
            <a:off x="4200144" y="5141595"/>
            <a:ext cx="3788664" cy="1234440"/>
          </a:xfrm>
          <a:prstGeom prst="rect">
            <a:avLst/>
          </a:prstGeom>
          <a:solidFill>
            <a:srgbClr val="F3F6F9"/>
          </a:solidFill>
          <a:ln>
            <a:noFill/>
          </a:ln>
          <a:effectLst/>
        </p:spPr>
        <p:txBody>
          <a:bodyPr rtlCol="0" anchor="ctr"/>
          <a:lstStyle/>
          <a:p>
            <a:pPr algn="ctr"/>
            <a:endParaRPr/>
          </a:p>
        </p:txBody>
      </p:sp>
      <p:sp>
        <p:nvSpPr>
          <p:cNvPr id="33" name="Oval 32"/>
          <p:cNvSpPr/>
          <p:nvPr/>
        </p:nvSpPr>
        <p:spPr>
          <a:xfrm>
            <a:off x="4314444"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2</a:t>
            </a:r>
          </a:p>
        </p:txBody>
      </p:sp>
      <p:sp>
        <p:nvSpPr>
          <p:cNvPr id="34" name="TextBox 33"/>
          <p:cNvSpPr txBox="1"/>
          <p:nvPr/>
        </p:nvSpPr>
        <p:spPr>
          <a:xfrm>
            <a:off x="4704969"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Value Pockets</a:t>
            </a:r>
          </a:p>
        </p:txBody>
      </p:sp>
      <p:sp>
        <p:nvSpPr>
          <p:cNvPr id="35" name="TextBox 34"/>
          <p:cNvSpPr txBox="1"/>
          <p:nvPr/>
        </p:nvSpPr>
        <p:spPr>
          <a:xfrm>
            <a:off x="4704969" y="5503545"/>
            <a:ext cx="3198114" cy="834390"/>
          </a:xfrm>
          <a:prstGeom prst="rect">
            <a:avLst/>
          </a:prstGeom>
          <a:noFill/>
        </p:spPr>
        <p:txBody>
          <a:bodyPr wrap="square" lIns="27432" tIns="27432" rIns="27432" bIns="27432" anchor="t">
            <a:spAutoFit/>
          </a:bodyPr>
          <a:lstStyle/>
          <a:p>
            <a:pPr algn="l"/>
            <a:endParaRPr/>
          </a:p>
        </p:txBody>
      </p:sp>
      <p:sp>
        <p:nvSpPr>
          <p:cNvPr id="36" name="Rectangle 35"/>
          <p:cNvSpPr/>
          <p:nvPr/>
        </p:nvSpPr>
        <p:spPr>
          <a:xfrm>
            <a:off x="8125968" y="5141595"/>
            <a:ext cx="3788664" cy="1234440"/>
          </a:xfrm>
          <a:prstGeom prst="rect">
            <a:avLst/>
          </a:prstGeom>
          <a:solidFill>
            <a:srgbClr val="F3F6F9"/>
          </a:solidFill>
          <a:ln>
            <a:noFill/>
          </a:ln>
          <a:effectLst/>
        </p:spPr>
        <p:txBody>
          <a:bodyPr rtlCol="0" anchor="ctr"/>
          <a:lstStyle/>
          <a:p>
            <a:pPr algn="ctr"/>
            <a:endParaRPr/>
          </a:p>
        </p:txBody>
      </p:sp>
      <p:sp>
        <p:nvSpPr>
          <p:cNvPr id="37" name="Oval 36"/>
          <p:cNvSpPr/>
          <p:nvPr/>
        </p:nvSpPr>
        <p:spPr>
          <a:xfrm>
            <a:off x="8240268"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3</a:t>
            </a:r>
          </a:p>
        </p:txBody>
      </p:sp>
      <p:sp>
        <p:nvSpPr>
          <p:cNvPr id="38" name="TextBox 37"/>
          <p:cNvSpPr txBox="1"/>
          <p:nvPr/>
        </p:nvSpPr>
        <p:spPr>
          <a:xfrm>
            <a:off x="8630793"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Within-Type Spread</a:t>
            </a:r>
          </a:p>
        </p:txBody>
      </p:sp>
      <p:sp>
        <p:nvSpPr>
          <p:cNvPr id="39" name="TextBox 38"/>
          <p:cNvSpPr txBox="1"/>
          <p:nvPr/>
        </p:nvSpPr>
        <p:spPr>
          <a:xfrm>
            <a:off x="8630793" y="5503545"/>
            <a:ext cx="3198114" cy="834390"/>
          </a:xfrm>
          <a:prstGeom prst="rect">
            <a:avLst/>
          </a:prstGeom>
          <a:noFill/>
        </p:spPr>
        <p:txBody>
          <a:bodyPr wrap="square" lIns="27432" tIns="27432" rIns="27432" bIns="27432" anchor="t">
            <a:spAutoFit/>
          </a:bodyPr>
          <a:lstStyle/>
          <a:p>
            <a:pPr algn="l"/>
            <a:endParaRPr/>
          </a:p>
        </p:txBody>
      </p:sp>
      <p:sp>
        <p:nvSpPr>
          <p:cNvPr id="40" name="TextBox 39"/>
          <p:cNvSpPr txBox="1"/>
          <p:nvPr/>
        </p:nvSpPr>
        <p:spPr>
          <a:xfrm>
            <a:off x="274320" y="6363843"/>
            <a:ext cx="11612880" cy="209550"/>
          </a:xfrm>
          <a:prstGeom prst="rect">
            <a:avLst/>
          </a:prstGeom>
          <a:noFill/>
        </p:spPr>
        <p:txBody>
          <a:bodyPr wrap="square" lIns="27432" tIns="27432" rIns="27432" bIns="27432" anchor="t">
            <a:spAutoFit/>
          </a:bodyPr>
          <a:lstStyle/>
          <a:p>
            <a:pPr algn="l"/>
            <a:endParaRPr/>
          </a:p>
        </p:txBody>
      </p:sp>
      <p:sp>
        <p:nvSpPr>
          <p:cNvPr id="41" name="TextBox 4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4636770" y="3195828"/>
            <a:ext cx="366712" cy="533399"/>
          </a:xfrm>
          <a:prstGeom prst="rect">
            <a:avLst/>
          </a:prstGeom>
        </p:spPr>
      </p:pic>
      <p:sp>
        <p:nvSpPr>
          <p:cNvPr id="43" name="TextBox 42"/>
          <p:cNvSpPr txBox="1"/>
          <p:nvPr/>
        </p:nvSpPr>
        <p:spPr>
          <a:xfrm>
            <a:off x="411480" y="1110615"/>
            <a:ext cx="7602438" cy="217169"/>
          </a:xfrm>
          <a:prstGeom prst="rect">
            <a:avLst/>
          </a:prstGeom>
          <a:noFill/>
        </p:spPr>
        <p:txBody>
          <a:bodyPr wrap="none" lIns="0" tIns="0" rIns="0" bIns="0">
            <a:spAutoFit/>
          </a:bodyPr>
          <a:lstStyle/>
          <a:p>
            <a:r>
              <a:rPr sz="1300" b="1">
                <a:solidFill>
                  <a:srgbClr val="FFFFFF"/>
                </a:solidFill>
                <a:latin typeface="Calibri"/>
              </a:rPr>
              <a:t>Capsules and Softgels for Cellular Energy Support Ingredients is the highest priced combination in 2026 at US$</a:t>
            </a:r>
          </a:p>
        </p:txBody>
      </p:sp>
      <p:pic>
        <p:nvPicPr>
          <p:cNvPr id="44" name="Picture 43" descr="lock.png"/>
          <p:cNvPicPr>
            <a:picLocks noChangeAspect="1"/>
          </p:cNvPicPr>
          <p:nvPr/>
        </p:nvPicPr>
        <p:blipFill>
          <a:blip r:embed="rId5"/>
          <a:stretch>
            <a:fillRect/>
          </a:stretch>
        </p:blipFill>
        <p:spPr>
          <a:xfrm>
            <a:off x="7966379" y="1099058"/>
            <a:ext cx="152098" cy="221234"/>
          </a:xfrm>
          <a:prstGeom prst="rect">
            <a:avLst/>
          </a:prstGeom>
        </p:spPr>
      </p:pic>
      <p:sp>
        <p:nvSpPr>
          <p:cNvPr id="45" name="TextBox 44"/>
          <p:cNvSpPr txBox="1"/>
          <p:nvPr/>
        </p:nvSpPr>
        <p:spPr>
          <a:xfrm>
            <a:off x="8164328" y="1110615"/>
            <a:ext cx="535706" cy="217169"/>
          </a:xfrm>
          <a:prstGeom prst="rect">
            <a:avLst/>
          </a:prstGeom>
          <a:noFill/>
        </p:spPr>
        <p:txBody>
          <a:bodyPr wrap="none" lIns="0" tIns="0" rIns="0" bIns="0">
            <a:spAutoFit/>
          </a:bodyPr>
          <a:lstStyle/>
          <a:p>
            <a:r>
              <a:rPr sz="1300" b="1">
                <a:solidFill>
                  <a:srgbClr val="FFFFFF"/>
                </a:solidFill>
                <a:latin typeface="Calibri"/>
              </a:rPr>
              <a:t>/MT, +</a:t>
            </a:r>
          </a:p>
        </p:txBody>
      </p:sp>
      <p:pic>
        <p:nvPicPr>
          <p:cNvPr id="46" name="Picture 45" descr="lock.png"/>
          <p:cNvPicPr>
            <a:picLocks noChangeAspect="1"/>
          </p:cNvPicPr>
          <p:nvPr/>
        </p:nvPicPr>
        <p:blipFill>
          <a:blip r:embed="rId5"/>
          <a:stretch>
            <a:fillRect/>
          </a:stretch>
        </p:blipFill>
        <p:spPr>
          <a:xfrm>
            <a:off x="8652496" y="1099058"/>
            <a:ext cx="152098" cy="221234"/>
          </a:xfrm>
          <a:prstGeom prst="rect">
            <a:avLst/>
          </a:prstGeom>
        </p:spPr>
      </p:pic>
      <p:sp>
        <p:nvSpPr>
          <p:cNvPr id="47" name="TextBox 46"/>
          <p:cNvSpPr txBox="1"/>
          <p:nvPr/>
        </p:nvSpPr>
        <p:spPr>
          <a:xfrm>
            <a:off x="8850446" y="1110615"/>
            <a:ext cx="1871984" cy="217169"/>
          </a:xfrm>
          <a:prstGeom prst="rect">
            <a:avLst/>
          </a:prstGeom>
          <a:noFill/>
        </p:spPr>
        <p:txBody>
          <a:bodyPr wrap="none" lIns="0" tIns="0" rIns="0" bIns="0">
            <a:spAutoFit/>
          </a:bodyPr>
          <a:lstStyle/>
          <a:p>
            <a:r>
              <a:rPr sz="1300" b="1">
                <a:solidFill>
                  <a:srgbClr val="FFFFFF"/>
                </a:solidFill>
                <a:latin typeface="Calibri"/>
              </a:rPr>
              <a:t>above the Global average.</a:t>
            </a:r>
          </a:p>
        </p:txBody>
      </p:sp>
      <p:sp>
        <p:nvSpPr>
          <p:cNvPr id="48" name="TextBox 47"/>
          <p:cNvSpPr txBox="1"/>
          <p:nvPr/>
        </p:nvSpPr>
        <p:spPr>
          <a:xfrm>
            <a:off x="806576" y="5530976"/>
            <a:ext cx="2864308" cy="179069"/>
          </a:xfrm>
          <a:prstGeom prst="rect">
            <a:avLst/>
          </a:prstGeom>
          <a:noFill/>
        </p:spPr>
        <p:txBody>
          <a:bodyPr wrap="none" lIns="0" tIns="0" rIns="0" bIns="0">
            <a:spAutoFit/>
          </a:bodyPr>
          <a:lstStyle/>
          <a:p>
            <a:r>
              <a:rPr sz="1050" b="0">
                <a:solidFill>
                  <a:srgbClr val="1F1F1F"/>
                </a:solidFill>
                <a:latin typeface="Calibri"/>
              </a:rPr>
              <a:t>Capsules and Softgels positioned on Cellular Energy</a:t>
            </a:r>
          </a:p>
        </p:txBody>
      </p:sp>
      <p:sp>
        <p:nvSpPr>
          <p:cNvPr id="49" name="TextBox 48"/>
          <p:cNvSpPr txBox="1"/>
          <p:nvPr/>
        </p:nvSpPr>
        <p:spPr>
          <a:xfrm>
            <a:off x="806576" y="5690996"/>
            <a:ext cx="3039070" cy="179069"/>
          </a:xfrm>
          <a:prstGeom prst="rect">
            <a:avLst/>
          </a:prstGeom>
          <a:noFill/>
        </p:spPr>
        <p:txBody>
          <a:bodyPr wrap="none" lIns="0" tIns="0" rIns="0" bIns="0">
            <a:spAutoFit/>
          </a:bodyPr>
          <a:lstStyle/>
          <a:p>
            <a:r>
              <a:rPr sz="1050" b="0">
                <a:solidFill>
                  <a:srgbClr val="1F1F1F"/>
                </a:solidFill>
                <a:latin typeface="Calibri"/>
              </a:rPr>
              <a:t>Support Ingredients carry the strongest premium at an</a:t>
            </a:r>
          </a:p>
        </p:txBody>
      </p:sp>
      <p:sp>
        <p:nvSpPr>
          <p:cNvPr id="50" name="TextBox 49"/>
          <p:cNvSpPr txBox="1"/>
          <p:nvPr/>
        </p:nvSpPr>
        <p:spPr>
          <a:xfrm>
            <a:off x="806576" y="5851016"/>
            <a:ext cx="512452" cy="179069"/>
          </a:xfrm>
          <a:prstGeom prst="rect">
            <a:avLst/>
          </a:prstGeom>
          <a:noFill/>
        </p:spPr>
        <p:txBody>
          <a:bodyPr wrap="none" lIns="0" tIns="0" rIns="0" bIns="0">
            <a:spAutoFit/>
          </a:bodyPr>
          <a:lstStyle/>
          <a:p>
            <a:r>
              <a:rPr sz="1050" b="0">
                <a:solidFill>
                  <a:srgbClr val="1F1F1F"/>
                </a:solidFill>
                <a:latin typeface="Calibri"/>
              </a:rPr>
              <a:t>index of</a:t>
            </a:r>
          </a:p>
        </p:txBody>
      </p:sp>
      <p:pic>
        <p:nvPicPr>
          <p:cNvPr id="51" name="Picture 50" descr="lock.png"/>
          <p:cNvPicPr>
            <a:picLocks noChangeAspect="1"/>
          </p:cNvPicPr>
          <p:nvPr/>
        </p:nvPicPr>
        <p:blipFill>
          <a:blip r:embed="rId5"/>
          <a:stretch>
            <a:fillRect/>
          </a:stretch>
        </p:blipFill>
        <p:spPr>
          <a:xfrm>
            <a:off x="1265978" y="5841682"/>
            <a:ext cx="122849" cy="178689"/>
          </a:xfrm>
          <a:prstGeom prst="rect">
            <a:avLst/>
          </a:prstGeom>
        </p:spPr>
      </p:pic>
      <p:sp>
        <p:nvSpPr>
          <p:cNvPr id="52" name="TextBox 51"/>
          <p:cNvSpPr txBox="1"/>
          <p:nvPr/>
        </p:nvSpPr>
        <p:spPr>
          <a:xfrm>
            <a:off x="1425861" y="5851016"/>
            <a:ext cx="2440037" cy="179069"/>
          </a:xfrm>
          <a:prstGeom prst="rect">
            <a:avLst/>
          </a:prstGeom>
          <a:noFill/>
        </p:spPr>
        <p:txBody>
          <a:bodyPr wrap="none" lIns="0" tIns="0" rIns="0" bIns="0">
            <a:spAutoFit/>
          </a:bodyPr>
          <a:lstStyle/>
          <a:p>
            <a:r>
              <a:rPr sz="1050" b="0">
                <a:solidFill>
                  <a:srgbClr val="1F1F1F"/>
                </a:solidFill>
                <a:latin typeface="Calibri"/>
              </a:rPr>
              <a:t>, which signals room for value-added claims</a:t>
            </a:r>
          </a:p>
        </p:txBody>
      </p:sp>
      <p:sp>
        <p:nvSpPr>
          <p:cNvPr id="53" name="TextBox 52"/>
          <p:cNvSpPr txBox="1"/>
          <p:nvPr/>
        </p:nvSpPr>
        <p:spPr>
          <a:xfrm>
            <a:off x="806576" y="6011036"/>
            <a:ext cx="1152636" cy="179069"/>
          </a:xfrm>
          <a:prstGeom prst="rect">
            <a:avLst/>
          </a:prstGeom>
          <a:noFill/>
        </p:spPr>
        <p:txBody>
          <a:bodyPr wrap="none" lIns="0" tIns="0" rIns="0" bIns="0">
            <a:spAutoFit/>
          </a:bodyPr>
          <a:lstStyle/>
          <a:p>
            <a:r>
              <a:rPr sz="1050" b="0">
                <a:solidFill>
                  <a:srgbClr val="1F1F1F"/>
                </a:solidFill>
                <a:latin typeface="Calibri"/>
              </a:rPr>
              <a:t>in this combination.</a:t>
            </a:r>
          </a:p>
        </p:txBody>
      </p:sp>
      <p:sp>
        <p:nvSpPr>
          <p:cNvPr id="54" name="TextBox 53"/>
          <p:cNvSpPr txBox="1"/>
          <p:nvPr/>
        </p:nvSpPr>
        <p:spPr>
          <a:xfrm>
            <a:off x="4732401" y="5530976"/>
            <a:ext cx="2919524" cy="179069"/>
          </a:xfrm>
          <a:prstGeom prst="rect">
            <a:avLst/>
          </a:prstGeom>
          <a:noFill/>
        </p:spPr>
        <p:txBody>
          <a:bodyPr wrap="none" lIns="0" tIns="0" rIns="0" bIns="0">
            <a:spAutoFit/>
          </a:bodyPr>
          <a:lstStyle/>
          <a:p>
            <a:r>
              <a:rPr sz="1050" b="0">
                <a:solidFill>
                  <a:srgbClr val="1F1F1F"/>
                </a:solidFill>
                <a:latin typeface="Calibri"/>
              </a:rPr>
              <a:t>Tablets for Botanical Ingredients is the lowest priced</a:t>
            </a:r>
          </a:p>
        </p:txBody>
      </p:sp>
      <p:sp>
        <p:nvSpPr>
          <p:cNvPr id="55" name="TextBox 54"/>
          <p:cNvSpPr txBox="1"/>
          <p:nvPr/>
        </p:nvSpPr>
        <p:spPr>
          <a:xfrm>
            <a:off x="4732401" y="5690996"/>
            <a:ext cx="1529506" cy="179069"/>
          </a:xfrm>
          <a:prstGeom prst="rect">
            <a:avLst/>
          </a:prstGeom>
          <a:noFill/>
        </p:spPr>
        <p:txBody>
          <a:bodyPr wrap="none" lIns="0" tIns="0" rIns="0" bIns="0">
            <a:spAutoFit/>
          </a:bodyPr>
          <a:lstStyle/>
          <a:p>
            <a:r>
              <a:rPr sz="1050" b="0">
                <a:solidFill>
                  <a:srgbClr val="1F1F1F"/>
                </a:solidFill>
                <a:latin typeface="Calibri"/>
              </a:rPr>
              <a:t>combination at an index of</a:t>
            </a:r>
          </a:p>
        </p:txBody>
      </p:sp>
      <p:pic>
        <p:nvPicPr>
          <p:cNvPr id="56" name="Picture 55" descr="lock.png"/>
          <p:cNvPicPr>
            <a:picLocks noChangeAspect="1"/>
          </p:cNvPicPr>
          <p:nvPr/>
        </p:nvPicPr>
        <p:blipFill>
          <a:blip r:embed="rId5"/>
          <a:stretch>
            <a:fillRect/>
          </a:stretch>
        </p:blipFill>
        <p:spPr>
          <a:xfrm>
            <a:off x="6208856" y="5681662"/>
            <a:ext cx="122849" cy="178689"/>
          </a:xfrm>
          <a:prstGeom prst="rect">
            <a:avLst/>
          </a:prstGeom>
        </p:spPr>
      </p:pic>
      <p:sp>
        <p:nvSpPr>
          <p:cNvPr id="57" name="TextBox 56"/>
          <p:cNvSpPr txBox="1"/>
          <p:nvPr/>
        </p:nvSpPr>
        <p:spPr>
          <a:xfrm>
            <a:off x="6368739" y="5690996"/>
            <a:ext cx="475729" cy="179069"/>
          </a:xfrm>
          <a:prstGeom prst="rect">
            <a:avLst/>
          </a:prstGeom>
          <a:noFill/>
        </p:spPr>
        <p:txBody>
          <a:bodyPr wrap="none" lIns="0" tIns="0" rIns="0" bIns="0">
            <a:spAutoFit/>
          </a:bodyPr>
          <a:lstStyle/>
          <a:p>
            <a:r>
              <a:rPr sz="1050" b="0">
                <a:solidFill>
                  <a:srgbClr val="1F1F1F"/>
                </a:solidFill>
                <a:latin typeface="Calibri"/>
              </a:rPr>
              <a:t>, sitting</a:t>
            </a:r>
          </a:p>
        </p:txBody>
      </p:sp>
      <p:pic>
        <p:nvPicPr>
          <p:cNvPr id="58" name="Picture 57" descr="lock.png"/>
          <p:cNvPicPr>
            <a:picLocks noChangeAspect="1"/>
          </p:cNvPicPr>
          <p:nvPr/>
        </p:nvPicPr>
        <p:blipFill>
          <a:blip r:embed="rId5"/>
          <a:stretch>
            <a:fillRect/>
          </a:stretch>
        </p:blipFill>
        <p:spPr>
          <a:xfrm>
            <a:off x="6791417" y="5681662"/>
            <a:ext cx="122849" cy="178689"/>
          </a:xfrm>
          <a:prstGeom prst="rect">
            <a:avLst/>
          </a:prstGeom>
        </p:spPr>
      </p:pic>
      <p:sp>
        <p:nvSpPr>
          <p:cNvPr id="59" name="TextBox 58"/>
          <p:cNvSpPr txBox="1"/>
          <p:nvPr/>
        </p:nvSpPr>
        <p:spPr>
          <a:xfrm>
            <a:off x="6951299" y="5690996"/>
            <a:ext cx="620538" cy="179069"/>
          </a:xfrm>
          <a:prstGeom prst="rect">
            <a:avLst/>
          </a:prstGeom>
          <a:noFill/>
        </p:spPr>
        <p:txBody>
          <a:bodyPr wrap="none" lIns="0" tIns="0" rIns="0" bIns="0">
            <a:spAutoFit/>
          </a:bodyPr>
          <a:lstStyle/>
          <a:p>
            <a:r>
              <a:rPr sz="1050" b="0">
                <a:solidFill>
                  <a:srgbClr val="1F1F1F"/>
                </a:solidFill>
                <a:latin typeface="Calibri"/>
              </a:rPr>
              <a:t>below the</a:t>
            </a:r>
          </a:p>
        </p:txBody>
      </p:sp>
      <p:sp>
        <p:nvSpPr>
          <p:cNvPr id="60" name="TextBox 59"/>
          <p:cNvSpPr txBox="1"/>
          <p:nvPr/>
        </p:nvSpPr>
        <p:spPr>
          <a:xfrm>
            <a:off x="4732401" y="5851016"/>
            <a:ext cx="1272182" cy="179069"/>
          </a:xfrm>
          <a:prstGeom prst="rect">
            <a:avLst/>
          </a:prstGeom>
          <a:noFill/>
        </p:spPr>
        <p:txBody>
          <a:bodyPr wrap="none" lIns="0" tIns="0" rIns="0" bIns="0">
            <a:spAutoFit/>
          </a:bodyPr>
          <a:lstStyle/>
          <a:p>
            <a:r>
              <a:rPr sz="1050" b="0">
                <a:solidFill>
                  <a:srgbClr val="1F1F1F"/>
                </a:solidFill>
                <a:latin typeface="Calibri"/>
              </a:rPr>
              <a:t>Global average of US$</a:t>
            </a:r>
          </a:p>
        </p:txBody>
      </p:sp>
      <p:pic>
        <p:nvPicPr>
          <p:cNvPr id="61" name="Picture 60" descr="lock.png"/>
          <p:cNvPicPr>
            <a:picLocks noChangeAspect="1"/>
          </p:cNvPicPr>
          <p:nvPr/>
        </p:nvPicPr>
        <p:blipFill>
          <a:blip r:embed="rId5"/>
          <a:stretch>
            <a:fillRect/>
          </a:stretch>
        </p:blipFill>
        <p:spPr>
          <a:xfrm>
            <a:off x="5951533" y="5841682"/>
            <a:ext cx="122849" cy="178689"/>
          </a:xfrm>
          <a:prstGeom prst="rect">
            <a:avLst/>
          </a:prstGeom>
        </p:spPr>
      </p:pic>
      <p:sp>
        <p:nvSpPr>
          <p:cNvPr id="62" name="TextBox 61"/>
          <p:cNvSpPr txBox="1"/>
          <p:nvPr/>
        </p:nvSpPr>
        <p:spPr>
          <a:xfrm>
            <a:off x="6111415" y="5851016"/>
            <a:ext cx="340555" cy="179069"/>
          </a:xfrm>
          <a:prstGeom prst="rect">
            <a:avLst/>
          </a:prstGeom>
          <a:noFill/>
        </p:spPr>
        <p:txBody>
          <a:bodyPr wrap="none" lIns="0" tIns="0" rIns="0" bIns="0">
            <a:spAutoFit/>
          </a:bodyPr>
          <a:lstStyle/>
          <a:p>
            <a:r>
              <a:rPr sz="1050" b="0">
                <a:solidFill>
                  <a:srgbClr val="1F1F1F"/>
                </a:solidFill>
                <a:latin typeface="Calibri"/>
              </a:rPr>
              <a:t>/MT.</a:t>
            </a:r>
          </a:p>
        </p:txBody>
      </p:sp>
      <p:sp>
        <p:nvSpPr>
          <p:cNvPr id="63" name="TextBox 62"/>
          <p:cNvSpPr txBox="1"/>
          <p:nvPr/>
        </p:nvSpPr>
        <p:spPr>
          <a:xfrm>
            <a:off x="8658225" y="5530976"/>
            <a:ext cx="2873424" cy="179069"/>
          </a:xfrm>
          <a:prstGeom prst="rect">
            <a:avLst/>
          </a:prstGeom>
          <a:noFill/>
        </p:spPr>
        <p:txBody>
          <a:bodyPr wrap="none" lIns="0" tIns="0" rIns="0" bIns="0">
            <a:spAutoFit/>
          </a:bodyPr>
          <a:lstStyle/>
          <a:p>
            <a:r>
              <a:rPr sz="1050" b="0">
                <a:solidFill>
                  <a:srgbClr val="1F1F1F"/>
                </a:solidFill>
                <a:latin typeface="Calibri"/>
              </a:rPr>
              <a:t>Chewables show the widest internal price spread at</a:t>
            </a:r>
          </a:p>
        </p:txBody>
      </p:sp>
      <p:pic>
        <p:nvPicPr>
          <p:cNvPr id="64" name="Picture 63" descr="lock.png"/>
          <p:cNvPicPr>
            <a:picLocks noChangeAspect="1"/>
          </p:cNvPicPr>
          <p:nvPr/>
        </p:nvPicPr>
        <p:blipFill>
          <a:blip r:embed="rId5"/>
          <a:stretch>
            <a:fillRect/>
          </a:stretch>
        </p:blipFill>
        <p:spPr>
          <a:xfrm>
            <a:off x="11478598" y="5521642"/>
            <a:ext cx="122849" cy="178689"/>
          </a:xfrm>
          <a:prstGeom prst="rect">
            <a:avLst/>
          </a:prstGeom>
        </p:spPr>
      </p:pic>
      <p:sp>
        <p:nvSpPr>
          <p:cNvPr id="65" name="TextBox 64"/>
          <p:cNvSpPr txBox="1"/>
          <p:nvPr/>
        </p:nvSpPr>
        <p:spPr>
          <a:xfrm>
            <a:off x="11638481" y="5530976"/>
            <a:ext cx="109537" cy="179069"/>
          </a:xfrm>
          <a:prstGeom prst="rect">
            <a:avLst/>
          </a:prstGeom>
          <a:noFill/>
        </p:spPr>
        <p:txBody>
          <a:bodyPr wrap="none" lIns="0" tIns="0" rIns="0" bIns="0">
            <a:spAutoFit/>
          </a:bodyPr>
          <a:lstStyle/>
          <a:p>
            <a:r>
              <a:rPr sz="1050" b="0">
                <a:solidFill>
                  <a:srgbClr val="1F1F1F"/>
                </a:solidFill>
                <a:latin typeface="Calibri"/>
              </a:rPr>
              <a:t>,</a:t>
            </a:r>
          </a:p>
        </p:txBody>
      </p:sp>
      <p:sp>
        <p:nvSpPr>
          <p:cNvPr id="66" name="TextBox 65"/>
          <p:cNvSpPr txBox="1"/>
          <p:nvPr/>
        </p:nvSpPr>
        <p:spPr>
          <a:xfrm>
            <a:off x="8658225" y="5690996"/>
            <a:ext cx="1022151" cy="179069"/>
          </a:xfrm>
          <a:prstGeom prst="rect">
            <a:avLst/>
          </a:prstGeom>
          <a:noFill/>
        </p:spPr>
        <p:txBody>
          <a:bodyPr wrap="none" lIns="0" tIns="0" rIns="0" bIns="0">
            <a:spAutoFit/>
          </a:bodyPr>
          <a:lstStyle/>
          <a:p>
            <a:r>
              <a:rPr sz="1050" b="0">
                <a:solidFill>
                  <a:srgbClr val="1F1F1F"/>
                </a:solidFill>
                <a:latin typeface="Calibri"/>
              </a:rPr>
              <a:t>ranging from US$</a:t>
            </a:r>
          </a:p>
        </p:txBody>
      </p:sp>
      <p:pic>
        <p:nvPicPr>
          <p:cNvPr id="67" name="Picture 66" descr="lock.png"/>
          <p:cNvPicPr>
            <a:picLocks noChangeAspect="1"/>
          </p:cNvPicPr>
          <p:nvPr/>
        </p:nvPicPr>
        <p:blipFill>
          <a:blip r:embed="rId5"/>
          <a:stretch>
            <a:fillRect/>
          </a:stretch>
        </p:blipFill>
        <p:spPr>
          <a:xfrm>
            <a:off x="9627325" y="5681662"/>
            <a:ext cx="122849" cy="178689"/>
          </a:xfrm>
          <a:prstGeom prst="rect">
            <a:avLst/>
          </a:prstGeom>
        </p:spPr>
      </p:pic>
      <p:sp>
        <p:nvSpPr>
          <p:cNvPr id="68" name="TextBox 67"/>
          <p:cNvSpPr txBox="1"/>
          <p:nvPr/>
        </p:nvSpPr>
        <p:spPr>
          <a:xfrm>
            <a:off x="9787208" y="5690996"/>
            <a:ext cx="697110" cy="179069"/>
          </a:xfrm>
          <a:prstGeom prst="rect">
            <a:avLst/>
          </a:prstGeom>
          <a:noFill/>
        </p:spPr>
        <p:txBody>
          <a:bodyPr wrap="none" lIns="0" tIns="0" rIns="0" bIns="0">
            <a:spAutoFit/>
          </a:bodyPr>
          <a:lstStyle/>
          <a:p>
            <a:r>
              <a:rPr sz="1050" b="0">
                <a:solidFill>
                  <a:srgbClr val="1F1F1F"/>
                </a:solidFill>
                <a:latin typeface="Calibri"/>
              </a:rPr>
              <a:t>/MT to US$</a:t>
            </a:r>
          </a:p>
        </p:txBody>
      </p:sp>
      <p:pic>
        <p:nvPicPr>
          <p:cNvPr id="69" name="Picture 68" descr="lock.png"/>
          <p:cNvPicPr>
            <a:picLocks noChangeAspect="1"/>
          </p:cNvPicPr>
          <p:nvPr/>
        </p:nvPicPr>
        <p:blipFill>
          <a:blip r:embed="rId5"/>
          <a:stretch>
            <a:fillRect/>
          </a:stretch>
        </p:blipFill>
        <p:spPr>
          <a:xfrm>
            <a:off x="10431268" y="5681662"/>
            <a:ext cx="122849" cy="178689"/>
          </a:xfrm>
          <a:prstGeom prst="rect">
            <a:avLst/>
          </a:prstGeom>
        </p:spPr>
      </p:pic>
      <p:sp>
        <p:nvSpPr>
          <p:cNvPr id="70" name="TextBox 69"/>
          <p:cNvSpPr txBox="1"/>
          <p:nvPr/>
        </p:nvSpPr>
        <p:spPr>
          <a:xfrm>
            <a:off x="10591150" y="5690996"/>
            <a:ext cx="678619" cy="179069"/>
          </a:xfrm>
          <a:prstGeom prst="rect">
            <a:avLst/>
          </a:prstGeom>
          <a:noFill/>
        </p:spPr>
        <p:txBody>
          <a:bodyPr wrap="none" lIns="0" tIns="0" rIns="0" bIns="0">
            <a:spAutoFit/>
          </a:bodyPr>
          <a:lstStyle/>
          <a:p>
            <a:r>
              <a:rPr sz="1050" b="0">
                <a:solidFill>
                  <a:srgbClr val="1F1F1F"/>
                </a:solidFill>
                <a:latin typeface="Calibri"/>
              </a:rPr>
              <a:t>/MT across</a:t>
            </a:r>
          </a:p>
        </p:txBody>
      </p:sp>
      <p:sp>
        <p:nvSpPr>
          <p:cNvPr id="71" name="TextBox 70"/>
          <p:cNvSpPr txBox="1"/>
          <p:nvPr/>
        </p:nvSpPr>
        <p:spPr>
          <a:xfrm>
            <a:off x="8658225" y="5851016"/>
            <a:ext cx="636686" cy="179069"/>
          </a:xfrm>
          <a:prstGeom prst="rect">
            <a:avLst/>
          </a:prstGeom>
          <a:noFill/>
        </p:spPr>
        <p:txBody>
          <a:bodyPr wrap="none" lIns="0" tIns="0" rIns="0" bIns="0">
            <a:spAutoFit/>
          </a:bodyPr>
          <a:lstStyle/>
          <a:p>
            <a:r>
              <a:rPr sz="1050" b="0">
                <a:solidFill>
                  <a:srgbClr val="1F1F1F"/>
                </a:solidFill>
                <a:latin typeface="Calibri"/>
              </a:rPr>
              <a:t>sub-types.</a:t>
            </a:r>
          </a:p>
        </p:txBody>
      </p:sp>
      <p:sp>
        <p:nvSpPr>
          <p:cNvPr id="72" name="TextBox 71"/>
          <p:cNvSpPr txBox="1"/>
          <p:nvPr/>
        </p:nvSpPr>
        <p:spPr>
          <a:xfrm>
            <a:off x="301752" y="6391275"/>
            <a:ext cx="5770697" cy="143408"/>
          </a:xfrm>
          <a:prstGeom prst="rect">
            <a:avLst/>
          </a:prstGeom>
          <a:noFill/>
        </p:spPr>
        <p:txBody>
          <a:bodyPr wrap="none" lIns="0" tIns="0" rIns="0" bIns="0">
            <a:spAutoFit/>
          </a:bodyPr>
          <a:lstStyle/>
          <a:p>
            <a:r>
              <a:rPr sz="816" b="0">
                <a:solidFill>
                  <a:srgbClr val="59636E"/>
                </a:solidFill>
                <a:latin typeface="Calibri"/>
              </a:rPr>
              <a:t>Source: FMI analysis. Cell price = combined value (US$) / combined volume (MT); shading shows the index vs the Global average of US$</a:t>
            </a:r>
          </a:p>
        </p:txBody>
      </p:sp>
      <p:pic>
        <p:nvPicPr>
          <p:cNvPr id="73" name="Picture 72" descr="lock.png"/>
          <p:cNvPicPr>
            <a:picLocks noChangeAspect="1"/>
          </p:cNvPicPr>
          <p:nvPr/>
        </p:nvPicPr>
        <p:blipFill>
          <a:blip r:embed="rId5"/>
          <a:stretch>
            <a:fillRect/>
          </a:stretch>
        </p:blipFill>
        <p:spPr>
          <a:xfrm>
            <a:off x="6014239" y="6384020"/>
            <a:ext cx="95470" cy="138866"/>
          </a:xfrm>
          <a:prstGeom prst="rect">
            <a:avLst/>
          </a:prstGeom>
        </p:spPr>
      </p:pic>
      <p:sp>
        <p:nvSpPr>
          <p:cNvPr id="74" name="TextBox 73"/>
          <p:cNvSpPr txBox="1"/>
          <p:nvPr/>
        </p:nvSpPr>
        <p:spPr>
          <a:xfrm>
            <a:off x="6138491" y="6391275"/>
            <a:ext cx="281642" cy="143408"/>
          </a:xfrm>
          <a:prstGeom prst="rect">
            <a:avLst/>
          </a:prstGeom>
          <a:noFill/>
        </p:spPr>
        <p:txBody>
          <a:bodyPr wrap="none" lIns="0" tIns="0" rIns="0" bIns="0">
            <a:spAutoFit/>
          </a:bodyPr>
          <a:lstStyle/>
          <a:p>
            <a:r>
              <a:rPr sz="816" b="0">
                <a:solidFill>
                  <a:srgbClr val="59636E"/>
                </a:solidFill>
                <a:latin typeface="Calibri"/>
              </a:rPr>
              <a:t>/MT.</a:t>
            </a:r>
          </a:p>
        </p:txBody>
      </p:sp>
      <p:pic>
        <p:nvPicPr>
          <p:cNvPr id="75" name="Picture 74" descr="lock.png"/>
          <p:cNvPicPr>
            <a:picLocks noChangeAspect="1"/>
          </p:cNvPicPr>
          <p:nvPr/>
        </p:nvPicPr>
        <p:blipFill>
          <a:blip r:embed="rId5"/>
          <a:stretch>
            <a:fillRect/>
          </a:stretch>
        </p:blipFill>
        <p:spPr>
          <a:xfrm>
            <a:off x="9913437" y="3234020"/>
            <a:ext cx="332271" cy="483303"/>
          </a:xfrm>
          <a:prstGeom prst="rect">
            <a:avLst/>
          </a:prstGeom>
        </p:spPr>
      </p:pic>
      <p:sp>
        <p:nvSpPr>
          <p:cNvPr id="76" name="lockshield_27"/>
          <p:cNvSpPr/>
          <p:nvPr/>
        </p:nvSpPr>
        <p:spPr>
          <a:xfrm>
            <a:off x="8001000" y="2032635"/>
            <a:ext cx="3867912" cy="2971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Region average price and price range across form types, 2026 (US$/MT)</a:t>
            </a:r>
          </a:p>
        </p:txBody>
      </p:sp>
      <p:sp>
        <p:nvSpPr>
          <p:cNvPr id="10" name="Rectangle 9"/>
          <p:cNvSpPr/>
          <p:nvPr/>
        </p:nvSpPr>
        <p:spPr>
          <a:xfrm>
            <a:off x="274320" y="981075"/>
            <a:ext cx="11640312" cy="457200"/>
          </a:xfrm>
          <a:prstGeom prst="rect">
            <a:avLst/>
          </a:prstGeom>
          <a:solidFill>
            <a:srgbClr val="0B2E4A"/>
          </a:solidFill>
          <a:ln>
            <a:noFill/>
          </a:ln>
          <a:effectLst/>
        </p:spPr>
        <p:txBody>
          <a:bodyPr wrap="square" lIns="137160" rtlCol="0" anchor="ctr"/>
          <a:lstStyle/>
          <a:p>
            <a:pPr algn="l"/>
            <a:endParaRP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endParaRPr/>
          </a:p>
        </p:txBody>
      </p:sp>
      <p:sp>
        <p:nvSpPr>
          <p:cNvPr id="12" name="TextBox 11"/>
          <p:cNvSpPr txBox="1"/>
          <p:nvPr/>
        </p:nvSpPr>
        <p:spPr>
          <a:xfrm>
            <a:off x="384048" y="1575435"/>
            <a:ext cx="7315200" cy="257175"/>
          </a:xfrm>
          <a:prstGeom prst="rect">
            <a:avLst/>
          </a:prstGeom>
          <a:noFill/>
        </p:spPr>
        <p:txBody>
          <a:bodyPr wrap="square" lIns="27432" tIns="27432" rIns="27432" bIns="27432" anchor="t">
            <a:spAutoFit/>
          </a:bodyPr>
          <a:lstStyle/>
          <a:p>
            <a:pPr algn="l"/>
            <a:r>
              <a:rPr sz="1150" b="1" i="0">
                <a:solidFill>
                  <a:srgbClr val="0B2E4A"/>
                </a:solidFill>
                <a:latin typeface="Calibri"/>
              </a:rPr>
              <a:t>2026 Price Range Across Form Types by Region (US$/MT),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384048" y="1804035"/>
            <a:ext cx="7223760" cy="219075"/>
          </a:xfrm>
          <a:prstGeom prst="rect">
            <a:avLst/>
          </a:prstGeom>
          <a:noFill/>
        </p:spPr>
        <p:txBody>
          <a:bodyPr wrap="square" lIns="27432" tIns="27432" rIns="27432" bIns="27432" anchor="t">
            <a:spAutoFit/>
          </a:bodyPr>
          <a:lstStyle/>
          <a:p>
            <a:pPr algn="l"/>
            <a:endParaRP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endParaRPr/>
          </a:p>
        </p:txBody>
      </p:sp>
      <p:sp>
        <p:nvSpPr>
          <p:cNvPr id="16" name="TextBox 15"/>
          <p:cNvSpPr txBox="1"/>
          <p:nvPr/>
        </p:nvSpPr>
        <p:spPr>
          <a:xfrm>
            <a:off x="8065008" y="1575435"/>
            <a:ext cx="3749040" cy="257175"/>
          </a:xfrm>
          <a:prstGeom prst="rect">
            <a:avLst/>
          </a:prstGeom>
          <a:noFill/>
        </p:spPr>
        <p:txBody>
          <a:bodyPr wrap="square" lIns="27432" tIns="27432" rIns="27432" bIns="27432" anchor="t">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41525">
                <a:tc>
                  <a:txBody>
                    <a:bodyPr/>
                    <a:lstStyle/>
                    <a:p>
                      <a:pPr algn="l"/>
                      <a:r>
                        <a:rPr sz="900" b="1">
                          <a:solidFill>
                            <a:srgbClr val="FFFFFF"/>
                          </a:solidFill>
                          <a:latin typeface="Calibri"/>
                        </a:rPr>
                        <a:t>Region</a:t>
                      </a:r>
                    </a:p>
                  </a:txBody>
                  <a:tcPr marL="36576" marR="36576" marT="9144" marB="9144" anchor="ctr">
                    <a:solidFill>
                      <a:srgbClr val="0B2E4A"/>
                    </a:solidFill>
                  </a:tcPr>
                </a:tc>
                <a:tc>
                  <a:txBody>
                    <a:bodyPr/>
                    <a:lstStyle/>
                    <a:p>
                      <a:pPr algn="ctr"/>
                      <a:r>
                        <a:rPr sz="900" b="1">
                          <a:solidFill>
                            <a:srgbClr val="FFFFFF"/>
                          </a:solidFill>
                          <a:latin typeface="Calibri"/>
                        </a:rPr>
                        <a:t>Avg. 2026</a:t>
                      </a:r>
                    </a:p>
                  </a:txBody>
                  <a:tcPr marL="36576" marR="36576" marT="9144" marB="9144" anchor="ctr">
                    <a:solidFill>
                      <a:srgbClr val="0B2E4A"/>
                    </a:solidFill>
                  </a:tcPr>
                </a:tc>
                <a:tc>
                  <a:txBody>
                    <a:bodyPr/>
                    <a:lstStyle/>
                    <a:p>
                      <a:pPr algn="ctr"/>
                      <a:r>
                        <a:rPr sz="900" b="1">
                          <a:solidFill>
                            <a:srgbClr val="FFFFFF"/>
                          </a:solidFill>
                          <a:latin typeface="Calibri"/>
                        </a:rPr>
                        <a:t>Index</a:t>
                      </a:r>
                    </a:p>
                  </a:txBody>
                  <a:tcPr marL="36576" marR="36576" marT="9144" marB="9144" anchor="ctr">
                    <a:solidFill>
                      <a:srgbClr val="0B2E4A"/>
                    </a:solidFill>
                  </a:tcPr>
                </a:tc>
                <a:tc>
                  <a:txBody>
                    <a:bodyPr/>
                    <a:lstStyle/>
                    <a:p>
                      <a:pPr algn="ctr"/>
                      <a:r>
                        <a:rPr sz="900" b="1">
                          <a:solidFill>
                            <a:srgbClr val="FFFFFF"/>
                          </a:solidFill>
                          <a:latin typeface="Calibri"/>
                        </a:rPr>
                        <a:t>CAGR 2026 to 2036</a:t>
                      </a:r>
                    </a:p>
                  </a:txBody>
                  <a:tcPr marL="36576" marR="36576" marT="9144" marB="9144" anchor="ctr">
                    <a:solidFill>
                      <a:srgbClr val="0B2E4A"/>
                    </a:solidFill>
                  </a:tcPr>
                </a:tc>
                <a:extLst>
                  <a:ext uri="{0D108BD9-81ED-4DB2-BD59-A6C34878D82A}">
                    <a16:rowId xmlns:a16="http://schemas.microsoft.com/office/drawing/2014/main" val="10000"/>
                  </a:ext>
                </a:extLst>
              </a:tr>
              <a:tr h="441525">
                <a:tc>
                  <a:txBody>
                    <a:bodyPr/>
                    <a:lstStyle/>
                    <a:p>
                      <a:pPr algn="l"/>
                      <a:r>
                        <a:rPr sz="900" b="1">
                          <a:solidFill>
                            <a:srgbClr val="1F1F1F"/>
                          </a:solidFill>
                          <a:latin typeface="Calibri"/>
                        </a:rPr>
                        <a:t>North America</a:t>
                      </a:r>
                    </a:p>
                  </a:txBody>
                  <a:tcPr marL="36576" marR="36576" marT="9144" marB="9144" anchor="ctr">
                    <a:solidFill>
                      <a:srgbClr val="FFFFFF"/>
                    </a:solidFill>
                  </a:tcPr>
                </a:tc>
                <a:tc>
                  <a:txBody>
                    <a:bodyPr/>
                    <a:lstStyle/>
                    <a:p>
                      <a:pPr algn="ctr"/>
                      <a:r>
                        <a:rPr sz="900"/>
                        <a:t> </a:t>
                      </a:r>
                    </a:p>
                  </a:txBody>
                  <a:tcPr marL="36576" marR="36576" marT="9144" marB="9144" anchor="ctr">
                    <a:solidFill>
                      <a:srgbClr val="FFFFFF"/>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FFFFF"/>
                    </a:solidFill>
                  </a:tcPr>
                </a:tc>
                <a:extLst>
                  <a:ext uri="{0D108BD9-81ED-4DB2-BD59-A6C34878D82A}">
                    <a16:rowId xmlns:a16="http://schemas.microsoft.com/office/drawing/2014/main" val="10001"/>
                  </a:ext>
                </a:extLst>
              </a:tr>
              <a:tr h="441525">
                <a:tc>
                  <a:txBody>
                    <a:bodyPr/>
                    <a:lstStyle/>
                    <a:p>
                      <a:pPr algn="l"/>
                      <a:r>
                        <a:rPr sz="900" b="1">
                          <a:solidFill>
                            <a:srgbClr val="1F1F1F"/>
                          </a:solidFill>
                          <a:latin typeface="Calibri"/>
                        </a:rPr>
                        <a:t>Europe</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4B183"/>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2"/>
                  </a:ext>
                </a:extLst>
              </a:tr>
              <a:tr h="441525">
                <a:tc>
                  <a:txBody>
                    <a:bodyPr/>
                    <a:lstStyle/>
                    <a:p>
                      <a:pPr algn="l"/>
                      <a:r>
                        <a:rPr sz="900" b="1">
                          <a:solidFill>
                            <a:srgbClr val="1F1F1F"/>
                          </a:solidFill>
                          <a:latin typeface="Calibri"/>
                        </a:rPr>
                        <a:t>Latin America</a:t>
                      </a:r>
                    </a:p>
                  </a:txBody>
                  <a:tcPr marL="36576" marR="36576" marT="9144" marB="9144" anchor="ctr">
                    <a:solidFill>
                      <a:srgbClr val="FFFFFF"/>
                    </a:solidFill>
                  </a:tcPr>
                </a:tc>
                <a:tc>
                  <a:txBody>
                    <a:bodyPr/>
                    <a:lstStyle/>
                    <a:p>
                      <a:pPr algn="ctr"/>
                      <a:r>
                        <a:rPr sz="900"/>
                        <a:t> </a:t>
                      </a:r>
                    </a:p>
                  </a:txBody>
                  <a:tcPr marL="36576" marR="36576" marT="9144" marB="9144" anchor="ctr">
                    <a:solidFill>
                      <a:srgbClr val="FFFFFF"/>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FFFFFF"/>
                    </a:solidFill>
                  </a:tcPr>
                </a:tc>
                <a:extLst>
                  <a:ext uri="{0D108BD9-81ED-4DB2-BD59-A6C34878D82A}">
                    <a16:rowId xmlns:a16="http://schemas.microsoft.com/office/drawing/2014/main" val="10003"/>
                  </a:ext>
                </a:extLst>
              </a:tr>
              <a:tr h="441525">
                <a:tc>
                  <a:txBody>
                    <a:bodyPr/>
                    <a:lstStyle/>
                    <a:p>
                      <a:pPr algn="l"/>
                      <a:r>
                        <a:rPr sz="900" b="1">
                          <a:solidFill>
                            <a:srgbClr val="1F1F1F"/>
                          </a:solidFill>
                          <a:latin typeface="Calibri"/>
                        </a:rPr>
                        <a:t>Middle East &amp; Africa</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4"/>
                  </a:ext>
                </a:extLst>
              </a:tr>
              <a:tr h="441525">
                <a:tc>
                  <a:txBody>
                    <a:bodyPr/>
                    <a:lstStyle/>
                    <a:p>
                      <a:pPr algn="l"/>
                      <a:r>
                        <a:rPr sz="900" b="1">
                          <a:solidFill>
                            <a:srgbClr val="1F1F1F"/>
                          </a:solidFill>
                          <a:latin typeface="Calibri"/>
                        </a:rPr>
                        <a:t>East Asia</a:t>
                      </a:r>
                    </a:p>
                  </a:txBody>
                  <a:tcPr marL="36576" marR="36576" marT="9144" marB="9144" anchor="ctr">
                    <a:solidFill>
                      <a:srgbClr val="FFFFFF"/>
                    </a:solidFill>
                  </a:tcPr>
                </a:tc>
                <a:tc>
                  <a:txBody>
                    <a:bodyPr/>
                    <a:lstStyle/>
                    <a:p>
                      <a:pPr algn="ctr"/>
                      <a:r>
                        <a:rPr sz="900"/>
                        <a:t> </a:t>
                      </a:r>
                    </a:p>
                  </a:txBody>
                  <a:tcPr marL="36576" marR="36576" marT="9144" marB="9144" anchor="ctr">
                    <a:solidFill>
                      <a:srgbClr val="FFFFFF"/>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FFFFFF"/>
                    </a:solidFill>
                  </a:tcPr>
                </a:tc>
                <a:extLst>
                  <a:ext uri="{0D108BD9-81ED-4DB2-BD59-A6C34878D82A}">
                    <a16:rowId xmlns:a16="http://schemas.microsoft.com/office/drawing/2014/main" val="10005"/>
                  </a:ext>
                </a:extLst>
              </a:tr>
              <a:tr h="441525">
                <a:tc>
                  <a:txBody>
                    <a:bodyPr/>
                    <a:lstStyle/>
                    <a:p>
                      <a:pPr algn="l"/>
                      <a:r>
                        <a:rPr sz="900" b="1">
                          <a:solidFill>
                            <a:srgbClr val="1F1F1F"/>
                          </a:solidFill>
                          <a:latin typeface="Calibri"/>
                        </a:rPr>
                        <a:t>South Asia &amp; Pacific</a:t>
                      </a:r>
                    </a:p>
                  </a:txBody>
                  <a:tcPr marL="36576" marR="36576" marT="9144" marB="9144" anchor="ctr">
                    <a:solidFill>
                      <a:srgbClr val="F3F6F9"/>
                    </a:solidFill>
                  </a:tcPr>
                </a:tc>
                <a:tc>
                  <a:txBody>
                    <a:bodyPr/>
                    <a:lstStyle/>
                    <a:p>
                      <a:pPr algn="ctr"/>
                      <a:r>
                        <a:rPr sz="900"/>
                        <a:t> </a:t>
                      </a:r>
                    </a:p>
                  </a:txBody>
                  <a:tcPr marL="36576" marR="36576" marT="9144" marB="9144" anchor="ctr">
                    <a:solidFill>
                      <a:srgbClr val="F3F6F9"/>
                    </a:solidFill>
                  </a:tcPr>
                </a:tc>
                <a:tc>
                  <a:txBody>
                    <a:bodyPr/>
                    <a:lstStyle/>
                    <a:p>
                      <a:pPr algn="ctr"/>
                      <a:r>
                        <a:rPr sz="900"/>
                        <a:t> </a:t>
                      </a:r>
                    </a:p>
                  </a:txBody>
                  <a:tcPr marL="36576" marR="36576" marT="9144" marB="9144" anchor="ctr">
                    <a:solidFill>
                      <a:srgbClr val="9DC0E0"/>
                    </a:solidFill>
                  </a:tcPr>
                </a:tc>
                <a:tc>
                  <a:txBody>
                    <a:bodyPr/>
                    <a:lstStyle/>
                    <a:p>
                      <a:pPr algn="ctr"/>
                      <a:r>
                        <a:rPr sz="900"/>
                        <a:t> </a:t>
                      </a:r>
                    </a:p>
                  </a:txBody>
                  <a:tcPr marL="36576" marR="36576" marT="9144" marB="9144" anchor="ctr">
                    <a:solidFill>
                      <a:srgbClr val="F3F6F9"/>
                    </a:solidFill>
                  </a:tcPr>
                </a:tc>
                <a:extLst>
                  <a:ext uri="{0D108BD9-81ED-4DB2-BD59-A6C34878D82A}">
                    <a16:rowId xmlns:a16="http://schemas.microsoft.com/office/drawing/2014/main" val="10006"/>
                  </a:ext>
                </a:extLst>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endParaRPr/>
          </a:p>
        </p:txBody>
      </p:sp>
      <p:sp>
        <p:nvSpPr>
          <p:cNvPr id="19" name="Oval 18"/>
          <p:cNvSpPr/>
          <p:nvPr/>
        </p:nvSpPr>
        <p:spPr>
          <a:xfrm>
            <a:off x="388620"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lIns="27432" tIns="27432" rIns="27432" bIns="27432" anchor="t">
            <a:spAutoFit/>
          </a:bodyPr>
          <a:lstStyle/>
          <a:p>
            <a:pPr algn="l"/>
            <a:endParaRP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endParaRPr/>
          </a:p>
        </p:txBody>
      </p:sp>
      <p:sp>
        <p:nvSpPr>
          <p:cNvPr id="23" name="Oval 22"/>
          <p:cNvSpPr/>
          <p:nvPr/>
        </p:nvSpPr>
        <p:spPr>
          <a:xfrm>
            <a:off x="4314444"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lIns="27432" tIns="27432" rIns="27432" bIns="27432" anchor="t">
            <a:spAutoFit/>
          </a:bodyPr>
          <a:lstStyle/>
          <a:p>
            <a:pPr algn="l"/>
            <a:endParaRP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endParaRPr/>
          </a:p>
        </p:txBody>
      </p:sp>
      <p:sp>
        <p:nvSpPr>
          <p:cNvPr id="27" name="Oval 26"/>
          <p:cNvSpPr/>
          <p:nvPr/>
        </p:nvSpPr>
        <p:spPr>
          <a:xfrm>
            <a:off x="8240268"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lIns="27432" tIns="27432" rIns="27432" bIns="27432" anchor="t">
            <a:spAutoFit/>
          </a:bodyPr>
          <a:lstStyle/>
          <a:p>
            <a:pPr algn="l"/>
            <a:endParaRPr/>
          </a:p>
        </p:txBody>
      </p:sp>
      <p:sp>
        <p:nvSpPr>
          <p:cNvPr id="30" name="TextBox 29"/>
          <p:cNvSpPr txBox="1"/>
          <p:nvPr/>
        </p:nvSpPr>
        <p:spPr>
          <a:xfrm>
            <a:off x="274320" y="6363843"/>
            <a:ext cx="11612880" cy="209550"/>
          </a:xfrm>
          <a:prstGeom prst="rect">
            <a:avLst/>
          </a:prstGeom>
          <a:noFill/>
        </p:spPr>
        <p:txBody>
          <a:bodyPr wrap="square" lIns="27432" tIns="27432" rIns="27432" bIns="27432" anchor="t">
            <a:spAutoFit/>
          </a:bodyPr>
          <a:lstStyle/>
          <a:p>
            <a:pPr algn="l"/>
            <a:r>
              <a:rPr sz="850" b="0" i="0">
                <a:solidFill>
                  <a:srgbClr val="59636E"/>
                </a:solidFill>
                <a:latin typeface="Calibri"/>
              </a:rPr>
              <a:t>Source: FMI analysis. Range = lowest to highest form type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0615"/>
            <a:ext cx="3985393" cy="217169"/>
          </a:xfrm>
          <a:prstGeom prst="rect">
            <a:avLst/>
          </a:prstGeom>
          <a:noFill/>
        </p:spPr>
        <p:txBody>
          <a:bodyPr wrap="none" lIns="0" tIns="0" rIns="0" bIns="0">
            <a:spAutoFit/>
          </a:bodyPr>
          <a:lstStyle/>
          <a:p>
            <a:r>
              <a:rPr sz="1300" b="1">
                <a:solidFill>
                  <a:srgbClr val="FFFFFF"/>
                </a:solidFill>
                <a:latin typeface="Calibri"/>
              </a:rPr>
              <a:t>North America is the most premium Global region at US$</a:t>
            </a:r>
          </a:p>
        </p:txBody>
      </p:sp>
      <p:pic>
        <p:nvPicPr>
          <p:cNvPr id="34" name="Picture 33" descr="lock.png"/>
          <p:cNvPicPr>
            <a:picLocks noChangeAspect="1"/>
          </p:cNvPicPr>
          <p:nvPr/>
        </p:nvPicPr>
        <p:blipFill>
          <a:blip r:embed="rId5"/>
          <a:stretch>
            <a:fillRect/>
          </a:stretch>
        </p:blipFill>
        <p:spPr>
          <a:xfrm>
            <a:off x="4349334" y="1099058"/>
            <a:ext cx="152098" cy="221234"/>
          </a:xfrm>
          <a:prstGeom prst="rect">
            <a:avLst/>
          </a:prstGeom>
        </p:spPr>
      </p:pic>
      <p:sp>
        <p:nvSpPr>
          <p:cNvPr id="35" name="TextBox 34"/>
          <p:cNvSpPr txBox="1"/>
          <p:nvPr/>
        </p:nvSpPr>
        <p:spPr>
          <a:xfrm>
            <a:off x="4547284" y="1110615"/>
            <a:ext cx="1075183" cy="217169"/>
          </a:xfrm>
          <a:prstGeom prst="rect">
            <a:avLst/>
          </a:prstGeom>
          <a:noFill/>
        </p:spPr>
        <p:txBody>
          <a:bodyPr wrap="none" lIns="0" tIns="0" rIns="0" bIns="0">
            <a:spAutoFit/>
          </a:bodyPr>
          <a:lstStyle/>
          <a:p>
            <a:r>
              <a:rPr sz="1300" b="1">
                <a:solidFill>
                  <a:srgbClr val="FFFFFF"/>
                </a:solidFill>
                <a:latin typeface="Calibri"/>
              </a:rPr>
              <a:t>/MT in 2026, +</a:t>
            </a:r>
          </a:p>
        </p:txBody>
      </p:sp>
      <p:pic>
        <p:nvPicPr>
          <p:cNvPr id="36" name="Picture 35" descr="lock.png"/>
          <p:cNvPicPr>
            <a:picLocks noChangeAspect="1"/>
          </p:cNvPicPr>
          <p:nvPr/>
        </p:nvPicPr>
        <p:blipFill>
          <a:blip r:embed="rId5"/>
          <a:stretch>
            <a:fillRect/>
          </a:stretch>
        </p:blipFill>
        <p:spPr>
          <a:xfrm>
            <a:off x="5574929" y="1099058"/>
            <a:ext cx="152098" cy="221234"/>
          </a:xfrm>
          <a:prstGeom prst="rect">
            <a:avLst/>
          </a:prstGeom>
        </p:spPr>
      </p:pic>
      <p:sp>
        <p:nvSpPr>
          <p:cNvPr id="37" name="TextBox 36"/>
          <p:cNvSpPr txBox="1"/>
          <p:nvPr/>
        </p:nvSpPr>
        <p:spPr>
          <a:xfrm>
            <a:off x="5772879" y="1110615"/>
            <a:ext cx="5071119" cy="217169"/>
          </a:xfrm>
          <a:prstGeom prst="rect">
            <a:avLst/>
          </a:prstGeom>
          <a:noFill/>
        </p:spPr>
        <p:txBody>
          <a:bodyPr wrap="none" lIns="0" tIns="0" rIns="0" bIns="0">
            <a:spAutoFit/>
          </a:bodyPr>
          <a:lstStyle/>
          <a:p>
            <a:r>
              <a:rPr sz="1300" b="1">
                <a:solidFill>
                  <a:srgbClr val="FFFFFF"/>
                </a:solidFill>
                <a:latin typeface="Calibri"/>
              </a:rPr>
              <a:t>above the global average, while South Asia &amp; Pacific is the lowest priced.</a:t>
            </a:r>
          </a:p>
        </p:txBody>
      </p:sp>
      <p:sp>
        <p:nvSpPr>
          <p:cNvPr id="38" name="TextBox 37"/>
          <p:cNvSpPr txBox="1"/>
          <p:nvPr/>
        </p:nvSpPr>
        <p:spPr>
          <a:xfrm>
            <a:off x="411480" y="1831467"/>
            <a:ext cx="4842234" cy="148589"/>
          </a:xfrm>
          <a:prstGeom prst="rect">
            <a:avLst/>
          </a:prstGeom>
          <a:noFill/>
        </p:spPr>
        <p:txBody>
          <a:bodyPr wrap="none" lIns="0" tIns="0" rIns="0" bIns="0">
            <a:spAutoFit/>
          </a:bodyPr>
          <a:lstStyle/>
          <a:p>
            <a:r>
              <a:rPr sz="850" b="0">
                <a:solidFill>
                  <a:srgbClr val="59636E"/>
                </a:solidFill>
                <a:latin typeface="Calibri"/>
              </a:rPr>
              <a:t>Bar spans the lowest to highest form type price in each region, read on the price index axis (Global average =</a:t>
            </a:r>
          </a:p>
        </p:txBody>
      </p:sp>
      <p:pic>
        <p:nvPicPr>
          <p:cNvPr id="39" name="Picture 38" descr="lock.png"/>
          <p:cNvPicPr>
            <a:picLocks noChangeAspect="1"/>
          </p:cNvPicPr>
          <p:nvPr/>
        </p:nvPicPr>
        <p:blipFill>
          <a:blip r:embed="rId5"/>
          <a:stretch>
            <a:fillRect/>
          </a:stretch>
        </p:blipFill>
        <p:spPr>
          <a:xfrm>
            <a:off x="5196254" y="1823910"/>
            <a:ext cx="99449" cy="144653"/>
          </a:xfrm>
          <a:prstGeom prst="rect">
            <a:avLst/>
          </a:prstGeom>
        </p:spPr>
      </p:pic>
      <p:sp>
        <p:nvSpPr>
          <p:cNvPr id="40" name="TextBox 39"/>
          <p:cNvSpPr txBox="1"/>
          <p:nvPr/>
        </p:nvSpPr>
        <p:spPr>
          <a:xfrm>
            <a:off x="5325683" y="1831467"/>
            <a:ext cx="2037010" cy="148589"/>
          </a:xfrm>
          <a:prstGeom prst="rect">
            <a:avLst/>
          </a:prstGeom>
          <a:noFill/>
        </p:spPr>
        <p:txBody>
          <a:bodyPr wrap="none" lIns="0" tIns="0" rIns="0" bIns="0">
            <a:spAutoFit/>
          </a:bodyPr>
          <a:lstStyle/>
          <a:p>
            <a:r>
              <a:rPr sz="850" b="0">
                <a:solidFill>
                  <a:srgbClr val="59636E"/>
                </a:solidFill>
                <a:latin typeface="Calibri"/>
              </a:rPr>
              <a:t>). Teal = above Global average, blue = below.</a:t>
            </a:r>
          </a:p>
        </p:txBody>
      </p:sp>
      <p:sp>
        <p:nvSpPr>
          <p:cNvPr id="41" name="TextBox 40"/>
          <p:cNvSpPr txBox="1"/>
          <p:nvPr/>
        </p:nvSpPr>
        <p:spPr>
          <a:xfrm>
            <a:off x="806576" y="5530976"/>
            <a:ext cx="2778324" cy="179069"/>
          </a:xfrm>
          <a:prstGeom prst="rect">
            <a:avLst/>
          </a:prstGeom>
          <a:noFill/>
        </p:spPr>
        <p:txBody>
          <a:bodyPr wrap="none" lIns="0" tIns="0" rIns="0" bIns="0">
            <a:spAutoFit/>
          </a:bodyPr>
          <a:lstStyle/>
          <a:p>
            <a:r>
              <a:rPr sz="1050" b="0">
                <a:solidFill>
                  <a:srgbClr val="1F1F1F"/>
                </a:solidFill>
                <a:latin typeface="Calibri"/>
              </a:rPr>
              <a:t>Average prices across the ranked regions differ by</a:t>
            </a:r>
          </a:p>
        </p:txBody>
      </p:sp>
      <p:pic>
        <p:nvPicPr>
          <p:cNvPr id="42" name="Picture 41" descr="lock.png"/>
          <p:cNvPicPr>
            <a:picLocks noChangeAspect="1"/>
          </p:cNvPicPr>
          <p:nvPr/>
        </p:nvPicPr>
        <p:blipFill>
          <a:blip r:embed="rId5"/>
          <a:stretch>
            <a:fillRect/>
          </a:stretch>
        </p:blipFill>
        <p:spPr>
          <a:xfrm>
            <a:off x="3531850" y="5521642"/>
            <a:ext cx="122849" cy="178689"/>
          </a:xfrm>
          <a:prstGeom prst="rect">
            <a:avLst/>
          </a:prstGeom>
        </p:spPr>
      </p:pic>
      <p:sp>
        <p:nvSpPr>
          <p:cNvPr id="43" name="TextBox 42"/>
          <p:cNvSpPr txBox="1"/>
          <p:nvPr/>
        </p:nvSpPr>
        <p:spPr>
          <a:xfrm>
            <a:off x="3691732" y="5530976"/>
            <a:ext cx="176993" cy="179069"/>
          </a:xfrm>
          <a:prstGeom prst="rect">
            <a:avLst/>
          </a:prstGeom>
          <a:noFill/>
        </p:spPr>
        <p:txBody>
          <a:bodyPr wrap="none" lIns="0" tIns="0" rIns="0" bIns="0">
            <a:spAutoFit/>
          </a:bodyPr>
          <a:lstStyle/>
          <a:p>
            <a:r>
              <a:rPr sz="1050" b="0">
                <a:solidFill>
                  <a:srgbClr val="1F1F1F"/>
                </a:solidFill>
                <a:latin typeface="Calibri"/>
              </a:rPr>
              <a:t>in</a:t>
            </a:r>
          </a:p>
        </p:txBody>
      </p:sp>
      <p:sp>
        <p:nvSpPr>
          <p:cNvPr id="44" name="TextBox 43"/>
          <p:cNvSpPr txBox="1"/>
          <p:nvPr/>
        </p:nvSpPr>
        <p:spPr>
          <a:xfrm>
            <a:off x="806576" y="5690996"/>
            <a:ext cx="919534" cy="179069"/>
          </a:xfrm>
          <a:prstGeom prst="rect">
            <a:avLst/>
          </a:prstGeom>
          <a:noFill/>
        </p:spPr>
        <p:txBody>
          <a:bodyPr wrap="none" lIns="0" tIns="0" rIns="0" bIns="0">
            <a:spAutoFit/>
          </a:bodyPr>
          <a:lstStyle/>
          <a:p>
            <a:r>
              <a:rPr sz="1050" b="0">
                <a:solidFill>
                  <a:srgbClr val="1F1F1F"/>
                </a:solidFill>
                <a:latin typeface="Calibri"/>
              </a:rPr>
              <a:t>2026, from US$</a:t>
            </a:r>
          </a:p>
        </p:txBody>
      </p:sp>
      <p:pic>
        <p:nvPicPr>
          <p:cNvPr id="45" name="Picture 44" descr="lock.png"/>
          <p:cNvPicPr>
            <a:picLocks noChangeAspect="1"/>
          </p:cNvPicPr>
          <p:nvPr/>
        </p:nvPicPr>
        <p:blipFill>
          <a:blip r:embed="rId5"/>
          <a:stretch>
            <a:fillRect/>
          </a:stretch>
        </p:blipFill>
        <p:spPr>
          <a:xfrm>
            <a:off x="1673060" y="5681662"/>
            <a:ext cx="122849" cy="178689"/>
          </a:xfrm>
          <a:prstGeom prst="rect">
            <a:avLst/>
          </a:prstGeom>
        </p:spPr>
      </p:pic>
      <p:sp>
        <p:nvSpPr>
          <p:cNvPr id="46" name="TextBox 45"/>
          <p:cNvSpPr txBox="1"/>
          <p:nvPr/>
        </p:nvSpPr>
        <p:spPr>
          <a:xfrm>
            <a:off x="1832943" y="5690996"/>
            <a:ext cx="1927993" cy="179069"/>
          </a:xfrm>
          <a:prstGeom prst="rect">
            <a:avLst/>
          </a:prstGeom>
          <a:noFill/>
        </p:spPr>
        <p:txBody>
          <a:bodyPr wrap="none" lIns="0" tIns="0" rIns="0" bIns="0">
            <a:spAutoFit/>
          </a:bodyPr>
          <a:lstStyle/>
          <a:p>
            <a:r>
              <a:rPr sz="1050" b="0">
                <a:solidFill>
                  <a:srgbClr val="1F1F1F"/>
                </a:solidFill>
                <a:latin typeface="Calibri"/>
              </a:rPr>
              <a:t>/MT in South Asia &amp; Pacific to US$</a:t>
            </a:r>
          </a:p>
        </p:txBody>
      </p:sp>
      <p:pic>
        <p:nvPicPr>
          <p:cNvPr id="47" name="Picture 46" descr="lock.png"/>
          <p:cNvPicPr>
            <a:picLocks noChangeAspect="1"/>
          </p:cNvPicPr>
          <p:nvPr/>
        </p:nvPicPr>
        <p:blipFill>
          <a:blip r:embed="rId5"/>
          <a:stretch>
            <a:fillRect/>
          </a:stretch>
        </p:blipFill>
        <p:spPr>
          <a:xfrm>
            <a:off x="793721" y="5841682"/>
            <a:ext cx="122849" cy="178689"/>
          </a:xfrm>
          <a:prstGeom prst="rect">
            <a:avLst/>
          </a:prstGeom>
        </p:spPr>
      </p:pic>
      <p:sp>
        <p:nvSpPr>
          <p:cNvPr id="48" name="TextBox 47"/>
          <p:cNvSpPr txBox="1"/>
          <p:nvPr/>
        </p:nvSpPr>
        <p:spPr>
          <a:xfrm>
            <a:off x="953604" y="5851016"/>
            <a:ext cx="1297706" cy="179069"/>
          </a:xfrm>
          <a:prstGeom prst="rect">
            <a:avLst/>
          </a:prstGeom>
          <a:noFill/>
        </p:spPr>
        <p:txBody>
          <a:bodyPr wrap="none" lIns="0" tIns="0" rIns="0" bIns="0">
            <a:spAutoFit/>
          </a:bodyPr>
          <a:lstStyle/>
          <a:p>
            <a:r>
              <a:rPr sz="1050" b="0">
                <a:solidFill>
                  <a:srgbClr val="1F1F1F"/>
                </a:solidFill>
                <a:latin typeface="Calibri"/>
              </a:rPr>
              <a:t>/MT in North America.</a:t>
            </a:r>
          </a:p>
        </p:txBody>
      </p:sp>
      <p:sp>
        <p:nvSpPr>
          <p:cNvPr id="49" name="TextBox 48"/>
          <p:cNvSpPr txBox="1"/>
          <p:nvPr/>
        </p:nvSpPr>
        <p:spPr>
          <a:xfrm>
            <a:off x="4732401" y="5530976"/>
            <a:ext cx="3098192" cy="179069"/>
          </a:xfrm>
          <a:prstGeom prst="rect">
            <a:avLst/>
          </a:prstGeom>
          <a:noFill/>
        </p:spPr>
        <p:txBody>
          <a:bodyPr wrap="none" lIns="0" tIns="0" rIns="0" bIns="0">
            <a:spAutoFit/>
          </a:bodyPr>
          <a:lstStyle/>
          <a:p>
            <a:r>
              <a:rPr sz="1050" b="0">
                <a:solidFill>
                  <a:srgbClr val="1F1F1F"/>
                </a:solidFill>
                <a:latin typeface="Calibri"/>
              </a:rPr>
              <a:t>North America records the fastest average price growth</a:t>
            </a:r>
          </a:p>
        </p:txBody>
      </p:sp>
      <p:sp>
        <p:nvSpPr>
          <p:cNvPr id="50" name="TextBox 49"/>
          <p:cNvSpPr txBox="1"/>
          <p:nvPr/>
        </p:nvSpPr>
        <p:spPr>
          <a:xfrm>
            <a:off x="4732401" y="5690996"/>
            <a:ext cx="278829" cy="179069"/>
          </a:xfrm>
          <a:prstGeom prst="rect">
            <a:avLst/>
          </a:prstGeom>
          <a:noFill/>
        </p:spPr>
        <p:txBody>
          <a:bodyPr wrap="none" lIns="0" tIns="0" rIns="0" bIns="0">
            <a:spAutoFit/>
          </a:bodyPr>
          <a:lstStyle/>
          <a:p>
            <a:r>
              <a:rPr sz="1050" b="0">
                <a:solidFill>
                  <a:srgbClr val="1F1F1F"/>
                </a:solidFill>
                <a:latin typeface="Calibri"/>
              </a:rPr>
              <a:t>at a</a:t>
            </a:r>
          </a:p>
        </p:txBody>
      </p:sp>
      <p:pic>
        <p:nvPicPr>
          <p:cNvPr id="51" name="Picture 50" descr="lock.png"/>
          <p:cNvPicPr>
            <a:picLocks noChangeAspect="1"/>
          </p:cNvPicPr>
          <p:nvPr/>
        </p:nvPicPr>
        <p:blipFill>
          <a:blip r:embed="rId5"/>
          <a:stretch>
            <a:fillRect/>
          </a:stretch>
        </p:blipFill>
        <p:spPr>
          <a:xfrm>
            <a:off x="4958179" y="5681662"/>
            <a:ext cx="122849" cy="178689"/>
          </a:xfrm>
          <a:prstGeom prst="rect">
            <a:avLst/>
          </a:prstGeom>
        </p:spPr>
      </p:pic>
      <p:sp>
        <p:nvSpPr>
          <p:cNvPr id="52" name="TextBox 51"/>
          <p:cNvSpPr txBox="1"/>
          <p:nvPr/>
        </p:nvSpPr>
        <p:spPr>
          <a:xfrm>
            <a:off x="5118062" y="5690996"/>
            <a:ext cx="2178529" cy="179069"/>
          </a:xfrm>
          <a:prstGeom prst="rect">
            <a:avLst/>
          </a:prstGeom>
          <a:noFill/>
        </p:spPr>
        <p:txBody>
          <a:bodyPr wrap="none" lIns="0" tIns="0" rIns="0" bIns="0">
            <a:spAutoFit/>
          </a:bodyPr>
          <a:lstStyle/>
          <a:p>
            <a:r>
              <a:rPr sz="1050" b="0">
                <a:solidFill>
                  <a:srgbClr val="1F1F1F"/>
                </a:solidFill>
                <a:latin typeface="Calibri"/>
              </a:rPr>
              <a:t>CAGR between 2026 and 2036, against</a:t>
            </a:r>
          </a:p>
        </p:txBody>
      </p:sp>
      <p:pic>
        <p:nvPicPr>
          <p:cNvPr id="53" name="Picture 52" descr="lock.png"/>
          <p:cNvPicPr>
            <a:picLocks noChangeAspect="1"/>
          </p:cNvPicPr>
          <p:nvPr/>
        </p:nvPicPr>
        <p:blipFill>
          <a:blip r:embed="rId5"/>
          <a:stretch>
            <a:fillRect/>
          </a:stretch>
        </p:blipFill>
        <p:spPr>
          <a:xfrm>
            <a:off x="7243541" y="5681662"/>
            <a:ext cx="122849" cy="178689"/>
          </a:xfrm>
          <a:prstGeom prst="rect">
            <a:avLst/>
          </a:prstGeom>
        </p:spPr>
      </p:pic>
      <p:sp>
        <p:nvSpPr>
          <p:cNvPr id="54" name="TextBox 53"/>
          <p:cNvSpPr txBox="1"/>
          <p:nvPr/>
        </p:nvSpPr>
        <p:spPr>
          <a:xfrm>
            <a:off x="7403423" y="5690996"/>
            <a:ext cx="233771" cy="179069"/>
          </a:xfrm>
          <a:prstGeom prst="rect">
            <a:avLst/>
          </a:prstGeom>
          <a:noFill/>
        </p:spPr>
        <p:txBody>
          <a:bodyPr wrap="none" lIns="0" tIns="0" rIns="0" bIns="0">
            <a:spAutoFit/>
          </a:bodyPr>
          <a:lstStyle/>
          <a:p>
            <a:r>
              <a:rPr sz="1050" b="0">
                <a:solidFill>
                  <a:srgbClr val="1F1F1F"/>
                </a:solidFill>
                <a:latin typeface="Calibri"/>
              </a:rPr>
              <a:t>for</a:t>
            </a:r>
          </a:p>
        </p:txBody>
      </p:sp>
      <p:sp>
        <p:nvSpPr>
          <p:cNvPr id="55" name="TextBox 54"/>
          <p:cNvSpPr txBox="1"/>
          <p:nvPr/>
        </p:nvSpPr>
        <p:spPr>
          <a:xfrm>
            <a:off x="4732401" y="5851016"/>
            <a:ext cx="1062781" cy="179069"/>
          </a:xfrm>
          <a:prstGeom prst="rect">
            <a:avLst/>
          </a:prstGeom>
          <a:noFill/>
        </p:spPr>
        <p:txBody>
          <a:bodyPr wrap="none" lIns="0" tIns="0" rIns="0" bIns="0">
            <a:spAutoFit/>
          </a:bodyPr>
          <a:lstStyle/>
          <a:p>
            <a:r>
              <a:rPr sz="1050" b="0">
                <a:solidFill>
                  <a:srgbClr val="1F1F1F"/>
                </a:solidFill>
                <a:latin typeface="Calibri"/>
              </a:rPr>
              <a:t>Global as a whole.</a:t>
            </a:r>
          </a:p>
        </p:txBody>
      </p:sp>
      <p:sp>
        <p:nvSpPr>
          <p:cNvPr id="56" name="TextBox 55"/>
          <p:cNvSpPr txBox="1"/>
          <p:nvPr/>
        </p:nvSpPr>
        <p:spPr>
          <a:xfrm>
            <a:off x="8658225" y="5530976"/>
            <a:ext cx="2737730" cy="179069"/>
          </a:xfrm>
          <a:prstGeom prst="rect">
            <a:avLst/>
          </a:prstGeom>
          <a:noFill/>
        </p:spPr>
        <p:txBody>
          <a:bodyPr wrap="none" lIns="0" tIns="0" rIns="0" bIns="0">
            <a:spAutoFit/>
          </a:bodyPr>
          <a:lstStyle/>
          <a:p>
            <a:r>
              <a:rPr sz="1050" b="0">
                <a:solidFill>
                  <a:srgbClr val="1F1F1F"/>
                </a:solidFill>
                <a:latin typeface="Calibri"/>
              </a:rPr>
              <a:t>North America shows the widest gap between its</a:t>
            </a:r>
          </a:p>
        </p:txBody>
      </p:sp>
      <p:sp>
        <p:nvSpPr>
          <p:cNvPr id="57" name="TextBox 56"/>
          <p:cNvSpPr txBox="1"/>
          <p:nvPr/>
        </p:nvSpPr>
        <p:spPr>
          <a:xfrm>
            <a:off x="8658225" y="5690996"/>
            <a:ext cx="2379873" cy="179069"/>
          </a:xfrm>
          <a:prstGeom prst="rect">
            <a:avLst/>
          </a:prstGeom>
          <a:noFill/>
        </p:spPr>
        <p:txBody>
          <a:bodyPr wrap="none" lIns="0" tIns="0" rIns="0" bIns="0">
            <a:spAutoFit/>
          </a:bodyPr>
          <a:lstStyle/>
          <a:p>
            <a:r>
              <a:rPr sz="1050" b="0">
                <a:solidFill>
                  <a:srgbClr val="1F1F1F"/>
                </a:solidFill>
                <a:latin typeface="Calibri"/>
              </a:rPr>
              <a:t>cheapest and most expensive form type at</a:t>
            </a:r>
          </a:p>
        </p:txBody>
      </p:sp>
      <p:pic>
        <p:nvPicPr>
          <p:cNvPr id="58" name="Picture 57" descr="lock.png"/>
          <p:cNvPicPr>
            <a:picLocks noChangeAspect="1"/>
          </p:cNvPicPr>
          <p:nvPr/>
        </p:nvPicPr>
        <p:blipFill>
          <a:blip r:embed="rId5"/>
          <a:stretch>
            <a:fillRect/>
          </a:stretch>
        </p:blipFill>
        <p:spPr>
          <a:xfrm>
            <a:off x="10985047" y="5681662"/>
            <a:ext cx="122849" cy="178689"/>
          </a:xfrm>
          <a:prstGeom prst="rect">
            <a:avLst/>
          </a:prstGeom>
        </p:spPr>
      </p:pic>
      <p:sp>
        <p:nvSpPr>
          <p:cNvPr id="59" name="TextBox 58"/>
          <p:cNvSpPr txBox="1"/>
          <p:nvPr/>
        </p:nvSpPr>
        <p:spPr>
          <a:xfrm>
            <a:off x="11144929" y="5690996"/>
            <a:ext cx="262160" cy="179069"/>
          </a:xfrm>
          <a:prstGeom prst="rect">
            <a:avLst/>
          </a:prstGeom>
          <a:noFill/>
        </p:spPr>
        <p:txBody>
          <a:bodyPr wrap="none" lIns="0" tIns="0" rIns="0" bIns="0">
            <a:spAutoFit/>
          </a:bodyPr>
          <a:lstStyle/>
          <a:p>
            <a:r>
              <a:rPr sz="1050" b="0">
                <a:solidFill>
                  <a:srgbClr val="1F1F1F"/>
                </a:solidFill>
                <a:latin typeface="Calibri"/>
              </a:rPr>
              <a:t>, so</a:t>
            </a:r>
          </a:p>
        </p:txBody>
      </p:sp>
      <p:sp>
        <p:nvSpPr>
          <p:cNvPr id="60" name="TextBox 59"/>
          <p:cNvSpPr txBox="1"/>
          <p:nvPr/>
        </p:nvSpPr>
        <p:spPr>
          <a:xfrm>
            <a:off x="8658225" y="5851016"/>
            <a:ext cx="2851807" cy="179069"/>
          </a:xfrm>
          <a:prstGeom prst="rect">
            <a:avLst/>
          </a:prstGeom>
          <a:noFill/>
        </p:spPr>
        <p:txBody>
          <a:bodyPr wrap="none" lIns="0" tIns="0" rIns="0" bIns="0">
            <a:spAutoFit/>
          </a:bodyPr>
          <a:lstStyle/>
          <a:p>
            <a:r>
              <a:rPr sz="1050" b="0">
                <a:solidFill>
                  <a:srgbClr val="1F1F1F"/>
                </a:solidFill>
                <a:latin typeface="Calibri"/>
              </a:rPr>
              <a:t>product mix shifts move its average price the most.</a:t>
            </a:r>
          </a:p>
        </p:txBody>
      </p:sp>
      <p:pic>
        <p:nvPicPr>
          <p:cNvPr id="61" name="Picture 60" descr="lock.png"/>
          <p:cNvPicPr>
            <a:picLocks noChangeAspect="1"/>
          </p:cNvPicPr>
          <p:nvPr/>
        </p:nvPicPr>
        <p:blipFill>
          <a:blip r:embed="rId5"/>
          <a:stretch>
            <a:fillRect/>
          </a:stretch>
        </p:blipFill>
        <p:spPr>
          <a:xfrm>
            <a:off x="3952821" y="3129375"/>
            <a:ext cx="482444" cy="701737"/>
          </a:xfrm>
          <a:prstGeom prst="rect">
            <a:avLst/>
          </a:prstGeom>
        </p:spPr>
      </p:pic>
      <p:sp>
        <p:nvSpPr>
          <p:cNvPr id="62"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Average selling price and price range by region on a shared price scale (US$/MT).</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4724"/>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square" lIns="28575" tIns="9525" rIns="28575" bIns="9525">
            <a:spAutoFit/>
          </a:bodyPr>
          <a:lstStyle/>
          <a:p>
            <a:pPr algn="ctr"/>
            <a:r>
              <a:rPr sz="1100" b="0">
                <a:solidFill>
                  <a:srgbClr val="6C7A89"/>
                </a:solidFill>
                <a:latin typeface="Calibri"/>
              </a:rPr>
              <a:t>1,091</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square" lIns="28575" tIns="9525" rIns="28575" bIns="9525">
            <a:spAutoFit/>
          </a:bodyPr>
          <a:lstStyle/>
          <a:p>
            <a:pPr algn="ctr"/>
            <a:r>
              <a:rPr sz="1100" b="0">
                <a:solidFill>
                  <a:srgbClr val="6C7A89"/>
                </a:solidFill>
                <a:latin typeface="Calibri"/>
              </a:rPr>
              <a:t>2,593</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square" lIns="28575" tIns="9525" rIns="28575" bIns="9525">
            <a:spAutoFit/>
          </a:bodyPr>
          <a:lstStyle/>
          <a:p>
            <a:pPr algn="ctr"/>
            <a:r>
              <a:rPr sz="1100" b="0">
                <a:solidFill>
                  <a:srgbClr val="6C7A89"/>
                </a:solidFill>
                <a:latin typeface="Calibri"/>
              </a:rPr>
              <a:t>4,094</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square" lIns="28575" tIns="9525" rIns="28575" bIns="9525">
            <a:spAutoFit/>
          </a:bodyPr>
          <a:lstStyle/>
          <a:p>
            <a:pPr algn="ctr"/>
            <a:r>
              <a:rPr sz="1100" b="0">
                <a:solidFill>
                  <a:srgbClr val="6C7A89"/>
                </a:solidFill>
                <a:latin typeface="Calibri"/>
              </a:rPr>
              <a:t>5,596</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square" lIns="28575" tIns="9525" rIns="28575" bIns="9525">
            <a:spAutoFit/>
          </a:bodyPr>
          <a:lstStyle/>
          <a:p>
            <a:pPr algn="ctr"/>
            <a:r>
              <a:rPr sz="1100" b="0">
                <a:solidFill>
                  <a:srgbClr val="6C7A89"/>
                </a:solidFill>
                <a:latin typeface="Calibri"/>
              </a:rPr>
              <a:t>7,097</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square" lIns="28575" tIns="9525" rIns="28575" bIns="9525">
            <a:spAutoFit/>
          </a:bodyPr>
          <a:lstStyle/>
          <a:p>
            <a:pPr algn="ctr"/>
            <a:r>
              <a:rPr sz="1100" b="0">
                <a:solidFill>
                  <a:srgbClr val="6C7A89"/>
                </a:solidFill>
                <a:latin typeface="Calibri"/>
              </a:rPr>
              <a:t>8,598</a:t>
            </a:r>
          </a:p>
        </p:txBody>
      </p:sp>
      <p:sp>
        <p:nvSpPr>
          <p:cNvPr id="25" name="TextBox 24"/>
          <p:cNvSpPr txBox="1"/>
          <p:nvPr/>
        </p:nvSpPr>
        <p:spPr>
          <a:xfrm>
            <a:off x="238125" y="2203404"/>
            <a:ext cx="1066800" cy="171450"/>
          </a:xfrm>
          <a:prstGeom prst="rect">
            <a:avLst/>
          </a:prstGeom>
          <a:noFill/>
        </p:spPr>
        <p:txBody>
          <a:bodyPr wrap="square" lIns="28575" tIns="9525" rIns="28575" bIns="9525" anchor="ctr">
            <a:spAutoFit/>
          </a:bodyPr>
          <a:lstStyle/>
          <a:p>
            <a:pPr algn="l"/>
            <a:r>
              <a:rPr sz="1100" b="1">
                <a:solidFill>
                  <a:srgbClr val="0B2E4A"/>
                </a:solidFill>
                <a:latin typeface="Calibri"/>
              </a:rPr>
              <a:t>North America</a:t>
            </a:r>
          </a:p>
        </p:txBody>
      </p:sp>
      <p:sp>
        <p:nvSpPr>
          <p:cNvPr id="26" name="Rectangle 25"/>
          <p:cNvSpPr/>
          <p:nvPr/>
        </p:nvSpPr>
        <p:spPr>
          <a:xfrm>
            <a:off x="3884123" y="2100912"/>
            <a:ext cx="304293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457640"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38125" y="2927314"/>
            <a:ext cx="1066800" cy="171450"/>
          </a:xfrm>
          <a:prstGeom prst="rect">
            <a:avLst/>
          </a:prstGeom>
          <a:noFill/>
        </p:spPr>
        <p:txBody>
          <a:bodyPr wrap="square" lIns="28575" tIns="9525" rIns="28575" bIns="9525" anchor="ctr">
            <a:spAutoFit/>
          </a:bodyPr>
          <a:lstStyle/>
          <a:p>
            <a:pPr algn="l"/>
            <a:r>
              <a:rPr sz="1100" b="1">
                <a:solidFill>
                  <a:srgbClr val="0B2E4A"/>
                </a:solidFill>
                <a:latin typeface="Calibri"/>
              </a:rPr>
              <a:t>Latin America</a:t>
            </a:r>
          </a:p>
        </p:txBody>
      </p:sp>
      <p:sp>
        <p:nvSpPr>
          <p:cNvPr id="29" name="Rectangle 28"/>
          <p:cNvSpPr/>
          <p:nvPr/>
        </p:nvSpPr>
        <p:spPr>
          <a:xfrm>
            <a:off x="2897259" y="2824823"/>
            <a:ext cx="216329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999700"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8125" y="3651224"/>
            <a:ext cx="1066800" cy="171450"/>
          </a:xfrm>
          <a:prstGeom prst="rect">
            <a:avLst/>
          </a:prstGeom>
          <a:noFill/>
        </p:spPr>
        <p:txBody>
          <a:bodyPr wrap="square" lIns="28575" tIns="9525" rIns="28575" bIns="9525" anchor="ctr">
            <a:spAutoFit/>
          </a:bodyPr>
          <a:lstStyle/>
          <a:p>
            <a:pPr algn="l"/>
            <a:r>
              <a:rPr sz="1100" b="1">
                <a:solidFill>
                  <a:srgbClr val="0B2E4A"/>
                </a:solidFill>
                <a:latin typeface="Calibri"/>
              </a:rPr>
              <a:t>Europe</a:t>
            </a:r>
          </a:p>
        </p:txBody>
      </p:sp>
      <p:sp>
        <p:nvSpPr>
          <p:cNvPr id="32" name="Rectangle 31"/>
          <p:cNvSpPr/>
          <p:nvPr/>
        </p:nvSpPr>
        <p:spPr>
          <a:xfrm>
            <a:off x="3545404" y="3548733"/>
            <a:ext cx="273102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951109"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38125" y="4375135"/>
            <a:ext cx="1066800" cy="171450"/>
          </a:xfrm>
          <a:prstGeom prst="rect">
            <a:avLst/>
          </a:prstGeom>
          <a:noFill/>
        </p:spPr>
        <p:txBody>
          <a:bodyPr wrap="square" lIns="28575" tIns="9525" rIns="28575" bIns="9525" anchor="ctr">
            <a:spAutoFit/>
          </a:bodyPr>
          <a:lstStyle/>
          <a:p>
            <a:pPr algn="l"/>
            <a:r>
              <a:rPr sz="1100" b="1">
                <a:solidFill>
                  <a:srgbClr val="0B2E4A"/>
                </a:solidFill>
                <a:latin typeface="Calibri"/>
              </a:rPr>
              <a:t>East Asia</a:t>
            </a:r>
          </a:p>
        </p:txBody>
      </p:sp>
      <p:sp>
        <p:nvSpPr>
          <p:cNvPr id="35" name="Rectangle 34"/>
          <p:cNvSpPr/>
          <p:nvPr/>
        </p:nvSpPr>
        <p:spPr>
          <a:xfrm>
            <a:off x="2248022" y="4272643"/>
            <a:ext cx="155338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28632"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38125" y="5099045"/>
            <a:ext cx="1066800" cy="171450"/>
          </a:xfrm>
          <a:prstGeom prst="rect">
            <a:avLst/>
          </a:prstGeom>
          <a:noFill/>
        </p:spPr>
        <p:txBody>
          <a:bodyPr wrap="square" lIns="28575" tIns="9525" rIns="2857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140532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2736928"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38125" y="5822955"/>
            <a:ext cx="1066800" cy="171450"/>
          </a:xfrm>
          <a:prstGeom prst="rect">
            <a:avLst/>
          </a:prstGeom>
          <a:noFill/>
        </p:spPr>
        <p:txBody>
          <a:bodyPr wrap="square" lIns="28575" tIns="9525" rIns="28575" bIns="9525" anchor="ctr">
            <a:spAutoFit/>
          </a:bodyPr>
          <a:lstStyle/>
          <a:p>
            <a:pPr algn="l"/>
            <a:r>
              <a:rPr sz="1100" b="1">
                <a:solidFill>
                  <a:srgbClr val="0B2E4A"/>
                </a:solidFill>
                <a:latin typeface="Calibri"/>
              </a:rPr>
              <a:t>Middle East &amp; Africa</a:t>
            </a:r>
          </a:p>
        </p:txBody>
      </p:sp>
      <p:sp>
        <p:nvSpPr>
          <p:cNvPr id="41" name="Rectangle 40"/>
          <p:cNvSpPr/>
          <p:nvPr/>
        </p:nvSpPr>
        <p:spPr>
          <a:xfrm>
            <a:off x="2771165" y="5720463"/>
            <a:ext cx="2027888"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3795440"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495425" y="1717624"/>
            <a:ext cx="838200" cy="133350"/>
          </a:xfrm>
          <a:prstGeom prst="rect">
            <a:avLst/>
          </a:prstGeom>
          <a:noFill/>
        </p:spPr>
        <p:txBody>
          <a:bodyPr wrap="square" lIns="28575" tIns="9525" rIns="2857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619375" y="1717624"/>
            <a:ext cx="800100" cy="133350"/>
          </a:xfrm>
          <a:prstGeom prst="rect">
            <a:avLst/>
          </a:prstGeom>
          <a:noFill/>
        </p:spPr>
        <p:txBody>
          <a:bodyPr wrap="square" lIns="28575" tIns="9525" rIns="2857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048625" y="1403299"/>
            <a:ext cx="3867150" cy="209550"/>
          </a:xfrm>
          <a:prstGeom prst="rect">
            <a:avLst/>
          </a:prstGeom>
          <a:noFill/>
        </p:spPr>
        <p:txBody>
          <a:bodyPr wrap="square" lIns="0" tIns="9525" rIns="19050"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48625" y="1727149"/>
            <a:ext cx="3867150" cy="3438770"/>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8048625" y="1736673"/>
            <a:ext cx="3616486" cy="194310"/>
          </a:xfrm>
          <a:prstGeom prst="rect">
            <a:avLst/>
          </a:prstGeom>
          <a:noFill/>
        </p:spPr>
        <p:txBody>
          <a:bodyPr wrap="none" lIns="0" tIns="0" rIns="0" bIns="0">
            <a:spAutoFit/>
          </a:bodyPr>
          <a:lstStyle/>
          <a:p>
            <a:r>
              <a:rPr sz="1150" b="0">
                <a:solidFill>
                  <a:srgbClr val="2E2E2E"/>
                </a:solidFill>
                <a:latin typeface="Calibri"/>
              </a:rPr>
              <a:t>Capsules and softgels segment is expected to command the</a:t>
            </a:r>
          </a:p>
        </p:txBody>
      </p:sp>
      <p:sp>
        <p:nvSpPr>
          <p:cNvPr id="54" name="TextBox 53"/>
          <p:cNvSpPr txBox="1"/>
          <p:nvPr/>
        </p:nvSpPr>
        <p:spPr>
          <a:xfrm>
            <a:off x="8048625" y="1911934"/>
            <a:ext cx="1766899" cy="194310"/>
          </a:xfrm>
          <a:prstGeom prst="rect">
            <a:avLst/>
          </a:prstGeom>
          <a:noFill/>
        </p:spPr>
        <p:txBody>
          <a:bodyPr wrap="none" lIns="0" tIns="0" rIns="0" bIns="0">
            <a:spAutoFit/>
          </a:bodyPr>
          <a:lstStyle/>
          <a:p>
            <a:r>
              <a:rPr sz="1150" b="0">
                <a:solidFill>
                  <a:srgbClr val="2E2E2E"/>
                </a:solidFill>
                <a:latin typeface="Calibri"/>
              </a:rPr>
              <a:t>highest average price of US$</a:t>
            </a:r>
          </a:p>
        </p:txBody>
      </p:sp>
      <p:pic>
        <p:nvPicPr>
          <p:cNvPr id="55" name="Picture 54" descr="lock.png"/>
          <p:cNvPicPr>
            <a:picLocks noChangeAspect="1"/>
          </p:cNvPicPr>
          <p:nvPr/>
        </p:nvPicPr>
        <p:blipFill>
          <a:blip r:embed="rId4"/>
          <a:stretch>
            <a:fillRect/>
          </a:stretch>
        </p:blipFill>
        <p:spPr>
          <a:xfrm>
            <a:off x="9764678" y="1901710"/>
            <a:ext cx="134549" cy="195707"/>
          </a:xfrm>
          <a:prstGeom prst="rect">
            <a:avLst/>
          </a:prstGeom>
        </p:spPr>
      </p:pic>
      <p:sp>
        <p:nvSpPr>
          <p:cNvPr id="56" name="TextBox 55"/>
          <p:cNvSpPr txBox="1"/>
          <p:nvPr/>
        </p:nvSpPr>
        <p:spPr>
          <a:xfrm>
            <a:off x="9939788" y="1911934"/>
            <a:ext cx="1534663" cy="194310"/>
          </a:xfrm>
          <a:prstGeom prst="rect">
            <a:avLst/>
          </a:prstGeom>
          <a:noFill/>
        </p:spPr>
        <p:txBody>
          <a:bodyPr wrap="none" lIns="0" tIns="0" rIns="0" bIns="0">
            <a:spAutoFit/>
          </a:bodyPr>
          <a:lstStyle/>
          <a:p>
            <a:r>
              <a:rPr sz="1150" b="0">
                <a:solidFill>
                  <a:srgbClr val="2E2E2E"/>
                </a:solidFill>
                <a:latin typeface="Calibri"/>
              </a:rPr>
              <a:t>per MT in 2036. Average</a:t>
            </a:r>
          </a:p>
        </p:txBody>
      </p:sp>
      <p:sp>
        <p:nvSpPr>
          <p:cNvPr id="57" name="TextBox 56"/>
          <p:cNvSpPr txBox="1"/>
          <p:nvPr/>
        </p:nvSpPr>
        <p:spPr>
          <a:xfrm>
            <a:off x="8048625" y="2087194"/>
            <a:ext cx="3814167" cy="194310"/>
          </a:xfrm>
          <a:prstGeom prst="rect">
            <a:avLst/>
          </a:prstGeom>
          <a:noFill/>
        </p:spPr>
        <p:txBody>
          <a:bodyPr wrap="none" lIns="0" tIns="0" rIns="0" bIns="0">
            <a:spAutoFit/>
          </a:bodyPr>
          <a:lstStyle/>
          <a:p>
            <a:r>
              <a:rPr sz="1150" b="0">
                <a:solidFill>
                  <a:srgbClr val="2E2E2E"/>
                </a:solidFill>
                <a:latin typeface="Calibri"/>
              </a:rPr>
              <a:t>selling price of senior dog cognitive supplement is estimated at</a:t>
            </a:r>
          </a:p>
        </p:txBody>
      </p:sp>
      <p:sp>
        <p:nvSpPr>
          <p:cNvPr id="58" name="TextBox 57"/>
          <p:cNvSpPr txBox="1"/>
          <p:nvPr/>
        </p:nvSpPr>
        <p:spPr>
          <a:xfrm>
            <a:off x="8048625" y="2262454"/>
            <a:ext cx="311249" cy="194310"/>
          </a:xfrm>
          <a:prstGeom prst="rect">
            <a:avLst/>
          </a:prstGeom>
          <a:noFill/>
        </p:spPr>
        <p:txBody>
          <a:bodyPr wrap="none" lIns="0" tIns="0" rIns="0" bIns="0">
            <a:spAutoFit/>
          </a:bodyPr>
          <a:lstStyle/>
          <a:p>
            <a:r>
              <a:rPr sz="1150" b="0">
                <a:solidFill>
                  <a:srgbClr val="2E2E2E"/>
                </a:solidFill>
                <a:latin typeface="Calibri"/>
              </a:rPr>
              <a:t>US$</a:t>
            </a:r>
          </a:p>
        </p:txBody>
      </p:sp>
      <p:pic>
        <p:nvPicPr>
          <p:cNvPr id="59" name="Picture 58" descr="lock.png"/>
          <p:cNvPicPr>
            <a:picLocks noChangeAspect="1"/>
          </p:cNvPicPr>
          <p:nvPr/>
        </p:nvPicPr>
        <p:blipFill>
          <a:blip r:embed="rId4"/>
          <a:stretch>
            <a:fillRect/>
          </a:stretch>
        </p:blipFill>
        <p:spPr>
          <a:xfrm>
            <a:off x="8309028" y="2252230"/>
            <a:ext cx="134549" cy="195707"/>
          </a:xfrm>
          <a:prstGeom prst="rect">
            <a:avLst/>
          </a:prstGeom>
        </p:spPr>
      </p:pic>
      <p:sp>
        <p:nvSpPr>
          <p:cNvPr id="60" name="TextBox 59"/>
          <p:cNvSpPr txBox="1"/>
          <p:nvPr/>
        </p:nvSpPr>
        <p:spPr>
          <a:xfrm>
            <a:off x="8484137" y="2262454"/>
            <a:ext cx="3081064" cy="194310"/>
          </a:xfrm>
          <a:prstGeom prst="rect">
            <a:avLst/>
          </a:prstGeom>
          <a:noFill/>
        </p:spPr>
        <p:txBody>
          <a:bodyPr wrap="none" lIns="0" tIns="0" rIns="0" bIns="0">
            <a:spAutoFit/>
          </a:bodyPr>
          <a:lstStyle/>
          <a:p>
            <a:r>
              <a:rPr sz="1150" b="0">
                <a:solidFill>
                  <a:srgbClr val="2E2E2E"/>
                </a:solidFill>
                <a:latin typeface="Calibri"/>
              </a:rPr>
              <a:t>per MT in 2025 and is projected to increase to US$</a:t>
            </a:r>
          </a:p>
        </p:txBody>
      </p:sp>
      <p:pic>
        <p:nvPicPr>
          <p:cNvPr id="61" name="Picture 60" descr="lock.png"/>
          <p:cNvPicPr>
            <a:picLocks noChangeAspect="1"/>
          </p:cNvPicPr>
          <p:nvPr/>
        </p:nvPicPr>
        <p:blipFill>
          <a:blip r:embed="rId4"/>
          <a:stretch>
            <a:fillRect/>
          </a:stretch>
        </p:blipFill>
        <p:spPr>
          <a:xfrm>
            <a:off x="11514356" y="2252230"/>
            <a:ext cx="134549" cy="195707"/>
          </a:xfrm>
          <a:prstGeom prst="rect">
            <a:avLst/>
          </a:prstGeom>
        </p:spPr>
      </p:pic>
      <p:sp>
        <p:nvSpPr>
          <p:cNvPr id="62" name="TextBox 61"/>
          <p:cNvSpPr txBox="1"/>
          <p:nvPr/>
        </p:nvSpPr>
        <p:spPr>
          <a:xfrm>
            <a:off x="8048625" y="2437714"/>
            <a:ext cx="1048630" cy="194310"/>
          </a:xfrm>
          <a:prstGeom prst="rect">
            <a:avLst/>
          </a:prstGeom>
          <a:noFill/>
        </p:spPr>
        <p:txBody>
          <a:bodyPr wrap="none" lIns="0" tIns="0" rIns="0" bIns="0">
            <a:spAutoFit/>
          </a:bodyPr>
          <a:lstStyle/>
          <a:p>
            <a:r>
              <a:rPr sz="1150" b="0">
                <a:solidFill>
                  <a:srgbClr val="2E2E2E"/>
                </a:solidFill>
                <a:latin typeface="Calibri"/>
              </a:rPr>
              <a:t>per MT by 2036.</a:t>
            </a:r>
          </a:p>
        </p:txBody>
      </p:sp>
      <p:sp>
        <p:nvSpPr>
          <p:cNvPr id="63" name="TextBox 62"/>
          <p:cNvSpPr txBox="1"/>
          <p:nvPr/>
        </p:nvSpPr>
        <p:spPr>
          <a:xfrm>
            <a:off x="8048625" y="2665551"/>
            <a:ext cx="3783074" cy="194310"/>
          </a:xfrm>
          <a:prstGeom prst="rect">
            <a:avLst/>
          </a:prstGeom>
          <a:noFill/>
        </p:spPr>
        <p:txBody>
          <a:bodyPr wrap="none" lIns="0" tIns="0" rIns="0" bIns="0">
            <a:spAutoFit/>
          </a:bodyPr>
          <a:lstStyle/>
          <a:p>
            <a:r>
              <a:rPr sz="1150" b="0">
                <a:solidFill>
                  <a:srgbClr val="2E2E2E"/>
                </a:solidFill>
                <a:latin typeface="Calibri"/>
              </a:rPr>
              <a:t>North America is the highest-priced region, while South Asia &amp;</a:t>
            </a:r>
          </a:p>
        </p:txBody>
      </p:sp>
      <p:sp>
        <p:nvSpPr>
          <p:cNvPr id="64" name="TextBox 63"/>
          <p:cNvSpPr txBox="1"/>
          <p:nvPr/>
        </p:nvSpPr>
        <p:spPr>
          <a:xfrm>
            <a:off x="8048625" y="2840811"/>
            <a:ext cx="3787353" cy="194310"/>
          </a:xfrm>
          <a:prstGeom prst="rect">
            <a:avLst/>
          </a:prstGeom>
          <a:noFill/>
        </p:spPr>
        <p:txBody>
          <a:bodyPr wrap="none" lIns="0" tIns="0" rIns="0" bIns="0">
            <a:spAutoFit/>
          </a:bodyPr>
          <a:lstStyle/>
          <a:p>
            <a:r>
              <a:rPr sz="1150" b="0">
                <a:solidFill>
                  <a:srgbClr val="2E2E2E"/>
                </a:solidFill>
                <a:latin typeface="Calibri"/>
              </a:rPr>
              <a:t>Pacific is the most price-competitive market. The orange dot is</a:t>
            </a:r>
          </a:p>
        </p:txBody>
      </p:sp>
      <p:sp>
        <p:nvSpPr>
          <p:cNvPr id="65" name="TextBox 64"/>
          <p:cNvSpPr txBox="1"/>
          <p:nvPr/>
        </p:nvSpPr>
        <p:spPr>
          <a:xfrm>
            <a:off x="8048625" y="3016071"/>
            <a:ext cx="3517503" cy="194310"/>
          </a:xfrm>
          <a:prstGeom prst="rect">
            <a:avLst/>
          </a:prstGeom>
          <a:noFill/>
        </p:spPr>
        <p:txBody>
          <a:bodyPr wrap="none" lIns="0" tIns="0" rIns="0" bIns="0">
            <a:spAutoFit/>
          </a:bodyPr>
          <a:lstStyle/>
          <a:p>
            <a:r>
              <a:rPr sz="1150" b="0">
                <a:solidFill>
                  <a:srgbClr val="2E2E2E"/>
                </a:solidFill>
                <a:latin typeface="Calibri"/>
              </a:rPr>
              <a:t>each region's average selling price; the blue band is its full</a:t>
            </a:r>
          </a:p>
        </p:txBody>
      </p:sp>
      <p:sp>
        <p:nvSpPr>
          <p:cNvPr id="66" name="TextBox 65"/>
          <p:cNvSpPr txBox="1"/>
          <p:nvPr/>
        </p:nvSpPr>
        <p:spPr>
          <a:xfrm>
            <a:off x="8048625" y="3191331"/>
            <a:ext cx="3318395" cy="194310"/>
          </a:xfrm>
          <a:prstGeom prst="rect">
            <a:avLst/>
          </a:prstGeom>
          <a:noFill/>
        </p:spPr>
        <p:txBody>
          <a:bodyPr wrap="none" lIns="0" tIns="0" rIns="0" bIns="0">
            <a:spAutoFit/>
          </a:bodyPr>
          <a:lstStyle/>
          <a:p>
            <a:r>
              <a:rPr sz="1150" b="0">
                <a:solidFill>
                  <a:srgbClr val="2E2E2E"/>
                </a:solidFill>
                <a:latin typeface="Calibri"/>
              </a:rPr>
              <a:t>low-to-high price range, all derived as Value ÷ Volume.</a:t>
            </a:r>
          </a:p>
        </p:txBody>
      </p:sp>
      <p:sp>
        <p:nvSpPr>
          <p:cNvPr id="67" name="TextBox 66"/>
          <p:cNvSpPr txBox="1"/>
          <p:nvPr/>
        </p:nvSpPr>
        <p:spPr>
          <a:xfrm>
            <a:off x="8048625" y="3419169"/>
            <a:ext cx="3691793" cy="194310"/>
          </a:xfrm>
          <a:prstGeom prst="rect">
            <a:avLst/>
          </a:prstGeom>
          <a:noFill/>
        </p:spPr>
        <p:txBody>
          <a:bodyPr wrap="none" lIns="0" tIns="0" rIns="0" bIns="0">
            <a:spAutoFit/>
          </a:bodyPr>
          <a:lstStyle/>
          <a:p>
            <a:r>
              <a:rPr sz="1150" b="0">
                <a:solidFill>
                  <a:srgbClr val="2E2E2E"/>
                </a:solidFill>
                <a:latin typeface="Calibri"/>
              </a:rPr>
              <a:t>Narrow bands point to commoditised, price-led competition;</a:t>
            </a:r>
          </a:p>
        </p:txBody>
      </p:sp>
      <p:sp>
        <p:nvSpPr>
          <p:cNvPr id="68" name="TextBox 67"/>
          <p:cNvSpPr txBox="1"/>
          <p:nvPr/>
        </p:nvSpPr>
        <p:spPr>
          <a:xfrm>
            <a:off x="8048625" y="3594429"/>
            <a:ext cx="3812170" cy="194310"/>
          </a:xfrm>
          <a:prstGeom prst="rect">
            <a:avLst/>
          </a:prstGeom>
          <a:noFill/>
        </p:spPr>
        <p:txBody>
          <a:bodyPr wrap="none" lIns="0" tIns="0" rIns="0" bIns="0">
            <a:spAutoFit/>
          </a:bodyPr>
          <a:lstStyle/>
          <a:p>
            <a:r>
              <a:rPr sz="1150" b="0">
                <a:solidFill>
                  <a:srgbClr val="2E2E2E"/>
                </a:solidFill>
                <a:latin typeface="Calibri"/>
              </a:rPr>
              <a:t>wider bands flag premiumisation headroom to trade buyers up</a:t>
            </a:r>
          </a:p>
        </p:txBody>
      </p:sp>
      <p:sp>
        <p:nvSpPr>
          <p:cNvPr id="69" name="TextBox 68"/>
          <p:cNvSpPr txBox="1"/>
          <p:nvPr/>
        </p:nvSpPr>
        <p:spPr>
          <a:xfrm>
            <a:off x="8048625" y="3769689"/>
            <a:ext cx="558279" cy="194310"/>
          </a:xfrm>
          <a:prstGeom prst="rect">
            <a:avLst/>
          </a:prstGeom>
          <a:noFill/>
        </p:spPr>
        <p:txBody>
          <a:bodyPr wrap="none" lIns="0" tIns="0" rIns="0" bIns="0">
            <a:spAutoFit/>
          </a:bodyPr>
          <a:lstStyle/>
          <a:p>
            <a:r>
              <a:rPr sz="1150" b="0">
                <a:solidFill>
                  <a:srgbClr val="2E2E2E"/>
                </a:solidFill>
                <a:latin typeface="Calibri"/>
              </a:rPr>
              <a:t>the mix.</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Key Pricing Drivers Influencing Senior Dog Cognitive Supplement Market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1" name="Rounded Rectangle 10"/>
          <p:cNvSpPr/>
          <p:nvPr/>
        </p:nvSpPr>
        <p:spPr>
          <a:xfrm>
            <a:off x="142875" y="1354081"/>
            <a:ext cx="69342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411231"/>
            <a:ext cx="6743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Impacting Factors</a:t>
            </a:r>
          </a:p>
        </p:txBody>
      </p:sp>
      <p:sp>
        <p:nvSpPr>
          <p:cNvPr id="13" name="Freeform 12"/>
          <p:cNvSpPr/>
          <p:nvPr/>
        </p:nvSpPr>
        <p:spPr>
          <a:xfrm>
            <a:off x="3248025"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2895600"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2533650"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2171700"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1819275"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flipV="1">
            <a:off x="3609975"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609975"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09975"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09975"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09975"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09975"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501189"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815922"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15922"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501189"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47925"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576638"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352787"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742772"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922177"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519105"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576638"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911366"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589908"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410503"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077684"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38550" y="3634709"/>
            <a:ext cx="285750" cy="123825"/>
          </a:xfrm>
          <a:prstGeom prst="rect">
            <a:avLst/>
          </a:prstGeom>
          <a:noFill/>
        </p:spPr>
        <p:txBody>
          <a:bodyPr wrap="none" lIns="0" tIns="0" rIns="0" bIns="0" anchor="ctr">
            <a:spAutoFit/>
          </a:bodyPr>
          <a:lstStyle/>
          <a:p>
            <a:pPr algn="l"/>
            <a:r>
              <a:rPr sz="1100" b="0">
                <a:solidFill>
                  <a:srgbClr val="6C7A89"/>
                </a:solidFill>
                <a:latin typeface="Calibri"/>
              </a:rPr>
              <a:t>2</a:t>
            </a:r>
          </a:p>
        </p:txBody>
      </p:sp>
      <p:sp>
        <p:nvSpPr>
          <p:cNvPr id="40" name="TextBox 39"/>
          <p:cNvSpPr txBox="1"/>
          <p:nvPr/>
        </p:nvSpPr>
        <p:spPr>
          <a:xfrm>
            <a:off x="3638550" y="3257434"/>
            <a:ext cx="285750" cy="123825"/>
          </a:xfrm>
          <a:prstGeom prst="rect">
            <a:avLst/>
          </a:prstGeom>
          <a:noFill/>
        </p:spPr>
        <p:txBody>
          <a:bodyPr wrap="none" lIns="0" tIns="0" rIns="0" bIns="0" anchor="ctr">
            <a:spAutoFit/>
          </a:bodyPr>
          <a:lstStyle/>
          <a:p>
            <a:pPr algn="l"/>
            <a:r>
              <a:rPr sz="1100" b="0">
                <a:solidFill>
                  <a:srgbClr val="6C7A89"/>
                </a:solidFill>
                <a:latin typeface="Calibri"/>
              </a:rPr>
              <a:t>4</a:t>
            </a:r>
          </a:p>
        </p:txBody>
      </p:sp>
      <p:sp>
        <p:nvSpPr>
          <p:cNvPr id="41" name="TextBox 40"/>
          <p:cNvSpPr txBox="1"/>
          <p:nvPr/>
        </p:nvSpPr>
        <p:spPr>
          <a:xfrm>
            <a:off x="3638550" y="2880158"/>
            <a:ext cx="285750" cy="123825"/>
          </a:xfrm>
          <a:prstGeom prst="rect">
            <a:avLst/>
          </a:prstGeom>
          <a:noFill/>
        </p:spPr>
        <p:txBody>
          <a:bodyPr wrap="none" lIns="0" tIns="0" rIns="0" bIns="0" anchor="ctr">
            <a:spAutoFit/>
          </a:bodyPr>
          <a:lstStyle/>
          <a:p>
            <a:pPr algn="l"/>
            <a:r>
              <a:rPr sz="1100" b="0">
                <a:solidFill>
                  <a:srgbClr val="6C7A89"/>
                </a:solidFill>
                <a:latin typeface="Calibri"/>
              </a:rPr>
              <a:t>6</a:t>
            </a:r>
          </a:p>
        </p:txBody>
      </p:sp>
      <p:sp>
        <p:nvSpPr>
          <p:cNvPr id="42" name="TextBox 41"/>
          <p:cNvSpPr txBox="1"/>
          <p:nvPr/>
        </p:nvSpPr>
        <p:spPr>
          <a:xfrm>
            <a:off x="3638550" y="2502882"/>
            <a:ext cx="285750" cy="123825"/>
          </a:xfrm>
          <a:prstGeom prst="rect">
            <a:avLst/>
          </a:prstGeom>
          <a:noFill/>
        </p:spPr>
        <p:txBody>
          <a:bodyPr wrap="none" lIns="0" tIns="0" rIns="0" bIns="0" anchor="ctr">
            <a:spAutoFit/>
          </a:bodyPr>
          <a:lstStyle/>
          <a:p>
            <a:pPr algn="l"/>
            <a:r>
              <a:rPr sz="1100" b="0">
                <a:solidFill>
                  <a:srgbClr val="6C7A89"/>
                </a:solidFill>
                <a:latin typeface="Calibri"/>
              </a:rPr>
              <a:t>8</a:t>
            </a:r>
          </a:p>
        </p:txBody>
      </p:sp>
      <p:sp>
        <p:nvSpPr>
          <p:cNvPr id="43" name="TextBox 42"/>
          <p:cNvSpPr txBox="1"/>
          <p:nvPr/>
        </p:nvSpPr>
        <p:spPr>
          <a:xfrm>
            <a:off x="3638550" y="2125606"/>
            <a:ext cx="285750" cy="123825"/>
          </a:xfrm>
          <a:prstGeom prst="rect">
            <a:avLst/>
          </a:prstGeom>
          <a:noFill/>
        </p:spPr>
        <p:txBody>
          <a:bodyPr wrap="none" lIns="0" tIns="0" rIns="0" bIns="0" anchor="ctr">
            <a:spAutoFit/>
          </a:bodyPr>
          <a:lstStyle/>
          <a:p>
            <a:pPr algn="l"/>
            <a:r>
              <a:rPr sz="1100" b="0">
                <a:solidFill>
                  <a:srgbClr val="6C7A89"/>
                </a:solidFill>
                <a:latin typeface="Calibri"/>
              </a:rPr>
              <a:t>10</a:t>
            </a:r>
          </a:p>
        </p:txBody>
      </p:sp>
      <p:sp>
        <p:nvSpPr>
          <p:cNvPr id="44" name="TextBox 43"/>
          <p:cNvSpPr txBox="1"/>
          <p:nvPr/>
        </p:nvSpPr>
        <p:spPr>
          <a:xfrm>
            <a:off x="2952750" y="1839856"/>
            <a:ext cx="1314450" cy="285750"/>
          </a:xfrm>
          <a:prstGeom prst="rect">
            <a:avLst/>
          </a:prstGeom>
          <a:noFill/>
        </p:spPr>
        <p:txBody>
          <a:bodyPr wrap="square" lIns="28575" tIns="9525" rIns="28575" bIns="9525" anchor="ctr">
            <a:spAutoFit/>
          </a:bodyPr>
          <a:lstStyle/>
          <a:p>
            <a:pPr algn="ctr"/>
            <a:endParaRPr/>
          </a:p>
        </p:txBody>
      </p:sp>
      <p:sp>
        <p:nvSpPr>
          <p:cNvPr id="45" name="TextBox 44"/>
          <p:cNvSpPr txBox="1"/>
          <p:nvPr/>
        </p:nvSpPr>
        <p:spPr>
          <a:xfrm>
            <a:off x="4184706" y="2240143"/>
            <a:ext cx="1314450" cy="285750"/>
          </a:xfrm>
          <a:prstGeom prst="rect">
            <a:avLst/>
          </a:prstGeom>
          <a:noFill/>
        </p:spPr>
        <p:txBody>
          <a:bodyPr wrap="square" lIns="28575" tIns="9525" rIns="28575" bIns="9525" anchor="ctr">
            <a:spAutoFit/>
          </a:bodyPr>
          <a:lstStyle/>
          <a:p>
            <a:pPr algn="ctr"/>
            <a:endParaRPr/>
          </a:p>
        </p:txBody>
      </p:sp>
      <p:sp>
        <p:nvSpPr>
          <p:cNvPr id="46" name="TextBox 45"/>
          <p:cNvSpPr txBox="1"/>
          <p:nvPr/>
        </p:nvSpPr>
        <p:spPr>
          <a:xfrm>
            <a:off x="4946097" y="3288108"/>
            <a:ext cx="1314450" cy="285750"/>
          </a:xfrm>
          <a:prstGeom prst="rect">
            <a:avLst/>
          </a:prstGeom>
          <a:noFill/>
        </p:spPr>
        <p:txBody>
          <a:bodyPr wrap="square" lIns="28575" tIns="9525" rIns="28575" bIns="9525" anchor="ctr">
            <a:spAutoFit/>
          </a:bodyPr>
          <a:lstStyle/>
          <a:p>
            <a:pPr algn="ctr"/>
            <a:endParaRPr/>
          </a:p>
        </p:txBody>
      </p:sp>
      <p:sp>
        <p:nvSpPr>
          <p:cNvPr id="47" name="TextBox 46"/>
          <p:cNvSpPr txBox="1"/>
          <p:nvPr/>
        </p:nvSpPr>
        <p:spPr>
          <a:xfrm>
            <a:off x="4946097" y="4583463"/>
            <a:ext cx="1314450" cy="285750"/>
          </a:xfrm>
          <a:prstGeom prst="rect">
            <a:avLst/>
          </a:prstGeom>
          <a:noFill/>
        </p:spPr>
        <p:txBody>
          <a:bodyPr wrap="square" lIns="28575" tIns="9525" rIns="28575" bIns="9525" anchor="ctr">
            <a:spAutoFit/>
          </a:bodyPr>
          <a:lstStyle/>
          <a:p>
            <a:pPr algn="ctr"/>
            <a:endParaRPr/>
          </a:p>
        </p:txBody>
      </p:sp>
      <p:sp>
        <p:nvSpPr>
          <p:cNvPr id="48" name="TextBox 47"/>
          <p:cNvSpPr txBox="1"/>
          <p:nvPr/>
        </p:nvSpPr>
        <p:spPr>
          <a:xfrm>
            <a:off x="4184706" y="5631427"/>
            <a:ext cx="1314450" cy="285750"/>
          </a:xfrm>
          <a:prstGeom prst="rect">
            <a:avLst/>
          </a:prstGeom>
          <a:noFill/>
        </p:spPr>
        <p:txBody>
          <a:bodyPr wrap="square" lIns="28575" tIns="9525" rIns="28575" bIns="9525" anchor="ctr">
            <a:spAutoFit/>
          </a:bodyPr>
          <a:lstStyle/>
          <a:p>
            <a:pPr algn="ctr"/>
            <a:endParaRPr/>
          </a:p>
        </p:txBody>
      </p:sp>
      <p:sp>
        <p:nvSpPr>
          <p:cNvPr id="49" name="TextBox 48"/>
          <p:cNvSpPr txBox="1"/>
          <p:nvPr/>
        </p:nvSpPr>
        <p:spPr>
          <a:xfrm>
            <a:off x="2952750" y="6031714"/>
            <a:ext cx="1314450" cy="285750"/>
          </a:xfrm>
          <a:prstGeom prst="rect">
            <a:avLst/>
          </a:prstGeom>
          <a:noFill/>
        </p:spPr>
        <p:txBody>
          <a:bodyPr wrap="square" lIns="28575" tIns="9525" rIns="28575" bIns="9525" anchor="ctr">
            <a:spAutoFit/>
          </a:bodyPr>
          <a:lstStyle/>
          <a:p>
            <a:pPr algn="ctr"/>
            <a:endParaRPr/>
          </a:p>
        </p:txBody>
      </p:sp>
      <p:sp>
        <p:nvSpPr>
          <p:cNvPr id="50" name="TextBox 49"/>
          <p:cNvSpPr txBox="1"/>
          <p:nvPr/>
        </p:nvSpPr>
        <p:spPr>
          <a:xfrm>
            <a:off x="1720794" y="5631427"/>
            <a:ext cx="1314450" cy="285750"/>
          </a:xfrm>
          <a:prstGeom prst="rect">
            <a:avLst/>
          </a:prstGeom>
          <a:noFill/>
        </p:spPr>
        <p:txBody>
          <a:bodyPr wrap="square" lIns="28575" tIns="9525" rIns="28575" bIns="9525" anchor="ctr">
            <a:spAutoFit/>
          </a:bodyPr>
          <a:lstStyle/>
          <a:p>
            <a:pPr algn="ctr"/>
            <a:endParaRPr/>
          </a:p>
        </p:txBody>
      </p:sp>
      <p:sp>
        <p:nvSpPr>
          <p:cNvPr id="51" name="TextBox 50"/>
          <p:cNvSpPr txBox="1"/>
          <p:nvPr/>
        </p:nvSpPr>
        <p:spPr>
          <a:xfrm>
            <a:off x="959403" y="4583463"/>
            <a:ext cx="1314450" cy="285750"/>
          </a:xfrm>
          <a:prstGeom prst="rect">
            <a:avLst/>
          </a:prstGeom>
          <a:noFill/>
        </p:spPr>
        <p:txBody>
          <a:bodyPr wrap="square" lIns="28575" tIns="9525" rIns="28575" bIns="9525" anchor="ctr">
            <a:spAutoFit/>
          </a:bodyPr>
          <a:lstStyle/>
          <a:p>
            <a:pPr algn="ctr"/>
            <a:endParaRPr/>
          </a:p>
        </p:txBody>
      </p:sp>
      <p:sp>
        <p:nvSpPr>
          <p:cNvPr id="52" name="TextBox 51"/>
          <p:cNvSpPr txBox="1"/>
          <p:nvPr/>
        </p:nvSpPr>
        <p:spPr>
          <a:xfrm>
            <a:off x="959403" y="3288108"/>
            <a:ext cx="1314450" cy="285750"/>
          </a:xfrm>
          <a:prstGeom prst="rect">
            <a:avLst/>
          </a:prstGeom>
          <a:noFill/>
        </p:spPr>
        <p:txBody>
          <a:bodyPr wrap="square" lIns="28575" tIns="9525" rIns="28575" bIns="9525" anchor="ctr">
            <a:spAutoFit/>
          </a:bodyPr>
          <a:lstStyle/>
          <a:p>
            <a:pPr algn="ctr"/>
            <a:endParaRPr/>
          </a:p>
        </p:txBody>
      </p:sp>
      <p:sp>
        <p:nvSpPr>
          <p:cNvPr id="53" name="TextBox 52"/>
          <p:cNvSpPr txBox="1"/>
          <p:nvPr/>
        </p:nvSpPr>
        <p:spPr>
          <a:xfrm>
            <a:off x="1720794" y="2240143"/>
            <a:ext cx="1314450" cy="285750"/>
          </a:xfrm>
          <a:prstGeom prst="rect">
            <a:avLst/>
          </a:prstGeom>
          <a:noFill/>
        </p:spPr>
        <p:txBody>
          <a:bodyPr wrap="square" lIns="28575" tIns="9525" rIns="28575" bIns="9525" anchor="ctr">
            <a:spAutoFit/>
          </a:bodyPr>
          <a:lstStyle/>
          <a:p>
            <a:pPr algn="ctr"/>
            <a:endParaRPr/>
          </a:p>
        </p:txBody>
      </p:sp>
      <p:sp>
        <p:nvSpPr>
          <p:cNvPr id="54" name="Rounded Rectangle 53"/>
          <p:cNvSpPr/>
          <p:nvPr/>
        </p:nvSpPr>
        <p:spPr>
          <a:xfrm>
            <a:off x="7153275" y="1354081"/>
            <a:ext cx="489585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286625" y="1439806"/>
            <a:ext cx="46291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56" name="Rectangle 55"/>
          <p:cNvSpPr/>
          <p:nvPr/>
        </p:nvSpPr>
        <p:spPr>
          <a:xfrm>
            <a:off x="7286625" y="1677931"/>
            <a:ext cx="4629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286625" y="1763656"/>
            <a:ext cx="4629150" cy="2993668"/>
          </a:xfrm>
          <a:prstGeom prst="rect">
            <a:avLst/>
          </a:prstGeom>
          <a:noFill/>
        </p:spPr>
        <p:txBody>
          <a:bodyPr wrap="square" lIns="0" tIns="9525" rIns="19050"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Senior Dog Cognitive Supplement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Senior Dog Cognitive Supplement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8" name="Rounded Rectangle 57"/>
          <p:cNvSpPr/>
          <p:nvPr/>
        </p:nvSpPr>
        <p:spPr>
          <a:xfrm>
            <a:off x="7153275" y="4943046"/>
            <a:ext cx="489585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286625" y="5028771"/>
            <a:ext cx="4629150" cy="209550"/>
          </a:xfrm>
          <a:prstGeom prst="rect">
            <a:avLst/>
          </a:prstGeom>
          <a:noFill/>
        </p:spPr>
        <p:txBody>
          <a:bodyPr wrap="square" lIns="0" tIns="9525" rIns="19050" bIns="9525">
            <a:spAutoFit/>
          </a:bodyPr>
          <a:lstStyle/>
          <a:p>
            <a:pPr algn="l"/>
            <a:r>
              <a:rPr sz="1300" b="1">
                <a:solidFill>
                  <a:srgbClr val="0B2E4A"/>
                </a:solidFill>
                <a:latin typeface="Calibri"/>
              </a:rPr>
              <a:t>Highest-Impact Drivers</a:t>
            </a:r>
          </a:p>
        </p:txBody>
      </p:sp>
      <p:sp>
        <p:nvSpPr>
          <p:cNvPr id="60" name="Rectangle 59"/>
          <p:cNvSpPr/>
          <p:nvPr/>
        </p:nvSpPr>
        <p:spPr>
          <a:xfrm>
            <a:off x="7286625" y="5266896"/>
            <a:ext cx="4629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286625" y="5352621"/>
            <a:ext cx="4629150" cy="1200579"/>
          </a:xfrm>
          <a:prstGeom prst="rect">
            <a:avLst/>
          </a:prstGeom>
          <a:noFill/>
        </p:spPr>
        <p:txBody>
          <a:bodyPr wrap="square" lIns="0" tIns="9525" rIns="19050" bIns="9525">
            <a:spAutoFit/>
          </a:bodyPr>
          <a:lstStyle/>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p:txBody>
      </p:sp>
      <p:sp>
        <p:nvSpPr>
          <p:cNvPr id="62" name="TextBox 6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241146" y="1898910"/>
            <a:ext cx="659829" cy="186689"/>
          </a:xfrm>
          <a:prstGeom prst="rect">
            <a:avLst/>
          </a:prstGeom>
          <a:noFill/>
        </p:spPr>
        <p:txBody>
          <a:bodyPr wrap="none" lIns="0" tIns="0" rIns="0" bIns="0">
            <a:spAutoFit/>
          </a:bodyPr>
          <a:lstStyle/>
          <a:p>
            <a:r>
              <a:rPr sz="1100" b="0">
                <a:solidFill>
                  <a:srgbClr val="2E2E2E"/>
                </a:solidFill>
                <a:latin typeface="Calibri"/>
              </a:rPr>
              <a:t>Input Cost</a:t>
            </a:r>
          </a:p>
        </p:txBody>
      </p:sp>
      <p:pic>
        <p:nvPicPr>
          <p:cNvPr id="64" name="Picture 63" descr="lock.png"/>
          <p:cNvPicPr>
            <a:picLocks noChangeAspect="1"/>
          </p:cNvPicPr>
          <p:nvPr/>
        </p:nvPicPr>
        <p:blipFill>
          <a:blip r:embed="rId4"/>
          <a:stretch>
            <a:fillRect/>
          </a:stretch>
        </p:blipFill>
        <p:spPr>
          <a:xfrm>
            <a:off x="3849027" y="1889132"/>
            <a:ext cx="128699" cy="187198"/>
          </a:xfrm>
          <a:prstGeom prst="rect">
            <a:avLst/>
          </a:prstGeom>
        </p:spPr>
      </p:pic>
      <p:sp>
        <p:nvSpPr>
          <p:cNvPr id="65" name="TextBox 64"/>
          <p:cNvSpPr txBox="1"/>
          <p:nvPr/>
        </p:nvSpPr>
        <p:spPr>
          <a:xfrm>
            <a:off x="4267058" y="2322667"/>
            <a:ext cx="1115044" cy="139750"/>
          </a:xfrm>
          <a:prstGeom prst="rect">
            <a:avLst/>
          </a:prstGeom>
          <a:noFill/>
        </p:spPr>
        <p:txBody>
          <a:bodyPr wrap="none" lIns="0" tIns="0" rIns="0" bIns="0">
            <a:spAutoFit/>
          </a:bodyPr>
          <a:lstStyle/>
          <a:p>
            <a:r>
              <a:rPr sz="791" b="0">
                <a:solidFill>
                  <a:srgbClr val="2E2E2E"/>
                </a:solidFill>
                <a:latin typeface="Calibri"/>
              </a:rPr>
              <a:t>Labor &amp; Production Costs</a:t>
            </a:r>
          </a:p>
        </p:txBody>
      </p:sp>
      <p:pic>
        <p:nvPicPr>
          <p:cNvPr id="66" name="Picture 65" descr="lock.png"/>
          <p:cNvPicPr>
            <a:picLocks noChangeAspect="1"/>
          </p:cNvPicPr>
          <p:nvPr/>
        </p:nvPicPr>
        <p:blipFill>
          <a:blip r:embed="rId4"/>
          <a:stretch>
            <a:fillRect/>
          </a:stretch>
        </p:blipFill>
        <p:spPr>
          <a:xfrm>
            <a:off x="5323363" y="2315626"/>
            <a:ext cx="92663" cy="134782"/>
          </a:xfrm>
          <a:prstGeom prst="rect">
            <a:avLst/>
          </a:prstGeom>
        </p:spPr>
      </p:pic>
      <p:sp>
        <p:nvSpPr>
          <p:cNvPr id="67" name="TextBox 66"/>
          <p:cNvSpPr txBox="1"/>
          <p:nvPr/>
        </p:nvSpPr>
        <p:spPr>
          <a:xfrm>
            <a:off x="5035718" y="3370632"/>
            <a:ext cx="1100506" cy="139750"/>
          </a:xfrm>
          <a:prstGeom prst="rect">
            <a:avLst/>
          </a:prstGeom>
          <a:noFill/>
        </p:spPr>
        <p:txBody>
          <a:bodyPr wrap="none" lIns="0" tIns="0" rIns="0" bIns="0">
            <a:spAutoFit/>
          </a:bodyPr>
          <a:lstStyle/>
          <a:p>
            <a:r>
              <a:rPr sz="791" b="0">
                <a:solidFill>
                  <a:srgbClr val="2E2E2E"/>
                </a:solidFill>
                <a:latin typeface="Calibri"/>
              </a:rPr>
              <a:t>Technology &amp; Innovation</a:t>
            </a:r>
          </a:p>
        </p:txBody>
      </p:sp>
      <p:pic>
        <p:nvPicPr>
          <p:cNvPr id="68" name="Picture 67" descr="lock.png"/>
          <p:cNvPicPr>
            <a:picLocks noChangeAspect="1"/>
          </p:cNvPicPr>
          <p:nvPr/>
        </p:nvPicPr>
        <p:blipFill>
          <a:blip r:embed="rId4"/>
          <a:stretch>
            <a:fillRect/>
          </a:stretch>
        </p:blipFill>
        <p:spPr>
          <a:xfrm>
            <a:off x="6077486" y="3363591"/>
            <a:ext cx="92663" cy="134782"/>
          </a:xfrm>
          <a:prstGeom prst="rect">
            <a:avLst/>
          </a:prstGeom>
        </p:spPr>
      </p:pic>
      <p:sp>
        <p:nvSpPr>
          <p:cNvPr id="69" name="TextBox 68"/>
          <p:cNvSpPr txBox="1"/>
          <p:nvPr/>
        </p:nvSpPr>
        <p:spPr>
          <a:xfrm>
            <a:off x="5024921" y="4662634"/>
            <a:ext cx="1115939" cy="146456"/>
          </a:xfrm>
          <a:prstGeom prst="rect">
            <a:avLst/>
          </a:prstGeom>
          <a:noFill/>
        </p:spPr>
        <p:txBody>
          <a:bodyPr wrap="none" lIns="0" tIns="0" rIns="0" bIns="0">
            <a:spAutoFit/>
          </a:bodyPr>
          <a:lstStyle/>
          <a:p>
            <a:r>
              <a:rPr sz="835" b="0">
                <a:solidFill>
                  <a:srgbClr val="2E2E2E"/>
                </a:solidFill>
                <a:latin typeface="Calibri"/>
              </a:rPr>
              <a:t>Supply Chain &amp; Logistics</a:t>
            </a:r>
          </a:p>
        </p:txBody>
      </p:sp>
      <p:pic>
        <p:nvPicPr>
          <p:cNvPr id="70" name="Picture 69" descr="lock.png"/>
          <p:cNvPicPr>
            <a:picLocks noChangeAspect="1"/>
          </p:cNvPicPr>
          <p:nvPr/>
        </p:nvPicPr>
        <p:blipFill>
          <a:blip r:embed="rId4"/>
          <a:stretch>
            <a:fillRect/>
          </a:stretch>
        </p:blipFill>
        <p:spPr>
          <a:xfrm>
            <a:off x="6083091" y="4655202"/>
            <a:ext cx="97811" cy="142270"/>
          </a:xfrm>
          <a:prstGeom prst="rect">
            <a:avLst/>
          </a:prstGeom>
        </p:spPr>
      </p:pic>
      <p:sp>
        <p:nvSpPr>
          <p:cNvPr id="71" name="TextBox 70"/>
          <p:cNvSpPr txBox="1"/>
          <p:nvPr/>
        </p:nvSpPr>
        <p:spPr>
          <a:xfrm>
            <a:off x="4232042" y="5653601"/>
            <a:ext cx="1238538" cy="139750"/>
          </a:xfrm>
          <a:prstGeom prst="rect">
            <a:avLst/>
          </a:prstGeom>
          <a:noFill/>
        </p:spPr>
        <p:txBody>
          <a:bodyPr wrap="none" lIns="0" tIns="0" rIns="0" bIns="0">
            <a:spAutoFit/>
          </a:bodyPr>
          <a:lstStyle/>
          <a:p>
            <a:r>
              <a:rPr sz="791" b="0">
                <a:solidFill>
                  <a:srgbClr val="2E2E2E"/>
                </a:solidFill>
                <a:latin typeface="Calibri"/>
              </a:rPr>
              <a:t>Demand &amp; Market Conditions</a:t>
            </a:r>
          </a:p>
        </p:txBody>
      </p:sp>
      <p:pic>
        <p:nvPicPr>
          <p:cNvPr id="72" name="Picture 71" descr="lock.png"/>
          <p:cNvPicPr>
            <a:picLocks noChangeAspect="1"/>
          </p:cNvPicPr>
          <p:nvPr/>
        </p:nvPicPr>
        <p:blipFill>
          <a:blip r:embed="rId4"/>
          <a:stretch>
            <a:fillRect/>
          </a:stretch>
        </p:blipFill>
        <p:spPr>
          <a:xfrm>
            <a:off x="4790363" y="5767261"/>
            <a:ext cx="92663" cy="134782"/>
          </a:xfrm>
          <a:prstGeom prst="rect">
            <a:avLst/>
          </a:prstGeom>
        </p:spPr>
      </p:pic>
      <p:sp>
        <p:nvSpPr>
          <p:cNvPr id="73" name="TextBox 72"/>
          <p:cNvSpPr txBox="1"/>
          <p:nvPr/>
        </p:nvSpPr>
        <p:spPr>
          <a:xfrm>
            <a:off x="3049408" y="6110885"/>
            <a:ext cx="1080271" cy="146456"/>
          </a:xfrm>
          <a:prstGeom prst="rect">
            <a:avLst/>
          </a:prstGeom>
          <a:noFill/>
        </p:spPr>
        <p:txBody>
          <a:bodyPr wrap="none" lIns="0" tIns="0" rIns="0" bIns="0">
            <a:spAutoFit/>
          </a:bodyPr>
          <a:lstStyle/>
          <a:p>
            <a:r>
              <a:rPr sz="835" b="0">
                <a:solidFill>
                  <a:srgbClr val="2E2E2E"/>
                </a:solidFill>
                <a:latin typeface="Calibri"/>
              </a:rPr>
              <a:t>Competitive Landscape</a:t>
            </a:r>
          </a:p>
        </p:txBody>
      </p:sp>
      <p:pic>
        <p:nvPicPr>
          <p:cNvPr id="74" name="Picture 73" descr="lock.png"/>
          <p:cNvPicPr>
            <a:picLocks noChangeAspect="1"/>
          </p:cNvPicPr>
          <p:nvPr/>
        </p:nvPicPr>
        <p:blipFill>
          <a:blip r:embed="rId4"/>
          <a:stretch>
            <a:fillRect/>
          </a:stretch>
        </p:blipFill>
        <p:spPr>
          <a:xfrm>
            <a:off x="4071911" y="6103453"/>
            <a:ext cx="97811" cy="142270"/>
          </a:xfrm>
          <a:prstGeom prst="rect">
            <a:avLst/>
          </a:prstGeom>
        </p:spPr>
      </p:pic>
      <p:sp>
        <p:nvSpPr>
          <p:cNvPr id="75" name="TextBox 74"/>
          <p:cNvSpPr txBox="1"/>
          <p:nvPr/>
        </p:nvSpPr>
        <p:spPr>
          <a:xfrm>
            <a:off x="1859088" y="5653601"/>
            <a:ext cx="1114061" cy="139750"/>
          </a:xfrm>
          <a:prstGeom prst="rect">
            <a:avLst/>
          </a:prstGeom>
          <a:noFill/>
        </p:spPr>
        <p:txBody>
          <a:bodyPr wrap="none" lIns="0" tIns="0" rIns="0" bIns="0">
            <a:spAutoFit/>
          </a:bodyPr>
          <a:lstStyle/>
          <a:p>
            <a:r>
              <a:rPr sz="791" b="0">
                <a:solidFill>
                  <a:srgbClr val="2E2E2E"/>
                </a:solidFill>
                <a:latin typeface="Calibri"/>
              </a:rPr>
              <a:t>Regulatory &amp; Compliance</a:t>
            </a:r>
          </a:p>
        </p:txBody>
      </p:sp>
      <p:sp>
        <p:nvSpPr>
          <p:cNvPr id="76" name="TextBox 75"/>
          <p:cNvSpPr txBox="1"/>
          <p:nvPr/>
        </p:nvSpPr>
        <p:spPr>
          <a:xfrm>
            <a:off x="2213046" y="5774302"/>
            <a:ext cx="295245" cy="139750"/>
          </a:xfrm>
          <a:prstGeom prst="rect">
            <a:avLst/>
          </a:prstGeom>
          <a:noFill/>
        </p:spPr>
        <p:txBody>
          <a:bodyPr wrap="none" lIns="0" tIns="0" rIns="0" bIns="0">
            <a:spAutoFit/>
          </a:bodyPr>
          <a:lstStyle/>
          <a:p>
            <a:r>
              <a:rPr sz="791" b="0">
                <a:solidFill>
                  <a:srgbClr val="2E2E2E"/>
                </a:solidFill>
                <a:latin typeface="Calibri"/>
              </a:rPr>
              <a:t>Costs</a:t>
            </a:r>
          </a:p>
        </p:txBody>
      </p:sp>
      <p:pic>
        <p:nvPicPr>
          <p:cNvPr id="77" name="Picture 76" descr="lock.png"/>
          <p:cNvPicPr>
            <a:picLocks noChangeAspect="1"/>
          </p:cNvPicPr>
          <p:nvPr/>
        </p:nvPicPr>
        <p:blipFill>
          <a:blip r:embed="rId4"/>
          <a:stretch>
            <a:fillRect/>
          </a:stretch>
        </p:blipFill>
        <p:spPr>
          <a:xfrm>
            <a:off x="2449552" y="5767261"/>
            <a:ext cx="92663" cy="134782"/>
          </a:xfrm>
          <a:prstGeom prst="rect">
            <a:avLst/>
          </a:prstGeom>
        </p:spPr>
      </p:pic>
      <p:sp>
        <p:nvSpPr>
          <p:cNvPr id="78" name="TextBox 77"/>
          <p:cNvSpPr txBox="1"/>
          <p:nvPr/>
        </p:nvSpPr>
        <p:spPr>
          <a:xfrm>
            <a:off x="1049566" y="4605637"/>
            <a:ext cx="1195711" cy="139750"/>
          </a:xfrm>
          <a:prstGeom prst="rect">
            <a:avLst/>
          </a:prstGeom>
          <a:noFill/>
        </p:spPr>
        <p:txBody>
          <a:bodyPr wrap="none" lIns="0" tIns="0" rIns="0" bIns="0">
            <a:spAutoFit/>
          </a:bodyPr>
          <a:lstStyle/>
          <a:p>
            <a:r>
              <a:rPr sz="791" b="0">
                <a:solidFill>
                  <a:srgbClr val="2E2E2E"/>
                </a:solidFill>
                <a:latin typeface="Calibri"/>
              </a:rPr>
              <a:t>Currency &amp; Trade Dynamics</a:t>
            </a:r>
          </a:p>
        </p:txBody>
      </p:sp>
      <p:pic>
        <p:nvPicPr>
          <p:cNvPr id="79" name="Picture 78" descr="lock.png"/>
          <p:cNvPicPr>
            <a:picLocks noChangeAspect="1"/>
          </p:cNvPicPr>
          <p:nvPr/>
        </p:nvPicPr>
        <p:blipFill>
          <a:blip r:embed="rId4"/>
          <a:stretch>
            <a:fillRect/>
          </a:stretch>
        </p:blipFill>
        <p:spPr>
          <a:xfrm>
            <a:off x="1565060" y="4719297"/>
            <a:ext cx="92663" cy="134782"/>
          </a:xfrm>
          <a:prstGeom prst="rect">
            <a:avLst/>
          </a:prstGeom>
        </p:spPr>
      </p:pic>
      <p:sp>
        <p:nvSpPr>
          <p:cNvPr id="80" name="TextBox 79"/>
          <p:cNvSpPr txBox="1"/>
          <p:nvPr/>
        </p:nvSpPr>
        <p:spPr>
          <a:xfrm>
            <a:off x="1032227" y="3370632"/>
            <a:ext cx="1134100" cy="139750"/>
          </a:xfrm>
          <a:prstGeom prst="rect">
            <a:avLst/>
          </a:prstGeom>
          <a:noFill/>
        </p:spPr>
        <p:txBody>
          <a:bodyPr wrap="none" lIns="0" tIns="0" rIns="0" bIns="0">
            <a:spAutoFit/>
          </a:bodyPr>
          <a:lstStyle/>
          <a:p>
            <a:r>
              <a:rPr sz="791" b="0">
                <a:solidFill>
                  <a:srgbClr val="2E2E2E"/>
                </a:solidFill>
                <a:latin typeface="Calibri"/>
              </a:rPr>
              <a:t>Brand &amp; Value Perception</a:t>
            </a:r>
          </a:p>
        </p:txBody>
      </p:sp>
      <p:pic>
        <p:nvPicPr>
          <p:cNvPr id="81" name="Picture 80" descr="lock.png"/>
          <p:cNvPicPr>
            <a:picLocks noChangeAspect="1"/>
          </p:cNvPicPr>
          <p:nvPr/>
        </p:nvPicPr>
        <p:blipFill>
          <a:blip r:embed="rId4"/>
          <a:stretch>
            <a:fillRect/>
          </a:stretch>
        </p:blipFill>
        <p:spPr>
          <a:xfrm>
            <a:off x="2107588" y="3363591"/>
            <a:ext cx="92663" cy="134782"/>
          </a:xfrm>
          <a:prstGeom prst="rect">
            <a:avLst/>
          </a:prstGeom>
        </p:spPr>
      </p:pic>
      <p:sp>
        <p:nvSpPr>
          <p:cNvPr id="82" name="TextBox 81"/>
          <p:cNvSpPr txBox="1"/>
          <p:nvPr/>
        </p:nvSpPr>
        <p:spPr>
          <a:xfrm>
            <a:off x="1803098" y="2262317"/>
            <a:ext cx="1203570" cy="139750"/>
          </a:xfrm>
          <a:prstGeom prst="rect">
            <a:avLst/>
          </a:prstGeom>
          <a:noFill/>
        </p:spPr>
        <p:txBody>
          <a:bodyPr wrap="none" lIns="0" tIns="0" rIns="0" bIns="0">
            <a:spAutoFit/>
          </a:bodyPr>
          <a:lstStyle/>
          <a:p>
            <a:r>
              <a:rPr sz="791" b="0">
                <a:solidFill>
                  <a:srgbClr val="2E2E2E"/>
                </a:solidFill>
                <a:latin typeface="Calibri"/>
              </a:rPr>
              <a:t>Aftermarket &amp; Service Costs</a:t>
            </a:r>
          </a:p>
        </p:txBody>
      </p:sp>
      <p:pic>
        <p:nvPicPr>
          <p:cNvPr id="83" name="Picture 82" descr="lock.png"/>
          <p:cNvPicPr>
            <a:picLocks noChangeAspect="1"/>
          </p:cNvPicPr>
          <p:nvPr/>
        </p:nvPicPr>
        <p:blipFill>
          <a:blip r:embed="rId4"/>
          <a:stretch>
            <a:fillRect/>
          </a:stretch>
        </p:blipFill>
        <p:spPr>
          <a:xfrm>
            <a:off x="2326451" y="2375977"/>
            <a:ext cx="92663" cy="134782"/>
          </a:xfrm>
          <a:prstGeom prst="rect">
            <a:avLst/>
          </a:prstGeom>
        </p:spPr>
      </p:pic>
      <p:sp>
        <p:nvSpPr>
          <p:cNvPr id="84" name="TextBox 83"/>
          <p:cNvSpPr txBox="1"/>
          <p:nvPr/>
        </p:nvSpPr>
        <p:spPr>
          <a:xfrm>
            <a:off x="7286625" y="5362146"/>
            <a:ext cx="740866" cy="186689"/>
          </a:xfrm>
          <a:prstGeom prst="rect">
            <a:avLst/>
          </a:prstGeom>
          <a:noFill/>
        </p:spPr>
        <p:txBody>
          <a:bodyPr wrap="none" lIns="0" tIns="0" rIns="0" bIns="0">
            <a:spAutoFit/>
          </a:bodyPr>
          <a:lstStyle/>
          <a:p>
            <a:r>
              <a:rPr sz="1100" b="0">
                <a:solidFill>
                  <a:srgbClr val="2E2E2E"/>
                </a:solidFill>
                <a:latin typeface="Calibri"/>
              </a:rPr>
              <a:t>▪ Input Cost</a:t>
            </a:r>
          </a:p>
        </p:txBody>
      </p:sp>
      <p:pic>
        <p:nvPicPr>
          <p:cNvPr id="85" name="Picture 84" descr="lock.png"/>
          <p:cNvPicPr>
            <a:picLocks noChangeAspect="1"/>
          </p:cNvPicPr>
          <p:nvPr/>
        </p:nvPicPr>
        <p:blipFill>
          <a:blip r:embed="rId4"/>
          <a:stretch>
            <a:fillRect/>
          </a:stretch>
        </p:blipFill>
        <p:spPr>
          <a:xfrm>
            <a:off x="7975543" y="5352366"/>
            <a:ext cx="128699" cy="187198"/>
          </a:xfrm>
          <a:prstGeom prst="rect">
            <a:avLst/>
          </a:prstGeom>
        </p:spPr>
      </p:pic>
      <p:sp>
        <p:nvSpPr>
          <p:cNvPr id="86" name="TextBox 85"/>
          <p:cNvSpPr txBox="1"/>
          <p:nvPr/>
        </p:nvSpPr>
        <p:spPr>
          <a:xfrm>
            <a:off x="8143038" y="5362146"/>
            <a:ext cx="1744141" cy="186689"/>
          </a:xfrm>
          <a:prstGeom prst="rect">
            <a:avLst/>
          </a:prstGeom>
          <a:noFill/>
        </p:spPr>
        <p:txBody>
          <a:bodyPr wrap="none" lIns="0" tIns="0" rIns="0" bIns="0">
            <a:spAutoFit/>
          </a:bodyPr>
          <a:lstStyle/>
          <a:p>
            <a:r>
              <a:rPr sz="1100" b="0">
                <a:solidFill>
                  <a:srgbClr val="2E2E2E"/>
                </a:solidFill>
                <a:latin typeface="Calibri"/>
              </a:rPr>
              <a:t>/ 10 · dominant cost pressure</a:t>
            </a:r>
          </a:p>
        </p:txBody>
      </p:sp>
      <p:sp>
        <p:nvSpPr>
          <p:cNvPr id="87" name="TextBox 86"/>
          <p:cNvSpPr txBox="1"/>
          <p:nvPr/>
        </p:nvSpPr>
        <p:spPr>
          <a:xfrm>
            <a:off x="7286625" y="5580078"/>
            <a:ext cx="1851372" cy="186689"/>
          </a:xfrm>
          <a:prstGeom prst="rect">
            <a:avLst/>
          </a:prstGeom>
          <a:noFill/>
        </p:spPr>
        <p:txBody>
          <a:bodyPr wrap="none" lIns="0" tIns="0" rIns="0" bIns="0">
            <a:spAutoFit/>
          </a:bodyPr>
          <a:lstStyle/>
          <a:p>
            <a:r>
              <a:rPr sz="1100" b="0">
                <a:solidFill>
                  <a:srgbClr val="2E2E2E"/>
                </a:solidFill>
                <a:latin typeface="Calibri"/>
              </a:rPr>
              <a:t>▪ Demand &amp; Market Conditions</a:t>
            </a:r>
          </a:p>
        </p:txBody>
      </p:sp>
      <p:pic>
        <p:nvPicPr>
          <p:cNvPr id="88" name="Picture 87" descr="lock.png"/>
          <p:cNvPicPr>
            <a:picLocks noChangeAspect="1"/>
          </p:cNvPicPr>
          <p:nvPr/>
        </p:nvPicPr>
        <p:blipFill>
          <a:blip r:embed="rId4"/>
          <a:stretch>
            <a:fillRect/>
          </a:stretch>
        </p:blipFill>
        <p:spPr>
          <a:xfrm>
            <a:off x="9086048" y="5570298"/>
            <a:ext cx="128699" cy="187198"/>
          </a:xfrm>
          <a:prstGeom prst="rect">
            <a:avLst/>
          </a:prstGeom>
        </p:spPr>
      </p:pic>
      <p:sp>
        <p:nvSpPr>
          <p:cNvPr id="89" name="TextBox 88"/>
          <p:cNvSpPr txBox="1"/>
          <p:nvPr/>
        </p:nvSpPr>
        <p:spPr>
          <a:xfrm>
            <a:off x="9253544" y="5580078"/>
            <a:ext cx="1527224" cy="186689"/>
          </a:xfrm>
          <a:prstGeom prst="rect">
            <a:avLst/>
          </a:prstGeom>
          <a:noFill/>
        </p:spPr>
        <p:txBody>
          <a:bodyPr wrap="none" lIns="0" tIns="0" rIns="0" bIns="0">
            <a:spAutoFit/>
          </a:bodyPr>
          <a:lstStyle/>
          <a:p>
            <a:r>
              <a:rPr sz="1100" b="0">
                <a:solidFill>
                  <a:srgbClr val="2E2E2E"/>
                </a:solidFill>
                <a:latin typeface="Calibri"/>
              </a:rPr>
              <a:t>/ 10 · major cost pressure</a:t>
            </a:r>
          </a:p>
        </p:txBody>
      </p:sp>
      <p:sp>
        <p:nvSpPr>
          <p:cNvPr id="90" name="TextBox 89"/>
          <p:cNvSpPr txBox="1"/>
          <p:nvPr/>
        </p:nvSpPr>
        <p:spPr>
          <a:xfrm>
            <a:off x="7286625" y="5798010"/>
            <a:ext cx="1478384" cy="186689"/>
          </a:xfrm>
          <a:prstGeom prst="rect">
            <a:avLst/>
          </a:prstGeom>
          <a:noFill/>
        </p:spPr>
        <p:txBody>
          <a:bodyPr wrap="none" lIns="0" tIns="0" rIns="0" bIns="0">
            <a:spAutoFit/>
          </a:bodyPr>
          <a:lstStyle/>
          <a:p>
            <a:r>
              <a:rPr sz="1100" b="0">
                <a:solidFill>
                  <a:srgbClr val="2E2E2E"/>
                </a:solidFill>
                <a:latin typeface="Calibri"/>
              </a:rPr>
              <a:t>▪ Competitive Landscape</a:t>
            </a:r>
          </a:p>
        </p:txBody>
      </p:sp>
      <p:pic>
        <p:nvPicPr>
          <p:cNvPr id="91" name="Picture 90" descr="lock.png"/>
          <p:cNvPicPr>
            <a:picLocks noChangeAspect="1"/>
          </p:cNvPicPr>
          <p:nvPr/>
        </p:nvPicPr>
        <p:blipFill>
          <a:blip r:embed="rId4"/>
          <a:stretch>
            <a:fillRect/>
          </a:stretch>
        </p:blipFill>
        <p:spPr>
          <a:xfrm>
            <a:off x="8713060" y="5788230"/>
            <a:ext cx="128699" cy="187198"/>
          </a:xfrm>
          <a:prstGeom prst="rect">
            <a:avLst/>
          </a:prstGeom>
        </p:spPr>
      </p:pic>
      <p:sp>
        <p:nvSpPr>
          <p:cNvPr id="92" name="TextBox 91"/>
          <p:cNvSpPr txBox="1"/>
          <p:nvPr/>
        </p:nvSpPr>
        <p:spPr>
          <a:xfrm>
            <a:off x="8880556" y="5798010"/>
            <a:ext cx="1330225" cy="186689"/>
          </a:xfrm>
          <a:prstGeom prst="rect">
            <a:avLst/>
          </a:prstGeom>
          <a:noFill/>
        </p:spPr>
        <p:txBody>
          <a:bodyPr wrap="none" lIns="0" tIns="0" rIns="0" bIns="0">
            <a:spAutoFit/>
          </a:bodyPr>
          <a:lstStyle/>
          <a:p>
            <a:r>
              <a:rPr sz="1100" b="0">
                <a:solidFill>
                  <a:srgbClr val="2E2E2E"/>
                </a:solidFill>
                <a:latin typeface="Calibri"/>
              </a:rPr>
              <a:t>/ 10 · key pricing lever</a:t>
            </a:r>
          </a:p>
        </p:txBody>
      </p:sp>
      <p:sp>
        <p:nvSpPr>
          <p:cNvPr id="93" name="TextBox 92"/>
          <p:cNvSpPr txBox="1"/>
          <p:nvPr/>
        </p:nvSpPr>
        <p:spPr>
          <a:xfrm>
            <a:off x="7286625" y="6015942"/>
            <a:ext cx="1525314" cy="186689"/>
          </a:xfrm>
          <a:prstGeom prst="rect">
            <a:avLst/>
          </a:prstGeom>
          <a:noFill/>
        </p:spPr>
        <p:txBody>
          <a:bodyPr wrap="none" lIns="0" tIns="0" rIns="0" bIns="0">
            <a:spAutoFit/>
          </a:bodyPr>
          <a:lstStyle/>
          <a:p>
            <a:r>
              <a:rPr sz="1100" b="0">
                <a:solidFill>
                  <a:srgbClr val="2E2E2E"/>
                </a:solidFill>
                <a:latin typeface="Calibri"/>
              </a:rPr>
              <a:t>▪ Supply Chain &amp; Logistics</a:t>
            </a:r>
          </a:p>
        </p:txBody>
      </p:sp>
      <p:pic>
        <p:nvPicPr>
          <p:cNvPr id="94" name="Picture 93" descr="lock.png"/>
          <p:cNvPicPr>
            <a:picLocks noChangeAspect="1"/>
          </p:cNvPicPr>
          <p:nvPr/>
        </p:nvPicPr>
        <p:blipFill>
          <a:blip r:embed="rId4"/>
          <a:stretch>
            <a:fillRect/>
          </a:stretch>
        </p:blipFill>
        <p:spPr>
          <a:xfrm>
            <a:off x="8759991" y="6006162"/>
            <a:ext cx="128699" cy="187198"/>
          </a:xfrm>
          <a:prstGeom prst="rect">
            <a:avLst/>
          </a:prstGeom>
        </p:spPr>
      </p:pic>
      <p:sp>
        <p:nvSpPr>
          <p:cNvPr id="95" name="TextBox 94"/>
          <p:cNvSpPr txBox="1"/>
          <p:nvPr/>
        </p:nvSpPr>
        <p:spPr>
          <a:xfrm>
            <a:off x="8927487" y="6015942"/>
            <a:ext cx="1330225" cy="186689"/>
          </a:xfrm>
          <a:prstGeom prst="rect">
            <a:avLst/>
          </a:prstGeom>
          <a:noFill/>
        </p:spPr>
        <p:txBody>
          <a:bodyPr wrap="none" lIns="0" tIns="0" rIns="0" bIns="0">
            <a:spAutoFit/>
          </a:bodyPr>
          <a:lstStyle/>
          <a:p>
            <a:r>
              <a:rPr sz="1100" b="0">
                <a:solidFill>
                  <a:srgbClr val="2E2E2E"/>
                </a:solidFill>
                <a:latin typeface="Calibri"/>
              </a:rPr>
              <a:t>/ 10 · key pricing lever</a:t>
            </a:r>
          </a:p>
        </p:txBody>
      </p:sp>
      <p:sp>
        <p:nvSpPr>
          <p:cNvPr id="96" name="TextBox 95"/>
          <p:cNvSpPr txBox="1"/>
          <p:nvPr/>
        </p:nvSpPr>
        <p:spPr>
          <a:xfrm>
            <a:off x="7286625" y="6233874"/>
            <a:ext cx="1600075" cy="186689"/>
          </a:xfrm>
          <a:prstGeom prst="rect">
            <a:avLst/>
          </a:prstGeom>
          <a:noFill/>
        </p:spPr>
        <p:txBody>
          <a:bodyPr wrap="none" lIns="0" tIns="0" rIns="0" bIns="0">
            <a:spAutoFit/>
          </a:bodyPr>
          <a:lstStyle/>
          <a:p>
            <a:r>
              <a:rPr sz="1100" b="0">
                <a:solidFill>
                  <a:srgbClr val="2E2E2E"/>
                </a:solidFill>
                <a:latin typeface="Calibri"/>
              </a:rPr>
              <a:t>▪ Labor &amp; Production Costs</a:t>
            </a:r>
          </a:p>
        </p:txBody>
      </p:sp>
      <p:pic>
        <p:nvPicPr>
          <p:cNvPr id="97" name="Picture 96" descr="lock.png"/>
          <p:cNvPicPr>
            <a:picLocks noChangeAspect="1"/>
          </p:cNvPicPr>
          <p:nvPr/>
        </p:nvPicPr>
        <p:blipFill>
          <a:blip r:embed="rId4"/>
          <a:stretch>
            <a:fillRect/>
          </a:stretch>
        </p:blipFill>
        <p:spPr>
          <a:xfrm>
            <a:off x="8834752" y="6224094"/>
            <a:ext cx="128699" cy="187198"/>
          </a:xfrm>
          <a:prstGeom prst="rect">
            <a:avLst/>
          </a:prstGeom>
        </p:spPr>
      </p:pic>
      <p:sp>
        <p:nvSpPr>
          <p:cNvPr id="98" name="TextBox 97"/>
          <p:cNvSpPr txBox="1"/>
          <p:nvPr/>
        </p:nvSpPr>
        <p:spPr>
          <a:xfrm>
            <a:off x="9002248" y="6233874"/>
            <a:ext cx="1387524" cy="186689"/>
          </a:xfrm>
          <a:prstGeom prst="rect">
            <a:avLst/>
          </a:prstGeom>
          <a:noFill/>
        </p:spPr>
        <p:txBody>
          <a:bodyPr wrap="none" lIns="0" tIns="0" rIns="0" bIns="0">
            <a:spAutoFit/>
          </a:bodyPr>
          <a:lstStyle/>
          <a:p>
            <a:r>
              <a:rPr sz="1100" b="0">
                <a:solidFill>
                  <a:srgbClr val="2E2E2E"/>
                </a:solidFill>
                <a:latin typeface="Calibri"/>
              </a:rPr>
              <a:t>/ 10 · supporting factor</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Factors Impacting Pricing</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extLst>
                    <a:ext uri="{9D8B030D-6E8A-4147-A177-3AD203B41FA5}">
                      <a16:colId xmlns:a16="http://schemas.microsoft.com/office/drawing/2014/main" val="20000"/>
                    </a:ext>
                  </a:extLst>
                </a:gridCol>
                <a:gridCol w="2697613">
                  <a:extLst>
                    <a:ext uri="{9D8B030D-6E8A-4147-A177-3AD203B41FA5}">
                      <a16:colId xmlns:a16="http://schemas.microsoft.com/office/drawing/2014/main" val="20001"/>
                    </a:ext>
                  </a:extLst>
                </a:gridCol>
                <a:gridCol w="1098187">
                  <a:extLst>
                    <a:ext uri="{9D8B030D-6E8A-4147-A177-3AD203B41FA5}">
                      <a16:colId xmlns:a16="http://schemas.microsoft.com/office/drawing/2014/main" val="20002"/>
                    </a:ext>
                  </a:extLst>
                </a:gridCol>
                <a:gridCol w="1211368">
                  <a:extLst>
                    <a:ext uri="{9D8B030D-6E8A-4147-A177-3AD203B41FA5}">
                      <a16:colId xmlns:a16="http://schemas.microsoft.com/office/drawing/2014/main" val="20003"/>
                    </a:ext>
                  </a:extLst>
                </a:gridCol>
                <a:gridCol w="1098187">
                  <a:extLst>
                    <a:ext uri="{9D8B030D-6E8A-4147-A177-3AD203B41FA5}">
                      <a16:colId xmlns:a16="http://schemas.microsoft.com/office/drawing/2014/main" val="20004"/>
                    </a:ext>
                  </a:extLst>
                </a:gridCol>
                <a:gridCol w="3220329">
                  <a:extLst>
                    <a:ext uri="{9D8B030D-6E8A-4147-A177-3AD203B41FA5}">
                      <a16:colId xmlns:a16="http://schemas.microsoft.com/office/drawing/2014/main" val="20005"/>
                    </a:ext>
                  </a:extLst>
                </a:gridCol>
              </a:tblGrid>
              <a:tr h="246126">
                <a:tc>
                  <a:txBody>
                    <a:bodyPr/>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a:lstStyle/>
                    <a:p>
                      <a:pPr algn="l"/>
                      <a:r>
                        <a:rPr sz="1100" b="1">
                          <a:solidFill>
                            <a:srgbClr val="0B2E4A"/>
                          </a:solidFill>
                          <a:latin typeface="Calibri"/>
                        </a:rPr>
                        <a:t>How It Shapes Price</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73520">
                <a:tc>
                  <a:txBody>
                    <a:bodyPr/>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73520">
                <a:tc>
                  <a:txBody>
                    <a:bodyPr/>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73520">
                <a:tc>
                  <a:txBody>
                    <a:bodyPr/>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73520">
                <a:tc>
                  <a:txBody>
                    <a:bodyPr/>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73520">
                <a:tc>
                  <a:txBody>
                    <a:bodyPr/>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Competitive intensity.</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73520">
                <a:tc>
                  <a:txBody>
                    <a:bodyPr/>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73520">
                <a:tc>
                  <a:txBody>
                    <a:bodyPr/>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73520">
                <a:tc>
                  <a:txBody>
                    <a:bodyPr/>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extLst>
                  <a:ext uri="{0D108BD9-81ED-4DB2-BD59-A6C34878D82A}">
                    <a16:rowId xmlns:a16="http://schemas.microsoft.com/office/drawing/2014/main" val="10008"/>
                  </a:ext>
                </a:extLst>
              </a:tr>
              <a:tr h="273520">
                <a:tc>
                  <a:txBody>
                    <a:bodyPr/>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extLst>
                  <a:ext uri="{0D108BD9-81ED-4DB2-BD59-A6C34878D82A}">
                    <a16:rowId xmlns:a16="http://schemas.microsoft.com/office/drawing/2014/main" val="10009"/>
                  </a:ext>
                </a:extLst>
              </a:tr>
              <a:tr h="273520">
                <a:tc>
                  <a:txBody>
                    <a:bodyPr/>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extLst>
                  <a:ext uri="{0D108BD9-81ED-4DB2-BD59-A6C34878D82A}">
                    <a16:rowId xmlns:a16="http://schemas.microsoft.com/office/drawing/2014/main" val="10010"/>
                  </a:ext>
                </a:extLst>
              </a:tr>
            </a:tbl>
          </a:graphicData>
        </a:graphic>
      </p:graphicFrame>
      <p:sp>
        <p:nvSpPr>
          <p:cNvPr id="13" name="TextBox 12"/>
          <p:cNvSpPr txBox="1"/>
          <p:nvPr/>
        </p:nvSpPr>
        <p:spPr>
          <a:xfrm>
            <a:off x="219075" y="43815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838700"/>
            <a:ext cx="11639550" cy="209550"/>
          </a:xfrm>
          <a:prstGeom prst="rect">
            <a:avLst/>
          </a:prstGeom>
          <a:noFill/>
        </p:spPr>
        <p:txBody>
          <a:bodyPr wrap="square" lIns="0" tIns="9525" rIns="19050"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5162550"/>
            <a:ext cx="11639550" cy="13049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tIns="0" r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tIns="0" r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tIns="0" r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tIns="0" r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tIns="0" r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tIns="0" r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Regional Price Assessment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Regional price assessment across the value chain (US$/MT)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4724"/>
            <a:ext cx="5715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Regional Price by Value-Chain Level (US$/MT)</a:t>
            </a:r>
          </a:p>
        </p:txBody>
      </p:sp>
      <p:graphicFrame>
        <p:nvGraphicFramePr>
          <p:cNvPr id="13" name="Table 12"/>
          <p:cNvGraphicFramePr>
            <a:graphicFrameLocks noGrp="1"/>
          </p:cNvGraphicFramePr>
          <p:nvPr/>
        </p:nvGraphicFramePr>
        <p:xfrm>
          <a:off x="152400" y="1574749"/>
          <a:ext cx="5886452" cy="2271330"/>
        </p:xfrm>
        <a:graphic>
          <a:graphicData uri="http://schemas.openxmlformats.org/drawingml/2006/table">
            <a:tbl>
              <a:tblPr>
                <a:tableStyleId>{5C22544A-7EE6-4342-B048-85BDC9FD1C3A}</a:tableStyleId>
              </a:tblPr>
              <a:tblGrid>
                <a:gridCol w="1370904">
                  <a:extLst>
                    <a:ext uri="{9D8B030D-6E8A-4147-A177-3AD203B41FA5}">
                      <a16:colId xmlns:a16="http://schemas.microsoft.com/office/drawing/2014/main" val="20000"/>
                    </a:ext>
                  </a:extLst>
                </a:gridCol>
                <a:gridCol w="1128887">
                  <a:extLst>
                    <a:ext uri="{9D8B030D-6E8A-4147-A177-3AD203B41FA5}">
                      <a16:colId xmlns:a16="http://schemas.microsoft.com/office/drawing/2014/main" val="20001"/>
                    </a:ext>
                  </a:extLst>
                </a:gridCol>
                <a:gridCol w="1128887">
                  <a:extLst>
                    <a:ext uri="{9D8B030D-6E8A-4147-A177-3AD203B41FA5}">
                      <a16:colId xmlns:a16="http://schemas.microsoft.com/office/drawing/2014/main" val="20002"/>
                    </a:ext>
                  </a:extLst>
                </a:gridCol>
                <a:gridCol w="1128887">
                  <a:extLst>
                    <a:ext uri="{9D8B030D-6E8A-4147-A177-3AD203B41FA5}">
                      <a16:colId xmlns:a16="http://schemas.microsoft.com/office/drawing/2014/main" val="20003"/>
                    </a:ext>
                  </a:extLst>
                </a:gridCol>
                <a:gridCol w="1128887">
                  <a:extLst>
                    <a:ext uri="{9D8B030D-6E8A-4147-A177-3AD203B41FA5}">
                      <a16:colId xmlns:a16="http://schemas.microsoft.com/office/drawing/2014/main" val="20004"/>
                    </a:ext>
                  </a:extLst>
                </a:gridCol>
              </a:tblGrid>
              <a:tr h="246126">
                <a:tc>
                  <a:txBody>
                    <a:bodyPr/>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a:lstStyle/>
                    <a:p>
                      <a:pPr algn="ctr"/>
                      <a:r>
                        <a:rPr sz="1100" b="1">
                          <a:solidFill>
                            <a:srgbClr val="0B2E4A"/>
                          </a:solidFill>
                          <a:latin typeface="Calibri"/>
                        </a:rPr>
                        <a:t>Total Margin (%)</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37534">
                <a:tc>
                  <a:txBody>
                    <a:bodyPr/>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37534">
                <a:tc>
                  <a:txBody>
                    <a:bodyPr/>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37534">
                <a:tc>
                  <a:txBody>
                    <a:bodyPr/>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37534">
                <a:tc>
                  <a:txBody>
                    <a:bodyPr/>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37534">
                <a:tc>
                  <a:txBody>
                    <a:bodyPr/>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337534">
                <a:tc>
                  <a:txBody>
                    <a:bodyPr/>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4" name="TextBox 13"/>
          <p:cNvSpPr txBox="1"/>
          <p:nvPr/>
        </p:nvSpPr>
        <p:spPr>
          <a:xfrm>
            <a:off x="219075" y="3855604"/>
            <a:ext cx="575310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6025" y="1374724"/>
            <a:ext cx="56578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by Geography (US$/MT)</a:t>
            </a:r>
          </a:p>
        </p:txBody>
      </p:sp>
      <p:graphicFrame>
        <p:nvGraphicFramePr>
          <p:cNvPr id="17" name="Table 16"/>
          <p:cNvGraphicFramePr>
            <a:graphicFrameLocks noGrp="1"/>
          </p:cNvGraphicFramePr>
          <p:nvPr/>
        </p:nvGraphicFramePr>
        <p:xfrm>
          <a:off x="6210300" y="1574749"/>
          <a:ext cx="5829299" cy="2271330"/>
        </p:xfrm>
        <a:graphic>
          <a:graphicData uri="http://schemas.openxmlformats.org/drawingml/2006/table">
            <a:tbl>
              <a:tblPr>
                <a:tableStyleId>{5C22544A-7EE6-4342-B048-85BDC9FD1C3A}</a:tableStyleId>
              </a:tblPr>
              <a:tblGrid>
                <a:gridCol w="2038759">
                  <a:extLst>
                    <a:ext uri="{9D8B030D-6E8A-4147-A177-3AD203B41FA5}">
                      <a16:colId xmlns:a16="http://schemas.microsoft.com/office/drawing/2014/main" val="20000"/>
                    </a:ext>
                  </a:extLst>
                </a:gridCol>
                <a:gridCol w="947635">
                  <a:extLst>
                    <a:ext uri="{9D8B030D-6E8A-4147-A177-3AD203B41FA5}">
                      <a16:colId xmlns:a16="http://schemas.microsoft.com/office/drawing/2014/main" val="20001"/>
                    </a:ext>
                  </a:extLst>
                </a:gridCol>
                <a:gridCol w="947635">
                  <a:extLst>
                    <a:ext uri="{9D8B030D-6E8A-4147-A177-3AD203B41FA5}">
                      <a16:colId xmlns:a16="http://schemas.microsoft.com/office/drawing/2014/main" val="20002"/>
                    </a:ext>
                  </a:extLst>
                </a:gridCol>
                <a:gridCol w="947635">
                  <a:extLst>
                    <a:ext uri="{9D8B030D-6E8A-4147-A177-3AD203B41FA5}">
                      <a16:colId xmlns:a16="http://schemas.microsoft.com/office/drawing/2014/main" val="20003"/>
                    </a:ext>
                  </a:extLst>
                </a:gridCol>
                <a:gridCol w="947635">
                  <a:extLst>
                    <a:ext uri="{9D8B030D-6E8A-4147-A177-3AD203B41FA5}">
                      <a16:colId xmlns:a16="http://schemas.microsoft.com/office/drawing/2014/main" val="20004"/>
                    </a:ext>
                  </a:extLst>
                </a:gridCol>
              </a:tblGrid>
              <a:tr h="246126">
                <a:tc>
                  <a:txBody>
                    <a:bodyPr/>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37534">
                <a:tc>
                  <a:txBody>
                    <a:bodyPr/>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37534">
                <a:tc>
                  <a:txBody>
                    <a:bodyPr/>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37534">
                <a:tc>
                  <a:txBody>
                    <a:bodyPr/>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37534">
                <a:tc>
                  <a:txBody>
                    <a:bodyPr/>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37534">
                <a:tc>
                  <a:txBody>
                    <a:bodyPr/>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337534">
                <a:tc>
                  <a:txBody>
                    <a:bodyPr/>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8" name="TextBox 17"/>
          <p:cNvSpPr txBox="1"/>
          <p:nvPr/>
        </p:nvSpPr>
        <p:spPr>
          <a:xfrm>
            <a:off x="6276975" y="3855604"/>
            <a:ext cx="56959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6225" y="4287383"/>
            <a:ext cx="11639550" cy="209550"/>
          </a:xfrm>
          <a:prstGeom prst="rect">
            <a:avLst/>
          </a:prstGeom>
          <a:noFill/>
        </p:spPr>
        <p:txBody>
          <a:bodyPr wrap="square" lIns="0" tIns="9525" rIns="19050"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6225" y="4611233"/>
            <a:ext cx="11639550" cy="1868952"/>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399"/>
          </a:xfrm>
          <a:prstGeom prst="rect">
            <a:avLst/>
          </a:prstGeom>
        </p:spPr>
      </p:pic>
      <p:pic>
        <p:nvPicPr>
          <p:cNvPr id="25" name="Picture 24"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Global Pricing Benchmarking</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Development-stage price assumptions and manufacturer benchmarking price range by form type type and region (US$/MT).</a:t>
            </a:r>
          </a:p>
        </p:txBody>
      </p:sp>
      <p:sp>
        <p:nvSpPr>
          <p:cNvPr id="11" name="Rounded Rectangle 10"/>
          <p:cNvSpPr/>
          <p:nvPr/>
        </p:nvSpPr>
        <p:spPr>
          <a:xfrm>
            <a:off x="142875" y="1314450"/>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1600"/>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Benchmarking by Region &amp; Form Type (US$/MT)</a:t>
            </a:r>
          </a:p>
        </p:txBody>
      </p:sp>
      <p:graphicFrame>
        <p:nvGraphicFramePr>
          <p:cNvPr id="13" name="Table 12"/>
          <p:cNvGraphicFramePr>
            <a:graphicFrameLocks noGrp="1"/>
          </p:cNvGraphicFramePr>
          <p:nvPr/>
        </p:nvGraphicFramePr>
        <p:xfrm>
          <a:off x="152400" y="1571625"/>
          <a:ext cx="11887202" cy="2409822"/>
        </p:xfrm>
        <a:graphic>
          <a:graphicData uri="http://schemas.openxmlformats.org/drawingml/2006/table">
            <a:tbl>
              <a:tblPr>
                <a:tableStyleId>{5C22544A-7EE6-4342-B048-85BDC9FD1C3A}</a:tableStyleId>
              </a:tblPr>
              <a:tblGrid>
                <a:gridCol w="1371123">
                  <a:extLst>
                    <a:ext uri="{9D8B030D-6E8A-4147-A177-3AD203B41FA5}">
                      <a16:colId xmlns:a16="http://schemas.microsoft.com/office/drawing/2014/main" val="20000"/>
                    </a:ext>
                  </a:extLst>
                </a:gridCol>
                <a:gridCol w="1502297">
                  <a:extLst>
                    <a:ext uri="{9D8B030D-6E8A-4147-A177-3AD203B41FA5}">
                      <a16:colId xmlns:a16="http://schemas.microsoft.com/office/drawing/2014/main" val="20001"/>
                    </a:ext>
                  </a:extLst>
                </a:gridCol>
                <a:gridCol w="1502297">
                  <a:extLst>
                    <a:ext uri="{9D8B030D-6E8A-4147-A177-3AD203B41FA5}">
                      <a16:colId xmlns:a16="http://schemas.microsoft.com/office/drawing/2014/main" val="20002"/>
                    </a:ext>
                  </a:extLst>
                </a:gridCol>
                <a:gridCol w="1502297">
                  <a:extLst>
                    <a:ext uri="{9D8B030D-6E8A-4147-A177-3AD203B41FA5}">
                      <a16:colId xmlns:a16="http://schemas.microsoft.com/office/drawing/2014/main" val="20003"/>
                    </a:ext>
                  </a:extLst>
                </a:gridCol>
                <a:gridCol w="1502297">
                  <a:extLst>
                    <a:ext uri="{9D8B030D-6E8A-4147-A177-3AD203B41FA5}">
                      <a16:colId xmlns:a16="http://schemas.microsoft.com/office/drawing/2014/main" val="20004"/>
                    </a:ext>
                  </a:extLst>
                </a:gridCol>
                <a:gridCol w="1502297">
                  <a:extLst>
                    <a:ext uri="{9D8B030D-6E8A-4147-A177-3AD203B41FA5}">
                      <a16:colId xmlns:a16="http://schemas.microsoft.com/office/drawing/2014/main" val="20005"/>
                    </a:ext>
                  </a:extLst>
                </a:gridCol>
                <a:gridCol w="1502297">
                  <a:extLst>
                    <a:ext uri="{9D8B030D-6E8A-4147-A177-3AD203B41FA5}">
                      <a16:colId xmlns:a16="http://schemas.microsoft.com/office/drawing/2014/main" val="20006"/>
                    </a:ext>
                  </a:extLst>
                </a:gridCol>
                <a:gridCol w="1502297">
                  <a:extLst>
                    <a:ext uri="{9D8B030D-6E8A-4147-A177-3AD203B41FA5}">
                      <a16:colId xmlns:a16="http://schemas.microsoft.com/office/drawing/2014/main" val="20007"/>
                    </a:ext>
                  </a:extLst>
                </a:gridCol>
              </a:tblGrid>
              <a:tr h="246126">
                <a:tc>
                  <a:txBody>
                    <a:bodyPr/>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Chewables</a:t>
                      </a:r>
                      <a:endParaRPr sz="1100"/>
                    </a:p>
                  </a:txBody>
                  <a:tcPr marL="47625" marR="38100" marT="19050" marB="19050" anchor="ctr">
                    <a:solidFill>
                      <a:srgbClr val="E0E8EF"/>
                    </a:solidFill>
                  </a:tcPr>
                </a:tc>
                <a:tc>
                  <a:txBody>
                    <a:bodyPr/>
                    <a:lstStyle/>
                    <a:p>
                      <a:pPr algn="ctr"/>
                      <a:r>
                        <a:rPr sz="1100" b="1">
                          <a:solidFill>
                            <a:srgbClr val="0B2E4A"/>
                          </a:solidFill>
                          <a:latin typeface="Calibri"/>
                        </a:rPr>
                        <a:t>Tablets</a:t>
                      </a:r>
                      <a:endParaRPr sz="1100"/>
                    </a:p>
                  </a:txBody>
                  <a:tcPr marL="47625" marR="38100" marT="19050" marB="19050" anchor="ctr">
                    <a:solidFill>
                      <a:srgbClr val="E0E8EF"/>
                    </a:solidFill>
                  </a:tcPr>
                </a:tc>
                <a:tc>
                  <a:txBody>
                    <a:bodyPr/>
                    <a:lstStyle/>
                    <a:p>
                      <a:pPr algn="ctr"/>
                      <a:r>
                        <a:rPr sz="1100" b="1">
                          <a:solidFill>
                            <a:srgbClr val="0B2E4A"/>
                          </a:solidFill>
                          <a:latin typeface="Calibri"/>
                        </a:rPr>
                        <a:t>Capsules and Softgels</a:t>
                      </a:r>
                      <a:endParaRPr sz="1100"/>
                    </a:p>
                  </a:txBody>
                  <a:tcPr marL="47625" marR="38100" marT="19050" marB="19050" anchor="ctr">
                    <a:solidFill>
                      <a:srgbClr val="E0E8EF"/>
                    </a:solidFill>
                  </a:tcPr>
                </a:tc>
                <a:tc>
                  <a:txBody>
                    <a:bodyPr/>
                    <a:lstStyle/>
                    <a:p>
                      <a:pPr algn="ctr"/>
                      <a:r>
                        <a:rPr sz="1100" b="1">
                          <a:solidFill>
                            <a:srgbClr val="0B2E4A"/>
                          </a:solidFill>
                          <a:latin typeface="Calibri"/>
                        </a:rPr>
                        <a:t>Powders and Granules</a:t>
                      </a:r>
                      <a:endParaRPr sz="1100"/>
                    </a:p>
                  </a:txBody>
                  <a:tcPr marL="47625" marR="38100" marT="19050" marB="19050" anchor="ctr">
                    <a:solidFill>
                      <a:srgbClr val="E0E8EF"/>
                    </a:solidFill>
                  </a:tcPr>
                </a:tc>
                <a:tc>
                  <a:txBody>
                    <a:bodyPr/>
                    <a:lstStyle/>
                    <a:p>
                      <a:pPr algn="ctr"/>
                      <a:r>
                        <a:rPr sz="1100" b="1">
                          <a:solidFill>
                            <a:srgbClr val="0B2E4A"/>
                          </a:solidFill>
                          <a:latin typeface="Calibri"/>
                        </a:rPr>
                        <a:t>Liquids</a:t>
                      </a:r>
                      <a:endParaRPr sz="1100"/>
                    </a:p>
                  </a:txBody>
                  <a:tcPr marL="47625" marR="38100" marT="19050" marB="19050" anchor="ctr">
                    <a:solidFill>
                      <a:srgbClr val="E0E8EF"/>
                    </a:solidFill>
                  </a:tcPr>
                </a:tc>
                <a:tc>
                  <a:txBody>
                    <a:bodyPr/>
                    <a:lstStyle/>
                    <a:p>
                      <a:pPr algn="ctr"/>
                      <a:r>
                        <a:rPr sz="1100" b="1">
                          <a:solidFill>
                            <a:srgbClr val="0B2E4A"/>
                          </a:solidFill>
                          <a:latin typeface="Calibri"/>
                        </a:rPr>
                        <a:t>Gels and Pastes</a:t>
                      </a:r>
                      <a:endParaRPr sz="1100"/>
                    </a:p>
                  </a:txBody>
                  <a:tcPr marL="47625" marR="38100" marT="19050" marB="19050" anchor="ctr">
                    <a:solidFill>
                      <a:srgbClr val="E0E8EF"/>
                    </a:solidFill>
                  </a:tcPr>
                </a:tc>
                <a:tc>
                  <a:txBody>
                    <a:bodyPr/>
                    <a:lstStyle/>
                    <a:p>
                      <a:pPr algn="ctr"/>
                      <a:r>
                        <a:rPr sz="1100" b="1">
                          <a:solidFill>
                            <a:srgbClr val="0B2E4A"/>
                          </a:solidFill>
                          <a:latin typeface="Calibri"/>
                        </a:rPr>
                        <a:t>Weighted Avg</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360616">
                <a:tc>
                  <a:txBody>
                    <a:bodyPr/>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360616">
                <a:tc>
                  <a:txBody>
                    <a:bodyPr/>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360616">
                <a:tc>
                  <a:txBody>
                    <a:bodyPr/>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360616">
                <a:tc>
                  <a:txBody>
                    <a:bodyPr/>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360616">
                <a:tc>
                  <a:txBody>
                    <a:bodyPr/>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r h="360616">
                <a:tc>
                  <a:txBody>
                    <a:bodyPr/>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4" name="TextBox 13"/>
          <p:cNvSpPr txBox="1"/>
          <p:nvPr/>
        </p:nvSpPr>
        <p:spPr>
          <a:xfrm>
            <a:off x="219075" y="39909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333875"/>
            <a:ext cx="11906250" cy="2209800"/>
          </a:xfrm>
          <a:prstGeom prst="roundRect">
            <a:avLst>
              <a:gd name="adj" fmla="val 34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4419600"/>
            <a:ext cx="11639550" cy="209550"/>
          </a:xfrm>
          <a:prstGeom prst="rect">
            <a:avLst/>
          </a:prstGeom>
          <a:noFill/>
        </p:spPr>
        <p:txBody>
          <a:bodyPr wrap="square" lIns="0" tIns="9525" rIns="19050" bIns="9525">
            <a:spAutoFit/>
          </a:bodyPr>
          <a:lstStyle/>
          <a:p>
            <a:pPr algn="l"/>
            <a:r>
              <a:rPr sz="1300" b="1">
                <a:solidFill>
                  <a:srgbClr val="0B2E4A"/>
                </a:solidFill>
                <a:latin typeface="Calibri"/>
              </a:rPr>
              <a:t>Benchmarking Insights</a:t>
            </a:r>
          </a:p>
        </p:txBody>
      </p:sp>
      <p:sp>
        <p:nvSpPr>
          <p:cNvPr id="17" name="Rectangle 16"/>
          <p:cNvSpPr/>
          <p:nvPr/>
        </p:nvSpPr>
        <p:spPr>
          <a:xfrm>
            <a:off x="276225" y="46577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4743450"/>
            <a:ext cx="11639550" cy="172402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94872" y="2632898"/>
            <a:ext cx="366712" cy="533400"/>
          </a:xfrm>
          <a:prstGeom prst="rect">
            <a:avLst/>
          </a:prstGeom>
        </p:spPr>
      </p:pic>
      <p:sp>
        <p:nvSpPr>
          <p:cNvPr id="21" name="TextBox 20"/>
          <p:cNvSpPr txBox="1"/>
          <p:nvPr/>
        </p:nvSpPr>
        <p:spPr>
          <a:xfrm>
            <a:off x="276225" y="4752975"/>
            <a:ext cx="4641688" cy="194310"/>
          </a:xfrm>
          <a:prstGeom prst="rect">
            <a:avLst/>
          </a:prstGeom>
          <a:noFill/>
        </p:spPr>
        <p:txBody>
          <a:bodyPr wrap="none" lIns="0" tIns="0" r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742751"/>
            <a:ext cx="134549" cy="195707"/>
          </a:xfrm>
          <a:prstGeom prst="rect">
            <a:avLst/>
          </a:prstGeom>
        </p:spPr>
      </p:pic>
      <p:sp>
        <p:nvSpPr>
          <p:cNvPr id="23" name="TextBox 22"/>
          <p:cNvSpPr txBox="1"/>
          <p:nvPr/>
        </p:nvSpPr>
        <p:spPr>
          <a:xfrm>
            <a:off x="5042176" y="4752975"/>
            <a:ext cx="3590528" cy="194310"/>
          </a:xfrm>
          <a:prstGeom prst="rect">
            <a:avLst/>
          </a:prstGeom>
          <a:noFill/>
        </p:spPr>
        <p:txBody>
          <a:bodyPr wrap="none" lIns="0" tIns="0" rIns="0" bIns="0">
            <a:spAutoFit/>
          </a:bodyPr>
          <a:lstStyle/>
          <a:p>
            <a:r>
              <a:rPr sz="1150" b="0">
                <a:solidFill>
                  <a:srgbClr val="2E2E2E"/>
                </a:solidFill>
                <a:latin typeface="Calibri"/>
              </a:rPr>
              <a:t>US$/MT) and 'South Asia &amp; Pacific' the most competitive (~</a:t>
            </a:r>
          </a:p>
        </p:txBody>
      </p:sp>
      <p:pic>
        <p:nvPicPr>
          <p:cNvPr id="24" name="Picture 23" descr="lock.png"/>
          <p:cNvPicPr>
            <a:picLocks noChangeAspect="1"/>
          </p:cNvPicPr>
          <p:nvPr/>
        </p:nvPicPr>
        <p:blipFill>
          <a:blip r:embed="rId4"/>
          <a:stretch>
            <a:fillRect/>
          </a:stretch>
        </p:blipFill>
        <p:spPr>
          <a:xfrm>
            <a:off x="8581859" y="4742751"/>
            <a:ext cx="134549" cy="195707"/>
          </a:xfrm>
          <a:prstGeom prst="rect">
            <a:avLst/>
          </a:prstGeom>
        </p:spPr>
      </p:pic>
      <p:sp>
        <p:nvSpPr>
          <p:cNvPr id="25" name="TextBox 24"/>
          <p:cNvSpPr txBox="1"/>
          <p:nvPr/>
        </p:nvSpPr>
        <p:spPr>
          <a:xfrm>
            <a:off x="8756968" y="4752975"/>
            <a:ext cx="644996" cy="194310"/>
          </a:xfrm>
          <a:prstGeom prst="rect">
            <a:avLst/>
          </a:prstGeom>
          <a:noFill/>
        </p:spPr>
        <p:txBody>
          <a:bodyPr wrap="none" lIns="0" tIns="0" rIns="0" bIns="0">
            <a:spAutoFit/>
          </a:bodyPr>
          <a:lstStyle/>
          <a:p>
            <a:r>
              <a:rPr sz="1150" b="0">
                <a:solidFill>
                  <a:srgbClr val="2E2E2E"/>
                </a:solidFill>
                <a:latin typeface="Calibri"/>
              </a:rPr>
              <a:t>US$/MT).</a:t>
            </a:r>
          </a:p>
        </p:txBody>
      </p:sp>
      <p:sp>
        <p:nvSpPr>
          <p:cNvPr id="26" name="TextBox 25"/>
          <p:cNvSpPr txBox="1"/>
          <p:nvPr/>
        </p:nvSpPr>
        <p:spPr>
          <a:xfrm>
            <a:off x="276225" y="4980813"/>
            <a:ext cx="5749614" cy="194310"/>
          </a:xfrm>
          <a:prstGeom prst="rect">
            <a:avLst/>
          </a:prstGeom>
          <a:noFill/>
        </p:spPr>
        <p:txBody>
          <a:bodyPr wrap="none" lIns="0" tIns="0" rIns="0" bIns="0">
            <a:spAutoFit/>
          </a:bodyPr>
          <a:lstStyle/>
          <a:p>
            <a:r>
              <a:rPr sz="1150" b="0">
                <a:solidFill>
                  <a:srgbClr val="2E2E2E"/>
                </a:solidFill>
                <a:latin typeface="Calibri"/>
              </a:rPr>
              <a:t>▪ Price ranges are benchmarked per form type type at 2026, derived as Value ÷ Volume with a ±</a:t>
            </a:r>
          </a:p>
        </p:txBody>
      </p:sp>
      <p:pic>
        <p:nvPicPr>
          <p:cNvPr id="27" name="Picture 26" descr="lock.png"/>
          <p:cNvPicPr>
            <a:picLocks noChangeAspect="1"/>
          </p:cNvPicPr>
          <p:nvPr/>
        </p:nvPicPr>
        <p:blipFill>
          <a:blip r:embed="rId4"/>
          <a:stretch>
            <a:fillRect/>
          </a:stretch>
        </p:blipFill>
        <p:spPr>
          <a:xfrm>
            <a:off x="5974993" y="4970589"/>
            <a:ext cx="134549" cy="195707"/>
          </a:xfrm>
          <a:prstGeom prst="rect">
            <a:avLst/>
          </a:prstGeom>
        </p:spPr>
      </p:pic>
      <p:sp>
        <p:nvSpPr>
          <p:cNvPr id="28" name="TextBox 27"/>
          <p:cNvSpPr txBox="1"/>
          <p:nvPr/>
        </p:nvSpPr>
        <p:spPr>
          <a:xfrm>
            <a:off x="6150103" y="4980813"/>
            <a:ext cx="1455117" cy="194310"/>
          </a:xfrm>
          <a:prstGeom prst="rect">
            <a:avLst/>
          </a:prstGeom>
          <a:noFill/>
        </p:spPr>
        <p:txBody>
          <a:bodyPr wrap="none" lIns="0" tIns="0" rIns="0" bIns="0">
            <a:spAutoFit/>
          </a:bodyPr>
          <a:lstStyle/>
          <a:p>
            <a:r>
              <a:rPr sz="1150" b="0">
                <a:solidFill>
                  <a:srgbClr val="2E2E2E"/>
                </a:solidFill>
                <a:latin typeface="Calibri"/>
              </a:rPr>
              <a:t>observed trading band.</a:t>
            </a:r>
          </a:p>
        </p:txBody>
      </p:sp>
      <p:sp>
        <p:nvSpPr>
          <p:cNvPr id="29" name="TextBox 28"/>
          <p:cNvSpPr txBox="1"/>
          <p:nvPr/>
        </p:nvSpPr>
        <p:spPr>
          <a:xfrm>
            <a:off x="276225" y="5208650"/>
            <a:ext cx="2140867" cy="194310"/>
          </a:xfrm>
          <a:prstGeom prst="rect">
            <a:avLst/>
          </a:prstGeom>
          <a:noFill/>
        </p:spPr>
        <p:txBody>
          <a:bodyPr wrap="none" lIns="0" tIns="0" r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198427"/>
            <a:ext cx="134549" cy="195707"/>
          </a:xfrm>
          <a:prstGeom prst="rect">
            <a:avLst/>
          </a:prstGeom>
        </p:spPr>
      </p:pic>
      <p:sp>
        <p:nvSpPr>
          <p:cNvPr id="31" name="TextBox 30"/>
          <p:cNvSpPr txBox="1"/>
          <p:nvPr/>
        </p:nvSpPr>
        <p:spPr>
          <a:xfrm>
            <a:off x="2541355" y="5208650"/>
            <a:ext cx="3627040" cy="194310"/>
          </a:xfrm>
          <a:prstGeom prst="rect">
            <a:avLst/>
          </a:prstGeom>
          <a:noFill/>
        </p:spPr>
        <p:txBody>
          <a:bodyPr wrap="none" lIns="0" tIns="0" r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436488"/>
            <a:ext cx="5691708" cy="194310"/>
          </a:xfrm>
          <a:prstGeom prst="rect">
            <a:avLst/>
          </a:prstGeom>
          <a:noFill/>
        </p:spPr>
        <p:txBody>
          <a:bodyPr wrap="none" lIns="0" tIns="0" r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Price Forecast &amp; Dynamics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Forward price trajectory to 2036 by form type type and the structural factors shaping it (US$/MT).</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4724"/>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Forecast to 2036 by Form Type (US$/MT)</a:t>
            </a:r>
          </a:p>
        </p:txBody>
      </p:sp>
      <p:graphicFrame>
        <p:nvGraphicFramePr>
          <p:cNvPr id="13" name="Table 12"/>
          <p:cNvGraphicFramePr>
            <a:graphicFrameLocks noGrp="1"/>
          </p:cNvGraphicFramePr>
          <p:nvPr/>
        </p:nvGraphicFramePr>
        <p:xfrm>
          <a:off x="152400" y="1574749"/>
          <a:ext cx="11887200" cy="1504674"/>
        </p:xfrm>
        <a:graphic>
          <a:graphicData uri="http://schemas.openxmlformats.org/drawingml/2006/table">
            <a:tbl>
              <a:tblPr>
                <a:tableStyleId>{5C22544A-7EE6-4342-B048-85BDC9FD1C3A}</a:tableStyleId>
              </a:tblPr>
              <a:tblGrid>
                <a:gridCol w="2010816">
                  <a:extLst>
                    <a:ext uri="{9D8B030D-6E8A-4147-A177-3AD203B41FA5}">
                      <a16:colId xmlns:a16="http://schemas.microsoft.com/office/drawing/2014/main" val="20000"/>
                    </a:ext>
                  </a:extLst>
                </a:gridCol>
                <a:gridCol w="1646064">
                  <a:extLst>
                    <a:ext uri="{9D8B030D-6E8A-4147-A177-3AD203B41FA5}">
                      <a16:colId xmlns:a16="http://schemas.microsoft.com/office/drawing/2014/main" val="20001"/>
                    </a:ext>
                  </a:extLst>
                </a:gridCol>
                <a:gridCol w="1646064">
                  <a:extLst>
                    <a:ext uri="{9D8B030D-6E8A-4147-A177-3AD203B41FA5}">
                      <a16:colId xmlns:a16="http://schemas.microsoft.com/office/drawing/2014/main" val="20002"/>
                    </a:ext>
                  </a:extLst>
                </a:gridCol>
                <a:gridCol w="1646064">
                  <a:extLst>
                    <a:ext uri="{9D8B030D-6E8A-4147-A177-3AD203B41FA5}">
                      <a16:colId xmlns:a16="http://schemas.microsoft.com/office/drawing/2014/main" val="20003"/>
                    </a:ext>
                  </a:extLst>
                </a:gridCol>
                <a:gridCol w="1646064">
                  <a:extLst>
                    <a:ext uri="{9D8B030D-6E8A-4147-A177-3AD203B41FA5}">
                      <a16:colId xmlns:a16="http://schemas.microsoft.com/office/drawing/2014/main" val="20004"/>
                    </a:ext>
                  </a:extLst>
                </a:gridCol>
                <a:gridCol w="1646064">
                  <a:extLst>
                    <a:ext uri="{9D8B030D-6E8A-4147-A177-3AD203B41FA5}">
                      <a16:colId xmlns:a16="http://schemas.microsoft.com/office/drawing/2014/main" val="20005"/>
                    </a:ext>
                  </a:extLst>
                </a:gridCol>
                <a:gridCol w="1646064">
                  <a:extLst>
                    <a:ext uri="{9D8B030D-6E8A-4147-A177-3AD203B41FA5}">
                      <a16:colId xmlns:a16="http://schemas.microsoft.com/office/drawing/2014/main" val="20006"/>
                    </a:ext>
                  </a:extLst>
                </a:gridCol>
              </a:tblGrid>
              <a:tr h="246126">
                <a:tc>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1258548">
                <a:tc>
                  <a:txBody>
                    <a:bodyPr/>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bl>
          </a:graphicData>
        </a:graphic>
      </p:graphicFrame>
      <p:sp>
        <p:nvSpPr>
          <p:cNvPr id="14" name="TextBox 13"/>
          <p:cNvSpPr txBox="1"/>
          <p:nvPr/>
        </p:nvSpPr>
        <p:spPr>
          <a:xfrm>
            <a:off x="219075" y="3088948"/>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3455645"/>
            <a:ext cx="5715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extLst>
                    <a:ext uri="{9D8B030D-6E8A-4147-A177-3AD203B41FA5}">
                      <a16:colId xmlns:a16="http://schemas.microsoft.com/office/drawing/2014/main" val="20000"/>
                    </a:ext>
                  </a:extLst>
                </a:gridCol>
                <a:gridCol w="1509479">
                  <a:extLst>
                    <a:ext uri="{9D8B030D-6E8A-4147-A177-3AD203B41FA5}">
                      <a16:colId xmlns:a16="http://schemas.microsoft.com/office/drawing/2014/main" val="20001"/>
                    </a:ext>
                  </a:extLst>
                </a:gridCol>
                <a:gridCol w="1509479">
                  <a:extLst>
                    <a:ext uri="{9D8B030D-6E8A-4147-A177-3AD203B41FA5}">
                      <a16:colId xmlns:a16="http://schemas.microsoft.com/office/drawing/2014/main" val="20002"/>
                    </a:ext>
                  </a:extLst>
                </a:gridCol>
              </a:tblGrid>
              <a:tr h="246126">
                <a:tc>
                  <a:txBody>
                    <a:bodyPr/>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a:lstStyle/>
                    <a:p>
                      <a:pPr algn="l"/>
                      <a:r>
                        <a:rPr sz="1100" b="1">
                          <a:solidFill>
                            <a:srgbClr val="0B2E4A"/>
                          </a:solidFill>
                          <a:latin typeface="Calibri"/>
                        </a:rPr>
                        <a:t>Impact (H/M/L)</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850">
                <a:tc>
                  <a:txBody>
                    <a:bodyPr/>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High</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46850">
                <a:tc>
                  <a:txBody>
                    <a:bodyPr/>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Medium</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46850">
                <a:tc>
                  <a:txBody>
                    <a:bodyPr/>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46850">
                <a:tc>
                  <a:txBody>
                    <a:bodyPr/>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Medium</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46850">
                <a:tc>
                  <a:txBody>
                    <a:bodyPr/>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High</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46850">
                <a:tc>
                  <a:txBody>
                    <a:bodyPr/>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High</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46850">
                <a:tc>
                  <a:txBody>
                    <a:bodyPr/>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46850">
                <a:tc>
                  <a:txBody>
                    <a:bodyPr/>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Low</a:t>
                      </a:r>
                      <a:endParaRPr sz="1100"/>
                    </a:p>
                  </a:txBody>
                  <a:tcPr marL="47625" marR="38100" marT="19050" marB="19050" anchor="ctr">
                    <a:solidFill>
                      <a:srgbClr val="F5F8FA"/>
                    </a:solidFill>
                  </a:tcPr>
                </a:tc>
                <a:extLst>
                  <a:ext uri="{0D108BD9-81ED-4DB2-BD59-A6C34878D82A}">
                    <a16:rowId xmlns:a16="http://schemas.microsoft.com/office/drawing/2014/main" val="10008"/>
                  </a:ext>
                </a:extLst>
              </a:tr>
              <a:tr h="246850">
                <a:tc>
                  <a:txBody>
                    <a:bodyPr/>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extLst>
                  <a:ext uri="{0D108BD9-81ED-4DB2-BD59-A6C34878D82A}">
                    <a16:rowId xmlns:a16="http://schemas.microsoft.com/office/drawing/2014/main" val="10009"/>
                  </a:ext>
                </a:extLst>
              </a:tr>
              <a:tr h="246850">
                <a:tc>
                  <a:txBody>
                    <a:bodyPr/>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Low</a:t>
                      </a:r>
                      <a:endParaRPr sz="1100"/>
                    </a:p>
                  </a:txBody>
                  <a:tcPr marL="47625" marR="38100" marT="19050" marB="19050" anchor="ctr">
                    <a:solidFill>
                      <a:srgbClr val="F5F8FA"/>
                    </a:solidFill>
                  </a:tcPr>
                </a:tc>
                <a:extLst>
                  <a:ext uri="{0D108BD9-81ED-4DB2-BD59-A6C34878D82A}">
                    <a16:rowId xmlns:a16="http://schemas.microsoft.com/office/drawing/2014/main" val="10010"/>
                  </a:ext>
                </a:extLst>
              </a:tr>
            </a:tbl>
          </a:graphicData>
        </a:graphic>
      </p:graphicFrame>
      <p:sp>
        <p:nvSpPr>
          <p:cNvPr id="18" name="TextBox 17"/>
          <p:cNvSpPr txBox="1"/>
          <p:nvPr/>
        </p:nvSpPr>
        <p:spPr>
          <a:xfrm>
            <a:off x="219075" y="6379820"/>
            <a:ext cx="575310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34125" y="3484220"/>
            <a:ext cx="5581650" cy="209550"/>
          </a:xfrm>
          <a:prstGeom prst="rect">
            <a:avLst/>
          </a:prstGeom>
          <a:noFill/>
        </p:spPr>
        <p:txBody>
          <a:bodyPr wrap="square" lIns="0" tIns="9525" rIns="19050"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34125" y="3808070"/>
            <a:ext cx="5581650" cy="2672115"/>
          </a:xfrm>
          <a:prstGeom prst="rect">
            <a:avLst/>
          </a:prstGeom>
          <a:noFill/>
        </p:spPr>
        <p:txBody>
          <a:bodyPr wrap="square" lIns="0" tIns="9525" rIns="19050" bIns="9525">
            <a:spAutoFit/>
          </a:bodyPr>
          <a:lstStyle/>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a:p>
            <a:pPr algn="l">
              <a:lnSpc>
                <a:spcPct val="110000"/>
              </a:lnSpc>
              <a:spcBef>
                <a:spcPts val="0"/>
              </a:spcBef>
              <a:spcAft>
                <a:spcPts val="500"/>
              </a:spcAft>
            </a:pPr>
            <a:endParaRPr/>
          </a:p>
        </p:txBody>
      </p:sp>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6914717" y="2183449"/>
            <a:ext cx="366712" cy="533400"/>
          </a:xfrm>
          <a:prstGeom prst="rect">
            <a:avLst/>
          </a:prstGeom>
        </p:spPr>
      </p:pic>
      <p:sp>
        <p:nvSpPr>
          <p:cNvPr id="25" name="TextBox 24"/>
          <p:cNvSpPr txBox="1"/>
          <p:nvPr/>
        </p:nvSpPr>
        <p:spPr>
          <a:xfrm>
            <a:off x="6334125" y="3817595"/>
            <a:ext cx="3160610" cy="194310"/>
          </a:xfrm>
          <a:prstGeom prst="rect">
            <a:avLst/>
          </a:prstGeom>
          <a:noFill/>
        </p:spPr>
        <p:txBody>
          <a:bodyPr wrap="none" lIns="0" tIns="0" rIns="0" bIns="0">
            <a:spAutoFit/>
          </a:bodyPr>
          <a:lstStyle/>
          <a:p>
            <a:r>
              <a:rPr sz="1150" b="0">
                <a:solidFill>
                  <a:srgbClr val="2E2E2E"/>
                </a:solidFill>
                <a:latin typeface="Calibri"/>
              </a:rPr>
              <a:t>▪ Average form type price is projected to rise from ~</a:t>
            </a:r>
          </a:p>
        </p:txBody>
      </p:sp>
      <p:pic>
        <p:nvPicPr>
          <p:cNvPr id="26" name="Picture 25" descr="lock.png"/>
          <p:cNvPicPr>
            <a:picLocks noChangeAspect="1"/>
          </p:cNvPicPr>
          <p:nvPr/>
        </p:nvPicPr>
        <p:blipFill>
          <a:blip r:embed="rId4"/>
          <a:stretch>
            <a:fillRect/>
          </a:stretch>
        </p:blipFill>
        <p:spPr>
          <a:xfrm>
            <a:off x="9443889" y="3807371"/>
            <a:ext cx="134549" cy="195707"/>
          </a:xfrm>
          <a:prstGeom prst="rect">
            <a:avLst/>
          </a:prstGeom>
        </p:spPr>
      </p:pic>
      <p:sp>
        <p:nvSpPr>
          <p:cNvPr id="27" name="TextBox 26"/>
          <p:cNvSpPr txBox="1"/>
          <p:nvPr/>
        </p:nvSpPr>
        <p:spPr>
          <a:xfrm>
            <a:off x="9618998" y="3817595"/>
            <a:ext cx="308111" cy="194310"/>
          </a:xfrm>
          <a:prstGeom prst="rect">
            <a:avLst/>
          </a:prstGeom>
          <a:noFill/>
        </p:spPr>
        <p:txBody>
          <a:bodyPr wrap="none" lIns="0" tIns="0" r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9876263" y="3807371"/>
            <a:ext cx="134549" cy="195707"/>
          </a:xfrm>
          <a:prstGeom prst="rect">
            <a:avLst/>
          </a:prstGeom>
        </p:spPr>
      </p:pic>
      <p:sp>
        <p:nvSpPr>
          <p:cNvPr id="29" name="TextBox 28"/>
          <p:cNvSpPr txBox="1"/>
          <p:nvPr/>
        </p:nvSpPr>
        <p:spPr>
          <a:xfrm>
            <a:off x="10051373" y="3817595"/>
            <a:ext cx="1278545" cy="194310"/>
          </a:xfrm>
          <a:prstGeom prst="rect">
            <a:avLst/>
          </a:prstGeom>
          <a:noFill/>
        </p:spPr>
        <p:txBody>
          <a:bodyPr wrap="none" lIns="0" tIns="0" rIns="0" bIns="0">
            <a:spAutoFit/>
          </a:bodyPr>
          <a:lstStyle/>
          <a:p>
            <a:r>
              <a:rPr sz="1150" b="0">
                <a:solidFill>
                  <a:srgbClr val="2E2E2E"/>
                </a:solidFill>
                <a:latin typeface="Calibri"/>
              </a:rPr>
              <a:t>US$/MT by 2036 a +</a:t>
            </a:r>
          </a:p>
        </p:txBody>
      </p:sp>
      <p:pic>
        <p:nvPicPr>
          <p:cNvPr id="30" name="Picture 29" descr="lock.png"/>
          <p:cNvPicPr>
            <a:picLocks noChangeAspect="1"/>
          </p:cNvPicPr>
          <p:nvPr/>
        </p:nvPicPr>
        <p:blipFill>
          <a:blip r:embed="rId4"/>
          <a:stretch>
            <a:fillRect/>
          </a:stretch>
        </p:blipFill>
        <p:spPr>
          <a:xfrm>
            <a:off x="11279072" y="3807371"/>
            <a:ext cx="134549" cy="195707"/>
          </a:xfrm>
          <a:prstGeom prst="rect">
            <a:avLst/>
          </a:prstGeom>
        </p:spPr>
      </p:pic>
      <p:sp>
        <p:nvSpPr>
          <p:cNvPr id="31" name="TextBox 30"/>
          <p:cNvSpPr txBox="1"/>
          <p:nvPr/>
        </p:nvSpPr>
        <p:spPr>
          <a:xfrm>
            <a:off x="6334125" y="3992855"/>
            <a:ext cx="446726" cy="194310"/>
          </a:xfrm>
          <a:prstGeom prst="rect">
            <a:avLst/>
          </a:prstGeom>
          <a:noFill/>
        </p:spPr>
        <p:txBody>
          <a:bodyPr wrap="none" lIns="0" tIns="0" rIns="0" bIns="0">
            <a:spAutoFit/>
          </a:bodyPr>
          <a:lstStyle/>
          <a:p>
            <a:r>
              <a:rPr sz="1150" b="0">
                <a:solidFill>
                  <a:srgbClr val="2E2E2E"/>
                </a:solidFill>
                <a:latin typeface="Calibri"/>
              </a:rPr>
              <a:t>CAGR.</a:t>
            </a:r>
          </a:p>
        </p:txBody>
      </p:sp>
      <p:sp>
        <p:nvSpPr>
          <p:cNvPr id="32" name="TextBox 31"/>
          <p:cNvSpPr txBox="1"/>
          <p:nvPr/>
        </p:nvSpPr>
        <p:spPr>
          <a:xfrm>
            <a:off x="6334125" y="4220692"/>
            <a:ext cx="4512754" cy="194310"/>
          </a:xfrm>
          <a:prstGeom prst="rect">
            <a:avLst/>
          </a:prstGeom>
          <a:noFill/>
        </p:spPr>
        <p:txBody>
          <a:bodyPr wrap="none" lIns="0" tIns="0" rIns="0" bIns="0">
            <a:spAutoFit/>
          </a:bodyPr>
          <a:lstStyle/>
          <a:p>
            <a:r>
              <a:rPr sz="1150" b="0">
                <a:solidFill>
                  <a:srgbClr val="2E2E2E"/>
                </a:solidFill>
                <a:latin typeface="Calibri"/>
              </a:rPr>
              <a:t>▪ 'Capsules and Softgels' shows the strongest forecast price appreciation (+</a:t>
            </a:r>
          </a:p>
        </p:txBody>
      </p:sp>
      <p:pic>
        <p:nvPicPr>
          <p:cNvPr id="33" name="Picture 32" descr="lock.png"/>
          <p:cNvPicPr>
            <a:picLocks noChangeAspect="1"/>
          </p:cNvPicPr>
          <p:nvPr/>
        </p:nvPicPr>
        <p:blipFill>
          <a:blip r:embed="rId4"/>
          <a:stretch>
            <a:fillRect/>
          </a:stretch>
        </p:blipFill>
        <p:spPr>
          <a:xfrm>
            <a:off x="10796032" y="4210469"/>
            <a:ext cx="134549" cy="195707"/>
          </a:xfrm>
          <a:prstGeom prst="rect">
            <a:avLst/>
          </a:prstGeom>
        </p:spPr>
      </p:pic>
      <p:sp>
        <p:nvSpPr>
          <p:cNvPr id="34" name="TextBox 33"/>
          <p:cNvSpPr txBox="1"/>
          <p:nvPr/>
        </p:nvSpPr>
        <p:spPr>
          <a:xfrm>
            <a:off x="10971142" y="4220692"/>
            <a:ext cx="651842" cy="194310"/>
          </a:xfrm>
          <a:prstGeom prst="rect">
            <a:avLst/>
          </a:prstGeom>
          <a:noFill/>
        </p:spPr>
        <p:txBody>
          <a:bodyPr wrap="none" lIns="0" tIns="0" rIns="0" bIns="0">
            <a:spAutoFit/>
          </a:bodyPr>
          <a:lstStyle/>
          <a:p>
            <a:r>
              <a:rPr sz="1150" b="0">
                <a:solidFill>
                  <a:srgbClr val="2E2E2E"/>
                </a:solidFill>
                <a:latin typeface="Calibri"/>
              </a:rPr>
              <a:t>) over the</a:t>
            </a:r>
          </a:p>
        </p:txBody>
      </p:sp>
      <p:sp>
        <p:nvSpPr>
          <p:cNvPr id="35" name="TextBox 34"/>
          <p:cNvSpPr txBox="1"/>
          <p:nvPr/>
        </p:nvSpPr>
        <p:spPr>
          <a:xfrm>
            <a:off x="6334125" y="4395952"/>
            <a:ext cx="562843" cy="194310"/>
          </a:xfrm>
          <a:prstGeom prst="rect">
            <a:avLst/>
          </a:prstGeom>
          <a:noFill/>
        </p:spPr>
        <p:txBody>
          <a:bodyPr wrap="none" lIns="0" tIns="0" rIns="0" bIns="0">
            <a:spAutoFit/>
          </a:bodyPr>
          <a:lstStyle/>
          <a:p>
            <a:r>
              <a:rPr sz="1150" b="0">
                <a:solidFill>
                  <a:srgbClr val="2E2E2E"/>
                </a:solidFill>
                <a:latin typeface="Calibri"/>
              </a:rPr>
              <a:t>horizon.</a:t>
            </a:r>
          </a:p>
        </p:txBody>
      </p:sp>
      <p:sp>
        <p:nvSpPr>
          <p:cNvPr id="36" name="TextBox 35"/>
          <p:cNvSpPr txBox="1"/>
          <p:nvPr/>
        </p:nvSpPr>
        <p:spPr>
          <a:xfrm>
            <a:off x="6334125" y="4623790"/>
            <a:ext cx="5242433" cy="194310"/>
          </a:xfrm>
          <a:prstGeom prst="rect">
            <a:avLst/>
          </a:prstGeom>
          <a:noFill/>
        </p:spPr>
        <p:txBody>
          <a:bodyPr wrap="none" lIns="0" tIns="0" rIns="0" bIns="0">
            <a:spAutoFit/>
          </a:bodyPr>
          <a:lstStyle/>
          <a:p>
            <a:r>
              <a:rPr sz="1150" b="0">
                <a:solidFill>
                  <a:srgbClr val="2E2E2E"/>
                </a:solidFill>
                <a:latin typeface="Calibri"/>
              </a:rPr>
              <a:t>▪ Upward pressure is led by input cost and demand &amp; market conditions; efficiency and</a:t>
            </a:r>
          </a:p>
        </p:txBody>
      </p:sp>
      <p:sp>
        <p:nvSpPr>
          <p:cNvPr id="37" name="TextBox 36"/>
          <p:cNvSpPr txBox="1"/>
          <p:nvPr/>
        </p:nvSpPr>
        <p:spPr>
          <a:xfrm>
            <a:off x="6334125" y="4799050"/>
            <a:ext cx="2567037" cy="194310"/>
          </a:xfrm>
          <a:prstGeom prst="rect">
            <a:avLst/>
          </a:prstGeom>
          <a:noFill/>
        </p:spPr>
        <p:txBody>
          <a:bodyPr wrap="none" lIns="0" tIns="0" rIns="0" bIns="0">
            <a:spAutoFit/>
          </a:bodyPr>
          <a:lstStyle/>
          <a:p>
            <a:r>
              <a:rPr sz="1150" b="0">
                <a:solidFill>
                  <a:srgbClr val="2E2E2E"/>
                </a:solidFill>
                <a:latin typeface="Calibri"/>
              </a:rPr>
              <a:t>competitive intensity work the other way.</a:t>
            </a:r>
          </a:p>
        </p:txBody>
      </p:sp>
      <p:sp>
        <p:nvSpPr>
          <p:cNvPr id="38" name="TextBox 37"/>
          <p:cNvSpPr txBox="1"/>
          <p:nvPr/>
        </p:nvSpPr>
        <p:spPr>
          <a:xfrm>
            <a:off x="6334125" y="5026888"/>
            <a:ext cx="5203638" cy="194310"/>
          </a:xfrm>
          <a:prstGeom prst="rect">
            <a:avLst/>
          </a:prstGeom>
          <a:noFill/>
        </p:spPr>
        <p:txBody>
          <a:bodyPr wrap="none" lIns="0" tIns="0" rIns="0" bIns="0">
            <a:spAutoFit/>
          </a:bodyPr>
          <a:lstStyle/>
          <a:p>
            <a:r>
              <a:rPr sz="1150" b="0">
                <a:solidFill>
                  <a:srgbClr val="2E2E2E"/>
                </a:solidFill>
                <a:latin typeface="Calibri"/>
              </a:rPr>
              <a:t>▪ Net outlook: modest, structural price appreciation mix and geography will determine</a:t>
            </a:r>
          </a:p>
        </p:txBody>
      </p:sp>
      <p:sp>
        <p:nvSpPr>
          <p:cNvPr id="39" name="TextBox 38"/>
          <p:cNvSpPr txBox="1"/>
          <p:nvPr/>
        </p:nvSpPr>
        <p:spPr>
          <a:xfrm>
            <a:off x="6334125" y="5202148"/>
            <a:ext cx="1016111" cy="194310"/>
          </a:xfrm>
          <a:prstGeom prst="rect">
            <a:avLst/>
          </a:prstGeom>
          <a:noFill/>
        </p:spPr>
        <p:txBody>
          <a:bodyPr wrap="none" lIns="0" tIns="0" rIns="0" bIns="0">
            <a:spAutoFit/>
          </a:bodyPr>
          <a:lstStyle/>
          <a:p>
            <a:r>
              <a:rPr sz="1150" b="0">
                <a:solidFill>
                  <a:srgbClr val="2E2E2E"/>
                </a:solidFill>
                <a:latin typeface="Calibri"/>
              </a:rPr>
              <a:t>realised pricing.</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Price Forecast &amp; Dynamics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Forecast to 2036 by Form Type (US$/MT)</a:t>
            </a:r>
          </a:p>
        </p:txBody>
      </p:sp>
      <p:graphicFrame>
        <p:nvGraphicFramePr>
          <p:cNvPr id="12" name="Table 11"/>
          <p:cNvGraphicFramePr>
            <a:graphicFrameLocks noGrp="1"/>
          </p:cNvGraphicFramePr>
          <p:nvPr/>
        </p:nvGraphicFramePr>
        <p:xfrm>
          <a:off x="152400" y="1238250"/>
          <a:ext cx="11887199" cy="1485896"/>
        </p:xfrm>
        <a:graphic>
          <a:graphicData uri="http://schemas.openxmlformats.org/drawingml/2006/table">
            <a:tbl>
              <a:tblPr>
                <a:tableStyleId>{5C22544A-7EE6-4342-B048-85BDC9FD1C3A}</a:tableStyleId>
              </a:tblPr>
              <a:tblGrid>
                <a:gridCol w="3352901">
                  <a:extLst>
                    <a:ext uri="{9D8B030D-6E8A-4147-A177-3AD203B41FA5}">
                      <a16:colId xmlns:a16="http://schemas.microsoft.com/office/drawing/2014/main" val="20000"/>
                    </a:ext>
                  </a:extLst>
                </a:gridCol>
                <a:gridCol w="1422383">
                  <a:extLst>
                    <a:ext uri="{9D8B030D-6E8A-4147-A177-3AD203B41FA5}">
                      <a16:colId xmlns:a16="http://schemas.microsoft.com/office/drawing/2014/main" val="20001"/>
                    </a:ext>
                  </a:extLst>
                </a:gridCol>
                <a:gridCol w="1422383">
                  <a:extLst>
                    <a:ext uri="{9D8B030D-6E8A-4147-A177-3AD203B41FA5}">
                      <a16:colId xmlns:a16="http://schemas.microsoft.com/office/drawing/2014/main" val="20002"/>
                    </a:ext>
                  </a:extLst>
                </a:gridCol>
                <a:gridCol w="1422383">
                  <a:extLst>
                    <a:ext uri="{9D8B030D-6E8A-4147-A177-3AD203B41FA5}">
                      <a16:colId xmlns:a16="http://schemas.microsoft.com/office/drawing/2014/main" val="20003"/>
                    </a:ext>
                  </a:extLst>
                </a:gridCol>
                <a:gridCol w="1422383">
                  <a:extLst>
                    <a:ext uri="{9D8B030D-6E8A-4147-A177-3AD203B41FA5}">
                      <a16:colId xmlns:a16="http://schemas.microsoft.com/office/drawing/2014/main" val="20004"/>
                    </a:ext>
                  </a:extLst>
                </a:gridCol>
                <a:gridCol w="1422383">
                  <a:extLst>
                    <a:ext uri="{9D8B030D-6E8A-4147-A177-3AD203B41FA5}">
                      <a16:colId xmlns:a16="http://schemas.microsoft.com/office/drawing/2014/main" val="20005"/>
                    </a:ext>
                  </a:extLst>
                </a:gridCol>
                <a:gridCol w="1422383">
                  <a:extLst>
                    <a:ext uri="{9D8B030D-6E8A-4147-A177-3AD203B41FA5}">
                      <a16:colId xmlns:a16="http://schemas.microsoft.com/office/drawing/2014/main" val="20006"/>
                    </a:ext>
                  </a:extLst>
                </a:gridCol>
              </a:tblGrid>
              <a:tr h="246126">
                <a:tc>
                  <a:txBody>
                    <a:bodyPr/>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ctr"/>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954">
                <a:tc>
                  <a:txBody>
                    <a:bodyPr/>
                    <a:lstStyle/>
                    <a:p>
                      <a:pPr algn="l"/>
                      <a:r>
                        <a:rPr sz="1100" b="1">
                          <a:solidFill>
                            <a:srgbClr val="2E2E2E"/>
                          </a:solidFill>
                          <a:latin typeface="Calibri"/>
                        </a:rPr>
                        <a:t>Tablets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1"/>
                  </a:ext>
                </a:extLst>
              </a:tr>
              <a:tr h="247954">
                <a:tc>
                  <a:txBody>
                    <a:bodyPr/>
                    <a:lstStyle/>
                    <a:p>
                      <a:pPr algn="l"/>
                      <a:r>
                        <a:rPr sz="1100" b="1">
                          <a:solidFill>
                            <a:srgbClr val="2E2E2E"/>
                          </a:solidFill>
                          <a:latin typeface="Calibri"/>
                        </a:rPr>
                        <a:t>Capsules and Softgels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2"/>
                  </a:ext>
                </a:extLst>
              </a:tr>
              <a:tr h="247954">
                <a:tc>
                  <a:txBody>
                    <a:bodyPr/>
                    <a:lstStyle/>
                    <a:p>
                      <a:pPr algn="l"/>
                      <a:r>
                        <a:rPr sz="1100" b="1">
                          <a:solidFill>
                            <a:srgbClr val="2E2E2E"/>
                          </a:solidFill>
                          <a:latin typeface="Calibri"/>
                        </a:rPr>
                        <a:t>Powders and Granules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3"/>
                  </a:ext>
                </a:extLst>
              </a:tr>
              <a:tr h="247954">
                <a:tc>
                  <a:txBody>
                    <a:bodyPr/>
                    <a:lstStyle/>
                    <a:p>
                      <a:pPr algn="l"/>
                      <a:r>
                        <a:rPr sz="1100" b="1">
                          <a:solidFill>
                            <a:srgbClr val="2E2E2E"/>
                          </a:solidFill>
                          <a:latin typeface="Calibri"/>
                        </a:rPr>
                        <a:t>Liquids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extLst>
                  <a:ext uri="{0D108BD9-81ED-4DB2-BD59-A6C34878D82A}">
                    <a16:rowId xmlns:a16="http://schemas.microsoft.com/office/drawing/2014/main" val="10004"/>
                  </a:ext>
                </a:extLst>
              </a:tr>
              <a:tr h="247954">
                <a:tc>
                  <a:txBody>
                    <a:bodyPr/>
                    <a:lstStyle/>
                    <a:p>
                      <a:pPr algn="l"/>
                      <a:r>
                        <a:rPr sz="1100" b="1">
                          <a:solidFill>
                            <a:srgbClr val="2E2E2E"/>
                          </a:solidFill>
                          <a:latin typeface="Calibri"/>
                        </a:rPr>
                        <a:t>Gels and Pastes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219075" y="27336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585760" y="1837563"/>
            <a:ext cx="366712" cy="533400"/>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Competitor Pricing Strategies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Table 11"/>
          <p:cNvGraphicFramePr>
            <a:graphicFrameLocks noGrp="1"/>
          </p:cNvGraphicFramePr>
          <p:nvPr/>
        </p:nvGraphicFramePr>
        <p:xfrm>
          <a:off x="152400" y="1393774"/>
          <a:ext cx="7677151" cy="3619746"/>
        </p:xfrm>
        <a:graphic>
          <a:graphicData uri="http://schemas.openxmlformats.org/drawingml/2006/table">
            <a:tbl>
              <a:tblPr>
                <a:tableStyleId>{5C22544A-7EE6-4342-B048-85BDC9FD1C3A}</a:tableStyleId>
              </a:tblPr>
              <a:tblGrid>
                <a:gridCol w="1890023">
                  <a:extLst>
                    <a:ext uri="{9D8B030D-6E8A-4147-A177-3AD203B41FA5}">
                      <a16:colId xmlns:a16="http://schemas.microsoft.com/office/drawing/2014/main" val="20000"/>
                    </a:ext>
                  </a:extLst>
                </a:gridCol>
                <a:gridCol w="585697">
                  <a:extLst>
                    <a:ext uri="{9D8B030D-6E8A-4147-A177-3AD203B41FA5}">
                      <a16:colId xmlns:a16="http://schemas.microsoft.com/office/drawing/2014/main" val="20001"/>
                    </a:ext>
                  </a:extLst>
                </a:gridCol>
                <a:gridCol w="1231306">
                  <a:extLst>
                    <a:ext uri="{9D8B030D-6E8A-4147-A177-3AD203B41FA5}">
                      <a16:colId xmlns:a16="http://schemas.microsoft.com/office/drawing/2014/main" val="20002"/>
                    </a:ext>
                  </a:extLst>
                </a:gridCol>
                <a:gridCol w="1152653">
                  <a:extLst>
                    <a:ext uri="{9D8B030D-6E8A-4147-A177-3AD203B41FA5}">
                      <a16:colId xmlns:a16="http://schemas.microsoft.com/office/drawing/2014/main" val="20003"/>
                    </a:ext>
                  </a:extLst>
                </a:gridCol>
                <a:gridCol w="2817472">
                  <a:extLst>
                    <a:ext uri="{9D8B030D-6E8A-4147-A177-3AD203B41FA5}">
                      <a16:colId xmlns:a16="http://schemas.microsoft.com/office/drawing/2014/main" val="20004"/>
                    </a:ext>
                  </a:extLst>
                </a:gridCol>
              </a:tblGrid>
              <a:tr h="246126">
                <a:tc>
                  <a:txBody>
                    <a:bodyPr/>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a:lstStyle/>
                    <a:p>
                      <a:pPr algn="l"/>
                      <a:r>
                        <a:rPr sz="1100" b="1">
                          <a:solidFill>
                            <a:srgbClr val="0B2E4A"/>
                          </a:solidFill>
                          <a:latin typeface="Calibri"/>
                        </a:rPr>
                        <a:t>Strategy Focus</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562270">
                <a:tc>
                  <a:txBody>
                    <a:bodyPr/>
                    <a:lstStyle/>
                    <a:p>
                      <a:pPr algn="l"/>
                      <a:r>
                        <a:rPr sz="1100" b="1">
                          <a:solidFill>
                            <a:srgbClr val="2E2E2E"/>
                          </a:solidFill>
                          <a:latin typeface="Calibri"/>
                        </a:rPr>
                        <a:t>Standard Process</a:t>
                      </a:r>
                      <a:endParaRPr sz="1100"/>
                    </a:p>
                  </a:txBody>
                  <a:tcPr marL="47625" marR="38100" marT="19050" marB="19050" anchor="ctr">
                    <a:solidFill>
                      <a:srgbClr val="FFFFFF"/>
                    </a:solidFill>
                  </a:tcPr>
                </a:tc>
                <a:tc>
                  <a:txBody>
                    <a:bodyPr/>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562270">
                <a:tc>
                  <a:txBody>
                    <a:bodyPr/>
                    <a:lstStyle/>
                    <a:p>
                      <a:pPr algn="l"/>
                      <a:r>
                        <a:rPr sz="1100" b="1">
                          <a:solidFill>
                            <a:srgbClr val="2E2E2E"/>
                          </a:solidFill>
                          <a:latin typeface="Calibri"/>
                        </a:rPr>
                        <a:t>VetriScience</a:t>
                      </a:r>
                      <a:endParaRPr sz="1100"/>
                    </a:p>
                  </a:txBody>
                  <a:tcPr marL="47625" marR="38100" marT="19050" marB="19050" anchor="ctr">
                    <a:solidFill>
                      <a:srgbClr val="F5F8FA"/>
                    </a:solidFill>
                  </a:tcPr>
                </a:tc>
                <a:tc>
                  <a:txBody>
                    <a:bodyPr/>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562270">
                <a:tc>
                  <a:txBody>
                    <a:bodyPr/>
                    <a:lstStyle/>
                    <a:p>
                      <a:pPr algn="l"/>
                      <a:r>
                        <a:rPr sz="1100" b="1">
                          <a:solidFill>
                            <a:srgbClr val="2E2E2E"/>
                          </a:solidFill>
                          <a:latin typeface="Calibri"/>
                        </a:rPr>
                        <a:t>Dr. Fossum's</a:t>
                      </a:r>
                      <a:endParaRPr sz="1100"/>
                    </a:p>
                  </a:txBody>
                  <a:tcPr marL="47625" marR="38100" marT="19050" marB="19050" anchor="ctr">
                    <a:solidFill>
                      <a:srgbClr val="FFFFFF"/>
                    </a:solidFill>
                  </a:tcPr>
                </a:tc>
                <a:tc>
                  <a:txBody>
                    <a:bodyPr/>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562270">
                <a:tc>
                  <a:txBody>
                    <a:bodyPr/>
                    <a:lstStyle/>
                    <a:p>
                      <a:pPr algn="l"/>
                      <a:r>
                        <a:rPr sz="1100" b="1">
                          <a:solidFill>
                            <a:srgbClr val="2E2E2E"/>
                          </a:solidFill>
                          <a:latin typeface="Calibri"/>
                        </a:rPr>
                        <a:t>Nestlé Purina PetCare</a:t>
                      </a:r>
                      <a:endParaRPr sz="1100"/>
                    </a:p>
                  </a:txBody>
                  <a:tcPr marL="47625" marR="38100" marT="19050" marB="19050" anchor="ctr">
                    <a:solidFill>
                      <a:srgbClr val="F5F8FA"/>
                    </a:solidFill>
                  </a:tcPr>
                </a:tc>
                <a:tc>
                  <a:txBody>
                    <a:bodyPr/>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562270">
                <a:tc>
                  <a:txBody>
                    <a:bodyPr/>
                    <a:lstStyle/>
                    <a:p>
                      <a:pPr algn="l"/>
                      <a:r>
                        <a:rPr sz="1100" b="1">
                          <a:solidFill>
                            <a:srgbClr val="2E2E2E"/>
                          </a:solidFill>
                          <a:latin typeface="Calibri"/>
                        </a:rPr>
                        <a:t>PetHeal</a:t>
                      </a:r>
                      <a:endParaRPr sz="1100"/>
                    </a:p>
                  </a:txBody>
                  <a:tcPr marL="47625" marR="38100" marT="19050" marB="19050" anchor="ctr">
                    <a:solidFill>
                      <a:srgbClr val="FFFFFF"/>
                    </a:solidFill>
                  </a:tcPr>
                </a:tc>
                <a:tc>
                  <a:txBody>
                    <a:bodyPr/>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562270">
                <a:tc>
                  <a:txBody>
                    <a:bodyPr/>
                    <a:lstStyle/>
                    <a:p>
                      <a:pPr algn="l"/>
                      <a:r>
                        <a:rPr sz="1100" b="1">
                          <a:solidFill>
                            <a:srgbClr val="2E2E2E"/>
                          </a:solidFill>
                          <a:latin typeface="Calibri"/>
                        </a:rPr>
                        <a:t>Senior Dogs Club</a:t>
                      </a:r>
                      <a:endParaRPr sz="1100"/>
                    </a:p>
                  </a:txBody>
                  <a:tcPr marL="47625" marR="38100" marT="19050" marB="19050" anchor="ctr">
                    <a:solidFill>
                      <a:srgbClr val="F5F8FA"/>
                    </a:solidFill>
                  </a:tcPr>
                </a:tc>
                <a:tc>
                  <a:txBody>
                    <a:bodyPr/>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219075" y="5023044"/>
            <a:ext cx="754380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8625" y="1403299"/>
            <a:ext cx="3867150" cy="209550"/>
          </a:xfrm>
          <a:prstGeom prst="rect">
            <a:avLst/>
          </a:prstGeom>
          <a:noFill/>
        </p:spPr>
        <p:txBody>
          <a:bodyPr wrap="square" lIns="0" tIns="9525" rIns="19050"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8625" y="1727149"/>
            <a:ext cx="3867150" cy="4753036"/>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267731" y="3086680"/>
            <a:ext cx="330041" cy="480060"/>
          </a:xfrm>
          <a:prstGeom prst="rect">
            <a:avLst/>
          </a:prstGeom>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698875"/>
            <a:ext cx="7239000" cy="514350"/>
          </a:xfrm>
          <a:prstGeom prst="rect">
            <a:avLst/>
          </a:prstGeom>
          <a:noFill/>
        </p:spPr>
        <p:txBody>
          <a:bodyPr wrap="square" lIns="0" tIns="0" r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Supply Chain Analysis</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Value Chain &amp; Stakeholder Mapping</a:t>
            </a:r>
          </a:p>
          <a:p>
            <a:pPr marL="342900" indent="-323850">
              <a:lnSpc>
                <a:spcPct val="100000"/>
              </a:lnSpc>
              <a:spcAft>
                <a:spcPts val="800"/>
              </a:spcAft>
            </a:pPr>
            <a:r>
              <a:rPr sz="2000" b="0">
                <a:solidFill>
                  <a:srgbClr val="000000"/>
                </a:solidFill>
                <a:latin typeface="Calibri"/>
              </a:rPr>
              <a:t>➤	Operating Margin Analysis</a:t>
            </a:r>
          </a:p>
          <a:p>
            <a:pPr marL="342900" indent="-323850">
              <a:lnSpc>
                <a:spcPct val="100000"/>
              </a:lnSpc>
              <a:spcAft>
                <a:spcPts val="800"/>
              </a:spcAft>
            </a:pPr>
            <a:r>
              <a:rPr sz="2000" b="0">
                <a:solidFill>
                  <a:srgbClr val="000000"/>
                </a:solidFill>
                <a:latin typeface="Calibri"/>
              </a:rPr>
              <a:t>➤	Buyers Assessment</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tIns="0" rIns="1905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9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2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828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114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400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686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14350" y="5397275"/>
            <a:ext cx="11163300" cy="200791"/>
          </a:xfrm>
          <a:prstGeom prst="rect">
            <a:avLst/>
          </a:prstGeom>
          <a:noFill/>
        </p:spPr>
        <p:txBody>
          <a:bodyPr wrap="square" lIns="0" tIns="9525" rIns="19050"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14350" y="5707588"/>
            <a:ext cx="11163300" cy="739275"/>
          </a:xfrm>
          <a:prstGeom prst="rect">
            <a:avLst/>
          </a:prstGeom>
          <a:noFill/>
        </p:spPr>
        <p:txBody>
          <a:bodyPr wrap="square" lIns="0" tIns="9525" rIns="19050" bIns="9525">
            <a:spAutoFit/>
          </a:bodyPr>
          <a:lstStyle/>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a:p>
            <a:pPr algn="l">
              <a:lnSpc>
                <a:spcPct val="100000"/>
              </a:lnSpc>
              <a:spcBef>
                <a:spcPts val="0"/>
              </a:spcBef>
              <a:spcAft>
                <a:spcPts val="300"/>
              </a:spcAft>
            </a:pPr>
            <a:endParaRPr/>
          </a:p>
        </p:txBody>
      </p:sp>
      <p:sp>
        <p:nvSpPr>
          <p:cNvPr id="80" name="TextBox 7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7147421" cy="153161"/>
          </a:xfrm>
          <a:prstGeom prst="rect">
            <a:avLst/>
          </a:prstGeom>
          <a:noFill/>
        </p:spPr>
        <p:txBody>
          <a:bodyPr wrap="none" lIns="0" tIns="0" rIns="0" bIns="0">
            <a:spAutoFit/>
          </a:bodyPr>
          <a:lstStyle/>
          <a:p>
            <a:r>
              <a:rPr sz="879" b="0">
                <a:solidFill>
                  <a:srgbClr val="2E2E2E"/>
                </a:solidFill>
                <a:latin typeface="Calibri"/>
              </a:rPr>
              <a:t>▪ The Senior Dog Cognitive Supplement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tIns="0" r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tIns="0" r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tIns="0" r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tIns="0" r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Senior Dog Cognitive Supplement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extLst>
                    <a:ext uri="{9D8B030D-6E8A-4147-A177-3AD203B41FA5}">
                      <a16:colId xmlns:a16="http://schemas.microsoft.com/office/drawing/2014/main" val="20000"/>
                    </a:ext>
                  </a:extLst>
                </a:gridCol>
                <a:gridCol w="2669700">
                  <a:extLst>
                    <a:ext uri="{9D8B030D-6E8A-4147-A177-3AD203B41FA5}">
                      <a16:colId xmlns:a16="http://schemas.microsoft.com/office/drawing/2014/main" val="20001"/>
                    </a:ext>
                  </a:extLst>
                </a:gridCol>
                <a:gridCol w="2669700">
                  <a:extLst>
                    <a:ext uri="{9D8B030D-6E8A-4147-A177-3AD203B41FA5}">
                      <a16:colId xmlns:a16="http://schemas.microsoft.com/office/drawing/2014/main" val="20002"/>
                    </a:ext>
                  </a:extLst>
                </a:gridCol>
                <a:gridCol w="2669700">
                  <a:extLst>
                    <a:ext uri="{9D8B030D-6E8A-4147-A177-3AD203B41FA5}">
                      <a16:colId xmlns:a16="http://schemas.microsoft.com/office/drawing/2014/main" val="20003"/>
                    </a:ext>
                  </a:extLst>
                </a:gridCol>
                <a:gridCol w="2669700">
                  <a:extLst>
                    <a:ext uri="{9D8B030D-6E8A-4147-A177-3AD203B41FA5}">
                      <a16:colId xmlns:a16="http://schemas.microsoft.com/office/drawing/2014/main" val="20004"/>
                    </a:ext>
                  </a:extLst>
                </a:gridCol>
              </a:tblGrid>
              <a:tr h="246126">
                <a:tc>
                  <a:txBody>
                    <a:bodyPr/>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a:lstStyle/>
                    <a:p>
                      <a:pPr algn="l"/>
                      <a:r>
                        <a:rPr sz="1100" b="1">
                          <a:solidFill>
                            <a:srgbClr val="0B2E4A"/>
                          </a:solidFill>
                          <a:latin typeface="Calibri"/>
                        </a:rPr>
                        <a:t>Notes</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190">
                <a:tc>
                  <a:txBody>
                    <a:bodyPr/>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Commodity-linked</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46190">
                <a:tc>
                  <a:txBody>
                    <a:bodyPr/>
                    <a:lstStyle/>
                    <a:p>
                      <a:pPr algn="l"/>
                      <a:endParaRPr sz="1100"/>
                    </a:p>
                  </a:txBody>
                  <a:tcPr marL="47625" marR="38100" marT="19050" marB="19050" anchor="ctr">
                    <a:solidFill>
                      <a:srgbClr val="F5F8FA"/>
                    </a:solidFill>
                  </a:tcPr>
                </a:tc>
                <a:tc>
                  <a:txBody>
                    <a:bodyPr/>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46190">
                <a:tc>
                  <a:txBody>
                    <a:bodyPr/>
                    <a:lstStyle/>
                    <a:p>
                      <a:pPr algn="l"/>
                      <a:endParaRPr sz="1100"/>
                    </a:p>
                  </a:txBody>
                  <a:tcPr marL="47625" marR="38100" marT="19050" marB="19050" anchor="ctr">
                    <a:solidFill>
                      <a:srgbClr val="FFFFFF"/>
                    </a:solidFill>
                  </a:tcPr>
                </a:tc>
                <a:tc>
                  <a:txBody>
                    <a:bodyPr/>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Volume-led, thin</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46190">
                <a:tc>
                  <a:txBody>
                    <a:bodyPr/>
                    <a:lstStyle/>
                    <a:p>
                      <a:pPr algn="l"/>
                      <a:endParaRPr sz="1100"/>
                    </a:p>
                  </a:txBody>
                  <a:tcPr marL="47625" marR="38100" marT="19050" marB="19050" anchor="ctr">
                    <a:solidFill>
                      <a:srgbClr val="F5F8FA"/>
                    </a:solidFill>
                  </a:tcPr>
                </a:tc>
                <a:tc>
                  <a:txBody>
                    <a:bodyPr/>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46190">
                <a:tc>
                  <a:txBody>
                    <a:bodyPr/>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Commodity-linked</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46190">
                <a:tc>
                  <a:txBody>
                    <a:bodyPr/>
                    <a:lstStyle/>
                    <a:p>
                      <a:pPr algn="l"/>
                      <a:endParaRPr sz="1100"/>
                    </a:p>
                  </a:txBody>
                  <a:tcPr marL="47625" marR="38100" marT="19050" marB="19050" anchor="ctr">
                    <a:solidFill>
                      <a:srgbClr val="F5F8FA"/>
                    </a:solidFill>
                  </a:tcPr>
                </a:tc>
                <a:tc>
                  <a:txBody>
                    <a:bodyPr/>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46190">
                <a:tc>
                  <a:txBody>
                    <a:bodyPr/>
                    <a:lstStyle/>
                    <a:p>
                      <a:pPr algn="l"/>
                      <a:endParaRPr sz="1100"/>
                    </a:p>
                  </a:txBody>
                  <a:tcPr marL="47625" marR="38100" marT="19050" marB="19050" anchor="ctr">
                    <a:solidFill>
                      <a:srgbClr val="FFFFFF"/>
                    </a:solidFill>
                  </a:tcPr>
                </a:tc>
                <a:tc>
                  <a:txBody>
                    <a:bodyPr/>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Volume-led, thin</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46190">
                <a:tc>
                  <a:txBody>
                    <a:bodyPr/>
                    <a:lstStyle/>
                    <a:p>
                      <a:pPr algn="l"/>
                      <a:endParaRPr sz="1100"/>
                    </a:p>
                  </a:txBody>
                  <a:tcPr marL="47625" marR="38100" marT="19050" marB="19050" anchor="ctr">
                    <a:solidFill>
                      <a:srgbClr val="F5F8FA"/>
                    </a:solidFill>
                  </a:tcPr>
                </a:tc>
                <a:tc>
                  <a:txBody>
                    <a:bodyPr/>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extLst>
                  <a:ext uri="{0D108BD9-81ED-4DB2-BD59-A6C34878D82A}">
                    <a16:rowId xmlns:a16="http://schemas.microsoft.com/office/drawing/2014/main" val="10008"/>
                  </a:ext>
                </a:extLst>
              </a:tr>
              <a:tr h="246190">
                <a:tc>
                  <a:txBody>
                    <a:bodyPr/>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Commodity-linked</a:t>
                      </a:r>
                      <a:endParaRPr sz="1100"/>
                    </a:p>
                  </a:txBody>
                  <a:tcPr marL="47625" marR="38100" marT="19050" marB="19050" anchor="ctr">
                    <a:solidFill>
                      <a:srgbClr val="FFFFFF"/>
                    </a:solidFill>
                  </a:tcPr>
                </a:tc>
                <a:extLst>
                  <a:ext uri="{0D108BD9-81ED-4DB2-BD59-A6C34878D82A}">
                    <a16:rowId xmlns:a16="http://schemas.microsoft.com/office/drawing/2014/main" val="10009"/>
                  </a:ext>
                </a:extLst>
              </a:tr>
              <a:tr h="246190">
                <a:tc>
                  <a:txBody>
                    <a:bodyPr/>
                    <a:lstStyle/>
                    <a:p>
                      <a:pPr algn="l"/>
                      <a:endParaRPr sz="1100"/>
                    </a:p>
                  </a:txBody>
                  <a:tcPr marL="47625" marR="38100" marT="19050" marB="19050" anchor="ctr">
                    <a:solidFill>
                      <a:srgbClr val="F5F8FA"/>
                    </a:solidFill>
                  </a:tcPr>
                </a:tc>
                <a:tc>
                  <a:txBody>
                    <a:bodyPr/>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extLst>
                  <a:ext uri="{0D108BD9-81ED-4DB2-BD59-A6C34878D82A}">
                    <a16:rowId xmlns:a16="http://schemas.microsoft.com/office/drawing/2014/main" val="10010"/>
                  </a:ext>
                </a:extLst>
              </a:tr>
              <a:tr h="246190">
                <a:tc>
                  <a:txBody>
                    <a:bodyPr/>
                    <a:lstStyle/>
                    <a:p>
                      <a:pPr algn="l"/>
                      <a:endParaRPr sz="1100"/>
                    </a:p>
                  </a:txBody>
                  <a:tcPr marL="47625" marR="38100" marT="19050" marB="19050" anchor="ctr">
                    <a:solidFill>
                      <a:srgbClr val="FFFFFF"/>
                    </a:solidFill>
                  </a:tcPr>
                </a:tc>
                <a:tc>
                  <a:txBody>
                    <a:bodyPr/>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Volume-led, thin</a:t>
                      </a:r>
                      <a:endParaRPr sz="1100"/>
                    </a:p>
                  </a:txBody>
                  <a:tcPr marL="47625" marR="38100" marT="19050" marB="19050" anchor="ctr">
                    <a:solidFill>
                      <a:srgbClr val="FFFFFF"/>
                    </a:solidFill>
                  </a:tcPr>
                </a:tc>
                <a:extLst>
                  <a:ext uri="{0D108BD9-81ED-4DB2-BD59-A6C34878D82A}">
                    <a16:rowId xmlns:a16="http://schemas.microsoft.com/office/drawing/2014/main" val="10011"/>
                  </a:ext>
                </a:extLst>
              </a:tr>
              <a:tr h="246190">
                <a:tc>
                  <a:txBody>
                    <a:bodyPr/>
                    <a:lstStyle/>
                    <a:p>
                      <a:pPr algn="l"/>
                      <a:endParaRPr sz="1100"/>
                    </a:p>
                  </a:txBody>
                  <a:tcPr marL="47625" marR="38100" marT="19050" marB="19050" anchor="ctr">
                    <a:solidFill>
                      <a:srgbClr val="F5F8FA"/>
                    </a:solidFill>
                  </a:tcPr>
                </a:tc>
                <a:tc>
                  <a:txBody>
                    <a:bodyPr/>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extLst>
                  <a:ext uri="{0D108BD9-81ED-4DB2-BD59-A6C34878D82A}">
                    <a16:rowId xmlns:a16="http://schemas.microsoft.com/office/drawing/2014/main" val="10012"/>
                  </a:ext>
                </a:extLst>
              </a:tr>
            </a:tbl>
          </a:graphicData>
        </a:graphic>
      </p:graphicFrame>
      <p:sp>
        <p:nvSpPr>
          <p:cNvPr id="13" name="TextBox 12"/>
          <p:cNvSpPr txBox="1"/>
          <p:nvPr/>
        </p:nvSpPr>
        <p:spPr>
          <a:xfrm>
            <a:off x="219075" y="44481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867275"/>
            <a:ext cx="11639550" cy="209550"/>
          </a:xfrm>
          <a:prstGeom prst="rect">
            <a:avLst/>
          </a:prstGeom>
          <a:noFill/>
        </p:spPr>
        <p:txBody>
          <a:bodyPr wrap="square" lIns="0" tIns="9525" rIns="19050"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5191125"/>
            <a:ext cx="11639550" cy="136207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Buyers Assessment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Senior Dog Cognitive Supplement Market Buyers / End-User Assessment</a:t>
            </a:r>
          </a:p>
        </p:txBody>
      </p:sp>
      <p:graphicFrame>
        <p:nvGraphicFramePr>
          <p:cNvPr id="12" name="Table 11"/>
          <p:cNvGraphicFramePr>
            <a:graphicFrameLocks noGrp="1"/>
          </p:cNvGraphicFramePr>
          <p:nvPr/>
        </p:nvGraphicFramePr>
        <p:xfrm>
          <a:off x="152400" y="1238250"/>
          <a:ext cx="11887200" cy="2714626"/>
        </p:xfrm>
        <a:graphic>
          <a:graphicData uri="http://schemas.openxmlformats.org/drawingml/2006/table">
            <a:tbl>
              <a:tblPr>
                <a:tableStyleId>{5C22544A-7EE6-4342-B048-85BDC9FD1C3A}</a:tableStyleId>
              </a:tblPr>
              <a:tblGrid>
                <a:gridCol w="1546704">
                  <a:extLst>
                    <a:ext uri="{9D8B030D-6E8A-4147-A177-3AD203B41FA5}">
                      <a16:colId xmlns:a16="http://schemas.microsoft.com/office/drawing/2014/main" val="20000"/>
                    </a:ext>
                  </a:extLst>
                </a:gridCol>
                <a:gridCol w="1055706">
                  <a:extLst>
                    <a:ext uri="{9D8B030D-6E8A-4147-A177-3AD203B41FA5}">
                      <a16:colId xmlns:a16="http://schemas.microsoft.com/office/drawing/2014/main" val="20001"/>
                    </a:ext>
                  </a:extLst>
                </a:gridCol>
                <a:gridCol w="1058597">
                  <a:extLst>
                    <a:ext uri="{9D8B030D-6E8A-4147-A177-3AD203B41FA5}">
                      <a16:colId xmlns:a16="http://schemas.microsoft.com/office/drawing/2014/main" val="20002"/>
                    </a:ext>
                  </a:extLst>
                </a:gridCol>
                <a:gridCol w="1122963">
                  <a:extLst>
                    <a:ext uri="{9D8B030D-6E8A-4147-A177-3AD203B41FA5}">
                      <a16:colId xmlns:a16="http://schemas.microsoft.com/office/drawing/2014/main" val="20003"/>
                    </a:ext>
                  </a:extLst>
                </a:gridCol>
                <a:gridCol w="1594978">
                  <a:extLst>
                    <a:ext uri="{9D8B030D-6E8A-4147-A177-3AD203B41FA5}">
                      <a16:colId xmlns:a16="http://schemas.microsoft.com/office/drawing/2014/main" val="20004"/>
                    </a:ext>
                  </a:extLst>
                </a:gridCol>
                <a:gridCol w="1273150">
                  <a:extLst>
                    <a:ext uri="{9D8B030D-6E8A-4147-A177-3AD203B41FA5}">
                      <a16:colId xmlns:a16="http://schemas.microsoft.com/office/drawing/2014/main" val="20005"/>
                    </a:ext>
                  </a:extLst>
                </a:gridCol>
                <a:gridCol w="1396475">
                  <a:extLst>
                    <a:ext uri="{9D8B030D-6E8A-4147-A177-3AD203B41FA5}">
                      <a16:colId xmlns:a16="http://schemas.microsoft.com/office/drawing/2014/main" val="20006"/>
                    </a:ext>
                  </a:extLst>
                </a:gridCol>
                <a:gridCol w="1342879">
                  <a:extLst>
                    <a:ext uri="{9D8B030D-6E8A-4147-A177-3AD203B41FA5}">
                      <a16:colId xmlns:a16="http://schemas.microsoft.com/office/drawing/2014/main" val="20007"/>
                    </a:ext>
                  </a:extLst>
                </a:gridCol>
                <a:gridCol w="1495748">
                  <a:extLst>
                    <a:ext uri="{9D8B030D-6E8A-4147-A177-3AD203B41FA5}">
                      <a16:colId xmlns:a16="http://schemas.microsoft.com/office/drawing/2014/main" val="20008"/>
                    </a:ext>
                  </a:extLst>
                </a:gridCol>
              </a:tblGrid>
              <a:tr h="246126">
                <a:tc>
                  <a:txBody>
                    <a:bodyPr/>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a:lstStyle/>
                    <a:p>
                      <a:pPr algn="ctr"/>
                      <a:r>
                        <a:rPr sz="1100" b="1">
                          <a:solidFill>
                            <a:srgbClr val="0B2E4A"/>
                          </a:solidFill>
                          <a:latin typeface="Calibri"/>
                        </a:rPr>
                        <a:t>Avg Price (US$/MT)</a:t>
                      </a:r>
                      <a:endParaRPr sz="1100"/>
                    </a:p>
                  </a:txBody>
                  <a:tcPr marL="47625" marR="38100" marT="19050" marB="19050" anchor="ctr">
                    <a:solidFill>
                      <a:srgbClr val="E0E8EF"/>
                    </a:solidFill>
                  </a:tcPr>
                </a:tc>
                <a:tc>
                  <a:txBody>
                    <a:bodyPr/>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a:lstStyle/>
                    <a:p>
                      <a:pPr algn="l"/>
                      <a:r>
                        <a:rPr sz="1100" b="1">
                          <a:solidFill>
                            <a:srgbClr val="0B2E4A"/>
                          </a:solidFill>
                          <a:latin typeface="Calibri"/>
                        </a:rPr>
                        <a:t>Key Selection Factor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6850">
                <a:tc>
                  <a:txBody>
                    <a:bodyPr/>
                    <a:lstStyle/>
                    <a:p>
                      <a:pPr algn="l"/>
                      <a:r>
                        <a:rPr sz="1100" b="1">
                          <a:solidFill>
                            <a:srgbClr val="2E2E2E"/>
                          </a:solidFill>
                          <a:latin typeface="Calibri"/>
                        </a:rPr>
                        <a:t>Standard Process</a:t>
                      </a:r>
                      <a:endParaRPr sz="1100"/>
                    </a:p>
                  </a:txBody>
                  <a:tcPr marL="47625" marR="38100" marT="19050" marB="19050" anchor="ctr">
                    <a:solidFill>
                      <a:srgbClr val="FFFFFF"/>
                    </a:solidFill>
                  </a:tcPr>
                </a:tc>
                <a:tc>
                  <a:txBody>
                    <a:bodyPr/>
                    <a:lstStyle/>
                    <a:p>
                      <a:pPr algn="l"/>
                      <a:r>
                        <a:rPr sz="1100" b="0">
                          <a:solidFill>
                            <a:srgbClr val="2E2E2E"/>
                          </a:solidFill>
                          <a:latin typeface="Calibri"/>
                        </a:rPr>
                        <a:t>U.S.</a:t>
                      </a:r>
                      <a:endParaRPr sz="1100"/>
                    </a:p>
                  </a:txBody>
                  <a:tcPr marL="47625" marR="38100" marT="19050" marB="19050" anchor="ctr">
                    <a:solidFill>
                      <a:srgbClr val="FFFFFF"/>
                    </a:solidFill>
                  </a:tcPr>
                </a:tc>
                <a:tc>
                  <a:txBody>
                    <a:bodyPr/>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Price &amp; reliability</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46850">
                <a:tc>
                  <a:txBody>
                    <a:bodyPr/>
                    <a:lstStyle/>
                    <a:p>
                      <a:pPr algn="l"/>
                      <a:r>
                        <a:rPr sz="1100" b="1">
                          <a:solidFill>
                            <a:srgbClr val="2E2E2E"/>
                          </a:solidFill>
                          <a:latin typeface="Calibri"/>
                        </a:rPr>
                        <a:t>VetriScience</a:t>
                      </a:r>
                      <a:endParaRPr sz="1100"/>
                    </a:p>
                  </a:txBody>
                  <a:tcPr marL="47625" marR="38100" marT="19050" marB="19050" anchor="ctr">
                    <a:solidFill>
                      <a:srgbClr val="F5F8FA"/>
                    </a:solidFill>
                  </a:tcPr>
                </a:tc>
                <a:tc>
                  <a:txBody>
                    <a:bodyPr/>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46850">
                <a:tc>
                  <a:txBody>
                    <a:bodyPr/>
                    <a:lstStyle/>
                    <a:p>
                      <a:pPr algn="l"/>
                      <a:r>
                        <a:rPr sz="1100" b="1">
                          <a:solidFill>
                            <a:srgbClr val="2E2E2E"/>
                          </a:solidFill>
                          <a:latin typeface="Calibri"/>
                        </a:rPr>
                        <a:t>Dr. Fossum's</a:t>
                      </a:r>
                      <a:endParaRPr sz="1100"/>
                    </a:p>
                  </a:txBody>
                  <a:tcPr marL="47625" marR="38100" marT="19050" marB="19050" anchor="ctr">
                    <a:solidFill>
                      <a:srgbClr val="FFFFFF"/>
                    </a:solidFill>
                  </a:tcPr>
                </a:tc>
                <a:tc>
                  <a:txBody>
                    <a:bodyPr/>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Lead time &amp; service</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46850">
                <a:tc>
                  <a:txBody>
                    <a:bodyPr/>
                    <a:lstStyle/>
                    <a:p>
                      <a:pPr algn="l"/>
                      <a:r>
                        <a:rPr sz="1100" b="1">
                          <a:solidFill>
                            <a:srgbClr val="2E2E2E"/>
                          </a:solidFill>
                          <a:latin typeface="Calibri"/>
                        </a:rPr>
                        <a:t>Nestlé Purina PetCare</a:t>
                      </a:r>
                      <a:endParaRPr sz="1100"/>
                    </a:p>
                  </a:txBody>
                  <a:tcPr marL="47625" marR="38100" marT="19050" marB="19050" anchor="ctr">
                    <a:solidFill>
                      <a:srgbClr val="F5F8FA"/>
                    </a:solidFill>
                  </a:tcPr>
                </a:tc>
                <a:tc>
                  <a:txBody>
                    <a:bodyPr/>
                    <a:lstStyle/>
                    <a:p>
                      <a:pPr algn="l"/>
                      <a:r>
                        <a:rPr sz="1100" b="0">
                          <a:solidFill>
                            <a:srgbClr val="2E2E2E"/>
                          </a:solidFill>
                          <a:latin typeface="Calibri"/>
                        </a:rPr>
                        <a:t>Mexico</a:t>
                      </a:r>
                      <a:endParaRPr sz="1100"/>
                    </a:p>
                  </a:txBody>
                  <a:tcPr marL="47625" marR="38100" marT="19050" marB="19050" anchor="ctr">
                    <a:solidFill>
                      <a:srgbClr val="F5F8FA"/>
                    </a:solidFill>
                  </a:tcPr>
                </a:tc>
                <a:tc>
                  <a:txBody>
                    <a:bodyPr/>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Capacity &amp; scale</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46850">
                <a:tc>
                  <a:txBody>
                    <a:bodyPr/>
                    <a:lstStyle/>
                    <a:p>
                      <a:pPr algn="l"/>
                      <a:r>
                        <a:rPr sz="1100" b="1">
                          <a:solidFill>
                            <a:srgbClr val="2E2E2E"/>
                          </a:solidFill>
                          <a:latin typeface="Calibri"/>
                        </a:rPr>
                        <a:t>PetHeal</a:t>
                      </a:r>
                      <a:endParaRPr sz="1100"/>
                    </a:p>
                  </a:txBody>
                  <a:tcPr marL="47625" marR="38100" marT="19050" marB="19050" anchor="ctr">
                    <a:solidFill>
                      <a:srgbClr val="FFFFFF"/>
                    </a:solidFill>
                  </a:tcPr>
                </a:tc>
                <a:tc>
                  <a:txBody>
                    <a:bodyPr/>
                    <a:lstStyle/>
                    <a:p>
                      <a:pPr algn="l"/>
                      <a:r>
                        <a:rPr sz="1100" b="0">
                          <a:solidFill>
                            <a:srgbClr val="2E2E2E"/>
                          </a:solidFill>
                          <a:latin typeface="Calibri"/>
                        </a:rPr>
                        <a:t>Rest of LATAM</a:t>
                      </a:r>
                      <a:endParaRPr sz="1100"/>
                    </a:p>
                  </a:txBody>
                  <a:tcPr marL="47625" marR="38100" marT="19050" marB="19050" anchor="ctr">
                    <a:solidFill>
                      <a:srgbClr val="FFFFFF"/>
                    </a:solidFill>
                  </a:tcPr>
                </a:tc>
                <a:tc>
                  <a:txBody>
                    <a:bodyPr/>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Brand &amp; support</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46850">
                <a:tc>
                  <a:txBody>
                    <a:bodyPr/>
                    <a:lstStyle/>
                    <a:p>
                      <a:pPr algn="l"/>
                      <a:r>
                        <a:rPr sz="1100" b="1">
                          <a:solidFill>
                            <a:srgbClr val="2E2E2E"/>
                          </a:solidFill>
                          <a:latin typeface="Calibri"/>
                        </a:rPr>
                        <a:t>Senior Dogs Club</a:t>
                      </a:r>
                      <a:endParaRPr sz="1100"/>
                    </a:p>
                  </a:txBody>
                  <a:tcPr marL="47625" marR="38100" marT="19050" marB="19050" anchor="ctr">
                    <a:solidFill>
                      <a:srgbClr val="F5F8FA"/>
                    </a:solidFill>
                  </a:tcPr>
                </a:tc>
                <a:tc>
                  <a:txBody>
                    <a:bodyPr/>
                    <a:lstStyle/>
                    <a:p>
                      <a:pPr algn="l"/>
                      <a:r>
                        <a:rPr sz="1100" b="0">
                          <a:solidFill>
                            <a:srgbClr val="2E2E2E"/>
                          </a:solidFill>
                          <a:latin typeface="Calibri"/>
                        </a:rPr>
                        <a:t>Germany</a:t>
                      </a:r>
                      <a:endParaRPr sz="1100"/>
                    </a:p>
                  </a:txBody>
                  <a:tcPr marL="47625" marR="38100" marT="19050" marB="19050" anchor="ctr">
                    <a:solidFill>
                      <a:srgbClr val="F5F8FA"/>
                    </a:solidFill>
                  </a:tcPr>
                </a:tc>
                <a:tc>
                  <a:txBody>
                    <a:bodyPr/>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Price &amp; reliability</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46850">
                <a:tc>
                  <a:txBody>
                    <a:bodyPr/>
                    <a:lstStyle/>
                    <a:p>
                      <a:pPr algn="l"/>
                      <a:r>
                        <a:rPr sz="1100" b="1">
                          <a:solidFill>
                            <a:srgbClr val="2E2E2E"/>
                          </a:solidFill>
                          <a:latin typeface="Calibri"/>
                        </a:rPr>
                        <a:t>VISYO Corporation</a:t>
                      </a:r>
                      <a:endParaRPr sz="1100"/>
                    </a:p>
                  </a:txBody>
                  <a:tcPr marL="47625" marR="38100" marT="19050" marB="19050" anchor="ctr">
                    <a:solidFill>
                      <a:srgbClr val="FFFFFF"/>
                    </a:solidFill>
                  </a:tcPr>
                </a:tc>
                <a:tc>
                  <a:txBody>
                    <a:bodyPr/>
                    <a:lstStyle/>
                    <a:p>
                      <a:pPr algn="l"/>
                      <a:r>
                        <a:rPr sz="1100" b="0">
                          <a:solidFill>
                            <a:srgbClr val="2E2E2E"/>
                          </a:solidFill>
                          <a:latin typeface="Calibri"/>
                        </a:rPr>
                        <a:t>U.K.</a:t>
                      </a:r>
                      <a:endParaRPr sz="1100"/>
                    </a:p>
                  </a:txBody>
                  <a:tcPr marL="47625" marR="38100" marT="19050" marB="19050" anchor="ctr">
                    <a:solidFill>
                      <a:srgbClr val="FFFFFF"/>
                    </a:solidFill>
                  </a:tcPr>
                </a:tc>
                <a:tc>
                  <a:txBody>
                    <a:bodyPr/>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46850">
                <a:tc>
                  <a:txBody>
                    <a:bodyPr/>
                    <a:lstStyle/>
                    <a:p>
                      <a:pPr algn="l"/>
                      <a:r>
                        <a:rPr sz="1100" b="1">
                          <a:solidFill>
                            <a:srgbClr val="2E2E2E"/>
                          </a:solidFill>
                          <a:latin typeface="Calibri"/>
                        </a:rPr>
                        <a:t>NaturVet</a:t>
                      </a:r>
                      <a:endParaRPr sz="1100"/>
                    </a:p>
                  </a:txBody>
                  <a:tcPr marL="47625" marR="38100" marT="19050" marB="19050" anchor="ctr">
                    <a:solidFill>
                      <a:srgbClr val="F5F8FA"/>
                    </a:solidFill>
                  </a:tcPr>
                </a:tc>
                <a:tc>
                  <a:txBody>
                    <a:bodyPr/>
                    <a:lstStyle/>
                    <a:p>
                      <a:pPr algn="l"/>
                      <a:r>
                        <a:rPr sz="1100" b="0">
                          <a:solidFill>
                            <a:srgbClr val="2E2E2E"/>
                          </a:solidFill>
                          <a:latin typeface="Calibri"/>
                        </a:rPr>
                        <a:t>France</a:t>
                      </a:r>
                      <a:endParaRPr sz="1100"/>
                    </a:p>
                  </a:txBody>
                  <a:tcPr marL="47625" marR="38100" marT="19050" marB="19050" anchor="ctr">
                    <a:solidFill>
                      <a:srgbClr val="F5F8FA"/>
                    </a:solidFill>
                  </a:tcPr>
                </a:tc>
                <a:tc>
                  <a:txBody>
                    <a:bodyPr/>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Lead time &amp; service</a:t>
                      </a:r>
                      <a:endParaRPr sz="1100"/>
                    </a:p>
                  </a:txBody>
                  <a:tcPr marL="47625" marR="38100" marT="19050" marB="19050" anchor="ctr">
                    <a:solidFill>
                      <a:srgbClr val="F5F8FA"/>
                    </a:solidFill>
                  </a:tcPr>
                </a:tc>
                <a:extLst>
                  <a:ext uri="{0D108BD9-81ED-4DB2-BD59-A6C34878D82A}">
                    <a16:rowId xmlns:a16="http://schemas.microsoft.com/office/drawing/2014/main" val="10008"/>
                  </a:ext>
                </a:extLst>
              </a:tr>
              <a:tr h="246850">
                <a:tc>
                  <a:txBody>
                    <a:bodyPr/>
                    <a:lstStyle/>
                    <a:p>
                      <a:pPr algn="l"/>
                      <a:r>
                        <a:rPr sz="1100" b="1">
                          <a:solidFill>
                            <a:srgbClr val="2E2E2E"/>
                          </a:solidFill>
                          <a:latin typeface="Calibri"/>
                        </a:rPr>
                        <a:t>Zesty Paws</a:t>
                      </a:r>
                      <a:endParaRPr sz="1100"/>
                    </a:p>
                  </a:txBody>
                  <a:tcPr marL="47625" marR="38100" marT="19050" marB="19050" anchor="ctr">
                    <a:solidFill>
                      <a:srgbClr val="FFFFFF"/>
                    </a:solidFill>
                  </a:tcPr>
                </a:tc>
                <a:tc>
                  <a:txBody>
                    <a:bodyPr/>
                    <a:lstStyle/>
                    <a:p>
                      <a:pPr algn="l"/>
                      <a:r>
                        <a:rPr sz="1100" b="0">
                          <a:solidFill>
                            <a:srgbClr val="2E2E2E"/>
                          </a:solidFill>
                          <a:latin typeface="Calibri"/>
                        </a:rPr>
                        <a:t>Italy</a:t>
                      </a:r>
                      <a:endParaRPr sz="1100"/>
                    </a:p>
                  </a:txBody>
                  <a:tcPr marL="47625" marR="38100" marT="19050" marB="19050" anchor="ctr">
                    <a:solidFill>
                      <a:srgbClr val="FFFFFF"/>
                    </a:solidFill>
                  </a:tcPr>
                </a:tc>
                <a:tc>
                  <a:txBody>
                    <a:bodyPr/>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ctr"/>
                      <a:r>
                        <a:rPr sz="1100"/>
                        <a:t> </a:t>
                      </a:r>
                    </a:p>
                  </a:txBody>
                  <a:tcPr marL="47625" marR="38100" marT="19050" marB="19050" anchor="ctr">
                    <a:solidFill>
                      <a:srgbClr val="FFFFFF"/>
                    </a:solidFill>
                  </a:tcPr>
                </a:tc>
                <a:tc>
                  <a:txBody>
                    <a:bodyPr/>
                    <a:lstStyle/>
                    <a:p>
                      <a:pPr algn="l"/>
                      <a:r>
                        <a:rPr sz="1100" b="0">
                          <a:solidFill>
                            <a:srgbClr val="2E2E2E"/>
                          </a:solidFill>
                          <a:latin typeface="Calibri"/>
                        </a:rPr>
                        <a:t>Capacity &amp; scale</a:t>
                      </a:r>
                      <a:endParaRPr sz="1100"/>
                    </a:p>
                  </a:txBody>
                  <a:tcPr marL="47625" marR="38100" marT="19050" marB="19050" anchor="ctr">
                    <a:solidFill>
                      <a:srgbClr val="FFFFFF"/>
                    </a:solidFill>
                  </a:tcPr>
                </a:tc>
                <a:extLst>
                  <a:ext uri="{0D108BD9-81ED-4DB2-BD59-A6C34878D82A}">
                    <a16:rowId xmlns:a16="http://schemas.microsoft.com/office/drawing/2014/main" val="10009"/>
                  </a:ext>
                </a:extLst>
              </a:tr>
              <a:tr h="246850">
                <a:tc>
                  <a:txBody>
                    <a:bodyPr/>
                    <a:lstStyle/>
                    <a:p>
                      <a:pPr algn="l"/>
                      <a:r>
                        <a:rPr sz="1100" b="1">
                          <a:solidFill>
                            <a:srgbClr val="2E2E2E"/>
                          </a:solidFill>
                          <a:latin typeface="Calibri"/>
                        </a:rPr>
                        <a:t>Ark Naturals</a:t>
                      </a:r>
                      <a:endParaRPr sz="1100"/>
                    </a:p>
                  </a:txBody>
                  <a:tcPr marL="47625" marR="38100" marT="19050" marB="19050" anchor="ctr">
                    <a:solidFill>
                      <a:srgbClr val="F5F8FA"/>
                    </a:solidFill>
                  </a:tcPr>
                </a:tc>
                <a:tc>
                  <a:txBody>
                    <a:bodyPr/>
                    <a:lstStyle/>
                    <a:p>
                      <a:pPr algn="l"/>
                      <a:r>
                        <a:rPr sz="1100" b="0">
                          <a:solidFill>
                            <a:srgbClr val="2E2E2E"/>
                          </a:solidFill>
                          <a:latin typeface="Calibri"/>
                        </a:rPr>
                        <a:t>Spain</a:t>
                      </a:r>
                      <a:endParaRPr sz="1100"/>
                    </a:p>
                  </a:txBody>
                  <a:tcPr marL="47625" marR="38100" marT="19050" marB="19050" anchor="ctr">
                    <a:solidFill>
                      <a:srgbClr val="F5F8FA"/>
                    </a:solidFill>
                  </a:tcPr>
                </a:tc>
                <a:tc>
                  <a:txBody>
                    <a:bodyPr/>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ctr"/>
                      <a:r>
                        <a:rPr sz="1100"/>
                        <a:t> </a:t>
                      </a:r>
                    </a:p>
                  </a:txBody>
                  <a:tcPr marL="47625" marR="38100" marT="19050" marB="19050" anchor="ctr">
                    <a:solidFill>
                      <a:srgbClr val="F5F8FA"/>
                    </a:solidFill>
                  </a:tcPr>
                </a:tc>
                <a:tc>
                  <a:txBody>
                    <a:bodyPr/>
                    <a:lstStyle/>
                    <a:p>
                      <a:pPr algn="l"/>
                      <a:r>
                        <a:rPr sz="1100" b="0">
                          <a:solidFill>
                            <a:srgbClr val="2E2E2E"/>
                          </a:solidFill>
                          <a:latin typeface="Calibri"/>
                        </a:rPr>
                        <a:t>Brand &amp; support</a:t>
                      </a:r>
                      <a:endParaRPr sz="1100"/>
                    </a:p>
                  </a:txBody>
                  <a:tcPr marL="47625" marR="38100" marT="19050" marB="19050" anchor="ctr">
                    <a:solidFill>
                      <a:srgbClr val="F5F8FA"/>
                    </a:solidFill>
                  </a:tcPr>
                </a:tc>
                <a:extLst>
                  <a:ext uri="{0D108BD9-81ED-4DB2-BD59-A6C34878D82A}">
                    <a16:rowId xmlns:a16="http://schemas.microsoft.com/office/drawing/2014/main" val="10010"/>
                  </a:ext>
                </a:extLst>
              </a:tr>
            </a:tbl>
          </a:graphicData>
        </a:graphic>
      </p:graphicFrame>
      <p:sp>
        <p:nvSpPr>
          <p:cNvPr id="13" name="TextBox 12"/>
          <p:cNvSpPr txBox="1"/>
          <p:nvPr/>
        </p:nvSpPr>
        <p:spPr>
          <a:xfrm>
            <a:off x="219075" y="39624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381500"/>
            <a:ext cx="11639550" cy="209550"/>
          </a:xfrm>
          <a:prstGeom prst="rect">
            <a:avLst/>
          </a:prstGeom>
          <a:noFill/>
        </p:spPr>
        <p:txBody>
          <a:bodyPr wrap="square" lIns="0" tIns="9525" rIns="19050" bIns="9525">
            <a:spAutoFit/>
          </a:bodyPr>
          <a:lstStyle/>
          <a:p>
            <a:pPr algn="l"/>
            <a:r>
              <a:rPr sz="1300" b="1">
                <a:solidFill>
                  <a:srgbClr val="0B2E4A"/>
                </a:solidFill>
                <a:latin typeface="Calibri"/>
              </a:rPr>
              <a:t>Notes</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705350"/>
            <a:ext cx="11639550" cy="184785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350909" y="2451926"/>
            <a:ext cx="366712" cy="533400"/>
          </a:xfrm>
          <a:prstGeom prst="rect">
            <a:avLst/>
          </a:prstGeom>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698875"/>
            <a:ext cx="7239000" cy="514350"/>
          </a:xfrm>
          <a:prstGeom prst="rect">
            <a:avLst/>
          </a:prstGeom>
          <a:noFill/>
        </p:spPr>
        <p:txBody>
          <a:bodyPr wrap="square" lIns="0" tIns="0" r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Market Dynamics &amp; Forces</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Drivers</a:t>
            </a:r>
          </a:p>
          <a:p>
            <a:pPr marL="342900" indent="-323850">
              <a:lnSpc>
                <a:spcPct val="100000"/>
              </a:lnSpc>
              <a:spcAft>
                <a:spcPts val="800"/>
              </a:spcAft>
            </a:pPr>
            <a:r>
              <a:rPr sz="2000" b="0">
                <a:solidFill>
                  <a:srgbClr val="000000"/>
                </a:solidFill>
                <a:latin typeface="Calibri"/>
              </a:rPr>
              <a:t>➤	Market Restraints</a:t>
            </a:r>
          </a:p>
          <a:p>
            <a:pPr marL="342900" indent="-323850">
              <a:lnSpc>
                <a:spcPct val="100000"/>
              </a:lnSpc>
              <a:spcAft>
                <a:spcPts val="800"/>
              </a:spcAft>
            </a:pPr>
            <a:r>
              <a:rPr sz="2000" b="0">
                <a:solidFill>
                  <a:srgbClr val="000000"/>
                </a:solidFill>
                <a:latin typeface="Calibri"/>
              </a:rPr>
              <a:t>➤	Market Opportunities</a:t>
            </a:r>
          </a:p>
          <a:p>
            <a:pPr marL="342900" indent="-323850">
              <a:lnSpc>
                <a:spcPct val="100000"/>
              </a:lnSpc>
              <a:spcAft>
                <a:spcPts val="800"/>
              </a:spcAft>
            </a:pPr>
            <a:r>
              <a:rPr sz="2000" b="0">
                <a:solidFill>
                  <a:srgbClr val="000000"/>
                </a:solidFill>
                <a:latin typeface="Calibri"/>
              </a:rPr>
              <a:t>➤	Recent Developments &amp; Milestones</a:t>
            </a:r>
          </a:p>
          <a:p>
            <a:pPr marL="342900" indent="-323850">
              <a:lnSpc>
                <a:spcPct val="100000"/>
              </a:lnSpc>
              <a:spcAft>
                <a:spcPts val="800"/>
              </a:spcAft>
            </a:pPr>
            <a:r>
              <a:rPr sz="2000" b="0">
                <a:solidFill>
                  <a:srgbClr val="000000"/>
                </a:solidFill>
                <a:latin typeface="Calibri"/>
              </a:rPr>
              <a:t>➤	Five Forces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Dynamics by Region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Global Driving Factors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Global Driving Factors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demand-side factors scored by their impact on the global market</a:t>
            </a:r>
          </a:p>
        </p:txBody>
      </p:sp>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Restraints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Opportunities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Global Senior Dog Cognitive Supplement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Recent developments and milestones shaping the global market, by year</a:t>
            </a:r>
          </a:p>
        </p:txBody>
      </p:sp>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Porter's Five Forces Analysis Global Senior Dog Cognitive Supplement Market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305175"/>
            <a:ext cx="7239000" cy="514350"/>
          </a:xfrm>
          <a:prstGeom prst="rect">
            <a:avLst/>
          </a:prstGeom>
          <a:noFill/>
        </p:spPr>
        <p:txBody>
          <a:bodyPr wrap="square" lIns="0" tIns="0" r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Competitive Landscape</a:t>
            </a:r>
          </a:p>
          <a:p>
            <a:pPr marL="342900" indent="-323850">
              <a:lnSpc>
                <a:spcPct val="100000"/>
              </a:lnSpc>
              <a:spcAft>
                <a:spcPts val="800"/>
              </a:spcAft>
            </a:pPr>
            <a:r>
              <a:rPr sz="2000" b="0">
                <a:solidFill>
                  <a:srgbClr val="FFD447"/>
                </a:solidFill>
                <a:latin typeface="Calibri"/>
              </a:rPr>
              <a:t>➤	Market Share by Leading Players</a:t>
            </a:r>
          </a:p>
          <a:p>
            <a:pPr marL="342900" indent="-323850">
              <a:lnSpc>
                <a:spcPct val="100000"/>
              </a:lnSpc>
              <a:spcAft>
                <a:spcPts val="800"/>
              </a:spcAft>
            </a:pPr>
            <a:r>
              <a:rPr sz="2000" b="0">
                <a:solidFill>
                  <a:srgbClr val="FFD447"/>
                </a:solidFill>
                <a:latin typeface="Calibri"/>
              </a:rPr>
              <a:t>➤	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20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Pipeline Assessment</a:t>
            </a:r>
          </a:p>
          <a:p>
            <a:pPr marL="342900" indent="-323850">
              <a:lnSpc>
                <a:spcPct val="100000"/>
              </a:lnSpc>
              <a:spcAft>
                <a:spcPts val="800"/>
              </a:spcAft>
            </a:pPr>
            <a:r>
              <a:rPr sz="2000" b="0">
                <a:solidFill>
                  <a:srgbClr val="000000"/>
                </a:solidFill>
                <a:latin typeface="Calibri"/>
              </a:rPr>
              <a:t>➤	Strategic Outlook</a:t>
            </a:r>
          </a:p>
          <a:p>
            <a:pPr marL="342900" indent="-323850">
              <a:lnSpc>
                <a:spcPct val="100000"/>
              </a:lnSpc>
              <a:spcAft>
                <a:spcPts val="800"/>
              </a:spcAft>
            </a:pPr>
            <a:r>
              <a:rPr sz="2000" b="0">
                <a:solidFill>
                  <a:srgbClr val="000000"/>
                </a:solidFill>
                <a:latin typeface="Calibri"/>
              </a:rPr>
              <a:t>➤	Competition Dashboard</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tIns="9525" rIns="2857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tIns="9525" rIns="2857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tIns="9525" rIns="2857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tIns="9525" rIns="2857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tIns="9525" rIns="2857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tIns="9525" rIns="2857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tIns="9525" rIns="2857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tIns="9525" rIns="28575" bIns="9525" anchor="t">
            <a:spAutoFit/>
          </a:bodyPr>
          <a:lstStyle/>
          <a:p>
            <a:pPr algn="l">
              <a:lnSpc>
                <a:spcPct val="115000"/>
              </a:lnSpc>
            </a:pPr>
            <a:endParaRP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tIns="9525" rIns="2857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tIns="9525" rIns="28575" bIns="9525" anchor="t">
            <a:spAutoFit/>
          </a:bodyPr>
          <a:lstStyle/>
          <a:p>
            <a:pPr algn="l">
              <a:lnSpc>
                <a:spcPct val="115000"/>
              </a:lnSpc>
            </a:pPr>
            <a:r>
              <a:rPr sz="1100" b="1">
                <a:solidFill>
                  <a:srgbClr val="0F2D52"/>
                </a:solidFill>
                <a:latin typeface="Calibri"/>
              </a:rPr>
              <a:t>10</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tIns="9525" rIns="2857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tIns="9525" rIns="28575" bIns="9525" anchor="t">
            <a:spAutoFit/>
          </a:bodyPr>
          <a:lstStyle/>
          <a:p>
            <a:pPr algn="l">
              <a:lnSpc>
                <a:spcPct val="115000"/>
              </a:lnSpc>
            </a:pPr>
            <a:r>
              <a:rPr sz="1100" b="1">
                <a:solidFill>
                  <a:srgbClr val="0F2D52"/>
                </a:solidFill>
                <a:latin typeface="Calibri"/>
              </a:rPr>
              <a:t>50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tIns="9525" rIns="2857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tIns="9525" rIns="28575" bIns="9525" anchor="t">
            <a:spAutoFit/>
          </a:bodyPr>
          <a:lstStyle/>
          <a:p>
            <a:pPr algn="l">
              <a:lnSpc>
                <a:spcPct val="115000"/>
              </a:lnSpc>
            </a:pPr>
            <a:r>
              <a:rPr sz="1100" b="1">
                <a:solidFill>
                  <a:srgbClr val="0F2D52"/>
                </a:solidFill>
                <a:latin typeface="Calibri"/>
              </a:rPr>
              <a:t>Standard Process</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tIns="9525" rIns="2857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tIns="9525" rIns="2857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90500" y="1924050"/>
            <a:ext cx="209550" cy="209550"/>
          </a:xfrm>
          <a:prstGeom prst="rect">
            <a:avLst/>
          </a:prstGeom>
          <a:noFill/>
        </p:spPr>
        <p:txBody>
          <a:bodyPr wrap="none" lIns="0" tIns="0" r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tIns="9525" rIns="2857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tIns="9525" rIns="28575" bIns="9525" anchor="t">
            <a:spAutoFit/>
          </a:bodyPr>
          <a:lstStyle/>
          <a:p>
            <a:pPr algn="l">
              <a:lnSpc>
                <a:spcPct val="115000"/>
              </a:lnSpc>
            </a:pPr>
            <a:endParaRP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90500" y="3028950"/>
            <a:ext cx="209550" cy="209550"/>
          </a:xfrm>
          <a:prstGeom prst="rect">
            <a:avLst/>
          </a:prstGeom>
          <a:noFill/>
        </p:spPr>
        <p:txBody>
          <a:bodyPr wrap="none" lIns="0" tIns="0" r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tIns="9525" rIns="2857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tIns="9525" rIns="28575" bIns="9525" anchor="t">
            <a:spAutoFit/>
          </a:bodyPr>
          <a:lstStyle/>
          <a:p>
            <a:pPr algn="l">
              <a:lnSpc>
                <a:spcPct val="115000"/>
              </a:lnSpc>
            </a:pPr>
            <a:endParaRP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90500" y="4133850"/>
            <a:ext cx="209550" cy="209550"/>
          </a:xfrm>
          <a:prstGeom prst="rect">
            <a:avLst/>
          </a:prstGeom>
          <a:noFill/>
        </p:spPr>
        <p:txBody>
          <a:bodyPr wrap="none" lIns="0" tIns="0" r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tIns="9525" rIns="2857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tIns="9525" rIns="28575" bIns="9525" anchor="t">
            <a:spAutoFit/>
          </a:bodyPr>
          <a:lstStyle/>
          <a:p>
            <a:pPr algn="l">
              <a:lnSpc>
                <a:spcPct val="115000"/>
              </a:lnSpc>
            </a:pPr>
            <a:endParaRP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86500" y="1924050"/>
            <a:ext cx="209550" cy="209550"/>
          </a:xfrm>
          <a:prstGeom prst="rect">
            <a:avLst/>
          </a:prstGeom>
          <a:noFill/>
        </p:spPr>
        <p:txBody>
          <a:bodyPr wrap="none" lIns="0" tIns="0" r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tIns="9525" rIns="2857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286500" y="3028950"/>
            <a:ext cx="209550" cy="209550"/>
          </a:xfrm>
          <a:prstGeom prst="rect">
            <a:avLst/>
          </a:prstGeom>
          <a:noFill/>
        </p:spPr>
        <p:txBody>
          <a:bodyPr wrap="none" lIns="0" tIns="0" r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tIns="9525" rIns="2857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286500" y="4133850"/>
            <a:ext cx="209550" cy="209550"/>
          </a:xfrm>
          <a:prstGeom prst="rect">
            <a:avLst/>
          </a:prstGeom>
          <a:noFill/>
        </p:spPr>
        <p:txBody>
          <a:bodyPr wrap="none" lIns="0" tIns="0" r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tIns="9525" rIns="2857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VetriScience, Standard Process, Dr. Fossum's.</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tIns="9525" rIns="2857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1052964" cy="139750"/>
          </a:xfrm>
          <a:prstGeom prst="rect">
            <a:avLst/>
          </a:prstGeom>
          <a:noFill/>
        </p:spPr>
        <p:txBody>
          <a:bodyPr wrap="none" lIns="0" tIns="0" rIns="0" bIns="0">
            <a:spAutoFit/>
          </a:bodyPr>
          <a:lstStyle/>
          <a:p>
            <a:r>
              <a:rPr sz="791" b="1">
                <a:solidFill>
                  <a:srgbClr val="0F2D52"/>
                </a:solidFill>
                <a:latin typeface="Calibri"/>
              </a:rPr>
              <a:t>Support for Observable</a:t>
            </a:r>
          </a:p>
        </p:txBody>
      </p:sp>
      <p:sp>
        <p:nvSpPr>
          <p:cNvPr id="68" name="TextBox 67"/>
          <p:cNvSpPr txBox="1"/>
          <p:nvPr/>
        </p:nvSpPr>
        <p:spPr>
          <a:xfrm>
            <a:off x="4705350" y="1425625"/>
            <a:ext cx="1002280" cy="139750"/>
          </a:xfrm>
          <a:prstGeom prst="rect">
            <a:avLst/>
          </a:prstGeom>
          <a:noFill/>
        </p:spPr>
        <p:txBody>
          <a:bodyPr wrap="none" lIns="0" tIns="0" rIns="0" bIns="0">
            <a:spAutoFit/>
          </a:bodyPr>
          <a:lstStyle/>
          <a:p>
            <a:r>
              <a:rPr sz="791" b="1">
                <a:solidFill>
                  <a:srgbClr val="0F2D52"/>
                </a:solidFill>
                <a:latin typeface="Calibri"/>
              </a:rPr>
              <a:t>Age-Related Cognitive</a:t>
            </a:r>
          </a:p>
        </p:txBody>
      </p:sp>
      <p:sp>
        <p:nvSpPr>
          <p:cNvPr id="69" name="TextBox 68"/>
          <p:cNvSpPr txBox="1"/>
          <p:nvPr/>
        </p:nvSpPr>
        <p:spPr>
          <a:xfrm>
            <a:off x="4705350" y="1546326"/>
            <a:ext cx="451621" cy="139750"/>
          </a:xfrm>
          <a:prstGeom prst="rect">
            <a:avLst/>
          </a:prstGeom>
          <a:noFill/>
        </p:spPr>
        <p:txBody>
          <a:bodyPr wrap="none" lIns="0" tIns="0" rIns="0" bIns="0">
            <a:spAutoFit/>
          </a:bodyPr>
          <a:lstStyle/>
          <a:p>
            <a:r>
              <a:rPr sz="791" b="1">
                <a:solidFill>
                  <a:srgbClr val="0F2D52"/>
                </a:solidFill>
                <a:latin typeface="Calibri"/>
              </a:rPr>
              <a:t>Changes,</a:t>
            </a:r>
          </a:p>
        </p:txBody>
      </p:sp>
      <p:pic>
        <p:nvPicPr>
          <p:cNvPr id="70" name="Picture 69" descr="lock.png"/>
          <p:cNvPicPr>
            <a:picLocks noChangeAspect="1"/>
          </p:cNvPicPr>
          <p:nvPr/>
        </p:nvPicPr>
        <p:blipFill>
          <a:blip r:embed="rId4"/>
          <a:stretch>
            <a:fillRect/>
          </a:stretch>
        </p:blipFill>
        <p:spPr>
          <a:xfrm>
            <a:off x="5098233" y="1539285"/>
            <a:ext cx="92663" cy="134782"/>
          </a:xfrm>
          <a:prstGeom prst="rect">
            <a:avLst/>
          </a:prstGeom>
        </p:spPr>
      </p:pic>
      <p:sp>
        <p:nvSpPr>
          <p:cNvPr id="71" name="TextBox 70"/>
          <p:cNvSpPr txBox="1"/>
          <p:nvPr/>
        </p:nvSpPr>
        <p:spPr>
          <a:xfrm>
            <a:off x="523875" y="2124075"/>
            <a:ext cx="1137319" cy="186689"/>
          </a:xfrm>
          <a:prstGeom prst="rect">
            <a:avLst/>
          </a:prstGeom>
          <a:noFill/>
        </p:spPr>
        <p:txBody>
          <a:bodyPr wrap="none" lIns="0" tIns="0" rIns="0" bIns="0">
            <a:spAutoFit/>
          </a:bodyPr>
          <a:lstStyle/>
          <a:p>
            <a:r>
              <a:rPr sz="1100" b="0">
                <a:solidFill>
                  <a:srgbClr val="1F2933"/>
                </a:solidFill>
                <a:latin typeface="Calibri"/>
              </a:rPr>
              <a:t>The top three hold</a:t>
            </a:r>
          </a:p>
        </p:txBody>
      </p:sp>
      <p:pic>
        <p:nvPicPr>
          <p:cNvPr id="72" name="Picture 71" descr="lock.png"/>
          <p:cNvPicPr>
            <a:picLocks noChangeAspect="1"/>
          </p:cNvPicPr>
          <p:nvPr/>
        </p:nvPicPr>
        <p:blipFill>
          <a:blip r:embed="rId4"/>
          <a:stretch>
            <a:fillRect/>
          </a:stretch>
        </p:blipFill>
        <p:spPr>
          <a:xfrm>
            <a:off x="1609246" y="2114296"/>
            <a:ext cx="128699" cy="187198"/>
          </a:xfrm>
          <a:prstGeom prst="rect">
            <a:avLst/>
          </a:prstGeom>
        </p:spPr>
      </p:pic>
      <p:sp>
        <p:nvSpPr>
          <p:cNvPr id="73" name="TextBox 72"/>
          <p:cNvSpPr txBox="1"/>
          <p:nvPr/>
        </p:nvSpPr>
        <p:spPr>
          <a:xfrm>
            <a:off x="1776742" y="2124075"/>
            <a:ext cx="3949327" cy="186689"/>
          </a:xfrm>
          <a:prstGeom prst="rect">
            <a:avLst/>
          </a:prstGeom>
          <a:noFill/>
        </p:spPr>
        <p:txBody>
          <a:bodyPr wrap="none" lIns="0" tIns="0" rIns="0" bIns="0">
            <a:spAutoFit/>
          </a:bodyPr>
          <a:lstStyle/>
          <a:p>
            <a:r>
              <a:rPr sz="1100" b="0">
                <a:solidFill>
                  <a:srgbClr val="1F2933"/>
                </a:solidFill>
                <a:latin typeface="Calibri"/>
              </a:rPr>
              <a:t>of 2026 value, but 3 companies lead the 8 sub-segments tracked; no</a:t>
            </a:r>
          </a:p>
        </p:txBody>
      </p:sp>
      <p:sp>
        <p:nvSpPr>
          <p:cNvPr id="74" name="TextBox 73"/>
          <p:cNvSpPr txBox="1"/>
          <p:nvPr/>
        </p:nvSpPr>
        <p:spPr>
          <a:xfrm>
            <a:off x="523875" y="2291715"/>
            <a:ext cx="1386433" cy="186689"/>
          </a:xfrm>
          <a:prstGeom prst="rect">
            <a:avLst/>
          </a:prstGeom>
          <a:noFill/>
        </p:spPr>
        <p:txBody>
          <a:bodyPr wrap="none" lIns="0" tIns="0" rIns="0" bIns="0">
            <a:spAutoFit/>
          </a:bodyPr>
          <a:lstStyle/>
          <a:p>
            <a:r>
              <a:rPr sz="1100" b="0">
                <a:solidFill>
                  <a:srgbClr val="1F2933"/>
                </a:solidFill>
                <a:latin typeface="Calibri"/>
              </a:rPr>
              <a:t>one leads more than 5.</a:t>
            </a:r>
          </a:p>
        </p:txBody>
      </p:sp>
      <p:sp>
        <p:nvSpPr>
          <p:cNvPr id="75" name="TextBox 74"/>
          <p:cNvSpPr txBox="1"/>
          <p:nvPr/>
        </p:nvSpPr>
        <p:spPr>
          <a:xfrm>
            <a:off x="523875" y="3228975"/>
            <a:ext cx="1364059" cy="186689"/>
          </a:xfrm>
          <a:prstGeom prst="rect">
            <a:avLst/>
          </a:prstGeom>
          <a:noFill/>
        </p:spPr>
        <p:txBody>
          <a:bodyPr wrap="none" lIns="0" tIns="0" rIns="0" bIns="0">
            <a:spAutoFit/>
          </a:bodyPr>
          <a:lstStyle/>
          <a:p>
            <a:r>
              <a:rPr sz="1100" b="0">
                <a:solidFill>
                  <a:srgbClr val="1F2933"/>
                </a:solidFill>
                <a:latin typeface="Calibri"/>
              </a:rPr>
              <a:t>Tier 1 (4 players) holds</a:t>
            </a:r>
          </a:p>
        </p:txBody>
      </p:sp>
      <p:pic>
        <p:nvPicPr>
          <p:cNvPr id="76" name="Picture 75" descr="lock.png"/>
          <p:cNvPicPr>
            <a:picLocks noChangeAspect="1"/>
          </p:cNvPicPr>
          <p:nvPr/>
        </p:nvPicPr>
        <p:blipFill>
          <a:blip r:embed="rId4"/>
          <a:stretch>
            <a:fillRect/>
          </a:stretch>
        </p:blipFill>
        <p:spPr>
          <a:xfrm>
            <a:off x="1835985" y="3219196"/>
            <a:ext cx="128699" cy="187198"/>
          </a:xfrm>
          <a:prstGeom prst="rect">
            <a:avLst/>
          </a:prstGeom>
        </p:spPr>
      </p:pic>
      <p:sp>
        <p:nvSpPr>
          <p:cNvPr id="77" name="TextBox 76"/>
          <p:cNvSpPr txBox="1"/>
          <p:nvPr/>
        </p:nvSpPr>
        <p:spPr>
          <a:xfrm>
            <a:off x="2003481" y="3228975"/>
            <a:ext cx="1875656" cy="186689"/>
          </a:xfrm>
          <a:prstGeom prst="rect">
            <a:avLst/>
          </a:prstGeom>
          <a:noFill/>
        </p:spPr>
        <p:txBody>
          <a:bodyPr wrap="none" lIns="0" tIns="0" rIns="0" bIns="0">
            <a:spAutoFit/>
          </a:bodyPr>
          <a:lstStyle/>
          <a:p>
            <a:r>
              <a:rPr sz="1100" b="0">
                <a:solidFill>
                  <a:srgbClr val="1F2933"/>
                </a:solidFill>
                <a:latin typeface="Calibri"/>
              </a:rPr>
              <a:t>; Tier 2 and Tier 3 together hold</a:t>
            </a:r>
          </a:p>
        </p:txBody>
      </p:sp>
      <p:pic>
        <p:nvPicPr>
          <p:cNvPr id="78" name="Picture 77" descr="lock.png"/>
          <p:cNvPicPr>
            <a:picLocks noChangeAspect="1"/>
          </p:cNvPicPr>
          <p:nvPr/>
        </p:nvPicPr>
        <p:blipFill>
          <a:blip r:embed="rId4"/>
          <a:stretch>
            <a:fillRect/>
          </a:stretch>
        </p:blipFill>
        <p:spPr>
          <a:xfrm>
            <a:off x="3827189" y="3219196"/>
            <a:ext cx="128699" cy="187198"/>
          </a:xfrm>
          <a:prstGeom prst="rect">
            <a:avLst/>
          </a:prstGeom>
        </p:spPr>
      </p:pic>
      <p:sp>
        <p:nvSpPr>
          <p:cNvPr id="79" name="TextBox 78"/>
          <p:cNvSpPr txBox="1"/>
          <p:nvPr/>
        </p:nvSpPr>
        <p:spPr>
          <a:xfrm>
            <a:off x="3994685" y="3228975"/>
            <a:ext cx="111397" cy="186689"/>
          </a:xfrm>
          <a:prstGeom prst="rect">
            <a:avLst/>
          </a:prstGeom>
          <a:noFill/>
        </p:spPr>
        <p:txBody>
          <a:bodyPr wrap="none" lIns="0" tIns="0" rIns="0" bIns="0">
            <a:spAutoFit/>
          </a:bodyPr>
          <a:lstStyle/>
          <a:p>
            <a:r>
              <a:rPr sz="1100" b="0">
                <a:solidFill>
                  <a:srgbClr val="1F2933"/>
                </a:solidFill>
                <a:latin typeface="Calibri"/>
              </a:rPr>
              <a:t>.</a:t>
            </a:r>
          </a:p>
        </p:txBody>
      </p:sp>
      <p:sp>
        <p:nvSpPr>
          <p:cNvPr id="80" name="TextBox 79"/>
          <p:cNvSpPr txBox="1"/>
          <p:nvPr/>
        </p:nvSpPr>
        <p:spPr>
          <a:xfrm>
            <a:off x="523875" y="4333875"/>
            <a:ext cx="4360242" cy="186689"/>
          </a:xfrm>
          <a:prstGeom prst="rect">
            <a:avLst/>
          </a:prstGeom>
          <a:noFill/>
        </p:spPr>
        <p:txBody>
          <a:bodyPr wrap="none" lIns="0" tIns="0" rIns="0" bIns="0">
            <a:spAutoFit/>
          </a:bodyPr>
          <a:lstStyle/>
          <a:p>
            <a:r>
              <a:rPr sz="1100" b="0">
                <a:solidFill>
                  <a:srgbClr val="1F2933"/>
                </a:solidFill>
                <a:latin typeface="Calibri"/>
              </a:rPr>
              <a:t>'Capsules and Softgels' is the largest line; 'Chewables' compounds fastest at</a:t>
            </a:r>
          </a:p>
        </p:txBody>
      </p:sp>
      <p:pic>
        <p:nvPicPr>
          <p:cNvPr id="81" name="Picture 80" descr="lock.png"/>
          <p:cNvPicPr>
            <a:picLocks noChangeAspect="1"/>
          </p:cNvPicPr>
          <p:nvPr/>
        </p:nvPicPr>
        <p:blipFill>
          <a:blip r:embed="rId4"/>
          <a:stretch>
            <a:fillRect/>
          </a:stretch>
        </p:blipFill>
        <p:spPr>
          <a:xfrm>
            <a:off x="4832168" y="4324096"/>
            <a:ext cx="128699" cy="187198"/>
          </a:xfrm>
          <a:prstGeom prst="rect">
            <a:avLst/>
          </a:prstGeom>
        </p:spPr>
      </p:pic>
      <p:sp>
        <p:nvSpPr>
          <p:cNvPr id="82" name="TextBox 81"/>
          <p:cNvSpPr txBox="1"/>
          <p:nvPr/>
        </p:nvSpPr>
        <p:spPr>
          <a:xfrm>
            <a:off x="4999664" y="4333875"/>
            <a:ext cx="430617" cy="186689"/>
          </a:xfrm>
          <a:prstGeom prst="rect">
            <a:avLst/>
          </a:prstGeom>
          <a:noFill/>
        </p:spPr>
        <p:txBody>
          <a:bodyPr wrap="none" lIns="0" tIns="0" rIns="0" bIns="0">
            <a:spAutoFit/>
          </a:bodyPr>
          <a:lstStyle/>
          <a:p>
            <a:r>
              <a:rPr sz="1100" b="0">
                <a:solidFill>
                  <a:srgbClr val="1F2933"/>
                </a:solidFill>
                <a:latin typeface="Calibri"/>
              </a:rPr>
              <a:t>CAGR.</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Segment Leadership Map</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tIns="9525" rIns="2857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7650" y="1257300"/>
            <a:ext cx="4433684" cy="266700"/>
          </a:xfrm>
          <a:prstGeom prst="rect">
            <a:avLst/>
          </a:prstGeom>
          <a:noFill/>
        </p:spPr>
        <p:txBody>
          <a:bodyPr wrap="square" lIns="28575" tIns="9525" rIns="28575" bIns="9525" anchor="ctr">
            <a:spAutoFit/>
          </a:bodyPr>
          <a:lstStyle/>
          <a:p>
            <a:pPr algn="l"/>
            <a:endParaRPr/>
          </a:p>
        </p:txBody>
      </p:sp>
      <p:sp>
        <p:nvSpPr>
          <p:cNvPr id="13" name="Rectangle 12"/>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7534" y="1257300"/>
            <a:ext cx="1459962" cy="266700"/>
          </a:xfrm>
          <a:prstGeom prst="rect">
            <a:avLst/>
          </a:prstGeom>
          <a:noFill/>
        </p:spPr>
        <p:txBody>
          <a:bodyPr wrap="square" lIns="28575" tIns="9525" rIns="28575" bIns="9525" anchor="ctr">
            <a:spAutoFit/>
          </a:bodyPr>
          <a:lstStyle/>
          <a:p>
            <a:pPr algn="l"/>
            <a:endParaRPr/>
          </a:p>
        </p:txBody>
      </p:sp>
      <p:sp>
        <p:nvSpPr>
          <p:cNvPr id="15" name="Rectangle 14"/>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3696" y="1257300"/>
            <a:ext cx="2166216" cy="266700"/>
          </a:xfrm>
          <a:prstGeom prst="rect">
            <a:avLst/>
          </a:prstGeom>
          <a:noFill/>
        </p:spPr>
        <p:txBody>
          <a:bodyPr wrap="square" lIns="28575" tIns="9525" rIns="28575" bIns="9525" anchor="ctr">
            <a:spAutoFit/>
          </a:bodyPr>
          <a:lstStyle/>
          <a:p>
            <a:pPr algn="l"/>
            <a:endParaRP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36112" y="1257300"/>
            <a:ext cx="3446338" cy="266700"/>
          </a:xfrm>
          <a:prstGeom prst="rect">
            <a:avLst/>
          </a:prstGeom>
          <a:noFill/>
        </p:spPr>
        <p:txBody>
          <a:bodyPr wrap="square" lIns="28575" tIns="9525" rIns="28575" bIns="9525" anchor="ctr">
            <a:spAutoFit/>
          </a:bodyPr>
          <a:lstStyle/>
          <a:p>
            <a:pPr algn="l"/>
            <a:endParaRP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14325" y="1543050"/>
            <a:ext cx="2762250"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Standard Process, VetriScience, Dr. Fossum's</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67075" y="1543050"/>
            <a:ext cx="2762250"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Nestlé Purina PetCare, PetHeal</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9825" y="1543050"/>
            <a:ext cx="2762250"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Senior Dogs Club, VISYO Corporation, NaturVet, Zesty Paws, Ark Naturals</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72575" y="1543050"/>
            <a:ext cx="2762250"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tIns="9525" rIns="2857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114550" y="2114550"/>
            <a:ext cx="1200150" cy="476250"/>
          </a:xfrm>
          <a:prstGeom prst="rect">
            <a:avLst/>
          </a:prstGeom>
          <a:noFill/>
        </p:spPr>
        <p:txBody>
          <a:bodyPr wrap="square" lIns="28575" tIns="9525" rIns="28575" bIns="9525" anchor="ctr">
            <a:spAutoFit/>
          </a:bodyPr>
          <a:lstStyle/>
          <a:p>
            <a:pPr algn="ctr">
              <a:lnSpc>
                <a:spcPct val="115000"/>
              </a:lnSpc>
            </a:pPr>
            <a:r>
              <a:rPr sz="1100" b="1">
                <a:solidFill>
                  <a:srgbClr val="0F2D52"/>
                </a:solidFill>
                <a:latin typeface="Calibri"/>
              </a:rPr>
              <a:t>Capsules and Softgels</a:t>
            </a:r>
          </a:p>
        </p:txBody>
      </p:sp>
      <p:sp>
        <p:nvSpPr>
          <p:cNvPr id="30" name="TextBox 29"/>
          <p:cNvSpPr txBox="1"/>
          <p:nvPr/>
        </p:nvSpPr>
        <p:spPr>
          <a:xfrm>
            <a:off x="3352800" y="2114550"/>
            <a:ext cx="1200150" cy="476250"/>
          </a:xfrm>
          <a:prstGeom prst="rect">
            <a:avLst/>
          </a:prstGeom>
          <a:noFill/>
        </p:spPr>
        <p:txBody>
          <a:bodyPr wrap="square" lIns="28575" tIns="9525" rIns="28575" bIns="9525" anchor="ctr">
            <a:spAutoFit/>
          </a:bodyPr>
          <a:lstStyle/>
          <a:p>
            <a:pPr algn="ctr">
              <a:lnSpc>
                <a:spcPct val="115000"/>
              </a:lnSpc>
            </a:pPr>
            <a:r>
              <a:rPr sz="1100" b="1">
                <a:solidFill>
                  <a:srgbClr val="0F2D52"/>
                </a:solidFill>
                <a:latin typeface="Calibri"/>
              </a:rPr>
              <a:t>Tablets</a:t>
            </a:r>
          </a:p>
        </p:txBody>
      </p:sp>
      <p:sp>
        <p:nvSpPr>
          <p:cNvPr id="31" name="TextBox 30"/>
          <p:cNvSpPr txBox="1"/>
          <p:nvPr/>
        </p:nvSpPr>
        <p:spPr>
          <a:xfrm>
            <a:off x="4591050" y="2114550"/>
            <a:ext cx="1200150" cy="476250"/>
          </a:xfrm>
          <a:prstGeom prst="rect">
            <a:avLst/>
          </a:prstGeom>
          <a:noFill/>
        </p:spPr>
        <p:txBody>
          <a:bodyPr wrap="square" lIns="28575" tIns="9525" rIns="28575" bIns="9525" anchor="ctr">
            <a:spAutoFit/>
          </a:bodyPr>
          <a:lstStyle/>
          <a:p>
            <a:pPr algn="ctr">
              <a:lnSpc>
                <a:spcPct val="115000"/>
              </a:lnSpc>
            </a:pPr>
            <a:r>
              <a:rPr sz="1100" b="1">
                <a:solidFill>
                  <a:srgbClr val="0F2D52"/>
                </a:solidFill>
                <a:latin typeface="Calibri"/>
              </a:rPr>
              <a:t>Chewables</a:t>
            </a:r>
          </a:p>
        </p:txBody>
      </p:sp>
      <p:sp>
        <p:nvSpPr>
          <p:cNvPr id="32" name="TextBox 31"/>
          <p:cNvSpPr txBox="1"/>
          <p:nvPr/>
        </p:nvSpPr>
        <p:spPr>
          <a:xfrm>
            <a:off x="5829300" y="2114550"/>
            <a:ext cx="1200150" cy="476250"/>
          </a:xfrm>
          <a:prstGeom prst="rect">
            <a:avLst/>
          </a:prstGeom>
          <a:noFill/>
        </p:spPr>
        <p:txBody>
          <a:bodyPr wrap="square" lIns="28575" tIns="9525" rIns="28575" bIns="9525" anchor="ctr">
            <a:spAutoFit/>
          </a:bodyPr>
          <a:lstStyle/>
          <a:p>
            <a:pPr algn="ctr">
              <a:lnSpc>
                <a:spcPct val="115000"/>
              </a:lnSpc>
            </a:pPr>
            <a:r>
              <a:rPr sz="1100" b="1">
                <a:solidFill>
                  <a:srgbClr val="0F2D52"/>
                </a:solidFill>
                <a:latin typeface="Calibri"/>
              </a:rPr>
              <a:t>Gels and Pastes</a:t>
            </a:r>
          </a:p>
        </p:txBody>
      </p:sp>
      <p:sp>
        <p:nvSpPr>
          <p:cNvPr id="33" name="TextBox 32"/>
          <p:cNvSpPr txBox="1"/>
          <p:nvPr/>
        </p:nvSpPr>
        <p:spPr>
          <a:xfrm>
            <a:off x="7067550" y="2114550"/>
            <a:ext cx="1200150" cy="476250"/>
          </a:xfrm>
          <a:prstGeom prst="rect">
            <a:avLst/>
          </a:prstGeom>
          <a:noFill/>
        </p:spPr>
        <p:txBody>
          <a:bodyPr wrap="square" lIns="28575" tIns="9525" rIns="28575" bIns="9525" anchor="ctr">
            <a:spAutoFit/>
          </a:bodyPr>
          <a:lstStyle/>
          <a:p>
            <a:pPr algn="ctr">
              <a:lnSpc>
                <a:spcPct val="115000"/>
              </a:lnSpc>
            </a:pPr>
            <a:r>
              <a:rPr sz="1100" b="1">
                <a:solidFill>
                  <a:srgbClr val="0F2D52"/>
                </a:solidFill>
                <a:latin typeface="Calibri"/>
              </a:rPr>
              <a:t>Support for Observable Age-Related Cognitive Changes</a:t>
            </a:r>
          </a:p>
        </p:txBody>
      </p:sp>
      <p:sp>
        <p:nvSpPr>
          <p:cNvPr id="34" name="TextBox 33"/>
          <p:cNvSpPr txBox="1"/>
          <p:nvPr/>
        </p:nvSpPr>
        <p:spPr>
          <a:xfrm>
            <a:off x="8305800" y="2114550"/>
            <a:ext cx="1200150" cy="476250"/>
          </a:xfrm>
          <a:prstGeom prst="rect">
            <a:avLst/>
          </a:prstGeom>
          <a:noFill/>
        </p:spPr>
        <p:txBody>
          <a:bodyPr wrap="square" lIns="28575" tIns="9525" rIns="28575" bIns="9525" anchor="ctr">
            <a:spAutoFit/>
          </a:bodyPr>
          <a:lstStyle/>
          <a:p>
            <a:pPr algn="ctr">
              <a:lnSpc>
                <a:spcPct val="115000"/>
              </a:lnSpc>
            </a:pPr>
            <a:r>
              <a:rPr sz="1100" b="1">
                <a:solidFill>
                  <a:srgbClr val="0F2D52"/>
                </a:solidFill>
                <a:latin typeface="Calibri"/>
              </a:rPr>
              <a:t>Routine Cognitive Wellness</a:t>
            </a:r>
          </a:p>
        </p:txBody>
      </p:sp>
      <p:sp>
        <p:nvSpPr>
          <p:cNvPr id="35" name="TextBox 34"/>
          <p:cNvSpPr txBox="1"/>
          <p:nvPr/>
        </p:nvSpPr>
        <p:spPr>
          <a:xfrm>
            <a:off x="9544050" y="2114550"/>
            <a:ext cx="1200150" cy="476250"/>
          </a:xfrm>
          <a:prstGeom prst="rect">
            <a:avLst/>
          </a:prstGeom>
          <a:noFill/>
        </p:spPr>
        <p:txBody>
          <a:bodyPr wrap="square" lIns="28575" tIns="9525" rIns="28575" bIns="9525" anchor="ctr">
            <a:spAutoFit/>
          </a:bodyPr>
          <a:lstStyle/>
          <a:p>
            <a:pPr algn="ctr">
              <a:lnSpc>
                <a:spcPct val="115000"/>
              </a:lnSpc>
            </a:pPr>
            <a:r>
              <a:rPr sz="1100" b="1">
                <a:solidFill>
                  <a:srgbClr val="0F2D52"/>
                </a:solidFill>
                <a:latin typeface="Calibri"/>
              </a:rPr>
              <a:t>Preventive Cognitive Support for Senior Dogs</a:t>
            </a:r>
          </a:p>
        </p:txBody>
      </p:sp>
      <p:sp>
        <p:nvSpPr>
          <p:cNvPr id="36" name="TextBox 35"/>
          <p:cNvSpPr txBox="1"/>
          <p:nvPr/>
        </p:nvSpPr>
        <p:spPr>
          <a:xfrm>
            <a:off x="10782300" y="2114550"/>
            <a:ext cx="1200150" cy="476250"/>
          </a:xfrm>
          <a:prstGeom prst="rect">
            <a:avLst/>
          </a:prstGeom>
          <a:noFill/>
        </p:spPr>
        <p:txBody>
          <a:bodyPr wrap="square" lIns="28575" tIns="9525" rIns="28575" bIns="9525" anchor="ctr">
            <a:spAutoFit/>
          </a:bodyPr>
          <a:lstStyle/>
          <a:p>
            <a:pPr algn="ctr">
              <a:lnSpc>
                <a:spcPct val="115000"/>
              </a:lnSpc>
            </a:pPr>
            <a:r>
              <a:rPr sz="1100" b="1">
                <a:solidFill>
                  <a:srgbClr val="0F2D52"/>
                </a:solidFill>
                <a:latin typeface="Calibri"/>
              </a:rPr>
              <a:t>Veterinary-Guided Cognitive Dysfunction Support</a:t>
            </a:r>
          </a:p>
        </p:txBody>
      </p:sp>
      <p:cxnSp>
        <p:nvCxnSpPr>
          <p:cNvPr id="37" name="Connector 36"/>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85750" y="26289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Standard Process</a:t>
            </a:r>
          </a:p>
        </p:txBody>
      </p:sp>
      <p:sp>
        <p:nvSpPr>
          <p:cNvPr id="40" name="TextBox 39"/>
          <p:cNvSpPr txBox="1"/>
          <p:nvPr/>
        </p:nvSpPr>
        <p:spPr>
          <a:xfrm>
            <a:off x="285750" y="27908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41" name="Oval 40"/>
          <p:cNvSpPr/>
          <p:nvPr/>
        </p:nvSpPr>
        <p:spPr>
          <a:xfrm>
            <a:off x="2638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Freeform 41"/>
          <p:cNvSpPr/>
          <p:nvPr/>
        </p:nvSpPr>
        <p:spPr>
          <a:xfrm>
            <a:off x="2714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38766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114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353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591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Freeform 46"/>
          <p:cNvSpPr/>
          <p:nvPr/>
        </p:nvSpPr>
        <p:spPr>
          <a:xfrm>
            <a:off x="7667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82967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Freeform 48"/>
          <p:cNvSpPr/>
          <p:nvPr/>
        </p:nvSpPr>
        <p:spPr>
          <a:xfrm>
            <a:off x="890587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067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1306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85750" y="29718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VetriScience</a:t>
            </a:r>
          </a:p>
        </p:txBody>
      </p:sp>
      <p:sp>
        <p:nvSpPr>
          <p:cNvPr id="55" name="TextBox 54"/>
          <p:cNvSpPr txBox="1"/>
          <p:nvPr/>
        </p:nvSpPr>
        <p:spPr>
          <a:xfrm>
            <a:off x="285750" y="31337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56" name="Oval 55"/>
          <p:cNvSpPr/>
          <p:nvPr/>
        </p:nvSpPr>
        <p:spPr>
          <a:xfrm>
            <a:off x="2638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Freeform 56"/>
          <p:cNvSpPr/>
          <p:nvPr/>
        </p:nvSpPr>
        <p:spPr>
          <a:xfrm>
            <a:off x="2714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8766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Freeform 58"/>
          <p:cNvSpPr/>
          <p:nvPr/>
        </p:nvSpPr>
        <p:spPr>
          <a:xfrm>
            <a:off x="39528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5114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6353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Freeform 61"/>
          <p:cNvSpPr/>
          <p:nvPr/>
        </p:nvSpPr>
        <p:spPr>
          <a:xfrm>
            <a:off x="64293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7591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Freeform 63"/>
          <p:cNvSpPr/>
          <p:nvPr/>
        </p:nvSpPr>
        <p:spPr>
          <a:xfrm>
            <a:off x="7667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829675"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10067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Freeform 66"/>
          <p:cNvSpPr/>
          <p:nvPr/>
        </p:nvSpPr>
        <p:spPr>
          <a:xfrm>
            <a:off x="101441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306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Freeform 68"/>
          <p:cNvSpPr/>
          <p:nvPr/>
        </p:nvSpPr>
        <p:spPr>
          <a:xfrm>
            <a:off x="113823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0" name="Connector 69"/>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285750" y="33147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Dr. Fossum's</a:t>
            </a:r>
          </a:p>
        </p:txBody>
      </p:sp>
      <p:sp>
        <p:nvSpPr>
          <p:cNvPr id="73" name="TextBox 72"/>
          <p:cNvSpPr txBox="1"/>
          <p:nvPr/>
        </p:nvSpPr>
        <p:spPr>
          <a:xfrm>
            <a:off x="285750" y="34766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74" name="Oval 73"/>
          <p:cNvSpPr/>
          <p:nvPr/>
        </p:nvSpPr>
        <p:spPr>
          <a:xfrm>
            <a:off x="2638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3876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5114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Freeform 76"/>
          <p:cNvSpPr/>
          <p:nvPr/>
        </p:nvSpPr>
        <p:spPr>
          <a:xfrm>
            <a:off x="51911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6353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7591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829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Freeform 80"/>
          <p:cNvSpPr/>
          <p:nvPr/>
        </p:nvSpPr>
        <p:spPr>
          <a:xfrm>
            <a:off x="89058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10067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Freeform 82"/>
          <p:cNvSpPr/>
          <p:nvPr/>
        </p:nvSpPr>
        <p:spPr>
          <a:xfrm>
            <a:off x="101441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11306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Freeform 84"/>
          <p:cNvSpPr/>
          <p:nvPr/>
        </p:nvSpPr>
        <p:spPr>
          <a:xfrm>
            <a:off x="113823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6" name="Connector 85"/>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285750" y="36576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Nestlé Purina PetCare</a:t>
            </a:r>
          </a:p>
        </p:txBody>
      </p:sp>
      <p:sp>
        <p:nvSpPr>
          <p:cNvPr id="89" name="TextBox 88"/>
          <p:cNvSpPr txBox="1"/>
          <p:nvPr/>
        </p:nvSpPr>
        <p:spPr>
          <a:xfrm>
            <a:off x="285750" y="38195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90" name="Oval 89"/>
          <p:cNvSpPr/>
          <p:nvPr/>
        </p:nvSpPr>
        <p:spPr>
          <a:xfrm>
            <a:off x="2638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3876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Freeform 91"/>
          <p:cNvSpPr/>
          <p:nvPr/>
        </p:nvSpPr>
        <p:spPr>
          <a:xfrm>
            <a:off x="39528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5114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Freeform 93"/>
          <p:cNvSpPr/>
          <p:nvPr/>
        </p:nvSpPr>
        <p:spPr>
          <a:xfrm>
            <a:off x="51911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6353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Freeform 95"/>
          <p:cNvSpPr/>
          <p:nvPr/>
        </p:nvSpPr>
        <p:spPr>
          <a:xfrm>
            <a:off x="64293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7591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Freeform 97"/>
          <p:cNvSpPr/>
          <p:nvPr/>
        </p:nvSpPr>
        <p:spPr>
          <a:xfrm>
            <a:off x="76676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8829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Freeform 99"/>
          <p:cNvSpPr/>
          <p:nvPr/>
        </p:nvSpPr>
        <p:spPr>
          <a:xfrm>
            <a:off x="89058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0067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11306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3" name="Connector 102"/>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85750" y="40005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PetHeal</a:t>
            </a:r>
          </a:p>
        </p:txBody>
      </p:sp>
      <p:sp>
        <p:nvSpPr>
          <p:cNvPr id="106" name="TextBox 105"/>
          <p:cNvSpPr txBox="1"/>
          <p:nvPr/>
        </p:nvSpPr>
        <p:spPr>
          <a:xfrm>
            <a:off x="285750" y="41624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2</a:t>
            </a:r>
          </a:p>
        </p:txBody>
      </p:sp>
      <p:sp>
        <p:nvSpPr>
          <p:cNvPr id="107" name="Oval 106"/>
          <p:cNvSpPr/>
          <p:nvPr/>
        </p:nvSpPr>
        <p:spPr>
          <a:xfrm>
            <a:off x="2638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Freeform 107"/>
          <p:cNvSpPr/>
          <p:nvPr/>
        </p:nvSpPr>
        <p:spPr>
          <a:xfrm>
            <a:off x="2714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3876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Freeform 109"/>
          <p:cNvSpPr/>
          <p:nvPr/>
        </p:nvSpPr>
        <p:spPr>
          <a:xfrm>
            <a:off x="39528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5114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Freeform 111"/>
          <p:cNvSpPr/>
          <p:nvPr/>
        </p:nvSpPr>
        <p:spPr>
          <a:xfrm>
            <a:off x="51911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6353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7591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Freeform 114"/>
          <p:cNvSpPr/>
          <p:nvPr/>
        </p:nvSpPr>
        <p:spPr>
          <a:xfrm>
            <a:off x="7667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8829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0067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Freeform 117"/>
          <p:cNvSpPr/>
          <p:nvPr/>
        </p:nvSpPr>
        <p:spPr>
          <a:xfrm>
            <a:off x="101441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1306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0" name="Connector 119"/>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285750" y="43434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Senior Dogs Club</a:t>
            </a:r>
          </a:p>
        </p:txBody>
      </p:sp>
      <p:sp>
        <p:nvSpPr>
          <p:cNvPr id="123" name="TextBox 122"/>
          <p:cNvSpPr txBox="1"/>
          <p:nvPr/>
        </p:nvSpPr>
        <p:spPr>
          <a:xfrm>
            <a:off x="285750" y="45053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2</a:t>
            </a:r>
          </a:p>
        </p:txBody>
      </p:sp>
      <p:sp>
        <p:nvSpPr>
          <p:cNvPr id="124" name="Oval 123"/>
          <p:cNvSpPr/>
          <p:nvPr/>
        </p:nvSpPr>
        <p:spPr>
          <a:xfrm>
            <a:off x="2638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Freeform 124"/>
          <p:cNvSpPr/>
          <p:nvPr/>
        </p:nvSpPr>
        <p:spPr>
          <a:xfrm>
            <a:off x="27146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3876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Freeform 126"/>
          <p:cNvSpPr/>
          <p:nvPr/>
        </p:nvSpPr>
        <p:spPr>
          <a:xfrm>
            <a:off x="39528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5114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6353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7591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8829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Freeform 131"/>
          <p:cNvSpPr/>
          <p:nvPr/>
        </p:nvSpPr>
        <p:spPr>
          <a:xfrm>
            <a:off x="89058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0067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Freeform 133"/>
          <p:cNvSpPr/>
          <p:nvPr/>
        </p:nvSpPr>
        <p:spPr>
          <a:xfrm>
            <a:off x="101441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1306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6" name="Connector 135"/>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285750" y="46863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VISYO Corporation</a:t>
            </a:r>
          </a:p>
        </p:txBody>
      </p:sp>
      <p:sp>
        <p:nvSpPr>
          <p:cNvPr id="139" name="TextBox 138"/>
          <p:cNvSpPr txBox="1"/>
          <p:nvPr/>
        </p:nvSpPr>
        <p:spPr>
          <a:xfrm>
            <a:off x="285750" y="48482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40" name="Oval 139"/>
          <p:cNvSpPr/>
          <p:nvPr/>
        </p:nvSpPr>
        <p:spPr>
          <a:xfrm>
            <a:off x="2638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Freeform 140"/>
          <p:cNvSpPr/>
          <p:nvPr/>
        </p:nvSpPr>
        <p:spPr>
          <a:xfrm>
            <a:off x="27146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3876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5114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Freeform 143"/>
          <p:cNvSpPr/>
          <p:nvPr/>
        </p:nvSpPr>
        <p:spPr>
          <a:xfrm>
            <a:off x="51911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6353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7591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Freeform 146"/>
          <p:cNvSpPr/>
          <p:nvPr/>
        </p:nvSpPr>
        <p:spPr>
          <a:xfrm>
            <a:off x="76676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8829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Freeform 148"/>
          <p:cNvSpPr/>
          <p:nvPr/>
        </p:nvSpPr>
        <p:spPr>
          <a:xfrm>
            <a:off x="89058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0067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1306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2" name="Connector 151"/>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285750" y="50292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NaturVet</a:t>
            </a:r>
          </a:p>
        </p:txBody>
      </p:sp>
      <p:sp>
        <p:nvSpPr>
          <p:cNvPr id="155" name="TextBox 154"/>
          <p:cNvSpPr txBox="1"/>
          <p:nvPr/>
        </p:nvSpPr>
        <p:spPr>
          <a:xfrm>
            <a:off x="285750" y="51911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56" name="Oval 155"/>
          <p:cNvSpPr/>
          <p:nvPr/>
        </p:nvSpPr>
        <p:spPr>
          <a:xfrm>
            <a:off x="2638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3876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Freeform 157"/>
          <p:cNvSpPr/>
          <p:nvPr/>
        </p:nvSpPr>
        <p:spPr>
          <a:xfrm>
            <a:off x="395287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5114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Freeform 159"/>
          <p:cNvSpPr/>
          <p:nvPr/>
        </p:nvSpPr>
        <p:spPr>
          <a:xfrm>
            <a:off x="51911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6353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7591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Freeform 162"/>
          <p:cNvSpPr/>
          <p:nvPr/>
        </p:nvSpPr>
        <p:spPr>
          <a:xfrm>
            <a:off x="76676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8829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10067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Freeform 165"/>
          <p:cNvSpPr/>
          <p:nvPr/>
        </p:nvSpPr>
        <p:spPr>
          <a:xfrm>
            <a:off x="101441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11306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8" name="Connector 167"/>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285750" y="53721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Zesty Paws</a:t>
            </a:r>
          </a:p>
        </p:txBody>
      </p:sp>
      <p:sp>
        <p:nvSpPr>
          <p:cNvPr id="171" name="TextBox 170"/>
          <p:cNvSpPr txBox="1"/>
          <p:nvPr/>
        </p:nvSpPr>
        <p:spPr>
          <a:xfrm>
            <a:off x="285750" y="55340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72" name="Oval 171"/>
          <p:cNvSpPr/>
          <p:nvPr/>
        </p:nvSpPr>
        <p:spPr>
          <a:xfrm>
            <a:off x="26384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Freeform 172"/>
          <p:cNvSpPr/>
          <p:nvPr/>
        </p:nvSpPr>
        <p:spPr>
          <a:xfrm>
            <a:off x="27146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38766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Freeform 174"/>
          <p:cNvSpPr/>
          <p:nvPr/>
        </p:nvSpPr>
        <p:spPr>
          <a:xfrm>
            <a:off x="39528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51149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Freeform 176"/>
          <p:cNvSpPr/>
          <p:nvPr/>
        </p:nvSpPr>
        <p:spPr>
          <a:xfrm>
            <a:off x="51911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63531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75914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88296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Freeform 180"/>
          <p:cNvSpPr/>
          <p:nvPr/>
        </p:nvSpPr>
        <p:spPr>
          <a:xfrm>
            <a:off x="89058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100679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Freeform 182"/>
          <p:cNvSpPr/>
          <p:nvPr/>
        </p:nvSpPr>
        <p:spPr>
          <a:xfrm>
            <a:off x="101441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113061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5" name="Connector 184"/>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6" name="Rectangle 185"/>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285750" y="5715000"/>
            <a:ext cx="1790700" cy="171450"/>
          </a:xfrm>
          <a:prstGeom prst="rect">
            <a:avLst/>
          </a:prstGeom>
          <a:noFill/>
        </p:spPr>
        <p:txBody>
          <a:bodyPr wrap="square" lIns="28575" tIns="9525" rIns="28575" bIns="9525" anchor="t">
            <a:spAutoFit/>
          </a:bodyPr>
          <a:lstStyle/>
          <a:p>
            <a:pPr algn="l"/>
            <a:r>
              <a:rPr sz="1100" b="1">
                <a:solidFill>
                  <a:srgbClr val="1F2933"/>
                </a:solidFill>
                <a:latin typeface="Calibri"/>
              </a:rPr>
              <a:t>Ark Naturals</a:t>
            </a:r>
          </a:p>
        </p:txBody>
      </p:sp>
      <p:sp>
        <p:nvSpPr>
          <p:cNvPr id="188" name="TextBox 187"/>
          <p:cNvSpPr txBox="1"/>
          <p:nvPr/>
        </p:nvSpPr>
        <p:spPr>
          <a:xfrm>
            <a:off x="285750" y="5876925"/>
            <a:ext cx="179070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89" name="Oval 188"/>
          <p:cNvSpPr/>
          <p:nvPr/>
        </p:nvSpPr>
        <p:spPr>
          <a:xfrm>
            <a:off x="26384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Freeform 189"/>
          <p:cNvSpPr/>
          <p:nvPr/>
        </p:nvSpPr>
        <p:spPr>
          <a:xfrm>
            <a:off x="27146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p:cNvSpPr/>
          <p:nvPr/>
        </p:nvSpPr>
        <p:spPr>
          <a:xfrm>
            <a:off x="38766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Freeform 191"/>
          <p:cNvSpPr/>
          <p:nvPr/>
        </p:nvSpPr>
        <p:spPr>
          <a:xfrm>
            <a:off x="39528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51149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63531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75914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Freeform 195"/>
          <p:cNvSpPr/>
          <p:nvPr/>
        </p:nvSpPr>
        <p:spPr>
          <a:xfrm>
            <a:off x="76676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88296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Freeform 197"/>
          <p:cNvSpPr/>
          <p:nvPr/>
        </p:nvSpPr>
        <p:spPr>
          <a:xfrm>
            <a:off x="89058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100679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val 199"/>
          <p:cNvSpPr/>
          <p:nvPr/>
        </p:nvSpPr>
        <p:spPr>
          <a:xfrm>
            <a:off x="113061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1" name="Connector 200"/>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02" name="Rectangle 201"/>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202"/>
          <p:cNvSpPr txBox="1"/>
          <p:nvPr/>
        </p:nvSpPr>
        <p:spPr>
          <a:xfrm>
            <a:off x="314325" y="6076950"/>
            <a:ext cx="2095500" cy="171450"/>
          </a:xfrm>
          <a:prstGeom prst="rect">
            <a:avLst/>
          </a:prstGeom>
          <a:noFill/>
        </p:spPr>
        <p:txBody>
          <a:bodyPr wrap="square" lIns="28575" tIns="9525" rIns="28575" bIns="9525" anchor="t">
            <a:spAutoFit/>
          </a:bodyPr>
          <a:lstStyle/>
          <a:p>
            <a:pPr algn="l"/>
            <a:r>
              <a:rPr sz="1100" b="0">
                <a:solidFill>
                  <a:srgbClr val="1F2933"/>
                </a:solidFill>
                <a:latin typeface="Calibri"/>
              </a:rPr>
              <a:t>Tier 1</a:t>
            </a:r>
          </a:p>
        </p:txBody>
      </p:sp>
      <p:sp>
        <p:nvSpPr>
          <p:cNvPr id="204" name="Rectangle 203"/>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971550" y="6076950"/>
            <a:ext cx="2095500" cy="171450"/>
          </a:xfrm>
          <a:prstGeom prst="rect">
            <a:avLst/>
          </a:prstGeom>
          <a:noFill/>
        </p:spPr>
        <p:txBody>
          <a:bodyPr wrap="square" lIns="28575" tIns="9525" rIns="28575" bIns="9525" anchor="t">
            <a:spAutoFit/>
          </a:bodyPr>
          <a:lstStyle/>
          <a:p>
            <a:pPr algn="l"/>
            <a:r>
              <a:rPr sz="1100" b="0">
                <a:solidFill>
                  <a:srgbClr val="1F2933"/>
                </a:solidFill>
                <a:latin typeface="Calibri"/>
              </a:rPr>
              <a:t>Tier 2</a:t>
            </a:r>
          </a:p>
        </p:txBody>
      </p:sp>
      <p:sp>
        <p:nvSpPr>
          <p:cNvPr id="206" name="Rectangle 205"/>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6"/>
          <p:cNvSpPr txBox="1"/>
          <p:nvPr/>
        </p:nvSpPr>
        <p:spPr>
          <a:xfrm>
            <a:off x="1628775" y="6076950"/>
            <a:ext cx="2095500" cy="171450"/>
          </a:xfrm>
          <a:prstGeom prst="rect">
            <a:avLst/>
          </a:prstGeom>
          <a:noFill/>
        </p:spPr>
        <p:txBody>
          <a:bodyPr wrap="square" lIns="28575" tIns="9525" rIns="28575" bIns="9525" anchor="t">
            <a:spAutoFit/>
          </a:bodyPr>
          <a:lstStyle/>
          <a:p>
            <a:pPr algn="l"/>
            <a:r>
              <a:rPr sz="1100" b="0">
                <a:solidFill>
                  <a:srgbClr val="1F2933"/>
                </a:solidFill>
                <a:latin typeface="Calibri"/>
              </a:rPr>
              <a:t>Tier 3</a:t>
            </a:r>
          </a:p>
        </p:txBody>
      </p:sp>
      <p:sp>
        <p:nvSpPr>
          <p:cNvPr id="208" name="TextBox 207"/>
          <p:cNvSpPr txBox="1"/>
          <p:nvPr/>
        </p:nvSpPr>
        <p:spPr>
          <a:xfrm>
            <a:off x="190500" y="6286500"/>
            <a:ext cx="2857500" cy="152400"/>
          </a:xfrm>
          <a:prstGeom prst="rect">
            <a:avLst/>
          </a:prstGeom>
          <a:noFill/>
        </p:spPr>
        <p:txBody>
          <a:bodyPr wrap="square" lIns="28575" tIns="9525" rIns="28575" bIns="9525" anchor="t">
            <a:spAutoFit/>
          </a:bodyPr>
          <a:lstStyle/>
          <a:p>
            <a:pPr algn="l"/>
            <a:r>
              <a:rPr sz="1100" b="1">
                <a:solidFill>
                  <a:srgbClr val="0F2D52"/>
                </a:solidFill>
                <a:latin typeface="Calibri"/>
              </a:rPr>
              <a:t>READING</a:t>
            </a:r>
          </a:p>
        </p:txBody>
      </p:sp>
      <p:sp>
        <p:nvSpPr>
          <p:cNvPr id="209" name="TextBox 208"/>
          <p:cNvSpPr txBox="1"/>
          <p:nvPr/>
        </p:nvSpPr>
        <p:spPr>
          <a:xfrm>
            <a:off x="190500" y="6400800"/>
            <a:ext cx="11811000" cy="2286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Read across a row to see breadth; down a column to see contestability.  'Capsules and Softgels' is the most contested column (8 players active); 'Gels and Pastes' is the most open (3).</a:t>
            </a:r>
          </a:p>
        </p:txBody>
      </p:sp>
      <p:sp>
        <p:nvSpPr>
          <p:cNvPr id="210" name="TextBox 20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211" name="TextBox 210"/>
          <p:cNvSpPr txBox="1"/>
          <p:nvPr/>
        </p:nvSpPr>
        <p:spPr>
          <a:xfrm>
            <a:off x="276225" y="1306830"/>
            <a:ext cx="398164" cy="186689"/>
          </a:xfrm>
          <a:prstGeom prst="rect">
            <a:avLst/>
          </a:prstGeom>
          <a:noFill/>
        </p:spPr>
        <p:txBody>
          <a:bodyPr wrap="none" lIns="0" tIns="0" rIns="0" bIns="0">
            <a:spAutoFit/>
          </a:bodyPr>
          <a:lstStyle/>
          <a:p>
            <a:r>
              <a:rPr sz="1100" b="1">
                <a:solidFill>
                  <a:srgbClr val="FFFFFF"/>
                </a:solidFill>
                <a:latin typeface="Calibri"/>
              </a:rPr>
              <a:t>Top 3</a:t>
            </a:r>
          </a:p>
        </p:txBody>
      </p:sp>
      <p:pic>
        <p:nvPicPr>
          <p:cNvPr id="212" name="Picture 211" descr="lock.png"/>
          <p:cNvPicPr>
            <a:picLocks noChangeAspect="1"/>
          </p:cNvPicPr>
          <p:nvPr/>
        </p:nvPicPr>
        <p:blipFill>
          <a:blip r:embed="rId4"/>
          <a:stretch>
            <a:fillRect/>
          </a:stretch>
        </p:blipFill>
        <p:spPr>
          <a:xfrm>
            <a:off x="622441" y="1297051"/>
            <a:ext cx="128699" cy="187198"/>
          </a:xfrm>
          <a:prstGeom prst="rect">
            <a:avLst/>
          </a:prstGeom>
        </p:spPr>
      </p:pic>
      <p:sp>
        <p:nvSpPr>
          <p:cNvPr id="213" name="TextBox 212"/>
          <p:cNvSpPr txBox="1"/>
          <p:nvPr/>
        </p:nvSpPr>
        <p:spPr>
          <a:xfrm>
            <a:off x="4786109" y="1306830"/>
            <a:ext cx="813172" cy="186689"/>
          </a:xfrm>
          <a:prstGeom prst="rect">
            <a:avLst/>
          </a:prstGeom>
          <a:noFill/>
        </p:spPr>
        <p:txBody>
          <a:bodyPr wrap="none" lIns="0" tIns="0" rIns="0" bIns="0">
            <a:spAutoFit/>
          </a:bodyPr>
          <a:lstStyle/>
          <a:p>
            <a:r>
              <a:rPr sz="1100" b="1">
                <a:solidFill>
                  <a:srgbClr val="FFFFFF"/>
                </a:solidFill>
                <a:latin typeface="Calibri"/>
              </a:rPr>
              <a:t>Rest of top 5</a:t>
            </a:r>
          </a:p>
        </p:txBody>
      </p:sp>
      <p:pic>
        <p:nvPicPr>
          <p:cNvPr id="214" name="Picture 213" descr="lock.png"/>
          <p:cNvPicPr>
            <a:picLocks noChangeAspect="1"/>
          </p:cNvPicPr>
          <p:nvPr/>
        </p:nvPicPr>
        <p:blipFill>
          <a:blip r:embed="rId4"/>
          <a:stretch>
            <a:fillRect/>
          </a:stretch>
        </p:blipFill>
        <p:spPr>
          <a:xfrm>
            <a:off x="5547332" y="1297051"/>
            <a:ext cx="128699" cy="187198"/>
          </a:xfrm>
          <a:prstGeom prst="rect">
            <a:avLst/>
          </a:prstGeom>
        </p:spPr>
      </p:pic>
      <p:sp>
        <p:nvSpPr>
          <p:cNvPr id="215" name="TextBox 214"/>
          <p:cNvSpPr txBox="1"/>
          <p:nvPr/>
        </p:nvSpPr>
        <p:spPr>
          <a:xfrm>
            <a:off x="6322271" y="1306830"/>
            <a:ext cx="620266" cy="186689"/>
          </a:xfrm>
          <a:prstGeom prst="rect">
            <a:avLst/>
          </a:prstGeom>
          <a:noFill/>
        </p:spPr>
        <p:txBody>
          <a:bodyPr wrap="none" lIns="0" tIns="0" rIns="0" bIns="0">
            <a:spAutoFit/>
          </a:bodyPr>
          <a:lstStyle/>
          <a:p>
            <a:r>
              <a:rPr sz="1100" b="1">
                <a:solidFill>
                  <a:srgbClr val="FFFFFF"/>
                </a:solidFill>
                <a:latin typeface="Calibri"/>
              </a:rPr>
              <a:t>Emerging</a:t>
            </a:r>
          </a:p>
        </p:txBody>
      </p:sp>
      <p:pic>
        <p:nvPicPr>
          <p:cNvPr id="216" name="Picture 215" descr="lock.png"/>
          <p:cNvPicPr>
            <a:picLocks noChangeAspect="1"/>
          </p:cNvPicPr>
          <p:nvPr/>
        </p:nvPicPr>
        <p:blipFill>
          <a:blip r:embed="rId4"/>
          <a:stretch>
            <a:fillRect/>
          </a:stretch>
        </p:blipFill>
        <p:spPr>
          <a:xfrm>
            <a:off x="6890588" y="1297051"/>
            <a:ext cx="128699" cy="187198"/>
          </a:xfrm>
          <a:prstGeom prst="rect">
            <a:avLst/>
          </a:prstGeom>
        </p:spPr>
      </p:pic>
      <p:sp>
        <p:nvSpPr>
          <p:cNvPr id="217" name="TextBox 216"/>
          <p:cNvSpPr txBox="1"/>
          <p:nvPr/>
        </p:nvSpPr>
        <p:spPr>
          <a:xfrm>
            <a:off x="8564687" y="1306830"/>
            <a:ext cx="469924" cy="186689"/>
          </a:xfrm>
          <a:prstGeom prst="rect">
            <a:avLst/>
          </a:prstGeom>
          <a:noFill/>
        </p:spPr>
        <p:txBody>
          <a:bodyPr wrap="none" lIns="0" tIns="0" rIns="0" bIns="0">
            <a:spAutoFit/>
          </a:bodyPr>
          <a:lstStyle/>
          <a:p>
            <a:r>
              <a:rPr sz="1100" b="1">
                <a:solidFill>
                  <a:srgbClr val="0F2D52"/>
                </a:solidFill>
                <a:latin typeface="Calibri"/>
              </a:rPr>
              <a:t>Others</a:t>
            </a:r>
          </a:p>
        </p:txBody>
      </p:sp>
      <p:pic>
        <p:nvPicPr>
          <p:cNvPr id="218" name="Picture 217"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tIns="9525" rIns="2857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tIns="9525" rIns="2857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tIns="9525" rIns="2857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tIns="9525" rIns="2857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tIns="9525" rIns="28575" bIns="9525" anchor="t">
            <a:spAutoFit/>
          </a:bodyPr>
          <a:lstStyle/>
          <a:p>
            <a:pPr algn="l"/>
            <a:r>
              <a:rPr sz="1100" b="0">
                <a:solidFill>
                  <a:srgbClr val="5F6B7A"/>
                </a:solidFill>
                <a:latin typeface="Calibri"/>
              </a:rPr>
              <a:t>Capsules and Softgels, share</a:t>
            </a:r>
          </a:p>
        </p:txBody>
      </p:sp>
      <p:sp>
        <p:nvSpPr>
          <p:cNvPr id="17" name="TextBox 16"/>
          <p:cNvSpPr txBox="1"/>
          <p:nvPr/>
        </p:nvSpPr>
        <p:spPr>
          <a:xfrm>
            <a:off x="4972050" y="1238250"/>
            <a:ext cx="2266950" cy="228600"/>
          </a:xfrm>
          <a:prstGeom prst="rect">
            <a:avLst/>
          </a:prstGeom>
          <a:noFill/>
        </p:spPr>
        <p:txBody>
          <a:bodyPr wrap="square" lIns="28575" tIns="9525" rIns="2857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tIns="9525" rIns="28575" bIns="9525" anchor="t">
            <a:spAutoFit/>
          </a:bodyPr>
          <a:lstStyle/>
          <a:p>
            <a:pPr algn="l"/>
            <a:r>
              <a:rPr sz="1100" b="0">
                <a:solidFill>
                  <a:srgbClr val="5F6B7A"/>
                </a:solidFill>
                <a:latin typeface="Calibri"/>
              </a:rPr>
              <a:t>Tablets, share</a:t>
            </a:r>
          </a:p>
        </p:txBody>
      </p:sp>
      <p:sp>
        <p:nvSpPr>
          <p:cNvPr id="20" name="TextBox 19"/>
          <p:cNvSpPr txBox="1"/>
          <p:nvPr/>
        </p:nvSpPr>
        <p:spPr>
          <a:xfrm>
            <a:off x="7334250" y="1238250"/>
            <a:ext cx="2266950" cy="228600"/>
          </a:xfrm>
          <a:prstGeom prst="rect">
            <a:avLst/>
          </a:prstGeom>
          <a:noFill/>
        </p:spPr>
        <p:txBody>
          <a:bodyPr wrap="square" lIns="28575" tIns="9525" rIns="2857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tIns="9525" rIns="28575" bIns="9525" anchor="t">
            <a:spAutoFit/>
          </a:bodyPr>
          <a:lstStyle/>
          <a:p>
            <a:pPr algn="l"/>
            <a:r>
              <a:rPr sz="1100" b="0">
                <a:solidFill>
                  <a:srgbClr val="5F6B7A"/>
                </a:solidFill>
                <a:latin typeface="Calibri"/>
              </a:rPr>
              <a:t>Chewables, share</a:t>
            </a:r>
          </a:p>
        </p:txBody>
      </p:sp>
      <p:sp>
        <p:nvSpPr>
          <p:cNvPr id="23" name="TextBox 22"/>
          <p:cNvSpPr txBox="1"/>
          <p:nvPr/>
        </p:nvSpPr>
        <p:spPr>
          <a:xfrm>
            <a:off x="9696450" y="1238250"/>
            <a:ext cx="2266950" cy="228600"/>
          </a:xfrm>
          <a:prstGeom prst="rect">
            <a:avLst/>
          </a:prstGeom>
          <a:noFill/>
        </p:spPr>
        <p:txBody>
          <a:bodyPr wrap="square" lIns="28575" tIns="9525" rIns="2857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85750" y="1733550"/>
            <a:ext cx="2576512" cy="171450"/>
          </a:xfrm>
          <a:prstGeom prst="rect">
            <a:avLst/>
          </a:prstGeom>
          <a:noFill/>
        </p:spPr>
        <p:txBody>
          <a:bodyPr wrap="square" lIns="28575" tIns="9525" rIns="28575" bIns="9525" anchor="t">
            <a:spAutoFit/>
          </a:bodyPr>
          <a:lstStyle/>
          <a:p>
            <a:pPr algn="l"/>
            <a:r>
              <a:rPr sz="1100" b="1">
                <a:solidFill>
                  <a:srgbClr val="0F2D52"/>
                </a:solidFill>
                <a:latin typeface="Calibri"/>
              </a:rPr>
              <a:t>1. Capsules and Softgels</a:t>
            </a:r>
          </a:p>
        </p:txBody>
      </p:sp>
      <p:sp>
        <p:nvSpPr>
          <p:cNvPr id="28" name="TextBox 27"/>
          <p:cNvSpPr txBox="1"/>
          <p:nvPr/>
        </p:nvSpPr>
        <p:spPr>
          <a:xfrm>
            <a:off x="285750" y="1924050"/>
            <a:ext cx="666750" cy="190500"/>
          </a:xfrm>
          <a:prstGeom prst="rect">
            <a:avLst/>
          </a:prstGeom>
          <a:noFill/>
        </p:spPr>
        <p:txBody>
          <a:bodyPr wrap="none" lIns="0" tIns="0" rIns="0" bIns="0" anchor="t">
            <a:spAutoFit/>
          </a:bodyPr>
          <a:lstStyle/>
          <a:p>
            <a:pPr algn="l"/>
            <a:r>
              <a:rPr sz="1100" b="1">
                <a:solidFill>
                  <a:srgbClr val="1F2933"/>
                </a:solidFill>
                <a:latin typeface="Calibri"/>
              </a:rPr>
              <a:t> </a:t>
            </a:r>
          </a:p>
        </p:txBody>
      </p:sp>
      <p:sp>
        <p:nvSpPr>
          <p:cNvPr id="29" name="TextBox 28"/>
          <p:cNvSpPr txBox="1"/>
          <p:nvPr/>
        </p:nvSpPr>
        <p:spPr>
          <a:xfrm>
            <a:off x="971550" y="1924050"/>
            <a:ext cx="1890712" cy="190500"/>
          </a:xfrm>
          <a:prstGeom prst="rect">
            <a:avLst/>
          </a:prstGeom>
          <a:noFill/>
        </p:spPr>
        <p:txBody>
          <a:bodyPr wrap="square" lIns="28575" tIns="9525" rIns="2857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tIns="0" r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tIns="9525" rIns="2857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tIns="9525" rIns="28575" bIns="9525" anchor="t">
            <a:spAutoFit/>
          </a:bodyPr>
          <a:lstStyle/>
          <a:p>
            <a:pPr algn="l"/>
            <a:r>
              <a:rPr sz="1100" b="1">
                <a:solidFill>
                  <a:srgbClr val="1F2933"/>
                </a:solidFill>
                <a:latin typeface="Calibri"/>
              </a:rPr>
              <a:t>●  Dr. Fossum's</a:t>
            </a:r>
          </a:p>
        </p:txBody>
      </p:sp>
      <p:sp>
        <p:nvSpPr>
          <p:cNvPr id="35" name="TextBox 34"/>
          <p:cNvSpPr txBox="1"/>
          <p:nvPr/>
        </p:nvSpPr>
        <p:spPr>
          <a:xfrm>
            <a:off x="285750" y="281940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Standard Process</a:t>
            </a:r>
          </a:p>
        </p:txBody>
      </p:sp>
      <p:sp>
        <p:nvSpPr>
          <p:cNvPr id="37" name="TextBox 36"/>
          <p:cNvSpPr txBox="1"/>
          <p:nvPr/>
        </p:nvSpPr>
        <p:spPr>
          <a:xfrm>
            <a:off x="285750" y="316230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VetriScience</a:t>
            </a:r>
          </a:p>
        </p:txBody>
      </p:sp>
      <p:sp>
        <p:nvSpPr>
          <p:cNvPr id="38" name="TextBox 37"/>
          <p:cNvSpPr txBox="1"/>
          <p:nvPr/>
        </p:nvSpPr>
        <p:spPr>
          <a:xfrm>
            <a:off x="285750" y="333375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PetHeal</a:t>
            </a:r>
          </a:p>
        </p:txBody>
      </p:sp>
      <p:sp>
        <p:nvSpPr>
          <p:cNvPr id="39" name="TextBox 38"/>
          <p:cNvSpPr txBox="1"/>
          <p:nvPr/>
        </p:nvSpPr>
        <p:spPr>
          <a:xfrm>
            <a:off x="285750" y="350520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Senior Dogs Club</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tIns="9525" rIns="28575" bIns="9525" anchor="t">
            <a:spAutoFit/>
          </a:bodyPr>
          <a:lstStyle/>
          <a:p>
            <a:pPr algn="l">
              <a:lnSpc>
                <a:spcPct val="115000"/>
              </a:lnSpc>
            </a:pPr>
            <a:endParaRP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300412" y="1733550"/>
            <a:ext cx="2576512" cy="171450"/>
          </a:xfrm>
          <a:prstGeom prst="rect">
            <a:avLst/>
          </a:prstGeom>
          <a:noFill/>
        </p:spPr>
        <p:txBody>
          <a:bodyPr wrap="square" lIns="28575" tIns="9525" rIns="28575" bIns="9525" anchor="t">
            <a:spAutoFit/>
          </a:bodyPr>
          <a:lstStyle/>
          <a:p>
            <a:pPr algn="l"/>
            <a:r>
              <a:rPr sz="1100" b="1">
                <a:solidFill>
                  <a:srgbClr val="0F2D52"/>
                </a:solidFill>
                <a:latin typeface="Calibri"/>
              </a:rPr>
              <a:t> </a:t>
            </a:r>
          </a:p>
        </p:txBody>
      </p:sp>
      <p:sp>
        <p:nvSpPr>
          <p:cNvPr id="48" name="TextBox 47"/>
          <p:cNvSpPr txBox="1"/>
          <p:nvPr/>
        </p:nvSpPr>
        <p:spPr>
          <a:xfrm>
            <a:off x="3300412" y="1924050"/>
            <a:ext cx="666750" cy="190500"/>
          </a:xfrm>
          <a:prstGeom prst="rect">
            <a:avLst/>
          </a:prstGeom>
          <a:noFill/>
        </p:spPr>
        <p:txBody>
          <a:bodyPr wrap="none" lIns="0" tIns="0" rIns="0" bIns="0" anchor="t">
            <a:spAutoFit/>
          </a:bodyPr>
          <a:lstStyle/>
          <a:p>
            <a:pPr algn="l"/>
            <a:r>
              <a:rPr sz="1100" b="1">
                <a:solidFill>
                  <a:srgbClr val="1F2933"/>
                </a:solidFill>
                <a:latin typeface="Calibri"/>
              </a:rPr>
              <a:t> </a:t>
            </a:r>
          </a:p>
        </p:txBody>
      </p:sp>
      <p:sp>
        <p:nvSpPr>
          <p:cNvPr id="49" name="TextBox 48"/>
          <p:cNvSpPr txBox="1"/>
          <p:nvPr/>
        </p:nvSpPr>
        <p:spPr>
          <a:xfrm>
            <a:off x="3986212" y="1924050"/>
            <a:ext cx="1890712" cy="190500"/>
          </a:xfrm>
          <a:prstGeom prst="rect">
            <a:avLst/>
          </a:prstGeom>
          <a:noFill/>
        </p:spPr>
        <p:txBody>
          <a:bodyPr wrap="square" lIns="28575" tIns="9525" rIns="2857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tIns="0" r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tIns="9525" rIns="2857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tIns="9525" rIns="28575" bIns="9525" anchor="t">
            <a:spAutoFit/>
          </a:bodyPr>
          <a:lstStyle/>
          <a:p>
            <a:pPr algn="l"/>
            <a:r>
              <a:rPr sz="1100" b="1">
                <a:solidFill>
                  <a:srgbClr val="1F2933"/>
                </a:solidFill>
                <a:latin typeface="Calibri"/>
              </a:rPr>
              <a:t>●  Standard Process</a:t>
            </a:r>
          </a:p>
        </p:txBody>
      </p:sp>
      <p:sp>
        <p:nvSpPr>
          <p:cNvPr id="55" name="TextBox 54"/>
          <p:cNvSpPr txBox="1"/>
          <p:nvPr/>
        </p:nvSpPr>
        <p:spPr>
          <a:xfrm>
            <a:off x="3300412" y="281940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VetriScience</a:t>
            </a:r>
          </a:p>
        </p:txBody>
      </p:sp>
      <p:sp>
        <p:nvSpPr>
          <p:cNvPr id="57" name="TextBox 56"/>
          <p:cNvSpPr txBox="1"/>
          <p:nvPr/>
        </p:nvSpPr>
        <p:spPr>
          <a:xfrm>
            <a:off x="3300412" y="316230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Nestlé Purina PetCare</a:t>
            </a:r>
          </a:p>
        </p:txBody>
      </p:sp>
      <p:sp>
        <p:nvSpPr>
          <p:cNvPr id="58" name="TextBox 57"/>
          <p:cNvSpPr txBox="1"/>
          <p:nvPr/>
        </p:nvSpPr>
        <p:spPr>
          <a:xfrm>
            <a:off x="3300412" y="333375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PetHeal</a:t>
            </a:r>
          </a:p>
        </p:txBody>
      </p:sp>
      <p:sp>
        <p:nvSpPr>
          <p:cNvPr id="59" name="TextBox 58"/>
          <p:cNvSpPr txBox="1"/>
          <p:nvPr/>
        </p:nvSpPr>
        <p:spPr>
          <a:xfrm>
            <a:off x="3300412" y="350520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Senior Dogs Club</a:t>
            </a:r>
          </a:p>
        </p:txBody>
      </p:sp>
      <p:cxnSp>
        <p:nvCxnSpPr>
          <p:cNvPr id="60" name="Connector 59"/>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00412" y="449580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WHAT TO WATCH</a:t>
            </a:r>
          </a:p>
        </p:txBody>
      </p:sp>
      <p:sp>
        <p:nvSpPr>
          <p:cNvPr id="62" name="TextBox 61"/>
          <p:cNvSpPr txBox="1"/>
          <p:nvPr/>
        </p:nvSpPr>
        <p:spPr>
          <a:xfrm>
            <a:off x="3300412" y="4667250"/>
            <a:ext cx="2576512" cy="666750"/>
          </a:xfrm>
          <a:prstGeom prst="rect">
            <a:avLst/>
          </a:prstGeom>
          <a:noFill/>
        </p:spPr>
        <p:txBody>
          <a:bodyPr wrap="square" lIns="28575" tIns="9525" rIns="28575" bIns="9525" anchor="t">
            <a:spAutoFit/>
          </a:bodyPr>
          <a:lstStyle/>
          <a:p>
            <a:pPr algn="l">
              <a:lnSpc>
                <a:spcPct val="115000"/>
              </a:lnSpc>
            </a:pPr>
            <a:endParaRPr/>
          </a:p>
        </p:txBody>
      </p:sp>
      <p:cxnSp>
        <p:nvCxnSpPr>
          <p:cNvPr id="63" name="Connector 62"/>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5075" y="1733550"/>
            <a:ext cx="2576512" cy="171450"/>
          </a:xfrm>
          <a:prstGeom prst="rect">
            <a:avLst/>
          </a:prstGeom>
          <a:noFill/>
        </p:spPr>
        <p:txBody>
          <a:bodyPr wrap="square" lIns="28575" tIns="9525" rIns="28575" bIns="9525" anchor="t">
            <a:spAutoFit/>
          </a:bodyPr>
          <a:lstStyle/>
          <a:p>
            <a:pPr algn="l"/>
            <a:r>
              <a:rPr sz="1100" b="1">
                <a:solidFill>
                  <a:srgbClr val="0F2D52"/>
                </a:solidFill>
                <a:latin typeface="Calibri"/>
              </a:rPr>
              <a:t>3. Chewables</a:t>
            </a:r>
          </a:p>
        </p:txBody>
      </p:sp>
      <p:sp>
        <p:nvSpPr>
          <p:cNvPr id="68" name="TextBox 67"/>
          <p:cNvSpPr txBox="1"/>
          <p:nvPr/>
        </p:nvSpPr>
        <p:spPr>
          <a:xfrm>
            <a:off x="6315075" y="1924050"/>
            <a:ext cx="666750" cy="190500"/>
          </a:xfrm>
          <a:prstGeom prst="rect">
            <a:avLst/>
          </a:prstGeom>
          <a:noFill/>
        </p:spPr>
        <p:txBody>
          <a:bodyPr wrap="none" lIns="0" tIns="0" rIns="0" bIns="0" anchor="t">
            <a:spAutoFit/>
          </a:bodyPr>
          <a:lstStyle/>
          <a:p>
            <a:pPr algn="l"/>
            <a:r>
              <a:rPr sz="1100" b="1">
                <a:solidFill>
                  <a:srgbClr val="1F2933"/>
                </a:solidFill>
                <a:latin typeface="Calibri"/>
              </a:rPr>
              <a:t> </a:t>
            </a:r>
          </a:p>
        </p:txBody>
      </p:sp>
      <p:sp>
        <p:nvSpPr>
          <p:cNvPr id="69" name="TextBox 68"/>
          <p:cNvSpPr txBox="1"/>
          <p:nvPr/>
        </p:nvSpPr>
        <p:spPr>
          <a:xfrm>
            <a:off x="7000875" y="1924050"/>
            <a:ext cx="1890712" cy="190500"/>
          </a:xfrm>
          <a:prstGeom prst="rect">
            <a:avLst/>
          </a:prstGeom>
          <a:noFill/>
        </p:spPr>
        <p:txBody>
          <a:bodyPr wrap="square" lIns="28575" tIns="9525" rIns="28575" bIns="9525" anchor="t">
            <a:spAutoFit/>
          </a:bodyPr>
          <a:lstStyle/>
          <a:p>
            <a:pPr algn="l"/>
            <a:r>
              <a:rPr sz="1100" b="1">
                <a:solidFill>
                  <a:srgbClr val="1F2933"/>
                </a:solidFill>
                <a:latin typeface="Calibri"/>
              </a:rPr>
              <a:t>of market</a:t>
            </a:r>
          </a:p>
        </p:txBody>
      </p:sp>
      <p:sp>
        <p:nvSpPr>
          <p:cNvPr id="70" name="TextBox 69"/>
          <p:cNvSpPr txBox="1"/>
          <p:nvPr/>
        </p:nvSpPr>
        <p:spPr>
          <a:xfrm>
            <a:off x="6315075" y="2133600"/>
            <a:ext cx="666750" cy="190500"/>
          </a:xfrm>
          <a:prstGeom prst="rect">
            <a:avLst/>
          </a:prstGeom>
          <a:noFill/>
        </p:spPr>
        <p:txBody>
          <a:bodyPr wrap="none" lIns="0" tIns="0" rIns="0" bIns="0" anchor="t">
            <a:spAutoFit/>
          </a:bodyPr>
          <a:lstStyle/>
          <a:p>
            <a:pPr algn="l"/>
            <a:r>
              <a:rPr sz="1100" b="0">
                <a:solidFill>
                  <a:srgbClr val="5F6B7A"/>
                </a:solidFill>
                <a:latin typeface="Calibri"/>
              </a:rPr>
              <a:t> </a:t>
            </a:r>
          </a:p>
        </p:txBody>
      </p:sp>
      <p:sp>
        <p:nvSpPr>
          <p:cNvPr id="71" name="TextBox 70"/>
          <p:cNvSpPr txBox="1"/>
          <p:nvPr/>
        </p:nvSpPr>
        <p:spPr>
          <a:xfrm>
            <a:off x="7000875" y="2133600"/>
            <a:ext cx="1890712" cy="190500"/>
          </a:xfrm>
          <a:prstGeom prst="rect">
            <a:avLst/>
          </a:prstGeom>
          <a:noFill/>
        </p:spPr>
        <p:txBody>
          <a:bodyPr wrap="square" lIns="28575" tIns="9525" rIns="28575" bIns="9525" anchor="t">
            <a:spAutoFit/>
          </a:bodyPr>
          <a:lstStyle/>
          <a:p>
            <a:pPr algn="l"/>
            <a:r>
              <a:rPr sz="1100" b="0">
                <a:solidFill>
                  <a:srgbClr val="5F6B7A"/>
                </a:solidFill>
                <a:latin typeface="Calibri"/>
              </a:rPr>
              <a:t>CAGR 2026–2036</a:t>
            </a:r>
          </a:p>
        </p:txBody>
      </p:sp>
      <p:cxnSp>
        <p:nvCxnSpPr>
          <p:cNvPr id="72" name="Connector 71"/>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15075" y="241935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LEADS</a:t>
            </a:r>
          </a:p>
        </p:txBody>
      </p:sp>
      <p:sp>
        <p:nvSpPr>
          <p:cNvPr id="74" name="TextBox 73"/>
          <p:cNvSpPr txBox="1"/>
          <p:nvPr/>
        </p:nvSpPr>
        <p:spPr>
          <a:xfrm>
            <a:off x="6315075" y="2590800"/>
            <a:ext cx="2576512" cy="171450"/>
          </a:xfrm>
          <a:prstGeom prst="rect">
            <a:avLst/>
          </a:prstGeom>
          <a:noFill/>
        </p:spPr>
        <p:txBody>
          <a:bodyPr wrap="square" lIns="28575" tIns="9525" rIns="28575" bIns="9525" anchor="t">
            <a:spAutoFit/>
          </a:bodyPr>
          <a:lstStyle/>
          <a:p>
            <a:pPr algn="l"/>
            <a:r>
              <a:rPr sz="1100" b="1">
                <a:solidFill>
                  <a:srgbClr val="1F2933"/>
                </a:solidFill>
                <a:latin typeface="Calibri"/>
              </a:rPr>
              <a:t>●  Standard Process</a:t>
            </a:r>
          </a:p>
        </p:txBody>
      </p:sp>
      <p:sp>
        <p:nvSpPr>
          <p:cNvPr id="75" name="TextBox 74"/>
          <p:cNvSpPr txBox="1"/>
          <p:nvPr/>
        </p:nvSpPr>
        <p:spPr>
          <a:xfrm>
            <a:off x="6315075" y="281940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ALSO ACTIVE</a:t>
            </a:r>
          </a:p>
        </p:txBody>
      </p:sp>
      <p:sp>
        <p:nvSpPr>
          <p:cNvPr id="76" name="TextBox 75"/>
          <p:cNvSpPr txBox="1"/>
          <p:nvPr/>
        </p:nvSpPr>
        <p:spPr>
          <a:xfrm>
            <a:off x="6315075" y="299085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Dr. Fossum's</a:t>
            </a:r>
          </a:p>
        </p:txBody>
      </p:sp>
      <p:sp>
        <p:nvSpPr>
          <p:cNvPr id="77" name="TextBox 76"/>
          <p:cNvSpPr txBox="1"/>
          <p:nvPr/>
        </p:nvSpPr>
        <p:spPr>
          <a:xfrm>
            <a:off x="6315075" y="316230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Nestlé Purina PetCare</a:t>
            </a:r>
          </a:p>
        </p:txBody>
      </p:sp>
      <p:sp>
        <p:nvSpPr>
          <p:cNvPr id="78" name="TextBox 77"/>
          <p:cNvSpPr txBox="1"/>
          <p:nvPr/>
        </p:nvSpPr>
        <p:spPr>
          <a:xfrm>
            <a:off x="6315075" y="333375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PetHeal</a:t>
            </a:r>
          </a:p>
        </p:txBody>
      </p:sp>
      <p:sp>
        <p:nvSpPr>
          <p:cNvPr id="79" name="TextBox 78"/>
          <p:cNvSpPr txBox="1"/>
          <p:nvPr/>
        </p:nvSpPr>
        <p:spPr>
          <a:xfrm>
            <a:off x="6315075" y="3505200"/>
            <a:ext cx="2576512" cy="171450"/>
          </a:xfrm>
          <a:prstGeom prst="rect">
            <a:avLst/>
          </a:prstGeom>
          <a:noFill/>
        </p:spPr>
        <p:txBody>
          <a:bodyPr wrap="square" lIns="28575" tIns="9525" rIns="28575" bIns="9525" anchor="t">
            <a:spAutoFit/>
          </a:bodyPr>
          <a:lstStyle/>
          <a:p>
            <a:pPr algn="l"/>
            <a:r>
              <a:rPr sz="1100" b="0">
                <a:solidFill>
                  <a:srgbClr val="1F2933"/>
                </a:solidFill>
                <a:latin typeface="Calibri"/>
              </a:rPr>
              <a:t>●  VISYO Corporation</a:t>
            </a:r>
          </a:p>
        </p:txBody>
      </p:sp>
      <p:cxnSp>
        <p:nvCxnSpPr>
          <p:cNvPr id="80" name="Connector 79"/>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315075" y="449580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WHAT TO WATCH</a:t>
            </a:r>
          </a:p>
        </p:txBody>
      </p:sp>
      <p:sp>
        <p:nvSpPr>
          <p:cNvPr id="82" name="TextBox 81"/>
          <p:cNvSpPr txBox="1"/>
          <p:nvPr/>
        </p:nvSpPr>
        <p:spPr>
          <a:xfrm>
            <a:off x="6315075" y="4667250"/>
            <a:ext cx="2576512" cy="666750"/>
          </a:xfrm>
          <a:prstGeom prst="rect">
            <a:avLst/>
          </a:prstGeom>
          <a:noFill/>
        </p:spPr>
        <p:txBody>
          <a:bodyPr wrap="square" lIns="28575" tIns="9525" rIns="28575" bIns="9525" anchor="t">
            <a:spAutoFit/>
          </a:bodyPr>
          <a:lstStyle/>
          <a:p>
            <a:pPr algn="l">
              <a:lnSpc>
                <a:spcPct val="115000"/>
              </a:lnSpc>
            </a:pPr>
            <a:endParaRPr/>
          </a:p>
        </p:txBody>
      </p:sp>
      <p:cxnSp>
        <p:nvCxnSpPr>
          <p:cNvPr id="83" name="Connector 82"/>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9329738" y="1733550"/>
            <a:ext cx="2576512" cy="171450"/>
          </a:xfrm>
          <a:prstGeom prst="rect">
            <a:avLst/>
          </a:prstGeom>
          <a:noFill/>
        </p:spPr>
        <p:txBody>
          <a:bodyPr wrap="square" lIns="28575" tIns="9525" rIns="28575" bIns="9525" anchor="t">
            <a:spAutoFit/>
          </a:bodyPr>
          <a:lstStyle/>
          <a:p>
            <a:pPr algn="l"/>
            <a:r>
              <a:rPr sz="1100" b="1">
                <a:solidFill>
                  <a:srgbClr val="0F2D52"/>
                </a:solidFill>
                <a:latin typeface="Calibri"/>
              </a:rPr>
              <a:t>4. End-use Application</a:t>
            </a:r>
          </a:p>
        </p:txBody>
      </p:sp>
      <p:sp>
        <p:nvSpPr>
          <p:cNvPr id="88" name="TextBox 87"/>
          <p:cNvSpPr txBox="1"/>
          <p:nvPr/>
        </p:nvSpPr>
        <p:spPr>
          <a:xfrm>
            <a:off x="9329738" y="1924050"/>
            <a:ext cx="2576512" cy="190500"/>
          </a:xfrm>
          <a:prstGeom prst="rect">
            <a:avLst/>
          </a:prstGeom>
          <a:noFill/>
        </p:spPr>
        <p:txBody>
          <a:bodyPr wrap="square" lIns="28575" tIns="9525" rIns="28575" bIns="9525" anchor="t">
            <a:spAutoFit/>
          </a:bodyPr>
          <a:lstStyle/>
          <a:p>
            <a:pPr algn="l"/>
            <a:r>
              <a:rPr sz="1100" b="1">
                <a:solidFill>
                  <a:srgbClr val="1F2933"/>
                </a:solidFill>
                <a:latin typeface="Calibri"/>
              </a:rPr>
              <a:t>By application</a:t>
            </a:r>
          </a:p>
        </p:txBody>
      </p:sp>
      <p:sp>
        <p:nvSpPr>
          <p:cNvPr id="89" name="TextBox 88"/>
          <p:cNvSpPr txBox="1"/>
          <p:nvPr/>
        </p:nvSpPr>
        <p:spPr>
          <a:xfrm>
            <a:off x="9329738" y="2133600"/>
            <a:ext cx="2576512" cy="190500"/>
          </a:xfrm>
          <a:prstGeom prst="rect">
            <a:avLst/>
          </a:prstGeom>
          <a:noFill/>
        </p:spPr>
        <p:txBody>
          <a:bodyPr wrap="square" lIns="28575" tIns="9525" rIns="28575" bIns="9525" anchor="t">
            <a:spAutoFit/>
          </a:bodyPr>
          <a:lstStyle/>
          <a:p>
            <a:pPr algn="l"/>
            <a:r>
              <a:rPr sz="1100" b="0">
                <a:solidFill>
                  <a:srgbClr val="5F6B7A"/>
                </a:solidFill>
                <a:latin typeface="Calibri"/>
              </a:rPr>
              <a:t>Who buys the output.</a:t>
            </a:r>
          </a:p>
        </p:txBody>
      </p:sp>
      <p:cxnSp>
        <p:nvCxnSpPr>
          <p:cNvPr id="90" name="Connector 89"/>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329738" y="2419350"/>
            <a:ext cx="1333500" cy="32385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Support for Observable Age-Related Cognitive Changes</a:t>
            </a:r>
          </a:p>
        </p:txBody>
      </p:sp>
      <p:sp>
        <p:nvSpPr>
          <p:cNvPr id="92" name="Rectangle 91"/>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11487150" y="2486025"/>
            <a:ext cx="476250" cy="190500"/>
          </a:xfrm>
          <a:prstGeom prst="rect">
            <a:avLst/>
          </a:prstGeom>
          <a:noFill/>
        </p:spPr>
        <p:txBody>
          <a:bodyPr wrap="none" lIns="0" tIns="0" rIns="0" bIns="0" anchor="ctr">
            <a:spAutoFit/>
          </a:bodyPr>
          <a:lstStyle/>
          <a:p>
            <a:pPr algn="l"/>
            <a:r>
              <a:rPr sz="1100" b="1">
                <a:solidFill>
                  <a:srgbClr val="1F2933"/>
                </a:solidFill>
                <a:latin typeface="Calibri"/>
              </a:rPr>
              <a:t> </a:t>
            </a:r>
          </a:p>
        </p:txBody>
      </p:sp>
      <p:sp>
        <p:nvSpPr>
          <p:cNvPr id="94" name="TextBox 93"/>
          <p:cNvSpPr txBox="1"/>
          <p:nvPr/>
        </p:nvSpPr>
        <p:spPr>
          <a:xfrm>
            <a:off x="9329738" y="2743200"/>
            <a:ext cx="1333500" cy="32385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Routine Cognitive Wellness</a:t>
            </a:r>
          </a:p>
        </p:txBody>
      </p:sp>
      <p:sp>
        <p:nvSpPr>
          <p:cNvPr id="95" name="Rectangle 94"/>
          <p:cNvSpPr/>
          <p:nvPr/>
        </p:nvSpPr>
        <p:spPr>
          <a:xfrm>
            <a:off x="10682288" y="2847975"/>
            <a:ext cx="264235"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0984622" y="2809875"/>
            <a:ext cx="476250" cy="190500"/>
          </a:xfrm>
          <a:prstGeom prst="rect">
            <a:avLst/>
          </a:prstGeom>
          <a:noFill/>
        </p:spPr>
        <p:txBody>
          <a:bodyPr wrap="none" lIns="0" tIns="0" rIns="0" bIns="0" anchor="ctr">
            <a:spAutoFit/>
          </a:bodyPr>
          <a:lstStyle/>
          <a:p>
            <a:pPr algn="l"/>
            <a:r>
              <a:rPr sz="1100" b="1">
                <a:solidFill>
                  <a:srgbClr val="1F2933"/>
                </a:solidFill>
                <a:latin typeface="Calibri"/>
              </a:rPr>
              <a:t> </a:t>
            </a:r>
          </a:p>
        </p:txBody>
      </p:sp>
      <p:sp>
        <p:nvSpPr>
          <p:cNvPr id="97" name="TextBox 96"/>
          <p:cNvSpPr txBox="1"/>
          <p:nvPr/>
        </p:nvSpPr>
        <p:spPr>
          <a:xfrm>
            <a:off x="9329738" y="3067050"/>
            <a:ext cx="1333500" cy="32385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Preventive Cognitive Support for Senior Dogs</a:t>
            </a:r>
          </a:p>
        </p:txBody>
      </p:sp>
      <p:sp>
        <p:nvSpPr>
          <p:cNvPr id="98" name="Rectangle 97"/>
          <p:cNvSpPr/>
          <p:nvPr/>
        </p:nvSpPr>
        <p:spPr>
          <a:xfrm>
            <a:off x="10682288" y="3171825"/>
            <a:ext cx="96994"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0817382" y="3133725"/>
            <a:ext cx="476250" cy="190500"/>
          </a:xfrm>
          <a:prstGeom prst="rect">
            <a:avLst/>
          </a:prstGeom>
          <a:noFill/>
        </p:spPr>
        <p:txBody>
          <a:bodyPr wrap="none" lIns="0" tIns="0" rIns="0" bIns="0" anchor="ctr">
            <a:spAutoFit/>
          </a:bodyPr>
          <a:lstStyle/>
          <a:p>
            <a:pPr algn="l"/>
            <a:r>
              <a:rPr sz="1100" b="1">
                <a:solidFill>
                  <a:srgbClr val="1F2933"/>
                </a:solidFill>
                <a:latin typeface="Calibri"/>
              </a:rPr>
              <a:t> </a:t>
            </a:r>
          </a:p>
        </p:txBody>
      </p:sp>
      <p:sp>
        <p:nvSpPr>
          <p:cNvPr id="100" name="TextBox 99"/>
          <p:cNvSpPr txBox="1"/>
          <p:nvPr/>
        </p:nvSpPr>
        <p:spPr>
          <a:xfrm>
            <a:off x="9329738" y="3390900"/>
            <a:ext cx="1333500" cy="32385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Veterinary-Guided Cognitive Dysfunction Support</a:t>
            </a:r>
          </a:p>
        </p:txBody>
      </p:sp>
      <p:sp>
        <p:nvSpPr>
          <p:cNvPr id="101" name="Rectangle 100"/>
          <p:cNvSpPr/>
          <p:nvPr/>
        </p:nvSpPr>
        <p:spPr>
          <a:xfrm>
            <a:off x="10682288" y="3495675"/>
            <a:ext cx="90711"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10811099" y="3457575"/>
            <a:ext cx="476250" cy="1905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103" name="Connector 102"/>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9329738" y="4495800"/>
            <a:ext cx="2576512" cy="152400"/>
          </a:xfrm>
          <a:prstGeom prst="rect">
            <a:avLst/>
          </a:prstGeom>
          <a:noFill/>
        </p:spPr>
        <p:txBody>
          <a:bodyPr wrap="square" lIns="28575" tIns="9525" rIns="28575" bIns="9525" anchor="t">
            <a:spAutoFit/>
          </a:bodyPr>
          <a:lstStyle/>
          <a:p>
            <a:pPr algn="l"/>
            <a:r>
              <a:rPr sz="1100" b="1">
                <a:solidFill>
                  <a:srgbClr val="0F2D52"/>
                </a:solidFill>
                <a:latin typeface="Calibri"/>
              </a:rPr>
              <a:t>WHAT TO WATCH</a:t>
            </a:r>
          </a:p>
        </p:txBody>
      </p:sp>
      <p:sp>
        <p:nvSpPr>
          <p:cNvPr id="105" name="TextBox 104"/>
          <p:cNvSpPr txBox="1"/>
          <p:nvPr/>
        </p:nvSpPr>
        <p:spPr>
          <a:xfrm>
            <a:off x="9329738" y="4667250"/>
            <a:ext cx="2576512" cy="666750"/>
          </a:xfrm>
          <a:prstGeom prst="rect">
            <a:avLst/>
          </a:prstGeom>
          <a:noFill/>
        </p:spPr>
        <p:txBody>
          <a:bodyPr wrap="square" lIns="28575" tIns="9525" rIns="28575" bIns="9525" anchor="t">
            <a:spAutoFit/>
          </a:bodyPr>
          <a:lstStyle/>
          <a:p>
            <a:pPr algn="l">
              <a:lnSpc>
                <a:spcPct val="115000"/>
              </a:lnSpc>
            </a:pPr>
            <a:endParaRPr/>
          </a:p>
        </p:txBody>
      </p:sp>
      <p:sp>
        <p:nvSpPr>
          <p:cNvPr id="106" name="Rectangle 105"/>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304800" y="5467350"/>
            <a:ext cx="1047750" cy="400050"/>
          </a:xfrm>
          <a:prstGeom prst="rect">
            <a:avLst/>
          </a:prstGeom>
          <a:noFill/>
        </p:spPr>
        <p:txBody>
          <a:bodyPr wrap="square" lIns="28575" tIns="9525" rIns="28575" bIns="9525" anchor="ctr">
            <a:spAutoFit/>
          </a:bodyPr>
          <a:lstStyle/>
          <a:p>
            <a:pPr algn="l"/>
            <a:r>
              <a:rPr sz="1100" b="1">
                <a:solidFill>
                  <a:srgbClr val="0F2D52"/>
                </a:solidFill>
                <a:latin typeface="Calibri"/>
              </a:rPr>
              <a:t>ENABLERS</a:t>
            </a:r>
          </a:p>
        </p:txBody>
      </p:sp>
      <p:sp>
        <p:nvSpPr>
          <p:cNvPr id="109" name="TextBox 108"/>
          <p:cNvSpPr txBox="1"/>
          <p:nvPr/>
        </p:nvSpPr>
        <p:spPr>
          <a:xfrm>
            <a:off x="1428750" y="5467350"/>
            <a:ext cx="10477500" cy="40005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Chewables Compounds Fastest Across the Form Type Mix  |  South Asia &amp; Pacific Emerges as the Growth Engine Among Regions  |  Premiumisation Lifts Average Realisation</a:t>
            </a:r>
          </a:p>
        </p:txBody>
      </p:sp>
      <p:sp>
        <p:nvSpPr>
          <p:cNvPr id="110" name="Rectangle 109"/>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304800" y="5924550"/>
            <a:ext cx="1047750" cy="400050"/>
          </a:xfrm>
          <a:prstGeom prst="rect">
            <a:avLst/>
          </a:prstGeom>
          <a:noFill/>
        </p:spPr>
        <p:txBody>
          <a:bodyPr wrap="square" lIns="28575" tIns="9525" rIns="28575" bIns="9525" anchor="ctr">
            <a:spAutoFit/>
          </a:bodyPr>
          <a:lstStyle/>
          <a:p>
            <a:pPr algn="l"/>
            <a:r>
              <a:rPr sz="1100" b="1">
                <a:solidFill>
                  <a:srgbClr val="8B1E2D"/>
                </a:solidFill>
                <a:latin typeface="Calibri"/>
              </a:rPr>
              <a:t>CONSTRAINTS</a:t>
            </a:r>
          </a:p>
        </p:txBody>
      </p:sp>
      <p:sp>
        <p:nvSpPr>
          <p:cNvPr id="113" name="TextBox 112"/>
          <p:cNvSpPr txBox="1"/>
          <p:nvPr/>
        </p:nvSpPr>
        <p:spPr>
          <a:xfrm>
            <a:off x="1428750" y="5924550"/>
            <a:ext cx="10477500" cy="40005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Liquids Lags the Category and Dilutes Blended Growth  |  Uneven Region Performance Caps the Blended Rate  |  Concentration Risk Limits Pricing and Sourcing Flexibility</a:t>
            </a:r>
          </a:p>
        </p:txBody>
      </p:sp>
      <p:sp>
        <p:nvSpPr>
          <p:cNvPr id="114" name="TextBox 1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15" name="Picture 114" descr="lock.png"/>
          <p:cNvPicPr>
            <a:picLocks noChangeAspect="1"/>
          </p:cNvPicPr>
          <p:nvPr/>
        </p:nvPicPr>
        <p:blipFill>
          <a:blip r:embed="rId4"/>
          <a:stretch>
            <a:fillRect/>
          </a:stretch>
        </p:blipFill>
        <p:spPr>
          <a:xfrm>
            <a:off x="1316775" y="1258951"/>
            <a:ext cx="128699" cy="187198"/>
          </a:xfrm>
          <a:prstGeom prst="rect">
            <a:avLst/>
          </a:prstGeom>
        </p:spPr>
      </p:pic>
      <p:pic>
        <p:nvPicPr>
          <p:cNvPr id="116" name="Picture 115" descr="lock.png"/>
          <p:cNvPicPr>
            <a:picLocks noChangeAspect="1"/>
          </p:cNvPicPr>
          <p:nvPr/>
        </p:nvPicPr>
        <p:blipFill>
          <a:blip r:embed="rId4"/>
          <a:stretch>
            <a:fillRect/>
          </a:stretch>
        </p:blipFill>
        <p:spPr>
          <a:xfrm>
            <a:off x="3678975" y="1258951"/>
            <a:ext cx="128699" cy="187198"/>
          </a:xfrm>
          <a:prstGeom prst="rect">
            <a:avLst/>
          </a:prstGeom>
        </p:spPr>
      </p:pic>
      <p:pic>
        <p:nvPicPr>
          <p:cNvPr id="117" name="Picture 116" descr="lock.png"/>
          <p:cNvPicPr>
            <a:picLocks noChangeAspect="1"/>
          </p:cNvPicPr>
          <p:nvPr/>
        </p:nvPicPr>
        <p:blipFill>
          <a:blip r:embed="rId4"/>
          <a:stretch>
            <a:fillRect/>
          </a:stretch>
        </p:blipFill>
        <p:spPr>
          <a:xfrm>
            <a:off x="6041175" y="1258951"/>
            <a:ext cx="128699" cy="187198"/>
          </a:xfrm>
          <a:prstGeom prst="rect">
            <a:avLst/>
          </a:prstGeom>
        </p:spPr>
      </p:pic>
      <p:pic>
        <p:nvPicPr>
          <p:cNvPr id="118" name="Picture 117" descr="lock.png"/>
          <p:cNvPicPr>
            <a:picLocks noChangeAspect="1"/>
          </p:cNvPicPr>
          <p:nvPr/>
        </p:nvPicPr>
        <p:blipFill>
          <a:blip r:embed="rId4"/>
          <a:stretch>
            <a:fillRect/>
          </a:stretch>
        </p:blipFill>
        <p:spPr>
          <a:xfrm>
            <a:off x="8403375" y="1258951"/>
            <a:ext cx="128699" cy="187198"/>
          </a:xfrm>
          <a:prstGeom prst="rect">
            <a:avLst/>
          </a:prstGeom>
        </p:spPr>
      </p:pic>
      <p:pic>
        <p:nvPicPr>
          <p:cNvPr id="119" name="Picture 118" descr="lock.png"/>
          <p:cNvPicPr>
            <a:picLocks noChangeAspect="1"/>
          </p:cNvPicPr>
          <p:nvPr/>
        </p:nvPicPr>
        <p:blipFill>
          <a:blip r:embed="rId4"/>
          <a:stretch>
            <a:fillRect/>
          </a:stretch>
        </p:blipFill>
        <p:spPr>
          <a:xfrm>
            <a:off x="107655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554775" y="1925701"/>
            <a:ext cx="128699" cy="187198"/>
          </a:xfrm>
          <a:prstGeom prst="rect">
            <a:avLst/>
          </a:prstGeom>
        </p:spPr>
      </p:pic>
      <p:pic>
        <p:nvPicPr>
          <p:cNvPr id="121" name="Picture 120" descr="lock.png"/>
          <p:cNvPicPr>
            <a:picLocks noChangeAspect="1"/>
          </p:cNvPicPr>
          <p:nvPr/>
        </p:nvPicPr>
        <p:blipFill>
          <a:blip r:embed="rId4"/>
          <a:stretch>
            <a:fillRect/>
          </a:stretch>
        </p:blipFill>
        <p:spPr>
          <a:xfrm>
            <a:off x="554775" y="2135251"/>
            <a:ext cx="128699" cy="187198"/>
          </a:xfrm>
          <a:prstGeom prst="rect">
            <a:avLst/>
          </a:prstGeom>
        </p:spPr>
      </p:pic>
      <p:pic>
        <p:nvPicPr>
          <p:cNvPr id="122" name="Picture 121" descr="lock.png"/>
          <p:cNvPicPr>
            <a:picLocks noChangeAspect="1"/>
          </p:cNvPicPr>
          <p:nvPr/>
        </p:nvPicPr>
        <p:blipFill>
          <a:blip r:embed="rId4"/>
          <a:stretch>
            <a:fillRect/>
          </a:stretch>
        </p:blipFill>
        <p:spPr>
          <a:xfrm>
            <a:off x="4524318" y="1725676"/>
            <a:ext cx="128699" cy="187198"/>
          </a:xfrm>
          <a:prstGeom prst="rect">
            <a:avLst/>
          </a:prstGeom>
        </p:spPr>
      </p:pic>
      <p:pic>
        <p:nvPicPr>
          <p:cNvPr id="123" name="Picture 122" descr="lock.png"/>
          <p:cNvPicPr>
            <a:picLocks noChangeAspect="1"/>
          </p:cNvPicPr>
          <p:nvPr/>
        </p:nvPicPr>
        <p:blipFill>
          <a:blip r:embed="rId4"/>
          <a:stretch>
            <a:fillRect/>
          </a:stretch>
        </p:blipFill>
        <p:spPr>
          <a:xfrm>
            <a:off x="3569437" y="1925701"/>
            <a:ext cx="128699" cy="187198"/>
          </a:xfrm>
          <a:prstGeom prst="rect">
            <a:avLst/>
          </a:prstGeom>
        </p:spPr>
      </p:pic>
      <p:pic>
        <p:nvPicPr>
          <p:cNvPr id="124" name="Picture 123" descr="lock.png"/>
          <p:cNvPicPr>
            <a:picLocks noChangeAspect="1"/>
          </p:cNvPicPr>
          <p:nvPr/>
        </p:nvPicPr>
        <p:blipFill>
          <a:blip r:embed="rId4"/>
          <a:stretch>
            <a:fillRect/>
          </a:stretch>
        </p:blipFill>
        <p:spPr>
          <a:xfrm>
            <a:off x="3569437" y="2135251"/>
            <a:ext cx="128699" cy="187198"/>
          </a:xfrm>
          <a:prstGeom prst="rect">
            <a:avLst/>
          </a:prstGeom>
        </p:spPr>
      </p:pic>
      <p:pic>
        <p:nvPicPr>
          <p:cNvPr id="125" name="Picture 124" descr="lock.png"/>
          <p:cNvPicPr>
            <a:picLocks noChangeAspect="1"/>
          </p:cNvPicPr>
          <p:nvPr/>
        </p:nvPicPr>
        <p:blipFill>
          <a:blip r:embed="rId4"/>
          <a:stretch>
            <a:fillRect/>
          </a:stretch>
        </p:blipFill>
        <p:spPr>
          <a:xfrm>
            <a:off x="6584100" y="1925701"/>
            <a:ext cx="128699" cy="187198"/>
          </a:xfrm>
          <a:prstGeom prst="rect">
            <a:avLst/>
          </a:prstGeom>
        </p:spPr>
      </p:pic>
      <p:pic>
        <p:nvPicPr>
          <p:cNvPr id="126" name="Picture 125" descr="lock.png"/>
          <p:cNvPicPr>
            <a:picLocks noChangeAspect="1"/>
          </p:cNvPicPr>
          <p:nvPr/>
        </p:nvPicPr>
        <p:blipFill>
          <a:blip r:embed="rId4"/>
          <a:stretch>
            <a:fillRect/>
          </a:stretch>
        </p:blipFill>
        <p:spPr>
          <a:xfrm>
            <a:off x="6584100" y="2135251"/>
            <a:ext cx="128699" cy="187198"/>
          </a:xfrm>
          <a:prstGeom prst="rect">
            <a:avLst/>
          </a:prstGeom>
        </p:spPr>
      </p:pic>
      <p:pic>
        <p:nvPicPr>
          <p:cNvPr id="127" name="Picture 126" descr="lock.png"/>
          <p:cNvPicPr>
            <a:picLocks noChangeAspect="1"/>
          </p:cNvPicPr>
          <p:nvPr/>
        </p:nvPicPr>
        <p:blipFill>
          <a:blip r:embed="rId4"/>
          <a:stretch>
            <a:fillRect/>
          </a:stretch>
        </p:blipFill>
        <p:spPr>
          <a:xfrm>
            <a:off x="11660925" y="2487676"/>
            <a:ext cx="128699" cy="187198"/>
          </a:xfrm>
          <a:prstGeom prst="rect">
            <a:avLst/>
          </a:prstGeom>
        </p:spPr>
      </p:pic>
      <p:pic>
        <p:nvPicPr>
          <p:cNvPr id="128" name="Picture 127" descr="lock.png"/>
          <p:cNvPicPr>
            <a:picLocks noChangeAspect="1"/>
          </p:cNvPicPr>
          <p:nvPr/>
        </p:nvPicPr>
        <p:blipFill>
          <a:blip r:embed="rId4"/>
          <a:stretch>
            <a:fillRect/>
          </a:stretch>
        </p:blipFill>
        <p:spPr>
          <a:xfrm>
            <a:off x="11158397" y="2811526"/>
            <a:ext cx="128699" cy="187198"/>
          </a:xfrm>
          <a:prstGeom prst="rect">
            <a:avLst/>
          </a:prstGeom>
        </p:spPr>
      </p:pic>
      <p:pic>
        <p:nvPicPr>
          <p:cNvPr id="129" name="Picture 128" descr="lock.png"/>
          <p:cNvPicPr>
            <a:picLocks noChangeAspect="1"/>
          </p:cNvPicPr>
          <p:nvPr/>
        </p:nvPicPr>
        <p:blipFill>
          <a:blip r:embed="rId4"/>
          <a:stretch>
            <a:fillRect/>
          </a:stretch>
        </p:blipFill>
        <p:spPr>
          <a:xfrm>
            <a:off x="10991157" y="3135376"/>
            <a:ext cx="128699" cy="187198"/>
          </a:xfrm>
          <a:prstGeom prst="rect">
            <a:avLst/>
          </a:prstGeom>
        </p:spPr>
      </p:pic>
      <p:pic>
        <p:nvPicPr>
          <p:cNvPr id="130" name="Picture 129" descr="lock.png"/>
          <p:cNvPicPr>
            <a:picLocks noChangeAspect="1"/>
          </p:cNvPicPr>
          <p:nvPr/>
        </p:nvPicPr>
        <p:blipFill>
          <a:blip r:embed="rId4"/>
          <a:stretch>
            <a:fillRect/>
          </a:stretch>
        </p:blipFill>
        <p:spPr>
          <a:xfrm>
            <a:off x="10984874" y="3459226"/>
            <a:ext cx="128699" cy="187198"/>
          </a:xfrm>
          <a:prstGeom prst="rect">
            <a:avLst/>
          </a:prstGeom>
        </p:spPr>
      </p:pic>
      <p:sp>
        <p:nvSpPr>
          <p:cNvPr id="131" name="TextBox 130"/>
          <p:cNvSpPr txBox="1"/>
          <p:nvPr/>
        </p:nvSpPr>
        <p:spPr>
          <a:xfrm>
            <a:off x="314325" y="4676775"/>
            <a:ext cx="2441550" cy="186689"/>
          </a:xfrm>
          <a:prstGeom prst="rect">
            <a:avLst/>
          </a:prstGeom>
          <a:noFill/>
        </p:spPr>
        <p:txBody>
          <a:bodyPr wrap="none" lIns="0" tIns="0" rIns="0" bIns="0">
            <a:spAutoFit/>
          </a:bodyPr>
          <a:lstStyle/>
          <a:p>
            <a:r>
              <a:rPr sz="1100" b="0">
                <a:solidFill>
                  <a:srgbClr val="1F2933"/>
                </a:solidFill>
                <a:latin typeface="Calibri"/>
              </a:rPr>
              <a:t>5 named players compete here; 'Capsules</a:t>
            </a:r>
          </a:p>
        </p:txBody>
      </p:sp>
      <p:sp>
        <p:nvSpPr>
          <p:cNvPr id="132" name="TextBox 131"/>
          <p:cNvSpPr txBox="1"/>
          <p:nvPr/>
        </p:nvSpPr>
        <p:spPr>
          <a:xfrm>
            <a:off x="314325" y="4844415"/>
            <a:ext cx="1101576" cy="186689"/>
          </a:xfrm>
          <a:prstGeom prst="rect">
            <a:avLst/>
          </a:prstGeom>
          <a:noFill/>
        </p:spPr>
        <p:txBody>
          <a:bodyPr wrap="none" lIns="0" tIns="0" rIns="0" bIns="0">
            <a:spAutoFit/>
          </a:bodyPr>
          <a:lstStyle/>
          <a:p>
            <a:r>
              <a:rPr sz="1100" b="0">
                <a:solidFill>
                  <a:srgbClr val="1F2933"/>
                </a:solidFill>
                <a:latin typeface="Calibri"/>
              </a:rPr>
              <a:t>and Softgels' adds</a:t>
            </a:r>
          </a:p>
        </p:txBody>
      </p:sp>
      <p:pic>
        <p:nvPicPr>
          <p:cNvPr id="133" name="Picture 132" descr="lock.png"/>
          <p:cNvPicPr>
            <a:picLocks noChangeAspect="1"/>
          </p:cNvPicPr>
          <p:nvPr/>
        </p:nvPicPr>
        <p:blipFill>
          <a:blip r:embed="rId4"/>
          <a:stretch>
            <a:fillRect/>
          </a:stretch>
        </p:blipFill>
        <p:spPr>
          <a:xfrm>
            <a:off x="1363952" y="4834636"/>
            <a:ext cx="128699" cy="187198"/>
          </a:xfrm>
          <a:prstGeom prst="rect">
            <a:avLst/>
          </a:prstGeom>
        </p:spPr>
      </p:pic>
      <p:sp>
        <p:nvSpPr>
          <p:cNvPr id="134" name="TextBox 133"/>
          <p:cNvSpPr txBox="1"/>
          <p:nvPr/>
        </p:nvSpPr>
        <p:spPr>
          <a:xfrm>
            <a:off x="1531448" y="4844415"/>
            <a:ext cx="1044550" cy="186689"/>
          </a:xfrm>
          <a:prstGeom prst="rect">
            <a:avLst/>
          </a:prstGeom>
          <a:noFill/>
        </p:spPr>
        <p:txBody>
          <a:bodyPr wrap="none" lIns="0" tIns="0" rIns="0" bIns="0">
            <a:spAutoFit/>
          </a:bodyPr>
          <a:lstStyle/>
          <a:p>
            <a:r>
              <a:rPr sz="1100" b="0">
                <a:solidFill>
                  <a:srgbClr val="1F2933"/>
                </a:solidFill>
                <a:latin typeface="Calibri"/>
              </a:rPr>
              <a:t>US$ Mn by 2036.</a:t>
            </a:r>
          </a:p>
        </p:txBody>
      </p:sp>
      <p:sp>
        <p:nvSpPr>
          <p:cNvPr id="135" name="TextBox 134"/>
          <p:cNvSpPr txBox="1"/>
          <p:nvPr/>
        </p:nvSpPr>
        <p:spPr>
          <a:xfrm>
            <a:off x="3328987" y="4676775"/>
            <a:ext cx="2385069" cy="186689"/>
          </a:xfrm>
          <a:prstGeom prst="rect">
            <a:avLst/>
          </a:prstGeom>
          <a:noFill/>
        </p:spPr>
        <p:txBody>
          <a:bodyPr wrap="none" lIns="0" tIns="0" rIns="0" bIns="0">
            <a:spAutoFit/>
          </a:bodyPr>
          <a:lstStyle/>
          <a:p>
            <a:r>
              <a:rPr sz="1100" b="0">
                <a:solidFill>
                  <a:srgbClr val="1F2933"/>
                </a:solidFill>
                <a:latin typeface="Calibri"/>
              </a:rPr>
              <a:t>5 named players compete here; 'Tablets'</a:t>
            </a:r>
          </a:p>
        </p:txBody>
      </p:sp>
      <p:sp>
        <p:nvSpPr>
          <p:cNvPr id="136" name="TextBox 135"/>
          <p:cNvSpPr txBox="1"/>
          <p:nvPr/>
        </p:nvSpPr>
        <p:spPr>
          <a:xfrm>
            <a:off x="3328987" y="4844415"/>
            <a:ext cx="344413" cy="186689"/>
          </a:xfrm>
          <a:prstGeom prst="rect">
            <a:avLst/>
          </a:prstGeom>
          <a:noFill/>
        </p:spPr>
        <p:txBody>
          <a:bodyPr wrap="none" lIns="0" tIns="0" rIns="0" bIns="0">
            <a:spAutoFit/>
          </a:bodyPr>
          <a:lstStyle/>
          <a:p>
            <a:r>
              <a:rPr sz="1100" b="0">
                <a:solidFill>
                  <a:srgbClr val="1F2933"/>
                </a:solidFill>
                <a:latin typeface="Calibri"/>
              </a:rPr>
              <a:t>adds</a:t>
            </a:r>
          </a:p>
        </p:txBody>
      </p:sp>
      <p:pic>
        <p:nvPicPr>
          <p:cNvPr id="137" name="Picture 136" descr="lock.png"/>
          <p:cNvPicPr>
            <a:picLocks noChangeAspect="1"/>
          </p:cNvPicPr>
          <p:nvPr/>
        </p:nvPicPr>
        <p:blipFill>
          <a:blip r:embed="rId4"/>
          <a:stretch>
            <a:fillRect/>
          </a:stretch>
        </p:blipFill>
        <p:spPr>
          <a:xfrm>
            <a:off x="3621451" y="4834636"/>
            <a:ext cx="128699" cy="187198"/>
          </a:xfrm>
          <a:prstGeom prst="rect">
            <a:avLst/>
          </a:prstGeom>
        </p:spPr>
      </p:pic>
      <p:sp>
        <p:nvSpPr>
          <p:cNvPr id="138" name="TextBox 137"/>
          <p:cNvSpPr txBox="1"/>
          <p:nvPr/>
        </p:nvSpPr>
        <p:spPr>
          <a:xfrm>
            <a:off x="3788947" y="4844415"/>
            <a:ext cx="1044550" cy="186689"/>
          </a:xfrm>
          <a:prstGeom prst="rect">
            <a:avLst/>
          </a:prstGeom>
          <a:noFill/>
        </p:spPr>
        <p:txBody>
          <a:bodyPr wrap="none" lIns="0" tIns="0" rIns="0" bIns="0">
            <a:spAutoFit/>
          </a:bodyPr>
          <a:lstStyle/>
          <a:p>
            <a:r>
              <a:rPr sz="1100" b="0">
                <a:solidFill>
                  <a:srgbClr val="1F2933"/>
                </a:solidFill>
                <a:latin typeface="Calibri"/>
              </a:rPr>
              <a:t>US$ Mn by 2036.</a:t>
            </a:r>
          </a:p>
        </p:txBody>
      </p:sp>
      <p:sp>
        <p:nvSpPr>
          <p:cNvPr id="139" name="TextBox 138"/>
          <p:cNvSpPr txBox="1"/>
          <p:nvPr/>
        </p:nvSpPr>
        <p:spPr>
          <a:xfrm>
            <a:off x="6343650" y="4676775"/>
            <a:ext cx="2519362" cy="186689"/>
          </a:xfrm>
          <a:prstGeom prst="rect">
            <a:avLst/>
          </a:prstGeom>
          <a:noFill/>
        </p:spPr>
        <p:txBody>
          <a:bodyPr wrap="none" lIns="0" tIns="0" rIns="0" bIns="0">
            <a:spAutoFit/>
          </a:bodyPr>
          <a:lstStyle/>
          <a:p>
            <a:r>
              <a:rPr sz="1100" b="0">
                <a:solidFill>
                  <a:srgbClr val="1F2933"/>
                </a:solidFill>
                <a:latin typeface="Calibri"/>
              </a:rPr>
              <a:t>5 named players compete here; 'Chewables'</a:t>
            </a:r>
          </a:p>
        </p:txBody>
      </p:sp>
      <p:sp>
        <p:nvSpPr>
          <p:cNvPr id="140" name="TextBox 139"/>
          <p:cNvSpPr txBox="1"/>
          <p:nvPr/>
        </p:nvSpPr>
        <p:spPr>
          <a:xfrm>
            <a:off x="6343650" y="4844415"/>
            <a:ext cx="344413" cy="186689"/>
          </a:xfrm>
          <a:prstGeom prst="rect">
            <a:avLst/>
          </a:prstGeom>
          <a:noFill/>
        </p:spPr>
        <p:txBody>
          <a:bodyPr wrap="none" lIns="0" tIns="0" rIns="0" bIns="0">
            <a:spAutoFit/>
          </a:bodyPr>
          <a:lstStyle/>
          <a:p>
            <a:r>
              <a:rPr sz="1100" b="0">
                <a:solidFill>
                  <a:srgbClr val="1F2933"/>
                </a:solidFill>
                <a:latin typeface="Calibri"/>
              </a:rPr>
              <a:t>adds</a:t>
            </a:r>
          </a:p>
        </p:txBody>
      </p:sp>
      <p:pic>
        <p:nvPicPr>
          <p:cNvPr id="141" name="Picture 140" descr="lock.png"/>
          <p:cNvPicPr>
            <a:picLocks noChangeAspect="1"/>
          </p:cNvPicPr>
          <p:nvPr/>
        </p:nvPicPr>
        <p:blipFill>
          <a:blip r:embed="rId4"/>
          <a:stretch>
            <a:fillRect/>
          </a:stretch>
        </p:blipFill>
        <p:spPr>
          <a:xfrm>
            <a:off x="6636114" y="4834636"/>
            <a:ext cx="128699" cy="187198"/>
          </a:xfrm>
          <a:prstGeom prst="rect">
            <a:avLst/>
          </a:prstGeom>
        </p:spPr>
      </p:pic>
      <p:sp>
        <p:nvSpPr>
          <p:cNvPr id="142" name="TextBox 141"/>
          <p:cNvSpPr txBox="1"/>
          <p:nvPr/>
        </p:nvSpPr>
        <p:spPr>
          <a:xfrm>
            <a:off x="6803610" y="4844415"/>
            <a:ext cx="1044550" cy="186689"/>
          </a:xfrm>
          <a:prstGeom prst="rect">
            <a:avLst/>
          </a:prstGeom>
          <a:noFill/>
        </p:spPr>
        <p:txBody>
          <a:bodyPr wrap="none" lIns="0" tIns="0" rIns="0" bIns="0">
            <a:spAutoFit/>
          </a:bodyPr>
          <a:lstStyle/>
          <a:p>
            <a:r>
              <a:rPr sz="1100" b="0">
                <a:solidFill>
                  <a:srgbClr val="1F2933"/>
                </a:solidFill>
                <a:latin typeface="Calibri"/>
              </a:rPr>
              <a:t>US$ Mn by 2036.</a:t>
            </a:r>
          </a:p>
        </p:txBody>
      </p:sp>
      <p:sp>
        <p:nvSpPr>
          <p:cNvPr id="143" name="TextBox 142"/>
          <p:cNvSpPr txBox="1"/>
          <p:nvPr/>
        </p:nvSpPr>
        <p:spPr>
          <a:xfrm>
            <a:off x="9358313" y="4676775"/>
            <a:ext cx="1728861" cy="186689"/>
          </a:xfrm>
          <a:prstGeom prst="rect">
            <a:avLst/>
          </a:prstGeom>
          <a:noFill/>
        </p:spPr>
        <p:txBody>
          <a:bodyPr wrap="none" lIns="0" tIns="0" rIns="0" bIns="0">
            <a:spAutoFit/>
          </a:bodyPr>
          <a:lstStyle/>
          <a:p>
            <a:r>
              <a:rPr sz="1100" b="0">
                <a:solidFill>
                  <a:srgbClr val="1F2933"/>
                </a:solidFill>
                <a:latin typeface="Calibri"/>
              </a:rPr>
              <a:t>The top two end uses pay for</a:t>
            </a:r>
          </a:p>
        </p:txBody>
      </p:sp>
      <p:pic>
        <p:nvPicPr>
          <p:cNvPr id="144" name="Picture 143" descr="lock.png"/>
          <p:cNvPicPr>
            <a:picLocks noChangeAspect="1"/>
          </p:cNvPicPr>
          <p:nvPr/>
        </p:nvPicPr>
        <p:blipFill>
          <a:blip r:embed="rId4"/>
          <a:stretch>
            <a:fillRect/>
          </a:stretch>
        </p:blipFill>
        <p:spPr>
          <a:xfrm>
            <a:off x="11035226" y="4666996"/>
            <a:ext cx="128699" cy="187198"/>
          </a:xfrm>
          <a:prstGeom prst="rect">
            <a:avLst/>
          </a:prstGeom>
        </p:spPr>
      </p:pic>
      <p:sp>
        <p:nvSpPr>
          <p:cNvPr id="145" name="TextBox 144"/>
          <p:cNvSpPr txBox="1"/>
          <p:nvPr/>
        </p:nvSpPr>
        <p:spPr>
          <a:xfrm>
            <a:off x="11202722" y="4676775"/>
            <a:ext cx="413990" cy="186689"/>
          </a:xfrm>
          <a:prstGeom prst="rect">
            <a:avLst/>
          </a:prstGeom>
          <a:noFill/>
        </p:spPr>
        <p:txBody>
          <a:bodyPr wrap="none" lIns="0" tIns="0" rIns="0" bIns="0">
            <a:spAutoFit/>
          </a:bodyPr>
          <a:lstStyle/>
          <a:p>
            <a:r>
              <a:rPr sz="1100" b="0">
                <a:solidFill>
                  <a:srgbClr val="1F2933"/>
                </a:solidFill>
                <a:latin typeface="Calibri"/>
              </a:rPr>
              <a:t>of the</a:t>
            </a:r>
          </a:p>
        </p:txBody>
      </p:sp>
      <p:sp>
        <p:nvSpPr>
          <p:cNvPr id="146" name="TextBox 145"/>
          <p:cNvSpPr txBox="1"/>
          <p:nvPr/>
        </p:nvSpPr>
        <p:spPr>
          <a:xfrm>
            <a:off x="9358313" y="4844415"/>
            <a:ext cx="2519361" cy="186689"/>
          </a:xfrm>
          <a:prstGeom prst="rect">
            <a:avLst/>
          </a:prstGeom>
          <a:noFill/>
        </p:spPr>
        <p:txBody>
          <a:bodyPr wrap="none" lIns="0" tIns="0" rIns="0" bIns="0">
            <a:spAutoFit/>
          </a:bodyPr>
          <a:lstStyle/>
          <a:p>
            <a:r>
              <a:rPr sz="1100" b="0">
                <a:solidFill>
                  <a:srgbClr val="1F2933"/>
                </a:solidFill>
                <a:latin typeface="Calibri"/>
              </a:rPr>
              <a:t>market; vendors package for one vertical at</a:t>
            </a:r>
          </a:p>
        </p:txBody>
      </p:sp>
      <p:sp>
        <p:nvSpPr>
          <p:cNvPr id="147" name="TextBox 146"/>
          <p:cNvSpPr txBox="1"/>
          <p:nvPr/>
        </p:nvSpPr>
        <p:spPr>
          <a:xfrm>
            <a:off x="9358313" y="5012055"/>
            <a:ext cx="470197" cy="186689"/>
          </a:xfrm>
          <a:prstGeom prst="rect">
            <a:avLst/>
          </a:prstGeom>
          <a:noFill/>
        </p:spPr>
        <p:txBody>
          <a:bodyPr wrap="none" lIns="0" tIns="0" rIns="0" bIns="0">
            <a:spAutoFit/>
          </a:bodyPr>
          <a:lstStyle/>
          <a:p>
            <a:r>
              <a:rPr sz="1100" b="0">
                <a:solidFill>
                  <a:srgbClr val="1F2933"/>
                </a:solidFill>
                <a:latin typeface="Calibri"/>
              </a:rPr>
              <a:t>a time.</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714500" y="1047750"/>
            <a:ext cx="3308350" cy="266700"/>
          </a:xfrm>
          <a:prstGeom prst="rect">
            <a:avLst/>
          </a:prstGeom>
          <a:noFill/>
        </p:spPr>
        <p:txBody>
          <a:bodyPr wrap="square" lIns="28575" tIns="9525" rIns="2857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75250" y="1047750"/>
            <a:ext cx="3308350" cy="266700"/>
          </a:xfrm>
          <a:prstGeom prst="rect">
            <a:avLst/>
          </a:prstGeom>
          <a:noFill/>
        </p:spPr>
        <p:txBody>
          <a:bodyPr wrap="square" lIns="28575" tIns="9525" rIns="2857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36000" y="1047750"/>
            <a:ext cx="3308350" cy="266700"/>
          </a:xfrm>
          <a:prstGeom prst="rect">
            <a:avLst/>
          </a:prstGeom>
          <a:noFill/>
        </p:spPr>
        <p:txBody>
          <a:bodyPr wrap="square" lIns="28575" tIns="9525" rIns="28575" bIns="9525" anchor="ctr">
            <a:spAutoFit/>
          </a:bodyPr>
          <a:lstStyle/>
          <a:p>
            <a:pPr algn="l"/>
            <a:r>
              <a:rPr sz="1100" b="1">
                <a:solidFill>
                  <a:srgbClr val="FFFFFF"/>
                </a:solidFill>
                <a:latin typeface="Calibri"/>
              </a:rPr>
              <a:t>Tier 3  (4)</a:t>
            </a:r>
          </a:p>
        </p:txBody>
      </p:sp>
      <p:sp>
        <p:nvSpPr>
          <p:cNvPr id="16" name="TextBox 15"/>
          <p:cNvSpPr txBox="1"/>
          <p:nvPr/>
        </p:nvSpPr>
        <p:spPr>
          <a:xfrm>
            <a:off x="190500" y="1409700"/>
            <a:ext cx="1381125" cy="171450"/>
          </a:xfrm>
          <a:prstGeom prst="rect">
            <a:avLst/>
          </a:prstGeom>
          <a:noFill/>
        </p:spPr>
        <p:txBody>
          <a:bodyPr wrap="square" lIns="28575" tIns="9525" rIns="2857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733550" y="1438275"/>
            <a:ext cx="142875" cy="161925"/>
          </a:xfrm>
          <a:prstGeom prst="rect">
            <a:avLst/>
          </a:prstGeom>
          <a:noFill/>
        </p:spPr>
        <p:txBody>
          <a:bodyPr wrap="none" lIns="0" tIns="0" r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tIns="9525" rIns="28575" bIns="9525" anchor="t">
            <a:spAutoFit/>
          </a:bodyPr>
          <a:lstStyle/>
          <a:p>
            <a:pPr algn="l"/>
            <a:r>
              <a:rPr sz="1100" b="1">
                <a:solidFill>
                  <a:srgbClr val="1F2933"/>
                </a:solidFill>
                <a:latin typeface="Calibri"/>
              </a:rPr>
              <a:t>Standard Process</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733550" y="1628775"/>
            <a:ext cx="142875" cy="161925"/>
          </a:xfrm>
          <a:prstGeom prst="rect">
            <a:avLst/>
          </a:prstGeom>
          <a:noFill/>
        </p:spPr>
        <p:txBody>
          <a:bodyPr wrap="none" lIns="0" tIns="0" r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tIns="9525" rIns="28575" bIns="9525" anchor="t">
            <a:spAutoFit/>
          </a:bodyPr>
          <a:lstStyle/>
          <a:p>
            <a:pPr algn="l"/>
            <a:r>
              <a:rPr sz="1100" b="1">
                <a:solidFill>
                  <a:srgbClr val="1F2933"/>
                </a:solidFill>
                <a:latin typeface="Calibri"/>
              </a:rPr>
              <a:t>VetriScience</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33550" y="1819275"/>
            <a:ext cx="142875" cy="161925"/>
          </a:xfrm>
          <a:prstGeom prst="rect">
            <a:avLst/>
          </a:prstGeom>
          <a:noFill/>
        </p:spPr>
        <p:txBody>
          <a:bodyPr wrap="none" lIns="0" tIns="0" r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tIns="9525" rIns="28575" bIns="9525" anchor="t">
            <a:spAutoFit/>
          </a:bodyPr>
          <a:lstStyle/>
          <a:p>
            <a:pPr algn="l"/>
            <a:r>
              <a:rPr sz="1100" b="1">
                <a:solidFill>
                  <a:srgbClr val="1F2933"/>
                </a:solidFill>
                <a:latin typeface="Calibri"/>
              </a:rPr>
              <a:t>Dr. Fossum's</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733550" y="2009775"/>
            <a:ext cx="142875" cy="161925"/>
          </a:xfrm>
          <a:prstGeom prst="rect">
            <a:avLst/>
          </a:prstGeom>
          <a:noFill/>
        </p:spPr>
        <p:txBody>
          <a:bodyPr wrap="none" lIns="0" tIns="0" r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tIns="9525" rIns="28575" bIns="9525" anchor="t">
            <a:spAutoFit/>
          </a:bodyPr>
          <a:lstStyle/>
          <a:p>
            <a:pPr algn="l"/>
            <a:r>
              <a:rPr sz="1100" b="1">
                <a:solidFill>
                  <a:srgbClr val="1F2933"/>
                </a:solidFill>
                <a:latin typeface="Calibri"/>
              </a:rPr>
              <a:t>Nestlé Purina PetCare</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tIns="9525" rIns="2857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94300" y="2466975"/>
            <a:ext cx="142875" cy="161925"/>
          </a:xfrm>
          <a:prstGeom prst="rect">
            <a:avLst/>
          </a:prstGeom>
          <a:noFill/>
        </p:spPr>
        <p:txBody>
          <a:bodyPr wrap="none" lIns="0" tIns="0" r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tIns="9525" rIns="28575" bIns="9525" anchor="t">
            <a:spAutoFit/>
          </a:bodyPr>
          <a:lstStyle/>
          <a:p>
            <a:pPr algn="l"/>
            <a:r>
              <a:rPr sz="1100" b="0">
                <a:solidFill>
                  <a:srgbClr val="1F2933"/>
                </a:solidFill>
                <a:latin typeface="Calibri"/>
              </a:rPr>
              <a:t>PetHeal</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194300" y="2657475"/>
            <a:ext cx="142875" cy="161925"/>
          </a:xfrm>
          <a:prstGeom prst="rect">
            <a:avLst/>
          </a:prstGeom>
          <a:noFill/>
        </p:spPr>
        <p:txBody>
          <a:bodyPr wrap="none" lIns="0" tIns="0" r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tIns="9525" rIns="28575" bIns="9525" anchor="t">
            <a:spAutoFit/>
          </a:bodyPr>
          <a:lstStyle/>
          <a:p>
            <a:pPr algn="l"/>
            <a:r>
              <a:rPr sz="1100" b="0">
                <a:solidFill>
                  <a:srgbClr val="1F2933"/>
                </a:solidFill>
                <a:latin typeface="Calibri"/>
              </a:rPr>
              <a:t>Senior Dogs Club</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tIns="9525" rIns="28575" bIns="9525" anchor="t">
            <a:spAutoFit/>
          </a:bodyPr>
          <a:lstStyle/>
          <a:p>
            <a:pPr algn="l"/>
            <a:r>
              <a:rPr sz="1100" b="1">
                <a:solidFill>
                  <a:srgbClr val="0F2D52"/>
                </a:solidFill>
                <a:latin typeface="Calibri"/>
              </a:rPr>
              <a:t>Local or niche (4)</a:t>
            </a:r>
          </a:p>
        </p:txBody>
      </p:sp>
      <p:sp>
        <p:nvSpPr>
          <p:cNvPr id="46" name="TextBox 45"/>
          <p:cNvSpPr txBox="1"/>
          <p:nvPr/>
        </p:nvSpPr>
        <p:spPr>
          <a:xfrm>
            <a:off x="190500" y="3638550"/>
            <a:ext cx="1333500" cy="38100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655050" y="3495675"/>
            <a:ext cx="142875" cy="161925"/>
          </a:xfrm>
          <a:prstGeom prst="rect">
            <a:avLst/>
          </a:prstGeom>
          <a:noFill/>
        </p:spPr>
        <p:txBody>
          <a:bodyPr wrap="none" lIns="0" tIns="0" r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tIns="9525" rIns="28575" bIns="9525" anchor="t">
            <a:spAutoFit/>
          </a:bodyPr>
          <a:lstStyle/>
          <a:p>
            <a:pPr algn="l"/>
            <a:r>
              <a:rPr sz="1100" b="0">
                <a:solidFill>
                  <a:srgbClr val="1F2933"/>
                </a:solidFill>
                <a:latin typeface="Calibri"/>
              </a:rPr>
              <a:t>VISYO Corporation</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655050" y="3686175"/>
            <a:ext cx="142875" cy="161925"/>
          </a:xfrm>
          <a:prstGeom prst="rect">
            <a:avLst/>
          </a:prstGeom>
          <a:noFill/>
        </p:spPr>
        <p:txBody>
          <a:bodyPr wrap="none" lIns="0" tIns="0" r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tIns="9525" rIns="28575" bIns="9525" anchor="t">
            <a:spAutoFit/>
          </a:bodyPr>
          <a:lstStyle/>
          <a:p>
            <a:pPr algn="l"/>
            <a:r>
              <a:rPr sz="1100" b="0">
                <a:solidFill>
                  <a:srgbClr val="1F2933"/>
                </a:solidFill>
                <a:latin typeface="Calibri"/>
              </a:rPr>
              <a:t>NaturVet</a:t>
            </a:r>
          </a:p>
        </p:txBody>
      </p:sp>
      <p:sp>
        <p:nvSpPr>
          <p:cNvPr id="57" name="Rectangle 56"/>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655050" y="3876675"/>
            <a:ext cx="142875" cy="161925"/>
          </a:xfrm>
          <a:prstGeom prst="rect">
            <a:avLst/>
          </a:prstGeom>
          <a:noFill/>
        </p:spPr>
        <p:txBody>
          <a:bodyPr wrap="none" lIns="0" tIns="0" rIns="0" bIns="0" anchor="ctr">
            <a:spAutoFit/>
          </a:bodyPr>
          <a:lstStyle/>
          <a:p>
            <a:pPr algn="ctr"/>
            <a:r>
              <a:rPr sz="1100" b="1">
                <a:solidFill>
                  <a:srgbClr val="0F2D52"/>
                </a:solidFill>
                <a:latin typeface="Calibri"/>
              </a:rPr>
              <a:t>3</a:t>
            </a:r>
          </a:p>
        </p:txBody>
      </p:sp>
      <p:sp>
        <p:nvSpPr>
          <p:cNvPr id="59" name="TextBox 58"/>
          <p:cNvSpPr txBox="1"/>
          <p:nvPr/>
        </p:nvSpPr>
        <p:spPr>
          <a:xfrm>
            <a:off x="8845550" y="3867150"/>
            <a:ext cx="3079750" cy="171450"/>
          </a:xfrm>
          <a:prstGeom prst="rect">
            <a:avLst/>
          </a:prstGeom>
          <a:noFill/>
        </p:spPr>
        <p:txBody>
          <a:bodyPr wrap="square" lIns="28575" tIns="9525" rIns="28575" bIns="9525" anchor="t">
            <a:spAutoFit/>
          </a:bodyPr>
          <a:lstStyle/>
          <a:p>
            <a:pPr algn="l"/>
            <a:r>
              <a:rPr sz="1100" b="0">
                <a:solidFill>
                  <a:srgbClr val="1F2933"/>
                </a:solidFill>
                <a:latin typeface="Calibri"/>
              </a:rPr>
              <a:t>Zesty Paws</a:t>
            </a:r>
          </a:p>
        </p:txBody>
      </p:sp>
      <p:sp>
        <p:nvSpPr>
          <p:cNvPr id="60" name="Rectangle 59"/>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655050" y="4067175"/>
            <a:ext cx="142875" cy="161925"/>
          </a:xfrm>
          <a:prstGeom prst="rect">
            <a:avLst/>
          </a:prstGeom>
          <a:noFill/>
        </p:spPr>
        <p:txBody>
          <a:bodyPr wrap="none" lIns="0" tIns="0" rIns="0" bIns="0" anchor="ctr">
            <a:spAutoFit/>
          </a:bodyPr>
          <a:lstStyle/>
          <a:p>
            <a:pPr algn="ctr"/>
            <a:r>
              <a:rPr sz="1100" b="1">
                <a:solidFill>
                  <a:srgbClr val="0F2D52"/>
                </a:solidFill>
                <a:latin typeface="Calibri"/>
              </a:rPr>
              <a:t>3</a:t>
            </a:r>
          </a:p>
        </p:txBody>
      </p:sp>
      <p:sp>
        <p:nvSpPr>
          <p:cNvPr id="62" name="TextBox 61"/>
          <p:cNvSpPr txBox="1"/>
          <p:nvPr/>
        </p:nvSpPr>
        <p:spPr>
          <a:xfrm>
            <a:off x="8845550" y="4057650"/>
            <a:ext cx="3079750" cy="171450"/>
          </a:xfrm>
          <a:prstGeom prst="rect">
            <a:avLst/>
          </a:prstGeom>
          <a:noFill/>
        </p:spPr>
        <p:txBody>
          <a:bodyPr wrap="square" lIns="28575" tIns="9525" rIns="28575" bIns="9525" anchor="t">
            <a:spAutoFit/>
          </a:bodyPr>
          <a:lstStyle/>
          <a:p>
            <a:pPr algn="l"/>
            <a:r>
              <a:rPr sz="1100" b="0">
                <a:solidFill>
                  <a:srgbClr val="1F2933"/>
                </a:solidFill>
                <a:latin typeface="Calibri"/>
              </a:rPr>
              <a:t>Ark Naturals</a:t>
            </a:r>
          </a:p>
        </p:txBody>
      </p:sp>
      <p:sp>
        <p:nvSpPr>
          <p:cNvPr id="63" name="Rectangle 62"/>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61950" y="4476750"/>
            <a:ext cx="476250" cy="209550"/>
          </a:xfrm>
          <a:prstGeom prst="rect">
            <a:avLst/>
          </a:prstGeom>
          <a:noFill/>
        </p:spPr>
        <p:txBody>
          <a:bodyPr wrap="square" lIns="28575" tIns="9525" rIns="28575" bIns="9525" anchor="ctr">
            <a:spAutoFit/>
          </a:bodyPr>
          <a:lstStyle/>
          <a:p>
            <a:pPr algn="l"/>
            <a:r>
              <a:rPr sz="1100" b="0">
                <a:solidFill>
                  <a:srgbClr val="1F2933"/>
                </a:solidFill>
                <a:latin typeface="Calibri"/>
              </a:rPr>
              <a:t>Tier 1</a:t>
            </a:r>
          </a:p>
        </p:txBody>
      </p:sp>
      <p:sp>
        <p:nvSpPr>
          <p:cNvPr id="65" name="TextBox 64"/>
          <p:cNvSpPr txBox="1"/>
          <p:nvPr/>
        </p:nvSpPr>
        <p:spPr>
          <a:xfrm>
            <a:off x="819150" y="4476750"/>
            <a:ext cx="609600" cy="209550"/>
          </a:xfrm>
          <a:prstGeom prst="rect">
            <a:avLst/>
          </a:prstGeom>
          <a:noFill/>
        </p:spPr>
        <p:txBody>
          <a:bodyPr wrap="square" lIns="28575" tIns="9525" rIns="28575" bIns="9525" anchor="ctr">
            <a:spAutoFit/>
          </a:bodyPr>
          <a:lstStyle/>
          <a:p>
            <a:pPr algn="l"/>
            <a:r>
              <a:rPr sz="1100" b="1">
                <a:solidFill>
                  <a:srgbClr val="1F2933"/>
                </a:solidFill>
                <a:latin typeface="Calibri"/>
              </a:rPr>
              <a:t> </a:t>
            </a:r>
          </a:p>
        </p:txBody>
      </p:sp>
      <p:sp>
        <p:nvSpPr>
          <p:cNvPr id="66" name="TextBox 65"/>
          <p:cNvSpPr txBox="1"/>
          <p:nvPr/>
        </p:nvSpPr>
        <p:spPr>
          <a:xfrm>
            <a:off x="1447800" y="4476750"/>
            <a:ext cx="1238250" cy="209550"/>
          </a:xfrm>
          <a:prstGeom prst="rect">
            <a:avLst/>
          </a:prstGeom>
          <a:noFill/>
        </p:spPr>
        <p:txBody>
          <a:bodyPr wrap="square" lIns="28575" tIns="9525" rIns="28575" bIns="9525" anchor="ctr">
            <a:spAutoFit/>
          </a:bodyPr>
          <a:lstStyle/>
          <a:p>
            <a:pPr algn="l"/>
            <a:r>
              <a:rPr sz="1100" b="0">
                <a:solidFill>
                  <a:srgbClr val="1F2933"/>
                </a:solidFill>
                <a:latin typeface="Calibri"/>
              </a:rPr>
              <a:t>combined share</a:t>
            </a:r>
          </a:p>
        </p:txBody>
      </p:sp>
      <p:sp>
        <p:nvSpPr>
          <p:cNvPr id="67" name="Rectangle 66"/>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124200" y="4476750"/>
            <a:ext cx="476250" cy="209550"/>
          </a:xfrm>
          <a:prstGeom prst="rect">
            <a:avLst/>
          </a:prstGeom>
          <a:noFill/>
        </p:spPr>
        <p:txBody>
          <a:bodyPr wrap="square" lIns="28575" tIns="9525" rIns="28575" bIns="9525" anchor="ctr">
            <a:spAutoFit/>
          </a:bodyPr>
          <a:lstStyle/>
          <a:p>
            <a:pPr algn="l"/>
            <a:r>
              <a:rPr sz="1100" b="0">
                <a:solidFill>
                  <a:srgbClr val="1F2933"/>
                </a:solidFill>
                <a:latin typeface="Calibri"/>
              </a:rPr>
              <a:t>Tier 2</a:t>
            </a:r>
          </a:p>
        </p:txBody>
      </p:sp>
      <p:sp>
        <p:nvSpPr>
          <p:cNvPr id="69" name="TextBox 68"/>
          <p:cNvSpPr txBox="1"/>
          <p:nvPr/>
        </p:nvSpPr>
        <p:spPr>
          <a:xfrm>
            <a:off x="3581400" y="4476750"/>
            <a:ext cx="609600" cy="209550"/>
          </a:xfrm>
          <a:prstGeom prst="rect">
            <a:avLst/>
          </a:prstGeom>
          <a:noFill/>
        </p:spPr>
        <p:txBody>
          <a:bodyPr wrap="square" lIns="28575" tIns="9525" rIns="28575" bIns="9525" anchor="ctr">
            <a:spAutoFit/>
          </a:bodyPr>
          <a:lstStyle/>
          <a:p>
            <a:pPr algn="l"/>
            <a:r>
              <a:rPr sz="1100" b="1">
                <a:solidFill>
                  <a:srgbClr val="1F2933"/>
                </a:solidFill>
                <a:latin typeface="Calibri"/>
              </a:rPr>
              <a:t> </a:t>
            </a:r>
          </a:p>
        </p:txBody>
      </p:sp>
      <p:sp>
        <p:nvSpPr>
          <p:cNvPr id="70" name="TextBox 69"/>
          <p:cNvSpPr txBox="1"/>
          <p:nvPr/>
        </p:nvSpPr>
        <p:spPr>
          <a:xfrm>
            <a:off x="4210050" y="4476750"/>
            <a:ext cx="1238250" cy="209550"/>
          </a:xfrm>
          <a:prstGeom prst="rect">
            <a:avLst/>
          </a:prstGeom>
          <a:noFill/>
        </p:spPr>
        <p:txBody>
          <a:bodyPr wrap="square" lIns="28575" tIns="9525" rIns="28575" bIns="9525" anchor="ctr">
            <a:spAutoFit/>
          </a:bodyPr>
          <a:lstStyle/>
          <a:p>
            <a:pPr algn="l"/>
            <a:r>
              <a:rPr sz="1100" b="0">
                <a:solidFill>
                  <a:srgbClr val="1F2933"/>
                </a:solidFill>
                <a:latin typeface="Calibri"/>
              </a:rPr>
              <a:t>combined share</a:t>
            </a:r>
          </a:p>
        </p:txBody>
      </p:sp>
      <p:sp>
        <p:nvSpPr>
          <p:cNvPr id="71" name="Rectangle 70"/>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886450" y="4476750"/>
            <a:ext cx="476250" cy="209550"/>
          </a:xfrm>
          <a:prstGeom prst="rect">
            <a:avLst/>
          </a:prstGeom>
          <a:noFill/>
        </p:spPr>
        <p:txBody>
          <a:bodyPr wrap="square" lIns="28575" tIns="9525" rIns="28575" bIns="9525" anchor="ctr">
            <a:spAutoFit/>
          </a:bodyPr>
          <a:lstStyle/>
          <a:p>
            <a:pPr algn="l"/>
            <a:r>
              <a:rPr sz="1100" b="0">
                <a:solidFill>
                  <a:srgbClr val="1F2933"/>
                </a:solidFill>
                <a:latin typeface="Calibri"/>
              </a:rPr>
              <a:t>Tier 3</a:t>
            </a:r>
          </a:p>
        </p:txBody>
      </p:sp>
      <p:sp>
        <p:nvSpPr>
          <p:cNvPr id="73" name="TextBox 72"/>
          <p:cNvSpPr txBox="1"/>
          <p:nvPr/>
        </p:nvSpPr>
        <p:spPr>
          <a:xfrm>
            <a:off x="6343650" y="4476750"/>
            <a:ext cx="609600" cy="209550"/>
          </a:xfrm>
          <a:prstGeom prst="rect">
            <a:avLst/>
          </a:prstGeom>
          <a:noFill/>
        </p:spPr>
        <p:txBody>
          <a:bodyPr wrap="square" lIns="28575" tIns="9525" rIns="28575" bIns="9525" anchor="ctr">
            <a:spAutoFit/>
          </a:bodyPr>
          <a:lstStyle/>
          <a:p>
            <a:pPr algn="l"/>
            <a:r>
              <a:rPr sz="1100" b="1">
                <a:solidFill>
                  <a:srgbClr val="1F2933"/>
                </a:solidFill>
                <a:latin typeface="Calibri"/>
              </a:rPr>
              <a:t> </a:t>
            </a:r>
          </a:p>
        </p:txBody>
      </p:sp>
      <p:sp>
        <p:nvSpPr>
          <p:cNvPr id="74" name="TextBox 73"/>
          <p:cNvSpPr txBox="1"/>
          <p:nvPr/>
        </p:nvSpPr>
        <p:spPr>
          <a:xfrm>
            <a:off x="6972300" y="4476750"/>
            <a:ext cx="1238250" cy="209550"/>
          </a:xfrm>
          <a:prstGeom prst="rect">
            <a:avLst/>
          </a:prstGeom>
          <a:noFill/>
        </p:spPr>
        <p:txBody>
          <a:bodyPr wrap="square" lIns="28575" tIns="9525" rIns="28575" bIns="9525" anchor="ctr">
            <a:spAutoFit/>
          </a:bodyPr>
          <a:lstStyle/>
          <a:p>
            <a:pPr algn="l"/>
            <a:r>
              <a:rPr sz="1100" b="0">
                <a:solidFill>
                  <a:srgbClr val="1F2933"/>
                </a:solidFill>
                <a:latin typeface="Calibri"/>
              </a:rPr>
              <a:t>combined share</a:t>
            </a:r>
          </a:p>
        </p:txBody>
      </p:sp>
      <p:sp>
        <p:nvSpPr>
          <p:cNvPr id="75" name="TextBox 74"/>
          <p:cNvSpPr txBox="1"/>
          <p:nvPr/>
        </p:nvSpPr>
        <p:spPr>
          <a:xfrm>
            <a:off x="190500" y="4705350"/>
            <a:ext cx="11811000" cy="171450"/>
          </a:xfrm>
          <a:prstGeom prst="rect">
            <a:avLst/>
          </a:prstGeom>
          <a:noFill/>
        </p:spPr>
        <p:txBody>
          <a:bodyPr wrap="square" lIns="28575" tIns="9525" rIns="28575" bIns="9525" anchor="t">
            <a:spAutoFit/>
          </a:bodyPr>
          <a:lstStyle/>
          <a:p>
            <a:pPr algn="l"/>
            <a:r>
              <a:rPr sz="1100" b="0">
                <a:solidFill>
                  <a:srgbClr val="1F2933"/>
                </a:solidFill>
                <a:latin typeface="Calibri"/>
              </a:rPr>
              <a:t>BY TYPE   Tier 1 4   |   Tier 2 2   |   Tier 3 4      BY REACH   Global 4   |   Regional 2   |   Local or niche 4</a:t>
            </a:r>
          </a:p>
        </p:txBody>
      </p:sp>
      <p:sp>
        <p:nvSpPr>
          <p:cNvPr id="76" name="Rectangle 75"/>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90500" y="5048250"/>
            <a:ext cx="2809875" cy="171450"/>
          </a:xfrm>
          <a:prstGeom prst="rect">
            <a:avLst/>
          </a:prstGeom>
          <a:noFill/>
        </p:spPr>
        <p:txBody>
          <a:bodyPr wrap="square" lIns="28575" tIns="9525" rIns="28575" bIns="9525" anchor="t">
            <a:spAutoFit/>
          </a:bodyPr>
          <a:lstStyle/>
          <a:p>
            <a:pPr algn="l"/>
            <a:r>
              <a:rPr sz="1100" b="1">
                <a:solidFill>
                  <a:srgbClr val="1F2933"/>
                </a:solidFill>
                <a:latin typeface="Calibri"/>
              </a:rPr>
              <a:t>Tier 1</a:t>
            </a:r>
          </a:p>
        </p:txBody>
      </p:sp>
      <p:sp>
        <p:nvSpPr>
          <p:cNvPr id="78" name="TextBox 77"/>
          <p:cNvSpPr txBox="1"/>
          <p:nvPr/>
        </p:nvSpPr>
        <p:spPr>
          <a:xfrm>
            <a:off x="190500" y="5219700"/>
            <a:ext cx="2809875" cy="152400"/>
          </a:xfrm>
          <a:prstGeom prst="rect">
            <a:avLst/>
          </a:prstGeom>
          <a:noFill/>
        </p:spPr>
        <p:txBody>
          <a:bodyPr wrap="square" lIns="28575" tIns="9525" rIns="28575" bIns="9525" anchor="t">
            <a:spAutoFit/>
          </a:bodyPr>
          <a:lstStyle/>
          <a:p>
            <a:pPr algn="l"/>
            <a:r>
              <a:rPr sz="1100" b="1">
                <a:solidFill>
                  <a:srgbClr val="0F2D52"/>
                </a:solidFill>
                <a:latin typeface="Calibri"/>
              </a:rPr>
              <a:t>HOW IT EARNS</a:t>
            </a:r>
          </a:p>
        </p:txBody>
      </p:sp>
      <p:sp>
        <p:nvSpPr>
          <p:cNvPr id="79" name="TextBox 78"/>
          <p:cNvSpPr txBox="1"/>
          <p:nvPr/>
        </p:nvSpPr>
        <p:spPr>
          <a:xfrm>
            <a:off x="190500" y="5372100"/>
            <a:ext cx="2809875"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Direct + key accounts; premium / bundled positioning.</a:t>
            </a:r>
          </a:p>
        </p:txBody>
      </p:sp>
      <p:sp>
        <p:nvSpPr>
          <p:cNvPr id="80" name="TextBox 79"/>
          <p:cNvSpPr txBox="1"/>
          <p:nvPr/>
        </p:nvSpPr>
        <p:spPr>
          <a:xfrm>
            <a:off x="190500" y="5715000"/>
            <a:ext cx="2809875" cy="152400"/>
          </a:xfrm>
          <a:prstGeom prst="rect">
            <a:avLst/>
          </a:prstGeom>
          <a:noFill/>
        </p:spPr>
        <p:txBody>
          <a:bodyPr wrap="square" lIns="28575" tIns="9525" rIns="28575" bIns="9525" anchor="t">
            <a:spAutoFit/>
          </a:bodyPr>
          <a:lstStyle/>
          <a:p>
            <a:pPr algn="l"/>
            <a:r>
              <a:rPr sz="1100" b="1">
                <a:solidFill>
                  <a:srgbClr val="0F2D52"/>
                </a:solidFill>
                <a:latin typeface="Calibri"/>
              </a:rPr>
              <a:t>DOMINANT STRATEGY</a:t>
            </a:r>
          </a:p>
        </p:txBody>
      </p:sp>
      <p:sp>
        <p:nvSpPr>
          <p:cNvPr id="81" name="TextBox 80"/>
          <p:cNvSpPr txBox="1"/>
          <p:nvPr/>
        </p:nvSpPr>
        <p:spPr>
          <a:xfrm>
            <a:off x="190500" y="5867400"/>
            <a:ext cx="2809875" cy="342900"/>
          </a:xfrm>
          <a:prstGeom prst="rect">
            <a:avLst/>
          </a:prstGeom>
          <a:noFill/>
        </p:spPr>
        <p:txBody>
          <a:bodyPr wrap="square" lIns="28575" tIns="9525" rIns="28575" bIns="9525" anchor="t">
            <a:spAutoFit/>
          </a:bodyPr>
          <a:lstStyle/>
          <a:p>
            <a:pPr algn="l">
              <a:lnSpc>
                <a:spcPct val="115000"/>
              </a:lnSpc>
            </a:pPr>
            <a:endParaRPr/>
          </a:p>
        </p:txBody>
      </p:sp>
      <p:sp>
        <p:nvSpPr>
          <p:cNvPr id="82" name="Rectangle 81"/>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190875" y="5048250"/>
            <a:ext cx="2809875" cy="171450"/>
          </a:xfrm>
          <a:prstGeom prst="rect">
            <a:avLst/>
          </a:prstGeom>
          <a:noFill/>
        </p:spPr>
        <p:txBody>
          <a:bodyPr wrap="square" lIns="28575" tIns="9525" rIns="28575" bIns="9525" anchor="t">
            <a:spAutoFit/>
          </a:bodyPr>
          <a:lstStyle/>
          <a:p>
            <a:pPr algn="l"/>
            <a:r>
              <a:rPr sz="1100" b="1">
                <a:solidFill>
                  <a:srgbClr val="1F2933"/>
                </a:solidFill>
                <a:latin typeface="Calibri"/>
              </a:rPr>
              <a:t>Tier 2</a:t>
            </a:r>
          </a:p>
        </p:txBody>
      </p:sp>
      <p:sp>
        <p:nvSpPr>
          <p:cNvPr id="84" name="TextBox 83"/>
          <p:cNvSpPr txBox="1"/>
          <p:nvPr/>
        </p:nvSpPr>
        <p:spPr>
          <a:xfrm>
            <a:off x="3190875" y="5219700"/>
            <a:ext cx="2809875" cy="152400"/>
          </a:xfrm>
          <a:prstGeom prst="rect">
            <a:avLst/>
          </a:prstGeom>
          <a:noFill/>
        </p:spPr>
        <p:txBody>
          <a:bodyPr wrap="square" lIns="28575" tIns="9525" rIns="28575" bIns="9525" anchor="t">
            <a:spAutoFit/>
          </a:bodyPr>
          <a:lstStyle/>
          <a:p>
            <a:pPr algn="l"/>
            <a:r>
              <a:rPr sz="1100" b="1">
                <a:solidFill>
                  <a:srgbClr val="0F2D52"/>
                </a:solidFill>
                <a:latin typeface="Calibri"/>
              </a:rPr>
              <a:t>HOW IT EARNS</a:t>
            </a:r>
          </a:p>
        </p:txBody>
      </p:sp>
      <p:sp>
        <p:nvSpPr>
          <p:cNvPr id="85" name="TextBox 84"/>
          <p:cNvSpPr txBox="1"/>
          <p:nvPr/>
        </p:nvSpPr>
        <p:spPr>
          <a:xfrm>
            <a:off x="3190875" y="5372100"/>
            <a:ext cx="2809875"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Distributors; mid / value-added positioning.</a:t>
            </a:r>
          </a:p>
        </p:txBody>
      </p:sp>
      <p:sp>
        <p:nvSpPr>
          <p:cNvPr id="86" name="TextBox 85"/>
          <p:cNvSpPr txBox="1"/>
          <p:nvPr/>
        </p:nvSpPr>
        <p:spPr>
          <a:xfrm>
            <a:off x="3190875" y="5715000"/>
            <a:ext cx="2809875" cy="152400"/>
          </a:xfrm>
          <a:prstGeom prst="rect">
            <a:avLst/>
          </a:prstGeom>
          <a:noFill/>
        </p:spPr>
        <p:txBody>
          <a:bodyPr wrap="square" lIns="28575" tIns="9525" rIns="28575" bIns="9525" anchor="t">
            <a:spAutoFit/>
          </a:bodyPr>
          <a:lstStyle/>
          <a:p>
            <a:pPr algn="l"/>
            <a:r>
              <a:rPr sz="1100" b="1">
                <a:solidFill>
                  <a:srgbClr val="0F2D52"/>
                </a:solidFill>
                <a:latin typeface="Calibri"/>
              </a:rPr>
              <a:t>DOMINANT STRATEGY</a:t>
            </a:r>
          </a:p>
        </p:txBody>
      </p:sp>
      <p:sp>
        <p:nvSpPr>
          <p:cNvPr id="87" name="TextBox 86"/>
          <p:cNvSpPr txBox="1"/>
          <p:nvPr/>
        </p:nvSpPr>
        <p:spPr>
          <a:xfrm>
            <a:off x="3190875" y="5867400"/>
            <a:ext cx="2809875" cy="342900"/>
          </a:xfrm>
          <a:prstGeom prst="rect">
            <a:avLst/>
          </a:prstGeom>
          <a:noFill/>
        </p:spPr>
        <p:txBody>
          <a:bodyPr wrap="square" lIns="28575" tIns="9525" rIns="28575" bIns="9525" anchor="t">
            <a:spAutoFit/>
          </a:bodyPr>
          <a:lstStyle/>
          <a:p>
            <a:pPr algn="l">
              <a:lnSpc>
                <a:spcPct val="115000"/>
              </a:lnSpc>
            </a:pPr>
            <a:endParaRPr/>
          </a:p>
        </p:txBody>
      </p:sp>
      <p:sp>
        <p:nvSpPr>
          <p:cNvPr id="88" name="Rectangle 87"/>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191250" y="5048250"/>
            <a:ext cx="2809875" cy="171450"/>
          </a:xfrm>
          <a:prstGeom prst="rect">
            <a:avLst/>
          </a:prstGeom>
          <a:noFill/>
        </p:spPr>
        <p:txBody>
          <a:bodyPr wrap="square" lIns="28575" tIns="9525" rIns="28575" bIns="9525" anchor="t">
            <a:spAutoFit/>
          </a:bodyPr>
          <a:lstStyle/>
          <a:p>
            <a:pPr algn="l"/>
            <a:r>
              <a:rPr sz="1100" b="1">
                <a:solidFill>
                  <a:srgbClr val="1F2933"/>
                </a:solidFill>
                <a:latin typeface="Calibri"/>
              </a:rPr>
              <a:t>Tier 3</a:t>
            </a:r>
          </a:p>
        </p:txBody>
      </p:sp>
      <p:sp>
        <p:nvSpPr>
          <p:cNvPr id="90" name="TextBox 89"/>
          <p:cNvSpPr txBox="1"/>
          <p:nvPr/>
        </p:nvSpPr>
        <p:spPr>
          <a:xfrm>
            <a:off x="6191250" y="5219700"/>
            <a:ext cx="2809875" cy="152400"/>
          </a:xfrm>
          <a:prstGeom prst="rect">
            <a:avLst/>
          </a:prstGeom>
          <a:noFill/>
        </p:spPr>
        <p:txBody>
          <a:bodyPr wrap="square" lIns="28575" tIns="9525" rIns="28575" bIns="9525" anchor="t">
            <a:spAutoFit/>
          </a:bodyPr>
          <a:lstStyle/>
          <a:p>
            <a:pPr algn="l"/>
            <a:r>
              <a:rPr sz="1100" b="1">
                <a:solidFill>
                  <a:srgbClr val="0F2D52"/>
                </a:solidFill>
                <a:latin typeface="Calibri"/>
              </a:rPr>
              <a:t>HOW IT EARNS</a:t>
            </a:r>
          </a:p>
        </p:txBody>
      </p:sp>
      <p:sp>
        <p:nvSpPr>
          <p:cNvPr id="91" name="TextBox 90"/>
          <p:cNvSpPr txBox="1"/>
          <p:nvPr/>
        </p:nvSpPr>
        <p:spPr>
          <a:xfrm>
            <a:off x="6191250" y="5372100"/>
            <a:ext cx="2809875"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Regional partners; value / entry positioning.</a:t>
            </a:r>
          </a:p>
        </p:txBody>
      </p:sp>
      <p:sp>
        <p:nvSpPr>
          <p:cNvPr id="92" name="TextBox 91"/>
          <p:cNvSpPr txBox="1"/>
          <p:nvPr/>
        </p:nvSpPr>
        <p:spPr>
          <a:xfrm>
            <a:off x="6191250" y="5715000"/>
            <a:ext cx="2809875" cy="152400"/>
          </a:xfrm>
          <a:prstGeom prst="rect">
            <a:avLst/>
          </a:prstGeom>
          <a:noFill/>
        </p:spPr>
        <p:txBody>
          <a:bodyPr wrap="square" lIns="28575" tIns="9525" rIns="28575" bIns="9525" anchor="t">
            <a:spAutoFit/>
          </a:bodyPr>
          <a:lstStyle/>
          <a:p>
            <a:pPr algn="l"/>
            <a:r>
              <a:rPr sz="1100" b="1">
                <a:solidFill>
                  <a:srgbClr val="0F2D52"/>
                </a:solidFill>
                <a:latin typeface="Calibri"/>
              </a:rPr>
              <a:t>DOMINANT STRATEGY</a:t>
            </a:r>
          </a:p>
        </p:txBody>
      </p:sp>
      <p:sp>
        <p:nvSpPr>
          <p:cNvPr id="93" name="TextBox 92"/>
          <p:cNvSpPr txBox="1"/>
          <p:nvPr/>
        </p:nvSpPr>
        <p:spPr>
          <a:xfrm>
            <a:off x="6191250" y="5867400"/>
            <a:ext cx="2809875" cy="342900"/>
          </a:xfrm>
          <a:prstGeom prst="rect">
            <a:avLst/>
          </a:prstGeom>
          <a:noFill/>
        </p:spPr>
        <p:txBody>
          <a:bodyPr wrap="square" lIns="28575" tIns="9525" rIns="28575" bIns="9525" anchor="t">
            <a:spAutoFit/>
          </a:bodyPr>
          <a:lstStyle/>
          <a:p>
            <a:pPr algn="l">
              <a:lnSpc>
                <a:spcPct val="115000"/>
              </a:lnSpc>
            </a:pPr>
            <a:endParaRPr/>
          </a:p>
        </p:txBody>
      </p:sp>
      <p:sp>
        <p:nvSpPr>
          <p:cNvPr id="94" name="TextBox 9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95" name="Picture 94" descr="lock.png"/>
          <p:cNvPicPr>
            <a:picLocks noChangeAspect="1"/>
          </p:cNvPicPr>
          <p:nvPr/>
        </p:nvPicPr>
        <p:blipFill>
          <a:blip r:embed="rId4"/>
          <a:stretch>
            <a:fillRect/>
          </a:stretch>
        </p:blipFill>
        <p:spPr>
          <a:xfrm>
            <a:off x="1059600" y="4487926"/>
            <a:ext cx="128699" cy="187198"/>
          </a:xfrm>
          <a:prstGeom prst="rect">
            <a:avLst/>
          </a:prstGeom>
        </p:spPr>
      </p:pic>
      <p:pic>
        <p:nvPicPr>
          <p:cNvPr id="96" name="Picture 95" descr="lock.png"/>
          <p:cNvPicPr>
            <a:picLocks noChangeAspect="1"/>
          </p:cNvPicPr>
          <p:nvPr/>
        </p:nvPicPr>
        <p:blipFill>
          <a:blip r:embed="rId4"/>
          <a:stretch>
            <a:fillRect/>
          </a:stretch>
        </p:blipFill>
        <p:spPr>
          <a:xfrm>
            <a:off x="3821850" y="4487926"/>
            <a:ext cx="128699" cy="187198"/>
          </a:xfrm>
          <a:prstGeom prst="rect">
            <a:avLst/>
          </a:prstGeom>
        </p:spPr>
      </p:pic>
      <p:pic>
        <p:nvPicPr>
          <p:cNvPr id="97" name="Picture 96" descr="lock.png"/>
          <p:cNvPicPr>
            <a:picLocks noChangeAspect="1"/>
          </p:cNvPicPr>
          <p:nvPr/>
        </p:nvPicPr>
        <p:blipFill>
          <a:blip r:embed="rId4"/>
          <a:stretch>
            <a:fillRect/>
          </a:stretch>
        </p:blipFill>
        <p:spPr>
          <a:xfrm>
            <a:off x="6584100" y="4487926"/>
            <a:ext cx="128699" cy="187198"/>
          </a:xfrm>
          <a:prstGeom prst="rect">
            <a:avLst/>
          </a:prstGeom>
        </p:spPr>
      </p:pic>
      <p:sp>
        <p:nvSpPr>
          <p:cNvPr id="98" name="TextBox 97"/>
          <p:cNvSpPr txBox="1"/>
          <p:nvPr/>
        </p:nvSpPr>
        <p:spPr>
          <a:xfrm>
            <a:off x="219075" y="5876925"/>
            <a:ext cx="1176610" cy="186689"/>
          </a:xfrm>
          <a:prstGeom prst="rect">
            <a:avLst/>
          </a:prstGeom>
          <a:noFill/>
        </p:spPr>
        <p:txBody>
          <a:bodyPr wrap="none" lIns="0" tIns="0" rIns="0" bIns="0">
            <a:spAutoFit/>
          </a:bodyPr>
          <a:lstStyle/>
          <a:p>
            <a:r>
              <a:rPr sz="1100" b="0">
                <a:solidFill>
                  <a:srgbClr val="1F2933"/>
                </a:solidFill>
                <a:latin typeface="Calibri"/>
              </a:rPr>
              <a:t>Launch-led growth;</a:t>
            </a:r>
          </a:p>
        </p:txBody>
      </p:sp>
      <p:pic>
        <p:nvPicPr>
          <p:cNvPr id="99" name="Picture 98" descr="lock.png"/>
          <p:cNvPicPr>
            <a:picLocks noChangeAspect="1"/>
          </p:cNvPicPr>
          <p:nvPr/>
        </p:nvPicPr>
        <p:blipFill>
          <a:blip r:embed="rId4"/>
          <a:stretch>
            <a:fillRect/>
          </a:stretch>
        </p:blipFill>
        <p:spPr>
          <a:xfrm>
            <a:off x="1343736" y="5867145"/>
            <a:ext cx="128699" cy="187198"/>
          </a:xfrm>
          <a:prstGeom prst="rect">
            <a:avLst/>
          </a:prstGeom>
        </p:spPr>
      </p:pic>
      <p:sp>
        <p:nvSpPr>
          <p:cNvPr id="100" name="TextBox 99"/>
          <p:cNvSpPr txBox="1"/>
          <p:nvPr/>
        </p:nvSpPr>
        <p:spPr>
          <a:xfrm>
            <a:off x="1511232" y="5876925"/>
            <a:ext cx="1022722" cy="186689"/>
          </a:xfrm>
          <a:prstGeom prst="rect">
            <a:avLst/>
          </a:prstGeom>
          <a:noFill/>
        </p:spPr>
        <p:txBody>
          <a:bodyPr wrap="none" lIns="0" tIns="0" rIns="0" bIns="0">
            <a:spAutoFit/>
          </a:bodyPr>
          <a:lstStyle/>
          <a:p>
            <a:r>
              <a:rPr sz="1100" b="0">
                <a:solidFill>
                  <a:srgbClr val="1F2933"/>
                </a:solidFill>
                <a:latin typeface="Calibri"/>
              </a:rPr>
              <a:t>combined share.</a:t>
            </a:r>
          </a:p>
        </p:txBody>
      </p:sp>
      <p:sp>
        <p:nvSpPr>
          <p:cNvPr id="101" name="TextBox 100"/>
          <p:cNvSpPr txBox="1"/>
          <p:nvPr/>
        </p:nvSpPr>
        <p:spPr>
          <a:xfrm>
            <a:off x="3219450" y="5876925"/>
            <a:ext cx="1176610" cy="186689"/>
          </a:xfrm>
          <a:prstGeom prst="rect">
            <a:avLst/>
          </a:prstGeom>
          <a:noFill/>
        </p:spPr>
        <p:txBody>
          <a:bodyPr wrap="none" lIns="0" tIns="0" rIns="0" bIns="0">
            <a:spAutoFit/>
          </a:bodyPr>
          <a:lstStyle/>
          <a:p>
            <a:r>
              <a:rPr sz="1100" b="0">
                <a:solidFill>
                  <a:srgbClr val="1F2933"/>
                </a:solidFill>
                <a:latin typeface="Calibri"/>
              </a:rPr>
              <a:t>Launch-led growth;</a:t>
            </a:r>
          </a:p>
        </p:txBody>
      </p:sp>
      <p:pic>
        <p:nvPicPr>
          <p:cNvPr id="102" name="Picture 101" descr="lock.png"/>
          <p:cNvPicPr>
            <a:picLocks noChangeAspect="1"/>
          </p:cNvPicPr>
          <p:nvPr/>
        </p:nvPicPr>
        <p:blipFill>
          <a:blip r:embed="rId4"/>
          <a:stretch>
            <a:fillRect/>
          </a:stretch>
        </p:blipFill>
        <p:spPr>
          <a:xfrm>
            <a:off x="4344111" y="5867145"/>
            <a:ext cx="128699" cy="187198"/>
          </a:xfrm>
          <a:prstGeom prst="rect">
            <a:avLst/>
          </a:prstGeom>
        </p:spPr>
      </p:pic>
      <p:sp>
        <p:nvSpPr>
          <p:cNvPr id="103" name="TextBox 102"/>
          <p:cNvSpPr txBox="1"/>
          <p:nvPr/>
        </p:nvSpPr>
        <p:spPr>
          <a:xfrm>
            <a:off x="4511607" y="5876925"/>
            <a:ext cx="1022722" cy="186689"/>
          </a:xfrm>
          <a:prstGeom prst="rect">
            <a:avLst/>
          </a:prstGeom>
          <a:noFill/>
        </p:spPr>
        <p:txBody>
          <a:bodyPr wrap="none" lIns="0" tIns="0" rIns="0" bIns="0">
            <a:spAutoFit/>
          </a:bodyPr>
          <a:lstStyle/>
          <a:p>
            <a:r>
              <a:rPr sz="1100" b="0">
                <a:solidFill>
                  <a:srgbClr val="1F2933"/>
                </a:solidFill>
                <a:latin typeface="Calibri"/>
              </a:rPr>
              <a:t>combined share.</a:t>
            </a:r>
          </a:p>
        </p:txBody>
      </p:sp>
      <p:sp>
        <p:nvSpPr>
          <p:cNvPr id="104" name="TextBox 103"/>
          <p:cNvSpPr txBox="1"/>
          <p:nvPr/>
        </p:nvSpPr>
        <p:spPr>
          <a:xfrm>
            <a:off x="6219825" y="5876925"/>
            <a:ext cx="1176610" cy="186689"/>
          </a:xfrm>
          <a:prstGeom prst="rect">
            <a:avLst/>
          </a:prstGeom>
          <a:noFill/>
        </p:spPr>
        <p:txBody>
          <a:bodyPr wrap="none" lIns="0" tIns="0" rIns="0" bIns="0">
            <a:spAutoFit/>
          </a:bodyPr>
          <a:lstStyle/>
          <a:p>
            <a:r>
              <a:rPr sz="1100" b="0">
                <a:solidFill>
                  <a:srgbClr val="1F2933"/>
                </a:solidFill>
                <a:latin typeface="Calibri"/>
              </a:rPr>
              <a:t>Launch-led growth;</a:t>
            </a:r>
          </a:p>
        </p:txBody>
      </p:sp>
      <p:pic>
        <p:nvPicPr>
          <p:cNvPr id="105" name="Picture 104" descr="lock.png"/>
          <p:cNvPicPr>
            <a:picLocks noChangeAspect="1"/>
          </p:cNvPicPr>
          <p:nvPr/>
        </p:nvPicPr>
        <p:blipFill>
          <a:blip r:embed="rId4"/>
          <a:stretch>
            <a:fillRect/>
          </a:stretch>
        </p:blipFill>
        <p:spPr>
          <a:xfrm>
            <a:off x="7344486" y="5867145"/>
            <a:ext cx="128699" cy="187198"/>
          </a:xfrm>
          <a:prstGeom prst="rect">
            <a:avLst/>
          </a:prstGeom>
        </p:spPr>
      </p:pic>
      <p:sp>
        <p:nvSpPr>
          <p:cNvPr id="106" name="TextBox 105"/>
          <p:cNvSpPr txBox="1"/>
          <p:nvPr/>
        </p:nvSpPr>
        <p:spPr>
          <a:xfrm>
            <a:off x="7511982" y="5876925"/>
            <a:ext cx="1022722" cy="186689"/>
          </a:xfrm>
          <a:prstGeom prst="rect">
            <a:avLst/>
          </a:prstGeom>
          <a:noFill/>
        </p:spPr>
        <p:txBody>
          <a:bodyPr wrap="none" lIns="0" tIns="0" rIns="0" bIns="0">
            <a:spAutoFit/>
          </a:bodyPr>
          <a:lstStyle/>
          <a:p>
            <a:r>
              <a:rPr sz="1100" b="0">
                <a:solidFill>
                  <a:srgbClr val="1F2933"/>
                </a:solidFill>
                <a:latin typeface="Calibri"/>
              </a:rPr>
              <a:t>combined share.</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6700" y="1047750"/>
            <a:ext cx="6667500" cy="209550"/>
          </a:xfrm>
          <a:prstGeom prst="rect">
            <a:avLst/>
          </a:prstGeom>
          <a:noFill/>
        </p:spPr>
        <p:txBody>
          <a:bodyPr wrap="square" lIns="28575" tIns="9525" rIns="2857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038350" y="1295400"/>
            <a:ext cx="2305050"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038350" y="1657350"/>
            <a:ext cx="2305050"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4419600" y="1295400"/>
            <a:ext cx="1193800"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4419600" y="1657350"/>
            <a:ext cx="1193800"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5689600" y="1295400"/>
            <a:ext cx="982133"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5689600" y="1657350"/>
            <a:ext cx="982133"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6747933" y="1295400"/>
            <a:ext cx="982133"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6747933" y="1657350"/>
            <a:ext cx="982133"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7806267" y="1295400"/>
            <a:ext cx="982133"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7806267" y="1657350"/>
            <a:ext cx="982133"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8864600" y="1295400"/>
            <a:ext cx="982133"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8864600" y="1657350"/>
            <a:ext cx="982133" cy="514350"/>
          </a:xfrm>
          <a:prstGeom prst="rect">
            <a:avLst/>
          </a:prstGeom>
          <a:noFill/>
        </p:spPr>
        <p:txBody>
          <a:bodyPr wrap="square" lIns="28575" tIns="9525" rIns="28575" bIns="9525" anchor="t">
            <a:spAutoFit/>
          </a:bodyPr>
          <a:lstStyle/>
          <a:p>
            <a:pPr algn="l">
              <a:lnSpc>
                <a:spcPct val="115000"/>
              </a:lnSpc>
            </a:pPr>
            <a:endParaRPr/>
          </a:p>
        </p:txBody>
      </p:sp>
      <p:sp>
        <p:nvSpPr>
          <p:cNvPr id="24" name="TextBox 23"/>
          <p:cNvSpPr txBox="1"/>
          <p:nvPr/>
        </p:nvSpPr>
        <p:spPr>
          <a:xfrm>
            <a:off x="9922933" y="1295400"/>
            <a:ext cx="982133"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9922933" y="1657350"/>
            <a:ext cx="982133"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0981267" y="1295400"/>
            <a:ext cx="982133"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0981267" y="1657350"/>
            <a:ext cx="982133"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85750" y="22479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Standard Process</a:t>
            </a:r>
          </a:p>
        </p:txBody>
      </p:sp>
      <p:sp>
        <p:nvSpPr>
          <p:cNvPr id="31" name="TextBox 30"/>
          <p:cNvSpPr txBox="1"/>
          <p:nvPr/>
        </p:nvSpPr>
        <p:spPr>
          <a:xfrm>
            <a:off x="285750" y="24098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32" name="TextBox 31"/>
          <p:cNvSpPr txBox="1"/>
          <p:nvPr/>
        </p:nvSpPr>
        <p:spPr>
          <a:xfrm>
            <a:off x="2000250" y="2228850"/>
            <a:ext cx="2381250" cy="342900"/>
          </a:xfrm>
          <a:prstGeom prst="rect">
            <a:avLst/>
          </a:prstGeom>
          <a:noFill/>
        </p:spPr>
        <p:txBody>
          <a:bodyPr wrap="square" lIns="28575" tIns="9525" rIns="28575" bIns="9525" anchor="ctr">
            <a:spAutoFit/>
          </a:bodyPr>
          <a:lstStyle/>
          <a:p>
            <a:pPr algn="ctr"/>
            <a:endParaRPr/>
          </a:p>
        </p:txBody>
      </p:sp>
      <p:sp>
        <p:nvSpPr>
          <p:cNvPr id="33" name="TextBox 32"/>
          <p:cNvSpPr txBox="1"/>
          <p:nvPr/>
        </p:nvSpPr>
        <p:spPr>
          <a:xfrm>
            <a:off x="4419600" y="22288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104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16280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22113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279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884833" y="2228850"/>
            <a:ext cx="1058333" cy="342900"/>
          </a:xfrm>
          <a:prstGeom prst="rect">
            <a:avLst/>
          </a:prstGeom>
          <a:noFill/>
        </p:spPr>
        <p:txBody>
          <a:bodyPr wrap="square" lIns="28575" tIns="9525" rIns="28575" bIns="9525" anchor="ctr">
            <a:spAutoFit/>
          </a:bodyPr>
          <a:lstStyle/>
          <a:p>
            <a:pPr algn="ctr"/>
            <a:endParaRPr/>
          </a:p>
        </p:txBody>
      </p:sp>
      <p:sp>
        <p:nvSpPr>
          <p:cNvPr id="39" name="TextBox 38"/>
          <p:cNvSpPr txBox="1"/>
          <p:nvPr/>
        </p:nvSpPr>
        <p:spPr>
          <a:xfrm>
            <a:off x="10943167" y="2228850"/>
            <a:ext cx="1058333" cy="342900"/>
          </a:xfrm>
          <a:prstGeom prst="rect">
            <a:avLst/>
          </a:prstGeom>
          <a:noFill/>
        </p:spPr>
        <p:txBody>
          <a:bodyPr wrap="square" lIns="28575" tIns="9525" rIns="28575" bIns="9525" anchor="ctr">
            <a:spAutoFit/>
          </a:bodyPr>
          <a:lstStyle/>
          <a:p>
            <a:pPr algn="ctr"/>
            <a:endParaRP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85750" y="25908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VetriScience</a:t>
            </a:r>
          </a:p>
        </p:txBody>
      </p:sp>
      <p:sp>
        <p:nvSpPr>
          <p:cNvPr id="43" name="TextBox 42"/>
          <p:cNvSpPr txBox="1"/>
          <p:nvPr/>
        </p:nvSpPr>
        <p:spPr>
          <a:xfrm>
            <a:off x="285750" y="27527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44" name="TextBox 43"/>
          <p:cNvSpPr txBox="1"/>
          <p:nvPr/>
        </p:nvSpPr>
        <p:spPr>
          <a:xfrm>
            <a:off x="2000250" y="2571750"/>
            <a:ext cx="2381250" cy="342900"/>
          </a:xfrm>
          <a:prstGeom prst="rect">
            <a:avLst/>
          </a:prstGeom>
          <a:noFill/>
        </p:spPr>
        <p:txBody>
          <a:bodyPr wrap="square" lIns="28575" tIns="9525" rIns="28575" bIns="9525" anchor="ctr">
            <a:spAutoFit/>
          </a:bodyPr>
          <a:lstStyle/>
          <a:p>
            <a:pPr algn="ctr"/>
            <a:endParaRPr/>
          </a:p>
        </p:txBody>
      </p:sp>
      <p:sp>
        <p:nvSpPr>
          <p:cNvPr id="45" name="TextBox 44"/>
          <p:cNvSpPr txBox="1"/>
          <p:nvPr/>
        </p:nvSpPr>
        <p:spPr>
          <a:xfrm>
            <a:off x="4419600" y="25717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10446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16280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22113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27946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884833" y="2571750"/>
            <a:ext cx="1058333" cy="342900"/>
          </a:xfrm>
          <a:prstGeom prst="rect">
            <a:avLst/>
          </a:prstGeom>
          <a:noFill/>
        </p:spPr>
        <p:txBody>
          <a:bodyPr wrap="square" lIns="28575" tIns="9525" rIns="28575" bIns="9525" anchor="ctr">
            <a:spAutoFit/>
          </a:bodyPr>
          <a:lstStyle/>
          <a:p>
            <a:pPr algn="ctr"/>
            <a:endParaRPr/>
          </a:p>
        </p:txBody>
      </p:sp>
      <p:sp>
        <p:nvSpPr>
          <p:cNvPr id="51" name="TextBox 50"/>
          <p:cNvSpPr txBox="1"/>
          <p:nvPr/>
        </p:nvSpPr>
        <p:spPr>
          <a:xfrm>
            <a:off x="10943167" y="2571750"/>
            <a:ext cx="1058333" cy="342900"/>
          </a:xfrm>
          <a:prstGeom prst="rect">
            <a:avLst/>
          </a:prstGeom>
          <a:noFill/>
        </p:spPr>
        <p:txBody>
          <a:bodyPr wrap="square" lIns="28575" tIns="9525" rIns="28575" bIns="9525" anchor="ctr">
            <a:spAutoFit/>
          </a:bodyPr>
          <a:lstStyle/>
          <a:p>
            <a:pPr algn="ctr"/>
            <a:endParaRPr/>
          </a:p>
        </p:txBody>
      </p:sp>
      <p:cxnSp>
        <p:nvCxnSpPr>
          <p:cNvPr id="52" name="Connector 5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85750" y="29337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Dr. Fossum's</a:t>
            </a:r>
          </a:p>
        </p:txBody>
      </p:sp>
      <p:sp>
        <p:nvSpPr>
          <p:cNvPr id="55" name="TextBox 54"/>
          <p:cNvSpPr txBox="1"/>
          <p:nvPr/>
        </p:nvSpPr>
        <p:spPr>
          <a:xfrm>
            <a:off x="285750" y="30956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56" name="TextBox 55"/>
          <p:cNvSpPr txBox="1"/>
          <p:nvPr/>
        </p:nvSpPr>
        <p:spPr>
          <a:xfrm>
            <a:off x="2000250" y="2914650"/>
            <a:ext cx="2381250" cy="342900"/>
          </a:xfrm>
          <a:prstGeom prst="rect">
            <a:avLst/>
          </a:prstGeom>
          <a:noFill/>
        </p:spPr>
        <p:txBody>
          <a:bodyPr wrap="square" lIns="28575" tIns="9525" rIns="28575" bIns="9525" anchor="ctr">
            <a:spAutoFit/>
          </a:bodyPr>
          <a:lstStyle/>
          <a:p>
            <a:pPr algn="ctr"/>
            <a:endParaRPr/>
          </a:p>
        </p:txBody>
      </p:sp>
      <p:sp>
        <p:nvSpPr>
          <p:cNvPr id="57" name="TextBox 56"/>
          <p:cNvSpPr txBox="1"/>
          <p:nvPr/>
        </p:nvSpPr>
        <p:spPr>
          <a:xfrm>
            <a:off x="4419600" y="29146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Buy to scale</a:t>
            </a:r>
          </a:p>
        </p:txBody>
      </p:sp>
      <p:sp>
        <p:nvSpPr>
          <p:cNvPr id="58" name="Oval 57"/>
          <p:cNvSpPr/>
          <p:nvPr/>
        </p:nvSpPr>
        <p:spPr>
          <a:xfrm>
            <a:off x="6104467"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16280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22113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927946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Freeform 61"/>
          <p:cNvSpPr/>
          <p:nvPr/>
        </p:nvSpPr>
        <p:spPr>
          <a:xfrm>
            <a:off x="9353550"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884833" y="2914650"/>
            <a:ext cx="1058333" cy="342900"/>
          </a:xfrm>
          <a:prstGeom prst="rect">
            <a:avLst/>
          </a:prstGeom>
          <a:noFill/>
        </p:spPr>
        <p:txBody>
          <a:bodyPr wrap="square" lIns="28575" tIns="9525" rIns="28575" bIns="9525" anchor="ctr">
            <a:spAutoFit/>
          </a:bodyPr>
          <a:lstStyle/>
          <a:p>
            <a:pPr algn="ctr"/>
            <a:endParaRPr/>
          </a:p>
        </p:txBody>
      </p:sp>
      <p:sp>
        <p:nvSpPr>
          <p:cNvPr id="64" name="TextBox 63"/>
          <p:cNvSpPr txBox="1"/>
          <p:nvPr/>
        </p:nvSpPr>
        <p:spPr>
          <a:xfrm>
            <a:off x="10943167" y="2914650"/>
            <a:ext cx="1058333" cy="342900"/>
          </a:xfrm>
          <a:prstGeom prst="rect">
            <a:avLst/>
          </a:prstGeom>
          <a:noFill/>
        </p:spPr>
        <p:txBody>
          <a:bodyPr wrap="square" lIns="28575" tIns="9525" rIns="28575" bIns="9525" anchor="ctr">
            <a:spAutoFit/>
          </a:bodyPr>
          <a:lstStyle/>
          <a:p>
            <a:pPr algn="ctr"/>
            <a:endParaRPr/>
          </a:p>
        </p:txBody>
      </p:sp>
      <p:cxnSp>
        <p:nvCxnSpPr>
          <p:cNvPr id="65" name="Connector 6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85750" y="32766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Nestlé Purina PetCare</a:t>
            </a:r>
          </a:p>
        </p:txBody>
      </p:sp>
      <p:sp>
        <p:nvSpPr>
          <p:cNvPr id="68" name="TextBox 67"/>
          <p:cNvSpPr txBox="1"/>
          <p:nvPr/>
        </p:nvSpPr>
        <p:spPr>
          <a:xfrm>
            <a:off x="285750" y="34385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69" name="TextBox 68"/>
          <p:cNvSpPr txBox="1"/>
          <p:nvPr/>
        </p:nvSpPr>
        <p:spPr>
          <a:xfrm>
            <a:off x="2000250" y="3257550"/>
            <a:ext cx="2381250" cy="342900"/>
          </a:xfrm>
          <a:prstGeom prst="rect">
            <a:avLst/>
          </a:prstGeom>
          <a:noFill/>
        </p:spPr>
        <p:txBody>
          <a:bodyPr wrap="square" lIns="28575" tIns="9525" rIns="28575" bIns="9525" anchor="ctr">
            <a:spAutoFit/>
          </a:bodyPr>
          <a:lstStyle/>
          <a:p>
            <a:pPr algn="ctr"/>
            <a:endParaRPr/>
          </a:p>
        </p:txBody>
      </p:sp>
      <p:sp>
        <p:nvSpPr>
          <p:cNvPr id="70" name="TextBox 69"/>
          <p:cNvSpPr txBox="1"/>
          <p:nvPr/>
        </p:nvSpPr>
        <p:spPr>
          <a:xfrm>
            <a:off x="4419600" y="32575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Launch-led growth</a:t>
            </a:r>
          </a:p>
        </p:txBody>
      </p:sp>
      <p:sp>
        <p:nvSpPr>
          <p:cNvPr id="71" name="Oval 70"/>
          <p:cNvSpPr/>
          <p:nvPr/>
        </p:nvSpPr>
        <p:spPr>
          <a:xfrm>
            <a:off x="6104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Freeform 71"/>
          <p:cNvSpPr/>
          <p:nvPr/>
        </p:nvSpPr>
        <p:spPr>
          <a:xfrm>
            <a:off x="618172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716280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822113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9279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Freeform 75"/>
          <p:cNvSpPr/>
          <p:nvPr/>
        </p:nvSpPr>
        <p:spPr>
          <a:xfrm>
            <a:off x="9353550"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884833" y="3257550"/>
            <a:ext cx="1058333" cy="342900"/>
          </a:xfrm>
          <a:prstGeom prst="rect">
            <a:avLst/>
          </a:prstGeom>
          <a:noFill/>
        </p:spPr>
        <p:txBody>
          <a:bodyPr wrap="square" lIns="28575" tIns="9525" rIns="28575" bIns="9525" anchor="ctr">
            <a:spAutoFit/>
          </a:bodyPr>
          <a:lstStyle/>
          <a:p>
            <a:pPr algn="ctr"/>
            <a:endParaRPr/>
          </a:p>
        </p:txBody>
      </p:sp>
      <p:sp>
        <p:nvSpPr>
          <p:cNvPr id="78" name="TextBox 77"/>
          <p:cNvSpPr txBox="1"/>
          <p:nvPr/>
        </p:nvSpPr>
        <p:spPr>
          <a:xfrm>
            <a:off x="10943167" y="3257550"/>
            <a:ext cx="1058333" cy="342900"/>
          </a:xfrm>
          <a:prstGeom prst="rect">
            <a:avLst/>
          </a:prstGeom>
          <a:noFill/>
        </p:spPr>
        <p:txBody>
          <a:bodyPr wrap="square" lIns="28575" tIns="9525" rIns="28575" bIns="9525" anchor="ctr">
            <a:spAutoFit/>
          </a:bodyPr>
          <a:lstStyle/>
          <a:p>
            <a:pPr algn="ctr"/>
            <a:endParaRPr/>
          </a:p>
        </p:txBody>
      </p:sp>
      <p:cxnSp>
        <p:nvCxnSpPr>
          <p:cNvPr id="79" name="Connector 7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85750" y="36195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PetHeal</a:t>
            </a:r>
          </a:p>
        </p:txBody>
      </p:sp>
      <p:sp>
        <p:nvSpPr>
          <p:cNvPr id="82" name="TextBox 81"/>
          <p:cNvSpPr txBox="1"/>
          <p:nvPr/>
        </p:nvSpPr>
        <p:spPr>
          <a:xfrm>
            <a:off x="285750" y="37814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2</a:t>
            </a:r>
          </a:p>
        </p:txBody>
      </p:sp>
      <p:sp>
        <p:nvSpPr>
          <p:cNvPr id="83" name="TextBox 82"/>
          <p:cNvSpPr txBox="1"/>
          <p:nvPr/>
        </p:nvSpPr>
        <p:spPr>
          <a:xfrm>
            <a:off x="2000250" y="3600450"/>
            <a:ext cx="2381250" cy="342900"/>
          </a:xfrm>
          <a:prstGeom prst="rect">
            <a:avLst/>
          </a:prstGeom>
          <a:noFill/>
        </p:spPr>
        <p:txBody>
          <a:bodyPr wrap="square" lIns="28575" tIns="9525" rIns="28575" bIns="9525" anchor="ctr">
            <a:spAutoFit/>
          </a:bodyPr>
          <a:lstStyle/>
          <a:p>
            <a:pPr algn="ctr"/>
            <a:endParaRPr/>
          </a:p>
        </p:txBody>
      </p:sp>
      <p:sp>
        <p:nvSpPr>
          <p:cNvPr id="84" name="TextBox 83"/>
          <p:cNvSpPr txBox="1"/>
          <p:nvPr/>
        </p:nvSpPr>
        <p:spPr>
          <a:xfrm>
            <a:off x="4419600" y="36004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Buy to scale</a:t>
            </a:r>
          </a:p>
        </p:txBody>
      </p:sp>
      <p:sp>
        <p:nvSpPr>
          <p:cNvPr id="85" name="Oval 84"/>
          <p:cNvSpPr/>
          <p:nvPr/>
        </p:nvSpPr>
        <p:spPr>
          <a:xfrm>
            <a:off x="6104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Freeform 85"/>
          <p:cNvSpPr/>
          <p:nvPr/>
        </p:nvSpPr>
        <p:spPr>
          <a:xfrm>
            <a:off x="61817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716280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Freeform 87"/>
          <p:cNvSpPr/>
          <p:nvPr/>
        </p:nvSpPr>
        <p:spPr>
          <a:xfrm>
            <a:off x="72390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22113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Freeform 89"/>
          <p:cNvSpPr/>
          <p:nvPr/>
        </p:nvSpPr>
        <p:spPr>
          <a:xfrm>
            <a:off x="82962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9279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Freeform 91"/>
          <p:cNvSpPr/>
          <p:nvPr/>
        </p:nvSpPr>
        <p:spPr>
          <a:xfrm>
            <a:off x="935355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9884833" y="3600450"/>
            <a:ext cx="1058333" cy="342900"/>
          </a:xfrm>
          <a:prstGeom prst="rect">
            <a:avLst/>
          </a:prstGeom>
          <a:noFill/>
        </p:spPr>
        <p:txBody>
          <a:bodyPr wrap="square" lIns="28575" tIns="9525" rIns="28575" bIns="9525" anchor="ctr">
            <a:spAutoFit/>
          </a:bodyPr>
          <a:lstStyle/>
          <a:p>
            <a:pPr algn="ctr"/>
            <a:endParaRPr/>
          </a:p>
        </p:txBody>
      </p:sp>
      <p:sp>
        <p:nvSpPr>
          <p:cNvPr id="94" name="TextBox 93"/>
          <p:cNvSpPr txBox="1"/>
          <p:nvPr/>
        </p:nvSpPr>
        <p:spPr>
          <a:xfrm>
            <a:off x="10943167" y="3600450"/>
            <a:ext cx="1058333" cy="342900"/>
          </a:xfrm>
          <a:prstGeom prst="rect">
            <a:avLst/>
          </a:prstGeom>
          <a:noFill/>
        </p:spPr>
        <p:txBody>
          <a:bodyPr wrap="square" lIns="28575" tIns="9525" rIns="28575" bIns="9525" anchor="ctr">
            <a:spAutoFit/>
          </a:bodyPr>
          <a:lstStyle/>
          <a:p>
            <a:pPr algn="ctr"/>
            <a:endParaRPr/>
          </a:p>
        </p:txBody>
      </p:sp>
      <p:cxnSp>
        <p:nvCxnSpPr>
          <p:cNvPr id="95" name="Connector 9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85750" y="39624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Senior Dogs Club</a:t>
            </a:r>
          </a:p>
        </p:txBody>
      </p:sp>
      <p:sp>
        <p:nvSpPr>
          <p:cNvPr id="98" name="TextBox 97"/>
          <p:cNvSpPr txBox="1"/>
          <p:nvPr/>
        </p:nvSpPr>
        <p:spPr>
          <a:xfrm>
            <a:off x="285750" y="41243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2</a:t>
            </a:r>
          </a:p>
        </p:txBody>
      </p:sp>
      <p:sp>
        <p:nvSpPr>
          <p:cNvPr id="99" name="TextBox 98"/>
          <p:cNvSpPr txBox="1"/>
          <p:nvPr/>
        </p:nvSpPr>
        <p:spPr>
          <a:xfrm>
            <a:off x="2000250" y="3943350"/>
            <a:ext cx="2381250" cy="342900"/>
          </a:xfrm>
          <a:prstGeom prst="rect">
            <a:avLst/>
          </a:prstGeom>
          <a:noFill/>
        </p:spPr>
        <p:txBody>
          <a:bodyPr wrap="square" lIns="28575" tIns="9525" rIns="28575" bIns="9525" anchor="ctr">
            <a:spAutoFit/>
          </a:bodyPr>
          <a:lstStyle/>
          <a:p>
            <a:pPr algn="ctr"/>
            <a:endParaRPr/>
          </a:p>
        </p:txBody>
      </p:sp>
      <p:sp>
        <p:nvSpPr>
          <p:cNvPr id="100" name="TextBox 99"/>
          <p:cNvSpPr txBox="1"/>
          <p:nvPr/>
        </p:nvSpPr>
        <p:spPr>
          <a:xfrm>
            <a:off x="4419600" y="39433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Launch-led growth</a:t>
            </a:r>
          </a:p>
        </p:txBody>
      </p:sp>
      <p:sp>
        <p:nvSpPr>
          <p:cNvPr id="101" name="Oval 100"/>
          <p:cNvSpPr/>
          <p:nvPr/>
        </p:nvSpPr>
        <p:spPr>
          <a:xfrm>
            <a:off x="6104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Freeform 101"/>
          <p:cNvSpPr/>
          <p:nvPr/>
        </p:nvSpPr>
        <p:spPr>
          <a:xfrm>
            <a:off x="61817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716280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Freeform 103"/>
          <p:cNvSpPr/>
          <p:nvPr/>
        </p:nvSpPr>
        <p:spPr>
          <a:xfrm>
            <a:off x="723900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822113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Freeform 105"/>
          <p:cNvSpPr/>
          <p:nvPr/>
        </p:nvSpPr>
        <p:spPr>
          <a:xfrm>
            <a:off x="82962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9279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Freeform 107"/>
          <p:cNvSpPr/>
          <p:nvPr/>
        </p:nvSpPr>
        <p:spPr>
          <a:xfrm>
            <a:off x="935355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9884833" y="3943350"/>
            <a:ext cx="1058333" cy="342900"/>
          </a:xfrm>
          <a:prstGeom prst="rect">
            <a:avLst/>
          </a:prstGeom>
          <a:noFill/>
        </p:spPr>
        <p:txBody>
          <a:bodyPr wrap="square" lIns="28575" tIns="9525" rIns="28575" bIns="9525" anchor="ctr">
            <a:spAutoFit/>
          </a:bodyPr>
          <a:lstStyle/>
          <a:p>
            <a:pPr algn="ctr"/>
            <a:endParaRPr/>
          </a:p>
        </p:txBody>
      </p:sp>
      <p:sp>
        <p:nvSpPr>
          <p:cNvPr id="110" name="TextBox 109"/>
          <p:cNvSpPr txBox="1"/>
          <p:nvPr/>
        </p:nvSpPr>
        <p:spPr>
          <a:xfrm>
            <a:off x="10943167" y="3943350"/>
            <a:ext cx="1058333" cy="342900"/>
          </a:xfrm>
          <a:prstGeom prst="rect">
            <a:avLst/>
          </a:prstGeom>
          <a:noFill/>
        </p:spPr>
        <p:txBody>
          <a:bodyPr wrap="square" lIns="28575" tIns="9525" rIns="28575" bIns="9525" anchor="ctr">
            <a:spAutoFit/>
          </a:bodyPr>
          <a:lstStyle/>
          <a:p>
            <a:pPr algn="ctr"/>
            <a:endParaRPr/>
          </a:p>
        </p:txBody>
      </p:sp>
      <p:cxnSp>
        <p:nvCxnSpPr>
          <p:cNvPr id="111" name="Connector 11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85750" y="43053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VISYO Corporation</a:t>
            </a:r>
          </a:p>
        </p:txBody>
      </p:sp>
      <p:sp>
        <p:nvSpPr>
          <p:cNvPr id="114" name="TextBox 113"/>
          <p:cNvSpPr txBox="1"/>
          <p:nvPr/>
        </p:nvSpPr>
        <p:spPr>
          <a:xfrm>
            <a:off x="285750" y="44672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15" name="TextBox 114"/>
          <p:cNvSpPr txBox="1"/>
          <p:nvPr/>
        </p:nvSpPr>
        <p:spPr>
          <a:xfrm>
            <a:off x="2000250" y="4286250"/>
            <a:ext cx="2381250" cy="342900"/>
          </a:xfrm>
          <a:prstGeom prst="rect">
            <a:avLst/>
          </a:prstGeom>
          <a:noFill/>
        </p:spPr>
        <p:txBody>
          <a:bodyPr wrap="square" lIns="28575" tIns="9525" rIns="28575" bIns="9525" anchor="ctr">
            <a:spAutoFit/>
          </a:bodyPr>
          <a:lstStyle/>
          <a:p>
            <a:pPr algn="ctr"/>
            <a:endParaRPr/>
          </a:p>
        </p:txBody>
      </p:sp>
      <p:sp>
        <p:nvSpPr>
          <p:cNvPr id="116" name="TextBox 115"/>
          <p:cNvSpPr txBox="1"/>
          <p:nvPr/>
        </p:nvSpPr>
        <p:spPr>
          <a:xfrm>
            <a:off x="4419600" y="42862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Buy to scale</a:t>
            </a:r>
          </a:p>
        </p:txBody>
      </p:sp>
      <p:sp>
        <p:nvSpPr>
          <p:cNvPr id="117" name="Oval 116"/>
          <p:cNvSpPr/>
          <p:nvPr/>
        </p:nvSpPr>
        <p:spPr>
          <a:xfrm>
            <a:off x="6104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Freeform 117"/>
          <p:cNvSpPr/>
          <p:nvPr/>
        </p:nvSpPr>
        <p:spPr>
          <a:xfrm>
            <a:off x="61817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716280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Freeform 119"/>
          <p:cNvSpPr/>
          <p:nvPr/>
        </p:nvSpPr>
        <p:spPr>
          <a:xfrm>
            <a:off x="723900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822113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Freeform 121"/>
          <p:cNvSpPr/>
          <p:nvPr/>
        </p:nvSpPr>
        <p:spPr>
          <a:xfrm>
            <a:off x="8296275"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9279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Freeform 123"/>
          <p:cNvSpPr/>
          <p:nvPr/>
        </p:nvSpPr>
        <p:spPr>
          <a:xfrm>
            <a:off x="935355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9884833" y="4286250"/>
            <a:ext cx="1058333" cy="342900"/>
          </a:xfrm>
          <a:prstGeom prst="rect">
            <a:avLst/>
          </a:prstGeom>
          <a:noFill/>
        </p:spPr>
        <p:txBody>
          <a:bodyPr wrap="square" lIns="28575" tIns="9525" rIns="28575" bIns="9525" anchor="ctr">
            <a:spAutoFit/>
          </a:bodyPr>
          <a:lstStyle/>
          <a:p>
            <a:pPr algn="ctr"/>
            <a:endParaRPr/>
          </a:p>
        </p:txBody>
      </p:sp>
      <p:sp>
        <p:nvSpPr>
          <p:cNvPr id="126" name="TextBox 125"/>
          <p:cNvSpPr txBox="1"/>
          <p:nvPr/>
        </p:nvSpPr>
        <p:spPr>
          <a:xfrm>
            <a:off x="10943167" y="4286250"/>
            <a:ext cx="1058333" cy="342900"/>
          </a:xfrm>
          <a:prstGeom prst="rect">
            <a:avLst/>
          </a:prstGeom>
          <a:noFill/>
        </p:spPr>
        <p:txBody>
          <a:bodyPr wrap="square" lIns="28575" tIns="9525" rIns="28575" bIns="9525" anchor="ctr">
            <a:spAutoFit/>
          </a:bodyPr>
          <a:lstStyle/>
          <a:p>
            <a:pPr algn="ctr"/>
            <a:endParaRPr/>
          </a:p>
        </p:txBody>
      </p:sp>
      <p:cxnSp>
        <p:nvCxnSpPr>
          <p:cNvPr id="127" name="Connector 12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Rectangle 12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285750" y="46482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NaturVet</a:t>
            </a:r>
          </a:p>
        </p:txBody>
      </p:sp>
      <p:sp>
        <p:nvSpPr>
          <p:cNvPr id="130" name="TextBox 129"/>
          <p:cNvSpPr txBox="1"/>
          <p:nvPr/>
        </p:nvSpPr>
        <p:spPr>
          <a:xfrm>
            <a:off x="285750" y="48101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31" name="TextBox 130"/>
          <p:cNvSpPr txBox="1"/>
          <p:nvPr/>
        </p:nvSpPr>
        <p:spPr>
          <a:xfrm>
            <a:off x="2000250" y="4629150"/>
            <a:ext cx="2381250" cy="342900"/>
          </a:xfrm>
          <a:prstGeom prst="rect">
            <a:avLst/>
          </a:prstGeom>
          <a:noFill/>
        </p:spPr>
        <p:txBody>
          <a:bodyPr wrap="square" lIns="28575" tIns="9525" rIns="28575" bIns="9525" anchor="ctr">
            <a:spAutoFit/>
          </a:bodyPr>
          <a:lstStyle/>
          <a:p>
            <a:pPr algn="ctr"/>
            <a:endParaRPr/>
          </a:p>
        </p:txBody>
      </p:sp>
      <p:sp>
        <p:nvSpPr>
          <p:cNvPr id="132" name="TextBox 131"/>
          <p:cNvSpPr txBox="1"/>
          <p:nvPr/>
        </p:nvSpPr>
        <p:spPr>
          <a:xfrm>
            <a:off x="4419600" y="46291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Launch-led growth</a:t>
            </a:r>
          </a:p>
        </p:txBody>
      </p:sp>
      <p:sp>
        <p:nvSpPr>
          <p:cNvPr id="133" name="Oval 132"/>
          <p:cNvSpPr/>
          <p:nvPr/>
        </p:nvSpPr>
        <p:spPr>
          <a:xfrm>
            <a:off x="6104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Freeform 133"/>
          <p:cNvSpPr/>
          <p:nvPr/>
        </p:nvSpPr>
        <p:spPr>
          <a:xfrm>
            <a:off x="618172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716280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Freeform 135"/>
          <p:cNvSpPr/>
          <p:nvPr/>
        </p:nvSpPr>
        <p:spPr>
          <a:xfrm>
            <a:off x="723900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822113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Freeform 137"/>
          <p:cNvSpPr/>
          <p:nvPr/>
        </p:nvSpPr>
        <p:spPr>
          <a:xfrm>
            <a:off x="82962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9279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Freeform 139"/>
          <p:cNvSpPr/>
          <p:nvPr/>
        </p:nvSpPr>
        <p:spPr>
          <a:xfrm>
            <a:off x="9353550"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9884833" y="4629150"/>
            <a:ext cx="1058333" cy="342900"/>
          </a:xfrm>
          <a:prstGeom prst="rect">
            <a:avLst/>
          </a:prstGeom>
          <a:noFill/>
        </p:spPr>
        <p:txBody>
          <a:bodyPr wrap="square" lIns="28575" tIns="9525" rIns="28575" bIns="9525" anchor="ctr">
            <a:spAutoFit/>
          </a:bodyPr>
          <a:lstStyle/>
          <a:p>
            <a:pPr algn="ctr"/>
            <a:endParaRPr/>
          </a:p>
        </p:txBody>
      </p:sp>
      <p:sp>
        <p:nvSpPr>
          <p:cNvPr id="142" name="TextBox 141"/>
          <p:cNvSpPr txBox="1"/>
          <p:nvPr/>
        </p:nvSpPr>
        <p:spPr>
          <a:xfrm>
            <a:off x="10943167" y="4629150"/>
            <a:ext cx="1058333" cy="342900"/>
          </a:xfrm>
          <a:prstGeom prst="rect">
            <a:avLst/>
          </a:prstGeom>
          <a:noFill/>
        </p:spPr>
        <p:txBody>
          <a:bodyPr wrap="square" lIns="28575" tIns="9525" rIns="28575" bIns="9525" anchor="ctr">
            <a:spAutoFit/>
          </a:bodyPr>
          <a:lstStyle/>
          <a:p>
            <a:pPr algn="ctr"/>
            <a:endParaRPr/>
          </a:p>
        </p:txBody>
      </p:sp>
      <p:cxnSp>
        <p:nvCxnSpPr>
          <p:cNvPr id="143" name="Connector 142"/>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285750" y="49911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Zesty Paws</a:t>
            </a:r>
          </a:p>
        </p:txBody>
      </p:sp>
      <p:sp>
        <p:nvSpPr>
          <p:cNvPr id="146" name="TextBox 145"/>
          <p:cNvSpPr txBox="1"/>
          <p:nvPr/>
        </p:nvSpPr>
        <p:spPr>
          <a:xfrm>
            <a:off x="285750" y="51530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47" name="TextBox 146"/>
          <p:cNvSpPr txBox="1"/>
          <p:nvPr/>
        </p:nvSpPr>
        <p:spPr>
          <a:xfrm>
            <a:off x="2000250" y="4972050"/>
            <a:ext cx="2381250" cy="342900"/>
          </a:xfrm>
          <a:prstGeom prst="rect">
            <a:avLst/>
          </a:prstGeom>
          <a:noFill/>
        </p:spPr>
        <p:txBody>
          <a:bodyPr wrap="square" lIns="28575" tIns="9525" rIns="28575" bIns="9525" anchor="ctr">
            <a:spAutoFit/>
          </a:bodyPr>
          <a:lstStyle/>
          <a:p>
            <a:pPr algn="ctr"/>
            <a:endParaRPr/>
          </a:p>
        </p:txBody>
      </p:sp>
      <p:sp>
        <p:nvSpPr>
          <p:cNvPr id="148" name="TextBox 147"/>
          <p:cNvSpPr txBox="1"/>
          <p:nvPr/>
        </p:nvSpPr>
        <p:spPr>
          <a:xfrm>
            <a:off x="4419600" y="49720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Buy to scale</a:t>
            </a:r>
          </a:p>
        </p:txBody>
      </p:sp>
      <p:sp>
        <p:nvSpPr>
          <p:cNvPr id="149" name="Oval 148"/>
          <p:cNvSpPr/>
          <p:nvPr/>
        </p:nvSpPr>
        <p:spPr>
          <a:xfrm>
            <a:off x="610446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Freeform 149"/>
          <p:cNvSpPr/>
          <p:nvPr/>
        </p:nvSpPr>
        <p:spPr>
          <a:xfrm>
            <a:off x="618172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7162800"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Freeform 151"/>
          <p:cNvSpPr/>
          <p:nvPr/>
        </p:nvSpPr>
        <p:spPr>
          <a:xfrm>
            <a:off x="723900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822113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Freeform 153"/>
          <p:cNvSpPr/>
          <p:nvPr/>
        </p:nvSpPr>
        <p:spPr>
          <a:xfrm>
            <a:off x="829627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927946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Freeform 155"/>
          <p:cNvSpPr/>
          <p:nvPr/>
        </p:nvSpPr>
        <p:spPr>
          <a:xfrm>
            <a:off x="9353550"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9884833" y="4972050"/>
            <a:ext cx="1058333" cy="342900"/>
          </a:xfrm>
          <a:prstGeom prst="rect">
            <a:avLst/>
          </a:prstGeom>
          <a:noFill/>
        </p:spPr>
        <p:txBody>
          <a:bodyPr wrap="square" lIns="28575" tIns="9525" rIns="28575" bIns="9525" anchor="ctr">
            <a:spAutoFit/>
          </a:bodyPr>
          <a:lstStyle/>
          <a:p>
            <a:pPr algn="ctr"/>
            <a:endParaRPr/>
          </a:p>
        </p:txBody>
      </p:sp>
      <p:sp>
        <p:nvSpPr>
          <p:cNvPr id="158" name="TextBox 157"/>
          <p:cNvSpPr txBox="1"/>
          <p:nvPr/>
        </p:nvSpPr>
        <p:spPr>
          <a:xfrm>
            <a:off x="10943167" y="4972050"/>
            <a:ext cx="1058333" cy="342900"/>
          </a:xfrm>
          <a:prstGeom prst="rect">
            <a:avLst/>
          </a:prstGeom>
          <a:noFill/>
        </p:spPr>
        <p:txBody>
          <a:bodyPr wrap="square" lIns="28575" tIns="9525" rIns="28575" bIns="9525" anchor="ctr">
            <a:spAutoFit/>
          </a:bodyPr>
          <a:lstStyle/>
          <a:p>
            <a:pPr algn="ctr"/>
            <a:endParaRPr/>
          </a:p>
        </p:txBody>
      </p:sp>
      <p:cxnSp>
        <p:nvCxnSpPr>
          <p:cNvPr id="159" name="Connector 15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0" name="Rectangle 15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285750" y="53340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Ark Naturals</a:t>
            </a:r>
          </a:p>
        </p:txBody>
      </p:sp>
      <p:sp>
        <p:nvSpPr>
          <p:cNvPr id="162" name="TextBox 161"/>
          <p:cNvSpPr txBox="1"/>
          <p:nvPr/>
        </p:nvSpPr>
        <p:spPr>
          <a:xfrm>
            <a:off x="285750" y="54959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63" name="TextBox 162"/>
          <p:cNvSpPr txBox="1"/>
          <p:nvPr/>
        </p:nvSpPr>
        <p:spPr>
          <a:xfrm>
            <a:off x="2000250" y="5314950"/>
            <a:ext cx="2381250" cy="342900"/>
          </a:xfrm>
          <a:prstGeom prst="rect">
            <a:avLst/>
          </a:prstGeom>
          <a:noFill/>
        </p:spPr>
        <p:txBody>
          <a:bodyPr wrap="square" lIns="28575" tIns="9525" rIns="28575" bIns="9525" anchor="ctr">
            <a:spAutoFit/>
          </a:bodyPr>
          <a:lstStyle/>
          <a:p>
            <a:pPr algn="ctr"/>
            <a:endParaRPr/>
          </a:p>
        </p:txBody>
      </p:sp>
      <p:sp>
        <p:nvSpPr>
          <p:cNvPr id="164" name="TextBox 163"/>
          <p:cNvSpPr txBox="1"/>
          <p:nvPr/>
        </p:nvSpPr>
        <p:spPr>
          <a:xfrm>
            <a:off x="4419600" y="5314950"/>
            <a:ext cx="1193800"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Launch-led growth</a:t>
            </a:r>
          </a:p>
        </p:txBody>
      </p:sp>
      <p:sp>
        <p:nvSpPr>
          <p:cNvPr id="165" name="Oval 164"/>
          <p:cNvSpPr/>
          <p:nvPr/>
        </p:nvSpPr>
        <p:spPr>
          <a:xfrm>
            <a:off x="610446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Freeform 165"/>
          <p:cNvSpPr/>
          <p:nvPr/>
        </p:nvSpPr>
        <p:spPr>
          <a:xfrm>
            <a:off x="618172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7162800"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Freeform 167"/>
          <p:cNvSpPr/>
          <p:nvPr/>
        </p:nvSpPr>
        <p:spPr>
          <a:xfrm>
            <a:off x="723900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822113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Freeform 169"/>
          <p:cNvSpPr/>
          <p:nvPr/>
        </p:nvSpPr>
        <p:spPr>
          <a:xfrm>
            <a:off x="829627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927946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Freeform 171"/>
          <p:cNvSpPr/>
          <p:nvPr/>
        </p:nvSpPr>
        <p:spPr>
          <a:xfrm>
            <a:off x="9353550"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9884833" y="5314950"/>
            <a:ext cx="1058333" cy="342900"/>
          </a:xfrm>
          <a:prstGeom prst="rect">
            <a:avLst/>
          </a:prstGeom>
          <a:noFill/>
        </p:spPr>
        <p:txBody>
          <a:bodyPr wrap="square" lIns="28575" tIns="9525" rIns="28575" bIns="9525" anchor="ctr">
            <a:spAutoFit/>
          </a:bodyPr>
          <a:lstStyle/>
          <a:p>
            <a:pPr algn="ctr"/>
            <a:endParaRPr/>
          </a:p>
        </p:txBody>
      </p:sp>
      <p:sp>
        <p:nvSpPr>
          <p:cNvPr id="174" name="TextBox 173"/>
          <p:cNvSpPr txBox="1"/>
          <p:nvPr/>
        </p:nvSpPr>
        <p:spPr>
          <a:xfrm>
            <a:off x="10943167" y="5314950"/>
            <a:ext cx="1058333" cy="342900"/>
          </a:xfrm>
          <a:prstGeom prst="rect">
            <a:avLst/>
          </a:prstGeom>
          <a:noFill/>
        </p:spPr>
        <p:txBody>
          <a:bodyPr wrap="square" lIns="28575" tIns="9525" rIns="28575" bIns="9525" anchor="ctr">
            <a:spAutoFit/>
          </a:bodyPr>
          <a:lstStyle/>
          <a:p>
            <a:pPr algn="ctr"/>
            <a:endParaRPr/>
          </a:p>
        </p:txBody>
      </p:sp>
      <p:cxnSp>
        <p:nvCxnSpPr>
          <p:cNvPr id="175" name="Connector 174"/>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6" name="Oval 175"/>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TextBox 176"/>
          <p:cNvSpPr txBox="1"/>
          <p:nvPr/>
        </p:nvSpPr>
        <p:spPr>
          <a:xfrm>
            <a:off x="381000"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Strong, direct evidence</a:t>
            </a:r>
          </a:p>
        </p:txBody>
      </p:sp>
      <p:sp>
        <p:nvSpPr>
          <p:cNvPr id="178" name="Oval 177"/>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Freeform 178"/>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2245995"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Moderate or partial</a:t>
            </a:r>
          </a:p>
        </p:txBody>
      </p:sp>
      <p:sp>
        <p:nvSpPr>
          <p:cNvPr id="181" name="Oval 180"/>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Freeform 181"/>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3859530"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Weak or indirect</a:t>
            </a:r>
          </a:p>
        </p:txBody>
      </p:sp>
      <p:sp>
        <p:nvSpPr>
          <p:cNvPr id="184" name="Oval 183"/>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5284470"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None found</a:t>
            </a:r>
          </a:p>
        </p:txBody>
      </p:sp>
      <p:sp>
        <p:nvSpPr>
          <p:cNvPr id="186" name="TextBox 185"/>
          <p:cNvSpPr txBox="1"/>
          <p:nvPr/>
        </p:nvSpPr>
        <p:spPr>
          <a:xfrm>
            <a:off x="190500" y="5943600"/>
            <a:ext cx="2857500" cy="152400"/>
          </a:xfrm>
          <a:prstGeom prst="rect">
            <a:avLst/>
          </a:prstGeom>
          <a:noFill/>
        </p:spPr>
        <p:txBody>
          <a:bodyPr wrap="square" lIns="28575" tIns="9525" rIns="28575" bIns="9525" anchor="t">
            <a:spAutoFit/>
          </a:bodyPr>
          <a:lstStyle/>
          <a:p>
            <a:pPr algn="l"/>
            <a:r>
              <a:rPr sz="1100" b="1">
                <a:solidFill>
                  <a:srgbClr val="0F2D52"/>
                </a:solidFill>
                <a:latin typeface="Calibri"/>
              </a:rPr>
              <a:t>READING</a:t>
            </a:r>
          </a:p>
        </p:txBody>
      </p:sp>
      <p:sp>
        <p:nvSpPr>
          <p:cNvPr id="187" name="TextBox 186"/>
          <p:cNvSpPr txBox="1"/>
          <p:nvPr/>
        </p:nvSpPr>
        <p:spPr>
          <a:xfrm>
            <a:off x="190500" y="6096000"/>
            <a:ext cx="11811000" cy="2286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88" name="TextBox 18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
        <p:nvSpPr>
          <p:cNvPr id="189" name="TextBox 188"/>
          <p:cNvSpPr txBox="1"/>
          <p:nvPr/>
        </p:nvSpPr>
        <p:spPr>
          <a:xfrm>
            <a:off x="8893175" y="1666875"/>
            <a:ext cx="398983" cy="186689"/>
          </a:xfrm>
          <a:prstGeom prst="rect">
            <a:avLst/>
          </a:prstGeom>
          <a:noFill/>
        </p:spPr>
        <p:txBody>
          <a:bodyPr wrap="none" lIns="0" tIns="0" rIns="0" bIns="0">
            <a:spAutoFit/>
          </a:bodyPr>
          <a:lstStyle/>
          <a:p>
            <a:r>
              <a:rPr sz="1100" b="0">
                <a:solidFill>
                  <a:srgbClr val="5F6B7A"/>
                </a:solidFill>
                <a:latin typeface="Calibri"/>
              </a:rPr>
              <a:t>Share</a:t>
            </a:r>
          </a:p>
        </p:txBody>
      </p:sp>
      <p:pic>
        <p:nvPicPr>
          <p:cNvPr id="190" name="Picture 189" descr="lock.png"/>
          <p:cNvPicPr>
            <a:picLocks noChangeAspect="1"/>
          </p:cNvPicPr>
          <p:nvPr/>
        </p:nvPicPr>
        <p:blipFill>
          <a:blip r:embed="rId4"/>
          <a:stretch>
            <a:fillRect/>
          </a:stretch>
        </p:blipFill>
        <p:spPr>
          <a:xfrm>
            <a:off x="9240209" y="1657096"/>
            <a:ext cx="128699" cy="187198"/>
          </a:xfrm>
          <a:prstGeom prst="rect">
            <a:avLst/>
          </a:prstGeom>
        </p:spPr>
      </p:pic>
      <p:sp>
        <p:nvSpPr>
          <p:cNvPr id="191" name="TextBox 190"/>
          <p:cNvSpPr txBox="1"/>
          <p:nvPr/>
        </p:nvSpPr>
        <p:spPr>
          <a:xfrm>
            <a:off x="9407705" y="1666875"/>
            <a:ext cx="384522" cy="186689"/>
          </a:xfrm>
          <a:prstGeom prst="rect">
            <a:avLst/>
          </a:prstGeom>
          <a:noFill/>
        </p:spPr>
        <p:txBody>
          <a:bodyPr wrap="none" lIns="0" tIns="0" rIns="0" bIns="0">
            <a:spAutoFit/>
          </a:bodyPr>
          <a:lstStyle/>
          <a:p>
            <a:r>
              <a:rPr sz="1100" b="0">
                <a:solidFill>
                  <a:srgbClr val="5F6B7A"/>
                </a:solidFill>
                <a:latin typeface="Calibri"/>
              </a:rPr>
              <a:t>+ = 3,</a:t>
            </a:r>
          </a:p>
        </p:txBody>
      </p:sp>
      <p:pic>
        <p:nvPicPr>
          <p:cNvPr id="192" name="Picture 191" descr="lock.png"/>
          <p:cNvPicPr>
            <a:picLocks noChangeAspect="1"/>
          </p:cNvPicPr>
          <p:nvPr/>
        </p:nvPicPr>
        <p:blipFill>
          <a:blip r:embed="rId4"/>
          <a:stretch>
            <a:fillRect/>
          </a:stretch>
        </p:blipFill>
        <p:spPr>
          <a:xfrm>
            <a:off x="8879707" y="1824736"/>
            <a:ext cx="128699" cy="187198"/>
          </a:xfrm>
          <a:prstGeom prst="rect">
            <a:avLst/>
          </a:prstGeom>
        </p:spPr>
      </p:pic>
      <p:sp>
        <p:nvSpPr>
          <p:cNvPr id="193" name="TextBox 192"/>
          <p:cNvSpPr txBox="1"/>
          <p:nvPr/>
        </p:nvSpPr>
        <p:spPr>
          <a:xfrm>
            <a:off x="9047203" y="1834515"/>
            <a:ext cx="643458" cy="186689"/>
          </a:xfrm>
          <a:prstGeom prst="rect">
            <a:avLst/>
          </a:prstGeom>
          <a:noFill/>
        </p:spPr>
        <p:txBody>
          <a:bodyPr wrap="none" lIns="0" tIns="0" rIns="0" bIns="0">
            <a:spAutoFit/>
          </a:bodyPr>
          <a:lstStyle/>
          <a:p>
            <a:r>
              <a:rPr sz="1100" b="0">
                <a:solidFill>
                  <a:srgbClr val="5F6B7A"/>
                </a:solidFill>
                <a:latin typeface="Calibri"/>
              </a:rPr>
              <a:t>= 2, else 1</a:t>
            </a:r>
          </a:p>
        </p:txBody>
      </p:sp>
      <p:pic>
        <p:nvPicPr>
          <p:cNvPr id="194" name="Picture 193" descr="lock.png"/>
          <p:cNvPicPr>
            <a:picLocks noChangeAspect="1"/>
          </p:cNvPicPr>
          <p:nvPr/>
        </p:nvPicPr>
        <p:blipFill>
          <a:blip r:embed="rId4"/>
          <a:stretch>
            <a:fillRect/>
          </a:stretch>
        </p:blipFill>
        <p:spPr>
          <a:xfrm>
            <a:off x="3126525"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10349650" y="23067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1407984"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3126525"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0349650" y="26496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1407984"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3126525"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0349650" y="29925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1407984"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3126525"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0349650" y="33354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1407984"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3126525"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0349650" y="36783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1407984"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3126525"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0349650" y="40212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1407984"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3126525"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0349650" y="43641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1407984"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3126525"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0349650" y="47070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1407984"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3126525"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0349650" y="50499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1407984"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3126525" y="53928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0349650" y="5392801"/>
            <a:ext cx="128699" cy="187198"/>
          </a:xfrm>
          <a:prstGeom prst="rect">
            <a:avLst/>
          </a:prstGeom>
        </p:spPr>
      </p:pic>
      <p:pic>
        <p:nvPicPr>
          <p:cNvPr id="223" name="Picture 222" descr="lock.png"/>
          <p:cNvPicPr>
            <a:picLocks noChangeAspect="1"/>
          </p:cNvPicPr>
          <p:nvPr/>
        </p:nvPicPr>
        <p:blipFill>
          <a:blip r:embed="rId4"/>
          <a:stretch>
            <a:fillRect/>
          </a:stretch>
        </p:blipFill>
        <p:spPr>
          <a:xfrm>
            <a:off x="11407984" y="5392801"/>
            <a:ext cx="128699" cy="187198"/>
          </a:xfrm>
          <a:prstGeom prst="rect">
            <a:avLst/>
          </a:prstGeom>
        </p:spPr>
      </p:pic>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6700" y="1047750"/>
            <a:ext cx="6667500" cy="209550"/>
          </a:xfrm>
          <a:prstGeom prst="rect">
            <a:avLst/>
          </a:prstGeom>
          <a:noFill/>
        </p:spPr>
        <p:txBody>
          <a:bodyPr wrap="square" lIns="28575" tIns="9525" rIns="2857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038350" y="1295400"/>
            <a:ext cx="1394572"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038350" y="1657350"/>
            <a:ext cx="1394572"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3509122" y="1295400"/>
            <a:ext cx="1394572"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3509122" y="1657350"/>
            <a:ext cx="1394572"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4979894" y="1295400"/>
            <a:ext cx="1688726"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4979894" y="1657350"/>
            <a:ext cx="1688726"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6744821" y="1295400"/>
            <a:ext cx="1688726"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6744821" y="1657350"/>
            <a:ext cx="1688726"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509747" y="1295400"/>
            <a:ext cx="1688726"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509747" y="1657350"/>
            <a:ext cx="1688726"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274674" y="1295400"/>
            <a:ext cx="1688726"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274674" y="1657350"/>
            <a:ext cx="1688726"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5750" y="22479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Standard Process</a:t>
            </a:r>
          </a:p>
        </p:txBody>
      </p:sp>
      <p:sp>
        <p:nvSpPr>
          <p:cNvPr id="27" name="TextBox 26"/>
          <p:cNvSpPr txBox="1"/>
          <p:nvPr/>
        </p:nvSpPr>
        <p:spPr>
          <a:xfrm>
            <a:off x="285750" y="24098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28" name="Oval 27"/>
          <p:cNvSpPr/>
          <p:nvPr/>
        </p:nvSpPr>
        <p:spPr>
          <a:xfrm>
            <a:off x="265943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130208"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reeform 29"/>
          <p:cNvSpPr/>
          <p:nvPr/>
        </p:nvSpPr>
        <p:spPr>
          <a:xfrm>
            <a:off x="4210050" y="2324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79894" y="22288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6744821" y="22288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Support for Observable Age-Related Cognitive Changes, Routine Cognitive Wellness</a:t>
            </a:r>
          </a:p>
        </p:txBody>
      </p:sp>
      <p:sp>
        <p:nvSpPr>
          <p:cNvPr id="33" name="TextBox 32"/>
          <p:cNvSpPr txBox="1"/>
          <p:nvPr/>
        </p:nvSpPr>
        <p:spPr>
          <a:xfrm>
            <a:off x="8471647" y="2228850"/>
            <a:ext cx="1764926" cy="342900"/>
          </a:xfrm>
          <a:prstGeom prst="rect">
            <a:avLst/>
          </a:prstGeom>
          <a:noFill/>
        </p:spPr>
        <p:txBody>
          <a:bodyPr wrap="square" lIns="28575" tIns="9525" rIns="28575" bIns="9525" anchor="ctr">
            <a:spAutoFit/>
          </a:bodyPr>
          <a:lstStyle/>
          <a:p>
            <a:pPr algn="ctr"/>
            <a:endParaRPr/>
          </a:p>
        </p:txBody>
      </p:sp>
      <p:sp>
        <p:nvSpPr>
          <p:cNvPr id="34" name="TextBox 33"/>
          <p:cNvSpPr txBox="1"/>
          <p:nvPr/>
        </p:nvSpPr>
        <p:spPr>
          <a:xfrm>
            <a:off x="10236574" y="2228850"/>
            <a:ext cx="1764926" cy="342900"/>
          </a:xfrm>
          <a:prstGeom prst="rect">
            <a:avLst/>
          </a:prstGeom>
          <a:noFill/>
        </p:spPr>
        <p:txBody>
          <a:bodyPr wrap="square" lIns="28575" tIns="9525" rIns="28575" bIns="9525" anchor="ctr">
            <a:spAutoFit/>
          </a:bodyPr>
          <a:lstStyle/>
          <a:p>
            <a:pPr algn="ctr"/>
            <a:endParaRP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85750" y="25908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VetriScience</a:t>
            </a:r>
          </a:p>
        </p:txBody>
      </p:sp>
      <p:sp>
        <p:nvSpPr>
          <p:cNvPr id="38" name="TextBox 37"/>
          <p:cNvSpPr txBox="1"/>
          <p:nvPr/>
        </p:nvSpPr>
        <p:spPr>
          <a:xfrm>
            <a:off x="285750" y="27527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39" name="Oval 38"/>
          <p:cNvSpPr/>
          <p:nvPr/>
        </p:nvSpPr>
        <p:spPr>
          <a:xfrm>
            <a:off x="2659436"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Freeform 39"/>
          <p:cNvSpPr/>
          <p:nvPr/>
        </p:nvSpPr>
        <p:spPr>
          <a:xfrm>
            <a:off x="2733675" y="2667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13020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979894" y="25717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6744821" y="25717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Support for Observable Age-Related Cognitive Changes, Preventive Cognitive Support for Senior Dogs</a:t>
            </a:r>
          </a:p>
        </p:txBody>
      </p:sp>
      <p:sp>
        <p:nvSpPr>
          <p:cNvPr id="44" name="TextBox 43"/>
          <p:cNvSpPr txBox="1"/>
          <p:nvPr/>
        </p:nvSpPr>
        <p:spPr>
          <a:xfrm>
            <a:off x="8471647" y="2571750"/>
            <a:ext cx="1764926" cy="342900"/>
          </a:xfrm>
          <a:prstGeom prst="rect">
            <a:avLst/>
          </a:prstGeom>
          <a:noFill/>
        </p:spPr>
        <p:txBody>
          <a:bodyPr wrap="square" lIns="28575" tIns="9525" rIns="28575" bIns="9525" anchor="ctr">
            <a:spAutoFit/>
          </a:bodyPr>
          <a:lstStyle/>
          <a:p>
            <a:pPr algn="ctr"/>
            <a:endParaRPr/>
          </a:p>
        </p:txBody>
      </p:sp>
      <p:sp>
        <p:nvSpPr>
          <p:cNvPr id="45" name="TextBox 44"/>
          <p:cNvSpPr txBox="1"/>
          <p:nvPr/>
        </p:nvSpPr>
        <p:spPr>
          <a:xfrm>
            <a:off x="10236574" y="2571750"/>
            <a:ext cx="1764926" cy="342900"/>
          </a:xfrm>
          <a:prstGeom prst="rect">
            <a:avLst/>
          </a:prstGeom>
          <a:noFill/>
        </p:spPr>
        <p:txBody>
          <a:bodyPr wrap="square" lIns="28575" tIns="9525" rIns="28575" bIns="9525" anchor="ctr">
            <a:spAutoFit/>
          </a:bodyPr>
          <a:lstStyle/>
          <a:p>
            <a:pPr algn="ctr"/>
            <a:endParaRP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85750" y="29337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Dr. Fossum's</a:t>
            </a:r>
          </a:p>
        </p:txBody>
      </p:sp>
      <p:sp>
        <p:nvSpPr>
          <p:cNvPr id="49" name="TextBox 48"/>
          <p:cNvSpPr txBox="1"/>
          <p:nvPr/>
        </p:nvSpPr>
        <p:spPr>
          <a:xfrm>
            <a:off x="285750" y="30956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50" name="Oval 49"/>
          <p:cNvSpPr/>
          <p:nvPr/>
        </p:nvSpPr>
        <p:spPr>
          <a:xfrm>
            <a:off x="2659436"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Freeform 50"/>
          <p:cNvSpPr/>
          <p:nvPr/>
        </p:nvSpPr>
        <p:spPr>
          <a:xfrm>
            <a:off x="27336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130208"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Freeform 52"/>
          <p:cNvSpPr/>
          <p:nvPr/>
        </p:nvSpPr>
        <p:spPr>
          <a:xfrm>
            <a:off x="4210050"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979894" y="29146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6744821" y="29146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Routine Cognitive Wellness, Preventive Cognitive Support for Senior Dogs</a:t>
            </a:r>
          </a:p>
        </p:txBody>
      </p:sp>
      <p:sp>
        <p:nvSpPr>
          <p:cNvPr id="56" name="TextBox 55"/>
          <p:cNvSpPr txBox="1"/>
          <p:nvPr/>
        </p:nvSpPr>
        <p:spPr>
          <a:xfrm>
            <a:off x="8471647" y="2914650"/>
            <a:ext cx="1764926" cy="342900"/>
          </a:xfrm>
          <a:prstGeom prst="rect">
            <a:avLst/>
          </a:prstGeom>
          <a:noFill/>
        </p:spPr>
        <p:txBody>
          <a:bodyPr wrap="square" lIns="28575" tIns="9525" rIns="28575" bIns="9525" anchor="ctr">
            <a:spAutoFit/>
          </a:bodyPr>
          <a:lstStyle/>
          <a:p>
            <a:pPr algn="ctr"/>
            <a:endParaRPr/>
          </a:p>
        </p:txBody>
      </p:sp>
      <p:sp>
        <p:nvSpPr>
          <p:cNvPr id="57" name="TextBox 56"/>
          <p:cNvSpPr txBox="1"/>
          <p:nvPr/>
        </p:nvSpPr>
        <p:spPr>
          <a:xfrm>
            <a:off x="10236574" y="2914650"/>
            <a:ext cx="1764926" cy="342900"/>
          </a:xfrm>
          <a:prstGeom prst="rect">
            <a:avLst/>
          </a:prstGeom>
          <a:noFill/>
        </p:spPr>
        <p:txBody>
          <a:bodyPr wrap="square" lIns="28575" tIns="9525" rIns="28575" bIns="9525" anchor="ctr">
            <a:spAutoFit/>
          </a:bodyPr>
          <a:lstStyle/>
          <a:p>
            <a:pPr algn="ctr"/>
            <a:endParaRP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85750" y="32766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Nestlé Purina PetCare</a:t>
            </a:r>
          </a:p>
        </p:txBody>
      </p:sp>
      <p:sp>
        <p:nvSpPr>
          <p:cNvPr id="61" name="TextBox 60"/>
          <p:cNvSpPr txBox="1"/>
          <p:nvPr/>
        </p:nvSpPr>
        <p:spPr>
          <a:xfrm>
            <a:off x="285750" y="34385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62" name="Oval 61"/>
          <p:cNvSpPr/>
          <p:nvPr/>
        </p:nvSpPr>
        <p:spPr>
          <a:xfrm>
            <a:off x="2659436"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Freeform 62"/>
          <p:cNvSpPr/>
          <p:nvPr/>
        </p:nvSpPr>
        <p:spPr>
          <a:xfrm>
            <a:off x="27336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413020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979894" y="32575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6744821" y="32575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Support for Observable Age-Related Cognitive Changes, Routine Cognitive Wellness</a:t>
            </a:r>
          </a:p>
        </p:txBody>
      </p:sp>
      <p:sp>
        <p:nvSpPr>
          <p:cNvPr id="67" name="TextBox 66"/>
          <p:cNvSpPr txBox="1"/>
          <p:nvPr/>
        </p:nvSpPr>
        <p:spPr>
          <a:xfrm>
            <a:off x="8471647" y="3257550"/>
            <a:ext cx="1764926" cy="342900"/>
          </a:xfrm>
          <a:prstGeom prst="rect">
            <a:avLst/>
          </a:prstGeom>
          <a:noFill/>
        </p:spPr>
        <p:txBody>
          <a:bodyPr wrap="square" lIns="28575" tIns="9525" rIns="28575" bIns="9525" anchor="ctr">
            <a:spAutoFit/>
          </a:bodyPr>
          <a:lstStyle/>
          <a:p>
            <a:pPr algn="ctr"/>
            <a:endParaRPr/>
          </a:p>
        </p:txBody>
      </p:sp>
      <p:sp>
        <p:nvSpPr>
          <p:cNvPr id="68" name="TextBox 67"/>
          <p:cNvSpPr txBox="1"/>
          <p:nvPr/>
        </p:nvSpPr>
        <p:spPr>
          <a:xfrm>
            <a:off x="10236574" y="3257550"/>
            <a:ext cx="1764926" cy="342900"/>
          </a:xfrm>
          <a:prstGeom prst="rect">
            <a:avLst/>
          </a:prstGeom>
          <a:noFill/>
        </p:spPr>
        <p:txBody>
          <a:bodyPr wrap="square" lIns="28575" tIns="9525" rIns="28575" bIns="9525" anchor="ctr">
            <a:spAutoFit/>
          </a:bodyPr>
          <a:lstStyle/>
          <a:p>
            <a:pPr algn="ctr"/>
            <a:endParaRP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85750" y="36195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PetHeal</a:t>
            </a:r>
          </a:p>
        </p:txBody>
      </p:sp>
      <p:sp>
        <p:nvSpPr>
          <p:cNvPr id="72" name="TextBox 71"/>
          <p:cNvSpPr txBox="1"/>
          <p:nvPr/>
        </p:nvSpPr>
        <p:spPr>
          <a:xfrm>
            <a:off x="285750" y="37814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2</a:t>
            </a:r>
          </a:p>
        </p:txBody>
      </p:sp>
      <p:sp>
        <p:nvSpPr>
          <p:cNvPr id="73" name="Oval 72"/>
          <p:cNvSpPr/>
          <p:nvPr/>
        </p:nvSpPr>
        <p:spPr>
          <a:xfrm>
            <a:off x="265943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413020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Freeform 74"/>
          <p:cNvSpPr/>
          <p:nvPr/>
        </p:nvSpPr>
        <p:spPr>
          <a:xfrm>
            <a:off x="421005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979894" y="36004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6744821" y="36004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Support for Observable Age-Related Cognitive Changes, Preventive Cognitive Support for Senior Dogs</a:t>
            </a:r>
          </a:p>
        </p:txBody>
      </p:sp>
      <p:sp>
        <p:nvSpPr>
          <p:cNvPr id="78" name="TextBox 77"/>
          <p:cNvSpPr txBox="1"/>
          <p:nvPr/>
        </p:nvSpPr>
        <p:spPr>
          <a:xfrm>
            <a:off x="8471647" y="3600450"/>
            <a:ext cx="1764926" cy="342900"/>
          </a:xfrm>
          <a:prstGeom prst="rect">
            <a:avLst/>
          </a:prstGeom>
          <a:noFill/>
        </p:spPr>
        <p:txBody>
          <a:bodyPr wrap="square" lIns="28575" tIns="9525" rIns="28575" bIns="9525" anchor="ctr">
            <a:spAutoFit/>
          </a:bodyPr>
          <a:lstStyle/>
          <a:p>
            <a:pPr algn="ctr"/>
            <a:endParaRPr/>
          </a:p>
        </p:txBody>
      </p:sp>
      <p:sp>
        <p:nvSpPr>
          <p:cNvPr id="79" name="TextBox 78"/>
          <p:cNvSpPr txBox="1"/>
          <p:nvPr/>
        </p:nvSpPr>
        <p:spPr>
          <a:xfrm>
            <a:off x="10236574" y="3600450"/>
            <a:ext cx="1764926" cy="342900"/>
          </a:xfrm>
          <a:prstGeom prst="rect">
            <a:avLst/>
          </a:prstGeom>
          <a:noFill/>
        </p:spPr>
        <p:txBody>
          <a:bodyPr wrap="square" lIns="28575" tIns="9525" rIns="28575" bIns="9525" anchor="ctr">
            <a:spAutoFit/>
          </a:bodyPr>
          <a:lstStyle/>
          <a:p>
            <a:pPr algn="ctr"/>
            <a:endParaRP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285750" y="39624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Senior Dogs Club</a:t>
            </a:r>
          </a:p>
        </p:txBody>
      </p:sp>
      <p:sp>
        <p:nvSpPr>
          <p:cNvPr id="83" name="TextBox 82"/>
          <p:cNvSpPr txBox="1"/>
          <p:nvPr/>
        </p:nvSpPr>
        <p:spPr>
          <a:xfrm>
            <a:off x="285750" y="41243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2</a:t>
            </a:r>
          </a:p>
        </p:txBody>
      </p:sp>
      <p:sp>
        <p:nvSpPr>
          <p:cNvPr id="84" name="Oval 83"/>
          <p:cNvSpPr/>
          <p:nvPr/>
        </p:nvSpPr>
        <p:spPr>
          <a:xfrm>
            <a:off x="265943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Freeform 84"/>
          <p:cNvSpPr/>
          <p:nvPr/>
        </p:nvSpPr>
        <p:spPr>
          <a:xfrm>
            <a:off x="27336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4130208"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4979894" y="39433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6744821" y="39433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Routine Cognitive Wellness, Preventive Cognitive Support for Senior Dogs</a:t>
            </a:r>
          </a:p>
        </p:txBody>
      </p:sp>
      <p:sp>
        <p:nvSpPr>
          <p:cNvPr id="89" name="TextBox 88"/>
          <p:cNvSpPr txBox="1"/>
          <p:nvPr/>
        </p:nvSpPr>
        <p:spPr>
          <a:xfrm>
            <a:off x="8471647" y="3943350"/>
            <a:ext cx="1764926" cy="342900"/>
          </a:xfrm>
          <a:prstGeom prst="rect">
            <a:avLst/>
          </a:prstGeom>
          <a:noFill/>
        </p:spPr>
        <p:txBody>
          <a:bodyPr wrap="square" lIns="28575" tIns="9525" rIns="28575" bIns="9525" anchor="ctr">
            <a:spAutoFit/>
          </a:bodyPr>
          <a:lstStyle/>
          <a:p>
            <a:pPr algn="ctr"/>
            <a:endParaRPr/>
          </a:p>
        </p:txBody>
      </p:sp>
      <p:sp>
        <p:nvSpPr>
          <p:cNvPr id="90" name="TextBox 89"/>
          <p:cNvSpPr txBox="1"/>
          <p:nvPr/>
        </p:nvSpPr>
        <p:spPr>
          <a:xfrm>
            <a:off x="10236574" y="3943350"/>
            <a:ext cx="1764926" cy="342900"/>
          </a:xfrm>
          <a:prstGeom prst="rect">
            <a:avLst/>
          </a:prstGeom>
          <a:noFill/>
        </p:spPr>
        <p:txBody>
          <a:bodyPr wrap="square" lIns="28575" tIns="9525" rIns="28575" bIns="9525" anchor="ctr">
            <a:spAutoFit/>
          </a:bodyPr>
          <a:lstStyle/>
          <a:p>
            <a:pPr algn="ctr"/>
            <a:endParaRP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85750" y="43053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VISYO Corporation</a:t>
            </a:r>
          </a:p>
        </p:txBody>
      </p:sp>
      <p:sp>
        <p:nvSpPr>
          <p:cNvPr id="94" name="TextBox 93"/>
          <p:cNvSpPr txBox="1"/>
          <p:nvPr/>
        </p:nvSpPr>
        <p:spPr>
          <a:xfrm>
            <a:off x="285750" y="44672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95" name="Oval 94"/>
          <p:cNvSpPr/>
          <p:nvPr/>
        </p:nvSpPr>
        <p:spPr>
          <a:xfrm>
            <a:off x="265943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Freeform 95"/>
          <p:cNvSpPr/>
          <p:nvPr/>
        </p:nvSpPr>
        <p:spPr>
          <a:xfrm>
            <a:off x="27336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413020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Freeform 97"/>
          <p:cNvSpPr/>
          <p:nvPr/>
        </p:nvSpPr>
        <p:spPr>
          <a:xfrm>
            <a:off x="4210050"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4979894" y="42862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6744821" y="42862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Support for Observable Age-Related Cognitive Changes, Routine Cognitive Wellness</a:t>
            </a:r>
          </a:p>
        </p:txBody>
      </p:sp>
      <p:sp>
        <p:nvSpPr>
          <p:cNvPr id="101" name="TextBox 100"/>
          <p:cNvSpPr txBox="1"/>
          <p:nvPr/>
        </p:nvSpPr>
        <p:spPr>
          <a:xfrm>
            <a:off x="8471647" y="4286250"/>
            <a:ext cx="1764926" cy="342900"/>
          </a:xfrm>
          <a:prstGeom prst="rect">
            <a:avLst/>
          </a:prstGeom>
          <a:noFill/>
        </p:spPr>
        <p:txBody>
          <a:bodyPr wrap="square" lIns="28575" tIns="9525" rIns="28575" bIns="9525" anchor="ctr">
            <a:spAutoFit/>
          </a:bodyPr>
          <a:lstStyle/>
          <a:p>
            <a:pPr algn="ctr"/>
            <a:endParaRPr/>
          </a:p>
        </p:txBody>
      </p:sp>
      <p:sp>
        <p:nvSpPr>
          <p:cNvPr id="102" name="TextBox 101"/>
          <p:cNvSpPr txBox="1"/>
          <p:nvPr/>
        </p:nvSpPr>
        <p:spPr>
          <a:xfrm>
            <a:off x="10236574" y="4286250"/>
            <a:ext cx="1764926" cy="342900"/>
          </a:xfrm>
          <a:prstGeom prst="rect">
            <a:avLst/>
          </a:prstGeom>
          <a:noFill/>
        </p:spPr>
        <p:txBody>
          <a:bodyPr wrap="square" lIns="28575" tIns="9525" rIns="28575" bIns="9525" anchor="ctr">
            <a:spAutoFit/>
          </a:bodyPr>
          <a:lstStyle/>
          <a:p>
            <a:pPr algn="ctr"/>
            <a:endParaRP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85750" y="46482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NaturVet</a:t>
            </a:r>
          </a:p>
        </p:txBody>
      </p:sp>
      <p:sp>
        <p:nvSpPr>
          <p:cNvPr id="106" name="TextBox 105"/>
          <p:cNvSpPr txBox="1"/>
          <p:nvPr/>
        </p:nvSpPr>
        <p:spPr>
          <a:xfrm>
            <a:off x="285750" y="48101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07" name="Oval 106"/>
          <p:cNvSpPr/>
          <p:nvPr/>
        </p:nvSpPr>
        <p:spPr>
          <a:xfrm>
            <a:off x="265943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Freeform 107"/>
          <p:cNvSpPr/>
          <p:nvPr/>
        </p:nvSpPr>
        <p:spPr>
          <a:xfrm>
            <a:off x="2733675"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4130208"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4979894" y="46291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6744821" y="46291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Support for Observable Age-Related Cognitive Changes, Preventive Cognitive Support for Senior Dogs</a:t>
            </a:r>
          </a:p>
        </p:txBody>
      </p:sp>
      <p:sp>
        <p:nvSpPr>
          <p:cNvPr id="112" name="TextBox 111"/>
          <p:cNvSpPr txBox="1"/>
          <p:nvPr/>
        </p:nvSpPr>
        <p:spPr>
          <a:xfrm>
            <a:off x="8471647" y="4629150"/>
            <a:ext cx="1764926" cy="342900"/>
          </a:xfrm>
          <a:prstGeom prst="rect">
            <a:avLst/>
          </a:prstGeom>
          <a:noFill/>
        </p:spPr>
        <p:txBody>
          <a:bodyPr wrap="square" lIns="28575" tIns="9525" rIns="28575" bIns="9525" anchor="ctr">
            <a:spAutoFit/>
          </a:bodyPr>
          <a:lstStyle/>
          <a:p>
            <a:pPr algn="ctr"/>
            <a:endParaRPr/>
          </a:p>
        </p:txBody>
      </p:sp>
      <p:sp>
        <p:nvSpPr>
          <p:cNvPr id="113" name="TextBox 112"/>
          <p:cNvSpPr txBox="1"/>
          <p:nvPr/>
        </p:nvSpPr>
        <p:spPr>
          <a:xfrm>
            <a:off x="10236574" y="4629150"/>
            <a:ext cx="1764926" cy="342900"/>
          </a:xfrm>
          <a:prstGeom prst="rect">
            <a:avLst/>
          </a:prstGeom>
          <a:noFill/>
        </p:spPr>
        <p:txBody>
          <a:bodyPr wrap="square" lIns="28575" tIns="9525" rIns="28575" bIns="9525" anchor="ctr">
            <a:spAutoFit/>
          </a:bodyPr>
          <a:lstStyle/>
          <a:p>
            <a:pPr algn="ctr"/>
            <a:endParaRP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285750" y="49911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Zesty Paws</a:t>
            </a:r>
          </a:p>
        </p:txBody>
      </p:sp>
      <p:sp>
        <p:nvSpPr>
          <p:cNvPr id="117" name="TextBox 116"/>
          <p:cNvSpPr txBox="1"/>
          <p:nvPr/>
        </p:nvSpPr>
        <p:spPr>
          <a:xfrm>
            <a:off x="285750" y="51530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18" name="Oval 117"/>
          <p:cNvSpPr/>
          <p:nvPr/>
        </p:nvSpPr>
        <p:spPr>
          <a:xfrm>
            <a:off x="2659436"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413020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Freeform 119"/>
          <p:cNvSpPr/>
          <p:nvPr/>
        </p:nvSpPr>
        <p:spPr>
          <a:xfrm>
            <a:off x="4210050" y="5067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4979894" y="49720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Value / entry</a:t>
            </a:r>
          </a:p>
        </p:txBody>
      </p:sp>
      <p:sp>
        <p:nvSpPr>
          <p:cNvPr id="122" name="TextBox 121"/>
          <p:cNvSpPr txBox="1"/>
          <p:nvPr/>
        </p:nvSpPr>
        <p:spPr>
          <a:xfrm>
            <a:off x="6744821" y="49720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Routine Cognitive Wellness, Preventive Cognitive Support for Senior Dogs</a:t>
            </a:r>
          </a:p>
        </p:txBody>
      </p:sp>
      <p:sp>
        <p:nvSpPr>
          <p:cNvPr id="123" name="TextBox 122"/>
          <p:cNvSpPr txBox="1"/>
          <p:nvPr/>
        </p:nvSpPr>
        <p:spPr>
          <a:xfrm>
            <a:off x="8471647" y="4972050"/>
            <a:ext cx="1764926" cy="342900"/>
          </a:xfrm>
          <a:prstGeom prst="rect">
            <a:avLst/>
          </a:prstGeom>
          <a:noFill/>
        </p:spPr>
        <p:txBody>
          <a:bodyPr wrap="square" lIns="28575" tIns="9525" rIns="28575" bIns="9525" anchor="ctr">
            <a:spAutoFit/>
          </a:bodyPr>
          <a:lstStyle/>
          <a:p>
            <a:pPr algn="ctr"/>
            <a:endParaRPr/>
          </a:p>
        </p:txBody>
      </p:sp>
      <p:sp>
        <p:nvSpPr>
          <p:cNvPr id="124" name="TextBox 123"/>
          <p:cNvSpPr txBox="1"/>
          <p:nvPr/>
        </p:nvSpPr>
        <p:spPr>
          <a:xfrm>
            <a:off x="10236574" y="4972050"/>
            <a:ext cx="1764926" cy="342900"/>
          </a:xfrm>
          <a:prstGeom prst="rect">
            <a:avLst/>
          </a:prstGeom>
          <a:noFill/>
        </p:spPr>
        <p:txBody>
          <a:bodyPr wrap="square" lIns="28575" tIns="9525" rIns="28575" bIns="9525" anchor="ctr">
            <a:spAutoFit/>
          </a:bodyPr>
          <a:lstStyle/>
          <a:p>
            <a:pPr algn="ctr"/>
            <a:endParaRPr/>
          </a:p>
        </p:txBody>
      </p:sp>
      <p:cxnSp>
        <p:nvCxnSpPr>
          <p:cNvPr id="125" name="Connector 124"/>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285750" y="53340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Ark Naturals</a:t>
            </a:r>
          </a:p>
        </p:txBody>
      </p:sp>
      <p:sp>
        <p:nvSpPr>
          <p:cNvPr id="128" name="TextBox 127"/>
          <p:cNvSpPr txBox="1"/>
          <p:nvPr/>
        </p:nvSpPr>
        <p:spPr>
          <a:xfrm>
            <a:off x="285750" y="54959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29" name="Oval 128"/>
          <p:cNvSpPr/>
          <p:nvPr/>
        </p:nvSpPr>
        <p:spPr>
          <a:xfrm>
            <a:off x="265943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Freeform 129"/>
          <p:cNvSpPr/>
          <p:nvPr/>
        </p:nvSpPr>
        <p:spPr>
          <a:xfrm>
            <a:off x="273367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4130208"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4979894" y="53149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Value / entry</a:t>
            </a:r>
          </a:p>
        </p:txBody>
      </p:sp>
      <p:sp>
        <p:nvSpPr>
          <p:cNvPr id="133" name="TextBox 132"/>
          <p:cNvSpPr txBox="1"/>
          <p:nvPr/>
        </p:nvSpPr>
        <p:spPr>
          <a:xfrm>
            <a:off x="6744821" y="53149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Support for Observable Age-Related Cognitive Changes, Routine Cognitive Wellness</a:t>
            </a:r>
          </a:p>
        </p:txBody>
      </p:sp>
      <p:sp>
        <p:nvSpPr>
          <p:cNvPr id="134" name="TextBox 133"/>
          <p:cNvSpPr txBox="1"/>
          <p:nvPr/>
        </p:nvSpPr>
        <p:spPr>
          <a:xfrm>
            <a:off x="8471647" y="5314950"/>
            <a:ext cx="1764926" cy="342900"/>
          </a:xfrm>
          <a:prstGeom prst="rect">
            <a:avLst/>
          </a:prstGeom>
          <a:noFill/>
        </p:spPr>
        <p:txBody>
          <a:bodyPr wrap="square" lIns="28575" tIns="9525" rIns="28575" bIns="9525" anchor="ctr">
            <a:spAutoFit/>
          </a:bodyPr>
          <a:lstStyle/>
          <a:p>
            <a:pPr algn="ctr"/>
            <a:endParaRPr/>
          </a:p>
        </p:txBody>
      </p:sp>
      <p:sp>
        <p:nvSpPr>
          <p:cNvPr id="135" name="TextBox 134"/>
          <p:cNvSpPr txBox="1"/>
          <p:nvPr/>
        </p:nvSpPr>
        <p:spPr>
          <a:xfrm>
            <a:off x="10236574" y="5314950"/>
            <a:ext cx="1764926" cy="342900"/>
          </a:xfrm>
          <a:prstGeom prst="rect">
            <a:avLst/>
          </a:prstGeom>
          <a:noFill/>
        </p:spPr>
        <p:txBody>
          <a:bodyPr wrap="square" lIns="28575" tIns="9525" rIns="28575" bIns="9525" anchor="ctr">
            <a:spAutoFit/>
          </a:bodyPr>
          <a:lstStyle/>
          <a:p>
            <a:pPr algn="ctr"/>
            <a:endParaRPr/>
          </a:p>
        </p:txBody>
      </p:sp>
      <p:cxnSp>
        <p:nvCxnSpPr>
          <p:cNvPr id="136" name="Connector 13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381000"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Strong, direct evidence</a:t>
            </a:r>
          </a:p>
        </p:txBody>
      </p:sp>
      <p:sp>
        <p:nvSpPr>
          <p:cNvPr id="139" name="Oval 13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Freeform 13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2245995"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Moderate or partial</a:t>
            </a:r>
          </a:p>
        </p:txBody>
      </p:sp>
      <p:sp>
        <p:nvSpPr>
          <p:cNvPr id="142" name="Oval 14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Freeform 14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3859530"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Weak or indirect</a:t>
            </a:r>
          </a:p>
        </p:txBody>
      </p:sp>
      <p:sp>
        <p:nvSpPr>
          <p:cNvPr id="145" name="Oval 14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5284470"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None found</a:t>
            </a:r>
          </a:p>
        </p:txBody>
      </p:sp>
      <p:sp>
        <p:nvSpPr>
          <p:cNvPr id="147" name="TextBox 146"/>
          <p:cNvSpPr txBox="1"/>
          <p:nvPr/>
        </p:nvSpPr>
        <p:spPr>
          <a:xfrm>
            <a:off x="190500" y="5943600"/>
            <a:ext cx="2857500" cy="152400"/>
          </a:xfrm>
          <a:prstGeom prst="rect">
            <a:avLst/>
          </a:prstGeom>
          <a:noFill/>
        </p:spPr>
        <p:txBody>
          <a:bodyPr wrap="square" lIns="28575" tIns="9525" rIns="28575" bIns="9525" anchor="t">
            <a:spAutoFit/>
          </a:bodyPr>
          <a:lstStyle/>
          <a:p>
            <a:pPr algn="l"/>
            <a:r>
              <a:rPr sz="1100" b="1">
                <a:solidFill>
                  <a:srgbClr val="0F2D52"/>
                </a:solidFill>
                <a:latin typeface="Calibri"/>
              </a:rPr>
              <a:t>READING</a:t>
            </a:r>
          </a:p>
        </p:txBody>
      </p:sp>
      <p:sp>
        <p:nvSpPr>
          <p:cNvPr id="148" name="TextBox 147"/>
          <p:cNvSpPr txBox="1"/>
          <p:nvPr/>
        </p:nvSpPr>
        <p:spPr>
          <a:xfrm>
            <a:off x="190500" y="6096000"/>
            <a:ext cx="11811000" cy="2286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9" name="TextBox 14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50" name="Picture 149" descr="lock.png"/>
          <p:cNvPicPr>
            <a:picLocks noChangeAspect="1"/>
          </p:cNvPicPr>
          <p:nvPr/>
        </p:nvPicPr>
        <p:blipFill>
          <a:blip r:embed="rId4"/>
          <a:stretch>
            <a:fillRect/>
          </a:stretch>
        </p:blipFill>
        <p:spPr>
          <a:xfrm>
            <a:off x="9289760" y="23067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054687" y="23067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289760" y="26496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054687" y="26496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289760" y="2992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054687" y="29925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289760" y="33354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054687" y="3335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289760" y="36783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054687" y="36783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289760" y="40212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054687" y="40212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289760" y="43641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054687" y="43641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289760" y="47070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054687" y="47070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289760"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054687" y="50499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289760" y="5392801"/>
            <a:ext cx="128699" cy="187198"/>
          </a:xfrm>
          <a:prstGeom prst="rect">
            <a:avLst/>
          </a:prstGeom>
        </p:spPr>
      </p:pic>
      <p:pic>
        <p:nvPicPr>
          <p:cNvPr id="169" name="Picture 168" descr="lock.png"/>
          <p:cNvPicPr>
            <a:picLocks noChangeAspect="1"/>
          </p:cNvPicPr>
          <p:nvPr/>
        </p:nvPicPr>
        <p:blipFill>
          <a:blip r:embed="rId4"/>
          <a:stretch>
            <a:fillRect/>
          </a:stretch>
        </p:blipFill>
        <p:spPr>
          <a:xfrm>
            <a:off x="11054687" y="5392801"/>
            <a:ext cx="128699" cy="187198"/>
          </a:xfrm>
          <a:prstGeom prst="rect">
            <a:avLst/>
          </a:prstGeom>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6700" y="1047750"/>
            <a:ext cx="6667500" cy="209550"/>
          </a:xfrm>
          <a:prstGeom prst="rect">
            <a:avLst/>
          </a:prstGeom>
          <a:noFill/>
        </p:spPr>
        <p:txBody>
          <a:bodyPr wrap="square" lIns="28575" tIns="9525" rIns="2857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038350" y="1295400"/>
            <a:ext cx="1688726"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038350" y="1657350"/>
            <a:ext cx="1688726"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3803276" y="1295400"/>
            <a:ext cx="1688726"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3803276" y="1657350"/>
            <a:ext cx="1688726"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5568203" y="1295400"/>
            <a:ext cx="1394572"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5568203" y="1657350"/>
            <a:ext cx="1394572"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038975" y="1295400"/>
            <a:ext cx="1688726"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038975" y="1657350"/>
            <a:ext cx="1688726"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8803901" y="1295400"/>
            <a:ext cx="1688726"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8803901" y="1657350"/>
            <a:ext cx="1688726"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568828" y="1295400"/>
            <a:ext cx="1394572" cy="342900"/>
          </a:xfrm>
          <a:prstGeom prst="rect">
            <a:avLst/>
          </a:prstGeom>
          <a:noFill/>
        </p:spPr>
        <p:txBody>
          <a:bodyPr wrap="square" lIns="28575" tIns="9525" rIns="2857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568828" y="1657350"/>
            <a:ext cx="1394572" cy="5143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5750" y="22479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Standard Process</a:t>
            </a:r>
          </a:p>
        </p:txBody>
      </p:sp>
      <p:sp>
        <p:nvSpPr>
          <p:cNvPr id="27" name="TextBox 26"/>
          <p:cNvSpPr txBox="1"/>
          <p:nvPr/>
        </p:nvSpPr>
        <p:spPr>
          <a:xfrm>
            <a:off x="285750" y="24098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28" name="TextBox 27"/>
          <p:cNvSpPr txBox="1"/>
          <p:nvPr/>
        </p:nvSpPr>
        <p:spPr>
          <a:xfrm>
            <a:off x="2038350" y="22288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3765176" y="2228850"/>
            <a:ext cx="1764926" cy="342900"/>
          </a:xfrm>
          <a:prstGeom prst="rect">
            <a:avLst/>
          </a:prstGeom>
          <a:noFill/>
        </p:spPr>
        <p:txBody>
          <a:bodyPr wrap="square" lIns="28575" tIns="9525" rIns="28575" bIns="9525" anchor="ctr">
            <a:spAutoFit/>
          </a:bodyPr>
          <a:lstStyle/>
          <a:p>
            <a:pPr algn="ctr"/>
            <a:endParaRPr/>
          </a:p>
        </p:txBody>
      </p:sp>
      <p:sp>
        <p:nvSpPr>
          <p:cNvPr id="30" name="Oval 29"/>
          <p:cNvSpPr/>
          <p:nvPr/>
        </p:nvSpPr>
        <p:spPr>
          <a:xfrm>
            <a:off x="618928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000875" y="2228850"/>
            <a:ext cx="1764926" cy="342900"/>
          </a:xfrm>
          <a:prstGeom prst="rect">
            <a:avLst/>
          </a:prstGeom>
          <a:noFill/>
        </p:spPr>
        <p:txBody>
          <a:bodyPr wrap="square" lIns="28575" tIns="9525" rIns="28575" bIns="9525" anchor="ctr">
            <a:spAutoFit/>
          </a:bodyPr>
          <a:lstStyle/>
          <a:p>
            <a:pPr algn="ctr"/>
            <a:endParaRPr/>
          </a:p>
        </p:txBody>
      </p:sp>
      <p:sp>
        <p:nvSpPr>
          <p:cNvPr id="32" name="TextBox 31"/>
          <p:cNvSpPr txBox="1"/>
          <p:nvPr/>
        </p:nvSpPr>
        <p:spPr>
          <a:xfrm>
            <a:off x="8765801" y="2228850"/>
            <a:ext cx="1764926" cy="342900"/>
          </a:xfrm>
          <a:prstGeom prst="rect">
            <a:avLst/>
          </a:prstGeom>
          <a:noFill/>
        </p:spPr>
        <p:txBody>
          <a:bodyPr wrap="square" lIns="28575" tIns="9525" rIns="28575" bIns="9525" anchor="ctr">
            <a:spAutoFit/>
          </a:bodyPr>
          <a:lstStyle/>
          <a:p>
            <a:pPr algn="ctr"/>
            <a:endParaRPr/>
          </a:p>
        </p:txBody>
      </p:sp>
      <p:sp>
        <p:nvSpPr>
          <p:cNvPr id="33" name="Oval 32"/>
          <p:cNvSpPr/>
          <p:nvPr/>
        </p:nvSpPr>
        <p:spPr>
          <a:xfrm>
            <a:off x="1118991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5750" y="25908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VetriScience</a:t>
            </a:r>
          </a:p>
        </p:txBody>
      </p:sp>
      <p:sp>
        <p:nvSpPr>
          <p:cNvPr id="37" name="TextBox 36"/>
          <p:cNvSpPr txBox="1"/>
          <p:nvPr/>
        </p:nvSpPr>
        <p:spPr>
          <a:xfrm>
            <a:off x="285750" y="27527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38" name="TextBox 37"/>
          <p:cNvSpPr txBox="1"/>
          <p:nvPr/>
        </p:nvSpPr>
        <p:spPr>
          <a:xfrm>
            <a:off x="2038350" y="25717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3765176" y="2571750"/>
            <a:ext cx="1764926" cy="342900"/>
          </a:xfrm>
          <a:prstGeom prst="rect">
            <a:avLst/>
          </a:prstGeom>
          <a:noFill/>
        </p:spPr>
        <p:txBody>
          <a:bodyPr wrap="square" lIns="28575" tIns="9525" rIns="28575" bIns="9525" anchor="ctr">
            <a:spAutoFit/>
          </a:bodyPr>
          <a:lstStyle/>
          <a:p>
            <a:pPr algn="ctr"/>
            <a:endParaRPr/>
          </a:p>
        </p:txBody>
      </p:sp>
      <p:sp>
        <p:nvSpPr>
          <p:cNvPr id="40" name="Oval 39"/>
          <p:cNvSpPr/>
          <p:nvPr/>
        </p:nvSpPr>
        <p:spPr>
          <a:xfrm>
            <a:off x="618928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038975" y="25717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8765801" y="2571750"/>
            <a:ext cx="1764926" cy="342900"/>
          </a:xfrm>
          <a:prstGeom prst="rect">
            <a:avLst/>
          </a:prstGeom>
          <a:noFill/>
        </p:spPr>
        <p:txBody>
          <a:bodyPr wrap="square" lIns="28575" tIns="9525" rIns="28575" bIns="9525" anchor="ctr">
            <a:spAutoFit/>
          </a:bodyPr>
          <a:lstStyle/>
          <a:p>
            <a:pPr algn="ctr"/>
            <a:endParaRPr/>
          </a:p>
        </p:txBody>
      </p:sp>
      <p:sp>
        <p:nvSpPr>
          <p:cNvPr id="43" name="Oval 42"/>
          <p:cNvSpPr/>
          <p:nvPr/>
        </p:nvSpPr>
        <p:spPr>
          <a:xfrm>
            <a:off x="1118991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85750" y="29337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Dr. Fossum's</a:t>
            </a:r>
          </a:p>
        </p:txBody>
      </p:sp>
      <p:sp>
        <p:nvSpPr>
          <p:cNvPr id="47" name="TextBox 46"/>
          <p:cNvSpPr txBox="1"/>
          <p:nvPr/>
        </p:nvSpPr>
        <p:spPr>
          <a:xfrm>
            <a:off x="285750" y="30956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48" name="TextBox 47"/>
          <p:cNvSpPr txBox="1"/>
          <p:nvPr/>
        </p:nvSpPr>
        <p:spPr>
          <a:xfrm>
            <a:off x="2038350" y="29146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3765176" y="2914650"/>
            <a:ext cx="1764926" cy="342900"/>
          </a:xfrm>
          <a:prstGeom prst="rect">
            <a:avLst/>
          </a:prstGeom>
          <a:noFill/>
        </p:spPr>
        <p:txBody>
          <a:bodyPr wrap="square" lIns="28575" tIns="9525" rIns="28575" bIns="9525" anchor="ctr">
            <a:spAutoFit/>
          </a:bodyPr>
          <a:lstStyle/>
          <a:p>
            <a:pPr algn="ctr"/>
            <a:endParaRPr/>
          </a:p>
        </p:txBody>
      </p:sp>
      <p:sp>
        <p:nvSpPr>
          <p:cNvPr id="50" name="Oval 49"/>
          <p:cNvSpPr/>
          <p:nvPr/>
        </p:nvSpPr>
        <p:spPr>
          <a:xfrm>
            <a:off x="618928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000875" y="2914650"/>
            <a:ext cx="1764926" cy="342900"/>
          </a:xfrm>
          <a:prstGeom prst="rect">
            <a:avLst/>
          </a:prstGeom>
          <a:noFill/>
        </p:spPr>
        <p:txBody>
          <a:bodyPr wrap="square" lIns="28575" tIns="9525" rIns="28575" bIns="9525" anchor="ctr">
            <a:spAutoFit/>
          </a:bodyPr>
          <a:lstStyle/>
          <a:p>
            <a:pPr algn="ctr"/>
            <a:endParaRPr/>
          </a:p>
        </p:txBody>
      </p:sp>
      <p:sp>
        <p:nvSpPr>
          <p:cNvPr id="52" name="TextBox 51"/>
          <p:cNvSpPr txBox="1"/>
          <p:nvPr/>
        </p:nvSpPr>
        <p:spPr>
          <a:xfrm>
            <a:off x="8765801" y="2914650"/>
            <a:ext cx="1764926" cy="342900"/>
          </a:xfrm>
          <a:prstGeom prst="rect">
            <a:avLst/>
          </a:prstGeom>
          <a:noFill/>
        </p:spPr>
        <p:txBody>
          <a:bodyPr wrap="square" lIns="28575" tIns="9525" rIns="28575" bIns="9525" anchor="ctr">
            <a:spAutoFit/>
          </a:bodyPr>
          <a:lstStyle/>
          <a:p>
            <a:pPr algn="ctr"/>
            <a:endParaRPr/>
          </a:p>
        </p:txBody>
      </p:sp>
      <p:sp>
        <p:nvSpPr>
          <p:cNvPr id="53" name="Oval 52"/>
          <p:cNvSpPr/>
          <p:nvPr/>
        </p:nvSpPr>
        <p:spPr>
          <a:xfrm>
            <a:off x="1118991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85750" y="32766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Nestlé Purina PetCare</a:t>
            </a:r>
          </a:p>
        </p:txBody>
      </p:sp>
      <p:sp>
        <p:nvSpPr>
          <p:cNvPr id="57" name="TextBox 56"/>
          <p:cNvSpPr txBox="1"/>
          <p:nvPr/>
        </p:nvSpPr>
        <p:spPr>
          <a:xfrm>
            <a:off x="285750" y="34385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1</a:t>
            </a:r>
          </a:p>
        </p:txBody>
      </p:sp>
      <p:sp>
        <p:nvSpPr>
          <p:cNvPr id="58" name="TextBox 57"/>
          <p:cNvSpPr txBox="1"/>
          <p:nvPr/>
        </p:nvSpPr>
        <p:spPr>
          <a:xfrm>
            <a:off x="2038350" y="32575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3765176" y="3257550"/>
            <a:ext cx="1764926" cy="342900"/>
          </a:xfrm>
          <a:prstGeom prst="rect">
            <a:avLst/>
          </a:prstGeom>
          <a:noFill/>
        </p:spPr>
        <p:txBody>
          <a:bodyPr wrap="square" lIns="28575" tIns="9525" rIns="28575" bIns="9525" anchor="ctr">
            <a:spAutoFit/>
          </a:bodyPr>
          <a:lstStyle/>
          <a:p>
            <a:pPr algn="ctr"/>
            <a:endParaRPr/>
          </a:p>
        </p:txBody>
      </p:sp>
      <p:sp>
        <p:nvSpPr>
          <p:cNvPr id="60" name="Oval 59"/>
          <p:cNvSpPr/>
          <p:nvPr/>
        </p:nvSpPr>
        <p:spPr>
          <a:xfrm>
            <a:off x="618928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038975" y="32575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8765801" y="3257550"/>
            <a:ext cx="1764926" cy="342900"/>
          </a:xfrm>
          <a:prstGeom prst="rect">
            <a:avLst/>
          </a:prstGeom>
          <a:noFill/>
        </p:spPr>
        <p:txBody>
          <a:bodyPr wrap="square" lIns="28575" tIns="9525" rIns="28575" bIns="9525" anchor="ctr">
            <a:spAutoFit/>
          </a:bodyPr>
          <a:lstStyle/>
          <a:p>
            <a:pPr algn="ctr"/>
            <a:endParaRPr/>
          </a:p>
        </p:txBody>
      </p:sp>
      <p:sp>
        <p:nvSpPr>
          <p:cNvPr id="63" name="Oval 62"/>
          <p:cNvSpPr/>
          <p:nvPr/>
        </p:nvSpPr>
        <p:spPr>
          <a:xfrm>
            <a:off x="1118991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85750" y="36195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PetHeal</a:t>
            </a:r>
          </a:p>
        </p:txBody>
      </p:sp>
      <p:sp>
        <p:nvSpPr>
          <p:cNvPr id="67" name="TextBox 66"/>
          <p:cNvSpPr txBox="1"/>
          <p:nvPr/>
        </p:nvSpPr>
        <p:spPr>
          <a:xfrm>
            <a:off x="285750" y="37814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2</a:t>
            </a:r>
          </a:p>
        </p:txBody>
      </p:sp>
      <p:sp>
        <p:nvSpPr>
          <p:cNvPr id="68" name="TextBox 67"/>
          <p:cNvSpPr txBox="1"/>
          <p:nvPr/>
        </p:nvSpPr>
        <p:spPr>
          <a:xfrm>
            <a:off x="2038350" y="36004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3765176" y="3600450"/>
            <a:ext cx="1764926" cy="342900"/>
          </a:xfrm>
          <a:prstGeom prst="rect">
            <a:avLst/>
          </a:prstGeom>
          <a:noFill/>
        </p:spPr>
        <p:txBody>
          <a:bodyPr wrap="square" lIns="28575" tIns="9525" rIns="28575" bIns="9525" anchor="ctr">
            <a:spAutoFit/>
          </a:bodyPr>
          <a:lstStyle/>
          <a:p>
            <a:pPr algn="ctr"/>
            <a:endParaRPr/>
          </a:p>
        </p:txBody>
      </p:sp>
      <p:sp>
        <p:nvSpPr>
          <p:cNvPr id="70" name="Oval 69"/>
          <p:cNvSpPr/>
          <p:nvPr/>
        </p:nvSpPr>
        <p:spPr>
          <a:xfrm>
            <a:off x="6189289"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000875" y="3600450"/>
            <a:ext cx="1764926" cy="342900"/>
          </a:xfrm>
          <a:prstGeom prst="rect">
            <a:avLst/>
          </a:prstGeom>
          <a:noFill/>
        </p:spPr>
        <p:txBody>
          <a:bodyPr wrap="square" lIns="28575" tIns="9525" rIns="28575" bIns="9525" anchor="ctr">
            <a:spAutoFit/>
          </a:bodyPr>
          <a:lstStyle/>
          <a:p>
            <a:pPr algn="ctr"/>
            <a:endParaRPr/>
          </a:p>
        </p:txBody>
      </p:sp>
      <p:sp>
        <p:nvSpPr>
          <p:cNvPr id="72" name="TextBox 71"/>
          <p:cNvSpPr txBox="1"/>
          <p:nvPr/>
        </p:nvSpPr>
        <p:spPr>
          <a:xfrm>
            <a:off x="8765801" y="3600450"/>
            <a:ext cx="1764926" cy="342900"/>
          </a:xfrm>
          <a:prstGeom prst="rect">
            <a:avLst/>
          </a:prstGeom>
          <a:noFill/>
        </p:spPr>
        <p:txBody>
          <a:bodyPr wrap="square" lIns="28575" tIns="9525" rIns="28575" bIns="9525" anchor="ctr">
            <a:spAutoFit/>
          </a:bodyPr>
          <a:lstStyle/>
          <a:p>
            <a:pPr algn="ctr"/>
            <a:endParaRPr/>
          </a:p>
        </p:txBody>
      </p:sp>
      <p:sp>
        <p:nvSpPr>
          <p:cNvPr id="73" name="Oval 72"/>
          <p:cNvSpPr/>
          <p:nvPr/>
        </p:nvSpPr>
        <p:spPr>
          <a:xfrm>
            <a:off x="1118991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Freeform 73"/>
          <p:cNvSpPr/>
          <p:nvPr/>
        </p:nvSpPr>
        <p:spPr>
          <a:xfrm>
            <a:off x="112680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285750" y="39624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Senior Dogs Club</a:t>
            </a:r>
          </a:p>
        </p:txBody>
      </p:sp>
      <p:sp>
        <p:nvSpPr>
          <p:cNvPr id="78" name="TextBox 77"/>
          <p:cNvSpPr txBox="1"/>
          <p:nvPr/>
        </p:nvSpPr>
        <p:spPr>
          <a:xfrm>
            <a:off x="285750" y="41243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2</a:t>
            </a:r>
          </a:p>
        </p:txBody>
      </p:sp>
      <p:sp>
        <p:nvSpPr>
          <p:cNvPr id="79" name="TextBox 78"/>
          <p:cNvSpPr txBox="1"/>
          <p:nvPr/>
        </p:nvSpPr>
        <p:spPr>
          <a:xfrm>
            <a:off x="2038350" y="39433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3765176" y="3943350"/>
            <a:ext cx="1764926" cy="342900"/>
          </a:xfrm>
          <a:prstGeom prst="rect">
            <a:avLst/>
          </a:prstGeom>
          <a:noFill/>
        </p:spPr>
        <p:txBody>
          <a:bodyPr wrap="square" lIns="28575" tIns="9525" rIns="28575" bIns="9525" anchor="ctr">
            <a:spAutoFit/>
          </a:bodyPr>
          <a:lstStyle/>
          <a:p>
            <a:pPr algn="ctr"/>
            <a:endParaRPr/>
          </a:p>
        </p:txBody>
      </p:sp>
      <p:sp>
        <p:nvSpPr>
          <p:cNvPr id="81" name="Oval 80"/>
          <p:cNvSpPr/>
          <p:nvPr/>
        </p:nvSpPr>
        <p:spPr>
          <a:xfrm>
            <a:off x="6189289"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7038975" y="39433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8765801" y="3943350"/>
            <a:ext cx="1764926" cy="342900"/>
          </a:xfrm>
          <a:prstGeom prst="rect">
            <a:avLst/>
          </a:prstGeom>
          <a:noFill/>
        </p:spPr>
        <p:txBody>
          <a:bodyPr wrap="square" lIns="28575" tIns="9525" rIns="28575" bIns="9525" anchor="ctr">
            <a:spAutoFit/>
          </a:bodyPr>
          <a:lstStyle/>
          <a:p>
            <a:pPr algn="ctr"/>
            <a:endParaRPr/>
          </a:p>
        </p:txBody>
      </p:sp>
      <p:sp>
        <p:nvSpPr>
          <p:cNvPr id="84" name="Oval 83"/>
          <p:cNvSpPr/>
          <p:nvPr/>
        </p:nvSpPr>
        <p:spPr>
          <a:xfrm>
            <a:off x="1118991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Freeform 84"/>
          <p:cNvSpPr/>
          <p:nvPr/>
        </p:nvSpPr>
        <p:spPr>
          <a:xfrm>
            <a:off x="112680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285750" y="43053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VISYO Corporation</a:t>
            </a:r>
          </a:p>
        </p:txBody>
      </p:sp>
      <p:sp>
        <p:nvSpPr>
          <p:cNvPr id="89" name="TextBox 88"/>
          <p:cNvSpPr txBox="1"/>
          <p:nvPr/>
        </p:nvSpPr>
        <p:spPr>
          <a:xfrm>
            <a:off x="285750" y="44672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90" name="TextBox 89"/>
          <p:cNvSpPr txBox="1"/>
          <p:nvPr/>
        </p:nvSpPr>
        <p:spPr>
          <a:xfrm>
            <a:off x="2038350" y="42862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3765176" y="4286250"/>
            <a:ext cx="1764926" cy="342900"/>
          </a:xfrm>
          <a:prstGeom prst="rect">
            <a:avLst/>
          </a:prstGeom>
          <a:noFill/>
        </p:spPr>
        <p:txBody>
          <a:bodyPr wrap="square" lIns="28575" tIns="9525" rIns="28575" bIns="9525" anchor="ctr">
            <a:spAutoFit/>
          </a:bodyPr>
          <a:lstStyle/>
          <a:p>
            <a:pPr algn="ctr"/>
            <a:endParaRPr/>
          </a:p>
        </p:txBody>
      </p:sp>
      <p:sp>
        <p:nvSpPr>
          <p:cNvPr id="92" name="Oval 91"/>
          <p:cNvSpPr/>
          <p:nvPr/>
        </p:nvSpPr>
        <p:spPr>
          <a:xfrm>
            <a:off x="6189289"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7000875" y="4286250"/>
            <a:ext cx="1764926" cy="342900"/>
          </a:xfrm>
          <a:prstGeom prst="rect">
            <a:avLst/>
          </a:prstGeom>
          <a:noFill/>
        </p:spPr>
        <p:txBody>
          <a:bodyPr wrap="square" lIns="28575" tIns="9525" rIns="28575" bIns="9525" anchor="ctr">
            <a:spAutoFit/>
          </a:bodyPr>
          <a:lstStyle/>
          <a:p>
            <a:pPr algn="ctr"/>
            <a:endParaRPr/>
          </a:p>
        </p:txBody>
      </p:sp>
      <p:sp>
        <p:nvSpPr>
          <p:cNvPr id="94" name="TextBox 93"/>
          <p:cNvSpPr txBox="1"/>
          <p:nvPr/>
        </p:nvSpPr>
        <p:spPr>
          <a:xfrm>
            <a:off x="8765801" y="4286250"/>
            <a:ext cx="1764926" cy="342900"/>
          </a:xfrm>
          <a:prstGeom prst="rect">
            <a:avLst/>
          </a:prstGeom>
          <a:noFill/>
        </p:spPr>
        <p:txBody>
          <a:bodyPr wrap="square" lIns="28575" tIns="9525" rIns="28575" bIns="9525" anchor="ctr">
            <a:spAutoFit/>
          </a:bodyPr>
          <a:lstStyle/>
          <a:p>
            <a:pPr algn="ctr"/>
            <a:endParaRPr/>
          </a:p>
        </p:txBody>
      </p:sp>
      <p:sp>
        <p:nvSpPr>
          <p:cNvPr id="95" name="Oval 94"/>
          <p:cNvSpPr/>
          <p:nvPr/>
        </p:nvSpPr>
        <p:spPr>
          <a:xfrm>
            <a:off x="1118991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Freeform 95"/>
          <p:cNvSpPr/>
          <p:nvPr/>
        </p:nvSpPr>
        <p:spPr>
          <a:xfrm>
            <a:off x="112680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285750" y="46482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NaturVet</a:t>
            </a:r>
          </a:p>
        </p:txBody>
      </p:sp>
      <p:sp>
        <p:nvSpPr>
          <p:cNvPr id="100" name="TextBox 99"/>
          <p:cNvSpPr txBox="1"/>
          <p:nvPr/>
        </p:nvSpPr>
        <p:spPr>
          <a:xfrm>
            <a:off x="285750" y="48101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01" name="TextBox 100"/>
          <p:cNvSpPr txBox="1"/>
          <p:nvPr/>
        </p:nvSpPr>
        <p:spPr>
          <a:xfrm>
            <a:off x="2038350" y="46291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3765176" y="4629150"/>
            <a:ext cx="1764926" cy="342900"/>
          </a:xfrm>
          <a:prstGeom prst="rect">
            <a:avLst/>
          </a:prstGeom>
          <a:noFill/>
        </p:spPr>
        <p:txBody>
          <a:bodyPr wrap="square" lIns="28575" tIns="9525" rIns="28575" bIns="9525" anchor="ctr">
            <a:spAutoFit/>
          </a:bodyPr>
          <a:lstStyle/>
          <a:p>
            <a:pPr algn="ctr"/>
            <a:endParaRPr/>
          </a:p>
        </p:txBody>
      </p:sp>
      <p:sp>
        <p:nvSpPr>
          <p:cNvPr id="103" name="Oval 102"/>
          <p:cNvSpPr/>
          <p:nvPr/>
        </p:nvSpPr>
        <p:spPr>
          <a:xfrm>
            <a:off x="6189289"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7038975" y="46291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8765801" y="4629150"/>
            <a:ext cx="1764926" cy="342900"/>
          </a:xfrm>
          <a:prstGeom prst="rect">
            <a:avLst/>
          </a:prstGeom>
          <a:noFill/>
        </p:spPr>
        <p:txBody>
          <a:bodyPr wrap="square" lIns="28575" tIns="9525" rIns="28575" bIns="9525" anchor="ctr">
            <a:spAutoFit/>
          </a:bodyPr>
          <a:lstStyle/>
          <a:p>
            <a:pPr algn="ctr"/>
            <a:endParaRPr/>
          </a:p>
        </p:txBody>
      </p:sp>
      <p:sp>
        <p:nvSpPr>
          <p:cNvPr id="106" name="Oval 105"/>
          <p:cNvSpPr/>
          <p:nvPr/>
        </p:nvSpPr>
        <p:spPr>
          <a:xfrm>
            <a:off x="1118991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Freeform 106"/>
          <p:cNvSpPr/>
          <p:nvPr/>
        </p:nvSpPr>
        <p:spPr>
          <a:xfrm>
            <a:off x="112680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285750" y="49911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Zesty Paws</a:t>
            </a:r>
          </a:p>
        </p:txBody>
      </p:sp>
      <p:sp>
        <p:nvSpPr>
          <p:cNvPr id="111" name="TextBox 110"/>
          <p:cNvSpPr txBox="1"/>
          <p:nvPr/>
        </p:nvSpPr>
        <p:spPr>
          <a:xfrm>
            <a:off x="285750" y="51530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12" name="TextBox 111"/>
          <p:cNvSpPr txBox="1"/>
          <p:nvPr/>
        </p:nvSpPr>
        <p:spPr>
          <a:xfrm>
            <a:off x="2038350" y="49720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Regional partners</a:t>
            </a:r>
          </a:p>
        </p:txBody>
      </p:sp>
      <p:sp>
        <p:nvSpPr>
          <p:cNvPr id="113" name="TextBox 112"/>
          <p:cNvSpPr txBox="1"/>
          <p:nvPr/>
        </p:nvSpPr>
        <p:spPr>
          <a:xfrm>
            <a:off x="3765176" y="4972050"/>
            <a:ext cx="1764926" cy="342900"/>
          </a:xfrm>
          <a:prstGeom prst="rect">
            <a:avLst/>
          </a:prstGeom>
          <a:noFill/>
        </p:spPr>
        <p:txBody>
          <a:bodyPr wrap="square" lIns="28575" tIns="9525" rIns="28575" bIns="9525" anchor="ctr">
            <a:spAutoFit/>
          </a:bodyPr>
          <a:lstStyle/>
          <a:p>
            <a:pPr algn="ctr"/>
            <a:endParaRPr/>
          </a:p>
        </p:txBody>
      </p:sp>
      <p:sp>
        <p:nvSpPr>
          <p:cNvPr id="114" name="Oval 113"/>
          <p:cNvSpPr/>
          <p:nvPr/>
        </p:nvSpPr>
        <p:spPr>
          <a:xfrm>
            <a:off x="6189289"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7000875" y="4972050"/>
            <a:ext cx="1764926" cy="342900"/>
          </a:xfrm>
          <a:prstGeom prst="rect">
            <a:avLst/>
          </a:prstGeom>
          <a:noFill/>
        </p:spPr>
        <p:txBody>
          <a:bodyPr wrap="square" lIns="28575" tIns="9525" rIns="28575" bIns="9525" anchor="ctr">
            <a:spAutoFit/>
          </a:bodyPr>
          <a:lstStyle/>
          <a:p>
            <a:pPr algn="ctr"/>
            <a:endParaRPr/>
          </a:p>
        </p:txBody>
      </p:sp>
      <p:sp>
        <p:nvSpPr>
          <p:cNvPr id="116" name="TextBox 115"/>
          <p:cNvSpPr txBox="1"/>
          <p:nvPr/>
        </p:nvSpPr>
        <p:spPr>
          <a:xfrm>
            <a:off x="8765801" y="4972050"/>
            <a:ext cx="1764926" cy="342900"/>
          </a:xfrm>
          <a:prstGeom prst="rect">
            <a:avLst/>
          </a:prstGeom>
          <a:noFill/>
        </p:spPr>
        <p:txBody>
          <a:bodyPr wrap="square" lIns="28575" tIns="9525" rIns="28575" bIns="9525" anchor="ctr">
            <a:spAutoFit/>
          </a:bodyPr>
          <a:lstStyle/>
          <a:p>
            <a:pPr algn="ctr"/>
            <a:endParaRPr/>
          </a:p>
        </p:txBody>
      </p:sp>
      <p:sp>
        <p:nvSpPr>
          <p:cNvPr id="117" name="Oval 116"/>
          <p:cNvSpPr/>
          <p:nvPr/>
        </p:nvSpPr>
        <p:spPr>
          <a:xfrm>
            <a:off x="1118991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Freeform 117"/>
          <p:cNvSpPr/>
          <p:nvPr/>
        </p:nvSpPr>
        <p:spPr>
          <a:xfrm>
            <a:off x="1126807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9" name="Connector 11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85750" y="5334000"/>
            <a:ext cx="1695450" cy="171450"/>
          </a:xfrm>
          <a:prstGeom prst="rect">
            <a:avLst/>
          </a:prstGeom>
          <a:noFill/>
        </p:spPr>
        <p:txBody>
          <a:bodyPr wrap="square" lIns="28575" tIns="9525" rIns="28575" bIns="9525" anchor="t">
            <a:spAutoFit/>
          </a:bodyPr>
          <a:lstStyle/>
          <a:p>
            <a:pPr algn="l"/>
            <a:r>
              <a:rPr sz="1100" b="1">
                <a:solidFill>
                  <a:srgbClr val="1F2933"/>
                </a:solidFill>
                <a:latin typeface="Calibri"/>
              </a:rPr>
              <a:t>Ark Naturals</a:t>
            </a:r>
          </a:p>
        </p:txBody>
      </p:sp>
      <p:sp>
        <p:nvSpPr>
          <p:cNvPr id="122" name="TextBox 121"/>
          <p:cNvSpPr txBox="1"/>
          <p:nvPr/>
        </p:nvSpPr>
        <p:spPr>
          <a:xfrm>
            <a:off x="285750" y="5495925"/>
            <a:ext cx="1695450" cy="152400"/>
          </a:xfrm>
          <a:prstGeom prst="rect">
            <a:avLst/>
          </a:prstGeom>
          <a:noFill/>
        </p:spPr>
        <p:txBody>
          <a:bodyPr wrap="square" lIns="28575" tIns="9525" rIns="28575" bIns="9525" anchor="t">
            <a:spAutoFit/>
          </a:bodyPr>
          <a:lstStyle/>
          <a:p>
            <a:pPr algn="l"/>
            <a:r>
              <a:rPr sz="1100" b="0">
                <a:solidFill>
                  <a:srgbClr val="5F6B7A"/>
                </a:solidFill>
                <a:latin typeface="Calibri"/>
              </a:rPr>
              <a:t>Tier 3</a:t>
            </a:r>
          </a:p>
        </p:txBody>
      </p:sp>
      <p:sp>
        <p:nvSpPr>
          <p:cNvPr id="123" name="TextBox 122"/>
          <p:cNvSpPr txBox="1"/>
          <p:nvPr/>
        </p:nvSpPr>
        <p:spPr>
          <a:xfrm>
            <a:off x="2038350" y="53149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Regional partners</a:t>
            </a:r>
          </a:p>
        </p:txBody>
      </p:sp>
      <p:sp>
        <p:nvSpPr>
          <p:cNvPr id="124" name="TextBox 123"/>
          <p:cNvSpPr txBox="1"/>
          <p:nvPr/>
        </p:nvSpPr>
        <p:spPr>
          <a:xfrm>
            <a:off x="3765176" y="5314950"/>
            <a:ext cx="1764926" cy="342900"/>
          </a:xfrm>
          <a:prstGeom prst="rect">
            <a:avLst/>
          </a:prstGeom>
          <a:noFill/>
        </p:spPr>
        <p:txBody>
          <a:bodyPr wrap="square" lIns="28575" tIns="9525" rIns="28575" bIns="9525" anchor="ctr">
            <a:spAutoFit/>
          </a:bodyPr>
          <a:lstStyle/>
          <a:p>
            <a:pPr algn="ctr"/>
            <a:endParaRPr/>
          </a:p>
        </p:txBody>
      </p:sp>
      <p:sp>
        <p:nvSpPr>
          <p:cNvPr id="125" name="Oval 124"/>
          <p:cNvSpPr/>
          <p:nvPr/>
        </p:nvSpPr>
        <p:spPr>
          <a:xfrm>
            <a:off x="6189289"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7038975" y="5314950"/>
            <a:ext cx="1688726" cy="342900"/>
          </a:xfrm>
          <a:prstGeom prst="rect">
            <a:avLst/>
          </a:prstGeom>
          <a:noFill/>
        </p:spPr>
        <p:txBody>
          <a:bodyPr wrap="square" lIns="28575" tIns="9525" rIns="28575" bIns="9525" anchor="ctr">
            <a:spAutoFit/>
          </a:bodyPr>
          <a:lstStyle/>
          <a:p>
            <a:pPr algn="l">
              <a:lnSpc>
                <a:spcPct val="115000"/>
              </a:lnSpc>
            </a:pPr>
            <a:r>
              <a:rPr sz="1100" b="0">
                <a:solidFill>
                  <a:srgbClr val="1F2933"/>
                </a:solidFill>
                <a:latin typeface="Calibri"/>
              </a:rPr>
              <a:t>Launch pipeline</a:t>
            </a:r>
          </a:p>
        </p:txBody>
      </p:sp>
      <p:sp>
        <p:nvSpPr>
          <p:cNvPr id="127" name="TextBox 126"/>
          <p:cNvSpPr txBox="1"/>
          <p:nvPr/>
        </p:nvSpPr>
        <p:spPr>
          <a:xfrm>
            <a:off x="8765801" y="5314950"/>
            <a:ext cx="1764926" cy="342900"/>
          </a:xfrm>
          <a:prstGeom prst="rect">
            <a:avLst/>
          </a:prstGeom>
          <a:noFill/>
        </p:spPr>
        <p:txBody>
          <a:bodyPr wrap="square" lIns="28575" tIns="9525" rIns="28575" bIns="9525" anchor="ctr">
            <a:spAutoFit/>
          </a:bodyPr>
          <a:lstStyle/>
          <a:p>
            <a:pPr algn="ctr"/>
            <a:endParaRPr/>
          </a:p>
        </p:txBody>
      </p:sp>
      <p:sp>
        <p:nvSpPr>
          <p:cNvPr id="128" name="Oval 127"/>
          <p:cNvSpPr/>
          <p:nvPr/>
        </p:nvSpPr>
        <p:spPr>
          <a:xfrm>
            <a:off x="1118991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Freeform 128"/>
          <p:cNvSpPr/>
          <p:nvPr/>
        </p:nvSpPr>
        <p:spPr>
          <a:xfrm>
            <a:off x="112680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0" name="Connector 129"/>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381000"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Strong, direct evidence</a:t>
            </a:r>
          </a:p>
        </p:txBody>
      </p:sp>
      <p:sp>
        <p:nvSpPr>
          <p:cNvPr id="133" name="Oval 132"/>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Freeform 133"/>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2245995"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Moderate or partial</a:t>
            </a:r>
          </a:p>
        </p:txBody>
      </p:sp>
      <p:sp>
        <p:nvSpPr>
          <p:cNvPr id="136" name="Oval 135"/>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Freeform 136"/>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3859530"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Weak or indirect</a:t>
            </a:r>
          </a:p>
        </p:txBody>
      </p:sp>
      <p:sp>
        <p:nvSpPr>
          <p:cNvPr id="139" name="Oval 138"/>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5284470" y="57150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None found</a:t>
            </a:r>
          </a:p>
        </p:txBody>
      </p:sp>
      <p:sp>
        <p:nvSpPr>
          <p:cNvPr id="141" name="TextBox 140"/>
          <p:cNvSpPr txBox="1"/>
          <p:nvPr/>
        </p:nvSpPr>
        <p:spPr>
          <a:xfrm>
            <a:off x="190500" y="5943600"/>
            <a:ext cx="2857500" cy="152400"/>
          </a:xfrm>
          <a:prstGeom prst="rect">
            <a:avLst/>
          </a:prstGeom>
          <a:noFill/>
        </p:spPr>
        <p:txBody>
          <a:bodyPr wrap="square" lIns="28575" tIns="9525" rIns="28575" bIns="9525" anchor="t">
            <a:spAutoFit/>
          </a:bodyPr>
          <a:lstStyle/>
          <a:p>
            <a:pPr algn="l"/>
            <a:r>
              <a:rPr sz="1100" b="1">
                <a:solidFill>
                  <a:srgbClr val="0F2D52"/>
                </a:solidFill>
                <a:latin typeface="Calibri"/>
              </a:rPr>
              <a:t>READING</a:t>
            </a:r>
          </a:p>
        </p:txBody>
      </p:sp>
      <p:sp>
        <p:nvSpPr>
          <p:cNvPr id="142" name="TextBox 141"/>
          <p:cNvSpPr txBox="1"/>
          <p:nvPr/>
        </p:nvSpPr>
        <p:spPr>
          <a:xfrm>
            <a:off x="190500" y="6096000"/>
            <a:ext cx="11811000" cy="2286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3" name="TextBox 14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44" name="Picture 143" descr="lock.png"/>
          <p:cNvPicPr>
            <a:picLocks noChangeAspect="1"/>
          </p:cNvPicPr>
          <p:nvPr/>
        </p:nvPicPr>
        <p:blipFill>
          <a:blip r:embed="rId4"/>
          <a:stretch>
            <a:fillRect/>
          </a:stretch>
        </p:blipFill>
        <p:spPr>
          <a:xfrm>
            <a:off x="4583289"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7818988" y="23067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583914" y="2306701"/>
            <a:ext cx="128699" cy="187198"/>
          </a:xfrm>
          <a:prstGeom prst="rect">
            <a:avLst/>
          </a:prstGeom>
        </p:spPr>
      </p:pic>
      <p:pic>
        <p:nvPicPr>
          <p:cNvPr id="147" name="Picture 146" descr="lock.png"/>
          <p:cNvPicPr>
            <a:picLocks noChangeAspect="1"/>
          </p:cNvPicPr>
          <p:nvPr/>
        </p:nvPicPr>
        <p:blipFill>
          <a:blip r:embed="rId4"/>
          <a:stretch>
            <a:fillRect/>
          </a:stretch>
        </p:blipFill>
        <p:spPr>
          <a:xfrm>
            <a:off x="4583289" y="2649601"/>
            <a:ext cx="128699" cy="187198"/>
          </a:xfrm>
          <a:prstGeom prst="rect">
            <a:avLst/>
          </a:prstGeom>
        </p:spPr>
      </p:pic>
      <p:pic>
        <p:nvPicPr>
          <p:cNvPr id="148" name="Picture 147" descr="lock.png"/>
          <p:cNvPicPr>
            <a:picLocks noChangeAspect="1"/>
          </p:cNvPicPr>
          <p:nvPr/>
        </p:nvPicPr>
        <p:blipFill>
          <a:blip r:embed="rId4"/>
          <a:stretch>
            <a:fillRect/>
          </a:stretch>
        </p:blipFill>
        <p:spPr>
          <a:xfrm>
            <a:off x="9583914" y="26496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583289"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7818988" y="29925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583914" y="29925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583289" y="33354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583914"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583289"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7818988" y="36783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83914"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583289" y="40212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583914"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4583289"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7818988"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583914"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4583289"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9583914"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4583289"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7818988"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583914"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4583289" y="53928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583914" y="5392801"/>
            <a:ext cx="128699" cy="187198"/>
          </a:xfrm>
          <a:prstGeom prst="rect">
            <a:avLst/>
          </a:prstGeom>
        </p:spPr>
      </p:pic>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tIns="9525" rIns="2857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tIns="9525" rIns="28575" bIns="9525" anchor="t">
            <a:spAutoFit/>
          </a:bodyPr>
          <a:lstStyle/>
          <a:p>
            <a:pPr algn="l"/>
            <a:endParaRPr/>
          </a:p>
        </p:txBody>
      </p:sp>
      <p:sp>
        <p:nvSpPr>
          <p:cNvPr id="12" name="TextBox 11"/>
          <p:cNvSpPr txBox="1"/>
          <p:nvPr/>
        </p:nvSpPr>
        <p:spPr>
          <a:xfrm>
            <a:off x="2133600" y="1371600"/>
            <a:ext cx="1581150" cy="34290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tIns="9525" rIns="2857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tIns="9525" rIns="28575" bIns="9525" anchor="t">
            <a:spAutoFit/>
          </a:bodyPr>
          <a:lstStyle/>
          <a:p>
            <a:pPr algn="l"/>
            <a:endParaRPr/>
          </a:p>
        </p:txBody>
      </p:sp>
      <p:sp>
        <p:nvSpPr>
          <p:cNvPr id="15" name="TextBox 14"/>
          <p:cNvSpPr txBox="1"/>
          <p:nvPr/>
        </p:nvSpPr>
        <p:spPr>
          <a:xfrm>
            <a:off x="3790950" y="1371600"/>
            <a:ext cx="1581150" cy="34290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tIns="9525" rIns="2857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tIns="9525" rIns="28575" bIns="9525" anchor="t">
            <a:spAutoFit/>
          </a:bodyPr>
          <a:lstStyle/>
          <a:p>
            <a:pPr algn="l"/>
            <a:endParaRPr/>
          </a:p>
        </p:txBody>
      </p:sp>
      <p:sp>
        <p:nvSpPr>
          <p:cNvPr id="18" name="TextBox 17"/>
          <p:cNvSpPr txBox="1"/>
          <p:nvPr/>
        </p:nvSpPr>
        <p:spPr>
          <a:xfrm>
            <a:off x="5448300" y="1371600"/>
            <a:ext cx="1581150" cy="34290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tIns="9525" rIns="2857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tIns="9525" rIns="28575" bIns="9525" anchor="t">
            <a:spAutoFit/>
          </a:bodyPr>
          <a:lstStyle/>
          <a:p>
            <a:pPr algn="l"/>
            <a:endParaRPr/>
          </a:p>
        </p:txBody>
      </p:sp>
      <p:sp>
        <p:nvSpPr>
          <p:cNvPr id="21" name="TextBox 20"/>
          <p:cNvSpPr txBox="1"/>
          <p:nvPr/>
        </p:nvSpPr>
        <p:spPr>
          <a:xfrm>
            <a:off x="7105650" y="1371600"/>
            <a:ext cx="1581150" cy="34290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tIns="9525" rIns="2857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tIns="9525" rIns="28575" bIns="9525" anchor="t">
            <a:spAutoFit/>
          </a:bodyPr>
          <a:lstStyle/>
          <a:p>
            <a:pPr algn="l"/>
            <a:endParaRPr/>
          </a:p>
        </p:txBody>
      </p:sp>
      <p:sp>
        <p:nvSpPr>
          <p:cNvPr id="24" name="TextBox 23"/>
          <p:cNvSpPr txBox="1"/>
          <p:nvPr/>
        </p:nvSpPr>
        <p:spPr>
          <a:xfrm>
            <a:off x="8763000" y="1371600"/>
            <a:ext cx="1581150" cy="34290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tIns="9525" rIns="2857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tIns="9525" rIns="2857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85750" y="18097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VetriScience</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601450" y="18097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37" name="Connector 36"/>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85750" y="21145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Standard Process</a:t>
            </a:r>
          </a:p>
        </p:txBody>
      </p:sp>
      <p:sp>
        <p:nvSpPr>
          <p:cNvPr id="40" name="Oval 39"/>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Freeform 43"/>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1544300" y="21145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48" name="Connector 47"/>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85750" y="24193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Dr. Fossum's</a:t>
            </a:r>
          </a:p>
        </p:txBody>
      </p:sp>
      <p:sp>
        <p:nvSpPr>
          <p:cNvPr id="51" name="Oval 50"/>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Freeform 54"/>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1544300" y="24193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59" name="Connector 58"/>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85750" y="27241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Nestlé Purina PetCare</a:t>
            </a:r>
          </a:p>
        </p:txBody>
      </p:sp>
      <p:sp>
        <p:nvSpPr>
          <p:cNvPr id="62" name="Oval 61"/>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Freeform 62"/>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1487150" y="27241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70" name="Connector 69"/>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285750" y="30289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Senior Dogs Club</a:t>
            </a:r>
          </a:p>
        </p:txBody>
      </p:sp>
      <p:sp>
        <p:nvSpPr>
          <p:cNvPr id="73" name="Oval 72"/>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Freeform 73"/>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Freeform 75"/>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Freeform 77"/>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1334750" y="30289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83" name="Connector 82"/>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85750" y="33337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PetHeal</a:t>
            </a:r>
          </a:p>
        </p:txBody>
      </p:sp>
      <p:sp>
        <p:nvSpPr>
          <p:cNvPr id="86" name="Oval 85"/>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Freeform 86"/>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Freeform 88"/>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Freeform 90"/>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Freeform 92"/>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1277600" y="33337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97" name="Connector 9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285750" y="36385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NaturVet</a:t>
            </a:r>
          </a:p>
        </p:txBody>
      </p:sp>
      <p:sp>
        <p:nvSpPr>
          <p:cNvPr id="100" name="Oval 99"/>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Freeform 100"/>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Freeform 102"/>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Freeform 104"/>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11182350" y="36385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110" name="Connector 10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85750" y="39433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Ark Naturals</a:t>
            </a:r>
          </a:p>
        </p:txBody>
      </p:sp>
      <p:sp>
        <p:nvSpPr>
          <p:cNvPr id="113" name="Oval 112"/>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Freeform 113"/>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Freeform 115"/>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Freeform 117"/>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11182350" y="39433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123" name="Connector 122"/>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285750" y="42481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VISYO Corporation</a:t>
            </a:r>
          </a:p>
        </p:txBody>
      </p:sp>
      <p:sp>
        <p:nvSpPr>
          <p:cNvPr id="126" name="Oval 125"/>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Freeform 126"/>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Freeform 128"/>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Freeform 130"/>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Freeform 132"/>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11125200" y="42481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137" name="Connector 136"/>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285750" y="4552950"/>
            <a:ext cx="1809750" cy="304800"/>
          </a:xfrm>
          <a:prstGeom prst="rect">
            <a:avLst/>
          </a:prstGeom>
          <a:noFill/>
        </p:spPr>
        <p:txBody>
          <a:bodyPr wrap="square" lIns="28575" tIns="9525" rIns="28575" bIns="9525" anchor="ctr">
            <a:spAutoFit/>
          </a:bodyPr>
          <a:lstStyle/>
          <a:p>
            <a:pPr algn="l"/>
            <a:r>
              <a:rPr sz="1100" b="1">
                <a:solidFill>
                  <a:srgbClr val="1F2933"/>
                </a:solidFill>
                <a:latin typeface="Calibri"/>
              </a:rPr>
              <a:t>Zesty Paws</a:t>
            </a:r>
          </a:p>
        </p:txBody>
      </p:sp>
      <p:sp>
        <p:nvSpPr>
          <p:cNvPr id="140" name="Oval 139"/>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Freeform 140"/>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Freeform 142"/>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Freeform 144"/>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Freeform 146"/>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11125200" y="4552950"/>
            <a:ext cx="419100" cy="304800"/>
          </a:xfrm>
          <a:prstGeom prst="rect">
            <a:avLst/>
          </a:prstGeom>
          <a:noFill/>
        </p:spPr>
        <p:txBody>
          <a:bodyPr wrap="none" lIns="0" tIns="0" rIns="0" bIns="0" anchor="ctr">
            <a:spAutoFit/>
          </a:bodyPr>
          <a:lstStyle/>
          <a:p>
            <a:pPr algn="l"/>
            <a:r>
              <a:rPr sz="1100" b="1">
                <a:solidFill>
                  <a:srgbClr val="1F2933"/>
                </a:solidFill>
                <a:latin typeface="Calibri"/>
              </a:rPr>
              <a:t> </a:t>
            </a:r>
          </a:p>
        </p:txBody>
      </p:sp>
      <p:cxnSp>
        <p:nvCxnSpPr>
          <p:cNvPr id="151" name="Connector 150"/>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2" name="Oval 151"/>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381000" y="49149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Strong, direct evidence</a:t>
            </a:r>
          </a:p>
        </p:txBody>
      </p:sp>
      <p:sp>
        <p:nvSpPr>
          <p:cNvPr id="154" name="Oval 153"/>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Freeform 154"/>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2245995" y="49149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Moderate or partial</a:t>
            </a:r>
          </a:p>
        </p:txBody>
      </p:sp>
      <p:sp>
        <p:nvSpPr>
          <p:cNvPr id="157" name="Oval 156"/>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Freeform 157"/>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3859530" y="49149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Weak or indirect</a:t>
            </a:r>
          </a:p>
        </p:txBody>
      </p:sp>
      <p:sp>
        <p:nvSpPr>
          <p:cNvPr id="160" name="Oval 159"/>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5284470" y="4914900"/>
            <a:ext cx="1619250" cy="171450"/>
          </a:xfrm>
          <a:prstGeom prst="rect">
            <a:avLst/>
          </a:prstGeom>
          <a:noFill/>
        </p:spPr>
        <p:txBody>
          <a:bodyPr wrap="square" lIns="28575" tIns="9525" rIns="28575" bIns="9525" anchor="ctr">
            <a:spAutoFit/>
          </a:bodyPr>
          <a:lstStyle/>
          <a:p>
            <a:pPr algn="l"/>
            <a:r>
              <a:rPr sz="1100" b="0">
                <a:solidFill>
                  <a:srgbClr val="1F2933"/>
                </a:solidFill>
                <a:latin typeface="Calibri"/>
              </a:rPr>
              <a:t>None found</a:t>
            </a:r>
          </a:p>
        </p:txBody>
      </p:sp>
      <p:sp>
        <p:nvSpPr>
          <p:cNvPr id="162" name="TextBox 161"/>
          <p:cNvSpPr txBox="1"/>
          <p:nvPr/>
        </p:nvSpPr>
        <p:spPr>
          <a:xfrm>
            <a:off x="190500" y="5143500"/>
            <a:ext cx="2857500" cy="152400"/>
          </a:xfrm>
          <a:prstGeom prst="rect">
            <a:avLst/>
          </a:prstGeom>
          <a:noFill/>
        </p:spPr>
        <p:txBody>
          <a:bodyPr wrap="square" lIns="28575" tIns="9525" rIns="28575" bIns="9525" anchor="t">
            <a:spAutoFit/>
          </a:bodyPr>
          <a:lstStyle/>
          <a:p>
            <a:pPr algn="l"/>
            <a:r>
              <a:rPr sz="1100" b="1">
                <a:solidFill>
                  <a:srgbClr val="0F2D52"/>
                </a:solidFill>
                <a:latin typeface="Calibri"/>
              </a:rPr>
              <a:t>STRATEGIC GROUPS</a:t>
            </a:r>
          </a:p>
        </p:txBody>
      </p:sp>
      <p:sp>
        <p:nvSpPr>
          <p:cNvPr id="163" name="Rectangle 162"/>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190500" y="5391150"/>
            <a:ext cx="3810000" cy="171450"/>
          </a:xfrm>
          <a:prstGeom prst="rect">
            <a:avLst/>
          </a:prstGeom>
          <a:noFill/>
        </p:spPr>
        <p:txBody>
          <a:bodyPr wrap="square" lIns="28575" tIns="9525" rIns="28575" bIns="9525" anchor="t">
            <a:spAutoFit/>
          </a:bodyPr>
          <a:lstStyle/>
          <a:p>
            <a:pPr algn="l"/>
            <a:r>
              <a:rPr sz="1100" b="1">
                <a:solidFill>
                  <a:srgbClr val="1F2933"/>
                </a:solidFill>
                <a:latin typeface="Calibri"/>
              </a:rPr>
              <a:t>Tier 1</a:t>
            </a:r>
          </a:p>
        </p:txBody>
      </p:sp>
      <p:sp>
        <p:nvSpPr>
          <p:cNvPr id="165" name="TextBox 164"/>
          <p:cNvSpPr txBox="1"/>
          <p:nvPr/>
        </p:nvSpPr>
        <p:spPr>
          <a:xfrm>
            <a:off x="190500" y="5562600"/>
            <a:ext cx="3810000" cy="3238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VetriScience, Standard Process, Dr. Fossum's, Nestlé Purina PetCare</a:t>
            </a:r>
          </a:p>
        </p:txBody>
      </p:sp>
      <p:sp>
        <p:nvSpPr>
          <p:cNvPr id="166" name="TextBox 165"/>
          <p:cNvSpPr txBox="1"/>
          <p:nvPr/>
        </p:nvSpPr>
        <p:spPr>
          <a:xfrm>
            <a:off x="190500" y="5924550"/>
            <a:ext cx="3810000"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67" name="Rectangle 166"/>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4191000" y="5391150"/>
            <a:ext cx="3810000" cy="171450"/>
          </a:xfrm>
          <a:prstGeom prst="rect">
            <a:avLst/>
          </a:prstGeom>
          <a:noFill/>
        </p:spPr>
        <p:txBody>
          <a:bodyPr wrap="square" lIns="28575" tIns="9525" rIns="28575" bIns="9525" anchor="t">
            <a:spAutoFit/>
          </a:bodyPr>
          <a:lstStyle/>
          <a:p>
            <a:pPr algn="l"/>
            <a:r>
              <a:rPr sz="1100" b="1">
                <a:solidFill>
                  <a:srgbClr val="1F2933"/>
                </a:solidFill>
                <a:latin typeface="Calibri"/>
              </a:rPr>
              <a:t>Tier 2</a:t>
            </a:r>
          </a:p>
        </p:txBody>
      </p:sp>
      <p:sp>
        <p:nvSpPr>
          <p:cNvPr id="169" name="TextBox 168"/>
          <p:cNvSpPr txBox="1"/>
          <p:nvPr/>
        </p:nvSpPr>
        <p:spPr>
          <a:xfrm>
            <a:off x="4191000" y="5562600"/>
            <a:ext cx="3810000" cy="3238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Senior Dogs Club, PetHeal</a:t>
            </a:r>
          </a:p>
        </p:txBody>
      </p:sp>
      <p:sp>
        <p:nvSpPr>
          <p:cNvPr id="170" name="TextBox 169"/>
          <p:cNvSpPr txBox="1"/>
          <p:nvPr/>
        </p:nvSpPr>
        <p:spPr>
          <a:xfrm>
            <a:off x="4191000" y="5924550"/>
            <a:ext cx="3810000"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71" name="Rectangle 170"/>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8191500" y="5391150"/>
            <a:ext cx="3810000" cy="171450"/>
          </a:xfrm>
          <a:prstGeom prst="rect">
            <a:avLst/>
          </a:prstGeom>
          <a:noFill/>
        </p:spPr>
        <p:txBody>
          <a:bodyPr wrap="square" lIns="28575" tIns="9525" rIns="28575" bIns="9525" anchor="t">
            <a:spAutoFit/>
          </a:bodyPr>
          <a:lstStyle/>
          <a:p>
            <a:pPr algn="l"/>
            <a:r>
              <a:rPr sz="1100" b="1">
                <a:solidFill>
                  <a:srgbClr val="1F2933"/>
                </a:solidFill>
                <a:latin typeface="Calibri"/>
              </a:rPr>
              <a:t>Tier 3</a:t>
            </a:r>
          </a:p>
        </p:txBody>
      </p:sp>
      <p:sp>
        <p:nvSpPr>
          <p:cNvPr id="173" name="TextBox 172"/>
          <p:cNvSpPr txBox="1"/>
          <p:nvPr/>
        </p:nvSpPr>
        <p:spPr>
          <a:xfrm>
            <a:off x="8191500" y="5562600"/>
            <a:ext cx="3810000" cy="3238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NaturVet, Ark Naturals, VISYO Corporation, Zesty Paws</a:t>
            </a:r>
          </a:p>
        </p:txBody>
      </p:sp>
      <p:sp>
        <p:nvSpPr>
          <p:cNvPr id="174" name="TextBox 173"/>
          <p:cNvSpPr txBox="1"/>
          <p:nvPr/>
        </p:nvSpPr>
        <p:spPr>
          <a:xfrm>
            <a:off x="8191500" y="5924550"/>
            <a:ext cx="3810000" cy="34290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5" name="TextBox 174"/>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76" name="Picture 175" descr="lock.png"/>
          <p:cNvPicPr>
            <a:picLocks noChangeAspect="1"/>
          </p:cNvPicPr>
          <p:nvPr/>
        </p:nvPicPr>
        <p:blipFill>
          <a:blip r:embed="rId4"/>
          <a:stretch>
            <a:fillRect/>
          </a:stretch>
        </p:blipFill>
        <p:spPr>
          <a:xfrm>
            <a:off x="11746650" y="18685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89500" y="21733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689500" y="24781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632350" y="27829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479950" y="30877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422800" y="33925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327550" y="36973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327550" y="40021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270400" y="43069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270400" y="4611751"/>
            <a:ext cx="128699" cy="187198"/>
          </a:xfrm>
          <a:prstGeom prst="rect">
            <a:avLst/>
          </a:prstGeom>
        </p:spPr>
      </p:pic>
      <p:sp>
        <p:nvSpPr>
          <p:cNvPr id="186" name="TextBox 185"/>
          <p:cNvSpPr txBox="1"/>
          <p:nvPr/>
        </p:nvSpPr>
        <p:spPr>
          <a:xfrm>
            <a:off x="2162175" y="1219200"/>
            <a:ext cx="379523" cy="139750"/>
          </a:xfrm>
          <a:prstGeom prst="rect">
            <a:avLst/>
          </a:prstGeom>
          <a:noFill/>
        </p:spPr>
        <p:txBody>
          <a:bodyPr wrap="none" lIns="0" tIns="0" rIns="0" bIns="0">
            <a:spAutoFit/>
          </a:bodyPr>
          <a:lstStyle/>
          <a:p>
            <a:r>
              <a:rPr sz="791" b="1">
                <a:solidFill>
                  <a:srgbClr val="1F2933"/>
                </a:solidFill>
                <a:latin typeface="Calibri"/>
              </a:rPr>
              <a:t>Weight</a:t>
            </a:r>
          </a:p>
        </p:txBody>
      </p:sp>
      <p:pic>
        <p:nvPicPr>
          <p:cNvPr id="187" name="Picture 186" descr="lock.png"/>
          <p:cNvPicPr>
            <a:picLocks noChangeAspect="1"/>
          </p:cNvPicPr>
          <p:nvPr/>
        </p:nvPicPr>
        <p:blipFill>
          <a:blip r:embed="rId4"/>
          <a:stretch>
            <a:fillRect/>
          </a:stretch>
        </p:blipFill>
        <p:spPr>
          <a:xfrm>
            <a:off x="2482959" y="1212159"/>
            <a:ext cx="92663" cy="134782"/>
          </a:xfrm>
          <a:prstGeom prst="rect">
            <a:avLst/>
          </a:prstGeom>
        </p:spPr>
      </p:pic>
      <p:sp>
        <p:nvSpPr>
          <p:cNvPr id="188" name="TextBox 187"/>
          <p:cNvSpPr txBox="1"/>
          <p:nvPr/>
        </p:nvSpPr>
        <p:spPr>
          <a:xfrm>
            <a:off x="3819525" y="1219200"/>
            <a:ext cx="379523" cy="139750"/>
          </a:xfrm>
          <a:prstGeom prst="rect">
            <a:avLst/>
          </a:prstGeom>
          <a:noFill/>
        </p:spPr>
        <p:txBody>
          <a:bodyPr wrap="none" lIns="0" tIns="0" r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4140309" y="1212159"/>
            <a:ext cx="92663" cy="134782"/>
          </a:xfrm>
          <a:prstGeom prst="rect">
            <a:avLst/>
          </a:prstGeom>
        </p:spPr>
      </p:pic>
      <p:sp>
        <p:nvSpPr>
          <p:cNvPr id="190" name="TextBox 189"/>
          <p:cNvSpPr txBox="1"/>
          <p:nvPr/>
        </p:nvSpPr>
        <p:spPr>
          <a:xfrm>
            <a:off x="5476875" y="1219200"/>
            <a:ext cx="379523" cy="139750"/>
          </a:xfrm>
          <a:prstGeom prst="rect">
            <a:avLst/>
          </a:prstGeom>
          <a:noFill/>
        </p:spPr>
        <p:txBody>
          <a:bodyPr wrap="none" lIns="0" tIns="0" r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5797659" y="1212159"/>
            <a:ext cx="92663" cy="134782"/>
          </a:xfrm>
          <a:prstGeom prst="rect">
            <a:avLst/>
          </a:prstGeom>
        </p:spPr>
      </p:pic>
      <p:sp>
        <p:nvSpPr>
          <p:cNvPr id="192" name="TextBox 191"/>
          <p:cNvSpPr txBox="1"/>
          <p:nvPr/>
        </p:nvSpPr>
        <p:spPr>
          <a:xfrm>
            <a:off x="7134225" y="1219200"/>
            <a:ext cx="379523" cy="139750"/>
          </a:xfrm>
          <a:prstGeom prst="rect">
            <a:avLst/>
          </a:prstGeom>
          <a:noFill/>
        </p:spPr>
        <p:txBody>
          <a:bodyPr wrap="none" lIns="0" tIns="0" r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7455009" y="1212159"/>
            <a:ext cx="92663" cy="134782"/>
          </a:xfrm>
          <a:prstGeom prst="rect">
            <a:avLst/>
          </a:prstGeom>
        </p:spPr>
      </p:pic>
      <p:sp>
        <p:nvSpPr>
          <p:cNvPr id="194" name="TextBox 193"/>
          <p:cNvSpPr txBox="1"/>
          <p:nvPr/>
        </p:nvSpPr>
        <p:spPr>
          <a:xfrm>
            <a:off x="8791575" y="1219200"/>
            <a:ext cx="379523" cy="139750"/>
          </a:xfrm>
          <a:prstGeom prst="rect">
            <a:avLst/>
          </a:prstGeom>
          <a:noFill/>
        </p:spPr>
        <p:txBody>
          <a:bodyPr wrap="none" lIns="0" tIns="0" rIns="0" bIns="0">
            <a:spAutoFit/>
          </a:bodyPr>
          <a:lstStyle/>
          <a:p>
            <a:r>
              <a:rPr sz="791" b="1">
                <a:solidFill>
                  <a:srgbClr val="1F2933"/>
                </a:solidFill>
                <a:latin typeface="Calibri"/>
              </a:rPr>
              <a:t>Weight</a:t>
            </a:r>
          </a:p>
        </p:txBody>
      </p:sp>
      <p:pic>
        <p:nvPicPr>
          <p:cNvPr id="195" name="Picture 194"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Strategic Activity Tracker</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tIns="9525" rIns="2857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tIns="9525" rIns="2857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tIns="0" r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tIns="0" r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tIns="9525" rIns="2857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tIns="9525" rIns="2857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tIns="9525" rIns="2857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tIns="9525" rIns="2857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6700" y="12858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Standard Process</a:t>
            </a:r>
          </a:p>
        </p:txBody>
      </p:sp>
      <p:sp>
        <p:nvSpPr>
          <p:cNvPr id="21" name="TextBox 20"/>
          <p:cNvSpPr txBox="1"/>
          <p:nvPr/>
        </p:nvSpPr>
        <p:spPr>
          <a:xfrm>
            <a:off x="1543050" y="12858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tIns="0" rIns="0" bIns="0" anchor="t">
            <a:spAutoFit/>
          </a:bodyPr>
          <a:lstStyle/>
          <a:p>
            <a:pPr algn="l"/>
            <a:endParaRP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14850" y="1314450"/>
            <a:ext cx="285750" cy="171450"/>
          </a:xfrm>
          <a:prstGeom prst="rect">
            <a:avLst/>
          </a:prstGeom>
          <a:noFill/>
        </p:spPr>
        <p:txBody>
          <a:bodyPr wrap="none" lIns="0" tIns="0" r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66700" y="17811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VetriScience</a:t>
            </a:r>
          </a:p>
        </p:txBody>
      </p:sp>
      <p:sp>
        <p:nvSpPr>
          <p:cNvPr id="32" name="TextBox 31"/>
          <p:cNvSpPr txBox="1"/>
          <p:nvPr/>
        </p:nvSpPr>
        <p:spPr>
          <a:xfrm>
            <a:off x="1543050" y="17811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development programme in Capsules and Softgels</a:t>
            </a:r>
          </a:p>
        </p:txBody>
      </p:sp>
      <p:sp>
        <p:nvSpPr>
          <p:cNvPr id="33" name="TextBox 32"/>
          <p:cNvSpPr txBox="1"/>
          <p:nvPr/>
        </p:nvSpPr>
        <p:spPr>
          <a:xfrm>
            <a:off x="3924300" y="1781175"/>
            <a:ext cx="533400" cy="171450"/>
          </a:xfrm>
          <a:prstGeom prst="rect">
            <a:avLst/>
          </a:prstGeom>
          <a:noFill/>
        </p:spPr>
        <p:txBody>
          <a:bodyPr wrap="none" lIns="0" tIns="0" rIns="0" bIns="0" anchor="t">
            <a:spAutoFit/>
          </a:bodyPr>
          <a:lstStyle/>
          <a:p>
            <a:pPr algn="l"/>
            <a:endParaRP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14850" y="1809750"/>
            <a:ext cx="285750" cy="171450"/>
          </a:xfrm>
          <a:prstGeom prst="rect">
            <a:avLst/>
          </a:prstGeom>
          <a:noFill/>
        </p:spPr>
        <p:txBody>
          <a:bodyPr wrap="none" lIns="0" tIns="0" r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66700" y="22764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Dr. Fossum's</a:t>
            </a:r>
          </a:p>
        </p:txBody>
      </p:sp>
      <p:sp>
        <p:nvSpPr>
          <p:cNvPr id="43" name="TextBox 42"/>
          <p:cNvSpPr txBox="1"/>
          <p:nvPr/>
        </p:nvSpPr>
        <p:spPr>
          <a:xfrm>
            <a:off x="1543050" y="22764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4" name="TextBox 43"/>
          <p:cNvSpPr txBox="1"/>
          <p:nvPr/>
        </p:nvSpPr>
        <p:spPr>
          <a:xfrm>
            <a:off x="3924300" y="2276475"/>
            <a:ext cx="533400" cy="171450"/>
          </a:xfrm>
          <a:prstGeom prst="rect">
            <a:avLst/>
          </a:prstGeom>
          <a:noFill/>
        </p:spPr>
        <p:txBody>
          <a:bodyPr wrap="none" lIns="0" tIns="0" rIns="0" bIns="0" anchor="t">
            <a:spAutoFit/>
          </a:bodyPr>
          <a:lstStyle/>
          <a:p>
            <a:pPr algn="l"/>
            <a:endParaRP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514850" y="2305050"/>
            <a:ext cx="285750" cy="171450"/>
          </a:xfrm>
          <a:prstGeom prst="rect">
            <a:avLst/>
          </a:prstGeom>
          <a:noFill/>
        </p:spPr>
        <p:txBody>
          <a:bodyPr wrap="none" lIns="0" tIns="0" r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66700" y="27717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Nestlé Purina PetCare</a:t>
            </a:r>
          </a:p>
        </p:txBody>
      </p:sp>
      <p:sp>
        <p:nvSpPr>
          <p:cNvPr id="54" name="TextBox 53"/>
          <p:cNvSpPr txBox="1"/>
          <p:nvPr/>
        </p:nvSpPr>
        <p:spPr>
          <a:xfrm>
            <a:off x="1543050" y="27717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development programme in Tablets</a:t>
            </a:r>
          </a:p>
        </p:txBody>
      </p:sp>
      <p:sp>
        <p:nvSpPr>
          <p:cNvPr id="55" name="TextBox 54"/>
          <p:cNvSpPr txBox="1"/>
          <p:nvPr/>
        </p:nvSpPr>
        <p:spPr>
          <a:xfrm>
            <a:off x="3924300" y="2771775"/>
            <a:ext cx="533400" cy="171450"/>
          </a:xfrm>
          <a:prstGeom prst="rect">
            <a:avLst/>
          </a:prstGeom>
          <a:noFill/>
        </p:spPr>
        <p:txBody>
          <a:bodyPr wrap="none" lIns="0" tIns="0" rIns="0" bIns="0" anchor="t">
            <a:spAutoFit/>
          </a:bodyPr>
          <a:lstStyle/>
          <a:p>
            <a:pPr algn="l"/>
            <a:endParaRP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514850" y="2800350"/>
            <a:ext cx="285750" cy="171450"/>
          </a:xfrm>
          <a:prstGeom prst="rect">
            <a:avLst/>
          </a:prstGeom>
          <a:noFill/>
        </p:spPr>
        <p:txBody>
          <a:bodyPr wrap="none" lIns="0" tIns="0" r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66700" y="32670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PetHeal</a:t>
            </a:r>
          </a:p>
        </p:txBody>
      </p:sp>
      <p:sp>
        <p:nvSpPr>
          <p:cNvPr id="65" name="TextBox 64"/>
          <p:cNvSpPr txBox="1"/>
          <p:nvPr/>
        </p:nvSpPr>
        <p:spPr>
          <a:xfrm>
            <a:off x="1543050" y="32670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6" name="TextBox 65"/>
          <p:cNvSpPr txBox="1"/>
          <p:nvPr/>
        </p:nvSpPr>
        <p:spPr>
          <a:xfrm>
            <a:off x="3924300" y="3267075"/>
            <a:ext cx="533400" cy="171450"/>
          </a:xfrm>
          <a:prstGeom prst="rect">
            <a:avLst/>
          </a:prstGeom>
          <a:noFill/>
        </p:spPr>
        <p:txBody>
          <a:bodyPr wrap="none" lIns="0" tIns="0" rIns="0" bIns="0" anchor="t">
            <a:spAutoFit/>
          </a:bodyPr>
          <a:lstStyle/>
          <a:p>
            <a:pPr algn="l"/>
            <a:endParaRP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514850" y="3295650"/>
            <a:ext cx="285750" cy="171450"/>
          </a:xfrm>
          <a:prstGeom prst="rect">
            <a:avLst/>
          </a:prstGeom>
          <a:noFill/>
        </p:spPr>
        <p:txBody>
          <a:bodyPr wrap="none" lIns="0" tIns="0" r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66700" y="37623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Senior Dogs Club</a:t>
            </a:r>
          </a:p>
        </p:txBody>
      </p:sp>
      <p:sp>
        <p:nvSpPr>
          <p:cNvPr id="76" name="TextBox 75"/>
          <p:cNvSpPr txBox="1"/>
          <p:nvPr/>
        </p:nvSpPr>
        <p:spPr>
          <a:xfrm>
            <a:off x="1543050" y="37623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development programme in Capsules and Softgels</a:t>
            </a:r>
          </a:p>
        </p:txBody>
      </p:sp>
      <p:sp>
        <p:nvSpPr>
          <p:cNvPr id="77" name="TextBox 76"/>
          <p:cNvSpPr txBox="1"/>
          <p:nvPr/>
        </p:nvSpPr>
        <p:spPr>
          <a:xfrm>
            <a:off x="3924300" y="3762375"/>
            <a:ext cx="533400" cy="171450"/>
          </a:xfrm>
          <a:prstGeom prst="rect">
            <a:avLst/>
          </a:prstGeom>
          <a:noFill/>
        </p:spPr>
        <p:txBody>
          <a:bodyPr wrap="none" lIns="0" tIns="0" rIns="0" bIns="0" anchor="t">
            <a:spAutoFit/>
          </a:bodyPr>
          <a:lstStyle/>
          <a:p>
            <a:pPr algn="l"/>
            <a:endParaRP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514850" y="3790950"/>
            <a:ext cx="285750" cy="171450"/>
          </a:xfrm>
          <a:prstGeom prst="rect">
            <a:avLst/>
          </a:prstGeom>
          <a:noFill/>
        </p:spPr>
        <p:txBody>
          <a:bodyPr wrap="none" lIns="0" tIns="0" r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266700" y="42576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VISYO Corporation</a:t>
            </a:r>
          </a:p>
        </p:txBody>
      </p:sp>
      <p:sp>
        <p:nvSpPr>
          <p:cNvPr id="87" name="TextBox 86"/>
          <p:cNvSpPr txBox="1"/>
          <p:nvPr/>
        </p:nvSpPr>
        <p:spPr>
          <a:xfrm>
            <a:off x="1543050" y="42576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8" name="TextBox 87"/>
          <p:cNvSpPr txBox="1"/>
          <p:nvPr/>
        </p:nvSpPr>
        <p:spPr>
          <a:xfrm>
            <a:off x="3924300" y="4257675"/>
            <a:ext cx="533400" cy="171450"/>
          </a:xfrm>
          <a:prstGeom prst="rect">
            <a:avLst/>
          </a:prstGeom>
          <a:noFill/>
        </p:spPr>
        <p:txBody>
          <a:bodyPr wrap="none" lIns="0" tIns="0" rIns="0" bIns="0" anchor="t">
            <a:spAutoFit/>
          </a:bodyPr>
          <a:lstStyle/>
          <a:p>
            <a:pPr algn="l"/>
            <a:endParaRP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514850" y="4286250"/>
            <a:ext cx="285750" cy="171450"/>
          </a:xfrm>
          <a:prstGeom prst="rect">
            <a:avLst/>
          </a:prstGeom>
          <a:noFill/>
        </p:spPr>
        <p:txBody>
          <a:bodyPr wrap="none" lIns="0" tIns="0" r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66700" y="47529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NaturVet</a:t>
            </a:r>
          </a:p>
        </p:txBody>
      </p:sp>
      <p:sp>
        <p:nvSpPr>
          <p:cNvPr id="98" name="TextBox 97"/>
          <p:cNvSpPr txBox="1"/>
          <p:nvPr/>
        </p:nvSpPr>
        <p:spPr>
          <a:xfrm>
            <a:off x="1543050" y="47529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development programme in Tablets</a:t>
            </a:r>
          </a:p>
        </p:txBody>
      </p:sp>
      <p:sp>
        <p:nvSpPr>
          <p:cNvPr id="99" name="TextBox 98"/>
          <p:cNvSpPr txBox="1"/>
          <p:nvPr/>
        </p:nvSpPr>
        <p:spPr>
          <a:xfrm>
            <a:off x="3924300" y="4752975"/>
            <a:ext cx="533400" cy="171450"/>
          </a:xfrm>
          <a:prstGeom prst="rect">
            <a:avLst/>
          </a:prstGeom>
          <a:noFill/>
        </p:spPr>
        <p:txBody>
          <a:bodyPr wrap="none" lIns="0" tIns="0" rIns="0" bIns="0" anchor="t">
            <a:spAutoFit/>
          </a:bodyPr>
          <a:lstStyle/>
          <a:p>
            <a:pPr algn="l"/>
            <a:endParaRP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4514850" y="4781550"/>
            <a:ext cx="285750" cy="171450"/>
          </a:xfrm>
          <a:prstGeom prst="rect">
            <a:avLst/>
          </a:prstGeom>
          <a:noFill/>
        </p:spPr>
        <p:txBody>
          <a:bodyPr wrap="none" lIns="0" tIns="0" r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266700" y="52482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Zesty Paws</a:t>
            </a:r>
          </a:p>
        </p:txBody>
      </p:sp>
      <p:sp>
        <p:nvSpPr>
          <p:cNvPr id="109" name="TextBox 108"/>
          <p:cNvSpPr txBox="1"/>
          <p:nvPr/>
        </p:nvSpPr>
        <p:spPr>
          <a:xfrm>
            <a:off x="1543050" y="52482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10" name="TextBox 109"/>
          <p:cNvSpPr txBox="1"/>
          <p:nvPr/>
        </p:nvSpPr>
        <p:spPr>
          <a:xfrm>
            <a:off x="3924300" y="5248275"/>
            <a:ext cx="533400" cy="171450"/>
          </a:xfrm>
          <a:prstGeom prst="rect">
            <a:avLst/>
          </a:prstGeom>
          <a:noFill/>
        </p:spPr>
        <p:txBody>
          <a:bodyPr wrap="none" lIns="0" tIns="0" rIns="0" bIns="0" anchor="t">
            <a:spAutoFit/>
          </a:bodyPr>
          <a:lstStyle/>
          <a:p>
            <a:pPr algn="l"/>
            <a:endParaRPr/>
          </a:p>
        </p:txBody>
      </p:sp>
      <p:sp>
        <p:nvSpPr>
          <p:cNvPr id="111" name="Rectangle 110"/>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4514850" y="5276850"/>
            <a:ext cx="285750" cy="171450"/>
          </a:xfrm>
          <a:prstGeom prst="rect">
            <a:avLst/>
          </a:prstGeom>
          <a:noFill/>
        </p:spPr>
        <p:txBody>
          <a:bodyPr wrap="none" lIns="0" tIns="0" rIns="0" bIns="0" anchor="ctr">
            <a:spAutoFit/>
          </a:bodyPr>
          <a:lstStyle/>
          <a:p>
            <a:pPr algn="ctr"/>
            <a:r>
              <a:rPr sz="1100" b="1">
                <a:solidFill>
                  <a:srgbClr val="FFFFFF"/>
                </a:solidFill>
                <a:latin typeface="Calibri"/>
              </a:rPr>
              <a:t>MA</a:t>
            </a:r>
          </a:p>
        </p:txBody>
      </p:sp>
      <p:sp>
        <p:nvSpPr>
          <p:cNvPr id="113" name="TextBox 112"/>
          <p:cNvSpPr txBox="1"/>
          <p:nvPr/>
        </p:nvSpPr>
        <p:spPr>
          <a:xfrm>
            <a:off x="4972050" y="52482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a:t>
            </a:r>
          </a:p>
        </p:txBody>
      </p:sp>
      <p:sp>
        <p:nvSpPr>
          <p:cNvPr id="114" name="TextBox 113"/>
          <p:cNvSpPr txBox="1"/>
          <p:nvPr/>
        </p:nvSpPr>
        <p:spPr>
          <a:xfrm>
            <a:off x="6210300" y="52482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115" name="TextBox 114"/>
          <p:cNvSpPr txBox="1"/>
          <p:nvPr/>
        </p:nvSpPr>
        <p:spPr>
          <a:xfrm>
            <a:off x="7162800" y="52482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6" name="TextBox 115"/>
          <p:cNvSpPr txBox="1"/>
          <p:nvPr/>
        </p:nvSpPr>
        <p:spPr>
          <a:xfrm>
            <a:off x="9353550" y="52482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7" name="Connector 116"/>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266700" y="5743575"/>
            <a:ext cx="1238250" cy="438150"/>
          </a:xfrm>
          <a:prstGeom prst="rect">
            <a:avLst/>
          </a:prstGeom>
          <a:noFill/>
        </p:spPr>
        <p:txBody>
          <a:bodyPr wrap="square" lIns="28575" tIns="9525" rIns="28575" bIns="9525" anchor="t">
            <a:spAutoFit/>
          </a:bodyPr>
          <a:lstStyle/>
          <a:p>
            <a:pPr algn="l">
              <a:lnSpc>
                <a:spcPct val="115000"/>
              </a:lnSpc>
            </a:pPr>
            <a:r>
              <a:rPr sz="1100" b="1">
                <a:solidFill>
                  <a:srgbClr val="1F2933"/>
                </a:solidFill>
                <a:latin typeface="Calibri"/>
              </a:rPr>
              <a:t>Ark Naturals</a:t>
            </a:r>
          </a:p>
        </p:txBody>
      </p:sp>
      <p:sp>
        <p:nvSpPr>
          <p:cNvPr id="120" name="TextBox 119"/>
          <p:cNvSpPr txBox="1"/>
          <p:nvPr/>
        </p:nvSpPr>
        <p:spPr>
          <a:xfrm>
            <a:off x="1543050" y="5743575"/>
            <a:ext cx="2324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development programme in Capsules and Softgels</a:t>
            </a:r>
          </a:p>
        </p:txBody>
      </p:sp>
      <p:sp>
        <p:nvSpPr>
          <p:cNvPr id="121" name="TextBox 120"/>
          <p:cNvSpPr txBox="1"/>
          <p:nvPr/>
        </p:nvSpPr>
        <p:spPr>
          <a:xfrm>
            <a:off x="3924300" y="5743575"/>
            <a:ext cx="533400" cy="171450"/>
          </a:xfrm>
          <a:prstGeom prst="rect">
            <a:avLst/>
          </a:prstGeom>
          <a:noFill/>
        </p:spPr>
        <p:txBody>
          <a:bodyPr wrap="none" lIns="0" tIns="0" rIns="0" bIns="0" anchor="t">
            <a:spAutoFit/>
          </a:bodyPr>
          <a:lstStyle/>
          <a:p>
            <a:pPr algn="l"/>
            <a:endParaRPr/>
          </a:p>
        </p:txBody>
      </p:sp>
      <p:sp>
        <p:nvSpPr>
          <p:cNvPr id="122" name="Rectangle 121"/>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4514850" y="5772150"/>
            <a:ext cx="285750" cy="171450"/>
          </a:xfrm>
          <a:prstGeom prst="rect">
            <a:avLst/>
          </a:prstGeom>
          <a:noFill/>
        </p:spPr>
        <p:txBody>
          <a:bodyPr wrap="none" lIns="0" tIns="0" rIns="0" bIns="0" anchor="ctr">
            <a:spAutoFit/>
          </a:bodyPr>
          <a:lstStyle/>
          <a:p>
            <a:pPr algn="ctr"/>
            <a:r>
              <a:rPr sz="1100" b="1">
                <a:solidFill>
                  <a:srgbClr val="FFFFFF"/>
                </a:solidFill>
                <a:latin typeface="Calibri"/>
              </a:rPr>
              <a:t>PR</a:t>
            </a:r>
          </a:p>
        </p:txBody>
      </p:sp>
      <p:sp>
        <p:nvSpPr>
          <p:cNvPr id="124" name="TextBox 123"/>
          <p:cNvSpPr txBox="1"/>
          <p:nvPr/>
        </p:nvSpPr>
        <p:spPr>
          <a:xfrm>
            <a:off x="4972050" y="5743575"/>
            <a:ext cx="11811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and R&amp;D</a:t>
            </a:r>
          </a:p>
        </p:txBody>
      </p:sp>
      <p:sp>
        <p:nvSpPr>
          <p:cNvPr id="125" name="TextBox 124"/>
          <p:cNvSpPr txBox="1"/>
          <p:nvPr/>
        </p:nvSpPr>
        <p:spPr>
          <a:xfrm>
            <a:off x="6210300" y="5743575"/>
            <a:ext cx="895350" cy="438150"/>
          </a:xfrm>
          <a:prstGeom prst="rect">
            <a:avLst/>
          </a:prstGeom>
          <a:noFill/>
        </p:spPr>
        <p:txBody>
          <a:bodyPr wrap="square" lIns="28575" tIns="9525" rIns="28575" bIns="9525" anchor="t">
            <a:spAutoFit/>
          </a:bodyPr>
          <a:lstStyle/>
          <a:p>
            <a:pPr algn="l">
              <a:lnSpc>
                <a:spcPct val="115000"/>
              </a:lnSpc>
            </a:pPr>
            <a:r>
              <a:rPr sz="1100" b="0">
                <a:solidFill>
                  <a:srgbClr val="5F6B7A"/>
                </a:solidFill>
                <a:latin typeface="Calibri"/>
              </a:rPr>
              <a:t>FMI company profiling</a:t>
            </a:r>
          </a:p>
        </p:txBody>
      </p:sp>
      <p:sp>
        <p:nvSpPr>
          <p:cNvPr id="126" name="TextBox 125"/>
          <p:cNvSpPr txBox="1"/>
          <p:nvPr/>
        </p:nvSpPr>
        <p:spPr>
          <a:xfrm>
            <a:off x="7162800" y="5743575"/>
            <a:ext cx="21336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Capability build ahead of demand</a:t>
            </a:r>
          </a:p>
        </p:txBody>
      </p:sp>
      <p:sp>
        <p:nvSpPr>
          <p:cNvPr id="127" name="TextBox 126"/>
          <p:cNvSpPr txBox="1"/>
          <p:nvPr/>
        </p:nvSpPr>
        <p:spPr>
          <a:xfrm>
            <a:off x="9353550" y="5743575"/>
            <a:ext cx="2628900" cy="4381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Product: watch the roadmap</a:t>
            </a:r>
          </a:p>
        </p:txBody>
      </p:sp>
      <p:cxnSp>
        <p:nvCxnSpPr>
          <p:cNvPr id="128" name="Connector 127"/>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90500" y="6276975"/>
            <a:ext cx="285750" cy="152400"/>
          </a:xfrm>
          <a:prstGeom prst="rect">
            <a:avLst/>
          </a:prstGeom>
          <a:noFill/>
        </p:spPr>
        <p:txBody>
          <a:bodyPr wrap="none" lIns="0" tIns="0" rIns="0" bIns="0" anchor="ctr">
            <a:spAutoFit/>
          </a:bodyPr>
          <a:lstStyle/>
          <a:p>
            <a:pPr algn="ctr"/>
            <a:r>
              <a:rPr sz="1100" b="1">
                <a:solidFill>
                  <a:srgbClr val="FFFFFF"/>
                </a:solidFill>
                <a:latin typeface="Calibri"/>
              </a:rPr>
              <a:t>MA</a:t>
            </a:r>
          </a:p>
        </p:txBody>
      </p:sp>
      <p:sp>
        <p:nvSpPr>
          <p:cNvPr id="131" name="TextBox 130"/>
          <p:cNvSpPr txBox="1"/>
          <p:nvPr/>
        </p:nvSpPr>
        <p:spPr>
          <a:xfrm>
            <a:off x="514350" y="6257925"/>
            <a:ext cx="1619250" cy="190500"/>
          </a:xfrm>
          <a:prstGeom prst="rect">
            <a:avLst/>
          </a:prstGeom>
          <a:noFill/>
        </p:spPr>
        <p:txBody>
          <a:bodyPr wrap="square" lIns="28575" tIns="9525" rIns="28575" bIns="9525" anchor="t">
            <a:spAutoFit/>
          </a:bodyPr>
          <a:lstStyle/>
          <a:p>
            <a:pPr algn="l"/>
            <a:r>
              <a:rPr sz="1100" b="0">
                <a:solidFill>
                  <a:srgbClr val="1F2933"/>
                </a:solidFill>
                <a:latin typeface="Calibri"/>
              </a:rPr>
              <a:t>M&amp;A</a:t>
            </a:r>
          </a:p>
        </p:txBody>
      </p:sp>
      <p:sp>
        <p:nvSpPr>
          <p:cNvPr id="132" name="Rectangle 131"/>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923925" y="6276975"/>
            <a:ext cx="285750" cy="152400"/>
          </a:xfrm>
          <a:prstGeom prst="rect">
            <a:avLst/>
          </a:prstGeom>
          <a:noFill/>
        </p:spPr>
        <p:txBody>
          <a:bodyPr wrap="none" lIns="0" tIns="0" rIns="0" bIns="0" anchor="ctr">
            <a:spAutoFit/>
          </a:bodyPr>
          <a:lstStyle/>
          <a:p>
            <a:pPr algn="ctr"/>
            <a:r>
              <a:rPr sz="1100" b="1">
                <a:solidFill>
                  <a:srgbClr val="FFFFFF"/>
                </a:solidFill>
                <a:latin typeface="Calibri"/>
              </a:rPr>
              <a:t>PR</a:t>
            </a:r>
          </a:p>
        </p:txBody>
      </p:sp>
      <p:sp>
        <p:nvSpPr>
          <p:cNvPr id="134" name="TextBox 133"/>
          <p:cNvSpPr txBox="1"/>
          <p:nvPr/>
        </p:nvSpPr>
        <p:spPr>
          <a:xfrm>
            <a:off x="1247775" y="6257925"/>
            <a:ext cx="1619250" cy="190500"/>
          </a:xfrm>
          <a:prstGeom prst="rect">
            <a:avLst/>
          </a:prstGeom>
          <a:noFill/>
        </p:spPr>
        <p:txBody>
          <a:bodyPr wrap="square" lIns="28575" tIns="9525" rIns="28575" bIns="9525" anchor="t">
            <a:spAutoFit/>
          </a:bodyPr>
          <a:lstStyle/>
          <a:p>
            <a:pPr algn="l"/>
            <a:r>
              <a:rPr sz="1100" b="0">
                <a:solidFill>
                  <a:srgbClr val="1F2933"/>
                </a:solidFill>
                <a:latin typeface="Calibri"/>
              </a:rPr>
              <a:t>Product / portfolio</a:t>
            </a:r>
          </a:p>
        </p:txBody>
      </p:sp>
      <p:sp>
        <p:nvSpPr>
          <p:cNvPr id="135" name="Rectangle 134"/>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2724150" y="6276975"/>
            <a:ext cx="285750" cy="152400"/>
          </a:xfrm>
          <a:prstGeom prst="rect">
            <a:avLst/>
          </a:prstGeom>
          <a:noFill/>
        </p:spPr>
        <p:txBody>
          <a:bodyPr wrap="none" lIns="0" tIns="0" rIns="0" bIns="0" anchor="ctr">
            <a:spAutoFit/>
          </a:bodyPr>
          <a:lstStyle/>
          <a:p>
            <a:pPr algn="ctr"/>
            <a:r>
              <a:rPr sz="1100" b="1">
                <a:solidFill>
                  <a:srgbClr val="FFFFFF"/>
                </a:solidFill>
                <a:latin typeface="Calibri"/>
              </a:rPr>
              <a:t>EX</a:t>
            </a:r>
          </a:p>
        </p:txBody>
      </p:sp>
      <p:sp>
        <p:nvSpPr>
          <p:cNvPr id="137" name="TextBox 136"/>
          <p:cNvSpPr txBox="1"/>
          <p:nvPr/>
        </p:nvSpPr>
        <p:spPr>
          <a:xfrm>
            <a:off x="3048000" y="6257925"/>
            <a:ext cx="1619250" cy="190500"/>
          </a:xfrm>
          <a:prstGeom prst="rect">
            <a:avLst/>
          </a:prstGeom>
          <a:noFill/>
        </p:spPr>
        <p:txBody>
          <a:bodyPr wrap="square" lIns="28575" tIns="9525" rIns="28575" bIns="9525" anchor="t">
            <a:spAutoFit/>
          </a:bodyPr>
          <a:lstStyle/>
          <a:p>
            <a:pPr algn="l"/>
            <a:r>
              <a:rPr sz="1100" b="0">
                <a:solidFill>
                  <a:srgbClr val="1F2933"/>
                </a:solidFill>
                <a:latin typeface="Calibri"/>
              </a:rPr>
              <a:t>Expansion</a:t>
            </a:r>
          </a:p>
        </p:txBody>
      </p:sp>
      <p:sp>
        <p:nvSpPr>
          <p:cNvPr id="138" name="Rectangle 137"/>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3857625" y="6276975"/>
            <a:ext cx="285750" cy="152400"/>
          </a:xfrm>
          <a:prstGeom prst="rect">
            <a:avLst/>
          </a:prstGeom>
          <a:noFill/>
        </p:spPr>
        <p:txBody>
          <a:bodyPr wrap="none" lIns="0" tIns="0" rIns="0" bIns="0" anchor="ctr">
            <a:spAutoFit/>
          </a:bodyPr>
          <a:lstStyle/>
          <a:p>
            <a:pPr algn="ctr"/>
            <a:r>
              <a:rPr sz="1100" b="1">
                <a:solidFill>
                  <a:srgbClr val="FFFFFF"/>
                </a:solidFill>
                <a:latin typeface="Calibri"/>
              </a:rPr>
              <a:t>RD</a:t>
            </a:r>
          </a:p>
        </p:txBody>
      </p:sp>
      <p:sp>
        <p:nvSpPr>
          <p:cNvPr id="140" name="TextBox 139"/>
          <p:cNvSpPr txBox="1"/>
          <p:nvPr/>
        </p:nvSpPr>
        <p:spPr>
          <a:xfrm>
            <a:off x="4181475" y="6257925"/>
            <a:ext cx="1619250" cy="190500"/>
          </a:xfrm>
          <a:prstGeom prst="rect">
            <a:avLst/>
          </a:prstGeom>
          <a:noFill/>
        </p:spPr>
        <p:txBody>
          <a:bodyPr wrap="square" lIns="28575" tIns="9525" rIns="28575" bIns="9525" anchor="t">
            <a:spAutoFit/>
          </a:bodyPr>
          <a:lstStyle/>
          <a:p>
            <a:pPr algn="l"/>
            <a:r>
              <a:rPr sz="1100" b="0">
                <a:solidFill>
                  <a:srgbClr val="1F2933"/>
                </a:solidFill>
                <a:latin typeface="Calibri"/>
              </a:rPr>
              <a:t>R&amp;D / technology</a:t>
            </a:r>
          </a:p>
        </p:txBody>
      </p:sp>
      <p:sp>
        <p:nvSpPr>
          <p:cNvPr id="141" name="Rectangle 140"/>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5457825" y="6276975"/>
            <a:ext cx="285750" cy="152400"/>
          </a:xfrm>
          <a:prstGeom prst="rect">
            <a:avLst/>
          </a:prstGeom>
          <a:noFill/>
        </p:spPr>
        <p:txBody>
          <a:bodyPr wrap="none" lIns="0" tIns="0" rIns="0" bIns="0" anchor="ctr">
            <a:spAutoFit/>
          </a:bodyPr>
          <a:lstStyle/>
          <a:p>
            <a:pPr algn="ctr"/>
            <a:r>
              <a:rPr sz="1100" b="1">
                <a:solidFill>
                  <a:srgbClr val="FFFFFF"/>
                </a:solidFill>
                <a:latin typeface="Calibri"/>
              </a:rPr>
              <a:t>RG</a:t>
            </a:r>
          </a:p>
        </p:txBody>
      </p:sp>
      <p:sp>
        <p:nvSpPr>
          <p:cNvPr id="143" name="TextBox 142"/>
          <p:cNvSpPr txBox="1"/>
          <p:nvPr/>
        </p:nvSpPr>
        <p:spPr>
          <a:xfrm>
            <a:off x="5781675" y="6257925"/>
            <a:ext cx="1619250" cy="190500"/>
          </a:xfrm>
          <a:prstGeom prst="rect">
            <a:avLst/>
          </a:prstGeom>
          <a:noFill/>
        </p:spPr>
        <p:txBody>
          <a:bodyPr wrap="square" lIns="28575" tIns="9525" rIns="28575" bIns="9525" anchor="t">
            <a:spAutoFit/>
          </a:bodyPr>
          <a:lstStyle/>
          <a:p>
            <a:pPr algn="l"/>
            <a:r>
              <a:rPr sz="1100" b="0">
                <a:solidFill>
                  <a:srgbClr val="1F2933"/>
                </a:solidFill>
                <a:latin typeface="Calibri"/>
              </a:rPr>
              <a:t>Regulation / compliance</a:t>
            </a:r>
          </a:p>
        </p:txBody>
      </p:sp>
      <p:sp>
        <p:nvSpPr>
          <p:cNvPr id="144" name="Rectangle 143"/>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7524750" y="6276975"/>
            <a:ext cx="285750" cy="152400"/>
          </a:xfrm>
          <a:prstGeom prst="rect">
            <a:avLst/>
          </a:prstGeom>
          <a:noFill/>
        </p:spPr>
        <p:txBody>
          <a:bodyPr wrap="none" lIns="0" tIns="0" rIns="0" bIns="0" anchor="ctr">
            <a:spAutoFit/>
          </a:bodyPr>
          <a:lstStyle/>
          <a:p>
            <a:pPr algn="ctr"/>
            <a:r>
              <a:rPr sz="1100" b="1">
                <a:solidFill>
                  <a:srgbClr val="FFFFFF"/>
                </a:solidFill>
                <a:latin typeface="Calibri"/>
              </a:rPr>
              <a:t>CP</a:t>
            </a:r>
          </a:p>
        </p:txBody>
      </p:sp>
      <p:sp>
        <p:nvSpPr>
          <p:cNvPr id="146" name="TextBox 145"/>
          <p:cNvSpPr txBox="1"/>
          <p:nvPr/>
        </p:nvSpPr>
        <p:spPr>
          <a:xfrm>
            <a:off x="7848600" y="6257925"/>
            <a:ext cx="1619250" cy="190500"/>
          </a:xfrm>
          <a:prstGeom prst="rect">
            <a:avLst/>
          </a:prstGeom>
          <a:noFill/>
        </p:spPr>
        <p:txBody>
          <a:bodyPr wrap="square" lIns="28575" tIns="9525" rIns="28575" bIns="9525" anchor="t">
            <a:spAutoFit/>
          </a:bodyPr>
          <a:lstStyle/>
          <a:p>
            <a:pPr algn="l"/>
            <a:r>
              <a:rPr sz="1100" b="0">
                <a:solidFill>
                  <a:srgbClr val="1F2933"/>
                </a:solidFill>
                <a:latin typeface="Calibri"/>
              </a:rPr>
              <a:t>Capital / funding</a:t>
            </a:r>
          </a:p>
        </p:txBody>
      </p:sp>
      <p:sp>
        <p:nvSpPr>
          <p:cNvPr id="147" name="TextBox 146"/>
          <p:cNvSpPr txBox="1"/>
          <p:nvPr/>
        </p:nvSpPr>
        <p:spPr>
          <a:xfrm>
            <a:off x="190500" y="6457950"/>
            <a:ext cx="11811000" cy="171450"/>
          </a:xfrm>
          <a:prstGeom prst="rect">
            <a:avLst/>
          </a:prstGeom>
          <a:noFill/>
        </p:spPr>
        <p:txBody>
          <a:bodyPr wrap="square" lIns="28575" tIns="9525" rIns="2857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8" name="TextBox 14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4126650" y="12780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17733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2268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27639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32592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3754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42498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4745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126650" y="5240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Strategic Activity by Function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5750" y="160020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Standard Process</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5750" y="184785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VetriScience</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5750" y="209550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Dr. Fossum's</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5750" y="234315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Nestlé Purina PetCare</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5750" y="259080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PetHeal</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5750" y="283845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Senior Dogs Club</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85750" y="308610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VISYO Corporation</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5750" y="333375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NaturVet</a:t>
            </a:r>
          </a:p>
        </p:txBody>
      </p:sp>
      <p:sp>
        <p:nvSpPr>
          <p:cNvPr id="26" name="Rectangle 25"/>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85750" y="358140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Zesty Paws</a:t>
            </a:r>
          </a:p>
        </p:txBody>
      </p:sp>
      <p:sp>
        <p:nvSpPr>
          <p:cNvPr id="28" name="Rectangle 27"/>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85750" y="3829050"/>
            <a:ext cx="1409700" cy="247650"/>
          </a:xfrm>
          <a:prstGeom prst="rect">
            <a:avLst/>
          </a:prstGeom>
          <a:noFill/>
        </p:spPr>
        <p:txBody>
          <a:bodyPr wrap="square" lIns="28575" tIns="9525" rIns="28575" bIns="9525" anchor="ctr">
            <a:spAutoFit/>
          </a:bodyPr>
          <a:lstStyle/>
          <a:p>
            <a:pPr algn="l"/>
            <a:r>
              <a:rPr sz="1100" b="1">
                <a:solidFill>
                  <a:srgbClr val="1F2933"/>
                </a:solidFill>
                <a:latin typeface="Calibri"/>
              </a:rPr>
              <a:t>Ark Naturals</a:t>
            </a:r>
          </a:p>
        </p:txBody>
      </p:sp>
      <p:sp>
        <p:nvSpPr>
          <p:cNvPr id="30" name="TextBox 29"/>
          <p:cNvSpPr txBox="1"/>
          <p:nvPr/>
        </p:nvSpPr>
        <p:spPr>
          <a:xfrm>
            <a:off x="1714500" y="1047750"/>
            <a:ext cx="3302000" cy="171450"/>
          </a:xfrm>
          <a:prstGeom prst="rect">
            <a:avLst/>
          </a:prstGeom>
          <a:noFill/>
        </p:spPr>
        <p:txBody>
          <a:bodyPr wrap="square" lIns="28575" tIns="9525" rIns="28575" bIns="9525" anchor="t">
            <a:spAutoFit/>
          </a:bodyPr>
          <a:lstStyle/>
          <a:p>
            <a:pPr algn="l"/>
            <a:r>
              <a:rPr sz="1100" b="1">
                <a:solidFill>
                  <a:srgbClr val="0F2D52"/>
                </a:solidFill>
                <a:latin typeface="Calibri"/>
              </a:rPr>
              <a:t>Moves by type (count)</a:t>
            </a:r>
          </a:p>
        </p:txBody>
      </p:sp>
      <p:sp>
        <p:nvSpPr>
          <p:cNvPr id="31" name="TextBox 30"/>
          <p:cNvSpPr txBox="1"/>
          <p:nvPr/>
        </p:nvSpPr>
        <p:spPr>
          <a:xfrm>
            <a:off x="1714500" y="1219200"/>
            <a:ext cx="550333" cy="342900"/>
          </a:xfrm>
          <a:prstGeom prst="rect">
            <a:avLst/>
          </a:prstGeom>
          <a:noFill/>
        </p:spPr>
        <p:txBody>
          <a:bodyPr wrap="none" lIns="0" tIns="0" rIns="0" bIns="0" anchor="ctr">
            <a:spAutoFit/>
          </a:bodyPr>
          <a:lstStyle/>
          <a:p>
            <a:pPr algn="ctr">
              <a:lnSpc>
                <a:spcPct val="115000"/>
              </a:lnSpc>
            </a:pPr>
            <a:r>
              <a:rPr sz="1100" b="1">
                <a:solidFill>
                  <a:srgbClr val="1F2933"/>
                </a:solidFill>
                <a:latin typeface="Calibri"/>
              </a:rPr>
              <a:t>MA</a:t>
            </a:r>
          </a:p>
        </p:txBody>
      </p:sp>
      <p:sp>
        <p:nvSpPr>
          <p:cNvPr id="32" name="TextBox 31"/>
          <p:cNvSpPr txBox="1"/>
          <p:nvPr/>
        </p:nvSpPr>
        <p:spPr>
          <a:xfrm>
            <a:off x="2264833" y="1219200"/>
            <a:ext cx="550333" cy="342900"/>
          </a:xfrm>
          <a:prstGeom prst="rect">
            <a:avLst/>
          </a:prstGeom>
          <a:noFill/>
        </p:spPr>
        <p:txBody>
          <a:bodyPr wrap="none" lIns="0" tIns="0" rIns="0" bIns="0" anchor="ctr">
            <a:spAutoFit/>
          </a:bodyPr>
          <a:lstStyle/>
          <a:p>
            <a:pPr algn="ctr">
              <a:lnSpc>
                <a:spcPct val="115000"/>
              </a:lnSpc>
            </a:pPr>
            <a:r>
              <a:rPr sz="1100" b="1">
                <a:solidFill>
                  <a:srgbClr val="1F2933"/>
                </a:solidFill>
                <a:latin typeface="Calibri"/>
              </a:rPr>
              <a:t>PR</a:t>
            </a:r>
          </a:p>
        </p:txBody>
      </p:sp>
      <p:sp>
        <p:nvSpPr>
          <p:cNvPr id="33" name="TextBox 32"/>
          <p:cNvSpPr txBox="1"/>
          <p:nvPr/>
        </p:nvSpPr>
        <p:spPr>
          <a:xfrm>
            <a:off x="2815167" y="1219200"/>
            <a:ext cx="550333" cy="342900"/>
          </a:xfrm>
          <a:prstGeom prst="rect">
            <a:avLst/>
          </a:prstGeom>
          <a:noFill/>
        </p:spPr>
        <p:txBody>
          <a:bodyPr wrap="none" lIns="0" tIns="0" rIns="0" bIns="0" anchor="ctr">
            <a:spAutoFit/>
          </a:bodyPr>
          <a:lstStyle/>
          <a:p>
            <a:pPr algn="ctr">
              <a:lnSpc>
                <a:spcPct val="115000"/>
              </a:lnSpc>
            </a:pPr>
            <a:r>
              <a:rPr sz="1100" b="1">
                <a:solidFill>
                  <a:srgbClr val="1F2933"/>
                </a:solidFill>
                <a:latin typeface="Calibri"/>
              </a:rPr>
              <a:t>EX</a:t>
            </a:r>
          </a:p>
        </p:txBody>
      </p:sp>
      <p:sp>
        <p:nvSpPr>
          <p:cNvPr id="34" name="TextBox 33"/>
          <p:cNvSpPr txBox="1"/>
          <p:nvPr/>
        </p:nvSpPr>
        <p:spPr>
          <a:xfrm>
            <a:off x="3365500" y="1219200"/>
            <a:ext cx="550333" cy="342900"/>
          </a:xfrm>
          <a:prstGeom prst="rect">
            <a:avLst/>
          </a:prstGeom>
          <a:noFill/>
        </p:spPr>
        <p:txBody>
          <a:bodyPr wrap="none" lIns="0" tIns="0" rIns="0" bIns="0" anchor="ctr">
            <a:spAutoFit/>
          </a:bodyPr>
          <a:lstStyle/>
          <a:p>
            <a:pPr algn="ctr">
              <a:lnSpc>
                <a:spcPct val="115000"/>
              </a:lnSpc>
            </a:pPr>
            <a:r>
              <a:rPr sz="1100" b="1">
                <a:solidFill>
                  <a:srgbClr val="1F2933"/>
                </a:solidFill>
                <a:latin typeface="Calibri"/>
              </a:rPr>
              <a:t>RD</a:t>
            </a:r>
          </a:p>
        </p:txBody>
      </p:sp>
      <p:sp>
        <p:nvSpPr>
          <p:cNvPr id="35" name="TextBox 34"/>
          <p:cNvSpPr txBox="1"/>
          <p:nvPr/>
        </p:nvSpPr>
        <p:spPr>
          <a:xfrm>
            <a:off x="3915833" y="1219200"/>
            <a:ext cx="550333" cy="342900"/>
          </a:xfrm>
          <a:prstGeom prst="rect">
            <a:avLst/>
          </a:prstGeom>
          <a:noFill/>
        </p:spPr>
        <p:txBody>
          <a:bodyPr wrap="none" lIns="0" tIns="0" rIns="0" bIns="0" anchor="ctr">
            <a:spAutoFit/>
          </a:bodyPr>
          <a:lstStyle/>
          <a:p>
            <a:pPr algn="ctr">
              <a:lnSpc>
                <a:spcPct val="115000"/>
              </a:lnSpc>
            </a:pPr>
            <a:r>
              <a:rPr sz="1100" b="1">
                <a:solidFill>
                  <a:srgbClr val="1F2933"/>
                </a:solidFill>
                <a:latin typeface="Calibri"/>
              </a:rPr>
              <a:t>RG</a:t>
            </a:r>
          </a:p>
        </p:txBody>
      </p:sp>
      <p:sp>
        <p:nvSpPr>
          <p:cNvPr id="36" name="TextBox 35"/>
          <p:cNvSpPr txBox="1"/>
          <p:nvPr/>
        </p:nvSpPr>
        <p:spPr>
          <a:xfrm>
            <a:off x="4466167" y="1219200"/>
            <a:ext cx="550333" cy="342900"/>
          </a:xfrm>
          <a:prstGeom prst="rect">
            <a:avLst/>
          </a:prstGeom>
          <a:noFill/>
        </p:spPr>
        <p:txBody>
          <a:bodyPr wrap="none" lIns="0" tIns="0" rIns="0" bIns="0" anchor="ctr">
            <a:spAutoFit/>
          </a:bodyPr>
          <a:lstStyle/>
          <a:p>
            <a:pPr algn="ctr">
              <a:lnSpc>
                <a:spcPct val="115000"/>
              </a:lnSpc>
            </a:pPr>
            <a:r>
              <a:rPr sz="1100" b="1">
                <a:solidFill>
                  <a:srgbClr val="1F2933"/>
                </a:solidFill>
                <a:latin typeface="Calibri"/>
              </a:rPr>
              <a:t>CP</a:t>
            </a:r>
          </a:p>
        </p:txBody>
      </p:sp>
      <p:sp>
        <p:nvSpPr>
          <p:cNvPr id="37" name="Rectangle 36"/>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714500" y="16097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39" name="Rectangle 38"/>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815167" y="16097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42" name="Rectangle 41"/>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365500" y="16097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44" name="Rectangle 43"/>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15833" y="16097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46" name="Rectangle 45"/>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466167" y="16097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48" name="Rectangle 47"/>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264833" y="18573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51" name="Rectangle 50"/>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815167" y="18573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53" name="Rectangle 52"/>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365500" y="18573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55" name="Rectangle 54"/>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466167" y="18573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58" name="Rectangle 57"/>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714500" y="21050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60" name="Rectangle 59"/>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815167" y="21050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63" name="Rectangle 62"/>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365500" y="21050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65" name="Rectangle 64"/>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915833" y="21050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67" name="Rectangle 66"/>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466167" y="21050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69" name="Rectangle 68"/>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264833" y="23526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72" name="Rectangle 71"/>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815167" y="23526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74" name="Rectangle 73"/>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3365500" y="23526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76" name="Rectangle 75"/>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466167" y="23526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79" name="Rectangle 78"/>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714500" y="26003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81" name="Rectangle 80"/>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2815167" y="26003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84" name="Rectangle 83"/>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3365500" y="26003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86" name="Rectangle 85"/>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3915833" y="26003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88" name="Rectangle 87"/>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4466167" y="26003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90" name="Rectangle 89"/>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264833" y="28479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93" name="Rectangle 92"/>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2815167" y="28479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95" name="Rectangle 94"/>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3365500" y="28479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97" name="Rectangle 96"/>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4466167" y="28479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00" name="Rectangle 99"/>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1714500" y="30956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02" name="Rectangle 101"/>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2815167" y="30956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05" name="Rectangle 104"/>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3365500" y="30956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07" name="Rectangle 106"/>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3915833" y="30956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09" name="Rectangle 108"/>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4466167" y="30956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11" name="Rectangle 110"/>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264833" y="33432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114" name="Rectangle 113"/>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2815167" y="33432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16" name="Rectangle 115"/>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3365500" y="33432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18" name="Rectangle 117"/>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4466167" y="33432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21" name="Rectangle 120"/>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1714500" y="35909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23" name="Rectangle 122"/>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2815167" y="35909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26" name="Rectangle 125"/>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3365500" y="35909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28" name="Rectangle 127"/>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3915833" y="35909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30" name="Rectangle 129"/>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4466167" y="35909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32" name="Rectangle 131"/>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2264833" y="38385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135" name="Rectangle 134"/>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2815167" y="38385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37" name="Rectangle 136"/>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3365500" y="38385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39" name="Rectangle 138"/>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4466167" y="38385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142" name="TextBox 141"/>
          <p:cNvSpPr txBox="1"/>
          <p:nvPr/>
        </p:nvSpPr>
        <p:spPr>
          <a:xfrm>
            <a:off x="5207000" y="1047750"/>
            <a:ext cx="3302000" cy="171450"/>
          </a:xfrm>
          <a:prstGeom prst="rect">
            <a:avLst/>
          </a:prstGeom>
          <a:noFill/>
        </p:spPr>
        <p:txBody>
          <a:bodyPr wrap="square" lIns="28575" tIns="9525" rIns="28575" bIns="9525" anchor="t">
            <a:spAutoFit/>
          </a:bodyPr>
          <a:lstStyle/>
          <a:p>
            <a:pPr algn="l"/>
            <a:r>
              <a:rPr sz="1100" b="1">
                <a:solidFill>
                  <a:srgbClr val="0F2D52"/>
                </a:solidFill>
                <a:latin typeface="Calibri"/>
              </a:rPr>
              <a:t>By department</a:t>
            </a:r>
          </a:p>
        </p:txBody>
      </p:sp>
      <p:sp>
        <p:nvSpPr>
          <p:cNvPr id="143" name="TextBox 142"/>
          <p:cNvSpPr txBox="1"/>
          <p:nvPr/>
        </p:nvSpPr>
        <p:spPr>
          <a:xfrm>
            <a:off x="5207000" y="1219200"/>
            <a:ext cx="825500" cy="342900"/>
          </a:xfrm>
          <a:prstGeom prst="rect">
            <a:avLst/>
          </a:prstGeom>
          <a:noFill/>
        </p:spPr>
        <p:txBody>
          <a:bodyPr wrap="square" lIns="28575" tIns="9525" rIns="28575" bIns="9525" anchor="ctr">
            <a:spAutoFit/>
          </a:bodyPr>
          <a:lstStyle/>
          <a:p>
            <a:pPr algn="ctr">
              <a:lnSpc>
                <a:spcPct val="115000"/>
              </a:lnSpc>
            </a:pPr>
            <a:r>
              <a:rPr sz="1100" b="1">
                <a:solidFill>
                  <a:srgbClr val="1F2933"/>
                </a:solidFill>
                <a:latin typeface="Calibri"/>
              </a:rPr>
              <a:t>Product &amp; R&amp;D</a:t>
            </a:r>
          </a:p>
        </p:txBody>
      </p:sp>
      <p:sp>
        <p:nvSpPr>
          <p:cNvPr id="144" name="TextBox 143"/>
          <p:cNvSpPr txBox="1"/>
          <p:nvPr/>
        </p:nvSpPr>
        <p:spPr>
          <a:xfrm>
            <a:off x="6032500" y="1219200"/>
            <a:ext cx="825500" cy="342900"/>
          </a:xfrm>
          <a:prstGeom prst="rect">
            <a:avLst/>
          </a:prstGeom>
          <a:noFill/>
        </p:spPr>
        <p:txBody>
          <a:bodyPr wrap="square" lIns="28575" tIns="9525" rIns="28575" bIns="9525" anchor="ctr">
            <a:spAutoFit/>
          </a:bodyPr>
          <a:lstStyle/>
          <a:p>
            <a:pPr algn="ctr">
              <a:lnSpc>
                <a:spcPct val="115000"/>
              </a:lnSpc>
            </a:pPr>
            <a:r>
              <a:rPr sz="1100" b="1">
                <a:solidFill>
                  <a:srgbClr val="1F2933"/>
                </a:solidFill>
                <a:latin typeface="Calibri"/>
              </a:rPr>
              <a:t>Corp. dev.</a:t>
            </a:r>
          </a:p>
        </p:txBody>
      </p:sp>
      <p:sp>
        <p:nvSpPr>
          <p:cNvPr id="145" name="TextBox 144"/>
          <p:cNvSpPr txBox="1"/>
          <p:nvPr/>
        </p:nvSpPr>
        <p:spPr>
          <a:xfrm>
            <a:off x="6858000" y="1219200"/>
            <a:ext cx="825500" cy="342900"/>
          </a:xfrm>
          <a:prstGeom prst="rect">
            <a:avLst/>
          </a:prstGeom>
          <a:noFill/>
        </p:spPr>
        <p:txBody>
          <a:bodyPr wrap="square" lIns="28575" tIns="9525" rIns="28575" bIns="9525" anchor="ctr">
            <a:spAutoFit/>
          </a:bodyPr>
          <a:lstStyle/>
          <a:p>
            <a:pPr algn="ctr">
              <a:lnSpc>
                <a:spcPct val="115000"/>
              </a:lnSpc>
            </a:pPr>
            <a:r>
              <a:rPr sz="1100" b="1">
                <a:solidFill>
                  <a:srgbClr val="1F2933"/>
                </a:solidFill>
                <a:latin typeface="Calibri"/>
              </a:rPr>
              <a:t>Operations</a:t>
            </a:r>
          </a:p>
        </p:txBody>
      </p:sp>
      <p:sp>
        <p:nvSpPr>
          <p:cNvPr id="146" name="TextBox 145"/>
          <p:cNvSpPr txBox="1"/>
          <p:nvPr/>
        </p:nvSpPr>
        <p:spPr>
          <a:xfrm>
            <a:off x="7683500" y="1219200"/>
            <a:ext cx="825500" cy="342900"/>
          </a:xfrm>
          <a:prstGeom prst="rect">
            <a:avLst/>
          </a:prstGeom>
          <a:noFill/>
        </p:spPr>
        <p:txBody>
          <a:bodyPr wrap="square" lIns="28575" tIns="9525" rIns="28575" bIns="9525" anchor="ctr">
            <a:spAutoFit/>
          </a:bodyPr>
          <a:lstStyle/>
          <a:p>
            <a:pPr algn="ctr">
              <a:lnSpc>
                <a:spcPct val="115000"/>
              </a:lnSpc>
            </a:pPr>
            <a:r>
              <a:rPr sz="1100" b="1">
                <a:solidFill>
                  <a:srgbClr val="1F2933"/>
                </a:solidFill>
                <a:latin typeface="Calibri"/>
              </a:rPr>
              <a:t>Legal &amp; reg.</a:t>
            </a:r>
          </a:p>
        </p:txBody>
      </p:sp>
      <p:sp>
        <p:nvSpPr>
          <p:cNvPr id="147" name="Rectangle 146"/>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5207000" y="16097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49" name="Rectangle 148"/>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6032500" y="16097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51" name="Rectangle 150"/>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6858000" y="16097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53" name="Rectangle 152"/>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7683500" y="16097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55" name="Rectangle 154"/>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5207000" y="1857375"/>
            <a:ext cx="825500" cy="228600"/>
          </a:xfrm>
          <a:prstGeom prst="rect">
            <a:avLst/>
          </a:prstGeom>
          <a:noFill/>
        </p:spPr>
        <p:txBody>
          <a:bodyPr wrap="square" lIns="28575" tIns="9525" rIns="28575" bIns="9525" anchor="ctr">
            <a:spAutoFit/>
          </a:bodyPr>
          <a:lstStyle/>
          <a:p>
            <a:pPr algn="ctr"/>
            <a:r>
              <a:rPr sz="1100" b="1">
                <a:solidFill>
                  <a:srgbClr val="FFFFFF"/>
                </a:solidFill>
                <a:latin typeface="Calibri"/>
              </a:rPr>
              <a:t>3</a:t>
            </a:r>
          </a:p>
        </p:txBody>
      </p:sp>
      <p:sp>
        <p:nvSpPr>
          <p:cNvPr id="157" name="Rectangle 156"/>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6858000" y="185737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60" name="Rectangle 159"/>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5207000" y="21050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63" name="Rectangle 162"/>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6032500" y="21050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65" name="Rectangle 164"/>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6858000" y="21050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67" name="Rectangle 166"/>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7683500" y="21050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69" name="Rectangle 168"/>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5207000" y="2352675"/>
            <a:ext cx="825500" cy="228600"/>
          </a:xfrm>
          <a:prstGeom prst="rect">
            <a:avLst/>
          </a:prstGeom>
          <a:noFill/>
        </p:spPr>
        <p:txBody>
          <a:bodyPr wrap="square" lIns="28575" tIns="9525" rIns="28575" bIns="9525" anchor="ctr">
            <a:spAutoFit/>
          </a:bodyPr>
          <a:lstStyle/>
          <a:p>
            <a:pPr algn="ctr"/>
            <a:r>
              <a:rPr sz="1100" b="1">
                <a:solidFill>
                  <a:srgbClr val="FFFFFF"/>
                </a:solidFill>
                <a:latin typeface="Calibri"/>
              </a:rPr>
              <a:t>3</a:t>
            </a:r>
          </a:p>
        </p:txBody>
      </p:sp>
      <p:sp>
        <p:nvSpPr>
          <p:cNvPr id="171" name="Rectangle 170"/>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6858000" y="235267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74" name="Rectangle 173"/>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5207000" y="26003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77" name="Rectangle 176"/>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6032500" y="26003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79" name="Rectangle 178"/>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6858000" y="26003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81" name="Rectangle 180"/>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7683500" y="26003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83" name="Rectangle 182"/>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5207000" y="2847975"/>
            <a:ext cx="825500" cy="228600"/>
          </a:xfrm>
          <a:prstGeom prst="rect">
            <a:avLst/>
          </a:prstGeom>
          <a:noFill/>
        </p:spPr>
        <p:txBody>
          <a:bodyPr wrap="square" lIns="28575" tIns="9525" rIns="28575" bIns="9525" anchor="ctr">
            <a:spAutoFit/>
          </a:bodyPr>
          <a:lstStyle/>
          <a:p>
            <a:pPr algn="ctr"/>
            <a:r>
              <a:rPr sz="1100" b="1">
                <a:solidFill>
                  <a:srgbClr val="FFFFFF"/>
                </a:solidFill>
                <a:latin typeface="Calibri"/>
              </a:rPr>
              <a:t>3</a:t>
            </a:r>
          </a:p>
        </p:txBody>
      </p:sp>
      <p:sp>
        <p:nvSpPr>
          <p:cNvPr id="185" name="Rectangle 184"/>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6858000" y="284797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88" name="Rectangle 187"/>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5207000" y="30956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91" name="Rectangle 190"/>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6032500" y="30956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93" name="Rectangle 192"/>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6858000" y="30956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95" name="Rectangle 194"/>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7683500" y="30956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197" name="Rectangle 196"/>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5207000" y="3343275"/>
            <a:ext cx="825500" cy="228600"/>
          </a:xfrm>
          <a:prstGeom prst="rect">
            <a:avLst/>
          </a:prstGeom>
          <a:noFill/>
        </p:spPr>
        <p:txBody>
          <a:bodyPr wrap="square" lIns="28575" tIns="9525" rIns="28575" bIns="9525" anchor="ctr">
            <a:spAutoFit/>
          </a:bodyPr>
          <a:lstStyle/>
          <a:p>
            <a:pPr algn="ctr"/>
            <a:r>
              <a:rPr sz="1100" b="1">
                <a:solidFill>
                  <a:srgbClr val="FFFFFF"/>
                </a:solidFill>
                <a:latin typeface="Calibri"/>
              </a:rPr>
              <a:t>3</a:t>
            </a:r>
          </a:p>
        </p:txBody>
      </p:sp>
      <p:sp>
        <p:nvSpPr>
          <p:cNvPr id="199" name="Rectangle 198"/>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ectangle 199"/>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TextBox 200"/>
          <p:cNvSpPr txBox="1"/>
          <p:nvPr/>
        </p:nvSpPr>
        <p:spPr>
          <a:xfrm>
            <a:off x="6858000" y="334327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202" name="Rectangle 201"/>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Rectangle 202"/>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5207000" y="35909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205" name="Rectangle 204"/>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6032500" y="35909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207" name="Rectangle 206"/>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6858000" y="35909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209" name="Rectangle 208"/>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7683500" y="359092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211" name="Rectangle 210"/>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5207000" y="3838575"/>
            <a:ext cx="825500" cy="228600"/>
          </a:xfrm>
          <a:prstGeom prst="rect">
            <a:avLst/>
          </a:prstGeom>
          <a:noFill/>
        </p:spPr>
        <p:txBody>
          <a:bodyPr wrap="square" lIns="28575" tIns="9525" rIns="28575" bIns="9525" anchor="ctr">
            <a:spAutoFit/>
          </a:bodyPr>
          <a:lstStyle/>
          <a:p>
            <a:pPr algn="ctr"/>
            <a:r>
              <a:rPr sz="1100" b="1">
                <a:solidFill>
                  <a:srgbClr val="FFFFFF"/>
                </a:solidFill>
                <a:latin typeface="Calibri"/>
              </a:rPr>
              <a:t>3</a:t>
            </a:r>
          </a:p>
        </p:txBody>
      </p:sp>
      <p:sp>
        <p:nvSpPr>
          <p:cNvPr id="213" name="Rectangle 212"/>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Rectangle 213"/>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TextBox 214"/>
          <p:cNvSpPr txBox="1"/>
          <p:nvPr/>
        </p:nvSpPr>
        <p:spPr>
          <a:xfrm>
            <a:off x="6858000" y="3838575"/>
            <a:ext cx="825500" cy="228600"/>
          </a:xfrm>
          <a:prstGeom prst="rect">
            <a:avLst/>
          </a:prstGeom>
          <a:noFill/>
        </p:spPr>
        <p:txBody>
          <a:bodyPr wrap="square" lIns="28575" tIns="9525" rIns="28575" bIns="9525" anchor="ctr">
            <a:spAutoFit/>
          </a:bodyPr>
          <a:lstStyle/>
          <a:p>
            <a:pPr algn="ctr"/>
            <a:r>
              <a:rPr sz="1100" b="1">
                <a:solidFill>
                  <a:srgbClr val="0F2D52"/>
                </a:solidFill>
                <a:latin typeface="Calibri"/>
              </a:rPr>
              <a:t>1</a:t>
            </a:r>
          </a:p>
        </p:txBody>
      </p:sp>
      <p:sp>
        <p:nvSpPr>
          <p:cNvPr id="216" name="Rectangle 215"/>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TextBox 216"/>
          <p:cNvSpPr txBox="1"/>
          <p:nvPr/>
        </p:nvSpPr>
        <p:spPr>
          <a:xfrm>
            <a:off x="8699500" y="1047750"/>
            <a:ext cx="3302000" cy="171450"/>
          </a:xfrm>
          <a:prstGeom prst="rect">
            <a:avLst/>
          </a:prstGeom>
          <a:noFill/>
        </p:spPr>
        <p:txBody>
          <a:bodyPr wrap="square" lIns="28575" tIns="9525" rIns="28575" bIns="9525" anchor="t">
            <a:spAutoFit/>
          </a:bodyPr>
          <a:lstStyle/>
          <a:p>
            <a:pPr algn="l"/>
            <a:r>
              <a:rPr sz="1100" b="1">
                <a:solidFill>
                  <a:srgbClr val="0F2D52"/>
                </a:solidFill>
                <a:latin typeface="Calibri"/>
              </a:rPr>
              <a:t>By region of activity</a:t>
            </a:r>
          </a:p>
        </p:txBody>
      </p:sp>
      <p:sp>
        <p:nvSpPr>
          <p:cNvPr id="218" name="TextBox 217"/>
          <p:cNvSpPr txBox="1"/>
          <p:nvPr/>
        </p:nvSpPr>
        <p:spPr>
          <a:xfrm>
            <a:off x="8699500" y="1219200"/>
            <a:ext cx="550333" cy="342900"/>
          </a:xfrm>
          <a:prstGeom prst="rect">
            <a:avLst/>
          </a:prstGeom>
          <a:noFill/>
        </p:spPr>
        <p:txBody>
          <a:bodyPr wrap="square" lIns="28575" tIns="9525" rIns="28575" bIns="9525" anchor="ctr">
            <a:spAutoFit/>
          </a:bodyPr>
          <a:lstStyle/>
          <a:p>
            <a:pPr algn="ctr">
              <a:lnSpc>
                <a:spcPct val="115000"/>
              </a:lnSpc>
            </a:pPr>
            <a:r>
              <a:rPr sz="1100" b="1">
                <a:solidFill>
                  <a:srgbClr val="1F2933"/>
                </a:solidFill>
                <a:latin typeface="Calibri"/>
              </a:rPr>
              <a:t>N. America</a:t>
            </a:r>
          </a:p>
        </p:txBody>
      </p:sp>
      <p:sp>
        <p:nvSpPr>
          <p:cNvPr id="219" name="TextBox 218"/>
          <p:cNvSpPr txBox="1"/>
          <p:nvPr/>
        </p:nvSpPr>
        <p:spPr>
          <a:xfrm>
            <a:off x="9249833" y="1219200"/>
            <a:ext cx="550333" cy="342900"/>
          </a:xfrm>
          <a:prstGeom prst="rect">
            <a:avLst/>
          </a:prstGeom>
          <a:noFill/>
        </p:spPr>
        <p:txBody>
          <a:bodyPr wrap="square" lIns="28575" tIns="9525" rIns="28575" bIns="9525" anchor="ctr">
            <a:spAutoFit/>
          </a:bodyPr>
          <a:lstStyle/>
          <a:p>
            <a:pPr algn="ctr">
              <a:lnSpc>
                <a:spcPct val="115000"/>
              </a:lnSpc>
            </a:pPr>
            <a:r>
              <a:rPr sz="1100" b="1">
                <a:solidFill>
                  <a:srgbClr val="1F2933"/>
                </a:solidFill>
                <a:latin typeface="Calibri"/>
              </a:rPr>
              <a:t>Europe</a:t>
            </a:r>
          </a:p>
        </p:txBody>
      </p:sp>
      <p:sp>
        <p:nvSpPr>
          <p:cNvPr id="220" name="TextBox 219"/>
          <p:cNvSpPr txBox="1"/>
          <p:nvPr/>
        </p:nvSpPr>
        <p:spPr>
          <a:xfrm>
            <a:off x="9800167" y="1219200"/>
            <a:ext cx="550333" cy="342900"/>
          </a:xfrm>
          <a:prstGeom prst="rect">
            <a:avLst/>
          </a:prstGeom>
          <a:noFill/>
        </p:spPr>
        <p:txBody>
          <a:bodyPr wrap="square" lIns="28575" tIns="9525" rIns="28575" bIns="9525" anchor="ctr">
            <a:spAutoFit/>
          </a:bodyPr>
          <a:lstStyle/>
          <a:p>
            <a:pPr algn="ctr">
              <a:lnSpc>
                <a:spcPct val="115000"/>
              </a:lnSpc>
            </a:pPr>
            <a:r>
              <a:rPr sz="1100" b="1">
                <a:solidFill>
                  <a:srgbClr val="1F2933"/>
                </a:solidFill>
                <a:latin typeface="Calibri"/>
              </a:rPr>
              <a:t>S. Asia &amp; Pac.</a:t>
            </a:r>
          </a:p>
        </p:txBody>
      </p:sp>
      <p:sp>
        <p:nvSpPr>
          <p:cNvPr id="221" name="TextBox 220"/>
          <p:cNvSpPr txBox="1"/>
          <p:nvPr/>
        </p:nvSpPr>
        <p:spPr>
          <a:xfrm>
            <a:off x="10350500" y="1219200"/>
            <a:ext cx="550333" cy="342900"/>
          </a:xfrm>
          <a:prstGeom prst="rect">
            <a:avLst/>
          </a:prstGeom>
          <a:noFill/>
        </p:spPr>
        <p:txBody>
          <a:bodyPr wrap="square" lIns="28575" tIns="9525" rIns="28575" bIns="9525" anchor="ctr">
            <a:spAutoFit/>
          </a:bodyPr>
          <a:lstStyle/>
          <a:p>
            <a:pPr algn="ctr">
              <a:lnSpc>
                <a:spcPct val="115000"/>
              </a:lnSpc>
            </a:pPr>
            <a:r>
              <a:rPr sz="1100" b="1">
                <a:solidFill>
                  <a:srgbClr val="1F2933"/>
                </a:solidFill>
                <a:latin typeface="Calibri"/>
              </a:rPr>
              <a:t>E. Asia</a:t>
            </a:r>
          </a:p>
        </p:txBody>
      </p:sp>
      <p:sp>
        <p:nvSpPr>
          <p:cNvPr id="222" name="TextBox 221"/>
          <p:cNvSpPr txBox="1"/>
          <p:nvPr/>
        </p:nvSpPr>
        <p:spPr>
          <a:xfrm>
            <a:off x="10900833" y="1219200"/>
            <a:ext cx="550333" cy="342900"/>
          </a:xfrm>
          <a:prstGeom prst="rect">
            <a:avLst/>
          </a:prstGeom>
          <a:noFill/>
        </p:spPr>
        <p:txBody>
          <a:bodyPr wrap="square" lIns="28575" tIns="9525" rIns="28575" bIns="9525" anchor="ctr">
            <a:spAutoFit/>
          </a:bodyPr>
          <a:lstStyle/>
          <a:p>
            <a:pPr algn="ctr">
              <a:lnSpc>
                <a:spcPct val="115000"/>
              </a:lnSpc>
            </a:pPr>
            <a:r>
              <a:rPr sz="1100" b="1">
                <a:solidFill>
                  <a:srgbClr val="1F2933"/>
                </a:solidFill>
                <a:latin typeface="Calibri"/>
              </a:rPr>
              <a:t>LATAM</a:t>
            </a:r>
          </a:p>
        </p:txBody>
      </p:sp>
      <p:sp>
        <p:nvSpPr>
          <p:cNvPr id="223" name="TextBox 222"/>
          <p:cNvSpPr txBox="1"/>
          <p:nvPr/>
        </p:nvSpPr>
        <p:spPr>
          <a:xfrm>
            <a:off x="11451167" y="1219200"/>
            <a:ext cx="550333" cy="342900"/>
          </a:xfrm>
          <a:prstGeom prst="rect">
            <a:avLst/>
          </a:prstGeom>
          <a:noFill/>
        </p:spPr>
        <p:txBody>
          <a:bodyPr wrap="none" lIns="0" tIns="0" rIns="0" bIns="0" anchor="ctr">
            <a:spAutoFit/>
          </a:bodyPr>
          <a:lstStyle/>
          <a:p>
            <a:pPr algn="ctr">
              <a:lnSpc>
                <a:spcPct val="115000"/>
              </a:lnSpc>
            </a:pPr>
            <a:r>
              <a:rPr sz="1100" b="1">
                <a:solidFill>
                  <a:srgbClr val="1F2933"/>
                </a:solidFill>
                <a:latin typeface="Calibri"/>
              </a:rPr>
              <a:t>MEA</a:t>
            </a:r>
          </a:p>
        </p:txBody>
      </p:sp>
      <p:sp>
        <p:nvSpPr>
          <p:cNvPr id="224" name="Rectangle 223"/>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TextBox 224"/>
          <p:cNvSpPr txBox="1"/>
          <p:nvPr/>
        </p:nvSpPr>
        <p:spPr>
          <a:xfrm>
            <a:off x="8699500" y="160972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226" name="Rectangle 225"/>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TextBox 226"/>
          <p:cNvSpPr txBox="1"/>
          <p:nvPr/>
        </p:nvSpPr>
        <p:spPr>
          <a:xfrm>
            <a:off x="9249833" y="16097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28" name="Rectangle 227"/>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TextBox 228"/>
          <p:cNvSpPr txBox="1"/>
          <p:nvPr/>
        </p:nvSpPr>
        <p:spPr>
          <a:xfrm>
            <a:off x="9800167" y="16097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30" name="Rectangle 229"/>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Rectangle 230"/>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Rectangle 231"/>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Rectangle 232"/>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Rectangle 233"/>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TextBox 234"/>
          <p:cNvSpPr txBox="1"/>
          <p:nvPr/>
        </p:nvSpPr>
        <p:spPr>
          <a:xfrm>
            <a:off x="9249833" y="18573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236" name="Rectangle 235"/>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236"/>
          <p:cNvSpPr txBox="1"/>
          <p:nvPr/>
        </p:nvSpPr>
        <p:spPr>
          <a:xfrm>
            <a:off x="9800167" y="18573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38" name="Rectangle 237"/>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TextBox 238"/>
          <p:cNvSpPr txBox="1"/>
          <p:nvPr/>
        </p:nvSpPr>
        <p:spPr>
          <a:xfrm>
            <a:off x="10350500" y="18573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40" name="Rectangle 239"/>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Rectangle 240"/>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Rectangle 241"/>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Rectangle 242"/>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Rectangle 243"/>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TextBox 244"/>
          <p:cNvSpPr txBox="1"/>
          <p:nvPr/>
        </p:nvSpPr>
        <p:spPr>
          <a:xfrm>
            <a:off x="9800167" y="210502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246" name="Rectangle 245"/>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246"/>
          <p:cNvSpPr txBox="1"/>
          <p:nvPr/>
        </p:nvSpPr>
        <p:spPr>
          <a:xfrm>
            <a:off x="10350500" y="21050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48" name="Rectangle 247"/>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TextBox 248"/>
          <p:cNvSpPr txBox="1"/>
          <p:nvPr/>
        </p:nvSpPr>
        <p:spPr>
          <a:xfrm>
            <a:off x="10900833" y="21050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50" name="Rectangle 249"/>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Rectangle 250"/>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Rectangle 251"/>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Rectangle 252"/>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Rectangle 253"/>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TextBox 254"/>
          <p:cNvSpPr txBox="1"/>
          <p:nvPr/>
        </p:nvSpPr>
        <p:spPr>
          <a:xfrm>
            <a:off x="10350500" y="23526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256" name="Rectangle 255"/>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TextBox 256"/>
          <p:cNvSpPr txBox="1"/>
          <p:nvPr/>
        </p:nvSpPr>
        <p:spPr>
          <a:xfrm>
            <a:off x="10900833" y="23526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58" name="Rectangle 257"/>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TextBox 258"/>
          <p:cNvSpPr txBox="1"/>
          <p:nvPr/>
        </p:nvSpPr>
        <p:spPr>
          <a:xfrm>
            <a:off x="11451167" y="23526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60" name="Rectangle 259"/>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TextBox 260"/>
          <p:cNvSpPr txBox="1"/>
          <p:nvPr/>
        </p:nvSpPr>
        <p:spPr>
          <a:xfrm>
            <a:off x="8699500" y="26003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62" name="Rectangle 261"/>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262"/>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263"/>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264"/>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265"/>
          <p:cNvSpPr txBox="1"/>
          <p:nvPr/>
        </p:nvSpPr>
        <p:spPr>
          <a:xfrm>
            <a:off x="10900833" y="260032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267" name="Rectangle 266"/>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267"/>
          <p:cNvSpPr txBox="1"/>
          <p:nvPr/>
        </p:nvSpPr>
        <p:spPr>
          <a:xfrm>
            <a:off x="11451167" y="26003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69" name="Rectangle 268"/>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269"/>
          <p:cNvSpPr txBox="1"/>
          <p:nvPr/>
        </p:nvSpPr>
        <p:spPr>
          <a:xfrm>
            <a:off x="8699500" y="28479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71" name="Rectangle 270"/>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271"/>
          <p:cNvSpPr txBox="1"/>
          <p:nvPr/>
        </p:nvSpPr>
        <p:spPr>
          <a:xfrm>
            <a:off x="9249833" y="28479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73" name="Rectangle 272"/>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Rectangle 273"/>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274"/>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275"/>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76"/>
          <p:cNvSpPr txBox="1"/>
          <p:nvPr/>
        </p:nvSpPr>
        <p:spPr>
          <a:xfrm>
            <a:off x="11451167" y="28479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278" name="Rectangle 277"/>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TextBox 278"/>
          <p:cNvSpPr txBox="1"/>
          <p:nvPr/>
        </p:nvSpPr>
        <p:spPr>
          <a:xfrm>
            <a:off x="8699500" y="309562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280" name="Rectangle 279"/>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TextBox 280"/>
          <p:cNvSpPr txBox="1"/>
          <p:nvPr/>
        </p:nvSpPr>
        <p:spPr>
          <a:xfrm>
            <a:off x="9249833" y="30956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82" name="Rectangle 281"/>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TextBox 282"/>
          <p:cNvSpPr txBox="1"/>
          <p:nvPr/>
        </p:nvSpPr>
        <p:spPr>
          <a:xfrm>
            <a:off x="9800167" y="30956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84" name="Rectangle 283"/>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Rectangle 284"/>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Rectangle 285"/>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Rectangle 286"/>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Rectangle 287"/>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TextBox 288"/>
          <p:cNvSpPr txBox="1"/>
          <p:nvPr/>
        </p:nvSpPr>
        <p:spPr>
          <a:xfrm>
            <a:off x="9249833" y="33432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290" name="Rectangle 289"/>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TextBox 290"/>
          <p:cNvSpPr txBox="1"/>
          <p:nvPr/>
        </p:nvSpPr>
        <p:spPr>
          <a:xfrm>
            <a:off x="9800167" y="33432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92" name="Rectangle 291"/>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TextBox 292"/>
          <p:cNvSpPr txBox="1"/>
          <p:nvPr/>
        </p:nvSpPr>
        <p:spPr>
          <a:xfrm>
            <a:off x="10350500" y="33432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294" name="Rectangle 293"/>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Rectangle 294"/>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Rectangle 295"/>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Rectangle 296"/>
          <p:cNvSpPr/>
          <p:nvPr/>
        </p:nvSpPr>
        <p:spPr>
          <a:xfrm>
            <a:off x="9259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Rectangle 297"/>
          <p:cNvSpPr/>
          <p:nvPr/>
        </p:nvSpPr>
        <p:spPr>
          <a:xfrm>
            <a:off x="9809692"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TextBox 298"/>
          <p:cNvSpPr txBox="1"/>
          <p:nvPr/>
        </p:nvSpPr>
        <p:spPr>
          <a:xfrm>
            <a:off x="9800167" y="359092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300" name="Rectangle 299"/>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TextBox 300"/>
          <p:cNvSpPr txBox="1"/>
          <p:nvPr/>
        </p:nvSpPr>
        <p:spPr>
          <a:xfrm>
            <a:off x="10350500" y="35909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302" name="Rectangle 301"/>
          <p:cNvSpPr/>
          <p:nvPr/>
        </p:nvSpPr>
        <p:spPr>
          <a:xfrm>
            <a:off x="10910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TextBox 302"/>
          <p:cNvSpPr txBox="1"/>
          <p:nvPr/>
        </p:nvSpPr>
        <p:spPr>
          <a:xfrm>
            <a:off x="10900833" y="359092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304" name="Rectangle 303"/>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Rectangle 304"/>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ectangle 305"/>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Rectangle 306"/>
          <p:cNvSpPr/>
          <p:nvPr/>
        </p:nvSpPr>
        <p:spPr>
          <a:xfrm>
            <a:off x="9809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Rectangle 307"/>
          <p:cNvSpPr/>
          <p:nvPr/>
        </p:nvSpPr>
        <p:spPr>
          <a:xfrm>
            <a:off x="10360025"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TextBox 308"/>
          <p:cNvSpPr txBox="1"/>
          <p:nvPr/>
        </p:nvSpPr>
        <p:spPr>
          <a:xfrm>
            <a:off x="10350500" y="3838575"/>
            <a:ext cx="550333" cy="228600"/>
          </a:xfrm>
          <a:prstGeom prst="rect">
            <a:avLst/>
          </a:prstGeom>
          <a:noFill/>
        </p:spPr>
        <p:txBody>
          <a:bodyPr wrap="none" lIns="0" tIns="0" rIns="0" bIns="0" anchor="ctr">
            <a:spAutoFit/>
          </a:bodyPr>
          <a:lstStyle/>
          <a:p>
            <a:pPr algn="ctr"/>
            <a:r>
              <a:rPr sz="1100" b="1">
                <a:solidFill>
                  <a:srgbClr val="0F2D52"/>
                </a:solidFill>
                <a:latin typeface="Calibri"/>
              </a:rPr>
              <a:t>2</a:t>
            </a:r>
          </a:p>
        </p:txBody>
      </p:sp>
      <p:sp>
        <p:nvSpPr>
          <p:cNvPr id="310" name="Rectangle 309"/>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TextBox 310"/>
          <p:cNvSpPr txBox="1"/>
          <p:nvPr/>
        </p:nvSpPr>
        <p:spPr>
          <a:xfrm>
            <a:off x="10900833" y="38385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312" name="Rectangle 311"/>
          <p:cNvSpPr/>
          <p:nvPr/>
        </p:nvSpPr>
        <p:spPr>
          <a:xfrm>
            <a:off x="11460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TextBox 312"/>
          <p:cNvSpPr txBox="1"/>
          <p:nvPr/>
        </p:nvSpPr>
        <p:spPr>
          <a:xfrm>
            <a:off x="11451167" y="3838575"/>
            <a:ext cx="550333" cy="228600"/>
          </a:xfrm>
          <a:prstGeom prst="rect">
            <a:avLst/>
          </a:prstGeom>
          <a:noFill/>
        </p:spPr>
        <p:txBody>
          <a:bodyPr wrap="none" lIns="0" tIns="0" rIns="0" bIns="0" anchor="ctr">
            <a:spAutoFit/>
          </a:bodyPr>
          <a:lstStyle/>
          <a:p>
            <a:pPr algn="ctr"/>
            <a:r>
              <a:rPr sz="1100" b="1">
                <a:solidFill>
                  <a:srgbClr val="0F2D52"/>
                </a:solidFill>
                <a:latin typeface="Calibri"/>
              </a:rPr>
              <a:t>1</a:t>
            </a:r>
          </a:p>
        </p:txBody>
      </p:sp>
      <p:sp>
        <p:nvSpPr>
          <p:cNvPr id="314" name="Rectangle 313"/>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TextBox 314"/>
          <p:cNvSpPr txBox="1"/>
          <p:nvPr/>
        </p:nvSpPr>
        <p:spPr>
          <a:xfrm>
            <a:off x="438150" y="4133850"/>
            <a:ext cx="1047750" cy="190500"/>
          </a:xfrm>
          <a:prstGeom prst="rect">
            <a:avLst/>
          </a:prstGeom>
          <a:noFill/>
        </p:spPr>
        <p:txBody>
          <a:bodyPr wrap="square" lIns="28575" tIns="9525" rIns="28575" bIns="9525" anchor="ctr">
            <a:spAutoFit/>
          </a:bodyPr>
          <a:lstStyle/>
          <a:p>
            <a:pPr algn="l"/>
            <a:r>
              <a:rPr sz="1100" b="0">
                <a:solidFill>
                  <a:srgbClr val="1F2933"/>
                </a:solidFill>
                <a:latin typeface="Calibri"/>
              </a:rPr>
              <a:t>1 move</a:t>
            </a:r>
          </a:p>
        </p:txBody>
      </p:sp>
      <p:sp>
        <p:nvSpPr>
          <p:cNvPr id="316" name="Rectangle 315"/>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1485900" y="4133850"/>
            <a:ext cx="1047750" cy="190500"/>
          </a:xfrm>
          <a:prstGeom prst="rect">
            <a:avLst/>
          </a:prstGeom>
          <a:noFill/>
        </p:spPr>
        <p:txBody>
          <a:bodyPr wrap="square" lIns="28575" tIns="9525" rIns="28575" bIns="9525" anchor="ctr">
            <a:spAutoFit/>
          </a:bodyPr>
          <a:lstStyle/>
          <a:p>
            <a:pPr algn="l"/>
            <a:r>
              <a:rPr sz="1100" b="0">
                <a:solidFill>
                  <a:srgbClr val="1F2933"/>
                </a:solidFill>
                <a:latin typeface="Calibri"/>
              </a:rPr>
              <a:t>2 moves</a:t>
            </a:r>
          </a:p>
        </p:txBody>
      </p:sp>
      <p:sp>
        <p:nvSpPr>
          <p:cNvPr id="318" name="Rectangle 317"/>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TextBox 318"/>
          <p:cNvSpPr txBox="1"/>
          <p:nvPr/>
        </p:nvSpPr>
        <p:spPr>
          <a:xfrm>
            <a:off x="2533650" y="4133850"/>
            <a:ext cx="1047750" cy="190500"/>
          </a:xfrm>
          <a:prstGeom prst="rect">
            <a:avLst/>
          </a:prstGeom>
          <a:noFill/>
        </p:spPr>
        <p:txBody>
          <a:bodyPr wrap="square" lIns="28575" tIns="9525" rIns="28575" bIns="9525" anchor="ctr">
            <a:spAutoFit/>
          </a:bodyPr>
          <a:lstStyle/>
          <a:p>
            <a:pPr algn="l"/>
            <a:r>
              <a:rPr sz="1100" b="0">
                <a:solidFill>
                  <a:srgbClr val="1F2933"/>
                </a:solidFill>
                <a:latin typeface="Calibri"/>
              </a:rPr>
              <a:t>3+ moves</a:t>
            </a:r>
          </a:p>
        </p:txBody>
      </p:sp>
      <p:sp>
        <p:nvSpPr>
          <p:cNvPr id="320" name="TextBox 319"/>
          <p:cNvSpPr txBox="1"/>
          <p:nvPr/>
        </p:nvSpPr>
        <p:spPr>
          <a:xfrm>
            <a:off x="3524250" y="4133850"/>
            <a:ext cx="8477250" cy="190500"/>
          </a:xfrm>
          <a:prstGeom prst="rect">
            <a:avLst/>
          </a:prstGeom>
          <a:noFill/>
        </p:spPr>
        <p:txBody>
          <a:bodyPr wrap="square" lIns="28575" tIns="9525" rIns="2857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21" name="Connector 320"/>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2" name="TextBox 321"/>
          <p:cNvSpPr txBox="1"/>
          <p:nvPr/>
        </p:nvSpPr>
        <p:spPr>
          <a:xfrm>
            <a:off x="190500" y="4457700"/>
            <a:ext cx="5715000" cy="171450"/>
          </a:xfrm>
          <a:prstGeom prst="rect">
            <a:avLst/>
          </a:prstGeom>
          <a:noFill/>
        </p:spPr>
        <p:txBody>
          <a:bodyPr wrap="square" lIns="28575" tIns="9525" rIns="28575" bIns="9525" anchor="t">
            <a:spAutoFit/>
          </a:bodyPr>
          <a:lstStyle/>
          <a:p>
            <a:pPr algn="l"/>
            <a:r>
              <a:rPr sz="1100" b="1">
                <a:solidFill>
                  <a:srgbClr val="0F2D52"/>
                </a:solidFill>
                <a:latin typeface="Calibri"/>
              </a:rPr>
              <a:t>WHAT IT MEANS FOR EACH OF YOUR DEPARTMENTS</a:t>
            </a:r>
          </a:p>
        </p:txBody>
      </p:sp>
      <p:sp>
        <p:nvSpPr>
          <p:cNvPr id="323" name="Rectangle 322"/>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TextBox 323"/>
          <p:cNvSpPr txBox="1"/>
          <p:nvPr/>
        </p:nvSpPr>
        <p:spPr>
          <a:xfrm>
            <a:off x="266700" y="4686300"/>
            <a:ext cx="1758950" cy="228600"/>
          </a:xfrm>
          <a:prstGeom prst="rect">
            <a:avLst/>
          </a:prstGeom>
          <a:noFill/>
        </p:spPr>
        <p:txBody>
          <a:bodyPr wrap="square" lIns="28575" tIns="9525" rIns="28575" bIns="9525" anchor="ctr">
            <a:spAutoFit/>
          </a:bodyPr>
          <a:lstStyle/>
          <a:p>
            <a:pPr algn="l"/>
            <a:r>
              <a:rPr sz="1100" b="1">
                <a:solidFill>
                  <a:srgbClr val="FFFFFF"/>
                </a:solidFill>
                <a:latin typeface="Calibri"/>
              </a:rPr>
              <a:t>Sales</a:t>
            </a:r>
          </a:p>
        </p:txBody>
      </p:sp>
      <p:sp>
        <p:nvSpPr>
          <p:cNvPr id="325" name="TextBox 324"/>
          <p:cNvSpPr txBox="1"/>
          <p:nvPr/>
        </p:nvSpPr>
        <p:spPr>
          <a:xfrm>
            <a:off x="190500" y="4953000"/>
            <a:ext cx="1873250" cy="8572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6" name="Rectangle 325"/>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TextBox 326"/>
          <p:cNvSpPr txBox="1"/>
          <p:nvPr/>
        </p:nvSpPr>
        <p:spPr>
          <a:xfrm>
            <a:off x="2254250" y="4686300"/>
            <a:ext cx="1758950" cy="228600"/>
          </a:xfrm>
          <a:prstGeom prst="rect">
            <a:avLst/>
          </a:prstGeom>
          <a:noFill/>
        </p:spPr>
        <p:txBody>
          <a:bodyPr wrap="square" lIns="28575" tIns="9525" rIns="28575" bIns="9525" anchor="ctr">
            <a:spAutoFit/>
          </a:bodyPr>
          <a:lstStyle/>
          <a:p>
            <a:pPr algn="l"/>
            <a:r>
              <a:rPr sz="1100" b="1">
                <a:solidFill>
                  <a:srgbClr val="FFFFFF"/>
                </a:solidFill>
                <a:latin typeface="Calibri"/>
              </a:rPr>
              <a:t>Marketing</a:t>
            </a:r>
          </a:p>
        </p:txBody>
      </p:sp>
      <p:sp>
        <p:nvSpPr>
          <p:cNvPr id="328" name="TextBox 327"/>
          <p:cNvSpPr txBox="1"/>
          <p:nvPr/>
        </p:nvSpPr>
        <p:spPr>
          <a:xfrm>
            <a:off x="2178050" y="4953000"/>
            <a:ext cx="1873250" cy="8572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9" name="Rectangle 328"/>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TextBox 329"/>
          <p:cNvSpPr txBox="1"/>
          <p:nvPr/>
        </p:nvSpPr>
        <p:spPr>
          <a:xfrm>
            <a:off x="4241800" y="4686300"/>
            <a:ext cx="1758950" cy="228600"/>
          </a:xfrm>
          <a:prstGeom prst="rect">
            <a:avLst/>
          </a:prstGeom>
          <a:noFill/>
        </p:spPr>
        <p:txBody>
          <a:bodyPr wrap="square" lIns="28575" tIns="9525" rIns="28575" bIns="9525" anchor="ctr">
            <a:spAutoFit/>
          </a:bodyPr>
          <a:lstStyle/>
          <a:p>
            <a:pPr algn="l"/>
            <a:r>
              <a:rPr sz="1100" b="1">
                <a:solidFill>
                  <a:srgbClr val="FFFFFF"/>
                </a:solidFill>
                <a:latin typeface="Calibri"/>
              </a:rPr>
              <a:t>Product and R&amp;D</a:t>
            </a:r>
          </a:p>
        </p:txBody>
      </p:sp>
      <p:sp>
        <p:nvSpPr>
          <p:cNvPr id="331" name="TextBox 330"/>
          <p:cNvSpPr txBox="1"/>
          <p:nvPr/>
        </p:nvSpPr>
        <p:spPr>
          <a:xfrm>
            <a:off x="4165600" y="4953000"/>
            <a:ext cx="1873250" cy="8572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32" name="Rectangle 331"/>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TextBox 332"/>
          <p:cNvSpPr txBox="1"/>
          <p:nvPr/>
        </p:nvSpPr>
        <p:spPr>
          <a:xfrm>
            <a:off x="6229350" y="4686300"/>
            <a:ext cx="1758950" cy="228600"/>
          </a:xfrm>
          <a:prstGeom prst="rect">
            <a:avLst/>
          </a:prstGeom>
          <a:noFill/>
        </p:spPr>
        <p:txBody>
          <a:bodyPr wrap="square" lIns="28575" tIns="9525" rIns="28575" bIns="9525" anchor="ctr">
            <a:spAutoFit/>
          </a:bodyPr>
          <a:lstStyle/>
          <a:p>
            <a:pPr algn="l"/>
            <a:r>
              <a:rPr sz="1100" b="1">
                <a:solidFill>
                  <a:srgbClr val="FFFFFF"/>
                </a:solidFill>
                <a:latin typeface="Calibri"/>
              </a:rPr>
              <a:t>Corporate development</a:t>
            </a:r>
          </a:p>
        </p:txBody>
      </p:sp>
      <p:sp>
        <p:nvSpPr>
          <p:cNvPr id="334" name="TextBox 333"/>
          <p:cNvSpPr txBox="1"/>
          <p:nvPr/>
        </p:nvSpPr>
        <p:spPr>
          <a:xfrm>
            <a:off x="6153150" y="4953000"/>
            <a:ext cx="1873250" cy="8572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5" name="Rectangle 334"/>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TextBox 335"/>
          <p:cNvSpPr txBox="1"/>
          <p:nvPr/>
        </p:nvSpPr>
        <p:spPr>
          <a:xfrm>
            <a:off x="8216900" y="4686300"/>
            <a:ext cx="1758950" cy="228600"/>
          </a:xfrm>
          <a:prstGeom prst="rect">
            <a:avLst/>
          </a:prstGeom>
          <a:noFill/>
        </p:spPr>
        <p:txBody>
          <a:bodyPr wrap="square" lIns="28575" tIns="9525" rIns="28575" bIns="9525" anchor="ctr">
            <a:spAutoFit/>
          </a:bodyPr>
          <a:lstStyle/>
          <a:p>
            <a:pPr algn="l"/>
            <a:r>
              <a:rPr sz="1100" b="1">
                <a:solidFill>
                  <a:srgbClr val="FFFFFF"/>
                </a:solidFill>
                <a:latin typeface="Calibri"/>
              </a:rPr>
              <a:t>Operations</a:t>
            </a:r>
          </a:p>
        </p:txBody>
      </p:sp>
      <p:sp>
        <p:nvSpPr>
          <p:cNvPr id="337" name="TextBox 336"/>
          <p:cNvSpPr txBox="1"/>
          <p:nvPr/>
        </p:nvSpPr>
        <p:spPr>
          <a:xfrm>
            <a:off x="8140700" y="4953000"/>
            <a:ext cx="1873250" cy="8572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8" name="Rectangle 337"/>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TextBox 338"/>
          <p:cNvSpPr txBox="1"/>
          <p:nvPr/>
        </p:nvSpPr>
        <p:spPr>
          <a:xfrm>
            <a:off x="10204450" y="4686300"/>
            <a:ext cx="1758950" cy="228600"/>
          </a:xfrm>
          <a:prstGeom prst="rect">
            <a:avLst/>
          </a:prstGeom>
          <a:noFill/>
        </p:spPr>
        <p:txBody>
          <a:bodyPr wrap="square" lIns="28575" tIns="9525" rIns="28575" bIns="9525" anchor="ctr">
            <a:spAutoFit/>
          </a:bodyPr>
          <a:lstStyle/>
          <a:p>
            <a:pPr algn="l"/>
            <a:r>
              <a:rPr sz="1100" b="1">
                <a:solidFill>
                  <a:srgbClr val="FFFFFF"/>
                </a:solidFill>
                <a:latin typeface="Calibri"/>
              </a:rPr>
              <a:t>Legal and regulatory</a:t>
            </a:r>
          </a:p>
        </p:txBody>
      </p:sp>
      <p:sp>
        <p:nvSpPr>
          <p:cNvPr id="340" name="TextBox 339"/>
          <p:cNvSpPr txBox="1"/>
          <p:nvPr/>
        </p:nvSpPr>
        <p:spPr>
          <a:xfrm>
            <a:off x="10128250" y="4953000"/>
            <a:ext cx="1873250" cy="857250"/>
          </a:xfrm>
          <a:prstGeom prst="rect">
            <a:avLst/>
          </a:prstGeom>
          <a:noFill/>
        </p:spPr>
        <p:txBody>
          <a:bodyPr wrap="square" lIns="28575" tIns="9525" rIns="2857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41" name="TextBox 34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Industry Structure Landscape – Senior Dog Cognitive Supplement Market, Global 2026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104900"/>
            <a:ext cx="5619750" cy="209550"/>
          </a:xfrm>
          <a:prstGeom prst="rect">
            <a:avLst/>
          </a:prstGeom>
          <a:noFill/>
        </p:spPr>
        <p:txBody>
          <a:bodyPr wrap="square" lIns="28575" tIns="9525" rIns="2857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tIns="9525" rIns="28575" bIns="9525" anchor="ctr">
            <a:spAutoFit/>
          </a:bodyPr>
          <a:lstStyle/>
          <a:p>
            <a:pPr algn="l"/>
            <a:endParaRPr/>
          </a:p>
        </p:txBody>
      </p:sp>
      <p:sp>
        <p:nvSpPr>
          <p:cNvPr id="13" name="TextBox 12"/>
          <p:cNvSpPr txBox="1"/>
          <p:nvPr/>
        </p:nvSpPr>
        <p:spPr>
          <a:xfrm>
            <a:off x="257175" y="1600200"/>
            <a:ext cx="990600" cy="209550"/>
          </a:xfrm>
          <a:prstGeom prst="rect">
            <a:avLst/>
          </a:prstGeom>
          <a:noFill/>
        </p:spPr>
        <p:txBody>
          <a:bodyPr wrap="square" lIns="28575" tIns="9525" rIns="2857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62075" y="1609725"/>
            <a:ext cx="666750" cy="209550"/>
          </a:xfrm>
          <a:prstGeom prst="rect">
            <a:avLst/>
          </a:prstGeom>
          <a:noFill/>
        </p:spPr>
        <p:txBody>
          <a:bodyPr wrap="square" lIns="28575" tIns="9525" rIns="2857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tIns="9525" rIns="28575" bIns="9525" anchor="ctr">
            <a:spAutoFit/>
          </a:bodyPr>
          <a:lstStyle/>
          <a:p>
            <a:pPr algn="l"/>
            <a:endParaRPr/>
          </a:p>
        </p:txBody>
      </p:sp>
      <p:sp>
        <p:nvSpPr>
          <p:cNvPr id="18" name="TextBox 17"/>
          <p:cNvSpPr txBox="1"/>
          <p:nvPr/>
        </p:nvSpPr>
        <p:spPr>
          <a:xfrm>
            <a:off x="1266825" y="2066925"/>
            <a:ext cx="4533900" cy="34290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Standard Process · VetriScience · Dr. Fossum's · Nestlé Purina PetCare</a:t>
            </a:r>
          </a:p>
        </p:txBody>
      </p:sp>
      <p:sp>
        <p:nvSpPr>
          <p:cNvPr id="19" name="TextBox 18"/>
          <p:cNvSpPr txBox="1"/>
          <p:nvPr/>
        </p:nvSpPr>
        <p:spPr>
          <a:xfrm>
            <a:off x="257175" y="2457450"/>
            <a:ext cx="990600" cy="209550"/>
          </a:xfrm>
          <a:prstGeom prst="rect">
            <a:avLst/>
          </a:prstGeom>
          <a:noFill/>
        </p:spPr>
        <p:txBody>
          <a:bodyPr wrap="square" lIns="28575" tIns="9525" rIns="2857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62075" y="2466975"/>
            <a:ext cx="666750" cy="209550"/>
          </a:xfrm>
          <a:prstGeom prst="rect">
            <a:avLst/>
          </a:prstGeom>
          <a:noFill/>
        </p:spPr>
        <p:txBody>
          <a:bodyPr wrap="square" lIns="28575" tIns="9525" rIns="2857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tIns="9525" rIns="28575" bIns="9525" anchor="ctr">
            <a:spAutoFit/>
          </a:bodyPr>
          <a:lstStyle/>
          <a:p>
            <a:pPr algn="l"/>
            <a:endParaRPr/>
          </a:p>
        </p:txBody>
      </p:sp>
      <p:sp>
        <p:nvSpPr>
          <p:cNvPr id="24" name="TextBox 23"/>
          <p:cNvSpPr txBox="1"/>
          <p:nvPr/>
        </p:nvSpPr>
        <p:spPr>
          <a:xfrm>
            <a:off x="1266825" y="2924175"/>
            <a:ext cx="4533900" cy="34290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PetHeal · Senior Dogs Club</a:t>
            </a:r>
          </a:p>
        </p:txBody>
      </p:sp>
      <p:sp>
        <p:nvSpPr>
          <p:cNvPr id="25" name="TextBox 24"/>
          <p:cNvSpPr txBox="1"/>
          <p:nvPr/>
        </p:nvSpPr>
        <p:spPr>
          <a:xfrm>
            <a:off x="257175" y="3314700"/>
            <a:ext cx="990600" cy="209550"/>
          </a:xfrm>
          <a:prstGeom prst="rect">
            <a:avLst/>
          </a:prstGeom>
          <a:noFill/>
        </p:spPr>
        <p:txBody>
          <a:bodyPr wrap="square" lIns="28575" tIns="9525" rIns="2857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62075" y="3324225"/>
            <a:ext cx="666750" cy="209550"/>
          </a:xfrm>
          <a:prstGeom prst="rect">
            <a:avLst/>
          </a:prstGeom>
          <a:noFill/>
        </p:spPr>
        <p:txBody>
          <a:bodyPr wrap="square" lIns="28575" tIns="9525" rIns="2857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tIns="9525" rIns="28575" bIns="9525" anchor="ctr">
            <a:spAutoFit/>
          </a:bodyPr>
          <a:lstStyle/>
          <a:p>
            <a:pPr algn="l"/>
            <a:endParaRPr/>
          </a:p>
        </p:txBody>
      </p:sp>
      <p:sp>
        <p:nvSpPr>
          <p:cNvPr id="30" name="TextBox 29"/>
          <p:cNvSpPr txBox="1"/>
          <p:nvPr/>
        </p:nvSpPr>
        <p:spPr>
          <a:xfrm>
            <a:off x="1266825" y="3781425"/>
            <a:ext cx="4533900" cy="34290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VISYO Corporation · NaturVet · Zesty Paws · Ark Naturals</a:t>
            </a:r>
          </a:p>
        </p:txBody>
      </p:sp>
      <p:sp>
        <p:nvSpPr>
          <p:cNvPr id="31" name="TextBox 30"/>
          <p:cNvSpPr txBox="1"/>
          <p:nvPr/>
        </p:nvSpPr>
        <p:spPr>
          <a:xfrm>
            <a:off x="257175" y="4171950"/>
            <a:ext cx="990600" cy="209550"/>
          </a:xfrm>
          <a:prstGeom prst="rect">
            <a:avLst/>
          </a:prstGeom>
          <a:noFill/>
        </p:spPr>
        <p:txBody>
          <a:bodyPr wrap="square" lIns="28575" tIns="9525" rIns="2857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62075" y="4181475"/>
            <a:ext cx="666750" cy="209550"/>
          </a:xfrm>
          <a:prstGeom prst="rect">
            <a:avLst/>
          </a:prstGeom>
          <a:noFill/>
        </p:spPr>
        <p:txBody>
          <a:bodyPr wrap="square" lIns="28575" tIns="9525" rIns="2857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tIns="9525" rIns="28575" bIns="9525" anchor="ctr">
            <a:spAutoFit/>
          </a:bodyPr>
          <a:lstStyle/>
          <a:p>
            <a:pPr algn="l"/>
            <a:endParaRPr/>
          </a:p>
        </p:txBody>
      </p:sp>
      <p:sp>
        <p:nvSpPr>
          <p:cNvPr id="36" name="TextBox 35"/>
          <p:cNvSpPr txBox="1"/>
          <p:nvPr/>
        </p:nvSpPr>
        <p:spPr>
          <a:xfrm>
            <a:off x="1266825" y="4638675"/>
            <a:ext cx="4533900" cy="34290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38125" y="5219700"/>
            <a:ext cx="5619750" cy="209550"/>
          </a:xfrm>
          <a:prstGeom prst="rect">
            <a:avLst/>
          </a:prstGeom>
          <a:noFill/>
        </p:spPr>
        <p:txBody>
          <a:bodyPr wrap="square" lIns="28575" tIns="9525" rIns="2857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6225" y="5505450"/>
            <a:ext cx="1847850" cy="247650"/>
          </a:xfrm>
          <a:prstGeom prst="rect">
            <a:avLst/>
          </a:prstGeom>
          <a:noFill/>
        </p:spPr>
        <p:txBody>
          <a:bodyPr wrap="square" lIns="28575" tIns="9525" rIns="2857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124075" y="5505450"/>
            <a:ext cx="1847850" cy="247650"/>
          </a:xfrm>
          <a:prstGeom prst="rect">
            <a:avLst/>
          </a:prstGeom>
          <a:noFill/>
        </p:spPr>
        <p:txBody>
          <a:bodyPr wrap="square" lIns="28575" tIns="9525" rIns="2857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971925" y="5505450"/>
            <a:ext cx="1847850" cy="247650"/>
          </a:xfrm>
          <a:prstGeom prst="rect">
            <a:avLst/>
          </a:prstGeom>
          <a:noFill/>
        </p:spPr>
        <p:txBody>
          <a:bodyPr wrap="square" lIns="28575" tIns="9525" rIns="2857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669665" y="5762625"/>
            <a:ext cx="1714500" cy="247650"/>
          </a:xfrm>
          <a:prstGeom prst="rect">
            <a:avLst/>
          </a:prstGeom>
          <a:noFill/>
        </p:spPr>
        <p:txBody>
          <a:bodyPr wrap="square" lIns="28575" tIns="9525" rIns="28575" bIns="9525" anchor="ctr">
            <a:spAutoFit/>
          </a:bodyPr>
          <a:lstStyle/>
          <a:p>
            <a:pPr algn="ctr"/>
            <a:endParaRPr/>
          </a:p>
        </p:txBody>
      </p:sp>
      <p:sp>
        <p:nvSpPr>
          <p:cNvPr id="46" name="TextBox 45"/>
          <p:cNvSpPr txBox="1"/>
          <p:nvPr/>
        </p:nvSpPr>
        <p:spPr>
          <a:xfrm>
            <a:off x="238125" y="5981700"/>
            <a:ext cx="5619750" cy="419100"/>
          </a:xfrm>
          <a:prstGeom prst="rect">
            <a:avLst/>
          </a:prstGeom>
          <a:noFill/>
        </p:spPr>
        <p:txBody>
          <a:bodyPr wrap="square" lIns="28575" tIns="9525" rIns="28575" bIns="9525" anchor="ctr">
            <a:spAutoFit/>
          </a:bodyPr>
          <a:lstStyle/>
          <a:p>
            <a:pPr algn="ctr"/>
            <a:endParaRP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191250" y="1104900"/>
            <a:ext cx="5762625" cy="209550"/>
          </a:xfrm>
          <a:prstGeom prst="rect">
            <a:avLst/>
          </a:prstGeom>
          <a:noFill/>
        </p:spPr>
        <p:txBody>
          <a:bodyPr wrap="square" lIns="28575" tIns="9525" rIns="2857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tIns="9525" rIns="2857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48400" y="1562100"/>
            <a:ext cx="1543050" cy="247650"/>
          </a:xfrm>
          <a:prstGeom prst="rect">
            <a:avLst/>
          </a:prstGeom>
          <a:noFill/>
        </p:spPr>
        <p:txBody>
          <a:bodyPr wrap="square" lIns="28575" tIns="9525" rIns="2857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810500" y="1562100"/>
            <a:ext cx="828675" cy="247650"/>
          </a:xfrm>
          <a:prstGeom prst="rect">
            <a:avLst/>
          </a:prstGeom>
          <a:noFill/>
        </p:spPr>
        <p:txBody>
          <a:bodyPr wrap="square" lIns="28575" tIns="9525" rIns="2857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639175" y="1562100"/>
            <a:ext cx="828675" cy="247650"/>
          </a:xfrm>
          <a:prstGeom prst="rect">
            <a:avLst/>
          </a:prstGeom>
          <a:noFill/>
        </p:spPr>
        <p:txBody>
          <a:bodyPr wrap="square" lIns="28575" tIns="9525" rIns="2857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467850" y="1562100"/>
            <a:ext cx="828675" cy="247650"/>
          </a:xfrm>
          <a:prstGeom prst="rect">
            <a:avLst/>
          </a:prstGeom>
          <a:noFill/>
        </p:spPr>
        <p:txBody>
          <a:bodyPr wrap="square" lIns="28575" tIns="9525" rIns="2857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96525" y="1562100"/>
            <a:ext cx="828675" cy="247650"/>
          </a:xfrm>
          <a:prstGeom prst="rect">
            <a:avLst/>
          </a:prstGeom>
          <a:noFill/>
        </p:spPr>
        <p:txBody>
          <a:bodyPr wrap="square" lIns="28575" tIns="9525" rIns="2857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1125200" y="1562100"/>
            <a:ext cx="828675" cy="247650"/>
          </a:xfrm>
          <a:prstGeom prst="rect">
            <a:avLst/>
          </a:prstGeom>
          <a:noFill/>
        </p:spPr>
        <p:txBody>
          <a:bodyPr wrap="square" lIns="28575" tIns="9525" rIns="2857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248400" y="1809750"/>
            <a:ext cx="1543050" cy="22860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829550" y="18097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658225" y="18097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486900" y="18097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4</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0315575" y="18097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1144250" y="1809750"/>
            <a:ext cx="790575" cy="228600"/>
          </a:xfrm>
          <a:prstGeom prst="rect">
            <a:avLst/>
          </a:prstGeom>
          <a:noFill/>
        </p:spPr>
        <p:txBody>
          <a:bodyPr wrap="square" lIns="28575" tIns="9525" rIns="2857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248400" y="2038350"/>
            <a:ext cx="1543050" cy="22860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829550" y="20383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658225" y="20383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9486900" y="20383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0315575" y="20383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1144250" y="2038350"/>
            <a:ext cx="790575" cy="228600"/>
          </a:xfrm>
          <a:prstGeom prst="rect">
            <a:avLst/>
          </a:prstGeom>
          <a:noFill/>
        </p:spPr>
        <p:txBody>
          <a:bodyPr wrap="square" lIns="28575" tIns="9525" rIns="28575" bIns="9525" anchor="ctr">
            <a:spAutoFit/>
          </a:bodyPr>
          <a:lstStyle/>
          <a:p>
            <a:pPr algn="ctr"/>
            <a:r>
              <a:rPr sz="1100" b="1">
                <a:solidFill>
                  <a:srgbClr val="14213D"/>
                </a:solidFill>
                <a:latin typeface="Calibri"/>
              </a:rPr>
              <a:t> </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48400" y="2266950"/>
            <a:ext cx="1543050" cy="22860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076248" y="2266950"/>
            <a:ext cx="29718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904922" y="2266950"/>
            <a:ext cx="29718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9733598" y="2266950"/>
            <a:ext cx="29718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10562272" y="2266950"/>
            <a:ext cx="29718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11144250" y="2266950"/>
            <a:ext cx="790575" cy="228600"/>
          </a:xfrm>
          <a:prstGeom prst="rect">
            <a:avLst/>
          </a:prstGeom>
          <a:noFill/>
        </p:spPr>
        <p:txBody>
          <a:bodyPr wrap="square" lIns="28575" tIns="9525" rIns="2857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6248400" y="2495550"/>
            <a:ext cx="1543050" cy="22860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8076248" y="2495550"/>
            <a:ext cx="29718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904922" y="2495550"/>
            <a:ext cx="29718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9733598" y="2495550"/>
            <a:ext cx="29718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10562272" y="2495550"/>
            <a:ext cx="29718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11144250" y="2495550"/>
            <a:ext cx="790575" cy="228600"/>
          </a:xfrm>
          <a:prstGeom prst="rect">
            <a:avLst/>
          </a:prstGeom>
          <a:noFill/>
        </p:spPr>
        <p:txBody>
          <a:bodyPr wrap="square" lIns="28575" tIns="9525" rIns="2857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6248400" y="2724150"/>
            <a:ext cx="1543050" cy="22860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7975282" y="2724150"/>
            <a:ext cx="133350" cy="228600"/>
          </a:xfrm>
          <a:prstGeom prst="rect">
            <a:avLst/>
          </a:prstGeom>
          <a:noFill/>
        </p:spPr>
        <p:txBody>
          <a:bodyPr wrap="none" lIns="0" tIns="0" r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8803958" y="2724150"/>
            <a:ext cx="133350" cy="228600"/>
          </a:xfrm>
          <a:prstGeom prst="rect">
            <a:avLst/>
          </a:prstGeom>
          <a:noFill/>
        </p:spPr>
        <p:txBody>
          <a:bodyPr wrap="none" lIns="0" tIns="0" r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9632632" y="2724150"/>
            <a:ext cx="133350" cy="228600"/>
          </a:xfrm>
          <a:prstGeom prst="rect">
            <a:avLst/>
          </a:prstGeom>
          <a:noFill/>
        </p:spPr>
        <p:txBody>
          <a:bodyPr wrap="none" lIns="0" tIns="0" r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0461308" y="2724150"/>
            <a:ext cx="133350" cy="228600"/>
          </a:xfrm>
          <a:prstGeom prst="rect">
            <a:avLst/>
          </a:prstGeom>
          <a:noFill/>
        </p:spPr>
        <p:txBody>
          <a:bodyPr wrap="none" lIns="0" tIns="0" r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1144250" y="2724150"/>
            <a:ext cx="790575" cy="228600"/>
          </a:xfrm>
          <a:prstGeom prst="rect">
            <a:avLst/>
          </a:prstGeom>
          <a:noFill/>
        </p:spPr>
        <p:txBody>
          <a:bodyPr wrap="square" lIns="28575" tIns="9525" rIns="2857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6248400" y="2952750"/>
            <a:ext cx="1543050" cy="22860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8108632" y="2952750"/>
            <a:ext cx="23241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8937308" y="2952750"/>
            <a:ext cx="23241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9765982" y="2952750"/>
            <a:ext cx="23241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10594658" y="2952750"/>
            <a:ext cx="232410" cy="22860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11423332" y="2952750"/>
            <a:ext cx="232410" cy="228600"/>
          </a:xfrm>
          <a:prstGeom prst="rect">
            <a:avLst/>
          </a:prstGeom>
          <a:noFill/>
        </p:spPr>
        <p:txBody>
          <a:bodyPr wrap="none" lIns="0" tIns="0" r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tIns="0" r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6248400" y="3181350"/>
            <a:ext cx="1543050" cy="22860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7829550" y="31813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8658225" y="31813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9486900" y="31813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10315575" y="3181350"/>
            <a:ext cx="790575" cy="228600"/>
          </a:xfrm>
          <a:prstGeom prst="rect">
            <a:avLst/>
          </a:prstGeom>
          <a:noFill/>
        </p:spPr>
        <p:txBody>
          <a:bodyPr wrap="square" lIns="28575" tIns="9525" rIns="2857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11144250" y="3181350"/>
            <a:ext cx="790575" cy="228600"/>
          </a:xfrm>
          <a:prstGeom prst="rect">
            <a:avLst/>
          </a:prstGeom>
          <a:noFill/>
        </p:spPr>
        <p:txBody>
          <a:bodyPr wrap="square" lIns="28575" tIns="9525" rIns="2857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6248400" y="3409950"/>
            <a:ext cx="1543050" cy="32385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8076248" y="3409950"/>
            <a:ext cx="297180" cy="32385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8904922" y="3409950"/>
            <a:ext cx="297180" cy="32385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9733598" y="3409950"/>
            <a:ext cx="297180" cy="32385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174"/>
          <p:cNvSpPr txBox="1"/>
          <p:nvPr/>
        </p:nvSpPr>
        <p:spPr>
          <a:xfrm>
            <a:off x="10562272" y="3409950"/>
            <a:ext cx="297180" cy="323850"/>
          </a:xfrm>
          <a:prstGeom prst="rect">
            <a:avLst/>
          </a:prstGeom>
          <a:noFill/>
        </p:spPr>
        <p:txBody>
          <a:bodyPr wrap="none" lIns="0" tIns="0" r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tIns="0" r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11144250" y="3409950"/>
            <a:ext cx="790575" cy="323850"/>
          </a:xfrm>
          <a:prstGeom prst="rect">
            <a:avLst/>
          </a:prstGeom>
          <a:noFill/>
        </p:spPr>
        <p:txBody>
          <a:bodyPr wrap="square" lIns="28575" tIns="9525" rIns="2857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6248400" y="3733800"/>
            <a:ext cx="1543050" cy="32385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7829550" y="373380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8658225" y="373380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9486900" y="373380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10315575" y="373380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11144250" y="3733800"/>
            <a:ext cx="790575" cy="323850"/>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6248400" y="4057650"/>
            <a:ext cx="1543050" cy="32385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7829550" y="405765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8658225" y="405765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9486900" y="405765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10315575" y="405765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11144250" y="4057650"/>
            <a:ext cx="790575" cy="323850"/>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6248400" y="4381500"/>
            <a:ext cx="1543050" cy="32385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7829550" y="438150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8658225" y="438150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9486900" y="438150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10315575" y="4381500"/>
            <a:ext cx="790575" cy="323850"/>
          </a:xfrm>
          <a:prstGeom prst="rect">
            <a:avLst/>
          </a:prstGeom>
          <a:noFill/>
        </p:spPr>
        <p:txBody>
          <a:bodyPr wrap="square" lIns="28575" tIns="9525" rIns="2857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11144250" y="4381500"/>
            <a:ext cx="790575" cy="323850"/>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6248400" y="4705350"/>
            <a:ext cx="1543050" cy="323850"/>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p:cNvSpPr txBox="1"/>
          <p:nvPr/>
        </p:nvSpPr>
        <p:spPr>
          <a:xfrm>
            <a:off x="7829550" y="4705350"/>
            <a:ext cx="790575" cy="323850"/>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8658225" y="4705350"/>
            <a:ext cx="790575" cy="323850"/>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9486900" y="4705350"/>
            <a:ext cx="790575" cy="323850"/>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10315575" y="4705350"/>
            <a:ext cx="790575" cy="323850"/>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p:cNvSpPr txBox="1"/>
          <p:nvPr/>
        </p:nvSpPr>
        <p:spPr>
          <a:xfrm>
            <a:off x="11144250" y="4705350"/>
            <a:ext cx="790575" cy="323850"/>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6191250" y="5219700"/>
            <a:ext cx="5762625" cy="209550"/>
          </a:xfrm>
          <a:prstGeom prst="rect">
            <a:avLst/>
          </a:prstGeom>
          <a:noFill/>
        </p:spPr>
        <p:txBody>
          <a:bodyPr wrap="square" lIns="28575" tIns="9525" rIns="2857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tIns="0" r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tIns="9525" rIns="28575" bIns="9525" anchor="t">
            <a:spAutoFit/>
          </a:bodyPr>
          <a:lstStyle/>
          <a:p>
            <a:pPr algn="l">
              <a:lnSpc>
                <a:spcPct val="115000"/>
              </a:lnSpc>
            </a:pPr>
            <a:endParaRPr/>
          </a:p>
        </p:txBody>
      </p:sp>
      <p:sp>
        <p:nvSpPr>
          <p:cNvPr id="231" name="TextBox 230"/>
          <p:cNvSpPr txBox="1"/>
          <p:nvPr/>
        </p:nvSpPr>
        <p:spPr>
          <a:xfrm>
            <a:off x="6210300" y="5848350"/>
            <a:ext cx="114300" cy="161925"/>
          </a:xfrm>
          <a:prstGeom prst="rect">
            <a:avLst/>
          </a:prstGeom>
          <a:noFill/>
        </p:spPr>
        <p:txBody>
          <a:bodyPr wrap="none" lIns="0" tIns="0" r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tIns="9525" rIns="28575" bIns="9525" anchor="t">
            <a:spAutoFit/>
          </a:bodyPr>
          <a:lstStyle/>
          <a:p>
            <a:pPr algn="l">
              <a:lnSpc>
                <a:spcPct val="115000"/>
              </a:lnSpc>
            </a:pPr>
            <a:endParaRPr/>
          </a:p>
        </p:txBody>
      </p:sp>
      <p:sp>
        <p:nvSpPr>
          <p:cNvPr id="233" name="TextBox 232"/>
          <p:cNvSpPr txBox="1"/>
          <p:nvPr/>
        </p:nvSpPr>
        <p:spPr>
          <a:xfrm>
            <a:off x="6210300" y="6067425"/>
            <a:ext cx="114300" cy="161925"/>
          </a:xfrm>
          <a:prstGeom prst="rect">
            <a:avLst/>
          </a:prstGeom>
          <a:noFill/>
        </p:spPr>
        <p:txBody>
          <a:bodyPr wrap="none" lIns="0" tIns="0" r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tIns="9525" rIns="28575" bIns="9525" anchor="t">
            <a:spAutoFit/>
          </a:bodyPr>
          <a:lstStyle/>
          <a:p>
            <a:pPr algn="l">
              <a:lnSpc>
                <a:spcPct val="115000"/>
              </a:lnSpc>
            </a:pPr>
            <a:endParaRPr/>
          </a:p>
        </p:txBody>
      </p:sp>
      <p:sp>
        <p:nvSpPr>
          <p:cNvPr id="235" name="TextBox 234"/>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11475188" y="20590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16048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98916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9817838"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10646512" y="22876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16048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98916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9817838"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10646512" y="25162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16048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98916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9817837"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10646513" y="27448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16048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898916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981783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0646513"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11475187" y="29734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3"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202051"/>
            <a:ext cx="128699" cy="187198"/>
          </a:xfrm>
          <a:prstGeom prst="rect">
            <a:avLst/>
          </a:prstGeom>
        </p:spPr>
      </p:pic>
      <p:pic>
        <p:nvPicPr>
          <p:cNvPr id="266" name="Picture 265" descr="lock.png"/>
          <p:cNvPicPr>
            <a:picLocks noChangeAspect="1"/>
          </p:cNvPicPr>
          <p:nvPr/>
        </p:nvPicPr>
        <p:blipFill>
          <a:blip r:embed="rId4"/>
          <a:stretch>
            <a:fillRect/>
          </a:stretch>
        </p:blipFill>
        <p:spPr>
          <a:xfrm>
            <a:off x="816048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8989162"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9817838" y="3478276"/>
            <a:ext cx="128699" cy="187198"/>
          </a:xfrm>
          <a:prstGeom prst="rect">
            <a:avLst/>
          </a:prstGeom>
        </p:spPr>
      </p:pic>
      <p:pic>
        <p:nvPicPr>
          <p:cNvPr id="269" name="Picture 268" descr="lock.png"/>
          <p:cNvPicPr>
            <a:picLocks noChangeAspect="1"/>
          </p:cNvPicPr>
          <p:nvPr/>
        </p:nvPicPr>
        <p:blipFill>
          <a:blip r:embed="rId4"/>
          <a:stretch>
            <a:fillRect/>
          </a:stretch>
        </p:blipFill>
        <p:spPr>
          <a:xfrm>
            <a:off x="10646512" y="3478276"/>
            <a:ext cx="128699" cy="187198"/>
          </a:xfrm>
          <a:prstGeom prst="rect">
            <a:avLst/>
          </a:prstGeom>
        </p:spPr>
      </p:pic>
      <p:sp>
        <p:nvSpPr>
          <p:cNvPr id="270" name="TextBox 269"/>
          <p:cNvSpPr txBox="1"/>
          <p:nvPr/>
        </p:nvSpPr>
        <p:spPr>
          <a:xfrm>
            <a:off x="266700" y="1344930"/>
            <a:ext cx="491480" cy="186689"/>
          </a:xfrm>
          <a:prstGeom prst="rect">
            <a:avLst/>
          </a:prstGeom>
          <a:noFill/>
        </p:spPr>
        <p:txBody>
          <a:bodyPr wrap="none" lIns="0" tIns="0" rIns="0" bIns="0">
            <a:spAutoFit/>
          </a:bodyPr>
          <a:lstStyle/>
          <a:p>
            <a:r>
              <a:rPr sz="1100" b="0">
                <a:solidFill>
                  <a:srgbClr val="6B7280"/>
                </a:solidFill>
                <a:latin typeface="Calibri"/>
              </a:rPr>
              <a:t>Market</a:t>
            </a:r>
          </a:p>
        </p:txBody>
      </p:sp>
      <p:pic>
        <p:nvPicPr>
          <p:cNvPr id="271" name="Picture 270" descr="lock.png"/>
          <p:cNvPicPr>
            <a:picLocks noChangeAspect="1"/>
          </p:cNvPicPr>
          <p:nvPr/>
        </p:nvPicPr>
        <p:blipFill>
          <a:blip r:embed="rId4"/>
          <a:stretch>
            <a:fillRect/>
          </a:stretch>
        </p:blipFill>
        <p:spPr>
          <a:xfrm>
            <a:off x="706231" y="1335151"/>
            <a:ext cx="128699" cy="187198"/>
          </a:xfrm>
          <a:prstGeom prst="rect">
            <a:avLst/>
          </a:prstGeom>
        </p:spPr>
      </p:pic>
      <p:sp>
        <p:nvSpPr>
          <p:cNvPr id="272" name="TextBox 271"/>
          <p:cNvSpPr txBox="1"/>
          <p:nvPr/>
        </p:nvSpPr>
        <p:spPr>
          <a:xfrm>
            <a:off x="873727" y="1344930"/>
            <a:ext cx="1290389" cy="186689"/>
          </a:xfrm>
          <a:prstGeom prst="rect">
            <a:avLst/>
          </a:prstGeom>
          <a:noFill/>
        </p:spPr>
        <p:txBody>
          <a:bodyPr wrap="none" lIns="0" tIns="0" rIns="0" bIns="0">
            <a:spAutoFit/>
          </a:bodyPr>
          <a:lstStyle/>
          <a:p>
            <a:r>
              <a:rPr sz="1100" b="0">
                <a:solidFill>
                  <a:srgbClr val="6B7280"/>
                </a:solidFill>
                <a:latin typeface="Calibri"/>
              </a:rPr>
              <a:t>US$ Mn · Tier 1 share</a:t>
            </a:r>
          </a:p>
        </p:txBody>
      </p:sp>
      <p:pic>
        <p:nvPicPr>
          <p:cNvPr id="273" name="Picture 272" descr="lock.png"/>
          <p:cNvPicPr>
            <a:picLocks noChangeAspect="1"/>
          </p:cNvPicPr>
          <p:nvPr/>
        </p:nvPicPr>
        <p:blipFill>
          <a:blip r:embed="rId4"/>
          <a:stretch>
            <a:fillRect/>
          </a:stretch>
        </p:blipFill>
        <p:spPr>
          <a:xfrm>
            <a:off x="2112168" y="1335151"/>
            <a:ext cx="128699" cy="187198"/>
          </a:xfrm>
          <a:prstGeom prst="rect">
            <a:avLst/>
          </a:prstGeom>
        </p:spPr>
      </p:pic>
      <p:sp>
        <p:nvSpPr>
          <p:cNvPr id="274" name="TextBox 273"/>
          <p:cNvSpPr txBox="1"/>
          <p:nvPr/>
        </p:nvSpPr>
        <p:spPr>
          <a:xfrm>
            <a:off x="2279664" y="1344930"/>
            <a:ext cx="202803" cy="186689"/>
          </a:xfrm>
          <a:prstGeom prst="rect">
            <a:avLst/>
          </a:prstGeom>
          <a:noFill/>
        </p:spPr>
        <p:txBody>
          <a:bodyPr wrap="none" lIns="0" tIns="0" rIns="0" bIns="0">
            <a:spAutoFit/>
          </a:bodyPr>
          <a:lstStyle/>
          <a:p>
            <a:r>
              <a:rPr sz="1100" b="0">
                <a:solidFill>
                  <a:srgbClr val="6B7280"/>
                </a:solidFill>
                <a:latin typeface="Calibri"/>
              </a:rPr>
              <a:t>→</a:t>
            </a:r>
          </a:p>
        </p:txBody>
      </p:sp>
      <p:pic>
        <p:nvPicPr>
          <p:cNvPr id="275" name="Picture 274" descr="lock.png"/>
          <p:cNvPicPr>
            <a:picLocks noChangeAspect="1"/>
          </p:cNvPicPr>
          <p:nvPr/>
        </p:nvPicPr>
        <p:blipFill>
          <a:blip r:embed="rId4"/>
          <a:stretch>
            <a:fillRect/>
          </a:stretch>
        </p:blipFill>
        <p:spPr>
          <a:xfrm>
            <a:off x="2430519" y="1335151"/>
            <a:ext cx="128699" cy="187198"/>
          </a:xfrm>
          <a:prstGeom prst="rect">
            <a:avLst/>
          </a:prstGeom>
        </p:spPr>
      </p:pic>
      <p:sp>
        <p:nvSpPr>
          <p:cNvPr id="276" name="TextBox 275"/>
          <p:cNvSpPr txBox="1"/>
          <p:nvPr/>
        </p:nvSpPr>
        <p:spPr>
          <a:xfrm>
            <a:off x="2598014" y="1344930"/>
            <a:ext cx="528315" cy="186689"/>
          </a:xfrm>
          <a:prstGeom prst="rect">
            <a:avLst/>
          </a:prstGeom>
          <a:noFill/>
        </p:spPr>
        <p:txBody>
          <a:bodyPr wrap="none" lIns="0" tIns="0" rIns="0" bIns="0">
            <a:spAutoFit/>
          </a:bodyPr>
          <a:lstStyle/>
          <a:p>
            <a:r>
              <a:rPr sz="1100" b="0">
                <a:solidFill>
                  <a:srgbClr val="6B7280"/>
                </a:solidFill>
                <a:latin typeface="Calibri"/>
              </a:rPr>
              <a:t>by 2036</a:t>
            </a:r>
          </a:p>
        </p:txBody>
      </p:sp>
      <p:pic>
        <p:nvPicPr>
          <p:cNvPr id="277" name="Picture 276" descr="lock.png"/>
          <p:cNvPicPr>
            <a:picLocks noChangeAspect="1"/>
          </p:cNvPicPr>
          <p:nvPr/>
        </p:nvPicPr>
        <p:blipFill>
          <a:blip r:embed="rId4"/>
          <a:stretch>
            <a:fillRect/>
          </a:stretch>
        </p:blipFill>
        <p:spPr>
          <a:xfrm>
            <a:off x="1377182" y="1839976"/>
            <a:ext cx="128699" cy="187198"/>
          </a:xfrm>
          <a:prstGeom prst="rect">
            <a:avLst/>
          </a:prstGeom>
        </p:spPr>
      </p:pic>
      <p:sp>
        <p:nvSpPr>
          <p:cNvPr id="278" name="TextBox 277"/>
          <p:cNvSpPr txBox="1"/>
          <p:nvPr/>
        </p:nvSpPr>
        <p:spPr>
          <a:xfrm>
            <a:off x="1544678" y="1849755"/>
            <a:ext cx="1429543" cy="186689"/>
          </a:xfrm>
          <a:prstGeom prst="rect">
            <a:avLst/>
          </a:prstGeom>
          <a:noFill/>
        </p:spPr>
        <p:txBody>
          <a:bodyPr wrap="none" lIns="0" tIns="0" rIns="0" bIns="0">
            <a:spAutoFit/>
          </a:bodyPr>
          <a:lstStyle/>
          <a:p>
            <a:r>
              <a:rPr sz="1100" b="0">
                <a:solidFill>
                  <a:srgbClr val="FFFFFF"/>
                </a:solidFill>
                <a:latin typeface="Calibri"/>
              </a:rPr>
              <a:t>US$ Mn · 4 players · avg</a:t>
            </a:r>
          </a:p>
        </p:txBody>
      </p:sp>
      <p:pic>
        <p:nvPicPr>
          <p:cNvPr id="279" name="Picture 278" descr="lock.png"/>
          <p:cNvPicPr>
            <a:picLocks noChangeAspect="1"/>
          </p:cNvPicPr>
          <p:nvPr/>
        </p:nvPicPr>
        <p:blipFill>
          <a:blip r:embed="rId4"/>
          <a:stretch>
            <a:fillRect/>
          </a:stretch>
        </p:blipFill>
        <p:spPr>
          <a:xfrm>
            <a:off x="2922273" y="1839976"/>
            <a:ext cx="128699" cy="187198"/>
          </a:xfrm>
          <a:prstGeom prst="rect">
            <a:avLst/>
          </a:prstGeom>
        </p:spPr>
      </p:pic>
      <p:sp>
        <p:nvSpPr>
          <p:cNvPr id="280" name="TextBox 279"/>
          <p:cNvSpPr txBox="1"/>
          <p:nvPr/>
        </p:nvSpPr>
        <p:spPr>
          <a:xfrm>
            <a:off x="3089769" y="1849755"/>
            <a:ext cx="997074" cy="186689"/>
          </a:xfrm>
          <a:prstGeom prst="rect">
            <a:avLst/>
          </a:prstGeom>
          <a:noFill/>
        </p:spPr>
        <p:txBody>
          <a:bodyPr wrap="none" lIns="0" tIns="0" rIns="0" bIns="0">
            <a:spAutoFit/>
          </a:bodyPr>
          <a:lstStyle/>
          <a:p>
            <a:r>
              <a:rPr sz="1100" b="0">
                <a:solidFill>
                  <a:srgbClr val="FFFFFF"/>
                </a:solidFill>
                <a:latin typeface="Calibri"/>
              </a:rPr>
              <a:t>US$ Mn / player</a:t>
            </a:r>
          </a:p>
        </p:txBody>
      </p:sp>
      <p:pic>
        <p:nvPicPr>
          <p:cNvPr id="281" name="Picture 280" descr="lock.png"/>
          <p:cNvPicPr>
            <a:picLocks noChangeAspect="1"/>
          </p:cNvPicPr>
          <p:nvPr/>
        </p:nvPicPr>
        <p:blipFill>
          <a:blip r:embed="rId4"/>
          <a:stretch>
            <a:fillRect/>
          </a:stretch>
        </p:blipFill>
        <p:spPr>
          <a:xfrm>
            <a:off x="1377182" y="2697226"/>
            <a:ext cx="128699" cy="187198"/>
          </a:xfrm>
          <a:prstGeom prst="rect">
            <a:avLst/>
          </a:prstGeom>
        </p:spPr>
      </p:pic>
      <p:sp>
        <p:nvSpPr>
          <p:cNvPr id="282" name="TextBox 281"/>
          <p:cNvSpPr txBox="1"/>
          <p:nvPr/>
        </p:nvSpPr>
        <p:spPr>
          <a:xfrm>
            <a:off x="1544678" y="2707005"/>
            <a:ext cx="1429543" cy="186689"/>
          </a:xfrm>
          <a:prstGeom prst="rect">
            <a:avLst/>
          </a:prstGeom>
          <a:noFill/>
        </p:spPr>
        <p:txBody>
          <a:bodyPr wrap="none" lIns="0" tIns="0" rIns="0" bIns="0">
            <a:spAutoFit/>
          </a:bodyPr>
          <a:lstStyle/>
          <a:p>
            <a:r>
              <a:rPr sz="1100" b="0">
                <a:solidFill>
                  <a:srgbClr val="FFFFFF"/>
                </a:solidFill>
                <a:latin typeface="Calibri"/>
              </a:rPr>
              <a:t>US$ Mn · 2 players · avg</a:t>
            </a:r>
          </a:p>
        </p:txBody>
      </p:sp>
      <p:pic>
        <p:nvPicPr>
          <p:cNvPr id="283" name="Picture 282" descr="lock.png"/>
          <p:cNvPicPr>
            <a:picLocks noChangeAspect="1"/>
          </p:cNvPicPr>
          <p:nvPr/>
        </p:nvPicPr>
        <p:blipFill>
          <a:blip r:embed="rId4"/>
          <a:stretch>
            <a:fillRect/>
          </a:stretch>
        </p:blipFill>
        <p:spPr>
          <a:xfrm>
            <a:off x="2922273" y="2697226"/>
            <a:ext cx="128699" cy="187198"/>
          </a:xfrm>
          <a:prstGeom prst="rect">
            <a:avLst/>
          </a:prstGeom>
        </p:spPr>
      </p:pic>
      <p:sp>
        <p:nvSpPr>
          <p:cNvPr id="284" name="TextBox 283"/>
          <p:cNvSpPr txBox="1"/>
          <p:nvPr/>
        </p:nvSpPr>
        <p:spPr>
          <a:xfrm>
            <a:off x="3089769" y="2707005"/>
            <a:ext cx="997074" cy="186689"/>
          </a:xfrm>
          <a:prstGeom prst="rect">
            <a:avLst/>
          </a:prstGeom>
          <a:noFill/>
        </p:spPr>
        <p:txBody>
          <a:bodyPr wrap="none" lIns="0" tIns="0" rIns="0" bIns="0">
            <a:spAutoFit/>
          </a:bodyPr>
          <a:lstStyle/>
          <a:p>
            <a:r>
              <a:rPr sz="1100" b="0">
                <a:solidFill>
                  <a:srgbClr val="FFFFFF"/>
                </a:solidFill>
                <a:latin typeface="Calibri"/>
              </a:rPr>
              <a:t>US$ Mn / player</a:t>
            </a:r>
          </a:p>
        </p:txBody>
      </p:sp>
      <p:pic>
        <p:nvPicPr>
          <p:cNvPr id="285" name="Picture 284" descr="lock.png"/>
          <p:cNvPicPr>
            <a:picLocks noChangeAspect="1"/>
          </p:cNvPicPr>
          <p:nvPr/>
        </p:nvPicPr>
        <p:blipFill>
          <a:blip r:embed="rId4"/>
          <a:stretch>
            <a:fillRect/>
          </a:stretch>
        </p:blipFill>
        <p:spPr>
          <a:xfrm>
            <a:off x="1377182" y="3554476"/>
            <a:ext cx="128699" cy="187198"/>
          </a:xfrm>
          <a:prstGeom prst="rect">
            <a:avLst/>
          </a:prstGeom>
        </p:spPr>
      </p:pic>
      <p:sp>
        <p:nvSpPr>
          <p:cNvPr id="286" name="TextBox 285"/>
          <p:cNvSpPr txBox="1"/>
          <p:nvPr/>
        </p:nvSpPr>
        <p:spPr>
          <a:xfrm>
            <a:off x="1544678" y="3564255"/>
            <a:ext cx="1429543" cy="186689"/>
          </a:xfrm>
          <a:prstGeom prst="rect">
            <a:avLst/>
          </a:prstGeom>
          <a:noFill/>
        </p:spPr>
        <p:txBody>
          <a:bodyPr wrap="none" lIns="0" tIns="0" rIns="0" bIns="0">
            <a:spAutoFit/>
          </a:bodyPr>
          <a:lstStyle/>
          <a:p>
            <a:r>
              <a:rPr sz="1100" b="0">
                <a:solidFill>
                  <a:srgbClr val="FFFFFF"/>
                </a:solidFill>
                <a:latin typeface="Calibri"/>
              </a:rPr>
              <a:t>US$ Mn · 4 players · avg</a:t>
            </a:r>
          </a:p>
        </p:txBody>
      </p:sp>
      <p:pic>
        <p:nvPicPr>
          <p:cNvPr id="287" name="Picture 286" descr="lock.png"/>
          <p:cNvPicPr>
            <a:picLocks noChangeAspect="1"/>
          </p:cNvPicPr>
          <p:nvPr/>
        </p:nvPicPr>
        <p:blipFill>
          <a:blip r:embed="rId4"/>
          <a:stretch>
            <a:fillRect/>
          </a:stretch>
        </p:blipFill>
        <p:spPr>
          <a:xfrm>
            <a:off x="2922273" y="3554476"/>
            <a:ext cx="128699" cy="187198"/>
          </a:xfrm>
          <a:prstGeom prst="rect">
            <a:avLst/>
          </a:prstGeom>
        </p:spPr>
      </p:pic>
      <p:sp>
        <p:nvSpPr>
          <p:cNvPr id="288" name="TextBox 287"/>
          <p:cNvSpPr txBox="1"/>
          <p:nvPr/>
        </p:nvSpPr>
        <p:spPr>
          <a:xfrm>
            <a:off x="3089769" y="3564255"/>
            <a:ext cx="997074" cy="186689"/>
          </a:xfrm>
          <a:prstGeom prst="rect">
            <a:avLst/>
          </a:prstGeom>
          <a:noFill/>
        </p:spPr>
        <p:txBody>
          <a:bodyPr wrap="none" lIns="0" tIns="0" rIns="0" bIns="0">
            <a:spAutoFit/>
          </a:bodyPr>
          <a:lstStyle/>
          <a:p>
            <a:r>
              <a:rPr sz="1100" b="0">
                <a:solidFill>
                  <a:srgbClr val="FFFFFF"/>
                </a:solidFill>
                <a:latin typeface="Calibri"/>
              </a:rPr>
              <a:t>US$ Mn / player</a:t>
            </a:r>
          </a:p>
        </p:txBody>
      </p:sp>
      <p:pic>
        <p:nvPicPr>
          <p:cNvPr id="289" name="Picture 288" descr="lock.png"/>
          <p:cNvPicPr>
            <a:picLocks noChangeAspect="1"/>
          </p:cNvPicPr>
          <p:nvPr/>
        </p:nvPicPr>
        <p:blipFill>
          <a:blip r:embed="rId4"/>
          <a:stretch>
            <a:fillRect/>
          </a:stretch>
        </p:blipFill>
        <p:spPr>
          <a:xfrm>
            <a:off x="1377182" y="4411726"/>
            <a:ext cx="128699" cy="187198"/>
          </a:xfrm>
          <a:prstGeom prst="rect">
            <a:avLst/>
          </a:prstGeom>
        </p:spPr>
      </p:pic>
      <p:sp>
        <p:nvSpPr>
          <p:cNvPr id="290" name="TextBox 289"/>
          <p:cNvSpPr txBox="1"/>
          <p:nvPr/>
        </p:nvSpPr>
        <p:spPr>
          <a:xfrm>
            <a:off x="1544678" y="4421505"/>
            <a:ext cx="1247006" cy="186689"/>
          </a:xfrm>
          <a:prstGeom prst="rect">
            <a:avLst/>
          </a:prstGeom>
          <a:noFill/>
        </p:spPr>
        <p:txBody>
          <a:bodyPr wrap="none" lIns="0" tIns="0" rIns="0" bIns="0">
            <a:spAutoFit/>
          </a:bodyPr>
          <a:lstStyle/>
          <a:p>
            <a:r>
              <a:rPr sz="1100" b="0">
                <a:solidFill>
                  <a:srgbClr val="14213D"/>
                </a:solidFill>
                <a:latin typeface="Calibri"/>
              </a:rPr>
              <a:t>US$ Mn · – · long tail</a:t>
            </a:r>
          </a:p>
        </p:txBody>
      </p:sp>
      <p:sp>
        <p:nvSpPr>
          <p:cNvPr id="291" name="TextBox 290"/>
          <p:cNvSpPr txBox="1"/>
          <p:nvPr/>
        </p:nvSpPr>
        <p:spPr>
          <a:xfrm>
            <a:off x="1241169" y="5802630"/>
            <a:ext cx="493662" cy="186689"/>
          </a:xfrm>
          <a:prstGeom prst="rect">
            <a:avLst/>
          </a:prstGeom>
          <a:noFill/>
        </p:spPr>
        <p:txBody>
          <a:bodyPr wrap="none" lIns="0" tIns="0" rIns="0" bIns="0">
            <a:spAutoFit/>
          </a:bodyPr>
          <a:lstStyle/>
          <a:p>
            <a:r>
              <a:rPr sz="1100" b="1">
                <a:solidFill>
                  <a:srgbClr val="2E7D32"/>
                </a:solidFill>
                <a:latin typeface="Calibri"/>
              </a:rPr>
              <a:t>▲</a:t>
            </a:r>
            <a:r>
              <a:rPr sz="1100" b="1">
                <a:solidFill>
                  <a:srgbClr val="14213D"/>
                </a:solidFill>
                <a:latin typeface="Calibri"/>
              </a:rPr>
              <a:t> HHI =</a:t>
            </a:r>
          </a:p>
        </p:txBody>
      </p:sp>
      <p:pic>
        <p:nvPicPr>
          <p:cNvPr id="292" name="Picture 291" descr="lock.png"/>
          <p:cNvPicPr>
            <a:picLocks noChangeAspect="1"/>
          </p:cNvPicPr>
          <p:nvPr/>
        </p:nvPicPr>
        <p:blipFill>
          <a:blip r:embed="rId4"/>
          <a:stretch>
            <a:fillRect/>
          </a:stretch>
        </p:blipFill>
        <p:spPr>
          <a:xfrm>
            <a:off x="1682883" y="5792851"/>
            <a:ext cx="128699" cy="187198"/>
          </a:xfrm>
          <a:prstGeom prst="rect">
            <a:avLst/>
          </a:prstGeom>
        </p:spPr>
      </p:pic>
      <p:sp>
        <p:nvSpPr>
          <p:cNvPr id="293" name="TextBox 292"/>
          <p:cNvSpPr txBox="1"/>
          <p:nvPr/>
        </p:nvSpPr>
        <p:spPr>
          <a:xfrm>
            <a:off x="876202" y="6107430"/>
            <a:ext cx="400893" cy="186689"/>
          </a:xfrm>
          <a:prstGeom prst="rect">
            <a:avLst/>
          </a:prstGeom>
          <a:noFill/>
        </p:spPr>
        <p:txBody>
          <a:bodyPr wrap="none" lIns="0" tIns="0" rIns="0" bIns="0">
            <a:spAutoFit/>
          </a:bodyPr>
          <a:lstStyle/>
          <a:p>
            <a:r>
              <a:rPr sz="1100" b="1">
                <a:solidFill>
                  <a:srgbClr val="14213D"/>
                </a:solidFill>
                <a:latin typeface="Calibri"/>
              </a:rPr>
              <a:t>CR4 =</a:t>
            </a:r>
          </a:p>
        </p:txBody>
      </p:sp>
      <p:pic>
        <p:nvPicPr>
          <p:cNvPr id="294" name="Picture 293" descr="lock.png"/>
          <p:cNvPicPr>
            <a:picLocks noChangeAspect="1"/>
          </p:cNvPicPr>
          <p:nvPr/>
        </p:nvPicPr>
        <p:blipFill>
          <a:blip r:embed="rId4"/>
          <a:stretch>
            <a:fillRect/>
          </a:stretch>
        </p:blipFill>
        <p:spPr>
          <a:xfrm>
            <a:off x="1225147" y="6097651"/>
            <a:ext cx="128699" cy="187198"/>
          </a:xfrm>
          <a:prstGeom prst="rect">
            <a:avLst/>
          </a:prstGeom>
        </p:spPr>
      </p:pic>
      <p:sp>
        <p:nvSpPr>
          <p:cNvPr id="295" name="TextBox 294"/>
          <p:cNvSpPr txBox="1"/>
          <p:nvPr/>
        </p:nvSpPr>
        <p:spPr>
          <a:xfrm>
            <a:off x="1392643" y="6107430"/>
            <a:ext cx="1068288" cy="186689"/>
          </a:xfrm>
          <a:prstGeom prst="rect">
            <a:avLst/>
          </a:prstGeom>
          <a:noFill/>
        </p:spPr>
        <p:txBody>
          <a:bodyPr wrap="none" lIns="0" tIns="0" rIns="0" bIns="0">
            <a:spAutoFit/>
          </a:bodyPr>
          <a:lstStyle/>
          <a:p>
            <a:r>
              <a:rPr sz="1100" b="1">
                <a:solidFill>
                  <a:srgbClr val="14213D"/>
                </a:solidFill>
                <a:latin typeface="Calibri"/>
              </a:rPr>
              <a:t>· Tier 1 : Others =</a:t>
            </a:r>
          </a:p>
        </p:txBody>
      </p:sp>
      <p:pic>
        <p:nvPicPr>
          <p:cNvPr id="296" name="Picture 295" descr="lock.png"/>
          <p:cNvPicPr>
            <a:picLocks noChangeAspect="1"/>
          </p:cNvPicPr>
          <p:nvPr/>
        </p:nvPicPr>
        <p:blipFill>
          <a:blip r:embed="rId4"/>
          <a:stretch>
            <a:fillRect/>
          </a:stretch>
        </p:blipFill>
        <p:spPr>
          <a:xfrm>
            <a:off x="2408983" y="6097651"/>
            <a:ext cx="128699" cy="187198"/>
          </a:xfrm>
          <a:prstGeom prst="rect">
            <a:avLst/>
          </a:prstGeom>
        </p:spPr>
      </p:pic>
      <p:sp>
        <p:nvSpPr>
          <p:cNvPr id="297" name="TextBox 296"/>
          <p:cNvSpPr txBox="1"/>
          <p:nvPr/>
        </p:nvSpPr>
        <p:spPr>
          <a:xfrm>
            <a:off x="2576478" y="6107430"/>
            <a:ext cx="1397620" cy="186689"/>
          </a:xfrm>
          <a:prstGeom prst="rect">
            <a:avLst/>
          </a:prstGeom>
          <a:noFill/>
        </p:spPr>
        <p:txBody>
          <a:bodyPr wrap="none" lIns="0" tIns="0" rIns="0" bIns="0">
            <a:spAutoFit/>
          </a:bodyPr>
          <a:lstStyle/>
          <a:p>
            <a:r>
              <a:rPr sz="1100" b="1">
                <a:solidFill>
                  <a:srgbClr val="14213D"/>
                </a:solidFill>
                <a:latin typeface="Calibri"/>
              </a:rPr>
              <a:t>: 1 · Top-player share =</a:t>
            </a:r>
          </a:p>
        </p:txBody>
      </p:sp>
      <p:pic>
        <p:nvPicPr>
          <p:cNvPr id="298" name="Picture 297" descr="lock.png"/>
          <p:cNvPicPr>
            <a:picLocks noChangeAspect="1"/>
          </p:cNvPicPr>
          <p:nvPr/>
        </p:nvPicPr>
        <p:blipFill>
          <a:blip r:embed="rId4"/>
          <a:stretch>
            <a:fillRect/>
          </a:stretch>
        </p:blipFill>
        <p:spPr>
          <a:xfrm>
            <a:off x="3922150" y="6097651"/>
            <a:ext cx="128699" cy="187198"/>
          </a:xfrm>
          <a:prstGeom prst="rect">
            <a:avLst/>
          </a:prstGeom>
        </p:spPr>
      </p:pic>
      <p:sp>
        <p:nvSpPr>
          <p:cNvPr id="299" name="TextBox 298"/>
          <p:cNvSpPr txBox="1"/>
          <p:nvPr/>
        </p:nvSpPr>
        <p:spPr>
          <a:xfrm>
            <a:off x="4089646" y="6107430"/>
            <a:ext cx="1206351" cy="186689"/>
          </a:xfrm>
          <a:prstGeom prst="rect">
            <a:avLst/>
          </a:prstGeom>
          <a:noFill/>
        </p:spPr>
        <p:txBody>
          <a:bodyPr wrap="none" lIns="0" tIns="0" rIns="0" bIns="0">
            <a:spAutoFit/>
          </a:bodyPr>
          <a:lstStyle/>
          <a:p>
            <a:r>
              <a:rPr sz="1100" b="1">
                <a:solidFill>
                  <a:srgbClr val="14213D"/>
                </a:solidFill>
                <a:latin typeface="Calibri"/>
              </a:rPr>
              <a:t>· Class: Fragmented</a:t>
            </a:r>
          </a:p>
        </p:txBody>
      </p:sp>
      <p:sp>
        <p:nvSpPr>
          <p:cNvPr id="300" name="TextBox 299"/>
          <p:cNvSpPr txBox="1"/>
          <p:nvPr/>
        </p:nvSpPr>
        <p:spPr>
          <a:xfrm>
            <a:off x="6372225" y="5476875"/>
            <a:ext cx="471561" cy="186689"/>
          </a:xfrm>
          <a:prstGeom prst="rect">
            <a:avLst/>
          </a:prstGeom>
          <a:noFill/>
        </p:spPr>
        <p:txBody>
          <a:bodyPr wrap="none" lIns="0" tIns="0" rIns="0" bIns="0">
            <a:spAutoFit/>
          </a:bodyPr>
          <a:lstStyle/>
          <a:p>
            <a:r>
              <a:rPr sz="1100" b="0">
                <a:solidFill>
                  <a:srgbClr val="14213D"/>
                </a:solidFill>
                <a:latin typeface="Calibri"/>
              </a:rPr>
              <a:t>Tier 1 (</a:t>
            </a:r>
          </a:p>
        </p:txBody>
      </p:sp>
      <p:pic>
        <p:nvPicPr>
          <p:cNvPr id="301" name="Picture 300" descr="lock.png"/>
          <p:cNvPicPr>
            <a:picLocks noChangeAspect="1"/>
          </p:cNvPicPr>
          <p:nvPr/>
        </p:nvPicPr>
        <p:blipFill>
          <a:blip r:embed="rId4"/>
          <a:stretch>
            <a:fillRect/>
          </a:stretch>
        </p:blipFill>
        <p:spPr>
          <a:xfrm>
            <a:off x="6791838" y="5467095"/>
            <a:ext cx="128699" cy="187198"/>
          </a:xfrm>
          <a:prstGeom prst="rect">
            <a:avLst/>
          </a:prstGeom>
        </p:spPr>
      </p:pic>
      <p:sp>
        <p:nvSpPr>
          <p:cNvPr id="302" name="TextBox 301"/>
          <p:cNvSpPr txBox="1"/>
          <p:nvPr/>
        </p:nvSpPr>
        <p:spPr>
          <a:xfrm>
            <a:off x="6959334" y="5476875"/>
            <a:ext cx="2550145" cy="186689"/>
          </a:xfrm>
          <a:prstGeom prst="rect">
            <a:avLst/>
          </a:prstGeom>
          <a:noFill/>
        </p:spPr>
        <p:txBody>
          <a:bodyPr wrap="none" lIns="0" tIns="0" rIns="0" bIns="0">
            <a:spAutoFit/>
          </a:bodyPr>
          <a:lstStyle/>
          <a:p>
            <a:r>
              <a:rPr sz="1100" b="0">
                <a:solidFill>
                  <a:srgbClr val="14213D"/>
                </a:solidFill>
                <a:latin typeface="Calibri"/>
              </a:rPr>
              <a:t>) holds the largest single block of value on a</a:t>
            </a:r>
          </a:p>
        </p:txBody>
      </p:sp>
      <p:pic>
        <p:nvPicPr>
          <p:cNvPr id="303" name="Picture 302" descr="lock.png"/>
          <p:cNvPicPr>
            <a:picLocks noChangeAspect="1"/>
          </p:cNvPicPr>
          <p:nvPr/>
        </p:nvPicPr>
        <p:blipFill>
          <a:blip r:embed="rId4"/>
          <a:stretch>
            <a:fillRect/>
          </a:stretch>
        </p:blipFill>
        <p:spPr>
          <a:xfrm>
            <a:off x="9457531" y="5467095"/>
            <a:ext cx="128699" cy="187198"/>
          </a:xfrm>
          <a:prstGeom prst="rect">
            <a:avLst/>
          </a:prstGeom>
        </p:spPr>
      </p:pic>
      <p:sp>
        <p:nvSpPr>
          <p:cNvPr id="304" name="TextBox 303"/>
          <p:cNvSpPr txBox="1"/>
          <p:nvPr/>
        </p:nvSpPr>
        <p:spPr>
          <a:xfrm>
            <a:off x="9625026" y="5476875"/>
            <a:ext cx="1259830" cy="186689"/>
          </a:xfrm>
          <a:prstGeom prst="rect">
            <a:avLst/>
          </a:prstGeom>
          <a:noFill/>
        </p:spPr>
        <p:txBody>
          <a:bodyPr wrap="none" lIns="0" tIns="0" rIns="0" bIns="0">
            <a:spAutoFit/>
          </a:bodyPr>
          <a:lstStyle/>
          <a:p>
            <a:r>
              <a:rPr sz="1100" b="0">
                <a:solidFill>
                  <a:srgbClr val="14213D"/>
                </a:solidFill>
                <a:latin typeface="Calibri"/>
              </a:rPr>
              <a:t>US$ Mn base; CR4 of</a:t>
            </a:r>
          </a:p>
        </p:txBody>
      </p:sp>
      <p:pic>
        <p:nvPicPr>
          <p:cNvPr id="305" name="Picture 304" descr="lock.png"/>
          <p:cNvPicPr>
            <a:picLocks noChangeAspect="1"/>
          </p:cNvPicPr>
          <p:nvPr/>
        </p:nvPicPr>
        <p:blipFill>
          <a:blip r:embed="rId4"/>
          <a:stretch>
            <a:fillRect/>
          </a:stretch>
        </p:blipFill>
        <p:spPr>
          <a:xfrm>
            <a:off x="10832908" y="5467095"/>
            <a:ext cx="128699" cy="187198"/>
          </a:xfrm>
          <a:prstGeom prst="rect">
            <a:avLst/>
          </a:prstGeom>
        </p:spPr>
      </p:pic>
      <p:sp>
        <p:nvSpPr>
          <p:cNvPr id="306" name="TextBox 305"/>
          <p:cNvSpPr txBox="1"/>
          <p:nvPr/>
        </p:nvSpPr>
        <p:spPr>
          <a:xfrm>
            <a:off x="11000404" y="5476875"/>
            <a:ext cx="678656" cy="186689"/>
          </a:xfrm>
          <a:prstGeom prst="rect">
            <a:avLst/>
          </a:prstGeom>
          <a:noFill/>
        </p:spPr>
        <p:txBody>
          <a:bodyPr wrap="none" lIns="0" tIns="0" rIns="0" bIns="0">
            <a:spAutoFit/>
          </a:bodyPr>
          <a:lstStyle/>
          <a:p>
            <a:r>
              <a:rPr sz="1100" b="0">
                <a:solidFill>
                  <a:srgbClr val="14213D"/>
                </a:solidFill>
                <a:latin typeface="Calibri"/>
              </a:rPr>
              <a:t>and HHI of</a:t>
            </a:r>
          </a:p>
        </p:txBody>
      </p:sp>
      <p:pic>
        <p:nvPicPr>
          <p:cNvPr id="307" name="Picture 306" descr="lock.png"/>
          <p:cNvPicPr>
            <a:picLocks noChangeAspect="1"/>
          </p:cNvPicPr>
          <p:nvPr/>
        </p:nvPicPr>
        <p:blipFill>
          <a:blip r:embed="rId4"/>
          <a:stretch>
            <a:fillRect/>
          </a:stretch>
        </p:blipFill>
        <p:spPr>
          <a:xfrm>
            <a:off x="6358757" y="5634735"/>
            <a:ext cx="128699" cy="187198"/>
          </a:xfrm>
          <a:prstGeom prst="rect">
            <a:avLst/>
          </a:prstGeom>
        </p:spPr>
      </p:pic>
      <p:sp>
        <p:nvSpPr>
          <p:cNvPr id="308" name="TextBox 307"/>
          <p:cNvSpPr txBox="1"/>
          <p:nvPr/>
        </p:nvSpPr>
        <p:spPr>
          <a:xfrm>
            <a:off x="6526253" y="5644515"/>
            <a:ext cx="2030635" cy="186689"/>
          </a:xfrm>
          <a:prstGeom prst="rect">
            <a:avLst/>
          </a:prstGeom>
          <a:noFill/>
        </p:spPr>
        <p:txBody>
          <a:bodyPr wrap="none" lIns="0" tIns="0" rIns="0" bIns="0">
            <a:spAutoFit/>
          </a:bodyPr>
          <a:lstStyle/>
          <a:p>
            <a:r>
              <a:rPr sz="1100" b="0">
                <a:solidFill>
                  <a:srgbClr val="14213D"/>
                </a:solidFill>
                <a:latin typeface="Calibri"/>
              </a:rPr>
              <a:t>classify the market as fragmented.</a:t>
            </a:r>
          </a:p>
        </p:txBody>
      </p:sp>
      <p:sp>
        <p:nvSpPr>
          <p:cNvPr id="309" name="TextBox 308"/>
          <p:cNvSpPr txBox="1"/>
          <p:nvPr/>
        </p:nvSpPr>
        <p:spPr>
          <a:xfrm>
            <a:off x="6372225" y="5857875"/>
            <a:ext cx="1331044" cy="186689"/>
          </a:xfrm>
          <a:prstGeom prst="rect">
            <a:avLst/>
          </a:prstGeom>
          <a:noFill/>
        </p:spPr>
        <p:txBody>
          <a:bodyPr wrap="none" lIns="0" tIns="0" rIns="0" bIns="0">
            <a:spAutoFit/>
          </a:bodyPr>
          <a:lstStyle/>
          <a:p>
            <a:r>
              <a:rPr sz="1100" b="0">
                <a:solidFill>
                  <a:srgbClr val="14213D"/>
                </a:solidFill>
                <a:latin typeface="Calibri"/>
              </a:rPr>
              <a:t>Tier 2 grows fastest at</a:t>
            </a:r>
          </a:p>
        </p:txBody>
      </p:sp>
      <p:pic>
        <p:nvPicPr>
          <p:cNvPr id="310" name="Picture 309" descr="lock.png"/>
          <p:cNvPicPr>
            <a:picLocks noChangeAspect="1"/>
          </p:cNvPicPr>
          <p:nvPr/>
        </p:nvPicPr>
        <p:blipFill>
          <a:blip r:embed="rId4"/>
          <a:stretch>
            <a:fillRect/>
          </a:stretch>
        </p:blipFill>
        <p:spPr>
          <a:xfrm>
            <a:off x="7651320" y="5848095"/>
            <a:ext cx="128699" cy="187198"/>
          </a:xfrm>
          <a:prstGeom prst="rect">
            <a:avLst/>
          </a:prstGeom>
        </p:spPr>
      </p:pic>
      <p:sp>
        <p:nvSpPr>
          <p:cNvPr id="311" name="TextBox 310"/>
          <p:cNvSpPr txBox="1"/>
          <p:nvPr/>
        </p:nvSpPr>
        <p:spPr>
          <a:xfrm>
            <a:off x="7818816" y="5857875"/>
            <a:ext cx="982868" cy="186689"/>
          </a:xfrm>
          <a:prstGeom prst="rect">
            <a:avLst/>
          </a:prstGeom>
          <a:noFill/>
        </p:spPr>
        <p:txBody>
          <a:bodyPr wrap="none" lIns="0" tIns="0" rIns="0" bIns="0">
            <a:spAutoFit/>
          </a:bodyPr>
          <a:lstStyle/>
          <a:p>
            <a:r>
              <a:rPr sz="1100" b="0">
                <a:solidFill>
                  <a:srgbClr val="14213D"/>
                </a:solidFill>
                <a:latin typeface="Calibri"/>
              </a:rPr>
              <a:t>CAGR, moving +</a:t>
            </a:r>
          </a:p>
        </p:txBody>
      </p:sp>
      <p:pic>
        <p:nvPicPr>
          <p:cNvPr id="312" name="Picture 311" descr="lock.png"/>
          <p:cNvPicPr>
            <a:picLocks noChangeAspect="1"/>
          </p:cNvPicPr>
          <p:nvPr/>
        </p:nvPicPr>
        <p:blipFill>
          <a:blip r:embed="rId4"/>
          <a:stretch>
            <a:fillRect/>
          </a:stretch>
        </p:blipFill>
        <p:spPr>
          <a:xfrm>
            <a:off x="8749737" y="5848095"/>
            <a:ext cx="128699" cy="187198"/>
          </a:xfrm>
          <a:prstGeom prst="rect">
            <a:avLst/>
          </a:prstGeom>
        </p:spPr>
      </p:pic>
      <p:sp>
        <p:nvSpPr>
          <p:cNvPr id="313" name="TextBox 312"/>
          <p:cNvSpPr txBox="1"/>
          <p:nvPr/>
        </p:nvSpPr>
        <p:spPr>
          <a:xfrm>
            <a:off x="8917232" y="5857875"/>
            <a:ext cx="1234727" cy="186689"/>
          </a:xfrm>
          <a:prstGeom prst="rect">
            <a:avLst/>
          </a:prstGeom>
          <a:noFill/>
        </p:spPr>
        <p:txBody>
          <a:bodyPr wrap="none" lIns="0" tIns="0" rIns="0" bIns="0">
            <a:spAutoFit/>
          </a:bodyPr>
          <a:lstStyle/>
          <a:p>
            <a:r>
              <a:rPr sz="1100" b="0">
                <a:solidFill>
                  <a:srgbClr val="14213D"/>
                </a:solidFill>
                <a:latin typeface="Calibri"/>
              </a:rPr>
              <a:t>pp of share by 2036.</a:t>
            </a:r>
          </a:p>
        </p:txBody>
      </p:sp>
      <p:sp>
        <p:nvSpPr>
          <p:cNvPr id="314" name="TextBox 313"/>
          <p:cNvSpPr txBox="1"/>
          <p:nvPr/>
        </p:nvSpPr>
        <p:spPr>
          <a:xfrm>
            <a:off x="6372225" y="6076950"/>
            <a:ext cx="2161604" cy="186689"/>
          </a:xfrm>
          <a:prstGeom prst="rect">
            <a:avLst/>
          </a:prstGeom>
          <a:noFill/>
        </p:spPr>
        <p:txBody>
          <a:bodyPr wrap="none" lIns="0" tIns="0" rIns="0" bIns="0">
            <a:spAutoFit/>
          </a:bodyPr>
          <a:lstStyle/>
          <a:p>
            <a:r>
              <a:rPr sz="1100" b="0">
                <a:solidFill>
                  <a:srgbClr val="14213D"/>
                </a:solidFill>
                <a:latin typeface="Calibri"/>
              </a:rPr>
              <a:t>Tier 3 and the long tail together hold</a:t>
            </a:r>
          </a:p>
        </p:txBody>
      </p:sp>
      <p:pic>
        <p:nvPicPr>
          <p:cNvPr id="315" name="Picture 314" descr="lock.png"/>
          <p:cNvPicPr>
            <a:picLocks noChangeAspect="1"/>
          </p:cNvPicPr>
          <p:nvPr/>
        </p:nvPicPr>
        <p:blipFill>
          <a:blip r:embed="rId4"/>
          <a:stretch>
            <a:fillRect/>
          </a:stretch>
        </p:blipFill>
        <p:spPr>
          <a:xfrm>
            <a:off x="8481881" y="6067170"/>
            <a:ext cx="128699" cy="187198"/>
          </a:xfrm>
          <a:prstGeom prst="rect">
            <a:avLst/>
          </a:prstGeom>
        </p:spPr>
      </p:pic>
      <p:sp>
        <p:nvSpPr>
          <p:cNvPr id="316" name="TextBox 315"/>
          <p:cNvSpPr txBox="1"/>
          <p:nvPr/>
        </p:nvSpPr>
        <p:spPr>
          <a:xfrm>
            <a:off x="8649376" y="6076950"/>
            <a:ext cx="2127498" cy="186689"/>
          </a:xfrm>
          <a:prstGeom prst="rect">
            <a:avLst/>
          </a:prstGeom>
          <a:noFill/>
        </p:spPr>
        <p:txBody>
          <a:bodyPr wrap="none" lIns="0" tIns="0" rIns="0" bIns="0">
            <a:spAutoFit/>
          </a:bodyPr>
          <a:lstStyle/>
          <a:p>
            <a:r>
              <a:rPr sz="1100" b="0">
                <a:solidFill>
                  <a:srgbClr val="14213D"/>
                </a:solidFill>
                <a:latin typeface="Calibri"/>
              </a:rPr>
              <a:t>of value; the average Tier 3 player is</a:t>
            </a:r>
          </a:p>
        </p:txBody>
      </p:sp>
      <p:pic>
        <p:nvPicPr>
          <p:cNvPr id="317" name="Picture 316" descr="lock.png"/>
          <p:cNvPicPr>
            <a:picLocks noChangeAspect="1"/>
          </p:cNvPicPr>
          <p:nvPr/>
        </p:nvPicPr>
        <p:blipFill>
          <a:blip r:embed="rId4"/>
          <a:stretch>
            <a:fillRect/>
          </a:stretch>
        </p:blipFill>
        <p:spPr>
          <a:xfrm>
            <a:off x="10724926" y="6067170"/>
            <a:ext cx="128699" cy="187198"/>
          </a:xfrm>
          <a:prstGeom prst="rect">
            <a:avLst/>
          </a:prstGeom>
        </p:spPr>
      </p:pic>
      <p:sp>
        <p:nvSpPr>
          <p:cNvPr id="318" name="TextBox 317"/>
          <p:cNvSpPr txBox="1"/>
          <p:nvPr/>
        </p:nvSpPr>
        <p:spPr>
          <a:xfrm>
            <a:off x="10892422" y="6076950"/>
            <a:ext cx="876473" cy="186689"/>
          </a:xfrm>
          <a:prstGeom prst="rect">
            <a:avLst/>
          </a:prstGeom>
          <a:noFill/>
        </p:spPr>
        <p:txBody>
          <a:bodyPr wrap="none" lIns="0" tIns="0" rIns="0" bIns="0">
            <a:spAutoFit/>
          </a:bodyPr>
          <a:lstStyle/>
          <a:p>
            <a:r>
              <a:rPr sz="1100" b="0">
                <a:solidFill>
                  <a:srgbClr val="14213D"/>
                </a:solidFill>
                <a:latin typeface="Calibri"/>
              </a:rPr>
              <a:t>x smaller than</a:t>
            </a:r>
          </a:p>
        </p:txBody>
      </p:sp>
      <p:sp>
        <p:nvSpPr>
          <p:cNvPr id="319" name="TextBox 318"/>
          <p:cNvSpPr txBox="1"/>
          <p:nvPr/>
        </p:nvSpPr>
        <p:spPr>
          <a:xfrm>
            <a:off x="6372225" y="6244590"/>
            <a:ext cx="1020539" cy="186689"/>
          </a:xfrm>
          <a:prstGeom prst="rect">
            <a:avLst/>
          </a:prstGeom>
          <a:noFill/>
        </p:spPr>
        <p:txBody>
          <a:bodyPr wrap="none" lIns="0" tIns="0" rIns="0" bIns="0">
            <a:spAutoFit/>
          </a:bodyPr>
          <a:lstStyle/>
          <a:p>
            <a:r>
              <a:rPr sz="1100" b="0">
                <a:solidFill>
                  <a:srgbClr val="14213D"/>
                </a:solidFill>
                <a:latin typeface="Calibri"/>
              </a:rPr>
              <a:t>a Tier 1 supplier.</a:t>
            </a: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Industry Structure Landscape – Senior Dog Cognitive Supplement Market, Global 2026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104900"/>
            <a:ext cx="11715750" cy="209550"/>
          </a:xfrm>
          <a:prstGeom prst="rect">
            <a:avLst/>
          </a:prstGeom>
          <a:noFill/>
        </p:spPr>
        <p:txBody>
          <a:bodyPr wrap="square" lIns="28575" tIns="9525" rIns="2857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7175" y="1447800"/>
            <a:ext cx="1905000" cy="209550"/>
          </a:xfrm>
          <a:prstGeom prst="rect">
            <a:avLst/>
          </a:prstGeom>
          <a:noFill/>
        </p:spPr>
        <p:txBody>
          <a:bodyPr wrap="square" lIns="28575" tIns="9525" rIns="2857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tIns="9525" rIns="2857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tIns="9525" rIns="28575" bIns="9525" anchor="ctr">
            <a:spAutoFit/>
          </a:bodyPr>
          <a:lstStyle/>
          <a:p>
            <a:pPr algn="ctr">
              <a:lnSpc>
                <a:spcPct val="115000"/>
              </a:lnSpc>
            </a:pPr>
            <a:endParaRPr/>
          </a:p>
        </p:txBody>
      </p:sp>
      <p:sp>
        <p:nvSpPr>
          <p:cNvPr id="16" name="TextBox 15"/>
          <p:cNvSpPr txBox="1"/>
          <p:nvPr/>
        </p:nvSpPr>
        <p:spPr>
          <a:xfrm>
            <a:off x="2238375" y="1466850"/>
            <a:ext cx="1200150" cy="171450"/>
          </a:xfrm>
          <a:prstGeom prst="rect">
            <a:avLst/>
          </a:prstGeom>
          <a:noFill/>
        </p:spPr>
        <p:txBody>
          <a:bodyPr wrap="square" lIns="28575" tIns="9525" rIns="2857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38375" y="2019300"/>
            <a:ext cx="1200150" cy="171450"/>
          </a:xfrm>
          <a:prstGeom prst="rect">
            <a:avLst/>
          </a:prstGeom>
          <a:noFill/>
        </p:spPr>
        <p:txBody>
          <a:bodyPr wrap="square" lIns="28575" tIns="9525" rIns="2857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514725" y="1447800"/>
            <a:ext cx="1905000" cy="209550"/>
          </a:xfrm>
          <a:prstGeom prst="rect">
            <a:avLst/>
          </a:prstGeom>
          <a:noFill/>
        </p:spPr>
        <p:txBody>
          <a:bodyPr wrap="square" lIns="28575" tIns="9525" rIns="2857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tIns="9525" rIns="2857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tIns="9525" rIns="28575" bIns="9525" anchor="ctr">
            <a:spAutoFit/>
          </a:bodyPr>
          <a:lstStyle/>
          <a:p>
            <a:pPr algn="ctr">
              <a:lnSpc>
                <a:spcPct val="115000"/>
              </a:lnSpc>
            </a:pPr>
            <a:endParaRPr/>
          </a:p>
        </p:txBody>
      </p:sp>
      <p:sp>
        <p:nvSpPr>
          <p:cNvPr id="26" name="TextBox 25"/>
          <p:cNvSpPr txBox="1"/>
          <p:nvPr/>
        </p:nvSpPr>
        <p:spPr>
          <a:xfrm>
            <a:off x="5495925" y="1466850"/>
            <a:ext cx="1200150" cy="171450"/>
          </a:xfrm>
          <a:prstGeom prst="rect">
            <a:avLst/>
          </a:prstGeom>
          <a:noFill/>
        </p:spPr>
        <p:txBody>
          <a:bodyPr wrap="square" lIns="28575" tIns="9525" rIns="2857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95925" y="2019300"/>
            <a:ext cx="1200150" cy="171450"/>
          </a:xfrm>
          <a:prstGeom prst="rect">
            <a:avLst/>
          </a:prstGeom>
          <a:noFill/>
        </p:spPr>
        <p:txBody>
          <a:bodyPr wrap="square" lIns="28575" tIns="9525" rIns="2857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72275" y="1447800"/>
            <a:ext cx="1905000" cy="209550"/>
          </a:xfrm>
          <a:prstGeom prst="rect">
            <a:avLst/>
          </a:prstGeom>
          <a:noFill/>
        </p:spPr>
        <p:txBody>
          <a:bodyPr wrap="square" lIns="28575" tIns="9525" rIns="2857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tIns="9525" rIns="2857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tIns="9525" rIns="28575" bIns="9525" anchor="ctr">
            <a:spAutoFit/>
          </a:bodyPr>
          <a:lstStyle/>
          <a:p>
            <a:pPr algn="ctr">
              <a:lnSpc>
                <a:spcPct val="115000"/>
              </a:lnSpc>
            </a:pPr>
            <a:endParaRPr/>
          </a:p>
        </p:txBody>
      </p:sp>
      <p:sp>
        <p:nvSpPr>
          <p:cNvPr id="36" name="TextBox 35"/>
          <p:cNvSpPr txBox="1"/>
          <p:nvPr/>
        </p:nvSpPr>
        <p:spPr>
          <a:xfrm>
            <a:off x="8753475" y="1466850"/>
            <a:ext cx="1200150" cy="171450"/>
          </a:xfrm>
          <a:prstGeom prst="rect">
            <a:avLst/>
          </a:prstGeom>
          <a:noFill/>
        </p:spPr>
        <p:txBody>
          <a:bodyPr wrap="square" lIns="28575" tIns="9525" rIns="2857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53475" y="2019300"/>
            <a:ext cx="1200150" cy="171450"/>
          </a:xfrm>
          <a:prstGeom prst="rect">
            <a:avLst/>
          </a:prstGeom>
          <a:noFill/>
        </p:spPr>
        <p:txBody>
          <a:bodyPr wrap="square" lIns="28575" tIns="9525" rIns="2857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029825" y="1447800"/>
            <a:ext cx="1905000" cy="209550"/>
          </a:xfrm>
          <a:prstGeom prst="rect">
            <a:avLst/>
          </a:prstGeom>
          <a:noFill/>
        </p:spPr>
        <p:txBody>
          <a:bodyPr wrap="square" lIns="28575" tIns="9525" rIns="2857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tIns="9525" rIns="2857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tIns="9525" rIns="28575" bIns="9525" anchor="ctr">
            <a:spAutoFit/>
          </a:bodyPr>
          <a:lstStyle/>
          <a:p>
            <a:pPr algn="ctr">
              <a:lnSpc>
                <a:spcPct val="115000"/>
              </a:lnSpc>
            </a:pPr>
            <a:endParaRP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FMI KPI Value"/>
          <p:cNvSpPr txBox="1"/>
          <p:nvPr/>
        </p:nvSpPr>
        <p:spPr>
          <a:xfrm>
            <a:off x="352425" y="2457450"/>
            <a:ext cx="762000" cy="342900"/>
          </a:xfrm>
          <a:prstGeom prst="rect">
            <a:avLst/>
          </a:prstGeom>
          <a:noFill/>
        </p:spPr>
        <p:txBody>
          <a:bodyPr wrap="square" lIns="28575" tIns="9525" rIns="2857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tIns="9525" rIns="2857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FMI KPI Value"/>
          <p:cNvSpPr txBox="1"/>
          <p:nvPr/>
        </p:nvSpPr>
        <p:spPr>
          <a:xfrm>
            <a:off x="3305175" y="2457450"/>
            <a:ext cx="762000" cy="342900"/>
          </a:xfrm>
          <a:prstGeom prst="rect">
            <a:avLst/>
          </a:prstGeom>
          <a:noFill/>
        </p:spPr>
        <p:txBody>
          <a:bodyPr wrap="square" lIns="28575" tIns="9525" rIns="2857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tIns="9525" rIns="2857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FMI KPI Value"/>
          <p:cNvSpPr txBox="1"/>
          <p:nvPr/>
        </p:nvSpPr>
        <p:spPr>
          <a:xfrm>
            <a:off x="6257925" y="2457450"/>
            <a:ext cx="762000" cy="342900"/>
          </a:xfrm>
          <a:prstGeom prst="rect">
            <a:avLst/>
          </a:prstGeom>
          <a:noFill/>
        </p:spPr>
        <p:txBody>
          <a:bodyPr wrap="square" lIns="28575" tIns="9525" rIns="2857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tIns="9525" rIns="2857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FMI KPI Value"/>
          <p:cNvSpPr txBox="1"/>
          <p:nvPr/>
        </p:nvSpPr>
        <p:spPr>
          <a:xfrm>
            <a:off x="9210675" y="2457450"/>
            <a:ext cx="762000" cy="342900"/>
          </a:xfrm>
          <a:prstGeom prst="rect">
            <a:avLst/>
          </a:prstGeom>
          <a:noFill/>
        </p:spPr>
        <p:txBody>
          <a:bodyPr wrap="square" lIns="28575" tIns="9525" rIns="2857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tIns="9525" rIns="2857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tIns="9525" rIns="2857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38125" y="3600450"/>
            <a:ext cx="6905625" cy="209550"/>
          </a:xfrm>
          <a:prstGeom prst="rect">
            <a:avLst/>
          </a:prstGeom>
          <a:noFill/>
        </p:spPr>
        <p:txBody>
          <a:bodyPr wrap="square" lIns="28575" tIns="9525" rIns="2857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95275" y="3867150"/>
            <a:ext cx="1352550" cy="247650"/>
          </a:xfrm>
          <a:prstGeom prst="rect">
            <a:avLst/>
          </a:prstGeom>
          <a:noFill/>
        </p:spPr>
        <p:txBody>
          <a:bodyPr wrap="square" lIns="28575" tIns="9525" rIns="2857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724025" y="3867150"/>
            <a:ext cx="2257425" cy="247650"/>
          </a:xfrm>
          <a:prstGeom prst="rect">
            <a:avLst/>
          </a:prstGeom>
          <a:noFill/>
        </p:spPr>
        <p:txBody>
          <a:bodyPr wrap="square" lIns="28575" tIns="9525" rIns="2857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057650" y="3867150"/>
            <a:ext cx="590550" cy="247650"/>
          </a:xfrm>
          <a:prstGeom prst="rect">
            <a:avLst/>
          </a:prstGeom>
          <a:noFill/>
        </p:spPr>
        <p:txBody>
          <a:bodyPr wrap="square" lIns="28575" tIns="9525" rIns="2857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724400" y="3867150"/>
            <a:ext cx="2400300" cy="247650"/>
          </a:xfrm>
          <a:prstGeom prst="rect">
            <a:avLst/>
          </a:prstGeom>
          <a:noFill/>
        </p:spPr>
        <p:txBody>
          <a:bodyPr wrap="square" lIns="28575" tIns="9525" rIns="2857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95275" y="4114800"/>
            <a:ext cx="1333500" cy="409575"/>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724025" y="4114800"/>
            <a:ext cx="2238375"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057650" y="4114800"/>
            <a:ext cx="571500" cy="409575"/>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 </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724400" y="4114800"/>
            <a:ext cx="2381250"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95275" y="4524375"/>
            <a:ext cx="1333500" cy="409575"/>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724025" y="4524375"/>
            <a:ext cx="2238375"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057650" y="4524375"/>
            <a:ext cx="571500" cy="409575"/>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 </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4724400" y="4524375"/>
            <a:ext cx="2381250"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295275" y="4933950"/>
            <a:ext cx="1333500" cy="409575"/>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724025" y="4933950"/>
            <a:ext cx="2238375"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4057650" y="4933950"/>
            <a:ext cx="571500" cy="409575"/>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 </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4724400" y="4933950"/>
            <a:ext cx="2381250"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95275" y="5343525"/>
            <a:ext cx="1333500" cy="409575"/>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724025" y="5343525"/>
            <a:ext cx="2238375"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4057650" y="5343525"/>
            <a:ext cx="571500" cy="409575"/>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 </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4724400" y="5343525"/>
            <a:ext cx="2381250"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95275" y="5753100"/>
            <a:ext cx="1333500" cy="409575"/>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1724025" y="5753100"/>
            <a:ext cx="2238375"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057650" y="5753100"/>
            <a:ext cx="571500" cy="409575"/>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 </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4724400" y="5753100"/>
            <a:ext cx="2381250" cy="409575"/>
          </a:xfrm>
          <a:prstGeom prst="rect">
            <a:avLst/>
          </a:prstGeom>
          <a:noFill/>
        </p:spPr>
        <p:txBody>
          <a:bodyPr wrap="square" lIns="28575" tIns="9525" rIns="2857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95275" y="6162675"/>
            <a:ext cx="1333500" cy="409575"/>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1724025" y="6162675"/>
            <a:ext cx="2238375" cy="409575"/>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4057650" y="6162675"/>
            <a:ext cx="571500" cy="409575"/>
          </a:xfrm>
          <a:prstGeom prst="rect">
            <a:avLst/>
          </a:prstGeom>
          <a:noFill/>
        </p:spPr>
        <p:txBody>
          <a:bodyPr wrap="square" lIns="28575" tIns="9525" rIns="28575" bIns="9525" anchor="ctr">
            <a:spAutoFit/>
          </a:bodyPr>
          <a:lstStyle/>
          <a:p>
            <a:pPr algn="ctr">
              <a:lnSpc>
                <a:spcPct val="115000"/>
              </a:lnSpc>
            </a:pPr>
            <a:r>
              <a:rPr sz="1100" b="1">
                <a:solidFill>
                  <a:srgbClr val="14213D"/>
                </a:solidFill>
                <a:latin typeface="Calibri"/>
              </a:rPr>
              <a:t> </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4724400" y="6162675"/>
            <a:ext cx="2381250" cy="409575"/>
          </a:xfrm>
          <a:prstGeom prst="rect">
            <a:avLst/>
          </a:prstGeom>
          <a:noFill/>
        </p:spPr>
        <p:txBody>
          <a:bodyPr wrap="square" lIns="28575" tIns="9525" rIns="28575" bIns="9525" anchor="ctr">
            <a:spAutoFit/>
          </a:bodyPr>
          <a:lstStyle/>
          <a:p>
            <a:pPr algn="l">
              <a:lnSpc>
                <a:spcPct val="115000"/>
              </a:lnSpc>
            </a:pPr>
            <a:r>
              <a:rPr sz="1100" b="1">
                <a:solidFill>
                  <a:srgbClr val="14213D"/>
                </a:solidFill>
                <a:latin typeface="Calibri"/>
              </a:rPr>
              <a:t>Structure broadly stable</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7477125" y="3600450"/>
            <a:ext cx="4476750" cy="209550"/>
          </a:xfrm>
          <a:prstGeom prst="rect">
            <a:avLst/>
          </a:prstGeom>
          <a:noFill/>
        </p:spPr>
        <p:txBody>
          <a:bodyPr wrap="square" lIns="28575" tIns="9525" rIns="2857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tIns="0" r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tIns="9525" rIns="28575" bIns="9525" anchor="t">
            <a:spAutoFit/>
          </a:bodyPr>
          <a:lstStyle/>
          <a:p>
            <a:pPr algn="l">
              <a:lnSpc>
                <a:spcPct val="115000"/>
              </a:lnSpc>
            </a:pPr>
            <a:endParaRPr/>
          </a:p>
        </p:txBody>
      </p:sp>
      <p:sp>
        <p:nvSpPr>
          <p:cNvPr id="124" name="TextBox 123"/>
          <p:cNvSpPr txBox="1"/>
          <p:nvPr/>
        </p:nvSpPr>
        <p:spPr>
          <a:xfrm>
            <a:off x="7496175" y="4429125"/>
            <a:ext cx="114300" cy="161925"/>
          </a:xfrm>
          <a:prstGeom prst="rect">
            <a:avLst/>
          </a:prstGeom>
          <a:noFill/>
        </p:spPr>
        <p:txBody>
          <a:bodyPr wrap="none" lIns="0" tIns="0" r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tIns="9525" rIns="2857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tIns="0" r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tIns="9525" rIns="28575" bIns="9525" anchor="t">
            <a:spAutoFit/>
          </a:bodyPr>
          <a:lstStyle/>
          <a:p>
            <a:pPr algn="l">
              <a:lnSpc>
                <a:spcPct val="115000"/>
              </a:lnSpc>
            </a:pPr>
            <a:endParaRPr/>
          </a:p>
        </p:txBody>
      </p:sp>
      <p:sp>
        <p:nvSpPr>
          <p:cNvPr id="128" name="TextBox 127"/>
          <p:cNvSpPr txBox="1"/>
          <p:nvPr/>
        </p:nvSpPr>
        <p:spPr>
          <a:xfrm>
            <a:off x="7496175" y="5429250"/>
            <a:ext cx="114300" cy="161925"/>
          </a:xfrm>
          <a:prstGeom prst="rect">
            <a:avLst/>
          </a:prstGeom>
          <a:noFill/>
        </p:spPr>
        <p:txBody>
          <a:bodyPr wrap="none" lIns="0" tIns="0" r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tIns="9525" rIns="28575" bIns="9525" anchor="t">
            <a:spAutoFit/>
          </a:bodyPr>
          <a:lstStyle/>
          <a:p>
            <a:pPr algn="l">
              <a:lnSpc>
                <a:spcPct val="115000"/>
              </a:lnSpc>
            </a:pPr>
            <a:r>
              <a:rPr sz="1100" b="0">
                <a:solidFill>
                  <a:srgbClr val="14213D"/>
                </a:solidFill>
                <a:latin typeface="Calibri"/>
              </a:rPr>
              <a:t>Buyer power (3 / 5) and technology substitution (3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pic>
        <p:nvPicPr>
          <p:cNvPr id="135" name="Picture 134" descr="lock.png"/>
          <p:cNvPicPr>
            <a:picLocks noChangeAspect="1"/>
          </p:cNvPicPr>
          <p:nvPr/>
        </p:nvPicPr>
        <p:blipFill>
          <a:blip r:embed="rId4"/>
          <a:stretch>
            <a:fillRect/>
          </a:stretch>
        </p:blipFill>
        <p:spPr>
          <a:xfrm>
            <a:off x="4279050" y="422598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463556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04513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5454713"/>
            <a:ext cx="128699" cy="187198"/>
          </a:xfrm>
          <a:prstGeom prst="rect">
            <a:avLst/>
          </a:prstGeom>
        </p:spPr>
      </p:pic>
      <p:pic>
        <p:nvPicPr>
          <p:cNvPr id="139" name="Picture 138" descr="lock.png"/>
          <p:cNvPicPr>
            <a:picLocks noChangeAspect="1"/>
          </p:cNvPicPr>
          <p:nvPr/>
        </p:nvPicPr>
        <p:blipFill>
          <a:blip r:embed="rId4"/>
          <a:stretch>
            <a:fillRect/>
          </a:stretch>
        </p:blipFill>
        <p:spPr>
          <a:xfrm>
            <a:off x="4279050" y="5864288"/>
            <a:ext cx="128699" cy="187198"/>
          </a:xfrm>
          <a:prstGeom prst="rect">
            <a:avLst/>
          </a:prstGeom>
        </p:spPr>
      </p:pic>
      <p:pic>
        <p:nvPicPr>
          <p:cNvPr id="140" name="Picture 139" descr="lock.png"/>
          <p:cNvPicPr>
            <a:picLocks noChangeAspect="1"/>
          </p:cNvPicPr>
          <p:nvPr/>
        </p:nvPicPr>
        <p:blipFill>
          <a:blip r:embed="rId4"/>
          <a:stretch>
            <a:fillRect/>
          </a:stretch>
        </p:blipFill>
        <p:spPr>
          <a:xfrm>
            <a:off x="4279050" y="6273863"/>
            <a:ext cx="128699" cy="187198"/>
          </a:xfrm>
          <a:prstGeom prst="rect">
            <a:avLst/>
          </a:prstGeom>
        </p:spPr>
      </p:pic>
      <p:sp>
        <p:nvSpPr>
          <p:cNvPr id="141" name="TextBox 140"/>
          <p:cNvSpPr txBox="1"/>
          <p:nvPr/>
        </p:nvSpPr>
        <p:spPr>
          <a:xfrm>
            <a:off x="547018" y="1870710"/>
            <a:ext cx="929133" cy="186689"/>
          </a:xfrm>
          <a:prstGeom prst="rect">
            <a:avLst/>
          </a:prstGeom>
          <a:noFill/>
        </p:spPr>
        <p:txBody>
          <a:bodyPr wrap="none" lIns="0" tIns="0" rIns="0" bIns="0">
            <a:spAutoFit/>
          </a:bodyPr>
          <a:lstStyle/>
          <a:p>
            <a:r>
              <a:rPr sz="1100" b="1">
                <a:solidFill>
                  <a:srgbClr val="FFFFFF"/>
                </a:solidFill>
                <a:latin typeface="Calibri"/>
              </a:rPr>
              <a:t>4 → 5 players ·</a:t>
            </a:r>
          </a:p>
        </p:txBody>
      </p:sp>
      <p:pic>
        <p:nvPicPr>
          <p:cNvPr id="142" name="Picture 141" descr="lock.png"/>
          <p:cNvPicPr>
            <a:picLocks noChangeAspect="1"/>
          </p:cNvPicPr>
          <p:nvPr/>
        </p:nvPicPr>
        <p:blipFill>
          <a:blip r:embed="rId4"/>
          <a:stretch>
            <a:fillRect/>
          </a:stretch>
        </p:blipFill>
        <p:spPr>
          <a:xfrm>
            <a:off x="1424204" y="1860931"/>
            <a:ext cx="128699" cy="187198"/>
          </a:xfrm>
          <a:prstGeom prst="rect">
            <a:avLst/>
          </a:prstGeom>
        </p:spPr>
      </p:pic>
      <p:sp>
        <p:nvSpPr>
          <p:cNvPr id="143" name="TextBox 142"/>
          <p:cNvSpPr txBox="1"/>
          <p:nvPr/>
        </p:nvSpPr>
        <p:spPr>
          <a:xfrm>
            <a:off x="1591699" y="1870710"/>
            <a:ext cx="202803" cy="186689"/>
          </a:xfrm>
          <a:prstGeom prst="rect">
            <a:avLst/>
          </a:prstGeom>
          <a:noFill/>
        </p:spPr>
        <p:txBody>
          <a:bodyPr wrap="none" lIns="0" tIns="0" rIns="0" bIns="0">
            <a:spAutoFit/>
          </a:bodyPr>
          <a:lstStyle/>
          <a:p>
            <a:r>
              <a:rPr sz="1100" b="1">
                <a:solidFill>
                  <a:srgbClr val="FFFFFF"/>
                </a:solidFill>
                <a:latin typeface="Calibri"/>
              </a:rPr>
              <a:t>→</a:t>
            </a:r>
          </a:p>
        </p:txBody>
      </p:sp>
      <p:pic>
        <p:nvPicPr>
          <p:cNvPr id="144" name="Picture 143" descr="lock.png"/>
          <p:cNvPicPr>
            <a:picLocks noChangeAspect="1"/>
          </p:cNvPicPr>
          <p:nvPr/>
        </p:nvPicPr>
        <p:blipFill>
          <a:blip r:embed="rId4"/>
          <a:stretch>
            <a:fillRect/>
          </a:stretch>
        </p:blipFill>
        <p:spPr>
          <a:xfrm>
            <a:off x="1742554" y="1860931"/>
            <a:ext cx="128699" cy="187198"/>
          </a:xfrm>
          <a:prstGeom prst="rect">
            <a:avLst/>
          </a:prstGeom>
        </p:spPr>
      </p:pic>
      <p:sp>
        <p:nvSpPr>
          <p:cNvPr id="145" name="TextBox 144"/>
          <p:cNvSpPr txBox="1"/>
          <p:nvPr/>
        </p:nvSpPr>
        <p:spPr>
          <a:xfrm>
            <a:off x="1049783" y="2038350"/>
            <a:ext cx="395982" cy="186689"/>
          </a:xfrm>
          <a:prstGeom prst="rect">
            <a:avLst/>
          </a:prstGeom>
          <a:noFill/>
        </p:spPr>
        <p:txBody>
          <a:bodyPr wrap="none" lIns="0" tIns="0" rIns="0" bIns="0">
            <a:spAutoFit/>
          </a:bodyPr>
          <a:lstStyle/>
          <a:p>
            <a:r>
              <a:rPr sz="1100" b="1">
                <a:solidFill>
                  <a:srgbClr val="FFFFFF"/>
                </a:solidFill>
                <a:latin typeface="Calibri"/>
              </a:rPr>
              <a:t>share</a:t>
            </a:r>
          </a:p>
        </p:txBody>
      </p:sp>
      <p:sp>
        <p:nvSpPr>
          <p:cNvPr id="146" name="TextBox 145"/>
          <p:cNvSpPr txBox="1"/>
          <p:nvPr/>
        </p:nvSpPr>
        <p:spPr>
          <a:xfrm>
            <a:off x="3804568" y="1870710"/>
            <a:ext cx="929133" cy="186689"/>
          </a:xfrm>
          <a:prstGeom prst="rect">
            <a:avLst/>
          </a:prstGeom>
          <a:noFill/>
        </p:spPr>
        <p:txBody>
          <a:bodyPr wrap="none" lIns="0" tIns="0" rIns="0" bIns="0">
            <a:spAutoFit/>
          </a:bodyPr>
          <a:lstStyle/>
          <a:p>
            <a:r>
              <a:rPr sz="1100" b="1">
                <a:solidFill>
                  <a:srgbClr val="FFFFFF"/>
                </a:solidFill>
                <a:latin typeface="Calibri"/>
              </a:rPr>
              <a:t>2 → 2 players ·</a:t>
            </a:r>
          </a:p>
        </p:txBody>
      </p:sp>
      <p:pic>
        <p:nvPicPr>
          <p:cNvPr id="147" name="Picture 146" descr="lock.png"/>
          <p:cNvPicPr>
            <a:picLocks noChangeAspect="1"/>
          </p:cNvPicPr>
          <p:nvPr/>
        </p:nvPicPr>
        <p:blipFill>
          <a:blip r:embed="rId4"/>
          <a:stretch>
            <a:fillRect/>
          </a:stretch>
        </p:blipFill>
        <p:spPr>
          <a:xfrm>
            <a:off x="4681754" y="1860931"/>
            <a:ext cx="128699" cy="187198"/>
          </a:xfrm>
          <a:prstGeom prst="rect">
            <a:avLst/>
          </a:prstGeom>
        </p:spPr>
      </p:pic>
      <p:sp>
        <p:nvSpPr>
          <p:cNvPr id="148" name="TextBox 147"/>
          <p:cNvSpPr txBox="1"/>
          <p:nvPr/>
        </p:nvSpPr>
        <p:spPr>
          <a:xfrm>
            <a:off x="4849249" y="1870710"/>
            <a:ext cx="202803" cy="186689"/>
          </a:xfrm>
          <a:prstGeom prst="rect">
            <a:avLst/>
          </a:prstGeom>
          <a:noFill/>
        </p:spPr>
        <p:txBody>
          <a:bodyPr wrap="none" lIns="0" tIns="0" rIns="0" bIns="0">
            <a:spAutoFit/>
          </a:bodyPr>
          <a:lstStyle/>
          <a:p>
            <a:r>
              <a:rPr sz="1100" b="1">
                <a:solidFill>
                  <a:srgbClr val="FFFFFF"/>
                </a:solidFill>
                <a:latin typeface="Calibri"/>
              </a:rPr>
              <a:t>→</a:t>
            </a:r>
          </a:p>
        </p:txBody>
      </p:sp>
      <p:pic>
        <p:nvPicPr>
          <p:cNvPr id="149" name="Picture 148" descr="lock.png"/>
          <p:cNvPicPr>
            <a:picLocks noChangeAspect="1"/>
          </p:cNvPicPr>
          <p:nvPr/>
        </p:nvPicPr>
        <p:blipFill>
          <a:blip r:embed="rId4"/>
          <a:stretch>
            <a:fillRect/>
          </a:stretch>
        </p:blipFill>
        <p:spPr>
          <a:xfrm>
            <a:off x="5000104" y="1860931"/>
            <a:ext cx="128699" cy="187198"/>
          </a:xfrm>
          <a:prstGeom prst="rect">
            <a:avLst/>
          </a:prstGeom>
        </p:spPr>
      </p:pic>
      <p:sp>
        <p:nvSpPr>
          <p:cNvPr id="150" name="TextBox 149"/>
          <p:cNvSpPr txBox="1"/>
          <p:nvPr/>
        </p:nvSpPr>
        <p:spPr>
          <a:xfrm>
            <a:off x="4307333" y="2038350"/>
            <a:ext cx="395982" cy="186689"/>
          </a:xfrm>
          <a:prstGeom prst="rect">
            <a:avLst/>
          </a:prstGeom>
          <a:noFill/>
        </p:spPr>
        <p:txBody>
          <a:bodyPr wrap="none" lIns="0" tIns="0" rIns="0" bIns="0">
            <a:spAutoFit/>
          </a:bodyPr>
          <a:lstStyle/>
          <a:p>
            <a:r>
              <a:rPr sz="1100" b="1">
                <a:solidFill>
                  <a:srgbClr val="FFFFFF"/>
                </a:solidFill>
                <a:latin typeface="Calibri"/>
              </a:rPr>
              <a:t>share</a:t>
            </a:r>
          </a:p>
        </p:txBody>
      </p:sp>
      <p:sp>
        <p:nvSpPr>
          <p:cNvPr id="151" name="TextBox 150"/>
          <p:cNvSpPr txBox="1"/>
          <p:nvPr/>
        </p:nvSpPr>
        <p:spPr>
          <a:xfrm>
            <a:off x="7062118" y="1870710"/>
            <a:ext cx="929133" cy="186689"/>
          </a:xfrm>
          <a:prstGeom prst="rect">
            <a:avLst/>
          </a:prstGeom>
          <a:noFill/>
        </p:spPr>
        <p:txBody>
          <a:bodyPr wrap="none" lIns="0" tIns="0" rIns="0" bIns="0">
            <a:spAutoFit/>
          </a:bodyPr>
          <a:lstStyle/>
          <a:p>
            <a:r>
              <a:rPr sz="1100" b="1">
                <a:solidFill>
                  <a:srgbClr val="FFFFFF"/>
                </a:solidFill>
                <a:latin typeface="Calibri"/>
              </a:rPr>
              <a:t>4 → 4 players ·</a:t>
            </a:r>
          </a:p>
        </p:txBody>
      </p:sp>
      <p:pic>
        <p:nvPicPr>
          <p:cNvPr id="152" name="Picture 151" descr="lock.png"/>
          <p:cNvPicPr>
            <a:picLocks noChangeAspect="1"/>
          </p:cNvPicPr>
          <p:nvPr/>
        </p:nvPicPr>
        <p:blipFill>
          <a:blip r:embed="rId4"/>
          <a:stretch>
            <a:fillRect/>
          </a:stretch>
        </p:blipFill>
        <p:spPr>
          <a:xfrm>
            <a:off x="7939304" y="1860931"/>
            <a:ext cx="128699" cy="187198"/>
          </a:xfrm>
          <a:prstGeom prst="rect">
            <a:avLst/>
          </a:prstGeom>
        </p:spPr>
      </p:pic>
      <p:sp>
        <p:nvSpPr>
          <p:cNvPr id="153" name="TextBox 152"/>
          <p:cNvSpPr txBox="1"/>
          <p:nvPr/>
        </p:nvSpPr>
        <p:spPr>
          <a:xfrm>
            <a:off x="8106799" y="1870710"/>
            <a:ext cx="202803" cy="186689"/>
          </a:xfrm>
          <a:prstGeom prst="rect">
            <a:avLst/>
          </a:prstGeom>
          <a:noFill/>
        </p:spPr>
        <p:txBody>
          <a:bodyPr wrap="none" lIns="0" tIns="0" rIns="0" bIns="0">
            <a:spAutoFit/>
          </a:bodyPr>
          <a:lstStyle/>
          <a:p>
            <a:r>
              <a:rPr sz="1100" b="1">
                <a:solidFill>
                  <a:srgbClr val="FFFFFF"/>
                </a:solidFill>
                <a:latin typeface="Calibri"/>
              </a:rPr>
              <a:t>→</a:t>
            </a:r>
          </a:p>
        </p:txBody>
      </p:sp>
      <p:pic>
        <p:nvPicPr>
          <p:cNvPr id="154" name="Picture 153" descr="lock.png"/>
          <p:cNvPicPr>
            <a:picLocks noChangeAspect="1"/>
          </p:cNvPicPr>
          <p:nvPr/>
        </p:nvPicPr>
        <p:blipFill>
          <a:blip r:embed="rId4"/>
          <a:stretch>
            <a:fillRect/>
          </a:stretch>
        </p:blipFill>
        <p:spPr>
          <a:xfrm>
            <a:off x="8257654" y="1860931"/>
            <a:ext cx="128699" cy="187198"/>
          </a:xfrm>
          <a:prstGeom prst="rect">
            <a:avLst/>
          </a:prstGeom>
        </p:spPr>
      </p:pic>
      <p:sp>
        <p:nvSpPr>
          <p:cNvPr id="155" name="TextBox 154"/>
          <p:cNvSpPr txBox="1"/>
          <p:nvPr/>
        </p:nvSpPr>
        <p:spPr>
          <a:xfrm>
            <a:off x="7564883" y="2038350"/>
            <a:ext cx="395982" cy="186689"/>
          </a:xfrm>
          <a:prstGeom prst="rect">
            <a:avLst/>
          </a:prstGeom>
          <a:noFill/>
        </p:spPr>
        <p:txBody>
          <a:bodyPr wrap="none" lIns="0" tIns="0" rIns="0" bIns="0">
            <a:spAutoFit/>
          </a:bodyPr>
          <a:lstStyle/>
          <a:p>
            <a:r>
              <a:rPr sz="1100" b="1">
                <a:solidFill>
                  <a:srgbClr val="FFFFFF"/>
                </a:solidFill>
                <a:latin typeface="Calibri"/>
              </a:rPr>
              <a:t>share</a:t>
            </a:r>
          </a:p>
        </p:txBody>
      </p:sp>
      <p:sp>
        <p:nvSpPr>
          <p:cNvPr id="156" name="TextBox 155"/>
          <p:cNvSpPr txBox="1"/>
          <p:nvPr/>
        </p:nvSpPr>
        <p:spPr>
          <a:xfrm>
            <a:off x="10286075" y="1954530"/>
            <a:ext cx="638819" cy="186689"/>
          </a:xfrm>
          <a:prstGeom prst="rect">
            <a:avLst/>
          </a:prstGeom>
          <a:noFill/>
        </p:spPr>
        <p:txBody>
          <a:bodyPr wrap="none" lIns="0" tIns="0" rIns="0" bIns="0">
            <a:spAutoFit/>
          </a:bodyPr>
          <a:lstStyle/>
          <a:p>
            <a:r>
              <a:rPr sz="1100" b="1">
                <a:solidFill>
                  <a:srgbClr val="14213D"/>
                </a:solidFill>
                <a:latin typeface="Calibri"/>
              </a:rPr>
              <a:t>Long tail ·</a:t>
            </a:r>
          </a:p>
        </p:txBody>
      </p:sp>
      <p:pic>
        <p:nvPicPr>
          <p:cNvPr id="157" name="Picture 156" descr="lock.png"/>
          <p:cNvPicPr>
            <a:picLocks noChangeAspect="1"/>
          </p:cNvPicPr>
          <p:nvPr/>
        </p:nvPicPr>
        <p:blipFill>
          <a:blip r:embed="rId4"/>
          <a:stretch>
            <a:fillRect/>
          </a:stretch>
        </p:blipFill>
        <p:spPr>
          <a:xfrm>
            <a:off x="10872946" y="1944751"/>
            <a:ext cx="128699" cy="187198"/>
          </a:xfrm>
          <a:prstGeom prst="rect">
            <a:avLst/>
          </a:prstGeom>
        </p:spPr>
      </p:pic>
      <p:sp>
        <p:nvSpPr>
          <p:cNvPr id="158" name="TextBox 157"/>
          <p:cNvSpPr txBox="1"/>
          <p:nvPr/>
        </p:nvSpPr>
        <p:spPr>
          <a:xfrm>
            <a:off x="11040442" y="1954530"/>
            <a:ext cx="202803" cy="186689"/>
          </a:xfrm>
          <a:prstGeom prst="rect">
            <a:avLst/>
          </a:prstGeom>
          <a:noFill/>
        </p:spPr>
        <p:txBody>
          <a:bodyPr wrap="none" lIns="0" tIns="0" rIns="0" bIns="0">
            <a:spAutoFit/>
          </a:bodyPr>
          <a:lstStyle/>
          <a:p>
            <a:r>
              <a:rPr sz="1100" b="1">
                <a:solidFill>
                  <a:srgbClr val="14213D"/>
                </a:solidFill>
                <a:latin typeface="Calibri"/>
              </a:rPr>
              <a:t>→</a:t>
            </a:r>
          </a:p>
        </p:txBody>
      </p:sp>
      <p:pic>
        <p:nvPicPr>
          <p:cNvPr id="159" name="Picture 158" descr="lock.png"/>
          <p:cNvPicPr>
            <a:picLocks noChangeAspect="1"/>
          </p:cNvPicPr>
          <p:nvPr/>
        </p:nvPicPr>
        <p:blipFill>
          <a:blip r:embed="rId4"/>
          <a:stretch>
            <a:fillRect/>
          </a:stretch>
        </p:blipFill>
        <p:spPr>
          <a:xfrm>
            <a:off x="11191297" y="1944751"/>
            <a:ext cx="128699" cy="187198"/>
          </a:xfrm>
          <a:prstGeom prst="rect">
            <a:avLst/>
          </a:prstGeom>
        </p:spPr>
      </p:pic>
      <p:sp>
        <p:nvSpPr>
          <p:cNvPr id="160" name="TextBox 159"/>
          <p:cNvSpPr txBox="1"/>
          <p:nvPr/>
        </p:nvSpPr>
        <p:spPr>
          <a:xfrm>
            <a:off x="11358792" y="1954530"/>
            <a:ext cx="395982" cy="186689"/>
          </a:xfrm>
          <a:prstGeom prst="rect">
            <a:avLst/>
          </a:prstGeom>
          <a:noFill/>
        </p:spPr>
        <p:txBody>
          <a:bodyPr wrap="none" lIns="0" tIns="0" rIns="0" bIns="0">
            <a:spAutoFit/>
          </a:bodyPr>
          <a:lstStyle/>
          <a:p>
            <a:r>
              <a:rPr sz="1100" b="1">
                <a:solidFill>
                  <a:srgbClr val="14213D"/>
                </a:solidFill>
                <a:latin typeface="Calibri"/>
              </a:rPr>
              <a:t>share</a:t>
            </a:r>
          </a:p>
        </p:txBody>
      </p:sp>
      <p:sp>
        <p:nvSpPr>
          <p:cNvPr id="161" name="TextBox 160"/>
          <p:cNvSpPr txBox="1"/>
          <p:nvPr/>
        </p:nvSpPr>
        <p:spPr>
          <a:xfrm>
            <a:off x="7658100" y="3857625"/>
            <a:ext cx="1828179" cy="186689"/>
          </a:xfrm>
          <a:prstGeom prst="rect">
            <a:avLst/>
          </a:prstGeom>
          <a:noFill/>
        </p:spPr>
        <p:txBody>
          <a:bodyPr wrap="none" lIns="0" tIns="0" rIns="0" bIns="0">
            <a:spAutoFit/>
          </a:bodyPr>
          <a:lstStyle/>
          <a:p>
            <a:r>
              <a:rPr sz="1100" b="0">
                <a:solidFill>
                  <a:srgbClr val="14213D"/>
                </a:solidFill>
                <a:latin typeface="Calibri"/>
              </a:rPr>
              <a:t>The market is fragmented (HHI</a:t>
            </a:r>
          </a:p>
        </p:txBody>
      </p:sp>
      <p:pic>
        <p:nvPicPr>
          <p:cNvPr id="162" name="Picture 161" descr="lock.png"/>
          <p:cNvPicPr>
            <a:picLocks noChangeAspect="1"/>
          </p:cNvPicPr>
          <p:nvPr/>
        </p:nvPicPr>
        <p:blipFill>
          <a:blip r:embed="rId4"/>
          <a:stretch>
            <a:fillRect/>
          </a:stretch>
        </p:blipFill>
        <p:spPr>
          <a:xfrm>
            <a:off x="9434331" y="3847846"/>
            <a:ext cx="128699" cy="187198"/>
          </a:xfrm>
          <a:prstGeom prst="rect">
            <a:avLst/>
          </a:prstGeom>
        </p:spPr>
      </p:pic>
      <p:sp>
        <p:nvSpPr>
          <p:cNvPr id="163" name="TextBox 162"/>
          <p:cNvSpPr txBox="1"/>
          <p:nvPr/>
        </p:nvSpPr>
        <p:spPr>
          <a:xfrm>
            <a:off x="9601827" y="3857625"/>
            <a:ext cx="2068562" cy="186689"/>
          </a:xfrm>
          <a:prstGeom prst="rect">
            <a:avLst/>
          </a:prstGeom>
          <a:noFill/>
        </p:spPr>
        <p:txBody>
          <a:bodyPr wrap="none" lIns="0" tIns="0" rIns="0" bIns="0">
            <a:spAutoFit/>
          </a:bodyPr>
          <a:lstStyle/>
          <a:p>
            <a:r>
              <a:rPr sz="1100" b="0">
                <a:solidFill>
                  <a:srgbClr val="14213D"/>
                </a:solidFill>
                <a:latin typeface="Calibri"/>
              </a:rPr>
              <a:t>); Tier 1 sets pricing and innovation</a:t>
            </a:r>
          </a:p>
        </p:txBody>
      </p:sp>
      <p:sp>
        <p:nvSpPr>
          <p:cNvPr id="164" name="TextBox 163"/>
          <p:cNvSpPr txBox="1"/>
          <p:nvPr/>
        </p:nvSpPr>
        <p:spPr>
          <a:xfrm>
            <a:off x="7658100" y="4025265"/>
            <a:ext cx="2124769" cy="186689"/>
          </a:xfrm>
          <a:prstGeom prst="rect">
            <a:avLst/>
          </a:prstGeom>
          <a:noFill/>
        </p:spPr>
        <p:txBody>
          <a:bodyPr wrap="none" lIns="0" tIns="0" rIns="0" bIns="0">
            <a:spAutoFit/>
          </a:bodyPr>
          <a:lstStyle/>
          <a:p>
            <a:r>
              <a:rPr sz="1100" b="0">
                <a:solidFill>
                  <a:srgbClr val="14213D"/>
                </a:solidFill>
                <a:latin typeface="Calibri"/>
              </a:rPr>
              <a:t>benchmarks and is expected to hold</a:t>
            </a:r>
          </a:p>
        </p:txBody>
      </p:sp>
      <p:pic>
        <p:nvPicPr>
          <p:cNvPr id="165" name="Picture 164" descr="lock.png"/>
          <p:cNvPicPr>
            <a:picLocks noChangeAspect="1"/>
          </p:cNvPicPr>
          <p:nvPr/>
        </p:nvPicPr>
        <p:blipFill>
          <a:blip r:embed="rId4"/>
          <a:stretch>
            <a:fillRect/>
          </a:stretch>
        </p:blipFill>
        <p:spPr>
          <a:xfrm>
            <a:off x="9730921" y="4015486"/>
            <a:ext cx="128699" cy="187198"/>
          </a:xfrm>
          <a:prstGeom prst="rect">
            <a:avLst/>
          </a:prstGeom>
        </p:spPr>
      </p:pic>
      <p:sp>
        <p:nvSpPr>
          <p:cNvPr id="166" name="TextBox 165"/>
          <p:cNvSpPr txBox="1"/>
          <p:nvPr/>
        </p:nvSpPr>
        <p:spPr>
          <a:xfrm>
            <a:off x="9898416" y="4025265"/>
            <a:ext cx="1016992" cy="186689"/>
          </a:xfrm>
          <a:prstGeom prst="rect">
            <a:avLst/>
          </a:prstGeom>
          <a:noFill/>
        </p:spPr>
        <p:txBody>
          <a:bodyPr wrap="none" lIns="0" tIns="0" rIns="0" bIns="0">
            <a:spAutoFit/>
          </a:bodyPr>
          <a:lstStyle/>
          <a:p>
            <a:r>
              <a:rPr sz="1100" b="0">
                <a:solidFill>
                  <a:srgbClr val="14213D"/>
                </a:solidFill>
                <a:latin typeface="Calibri"/>
              </a:rPr>
              <a:t>of value in 2036.</a:t>
            </a:r>
          </a:p>
        </p:txBody>
      </p:sp>
      <p:sp>
        <p:nvSpPr>
          <p:cNvPr id="167" name="TextBox 166"/>
          <p:cNvSpPr txBox="1"/>
          <p:nvPr/>
        </p:nvSpPr>
        <p:spPr>
          <a:xfrm>
            <a:off x="7658100" y="5019675"/>
            <a:ext cx="3471019" cy="186689"/>
          </a:xfrm>
          <a:prstGeom prst="rect">
            <a:avLst/>
          </a:prstGeom>
          <a:noFill/>
        </p:spPr>
        <p:txBody>
          <a:bodyPr wrap="none" lIns="0" tIns="0" rIns="0" bIns="0">
            <a:spAutoFit/>
          </a:bodyPr>
          <a:lstStyle/>
          <a:p>
            <a:r>
              <a:rPr sz="1100" b="0">
                <a:solidFill>
                  <a:srgbClr val="14213D"/>
                </a:solidFill>
                <a:latin typeface="Calibri"/>
              </a:rPr>
              <a:t>Tier 3 and the long tail face the highest structural pressure (</a:t>
            </a:r>
          </a:p>
        </p:txBody>
      </p:sp>
      <p:pic>
        <p:nvPicPr>
          <p:cNvPr id="168" name="Picture 167" descr="lock.png"/>
          <p:cNvPicPr>
            <a:picLocks noChangeAspect="1"/>
          </p:cNvPicPr>
          <p:nvPr/>
        </p:nvPicPr>
        <p:blipFill>
          <a:blip r:embed="rId4"/>
          <a:stretch>
            <a:fillRect/>
          </a:stretch>
        </p:blipFill>
        <p:spPr>
          <a:xfrm>
            <a:off x="11077170" y="5009895"/>
            <a:ext cx="128699" cy="187198"/>
          </a:xfrm>
          <a:prstGeom prst="rect">
            <a:avLst/>
          </a:prstGeom>
        </p:spPr>
      </p:pic>
      <p:sp>
        <p:nvSpPr>
          <p:cNvPr id="169" name="TextBox 168"/>
          <p:cNvSpPr txBox="1"/>
          <p:nvPr/>
        </p:nvSpPr>
        <p:spPr>
          <a:xfrm>
            <a:off x="11244666" y="5019675"/>
            <a:ext cx="415081" cy="186689"/>
          </a:xfrm>
          <a:prstGeom prst="rect">
            <a:avLst/>
          </a:prstGeom>
          <a:noFill/>
        </p:spPr>
        <p:txBody>
          <a:bodyPr wrap="none" lIns="0" tIns="0" rIns="0" bIns="0">
            <a:spAutoFit/>
          </a:bodyPr>
          <a:lstStyle/>
          <a:p>
            <a:r>
              <a:rPr sz="1100" b="0">
                <a:solidFill>
                  <a:srgbClr val="14213D"/>
                </a:solidFill>
                <a:latin typeface="Calibri"/>
              </a:rPr>
              <a:t>/ 5); 2</a:t>
            </a:r>
          </a:p>
        </p:txBody>
      </p:sp>
      <p:sp>
        <p:nvSpPr>
          <p:cNvPr id="170" name="TextBox 169"/>
          <p:cNvSpPr txBox="1"/>
          <p:nvPr/>
        </p:nvSpPr>
        <p:spPr>
          <a:xfrm>
            <a:off x="7658100" y="5187315"/>
            <a:ext cx="2541413" cy="186689"/>
          </a:xfrm>
          <a:prstGeom prst="rect">
            <a:avLst/>
          </a:prstGeom>
          <a:noFill/>
        </p:spPr>
        <p:txBody>
          <a:bodyPr wrap="none" lIns="0" tIns="0" r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Senior Dog Cognitive Supplement Market Competitive Dashboard View (2026)</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tIns="0" rIns="1905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71450" y="1536618"/>
            <a:ext cx="1085850" cy="255552"/>
          </a:xfrm>
          <a:prstGeom prst="rect">
            <a:avLst/>
          </a:prstGeom>
          <a:noFill/>
        </p:spPr>
        <p:txBody>
          <a:bodyPr wrap="square" lIns="19050" tIns="9525" rIns="19050" bIns="9525" anchor="ctr">
            <a:spAutoFit/>
          </a:bodyPr>
          <a:lstStyle/>
          <a:p>
            <a:pPr algn="l">
              <a:lnSpc>
                <a:spcPct val="100000"/>
              </a:lnSpc>
            </a:pPr>
            <a:r>
              <a:rPr sz="1100" b="1">
                <a:solidFill>
                  <a:srgbClr val="0B2E4A"/>
                </a:solidFill>
                <a:latin typeface="Calibri"/>
              </a:rPr>
              <a:t>Company / Brand</a:t>
            </a:r>
          </a:p>
        </p:txBody>
      </p:sp>
      <p:sp>
        <p:nvSpPr>
          <p:cNvPr id="36" name="TextBox 35"/>
          <p:cNvSpPr txBox="1"/>
          <p:nvPr/>
        </p:nvSpPr>
        <p:spPr>
          <a:xfrm>
            <a:off x="171450" y="1792170"/>
            <a:ext cx="1085850" cy="839670"/>
          </a:xfrm>
          <a:prstGeom prst="rect">
            <a:avLst/>
          </a:prstGeom>
          <a:noFill/>
        </p:spPr>
        <p:txBody>
          <a:bodyPr wrap="square" lIns="19050" tIns="9525" rIns="19050" bIns="9525" anchor="ctr">
            <a:spAutoFit/>
          </a:bodyPr>
          <a:lstStyle/>
          <a:p>
            <a:pPr algn="l">
              <a:lnSpc>
                <a:spcPct val="100000"/>
              </a:lnSpc>
            </a:pPr>
            <a:r>
              <a:rPr sz="1100" b="1">
                <a:solidFill>
                  <a:srgbClr val="0B2E4A"/>
                </a:solidFill>
                <a:latin typeface="Calibri"/>
              </a:rPr>
              <a:t>Product Portfolio</a:t>
            </a:r>
          </a:p>
        </p:txBody>
      </p:sp>
      <p:sp>
        <p:nvSpPr>
          <p:cNvPr id="37" name="TextBox 36"/>
          <p:cNvSpPr txBox="1"/>
          <p:nvPr/>
        </p:nvSpPr>
        <p:spPr>
          <a:xfrm>
            <a:off x="171450" y="2631840"/>
            <a:ext cx="1085850" cy="328567"/>
          </a:xfrm>
          <a:prstGeom prst="rect">
            <a:avLst/>
          </a:prstGeom>
          <a:noFill/>
        </p:spPr>
        <p:txBody>
          <a:bodyPr wrap="square" lIns="19050" tIns="9525" rIns="19050" bIns="9525" anchor="ctr">
            <a:spAutoFit/>
          </a:bodyPr>
          <a:lstStyle/>
          <a:p>
            <a:pPr algn="l">
              <a:lnSpc>
                <a:spcPct val="100000"/>
              </a:lnSpc>
            </a:pPr>
            <a:r>
              <a:rPr sz="1100" b="1">
                <a:solidFill>
                  <a:srgbClr val="0B2E4A"/>
                </a:solidFill>
                <a:latin typeface="Calibri"/>
              </a:rPr>
              <a:t>Overall Rev (US$ Mn)</a:t>
            </a:r>
          </a:p>
        </p:txBody>
      </p:sp>
      <p:sp>
        <p:nvSpPr>
          <p:cNvPr id="38" name="TextBox 37"/>
          <p:cNvSpPr txBox="1"/>
          <p:nvPr/>
        </p:nvSpPr>
        <p:spPr>
          <a:xfrm>
            <a:off x="171450" y="2960407"/>
            <a:ext cx="1085850" cy="328567"/>
          </a:xfrm>
          <a:prstGeom prst="rect">
            <a:avLst/>
          </a:prstGeom>
          <a:noFill/>
        </p:spPr>
        <p:txBody>
          <a:bodyPr wrap="square" lIns="19050" tIns="9525" rIns="19050" bIns="9525" anchor="ctr">
            <a:spAutoFit/>
          </a:bodyPr>
          <a:lstStyle/>
          <a:p>
            <a:pPr algn="l">
              <a:lnSpc>
                <a:spcPct val="100000"/>
              </a:lnSpc>
            </a:pPr>
            <a:r>
              <a:rPr sz="1100" b="1">
                <a:solidFill>
                  <a:srgbClr val="0B2E4A"/>
                </a:solidFill>
                <a:latin typeface="Calibri"/>
              </a:rPr>
              <a:t>Target Rev (US$ Mn)</a:t>
            </a:r>
          </a:p>
        </p:txBody>
      </p:sp>
      <p:sp>
        <p:nvSpPr>
          <p:cNvPr id="39" name="TextBox 38"/>
          <p:cNvSpPr txBox="1"/>
          <p:nvPr/>
        </p:nvSpPr>
        <p:spPr>
          <a:xfrm>
            <a:off x="171450" y="3288973"/>
            <a:ext cx="1085850" cy="766655"/>
          </a:xfrm>
          <a:prstGeom prst="rect">
            <a:avLst/>
          </a:prstGeom>
          <a:noFill/>
        </p:spPr>
        <p:txBody>
          <a:bodyPr wrap="square" lIns="19050" tIns="9525" rIns="19050" bIns="9525" anchor="ctr">
            <a:spAutoFit/>
          </a:bodyPr>
          <a:lstStyle/>
          <a:p>
            <a:pPr algn="l">
              <a:lnSpc>
                <a:spcPct val="100000"/>
              </a:lnSpc>
            </a:pPr>
            <a:r>
              <a:rPr sz="1100" b="1">
                <a:solidFill>
                  <a:srgbClr val="0B2E4A"/>
                </a:solidFill>
                <a:latin typeface="Calibri"/>
              </a:rPr>
              <a:t>Market Share (%)</a:t>
            </a:r>
          </a:p>
        </p:txBody>
      </p:sp>
      <p:sp>
        <p:nvSpPr>
          <p:cNvPr id="40" name="TextBox 39"/>
          <p:cNvSpPr txBox="1"/>
          <p:nvPr/>
        </p:nvSpPr>
        <p:spPr>
          <a:xfrm>
            <a:off x="171450" y="4055629"/>
            <a:ext cx="1085850" cy="985700"/>
          </a:xfrm>
          <a:prstGeom prst="rect">
            <a:avLst/>
          </a:prstGeom>
          <a:noFill/>
        </p:spPr>
        <p:txBody>
          <a:bodyPr wrap="square" lIns="19050" tIns="9525" rIns="19050" bIns="9525" anchor="ctr">
            <a:spAutoFit/>
          </a:bodyPr>
          <a:lstStyle/>
          <a:p>
            <a:pPr algn="l">
              <a:lnSpc>
                <a:spcPct val="100000"/>
              </a:lnSpc>
            </a:pPr>
            <a:r>
              <a:rPr sz="1100" b="1">
                <a:solidFill>
                  <a:srgbClr val="0B2E4A"/>
                </a:solidFill>
                <a:latin typeface="Calibri"/>
              </a:rPr>
              <a:t>Regional Presence</a:t>
            </a:r>
          </a:p>
        </p:txBody>
      </p:sp>
      <p:sp>
        <p:nvSpPr>
          <p:cNvPr id="41" name="TextBox 40"/>
          <p:cNvSpPr txBox="1"/>
          <p:nvPr/>
        </p:nvSpPr>
        <p:spPr>
          <a:xfrm>
            <a:off x="171450" y="5041328"/>
            <a:ext cx="1085850" cy="657133"/>
          </a:xfrm>
          <a:prstGeom prst="rect">
            <a:avLst/>
          </a:prstGeom>
          <a:noFill/>
        </p:spPr>
        <p:txBody>
          <a:bodyPr wrap="square" lIns="19050" tIns="9525" rIns="19050" bIns="9525" anchor="ctr">
            <a:spAutoFit/>
          </a:bodyPr>
          <a:lstStyle/>
          <a:p>
            <a:pPr algn="l">
              <a:lnSpc>
                <a:spcPct val="100000"/>
              </a:lnSpc>
            </a:pPr>
            <a:r>
              <a:rPr sz="1100" b="1">
                <a:solidFill>
                  <a:srgbClr val="0B2E4A"/>
                </a:solidFill>
                <a:latin typeface="Calibri"/>
              </a:rPr>
              <a:t>Strategies</a:t>
            </a:r>
          </a:p>
        </p:txBody>
      </p:sp>
      <p:sp>
        <p:nvSpPr>
          <p:cNvPr id="42" name="TextBox 41"/>
          <p:cNvSpPr txBox="1"/>
          <p:nvPr/>
        </p:nvSpPr>
        <p:spPr>
          <a:xfrm>
            <a:off x="1323975"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Standard Process</a:t>
            </a:r>
          </a:p>
        </p:txBody>
      </p:sp>
      <p:cxnSp>
        <p:nvCxnSpPr>
          <p:cNvPr id="43" name="Connector 42"/>
          <p:cNvCxnSpPr/>
          <p:nvPr/>
        </p:nvCxnSpPr>
        <p:spPr>
          <a:xfrm>
            <a:off x="16049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323975"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A</a:t>
            </a:r>
          </a:p>
        </p:txBody>
      </p:sp>
      <p:sp>
        <p:nvSpPr>
          <p:cNvPr id="45" name="TextBox 44"/>
          <p:cNvSpPr txBox="1"/>
          <p:nvPr/>
        </p:nvSpPr>
        <p:spPr>
          <a:xfrm>
            <a:off x="1314450"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 </a:t>
            </a:r>
          </a:p>
        </p:txBody>
      </p:sp>
      <p:sp>
        <p:nvSpPr>
          <p:cNvPr id="46" name="TextBox 45"/>
          <p:cNvSpPr txBox="1"/>
          <p:nvPr/>
        </p:nvSpPr>
        <p:spPr>
          <a:xfrm>
            <a:off x="1314450" y="2047722"/>
            <a:ext cx="1038225" cy="182537"/>
          </a:xfrm>
          <a:prstGeom prst="rect">
            <a:avLst/>
          </a:prstGeom>
          <a:noFill/>
        </p:spPr>
        <p:txBody>
          <a:bodyPr wrap="square" lIns="28575" tIns="9525" rIns="28575" bIns="9525" anchor="ctr">
            <a:spAutoFit/>
          </a:bodyPr>
          <a:lstStyle/>
          <a:p>
            <a:pPr algn="ctr"/>
            <a:r>
              <a:rPr sz="1100" b="1">
                <a:solidFill>
                  <a:srgbClr val="008189"/>
                </a:solidFill>
                <a:latin typeface="Calibri"/>
              </a:rPr>
              <a:t>✔ ✔ </a:t>
            </a:r>
            <a:r>
              <a:rPr sz="1100" b="1">
                <a:solidFill>
                  <a:srgbClr val="E44D3A"/>
                </a:solidFill>
                <a:latin typeface="Calibri"/>
              </a:rPr>
              <a:t>✘ </a:t>
            </a:r>
          </a:p>
        </p:txBody>
      </p:sp>
      <p:sp>
        <p:nvSpPr>
          <p:cNvPr id="47" name="Rectangle 46"/>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323975"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51" name="TextBox 50"/>
          <p:cNvSpPr txBox="1"/>
          <p:nvPr/>
        </p:nvSpPr>
        <p:spPr>
          <a:xfrm>
            <a:off x="1323975"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52" name="Oval 51"/>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Freeform 52"/>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585912" y="3590159"/>
            <a:ext cx="495300" cy="127776"/>
          </a:xfrm>
          <a:prstGeom prst="rect">
            <a:avLst/>
          </a:prstGeom>
          <a:noFill/>
        </p:spPr>
        <p:txBody>
          <a:bodyPr wrap="square" lIns="28575" tIns="9525" rIns="28575" bIns="9525" anchor="ctr">
            <a:spAutoFit/>
          </a:bodyPr>
          <a:lstStyle/>
          <a:p>
            <a:pPr algn="ctr"/>
            <a:r>
              <a:rPr sz="1100" b="1">
                <a:solidFill>
                  <a:srgbClr val="0B2E4A"/>
                </a:solidFill>
                <a:latin typeface="Calibri"/>
              </a:rPr>
              <a:t> </a:t>
            </a:r>
          </a:p>
        </p:txBody>
      </p:sp>
      <p:sp>
        <p:nvSpPr>
          <p:cNvPr id="56" name="TextBox 55"/>
          <p:cNvSpPr txBox="1"/>
          <p:nvPr/>
        </p:nvSpPr>
        <p:spPr>
          <a:xfrm>
            <a:off x="1343025"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7" name="Oval 56"/>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4287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59" name="Oval 58"/>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6383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61" name="Oval 60"/>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8478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63" name="Oval 62"/>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0574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65" name="Oval 64"/>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53352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67" name="Oval 66"/>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74307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69" name="Oval 68"/>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95262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71" name="TextBox 70"/>
          <p:cNvSpPr txBox="1"/>
          <p:nvPr/>
        </p:nvSpPr>
        <p:spPr>
          <a:xfrm>
            <a:off x="2400300"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VetriScience</a:t>
            </a:r>
          </a:p>
        </p:txBody>
      </p:sp>
      <p:cxnSp>
        <p:nvCxnSpPr>
          <p:cNvPr id="72" name="Connector 71"/>
          <p:cNvCxnSpPr/>
          <p:nvPr/>
        </p:nvCxnSpPr>
        <p:spPr>
          <a:xfrm>
            <a:off x="26812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400300"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B</a:t>
            </a:r>
          </a:p>
        </p:txBody>
      </p:sp>
      <p:sp>
        <p:nvSpPr>
          <p:cNvPr id="74" name="TextBox 73"/>
          <p:cNvSpPr txBox="1"/>
          <p:nvPr/>
        </p:nvSpPr>
        <p:spPr>
          <a:xfrm>
            <a:off x="2390775"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5" name="TextBox 74"/>
          <p:cNvSpPr txBox="1"/>
          <p:nvPr/>
        </p:nvSpPr>
        <p:spPr>
          <a:xfrm>
            <a:off x="2390775" y="2047722"/>
            <a:ext cx="1038225" cy="182537"/>
          </a:xfrm>
          <a:prstGeom prst="rect">
            <a:avLst/>
          </a:prstGeom>
          <a:noFill/>
        </p:spPr>
        <p:txBody>
          <a:bodyPr wrap="square" lIns="28575" tIns="9525" rIns="2857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6" name="Rectangle 75"/>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2400300"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80" name="TextBox 79"/>
          <p:cNvSpPr txBox="1"/>
          <p:nvPr/>
        </p:nvSpPr>
        <p:spPr>
          <a:xfrm>
            <a:off x="2400300"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81" name="Oval 80"/>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Freeform 81"/>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2662238" y="3590159"/>
            <a:ext cx="495300" cy="127776"/>
          </a:xfrm>
          <a:prstGeom prst="rect">
            <a:avLst/>
          </a:prstGeom>
          <a:noFill/>
        </p:spPr>
        <p:txBody>
          <a:bodyPr wrap="square" lIns="28575" tIns="9525" rIns="28575" bIns="9525" anchor="ctr">
            <a:spAutoFit/>
          </a:bodyPr>
          <a:lstStyle/>
          <a:p>
            <a:pPr algn="ctr"/>
            <a:r>
              <a:rPr sz="1100" b="1">
                <a:solidFill>
                  <a:srgbClr val="0B2E4A"/>
                </a:solidFill>
                <a:latin typeface="Calibri"/>
              </a:rPr>
              <a:t> </a:t>
            </a:r>
          </a:p>
        </p:txBody>
      </p:sp>
      <p:sp>
        <p:nvSpPr>
          <p:cNvPr id="85" name="TextBox 84"/>
          <p:cNvSpPr txBox="1"/>
          <p:nvPr/>
        </p:nvSpPr>
        <p:spPr>
          <a:xfrm>
            <a:off x="2419350"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6" name="Oval 85"/>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5050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88" name="Oval 87"/>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27146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90" name="Oval 89"/>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29241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92" name="Oval 91"/>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31337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94" name="Oval 93"/>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60985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96" name="Oval 95"/>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81940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98" name="Oval 97"/>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302895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100" name="TextBox 99"/>
          <p:cNvSpPr txBox="1"/>
          <p:nvPr/>
        </p:nvSpPr>
        <p:spPr>
          <a:xfrm>
            <a:off x="3476625"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Dr. Fossum's</a:t>
            </a:r>
          </a:p>
        </p:txBody>
      </p:sp>
      <p:cxnSp>
        <p:nvCxnSpPr>
          <p:cNvPr id="101" name="Connector 100"/>
          <p:cNvCxnSpPr/>
          <p:nvPr/>
        </p:nvCxnSpPr>
        <p:spPr>
          <a:xfrm>
            <a:off x="37576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476625"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C</a:t>
            </a:r>
          </a:p>
        </p:txBody>
      </p:sp>
      <p:sp>
        <p:nvSpPr>
          <p:cNvPr id="103" name="TextBox 102"/>
          <p:cNvSpPr txBox="1"/>
          <p:nvPr/>
        </p:nvSpPr>
        <p:spPr>
          <a:xfrm>
            <a:off x="3467100"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4" name="TextBox 103"/>
          <p:cNvSpPr txBox="1"/>
          <p:nvPr/>
        </p:nvSpPr>
        <p:spPr>
          <a:xfrm>
            <a:off x="3467100" y="2047722"/>
            <a:ext cx="1038225" cy="182537"/>
          </a:xfrm>
          <a:prstGeom prst="rect">
            <a:avLst/>
          </a:prstGeom>
          <a:noFill/>
        </p:spPr>
        <p:txBody>
          <a:bodyPr wrap="square" lIns="28575" tIns="9525" rIns="28575" bIns="9525" anchor="ctr">
            <a:spAutoFit/>
          </a:bodyPr>
          <a:lstStyle/>
          <a:p>
            <a:pPr algn="ctr"/>
            <a:r>
              <a:rPr sz="1100" b="1">
                <a:solidFill>
                  <a:srgbClr val="E44D3A"/>
                </a:solidFill>
                <a:latin typeface="Calibri"/>
              </a:rPr>
              <a:t>✘ </a:t>
            </a:r>
            <a:r>
              <a:rPr sz="1100" b="1">
                <a:solidFill>
                  <a:srgbClr val="008189"/>
                </a:solidFill>
                <a:latin typeface="Calibri"/>
              </a:rPr>
              <a:t>✔ ✔ </a:t>
            </a:r>
          </a:p>
        </p:txBody>
      </p:sp>
      <p:sp>
        <p:nvSpPr>
          <p:cNvPr id="105" name="Rectangle 104"/>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3476625"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109" name="TextBox 108"/>
          <p:cNvSpPr txBox="1"/>
          <p:nvPr/>
        </p:nvSpPr>
        <p:spPr>
          <a:xfrm>
            <a:off x="3476625"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110" name="Oval 109"/>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Freeform 110"/>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3738562" y="3590159"/>
            <a:ext cx="495300" cy="127776"/>
          </a:xfrm>
          <a:prstGeom prst="rect">
            <a:avLst/>
          </a:prstGeom>
          <a:noFill/>
        </p:spPr>
        <p:txBody>
          <a:bodyPr wrap="none" lIns="0" tIns="0" rIns="0" bIns="0" anchor="ctr">
            <a:spAutoFit/>
          </a:bodyPr>
          <a:lstStyle/>
          <a:p>
            <a:pPr algn="ctr"/>
            <a:r>
              <a:rPr sz="1100" b="1">
                <a:solidFill>
                  <a:srgbClr val="0B2E4A"/>
                </a:solidFill>
                <a:latin typeface="Calibri"/>
              </a:rPr>
              <a:t> </a:t>
            </a:r>
          </a:p>
        </p:txBody>
      </p:sp>
      <p:sp>
        <p:nvSpPr>
          <p:cNvPr id="114" name="TextBox 113"/>
          <p:cNvSpPr txBox="1"/>
          <p:nvPr/>
        </p:nvSpPr>
        <p:spPr>
          <a:xfrm>
            <a:off x="3495675"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5" name="Oval 114"/>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35814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117" name="Oval 116"/>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37909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119" name="Oval 118"/>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40005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121" name="Oval 120"/>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42100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123" name="Oval 122"/>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368617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125" name="Oval 124"/>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389572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127" name="Oval 126"/>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410527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129" name="TextBox 128"/>
          <p:cNvSpPr txBox="1"/>
          <p:nvPr/>
        </p:nvSpPr>
        <p:spPr>
          <a:xfrm>
            <a:off x="4552950"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Nestlé Purina PetCare</a:t>
            </a:r>
          </a:p>
        </p:txBody>
      </p:sp>
      <p:cxnSp>
        <p:nvCxnSpPr>
          <p:cNvPr id="130" name="Connector 129"/>
          <p:cNvCxnSpPr/>
          <p:nvPr/>
        </p:nvCxnSpPr>
        <p:spPr>
          <a:xfrm>
            <a:off x="48339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4552950"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D</a:t>
            </a:r>
          </a:p>
        </p:txBody>
      </p:sp>
      <p:sp>
        <p:nvSpPr>
          <p:cNvPr id="132" name="TextBox 131"/>
          <p:cNvSpPr txBox="1"/>
          <p:nvPr/>
        </p:nvSpPr>
        <p:spPr>
          <a:xfrm>
            <a:off x="4543425"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 </a:t>
            </a:r>
          </a:p>
        </p:txBody>
      </p:sp>
      <p:sp>
        <p:nvSpPr>
          <p:cNvPr id="133" name="TextBox 132"/>
          <p:cNvSpPr txBox="1"/>
          <p:nvPr/>
        </p:nvSpPr>
        <p:spPr>
          <a:xfrm>
            <a:off x="4543425" y="2047722"/>
            <a:ext cx="1038225" cy="182537"/>
          </a:xfrm>
          <a:prstGeom prst="rect">
            <a:avLst/>
          </a:prstGeom>
          <a:noFill/>
        </p:spPr>
        <p:txBody>
          <a:bodyPr wrap="square" lIns="28575" tIns="9525" rIns="28575" bIns="9525" anchor="ctr">
            <a:spAutoFit/>
          </a:bodyPr>
          <a:lstStyle/>
          <a:p>
            <a:pPr algn="ctr"/>
            <a:r>
              <a:rPr sz="1100" b="1">
                <a:solidFill>
                  <a:srgbClr val="008189"/>
                </a:solidFill>
                <a:latin typeface="Calibri"/>
              </a:rPr>
              <a:t>✔ ✔ </a:t>
            </a:r>
            <a:r>
              <a:rPr sz="1100" b="1">
                <a:solidFill>
                  <a:srgbClr val="E44D3A"/>
                </a:solidFill>
                <a:latin typeface="Calibri"/>
              </a:rPr>
              <a:t>✘ </a:t>
            </a:r>
          </a:p>
        </p:txBody>
      </p:sp>
      <p:sp>
        <p:nvSpPr>
          <p:cNvPr id="134" name="Rectangle 133"/>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4552950"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138" name="TextBox 137"/>
          <p:cNvSpPr txBox="1"/>
          <p:nvPr/>
        </p:nvSpPr>
        <p:spPr>
          <a:xfrm>
            <a:off x="4552950"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139" name="Oval 138"/>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Freeform 139"/>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4814888" y="3590159"/>
            <a:ext cx="495300" cy="127776"/>
          </a:xfrm>
          <a:prstGeom prst="rect">
            <a:avLst/>
          </a:prstGeom>
          <a:noFill/>
        </p:spPr>
        <p:txBody>
          <a:bodyPr wrap="none" lIns="0" tIns="0" rIns="0" bIns="0" anchor="ctr">
            <a:spAutoFit/>
          </a:bodyPr>
          <a:lstStyle/>
          <a:p>
            <a:pPr algn="ctr"/>
            <a:r>
              <a:rPr sz="1100" b="1">
                <a:solidFill>
                  <a:srgbClr val="0B2E4A"/>
                </a:solidFill>
                <a:latin typeface="Calibri"/>
              </a:rPr>
              <a:t> </a:t>
            </a:r>
          </a:p>
        </p:txBody>
      </p:sp>
      <p:sp>
        <p:nvSpPr>
          <p:cNvPr id="143" name="TextBox 142"/>
          <p:cNvSpPr txBox="1"/>
          <p:nvPr/>
        </p:nvSpPr>
        <p:spPr>
          <a:xfrm>
            <a:off x="4572000"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44" name="Oval 143"/>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46577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146" name="Oval 145"/>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48672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148" name="Oval 147"/>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50768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150" name="Oval 149"/>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52863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152" name="Oval 151"/>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476250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154" name="Oval 153"/>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497205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156" name="Oval 155"/>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518160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158" name="TextBox 157"/>
          <p:cNvSpPr txBox="1"/>
          <p:nvPr/>
        </p:nvSpPr>
        <p:spPr>
          <a:xfrm>
            <a:off x="5629275"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PetHeal</a:t>
            </a:r>
          </a:p>
        </p:txBody>
      </p:sp>
      <p:cxnSp>
        <p:nvCxnSpPr>
          <p:cNvPr id="159" name="Connector 158"/>
          <p:cNvCxnSpPr/>
          <p:nvPr/>
        </p:nvCxnSpPr>
        <p:spPr>
          <a:xfrm>
            <a:off x="59102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5629275"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E</a:t>
            </a:r>
          </a:p>
        </p:txBody>
      </p:sp>
      <p:sp>
        <p:nvSpPr>
          <p:cNvPr id="161" name="TextBox 160"/>
          <p:cNvSpPr txBox="1"/>
          <p:nvPr/>
        </p:nvSpPr>
        <p:spPr>
          <a:xfrm>
            <a:off x="5619750"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2" name="TextBox 161"/>
          <p:cNvSpPr txBox="1"/>
          <p:nvPr/>
        </p:nvSpPr>
        <p:spPr>
          <a:xfrm>
            <a:off x="5619750" y="2047722"/>
            <a:ext cx="1038225" cy="182537"/>
          </a:xfrm>
          <a:prstGeom prst="rect">
            <a:avLst/>
          </a:prstGeom>
          <a:noFill/>
        </p:spPr>
        <p:txBody>
          <a:bodyPr wrap="square" lIns="28575" tIns="9525" rIns="2857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3" name="Rectangle 162"/>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5629275"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167" name="TextBox 166"/>
          <p:cNvSpPr txBox="1"/>
          <p:nvPr/>
        </p:nvSpPr>
        <p:spPr>
          <a:xfrm>
            <a:off x="5629275"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168" name="Oval 167"/>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Freeform 168"/>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p:cNvSpPr txBox="1"/>
          <p:nvPr/>
        </p:nvSpPr>
        <p:spPr>
          <a:xfrm>
            <a:off x="5891212" y="3590159"/>
            <a:ext cx="495300" cy="127776"/>
          </a:xfrm>
          <a:prstGeom prst="rect">
            <a:avLst/>
          </a:prstGeom>
          <a:noFill/>
        </p:spPr>
        <p:txBody>
          <a:bodyPr wrap="none" lIns="0" tIns="0" rIns="0" bIns="0" anchor="ctr">
            <a:spAutoFit/>
          </a:bodyPr>
          <a:lstStyle/>
          <a:p>
            <a:pPr algn="ctr"/>
            <a:r>
              <a:rPr sz="1100" b="1">
                <a:solidFill>
                  <a:srgbClr val="0B2E4A"/>
                </a:solidFill>
                <a:latin typeface="Calibri"/>
              </a:rPr>
              <a:t> </a:t>
            </a:r>
          </a:p>
        </p:txBody>
      </p:sp>
      <p:sp>
        <p:nvSpPr>
          <p:cNvPr id="172" name="TextBox 171"/>
          <p:cNvSpPr txBox="1"/>
          <p:nvPr/>
        </p:nvSpPr>
        <p:spPr>
          <a:xfrm>
            <a:off x="5648325"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3" name="Oval 172"/>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57340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175" name="Oval 174"/>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59436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177" name="Oval 176"/>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61531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179" name="Oval 178"/>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63627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181" name="Oval 180"/>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583882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183" name="Oval 182"/>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604837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185" name="Oval 184"/>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625792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187" name="TextBox 186"/>
          <p:cNvSpPr txBox="1"/>
          <p:nvPr/>
        </p:nvSpPr>
        <p:spPr>
          <a:xfrm>
            <a:off x="6705600"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Senior Dogs Club</a:t>
            </a:r>
          </a:p>
        </p:txBody>
      </p:sp>
      <p:cxnSp>
        <p:nvCxnSpPr>
          <p:cNvPr id="188" name="Connector 187"/>
          <p:cNvCxnSpPr/>
          <p:nvPr/>
        </p:nvCxnSpPr>
        <p:spPr>
          <a:xfrm>
            <a:off x="69865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705600"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F</a:t>
            </a:r>
          </a:p>
        </p:txBody>
      </p:sp>
      <p:sp>
        <p:nvSpPr>
          <p:cNvPr id="190" name="TextBox 189"/>
          <p:cNvSpPr txBox="1"/>
          <p:nvPr/>
        </p:nvSpPr>
        <p:spPr>
          <a:xfrm>
            <a:off x="6696075"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1" name="TextBox 190"/>
          <p:cNvSpPr txBox="1"/>
          <p:nvPr/>
        </p:nvSpPr>
        <p:spPr>
          <a:xfrm>
            <a:off x="6696075" y="2047722"/>
            <a:ext cx="1038225" cy="182537"/>
          </a:xfrm>
          <a:prstGeom prst="rect">
            <a:avLst/>
          </a:prstGeom>
          <a:noFill/>
        </p:spPr>
        <p:txBody>
          <a:bodyPr wrap="square" lIns="28575" tIns="9525" rIns="28575" bIns="9525" anchor="ctr">
            <a:spAutoFit/>
          </a:bodyPr>
          <a:lstStyle/>
          <a:p>
            <a:pPr algn="ctr"/>
            <a:r>
              <a:rPr sz="1100" b="1">
                <a:solidFill>
                  <a:srgbClr val="E44D3A"/>
                </a:solidFill>
                <a:latin typeface="Calibri"/>
              </a:rPr>
              <a:t>✘ </a:t>
            </a:r>
            <a:r>
              <a:rPr sz="1100" b="1">
                <a:solidFill>
                  <a:srgbClr val="008189"/>
                </a:solidFill>
                <a:latin typeface="Calibri"/>
              </a:rPr>
              <a:t>✔ ✔ </a:t>
            </a:r>
          </a:p>
        </p:txBody>
      </p:sp>
      <p:sp>
        <p:nvSpPr>
          <p:cNvPr id="192" name="Rectangle 191"/>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Rectangle 192"/>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Rectangle 193"/>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194"/>
          <p:cNvSpPr txBox="1"/>
          <p:nvPr/>
        </p:nvSpPr>
        <p:spPr>
          <a:xfrm>
            <a:off x="6705600"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196" name="TextBox 195"/>
          <p:cNvSpPr txBox="1"/>
          <p:nvPr/>
        </p:nvSpPr>
        <p:spPr>
          <a:xfrm>
            <a:off x="6705600"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197" name="Oval 196"/>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Freeform 197"/>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6967538" y="3590159"/>
            <a:ext cx="495300" cy="127776"/>
          </a:xfrm>
          <a:prstGeom prst="rect">
            <a:avLst/>
          </a:prstGeom>
          <a:noFill/>
        </p:spPr>
        <p:txBody>
          <a:bodyPr wrap="none" lIns="0" tIns="0" rIns="0" bIns="0" anchor="ctr">
            <a:spAutoFit/>
          </a:bodyPr>
          <a:lstStyle/>
          <a:p>
            <a:pPr algn="ctr"/>
            <a:r>
              <a:rPr sz="1100" b="1">
                <a:solidFill>
                  <a:srgbClr val="0B2E4A"/>
                </a:solidFill>
                <a:latin typeface="Calibri"/>
              </a:rPr>
              <a:t> </a:t>
            </a:r>
          </a:p>
        </p:txBody>
      </p:sp>
      <p:sp>
        <p:nvSpPr>
          <p:cNvPr id="201" name="TextBox 200"/>
          <p:cNvSpPr txBox="1"/>
          <p:nvPr/>
        </p:nvSpPr>
        <p:spPr>
          <a:xfrm>
            <a:off x="6724650"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202" name="Oval 201"/>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202"/>
          <p:cNvSpPr txBox="1"/>
          <p:nvPr/>
        </p:nvSpPr>
        <p:spPr>
          <a:xfrm>
            <a:off x="68103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204" name="Oval 203"/>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70199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206" name="Oval 205"/>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6"/>
          <p:cNvSpPr txBox="1"/>
          <p:nvPr/>
        </p:nvSpPr>
        <p:spPr>
          <a:xfrm>
            <a:off x="72294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208" name="Oval 207"/>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TextBox 208"/>
          <p:cNvSpPr txBox="1"/>
          <p:nvPr/>
        </p:nvSpPr>
        <p:spPr>
          <a:xfrm>
            <a:off x="74390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210" name="Oval 209"/>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TextBox 210"/>
          <p:cNvSpPr txBox="1"/>
          <p:nvPr/>
        </p:nvSpPr>
        <p:spPr>
          <a:xfrm>
            <a:off x="691515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212" name="Oval 211"/>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TextBox 212"/>
          <p:cNvSpPr txBox="1"/>
          <p:nvPr/>
        </p:nvSpPr>
        <p:spPr>
          <a:xfrm>
            <a:off x="712470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214" name="Oval 213"/>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TextBox 214"/>
          <p:cNvSpPr txBox="1"/>
          <p:nvPr/>
        </p:nvSpPr>
        <p:spPr>
          <a:xfrm>
            <a:off x="733425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216" name="TextBox 215"/>
          <p:cNvSpPr txBox="1"/>
          <p:nvPr/>
        </p:nvSpPr>
        <p:spPr>
          <a:xfrm>
            <a:off x="7781925"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VISYO Corporation</a:t>
            </a:r>
          </a:p>
        </p:txBody>
      </p:sp>
      <p:cxnSp>
        <p:nvCxnSpPr>
          <p:cNvPr id="217" name="Connector 216"/>
          <p:cNvCxnSpPr/>
          <p:nvPr/>
        </p:nvCxnSpPr>
        <p:spPr>
          <a:xfrm>
            <a:off x="80629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7781925"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G</a:t>
            </a:r>
          </a:p>
        </p:txBody>
      </p:sp>
      <p:sp>
        <p:nvSpPr>
          <p:cNvPr id="219" name="TextBox 218"/>
          <p:cNvSpPr txBox="1"/>
          <p:nvPr/>
        </p:nvSpPr>
        <p:spPr>
          <a:xfrm>
            <a:off x="7772400"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 </a:t>
            </a:r>
          </a:p>
        </p:txBody>
      </p:sp>
      <p:sp>
        <p:nvSpPr>
          <p:cNvPr id="220" name="TextBox 219"/>
          <p:cNvSpPr txBox="1"/>
          <p:nvPr/>
        </p:nvSpPr>
        <p:spPr>
          <a:xfrm>
            <a:off x="7772400" y="2047722"/>
            <a:ext cx="1038225" cy="182537"/>
          </a:xfrm>
          <a:prstGeom prst="rect">
            <a:avLst/>
          </a:prstGeom>
          <a:noFill/>
        </p:spPr>
        <p:txBody>
          <a:bodyPr wrap="square" lIns="28575" tIns="9525" rIns="28575" bIns="9525" anchor="ctr">
            <a:spAutoFit/>
          </a:bodyPr>
          <a:lstStyle/>
          <a:p>
            <a:pPr algn="ctr"/>
            <a:r>
              <a:rPr sz="1100" b="1">
                <a:solidFill>
                  <a:srgbClr val="008189"/>
                </a:solidFill>
                <a:latin typeface="Calibri"/>
              </a:rPr>
              <a:t>✔ ✔ </a:t>
            </a:r>
            <a:r>
              <a:rPr sz="1100" b="1">
                <a:solidFill>
                  <a:srgbClr val="E44D3A"/>
                </a:solidFill>
                <a:latin typeface="Calibri"/>
              </a:rPr>
              <a:t>✘ </a:t>
            </a:r>
          </a:p>
        </p:txBody>
      </p:sp>
      <p:sp>
        <p:nvSpPr>
          <p:cNvPr id="221" name="Rectangle 220"/>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Rectangle 221"/>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Rectangle 222"/>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7781925"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225" name="TextBox 224"/>
          <p:cNvSpPr txBox="1"/>
          <p:nvPr/>
        </p:nvSpPr>
        <p:spPr>
          <a:xfrm>
            <a:off x="7781925"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226" name="Oval 225"/>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Freeform 226"/>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val 227"/>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TextBox 228"/>
          <p:cNvSpPr txBox="1"/>
          <p:nvPr/>
        </p:nvSpPr>
        <p:spPr>
          <a:xfrm>
            <a:off x="8043862" y="3590159"/>
            <a:ext cx="495300" cy="127776"/>
          </a:xfrm>
          <a:prstGeom prst="rect">
            <a:avLst/>
          </a:prstGeom>
          <a:noFill/>
        </p:spPr>
        <p:txBody>
          <a:bodyPr wrap="none" lIns="0" tIns="0" rIns="0" bIns="0" anchor="ctr">
            <a:spAutoFit/>
          </a:bodyPr>
          <a:lstStyle/>
          <a:p>
            <a:pPr algn="ctr"/>
            <a:r>
              <a:rPr sz="1100" b="1">
                <a:solidFill>
                  <a:srgbClr val="0B2E4A"/>
                </a:solidFill>
                <a:latin typeface="Calibri"/>
              </a:rPr>
              <a:t> </a:t>
            </a:r>
          </a:p>
        </p:txBody>
      </p:sp>
      <p:sp>
        <p:nvSpPr>
          <p:cNvPr id="230" name="TextBox 229"/>
          <p:cNvSpPr txBox="1"/>
          <p:nvPr/>
        </p:nvSpPr>
        <p:spPr>
          <a:xfrm>
            <a:off x="7800975"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31" name="Oval 230"/>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TextBox 231"/>
          <p:cNvSpPr txBox="1"/>
          <p:nvPr/>
        </p:nvSpPr>
        <p:spPr>
          <a:xfrm>
            <a:off x="78867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233" name="Oval 232"/>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80962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235" name="Oval 234"/>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TextBox 235"/>
          <p:cNvSpPr txBox="1"/>
          <p:nvPr/>
        </p:nvSpPr>
        <p:spPr>
          <a:xfrm>
            <a:off x="83058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237" name="Oval 236"/>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TextBox 237"/>
          <p:cNvSpPr txBox="1"/>
          <p:nvPr/>
        </p:nvSpPr>
        <p:spPr>
          <a:xfrm>
            <a:off x="85153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239" name="Oval 238"/>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p:cNvSpPr txBox="1"/>
          <p:nvPr/>
        </p:nvSpPr>
        <p:spPr>
          <a:xfrm>
            <a:off x="799147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241" name="Oval 240"/>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TextBox 241"/>
          <p:cNvSpPr txBox="1"/>
          <p:nvPr/>
        </p:nvSpPr>
        <p:spPr>
          <a:xfrm>
            <a:off x="820102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243" name="Oval 242"/>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TextBox 243"/>
          <p:cNvSpPr txBox="1"/>
          <p:nvPr/>
        </p:nvSpPr>
        <p:spPr>
          <a:xfrm>
            <a:off x="841057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245" name="TextBox 244"/>
          <p:cNvSpPr txBox="1"/>
          <p:nvPr/>
        </p:nvSpPr>
        <p:spPr>
          <a:xfrm>
            <a:off x="8858250"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NaturVet</a:t>
            </a:r>
          </a:p>
        </p:txBody>
      </p:sp>
      <p:cxnSp>
        <p:nvCxnSpPr>
          <p:cNvPr id="246" name="Connector 245"/>
          <p:cNvCxnSpPr/>
          <p:nvPr/>
        </p:nvCxnSpPr>
        <p:spPr>
          <a:xfrm>
            <a:off x="91392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8858250"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H</a:t>
            </a:r>
          </a:p>
        </p:txBody>
      </p:sp>
      <p:sp>
        <p:nvSpPr>
          <p:cNvPr id="248" name="TextBox 247"/>
          <p:cNvSpPr txBox="1"/>
          <p:nvPr/>
        </p:nvSpPr>
        <p:spPr>
          <a:xfrm>
            <a:off x="8848725"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9" name="TextBox 248"/>
          <p:cNvSpPr txBox="1"/>
          <p:nvPr/>
        </p:nvSpPr>
        <p:spPr>
          <a:xfrm>
            <a:off x="8848725" y="2047722"/>
            <a:ext cx="1038225" cy="182537"/>
          </a:xfrm>
          <a:prstGeom prst="rect">
            <a:avLst/>
          </a:prstGeom>
          <a:noFill/>
        </p:spPr>
        <p:txBody>
          <a:bodyPr wrap="square" lIns="28575" tIns="9525" rIns="2857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50" name="Rectangle 249"/>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Rectangle 250"/>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Rectangle 251"/>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TextBox 252"/>
          <p:cNvSpPr txBox="1"/>
          <p:nvPr/>
        </p:nvSpPr>
        <p:spPr>
          <a:xfrm>
            <a:off x="8858250"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254" name="TextBox 253"/>
          <p:cNvSpPr txBox="1"/>
          <p:nvPr/>
        </p:nvSpPr>
        <p:spPr>
          <a:xfrm>
            <a:off x="8858250"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255" name="Oval 254"/>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Freeform 255"/>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val 256"/>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TextBox 257"/>
          <p:cNvSpPr txBox="1"/>
          <p:nvPr/>
        </p:nvSpPr>
        <p:spPr>
          <a:xfrm>
            <a:off x="9120188" y="3590159"/>
            <a:ext cx="495300" cy="127776"/>
          </a:xfrm>
          <a:prstGeom prst="rect">
            <a:avLst/>
          </a:prstGeom>
          <a:noFill/>
        </p:spPr>
        <p:txBody>
          <a:bodyPr wrap="none" lIns="0" tIns="0" rIns="0" bIns="0" anchor="ctr">
            <a:spAutoFit/>
          </a:bodyPr>
          <a:lstStyle/>
          <a:p>
            <a:pPr algn="ctr"/>
            <a:r>
              <a:rPr sz="1100" b="1">
                <a:solidFill>
                  <a:srgbClr val="0B2E4A"/>
                </a:solidFill>
                <a:latin typeface="Calibri"/>
              </a:rPr>
              <a:t> </a:t>
            </a:r>
          </a:p>
        </p:txBody>
      </p:sp>
      <p:sp>
        <p:nvSpPr>
          <p:cNvPr id="259" name="TextBox 258"/>
          <p:cNvSpPr txBox="1"/>
          <p:nvPr/>
        </p:nvSpPr>
        <p:spPr>
          <a:xfrm>
            <a:off x="8877300"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60" name="Oval 259"/>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TextBox 260"/>
          <p:cNvSpPr txBox="1"/>
          <p:nvPr/>
        </p:nvSpPr>
        <p:spPr>
          <a:xfrm>
            <a:off x="89630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262" name="Oval 261"/>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TextBox 262"/>
          <p:cNvSpPr txBox="1"/>
          <p:nvPr/>
        </p:nvSpPr>
        <p:spPr>
          <a:xfrm>
            <a:off x="91725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264" name="Oval 263"/>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264"/>
          <p:cNvSpPr txBox="1"/>
          <p:nvPr/>
        </p:nvSpPr>
        <p:spPr>
          <a:xfrm>
            <a:off x="93821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266" name="Oval 265"/>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TextBox 266"/>
          <p:cNvSpPr txBox="1"/>
          <p:nvPr/>
        </p:nvSpPr>
        <p:spPr>
          <a:xfrm>
            <a:off x="95916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268" name="Oval 267"/>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268"/>
          <p:cNvSpPr txBox="1"/>
          <p:nvPr/>
        </p:nvSpPr>
        <p:spPr>
          <a:xfrm>
            <a:off x="906780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270" name="Oval 269"/>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TextBox 270"/>
          <p:cNvSpPr txBox="1"/>
          <p:nvPr/>
        </p:nvSpPr>
        <p:spPr>
          <a:xfrm>
            <a:off x="927735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272" name="Oval 271"/>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272"/>
          <p:cNvSpPr txBox="1"/>
          <p:nvPr/>
        </p:nvSpPr>
        <p:spPr>
          <a:xfrm>
            <a:off x="948690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274" name="TextBox 273"/>
          <p:cNvSpPr txBox="1"/>
          <p:nvPr/>
        </p:nvSpPr>
        <p:spPr>
          <a:xfrm>
            <a:off x="9934575"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Zesty Paws</a:t>
            </a:r>
          </a:p>
        </p:txBody>
      </p:sp>
      <p:cxnSp>
        <p:nvCxnSpPr>
          <p:cNvPr id="275" name="Connector 274"/>
          <p:cNvCxnSpPr/>
          <p:nvPr/>
        </p:nvCxnSpPr>
        <p:spPr>
          <a:xfrm>
            <a:off x="102155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9934575"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I</a:t>
            </a:r>
          </a:p>
        </p:txBody>
      </p:sp>
      <p:sp>
        <p:nvSpPr>
          <p:cNvPr id="277" name="TextBox 276"/>
          <p:cNvSpPr txBox="1"/>
          <p:nvPr/>
        </p:nvSpPr>
        <p:spPr>
          <a:xfrm>
            <a:off x="9925050"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8" name="TextBox 277"/>
          <p:cNvSpPr txBox="1"/>
          <p:nvPr/>
        </p:nvSpPr>
        <p:spPr>
          <a:xfrm>
            <a:off x="9925050" y="2047722"/>
            <a:ext cx="1038225" cy="182537"/>
          </a:xfrm>
          <a:prstGeom prst="rect">
            <a:avLst/>
          </a:prstGeom>
          <a:noFill/>
        </p:spPr>
        <p:txBody>
          <a:bodyPr wrap="square" lIns="28575" tIns="9525" rIns="28575" bIns="9525" anchor="ctr">
            <a:spAutoFit/>
          </a:bodyPr>
          <a:lstStyle/>
          <a:p>
            <a:pPr algn="ctr"/>
            <a:r>
              <a:rPr sz="1100" b="1">
                <a:solidFill>
                  <a:srgbClr val="E44D3A"/>
                </a:solidFill>
                <a:latin typeface="Calibri"/>
              </a:rPr>
              <a:t>✘ </a:t>
            </a:r>
            <a:r>
              <a:rPr sz="1100" b="1">
                <a:solidFill>
                  <a:srgbClr val="008189"/>
                </a:solidFill>
                <a:latin typeface="Calibri"/>
              </a:rPr>
              <a:t>✔ ✔ </a:t>
            </a:r>
          </a:p>
        </p:txBody>
      </p:sp>
      <p:sp>
        <p:nvSpPr>
          <p:cNvPr id="279" name="Rectangle 278"/>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Rectangle 279"/>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Rectangle 280"/>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TextBox 281"/>
          <p:cNvSpPr txBox="1"/>
          <p:nvPr/>
        </p:nvSpPr>
        <p:spPr>
          <a:xfrm>
            <a:off x="9934575"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283" name="TextBox 282"/>
          <p:cNvSpPr txBox="1"/>
          <p:nvPr/>
        </p:nvSpPr>
        <p:spPr>
          <a:xfrm>
            <a:off x="9934575"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284" name="Oval 283"/>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Freeform 284"/>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val 285"/>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TextBox 286"/>
          <p:cNvSpPr txBox="1"/>
          <p:nvPr/>
        </p:nvSpPr>
        <p:spPr>
          <a:xfrm>
            <a:off x="10196512" y="3590159"/>
            <a:ext cx="495300" cy="127776"/>
          </a:xfrm>
          <a:prstGeom prst="rect">
            <a:avLst/>
          </a:prstGeom>
          <a:noFill/>
        </p:spPr>
        <p:txBody>
          <a:bodyPr wrap="none" lIns="0" tIns="0" rIns="0" bIns="0" anchor="ctr">
            <a:spAutoFit/>
          </a:bodyPr>
          <a:lstStyle/>
          <a:p>
            <a:pPr algn="ctr"/>
            <a:r>
              <a:rPr sz="1100" b="1">
                <a:solidFill>
                  <a:srgbClr val="0B2E4A"/>
                </a:solidFill>
                <a:latin typeface="Calibri"/>
              </a:rPr>
              <a:t> </a:t>
            </a:r>
          </a:p>
        </p:txBody>
      </p:sp>
      <p:sp>
        <p:nvSpPr>
          <p:cNvPr id="288" name="TextBox 287"/>
          <p:cNvSpPr txBox="1"/>
          <p:nvPr/>
        </p:nvSpPr>
        <p:spPr>
          <a:xfrm>
            <a:off x="9953625"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9" name="Oval 288"/>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TextBox 289"/>
          <p:cNvSpPr txBox="1"/>
          <p:nvPr/>
        </p:nvSpPr>
        <p:spPr>
          <a:xfrm>
            <a:off x="100393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291" name="Oval 290"/>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TextBox 291"/>
          <p:cNvSpPr txBox="1"/>
          <p:nvPr/>
        </p:nvSpPr>
        <p:spPr>
          <a:xfrm>
            <a:off x="102489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293" name="Oval 292"/>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TextBox 293"/>
          <p:cNvSpPr txBox="1"/>
          <p:nvPr/>
        </p:nvSpPr>
        <p:spPr>
          <a:xfrm>
            <a:off x="1045845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295" name="Oval 294"/>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TextBox 295"/>
          <p:cNvSpPr txBox="1"/>
          <p:nvPr/>
        </p:nvSpPr>
        <p:spPr>
          <a:xfrm>
            <a:off x="10668000"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297" name="Oval 296"/>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TextBox 297"/>
          <p:cNvSpPr txBox="1"/>
          <p:nvPr/>
        </p:nvSpPr>
        <p:spPr>
          <a:xfrm>
            <a:off x="1014412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299" name="Oval 298"/>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TextBox 299"/>
          <p:cNvSpPr txBox="1"/>
          <p:nvPr/>
        </p:nvSpPr>
        <p:spPr>
          <a:xfrm>
            <a:off x="1035367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301" name="Oval 300"/>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TextBox 301"/>
          <p:cNvSpPr txBox="1"/>
          <p:nvPr/>
        </p:nvSpPr>
        <p:spPr>
          <a:xfrm>
            <a:off x="10563225"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303" name="TextBox 302"/>
          <p:cNvSpPr txBox="1"/>
          <p:nvPr/>
        </p:nvSpPr>
        <p:spPr>
          <a:xfrm>
            <a:off x="11010900" y="1189798"/>
            <a:ext cx="1019175" cy="328567"/>
          </a:xfrm>
          <a:prstGeom prst="rect">
            <a:avLst/>
          </a:prstGeom>
          <a:noFill/>
        </p:spPr>
        <p:txBody>
          <a:bodyPr wrap="square" lIns="9525" tIns="9525" rIns="9525" bIns="9525" anchor="ctr">
            <a:spAutoFit/>
          </a:bodyPr>
          <a:lstStyle/>
          <a:p>
            <a:pPr algn="ctr">
              <a:lnSpc>
                <a:spcPct val="95000"/>
              </a:lnSpc>
            </a:pPr>
            <a:r>
              <a:rPr sz="1100" b="1">
                <a:solidFill>
                  <a:srgbClr val="2E2E2E"/>
                </a:solidFill>
                <a:latin typeface="Calibri"/>
              </a:rPr>
              <a:t>Ark Naturals</a:t>
            </a:r>
          </a:p>
        </p:txBody>
      </p:sp>
      <p:cxnSp>
        <p:nvCxnSpPr>
          <p:cNvPr id="304" name="Connector 303"/>
          <p:cNvCxnSpPr/>
          <p:nvPr/>
        </p:nvCxnSpPr>
        <p:spPr>
          <a:xfrm>
            <a:off x="112918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1010900" y="1536618"/>
            <a:ext cx="1019175" cy="255552"/>
          </a:xfrm>
          <a:prstGeom prst="rect">
            <a:avLst/>
          </a:prstGeom>
          <a:noFill/>
        </p:spPr>
        <p:txBody>
          <a:bodyPr wrap="square" lIns="28575" tIns="9525" rIns="28575" bIns="9525" anchor="ctr">
            <a:spAutoFit/>
          </a:bodyPr>
          <a:lstStyle/>
          <a:p>
            <a:pPr algn="ctr"/>
            <a:r>
              <a:rPr sz="1100" b="0">
                <a:solidFill>
                  <a:srgbClr val="AFB4B9"/>
                </a:solidFill>
                <a:latin typeface="Calibri"/>
              </a:rPr>
              <a:t>Brand J</a:t>
            </a:r>
          </a:p>
        </p:txBody>
      </p:sp>
      <p:sp>
        <p:nvSpPr>
          <p:cNvPr id="306" name="TextBox 305"/>
          <p:cNvSpPr txBox="1"/>
          <p:nvPr/>
        </p:nvSpPr>
        <p:spPr>
          <a:xfrm>
            <a:off x="11001375" y="1828677"/>
            <a:ext cx="1038225" cy="200791"/>
          </a:xfrm>
          <a:prstGeom prst="rect">
            <a:avLst/>
          </a:prstGeom>
          <a:noFill/>
        </p:spPr>
        <p:txBody>
          <a:bodyPr wrap="square" lIns="0" tIns="0" r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 </a:t>
            </a:r>
          </a:p>
        </p:txBody>
      </p:sp>
      <p:sp>
        <p:nvSpPr>
          <p:cNvPr id="307" name="TextBox 306"/>
          <p:cNvSpPr txBox="1"/>
          <p:nvPr/>
        </p:nvSpPr>
        <p:spPr>
          <a:xfrm>
            <a:off x="11001375" y="2047722"/>
            <a:ext cx="1038225" cy="182537"/>
          </a:xfrm>
          <a:prstGeom prst="rect">
            <a:avLst/>
          </a:prstGeom>
          <a:noFill/>
        </p:spPr>
        <p:txBody>
          <a:bodyPr wrap="square" lIns="28575" tIns="9525" rIns="28575" bIns="9525" anchor="ctr">
            <a:spAutoFit/>
          </a:bodyPr>
          <a:lstStyle/>
          <a:p>
            <a:pPr algn="ctr"/>
            <a:r>
              <a:rPr sz="1100" b="1">
                <a:solidFill>
                  <a:srgbClr val="008189"/>
                </a:solidFill>
                <a:latin typeface="Calibri"/>
              </a:rPr>
              <a:t>✔ ✔ </a:t>
            </a:r>
            <a:r>
              <a:rPr sz="1100" b="1">
                <a:solidFill>
                  <a:srgbClr val="E44D3A"/>
                </a:solidFill>
                <a:latin typeface="Calibri"/>
              </a:rPr>
              <a:t>✘ </a:t>
            </a:r>
          </a:p>
        </p:txBody>
      </p:sp>
      <p:sp>
        <p:nvSpPr>
          <p:cNvPr id="308" name="Rectangle 307"/>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ectangle 308"/>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Rectangle 309"/>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TextBox 310"/>
          <p:cNvSpPr txBox="1"/>
          <p:nvPr/>
        </p:nvSpPr>
        <p:spPr>
          <a:xfrm>
            <a:off x="11010900" y="2631840"/>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312" name="TextBox 311"/>
          <p:cNvSpPr txBox="1"/>
          <p:nvPr/>
        </p:nvSpPr>
        <p:spPr>
          <a:xfrm>
            <a:off x="11010900" y="2960407"/>
            <a:ext cx="1019175" cy="328567"/>
          </a:xfrm>
          <a:prstGeom prst="rect">
            <a:avLst/>
          </a:prstGeom>
          <a:noFill/>
        </p:spPr>
        <p:txBody>
          <a:bodyPr wrap="square" lIns="28575" tIns="9525" rIns="28575" bIns="9525" anchor="ctr">
            <a:spAutoFit/>
          </a:bodyPr>
          <a:lstStyle/>
          <a:p>
            <a:pPr algn="ctr"/>
            <a:r>
              <a:rPr sz="1100" b="0">
                <a:solidFill>
                  <a:srgbClr val="2E2E2E"/>
                </a:solidFill>
                <a:latin typeface="Calibri"/>
              </a:rPr>
              <a:t> </a:t>
            </a:r>
          </a:p>
        </p:txBody>
      </p:sp>
      <p:sp>
        <p:nvSpPr>
          <p:cNvPr id="313" name="Oval 312"/>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Freeform 313"/>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val 314"/>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TextBox 315"/>
          <p:cNvSpPr txBox="1"/>
          <p:nvPr/>
        </p:nvSpPr>
        <p:spPr>
          <a:xfrm>
            <a:off x="11272838" y="3590159"/>
            <a:ext cx="495300" cy="127776"/>
          </a:xfrm>
          <a:prstGeom prst="rect">
            <a:avLst/>
          </a:prstGeom>
          <a:noFill/>
        </p:spPr>
        <p:txBody>
          <a:bodyPr wrap="none" lIns="0" tIns="0" rIns="0" bIns="0" anchor="ctr">
            <a:spAutoFit/>
          </a:bodyPr>
          <a:lstStyle/>
          <a:p>
            <a:pPr algn="ctr"/>
            <a:r>
              <a:rPr sz="1100" b="1">
                <a:solidFill>
                  <a:srgbClr val="0B2E4A"/>
                </a:solidFill>
                <a:latin typeface="Calibri"/>
              </a:rPr>
              <a:t> </a:t>
            </a:r>
          </a:p>
        </p:txBody>
      </p:sp>
      <p:sp>
        <p:nvSpPr>
          <p:cNvPr id="317" name="TextBox 316"/>
          <p:cNvSpPr txBox="1"/>
          <p:nvPr/>
        </p:nvSpPr>
        <p:spPr>
          <a:xfrm>
            <a:off x="11029950" y="4092136"/>
            <a:ext cx="990600" cy="912685"/>
          </a:xfrm>
          <a:prstGeom prst="rect">
            <a:avLst/>
          </a:prstGeom>
          <a:noFill/>
        </p:spPr>
        <p:txBody>
          <a:bodyPr wrap="square" lIns="28575" tIns="9525" rIns="2857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8" name="Oval 317"/>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TextBox 318"/>
          <p:cNvSpPr txBox="1"/>
          <p:nvPr/>
        </p:nvSpPr>
        <p:spPr>
          <a:xfrm>
            <a:off x="111156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320" name="Oval 319"/>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TextBox 320"/>
          <p:cNvSpPr txBox="1"/>
          <p:nvPr/>
        </p:nvSpPr>
        <p:spPr>
          <a:xfrm>
            <a:off x="113252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322" name="Oval 321"/>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TextBox 322"/>
          <p:cNvSpPr txBox="1"/>
          <p:nvPr/>
        </p:nvSpPr>
        <p:spPr>
          <a:xfrm>
            <a:off x="1153477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324" name="Oval 323"/>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TextBox 324"/>
          <p:cNvSpPr txBox="1"/>
          <p:nvPr/>
        </p:nvSpPr>
        <p:spPr>
          <a:xfrm>
            <a:off x="11744325" y="5173667"/>
            <a:ext cx="180975" cy="173410"/>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326" name="Oval 325"/>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TextBox 326"/>
          <p:cNvSpPr txBox="1"/>
          <p:nvPr/>
        </p:nvSpPr>
        <p:spPr>
          <a:xfrm>
            <a:off x="1122045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328" name="Oval 327"/>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TextBox 328"/>
          <p:cNvSpPr txBox="1"/>
          <p:nvPr/>
        </p:nvSpPr>
        <p:spPr>
          <a:xfrm>
            <a:off x="1143000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330" name="Oval 329"/>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TextBox 330"/>
          <p:cNvSpPr txBox="1"/>
          <p:nvPr/>
        </p:nvSpPr>
        <p:spPr>
          <a:xfrm>
            <a:off x="11639550" y="5392711"/>
            <a:ext cx="180975" cy="173410"/>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332" name="TextBox 331"/>
          <p:cNvSpPr txBox="1"/>
          <p:nvPr/>
        </p:nvSpPr>
        <p:spPr>
          <a:xfrm>
            <a:off x="285750" y="5716715"/>
            <a:ext cx="1116806" cy="164283"/>
          </a:xfrm>
          <a:prstGeom prst="rect">
            <a:avLst/>
          </a:prstGeom>
          <a:noFill/>
        </p:spPr>
        <p:txBody>
          <a:bodyPr wrap="square" lIns="0" tIns="0" rIns="0" bIns="0" anchor="ctr">
            <a:spAutoFit/>
          </a:bodyPr>
          <a:lstStyle/>
          <a:p>
            <a:pPr algn="l"/>
            <a:r>
              <a:rPr sz="1100" b="1">
                <a:solidFill>
                  <a:srgbClr val="2E2E2E"/>
                </a:solidFill>
                <a:latin typeface="Calibri"/>
              </a:rPr>
              <a:t>Product Portfolio:</a:t>
            </a:r>
          </a:p>
        </p:txBody>
      </p:sp>
      <p:sp>
        <p:nvSpPr>
          <p:cNvPr id="333" name="Rectangle 33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TextBox 333"/>
          <p:cNvSpPr txBox="1"/>
          <p:nvPr/>
        </p:nvSpPr>
        <p:spPr>
          <a:xfrm>
            <a:off x="1535906" y="5716715"/>
            <a:ext cx="1304925" cy="164283"/>
          </a:xfrm>
          <a:prstGeom prst="rect">
            <a:avLst/>
          </a:prstGeom>
          <a:noFill/>
        </p:spPr>
        <p:txBody>
          <a:bodyPr wrap="square" lIns="0" tIns="0" rIns="0" bIns="0" anchor="ctr">
            <a:spAutoFit/>
          </a:bodyPr>
          <a:lstStyle/>
          <a:p>
            <a:pPr algn="l"/>
            <a:r>
              <a:rPr sz="1100" b="0">
                <a:solidFill>
                  <a:srgbClr val="2E2E2E"/>
                </a:solidFill>
                <a:latin typeface="Calibri"/>
              </a:rPr>
              <a:t>Capsules and Softgels</a:t>
            </a:r>
          </a:p>
        </p:txBody>
      </p:sp>
      <p:sp>
        <p:nvSpPr>
          <p:cNvPr id="335" name="Rectangle 334"/>
          <p:cNvSpPr/>
          <p:nvPr/>
        </p:nvSpPr>
        <p:spPr>
          <a:xfrm>
            <a:off x="2897981"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TextBox 335"/>
          <p:cNvSpPr txBox="1"/>
          <p:nvPr/>
        </p:nvSpPr>
        <p:spPr>
          <a:xfrm>
            <a:off x="3050381" y="5716715"/>
            <a:ext cx="490538" cy="164283"/>
          </a:xfrm>
          <a:prstGeom prst="rect">
            <a:avLst/>
          </a:prstGeom>
          <a:noFill/>
        </p:spPr>
        <p:txBody>
          <a:bodyPr wrap="square" lIns="0" tIns="0" rIns="0" bIns="0" anchor="ctr">
            <a:spAutoFit/>
          </a:bodyPr>
          <a:lstStyle/>
          <a:p>
            <a:pPr algn="l"/>
            <a:r>
              <a:rPr sz="1100" b="0">
                <a:solidFill>
                  <a:srgbClr val="2E2E2E"/>
                </a:solidFill>
                <a:latin typeface="Calibri"/>
              </a:rPr>
              <a:t>Tablets</a:t>
            </a:r>
          </a:p>
        </p:txBody>
      </p:sp>
      <p:sp>
        <p:nvSpPr>
          <p:cNvPr id="337" name="Rectangle 336"/>
          <p:cNvSpPr/>
          <p:nvPr/>
        </p:nvSpPr>
        <p:spPr>
          <a:xfrm>
            <a:off x="3598069"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TextBox 337"/>
          <p:cNvSpPr txBox="1"/>
          <p:nvPr/>
        </p:nvSpPr>
        <p:spPr>
          <a:xfrm>
            <a:off x="3750469" y="5716715"/>
            <a:ext cx="709612" cy="164283"/>
          </a:xfrm>
          <a:prstGeom prst="rect">
            <a:avLst/>
          </a:prstGeom>
          <a:noFill/>
        </p:spPr>
        <p:txBody>
          <a:bodyPr wrap="square" lIns="0" tIns="0" rIns="0" bIns="0" anchor="ctr">
            <a:spAutoFit/>
          </a:bodyPr>
          <a:lstStyle/>
          <a:p>
            <a:pPr algn="l"/>
            <a:r>
              <a:rPr sz="1100" b="0">
                <a:solidFill>
                  <a:srgbClr val="2E2E2E"/>
                </a:solidFill>
                <a:latin typeface="Calibri"/>
              </a:rPr>
              <a:t>Chewables</a:t>
            </a:r>
          </a:p>
        </p:txBody>
      </p:sp>
      <p:sp>
        <p:nvSpPr>
          <p:cNvPr id="339" name="Rectangle 338"/>
          <p:cNvSpPr/>
          <p:nvPr/>
        </p:nvSpPr>
        <p:spPr>
          <a:xfrm>
            <a:off x="4498181"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TextBox 339"/>
          <p:cNvSpPr txBox="1"/>
          <p:nvPr/>
        </p:nvSpPr>
        <p:spPr>
          <a:xfrm>
            <a:off x="4650581" y="5716715"/>
            <a:ext cx="740569" cy="164283"/>
          </a:xfrm>
          <a:prstGeom prst="rect">
            <a:avLst/>
          </a:prstGeom>
          <a:noFill/>
        </p:spPr>
        <p:txBody>
          <a:bodyPr wrap="square" lIns="0" tIns="0" rIns="0" bIns="0" anchor="ctr">
            <a:spAutoFit/>
          </a:bodyPr>
          <a:lstStyle/>
          <a:p>
            <a:pPr algn="l"/>
            <a:r>
              <a:rPr sz="1100" b="0">
                <a:solidFill>
                  <a:srgbClr val="2E2E2E"/>
                </a:solidFill>
                <a:latin typeface="Calibri"/>
              </a:rPr>
              <a:t>Not offered</a:t>
            </a:r>
          </a:p>
        </p:txBody>
      </p:sp>
      <p:sp>
        <p:nvSpPr>
          <p:cNvPr id="341" name="TextBox 340"/>
          <p:cNvSpPr txBox="1"/>
          <p:nvPr/>
        </p:nvSpPr>
        <p:spPr>
          <a:xfrm>
            <a:off x="285750" y="5890125"/>
            <a:ext cx="208915" cy="164283"/>
          </a:xfrm>
          <a:prstGeom prst="rect">
            <a:avLst/>
          </a:prstGeom>
          <a:noFill/>
        </p:spPr>
        <p:txBody>
          <a:bodyPr wrap="none" lIns="0" tIns="0" rIns="0" bIns="0" anchor="ctr">
            <a:spAutoFit/>
          </a:bodyPr>
          <a:lstStyle/>
          <a:p>
            <a:pPr algn="l"/>
            <a:r>
              <a:rPr sz="1100" b="1">
                <a:solidFill>
                  <a:srgbClr val="008189"/>
                </a:solidFill>
                <a:latin typeface="Calibri"/>
              </a:rPr>
              <a:t>✔</a:t>
            </a:r>
          </a:p>
        </p:txBody>
      </p:sp>
      <p:sp>
        <p:nvSpPr>
          <p:cNvPr id="342" name="TextBox 341"/>
          <p:cNvSpPr txBox="1"/>
          <p:nvPr/>
        </p:nvSpPr>
        <p:spPr>
          <a:xfrm>
            <a:off x="475615" y="5890125"/>
            <a:ext cx="457200" cy="164283"/>
          </a:xfrm>
          <a:prstGeom prst="rect">
            <a:avLst/>
          </a:prstGeom>
          <a:noFill/>
        </p:spPr>
        <p:txBody>
          <a:bodyPr wrap="square" lIns="0" tIns="0" rIns="0" bIns="0" anchor="ctr">
            <a:spAutoFit/>
          </a:bodyPr>
          <a:lstStyle/>
          <a:p>
            <a:pPr algn="l"/>
            <a:r>
              <a:rPr sz="1100" b="0">
                <a:solidFill>
                  <a:srgbClr val="2E2E2E"/>
                </a:solidFill>
                <a:latin typeface="Calibri"/>
              </a:rPr>
              <a:t>served</a:t>
            </a:r>
          </a:p>
        </p:txBody>
      </p:sp>
      <p:sp>
        <p:nvSpPr>
          <p:cNvPr id="343" name="TextBox 342"/>
          <p:cNvSpPr txBox="1"/>
          <p:nvPr/>
        </p:nvSpPr>
        <p:spPr>
          <a:xfrm>
            <a:off x="913765" y="5890125"/>
            <a:ext cx="208915" cy="164283"/>
          </a:xfrm>
          <a:prstGeom prst="rect">
            <a:avLst/>
          </a:prstGeom>
          <a:noFill/>
        </p:spPr>
        <p:txBody>
          <a:bodyPr wrap="none" lIns="0" tIns="0" rIns="0" bIns="0" anchor="ctr">
            <a:spAutoFit/>
          </a:bodyPr>
          <a:lstStyle/>
          <a:p>
            <a:pPr algn="l"/>
            <a:r>
              <a:rPr sz="1100" b="1">
                <a:solidFill>
                  <a:srgbClr val="E44D3A"/>
                </a:solidFill>
                <a:latin typeface="Calibri"/>
              </a:rPr>
              <a:t>✘</a:t>
            </a:r>
          </a:p>
        </p:txBody>
      </p:sp>
      <p:sp>
        <p:nvSpPr>
          <p:cNvPr id="344" name="TextBox 343"/>
          <p:cNvSpPr txBox="1"/>
          <p:nvPr/>
        </p:nvSpPr>
        <p:spPr>
          <a:xfrm>
            <a:off x="1103630" y="5890125"/>
            <a:ext cx="683419" cy="164283"/>
          </a:xfrm>
          <a:prstGeom prst="rect">
            <a:avLst/>
          </a:prstGeom>
          <a:noFill/>
        </p:spPr>
        <p:txBody>
          <a:bodyPr wrap="square" lIns="0" tIns="0" rIns="0" bIns="0" anchor="ctr">
            <a:spAutoFit/>
          </a:bodyPr>
          <a:lstStyle/>
          <a:p>
            <a:pPr algn="l"/>
            <a:r>
              <a:rPr sz="1100" b="0">
                <a:solidFill>
                  <a:srgbClr val="2E2E2E"/>
                </a:solidFill>
                <a:latin typeface="Calibri"/>
              </a:rPr>
              <a:t>not served</a:t>
            </a:r>
          </a:p>
        </p:txBody>
      </p:sp>
      <p:sp>
        <p:nvSpPr>
          <p:cNvPr id="345" name="TextBox 344"/>
          <p:cNvSpPr txBox="1"/>
          <p:nvPr/>
        </p:nvSpPr>
        <p:spPr>
          <a:xfrm>
            <a:off x="1939449" y="5890125"/>
            <a:ext cx="1183481" cy="164283"/>
          </a:xfrm>
          <a:prstGeom prst="rect">
            <a:avLst/>
          </a:prstGeom>
          <a:noFill/>
        </p:spPr>
        <p:txBody>
          <a:bodyPr wrap="square" lIns="0" tIns="0" rIns="0" bIns="0" anchor="ctr">
            <a:spAutoFit/>
          </a:bodyPr>
          <a:lstStyle/>
          <a:p>
            <a:pPr algn="l"/>
            <a:r>
              <a:rPr sz="1100" b="1">
                <a:solidFill>
                  <a:srgbClr val="2E2E2E"/>
                </a:solidFill>
                <a:latin typeface="Calibri"/>
              </a:rPr>
              <a:t>Regional presence:</a:t>
            </a:r>
          </a:p>
        </p:txBody>
      </p:sp>
      <p:sp>
        <p:nvSpPr>
          <p:cNvPr id="346" name="TextBox 345"/>
          <p:cNvSpPr txBox="1"/>
          <p:nvPr/>
        </p:nvSpPr>
        <p:spPr>
          <a:xfrm>
            <a:off x="3103880" y="5890125"/>
            <a:ext cx="208915" cy="164283"/>
          </a:xfrm>
          <a:prstGeom prst="rect">
            <a:avLst/>
          </a:prstGeom>
          <a:noFill/>
        </p:spPr>
        <p:txBody>
          <a:bodyPr wrap="none" lIns="0" tIns="0" rIns="0" bIns="0" anchor="ctr">
            <a:spAutoFit/>
          </a:bodyPr>
          <a:lstStyle/>
          <a:p>
            <a:pPr algn="l"/>
            <a:r>
              <a:rPr sz="1100" b="1">
                <a:solidFill>
                  <a:srgbClr val="0E72AE"/>
                </a:solidFill>
                <a:latin typeface="Calibri"/>
              </a:rPr>
              <a:t>▲</a:t>
            </a:r>
          </a:p>
        </p:txBody>
      </p:sp>
      <p:sp>
        <p:nvSpPr>
          <p:cNvPr id="347" name="TextBox 346"/>
          <p:cNvSpPr txBox="1"/>
          <p:nvPr/>
        </p:nvSpPr>
        <p:spPr>
          <a:xfrm>
            <a:off x="3293745" y="5890125"/>
            <a:ext cx="338138" cy="164283"/>
          </a:xfrm>
          <a:prstGeom prst="rect">
            <a:avLst/>
          </a:prstGeom>
          <a:noFill/>
        </p:spPr>
        <p:txBody>
          <a:bodyPr wrap="none" lIns="0" tIns="0" rIns="0" bIns="0" anchor="ctr">
            <a:spAutoFit/>
          </a:bodyPr>
          <a:lstStyle/>
          <a:p>
            <a:pPr algn="l"/>
            <a:r>
              <a:rPr sz="1100" b="0">
                <a:solidFill>
                  <a:srgbClr val="2E2E2E"/>
                </a:solidFill>
                <a:latin typeface="Calibri"/>
              </a:rPr>
              <a:t>High</a:t>
            </a:r>
          </a:p>
        </p:txBody>
      </p:sp>
      <p:sp>
        <p:nvSpPr>
          <p:cNvPr id="348" name="TextBox 347"/>
          <p:cNvSpPr txBox="1"/>
          <p:nvPr/>
        </p:nvSpPr>
        <p:spPr>
          <a:xfrm>
            <a:off x="3612832" y="5890125"/>
            <a:ext cx="208915" cy="164283"/>
          </a:xfrm>
          <a:prstGeom prst="rect">
            <a:avLst/>
          </a:prstGeom>
          <a:noFill/>
        </p:spPr>
        <p:txBody>
          <a:bodyPr wrap="none" lIns="0" tIns="0" rIns="0" bIns="0" anchor="ctr">
            <a:spAutoFit/>
          </a:bodyPr>
          <a:lstStyle/>
          <a:p>
            <a:pPr algn="l"/>
            <a:r>
              <a:rPr sz="1100" b="1">
                <a:solidFill>
                  <a:srgbClr val="A86F00"/>
                </a:solidFill>
                <a:latin typeface="Calibri"/>
              </a:rPr>
              <a:t>▲</a:t>
            </a:r>
          </a:p>
        </p:txBody>
      </p:sp>
      <p:sp>
        <p:nvSpPr>
          <p:cNvPr id="349" name="TextBox 348"/>
          <p:cNvSpPr txBox="1"/>
          <p:nvPr/>
        </p:nvSpPr>
        <p:spPr>
          <a:xfrm>
            <a:off x="3802698" y="5890125"/>
            <a:ext cx="576262" cy="164283"/>
          </a:xfrm>
          <a:prstGeom prst="rect">
            <a:avLst/>
          </a:prstGeom>
          <a:noFill/>
        </p:spPr>
        <p:txBody>
          <a:bodyPr wrap="square" lIns="0" tIns="0" rIns="0" bIns="0" anchor="ctr">
            <a:spAutoFit/>
          </a:bodyPr>
          <a:lstStyle/>
          <a:p>
            <a:pPr algn="l"/>
            <a:r>
              <a:rPr sz="1100" b="0">
                <a:solidFill>
                  <a:srgbClr val="2E2E2E"/>
                </a:solidFill>
                <a:latin typeface="Calibri"/>
              </a:rPr>
              <a:t>Medium</a:t>
            </a:r>
          </a:p>
        </p:txBody>
      </p:sp>
      <p:sp>
        <p:nvSpPr>
          <p:cNvPr id="350" name="TextBox 349"/>
          <p:cNvSpPr txBox="1"/>
          <p:nvPr/>
        </p:nvSpPr>
        <p:spPr>
          <a:xfrm>
            <a:off x="4340860" y="5890125"/>
            <a:ext cx="208915" cy="164283"/>
          </a:xfrm>
          <a:prstGeom prst="rect">
            <a:avLst/>
          </a:prstGeom>
          <a:noFill/>
        </p:spPr>
        <p:txBody>
          <a:bodyPr wrap="none" lIns="0" tIns="0" rIns="0" bIns="0" anchor="ctr">
            <a:spAutoFit/>
          </a:bodyPr>
          <a:lstStyle/>
          <a:p>
            <a:pPr algn="l"/>
            <a:r>
              <a:rPr sz="1100" b="1">
                <a:solidFill>
                  <a:srgbClr val="9AA3A8"/>
                </a:solidFill>
                <a:latin typeface="Calibri"/>
              </a:rPr>
              <a:t>▲</a:t>
            </a:r>
          </a:p>
        </p:txBody>
      </p:sp>
      <p:sp>
        <p:nvSpPr>
          <p:cNvPr id="351" name="TextBox 350"/>
          <p:cNvSpPr txBox="1"/>
          <p:nvPr/>
        </p:nvSpPr>
        <p:spPr>
          <a:xfrm>
            <a:off x="4530725" y="5890125"/>
            <a:ext cx="309562" cy="164283"/>
          </a:xfrm>
          <a:prstGeom prst="rect">
            <a:avLst/>
          </a:prstGeom>
          <a:noFill/>
        </p:spPr>
        <p:txBody>
          <a:bodyPr wrap="none" lIns="0" tIns="0" rIns="0" bIns="0" anchor="ctr">
            <a:spAutoFit/>
          </a:bodyPr>
          <a:lstStyle/>
          <a:p>
            <a:pPr algn="l"/>
            <a:r>
              <a:rPr sz="1100" b="0">
                <a:solidFill>
                  <a:srgbClr val="2E2E2E"/>
                </a:solidFill>
                <a:latin typeface="Calibri"/>
              </a:rPr>
              <a:t>Low</a:t>
            </a:r>
          </a:p>
        </p:txBody>
      </p:sp>
      <p:sp>
        <p:nvSpPr>
          <p:cNvPr id="352" name="Oval 35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TextBox 352"/>
          <p:cNvSpPr txBox="1"/>
          <p:nvPr/>
        </p:nvSpPr>
        <p:spPr>
          <a:xfrm>
            <a:off x="285750" y="6081789"/>
            <a:ext cx="171450" cy="164283"/>
          </a:xfrm>
          <a:prstGeom prst="rect">
            <a:avLst/>
          </a:prstGeom>
          <a:noFill/>
        </p:spPr>
        <p:txBody>
          <a:bodyPr wrap="none" lIns="0" tIns="0" rIns="0" bIns="0" anchor="ctr">
            <a:spAutoFit/>
          </a:bodyPr>
          <a:lstStyle/>
          <a:p>
            <a:pPr algn="ctr"/>
            <a:r>
              <a:rPr sz="1100" b="1">
                <a:solidFill>
                  <a:srgbClr val="FFFFFF"/>
                </a:solidFill>
                <a:latin typeface="Calibri"/>
              </a:rPr>
              <a:t>E</a:t>
            </a:r>
          </a:p>
        </p:txBody>
      </p:sp>
      <p:sp>
        <p:nvSpPr>
          <p:cNvPr id="354" name="TextBox 353"/>
          <p:cNvSpPr txBox="1"/>
          <p:nvPr/>
        </p:nvSpPr>
        <p:spPr>
          <a:xfrm>
            <a:off x="495300" y="6072662"/>
            <a:ext cx="657225" cy="182537"/>
          </a:xfrm>
          <a:prstGeom prst="rect">
            <a:avLst/>
          </a:prstGeom>
          <a:noFill/>
        </p:spPr>
        <p:txBody>
          <a:bodyPr wrap="square" lIns="0" tIns="0" rIns="0" bIns="0" anchor="ctr">
            <a:spAutoFit/>
          </a:bodyPr>
          <a:lstStyle/>
          <a:p>
            <a:pPr algn="l"/>
            <a:r>
              <a:rPr sz="1100" b="0">
                <a:solidFill>
                  <a:srgbClr val="2E2E2E"/>
                </a:solidFill>
                <a:latin typeface="Calibri"/>
              </a:rPr>
              <a:t>Expansion</a:t>
            </a:r>
          </a:p>
        </p:txBody>
      </p:sp>
      <p:sp>
        <p:nvSpPr>
          <p:cNvPr id="355" name="Oval 35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TextBox 355"/>
          <p:cNvSpPr txBox="1"/>
          <p:nvPr/>
        </p:nvSpPr>
        <p:spPr>
          <a:xfrm>
            <a:off x="1247775" y="6081789"/>
            <a:ext cx="171450" cy="164283"/>
          </a:xfrm>
          <a:prstGeom prst="rect">
            <a:avLst/>
          </a:prstGeom>
          <a:noFill/>
        </p:spPr>
        <p:txBody>
          <a:bodyPr wrap="none" lIns="0" tIns="0" rIns="0" bIns="0" anchor="ctr">
            <a:spAutoFit/>
          </a:bodyPr>
          <a:lstStyle/>
          <a:p>
            <a:pPr algn="ctr"/>
            <a:r>
              <a:rPr sz="1100" b="1">
                <a:solidFill>
                  <a:srgbClr val="FFFFFF"/>
                </a:solidFill>
                <a:latin typeface="Calibri"/>
              </a:rPr>
              <a:t>I</a:t>
            </a:r>
          </a:p>
        </p:txBody>
      </p:sp>
      <p:sp>
        <p:nvSpPr>
          <p:cNvPr id="357" name="TextBox 356"/>
          <p:cNvSpPr txBox="1"/>
          <p:nvPr/>
        </p:nvSpPr>
        <p:spPr>
          <a:xfrm>
            <a:off x="1457325" y="6072662"/>
            <a:ext cx="1012031" cy="182537"/>
          </a:xfrm>
          <a:prstGeom prst="rect">
            <a:avLst/>
          </a:prstGeom>
          <a:noFill/>
        </p:spPr>
        <p:txBody>
          <a:bodyPr wrap="square" lIns="0" tIns="0" rIns="0" bIns="0" anchor="ctr">
            <a:spAutoFit/>
          </a:bodyPr>
          <a:lstStyle/>
          <a:p>
            <a:pPr algn="l"/>
            <a:r>
              <a:rPr sz="1100" b="0">
                <a:solidFill>
                  <a:srgbClr val="2E2E2E"/>
                </a:solidFill>
                <a:latin typeface="Calibri"/>
              </a:rPr>
              <a:t>R&amp;D Investment</a:t>
            </a:r>
          </a:p>
        </p:txBody>
      </p:sp>
      <p:sp>
        <p:nvSpPr>
          <p:cNvPr id="358" name="Oval 35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TextBox 358"/>
          <p:cNvSpPr txBox="1"/>
          <p:nvPr/>
        </p:nvSpPr>
        <p:spPr>
          <a:xfrm>
            <a:off x="2564606" y="6081789"/>
            <a:ext cx="171450" cy="164283"/>
          </a:xfrm>
          <a:prstGeom prst="rect">
            <a:avLst/>
          </a:prstGeom>
          <a:noFill/>
        </p:spPr>
        <p:txBody>
          <a:bodyPr wrap="none" lIns="0" tIns="0" rIns="0" bIns="0" anchor="ctr">
            <a:spAutoFit/>
          </a:bodyPr>
          <a:lstStyle/>
          <a:p>
            <a:pPr algn="ctr"/>
            <a:r>
              <a:rPr sz="1100" b="1">
                <a:solidFill>
                  <a:srgbClr val="FFFFFF"/>
                </a:solidFill>
                <a:latin typeface="Calibri"/>
              </a:rPr>
              <a:t>F</a:t>
            </a:r>
          </a:p>
        </p:txBody>
      </p:sp>
      <p:sp>
        <p:nvSpPr>
          <p:cNvPr id="360" name="TextBox 359"/>
          <p:cNvSpPr txBox="1"/>
          <p:nvPr/>
        </p:nvSpPr>
        <p:spPr>
          <a:xfrm>
            <a:off x="2774156" y="6072662"/>
            <a:ext cx="800100" cy="182537"/>
          </a:xfrm>
          <a:prstGeom prst="rect">
            <a:avLst/>
          </a:prstGeom>
          <a:noFill/>
        </p:spPr>
        <p:txBody>
          <a:bodyPr wrap="square" lIns="0" tIns="0" rIns="0" bIns="0" anchor="ctr">
            <a:spAutoFit/>
          </a:bodyPr>
          <a:lstStyle/>
          <a:p>
            <a:pPr algn="l"/>
            <a:r>
              <a:rPr sz="1100" b="0">
                <a:solidFill>
                  <a:srgbClr val="2E2E2E"/>
                </a:solidFill>
                <a:latin typeface="Calibri"/>
              </a:rPr>
              <a:t>Financial Aid</a:t>
            </a:r>
          </a:p>
        </p:txBody>
      </p:sp>
      <p:sp>
        <p:nvSpPr>
          <p:cNvPr id="361" name="Oval 36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TextBox 361"/>
          <p:cNvSpPr txBox="1"/>
          <p:nvPr/>
        </p:nvSpPr>
        <p:spPr>
          <a:xfrm>
            <a:off x="3669506" y="6081789"/>
            <a:ext cx="171450" cy="164283"/>
          </a:xfrm>
          <a:prstGeom prst="rect">
            <a:avLst/>
          </a:prstGeom>
          <a:noFill/>
        </p:spPr>
        <p:txBody>
          <a:bodyPr wrap="none" lIns="0" tIns="0" rIns="0" bIns="0" anchor="ctr">
            <a:spAutoFit/>
          </a:bodyPr>
          <a:lstStyle/>
          <a:p>
            <a:pPr algn="ctr"/>
            <a:r>
              <a:rPr sz="1100" b="1">
                <a:solidFill>
                  <a:srgbClr val="FFFFFF"/>
                </a:solidFill>
                <a:latin typeface="Calibri"/>
              </a:rPr>
              <a:t>P</a:t>
            </a:r>
          </a:p>
        </p:txBody>
      </p:sp>
      <p:sp>
        <p:nvSpPr>
          <p:cNvPr id="363" name="TextBox 362"/>
          <p:cNvSpPr txBox="1"/>
          <p:nvPr/>
        </p:nvSpPr>
        <p:spPr>
          <a:xfrm>
            <a:off x="3879056" y="6072662"/>
            <a:ext cx="1328738" cy="182537"/>
          </a:xfrm>
          <a:prstGeom prst="rect">
            <a:avLst/>
          </a:prstGeom>
          <a:noFill/>
        </p:spPr>
        <p:txBody>
          <a:bodyPr wrap="square" lIns="0" tIns="0" rIns="0" bIns="0" anchor="ctr">
            <a:spAutoFit/>
          </a:bodyPr>
          <a:lstStyle/>
          <a:p>
            <a:pPr algn="l"/>
            <a:r>
              <a:rPr sz="1100" b="0">
                <a:solidFill>
                  <a:srgbClr val="2E2E2E"/>
                </a:solidFill>
                <a:latin typeface="Calibri"/>
              </a:rPr>
              <a:t>Product Development</a:t>
            </a:r>
          </a:p>
        </p:txBody>
      </p:sp>
      <p:sp>
        <p:nvSpPr>
          <p:cNvPr id="364" name="Oval 36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TextBox 364"/>
          <p:cNvSpPr txBox="1"/>
          <p:nvPr/>
        </p:nvSpPr>
        <p:spPr>
          <a:xfrm>
            <a:off x="5303044" y="6081789"/>
            <a:ext cx="171450" cy="164283"/>
          </a:xfrm>
          <a:prstGeom prst="rect">
            <a:avLst/>
          </a:prstGeom>
          <a:noFill/>
        </p:spPr>
        <p:txBody>
          <a:bodyPr wrap="none" lIns="0" tIns="0" rIns="0" bIns="0" anchor="ctr">
            <a:spAutoFit/>
          </a:bodyPr>
          <a:lstStyle/>
          <a:p>
            <a:pPr algn="ctr"/>
            <a:r>
              <a:rPr sz="1100" b="1">
                <a:solidFill>
                  <a:srgbClr val="FFFFFF"/>
                </a:solidFill>
                <a:latin typeface="Calibri"/>
              </a:rPr>
              <a:t>A</a:t>
            </a:r>
          </a:p>
        </p:txBody>
      </p:sp>
      <p:sp>
        <p:nvSpPr>
          <p:cNvPr id="366" name="TextBox 365"/>
          <p:cNvSpPr txBox="1"/>
          <p:nvPr/>
        </p:nvSpPr>
        <p:spPr>
          <a:xfrm>
            <a:off x="5512594" y="6072662"/>
            <a:ext cx="714375" cy="182537"/>
          </a:xfrm>
          <a:prstGeom prst="rect">
            <a:avLst/>
          </a:prstGeom>
          <a:noFill/>
        </p:spPr>
        <p:txBody>
          <a:bodyPr wrap="square" lIns="0" tIns="0" rIns="0" bIns="0" anchor="ctr">
            <a:spAutoFit/>
          </a:bodyPr>
          <a:lstStyle/>
          <a:p>
            <a:pPr algn="l"/>
            <a:r>
              <a:rPr sz="1100" b="0">
                <a:solidFill>
                  <a:srgbClr val="2E2E2E"/>
                </a:solidFill>
                <a:latin typeface="Calibri"/>
              </a:rPr>
              <a:t>Acquisition</a:t>
            </a:r>
          </a:p>
        </p:txBody>
      </p:sp>
      <p:sp>
        <p:nvSpPr>
          <p:cNvPr id="367" name="Oval 36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TextBox 367"/>
          <p:cNvSpPr txBox="1"/>
          <p:nvPr/>
        </p:nvSpPr>
        <p:spPr>
          <a:xfrm>
            <a:off x="6322219" y="6081789"/>
            <a:ext cx="171450" cy="164283"/>
          </a:xfrm>
          <a:prstGeom prst="rect">
            <a:avLst/>
          </a:prstGeom>
          <a:noFill/>
        </p:spPr>
        <p:txBody>
          <a:bodyPr wrap="none" lIns="0" tIns="0" rIns="0" bIns="0" anchor="ctr">
            <a:spAutoFit/>
          </a:bodyPr>
          <a:lstStyle/>
          <a:p>
            <a:pPr algn="ctr"/>
            <a:r>
              <a:rPr sz="1100" b="1">
                <a:solidFill>
                  <a:srgbClr val="FFFFFF"/>
                </a:solidFill>
                <a:latin typeface="Calibri"/>
              </a:rPr>
              <a:t>L</a:t>
            </a:r>
          </a:p>
        </p:txBody>
      </p:sp>
      <p:sp>
        <p:nvSpPr>
          <p:cNvPr id="369" name="TextBox 368"/>
          <p:cNvSpPr txBox="1"/>
          <p:nvPr/>
        </p:nvSpPr>
        <p:spPr>
          <a:xfrm>
            <a:off x="6531769" y="6072662"/>
            <a:ext cx="964406" cy="182537"/>
          </a:xfrm>
          <a:prstGeom prst="rect">
            <a:avLst/>
          </a:prstGeom>
          <a:noFill/>
        </p:spPr>
        <p:txBody>
          <a:bodyPr wrap="square" lIns="0" tIns="0" rIns="0" bIns="0" anchor="ctr">
            <a:spAutoFit/>
          </a:bodyPr>
          <a:lstStyle/>
          <a:p>
            <a:pPr algn="l"/>
            <a:r>
              <a:rPr sz="1100" b="0">
                <a:solidFill>
                  <a:srgbClr val="2E2E2E"/>
                </a:solidFill>
                <a:latin typeface="Calibri"/>
              </a:rPr>
              <a:t>Product Launch</a:t>
            </a:r>
          </a:p>
        </p:txBody>
      </p:sp>
      <p:sp>
        <p:nvSpPr>
          <p:cNvPr id="370" name="Oval 36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TextBox 370"/>
          <p:cNvSpPr txBox="1"/>
          <p:nvPr/>
        </p:nvSpPr>
        <p:spPr>
          <a:xfrm>
            <a:off x="7591425" y="6081789"/>
            <a:ext cx="171450" cy="164283"/>
          </a:xfrm>
          <a:prstGeom prst="rect">
            <a:avLst/>
          </a:prstGeom>
          <a:noFill/>
        </p:spPr>
        <p:txBody>
          <a:bodyPr wrap="none" lIns="0" tIns="0" rIns="0" bIns="0" anchor="ctr">
            <a:spAutoFit/>
          </a:bodyPr>
          <a:lstStyle/>
          <a:p>
            <a:pPr algn="ctr"/>
            <a:r>
              <a:rPr sz="1100" b="1">
                <a:solidFill>
                  <a:srgbClr val="FFFFFF"/>
                </a:solidFill>
                <a:latin typeface="Calibri"/>
              </a:rPr>
              <a:t>C</a:t>
            </a:r>
          </a:p>
        </p:txBody>
      </p:sp>
      <p:sp>
        <p:nvSpPr>
          <p:cNvPr id="372" name="TextBox 371"/>
          <p:cNvSpPr txBox="1"/>
          <p:nvPr/>
        </p:nvSpPr>
        <p:spPr>
          <a:xfrm>
            <a:off x="7800975" y="6072662"/>
            <a:ext cx="781050" cy="182537"/>
          </a:xfrm>
          <a:prstGeom prst="rect">
            <a:avLst/>
          </a:prstGeom>
          <a:noFill/>
        </p:spPr>
        <p:txBody>
          <a:bodyPr wrap="square" lIns="0" tIns="0" rIns="0" bIns="0" anchor="ctr">
            <a:spAutoFit/>
          </a:bodyPr>
          <a:lstStyle/>
          <a:p>
            <a:pPr algn="l"/>
            <a:r>
              <a:rPr sz="1100" b="0">
                <a:solidFill>
                  <a:srgbClr val="2E2E2E"/>
                </a:solidFill>
                <a:latin typeface="Calibri"/>
              </a:rPr>
              <a:t>Certification</a:t>
            </a:r>
          </a:p>
        </p:txBody>
      </p:sp>
      <p:sp>
        <p:nvSpPr>
          <p:cNvPr id="373" name="TextBox 372"/>
          <p:cNvSpPr txBox="1"/>
          <p:nvPr/>
        </p:nvSpPr>
        <p:spPr>
          <a:xfrm>
            <a:off x="285750" y="6273453"/>
            <a:ext cx="11620500" cy="155156"/>
          </a:xfrm>
          <a:prstGeom prst="rect">
            <a:avLst/>
          </a:prstGeom>
          <a:noFill/>
        </p:spPr>
        <p:txBody>
          <a:bodyPr wrap="square" lIns="0" tIns="0" rIns="0" bIns="0">
            <a:spAutoFit/>
          </a:bodyPr>
          <a:lstStyle/>
          <a:p>
            <a:pPr algn="l"/>
            <a:r>
              <a:rPr sz="1100" b="1">
                <a:solidFill>
                  <a:srgbClr val="A35313"/>
                </a:solidFill>
                <a:latin typeface="Calibri"/>
              </a:rPr>
              <a:t>Note: Market Share indicates the contribution of target revenue in Market</a:t>
            </a:r>
          </a:p>
        </p:txBody>
      </p:sp>
      <p:sp>
        <p:nvSpPr>
          <p:cNvPr id="374" name="TextBox 373"/>
          <p:cNvSpPr txBox="1"/>
          <p:nvPr/>
        </p:nvSpPr>
        <p:spPr>
          <a:xfrm>
            <a:off x="285750" y="6428609"/>
            <a:ext cx="11620500" cy="155156"/>
          </a:xfrm>
          <a:prstGeom prst="rect">
            <a:avLst/>
          </a:prstGeom>
          <a:noFill/>
        </p:spPr>
        <p:txBody>
          <a:bodyPr wrap="square" lIns="0" tIns="0" rIns="0" bIns="0">
            <a:spAutoFit/>
          </a:bodyPr>
          <a:lstStyle/>
          <a:p>
            <a:pPr algn="l"/>
            <a:r>
              <a:rPr sz="1100" b="1">
                <a:solidFill>
                  <a:srgbClr val="A35313"/>
                </a:solidFill>
                <a:latin typeface="Calibri"/>
              </a:rPr>
              <a:t>Revenue represents sales of the company from target market</a:t>
            </a:r>
          </a:p>
        </p:txBody>
      </p:sp>
      <p:sp>
        <p:nvSpPr>
          <p:cNvPr id="375" name="TextBox 374"/>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pic>
        <p:nvPicPr>
          <p:cNvPr id="376" name="Picture 375" descr="lock.png"/>
          <p:cNvPicPr>
            <a:picLocks noChangeAspect="1"/>
          </p:cNvPicPr>
          <p:nvPr/>
        </p:nvPicPr>
        <p:blipFill>
          <a:blip r:embed="rId4"/>
          <a:stretch>
            <a:fillRect/>
          </a:stretch>
        </p:blipFill>
        <p:spPr>
          <a:xfrm>
            <a:off x="1769213" y="2702524"/>
            <a:ext cx="128699" cy="187198"/>
          </a:xfrm>
          <a:prstGeom prst="rect">
            <a:avLst/>
          </a:prstGeom>
        </p:spPr>
      </p:pic>
      <p:pic>
        <p:nvPicPr>
          <p:cNvPr id="377" name="Picture 376" descr="lock.png"/>
          <p:cNvPicPr>
            <a:picLocks noChangeAspect="1"/>
          </p:cNvPicPr>
          <p:nvPr/>
        </p:nvPicPr>
        <p:blipFill>
          <a:blip r:embed="rId4"/>
          <a:stretch>
            <a:fillRect/>
          </a:stretch>
        </p:blipFill>
        <p:spPr>
          <a:xfrm>
            <a:off x="1769213" y="3031091"/>
            <a:ext cx="128699" cy="187198"/>
          </a:xfrm>
          <a:prstGeom prst="rect">
            <a:avLst/>
          </a:prstGeom>
        </p:spPr>
      </p:pic>
      <p:pic>
        <p:nvPicPr>
          <p:cNvPr id="378" name="Picture 377" descr="lock.png"/>
          <p:cNvPicPr>
            <a:picLocks noChangeAspect="1"/>
          </p:cNvPicPr>
          <p:nvPr/>
        </p:nvPicPr>
        <p:blipFill>
          <a:blip r:embed="rId4"/>
          <a:stretch>
            <a:fillRect/>
          </a:stretch>
        </p:blipFill>
        <p:spPr>
          <a:xfrm>
            <a:off x="1769212" y="3560448"/>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2702524"/>
            <a:ext cx="128699" cy="187198"/>
          </a:xfrm>
          <a:prstGeom prst="rect">
            <a:avLst/>
          </a:prstGeom>
        </p:spPr>
      </p:pic>
      <p:pic>
        <p:nvPicPr>
          <p:cNvPr id="380" name="Picture 379" descr="lock.png"/>
          <p:cNvPicPr>
            <a:picLocks noChangeAspect="1"/>
          </p:cNvPicPr>
          <p:nvPr/>
        </p:nvPicPr>
        <p:blipFill>
          <a:blip r:embed="rId4"/>
          <a:stretch>
            <a:fillRect/>
          </a:stretch>
        </p:blipFill>
        <p:spPr>
          <a:xfrm>
            <a:off x="2845538" y="3031091"/>
            <a:ext cx="128699" cy="187198"/>
          </a:xfrm>
          <a:prstGeom prst="rect">
            <a:avLst/>
          </a:prstGeom>
        </p:spPr>
      </p:pic>
      <p:pic>
        <p:nvPicPr>
          <p:cNvPr id="381" name="Picture 380" descr="lock.png"/>
          <p:cNvPicPr>
            <a:picLocks noChangeAspect="1"/>
          </p:cNvPicPr>
          <p:nvPr/>
        </p:nvPicPr>
        <p:blipFill>
          <a:blip r:embed="rId4"/>
          <a:stretch>
            <a:fillRect/>
          </a:stretch>
        </p:blipFill>
        <p:spPr>
          <a:xfrm>
            <a:off x="2845538" y="3560448"/>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3" y="2702524"/>
            <a:ext cx="128699" cy="187198"/>
          </a:xfrm>
          <a:prstGeom prst="rect">
            <a:avLst/>
          </a:prstGeom>
        </p:spPr>
      </p:pic>
      <p:pic>
        <p:nvPicPr>
          <p:cNvPr id="383" name="Picture 382" descr="lock.png"/>
          <p:cNvPicPr>
            <a:picLocks noChangeAspect="1"/>
          </p:cNvPicPr>
          <p:nvPr/>
        </p:nvPicPr>
        <p:blipFill>
          <a:blip r:embed="rId4"/>
          <a:stretch>
            <a:fillRect/>
          </a:stretch>
        </p:blipFill>
        <p:spPr>
          <a:xfrm>
            <a:off x="3921863" y="3031091"/>
            <a:ext cx="128699" cy="187198"/>
          </a:xfrm>
          <a:prstGeom prst="rect">
            <a:avLst/>
          </a:prstGeom>
        </p:spPr>
      </p:pic>
      <p:pic>
        <p:nvPicPr>
          <p:cNvPr id="384" name="Picture 383" descr="lock.png"/>
          <p:cNvPicPr>
            <a:picLocks noChangeAspect="1"/>
          </p:cNvPicPr>
          <p:nvPr/>
        </p:nvPicPr>
        <p:blipFill>
          <a:blip r:embed="rId4"/>
          <a:stretch>
            <a:fillRect/>
          </a:stretch>
        </p:blipFill>
        <p:spPr>
          <a:xfrm>
            <a:off x="3921862" y="3560448"/>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2702524"/>
            <a:ext cx="128699" cy="187198"/>
          </a:xfrm>
          <a:prstGeom prst="rect">
            <a:avLst/>
          </a:prstGeom>
        </p:spPr>
      </p:pic>
      <p:pic>
        <p:nvPicPr>
          <p:cNvPr id="386" name="Picture 385" descr="lock.png"/>
          <p:cNvPicPr>
            <a:picLocks noChangeAspect="1"/>
          </p:cNvPicPr>
          <p:nvPr/>
        </p:nvPicPr>
        <p:blipFill>
          <a:blip r:embed="rId4"/>
          <a:stretch>
            <a:fillRect/>
          </a:stretch>
        </p:blipFill>
        <p:spPr>
          <a:xfrm>
            <a:off x="4998188" y="3031091"/>
            <a:ext cx="128699" cy="187198"/>
          </a:xfrm>
          <a:prstGeom prst="rect">
            <a:avLst/>
          </a:prstGeom>
        </p:spPr>
      </p:pic>
      <p:pic>
        <p:nvPicPr>
          <p:cNvPr id="387" name="Picture 386" descr="lock.png"/>
          <p:cNvPicPr>
            <a:picLocks noChangeAspect="1"/>
          </p:cNvPicPr>
          <p:nvPr/>
        </p:nvPicPr>
        <p:blipFill>
          <a:blip r:embed="rId4"/>
          <a:stretch>
            <a:fillRect/>
          </a:stretch>
        </p:blipFill>
        <p:spPr>
          <a:xfrm>
            <a:off x="4998188" y="3560448"/>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3" y="2702524"/>
            <a:ext cx="128699" cy="187198"/>
          </a:xfrm>
          <a:prstGeom prst="rect">
            <a:avLst/>
          </a:prstGeom>
        </p:spPr>
      </p:pic>
      <p:pic>
        <p:nvPicPr>
          <p:cNvPr id="389" name="Picture 388" descr="lock.png"/>
          <p:cNvPicPr>
            <a:picLocks noChangeAspect="1"/>
          </p:cNvPicPr>
          <p:nvPr/>
        </p:nvPicPr>
        <p:blipFill>
          <a:blip r:embed="rId4"/>
          <a:stretch>
            <a:fillRect/>
          </a:stretch>
        </p:blipFill>
        <p:spPr>
          <a:xfrm>
            <a:off x="6074513" y="3031091"/>
            <a:ext cx="128699" cy="187198"/>
          </a:xfrm>
          <a:prstGeom prst="rect">
            <a:avLst/>
          </a:prstGeom>
        </p:spPr>
      </p:pic>
      <p:pic>
        <p:nvPicPr>
          <p:cNvPr id="390" name="Picture 389" descr="lock.png"/>
          <p:cNvPicPr>
            <a:picLocks noChangeAspect="1"/>
          </p:cNvPicPr>
          <p:nvPr/>
        </p:nvPicPr>
        <p:blipFill>
          <a:blip r:embed="rId4"/>
          <a:stretch>
            <a:fillRect/>
          </a:stretch>
        </p:blipFill>
        <p:spPr>
          <a:xfrm>
            <a:off x="6074512" y="3560448"/>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2702524"/>
            <a:ext cx="128699" cy="187198"/>
          </a:xfrm>
          <a:prstGeom prst="rect">
            <a:avLst/>
          </a:prstGeom>
        </p:spPr>
      </p:pic>
      <p:pic>
        <p:nvPicPr>
          <p:cNvPr id="392" name="Picture 391" descr="lock.png"/>
          <p:cNvPicPr>
            <a:picLocks noChangeAspect="1"/>
          </p:cNvPicPr>
          <p:nvPr/>
        </p:nvPicPr>
        <p:blipFill>
          <a:blip r:embed="rId4"/>
          <a:stretch>
            <a:fillRect/>
          </a:stretch>
        </p:blipFill>
        <p:spPr>
          <a:xfrm>
            <a:off x="7150838" y="3031091"/>
            <a:ext cx="128699" cy="187198"/>
          </a:xfrm>
          <a:prstGeom prst="rect">
            <a:avLst/>
          </a:prstGeom>
        </p:spPr>
      </p:pic>
      <p:pic>
        <p:nvPicPr>
          <p:cNvPr id="393" name="Picture 392" descr="lock.png"/>
          <p:cNvPicPr>
            <a:picLocks noChangeAspect="1"/>
          </p:cNvPicPr>
          <p:nvPr/>
        </p:nvPicPr>
        <p:blipFill>
          <a:blip r:embed="rId4"/>
          <a:stretch>
            <a:fillRect/>
          </a:stretch>
        </p:blipFill>
        <p:spPr>
          <a:xfrm>
            <a:off x="7150838" y="3560448"/>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3" y="2702524"/>
            <a:ext cx="128699" cy="187198"/>
          </a:xfrm>
          <a:prstGeom prst="rect">
            <a:avLst/>
          </a:prstGeom>
        </p:spPr>
      </p:pic>
      <p:pic>
        <p:nvPicPr>
          <p:cNvPr id="395" name="Picture 394" descr="lock.png"/>
          <p:cNvPicPr>
            <a:picLocks noChangeAspect="1"/>
          </p:cNvPicPr>
          <p:nvPr/>
        </p:nvPicPr>
        <p:blipFill>
          <a:blip r:embed="rId4"/>
          <a:stretch>
            <a:fillRect/>
          </a:stretch>
        </p:blipFill>
        <p:spPr>
          <a:xfrm>
            <a:off x="8227163" y="3031091"/>
            <a:ext cx="128699" cy="187198"/>
          </a:xfrm>
          <a:prstGeom prst="rect">
            <a:avLst/>
          </a:prstGeom>
        </p:spPr>
      </p:pic>
      <p:pic>
        <p:nvPicPr>
          <p:cNvPr id="396" name="Picture 395" descr="lock.png"/>
          <p:cNvPicPr>
            <a:picLocks noChangeAspect="1"/>
          </p:cNvPicPr>
          <p:nvPr/>
        </p:nvPicPr>
        <p:blipFill>
          <a:blip r:embed="rId4"/>
          <a:stretch>
            <a:fillRect/>
          </a:stretch>
        </p:blipFill>
        <p:spPr>
          <a:xfrm>
            <a:off x="8227162" y="3560448"/>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2702524"/>
            <a:ext cx="128699" cy="187198"/>
          </a:xfrm>
          <a:prstGeom prst="rect">
            <a:avLst/>
          </a:prstGeom>
        </p:spPr>
      </p:pic>
      <p:pic>
        <p:nvPicPr>
          <p:cNvPr id="398" name="Picture 397" descr="lock.png"/>
          <p:cNvPicPr>
            <a:picLocks noChangeAspect="1"/>
          </p:cNvPicPr>
          <p:nvPr/>
        </p:nvPicPr>
        <p:blipFill>
          <a:blip r:embed="rId4"/>
          <a:stretch>
            <a:fillRect/>
          </a:stretch>
        </p:blipFill>
        <p:spPr>
          <a:xfrm>
            <a:off x="9303488" y="3031091"/>
            <a:ext cx="128699" cy="187198"/>
          </a:xfrm>
          <a:prstGeom prst="rect">
            <a:avLst/>
          </a:prstGeom>
        </p:spPr>
      </p:pic>
      <p:pic>
        <p:nvPicPr>
          <p:cNvPr id="399" name="Picture 398" descr="lock.png"/>
          <p:cNvPicPr>
            <a:picLocks noChangeAspect="1"/>
          </p:cNvPicPr>
          <p:nvPr/>
        </p:nvPicPr>
        <p:blipFill>
          <a:blip r:embed="rId4"/>
          <a:stretch>
            <a:fillRect/>
          </a:stretch>
        </p:blipFill>
        <p:spPr>
          <a:xfrm>
            <a:off x="9303488" y="3560448"/>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3" y="2702524"/>
            <a:ext cx="128699" cy="187198"/>
          </a:xfrm>
          <a:prstGeom prst="rect">
            <a:avLst/>
          </a:prstGeom>
        </p:spPr>
      </p:pic>
      <p:pic>
        <p:nvPicPr>
          <p:cNvPr id="401" name="Picture 400" descr="lock.png"/>
          <p:cNvPicPr>
            <a:picLocks noChangeAspect="1"/>
          </p:cNvPicPr>
          <p:nvPr/>
        </p:nvPicPr>
        <p:blipFill>
          <a:blip r:embed="rId4"/>
          <a:stretch>
            <a:fillRect/>
          </a:stretch>
        </p:blipFill>
        <p:spPr>
          <a:xfrm>
            <a:off x="10379813" y="3031091"/>
            <a:ext cx="128699" cy="187198"/>
          </a:xfrm>
          <a:prstGeom prst="rect">
            <a:avLst/>
          </a:prstGeom>
        </p:spPr>
      </p:pic>
      <p:pic>
        <p:nvPicPr>
          <p:cNvPr id="402" name="Picture 401" descr="lock.png"/>
          <p:cNvPicPr>
            <a:picLocks noChangeAspect="1"/>
          </p:cNvPicPr>
          <p:nvPr/>
        </p:nvPicPr>
        <p:blipFill>
          <a:blip r:embed="rId4"/>
          <a:stretch>
            <a:fillRect/>
          </a:stretch>
        </p:blipFill>
        <p:spPr>
          <a:xfrm>
            <a:off x="10379812" y="3560448"/>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2702524"/>
            <a:ext cx="128699" cy="187198"/>
          </a:xfrm>
          <a:prstGeom prst="rect">
            <a:avLst/>
          </a:prstGeom>
        </p:spPr>
      </p:pic>
      <p:pic>
        <p:nvPicPr>
          <p:cNvPr id="404" name="Picture 403" descr="lock.png"/>
          <p:cNvPicPr>
            <a:picLocks noChangeAspect="1"/>
          </p:cNvPicPr>
          <p:nvPr/>
        </p:nvPicPr>
        <p:blipFill>
          <a:blip r:embed="rId4"/>
          <a:stretch>
            <a:fillRect/>
          </a:stretch>
        </p:blipFill>
        <p:spPr>
          <a:xfrm>
            <a:off x="11456138" y="3031091"/>
            <a:ext cx="128699" cy="187198"/>
          </a:xfrm>
          <a:prstGeom prst="rect">
            <a:avLst/>
          </a:prstGeom>
        </p:spPr>
      </p:pic>
      <p:pic>
        <p:nvPicPr>
          <p:cNvPr id="405" name="Picture 404"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C9DC92-CC39-269D-F4F6-1BCD7363F9A2}"/>
              </a:ext>
            </a:extLst>
          </p:cNvPr>
          <p:cNvSpPr/>
          <p:nvPr/>
        </p:nvSpPr>
        <p:spPr>
          <a:xfrm>
            <a:off x="0" y="0"/>
            <a:ext cx="12192000" cy="6858000"/>
          </a:xfrm>
          <a:prstGeom prst="rect">
            <a:avLst/>
          </a:prstGeom>
          <a:solidFill>
            <a:srgbClr val="FFFFFF"/>
          </a:solidFill>
          <a:ln>
            <a:solidFill>
              <a:srgbClr val="FFFFFF"/>
            </a:solidFill>
          </a:ln>
        </p:spPr>
        <p:style>
          <a:lnRef idx="2">
            <a:srgbClr val="2A5F8F">
              <a:shade val="15000"/>
            </a:srgbClr>
          </a:lnRef>
          <a:fillRef idx="1">
            <a:srgbClr val="2A5F8F"/>
          </a:fillRef>
          <a:effectRef idx="0">
            <a:srgbClr val="2A5F8F"/>
          </a:effectRef>
          <a:fontRef idx="minor">
            <a:srgbClr val="FFFFFF"/>
          </a:fontRef>
        </p:style>
        <p:txBody>
          <a:bodyPr rtlCol="0" anchor="ctr"/>
          <a:lstStyle/>
          <a:p>
            <a:pPr algn="ctr"/>
            <a:endParaRPr lang="en-US"/>
          </a:p>
        </p:txBody>
      </p:sp>
      <p:grpSp>
        <p:nvGrpSpPr>
          <p:cNvPr id="4" name="Group 23">
            <a:extLst>
              <a:ext uri="{FF2B5EF4-FFF2-40B4-BE49-F238E27FC236}">
                <a16:creationId xmlns:a16="http://schemas.microsoft.com/office/drawing/2014/main" id="{85B8B5CB-8306-A876-1A56-F5D391EBE3A2}"/>
              </a:ext>
            </a:extLst>
          </p:cNvPr>
          <p:cNvGrpSpPr>
            <a:grpSpLocks/>
          </p:cNvGrpSpPr>
          <p:nvPr/>
        </p:nvGrpSpPr>
        <p:grpSpPr bwMode="auto">
          <a:xfrm>
            <a:off x="152400" y="164419"/>
            <a:ext cx="12039600" cy="6021387"/>
            <a:chOff x="76010" y="229820"/>
            <a:chExt cx="12039981" cy="6021526"/>
          </a:xfrm>
        </p:grpSpPr>
        <p:sp>
          <p:nvSpPr>
            <p:cNvPr id="5" name="Rectangle 22">
              <a:extLst>
                <a:ext uri="{FF2B5EF4-FFF2-40B4-BE49-F238E27FC236}">
                  <a16:creationId xmlns:a16="http://schemas.microsoft.com/office/drawing/2014/main" id="{899C401F-7B85-B769-45BD-852117B2EFA8}"/>
                </a:ext>
              </a:extLst>
            </p:cNvPr>
            <p:cNvSpPr>
              <a:spLocks noChangeArrowheads="1"/>
            </p:cNvSpPr>
            <p:nvPr/>
          </p:nvSpPr>
          <p:spPr bwMode="auto">
            <a:xfrm>
              <a:off x="4523037" y="5943569"/>
              <a:ext cx="3145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930275" algn="l"/>
                </a:tabLst>
                <a:defRPr>
                  <a:solidFill>
                    <a:srgbClr val="000000"/>
                  </a:solidFill>
                  <a:latin typeface="Arial" panose="020B0604020202020204" pitchFamily="34" charset="0"/>
                  <a:cs typeface="Arial" panose="020B0604020202020204" pitchFamily="34" charset="0"/>
                </a:defRPr>
              </a:lvl1pPr>
              <a:lvl2pPr marL="742950" indent="-285750">
                <a:tabLst>
                  <a:tab pos="930275" algn="l"/>
                </a:tabLst>
                <a:defRPr>
                  <a:solidFill>
                    <a:srgbClr val="000000"/>
                  </a:solidFill>
                  <a:latin typeface="Arial" panose="020B0604020202020204" pitchFamily="34" charset="0"/>
                  <a:cs typeface="Arial" panose="020B0604020202020204" pitchFamily="34" charset="0"/>
                </a:defRPr>
              </a:lvl2pPr>
              <a:lvl3pPr marL="1143000" indent="-228600">
                <a:tabLst>
                  <a:tab pos="930275" algn="l"/>
                </a:tabLst>
                <a:defRPr>
                  <a:solidFill>
                    <a:srgbClr val="000000"/>
                  </a:solidFill>
                  <a:latin typeface="Arial" panose="020B0604020202020204" pitchFamily="34" charset="0"/>
                  <a:cs typeface="Arial" panose="020B0604020202020204" pitchFamily="34" charset="0"/>
                </a:defRPr>
              </a:lvl3pPr>
              <a:lvl4pPr marL="1600200" indent="-228600">
                <a:tabLst>
                  <a:tab pos="930275" algn="l"/>
                </a:tabLst>
                <a:defRPr>
                  <a:solidFill>
                    <a:srgbClr val="000000"/>
                  </a:solidFill>
                  <a:latin typeface="Arial" panose="020B0604020202020204" pitchFamily="34" charset="0"/>
                  <a:cs typeface="Arial" panose="020B0604020202020204" pitchFamily="34" charset="0"/>
                </a:defRPr>
              </a:lvl4pPr>
              <a:lvl5pPr marL="2057400" indent="-228600">
                <a:tabLst>
                  <a:tab pos="930275" algn="l"/>
                </a:tabLst>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9pPr>
            </a:lstStyle>
            <a:p>
              <a:pPr algn="ctr">
                <a:spcBef>
                  <a:spcPts val="200"/>
                </a:spcBef>
                <a:spcAft>
                  <a:spcPts val="200"/>
                </a:spcAft>
              </a:pPr>
              <a:r>
                <a:rPr lang="en-GB" altLang="en-US" sz="1400" b="1">
                  <a:ea typeface="MS PGothic" panose="020B0600070205080204" pitchFamily="34" charset="-128"/>
                </a:rPr>
                <a:t>Email: sales@futuremarketinsights.com</a:t>
              </a:r>
            </a:p>
          </p:txBody>
        </p:sp>
        <p:grpSp>
          <p:nvGrpSpPr>
            <p:cNvPr id="6" name="Group 21">
              <a:extLst>
                <a:ext uri="{FF2B5EF4-FFF2-40B4-BE49-F238E27FC236}">
                  <a16:creationId xmlns:a16="http://schemas.microsoft.com/office/drawing/2014/main" id="{5FBB3E24-8D41-905A-6BA3-11149D7E0A50}"/>
                </a:ext>
              </a:extLst>
            </p:cNvPr>
            <p:cNvGrpSpPr>
              <a:grpSpLocks/>
            </p:cNvGrpSpPr>
            <p:nvPr/>
          </p:nvGrpSpPr>
          <p:grpSpPr bwMode="auto">
            <a:xfrm>
              <a:off x="76010" y="229820"/>
              <a:ext cx="12039981" cy="5526596"/>
              <a:chOff x="76010" y="229820"/>
              <a:chExt cx="12039981" cy="5526596"/>
            </a:xfrm>
          </p:grpSpPr>
          <p:grpSp>
            <p:nvGrpSpPr>
              <p:cNvPr id="7" name="Group 24">
                <a:extLst>
                  <a:ext uri="{FF2B5EF4-FFF2-40B4-BE49-F238E27FC236}">
                    <a16:creationId xmlns:a16="http://schemas.microsoft.com/office/drawing/2014/main" id="{34C0848D-58FD-B698-603B-B8D2C7863B12}"/>
                  </a:ext>
                </a:extLst>
              </p:cNvPr>
              <p:cNvGrpSpPr>
                <a:grpSpLocks/>
              </p:cNvGrpSpPr>
              <p:nvPr/>
            </p:nvGrpSpPr>
            <p:grpSpPr bwMode="auto">
              <a:xfrm>
                <a:off x="76010" y="3513022"/>
                <a:ext cx="12039981" cy="54864"/>
                <a:chOff x="980685" y="3697699"/>
                <a:chExt cx="9950397" cy="54864"/>
              </a:xfrm>
            </p:grpSpPr>
            <p:sp>
              <p:nvSpPr>
                <p:cNvPr id="8" name="Rectangle 44">
                  <a:extLst>
                    <a:ext uri="{FF2B5EF4-FFF2-40B4-BE49-F238E27FC236}">
                      <a16:creationId xmlns:a16="http://schemas.microsoft.com/office/drawing/2014/main" id="{4C55A7B5-34B4-8F78-1AE4-63BEB5D835CF}"/>
                    </a:ext>
                  </a:extLst>
                </p:cNvPr>
                <p:cNvSpPr/>
                <p:nvPr/>
              </p:nvSpPr>
              <p:spPr>
                <a:xfrm>
                  <a:off x="980685" y="3697523"/>
                  <a:ext cx="3109499" cy="55563"/>
                </a:xfrm>
                <a:prstGeom prst="rect">
                  <a:avLst/>
                </a:prstGeom>
                <a:solidFill>
                  <a:srgbClr val="92C73E"/>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9" name="Rectangle 45">
                  <a:extLst>
                    <a:ext uri="{FF2B5EF4-FFF2-40B4-BE49-F238E27FC236}">
                      <a16:creationId xmlns:a16="http://schemas.microsoft.com/office/drawing/2014/main" id="{F34EF18C-34C1-6B37-6F48-1B3AC01098EE}"/>
                    </a:ext>
                  </a:extLst>
                </p:cNvPr>
                <p:cNvSpPr/>
                <p:nvPr/>
              </p:nvSpPr>
              <p:spPr>
                <a:xfrm>
                  <a:off x="4401134" y="3697523"/>
                  <a:ext cx="3109499" cy="55563"/>
                </a:xfrm>
                <a:prstGeom prst="rect">
                  <a:avLst/>
                </a:prstGeom>
                <a:solidFill>
                  <a:srgbClr val="EF5123"/>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10" name="Rectangle 46">
                  <a:extLst>
                    <a:ext uri="{FF2B5EF4-FFF2-40B4-BE49-F238E27FC236}">
                      <a16:creationId xmlns:a16="http://schemas.microsoft.com/office/drawing/2014/main" id="{1DC20229-C001-A2E1-EEF4-879BB49DF54C}"/>
                    </a:ext>
                  </a:extLst>
                </p:cNvPr>
                <p:cNvSpPr/>
                <p:nvPr/>
              </p:nvSpPr>
              <p:spPr>
                <a:xfrm>
                  <a:off x="7821583" y="3697523"/>
                  <a:ext cx="3109499" cy="55563"/>
                </a:xfrm>
                <a:prstGeom prst="rect">
                  <a:avLst/>
                </a:prstGeom>
                <a:solidFill>
                  <a:srgbClr val="8F288C"/>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grpSp>
          <p:grpSp>
            <p:nvGrpSpPr>
              <p:cNvPr id="11" name="Group 7">
                <a:extLst>
                  <a:ext uri="{FF2B5EF4-FFF2-40B4-BE49-F238E27FC236}">
                    <a16:creationId xmlns:a16="http://schemas.microsoft.com/office/drawing/2014/main" id="{F5B19A97-FB1F-FD32-44EF-0C72BC8DD69D}"/>
                  </a:ext>
                </a:extLst>
              </p:cNvPr>
              <p:cNvGrpSpPr>
                <a:grpSpLocks/>
              </p:cNvGrpSpPr>
              <p:nvPr/>
            </p:nvGrpSpPr>
            <p:grpSpPr bwMode="auto">
              <a:xfrm>
                <a:off x="249774" y="3716063"/>
                <a:ext cx="11668690" cy="2040353"/>
                <a:chOff x="249774" y="3716063"/>
                <a:chExt cx="11668690" cy="2040353"/>
              </a:xfrm>
            </p:grpSpPr>
            <p:cxnSp>
              <p:nvCxnSpPr>
                <p:cNvPr id="12" name="Straight Connector 13">
                  <a:extLst>
                    <a:ext uri="{FF2B5EF4-FFF2-40B4-BE49-F238E27FC236}">
                      <a16:creationId xmlns:a16="http://schemas.microsoft.com/office/drawing/2014/main" id="{6212A6C9-95CF-65EB-6160-29A1FA8799D8}"/>
                    </a:ext>
                  </a:extLst>
                </p:cNvPr>
                <p:cNvCxnSpPr/>
                <p:nvPr/>
              </p:nvCxnSpPr>
              <p:spPr>
                <a:xfrm>
                  <a:off x="297328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3" name="Straight Connector 14">
                  <a:extLst>
                    <a:ext uri="{FF2B5EF4-FFF2-40B4-BE49-F238E27FC236}">
                      <a16:creationId xmlns:a16="http://schemas.microsoft.com/office/drawing/2014/main" id="{5569CE85-C66C-AE72-E1E5-D22A37A01501}"/>
                    </a:ext>
                  </a:extLst>
                </p:cNvPr>
                <p:cNvCxnSpPr/>
                <p:nvPr/>
              </p:nvCxnSpPr>
              <p:spPr>
                <a:xfrm>
                  <a:off x="622617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4" name="Straight Connector 15">
                  <a:extLst>
                    <a:ext uri="{FF2B5EF4-FFF2-40B4-BE49-F238E27FC236}">
                      <a16:creationId xmlns:a16="http://schemas.microsoft.com/office/drawing/2014/main" id="{7FFA3833-E6A1-2A12-9739-19E5C6B0D04D}"/>
                    </a:ext>
                  </a:extLst>
                </p:cNvPr>
                <p:cNvCxnSpPr/>
                <p:nvPr/>
              </p:nvCxnSpPr>
              <p:spPr>
                <a:xfrm>
                  <a:off x="9426680"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grpSp>
              <p:nvGrpSpPr>
                <p:cNvPr id="15" name="Group 3">
                  <a:extLst>
                    <a:ext uri="{FF2B5EF4-FFF2-40B4-BE49-F238E27FC236}">
                      <a16:creationId xmlns:a16="http://schemas.microsoft.com/office/drawing/2014/main" id="{D6026827-3752-097F-C4B9-B5B0A33C1EE7}"/>
                    </a:ext>
                  </a:extLst>
                </p:cNvPr>
                <p:cNvGrpSpPr>
                  <a:grpSpLocks/>
                </p:cNvGrpSpPr>
                <p:nvPr/>
              </p:nvGrpSpPr>
              <p:grpSpPr bwMode="auto">
                <a:xfrm>
                  <a:off x="6746181" y="3731157"/>
                  <a:ext cx="2280186" cy="1706483"/>
                  <a:chOff x="6498583" y="3532655"/>
                  <a:chExt cx="2280186" cy="1706483"/>
                </a:xfrm>
              </p:grpSpPr>
              <p:grpSp>
                <p:nvGrpSpPr>
                  <p:cNvPr id="16" name="Group 28">
                    <a:extLst>
                      <a:ext uri="{FF2B5EF4-FFF2-40B4-BE49-F238E27FC236}">
                        <a16:creationId xmlns:a16="http://schemas.microsoft.com/office/drawing/2014/main" id="{F6A97133-09A9-4882-223C-0670F6DFD7E0}"/>
                      </a:ext>
                    </a:extLst>
                  </p:cNvPr>
                  <p:cNvGrpSpPr>
                    <a:grpSpLocks/>
                  </p:cNvGrpSpPr>
                  <p:nvPr/>
                </p:nvGrpSpPr>
                <p:grpSpPr bwMode="auto">
                  <a:xfrm>
                    <a:off x="6498583" y="3653110"/>
                    <a:ext cx="2280186" cy="1586028"/>
                    <a:chOff x="6373418" y="3837787"/>
                    <a:chExt cx="2280186" cy="1586028"/>
                  </a:xfrm>
                </p:grpSpPr>
                <p:sp>
                  <p:nvSpPr>
                    <p:cNvPr id="17" name="TextBox 39">
                      <a:extLst>
                        <a:ext uri="{FF2B5EF4-FFF2-40B4-BE49-F238E27FC236}">
                          <a16:creationId xmlns:a16="http://schemas.microsoft.com/office/drawing/2014/main" id="{46D75380-0311-71C0-CC91-426529CAAF89}"/>
                        </a:ext>
                      </a:extLst>
                    </p:cNvPr>
                    <p:cNvSpPr txBox="1">
                      <a:spLocks noChangeArrowheads="1"/>
                    </p:cNvSpPr>
                    <p:nvPr/>
                  </p:nvSpPr>
                  <p:spPr bwMode="auto">
                    <a:xfrm>
                      <a:off x="6734296" y="3837787"/>
                      <a:ext cx="1919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FF4500"/>
                          </a:solidFill>
                        </a:rPr>
                        <a:t>Middle East &amp; Africa</a:t>
                      </a:r>
                    </a:p>
                  </p:txBody>
                </p:sp>
                <p:sp>
                  <p:nvSpPr>
                    <p:cNvPr id="18" name="TextBox 42">
                      <a:extLst>
                        <a:ext uri="{FF2B5EF4-FFF2-40B4-BE49-F238E27FC236}">
                          <a16:creationId xmlns:a16="http://schemas.microsoft.com/office/drawing/2014/main" id="{5809E9B9-E741-68AD-D217-E199E00794EE}"/>
                        </a:ext>
                      </a:extLst>
                    </p:cNvPr>
                    <p:cNvSpPr txBox="1"/>
                    <p:nvPr/>
                  </p:nvSpPr>
                  <p:spPr>
                    <a:xfrm>
                      <a:off x="6374132" y="4322952"/>
                      <a:ext cx="1760594" cy="306395"/>
                    </a:xfrm>
                    <a:prstGeom prst="rect">
                      <a:avLst/>
                    </a:prstGeom>
                    <a:noFill/>
                  </p:spPr>
                  <p:txBody>
                    <a:bodyPr wrap="none">
                      <a:spAutoFit/>
                    </a:bodyPr>
                    <a:lstStyle/>
                    <a:p>
                      <a:pPr>
                        <a:defRPr/>
                      </a:pPr>
                      <a:r>
                        <a:rPr lang="en-IN" sz="1400" b="1" dirty="0">
                          <a:solidFill>
                            <a:srgbClr val="F8F8F8">
                              <a:lumMod val="25000"/>
                            </a:srgbClr>
                          </a:solidFill>
                        </a:rPr>
                        <a:t>Market Access DMCC</a:t>
                      </a:r>
                    </a:p>
                  </p:txBody>
                </p:sp>
                <p:sp>
                  <p:nvSpPr>
                    <p:cNvPr id="19" name="TextBox 41">
                      <a:extLst>
                        <a:ext uri="{FF2B5EF4-FFF2-40B4-BE49-F238E27FC236}">
                          <a16:creationId xmlns:a16="http://schemas.microsoft.com/office/drawing/2014/main" id="{9B546961-C861-56A8-7E65-8596A932CE67}"/>
                        </a:ext>
                      </a:extLst>
                    </p:cNvPr>
                    <p:cNvSpPr txBox="1">
                      <a:spLocks noChangeArrowheads="1"/>
                    </p:cNvSpPr>
                    <p:nvPr/>
                  </p:nvSpPr>
                  <p:spPr bwMode="auto">
                    <a:xfrm>
                      <a:off x="6373418" y="4592818"/>
                      <a:ext cx="21231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1602-6 Jumeirah Bay X2 Tower,</a:t>
                      </a:r>
                    </a:p>
                    <a:p>
                      <a:r>
                        <a:rPr lang="en-US" altLang="en-US" sz="1200"/>
                        <a:t>Plot No: JLT-PH2-X2A,</a:t>
                      </a:r>
                    </a:p>
                    <a:p>
                      <a:r>
                        <a:rPr lang="en-US" altLang="en-US" sz="1200"/>
                        <a:t>Jumeirah Lakes Towers, Dubai,</a:t>
                      </a:r>
                    </a:p>
                    <a:p>
                      <a:r>
                        <a:rPr lang="en-US" altLang="en-US" sz="1200"/>
                        <a:t>United Arab Emirates</a:t>
                      </a:r>
                      <a:endParaRPr lang="en-IN" altLang="en-US" sz="1200"/>
                    </a:p>
                  </p:txBody>
                </p:sp>
              </p:grpSp>
              <p:pic>
                <p:nvPicPr>
                  <p:cNvPr id="20" name="Picture 40">
                    <a:extLst>
                      <a:ext uri="{FF2B5EF4-FFF2-40B4-BE49-F238E27FC236}">
                        <a16:creationId xmlns:a16="http://schemas.microsoft.com/office/drawing/2014/main" id="{5156A16E-B887-4177-3106-696D2F06FC26}"/>
                      </a:ext>
                    </a:extLst>
                  </p:cNvPr>
                  <p:cNvPicPr>
                    <a:picLocks noChangeAspect="1"/>
                  </p:cNvPicPr>
                  <p:nvPr/>
                </p:nvPicPr>
                <p:blipFill>
                  <a:blip r:embed="rId2">
                    <a:duotone>
                      <a:srgbClr val="A35313">
                        <a:shade val="45000"/>
                        <a:satMod val="135000"/>
                      </a:srgbClr>
                      <a:prstClr val="white"/>
                    </a:duotone>
                  </a:blip>
                  <a:stretch>
                    <a:fillRect/>
                  </a:stretch>
                </p:blipFill>
                <p:spPr>
                  <a:xfrm>
                    <a:off x="6553299" y="3532655"/>
                    <a:ext cx="314753" cy="579465"/>
                  </a:xfrm>
                  <a:prstGeom prst="rect">
                    <a:avLst/>
                  </a:prstGeom>
                </p:spPr>
              </p:pic>
            </p:grpSp>
            <p:grpSp>
              <p:nvGrpSpPr>
                <p:cNvPr id="21" name="Group 5">
                  <a:extLst>
                    <a:ext uri="{FF2B5EF4-FFF2-40B4-BE49-F238E27FC236}">
                      <a16:creationId xmlns:a16="http://schemas.microsoft.com/office/drawing/2014/main" id="{2A4B2992-1262-B6DC-A65D-C0A800D496DF}"/>
                    </a:ext>
                  </a:extLst>
                </p:cNvPr>
                <p:cNvGrpSpPr>
                  <a:grpSpLocks/>
                </p:cNvGrpSpPr>
                <p:nvPr/>
              </p:nvGrpSpPr>
              <p:grpSpPr bwMode="auto">
                <a:xfrm>
                  <a:off x="3461337" y="3716063"/>
                  <a:ext cx="2276777" cy="2040353"/>
                  <a:chOff x="3837718" y="3645035"/>
                  <a:chExt cx="2276777" cy="2040353"/>
                </a:xfrm>
              </p:grpSpPr>
              <p:grpSp>
                <p:nvGrpSpPr>
                  <p:cNvPr id="22" name="Group 27">
                    <a:extLst>
                      <a:ext uri="{FF2B5EF4-FFF2-40B4-BE49-F238E27FC236}">
                        <a16:creationId xmlns:a16="http://schemas.microsoft.com/office/drawing/2014/main" id="{6828E551-2150-B3BA-D2CA-97B824FA8924}"/>
                      </a:ext>
                    </a:extLst>
                  </p:cNvPr>
                  <p:cNvGrpSpPr>
                    <a:grpSpLocks/>
                  </p:cNvGrpSpPr>
                  <p:nvPr/>
                </p:nvGrpSpPr>
                <p:grpSpPr bwMode="auto">
                  <a:xfrm>
                    <a:off x="3837718" y="3780584"/>
                    <a:ext cx="2276777" cy="1904804"/>
                    <a:chOff x="3358345" y="3965261"/>
                    <a:chExt cx="2276777" cy="1904804"/>
                  </a:xfrm>
                </p:grpSpPr>
                <p:sp>
                  <p:nvSpPr>
                    <p:cNvPr id="23" name="TextBox 42">
                      <a:extLst>
                        <a:ext uri="{FF2B5EF4-FFF2-40B4-BE49-F238E27FC236}">
                          <a16:creationId xmlns:a16="http://schemas.microsoft.com/office/drawing/2014/main" id="{A41A6F39-951D-AE17-5A44-85C21DFFF8C3}"/>
                        </a:ext>
                      </a:extLst>
                    </p:cNvPr>
                    <p:cNvSpPr txBox="1">
                      <a:spLocks noChangeArrowheads="1"/>
                    </p:cNvSpPr>
                    <p:nvPr/>
                  </p:nvSpPr>
                  <p:spPr bwMode="auto">
                    <a:xfrm>
                      <a:off x="3744196" y="3965261"/>
                      <a:ext cx="970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048B42"/>
                          </a:solidFill>
                        </a:rPr>
                        <a:t>Americas</a:t>
                      </a:r>
                    </a:p>
                  </p:txBody>
                </p:sp>
                <p:sp>
                  <p:nvSpPr>
                    <p:cNvPr id="24" name="TextBox 36">
                      <a:extLst>
                        <a:ext uri="{FF2B5EF4-FFF2-40B4-BE49-F238E27FC236}">
                          <a16:creationId xmlns:a16="http://schemas.microsoft.com/office/drawing/2014/main" id="{40F1E73B-005C-8069-CCAA-3318246B265D}"/>
                        </a:ext>
                      </a:extLst>
                    </p:cNvPr>
                    <p:cNvSpPr txBox="1"/>
                    <p:nvPr/>
                  </p:nvSpPr>
                  <p:spPr>
                    <a:xfrm>
                      <a:off x="3357675" y="4448839"/>
                      <a:ext cx="1871722"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25" name="TextBox 44">
                      <a:extLst>
                        <a:ext uri="{FF2B5EF4-FFF2-40B4-BE49-F238E27FC236}">
                          <a16:creationId xmlns:a16="http://schemas.microsoft.com/office/drawing/2014/main" id="{4ACA2C08-410D-CEED-63E0-EB4A1E0D76C3}"/>
                        </a:ext>
                      </a:extLst>
                    </p:cNvPr>
                    <p:cNvSpPr txBox="1">
                      <a:spLocks noChangeArrowheads="1"/>
                    </p:cNvSpPr>
                    <p:nvPr/>
                  </p:nvSpPr>
                  <p:spPr bwMode="auto">
                    <a:xfrm>
                      <a:off x="3358345" y="4720292"/>
                      <a:ext cx="22767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616 Corporate Way, Suite 2-9018,</a:t>
                      </a:r>
                    </a:p>
                    <a:p>
                      <a:r>
                        <a:rPr lang="en-US" altLang="en-US" sz="1200"/>
                        <a:t>Valley Cottage, NY 10989,</a:t>
                      </a:r>
                    </a:p>
                    <a:p>
                      <a:r>
                        <a:rPr lang="en-US" altLang="en-US" sz="1200"/>
                        <a:t>United States</a:t>
                      </a:r>
                      <a:endParaRPr lang="en-IN" altLang="en-US" sz="1200"/>
                    </a:p>
                  </p:txBody>
                </p:sp>
                <p:sp>
                  <p:nvSpPr>
                    <p:cNvPr id="26" name="TextBox 45">
                      <a:extLst>
                        <a:ext uri="{FF2B5EF4-FFF2-40B4-BE49-F238E27FC236}">
                          <a16:creationId xmlns:a16="http://schemas.microsoft.com/office/drawing/2014/main" id="{FE65EAAC-CE25-57B8-E88C-905CD3E8F924}"/>
                        </a:ext>
                      </a:extLst>
                    </p:cNvPr>
                    <p:cNvSpPr txBox="1">
                      <a:spLocks noChangeArrowheads="1"/>
                    </p:cNvSpPr>
                    <p:nvPr/>
                  </p:nvSpPr>
                  <p:spPr bwMode="auto">
                    <a:xfrm>
                      <a:off x="3358345" y="5593066"/>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+1-347-918-3531</a:t>
                      </a:r>
                      <a:endParaRPr lang="en-IN" altLang="en-US" sz="1200"/>
                    </a:p>
                  </p:txBody>
                </p:sp>
              </p:grpSp>
              <p:pic>
                <p:nvPicPr>
                  <p:cNvPr id="27" name="Picture 34">
                    <a:extLst>
                      <a:ext uri="{FF2B5EF4-FFF2-40B4-BE49-F238E27FC236}">
                        <a16:creationId xmlns:a16="http://schemas.microsoft.com/office/drawing/2014/main" id="{AE4DE93F-AF7B-7477-A367-DD4AF96A40A2}"/>
                      </a:ext>
                    </a:extLst>
                  </p:cNvPr>
                  <p:cNvPicPr>
                    <a:picLocks noChangeAspect="1"/>
                  </p:cNvPicPr>
                  <p:nvPr/>
                </p:nvPicPr>
                <p:blipFill>
                  <a:blip r:embed="rId3">
                    <a:duotone>
                      <a:srgbClr val="008189">
                        <a:shade val="45000"/>
                        <a:satMod val="135000"/>
                      </a:srgbClr>
                      <a:prstClr val="white"/>
                    </a:duotone>
                  </a:blip>
                  <a:stretch>
                    <a:fillRect/>
                  </a:stretch>
                </p:blipFill>
                <p:spPr>
                  <a:xfrm>
                    <a:off x="3941302" y="3645035"/>
                    <a:ext cx="304826" cy="609653"/>
                  </a:xfrm>
                  <a:prstGeom prst="rect">
                    <a:avLst/>
                  </a:prstGeom>
                </p:spPr>
              </p:pic>
            </p:grpSp>
            <p:grpSp>
              <p:nvGrpSpPr>
                <p:cNvPr id="28" name="Group 6">
                  <a:extLst>
                    <a:ext uri="{FF2B5EF4-FFF2-40B4-BE49-F238E27FC236}">
                      <a16:creationId xmlns:a16="http://schemas.microsoft.com/office/drawing/2014/main" id="{190EABA1-B31E-3B09-B1F2-A13884B8AD17}"/>
                    </a:ext>
                  </a:extLst>
                </p:cNvPr>
                <p:cNvGrpSpPr>
                  <a:grpSpLocks/>
                </p:cNvGrpSpPr>
                <p:nvPr/>
              </p:nvGrpSpPr>
              <p:grpSpPr bwMode="auto">
                <a:xfrm>
                  <a:off x="249774" y="3783125"/>
                  <a:ext cx="2236703" cy="1973291"/>
                  <a:chOff x="1216927" y="3772923"/>
                  <a:chExt cx="2236703" cy="1973291"/>
                </a:xfrm>
              </p:grpSpPr>
              <p:grpSp>
                <p:nvGrpSpPr>
                  <p:cNvPr id="29" name="Group 25">
                    <a:extLst>
                      <a:ext uri="{FF2B5EF4-FFF2-40B4-BE49-F238E27FC236}">
                        <a16:creationId xmlns:a16="http://schemas.microsoft.com/office/drawing/2014/main" id="{A1A8DC19-AF5B-6C89-F2CD-2778F01B419C}"/>
                      </a:ext>
                    </a:extLst>
                  </p:cNvPr>
                  <p:cNvGrpSpPr>
                    <a:grpSpLocks/>
                  </p:cNvGrpSpPr>
                  <p:nvPr/>
                </p:nvGrpSpPr>
                <p:grpSpPr bwMode="auto">
                  <a:xfrm>
                    <a:off x="1216927" y="3841410"/>
                    <a:ext cx="2236703" cy="1904804"/>
                    <a:chOff x="343272" y="4026087"/>
                    <a:chExt cx="2236703" cy="1904804"/>
                  </a:xfrm>
                </p:grpSpPr>
                <p:sp>
                  <p:nvSpPr>
                    <p:cNvPr id="30" name="TextBox 29">
                      <a:extLst>
                        <a:ext uri="{FF2B5EF4-FFF2-40B4-BE49-F238E27FC236}">
                          <a16:creationId xmlns:a16="http://schemas.microsoft.com/office/drawing/2014/main" id="{C78C136C-FF65-10A5-69D0-6976A498591E}"/>
                        </a:ext>
                      </a:extLst>
                    </p:cNvPr>
                    <p:cNvSpPr txBox="1"/>
                    <p:nvPr/>
                  </p:nvSpPr>
                  <p:spPr>
                    <a:xfrm>
                      <a:off x="963283" y="4025467"/>
                      <a:ext cx="1347831" cy="338146"/>
                    </a:xfrm>
                    <a:prstGeom prst="rect">
                      <a:avLst/>
                    </a:prstGeom>
                    <a:noFill/>
                  </p:spPr>
                  <p:txBody>
                    <a:bodyPr wrap="none">
                      <a:spAutoFit/>
                    </a:bodyPr>
                    <a:lstStyle/>
                    <a:p>
                      <a:pPr>
                        <a:defRPr/>
                      </a:pPr>
                      <a:r>
                        <a:rPr lang="en-IN" sz="1600" b="1" dirty="0">
                          <a:solidFill>
                            <a:srgbClr val="2A5F8F">
                              <a:lumMod val="50000"/>
                            </a:srgbClr>
                          </a:solidFill>
                        </a:rPr>
                        <a:t>Headquarters</a:t>
                      </a:r>
                    </a:p>
                  </p:txBody>
                </p:sp>
                <p:sp>
                  <p:nvSpPr>
                    <p:cNvPr id="31" name="TextBox 30">
                      <a:extLst>
                        <a:ext uri="{FF2B5EF4-FFF2-40B4-BE49-F238E27FC236}">
                          <a16:creationId xmlns:a16="http://schemas.microsoft.com/office/drawing/2014/main" id="{5CFB6527-6D97-69B5-C71C-CC03EB68BBF7}"/>
                        </a:ext>
                      </a:extLst>
                    </p:cNvPr>
                    <p:cNvSpPr txBox="1"/>
                    <p:nvPr/>
                  </p:nvSpPr>
                  <p:spPr>
                    <a:xfrm>
                      <a:off x="342551" y="4509666"/>
                      <a:ext cx="2225746" cy="307982"/>
                    </a:xfrm>
                    <a:prstGeom prst="rect">
                      <a:avLst/>
                    </a:prstGeom>
                    <a:noFill/>
                  </p:spPr>
                  <p:txBody>
                    <a:bodyPr wrap="none">
                      <a:spAutoFit/>
                    </a:bodyPr>
                    <a:lstStyle/>
                    <a:p>
                      <a:pPr>
                        <a:defRPr/>
                      </a:pPr>
                      <a:r>
                        <a:rPr lang="en-IN" sz="1400" b="1" dirty="0">
                          <a:solidFill>
                            <a:srgbClr val="F8F8F8">
                              <a:lumMod val="25000"/>
                            </a:srgbClr>
                          </a:solidFill>
                        </a:rPr>
                        <a:t>Future Market Insights, Inc.</a:t>
                      </a:r>
                    </a:p>
                  </p:txBody>
                </p:sp>
                <p:sp>
                  <p:nvSpPr>
                    <p:cNvPr id="32" name="TextBox 48">
                      <a:extLst>
                        <a:ext uri="{FF2B5EF4-FFF2-40B4-BE49-F238E27FC236}">
                          <a16:creationId xmlns:a16="http://schemas.microsoft.com/office/drawing/2014/main" id="{5E42A1C6-BB29-D226-788C-C515B7D7F676}"/>
                        </a:ext>
                      </a:extLst>
                    </p:cNvPr>
                    <p:cNvSpPr txBox="1">
                      <a:spLocks noChangeArrowheads="1"/>
                    </p:cNvSpPr>
                    <p:nvPr/>
                  </p:nvSpPr>
                  <p:spPr bwMode="auto">
                    <a:xfrm>
                      <a:off x="343272" y="4781118"/>
                      <a:ext cx="2236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Christiana Corporate,</a:t>
                      </a:r>
                    </a:p>
                    <a:p>
                      <a:r>
                        <a:rPr lang="en-US" altLang="en-US" sz="1200"/>
                        <a:t>200 Continental Drive, Suite 401,</a:t>
                      </a:r>
                    </a:p>
                    <a:p>
                      <a:r>
                        <a:rPr lang="en-US" altLang="en-US" sz="1200"/>
                        <a:t>Newark, Delaware - 19713,</a:t>
                      </a:r>
                    </a:p>
                    <a:p>
                      <a:r>
                        <a:rPr lang="en-US" altLang="en-US" sz="1200"/>
                        <a:t>United States</a:t>
                      </a:r>
                      <a:endParaRPr lang="en-IN" altLang="en-US" sz="1200"/>
                    </a:p>
                  </p:txBody>
                </p:sp>
                <p:sp>
                  <p:nvSpPr>
                    <p:cNvPr id="33" name="TextBox 49">
                      <a:extLst>
                        <a:ext uri="{FF2B5EF4-FFF2-40B4-BE49-F238E27FC236}">
                          <a16:creationId xmlns:a16="http://schemas.microsoft.com/office/drawing/2014/main" id="{7B0EBAC2-0F15-2082-71DE-E18F4A36524D}"/>
                        </a:ext>
                      </a:extLst>
                    </p:cNvPr>
                    <p:cNvSpPr txBox="1">
                      <a:spLocks noChangeArrowheads="1"/>
                    </p:cNvSpPr>
                    <p:nvPr/>
                  </p:nvSpPr>
                  <p:spPr bwMode="auto">
                    <a:xfrm>
                      <a:off x="343272" y="5653892"/>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+1-845-579-5705</a:t>
                      </a:r>
                      <a:endParaRPr lang="en-IN" altLang="en-US" sz="1200"/>
                    </a:p>
                  </p:txBody>
                </p:sp>
              </p:grpSp>
              <p:pic>
                <p:nvPicPr>
                  <p:cNvPr id="34" name="Picture 28">
                    <a:extLst>
                      <a:ext uri="{FF2B5EF4-FFF2-40B4-BE49-F238E27FC236}">
                        <a16:creationId xmlns:a16="http://schemas.microsoft.com/office/drawing/2014/main" id="{B598E670-72B9-922C-CBE9-A98B47FD87DC}"/>
                      </a:ext>
                    </a:extLst>
                  </p:cNvPr>
                  <p:cNvPicPr>
                    <a:picLocks noChangeAspect="1"/>
                  </p:cNvPicPr>
                  <p:nvPr/>
                </p:nvPicPr>
                <p:blipFill>
                  <a:blip r:embed="rId4">
                    <a:duotone>
                      <a:srgbClr val="2A5F8F">
                        <a:shade val="45000"/>
                        <a:satMod val="135000"/>
                      </a:srgbClr>
                      <a:prstClr val="white"/>
                    </a:duotone>
                  </a:blip>
                  <a:stretch>
                    <a:fillRect/>
                  </a:stretch>
                </p:blipFill>
                <p:spPr>
                  <a:xfrm>
                    <a:off x="1306513" y="3772923"/>
                    <a:ext cx="469433" cy="475529"/>
                  </a:xfrm>
                  <a:prstGeom prst="rect">
                    <a:avLst/>
                  </a:prstGeom>
                </p:spPr>
              </p:pic>
            </p:grpSp>
            <p:grpSp>
              <p:nvGrpSpPr>
                <p:cNvPr id="35" name="Group 2">
                  <a:extLst>
                    <a:ext uri="{FF2B5EF4-FFF2-40B4-BE49-F238E27FC236}">
                      <a16:creationId xmlns:a16="http://schemas.microsoft.com/office/drawing/2014/main" id="{4F9635CF-9D3F-75B0-5B7E-AEF9828266C3}"/>
                    </a:ext>
                  </a:extLst>
                </p:cNvPr>
                <p:cNvGrpSpPr>
                  <a:grpSpLocks/>
                </p:cNvGrpSpPr>
                <p:nvPr/>
              </p:nvGrpSpPr>
              <p:grpSpPr bwMode="auto">
                <a:xfrm>
                  <a:off x="9935559" y="3767762"/>
                  <a:ext cx="1982905" cy="1988654"/>
                  <a:chOff x="9005815" y="3745083"/>
                  <a:chExt cx="1982905" cy="1988654"/>
                </a:xfrm>
              </p:grpSpPr>
              <p:grpSp>
                <p:nvGrpSpPr>
                  <p:cNvPr id="36" name="Group 29">
                    <a:extLst>
                      <a:ext uri="{FF2B5EF4-FFF2-40B4-BE49-F238E27FC236}">
                        <a16:creationId xmlns:a16="http://schemas.microsoft.com/office/drawing/2014/main" id="{17F31F47-291F-4405-8AEA-EC1AAB6AA332}"/>
                      </a:ext>
                    </a:extLst>
                  </p:cNvPr>
                  <p:cNvGrpSpPr>
                    <a:grpSpLocks/>
                  </p:cNvGrpSpPr>
                  <p:nvPr/>
                </p:nvGrpSpPr>
                <p:grpSpPr bwMode="auto">
                  <a:xfrm>
                    <a:off x="9005815" y="3828933"/>
                    <a:ext cx="1982905" cy="1904804"/>
                    <a:chOff x="9388489" y="4013610"/>
                    <a:chExt cx="1982905" cy="1904804"/>
                  </a:xfrm>
                </p:grpSpPr>
                <p:sp>
                  <p:nvSpPr>
                    <p:cNvPr id="37" name="TextBox 32">
                      <a:extLst>
                        <a:ext uri="{FF2B5EF4-FFF2-40B4-BE49-F238E27FC236}">
                          <a16:creationId xmlns:a16="http://schemas.microsoft.com/office/drawing/2014/main" id="{C20F854C-8002-E239-0772-DDA0A057E702}"/>
                        </a:ext>
                      </a:extLst>
                    </p:cNvPr>
                    <p:cNvSpPr txBox="1">
                      <a:spLocks noChangeArrowheads="1"/>
                    </p:cNvSpPr>
                    <p:nvPr/>
                  </p:nvSpPr>
                  <p:spPr bwMode="auto">
                    <a:xfrm>
                      <a:off x="9829414" y="4013610"/>
                      <a:ext cx="789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8F288C"/>
                          </a:solidFill>
                        </a:rPr>
                        <a:t>Europe</a:t>
                      </a:r>
                    </a:p>
                  </p:txBody>
                </p:sp>
                <p:sp>
                  <p:nvSpPr>
                    <p:cNvPr id="38" name="TextBox 23">
                      <a:extLst>
                        <a:ext uri="{FF2B5EF4-FFF2-40B4-BE49-F238E27FC236}">
                          <a16:creationId xmlns:a16="http://schemas.microsoft.com/office/drawing/2014/main" id="{3322F8A5-D2B8-33CA-96AC-DF4EE7ACCB80}"/>
                        </a:ext>
                      </a:extLst>
                    </p:cNvPr>
                    <p:cNvSpPr txBox="1"/>
                    <p:nvPr/>
                  </p:nvSpPr>
                  <p:spPr>
                    <a:xfrm>
                      <a:off x="9389214" y="4498775"/>
                      <a:ext cx="1870134"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39" name="TextBox 36">
                      <a:extLst>
                        <a:ext uri="{FF2B5EF4-FFF2-40B4-BE49-F238E27FC236}">
                          <a16:creationId xmlns:a16="http://schemas.microsoft.com/office/drawing/2014/main" id="{BF5AF88F-6B60-2785-4EAA-4D18C1EE2E10}"/>
                        </a:ext>
                      </a:extLst>
                    </p:cNvPr>
                    <p:cNvSpPr txBox="1">
                      <a:spLocks noChangeArrowheads="1"/>
                    </p:cNvSpPr>
                    <p:nvPr/>
                  </p:nvSpPr>
                  <p:spPr bwMode="auto">
                    <a:xfrm>
                      <a:off x="9402137" y="4768641"/>
                      <a:ext cx="19692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3rd Floor, 207 Regent Street,</a:t>
                      </a:r>
                    </a:p>
                    <a:p>
                      <a:r>
                        <a:rPr lang="en-US" altLang="en-US" sz="1200"/>
                        <a:t>London W1B 3HH</a:t>
                      </a:r>
                    </a:p>
                    <a:p>
                      <a:r>
                        <a:rPr lang="en-US" altLang="en-US" sz="1200"/>
                        <a:t>United Kingdom</a:t>
                      </a:r>
                      <a:endParaRPr lang="en-IN" altLang="en-US" sz="1200"/>
                    </a:p>
                  </p:txBody>
                </p:sp>
                <p:sp>
                  <p:nvSpPr>
                    <p:cNvPr id="40" name="TextBox 37">
                      <a:extLst>
                        <a:ext uri="{FF2B5EF4-FFF2-40B4-BE49-F238E27FC236}">
                          <a16:creationId xmlns:a16="http://schemas.microsoft.com/office/drawing/2014/main" id="{6C7DE665-66A8-41DE-5008-32252CDA85C7}"/>
                        </a:ext>
                      </a:extLst>
                    </p:cNvPr>
                    <p:cNvSpPr txBox="1">
                      <a:spLocks noChangeArrowheads="1"/>
                    </p:cNvSpPr>
                    <p:nvPr/>
                  </p:nvSpPr>
                  <p:spPr bwMode="auto">
                    <a:xfrm>
                      <a:off x="9388489" y="5641415"/>
                      <a:ext cx="16882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D: +44 (0) 20 3287 4268</a:t>
                      </a:r>
                      <a:endParaRPr lang="en-IN" altLang="en-US" sz="1200"/>
                    </a:p>
                  </p:txBody>
                </p:sp>
                <p:sp>
                  <p:nvSpPr>
                    <p:cNvPr id="41" name="TextBox 38">
                      <a:extLst>
                        <a:ext uri="{FF2B5EF4-FFF2-40B4-BE49-F238E27FC236}">
                          <a16:creationId xmlns:a16="http://schemas.microsoft.com/office/drawing/2014/main" id="{7192F681-8D30-360D-BE9D-3B3024A1F2DD}"/>
                        </a:ext>
                      </a:extLst>
                    </p:cNvPr>
                    <p:cNvSpPr txBox="1">
                      <a:spLocks noChangeArrowheads="1"/>
                    </p:cNvSpPr>
                    <p:nvPr/>
                  </p:nvSpPr>
                  <p:spPr bwMode="auto">
                    <a:xfrm>
                      <a:off x="9388489" y="5392439"/>
                      <a:ext cx="16942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+ 44 (0) 20 8123 9659</a:t>
                      </a:r>
                      <a:endParaRPr lang="en-IN" altLang="en-US" sz="1200"/>
                    </a:p>
                  </p:txBody>
                </p:sp>
              </p:grpSp>
              <p:pic>
                <p:nvPicPr>
                  <p:cNvPr id="42" name="Picture 21">
                    <a:extLst>
                      <a:ext uri="{FF2B5EF4-FFF2-40B4-BE49-F238E27FC236}">
                        <a16:creationId xmlns:a16="http://schemas.microsoft.com/office/drawing/2014/main" id="{0DB190B5-E4D9-2234-7560-F46B079C348A}"/>
                      </a:ext>
                    </a:extLst>
                  </p:cNvPr>
                  <p:cNvPicPr>
                    <a:picLocks noChangeAspect="1"/>
                  </p:cNvPicPr>
                  <p:nvPr/>
                </p:nvPicPr>
                <p:blipFill>
                  <a:blip r:embed="rId5">
                    <a:duotone>
                      <a:srgbClr val="40315E">
                        <a:shade val="45000"/>
                        <a:satMod val="135000"/>
                      </a:srgbClr>
                      <a:prstClr val="white"/>
                    </a:duotone>
                  </a:blip>
                  <a:stretch>
                    <a:fillRect/>
                  </a:stretch>
                </p:blipFill>
                <p:spPr>
                  <a:xfrm>
                    <a:off x="9124235" y="3745083"/>
                    <a:ext cx="348835" cy="506254"/>
                  </a:xfrm>
                  <a:prstGeom prst="rect">
                    <a:avLst/>
                  </a:prstGeom>
                </p:spPr>
              </p:pic>
            </p:grpSp>
          </p:grpSp>
          <p:sp>
            <p:nvSpPr>
              <p:cNvPr id="43" name="TextBox 55">
                <a:extLst>
                  <a:ext uri="{FF2B5EF4-FFF2-40B4-BE49-F238E27FC236}">
                    <a16:creationId xmlns:a16="http://schemas.microsoft.com/office/drawing/2014/main" id="{143EC9E9-5458-9CB8-6ACE-446AFE79BB51}"/>
                  </a:ext>
                </a:extLst>
              </p:cNvPr>
              <p:cNvSpPr txBox="1">
                <a:spLocks noChangeArrowheads="1"/>
              </p:cNvSpPr>
              <p:nvPr/>
            </p:nvSpPr>
            <p:spPr bwMode="auto">
              <a:xfrm>
                <a:off x="274514" y="798871"/>
                <a:ext cx="1890261"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pPr algn="ctr">
                  <a:lnSpc>
                    <a:spcPts val="7600"/>
                  </a:lnSpc>
                </a:pPr>
                <a:r>
                  <a:rPr lang="en-IN" altLang="en-US" sz="8000">
                    <a:solidFill>
                      <a:srgbClr val="00B0F0"/>
                    </a:solidFill>
                    <a:latin typeface="Juxtaposer"/>
                  </a:rPr>
                  <a:t>Thank</a:t>
                </a:r>
                <a:br>
                  <a:rPr lang="en-IN" altLang="en-US" sz="8000">
                    <a:solidFill>
                      <a:srgbClr val="00B0F0"/>
                    </a:solidFill>
                    <a:latin typeface="Juxtaposer"/>
                  </a:rPr>
                </a:br>
                <a:r>
                  <a:rPr lang="en-IN" altLang="en-US" sz="8000">
                    <a:solidFill>
                      <a:srgbClr val="00B0F0"/>
                    </a:solidFill>
                    <a:latin typeface="Juxtaposer"/>
                  </a:rPr>
                  <a:t>You</a:t>
                </a:r>
              </a:p>
            </p:txBody>
          </p:sp>
          <p:pic>
            <p:nvPicPr>
              <p:cNvPr id="44" name="Picture 10">
                <a:extLst>
                  <a:ext uri="{FF2B5EF4-FFF2-40B4-BE49-F238E27FC236}">
                    <a16:creationId xmlns:a16="http://schemas.microsoft.com/office/drawing/2014/main" id="{BB144989-CF53-8B1E-220B-C1AE23628EE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92719" y="229820"/>
                <a:ext cx="3171090" cy="317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19">
                <a:extLst>
                  <a:ext uri="{FF2B5EF4-FFF2-40B4-BE49-F238E27FC236}">
                    <a16:creationId xmlns:a16="http://schemas.microsoft.com/office/drawing/2014/main" id="{31EE7083-91D9-EAE9-7B4A-61CD2CD28015}"/>
                  </a:ext>
                </a:extLst>
              </p:cNvPr>
              <p:cNvGrpSpPr>
                <a:grpSpLocks/>
              </p:cNvGrpSpPr>
              <p:nvPr/>
            </p:nvGrpSpPr>
            <p:grpSpPr bwMode="auto">
              <a:xfrm>
                <a:off x="6166925" y="272562"/>
                <a:ext cx="5750562" cy="3051976"/>
                <a:chOff x="6166925" y="272562"/>
                <a:chExt cx="5750562" cy="3051976"/>
              </a:xfrm>
            </p:grpSpPr>
            <p:pic>
              <p:nvPicPr>
                <p:cNvPr id="46" name="Picture 1">
                  <a:extLst>
                    <a:ext uri="{FF2B5EF4-FFF2-40B4-BE49-F238E27FC236}">
                      <a16:creationId xmlns:a16="http://schemas.microsoft.com/office/drawing/2014/main" id="{021C83A4-8483-5171-EA6C-FF76CE65A12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6925" y="2103900"/>
                  <a:ext cx="5750562" cy="12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8">
                  <a:extLst>
                    <a:ext uri="{FF2B5EF4-FFF2-40B4-BE49-F238E27FC236}">
                      <a16:creationId xmlns:a16="http://schemas.microsoft.com/office/drawing/2014/main" id="{38693FBE-DE43-1025-B0DC-2ADDCCB25AB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93725" y="272562"/>
                  <a:ext cx="3096962" cy="174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55697</Words>
  <Application>Microsoft Office PowerPoint</Application>
  <PresentationFormat>Widescreen</PresentationFormat>
  <Paragraphs>16053</Paragraphs>
  <Slides>246</Slides>
  <Notes>202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246</vt:i4>
      </vt:variant>
    </vt:vector>
  </HeadingPairs>
  <TitlesOfParts>
    <vt:vector size="257" baseType="lpstr">
      <vt:lpstr>MS PGothic</vt:lpstr>
      <vt:lpstr>Aptos</vt:lpstr>
      <vt:lpstr>Arial</vt:lpstr>
      <vt:lpstr>Bell MT</vt:lpstr>
      <vt:lpstr>Calibri</vt:lpstr>
      <vt:lpstr>Calibri Light</vt:lpstr>
      <vt:lpstr>Courier New</vt:lpstr>
      <vt:lpstr>Juxtaposer</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Anurag Sharma</cp:lastModifiedBy>
  <cp:revision>1</cp:revision>
  <dcterms:created xsi:type="dcterms:W3CDTF">2013-01-27T09:14:16Z</dcterms:created>
  <dcterms:modified xsi:type="dcterms:W3CDTF">2026-10-14T08:09:17Z</dcterms:modified>
  <cp:category/>
</cp:coreProperties>
</file>